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notesMasterIdLst>
    <p:notesMasterId r:id="rId47"/>
  </p:notesMasterIdLst>
  <p:handoutMasterIdLst>
    <p:handoutMasterId r:id="rId48"/>
  </p:handoutMasterIdLst>
  <p:sldIdLst>
    <p:sldId id="496" r:id="rId2"/>
    <p:sldId id="354" r:id="rId3"/>
    <p:sldId id="497" r:id="rId4"/>
    <p:sldId id="498" r:id="rId5"/>
    <p:sldId id="499" r:id="rId6"/>
    <p:sldId id="500" r:id="rId7"/>
    <p:sldId id="501" r:id="rId8"/>
    <p:sldId id="502" r:id="rId9"/>
    <p:sldId id="503" r:id="rId10"/>
    <p:sldId id="504" r:id="rId11"/>
    <p:sldId id="505" r:id="rId12"/>
    <p:sldId id="506" r:id="rId13"/>
    <p:sldId id="507" r:id="rId14"/>
    <p:sldId id="508" r:id="rId15"/>
    <p:sldId id="509" r:id="rId16"/>
    <p:sldId id="510" r:id="rId17"/>
    <p:sldId id="511" r:id="rId18"/>
    <p:sldId id="512" r:id="rId19"/>
    <p:sldId id="513" r:id="rId20"/>
    <p:sldId id="514" r:id="rId21"/>
    <p:sldId id="515" r:id="rId22"/>
    <p:sldId id="516" r:id="rId23"/>
    <p:sldId id="517" r:id="rId24"/>
    <p:sldId id="518" r:id="rId25"/>
    <p:sldId id="519" r:id="rId26"/>
    <p:sldId id="520" r:id="rId27"/>
    <p:sldId id="521" r:id="rId28"/>
    <p:sldId id="522" r:id="rId29"/>
    <p:sldId id="523" r:id="rId30"/>
    <p:sldId id="524" r:id="rId31"/>
    <p:sldId id="525" r:id="rId32"/>
    <p:sldId id="526" r:id="rId33"/>
    <p:sldId id="527" r:id="rId34"/>
    <p:sldId id="528" r:id="rId35"/>
    <p:sldId id="529" r:id="rId36"/>
    <p:sldId id="530" r:id="rId37"/>
    <p:sldId id="531" r:id="rId38"/>
    <p:sldId id="532" r:id="rId39"/>
    <p:sldId id="533" r:id="rId40"/>
    <p:sldId id="534" r:id="rId41"/>
    <p:sldId id="535" r:id="rId42"/>
    <p:sldId id="536" r:id="rId43"/>
    <p:sldId id="537" r:id="rId44"/>
    <p:sldId id="538" r:id="rId45"/>
    <p:sldId id="539" r:id="rId46"/>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CC0000"/>
    <a:srgbClr val="EBF840"/>
    <a:srgbClr val="800000"/>
    <a:srgbClr val="692A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39" autoAdjust="0"/>
    <p:restoredTop sz="95552" autoAdjust="0"/>
  </p:normalViewPr>
  <p:slideViewPr>
    <p:cSldViewPr>
      <p:cViewPr>
        <p:scale>
          <a:sx n="72" d="100"/>
          <a:sy n="72" d="100"/>
        </p:scale>
        <p:origin x="-1326" y="-3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BA660D14-7539-4D21-8FF8-75757602B653}" type="datetimeFigureOut">
              <a:rPr lang="en-US" smtClean="0"/>
              <a:t>8/15/2016</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96AE2D3B-8BC0-4756-95AA-2EFC19312585}" type="slidenum">
              <a:rPr lang="en-US" smtClean="0"/>
              <a:t>‹#›</a:t>
            </a:fld>
            <a:endParaRPr lang="en-US"/>
          </a:p>
        </p:txBody>
      </p:sp>
    </p:spTree>
    <p:extLst>
      <p:ext uri="{BB962C8B-B14F-4D97-AF65-F5344CB8AC3E}">
        <p14:creationId xmlns:p14="http://schemas.microsoft.com/office/powerpoint/2010/main" val="42332446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pPr>
              <a:defRPr/>
            </a:pPr>
            <a:fld id="{A3DF9180-1F03-494C-A507-A8B6A738F00B}" type="datetimeFigureOut">
              <a:rPr lang="en-US"/>
              <a:pPr>
                <a:defRPr/>
              </a:pPr>
              <a:t>8/15/2016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smtClean="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pPr>
              <a:defRPr/>
            </a:pPr>
            <a:fld id="{18F9DD13-6400-4570-BF20-5AC29658CEFB}" type="slidenum">
              <a:rPr lang="en-US"/>
              <a:pPr>
                <a:defRPr/>
              </a:pPr>
              <a:t>‹#›</a:t>
            </a:fld>
            <a:endParaRPr lang="en-US"/>
          </a:p>
        </p:txBody>
      </p:sp>
    </p:spTree>
    <p:extLst>
      <p:ext uri="{BB962C8B-B14F-4D97-AF65-F5344CB8AC3E}">
        <p14:creationId xmlns:p14="http://schemas.microsoft.com/office/powerpoint/2010/main" val="4714867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mtClean="0"/>
              <a:t>Để giải mã có thể áp dụng chính CT ở trên hoặc một CT khác dành riêng cho giải mã và mảng giải mã thu được sẽ cung cấp cho CT ứng dụng của người dùng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mtClean="0"/>
              <a:t>Trường hợp TBMM gá lắp người ta thường gọi là hộp mật mã (crypto box) hoặc modun an toàn (SAM- Secure adapter modul)- vì nó hoàn toàn độc lập,</a:t>
            </a:r>
          </a:p>
          <a:p>
            <a:r>
              <a:rPr lang="en-US" smtClean="0"/>
              <a:t> không phụ thuộc vào sự hoạt động của các chương trình được nạp vào HT ở tầng ứng dụng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mtClean="0"/>
              <a:t>Sơ đồ biểu diễn việc bảo vệ mật mã tầng vận tải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mtClean="0"/>
              <a:t>Chủ thể của tầng ứng dụng luôn là CTUD</a:t>
            </a:r>
          </a:p>
          <a:p>
            <a:r>
              <a:rPr lang="en-US" smtClean="0"/>
              <a:t>Chủ thể của các tầng thấp được gán cho các đặc trưng cơ bản như địa chỉ</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6"/>
          <p:cNvSpPr>
            <a:spLocks noChangeArrowheads="1"/>
          </p:cNvSpPr>
          <p:nvPr/>
        </p:nvSpPr>
        <p:spPr bwMode="auto">
          <a:xfrm>
            <a:off x="125413" y="6453188"/>
            <a:ext cx="8839200" cy="39687"/>
          </a:xfrm>
          <a:prstGeom prst="rect">
            <a:avLst/>
          </a:prstGeom>
          <a:gradFill rotWithShape="0">
            <a:gsLst>
              <a:gs pos="0">
                <a:srgbClr val="E5E5E5"/>
              </a:gs>
              <a:gs pos="100000">
                <a:srgbClr val="333399"/>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 name="Rectangle 16"/>
          <p:cNvSpPr>
            <a:spLocks noChangeArrowheads="1"/>
          </p:cNvSpPr>
          <p:nvPr/>
        </p:nvSpPr>
        <p:spPr bwMode="auto">
          <a:xfrm flipV="1">
            <a:off x="1349375" y="3284538"/>
            <a:ext cx="6823075" cy="73025"/>
          </a:xfrm>
          <a:prstGeom prst="rect">
            <a:avLst/>
          </a:prstGeom>
          <a:gradFill rotWithShape="0">
            <a:gsLst>
              <a:gs pos="0">
                <a:srgbClr val="CCCCFF"/>
              </a:gs>
              <a:gs pos="100000">
                <a:srgbClr val="E5E5E5"/>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 name="Text Box 17"/>
          <p:cNvSpPr txBox="1">
            <a:spLocks noChangeArrowheads="1"/>
          </p:cNvSpPr>
          <p:nvPr/>
        </p:nvSpPr>
        <p:spPr bwMode="auto">
          <a:xfrm>
            <a:off x="6588125" y="6538913"/>
            <a:ext cx="2154238" cy="268287"/>
          </a:xfrm>
          <a:prstGeom prst="rect">
            <a:avLst/>
          </a:prstGeom>
          <a:noFill/>
          <a:ln w="9525">
            <a:noFill/>
            <a:round/>
            <a:headEnd/>
            <a:tailEnd/>
          </a:ln>
          <a:effectLst/>
        </p:spPr>
        <p:txBody>
          <a:bodyPr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9pPr>
          </a:lstStyle>
          <a:p>
            <a:pPr algn="r">
              <a:lnSpc>
                <a:spcPct val="94000"/>
              </a:lnSpc>
              <a:defRPr/>
            </a:pPr>
            <a:fld id="{88EC2C03-4E89-404C-AF34-80A3D8A9BFC4}" type="slidenum">
              <a:rPr lang="de-DE" sz="1200" smtClean="0">
                <a:solidFill>
                  <a:srgbClr val="333399"/>
                </a:solidFill>
              </a:rPr>
              <a:pPr algn="r">
                <a:lnSpc>
                  <a:spcPct val="94000"/>
                </a:lnSpc>
                <a:defRPr/>
              </a:pPr>
              <a:t>‹#›</a:t>
            </a:fld>
            <a:endParaRPr lang="en-GB" sz="1200" smtClean="0">
              <a:solidFill>
                <a:srgbClr val="333399"/>
              </a:solidFill>
            </a:endParaRPr>
          </a:p>
        </p:txBody>
      </p:sp>
      <p:pic>
        <p:nvPicPr>
          <p:cNvPr id="7" name="Picture 20"/>
          <p:cNvPicPr>
            <a:picLocks noChangeAspect="1" noChangeArrowheads="1"/>
          </p:cNvPicPr>
          <p:nvPr/>
        </p:nvPicPr>
        <p:blipFill>
          <a:blip r:embed="rId2">
            <a:extLst>
              <a:ext uri="{28A0092B-C50C-407E-A947-70E740481C1C}">
                <a14:useLocalDpi xmlns:a14="http://schemas.microsoft.com/office/drawing/2010/main" val="0"/>
              </a:ext>
            </a:extLst>
          </a:blip>
          <a:srcRect l="55545" r="27379" b="36237"/>
          <a:stretch>
            <a:fillRect/>
          </a:stretch>
        </p:blipFill>
        <p:spPr bwMode="auto">
          <a:xfrm>
            <a:off x="8358188" y="12700"/>
            <a:ext cx="7874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8" name="Rectangle 21"/>
          <p:cNvSpPr>
            <a:spLocks noChangeArrowheads="1"/>
          </p:cNvSpPr>
          <p:nvPr/>
        </p:nvSpPr>
        <p:spPr bwMode="auto">
          <a:xfrm flipH="1">
            <a:off x="8286750" y="0"/>
            <a:ext cx="69850" cy="950913"/>
          </a:xfrm>
          <a:prstGeom prst="rect">
            <a:avLst/>
          </a:prstGeom>
          <a:solidFill>
            <a:srgbClr val="3333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 name="Rectangle 15"/>
          <p:cNvSpPr>
            <a:spLocks noChangeArrowheads="1"/>
          </p:cNvSpPr>
          <p:nvPr/>
        </p:nvSpPr>
        <p:spPr bwMode="auto">
          <a:xfrm>
            <a:off x="152400" y="796925"/>
            <a:ext cx="8839200" cy="39688"/>
          </a:xfrm>
          <a:prstGeom prst="rect">
            <a:avLst/>
          </a:prstGeom>
          <a:gradFill rotWithShape="0">
            <a:gsLst>
              <a:gs pos="0">
                <a:srgbClr val="333399"/>
              </a:gs>
              <a:gs pos="100000">
                <a:srgbClr val="E5E5E5"/>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8" name="Rectangle 4"/>
          <p:cNvSpPr>
            <a:spLocks noGrp="1" noChangeArrowheads="1"/>
          </p:cNvSpPr>
          <p:nvPr>
            <p:ph type="ctrTitle"/>
          </p:nvPr>
        </p:nvSpPr>
        <p:spPr>
          <a:xfrm>
            <a:off x="685800" y="2130425"/>
            <a:ext cx="7772400" cy="1227138"/>
          </a:xfrm>
        </p:spPr>
        <p:txBody>
          <a:bodyPr/>
          <a:lstStyle>
            <a:lvl1pPr algn="ctr">
              <a:defRPr/>
            </a:lvl1pPr>
          </a:lstStyle>
          <a:p>
            <a:r>
              <a:rPr lang="en-US" smtClean="0"/>
              <a:t>Click to edit Master title style</a:t>
            </a:r>
            <a:endParaRPr lang="en-US"/>
          </a:p>
        </p:txBody>
      </p:sp>
      <p:sp>
        <p:nvSpPr>
          <p:cNvPr id="11269" name="Rectangle 5"/>
          <p:cNvSpPr>
            <a:spLocks noGrp="1" noChangeArrowheads="1"/>
          </p:cNvSpPr>
          <p:nvPr>
            <p:ph type="subTitle" idx="1"/>
          </p:nvPr>
        </p:nvSpPr>
        <p:spPr>
          <a:xfrm>
            <a:off x="900113" y="3886200"/>
            <a:ext cx="7343775" cy="838200"/>
          </a:xfrm>
        </p:spPr>
        <p:txBody>
          <a:bodyPr/>
          <a:lstStyle>
            <a:lvl1pPr marL="0" indent="0" algn="ctr">
              <a:buFont typeface="Wingdings" pitchFamily="2" charset="2"/>
              <a:buNone/>
              <a:defRPr sz="2400"/>
            </a:lvl1pPr>
          </a:lstStyle>
          <a:p>
            <a:r>
              <a:rPr lang="en-US" smtClean="0"/>
              <a:t>Click to edit Master subtitle style</a:t>
            </a:r>
            <a:endParaRPr lang="en-US"/>
          </a:p>
        </p:txBody>
      </p:sp>
    </p:spTree>
    <p:extLst>
      <p:ext uri="{BB962C8B-B14F-4D97-AF65-F5344CB8AC3E}">
        <p14:creationId xmlns:p14="http://schemas.microsoft.com/office/powerpoint/2010/main" val="4270581686"/>
      </p:ext>
    </p:extLst>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lnSpc>
                <a:spcPct val="100000"/>
              </a:lnSpc>
              <a:defRPr sz="2400"/>
            </a:lvl1pPr>
            <a:lvl2pPr>
              <a:lnSpc>
                <a:spcPct val="100000"/>
              </a:lnSpc>
              <a:defRPr sz="2000"/>
            </a:lvl2pPr>
            <a:lvl3pPr>
              <a:lnSpc>
                <a:spcPct val="100000"/>
              </a:lnSpc>
              <a:defRPr sz="1800"/>
            </a:lvl3pPr>
            <a:lvl4pPr>
              <a:lnSpc>
                <a:spcPct val="100000"/>
              </a:lnSpc>
              <a:defRPr sz="1800"/>
            </a:lvl4pPr>
            <a:lvl5pPr>
              <a:lnSpc>
                <a:spcPct val="100000"/>
              </a:lnSpc>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8020771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973113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42875" y="981075"/>
            <a:ext cx="4332288" cy="5399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7563" y="981075"/>
            <a:ext cx="4332287" cy="5399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81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79784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27815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8354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80422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00273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85137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6400" y="115888"/>
            <a:ext cx="2203450" cy="62642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42875" y="115888"/>
            <a:ext cx="6461125" cy="62642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13987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8382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838200" y="1905000"/>
            <a:ext cx="7693025" cy="4181475"/>
          </a:xfrm>
        </p:spPr>
        <p:txBody>
          <a:bodyPr/>
          <a:lstStyle/>
          <a:p>
            <a:pPr lvl="0"/>
            <a:r>
              <a:rPr lang="en-US" noProof="0" smtClean="0"/>
              <a:t>Click icon to add table</a:t>
            </a:r>
          </a:p>
        </p:txBody>
      </p:sp>
      <p:sp>
        <p:nvSpPr>
          <p:cNvPr id="4" name="Rectangle 11"/>
          <p:cNvSpPr>
            <a:spLocks noGrp="1" noChangeArrowheads="1"/>
          </p:cNvSpPr>
          <p:nvPr>
            <p:ph type="dt" sz="half" idx="10"/>
          </p:nvPr>
        </p:nvSpPr>
        <p:spPr>
          <a:xfrm>
            <a:off x="457200" y="6356350"/>
            <a:ext cx="2133600" cy="365125"/>
          </a:xfrm>
          <a:prstGeom prst="rect">
            <a:avLst/>
          </a:prstGeom>
          <a:ln/>
        </p:spPr>
        <p:txBody>
          <a:bodyPr/>
          <a:lstStyle>
            <a:lvl1pPr>
              <a:defRPr/>
            </a:lvl1pPr>
          </a:lstStyle>
          <a:p>
            <a:fld id="{116B5796-E86D-4D8A-B374-D60E76BD8424}" type="datetimeFigureOut">
              <a:rPr lang="en-US" smtClean="0"/>
              <a:t>8/15/2016</a:t>
            </a:fld>
            <a:endParaRPr lang="en-US"/>
          </a:p>
        </p:txBody>
      </p:sp>
      <p:sp>
        <p:nvSpPr>
          <p:cNvPr id="5" name="Rectangle 12"/>
          <p:cNvSpPr>
            <a:spLocks noGrp="1" noChangeArrowheads="1"/>
          </p:cNvSpPr>
          <p:nvPr>
            <p:ph type="ftr" sz="quarter" idx="11"/>
          </p:nvPr>
        </p:nvSpPr>
        <p:spPr>
          <a:xfrm>
            <a:off x="2667000" y="6356350"/>
            <a:ext cx="3352800" cy="365125"/>
          </a:xfrm>
          <a:prstGeom prst="rect">
            <a:avLst/>
          </a:prstGeom>
          <a:ln/>
        </p:spPr>
        <p:txBody>
          <a:bodyPr/>
          <a:lstStyle>
            <a:lvl1pPr>
              <a:defRPr/>
            </a:lvl1pPr>
          </a:lstStyle>
          <a:p>
            <a:endParaRPr lang="en-US"/>
          </a:p>
        </p:txBody>
      </p:sp>
      <p:sp>
        <p:nvSpPr>
          <p:cNvPr id="6" name="Rectangle 13"/>
          <p:cNvSpPr>
            <a:spLocks noGrp="1" noChangeArrowheads="1"/>
          </p:cNvSpPr>
          <p:nvPr>
            <p:ph type="sldNum" sz="quarter" idx="12"/>
          </p:nvPr>
        </p:nvSpPr>
        <p:spPr>
          <a:xfrm>
            <a:off x="84138" y="6242050"/>
            <a:ext cx="587375" cy="488950"/>
          </a:xfrm>
          <a:prstGeom prst="rect">
            <a:avLst/>
          </a:prstGeom>
          <a:ln/>
        </p:spPr>
        <p:txBody>
          <a:bodyPr/>
          <a:lstStyle>
            <a:lvl1pPr>
              <a:defRPr/>
            </a:lvl1pPr>
          </a:lstStyle>
          <a:p>
            <a:fld id="{51202398-201B-476D-8F7E-14DB302C970B}" type="slidenum">
              <a:rPr lang="en-US" smtClean="0"/>
              <a:t>‹#›</a:t>
            </a:fld>
            <a:endParaRPr lang="en-US"/>
          </a:p>
        </p:txBody>
      </p:sp>
    </p:spTree>
    <p:extLst>
      <p:ext uri="{BB962C8B-B14F-4D97-AF65-F5344CB8AC3E}">
        <p14:creationId xmlns:p14="http://schemas.microsoft.com/office/powerpoint/2010/main" val="1253937237"/>
      </p:ext>
    </p:extLst>
  </p:cSld>
  <p:clrMapOvr>
    <a:masterClrMapping/>
  </p:clrMapOvr>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38200" y="1905000"/>
            <a:ext cx="3770313" cy="4181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760913" y="1905000"/>
            <a:ext cx="3770312" cy="20145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760913" y="4071938"/>
            <a:ext cx="3770312" cy="20145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11"/>
          <p:cNvSpPr>
            <a:spLocks noGrp="1" noChangeArrowheads="1"/>
          </p:cNvSpPr>
          <p:nvPr>
            <p:ph type="dt" sz="half" idx="10"/>
          </p:nvPr>
        </p:nvSpPr>
        <p:spPr>
          <a:xfrm>
            <a:off x="457200" y="6356350"/>
            <a:ext cx="2133600" cy="365125"/>
          </a:xfrm>
          <a:prstGeom prst="rect">
            <a:avLst/>
          </a:prstGeom>
          <a:ln/>
        </p:spPr>
        <p:txBody>
          <a:bodyPr/>
          <a:lstStyle>
            <a:lvl1pPr>
              <a:defRPr/>
            </a:lvl1pPr>
          </a:lstStyle>
          <a:p>
            <a:fld id="{116B5796-E86D-4D8A-B374-D60E76BD8424}" type="datetimeFigureOut">
              <a:rPr lang="en-US" smtClean="0"/>
              <a:t>8/15/2016</a:t>
            </a:fld>
            <a:endParaRPr lang="en-US"/>
          </a:p>
        </p:txBody>
      </p:sp>
      <p:sp>
        <p:nvSpPr>
          <p:cNvPr id="7" name="Rectangle 12"/>
          <p:cNvSpPr>
            <a:spLocks noGrp="1" noChangeArrowheads="1"/>
          </p:cNvSpPr>
          <p:nvPr>
            <p:ph type="ftr" sz="quarter" idx="11"/>
          </p:nvPr>
        </p:nvSpPr>
        <p:spPr>
          <a:xfrm>
            <a:off x="2667000" y="6356350"/>
            <a:ext cx="3352800" cy="365125"/>
          </a:xfrm>
          <a:prstGeom prst="rect">
            <a:avLst/>
          </a:prstGeom>
          <a:ln/>
        </p:spPr>
        <p:txBody>
          <a:bodyPr/>
          <a:lstStyle>
            <a:lvl1pPr>
              <a:defRPr/>
            </a:lvl1pPr>
          </a:lstStyle>
          <a:p>
            <a:endParaRPr lang="en-US"/>
          </a:p>
        </p:txBody>
      </p:sp>
      <p:sp>
        <p:nvSpPr>
          <p:cNvPr id="8" name="Rectangle 13"/>
          <p:cNvSpPr>
            <a:spLocks noGrp="1" noChangeArrowheads="1"/>
          </p:cNvSpPr>
          <p:nvPr>
            <p:ph type="sldNum" sz="quarter" idx="12"/>
          </p:nvPr>
        </p:nvSpPr>
        <p:spPr>
          <a:xfrm>
            <a:off x="84138" y="6242050"/>
            <a:ext cx="587375" cy="488950"/>
          </a:xfrm>
          <a:prstGeom prst="rect">
            <a:avLst/>
          </a:prstGeom>
          <a:ln/>
        </p:spPr>
        <p:txBody>
          <a:bodyPr/>
          <a:lstStyle>
            <a:lvl1pPr>
              <a:defRPr/>
            </a:lvl1pPr>
          </a:lstStyle>
          <a:p>
            <a:fld id="{51202398-201B-476D-8F7E-14DB302C970B}" type="slidenum">
              <a:rPr lang="en-US" smtClean="0"/>
              <a:t>‹#›</a:t>
            </a:fld>
            <a:endParaRPr lang="en-US"/>
          </a:p>
        </p:txBody>
      </p:sp>
    </p:spTree>
    <p:extLst>
      <p:ext uri="{BB962C8B-B14F-4D97-AF65-F5344CB8AC3E}">
        <p14:creationId xmlns:p14="http://schemas.microsoft.com/office/powerpoint/2010/main" val="2998556506"/>
      </p:ext>
    </p:extLst>
  </p:cSld>
  <p:clrMapOvr>
    <a:masterClrMapping/>
  </p:clrMapOv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4211638" y="6538913"/>
            <a:ext cx="4530725" cy="268287"/>
          </a:xfrm>
          <a:prstGeom prst="rect">
            <a:avLst/>
          </a:prstGeom>
          <a:noFill/>
          <a:ln w="9525">
            <a:noFill/>
            <a:round/>
            <a:headEnd/>
            <a:tailEnd/>
          </a:ln>
          <a:effectLst/>
        </p:spPr>
        <p:txBody>
          <a:bodyPr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9pPr>
          </a:lstStyle>
          <a:p>
            <a:pPr algn="r">
              <a:lnSpc>
                <a:spcPct val="94000"/>
              </a:lnSpc>
              <a:defRPr/>
            </a:pPr>
            <a:fld id="{94B47EB6-1258-4490-BB52-2446CBEA2ADE}" type="slidenum">
              <a:rPr lang="de-DE" sz="1200" smtClean="0">
                <a:solidFill>
                  <a:srgbClr val="333399"/>
                </a:solidFill>
              </a:rPr>
              <a:pPr algn="r">
                <a:lnSpc>
                  <a:spcPct val="94000"/>
                </a:lnSpc>
                <a:defRPr/>
              </a:pPr>
              <a:t>‹#›</a:t>
            </a:fld>
            <a:endParaRPr lang="de-DE" sz="1200" smtClean="0">
              <a:solidFill>
                <a:srgbClr val="333399"/>
              </a:solidFill>
            </a:endParaRPr>
          </a:p>
        </p:txBody>
      </p:sp>
      <p:sp>
        <p:nvSpPr>
          <p:cNvPr id="1027" name="Rectangle 4"/>
          <p:cNvSpPr>
            <a:spLocks noGrp="1" noChangeArrowheads="1"/>
          </p:cNvSpPr>
          <p:nvPr>
            <p:ph type="title"/>
          </p:nvPr>
        </p:nvSpPr>
        <p:spPr bwMode="auto">
          <a:xfrm>
            <a:off x="179388" y="115888"/>
            <a:ext cx="64801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lvl="0"/>
            <a:r>
              <a:rPr lang="en-GB" smtClean="0"/>
              <a:t>Klicken Sie, um das Format des Titeltextes zu bearbeiten</a:t>
            </a:r>
          </a:p>
        </p:txBody>
      </p:sp>
      <p:sp>
        <p:nvSpPr>
          <p:cNvPr id="1028" name="Rectangle 5"/>
          <p:cNvSpPr>
            <a:spLocks noGrp="1" noChangeArrowheads="1"/>
          </p:cNvSpPr>
          <p:nvPr>
            <p:ph type="body" idx="1"/>
          </p:nvPr>
        </p:nvSpPr>
        <p:spPr bwMode="auto">
          <a:xfrm>
            <a:off x="142875" y="981075"/>
            <a:ext cx="8816975" cy="539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lvl="0"/>
            <a:r>
              <a:rPr lang="en-GB" smtClean="0"/>
              <a:t>Klicken Sie, um die Formate des Gliederungstextes zu bearbeiten</a:t>
            </a:r>
          </a:p>
          <a:p>
            <a:pPr lvl="1"/>
            <a:r>
              <a:rPr lang="en-GB" smtClean="0"/>
              <a:t>Zweite Gliederungsebene</a:t>
            </a:r>
          </a:p>
          <a:p>
            <a:pPr lvl="2"/>
            <a:r>
              <a:rPr lang="en-GB" smtClean="0"/>
              <a:t>Dritte Gliederungsebene</a:t>
            </a:r>
          </a:p>
          <a:p>
            <a:pPr lvl="3"/>
            <a:r>
              <a:rPr lang="en-GB" smtClean="0"/>
              <a:t>Vierte Gliederungsebene</a:t>
            </a:r>
          </a:p>
          <a:p>
            <a:pPr lvl="4"/>
            <a:r>
              <a:rPr lang="en-GB" smtClean="0"/>
              <a:t>Fünfte Gliederungsebene</a:t>
            </a:r>
          </a:p>
          <a:p>
            <a:pPr lvl="4"/>
            <a:r>
              <a:rPr lang="en-GB" smtClean="0"/>
              <a:t>Sechste Gliederungsebene</a:t>
            </a:r>
          </a:p>
          <a:p>
            <a:pPr lvl="4"/>
            <a:r>
              <a:rPr lang="en-GB" smtClean="0"/>
              <a:t>Siebente Gliederungsebene</a:t>
            </a:r>
          </a:p>
          <a:p>
            <a:pPr lvl="4"/>
            <a:r>
              <a:rPr lang="en-GB" smtClean="0"/>
              <a:t>Achte Gliederungsebene</a:t>
            </a:r>
          </a:p>
          <a:p>
            <a:pPr lvl="4"/>
            <a:r>
              <a:rPr lang="en-GB" smtClean="0"/>
              <a:t>Neunte Gliederungsebene</a:t>
            </a:r>
          </a:p>
        </p:txBody>
      </p:sp>
      <p:sp>
        <p:nvSpPr>
          <p:cNvPr id="1029" name="Rectangle 6"/>
          <p:cNvSpPr>
            <a:spLocks noChangeArrowheads="1"/>
          </p:cNvSpPr>
          <p:nvPr/>
        </p:nvSpPr>
        <p:spPr bwMode="auto">
          <a:xfrm>
            <a:off x="125413" y="6453188"/>
            <a:ext cx="8839200" cy="39687"/>
          </a:xfrm>
          <a:prstGeom prst="rect">
            <a:avLst/>
          </a:prstGeom>
          <a:gradFill rotWithShape="0">
            <a:gsLst>
              <a:gs pos="0">
                <a:srgbClr val="E5E5E5"/>
              </a:gs>
              <a:gs pos="100000">
                <a:srgbClr val="333399"/>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pic>
        <p:nvPicPr>
          <p:cNvPr id="1030" name="Picture 7"/>
          <p:cNvPicPr>
            <a:picLocks noChangeAspect="1" noChangeArrowheads="1"/>
          </p:cNvPicPr>
          <p:nvPr/>
        </p:nvPicPr>
        <p:blipFill>
          <a:blip r:embed="rId15">
            <a:extLst>
              <a:ext uri="{28A0092B-C50C-407E-A947-70E740481C1C}">
                <a14:useLocalDpi xmlns:a14="http://schemas.microsoft.com/office/drawing/2010/main" val="0"/>
              </a:ext>
            </a:extLst>
          </a:blip>
          <a:srcRect l="55545" r="27379" b="36237"/>
          <a:stretch>
            <a:fillRect/>
          </a:stretch>
        </p:blipFill>
        <p:spPr bwMode="auto">
          <a:xfrm>
            <a:off x="8286750" y="12700"/>
            <a:ext cx="858838"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031" name="Rectangle 9"/>
          <p:cNvSpPr>
            <a:spLocks noChangeArrowheads="1"/>
          </p:cNvSpPr>
          <p:nvPr/>
        </p:nvSpPr>
        <p:spPr bwMode="auto">
          <a:xfrm flipH="1">
            <a:off x="8288338" y="0"/>
            <a:ext cx="69850" cy="950913"/>
          </a:xfrm>
          <a:prstGeom prst="rect">
            <a:avLst/>
          </a:prstGeom>
          <a:solidFill>
            <a:srgbClr val="3333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32" name="Rectangle 15"/>
          <p:cNvSpPr>
            <a:spLocks noChangeArrowheads="1"/>
          </p:cNvSpPr>
          <p:nvPr/>
        </p:nvSpPr>
        <p:spPr bwMode="auto">
          <a:xfrm>
            <a:off x="152400" y="796925"/>
            <a:ext cx="8839200" cy="39688"/>
          </a:xfrm>
          <a:prstGeom prst="rect">
            <a:avLst/>
          </a:prstGeom>
          <a:gradFill rotWithShape="0">
            <a:gsLst>
              <a:gs pos="0">
                <a:srgbClr val="333399"/>
              </a:gs>
              <a:gs pos="100000">
                <a:srgbClr val="E5E5E5"/>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33" name="Text Box 2"/>
          <p:cNvSpPr txBox="1">
            <a:spLocks noChangeArrowheads="1"/>
          </p:cNvSpPr>
          <p:nvPr/>
        </p:nvSpPr>
        <p:spPr bwMode="auto">
          <a:xfrm>
            <a:off x="161925" y="6524625"/>
            <a:ext cx="66960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charset="0"/>
                <a:cs typeface="Arial" charset="0"/>
              </a:defRPr>
            </a:lvl9pPr>
          </a:lstStyle>
          <a:p>
            <a:pPr algn="l">
              <a:lnSpc>
                <a:spcPct val="94000"/>
              </a:lnSpc>
              <a:defRPr/>
            </a:pPr>
            <a:r>
              <a:rPr lang="de-DE" sz="1200" dirty="0" smtClean="0">
                <a:solidFill>
                  <a:srgbClr val="333399"/>
                </a:solidFill>
              </a:rPr>
              <a:t>Trần Hồng Yến</a:t>
            </a:r>
            <a:r>
              <a:rPr lang="de-DE" sz="1200" baseline="0" dirty="0" smtClean="0">
                <a:solidFill>
                  <a:srgbClr val="333399"/>
                </a:solidFill>
              </a:rPr>
              <a:t> - </a:t>
            </a:r>
            <a:r>
              <a:rPr lang="de-DE" sz="1200" dirty="0" smtClean="0">
                <a:solidFill>
                  <a:srgbClr val="333399"/>
                </a:solidFill>
              </a:rPr>
              <a:t>Khoa Công</a:t>
            </a:r>
            <a:r>
              <a:rPr lang="de-DE" sz="1200" baseline="0" dirty="0" smtClean="0">
                <a:solidFill>
                  <a:srgbClr val="333399"/>
                </a:solidFill>
              </a:rPr>
              <a:t> nghệ và An ninh thông tin</a:t>
            </a:r>
            <a:r>
              <a:rPr lang="de-DE" sz="1200" dirty="0" smtClean="0">
                <a:solidFill>
                  <a:srgbClr val="333399"/>
                </a:solidFill>
              </a:rPr>
              <a:t>, Học viện An ninh nhân dân</a:t>
            </a:r>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Lst>
  <p:timing>
    <p:tnLst>
      <p:par>
        <p:cTn id="1" dur="indefinite" restart="never" nodeType="tmRoot"/>
      </p:par>
    </p:tnLst>
  </p:timing>
  <p:hf hdr="0" ftr="0" dt="0"/>
  <p:txStyles>
    <p:titleStyle>
      <a:lvl1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p:titleStyle>
    <p:bodyStyle>
      <a:lvl1pPr marL="338138" indent="-338138" algn="l" defTabSz="449263" rtl="0" eaLnBrk="1" fontAlgn="base" hangingPunct="1">
        <a:lnSpc>
          <a:spcPct val="82000"/>
        </a:lnSpc>
        <a:spcBef>
          <a:spcPts val="800"/>
        </a:spcBef>
        <a:spcAft>
          <a:spcPct val="0"/>
        </a:spcAft>
        <a:buClr>
          <a:srgbClr val="333399"/>
        </a:buClr>
        <a:buSzPct val="100000"/>
        <a:buFont typeface="Wingdings" pitchFamily="2" charset="2"/>
        <a:buChar char=""/>
        <a:defRPr sz="2800">
          <a:solidFill>
            <a:srgbClr val="333399"/>
          </a:solidFill>
          <a:latin typeface="+mn-lt"/>
          <a:ea typeface="+mn-ea"/>
          <a:cs typeface="+mn-cs"/>
        </a:defRPr>
      </a:lvl1pPr>
      <a:lvl2pPr marL="738188" indent="-280988" algn="l" defTabSz="449263" rtl="0" eaLnBrk="1" fontAlgn="base" hangingPunct="1">
        <a:lnSpc>
          <a:spcPct val="82000"/>
        </a:lnSpc>
        <a:spcBef>
          <a:spcPts val="700"/>
        </a:spcBef>
        <a:spcAft>
          <a:spcPct val="0"/>
        </a:spcAft>
        <a:buClr>
          <a:srgbClr val="333399"/>
        </a:buClr>
        <a:buSzPct val="100000"/>
        <a:buFont typeface="Wingdings" pitchFamily="2" charset="2"/>
        <a:buChar char=""/>
        <a:defRPr sz="2400">
          <a:solidFill>
            <a:srgbClr val="333399"/>
          </a:solidFill>
          <a:latin typeface="+mn-lt"/>
        </a:defRPr>
      </a:lvl2pPr>
      <a:lvl3pPr marL="1143000" indent="-228600" algn="l" defTabSz="449263" rtl="0" eaLnBrk="1" fontAlgn="base" hangingPunct="1">
        <a:lnSpc>
          <a:spcPct val="82000"/>
        </a:lnSpc>
        <a:spcBef>
          <a:spcPts val="600"/>
        </a:spcBef>
        <a:spcAft>
          <a:spcPct val="0"/>
        </a:spcAft>
        <a:buClr>
          <a:srgbClr val="333399"/>
        </a:buClr>
        <a:buSzPct val="100000"/>
        <a:buFont typeface="Arial" charset="0"/>
        <a:buChar char="•"/>
        <a:defRPr sz="2000">
          <a:solidFill>
            <a:srgbClr val="333399"/>
          </a:solidFill>
          <a:latin typeface="+mn-lt"/>
        </a:defRPr>
      </a:lvl3pPr>
      <a:lvl4pPr marL="1600200" indent="-228600" algn="l" defTabSz="449263" rtl="0" eaLnBrk="1" fontAlgn="base" hangingPunct="1">
        <a:lnSpc>
          <a:spcPct val="82000"/>
        </a:lnSpc>
        <a:spcBef>
          <a:spcPts val="500"/>
        </a:spcBef>
        <a:spcAft>
          <a:spcPct val="0"/>
        </a:spcAft>
        <a:buClr>
          <a:srgbClr val="333399"/>
        </a:buClr>
        <a:buSzPct val="100000"/>
        <a:buFont typeface="Arial" charset="0"/>
        <a:buChar char="–"/>
        <a:defRPr sz="2000">
          <a:solidFill>
            <a:srgbClr val="333399"/>
          </a:solidFill>
          <a:latin typeface="+mn-lt"/>
        </a:defRPr>
      </a:lvl4pPr>
      <a:lvl5pPr marL="2057400" indent="-228600" algn="l" defTabSz="449263" rtl="0" eaLnBrk="1" fontAlgn="base" hangingPunct="1">
        <a:lnSpc>
          <a:spcPct val="82000"/>
        </a:lnSpc>
        <a:spcBef>
          <a:spcPts val="500"/>
        </a:spcBef>
        <a:spcAft>
          <a:spcPct val="0"/>
        </a:spcAft>
        <a:buClr>
          <a:srgbClr val="333399"/>
        </a:buClr>
        <a:buSzPct val="100000"/>
        <a:buFont typeface="Arial" charset="0"/>
        <a:buChar char="»"/>
        <a:defRPr sz="2000">
          <a:solidFill>
            <a:srgbClr val="333399"/>
          </a:solidFill>
          <a:latin typeface="+mn-lt"/>
        </a:defRPr>
      </a:lvl5pPr>
      <a:lvl6pPr marL="2514600" indent="-228600" algn="l" defTabSz="449263" rtl="0" eaLnBrk="1" fontAlgn="base" hangingPunct="1">
        <a:lnSpc>
          <a:spcPct val="82000"/>
        </a:lnSpc>
        <a:spcBef>
          <a:spcPts val="500"/>
        </a:spcBef>
        <a:spcAft>
          <a:spcPct val="0"/>
        </a:spcAft>
        <a:buClr>
          <a:srgbClr val="333399"/>
        </a:buClr>
        <a:buSzPct val="100000"/>
        <a:buFont typeface="Arial" charset="0"/>
        <a:buChar char="»"/>
        <a:defRPr sz="2000">
          <a:solidFill>
            <a:srgbClr val="333399"/>
          </a:solidFill>
          <a:latin typeface="+mn-lt"/>
        </a:defRPr>
      </a:lvl6pPr>
      <a:lvl7pPr marL="2971800" indent="-228600" algn="l" defTabSz="449263" rtl="0" eaLnBrk="1" fontAlgn="base" hangingPunct="1">
        <a:lnSpc>
          <a:spcPct val="82000"/>
        </a:lnSpc>
        <a:spcBef>
          <a:spcPts val="500"/>
        </a:spcBef>
        <a:spcAft>
          <a:spcPct val="0"/>
        </a:spcAft>
        <a:buClr>
          <a:srgbClr val="333399"/>
        </a:buClr>
        <a:buSzPct val="100000"/>
        <a:buFont typeface="Arial" charset="0"/>
        <a:buChar char="»"/>
        <a:defRPr sz="2000">
          <a:solidFill>
            <a:srgbClr val="333399"/>
          </a:solidFill>
          <a:latin typeface="+mn-lt"/>
        </a:defRPr>
      </a:lvl7pPr>
      <a:lvl8pPr marL="3429000" indent="-228600" algn="l" defTabSz="449263" rtl="0" eaLnBrk="1" fontAlgn="base" hangingPunct="1">
        <a:lnSpc>
          <a:spcPct val="82000"/>
        </a:lnSpc>
        <a:spcBef>
          <a:spcPts val="500"/>
        </a:spcBef>
        <a:spcAft>
          <a:spcPct val="0"/>
        </a:spcAft>
        <a:buClr>
          <a:srgbClr val="333399"/>
        </a:buClr>
        <a:buSzPct val="100000"/>
        <a:buFont typeface="Arial" charset="0"/>
        <a:buChar char="»"/>
        <a:defRPr sz="2000">
          <a:solidFill>
            <a:srgbClr val="333399"/>
          </a:solidFill>
          <a:latin typeface="+mn-lt"/>
        </a:defRPr>
      </a:lvl8pPr>
      <a:lvl9pPr marL="3886200" indent="-228600" algn="l" defTabSz="449263" rtl="0" eaLnBrk="1" fontAlgn="base" hangingPunct="1">
        <a:lnSpc>
          <a:spcPct val="82000"/>
        </a:lnSpc>
        <a:spcBef>
          <a:spcPts val="500"/>
        </a:spcBef>
        <a:spcAft>
          <a:spcPct val="0"/>
        </a:spcAft>
        <a:buClr>
          <a:srgbClr val="333399"/>
        </a:buClr>
        <a:buSzPct val="100000"/>
        <a:buFont typeface="Arial" charset="0"/>
        <a:buChar char="»"/>
        <a:defRPr sz="2000">
          <a:solidFill>
            <a:srgbClr val="3333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3581400"/>
            <a:ext cx="9143999" cy="838200"/>
          </a:xfrm>
        </p:spPr>
        <p:txBody>
          <a:bodyPr>
            <a:normAutofit/>
          </a:bodyPr>
          <a:lstStyle/>
          <a:p>
            <a:r>
              <a:rPr lang="en-US" b="1" dirty="0" smtClean="0"/>
              <a:t>BÀI 3: ĐẢM BẢO AN TOÀN THÔNG TIN TỔNG THỂ</a:t>
            </a:r>
            <a:endParaRPr lang="en-US" b="1" dirty="0"/>
          </a:p>
        </p:txBody>
      </p:sp>
      <p:pic>
        <p:nvPicPr>
          <p:cNvPr id="7" name="Picture 30" descr="elearning-graphic[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4084637"/>
            <a:ext cx="2819400"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utoShape 41"/>
          <p:cNvSpPr txBox="1">
            <a:spLocks noChangeArrowheads="1"/>
          </p:cNvSpPr>
          <p:nvPr/>
        </p:nvSpPr>
        <p:spPr bwMode="auto">
          <a:xfrm>
            <a:off x="0" y="2209800"/>
            <a:ext cx="9144000"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normAutofit/>
          </a:bodyPr>
          <a:lstStyle>
            <a:lvl1pPr algn="ctr"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pPr>
              <a:lnSpc>
                <a:spcPct val="100000"/>
              </a:lnSpc>
            </a:pPr>
            <a:r>
              <a:rPr lang="en-US" sz="2000" dirty="0" smtClean="0">
                <a:solidFill>
                  <a:schemeClr val="accent6"/>
                </a:solidFill>
                <a:latin typeface="Times New Roman" panose="02020603050405020304" pitchFamily="18" charset="0"/>
              </a:rPr>
              <a:t>BÀI GIẢNG </a:t>
            </a:r>
            <a:br>
              <a:rPr lang="en-US" sz="2000" dirty="0" smtClean="0">
                <a:solidFill>
                  <a:schemeClr val="accent6"/>
                </a:solidFill>
                <a:latin typeface="Times New Roman" panose="02020603050405020304" pitchFamily="18" charset="0"/>
              </a:rPr>
            </a:br>
            <a:r>
              <a:rPr lang="en-US" sz="4600" dirty="0" smtClean="0">
                <a:solidFill>
                  <a:schemeClr val="accent6"/>
                </a:solidFill>
                <a:latin typeface="Times New Roman" panose="02020603050405020304" pitchFamily="18" charset="0"/>
              </a:rPr>
              <a:t>CƠ SỞ AN TOÀN THÔNG TIN</a:t>
            </a:r>
          </a:p>
        </p:txBody>
      </p:sp>
    </p:spTree>
    <p:extLst>
      <p:ext uri="{BB962C8B-B14F-4D97-AF65-F5344CB8AC3E}">
        <p14:creationId xmlns:p14="http://schemas.microsoft.com/office/powerpoint/2010/main" val="18421613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dirty="0" err="1" smtClean="0"/>
              <a:t>Nội</a:t>
            </a:r>
            <a:r>
              <a:rPr lang="en-US" dirty="0" smtClean="0"/>
              <a:t> dung</a:t>
            </a:r>
          </a:p>
        </p:txBody>
      </p:sp>
      <p:sp>
        <p:nvSpPr>
          <p:cNvPr id="114691" name="Rectangle 3"/>
          <p:cNvSpPr>
            <a:spLocks noGrp="1" noChangeArrowheads="1"/>
          </p:cNvSpPr>
          <p:nvPr>
            <p:ph idx="1"/>
          </p:nvPr>
        </p:nvSpPr>
        <p:spPr/>
        <p:txBody>
          <a:bodyPr/>
          <a:lstStyle/>
          <a:p>
            <a:r>
              <a:rPr lang="en-US" dirty="0"/>
              <a:t>I. </a:t>
            </a:r>
            <a:r>
              <a:rPr lang="en-US" dirty="0" err="1"/>
              <a:t>Nguyên</a:t>
            </a:r>
            <a:r>
              <a:rPr lang="en-US" dirty="0"/>
              <a:t> </a:t>
            </a:r>
            <a:r>
              <a:rPr lang="en-US" dirty="0" err="1"/>
              <a:t>tắc</a:t>
            </a:r>
            <a:r>
              <a:rPr lang="en-US" dirty="0"/>
              <a:t> </a:t>
            </a:r>
            <a:r>
              <a:rPr lang="en-US" dirty="0" err="1"/>
              <a:t>cơ</a:t>
            </a:r>
            <a:r>
              <a:rPr lang="en-US" dirty="0"/>
              <a:t> </a:t>
            </a:r>
            <a:r>
              <a:rPr lang="en-US" dirty="0" err="1"/>
              <a:t>bản</a:t>
            </a:r>
            <a:r>
              <a:rPr lang="en-US" dirty="0"/>
              <a:t> </a:t>
            </a:r>
            <a:r>
              <a:rPr lang="en-US" dirty="0" err="1"/>
              <a:t>đảm</a:t>
            </a:r>
            <a:r>
              <a:rPr lang="en-US" dirty="0"/>
              <a:t> </a:t>
            </a:r>
            <a:r>
              <a:rPr lang="en-US" dirty="0" err="1"/>
              <a:t>bảo</a:t>
            </a:r>
            <a:r>
              <a:rPr lang="en-US" dirty="0"/>
              <a:t> ATTT.</a:t>
            </a:r>
          </a:p>
          <a:p>
            <a:r>
              <a:rPr lang="en-US" dirty="0"/>
              <a:t>II. </a:t>
            </a:r>
            <a:r>
              <a:rPr lang="en-US" dirty="0" err="1"/>
              <a:t>Quy</a:t>
            </a:r>
            <a:r>
              <a:rPr lang="en-US" dirty="0"/>
              <a:t> </a:t>
            </a:r>
            <a:r>
              <a:rPr lang="en-US" dirty="0" err="1"/>
              <a:t>trình</a:t>
            </a:r>
            <a:r>
              <a:rPr lang="en-US" dirty="0"/>
              <a:t> </a:t>
            </a:r>
            <a:r>
              <a:rPr lang="en-US" dirty="0" err="1"/>
              <a:t>đảm</a:t>
            </a:r>
            <a:r>
              <a:rPr lang="en-US" dirty="0"/>
              <a:t> </a:t>
            </a:r>
            <a:r>
              <a:rPr lang="en-US" dirty="0" err="1"/>
              <a:t>bảo</a:t>
            </a:r>
            <a:r>
              <a:rPr lang="en-US" dirty="0"/>
              <a:t> ATTT</a:t>
            </a:r>
          </a:p>
          <a:p>
            <a:r>
              <a:rPr lang="en-US" dirty="0"/>
              <a:t>III. </a:t>
            </a:r>
            <a:r>
              <a:rPr lang="en-US" dirty="0" err="1"/>
              <a:t>Mô</a:t>
            </a:r>
            <a:r>
              <a:rPr lang="en-US" dirty="0"/>
              <a:t> </a:t>
            </a:r>
            <a:r>
              <a:rPr lang="en-US" dirty="0" err="1"/>
              <a:t>hình</a:t>
            </a:r>
            <a:r>
              <a:rPr lang="en-US" dirty="0"/>
              <a:t> </a:t>
            </a:r>
            <a:r>
              <a:rPr lang="en-US" dirty="0" err="1"/>
              <a:t>đảm</a:t>
            </a:r>
            <a:r>
              <a:rPr lang="en-US" dirty="0"/>
              <a:t> </a:t>
            </a:r>
            <a:r>
              <a:rPr lang="en-US" dirty="0" err="1"/>
              <a:t>bảo</a:t>
            </a:r>
            <a:r>
              <a:rPr lang="en-US" dirty="0"/>
              <a:t> ATTT </a:t>
            </a:r>
            <a:r>
              <a:rPr lang="en-US" dirty="0" err="1"/>
              <a:t>theo</a:t>
            </a:r>
            <a:r>
              <a:rPr lang="en-US" dirty="0"/>
              <a:t> </a:t>
            </a:r>
            <a:r>
              <a:rPr lang="en-US" dirty="0" err="1"/>
              <a:t>chiều</a:t>
            </a:r>
            <a:r>
              <a:rPr lang="en-US" dirty="0"/>
              <a:t> </a:t>
            </a:r>
            <a:r>
              <a:rPr lang="en-US" dirty="0" err="1"/>
              <a:t>sâu</a:t>
            </a:r>
            <a:endParaRPr lang="en-US" dirty="0"/>
          </a:p>
          <a:p>
            <a:pPr>
              <a:lnSpc>
                <a:spcPct val="90000"/>
              </a:lnSpc>
            </a:pPr>
            <a:r>
              <a:rPr lang="en-US" dirty="0" smtClean="0"/>
              <a:t>IV</a:t>
            </a:r>
            <a:r>
              <a:rPr lang="en-US" dirty="0" smtClean="0"/>
              <a:t>. </a:t>
            </a:r>
            <a:r>
              <a:rPr lang="en-US" dirty="0" err="1" smtClean="0"/>
              <a:t>Các</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đảm</a:t>
            </a:r>
            <a:r>
              <a:rPr lang="en-US" dirty="0" smtClean="0"/>
              <a:t> </a:t>
            </a:r>
            <a:r>
              <a:rPr lang="en-US" dirty="0" err="1" smtClean="0"/>
              <a:t>bảo</a:t>
            </a:r>
            <a:r>
              <a:rPr lang="en-US" dirty="0" smtClean="0"/>
              <a:t> </a:t>
            </a:r>
            <a:r>
              <a:rPr lang="en-US" dirty="0" smtClean="0"/>
              <a:t>ATTT</a:t>
            </a:r>
            <a:endParaRPr lang="en-US" dirty="0" smtClean="0"/>
          </a:p>
          <a:p>
            <a:pPr>
              <a:lnSpc>
                <a:spcPct val="90000"/>
              </a:lnSpc>
            </a:pPr>
            <a:r>
              <a:rPr lang="en-US" dirty="0" smtClean="0"/>
              <a:t>1. </a:t>
            </a:r>
            <a:r>
              <a:rPr lang="en-US" dirty="0" err="1" smtClean="0"/>
              <a:t>Phương</a:t>
            </a:r>
            <a:r>
              <a:rPr lang="en-US" dirty="0" smtClean="0"/>
              <a:t> </a:t>
            </a:r>
            <a:r>
              <a:rPr lang="en-US" dirty="0" err="1" smtClean="0"/>
              <a:t>pháp</a:t>
            </a:r>
            <a:r>
              <a:rPr lang="en-US" dirty="0" smtClean="0"/>
              <a:t> </a:t>
            </a:r>
            <a:r>
              <a:rPr lang="en-US" dirty="0" err="1" smtClean="0"/>
              <a:t>đảm</a:t>
            </a:r>
            <a:r>
              <a:rPr lang="en-US" dirty="0" smtClean="0"/>
              <a:t> </a:t>
            </a:r>
            <a:r>
              <a:rPr lang="en-US" dirty="0" err="1" smtClean="0"/>
              <a:t>bảo</a:t>
            </a:r>
            <a:r>
              <a:rPr lang="en-US" dirty="0" smtClean="0"/>
              <a:t> an </a:t>
            </a:r>
            <a:r>
              <a:rPr lang="en-US" dirty="0" err="1" smtClean="0"/>
              <a:t>toàn</a:t>
            </a:r>
            <a:r>
              <a:rPr lang="en-US" dirty="0" smtClean="0"/>
              <a:t> </a:t>
            </a:r>
            <a:r>
              <a:rPr lang="en-US" dirty="0" err="1" smtClean="0"/>
              <a:t>vật</a:t>
            </a:r>
            <a:r>
              <a:rPr lang="en-US" dirty="0" smtClean="0"/>
              <a:t> </a:t>
            </a:r>
            <a:r>
              <a:rPr lang="en-US" dirty="0" err="1" smtClean="0"/>
              <a:t>lý</a:t>
            </a:r>
            <a:endParaRPr lang="en-US" dirty="0" smtClean="0"/>
          </a:p>
          <a:p>
            <a:pPr>
              <a:lnSpc>
                <a:spcPct val="90000"/>
              </a:lnSpc>
            </a:pPr>
            <a:r>
              <a:rPr lang="en-US" dirty="0" smtClean="0">
                <a:solidFill>
                  <a:srgbClr val="C00000"/>
                </a:solidFill>
              </a:rPr>
              <a:t>2. </a:t>
            </a:r>
            <a:r>
              <a:rPr lang="en-US" dirty="0" err="1" smtClean="0">
                <a:solidFill>
                  <a:srgbClr val="C00000"/>
                </a:solidFill>
              </a:rPr>
              <a:t>Phương</a:t>
            </a:r>
            <a:r>
              <a:rPr lang="en-US" dirty="0" smtClean="0">
                <a:solidFill>
                  <a:srgbClr val="C00000"/>
                </a:solidFill>
              </a:rPr>
              <a:t> </a:t>
            </a:r>
            <a:r>
              <a:rPr lang="en-US" dirty="0" err="1" smtClean="0">
                <a:solidFill>
                  <a:srgbClr val="C00000"/>
                </a:solidFill>
              </a:rPr>
              <a:t>pháp</a:t>
            </a:r>
            <a:r>
              <a:rPr lang="en-US" dirty="0" smtClean="0">
                <a:solidFill>
                  <a:srgbClr val="C00000"/>
                </a:solidFill>
              </a:rPr>
              <a:t> </a:t>
            </a:r>
            <a:r>
              <a:rPr lang="en-US" dirty="0" err="1" smtClean="0">
                <a:solidFill>
                  <a:srgbClr val="C00000"/>
                </a:solidFill>
              </a:rPr>
              <a:t>mật</a:t>
            </a:r>
            <a:r>
              <a:rPr lang="en-US" dirty="0" smtClean="0">
                <a:solidFill>
                  <a:srgbClr val="C00000"/>
                </a:solidFill>
              </a:rPr>
              <a:t> </a:t>
            </a:r>
            <a:r>
              <a:rPr lang="en-US" dirty="0" err="1" smtClean="0">
                <a:solidFill>
                  <a:srgbClr val="C00000"/>
                </a:solidFill>
              </a:rPr>
              <a:t>mã</a:t>
            </a:r>
            <a:endParaRPr lang="en-US" dirty="0" smtClean="0">
              <a:solidFill>
                <a:srgbClr val="C00000"/>
              </a:solidFill>
            </a:endParaRPr>
          </a:p>
          <a:p>
            <a:pPr>
              <a:lnSpc>
                <a:spcPct val="90000"/>
              </a:lnSpc>
            </a:pPr>
            <a:endParaRPr lang="en-US" dirty="0" smtClean="0"/>
          </a:p>
          <a:p>
            <a:pPr marL="0" indent="0">
              <a:lnSpc>
                <a:spcPct val="90000"/>
              </a:lnSpc>
              <a:buNone/>
            </a:pPr>
            <a:endParaRPr lang="en-US"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 calcmode="lin" valueType="num">
                                      <p:cBhvr additive="base">
                                        <p:cTn id="7" dur="500" fill="hold"/>
                                        <p:tgtEl>
                                          <p:spTgt spid="1146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691">
                                            <p:txEl>
                                              <p:pRg st="1" end="1"/>
                                            </p:txEl>
                                          </p:spTgt>
                                        </p:tgtEl>
                                        <p:attrNameLst>
                                          <p:attrName>style.visibility</p:attrName>
                                        </p:attrNameLst>
                                      </p:cBhvr>
                                      <p:to>
                                        <p:strVal val="visible"/>
                                      </p:to>
                                    </p:set>
                                    <p:anim calcmode="lin" valueType="num">
                                      <p:cBhvr additive="base">
                                        <p:cTn id="13" dur="500" fill="hold"/>
                                        <p:tgtEl>
                                          <p:spTgt spid="1146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6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4691">
                                            <p:txEl>
                                              <p:pRg st="2" end="2"/>
                                            </p:txEl>
                                          </p:spTgt>
                                        </p:tgtEl>
                                        <p:attrNameLst>
                                          <p:attrName>style.visibility</p:attrName>
                                        </p:attrNameLst>
                                      </p:cBhvr>
                                      <p:to>
                                        <p:strVal val="visible"/>
                                      </p:to>
                                    </p:set>
                                    <p:anim calcmode="lin" valueType="num">
                                      <p:cBhvr additive="base">
                                        <p:cTn id="19" dur="500" fill="hold"/>
                                        <p:tgtEl>
                                          <p:spTgt spid="1146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46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4691">
                                            <p:txEl>
                                              <p:pRg st="3" end="3"/>
                                            </p:txEl>
                                          </p:spTgt>
                                        </p:tgtEl>
                                        <p:attrNameLst>
                                          <p:attrName>style.visibility</p:attrName>
                                        </p:attrNameLst>
                                      </p:cBhvr>
                                      <p:to>
                                        <p:strVal val="visible"/>
                                      </p:to>
                                    </p:set>
                                    <p:anim calcmode="lin" valueType="num">
                                      <p:cBhvr additive="base">
                                        <p:cTn id="25" dur="500" fill="hold"/>
                                        <p:tgtEl>
                                          <p:spTgt spid="1146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46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4691">
                                            <p:txEl>
                                              <p:pRg st="4" end="4"/>
                                            </p:txEl>
                                          </p:spTgt>
                                        </p:tgtEl>
                                        <p:attrNameLst>
                                          <p:attrName>style.visibility</p:attrName>
                                        </p:attrNameLst>
                                      </p:cBhvr>
                                      <p:to>
                                        <p:strVal val="visible"/>
                                      </p:to>
                                    </p:set>
                                    <p:anim calcmode="lin" valueType="num">
                                      <p:cBhvr additive="base">
                                        <p:cTn id="31" dur="500" fill="hold"/>
                                        <p:tgtEl>
                                          <p:spTgt spid="11469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46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4691">
                                            <p:txEl>
                                              <p:pRg st="5" end="5"/>
                                            </p:txEl>
                                          </p:spTgt>
                                        </p:tgtEl>
                                        <p:attrNameLst>
                                          <p:attrName>style.visibility</p:attrName>
                                        </p:attrNameLst>
                                      </p:cBhvr>
                                      <p:to>
                                        <p:strVal val="visible"/>
                                      </p:to>
                                    </p:set>
                                    <p:anim calcmode="lin" valueType="num">
                                      <p:cBhvr additive="base">
                                        <p:cTn id="37" dur="500" fill="hold"/>
                                        <p:tgtEl>
                                          <p:spTgt spid="11469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469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76200" y="152400"/>
            <a:ext cx="8763000" cy="533400"/>
          </a:xfrm>
        </p:spPr>
        <p:txBody>
          <a:bodyPr/>
          <a:lstStyle/>
          <a:p>
            <a:r>
              <a:rPr lang="en-US" sz="3600" dirty="0" smtClean="0"/>
              <a:t>2. </a:t>
            </a:r>
            <a:r>
              <a:rPr lang="en-US" sz="3600" dirty="0" err="1"/>
              <a:t>P</a:t>
            </a:r>
            <a:r>
              <a:rPr lang="en-US" sz="3600" dirty="0" err="1" smtClean="0"/>
              <a:t>hương</a:t>
            </a:r>
            <a:r>
              <a:rPr lang="en-US" sz="3600" dirty="0" smtClean="0"/>
              <a:t> </a:t>
            </a:r>
            <a:r>
              <a:rPr lang="en-US" sz="3600" dirty="0" err="1" smtClean="0"/>
              <a:t>pháp</a:t>
            </a:r>
            <a:r>
              <a:rPr lang="en-US" sz="3600" dirty="0" smtClean="0"/>
              <a:t> </a:t>
            </a:r>
            <a:r>
              <a:rPr lang="en-US" sz="3600" dirty="0" err="1" smtClean="0"/>
              <a:t>mật</a:t>
            </a:r>
            <a:r>
              <a:rPr lang="en-US" sz="3600" dirty="0" smtClean="0"/>
              <a:t> </a:t>
            </a:r>
            <a:r>
              <a:rPr lang="en-US" sz="3600" dirty="0" err="1" smtClean="0"/>
              <a:t>mã</a:t>
            </a:r>
            <a:endParaRPr lang="en-US" sz="3600" dirty="0" smtClean="0"/>
          </a:p>
        </p:txBody>
      </p:sp>
      <p:sp>
        <p:nvSpPr>
          <p:cNvPr id="606211" name="Rectangle 3"/>
          <p:cNvSpPr>
            <a:spLocks noGrp="1" noChangeArrowheads="1"/>
          </p:cNvSpPr>
          <p:nvPr>
            <p:ph type="body" idx="1"/>
          </p:nvPr>
        </p:nvSpPr>
        <p:spPr/>
        <p:txBody>
          <a:bodyPr/>
          <a:lstStyle/>
          <a:p>
            <a:r>
              <a:rPr lang="en-US" smtClean="0"/>
              <a:t>Các nguyên lý bảo vệ thông tin bằng mật mã</a:t>
            </a:r>
          </a:p>
          <a:p>
            <a:r>
              <a:rPr lang="en-US" smtClean="0"/>
              <a:t>Các vấn đề hệ thống khi áp dụng các phương pháp mật mã</a:t>
            </a:r>
          </a:p>
          <a:p>
            <a:r>
              <a:rPr lang="en-US" smtClean="0"/>
              <a:t>Bảo vệ tầng vận tải bằng mật mã</a:t>
            </a:r>
          </a:p>
          <a:p>
            <a:r>
              <a:rPr lang="en-US" smtClean="0"/>
              <a:t>Bảo vệ tầng ứng dụng bằng mật mã.</a:t>
            </a:r>
          </a:p>
        </p:txBody>
      </p:sp>
    </p:spTree>
    <p:extLst>
      <p:ext uri="{BB962C8B-B14F-4D97-AF65-F5344CB8AC3E}">
        <p14:creationId xmlns:p14="http://schemas.microsoft.com/office/powerpoint/2010/main" val="26428733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iterate type="lt">
                                    <p:tmPct val="0"/>
                                  </p:iterate>
                                  <p:childTnLst>
                                    <p:set>
                                      <p:cBhvr>
                                        <p:cTn id="6" dur="1" fill="hold">
                                          <p:stCondLst>
                                            <p:cond delay="0"/>
                                          </p:stCondLst>
                                        </p:cTn>
                                        <p:tgtEl>
                                          <p:spTgt spid="606211">
                                            <p:txEl>
                                              <p:pRg st="0" end="0"/>
                                            </p:txEl>
                                          </p:spTgt>
                                        </p:tgtEl>
                                        <p:attrNameLst>
                                          <p:attrName>style.visibility</p:attrName>
                                        </p:attrNameLst>
                                      </p:cBhvr>
                                      <p:to>
                                        <p:strVal val="visible"/>
                                      </p:to>
                                    </p:set>
                                    <p:animEffect transition="in" filter="blinds(horizontal)">
                                      <p:cBhvr>
                                        <p:cTn id="7" dur="500"/>
                                        <p:tgtEl>
                                          <p:spTgt spid="606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06211">
                                            <p:txEl>
                                              <p:pRg st="1" end="1"/>
                                            </p:txEl>
                                          </p:spTgt>
                                        </p:tgtEl>
                                        <p:attrNameLst>
                                          <p:attrName>style.visibility</p:attrName>
                                        </p:attrNameLst>
                                      </p:cBhvr>
                                      <p:to>
                                        <p:strVal val="visible"/>
                                      </p:to>
                                    </p:set>
                                    <p:animEffect transition="in" filter="blinds(horizontal)">
                                      <p:cBhvr>
                                        <p:cTn id="12" dur="500"/>
                                        <p:tgtEl>
                                          <p:spTgt spid="6062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06211">
                                            <p:txEl>
                                              <p:pRg st="2" end="2"/>
                                            </p:txEl>
                                          </p:spTgt>
                                        </p:tgtEl>
                                        <p:attrNameLst>
                                          <p:attrName>style.visibility</p:attrName>
                                        </p:attrNameLst>
                                      </p:cBhvr>
                                      <p:to>
                                        <p:strVal val="visible"/>
                                      </p:to>
                                    </p:set>
                                    <p:animEffect transition="in" filter="blinds(horizontal)">
                                      <p:cBhvr>
                                        <p:cTn id="17" dur="500"/>
                                        <p:tgtEl>
                                          <p:spTgt spid="6062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06211">
                                            <p:txEl>
                                              <p:pRg st="3" end="3"/>
                                            </p:txEl>
                                          </p:spTgt>
                                        </p:tgtEl>
                                        <p:attrNameLst>
                                          <p:attrName>style.visibility</p:attrName>
                                        </p:attrNameLst>
                                      </p:cBhvr>
                                      <p:to>
                                        <p:strVal val="visible"/>
                                      </p:to>
                                    </p:set>
                                    <p:animEffect transition="in" filter="blinds(horizontal)">
                                      <p:cBhvr>
                                        <p:cTn id="22" dur="500"/>
                                        <p:tgtEl>
                                          <p:spTgt spid="6062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0" presetClass="emph" presetSubtype="0" fill="hold" nodeType="clickEffect">
                                  <p:stCondLst>
                                    <p:cond delay="0"/>
                                  </p:stCondLst>
                                  <p:iterate type="lt">
                                    <p:tmPct val="10000"/>
                                  </p:iterate>
                                  <p:childTnLst>
                                    <p:set>
                                      <p:cBhvr override="childStyle">
                                        <p:cTn id="26" dur="250" autoRev="1" fill="hold"/>
                                        <p:tgtEl>
                                          <p:spTgt spid="606211">
                                            <p:txEl>
                                              <p:pRg st="0" end="0"/>
                                            </p:txEl>
                                          </p:spTgt>
                                        </p:tgtEl>
                                        <p:attrNameLst>
                                          <p:attrName>style.color</p:attrName>
                                        </p:attrNameLst>
                                      </p:cBhvr>
                                      <p:to>
                                        <p:clrVal>
                                          <a:srgbClr val="800000"/>
                                        </p:clrVal>
                                      </p:to>
                                    </p:set>
                                    <p:set>
                                      <p:cBhvr>
                                        <p:cTn id="27" dur="250" autoRev="1" fill="hold"/>
                                        <p:tgtEl>
                                          <p:spTgt spid="606211">
                                            <p:txEl>
                                              <p:pRg st="0" end="0"/>
                                            </p:txEl>
                                          </p:spTgt>
                                        </p:tgtEl>
                                        <p:attrNameLst>
                                          <p:attrName>fillcolor</p:attrName>
                                        </p:attrNameLst>
                                      </p:cBhvr>
                                      <p:to>
                                        <p:clrVal>
                                          <a:srgbClr val="800000"/>
                                        </p:clrVal>
                                      </p:to>
                                    </p:set>
                                    <p:set>
                                      <p:cBhvr>
                                        <p:cTn id="28" dur="250" autoRev="1" fill="hold"/>
                                        <p:tgtEl>
                                          <p:spTgt spid="606211">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179388" y="115888"/>
            <a:ext cx="8507412" cy="576262"/>
          </a:xfrm>
        </p:spPr>
        <p:txBody>
          <a:bodyPr/>
          <a:lstStyle/>
          <a:p>
            <a:r>
              <a:rPr lang="en-US" dirty="0" err="1"/>
              <a:t>N</a:t>
            </a:r>
            <a:r>
              <a:rPr lang="en-US" dirty="0" err="1" smtClean="0"/>
              <a:t>guyên</a:t>
            </a:r>
            <a:r>
              <a:rPr lang="en-US" dirty="0" smtClean="0"/>
              <a:t> </a:t>
            </a:r>
            <a:r>
              <a:rPr lang="en-US" dirty="0" err="1" smtClean="0"/>
              <a:t>lý</a:t>
            </a:r>
            <a:r>
              <a:rPr lang="en-US" dirty="0" smtClean="0"/>
              <a:t> </a:t>
            </a:r>
            <a:r>
              <a:rPr lang="en-US" dirty="0" err="1" smtClean="0"/>
              <a:t>bảo</a:t>
            </a:r>
            <a:r>
              <a:rPr lang="en-US" dirty="0" smtClean="0"/>
              <a:t> </a:t>
            </a:r>
            <a:r>
              <a:rPr lang="en-US" dirty="0" err="1" smtClean="0"/>
              <a:t>vệ</a:t>
            </a:r>
            <a:r>
              <a:rPr lang="en-US" dirty="0" smtClean="0"/>
              <a:t> </a:t>
            </a:r>
            <a:r>
              <a:rPr lang="en-US" dirty="0" err="1" smtClean="0"/>
              <a:t>thông</a:t>
            </a:r>
            <a:r>
              <a:rPr lang="en-US" dirty="0" smtClean="0"/>
              <a:t> tin </a:t>
            </a:r>
            <a:r>
              <a:rPr lang="en-US" dirty="0" err="1" smtClean="0"/>
              <a:t>bằng</a:t>
            </a:r>
            <a:r>
              <a:rPr lang="en-US" dirty="0" smtClean="0"/>
              <a:t> </a:t>
            </a:r>
            <a:r>
              <a:rPr lang="en-US" dirty="0" err="1" smtClean="0"/>
              <a:t>mật</a:t>
            </a:r>
            <a:r>
              <a:rPr lang="en-US" dirty="0" smtClean="0"/>
              <a:t> </a:t>
            </a:r>
            <a:r>
              <a:rPr lang="en-US" dirty="0" err="1" smtClean="0"/>
              <a:t>mã</a:t>
            </a:r>
            <a:endParaRPr lang="en-US" dirty="0" smtClean="0"/>
          </a:p>
        </p:txBody>
      </p:sp>
      <p:sp>
        <p:nvSpPr>
          <p:cNvPr id="608259" name="Rectangle 3"/>
          <p:cNvSpPr>
            <a:spLocks noGrp="1" noChangeArrowheads="1"/>
          </p:cNvSpPr>
          <p:nvPr>
            <p:ph type="body" idx="1"/>
          </p:nvPr>
        </p:nvSpPr>
        <p:spPr/>
        <p:txBody>
          <a:bodyPr/>
          <a:lstStyle/>
          <a:p>
            <a:r>
              <a:rPr lang="en-US" smtClean="0"/>
              <a:t>Khái niệm thiết bị mật mã (TBMM)</a:t>
            </a:r>
          </a:p>
          <a:p>
            <a:r>
              <a:rPr lang="en-US" smtClean="0"/>
              <a:t>Nhiệm vụ của các TBMM</a:t>
            </a:r>
          </a:p>
          <a:p>
            <a:r>
              <a:rPr lang="en-US" smtClean="0"/>
              <a:t>Đặc tính của TBMM</a:t>
            </a:r>
          </a:p>
          <a:p>
            <a:r>
              <a:rPr lang="en-US" smtClean="0"/>
              <a:t>Thể hiện mật mã trong hệ thống ATTT</a:t>
            </a:r>
          </a:p>
          <a:p>
            <a:r>
              <a:rPr lang="en-US" smtClean="0"/>
              <a:t>Các hiểm họa ATTT khi áp dụng kỹ thuật mật mã</a:t>
            </a:r>
          </a:p>
          <a:p>
            <a:r>
              <a:rPr lang="en-US" smtClean="0"/>
              <a:t>Các nguyên lý cơ bản của TBMM.</a:t>
            </a:r>
          </a:p>
        </p:txBody>
      </p:sp>
    </p:spTree>
    <p:extLst>
      <p:ext uri="{BB962C8B-B14F-4D97-AF65-F5344CB8AC3E}">
        <p14:creationId xmlns:p14="http://schemas.microsoft.com/office/powerpoint/2010/main" val="6944544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08259">
                                            <p:txEl>
                                              <p:pRg st="0" end="0"/>
                                            </p:txEl>
                                          </p:spTgt>
                                        </p:tgtEl>
                                        <p:attrNameLst>
                                          <p:attrName>style.visibility</p:attrName>
                                        </p:attrNameLst>
                                      </p:cBhvr>
                                      <p:to>
                                        <p:strVal val="visible"/>
                                      </p:to>
                                    </p:set>
                                    <p:animEffect transition="in" filter="blinds(horizontal)">
                                      <p:cBhvr>
                                        <p:cTn id="7" dur="500"/>
                                        <p:tgtEl>
                                          <p:spTgt spid="608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08259">
                                            <p:txEl>
                                              <p:pRg st="1" end="1"/>
                                            </p:txEl>
                                          </p:spTgt>
                                        </p:tgtEl>
                                        <p:attrNameLst>
                                          <p:attrName>style.visibility</p:attrName>
                                        </p:attrNameLst>
                                      </p:cBhvr>
                                      <p:to>
                                        <p:strVal val="visible"/>
                                      </p:to>
                                    </p:set>
                                    <p:animEffect transition="in" filter="blinds(horizontal)">
                                      <p:cBhvr>
                                        <p:cTn id="12" dur="500"/>
                                        <p:tgtEl>
                                          <p:spTgt spid="6082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08259">
                                            <p:txEl>
                                              <p:pRg st="2" end="2"/>
                                            </p:txEl>
                                          </p:spTgt>
                                        </p:tgtEl>
                                        <p:attrNameLst>
                                          <p:attrName>style.visibility</p:attrName>
                                        </p:attrNameLst>
                                      </p:cBhvr>
                                      <p:to>
                                        <p:strVal val="visible"/>
                                      </p:to>
                                    </p:set>
                                    <p:animEffect transition="in" filter="blinds(horizontal)">
                                      <p:cBhvr>
                                        <p:cTn id="17" dur="500"/>
                                        <p:tgtEl>
                                          <p:spTgt spid="6082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08259">
                                            <p:txEl>
                                              <p:pRg st="3" end="3"/>
                                            </p:txEl>
                                          </p:spTgt>
                                        </p:tgtEl>
                                        <p:attrNameLst>
                                          <p:attrName>style.visibility</p:attrName>
                                        </p:attrNameLst>
                                      </p:cBhvr>
                                      <p:to>
                                        <p:strVal val="visible"/>
                                      </p:to>
                                    </p:set>
                                    <p:animEffect transition="in" filter="blinds(horizontal)">
                                      <p:cBhvr>
                                        <p:cTn id="22" dur="500"/>
                                        <p:tgtEl>
                                          <p:spTgt spid="6082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08259">
                                            <p:txEl>
                                              <p:pRg st="4" end="4"/>
                                            </p:txEl>
                                          </p:spTgt>
                                        </p:tgtEl>
                                        <p:attrNameLst>
                                          <p:attrName>style.visibility</p:attrName>
                                        </p:attrNameLst>
                                      </p:cBhvr>
                                      <p:to>
                                        <p:strVal val="visible"/>
                                      </p:to>
                                    </p:set>
                                    <p:animEffect transition="in" filter="blinds(horizontal)">
                                      <p:cBhvr>
                                        <p:cTn id="27" dur="500"/>
                                        <p:tgtEl>
                                          <p:spTgt spid="60825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08259">
                                            <p:txEl>
                                              <p:pRg st="5" end="5"/>
                                            </p:txEl>
                                          </p:spTgt>
                                        </p:tgtEl>
                                        <p:attrNameLst>
                                          <p:attrName>style.visibility</p:attrName>
                                        </p:attrNameLst>
                                      </p:cBhvr>
                                      <p:to>
                                        <p:strVal val="visible"/>
                                      </p:to>
                                    </p:set>
                                    <p:animEffect transition="in" filter="blinds(horizontal)">
                                      <p:cBhvr>
                                        <p:cTn id="32" dur="500"/>
                                        <p:tgtEl>
                                          <p:spTgt spid="6082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en-US" sz="3600" smtClean="0"/>
              <a:t>Khái niệm thiết bị mật mã</a:t>
            </a:r>
          </a:p>
        </p:txBody>
      </p:sp>
      <p:sp>
        <p:nvSpPr>
          <p:cNvPr id="609283" name="Rectangle 3"/>
          <p:cNvSpPr>
            <a:spLocks noGrp="1" noChangeArrowheads="1"/>
          </p:cNvSpPr>
          <p:nvPr>
            <p:ph type="body" idx="1"/>
          </p:nvPr>
        </p:nvSpPr>
        <p:spPr/>
        <p:txBody>
          <a:bodyPr/>
          <a:lstStyle/>
          <a:p>
            <a:r>
              <a:rPr lang="en-US" smtClean="0"/>
              <a:t>Các thiết bị bảo vệ thông tin bằng mật mã là </a:t>
            </a:r>
          </a:p>
          <a:p>
            <a:pPr lvl="1"/>
            <a:r>
              <a:rPr lang="en-US" smtClean="0"/>
              <a:t>các máy móc, </a:t>
            </a:r>
          </a:p>
          <a:p>
            <a:pPr lvl="1"/>
            <a:r>
              <a:rPr lang="en-US" smtClean="0"/>
              <a:t>các thiết bị - chương trình </a:t>
            </a:r>
          </a:p>
          <a:p>
            <a:pPr lvl="1"/>
            <a:r>
              <a:rPr lang="en-US" smtClean="0"/>
              <a:t>các chương trình (phần mềm) </a:t>
            </a:r>
          </a:p>
          <a:p>
            <a:pPr lvl="1"/>
            <a:r>
              <a:rPr lang="en-US" smtClean="0"/>
              <a:t>thực hiện giải thuật mật mã (thuật toán mật mã) biến đổi thông tin.</a:t>
            </a:r>
          </a:p>
        </p:txBody>
      </p:sp>
    </p:spTree>
    <p:extLst>
      <p:ext uri="{BB962C8B-B14F-4D97-AF65-F5344CB8AC3E}">
        <p14:creationId xmlns:p14="http://schemas.microsoft.com/office/powerpoint/2010/main" val="42117324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09283">
                                            <p:txEl>
                                              <p:pRg st="0" end="0"/>
                                            </p:txEl>
                                          </p:spTgt>
                                        </p:tgtEl>
                                        <p:attrNameLst>
                                          <p:attrName>style.visibility</p:attrName>
                                        </p:attrNameLst>
                                      </p:cBhvr>
                                      <p:to>
                                        <p:strVal val="visible"/>
                                      </p:to>
                                    </p:set>
                                    <p:anim calcmode="lin" valueType="num">
                                      <p:cBhvr additive="base">
                                        <p:cTn id="7" dur="500" fill="hold"/>
                                        <p:tgtEl>
                                          <p:spTgt spid="6092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92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09283">
                                            <p:txEl>
                                              <p:pRg st="1" end="1"/>
                                            </p:txEl>
                                          </p:spTgt>
                                        </p:tgtEl>
                                        <p:attrNameLst>
                                          <p:attrName>style.visibility</p:attrName>
                                        </p:attrNameLst>
                                      </p:cBhvr>
                                      <p:to>
                                        <p:strVal val="visible"/>
                                      </p:to>
                                    </p:set>
                                    <p:anim calcmode="lin" valueType="num">
                                      <p:cBhvr additive="base">
                                        <p:cTn id="13" dur="500" fill="hold"/>
                                        <p:tgtEl>
                                          <p:spTgt spid="6092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092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09283">
                                            <p:txEl>
                                              <p:pRg st="2" end="2"/>
                                            </p:txEl>
                                          </p:spTgt>
                                        </p:tgtEl>
                                        <p:attrNameLst>
                                          <p:attrName>style.visibility</p:attrName>
                                        </p:attrNameLst>
                                      </p:cBhvr>
                                      <p:to>
                                        <p:strVal val="visible"/>
                                      </p:to>
                                    </p:set>
                                    <p:anim calcmode="lin" valueType="num">
                                      <p:cBhvr additive="base">
                                        <p:cTn id="19" dur="500" fill="hold"/>
                                        <p:tgtEl>
                                          <p:spTgt spid="6092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092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09283">
                                            <p:txEl>
                                              <p:pRg st="3" end="3"/>
                                            </p:txEl>
                                          </p:spTgt>
                                        </p:tgtEl>
                                        <p:attrNameLst>
                                          <p:attrName>style.visibility</p:attrName>
                                        </p:attrNameLst>
                                      </p:cBhvr>
                                      <p:to>
                                        <p:strVal val="visible"/>
                                      </p:to>
                                    </p:set>
                                    <p:anim calcmode="lin" valueType="num">
                                      <p:cBhvr additive="base">
                                        <p:cTn id="25" dur="500" fill="hold"/>
                                        <p:tgtEl>
                                          <p:spTgt spid="6092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092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609283">
                                            <p:txEl>
                                              <p:pRg st="4" end="4"/>
                                            </p:txEl>
                                          </p:spTgt>
                                        </p:tgtEl>
                                        <p:attrNameLst>
                                          <p:attrName>style.visibility</p:attrName>
                                        </p:attrNameLst>
                                      </p:cBhvr>
                                      <p:to>
                                        <p:strVal val="visible"/>
                                      </p:to>
                                    </p:set>
                                    <p:anim calcmode="lin" valueType="num">
                                      <p:cBhvr additive="base">
                                        <p:cTn id="31" dur="500" fill="hold"/>
                                        <p:tgtEl>
                                          <p:spTgt spid="6092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0928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noChangeArrowheads="1"/>
          </p:cNvSpPr>
          <p:nvPr>
            <p:ph type="body" idx="1"/>
          </p:nvPr>
        </p:nvSpPr>
        <p:spPr/>
        <p:txBody>
          <a:bodyPr/>
          <a:lstStyle/>
          <a:p>
            <a:r>
              <a:rPr lang="en-US" smtClean="0"/>
              <a:t>Các thiết bị mật mã</a:t>
            </a:r>
          </a:p>
          <a:p>
            <a:r>
              <a:rPr lang="en-US" b="1" smtClean="0">
                <a:solidFill>
                  <a:srgbClr val="CC0000"/>
                </a:solidFill>
              </a:rPr>
              <a:t>Nhiệm vụ của các thiết bị mật mã</a:t>
            </a:r>
          </a:p>
          <a:p>
            <a:r>
              <a:rPr lang="en-US" smtClean="0"/>
              <a:t>Đặc tính của thiết bị mật mã</a:t>
            </a:r>
          </a:p>
          <a:p>
            <a:r>
              <a:rPr lang="en-US" smtClean="0"/>
              <a:t>Thể hiện mật mã trong hệ thống an toàn thông tin</a:t>
            </a:r>
          </a:p>
          <a:p>
            <a:r>
              <a:rPr lang="en-US" smtClean="0"/>
              <a:t>Các hiểm họa an toàn thông tin khi áp dụng kỹ thuật mật mã</a:t>
            </a:r>
          </a:p>
          <a:p>
            <a:r>
              <a:rPr lang="en-US" smtClean="0"/>
              <a:t>Các nguyên lý cơ bản của thiết bị mật mã</a:t>
            </a:r>
          </a:p>
        </p:txBody>
      </p:sp>
      <p:sp>
        <p:nvSpPr>
          <p:cNvPr id="2" name="Title 1"/>
          <p:cNvSpPr>
            <a:spLocks noGrp="1"/>
          </p:cNvSpPr>
          <p:nvPr>
            <p:ph type="title"/>
          </p:nvPr>
        </p:nvSpPr>
        <p:spPr/>
        <p:txBody>
          <a:bodyPr/>
          <a:lstStyle/>
          <a:p>
            <a:endParaRPr lang="en-US"/>
          </a:p>
        </p:txBody>
      </p:sp>
      <p:sp>
        <p:nvSpPr>
          <p:cNvPr id="6" name="Rectangle 2"/>
          <p:cNvSpPr txBox="1">
            <a:spLocks noChangeArrowheads="1"/>
          </p:cNvSpPr>
          <p:nvPr/>
        </p:nvSpPr>
        <p:spPr bwMode="auto">
          <a:xfrm>
            <a:off x="179388" y="115888"/>
            <a:ext cx="850741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lvl1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r>
              <a:rPr lang="en-US" dirty="0" err="1" smtClean="0"/>
              <a:t>Nguyên</a:t>
            </a:r>
            <a:r>
              <a:rPr lang="en-US" dirty="0" smtClean="0"/>
              <a:t> </a:t>
            </a:r>
            <a:r>
              <a:rPr lang="en-US" dirty="0" err="1" smtClean="0"/>
              <a:t>lý</a:t>
            </a:r>
            <a:r>
              <a:rPr lang="en-US" dirty="0" smtClean="0"/>
              <a:t> </a:t>
            </a:r>
            <a:r>
              <a:rPr lang="en-US" dirty="0" err="1" smtClean="0"/>
              <a:t>bảo</a:t>
            </a:r>
            <a:r>
              <a:rPr lang="en-US" dirty="0" smtClean="0"/>
              <a:t> </a:t>
            </a:r>
            <a:r>
              <a:rPr lang="en-US" dirty="0" err="1" smtClean="0"/>
              <a:t>vệ</a:t>
            </a:r>
            <a:r>
              <a:rPr lang="en-US" dirty="0" smtClean="0"/>
              <a:t> </a:t>
            </a:r>
            <a:r>
              <a:rPr lang="en-US" dirty="0" err="1" smtClean="0"/>
              <a:t>thông</a:t>
            </a:r>
            <a:r>
              <a:rPr lang="en-US" dirty="0" smtClean="0"/>
              <a:t> tin </a:t>
            </a:r>
            <a:r>
              <a:rPr lang="en-US" dirty="0" err="1" smtClean="0"/>
              <a:t>bằng</a:t>
            </a:r>
            <a:r>
              <a:rPr lang="en-US" dirty="0" smtClean="0"/>
              <a:t> </a:t>
            </a:r>
            <a:r>
              <a:rPr lang="en-US" dirty="0" err="1" smtClean="0"/>
              <a:t>mật</a:t>
            </a:r>
            <a:r>
              <a:rPr lang="en-US" dirty="0" smtClean="0"/>
              <a:t> </a:t>
            </a:r>
            <a:r>
              <a:rPr lang="en-US" dirty="0" err="1" smtClean="0"/>
              <a:t>mã</a:t>
            </a:r>
            <a:endParaRPr lang="en-US" dirty="0" smtClean="0"/>
          </a:p>
        </p:txBody>
      </p:sp>
    </p:spTree>
    <p:extLst>
      <p:ext uri="{BB962C8B-B14F-4D97-AF65-F5344CB8AC3E}">
        <p14:creationId xmlns:p14="http://schemas.microsoft.com/office/powerpoint/2010/main" val="4639835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sz="3600" dirty="0" err="1" smtClean="0"/>
              <a:t>Nhiệm</a:t>
            </a:r>
            <a:r>
              <a:rPr lang="en-US" sz="3600" dirty="0" smtClean="0"/>
              <a:t> </a:t>
            </a:r>
            <a:r>
              <a:rPr lang="en-US" sz="3600" dirty="0" err="1" smtClean="0"/>
              <a:t>vụ</a:t>
            </a:r>
            <a:r>
              <a:rPr lang="en-US" sz="3600" dirty="0" smtClean="0"/>
              <a:t> </a:t>
            </a:r>
            <a:r>
              <a:rPr lang="en-US" sz="3600" dirty="0" err="1" smtClean="0"/>
              <a:t>của</a:t>
            </a:r>
            <a:r>
              <a:rPr lang="en-US" sz="3600" dirty="0" smtClean="0"/>
              <a:t> </a:t>
            </a:r>
            <a:r>
              <a:rPr lang="en-US" sz="3600" dirty="0" err="1" smtClean="0"/>
              <a:t>thiết</a:t>
            </a:r>
            <a:r>
              <a:rPr lang="en-US" sz="3600" dirty="0" smtClean="0"/>
              <a:t> </a:t>
            </a:r>
            <a:r>
              <a:rPr lang="en-US" sz="3600" dirty="0" err="1" smtClean="0"/>
              <a:t>bị</a:t>
            </a:r>
            <a:r>
              <a:rPr lang="en-US" sz="3600" dirty="0" smtClean="0"/>
              <a:t> </a:t>
            </a:r>
            <a:r>
              <a:rPr lang="en-US" sz="3600" dirty="0" err="1" smtClean="0"/>
              <a:t>mật</a:t>
            </a:r>
            <a:r>
              <a:rPr lang="en-US" sz="3600" dirty="0" smtClean="0"/>
              <a:t> </a:t>
            </a:r>
            <a:r>
              <a:rPr lang="en-US" sz="3600" dirty="0" err="1" smtClean="0"/>
              <a:t>mã</a:t>
            </a:r>
            <a:endParaRPr lang="en-US" sz="3600" dirty="0" smtClean="0"/>
          </a:p>
        </p:txBody>
      </p:sp>
      <p:sp>
        <p:nvSpPr>
          <p:cNvPr id="610307" name="Rectangle 3"/>
          <p:cNvSpPr>
            <a:spLocks noGrp="1" noChangeArrowheads="1"/>
          </p:cNvSpPr>
          <p:nvPr>
            <p:ph type="body" idx="1"/>
          </p:nvPr>
        </p:nvSpPr>
        <p:spPr/>
        <p:txBody>
          <a:bodyPr/>
          <a:lstStyle/>
          <a:p>
            <a:pPr>
              <a:lnSpc>
                <a:spcPct val="90000"/>
              </a:lnSpc>
            </a:pPr>
            <a:r>
              <a:rPr lang="en-US" smtClean="0"/>
              <a:t>Bảo vệ TT khi xử lý, lưu trữ và truyền dẫn nó trong môi trường vận chuyển của HT tự động</a:t>
            </a:r>
          </a:p>
          <a:p>
            <a:pPr>
              <a:lnSpc>
                <a:spcPct val="90000"/>
              </a:lnSpc>
            </a:pPr>
            <a:r>
              <a:rPr lang="en-US" smtClean="0"/>
              <a:t>Bảo đảm sự chính xác và toàn vẹn TT (kể cả sử dụng chữ ký số) trong khi xử lý, lưu trữ và chuyển tải theo môi trường truyền thông của HT TT – VT</a:t>
            </a:r>
          </a:p>
          <a:p>
            <a:pPr>
              <a:lnSpc>
                <a:spcPct val="90000"/>
              </a:lnSpc>
            </a:pPr>
            <a:r>
              <a:rPr lang="en-US" smtClean="0"/>
              <a:t>Cung cấp thông tin để dùng cho các quá trình nhận dạng và xác thực chủ thể, người dùng và các thiết bị</a:t>
            </a:r>
          </a:p>
          <a:p>
            <a:pPr>
              <a:lnSpc>
                <a:spcPct val="90000"/>
              </a:lnSpc>
            </a:pPr>
            <a:r>
              <a:rPr lang="en-US" smtClean="0"/>
              <a:t>Tạo ra TT để sử dụng cho việc bảo vệ các thành tố xác thực của HT trong quá trình xử lý, lưu trữ và vận tải chúng. </a:t>
            </a:r>
          </a:p>
        </p:txBody>
      </p:sp>
    </p:spTree>
    <p:extLst>
      <p:ext uri="{BB962C8B-B14F-4D97-AF65-F5344CB8AC3E}">
        <p14:creationId xmlns:p14="http://schemas.microsoft.com/office/powerpoint/2010/main" val="4132738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0307">
                                            <p:txEl>
                                              <p:pRg st="0" end="0"/>
                                            </p:txEl>
                                          </p:spTgt>
                                        </p:tgtEl>
                                        <p:attrNameLst>
                                          <p:attrName>style.visibility</p:attrName>
                                        </p:attrNameLst>
                                      </p:cBhvr>
                                      <p:to>
                                        <p:strVal val="visible"/>
                                      </p:to>
                                    </p:set>
                                    <p:animEffect transition="in" filter="blinds(horizontal)">
                                      <p:cBhvr>
                                        <p:cTn id="7" dur="500"/>
                                        <p:tgtEl>
                                          <p:spTgt spid="6103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0307">
                                            <p:txEl>
                                              <p:pRg st="1" end="1"/>
                                            </p:txEl>
                                          </p:spTgt>
                                        </p:tgtEl>
                                        <p:attrNameLst>
                                          <p:attrName>style.visibility</p:attrName>
                                        </p:attrNameLst>
                                      </p:cBhvr>
                                      <p:to>
                                        <p:strVal val="visible"/>
                                      </p:to>
                                    </p:set>
                                    <p:animEffect transition="in" filter="blinds(horizontal)">
                                      <p:cBhvr>
                                        <p:cTn id="12" dur="500"/>
                                        <p:tgtEl>
                                          <p:spTgt spid="6103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0307">
                                            <p:txEl>
                                              <p:pRg st="2" end="2"/>
                                            </p:txEl>
                                          </p:spTgt>
                                        </p:tgtEl>
                                        <p:attrNameLst>
                                          <p:attrName>style.visibility</p:attrName>
                                        </p:attrNameLst>
                                      </p:cBhvr>
                                      <p:to>
                                        <p:strVal val="visible"/>
                                      </p:to>
                                    </p:set>
                                    <p:animEffect transition="in" filter="blinds(horizontal)">
                                      <p:cBhvr>
                                        <p:cTn id="17" dur="500"/>
                                        <p:tgtEl>
                                          <p:spTgt spid="6103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0307">
                                            <p:txEl>
                                              <p:pRg st="3" end="3"/>
                                            </p:txEl>
                                          </p:spTgt>
                                        </p:tgtEl>
                                        <p:attrNameLst>
                                          <p:attrName>style.visibility</p:attrName>
                                        </p:attrNameLst>
                                      </p:cBhvr>
                                      <p:to>
                                        <p:strVal val="visible"/>
                                      </p:to>
                                    </p:set>
                                    <p:animEffect transition="in" filter="blinds(horizontal)">
                                      <p:cBhvr>
                                        <p:cTn id="22" dur="500"/>
                                        <p:tgtEl>
                                          <p:spTgt spid="6103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3"/>
          <p:cNvSpPr>
            <a:spLocks noGrp="1" noChangeArrowheads="1"/>
          </p:cNvSpPr>
          <p:nvPr>
            <p:ph type="body" idx="1"/>
          </p:nvPr>
        </p:nvSpPr>
        <p:spPr/>
        <p:txBody>
          <a:bodyPr/>
          <a:lstStyle/>
          <a:p>
            <a:r>
              <a:rPr lang="en-US" smtClean="0"/>
              <a:t>Các thiết bị mật mã</a:t>
            </a:r>
          </a:p>
          <a:p>
            <a:r>
              <a:rPr lang="en-US" smtClean="0"/>
              <a:t>Nhiệm vụ của các thiết bị mật mã</a:t>
            </a:r>
          </a:p>
          <a:p>
            <a:r>
              <a:rPr lang="en-US" b="1" smtClean="0">
                <a:solidFill>
                  <a:srgbClr val="CC0000"/>
                </a:solidFill>
              </a:rPr>
              <a:t>Đặc tính của thiết bị mật mã</a:t>
            </a:r>
          </a:p>
          <a:p>
            <a:r>
              <a:rPr lang="en-US" smtClean="0"/>
              <a:t>Thể hiện mật mã trong hệ thống an toàn thông tin</a:t>
            </a:r>
          </a:p>
          <a:p>
            <a:r>
              <a:rPr lang="en-US" smtClean="0"/>
              <a:t>Các hiểm họa an toàn thông tin khi áp dụng kỹ thuật mật mã</a:t>
            </a:r>
          </a:p>
          <a:p>
            <a:r>
              <a:rPr lang="en-US" smtClean="0"/>
              <a:t>Các nguyên lý cơ bản của thiết bị mật mã</a:t>
            </a:r>
          </a:p>
        </p:txBody>
      </p:sp>
      <p:sp>
        <p:nvSpPr>
          <p:cNvPr id="5" name="Title 1"/>
          <p:cNvSpPr>
            <a:spLocks noGrp="1"/>
          </p:cNvSpPr>
          <p:nvPr>
            <p:ph type="title"/>
          </p:nvPr>
        </p:nvSpPr>
        <p:spPr>
          <a:xfrm>
            <a:off x="179388" y="115888"/>
            <a:ext cx="6480175" cy="576262"/>
          </a:xfrm>
        </p:spPr>
        <p:txBody>
          <a:bodyPr/>
          <a:lstStyle/>
          <a:p>
            <a:endParaRPr lang="en-US"/>
          </a:p>
        </p:txBody>
      </p:sp>
      <p:sp>
        <p:nvSpPr>
          <p:cNvPr id="6" name="Rectangle 2"/>
          <p:cNvSpPr txBox="1">
            <a:spLocks noChangeArrowheads="1"/>
          </p:cNvSpPr>
          <p:nvPr/>
        </p:nvSpPr>
        <p:spPr bwMode="auto">
          <a:xfrm>
            <a:off x="179388" y="115888"/>
            <a:ext cx="850741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lvl1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r>
              <a:rPr lang="en-US" dirty="0" err="1" smtClean="0"/>
              <a:t>Nguyên</a:t>
            </a:r>
            <a:r>
              <a:rPr lang="en-US" dirty="0" smtClean="0"/>
              <a:t> </a:t>
            </a:r>
            <a:r>
              <a:rPr lang="en-US" dirty="0" err="1" smtClean="0"/>
              <a:t>lý</a:t>
            </a:r>
            <a:r>
              <a:rPr lang="en-US" dirty="0" smtClean="0"/>
              <a:t> </a:t>
            </a:r>
            <a:r>
              <a:rPr lang="en-US" dirty="0" err="1" smtClean="0"/>
              <a:t>bảo</a:t>
            </a:r>
            <a:r>
              <a:rPr lang="en-US" dirty="0" smtClean="0"/>
              <a:t> </a:t>
            </a:r>
            <a:r>
              <a:rPr lang="en-US" dirty="0" err="1" smtClean="0"/>
              <a:t>vệ</a:t>
            </a:r>
            <a:r>
              <a:rPr lang="en-US" dirty="0" smtClean="0"/>
              <a:t> </a:t>
            </a:r>
            <a:r>
              <a:rPr lang="en-US" dirty="0" err="1" smtClean="0"/>
              <a:t>thông</a:t>
            </a:r>
            <a:r>
              <a:rPr lang="en-US" dirty="0" smtClean="0"/>
              <a:t> tin </a:t>
            </a:r>
            <a:r>
              <a:rPr lang="en-US" dirty="0" err="1" smtClean="0"/>
              <a:t>bằng</a:t>
            </a:r>
            <a:r>
              <a:rPr lang="en-US" dirty="0" smtClean="0"/>
              <a:t> </a:t>
            </a:r>
            <a:r>
              <a:rPr lang="en-US" dirty="0" err="1" smtClean="0"/>
              <a:t>mật</a:t>
            </a:r>
            <a:r>
              <a:rPr lang="en-US" dirty="0" smtClean="0"/>
              <a:t> </a:t>
            </a:r>
            <a:r>
              <a:rPr lang="en-US" dirty="0" err="1" smtClean="0"/>
              <a:t>mã</a:t>
            </a:r>
            <a:r>
              <a:rPr lang="en-US" dirty="0" smtClean="0"/>
              <a:t> ...</a:t>
            </a:r>
          </a:p>
        </p:txBody>
      </p:sp>
    </p:spTree>
    <p:extLst>
      <p:ext uri="{BB962C8B-B14F-4D97-AF65-F5344CB8AC3E}">
        <p14:creationId xmlns:p14="http://schemas.microsoft.com/office/powerpoint/2010/main" val="391616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sz="3600" smtClean="0"/>
              <a:t>Đặc tính của thiết bị mật mã</a:t>
            </a:r>
          </a:p>
        </p:txBody>
      </p:sp>
      <p:sp>
        <p:nvSpPr>
          <p:cNvPr id="638979" name="Rectangle 3"/>
          <p:cNvSpPr>
            <a:spLocks noGrp="1" noChangeArrowheads="1"/>
          </p:cNvSpPr>
          <p:nvPr>
            <p:ph type="body" idx="1"/>
          </p:nvPr>
        </p:nvSpPr>
        <p:spPr>
          <a:xfrm>
            <a:off x="457200" y="1219200"/>
            <a:ext cx="8229600" cy="5486400"/>
          </a:xfrm>
        </p:spPr>
        <p:txBody>
          <a:bodyPr/>
          <a:lstStyle/>
          <a:p>
            <a:pPr>
              <a:lnSpc>
                <a:spcPct val="90000"/>
              </a:lnSpc>
            </a:pPr>
            <a:r>
              <a:rPr lang="en-US" smtClean="0"/>
              <a:t>Trong TBMM thực hiện một thuật toán nào đó biến đổi TT (mã hóa, chữ ký số điện tử, kiểm soát toàn vẹn…)</a:t>
            </a:r>
          </a:p>
          <a:p>
            <a:pPr>
              <a:lnSpc>
                <a:spcPct val="90000"/>
              </a:lnSpc>
            </a:pPr>
            <a:r>
              <a:rPr lang="en-US" smtClean="0"/>
              <a:t>Các tham số đầu vào và đầu ra của biến đổi mật mã có mặt trong HTTT-VT ở dạng vật chất nhất định (các đối tượng của HT)</a:t>
            </a:r>
          </a:p>
          <a:p>
            <a:pPr>
              <a:lnSpc>
                <a:spcPct val="90000"/>
              </a:lnSpc>
            </a:pPr>
            <a:r>
              <a:rPr lang="en-US" smtClean="0"/>
              <a:t>Để hoạt động được, TBMM sử dụng TT mật nào đó (khóa mã)</a:t>
            </a:r>
          </a:p>
          <a:p>
            <a:pPr>
              <a:lnSpc>
                <a:spcPct val="90000"/>
              </a:lnSpc>
            </a:pPr>
            <a:r>
              <a:rPr lang="en-US" smtClean="0"/>
              <a:t>Thuật toán của biến đổi mật mã thực hiện ở dạng một đối tượng vật chất nào đó, có tương tác với môi trường bao quanh (trong đó có các chủ thể và các đối tượng của HTTT-VT cần bảo vệ). </a:t>
            </a:r>
          </a:p>
        </p:txBody>
      </p:sp>
    </p:spTree>
    <p:extLst>
      <p:ext uri="{BB962C8B-B14F-4D97-AF65-F5344CB8AC3E}">
        <p14:creationId xmlns:p14="http://schemas.microsoft.com/office/powerpoint/2010/main" val="697521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8979">
                                            <p:txEl>
                                              <p:pRg st="0" end="0"/>
                                            </p:txEl>
                                          </p:spTgt>
                                        </p:tgtEl>
                                        <p:attrNameLst>
                                          <p:attrName>style.visibility</p:attrName>
                                        </p:attrNameLst>
                                      </p:cBhvr>
                                      <p:to>
                                        <p:strVal val="visible"/>
                                      </p:to>
                                    </p:set>
                                    <p:animEffect transition="in" filter="blinds(horizontal)">
                                      <p:cBhvr>
                                        <p:cTn id="7" dur="500"/>
                                        <p:tgtEl>
                                          <p:spTgt spid="6389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38979">
                                            <p:txEl>
                                              <p:pRg st="1" end="1"/>
                                            </p:txEl>
                                          </p:spTgt>
                                        </p:tgtEl>
                                        <p:attrNameLst>
                                          <p:attrName>style.visibility</p:attrName>
                                        </p:attrNameLst>
                                      </p:cBhvr>
                                      <p:to>
                                        <p:strVal val="visible"/>
                                      </p:to>
                                    </p:set>
                                    <p:animEffect transition="in" filter="blinds(horizontal)">
                                      <p:cBhvr>
                                        <p:cTn id="12" dur="500"/>
                                        <p:tgtEl>
                                          <p:spTgt spid="6389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38979">
                                            <p:txEl>
                                              <p:pRg st="2" end="2"/>
                                            </p:txEl>
                                          </p:spTgt>
                                        </p:tgtEl>
                                        <p:attrNameLst>
                                          <p:attrName>style.visibility</p:attrName>
                                        </p:attrNameLst>
                                      </p:cBhvr>
                                      <p:to>
                                        <p:strVal val="visible"/>
                                      </p:to>
                                    </p:set>
                                    <p:animEffect transition="in" filter="blinds(horizontal)">
                                      <p:cBhvr>
                                        <p:cTn id="17" dur="500"/>
                                        <p:tgtEl>
                                          <p:spTgt spid="6389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38979">
                                            <p:txEl>
                                              <p:pRg st="3" end="3"/>
                                            </p:txEl>
                                          </p:spTgt>
                                        </p:tgtEl>
                                        <p:attrNameLst>
                                          <p:attrName>style.visibility</p:attrName>
                                        </p:attrNameLst>
                                      </p:cBhvr>
                                      <p:to>
                                        <p:strVal val="visible"/>
                                      </p:to>
                                    </p:set>
                                    <p:animEffect transition="in" filter="blinds(horizontal)">
                                      <p:cBhvr>
                                        <p:cTn id="22" dur="500"/>
                                        <p:tgtEl>
                                          <p:spTgt spid="6389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p:txBody>
          <a:bodyPr/>
          <a:lstStyle/>
          <a:p>
            <a:r>
              <a:rPr lang="en-US" smtClean="0"/>
              <a:t>Các thiết bị mật mã</a:t>
            </a:r>
          </a:p>
          <a:p>
            <a:r>
              <a:rPr lang="en-US" smtClean="0"/>
              <a:t>Nhiệm vụ của các thiết bị mật mã</a:t>
            </a:r>
          </a:p>
          <a:p>
            <a:r>
              <a:rPr lang="en-US" smtClean="0"/>
              <a:t>Đặc tính của thiết bị mật mã</a:t>
            </a:r>
          </a:p>
          <a:p>
            <a:r>
              <a:rPr lang="en-US" b="1" smtClean="0">
                <a:solidFill>
                  <a:srgbClr val="CC0000"/>
                </a:solidFill>
              </a:rPr>
              <a:t>Thể hiện mật mã trong hệ thống an toàn thông tin</a:t>
            </a:r>
          </a:p>
          <a:p>
            <a:r>
              <a:rPr lang="en-US" smtClean="0"/>
              <a:t>Các hiểm họa an toàn thông tin khi áp dụng kỹ thuật mật mã</a:t>
            </a:r>
          </a:p>
          <a:p>
            <a:r>
              <a:rPr lang="en-US" smtClean="0"/>
              <a:t>Các nguyên lý cơ bản của thiết bị mật mã</a:t>
            </a:r>
          </a:p>
        </p:txBody>
      </p:sp>
      <p:sp>
        <p:nvSpPr>
          <p:cNvPr id="2" name="Title 1"/>
          <p:cNvSpPr>
            <a:spLocks noGrp="1"/>
          </p:cNvSpPr>
          <p:nvPr>
            <p:ph type="title"/>
          </p:nvPr>
        </p:nvSpPr>
        <p:spPr/>
        <p:txBody>
          <a:bodyPr/>
          <a:lstStyle/>
          <a:p>
            <a:endParaRPr lang="en-US"/>
          </a:p>
        </p:txBody>
      </p:sp>
      <p:sp>
        <p:nvSpPr>
          <p:cNvPr id="6" name="Rectangle 2"/>
          <p:cNvSpPr txBox="1">
            <a:spLocks noChangeArrowheads="1"/>
          </p:cNvSpPr>
          <p:nvPr/>
        </p:nvSpPr>
        <p:spPr bwMode="auto">
          <a:xfrm>
            <a:off x="179388" y="115888"/>
            <a:ext cx="850741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lvl1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r>
              <a:rPr lang="en-US" dirty="0" err="1" smtClean="0"/>
              <a:t>Nguyên</a:t>
            </a:r>
            <a:r>
              <a:rPr lang="en-US" dirty="0" smtClean="0"/>
              <a:t> </a:t>
            </a:r>
            <a:r>
              <a:rPr lang="en-US" dirty="0" err="1" smtClean="0"/>
              <a:t>lý</a:t>
            </a:r>
            <a:r>
              <a:rPr lang="en-US" dirty="0" smtClean="0"/>
              <a:t> </a:t>
            </a:r>
            <a:r>
              <a:rPr lang="en-US" dirty="0" err="1" smtClean="0"/>
              <a:t>bảo</a:t>
            </a:r>
            <a:r>
              <a:rPr lang="en-US" dirty="0" smtClean="0"/>
              <a:t> </a:t>
            </a:r>
            <a:r>
              <a:rPr lang="en-US" dirty="0" err="1" smtClean="0"/>
              <a:t>vệ</a:t>
            </a:r>
            <a:r>
              <a:rPr lang="en-US" dirty="0" smtClean="0"/>
              <a:t> </a:t>
            </a:r>
            <a:r>
              <a:rPr lang="en-US" dirty="0" err="1" smtClean="0"/>
              <a:t>thông</a:t>
            </a:r>
            <a:r>
              <a:rPr lang="en-US" dirty="0" smtClean="0"/>
              <a:t> tin </a:t>
            </a:r>
            <a:r>
              <a:rPr lang="en-US" dirty="0" err="1" smtClean="0"/>
              <a:t>bằng</a:t>
            </a:r>
            <a:r>
              <a:rPr lang="en-US" dirty="0" smtClean="0"/>
              <a:t> </a:t>
            </a:r>
            <a:r>
              <a:rPr lang="en-US" dirty="0" err="1" smtClean="0"/>
              <a:t>mật</a:t>
            </a:r>
            <a:r>
              <a:rPr lang="en-US" dirty="0" smtClean="0"/>
              <a:t> </a:t>
            </a:r>
            <a:r>
              <a:rPr lang="en-US" dirty="0" err="1" smtClean="0"/>
              <a:t>mã</a:t>
            </a:r>
            <a:endParaRPr lang="en-US" dirty="0" smtClean="0"/>
          </a:p>
        </p:txBody>
      </p:sp>
    </p:spTree>
    <p:extLst>
      <p:ext uri="{BB962C8B-B14F-4D97-AF65-F5344CB8AC3E}">
        <p14:creationId xmlns:p14="http://schemas.microsoft.com/office/powerpoint/2010/main" val="36807552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179388" y="115888"/>
            <a:ext cx="8964612" cy="576262"/>
          </a:xfrm>
        </p:spPr>
        <p:txBody>
          <a:bodyPr/>
          <a:lstStyle/>
          <a:p>
            <a:r>
              <a:rPr lang="en-US" sz="3000" dirty="0" err="1" smtClean="0"/>
              <a:t>Thể</a:t>
            </a:r>
            <a:r>
              <a:rPr lang="en-US" sz="3000" dirty="0" smtClean="0"/>
              <a:t> </a:t>
            </a:r>
            <a:r>
              <a:rPr lang="en-US" sz="3000" dirty="0" err="1" smtClean="0"/>
              <a:t>hiện</a:t>
            </a:r>
            <a:r>
              <a:rPr lang="en-US" sz="3000" dirty="0" smtClean="0"/>
              <a:t> </a:t>
            </a:r>
            <a:r>
              <a:rPr lang="en-US" sz="3000" dirty="0" err="1" smtClean="0"/>
              <a:t>mật</a:t>
            </a:r>
            <a:r>
              <a:rPr lang="en-US" sz="3000" dirty="0" smtClean="0"/>
              <a:t> </a:t>
            </a:r>
            <a:r>
              <a:rPr lang="en-US" sz="3000" dirty="0" err="1" smtClean="0"/>
              <a:t>mã</a:t>
            </a:r>
            <a:r>
              <a:rPr lang="en-US" sz="3000" dirty="0" smtClean="0"/>
              <a:t> </a:t>
            </a:r>
            <a:r>
              <a:rPr lang="en-US" sz="3000" dirty="0" err="1" smtClean="0"/>
              <a:t>trong</a:t>
            </a:r>
            <a:r>
              <a:rPr lang="en-US" sz="3000" dirty="0" smtClean="0"/>
              <a:t> </a:t>
            </a:r>
            <a:r>
              <a:rPr lang="en-US" sz="3000" dirty="0" err="1" smtClean="0"/>
              <a:t>hệ</a:t>
            </a:r>
            <a:r>
              <a:rPr lang="en-US" sz="3000" dirty="0" smtClean="0"/>
              <a:t> </a:t>
            </a:r>
            <a:r>
              <a:rPr lang="en-US" sz="3000" dirty="0" err="1" smtClean="0"/>
              <a:t>thống</a:t>
            </a:r>
            <a:r>
              <a:rPr lang="en-US" sz="3000" dirty="0" smtClean="0"/>
              <a:t> </a:t>
            </a:r>
            <a:r>
              <a:rPr lang="en-US" sz="3000" dirty="0" err="1" smtClean="0"/>
              <a:t>bảo</a:t>
            </a:r>
            <a:r>
              <a:rPr lang="en-US" sz="3000" dirty="0" smtClean="0"/>
              <a:t> </a:t>
            </a:r>
            <a:r>
              <a:rPr lang="en-US" sz="3000" dirty="0" err="1" smtClean="0"/>
              <a:t>vệ</a:t>
            </a:r>
            <a:r>
              <a:rPr lang="en-US" sz="3000" dirty="0" smtClean="0"/>
              <a:t> </a:t>
            </a:r>
            <a:r>
              <a:rPr lang="en-US" sz="3000" dirty="0" err="1" smtClean="0"/>
              <a:t>thông</a:t>
            </a:r>
            <a:r>
              <a:rPr lang="en-US" sz="3000" dirty="0" smtClean="0"/>
              <a:t> tin</a:t>
            </a:r>
          </a:p>
        </p:txBody>
      </p:sp>
      <p:sp>
        <p:nvSpPr>
          <p:cNvPr id="611331" name="Rectangle 3"/>
          <p:cNvSpPr>
            <a:spLocks noGrp="1" noChangeArrowheads="1"/>
          </p:cNvSpPr>
          <p:nvPr>
            <p:ph type="body" idx="1"/>
          </p:nvPr>
        </p:nvSpPr>
        <p:spPr>
          <a:xfrm>
            <a:off x="457200" y="1219200"/>
            <a:ext cx="8534400" cy="5486400"/>
          </a:xfrm>
        </p:spPr>
        <p:txBody>
          <a:bodyPr/>
          <a:lstStyle/>
          <a:p>
            <a:r>
              <a:rPr lang="en-US" sz="2400" dirty="0" err="1" smtClean="0"/>
              <a:t>Mật</a:t>
            </a:r>
            <a:r>
              <a:rPr lang="en-US" sz="2400" dirty="0" smtClean="0"/>
              <a:t> </a:t>
            </a:r>
            <a:r>
              <a:rPr lang="en-US" sz="2400" dirty="0" err="1" smtClean="0"/>
              <a:t>mã</a:t>
            </a:r>
            <a:r>
              <a:rPr lang="en-US" sz="2400" dirty="0" smtClean="0"/>
              <a:t> </a:t>
            </a:r>
            <a:r>
              <a:rPr lang="en-US" sz="2400" dirty="0" err="1" smtClean="0"/>
              <a:t>được</a:t>
            </a:r>
            <a:r>
              <a:rPr lang="en-US" sz="2400" dirty="0" smtClean="0"/>
              <a:t> </a:t>
            </a:r>
            <a:r>
              <a:rPr lang="en-US" sz="2400" dirty="0" err="1" smtClean="0"/>
              <a:t>đưa</a:t>
            </a:r>
            <a:r>
              <a:rPr lang="en-US" sz="2400" dirty="0" smtClean="0"/>
              <a:t> </a:t>
            </a:r>
            <a:r>
              <a:rPr lang="en-US" sz="2400" dirty="0" err="1" smtClean="0"/>
              <a:t>vào</a:t>
            </a:r>
            <a:r>
              <a:rPr lang="en-US" sz="2400" dirty="0" smtClean="0"/>
              <a:t> HT </a:t>
            </a:r>
            <a:r>
              <a:rPr lang="en-US" sz="2400" dirty="0" err="1" smtClean="0"/>
              <a:t>bởi</a:t>
            </a:r>
            <a:r>
              <a:rPr lang="en-US" sz="2400" dirty="0" smtClean="0"/>
              <a:t> </a:t>
            </a:r>
            <a:r>
              <a:rPr lang="en-US" sz="2400" dirty="0" err="1" smtClean="0"/>
              <a:t>các</a:t>
            </a:r>
            <a:r>
              <a:rPr lang="en-US" sz="2400" dirty="0" smtClean="0"/>
              <a:t> </a:t>
            </a:r>
            <a:r>
              <a:rPr lang="en-US" sz="2400" dirty="0" err="1" smtClean="0"/>
              <a:t>thiết</a:t>
            </a:r>
            <a:r>
              <a:rPr lang="en-US" sz="2400" dirty="0" smtClean="0"/>
              <a:t> </a:t>
            </a:r>
            <a:r>
              <a:rPr lang="en-US" sz="2400" dirty="0" err="1" smtClean="0"/>
              <a:t>bị</a:t>
            </a:r>
            <a:r>
              <a:rPr lang="en-US" sz="2400" dirty="0" smtClean="0"/>
              <a:t> </a:t>
            </a:r>
            <a:r>
              <a:rPr lang="en-US" sz="2400" dirty="0" err="1" smtClean="0"/>
              <a:t>mật</a:t>
            </a:r>
            <a:r>
              <a:rPr lang="en-US" sz="2400" dirty="0" smtClean="0"/>
              <a:t> </a:t>
            </a:r>
            <a:r>
              <a:rPr lang="en-US" sz="2400" dirty="0" err="1" smtClean="0"/>
              <a:t>mã</a:t>
            </a:r>
            <a:endParaRPr lang="en-US" sz="2400" dirty="0" smtClean="0"/>
          </a:p>
          <a:p>
            <a:r>
              <a:rPr lang="en-US" sz="2400" dirty="0" smtClean="0"/>
              <a:t>TBMM </a:t>
            </a:r>
            <a:r>
              <a:rPr lang="en-US" sz="2400" dirty="0" err="1" smtClean="0"/>
              <a:t>trong</a:t>
            </a:r>
            <a:r>
              <a:rPr lang="en-US" sz="2400" dirty="0" smtClean="0"/>
              <a:t> </a:t>
            </a:r>
            <a:r>
              <a:rPr lang="en-US" sz="2400" dirty="0" err="1" smtClean="0"/>
              <a:t>cấu</a:t>
            </a:r>
            <a:r>
              <a:rPr lang="en-US" sz="2400" dirty="0" smtClean="0"/>
              <a:t> </a:t>
            </a:r>
            <a:r>
              <a:rPr lang="en-US" sz="2400" dirty="0" err="1" smtClean="0"/>
              <a:t>trúc</a:t>
            </a:r>
            <a:r>
              <a:rPr lang="en-US" sz="2400" dirty="0" smtClean="0"/>
              <a:t> </a:t>
            </a:r>
            <a:r>
              <a:rPr lang="en-US" sz="2400" dirty="0" err="1" smtClean="0"/>
              <a:t>của</a:t>
            </a:r>
            <a:r>
              <a:rPr lang="en-US" sz="2400" dirty="0" smtClean="0"/>
              <a:t> HTTT – VT </a:t>
            </a:r>
            <a:r>
              <a:rPr lang="en-US" sz="2400" dirty="0" err="1" smtClean="0"/>
              <a:t>được</a:t>
            </a:r>
            <a:r>
              <a:rPr lang="en-US" sz="2400" dirty="0" smtClean="0"/>
              <a:t> </a:t>
            </a:r>
            <a:r>
              <a:rPr lang="en-US" sz="2400" dirty="0" err="1" smtClean="0"/>
              <a:t>bảo</a:t>
            </a:r>
            <a:r>
              <a:rPr lang="en-US" sz="2400" dirty="0" smtClean="0"/>
              <a:t> </a:t>
            </a:r>
            <a:r>
              <a:rPr lang="en-US" sz="2400" dirty="0" err="1" smtClean="0"/>
              <a:t>vệ</a:t>
            </a:r>
            <a:r>
              <a:rPr lang="en-US" sz="2400" dirty="0" smtClean="0"/>
              <a:t> </a:t>
            </a:r>
            <a:r>
              <a:rPr lang="en-US" sz="2400" dirty="0" err="1" smtClean="0"/>
              <a:t>có</a:t>
            </a:r>
            <a:r>
              <a:rPr lang="en-US" sz="2400" dirty="0" smtClean="0"/>
              <a:t> </a:t>
            </a:r>
            <a:r>
              <a:rPr lang="en-US" sz="2400" dirty="0" err="1" smtClean="0"/>
              <a:t>một</a:t>
            </a:r>
            <a:r>
              <a:rPr lang="en-US" sz="2400" dirty="0" smtClean="0"/>
              <a:t> </a:t>
            </a:r>
            <a:r>
              <a:rPr lang="en-US" sz="2400" dirty="0" err="1" smtClean="0"/>
              <a:t>thực</a:t>
            </a:r>
            <a:r>
              <a:rPr lang="en-US" sz="2400" dirty="0" smtClean="0"/>
              <a:t> </a:t>
            </a:r>
            <a:r>
              <a:rPr lang="en-US" sz="2400" dirty="0" err="1" smtClean="0"/>
              <a:t>thể</a:t>
            </a:r>
            <a:r>
              <a:rPr lang="en-US" sz="2400" dirty="0" smtClean="0"/>
              <a:t> </a:t>
            </a:r>
            <a:r>
              <a:rPr lang="en-US" sz="2400" dirty="0" err="1" smtClean="0"/>
              <a:t>cụ</a:t>
            </a:r>
            <a:r>
              <a:rPr lang="en-US" sz="2400" dirty="0" smtClean="0"/>
              <a:t> </a:t>
            </a:r>
            <a:r>
              <a:rPr lang="en-US" sz="2400" dirty="0" err="1" smtClean="0"/>
              <a:t>thể</a:t>
            </a:r>
            <a:r>
              <a:rPr lang="en-US" sz="2400" dirty="0" smtClean="0"/>
              <a:t> - </a:t>
            </a:r>
            <a:r>
              <a:rPr lang="en-US" sz="2400" dirty="0" err="1" smtClean="0"/>
              <a:t>đó</a:t>
            </a:r>
            <a:r>
              <a:rPr lang="en-US" sz="2400" dirty="0" smtClean="0"/>
              <a:t> </a:t>
            </a:r>
            <a:r>
              <a:rPr lang="en-US" sz="2400" dirty="0" err="1" smtClean="0"/>
              <a:t>là</a:t>
            </a:r>
            <a:r>
              <a:rPr lang="en-US" sz="2400" dirty="0" smtClean="0"/>
              <a:t> </a:t>
            </a:r>
            <a:r>
              <a:rPr lang="en-US" sz="2400" dirty="0" err="1" smtClean="0"/>
              <a:t>một</a:t>
            </a:r>
            <a:r>
              <a:rPr lang="en-US" sz="2400" dirty="0" smtClean="0"/>
              <a:t> </a:t>
            </a:r>
            <a:r>
              <a:rPr lang="en-US" sz="2400" u="sng" dirty="0" err="1" smtClean="0"/>
              <a:t>thiết</a:t>
            </a:r>
            <a:r>
              <a:rPr lang="en-US" sz="2400" u="sng" dirty="0" smtClean="0"/>
              <a:t> </a:t>
            </a:r>
            <a:r>
              <a:rPr lang="en-US" sz="2400" u="sng" dirty="0" err="1" smtClean="0"/>
              <a:t>bị</a:t>
            </a:r>
            <a:r>
              <a:rPr lang="en-US" sz="2400" u="sng" dirty="0" smtClean="0"/>
              <a:t> </a:t>
            </a:r>
            <a:r>
              <a:rPr lang="en-US" sz="2400" u="sng" dirty="0" err="1" smtClean="0"/>
              <a:t>chuyên</a:t>
            </a:r>
            <a:r>
              <a:rPr lang="en-US" sz="2400" u="sng" dirty="0" smtClean="0"/>
              <a:t> </a:t>
            </a:r>
            <a:r>
              <a:rPr lang="en-US" sz="2400" u="sng" dirty="0" err="1" smtClean="0"/>
              <a:t>dụng</a:t>
            </a:r>
            <a:r>
              <a:rPr lang="en-US" sz="2400" u="sng" dirty="0" smtClean="0"/>
              <a:t> </a:t>
            </a:r>
            <a:r>
              <a:rPr lang="en-US" sz="2400" dirty="0" err="1" smtClean="0"/>
              <a:t>được</a:t>
            </a:r>
            <a:r>
              <a:rPr lang="en-US" sz="2400" dirty="0" smtClean="0"/>
              <a:t> </a:t>
            </a:r>
            <a:r>
              <a:rPr lang="en-US" sz="2400" dirty="0" err="1" smtClean="0"/>
              <a:t>gá</a:t>
            </a:r>
            <a:r>
              <a:rPr lang="en-US" sz="2400" dirty="0" smtClean="0"/>
              <a:t> </a:t>
            </a:r>
            <a:r>
              <a:rPr lang="en-US" sz="2400" dirty="0" err="1" smtClean="0"/>
              <a:t>lắp</a:t>
            </a:r>
            <a:r>
              <a:rPr lang="en-US" sz="2400" dirty="0" smtClean="0"/>
              <a:t> </a:t>
            </a:r>
            <a:r>
              <a:rPr lang="en-US" sz="2400" dirty="0" err="1" smtClean="0"/>
              <a:t>vào</a:t>
            </a:r>
            <a:r>
              <a:rPr lang="en-US" sz="2400" dirty="0" smtClean="0"/>
              <a:t> </a:t>
            </a:r>
            <a:r>
              <a:rPr lang="en-US" sz="2400" dirty="0" err="1" smtClean="0"/>
              <a:t>máy</a:t>
            </a:r>
            <a:r>
              <a:rPr lang="en-US" sz="2400" dirty="0" smtClean="0"/>
              <a:t> </a:t>
            </a:r>
            <a:r>
              <a:rPr lang="en-US" sz="2400" dirty="0" err="1" smtClean="0"/>
              <a:t>tính</a:t>
            </a:r>
            <a:r>
              <a:rPr lang="en-US" sz="2400" dirty="0" smtClean="0"/>
              <a:t> </a:t>
            </a:r>
            <a:r>
              <a:rPr lang="en-US" sz="2400" dirty="0" err="1" smtClean="0"/>
              <a:t>hoặc</a:t>
            </a:r>
            <a:r>
              <a:rPr lang="en-US" sz="2400" dirty="0" smtClean="0"/>
              <a:t> </a:t>
            </a:r>
            <a:r>
              <a:rPr lang="en-US" sz="2400" dirty="0" err="1" smtClean="0"/>
              <a:t>là</a:t>
            </a:r>
            <a:r>
              <a:rPr lang="en-US" sz="2400" dirty="0" smtClean="0"/>
              <a:t> </a:t>
            </a:r>
            <a:r>
              <a:rPr lang="en-US" sz="2400" dirty="0" err="1" smtClean="0"/>
              <a:t>một</a:t>
            </a:r>
            <a:r>
              <a:rPr lang="en-US" sz="2400" dirty="0" smtClean="0"/>
              <a:t> </a:t>
            </a:r>
            <a:r>
              <a:rPr lang="en-US" sz="2400" u="sng" dirty="0" err="1" smtClean="0"/>
              <a:t>phần</a:t>
            </a:r>
            <a:r>
              <a:rPr lang="en-US" sz="2400" u="sng" dirty="0" smtClean="0"/>
              <a:t> </a:t>
            </a:r>
            <a:r>
              <a:rPr lang="en-US" sz="2400" u="sng" dirty="0" err="1" smtClean="0"/>
              <a:t>mềm</a:t>
            </a:r>
            <a:r>
              <a:rPr lang="en-US" sz="2400" u="sng" dirty="0" smtClean="0"/>
              <a:t> </a:t>
            </a:r>
            <a:r>
              <a:rPr lang="en-US" sz="2400" u="sng" dirty="0" err="1" smtClean="0"/>
              <a:t>chuyên</a:t>
            </a:r>
            <a:r>
              <a:rPr lang="en-US" sz="2400" u="sng" dirty="0" smtClean="0"/>
              <a:t> </a:t>
            </a:r>
            <a:r>
              <a:rPr lang="en-US" sz="2400" u="sng" dirty="0" err="1" smtClean="0"/>
              <a:t>biệt</a:t>
            </a:r>
            <a:endParaRPr lang="en-US" sz="2400" u="sng" dirty="0" smtClean="0"/>
          </a:p>
          <a:p>
            <a:r>
              <a:rPr lang="en-US" sz="2400" dirty="0" err="1" smtClean="0"/>
              <a:t>Vai</a:t>
            </a:r>
            <a:r>
              <a:rPr lang="en-US" sz="2400" dirty="0" smtClean="0"/>
              <a:t> </a:t>
            </a:r>
            <a:r>
              <a:rPr lang="en-US" sz="2400" dirty="0" err="1" smtClean="0"/>
              <a:t>trò</a:t>
            </a:r>
            <a:r>
              <a:rPr lang="en-US" sz="2400" dirty="0" smtClean="0"/>
              <a:t> </a:t>
            </a:r>
            <a:r>
              <a:rPr lang="en-US" sz="2400" dirty="0" err="1" smtClean="0"/>
              <a:t>của</a:t>
            </a:r>
            <a:r>
              <a:rPr lang="en-US" sz="2400" dirty="0" smtClean="0"/>
              <a:t> TBMM </a:t>
            </a:r>
            <a:r>
              <a:rPr lang="en-US" sz="2400" dirty="0" err="1" smtClean="0"/>
              <a:t>trong</a:t>
            </a:r>
            <a:r>
              <a:rPr lang="en-US" sz="2400" dirty="0" smtClean="0"/>
              <a:t> HT: </a:t>
            </a:r>
            <a:r>
              <a:rPr lang="en-US" sz="2400" dirty="0" err="1" smtClean="0"/>
              <a:t>làm</a:t>
            </a:r>
            <a:r>
              <a:rPr lang="en-US" sz="2400" dirty="0" smtClean="0"/>
              <a:t> </a:t>
            </a:r>
            <a:r>
              <a:rPr lang="en-US" sz="2400" dirty="0" err="1" smtClean="0"/>
              <a:t>biến</a:t>
            </a:r>
            <a:r>
              <a:rPr lang="en-US" sz="2400" dirty="0" smtClean="0"/>
              <a:t> </a:t>
            </a:r>
            <a:r>
              <a:rPr lang="en-US" sz="2400" dirty="0" err="1" smtClean="0"/>
              <a:t>đổi</a:t>
            </a:r>
            <a:r>
              <a:rPr lang="en-US" sz="2400" dirty="0" smtClean="0"/>
              <a:t> </a:t>
            </a:r>
            <a:r>
              <a:rPr lang="en-US" sz="2400" dirty="0" err="1" smtClean="0"/>
              <a:t>các</a:t>
            </a:r>
            <a:r>
              <a:rPr lang="en-US" sz="2400" dirty="0" smtClean="0"/>
              <a:t> </a:t>
            </a:r>
            <a:r>
              <a:rPr lang="en-US" sz="2400" dirty="0" err="1" smtClean="0"/>
              <a:t>đối</a:t>
            </a:r>
            <a:r>
              <a:rPr lang="en-US" sz="2400" dirty="0" smtClean="0"/>
              <a:t> </a:t>
            </a:r>
            <a:r>
              <a:rPr lang="en-US" sz="2400" dirty="0" err="1" smtClean="0"/>
              <a:t>tượng</a:t>
            </a:r>
            <a:r>
              <a:rPr lang="en-US" sz="2400" dirty="0" smtClean="0"/>
              <a:t>. </a:t>
            </a:r>
            <a:r>
              <a:rPr lang="en-US" sz="2400" dirty="0" err="1" smtClean="0"/>
              <a:t>Mỗi</a:t>
            </a:r>
            <a:r>
              <a:rPr lang="en-US" sz="2400" dirty="0" smtClean="0"/>
              <a:t> </a:t>
            </a:r>
            <a:r>
              <a:rPr lang="en-US" sz="2400" dirty="0" err="1" smtClean="0"/>
              <a:t>trường</a:t>
            </a:r>
            <a:r>
              <a:rPr lang="en-US" sz="2400" dirty="0" smtClean="0"/>
              <a:t> </a:t>
            </a:r>
            <a:r>
              <a:rPr lang="en-US" sz="2400" dirty="0" err="1" smtClean="0"/>
              <a:t>hợp</a:t>
            </a:r>
            <a:r>
              <a:rPr lang="en-US" sz="2400" dirty="0" smtClean="0"/>
              <a:t> </a:t>
            </a:r>
            <a:r>
              <a:rPr lang="en-US" sz="2400" dirty="0" err="1" smtClean="0"/>
              <a:t>cụ</a:t>
            </a:r>
            <a:r>
              <a:rPr lang="en-US" sz="2400" dirty="0" smtClean="0"/>
              <a:t> </a:t>
            </a:r>
            <a:r>
              <a:rPr lang="en-US" sz="2400" dirty="0" err="1" smtClean="0"/>
              <a:t>thể</a:t>
            </a:r>
            <a:r>
              <a:rPr lang="en-US" sz="2400" dirty="0" smtClean="0"/>
              <a:t> </a:t>
            </a:r>
            <a:r>
              <a:rPr lang="en-US" sz="2400" dirty="0" err="1" smtClean="0"/>
              <a:t>biến</a:t>
            </a:r>
            <a:r>
              <a:rPr lang="en-US" sz="2400" dirty="0" smtClean="0"/>
              <a:t> </a:t>
            </a:r>
            <a:r>
              <a:rPr lang="en-US" sz="2400" dirty="0" err="1" smtClean="0"/>
              <a:t>đổi</a:t>
            </a:r>
            <a:r>
              <a:rPr lang="en-US" sz="2400" dirty="0" smtClean="0"/>
              <a:t> </a:t>
            </a:r>
            <a:r>
              <a:rPr lang="en-US" sz="2400" dirty="0" err="1" smtClean="0"/>
              <a:t>có</a:t>
            </a:r>
            <a:r>
              <a:rPr lang="en-US" sz="2400" dirty="0" smtClean="0"/>
              <a:t> </a:t>
            </a:r>
            <a:r>
              <a:rPr lang="en-US" sz="2400" dirty="0" err="1" smtClean="0"/>
              <a:t>các</a:t>
            </a:r>
            <a:r>
              <a:rPr lang="en-US" sz="2400" dirty="0" smtClean="0"/>
              <a:t> </a:t>
            </a:r>
            <a:r>
              <a:rPr lang="en-US" sz="2400" dirty="0" err="1" smtClean="0"/>
              <a:t>đặc</a:t>
            </a:r>
            <a:r>
              <a:rPr lang="en-US" sz="2400" dirty="0" smtClean="0"/>
              <a:t> </a:t>
            </a:r>
            <a:r>
              <a:rPr lang="en-US" sz="2400" dirty="0" err="1" smtClean="0"/>
              <a:t>thù</a:t>
            </a:r>
            <a:r>
              <a:rPr lang="en-US" sz="2400" dirty="0" smtClean="0"/>
              <a:t> </a:t>
            </a:r>
            <a:r>
              <a:rPr lang="en-US" sz="2400" dirty="0" err="1" smtClean="0"/>
              <a:t>riêng</a:t>
            </a:r>
            <a:r>
              <a:rPr lang="en-US" sz="2400" dirty="0" smtClean="0"/>
              <a:t>:</a:t>
            </a:r>
          </a:p>
          <a:p>
            <a:pPr lvl="1"/>
            <a:r>
              <a:rPr lang="en-US" sz="2200" dirty="0" err="1" smtClean="0"/>
              <a:t>Mã</a:t>
            </a:r>
            <a:r>
              <a:rPr lang="en-US" sz="2200" dirty="0" smtClean="0"/>
              <a:t> </a:t>
            </a:r>
            <a:r>
              <a:rPr lang="en-US" sz="2200" dirty="0" err="1" smtClean="0"/>
              <a:t>hóa</a:t>
            </a:r>
            <a:r>
              <a:rPr lang="en-US" sz="2200" dirty="0" smtClean="0"/>
              <a:t>: </a:t>
            </a:r>
            <a:r>
              <a:rPr lang="en-US" sz="2200" dirty="0" err="1" smtClean="0"/>
              <a:t>các</a:t>
            </a:r>
            <a:r>
              <a:rPr lang="en-US" sz="2200" dirty="0" smtClean="0"/>
              <a:t> </a:t>
            </a:r>
            <a:r>
              <a:rPr lang="en-US" sz="2200" dirty="0" err="1" smtClean="0"/>
              <a:t>thông</a:t>
            </a:r>
            <a:r>
              <a:rPr lang="en-US" sz="2200" dirty="0" smtClean="0"/>
              <a:t> </a:t>
            </a:r>
            <a:r>
              <a:rPr lang="en-US" sz="2200" dirty="0" err="1" smtClean="0"/>
              <a:t>số</a:t>
            </a:r>
            <a:r>
              <a:rPr lang="en-US" sz="2200" dirty="0" smtClean="0"/>
              <a:t> </a:t>
            </a:r>
            <a:r>
              <a:rPr lang="en-US" sz="2200" dirty="0" err="1" smtClean="0"/>
              <a:t>vào</a:t>
            </a:r>
            <a:r>
              <a:rPr lang="en-US" sz="2200" dirty="0" smtClean="0"/>
              <a:t> </a:t>
            </a:r>
            <a:r>
              <a:rPr lang="en-US" sz="2200" dirty="0" err="1" smtClean="0"/>
              <a:t>là</a:t>
            </a:r>
            <a:r>
              <a:rPr lang="en-US" sz="2200" dirty="0" smtClean="0"/>
              <a:t> </a:t>
            </a:r>
            <a:r>
              <a:rPr lang="en-US" sz="2200" dirty="0" err="1" smtClean="0"/>
              <a:t>bản</a:t>
            </a:r>
            <a:r>
              <a:rPr lang="en-US" sz="2200" dirty="0" smtClean="0"/>
              <a:t> </a:t>
            </a:r>
            <a:r>
              <a:rPr lang="en-US" sz="2200" dirty="0" err="1" smtClean="0"/>
              <a:t>rõ</a:t>
            </a:r>
            <a:r>
              <a:rPr lang="en-US" sz="2200" dirty="0" smtClean="0"/>
              <a:t> </a:t>
            </a:r>
            <a:r>
              <a:rPr lang="en-US" sz="2200" dirty="0" err="1" smtClean="0"/>
              <a:t>và</a:t>
            </a:r>
            <a:r>
              <a:rPr lang="en-US" sz="2200" dirty="0" smtClean="0"/>
              <a:t> </a:t>
            </a:r>
            <a:r>
              <a:rPr lang="en-US" sz="2200" dirty="0" err="1" smtClean="0"/>
              <a:t>khóa</a:t>
            </a:r>
            <a:r>
              <a:rPr lang="en-US" sz="2200" dirty="0" smtClean="0"/>
              <a:t>, </a:t>
            </a:r>
            <a:r>
              <a:rPr lang="en-US" sz="2200" dirty="0" err="1" smtClean="0"/>
              <a:t>kết</a:t>
            </a:r>
            <a:r>
              <a:rPr lang="en-US" sz="2200" dirty="0" smtClean="0"/>
              <a:t> </a:t>
            </a:r>
            <a:r>
              <a:rPr lang="en-US" sz="2200" dirty="0" err="1" smtClean="0"/>
              <a:t>quả</a:t>
            </a:r>
            <a:r>
              <a:rPr lang="en-US" sz="2200" dirty="0" smtClean="0"/>
              <a:t> </a:t>
            </a:r>
            <a:r>
              <a:rPr lang="en-US" sz="2200" dirty="0" err="1" smtClean="0"/>
              <a:t>phép</a:t>
            </a:r>
            <a:r>
              <a:rPr lang="en-US" sz="2200" dirty="0" smtClean="0"/>
              <a:t> </a:t>
            </a:r>
            <a:r>
              <a:rPr lang="en-US" sz="2200" dirty="0" err="1" smtClean="0"/>
              <a:t>biến</a:t>
            </a:r>
            <a:r>
              <a:rPr lang="en-US" sz="2200" dirty="0" smtClean="0"/>
              <a:t> </a:t>
            </a:r>
            <a:r>
              <a:rPr lang="en-US" sz="2200" dirty="0" err="1" smtClean="0"/>
              <a:t>đổi</a:t>
            </a:r>
            <a:r>
              <a:rPr lang="en-US" sz="2200" dirty="0" smtClean="0"/>
              <a:t> </a:t>
            </a:r>
            <a:r>
              <a:rPr lang="en-US" sz="2200" dirty="0" err="1" smtClean="0"/>
              <a:t>là</a:t>
            </a:r>
            <a:r>
              <a:rPr lang="en-US" sz="2200" dirty="0" smtClean="0"/>
              <a:t> </a:t>
            </a:r>
            <a:r>
              <a:rPr lang="en-US" sz="2200" dirty="0" err="1" smtClean="0"/>
              <a:t>bản</a:t>
            </a:r>
            <a:r>
              <a:rPr lang="en-US" sz="2200" dirty="0" smtClean="0"/>
              <a:t> </a:t>
            </a:r>
            <a:r>
              <a:rPr lang="en-US" sz="2200" dirty="0" err="1" smtClean="0"/>
              <a:t>mã</a:t>
            </a:r>
            <a:endParaRPr lang="en-US" sz="2200" dirty="0" smtClean="0"/>
          </a:p>
          <a:p>
            <a:pPr lvl="1"/>
            <a:r>
              <a:rPr lang="en-US" sz="2200" dirty="0" err="1" smtClean="0"/>
              <a:t>Giải</a:t>
            </a:r>
            <a:r>
              <a:rPr lang="en-US" sz="2200" dirty="0" smtClean="0"/>
              <a:t> </a:t>
            </a:r>
            <a:r>
              <a:rPr lang="en-US" sz="2200" dirty="0" err="1" smtClean="0"/>
              <a:t>mã</a:t>
            </a:r>
            <a:r>
              <a:rPr lang="en-US" sz="2200" dirty="0" smtClean="0"/>
              <a:t>: </a:t>
            </a:r>
            <a:r>
              <a:rPr lang="en-US" sz="2200" dirty="0" err="1" smtClean="0"/>
              <a:t>các</a:t>
            </a:r>
            <a:r>
              <a:rPr lang="en-US" sz="2200" dirty="0" smtClean="0"/>
              <a:t> </a:t>
            </a:r>
            <a:r>
              <a:rPr lang="en-US" sz="2200" dirty="0" err="1" smtClean="0"/>
              <a:t>thông</a:t>
            </a:r>
            <a:r>
              <a:rPr lang="en-US" sz="2200" dirty="0" smtClean="0"/>
              <a:t> </a:t>
            </a:r>
            <a:r>
              <a:rPr lang="en-US" sz="2200" dirty="0" err="1" smtClean="0"/>
              <a:t>số</a:t>
            </a:r>
            <a:r>
              <a:rPr lang="en-US" sz="2200" dirty="0" smtClean="0"/>
              <a:t> </a:t>
            </a:r>
            <a:r>
              <a:rPr lang="en-US" sz="2200" dirty="0" err="1" smtClean="0"/>
              <a:t>vào</a:t>
            </a:r>
            <a:r>
              <a:rPr lang="en-US" sz="2200" dirty="0" smtClean="0"/>
              <a:t> </a:t>
            </a:r>
            <a:r>
              <a:rPr lang="en-US" sz="2200" dirty="0" err="1" smtClean="0"/>
              <a:t>là</a:t>
            </a:r>
            <a:r>
              <a:rPr lang="en-US" sz="2200" dirty="0" smtClean="0"/>
              <a:t> </a:t>
            </a:r>
            <a:r>
              <a:rPr lang="en-US" sz="2200" dirty="0" err="1" smtClean="0"/>
              <a:t>khóa</a:t>
            </a:r>
            <a:r>
              <a:rPr lang="en-US" sz="2200" dirty="0" smtClean="0"/>
              <a:t> </a:t>
            </a:r>
            <a:r>
              <a:rPr lang="en-US" sz="2200" dirty="0" err="1" smtClean="0"/>
              <a:t>và</a:t>
            </a:r>
            <a:r>
              <a:rPr lang="en-US" sz="2200" dirty="0" smtClean="0"/>
              <a:t> </a:t>
            </a:r>
            <a:r>
              <a:rPr lang="en-US" sz="2200" dirty="0" err="1" smtClean="0"/>
              <a:t>bản</a:t>
            </a:r>
            <a:r>
              <a:rPr lang="en-US" sz="2200" dirty="0" smtClean="0"/>
              <a:t> </a:t>
            </a:r>
            <a:r>
              <a:rPr lang="en-US" sz="2200" dirty="0" err="1" smtClean="0"/>
              <a:t>mã</a:t>
            </a:r>
            <a:r>
              <a:rPr lang="en-US" sz="2200" dirty="0" smtClean="0"/>
              <a:t> </a:t>
            </a:r>
          </a:p>
          <a:p>
            <a:pPr lvl="1"/>
            <a:r>
              <a:rPr lang="en-US" sz="2200" dirty="0" err="1" smtClean="0"/>
              <a:t>Hình</a:t>
            </a:r>
            <a:r>
              <a:rPr lang="en-US" sz="2200" dirty="0" smtClean="0"/>
              <a:t> </a:t>
            </a:r>
            <a:r>
              <a:rPr lang="en-US" sz="2200" dirty="0" err="1" smtClean="0"/>
              <a:t>thành</a:t>
            </a:r>
            <a:r>
              <a:rPr lang="en-US" sz="2200" dirty="0" smtClean="0"/>
              <a:t> </a:t>
            </a:r>
            <a:r>
              <a:rPr lang="en-US" sz="2200" dirty="0" err="1" smtClean="0"/>
              <a:t>chữ</a:t>
            </a:r>
            <a:r>
              <a:rPr lang="en-US" sz="2200" dirty="0" smtClean="0"/>
              <a:t> </a:t>
            </a:r>
            <a:r>
              <a:rPr lang="en-US" sz="2200" dirty="0" err="1" smtClean="0"/>
              <a:t>ký</a:t>
            </a:r>
            <a:r>
              <a:rPr lang="en-US" sz="2200" dirty="0" smtClean="0"/>
              <a:t> </a:t>
            </a:r>
            <a:r>
              <a:rPr lang="en-US" sz="2200" dirty="0" err="1" smtClean="0"/>
              <a:t>số</a:t>
            </a:r>
            <a:r>
              <a:rPr lang="en-US" sz="2200" dirty="0" smtClean="0"/>
              <a:t>: </a:t>
            </a:r>
            <a:r>
              <a:rPr lang="en-US" sz="2200" dirty="0" err="1" smtClean="0"/>
              <a:t>đầu</a:t>
            </a:r>
            <a:r>
              <a:rPr lang="en-US" sz="2200" dirty="0" smtClean="0"/>
              <a:t> </a:t>
            </a:r>
            <a:r>
              <a:rPr lang="en-US" sz="2200" dirty="0" err="1" smtClean="0"/>
              <a:t>vào</a:t>
            </a:r>
            <a:r>
              <a:rPr lang="en-US" sz="2200" dirty="0" smtClean="0"/>
              <a:t> </a:t>
            </a:r>
            <a:r>
              <a:rPr lang="en-US" sz="2200" dirty="0" err="1" smtClean="0"/>
              <a:t>là</a:t>
            </a:r>
            <a:r>
              <a:rPr lang="en-US" sz="2200" dirty="0" smtClean="0"/>
              <a:t> </a:t>
            </a:r>
            <a:r>
              <a:rPr lang="en-US" sz="2200" dirty="0" err="1" smtClean="0"/>
              <a:t>bản</a:t>
            </a:r>
            <a:r>
              <a:rPr lang="en-US" sz="2200" dirty="0" smtClean="0"/>
              <a:t> tin </a:t>
            </a:r>
            <a:r>
              <a:rPr lang="en-US" sz="2200" dirty="0" err="1" smtClean="0"/>
              <a:t>và</a:t>
            </a:r>
            <a:r>
              <a:rPr lang="en-US" sz="2200" dirty="0" smtClean="0"/>
              <a:t> </a:t>
            </a:r>
            <a:r>
              <a:rPr lang="en-US" sz="2200" dirty="0" err="1" smtClean="0"/>
              <a:t>khóa</a:t>
            </a:r>
            <a:r>
              <a:rPr lang="en-US" sz="2200" dirty="0" smtClean="0"/>
              <a:t> </a:t>
            </a:r>
            <a:r>
              <a:rPr lang="en-US" sz="2200" dirty="0" err="1" smtClean="0"/>
              <a:t>mật</a:t>
            </a:r>
            <a:r>
              <a:rPr lang="en-US" sz="2200" dirty="0" smtClean="0"/>
              <a:t> </a:t>
            </a:r>
            <a:r>
              <a:rPr lang="en-US" sz="2200" dirty="0" err="1" smtClean="0"/>
              <a:t>của</a:t>
            </a:r>
            <a:r>
              <a:rPr lang="en-US" sz="2200" dirty="0" smtClean="0"/>
              <a:t> </a:t>
            </a:r>
            <a:r>
              <a:rPr lang="en-US" sz="2200" dirty="0" err="1" smtClean="0"/>
              <a:t>chữ</a:t>
            </a:r>
            <a:r>
              <a:rPr lang="en-US" sz="2200" dirty="0" smtClean="0"/>
              <a:t> </a:t>
            </a:r>
            <a:r>
              <a:rPr lang="en-US" sz="2200" dirty="0" err="1" smtClean="0"/>
              <a:t>ký</a:t>
            </a:r>
            <a:r>
              <a:rPr lang="en-US" sz="2200" dirty="0" smtClean="0"/>
              <a:t>, </a:t>
            </a:r>
            <a:r>
              <a:rPr lang="en-US" sz="2200" dirty="0" err="1" smtClean="0"/>
              <a:t>kết</a:t>
            </a:r>
            <a:r>
              <a:rPr lang="en-US" sz="2200" dirty="0" smtClean="0"/>
              <a:t> </a:t>
            </a:r>
            <a:r>
              <a:rPr lang="en-US" sz="2200" dirty="0" err="1" smtClean="0"/>
              <a:t>quả</a:t>
            </a:r>
            <a:r>
              <a:rPr lang="en-US" sz="2200" dirty="0" smtClean="0"/>
              <a:t> </a:t>
            </a:r>
            <a:r>
              <a:rPr lang="en-US" sz="2200" dirty="0" err="1" smtClean="0"/>
              <a:t>đầu</a:t>
            </a:r>
            <a:r>
              <a:rPr lang="en-US" sz="2200" dirty="0" smtClean="0"/>
              <a:t> </a:t>
            </a:r>
            <a:r>
              <a:rPr lang="en-US" sz="2200" dirty="0" err="1" smtClean="0"/>
              <a:t>ra</a:t>
            </a:r>
            <a:r>
              <a:rPr lang="en-US" sz="2200" dirty="0" smtClean="0"/>
              <a:t> </a:t>
            </a:r>
            <a:r>
              <a:rPr lang="en-US" sz="2200" dirty="0" err="1" smtClean="0"/>
              <a:t>là</a:t>
            </a:r>
            <a:r>
              <a:rPr lang="en-US" sz="2200" dirty="0" smtClean="0"/>
              <a:t> </a:t>
            </a:r>
            <a:r>
              <a:rPr lang="en-US" sz="2200" dirty="0" err="1" smtClean="0"/>
              <a:t>chữ</a:t>
            </a:r>
            <a:r>
              <a:rPr lang="en-US" sz="2200" dirty="0" smtClean="0"/>
              <a:t> </a:t>
            </a:r>
            <a:r>
              <a:rPr lang="en-US" sz="2200" dirty="0" err="1" smtClean="0"/>
              <a:t>ký</a:t>
            </a:r>
            <a:r>
              <a:rPr lang="en-US" sz="2200" dirty="0" smtClean="0"/>
              <a:t> </a:t>
            </a:r>
            <a:r>
              <a:rPr lang="en-US" sz="2200" dirty="0" err="1" smtClean="0"/>
              <a:t>được</a:t>
            </a:r>
            <a:r>
              <a:rPr lang="en-US" sz="2200" dirty="0" smtClean="0"/>
              <a:t> </a:t>
            </a:r>
            <a:r>
              <a:rPr lang="en-US" sz="2200" dirty="0" err="1" smtClean="0"/>
              <a:t>tích</a:t>
            </a:r>
            <a:r>
              <a:rPr lang="en-US" sz="2200" dirty="0" smtClean="0"/>
              <a:t> </a:t>
            </a:r>
            <a:r>
              <a:rPr lang="en-US" sz="2200" dirty="0" err="1" smtClean="0"/>
              <a:t>hợp</a:t>
            </a:r>
            <a:r>
              <a:rPr lang="en-US" sz="2200" dirty="0" smtClean="0"/>
              <a:t> </a:t>
            </a:r>
            <a:r>
              <a:rPr lang="en-US" sz="2200" dirty="0" err="1" smtClean="0"/>
              <a:t>vào</a:t>
            </a:r>
            <a:r>
              <a:rPr lang="en-US" sz="2200" dirty="0" smtClean="0"/>
              <a:t> </a:t>
            </a:r>
            <a:r>
              <a:rPr lang="en-US" sz="2200" dirty="0" err="1" smtClean="0"/>
              <a:t>ngay</a:t>
            </a:r>
            <a:r>
              <a:rPr lang="en-US" sz="2200" dirty="0" smtClean="0"/>
              <a:t> </a:t>
            </a:r>
            <a:r>
              <a:rPr lang="en-US" sz="2200" dirty="0" err="1" smtClean="0"/>
              <a:t>bản</a:t>
            </a:r>
            <a:r>
              <a:rPr lang="en-US" sz="2200" dirty="0" smtClean="0"/>
              <a:t> tin.</a:t>
            </a:r>
          </a:p>
        </p:txBody>
      </p:sp>
    </p:spTree>
    <p:extLst>
      <p:ext uri="{BB962C8B-B14F-4D97-AF65-F5344CB8AC3E}">
        <p14:creationId xmlns:p14="http://schemas.microsoft.com/office/powerpoint/2010/main" val="23091085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1331">
                                            <p:txEl>
                                              <p:pRg st="0" end="0"/>
                                            </p:txEl>
                                          </p:spTgt>
                                        </p:tgtEl>
                                        <p:attrNameLst>
                                          <p:attrName>style.visibility</p:attrName>
                                        </p:attrNameLst>
                                      </p:cBhvr>
                                      <p:to>
                                        <p:strVal val="visible"/>
                                      </p:to>
                                    </p:set>
                                    <p:animEffect transition="in" filter="blinds(horizontal)">
                                      <p:cBhvr>
                                        <p:cTn id="7" dur="500"/>
                                        <p:tgtEl>
                                          <p:spTgt spid="6113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1331">
                                            <p:txEl>
                                              <p:pRg st="1" end="1"/>
                                            </p:txEl>
                                          </p:spTgt>
                                        </p:tgtEl>
                                        <p:attrNameLst>
                                          <p:attrName>style.visibility</p:attrName>
                                        </p:attrNameLst>
                                      </p:cBhvr>
                                      <p:to>
                                        <p:strVal val="visible"/>
                                      </p:to>
                                    </p:set>
                                    <p:animEffect transition="in" filter="blinds(horizontal)">
                                      <p:cBhvr>
                                        <p:cTn id="12" dur="500"/>
                                        <p:tgtEl>
                                          <p:spTgt spid="6113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1331">
                                            <p:txEl>
                                              <p:pRg st="2" end="2"/>
                                            </p:txEl>
                                          </p:spTgt>
                                        </p:tgtEl>
                                        <p:attrNameLst>
                                          <p:attrName>style.visibility</p:attrName>
                                        </p:attrNameLst>
                                      </p:cBhvr>
                                      <p:to>
                                        <p:strVal val="visible"/>
                                      </p:to>
                                    </p:set>
                                    <p:animEffect transition="in" filter="blinds(horizontal)">
                                      <p:cBhvr>
                                        <p:cTn id="17" dur="500"/>
                                        <p:tgtEl>
                                          <p:spTgt spid="6113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1331">
                                            <p:txEl>
                                              <p:pRg st="3" end="3"/>
                                            </p:txEl>
                                          </p:spTgt>
                                        </p:tgtEl>
                                        <p:attrNameLst>
                                          <p:attrName>style.visibility</p:attrName>
                                        </p:attrNameLst>
                                      </p:cBhvr>
                                      <p:to>
                                        <p:strVal val="visible"/>
                                      </p:to>
                                    </p:set>
                                    <p:animEffect transition="in" filter="blinds(horizontal)">
                                      <p:cBhvr>
                                        <p:cTn id="22" dur="500"/>
                                        <p:tgtEl>
                                          <p:spTgt spid="6113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1331">
                                            <p:txEl>
                                              <p:pRg st="4" end="4"/>
                                            </p:txEl>
                                          </p:spTgt>
                                        </p:tgtEl>
                                        <p:attrNameLst>
                                          <p:attrName>style.visibility</p:attrName>
                                        </p:attrNameLst>
                                      </p:cBhvr>
                                      <p:to>
                                        <p:strVal val="visible"/>
                                      </p:to>
                                    </p:set>
                                    <p:animEffect transition="in" filter="blinds(horizontal)">
                                      <p:cBhvr>
                                        <p:cTn id="27" dur="500"/>
                                        <p:tgtEl>
                                          <p:spTgt spid="61133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11331">
                                            <p:txEl>
                                              <p:pRg st="5" end="5"/>
                                            </p:txEl>
                                          </p:spTgt>
                                        </p:tgtEl>
                                        <p:attrNameLst>
                                          <p:attrName>style.visibility</p:attrName>
                                        </p:attrNameLst>
                                      </p:cBhvr>
                                      <p:to>
                                        <p:strVal val="visible"/>
                                      </p:to>
                                    </p:set>
                                    <p:animEffect transition="in" filter="blinds(horizontal)">
                                      <p:cBhvr>
                                        <p:cTn id="32" dur="500"/>
                                        <p:tgtEl>
                                          <p:spTgt spid="6113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p:txBody>
          <a:bodyPr/>
          <a:lstStyle/>
          <a:p>
            <a:r>
              <a:rPr lang="en-US" smtClean="0"/>
              <a:t>Các thiết bị mật mã</a:t>
            </a:r>
          </a:p>
          <a:p>
            <a:r>
              <a:rPr lang="en-US" smtClean="0"/>
              <a:t>Nhiệm vụ của các thiết bị mật mã</a:t>
            </a:r>
          </a:p>
          <a:p>
            <a:r>
              <a:rPr lang="en-US" smtClean="0"/>
              <a:t>Đặc tính của thiết bị mật mã</a:t>
            </a:r>
          </a:p>
          <a:p>
            <a:r>
              <a:rPr lang="en-US" smtClean="0"/>
              <a:t>Thể hiện mật mã trong hệ thống an toàn thông tin</a:t>
            </a:r>
          </a:p>
          <a:p>
            <a:r>
              <a:rPr lang="en-US" b="1" smtClean="0">
                <a:solidFill>
                  <a:srgbClr val="CC0000"/>
                </a:solidFill>
              </a:rPr>
              <a:t>Các hiểm họa an toàn thông tin khi áp dụng kỹ thuật mật mã</a:t>
            </a:r>
          </a:p>
          <a:p>
            <a:r>
              <a:rPr lang="en-US" smtClean="0"/>
              <a:t>Các nguyên lý cơ bản của thiết bị mật mã</a:t>
            </a:r>
          </a:p>
        </p:txBody>
      </p:sp>
      <p:sp>
        <p:nvSpPr>
          <p:cNvPr id="2" name="Title 1"/>
          <p:cNvSpPr>
            <a:spLocks noGrp="1"/>
          </p:cNvSpPr>
          <p:nvPr>
            <p:ph type="title"/>
          </p:nvPr>
        </p:nvSpPr>
        <p:spPr/>
        <p:txBody>
          <a:bodyPr/>
          <a:lstStyle/>
          <a:p>
            <a:endParaRPr lang="en-US"/>
          </a:p>
        </p:txBody>
      </p:sp>
      <p:sp>
        <p:nvSpPr>
          <p:cNvPr id="6" name="Rectangle 2"/>
          <p:cNvSpPr txBox="1">
            <a:spLocks noChangeArrowheads="1"/>
          </p:cNvSpPr>
          <p:nvPr/>
        </p:nvSpPr>
        <p:spPr bwMode="auto">
          <a:xfrm>
            <a:off x="179388" y="115888"/>
            <a:ext cx="850741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lvl1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r>
              <a:rPr lang="en-US" dirty="0" err="1" smtClean="0"/>
              <a:t>Nguyên</a:t>
            </a:r>
            <a:r>
              <a:rPr lang="en-US" dirty="0" smtClean="0"/>
              <a:t> </a:t>
            </a:r>
            <a:r>
              <a:rPr lang="en-US" dirty="0" err="1" smtClean="0"/>
              <a:t>lý</a:t>
            </a:r>
            <a:r>
              <a:rPr lang="en-US" dirty="0" smtClean="0"/>
              <a:t> </a:t>
            </a:r>
            <a:r>
              <a:rPr lang="en-US" dirty="0" err="1" smtClean="0"/>
              <a:t>bảo</a:t>
            </a:r>
            <a:r>
              <a:rPr lang="en-US" dirty="0" smtClean="0"/>
              <a:t> </a:t>
            </a:r>
            <a:r>
              <a:rPr lang="en-US" dirty="0" err="1" smtClean="0"/>
              <a:t>vệ</a:t>
            </a:r>
            <a:r>
              <a:rPr lang="en-US" dirty="0" smtClean="0"/>
              <a:t> </a:t>
            </a:r>
            <a:r>
              <a:rPr lang="en-US" dirty="0" err="1" smtClean="0"/>
              <a:t>thông</a:t>
            </a:r>
            <a:r>
              <a:rPr lang="en-US" dirty="0" smtClean="0"/>
              <a:t> tin </a:t>
            </a:r>
            <a:r>
              <a:rPr lang="en-US" dirty="0" err="1" smtClean="0"/>
              <a:t>bằng</a:t>
            </a:r>
            <a:r>
              <a:rPr lang="en-US" dirty="0" smtClean="0"/>
              <a:t> </a:t>
            </a:r>
            <a:r>
              <a:rPr lang="en-US" dirty="0" err="1" smtClean="0"/>
              <a:t>mật</a:t>
            </a:r>
            <a:r>
              <a:rPr lang="en-US" dirty="0" smtClean="0"/>
              <a:t> </a:t>
            </a:r>
            <a:r>
              <a:rPr lang="en-US" dirty="0" err="1" smtClean="0"/>
              <a:t>mã</a:t>
            </a:r>
            <a:endParaRPr lang="en-US" dirty="0" smtClean="0"/>
          </a:p>
        </p:txBody>
      </p:sp>
    </p:spTree>
    <p:extLst>
      <p:ext uri="{BB962C8B-B14F-4D97-AF65-F5344CB8AC3E}">
        <p14:creationId xmlns:p14="http://schemas.microsoft.com/office/powerpoint/2010/main" val="27830956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79388" y="115888"/>
            <a:ext cx="8812212" cy="576262"/>
          </a:xfrm>
        </p:spPr>
        <p:txBody>
          <a:bodyPr/>
          <a:lstStyle/>
          <a:p>
            <a:r>
              <a:rPr lang="en-US" sz="3000" dirty="0" err="1"/>
              <a:t>H</a:t>
            </a:r>
            <a:r>
              <a:rPr lang="en-US" sz="3000" dirty="0" err="1" smtClean="0"/>
              <a:t>iểm</a:t>
            </a:r>
            <a:r>
              <a:rPr lang="en-US" sz="3000" dirty="0" smtClean="0"/>
              <a:t> </a:t>
            </a:r>
            <a:r>
              <a:rPr lang="en-US" sz="3000" dirty="0" err="1" smtClean="0"/>
              <a:t>họa</a:t>
            </a:r>
            <a:r>
              <a:rPr lang="en-US" sz="3000" dirty="0" smtClean="0"/>
              <a:t> an </a:t>
            </a:r>
            <a:r>
              <a:rPr lang="en-US" sz="3000" dirty="0" err="1" smtClean="0"/>
              <a:t>toàn</a:t>
            </a:r>
            <a:r>
              <a:rPr lang="en-US" sz="3000" dirty="0" smtClean="0"/>
              <a:t> </a:t>
            </a:r>
            <a:r>
              <a:rPr lang="en-US" sz="3000" dirty="0" err="1" smtClean="0"/>
              <a:t>thông</a:t>
            </a:r>
            <a:r>
              <a:rPr lang="en-US" sz="3000" dirty="0" smtClean="0"/>
              <a:t> tin </a:t>
            </a:r>
            <a:r>
              <a:rPr lang="en-US" sz="3000" dirty="0" err="1" smtClean="0"/>
              <a:t>khi</a:t>
            </a:r>
            <a:r>
              <a:rPr lang="en-US" sz="3000" dirty="0" smtClean="0"/>
              <a:t> </a:t>
            </a:r>
            <a:r>
              <a:rPr lang="en-US" sz="3000" dirty="0" err="1" smtClean="0"/>
              <a:t>áp</a:t>
            </a:r>
            <a:r>
              <a:rPr lang="en-US" sz="3000" dirty="0" smtClean="0"/>
              <a:t> </a:t>
            </a:r>
            <a:r>
              <a:rPr lang="en-US" sz="3000" dirty="0" err="1" smtClean="0"/>
              <a:t>dụng</a:t>
            </a:r>
            <a:r>
              <a:rPr lang="en-US" sz="3000" dirty="0" smtClean="0"/>
              <a:t> </a:t>
            </a:r>
            <a:r>
              <a:rPr lang="en-US" sz="3000" dirty="0" err="1" smtClean="0"/>
              <a:t>mật</a:t>
            </a:r>
            <a:r>
              <a:rPr lang="en-US" sz="3000" dirty="0" smtClean="0"/>
              <a:t> </a:t>
            </a:r>
            <a:r>
              <a:rPr lang="en-US" sz="3000" dirty="0" err="1" smtClean="0"/>
              <a:t>mã</a:t>
            </a:r>
            <a:endParaRPr lang="en-US" sz="3000" dirty="0" smtClean="0"/>
          </a:p>
        </p:txBody>
      </p:sp>
      <p:sp>
        <p:nvSpPr>
          <p:cNvPr id="612355" name="Rectangle 3"/>
          <p:cNvSpPr>
            <a:spLocks noGrp="1" noChangeArrowheads="1"/>
          </p:cNvSpPr>
          <p:nvPr>
            <p:ph type="body" idx="1"/>
          </p:nvPr>
        </p:nvSpPr>
        <p:spPr/>
        <p:txBody>
          <a:bodyPr/>
          <a:lstStyle/>
          <a:p>
            <a:r>
              <a:rPr lang="en-US" smtClean="0"/>
              <a:t>Sự rò rỉ thông tin theo các kênh kỹ thuật</a:t>
            </a:r>
          </a:p>
          <a:p>
            <a:r>
              <a:rPr lang="en-US" smtClean="0"/>
              <a:t>Lỗi trong các chi tiết của thiết bị mật mã</a:t>
            </a:r>
          </a:p>
          <a:p>
            <a:r>
              <a:rPr lang="en-US" smtClean="0"/>
              <a:t>Làm việc cùng với các chương trình khác</a:t>
            </a:r>
          </a:p>
          <a:p>
            <a:r>
              <a:rPr lang="en-US" smtClean="0"/>
              <a:t>Tác động của con người.</a:t>
            </a:r>
          </a:p>
        </p:txBody>
      </p:sp>
    </p:spTree>
    <p:extLst>
      <p:ext uri="{BB962C8B-B14F-4D97-AF65-F5344CB8AC3E}">
        <p14:creationId xmlns:p14="http://schemas.microsoft.com/office/powerpoint/2010/main" val="18142800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2355">
                                            <p:txEl>
                                              <p:pRg st="0" end="0"/>
                                            </p:txEl>
                                          </p:spTgt>
                                        </p:tgtEl>
                                        <p:attrNameLst>
                                          <p:attrName>style.visibility</p:attrName>
                                        </p:attrNameLst>
                                      </p:cBhvr>
                                      <p:to>
                                        <p:strVal val="visible"/>
                                      </p:to>
                                    </p:set>
                                    <p:animEffect transition="in" filter="blinds(horizontal)">
                                      <p:cBhvr>
                                        <p:cTn id="7" dur="500"/>
                                        <p:tgtEl>
                                          <p:spTgt spid="6123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2355">
                                            <p:txEl>
                                              <p:pRg st="1" end="1"/>
                                            </p:txEl>
                                          </p:spTgt>
                                        </p:tgtEl>
                                        <p:attrNameLst>
                                          <p:attrName>style.visibility</p:attrName>
                                        </p:attrNameLst>
                                      </p:cBhvr>
                                      <p:to>
                                        <p:strVal val="visible"/>
                                      </p:to>
                                    </p:set>
                                    <p:animEffect transition="in" filter="blinds(horizontal)">
                                      <p:cBhvr>
                                        <p:cTn id="12" dur="500"/>
                                        <p:tgtEl>
                                          <p:spTgt spid="6123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2355">
                                            <p:txEl>
                                              <p:pRg st="2" end="2"/>
                                            </p:txEl>
                                          </p:spTgt>
                                        </p:tgtEl>
                                        <p:attrNameLst>
                                          <p:attrName>style.visibility</p:attrName>
                                        </p:attrNameLst>
                                      </p:cBhvr>
                                      <p:to>
                                        <p:strVal val="visible"/>
                                      </p:to>
                                    </p:set>
                                    <p:animEffect transition="in" filter="blinds(horizontal)">
                                      <p:cBhvr>
                                        <p:cTn id="17" dur="500"/>
                                        <p:tgtEl>
                                          <p:spTgt spid="6123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2355">
                                            <p:txEl>
                                              <p:pRg st="3" end="3"/>
                                            </p:txEl>
                                          </p:spTgt>
                                        </p:tgtEl>
                                        <p:attrNameLst>
                                          <p:attrName>style.visibility</p:attrName>
                                        </p:attrNameLst>
                                      </p:cBhvr>
                                      <p:to>
                                        <p:strVal val="visible"/>
                                      </p:to>
                                    </p:set>
                                    <p:animEffect transition="in" filter="blinds(horizontal)">
                                      <p:cBhvr>
                                        <p:cTn id="22" dur="500"/>
                                        <p:tgtEl>
                                          <p:spTgt spid="6123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179388" y="115888"/>
            <a:ext cx="8736012" cy="576262"/>
          </a:xfrm>
        </p:spPr>
        <p:txBody>
          <a:bodyPr/>
          <a:lstStyle/>
          <a:p>
            <a:r>
              <a:rPr lang="en-US" sz="3000" dirty="0" err="1" smtClean="0"/>
              <a:t>Sự</a:t>
            </a:r>
            <a:r>
              <a:rPr lang="en-US" sz="3000" dirty="0" smtClean="0"/>
              <a:t> </a:t>
            </a:r>
            <a:r>
              <a:rPr lang="en-US" sz="3000" dirty="0" err="1" smtClean="0"/>
              <a:t>rò</a:t>
            </a:r>
            <a:r>
              <a:rPr lang="en-US" sz="3000" dirty="0" smtClean="0"/>
              <a:t> </a:t>
            </a:r>
            <a:r>
              <a:rPr lang="en-US" sz="3000" dirty="0" err="1" smtClean="0"/>
              <a:t>rỉ</a:t>
            </a:r>
            <a:r>
              <a:rPr lang="en-US" sz="3000" dirty="0" smtClean="0"/>
              <a:t> </a:t>
            </a:r>
            <a:r>
              <a:rPr lang="en-US" sz="3000" dirty="0" err="1" smtClean="0"/>
              <a:t>thông</a:t>
            </a:r>
            <a:r>
              <a:rPr lang="en-US" sz="3000" dirty="0" smtClean="0"/>
              <a:t> tin </a:t>
            </a:r>
            <a:r>
              <a:rPr lang="en-US" sz="3000" dirty="0" err="1" smtClean="0"/>
              <a:t>theo</a:t>
            </a:r>
            <a:r>
              <a:rPr lang="en-US" sz="3000" dirty="0" smtClean="0"/>
              <a:t> </a:t>
            </a:r>
            <a:r>
              <a:rPr lang="en-US" sz="3000" dirty="0" err="1" smtClean="0"/>
              <a:t>các</a:t>
            </a:r>
            <a:r>
              <a:rPr lang="en-US" sz="3000" dirty="0" smtClean="0"/>
              <a:t> </a:t>
            </a:r>
            <a:r>
              <a:rPr lang="en-US" sz="3000" dirty="0" err="1" smtClean="0"/>
              <a:t>kênh</a:t>
            </a:r>
            <a:r>
              <a:rPr lang="en-US" sz="3000" dirty="0" smtClean="0"/>
              <a:t> </a:t>
            </a:r>
            <a:r>
              <a:rPr lang="en-US" sz="3000" dirty="0" err="1" smtClean="0"/>
              <a:t>kỹ</a:t>
            </a:r>
            <a:r>
              <a:rPr lang="en-US" sz="3000" dirty="0" smtClean="0"/>
              <a:t> </a:t>
            </a:r>
            <a:r>
              <a:rPr lang="en-US" sz="3000" dirty="0" err="1" smtClean="0"/>
              <a:t>thuật</a:t>
            </a:r>
            <a:endParaRPr lang="en-US" sz="3000" dirty="0" smtClean="0"/>
          </a:p>
        </p:txBody>
      </p:sp>
      <p:sp>
        <p:nvSpPr>
          <p:cNvPr id="613379" name="Rectangle 3"/>
          <p:cNvSpPr>
            <a:spLocks noGrp="1" noChangeArrowheads="1"/>
          </p:cNvSpPr>
          <p:nvPr>
            <p:ph type="body" idx="1"/>
          </p:nvPr>
        </p:nvSpPr>
        <p:spPr/>
        <p:txBody>
          <a:bodyPr/>
          <a:lstStyle/>
          <a:p>
            <a:r>
              <a:rPr lang="en-US" smtClean="0"/>
              <a:t>Bức xạ điện từ cao tần trực tiếp</a:t>
            </a:r>
          </a:p>
          <a:p>
            <a:r>
              <a:rPr lang="en-US" smtClean="0"/>
              <a:t>Bức xạ điện từ âm tần trực tiếp</a:t>
            </a:r>
          </a:p>
          <a:p>
            <a:r>
              <a:rPr lang="en-US" smtClean="0"/>
              <a:t>Bức xạ điện từ gián tiếp</a:t>
            </a:r>
          </a:p>
          <a:p>
            <a:r>
              <a:rPr lang="en-US" smtClean="0"/>
              <a:t>Kênh âm thanh</a:t>
            </a:r>
          </a:p>
          <a:p>
            <a:r>
              <a:rPr lang="en-US" smtClean="0"/>
              <a:t>Kênh video</a:t>
            </a:r>
          </a:p>
          <a:p>
            <a:r>
              <a:rPr lang="en-US" smtClean="0"/>
              <a:t>Kênh âm thanh – điện tử</a:t>
            </a:r>
          </a:p>
          <a:p>
            <a:r>
              <a:rPr lang="en-US" smtClean="0"/>
              <a:t>Kênh đường điện lưới</a:t>
            </a:r>
          </a:p>
          <a:p>
            <a:r>
              <a:rPr lang="en-US" smtClean="0"/>
              <a:t>Theo đường nối đất hoặc theo đường liên lạc của máy tính – các thiết bị truyền tin như mođem.</a:t>
            </a:r>
          </a:p>
        </p:txBody>
      </p:sp>
    </p:spTree>
    <p:extLst>
      <p:ext uri="{BB962C8B-B14F-4D97-AF65-F5344CB8AC3E}">
        <p14:creationId xmlns:p14="http://schemas.microsoft.com/office/powerpoint/2010/main" val="2489652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3379">
                                            <p:txEl>
                                              <p:pRg st="0" end="0"/>
                                            </p:txEl>
                                          </p:spTgt>
                                        </p:tgtEl>
                                        <p:attrNameLst>
                                          <p:attrName>style.visibility</p:attrName>
                                        </p:attrNameLst>
                                      </p:cBhvr>
                                      <p:to>
                                        <p:strVal val="visible"/>
                                      </p:to>
                                    </p:set>
                                    <p:animEffect transition="in" filter="blinds(horizontal)">
                                      <p:cBhvr>
                                        <p:cTn id="7" dur="500"/>
                                        <p:tgtEl>
                                          <p:spTgt spid="613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3379">
                                            <p:txEl>
                                              <p:pRg st="1" end="1"/>
                                            </p:txEl>
                                          </p:spTgt>
                                        </p:tgtEl>
                                        <p:attrNameLst>
                                          <p:attrName>style.visibility</p:attrName>
                                        </p:attrNameLst>
                                      </p:cBhvr>
                                      <p:to>
                                        <p:strVal val="visible"/>
                                      </p:to>
                                    </p:set>
                                    <p:animEffect transition="in" filter="blinds(horizontal)">
                                      <p:cBhvr>
                                        <p:cTn id="12" dur="500"/>
                                        <p:tgtEl>
                                          <p:spTgt spid="6133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3379">
                                            <p:txEl>
                                              <p:pRg st="2" end="2"/>
                                            </p:txEl>
                                          </p:spTgt>
                                        </p:tgtEl>
                                        <p:attrNameLst>
                                          <p:attrName>style.visibility</p:attrName>
                                        </p:attrNameLst>
                                      </p:cBhvr>
                                      <p:to>
                                        <p:strVal val="visible"/>
                                      </p:to>
                                    </p:set>
                                    <p:animEffect transition="in" filter="blinds(horizontal)">
                                      <p:cBhvr>
                                        <p:cTn id="17" dur="500"/>
                                        <p:tgtEl>
                                          <p:spTgt spid="6133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3379">
                                            <p:txEl>
                                              <p:pRg st="3" end="3"/>
                                            </p:txEl>
                                          </p:spTgt>
                                        </p:tgtEl>
                                        <p:attrNameLst>
                                          <p:attrName>style.visibility</p:attrName>
                                        </p:attrNameLst>
                                      </p:cBhvr>
                                      <p:to>
                                        <p:strVal val="visible"/>
                                      </p:to>
                                    </p:set>
                                    <p:animEffect transition="in" filter="blinds(horizontal)">
                                      <p:cBhvr>
                                        <p:cTn id="22" dur="500"/>
                                        <p:tgtEl>
                                          <p:spTgt spid="6133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3379">
                                            <p:txEl>
                                              <p:pRg st="4" end="4"/>
                                            </p:txEl>
                                          </p:spTgt>
                                        </p:tgtEl>
                                        <p:attrNameLst>
                                          <p:attrName>style.visibility</p:attrName>
                                        </p:attrNameLst>
                                      </p:cBhvr>
                                      <p:to>
                                        <p:strVal val="visible"/>
                                      </p:to>
                                    </p:set>
                                    <p:animEffect transition="in" filter="blinds(horizontal)">
                                      <p:cBhvr>
                                        <p:cTn id="27" dur="500"/>
                                        <p:tgtEl>
                                          <p:spTgt spid="61337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13379">
                                            <p:txEl>
                                              <p:pRg st="5" end="5"/>
                                            </p:txEl>
                                          </p:spTgt>
                                        </p:tgtEl>
                                        <p:attrNameLst>
                                          <p:attrName>style.visibility</p:attrName>
                                        </p:attrNameLst>
                                      </p:cBhvr>
                                      <p:to>
                                        <p:strVal val="visible"/>
                                      </p:to>
                                    </p:set>
                                    <p:animEffect transition="in" filter="blinds(horizontal)">
                                      <p:cBhvr>
                                        <p:cTn id="32" dur="500"/>
                                        <p:tgtEl>
                                          <p:spTgt spid="61337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13379">
                                            <p:txEl>
                                              <p:pRg st="6" end="6"/>
                                            </p:txEl>
                                          </p:spTgt>
                                        </p:tgtEl>
                                        <p:attrNameLst>
                                          <p:attrName>style.visibility</p:attrName>
                                        </p:attrNameLst>
                                      </p:cBhvr>
                                      <p:to>
                                        <p:strVal val="visible"/>
                                      </p:to>
                                    </p:set>
                                    <p:animEffect transition="in" filter="blinds(horizontal)">
                                      <p:cBhvr>
                                        <p:cTn id="37" dur="500"/>
                                        <p:tgtEl>
                                          <p:spTgt spid="61337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13379">
                                            <p:txEl>
                                              <p:pRg st="7" end="7"/>
                                            </p:txEl>
                                          </p:spTgt>
                                        </p:tgtEl>
                                        <p:attrNameLst>
                                          <p:attrName>style.visibility</p:attrName>
                                        </p:attrNameLst>
                                      </p:cBhvr>
                                      <p:to>
                                        <p:strVal val="visible"/>
                                      </p:to>
                                    </p:set>
                                    <p:animEffect transition="in" filter="blinds(horizontal)">
                                      <p:cBhvr>
                                        <p:cTn id="42" dur="500"/>
                                        <p:tgtEl>
                                          <p:spTgt spid="6133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79388" y="115888"/>
            <a:ext cx="8507412" cy="576262"/>
          </a:xfrm>
        </p:spPr>
        <p:txBody>
          <a:bodyPr/>
          <a:lstStyle/>
          <a:p>
            <a:r>
              <a:rPr lang="en-US" sz="3000" dirty="0" err="1" smtClean="0"/>
              <a:t>Lỗi</a:t>
            </a:r>
            <a:r>
              <a:rPr lang="en-US" sz="3000" dirty="0" smtClean="0"/>
              <a:t> </a:t>
            </a:r>
            <a:r>
              <a:rPr lang="en-US" sz="3000" dirty="0" err="1" smtClean="0"/>
              <a:t>trong</a:t>
            </a:r>
            <a:r>
              <a:rPr lang="en-US" sz="3000" dirty="0" smtClean="0"/>
              <a:t> </a:t>
            </a:r>
            <a:r>
              <a:rPr lang="en-US" sz="3000" dirty="0" err="1" smtClean="0"/>
              <a:t>các</a:t>
            </a:r>
            <a:r>
              <a:rPr lang="en-US" sz="3000" dirty="0" smtClean="0"/>
              <a:t> chi </a:t>
            </a:r>
            <a:r>
              <a:rPr lang="en-US" sz="3000" dirty="0" err="1" smtClean="0"/>
              <a:t>tiết</a:t>
            </a:r>
            <a:r>
              <a:rPr lang="en-US" sz="3000" dirty="0" smtClean="0"/>
              <a:t> </a:t>
            </a:r>
            <a:r>
              <a:rPr lang="en-US" sz="3000" dirty="0" err="1" smtClean="0"/>
              <a:t>của</a:t>
            </a:r>
            <a:r>
              <a:rPr lang="en-US" sz="3000" dirty="0" smtClean="0"/>
              <a:t> </a:t>
            </a:r>
            <a:r>
              <a:rPr lang="en-US" sz="3000" dirty="0" err="1" smtClean="0"/>
              <a:t>thiết</a:t>
            </a:r>
            <a:r>
              <a:rPr lang="en-US" sz="3000" dirty="0" smtClean="0"/>
              <a:t> </a:t>
            </a:r>
            <a:r>
              <a:rPr lang="en-US" sz="3000" dirty="0" err="1" smtClean="0"/>
              <a:t>bị</a:t>
            </a:r>
            <a:r>
              <a:rPr lang="en-US" sz="3000" dirty="0" smtClean="0"/>
              <a:t> </a:t>
            </a:r>
            <a:r>
              <a:rPr lang="en-US" sz="3000" dirty="0" err="1" smtClean="0"/>
              <a:t>mật</a:t>
            </a:r>
            <a:r>
              <a:rPr lang="en-US" sz="3000" dirty="0" smtClean="0"/>
              <a:t> </a:t>
            </a:r>
            <a:r>
              <a:rPr lang="en-US" sz="3000" dirty="0" err="1" smtClean="0"/>
              <a:t>mã</a:t>
            </a:r>
            <a:endParaRPr lang="en-US" sz="3000" dirty="0" smtClean="0"/>
          </a:p>
        </p:txBody>
      </p:sp>
      <p:sp>
        <p:nvSpPr>
          <p:cNvPr id="614403" name="Rectangle 3"/>
          <p:cNvSpPr>
            <a:spLocks noGrp="1" noChangeArrowheads="1"/>
          </p:cNvSpPr>
          <p:nvPr>
            <p:ph type="body" idx="1"/>
          </p:nvPr>
        </p:nvSpPr>
        <p:spPr/>
        <p:txBody>
          <a:bodyPr/>
          <a:lstStyle/>
          <a:p>
            <a:r>
              <a:rPr lang="en-US" smtClean="0"/>
              <a:t>Sự ngừng chạy và các lỗi trong các chi tiết của thiết bị mật mã có thể gây ảnh hưởng trực tiếp đến </a:t>
            </a:r>
          </a:p>
          <a:p>
            <a:pPr lvl="1"/>
            <a:r>
              <a:rPr lang="en-US" smtClean="0"/>
              <a:t>dạng của các biến đổi mã hóa</a:t>
            </a:r>
          </a:p>
          <a:p>
            <a:pPr lvl="1"/>
            <a:r>
              <a:rPr lang="en-US" smtClean="0"/>
              <a:t>ảnh hưởng đến các thủ tục tương tác của máy móc hoặc chương trình của thiết bị mật mã với các thiết bị và các chương trình khác hoặc tới các trình tự đọc khóa.</a:t>
            </a:r>
          </a:p>
        </p:txBody>
      </p:sp>
    </p:spTree>
    <p:extLst>
      <p:ext uri="{BB962C8B-B14F-4D97-AF65-F5344CB8AC3E}">
        <p14:creationId xmlns:p14="http://schemas.microsoft.com/office/powerpoint/2010/main" val="37720206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403">
                                            <p:txEl>
                                              <p:pRg st="0" end="0"/>
                                            </p:txEl>
                                          </p:spTgt>
                                        </p:tgtEl>
                                        <p:attrNameLst>
                                          <p:attrName>style.visibility</p:attrName>
                                        </p:attrNameLst>
                                      </p:cBhvr>
                                      <p:to>
                                        <p:strVal val="visible"/>
                                      </p:to>
                                    </p:set>
                                    <p:animEffect transition="in" filter="blinds(horizontal)">
                                      <p:cBhvr>
                                        <p:cTn id="7" dur="500"/>
                                        <p:tgtEl>
                                          <p:spTgt spid="6144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403">
                                            <p:txEl>
                                              <p:pRg st="1" end="1"/>
                                            </p:txEl>
                                          </p:spTgt>
                                        </p:tgtEl>
                                        <p:attrNameLst>
                                          <p:attrName>style.visibility</p:attrName>
                                        </p:attrNameLst>
                                      </p:cBhvr>
                                      <p:to>
                                        <p:strVal val="visible"/>
                                      </p:to>
                                    </p:set>
                                    <p:animEffect transition="in" filter="blinds(horizontal)">
                                      <p:cBhvr>
                                        <p:cTn id="12" dur="500"/>
                                        <p:tgtEl>
                                          <p:spTgt spid="6144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4403">
                                            <p:txEl>
                                              <p:pRg st="2" end="2"/>
                                            </p:txEl>
                                          </p:spTgt>
                                        </p:tgtEl>
                                        <p:attrNameLst>
                                          <p:attrName>style.visibility</p:attrName>
                                        </p:attrNameLst>
                                      </p:cBhvr>
                                      <p:to>
                                        <p:strVal val="visible"/>
                                      </p:to>
                                    </p:set>
                                    <p:animEffect transition="in" filter="blinds(horizontal)">
                                      <p:cBhvr>
                                        <p:cTn id="17" dur="500"/>
                                        <p:tgtEl>
                                          <p:spTgt spid="6144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179388" y="115888"/>
            <a:ext cx="8736012" cy="576262"/>
          </a:xfrm>
        </p:spPr>
        <p:txBody>
          <a:bodyPr/>
          <a:lstStyle/>
          <a:p>
            <a:r>
              <a:rPr lang="en-US" sz="3000" dirty="0" err="1" smtClean="0"/>
              <a:t>Làm</a:t>
            </a:r>
            <a:r>
              <a:rPr lang="en-US" sz="3000" dirty="0" smtClean="0"/>
              <a:t> </a:t>
            </a:r>
            <a:r>
              <a:rPr lang="en-US" sz="3000" dirty="0" err="1" smtClean="0"/>
              <a:t>việc</a:t>
            </a:r>
            <a:r>
              <a:rPr lang="en-US" sz="3000" dirty="0" smtClean="0"/>
              <a:t> </a:t>
            </a:r>
            <a:r>
              <a:rPr lang="en-US" sz="3000" dirty="0" err="1" smtClean="0"/>
              <a:t>cùng</a:t>
            </a:r>
            <a:r>
              <a:rPr lang="en-US" sz="3000" dirty="0" smtClean="0"/>
              <a:t> </a:t>
            </a:r>
            <a:r>
              <a:rPr lang="en-US" sz="3000" dirty="0" err="1" smtClean="0"/>
              <a:t>với</a:t>
            </a:r>
            <a:r>
              <a:rPr lang="en-US" sz="3000" dirty="0" smtClean="0"/>
              <a:t> </a:t>
            </a:r>
            <a:r>
              <a:rPr lang="en-US" sz="3000" dirty="0" err="1" smtClean="0"/>
              <a:t>các</a:t>
            </a:r>
            <a:r>
              <a:rPr lang="en-US" sz="3000" dirty="0" smtClean="0"/>
              <a:t> </a:t>
            </a:r>
            <a:r>
              <a:rPr lang="en-US" sz="3000" dirty="0" err="1" smtClean="0"/>
              <a:t>chương</a:t>
            </a:r>
            <a:r>
              <a:rPr lang="en-US" sz="3000" dirty="0" smtClean="0"/>
              <a:t> </a:t>
            </a:r>
            <a:r>
              <a:rPr lang="en-US" sz="3000" dirty="0" err="1" smtClean="0"/>
              <a:t>trình</a:t>
            </a:r>
            <a:r>
              <a:rPr lang="en-US" sz="3000" dirty="0" smtClean="0"/>
              <a:t> </a:t>
            </a:r>
            <a:r>
              <a:rPr lang="en-US" sz="3000" dirty="0" err="1" smtClean="0"/>
              <a:t>khác</a:t>
            </a:r>
            <a:endParaRPr lang="en-US" sz="3000" dirty="0" smtClean="0"/>
          </a:p>
        </p:txBody>
      </p:sp>
      <p:sp>
        <p:nvSpPr>
          <p:cNvPr id="615427" name="Rectangle 3"/>
          <p:cNvSpPr>
            <a:spLocks noGrp="1" noChangeArrowheads="1"/>
          </p:cNvSpPr>
          <p:nvPr>
            <p:ph type="body" idx="1"/>
          </p:nvPr>
        </p:nvSpPr>
        <p:spPr/>
        <p:txBody>
          <a:bodyPr/>
          <a:lstStyle/>
          <a:p>
            <a:r>
              <a:rPr lang="en-US" smtClean="0"/>
              <a:t>Tác động vô ý: sự tranh chấp các tài nguyên tính toán và việc xử lý không phù hợp các tình huống lỗi </a:t>
            </a:r>
          </a:p>
          <a:p>
            <a:r>
              <a:rPr lang="en-US" smtClean="0"/>
              <a:t>Tác động cố ý: các mã virut, CT ngựa Troa (bẫy CT). Các bẫy CT có thể làm việc ở 2 chế độ:</a:t>
            </a:r>
          </a:p>
          <a:p>
            <a:pPr lvl="1"/>
            <a:r>
              <a:rPr lang="en-US" smtClean="0"/>
              <a:t>Thụ động </a:t>
            </a:r>
          </a:p>
          <a:p>
            <a:pPr lvl="1"/>
            <a:r>
              <a:rPr lang="en-US" smtClean="0"/>
              <a:t>Chủ động</a:t>
            </a:r>
          </a:p>
        </p:txBody>
      </p:sp>
    </p:spTree>
    <p:extLst>
      <p:ext uri="{BB962C8B-B14F-4D97-AF65-F5344CB8AC3E}">
        <p14:creationId xmlns:p14="http://schemas.microsoft.com/office/powerpoint/2010/main" val="23092852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5427">
                                            <p:txEl>
                                              <p:pRg st="0" end="0"/>
                                            </p:txEl>
                                          </p:spTgt>
                                        </p:tgtEl>
                                        <p:attrNameLst>
                                          <p:attrName>style.visibility</p:attrName>
                                        </p:attrNameLst>
                                      </p:cBhvr>
                                      <p:to>
                                        <p:strVal val="visible"/>
                                      </p:to>
                                    </p:set>
                                    <p:animEffect transition="in" filter="blinds(horizontal)">
                                      <p:cBhvr>
                                        <p:cTn id="7" dur="500"/>
                                        <p:tgtEl>
                                          <p:spTgt spid="6154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5427">
                                            <p:txEl>
                                              <p:pRg st="1" end="1"/>
                                            </p:txEl>
                                          </p:spTgt>
                                        </p:tgtEl>
                                        <p:attrNameLst>
                                          <p:attrName>style.visibility</p:attrName>
                                        </p:attrNameLst>
                                      </p:cBhvr>
                                      <p:to>
                                        <p:strVal val="visible"/>
                                      </p:to>
                                    </p:set>
                                    <p:animEffect transition="in" filter="blinds(horizontal)">
                                      <p:cBhvr>
                                        <p:cTn id="12" dur="500"/>
                                        <p:tgtEl>
                                          <p:spTgt spid="6154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5427">
                                            <p:txEl>
                                              <p:pRg st="2" end="2"/>
                                            </p:txEl>
                                          </p:spTgt>
                                        </p:tgtEl>
                                        <p:attrNameLst>
                                          <p:attrName>style.visibility</p:attrName>
                                        </p:attrNameLst>
                                      </p:cBhvr>
                                      <p:to>
                                        <p:strVal val="visible"/>
                                      </p:to>
                                    </p:set>
                                    <p:animEffect transition="in" filter="blinds(horizontal)">
                                      <p:cBhvr>
                                        <p:cTn id="17" dur="500"/>
                                        <p:tgtEl>
                                          <p:spTgt spid="6154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5427">
                                            <p:txEl>
                                              <p:pRg st="3" end="3"/>
                                            </p:txEl>
                                          </p:spTgt>
                                        </p:tgtEl>
                                        <p:attrNameLst>
                                          <p:attrName>style.visibility</p:attrName>
                                        </p:attrNameLst>
                                      </p:cBhvr>
                                      <p:to>
                                        <p:strVal val="visible"/>
                                      </p:to>
                                    </p:set>
                                    <p:animEffect transition="in" filter="blinds(horizontal)">
                                      <p:cBhvr>
                                        <p:cTn id="22" dur="500"/>
                                        <p:tgtEl>
                                          <p:spTgt spid="6154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sz="3600" smtClean="0"/>
              <a:t>Tác động của con người</a:t>
            </a:r>
          </a:p>
        </p:txBody>
      </p:sp>
      <p:sp>
        <p:nvSpPr>
          <p:cNvPr id="616451" name="Rectangle 3"/>
          <p:cNvSpPr>
            <a:spLocks noGrp="1" noChangeArrowheads="1"/>
          </p:cNvSpPr>
          <p:nvPr>
            <p:ph type="body" idx="1"/>
          </p:nvPr>
        </p:nvSpPr>
        <p:spPr/>
        <p:txBody>
          <a:bodyPr/>
          <a:lstStyle/>
          <a:p>
            <a:r>
              <a:rPr lang="en-US" smtClean="0"/>
              <a:t>Không tuân thủ các chỉ dẫn của TBMM</a:t>
            </a:r>
          </a:p>
          <a:p>
            <a:pPr>
              <a:buFont typeface="Wingdings" pitchFamily="2" charset="2"/>
              <a:buNone/>
            </a:pPr>
            <a:r>
              <a:rPr lang="en-US" smtClean="0"/>
              <a:t>=&gt;cài đặt các thiết bị giám sát (camera theo dõi) làm việc</a:t>
            </a:r>
          </a:p>
          <a:p>
            <a:pPr>
              <a:buFont typeface="Wingdings" pitchFamily="2" charset="2"/>
              <a:buNone/>
            </a:pPr>
            <a:r>
              <a:rPr lang="en-US" smtClean="0"/>
              <a:t>=&gt;theo dõi quá trình thiết kế và áp dụng các biện pháp tổ chức khác.</a:t>
            </a:r>
          </a:p>
        </p:txBody>
      </p:sp>
    </p:spTree>
    <p:extLst>
      <p:ext uri="{BB962C8B-B14F-4D97-AF65-F5344CB8AC3E}">
        <p14:creationId xmlns:p14="http://schemas.microsoft.com/office/powerpoint/2010/main" val="41152942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6451">
                                            <p:txEl>
                                              <p:pRg st="0" end="0"/>
                                            </p:txEl>
                                          </p:spTgt>
                                        </p:tgtEl>
                                        <p:attrNameLst>
                                          <p:attrName>style.visibility</p:attrName>
                                        </p:attrNameLst>
                                      </p:cBhvr>
                                      <p:to>
                                        <p:strVal val="visible"/>
                                      </p:to>
                                    </p:set>
                                    <p:animEffect transition="in" filter="blinds(horizontal)">
                                      <p:cBhvr>
                                        <p:cTn id="7" dur="500"/>
                                        <p:tgtEl>
                                          <p:spTgt spid="6164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6451">
                                            <p:txEl>
                                              <p:pRg st="1" end="1"/>
                                            </p:txEl>
                                          </p:spTgt>
                                        </p:tgtEl>
                                        <p:attrNameLst>
                                          <p:attrName>style.visibility</p:attrName>
                                        </p:attrNameLst>
                                      </p:cBhvr>
                                      <p:to>
                                        <p:strVal val="visible"/>
                                      </p:to>
                                    </p:set>
                                    <p:animEffect transition="in" filter="blinds(horizontal)">
                                      <p:cBhvr>
                                        <p:cTn id="12" dur="500"/>
                                        <p:tgtEl>
                                          <p:spTgt spid="6164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6451">
                                            <p:txEl>
                                              <p:pRg st="2" end="2"/>
                                            </p:txEl>
                                          </p:spTgt>
                                        </p:tgtEl>
                                        <p:attrNameLst>
                                          <p:attrName>style.visibility</p:attrName>
                                        </p:attrNameLst>
                                      </p:cBhvr>
                                      <p:to>
                                        <p:strVal val="visible"/>
                                      </p:to>
                                    </p:set>
                                    <p:animEffect transition="in" filter="blinds(horizontal)">
                                      <p:cBhvr>
                                        <p:cTn id="17" dur="500"/>
                                        <p:tgtEl>
                                          <p:spTgt spid="6164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type="body" idx="1"/>
          </p:nvPr>
        </p:nvSpPr>
        <p:spPr/>
        <p:txBody>
          <a:bodyPr/>
          <a:lstStyle/>
          <a:p>
            <a:r>
              <a:rPr lang="en-US" smtClean="0"/>
              <a:t>Các thiết bị mật mã</a:t>
            </a:r>
          </a:p>
          <a:p>
            <a:r>
              <a:rPr lang="en-US" smtClean="0"/>
              <a:t>Nhiệm vụ của các thiết bị mật mã</a:t>
            </a:r>
          </a:p>
          <a:p>
            <a:r>
              <a:rPr lang="en-US" smtClean="0"/>
              <a:t>Đặc tính của thiết bị mật mã</a:t>
            </a:r>
          </a:p>
          <a:p>
            <a:r>
              <a:rPr lang="en-US" smtClean="0"/>
              <a:t>Thể hiện mật mã trong hệ thống an toàn thông tin</a:t>
            </a:r>
          </a:p>
          <a:p>
            <a:r>
              <a:rPr lang="en-US" smtClean="0"/>
              <a:t>Các hiểm họa an toàn thông tin khi áp dụng kỹ thuật mật mã</a:t>
            </a:r>
          </a:p>
          <a:p>
            <a:r>
              <a:rPr lang="en-US" b="1" smtClean="0">
                <a:solidFill>
                  <a:srgbClr val="CC0000"/>
                </a:solidFill>
              </a:rPr>
              <a:t>Các nguyên lý cơ bản của thiết bị mật mã</a:t>
            </a:r>
          </a:p>
        </p:txBody>
      </p:sp>
      <p:sp>
        <p:nvSpPr>
          <p:cNvPr id="2" name="Title 1"/>
          <p:cNvSpPr>
            <a:spLocks noGrp="1"/>
          </p:cNvSpPr>
          <p:nvPr>
            <p:ph type="title"/>
          </p:nvPr>
        </p:nvSpPr>
        <p:spPr/>
        <p:txBody>
          <a:bodyPr/>
          <a:lstStyle/>
          <a:p>
            <a:endParaRPr lang="en-US"/>
          </a:p>
        </p:txBody>
      </p:sp>
      <p:sp>
        <p:nvSpPr>
          <p:cNvPr id="6" name="Rectangle 2"/>
          <p:cNvSpPr txBox="1">
            <a:spLocks noChangeArrowheads="1"/>
          </p:cNvSpPr>
          <p:nvPr/>
        </p:nvSpPr>
        <p:spPr bwMode="auto">
          <a:xfrm>
            <a:off x="179388" y="115888"/>
            <a:ext cx="850741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lvl1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r>
              <a:rPr lang="en-US" dirty="0" err="1" smtClean="0"/>
              <a:t>Nguyên</a:t>
            </a:r>
            <a:r>
              <a:rPr lang="en-US" dirty="0" smtClean="0"/>
              <a:t> </a:t>
            </a:r>
            <a:r>
              <a:rPr lang="en-US" dirty="0" err="1" smtClean="0"/>
              <a:t>lý</a:t>
            </a:r>
            <a:r>
              <a:rPr lang="en-US" dirty="0" smtClean="0"/>
              <a:t> </a:t>
            </a:r>
            <a:r>
              <a:rPr lang="en-US" dirty="0" err="1" smtClean="0"/>
              <a:t>bảo</a:t>
            </a:r>
            <a:r>
              <a:rPr lang="en-US" dirty="0" smtClean="0"/>
              <a:t> </a:t>
            </a:r>
            <a:r>
              <a:rPr lang="en-US" dirty="0" err="1" smtClean="0"/>
              <a:t>vệ</a:t>
            </a:r>
            <a:r>
              <a:rPr lang="en-US" dirty="0" smtClean="0"/>
              <a:t> </a:t>
            </a:r>
            <a:r>
              <a:rPr lang="en-US" dirty="0" err="1" smtClean="0"/>
              <a:t>thông</a:t>
            </a:r>
            <a:r>
              <a:rPr lang="en-US" dirty="0" smtClean="0"/>
              <a:t> tin </a:t>
            </a:r>
            <a:r>
              <a:rPr lang="en-US" dirty="0" err="1" smtClean="0"/>
              <a:t>bằng</a:t>
            </a:r>
            <a:r>
              <a:rPr lang="en-US" dirty="0" smtClean="0"/>
              <a:t> </a:t>
            </a:r>
            <a:r>
              <a:rPr lang="en-US" dirty="0" err="1" smtClean="0"/>
              <a:t>mật</a:t>
            </a:r>
            <a:r>
              <a:rPr lang="en-US" dirty="0" smtClean="0"/>
              <a:t> </a:t>
            </a:r>
            <a:r>
              <a:rPr lang="en-US" dirty="0" err="1" smtClean="0"/>
              <a:t>mã</a:t>
            </a:r>
            <a:r>
              <a:rPr lang="en-US" dirty="0" smtClean="0"/>
              <a:t> ...</a:t>
            </a:r>
          </a:p>
        </p:txBody>
      </p:sp>
    </p:spTree>
    <p:extLst>
      <p:ext uri="{BB962C8B-B14F-4D97-AF65-F5344CB8AC3E}">
        <p14:creationId xmlns:p14="http://schemas.microsoft.com/office/powerpoint/2010/main" val="42511065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52400" y="152400"/>
            <a:ext cx="8610600" cy="576262"/>
          </a:xfrm>
        </p:spPr>
        <p:txBody>
          <a:bodyPr/>
          <a:lstStyle/>
          <a:p>
            <a:r>
              <a:rPr lang="en-US" dirty="0" err="1" smtClean="0"/>
              <a:t>Nguyên</a:t>
            </a:r>
            <a:r>
              <a:rPr lang="en-US" dirty="0" smtClean="0"/>
              <a:t> </a:t>
            </a:r>
            <a:r>
              <a:rPr lang="en-US" dirty="0" err="1" smtClean="0"/>
              <a:t>lý</a:t>
            </a:r>
            <a:r>
              <a:rPr lang="en-US" dirty="0" smtClean="0"/>
              <a:t> </a:t>
            </a:r>
            <a:r>
              <a:rPr lang="en-US" dirty="0" err="1" smtClean="0"/>
              <a:t>cơ</a:t>
            </a:r>
            <a:r>
              <a:rPr lang="en-US" dirty="0" smtClean="0"/>
              <a:t> </a:t>
            </a:r>
            <a:r>
              <a:rPr lang="en-US" dirty="0" err="1" smtClean="0"/>
              <a:t>bản</a:t>
            </a:r>
            <a:r>
              <a:rPr lang="en-US" dirty="0" smtClean="0"/>
              <a:t> </a:t>
            </a:r>
            <a:r>
              <a:rPr lang="en-US" dirty="0" err="1" smtClean="0"/>
              <a:t>của</a:t>
            </a:r>
            <a:r>
              <a:rPr lang="en-US" dirty="0" smtClean="0"/>
              <a:t> </a:t>
            </a:r>
            <a:r>
              <a:rPr lang="en-US" dirty="0" err="1" smtClean="0"/>
              <a:t>thiết</a:t>
            </a:r>
            <a:r>
              <a:rPr lang="en-US" dirty="0" smtClean="0"/>
              <a:t> </a:t>
            </a:r>
            <a:r>
              <a:rPr lang="en-US" dirty="0" err="1" smtClean="0"/>
              <a:t>bị</a:t>
            </a:r>
            <a:r>
              <a:rPr lang="en-US" dirty="0" smtClean="0"/>
              <a:t> </a:t>
            </a:r>
            <a:r>
              <a:rPr lang="en-US" dirty="0" err="1" smtClean="0"/>
              <a:t>mật</a:t>
            </a:r>
            <a:r>
              <a:rPr lang="en-US" dirty="0" smtClean="0"/>
              <a:t> </a:t>
            </a:r>
            <a:r>
              <a:rPr lang="en-US" dirty="0" err="1" smtClean="0"/>
              <a:t>mã</a:t>
            </a:r>
            <a:endParaRPr lang="en-US" dirty="0" smtClean="0"/>
          </a:p>
        </p:txBody>
      </p:sp>
      <p:sp>
        <p:nvSpPr>
          <p:cNvPr id="617475" name="Rectangle 3"/>
          <p:cNvSpPr>
            <a:spLocks noGrp="1" noChangeArrowheads="1"/>
          </p:cNvSpPr>
          <p:nvPr>
            <p:ph type="body" idx="1"/>
          </p:nvPr>
        </p:nvSpPr>
        <p:spPr/>
        <p:txBody>
          <a:bodyPr/>
          <a:lstStyle/>
          <a:p>
            <a:r>
              <a:rPr lang="en-US" smtClean="0"/>
              <a:t>Đòi hỏi về mật mã</a:t>
            </a:r>
          </a:p>
          <a:p>
            <a:r>
              <a:rPr lang="en-US" smtClean="0"/>
              <a:t>Đòi hỏi về độ tin cậy</a:t>
            </a:r>
          </a:p>
          <a:p>
            <a:r>
              <a:rPr lang="en-US" smtClean="0"/>
              <a:t>Đòi hỏi về bảo vệ chống tiếp cận trái phép</a:t>
            </a:r>
          </a:p>
          <a:p>
            <a:r>
              <a:rPr lang="en-US" smtClean="0"/>
              <a:t>Đòi hỏi tới môi trường thiết kế, sản xuất và hoạt động của thiết bị mật mã.</a:t>
            </a:r>
          </a:p>
        </p:txBody>
      </p:sp>
    </p:spTree>
    <p:extLst>
      <p:ext uri="{BB962C8B-B14F-4D97-AF65-F5344CB8AC3E}">
        <p14:creationId xmlns:p14="http://schemas.microsoft.com/office/powerpoint/2010/main" val="23665313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iterate type="lt">
                                    <p:tmPct val="0"/>
                                  </p:iterate>
                                  <p:childTnLst>
                                    <p:set>
                                      <p:cBhvr>
                                        <p:cTn id="6" dur="1" fill="hold">
                                          <p:stCondLst>
                                            <p:cond delay="0"/>
                                          </p:stCondLst>
                                        </p:cTn>
                                        <p:tgtEl>
                                          <p:spTgt spid="617475">
                                            <p:txEl>
                                              <p:pRg st="0" end="0"/>
                                            </p:txEl>
                                          </p:spTgt>
                                        </p:tgtEl>
                                        <p:attrNameLst>
                                          <p:attrName>style.visibility</p:attrName>
                                        </p:attrNameLst>
                                      </p:cBhvr>
                                      <p:to>
                                        <p:strVal val="visible"/>
                                      </p:to>
                                    </p:set>
                                    <p:animEffect transition="in" filter="blinds(horizontal)">
                                      <p:cBhvr>
                                        <p:cTn id="7" dur="500"/>
                                        <p:tgtEl>
                                          <p:spTgt spid="6174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7475">
                                            <p:txEl>
                                              <p:pRg st="1" end="1"/>
                                            </p:txEl>
                                          </p:spTgt>
                                        </p:tgtEl>
                                        <p:attrNameLst>
                                          <p:attrName>style.visibility</p:attrName>
                                        </p:attrNameLst>
                                      </p:cBhvr>
                                      <p:to>
                                        <p:strVal val="visible"/>
                                      </p:to>
                                    </p:set>
                                    <p:animEffect transition="in" filter="blinds(horizontal)">
                                      <p:cBhvr>
                                        <p:cTn id="12" dur="500"/>
                                        <p:tgtEl>
                                          <p:spTgt spid="6174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7475">
                                            <p:txEl>
                                              <p:pRg st="2" end="2"/>
                                            </p:txEl>
                                          </p:spTgt>
                                        </p:tgtEl>
                                        <p:attrNameLst>
                                          <p:attrName>style.visibility</p:attrName>
                                        </p:attrNameLst>
                                      </p:cBhvr>
                                      <p:to>
                                        <p:strVal val="visible"/>
                                      </p:to>
                                    </p:set>
                                    <p:animEffect transition="in" filter="blinds(horizontal)">
                                      <p:cBhvr>
                                        <p:cTn id="17" dur="500"/>
                                        <p:tgtEl>
                                          <p:spTgt spid="6174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7475">
                                            <p:txEl>
                                              <p:pRg st="3" end="3"/>
                                            </p:txEl>
                                          </p:spTgt>
                                        </p:tgtEl>
                                        <p:attrNameLst>
                                          <p:attrName>style.visibility</p:attrName>
                                        </p:attrNameLst>
                                      </p:cBhvr>
                                      <p:to>
                                        <p:strVal val="visible"/>
                                      </p:to>
                                    </p:set>
                                    <p:animEffect transition="in" filter="blinds(horizontal)">
                                      <p:cBhvr>
                                        <p:cTn id="22" dur="500"/>
                                        <p:tgtEl>
                                          <p:spTgt spid="6174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0" presetClass="emph" presetSubtype="0" fill="hold" nodeType="clickEffect">
                                  <p:stCondLst>
                                    <p:cond delay="0"/>
                                  </p:stCondLst>
                                  <p:iterate type="lt">
                                    <p:tmPct val="10000"/>
                                  </p:iterate>
                                  <p:childTnLst>
                                    <p:set>
                                      <p:cBhvr override="childStyle">
                                        <p:cTn id="26" dur="500" autoRev="1" fill="hold"/>
                                        <p:tgtEl>
                                          <p:spTgt spid="617475">
                                            <p:txEl>
                                              <p:pRg st="0" end="0"/>
                                            </p:txEl>
                                          </p:spTgt>
                                        </p:tgtEl>
                                        <p:attrNameLst>
                                          <p:attrName>style.color</p:attrName>
                                        </p:attrNameLst>
                                      </p:cBhvr>
                                      <p:to>
                                        <p:clrVal>
                                          <a:srgbClr val="CC0000"/>
                                        </p:clrVal>
                                      </p:to>
                                    </p:set>
                                    <p:set>
                                      <p:cBhvr>
                                        <p:cTn id="27" dur="500" autoRev="1" fill="hold"/>
                                        <p:tgtEl>
                                          <p:spTgt spid="617475">
                                            <p:txEl>
                                              <p:pRg st="0" end="0"/>
                                            </p:txEl>
                                          </p:spTgt>
                                        </p:tgtEl>
                                        <p:attrNameLst>
                                          <p:attrName>fillcolor</p:attrName>
                                        </p:attrNameLst>
                                      </p:cBhvr>
                                      <p:to>
                                        <p:clrVal>
                                          <a:srgbClr val="CC0000"/>
                                        </p:clrVal>
                                      </p:to>
                                    </p:set>
                                    <p:set>
                                      <p:cBhvr>
                                        <p:cTn id="28" dur="500" autoRev="1" fill="hold"/>
                                        <p:tgtEl>
                                          <p:spTgt spid="617475">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en-US" sz="3600" smtClean="0"/>
              <a:t>Đòi hỏi về mật mã</a:t>
            </a:r>
          </a:p>
        </p:txBody>
      </p:sp>
      <p:sp>
        <p:nvSpPr>
          <p:cNvPr id="643075" name="Rectangle 3"/>
          <p:cNvSpPr>
            <a:spLocks noGrp="1" noChangeArrowheads="1"/>
          </p:cNvSpPr>
          <p:nvPr>
            <p:ph type="body" idx="1"/>
          </p:nvPr>
        </p:nvSpPr>
        <p:spPr>
          <a:xfrm>
            <a:off x="457200" y="1219200"/>
            <a:ext cx="8229600" cy="5486400"/>
          </a:xfrm>
        </p:spPr>
        <p:txBody>
          <a:bodyPr/>
          <a:lstStyle/>
          <a:p>
            <a:pPr>
              <a:lnSpc>
                <a:spcPct val="90000"/>
              </a:lnSpc>
            </a:pPr>
            <a:r>
              <a:rPr lang="en-US" smtClean="0"/>
              <a:t>Mỗi TBMM có một giá trị ngưỡng lượng TT trung bình thám được </a:t>
            </a:r>
            <a:r>
              <a:rPr lang="el-GR" smtClean="0">
                <a:cs typeface="Arial" charset="0"/>
              </a:rPr>
              <a:t>Π</a:t>
            </a:r>
            <a:r>
              <a:rPr lang="en-US" baseline="-25000" smtClean="0">
                <a:cs typeface="Arial" charset="0"/>
              </a:rPr>
              <a:t>0</a:t>
            </a:r>
            <a:r>
              <a:rPr lang="en-US" smtClean="0"/>
              <a:t>, ngưỡng số phép thử cơ bản Q</a:t>
            </a:r>
            <a:r>
              <a:rPr lang="en-US" baseline="-25000" smtClean="0"/>
              <a:t>0</a:t>
            </a:r>
            <a:r>
              <a:rPr lang="en-US" smtClean="0"/>
              <a:t>, đơn vị thông tin V, số bản ghi nhị phân tối đa M</a:t>
            </a:r>
          </a:p>
          <a:p>
            <a:pPr>
              <a:lnSpc>
                <a:spcPct val="90000"/>
              </a:lnSpc>
            </a:pPr>
            <a:r>
              <a:rPr lang="en-US" smtClean="0"/>
              <a:t>Trong trường hợp thám mã sử dụng mọi phương tiện về cứ liệu và vật chất để thám các bản mã thì:</a:t>
            </a:r>
          </a:p>
          <a:p>
            <a:pPr lvl="1">
              <a:lnSpc>
                <a:spcPct val="90000"/>
              </a:lnSpc>
            </a:pPr>
            <a:r>
              <a:rPr lang="en-US" smtClean="0"/>
              <a:t>Lượng trung bình TT thám được hay giá trị trung bình của tỷ số giữa TT thám được và toàn bộ lượng TT đã mã hóa và được đem thám nhỏ hơn </a:t>
            </a:r>
            <a:r>
              <a:rPr lang="el-GR" smtClean="0">
                <a:cs typeface="Arial" charset="0"/>
              </a:rPr>
              <a:t>Π</a:t>
            </a:r>
            <a:r>
              <a:rPr lang="en-US" baseline="-25000" smtClean="0">
                <a:cs typeface="Arial" charset="0"/>
              </a:rPr>
              <a:t>0</a:t>
            </a:r>
            <a:r>
              <a:rPr lang="en-US" smtClean="0"/>
              <a:t> </a:t>
            </a:r>
          </a:p>
          <a:p>
            <a:pPr lvl="1">
              <a:lnSpc>
                <a:spcPct val="90000"/>
              </a:lnSpc>
            </a:pPr>
            <a:r>
              <a:rPr lang="en-US" smtClean="0"/>
              <a:t>Số phép thử cơ bản lớn hơn Q</a:t>
            </a:r>
            <a:r>
              <a:rPr lang="en-US" baseline="-25000" smtClean="0"/>
              <a:t>0</a:t>
            </a:r>
          </a:p>
          <a:p>
            <a:pPr lvl="1">
              <a:lnSpc>
                <a:spcPct val="90000"/>
              </a:lnSpc>
            </a:pPr>
            <a:r>
              <a:rPr lang="en-US" smtClean="0"/>
              <a:t>Lượng TT thám được nhỏ hơn V.</a:t>
            </a:r>
          </a:p>
        </p:txBody>
      </p:sp>
    </p:spTree>
    <p:extLst>
      <p:ext uri="{BB962C8B-B14F-4D97-AF65-F5344CB8AC3E}">
        <p14:creationId xmlns:p14="http://schemas.microsoft.com/office/powerpoint/2010/main" val="10305438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3075">
                                            <p:txEl>
                                              <p:pRg st="0" end="0"/>
                                            </p:txEl>
                                          </p:spTgt>
                                        </p:tgtEl>
                                        <p:attrNameLst>
                                          <p:attrName>style.visibility</p:attrName>
                                        </p:attrNameLst>
                                      </p:cBhvr>
                                      <p:to>
                                        <p:strVal val="visible"/>
                                      </p:to>
                                    </p:set>
                                    <p:animEffect transition="in" filter="blinds(horizontal)">
                                      <p:cBhvr>
                                        <p:cTn id="7" dur="500"/>
                                        <p:tgtEl>
                                          <p:spTgt spid="643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43075">
                                            <p:txEl>
                                              <p:pRg st="1" end="1"/>
                                            </p:txEl>
                                          </p:spTgt>
                                        </p:tgtEl>
                                        <p:attrNameLst>
                                          <p:attrName>style.visibility</p:attrName>
                                        </p:attrNameLst>
                                      </p:cBhvr>
                                      <p:to>
                                        <p:strVal val="visible"/>
                                      </p:to>
                                    </p:set>
                                    <p:animEffect transition="in" filter="blinds(horizontal)">
                                      <p:cBhvr>
                                        <p:cTn id="12" dur="500"/>
                                        <p:tgtEl>
                                          <p:spTgt spid="6430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43075">
                                            <p:txEl>
                                              <p:pRg st="2" end="2"/>
                                            </p:txEl>
                                          </p:spTgt>
                                        </p:tgtEl>
                                        <p:attrNameLst>
                                          <p:attrName>style.visibility</p:attrName>
                                        </p:attrNameLst>
                                      </p:cBhvr>
                                      <p:to>
                                        <p:strVal val="visible"/>
                                      </p:to>
                                    </p:set>
                                    <p:animEffect transition="in" filter="blinds(horizontal)">
                                      <p:cBhvr>
                                        <p:cTn id="17" dur="500"/>
                                        <p:tgtEl>
                                          <p:spTgt spid="6430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43075">
                                            <p:txEl>
                                              <p:pRg st="3" end="3"/>
                                            </p:txEl>
                                          </p:spTgt>
                                        </p:tgtEl>
                                        <p:attrNameLst>
                                          <p:attrName>style.visibility</p:attrName>
                                        </p:attrNameLst>
                                      </p:cBhvr>
                                      <p:to>
                                        <p:strVal val="visible"/>
                                      </p:to>
                                    </p:set>
                                    <p:animEffect transition="in" filter="blinds(horizontal)">
                                      <p:cBhvr>
                                        <p:cTn id="22" dur="500"/>
                                        <p:tgtEl>
                                          <p:spTgt spid="6430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43075">
                                            <p:txEl>
                                              <p:pRg st="4" end="4"/>
                                            </p:txEl>
                                          </p:spTgt>
                                        </p:tgtEl>
                                        <p:attrNameLst>
                                          <p:attrName>style.visibility</p:attrName>
                                        </p:attrNameLst>
                                      </p:cBhvr>
                                      <p:to>
                                        <p:strVal val="visible"/>
                                      </p:to>
                                    </p:set>
                                    <p:animEffect transition="in" filter="blinds(horizontal)">
                                      <p:cBhvr>
                                        <p:cTn id="27" dur="500"/>
                                        <p:tgtEl>
                                          <p:spTgt spid="6430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3"/>
          <p:cNvSpPr>
            <a:spLocks noGrp="1" noChangeArrowheads="1"/>
          </p:cNvSpPr>
          <p:nvPr>
            <p:ph type="body" idx="1"/>
          </p:nvPr>
        </p:nvSpPr>
        <p:spPr/>
        <p:txBody>
          <a:bodyPr/>
          <a:lstStyle/>
          <a:p>
            <a:r>
              <a:rPr lang="en-US" smtClean="0"/>
              <a:t>Đòi hỏi về mật mã</a:t>
            </a:r>
          </a:p>
          <a:p>
            <a:r>
              <a:rPr lang="en-US" smtClean="0">
                <a:solidFill>
                  <a:srgbClr val="CC0000"/>
                </a:solidFill>
              </a:rPr>
              <a:t>Đòi hỏi về độ tin cậy</a:t>
            </a:r>
          </a:p>
          <a:p>
            <a:r>
              <a:rPr lang="en-US" smtClean="0"/>
              <a:t>Đòi hỏi về bảo vệ chống tiếp cận trái phép</a:t>
            </a:r>
          </a:p>
          <a:p>
            <a:r>
              <a:rPr lang="en-US" smtClean="0"/>
              <a:t>Đòi hỏi tới môi trường thiết kế, sản xuất và hoạt động của thiết bị mật mã</a:t>
            </a:r>
          </a:p>
        </p:txBody>
      </p:sp>
      <p:sp>
        <p:nvSpPr>
          <p:cNvPr id="2" name="Title 1"/>
          <p:cNvSpPr>
            <a:spLocks noGrp="1"/>
          </p:cNvSpPr>
          <p:nvPr>
            <p:ph type="title"/>
          </p:nvPr>
        </p:nvSpPr>
        <p:spPr/>
        <p:txBody>
          <a:bodyPr/>
          <a:lstStyle/>
          <a:p>
            <a:endParaRPr lang="en-US"/>
          </a:p>
        </p:txBody>
      </p:sp>
      <p:sp>
        <p:nvSpPr>
          <p:cNvPr id="6" name="Rectangle 2"/>
          <p:cNvSpPr txBox="1">
            <a:spLocks noChangeArrowheads="1"/>
          </p:cNvSpPr>
          <p:nvPr/>
        </p:nvSpPr>
        <p:spPr bwMode="auto">
          <a:xfrm>
            <a:off x="152400" y="152400"/>
            <a:ext cx="8610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lvl1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r>
              <a:rPr lang="en-US" smtClean="0"/>
              <a:t>Nguyên lý cơ bản của thiết bị mật mã</a:t>
            </a:r>
            <a:endParaRPr lang="en-US" dirty="0" smtClean="0"/>
          </a:p>
        </p:txBody>
      </p:sp>
    </p:spTree>
    <p:extLst>
      <p:ext uri="{BB962C8B-B14F-4D97-AF65-F5344CB8AC3E}">
        <p14:creationId xmlns:p14="http://schemas.microsoft.com/office/powerpoint/2010/main" val="20447301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en-US" sz="3600" smtClean="0"/>
              <a:t>Đòi hỏi về độ tin cậy</a:t>
            </a:r>
          </a:p>
        </p:txBody>
      </p:sp>
      <p:sp>
        <p:nvSpPr>
          <p:cNvPr id="645123" name="Rectangle 3"/>
          <p:cNvSpPr>
            <a:spLocks noGrp="1" noChangeArrowheads="1"/>
          </p:cNvSpPr>
          <p:nvPr>
            <p:ph type="body" idx="1"/>
          </p:nvPr>
        </p:nvSpPr>
        <p:spPr/>
        <p:txBody>
          <a:bodyPr/>
          <a:lstStyle/>
          <a:p>
            <a:r>
              <a:rPr lang="en-US" smtClean="0"/>
              <a:t>TBMM phải có độ tin cậy xác định để cho phép các biến đổi mật mã được áp dụng</a:t>
            </a:r>
          </a:p>
          <a:p>
            <a:r>
              <a:rPr lang="en-US" smtClean="0"/>
              <a:t>Độ tin cậy này được đo bằng giá trị cho phép của xác suất hỏng hóc hay ngừng trệ có thể dẫn đến làm cho kẻ địch nhận được các TT phụ về phép biến đổi MM.</a:t>
            </a:r>
          </a:p>
        </p:txBody>
      </p:sp>
    </p:spTree>
    <p:extLst>
      <p:ext uri="{BB962C8B-B14F-4D97-AF65-F5344CB8AC3E}">
        <p14:creationId xmlns:p14="http://schemas.microsoft.com/office/powerpoint/2010/main" val="36725004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5123">
                                            <p:txEl>
                                              <p:pRg st="0" end="0"/>
                                            </p:txEl>
                                          </p:spTgt>
                                        </p:tgtEl>
                                        <p:attrNameLst>
                                          <p:attrName>style.visibility</p:attrName>
                                        </p:attrNameLst>
                                      </p:cBhvr>
                                      <p:to>
                                        <p:strVal val="visible"/>
                                      </p:to>
                                    </p:set>
                                    <p:animEffect transition="in" filter="blinds(horizontal)">
                                      <p:cBhvr>
                                        <p:cTn id="7" dur="500"/>
                                        <p:tgtEl>
                                          <p:spTgt spid="6451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45123">
                                            <p:txEl>
                                              <p:pRg st="1" end="1"/>
                                            </p:txEl>
                                          </p:spTgt>
                                        </p:tgtEl>
                                        <p:attrNameLst>
                                          <p:attrName>style.visibility</p:attrName>
                                        </p:attrNameLst>
                                      </p:cBhvr>
                                      <p:to>
                                        <p:strVal val="visible"/>
                                      </p:to>
                                    </p:set>
                                    <p:animEffect transition="in" filter="blinds(horizontal)">
                                      <p:cBhvr>
                                        <p:cTn id="12" dur="500"/>
                                        <p:tgtEl>
                                          <p:spTgt spid="6451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p:cNvSpPr>
            <a:spLocks noGrp="1" noChangeArrowheads="1"/>
          </p:cNvSpPr>
          <p:nvPr>
            <p:ph type="body" idx="1"/>
          </p:nvPr>
        </p:nvSpPr>
        <p:spPr/>
        <p:txBody>
          <a:bodyPr/>
          <a:lstStyle/>
          <a:p>
            <a:r>
              <a:rPr lang="en-US" smtClean="0"/>
              <a:t>Đòi hỏi về mật mã</a:t>
            </a:r>
          </a:p>
          <a:p>
            <a:r>
              <a:rPr lang="en-US" smtClean="0"/>
              <a:t>Đòi hỏi về độ tin cậy</a:t>
            </a:r>
          </a:p>
          <a:p>
            <a:r>
              <a:rPr lang="en-US" b="1" smtClean="0">
                <a:solidFill>
                  <a:srgbClr val="CC0000"/>
                </a:solidFill>
              </a:rPr>
              <a:t>Đòi hỏi về bảo vệ chống tiếp cận trái phép</a:t>
            </a:r>
          </a:p>
          <a:p>
            <a:r>
              <a:rPr lang="en-US" smtClean="0"/>
              <a:t>Đòi hỏi tới môi trường thiết kế, sản xuất và hoạt động của thiết bị mật mã</a:t>
            </a:r>
          </a:p>
        </p:txBody>
      </p:sp>
      <p:sp>
        <p:nvSpPr>
          <p:cNvPr id="2" name="Title 1"/>
          <p:cNvSpPr>
            <a:spLocks noGrp="1"/>
          </p:cNvSpPr>
          <p:nvPr>
            <p:ph type="title"/>
          </p:nvPr>
        </p:nvSpPr>
        <p:spPr/>
        <p:txBody>
          <a:bodyPr/>
          <a:lstStyle/>
          <a:p>
            <a:endParaRPr lang="en-US"/>
          </a:p>
        </p:txBody>
      </p:sp>
      <p:sp>
        <p:nvSpPr>
          <p:cNvPr id="6" name="Rectangle 2"/>
          <p:cNvSpPr txBox="1">
            <a:spLocks noChangeArrowheads="1"/>
          </p:cNvSpPr>
          <p:nvPr/>
        </p:nvSpPr>
        <p:spPr bwMode="auto">
          <a:xfrm>
            <a:off x="152400" y="152400"/>
            <a:ext cx="8610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lvl1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r>
              <a:rPr lang="en-US" smtClean="0"/>
              <a:t>Nguyên lý cơ bản của thiết bị mật mã</a:t>
            </a:r>
            <a:endParaRPr lang="en-US" dirty="0" smtClean="0"/>
          </a:p>
        </p:txBody>
      </p:sp>
    </p:spTree>
    <p:extLst>
      <p:ext uri="{BB962C8B-B14F-4D97-AF65-F5344CB8AC3E}">
        <p14:creationId xmlns:p14="http://schemas.microsoft.com/office/powerpoint/2010/main" val="11598682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179388" y="115888"/>
            <a:ext cx="8736012" cy="576262"/>
          </a:xfrm>
        </p:spPr>
        <p:txBody>
          <a:bodyPr/>
          <a:lstStyle/>
          <a:p>
            <a:r>
              <a:rPr lang="en-US" dirty="0" err="1" smtClean="0"/>
              <a:t>Đòi</a:t>
            </a:r>
            <a:r>
              <a:rPr lang="en-US" dirty="0" smtClean="0"/>
              <a:t> </a:t>
            </a:r>
            <a:r>
              <a:rPr lang="en-US" dirty="0" err="1" smtClean="0"/>
              <a:t>hỏi</a:t>
            </a:r>
            <a:r>
              <a:rPr lang="en-US" dirty="0" smtClean="0"/>
              <a:t> </a:t>
            </a:r>
            <a:r>
              <a:rPr lang="en-US" dirty="0" err="1" smtClean="0"/>
              <a:t>về</a:t>
            </a:r>
            <a:r>
              <a:rPr lang="en-US" dirty="0" smtClean="0"/>
              <a:t> </a:t>
            </a:r>
            <a:r>
              <a:rPr lang="en-US" dirty="0" err="1" smtClean="0"/>
              <a:t>bảo</a:t>
            </a:r>
            <a:r>
              <a:rPr lang="en-US" dirty="0" smtClean="0"/>
              <a:t> </a:t>
            </a:r>
            <a:r>
              <a:rPr lang="en-US" dirty="0" err="1" smtClean="0"/>
              <a:t>vệ</a:t>
            </a:r>
            <a:r>
              <a:rPr lang="en-US" dirty="0" smtClean="0"/>
              <a:t> </a:t>
            </a:r>
            <a:r>
              <a:rPr lang="en-US" dirty="0" err="1" smtClean="0"/>
              <a:t>chống</a:t>
            </a:r>
            <a:r>
              <a:rPr lang="en-US" dirty="0" smtClean="0"/>
              <a:t> </a:t>
            </a:r>
            <a:r>
              <a:rPr lang="en-US" dirty="0" err="1" smtClean="0"/>
              <a:t>tiếp</a:t>
            </a:r>
            <a:r>
              <a:rPr lang="en-US" dirty="0" smtClean="0"/>
              <a:t> </a:t>
            </a:r>
            <a:r>
              <a:rPr lang="en-US" dirty="0" err="1" smtClean="0"/>
              <a:t>cận</a:t>
            </a:r>
            <a:r>
              <a:rPr lang="en-US" dirty="0" smtClean="0"/>
              <a:t> </a:t>
            </a:r>
            <a:r>
              <a:rPr lang="en-US" dirty="0" err="1" smtClean="0"/>
              <a:t>trái</a:t>
            </a:r>
            <a:r>
              <a:rPr lang="en-US" dirty="0" smtClean="0"/>
              <a:t> </a:t>
            </a:r>
            <a:r>
              <a:rPr lang="en-US" dirty="0" err="1" smtClean="0"/>
              <a:t>phép</a:t>
            </a:r>
            <a:endParaRPr lang="en-US" dirty="0" smtClean="0"/>
          </a:p>
        </p:txBody>
      </p:sp>
      <p:sp>
        <p:nvSpPr>
          <p:cNvPr id="618499" name="Rectangle 3"/>
          <p:cNvSpPr>
            <a:spLocks noGrp="1" noChangeArrowheads="1"/>
          </p:cNvSpPr>
          <p:nvPr>
            <p:ph type="body" idx="1"/>
          </p:nvPr>
        </p:nvSpPr>
        <p:spPr/>
        <p:txBody>
          <a:bodyPr/>
          <a:lstStyle/>
          <a:p>
            <a:r>
              <a:rPr lang="en-US" smtClean="0"/>
              <a:t>Các cơ chế bảo vệ chống tiếp cận trái phép</a:t>
            </a:r>
          </a:p>
          <a:p>
            <a:pPr lvl="1"/>
            <a:r>
              <a:rPr lang="en-US" smtClean="0"/>
              <a:t>Nhận dạng và xác thực người dùng và các chủ thể tiếp cận (chương trình, quá trình)</a:t>
            </a:r>
          </a:p>
          <a:p>
            <a:pPr lvl="1"/>
            <a:r>
              <a:rPr lang="en-US" smtClean="0"/>
              <a:t>Kiểm soát tiếp cận</a:t>
            </a:r>
          </a:p>
          <a:p>
            <a:pPr lvl="1"/>
            <a:r>
              <a:rPr lang="en-US" smtClean="0"/>
              <a:t>Bảo đảm tính toàn vẹn</a:t>
            </a:r>
          </a:p>
          <a:p>
            <a:pPr lvl="1"/>
            <a:r>
              <a:rPr lang="en-US" smtClean="0"/>
              <a:t>Đăng ký và kiểm toán.</a:t>
            </a:r>
            <a:r>
              <a:rPr lang="en-US" sz="2200" smtClean="0"/>
              <a:t> </a:t>
            </a:r>
          </a:p>
        </p:txBody>
      </p:sp>
    </p:spTree>
    <p:extLst>
      <p:ext uri="{BB962C8B-B14F-4D97-AF65-F5344CB8AC3E}">
        <p14:creationId xmlns:p14="http://schemas.microsoft.com/office/powerpoint/2010/main" val="1791918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8499">
                                            <p:txEl>
                                              <p:pRg st="0" end="0"/>
                                            </p:txEl>
                                          </p:spTgt>
                                        </p:tgtEl>
                                        <p:attrNameLst>
                                          <p:attrName>style.visibility</p:attrName>
                                        </p:attrNameLst>
                                      </p:cBhvr>
                                      <p:to>
                                        <p:strVal val="visible"/>
                                      </p:to>
                                    </p:set>
                                    <p:animEffect transition="in" filter="blinds(horizontal)">
                                      <p:cBhvr>
                                        <p:cTn id="7" dur="500"/>
                                        <p:tgtEl>
                                          <p:spTgt spid="6184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8499">
                                            <p:txEl>
                                              <p:pRg st="1" end="1"/>
                                            </p:txEl>
                                          </p:spTgt>
                                        </p:tgtEl>
                                        <p:attrNameLst>
                                          <p:attrName>style.visibility</p:attrName>
                                        </p:attrNameLst>
                                      </p:cBhvr>
                                      <p:to>
                                        <p:strVal val="visible"/>
                                      </p:to>
                                    </p:set>
                                    <p:animEffect transition="in" filter="blinds(horizontal)">
                                      <p:cBhvr>
                                        <p:cTn id="12" dur="500"/>
                                        <p:tgtEl>
                                          <p:spTgt spid="6184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8499">
                                            <p:txEl>
                                              <p:pRg st="2" end="2"/>
                                            </p:txEl>
                                          </p:spTgt>
                                        </p:tgtEl>
                                        <p:attrNameLst>
                                          <p:attrName>style.visibility</p:attrName>
                                        </p:attrNameLst>
                                      </p:cBhvr>
                                      <p:to>
                                        <p:strVal val="visible"/>
                                      </p:to>
                                    </p:set>
                                    <p:animEffect transition="in" filter="blinds(horizontal)">
                                      <p:cBhvr>
                                        <p:cTn id="17" dur="500"/>
                                        <p:tgtEl>
                                          <p:spTgt spid="6184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8499">
                                            <p:txEl>
                                              <p:pRg st="3" end="3"/>
                                            </p:txEl>
                                          </p:spTgt>
                                        </p:tgtEl>
                                        <p:attrNameLst>
                                          <p:attrName>style.visibility</p:attrName>
                                        </p:attrNameLst>
                                      </p:cBhvr>
                                      <p:to>
                                        <p:strVal val="visible"/>
                                      </p:to>
                                    </p:set>
                                    <p:animEffect transition="in" filter="blinds(horizontal)">
                                      <p:cBhvr>
                                        <p:cTn id="22" dur="500"/>
                                        <p:tgtEl>
                                          <p:spTgt spid="6184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8499">
                                            <p:txEl>
                                              <p:pRg st="4" end="4"/>
                                            </p:txEl>
                                          </p:spTgt>
                                        </p:tgtEl>
                                        <p:attrNameLst>
                                          <p:attrName>style.visibility</p:attrName>
                                        </p:attrNameLst>
                                      </p:cBhvr>
                                      <p:to>
                                        <p:strVal val="visible"/>
                                      </p:to>
                                    </p:set>
                                    <p:animEffect transition="in" filter="blinds(horizontal)">
                                      <p:cBhvr>
                                        <p:cTn id="27" dur="500"/>
                                        <p:tgtEl>
                                          <p:spTgt spid="6184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179388" y="115888"/>
            <a:ext cx="8736012" cy="576262"/>
          </a:xfrm>
        </p:spPr>
        <p:txBody>
          <a:bodyPr/>
          <a:lstStyle/>
          <a:p>
            <a:r>
              <a:rPr lang="en-US" sz="3600" dirty="0" err="1" smtClean="0"/>
              <a:t>Nguyên</a:t>
            </a:r>
            <a:r>
              <a:rPr lang="en-US" sz="3600" dirty="0" smtClean="0"/>
              <a:t> </a:t>
            </a:r>
            <a:r>
              <a:rPr lang="en-US" sz="3600" dirty="0" err="1" smtClean="0"/>
              <a:t>lý</a:t>
            </a:r>
            <a:r>
              <a:rPr lang="en-US" sz="3600" dirty="0" smtClean="0"/>
              <a:t> </a:t>
            </a:r>
            <a:r>
              <a:rPr lang="en-US" sz="3600" dirty="0" err="1" smtClean="0"/>
              <a:t>cơ</a:t>
            </a:r>
            <a:r>
              <a:rPr lang="en-US" sz="3600" dirty="0" smtClean="0"/>
              <a:t> </a:t>
            </a:r>
            <a:r>
              <a:rPr lang="en-US" sz="3600" dirty="0" err="1" smtClean="0"/>
              <a:t>bản</a:t>
            </a:r>
            <a:r>
              <a:rPr lang="en-US" sz="3600" dirty="0" smtClean="0"/>
              <a:t> </a:t>
            </a:r>
            <a:r>
              <a:rPr lang="en-US" sz="3600" dirty="0" err="1" smtClean="0"/>
              <a:t>của</a:t>
            </a:r>
            <a:r>
              <a:rPr lang="en-US" sz="3600" dirty="0" smtClean="0"/>
              <a:t> </a:t>
            </a:r>
            <a:r>
              <a:rPr lang="en-US" sz="3600" dirty="0" err="1" smtClean="0"/>
              <a:t>thiết</a:t>
            </a:r>
            <a:r>
              <a:rPr lang="en-US" sz="3600" dirty="0" smtClean="0"/>
              <a:t> </a:t>
            </a:r>
            <a:r>
              <a:rPr lang="en-US" sz="3600" dirty="0" err="1" smtClean="0"/>
              <a:t>bị</a:t>
            </a:r>
            <a:r>
              <a:rPr lang="en-US" sz="3600" dirty="0" smtClean="0"/>
              <a:t> </a:t>
            </a:r>
            <a:r>
              <a:rPr lang="en-US" sz="3600" dirty="0" err="1" smtClean="0"/>
              <a:t>mật</a:t>
            </a:r>
            <a:r>
              <a:rPr lang="en-US" sz="3600" dirty="0" smtClean="0"/>
              <a:t> </a:t>
            </a:r>
            <a:r>
              <a:rPr lang="en-US" sz="3600" dirty="0" err="1" smtClean="0"/>
              <a:t>mã</a:t>
            </a:r>
            <a:endParaRPr lang="en-US" sz="3600" dirty="0" smtClean="0"/>
          </a:p>
        </p:txBody>
      </p:sp>
      <p:sp>
        <p:nvSpPr>
          <p:cNvPr id="25604" name="Rectangle 3"/>
          <p:cNvSpPr>
            <a:spLocks noGrp="1" noChangeArrowheads="1"/>
          </p:cNvSpPr>
          <p:nvPr>
            <p:ph type="body" idx="1"/>
          </p:nvPr>
        </p:nvSpPr>
        <p:spPr/>
        <p:txBody>
          <a:bodyPr/>
          <a:lstStyle/>
          <a:p>
            <a:r>
              <a:rPr lang="en-US" smtClean="0"/>
              <a:t>Đòi hỏi về mật mã</a:t>
            </a:r>
          </a:p>
          <a:p>
            <a:r>
              <a:rPr lang="en-US" smtClean="0"/>
              <a:t>Đòi hỏi về độ tin cậy</a:t>
            </a:r>
          </a:p>
          <a:p>
            <a:r>
              <a:rPr lang="en-US" smtClean="0"/>
              <a:t>Đòi hỏi về bảo vệ chống tiếp cận trái phép</a:t>
            </a:r>
          </a:p>
          <a:p>
            <a:r>
              <a:rPr lang="en-US" b="1" smtClean="0">
                <a:solidFill>
                  <a:srgbClr val="CC0000"/>
                </a:solidFill>
              </a:rPr>
              <a:t>Đòi hỏi tới môi trường thiết kế, sản xuất và hoạt động của thiết bị mật mã</a:t>
            </a:r>
          </a:p>
        </p:txBody>
      </p:sp>
    </p:spTree>
    <p:extLst>
      <p:ext uri="{BB962C8B-B14F-4D97-AF65-F5344CB8AC3E}">
        <p14:creationId xmlns:p14="http://schemas.microsoft.com/office/powerpoint/2010/main" val="40035959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179388" y="115888"/>
            <a:ext cx="8812212" cy="576262"/>
          </a:xfrm>
        </p:spPr>
        <p:txBody>
          <a:bodyPr/>
          <a:lstStyle/>
          <a:p>
            <a:r>
              <a:rPr lang="en-US" sz="3000" dirty="0" err="1" smtClean="0"/>
              <a:t>Đòi</a:t>
            </a:r>
            <a:r>
              <a:rPr lang="en-US" sz="3000" dirty="0" smtClean="0"/>
              <a:t> </a:t>
            </a:r>
            <a:r>
              <a:rPr lang="en-US" sz="3000" dirty="0" err="1" smtClean="0"/>
              <a:t>hỏi</a:t>
            </a:r>
            <a:r>
              <a:rPr lang="en-US" sz="3000" dirty="0" smtClean="0"/>
              <a:t> </a:t>
            </a:r>
            <a:r>
              <a:rPr lang="en-US" sz="3000" dirty="0" err="1" smtClean="0"/>
              <a:t>tới</a:t>
            </a:r>
            <a:r>
              <a:rPr lang="en-US" sz="3000" dirty="0" smtClean="0"/>
              <a:t> </a:t>
            </a:r>
            <a:r>
              <a:rPr lang="en-US" sz="3000" dirty="0" err="1" smtClean="0"/>
              <a:t>môi</a:t>
            </a:r>
            <a:r>
              <a:rPr lang="en-US" sz="3000" dirty="0" smtClean="0"/>
              <a:t> </a:t>
            </a:r>
            <a:r>
              <a:rPr lang="en-US" sz="3000" dirty="0" err="1" smtClean="0"/>
              <a:t>trường</a:t>
            </a:r>
            <a:r>
              <a:rPr lang="en-US" sz="3000" dirty="0" smtClean="0"/>
              <a:t> </a:t>
            </a:r>
            <a:r>
              <a:rPr lang="en-US" sz="3000" dirty="0" err="1" smtClean="0"/>
              <a:t>thiết</a:t>
            </a:r>
            <a:r>
              <a:rPr lang="en-US" sz="3000" dirty="0" smtClean="0"/>
              <a:t> </a:t>
            </a:r>
            <a:r>
              <a:rPr lang="en-US" sz="3000" dirty="0" err="1" smtClean="0"/>
              <a:t>kế</a:t>
            </a:r>
            <a:r>
              <a:rPr lang="en-US" sz="3000" dirty="0" smtClean="0"/>
              <a:t>, </a:t>
            </a:r>
            <a:r>
              <a:rPr lang="en-US" sz="3000" dirty="0" err="1" smtClean="0"/>
              <a:t>sản</a:t>
            </a:r>
            <a:r>
              <a:rPr lang="en-US" sz="3000" dirty="0" smtClean="0"/>
              <a:t> </a:t>
            </a:r>
            <a:r>
              <a:rPr lang="en-US" sz="3000" dirty="0" err="1" smtClean="0"/>
              <a:t>xuất</a:t>
            </a:r>
            <a:r>
              <a:rPr lang="en-US" sz="3000" dirty="0" smtClean="0"/>
              <a:t> </a:t>
            </a:r>
            <a:r>
              <a:rPr lang="en-US" sz="3000" dirty="0" err="1" smtClean="0"/>
              <a:t>và</a:t>
            </a:r>
            <a:r>
              <a:rPr lang="en-US" sz="3000" dirty="0" smtClean="0"/>
              <a:t> </a:t>
            </a:r>
            <a:r>
              <a:rPr lang="en-US" sz="3000" dirty="0" err="1" smtClean="0"/>
              <a:t>hoạt</a:t>
            </a:r>
            <a:r>
              <a:rPr lang="en-US" sz="3000" dirty="0" smtClean="0"/>
              <a:t> </a:t>
            </a:r>
            <a:r>
              <a:rPr lang="en-US" sz="3000" dirty="0" err="1" smtClean="0"/>
              <a:t>động</a:t>
            </a:r>
            <a:r>
              <a:rPr lang="en-US" sz="3000" dirty="0" smtClean="0"/>
              <a:t> </a:t>
            </a:r>
            <a:r>
              <a:rPr lang="en-US" sz="3000" dirty="0" err="1" smtClean="0"/>
              <a:t>của</a:t>
            </a:r>
            <a:r>
              <a:rPr lang="en-US" sz="3000" dirty="0" smtClean="0"/>
              <a:t> </a:t>
            </a:r>
            <a:r>
              <a:rPr lang="en-US" sz="3000" dirty="0" err="1" smtClean="0"/>
              <a:t>thiết</a:t>
            </a:r>
            <a:r>
              <a:rPr lang="en-US" sz="3000" dirty="0" smtClean="0"/>
              <a:t> </a:t>
            </a:r>
            <a:r>
              <a:rPr lang="en-US" sz="3000" dirty="0" err="1" smtClean="0"/>
              <a:t>bị</a:t>
            </a:r>
            <a:r>
              <a:rPr lang="en-US" sz="3000" dirty="0" smtClean="0"/>
              <a:t> </a:t>
            </a:r>
            <a:r>
              <a:rPr lang="en-US" sz="3000" dirty="0" err="1" smtClean="0"/>
              <a:t>mật</a:t>
            </a:r>
            <a:r>
              <a:rPr lang="en-US" sz="3000" dirty="0" smtClean="0"/>
              <a:t> </a:t>
            </a:r>
            <a:r>
              <a:rPr lang="en-US" sz="3000" dirty="0" err="1" smtClean="0"/>
              <a:t>mã</a:t>
            </a:r>
            <a:endParaRPr lang="en-US" sz="3000" dirty="0" smtClean="0"/>
          </a:p>
        </p:txBody>
      </p:sp>
      <p:sp>
        <p:nvSpPr>
          <p:cNvPr id="619523" name="Rectangle 3"/>
          <p:cNvSpPr>
            <a:spLocks noGrp="1" noChangeArrowheads="1"/>
          </p:cNvSpPr>
          <p:nvPr>
            <p:ph type="body" idx="1"/>
          </p:nvPr>
        </p:nvSpPr>
        <p:spPr>
          <a:xfrm>
            <a:off x="457200" y="1143000"/>
            <a:ext cx="8305800" cy="5410200"/>
          </a:xfrm>
        </p:spPr>
        <p:txBody>
          <a:bodyPr/>
          <a:lstStyle/>
          <a:p>
            <a:r>
              <a:rPr lang="en-US" sz="2400" smtClean="0"/>
              <a:t>Thành phần (cấu tạo) và nhiệm vụ của các thiết bị – chương trình phải cố định và không thay đổi trong suốt cả thời gian </a:t>
            </a:r>
          </a:p>
          <a:p>
            <a:r>
              <a:rPr lang="en-US" sz="2400" smtClean="0"/>
              <a:t>Không được có các chức năng nhiệm vụ (công khai và bí mật) khác, cho phép </a:t>
            </a:r>
          </a:p>
          <a:p>
            <a:pPr lvl="1"/>
            <a:r>
              <a:rPr lang="en-US" sz="2200" smtClean="0"/>
              <a:t>Làm biến dạng hoặc thay đổi thuật toán làm việc của TBMM trong quá trình thiết kế, sản xuất và sử dụng; kể cả các luồng TT hoặc kiểm soát và các quá trình liên quan tới hoạt động của TBMM</a:t>
            </a:r>
          </a:p>
          <a:p>
            <a:pPr lvl="1"/>
            <a:r>
              <a:rPr lang="en-US" sz="2200" smtClean="0"/>
              <a:t>Thực hiện tiếp cận (đọc và thay đổi) của những người lạ mặt (hoặc là các quá trình do họ điều khiển); tới các khoá mật mã và các TT nhận dạng và xác thực</a:t>
            </a:r>
          </a:p>
          <a:p>
            <a:pPr lvl="1"/>
            <a:r>
              <a:rPr lang="en-US" sz="2200" smtClean="0"/>
              <a:t>Nhận được tiếp cận tới TT mật của TBMM. </a:t>
            </a:r>
          </a:p>
        </p:txBody>
      </p:sp>
    </p:spTree>
    <p:extLst>
      <p:ext uri="{BB962C8B-B14F-4D97-AF65-F5344CB8AC3E}">
        <p14:creationId xmlns:p14="http://schemas.microsoft.com/office/powerpoint/2010/main" val="41669936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9523">
                                            <p:txEl>
                                              <p:pRg st="0" end="0"/>
                                            </p:txEl>
                                          </p:spTgt>
                                        </p:tgtEl>
                                        <p:attrNameLst>
                                          <p:attrName>style.visibility</p:attrName>
                                        </p:attrNameLst>
                                      </p:cBhvr>
                                      <p:to>
                                        <p:strVal val="visible"/>
                                      </p:to>
                                    </p:set>
                                    <p:animEffect transition="in" filter="blinds(horizontal)">
                                      <p:cBhvr>
                                        <p:cTn id="7" dur="500"/>
                                        <p:tgtEl>
                                          <p:spTgt spid="6195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9523">
                                            <p:txEl>
                                              <p:pRg st="1" end="1"/>
                                            </p:txEl>
                                          </p:spTgt>
                                        </p:tgtEl>
                                        <p:attrNameLst>
                                          <p:attrName>style.visibility</p:attrName>
                                        </p:attrNameLst>
                                      </p:cBhvr>
                                      <p:to>
                                        <p:strVal val="visible"/>
                                      </p:to>
                                    </p:set>
                                    <p:animEffect transition="in" filter="blinds(horizontal)">
                                      <p:cBhvr>
                                        <p:cTn id="12" dur="500"/>
                                        <p:tgtEl>
                                          <p:spTgt spid="6195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9523">
                                            <p:txEl>
                                              <p:pRg st="2" end="2"/>
                                            </p:txEl>
                                          </p:spTgt>
                                        </p:tgtEl>
                                        <p:attrNameLst>
                                          <p:attrName>style.visibility</p:attrName>
                                        </p:attrNameLst>
                                      </p:cBhvr>
                                      <p:to>
                                        <p:strVal val="visible"/>
                                      </p:to>
                                    </p:set>
                                    <p:animEffect transition="in" filter="blinds(horizontal)">
                                      <p:cBhvr>
                                        <p:cTn id="17" dur="500"/>
                                        <p:tgtEl>
                                          <p:spTgt spid="6195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9523">
                                            <p:txEl>
                                              <p:pRg st="3" end="3"/>
                                            </p:txEl>
                                          </p:spTgt>
                                        </p:tgtEl>
                                        <p:attrNameLst>
                                          <p:attrName>style.visibility</p:attrName>
                                        </p:attrNameLst>
                                      </p:cBhvr>
                                      <p:to>
                                        <p:strVal val="visible"/>
                                      </p:to>
                                    </p:set>
                                    <p:animEffect transition="in" filter="blinds(horizontal)">
                                      <p:cBhvr>
                                        <p:cTn id="22" dur="500"/>
                                        <p:tgtEl>
                                          <p:spTgt spid="61952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9523">
                                            <p:txEl>
                                              <p:pRg st="4" end="4"/>
                                            </p:txEl>
                                          </p:spTgt>
                                        </p:tgtEl>
                                        <p:attrNameLst>
                                          <p:attrName>style.visibility</p:attrName>
                                        </p:attrNameLst>
                                      </p:cBhvr>
                                      <p:to>
                                        <p:strVal val="visible"/>
                                      </p:to>
                                    </p:set>
                                    <p:animEffect transition="in" filter="blinds(horizontal)">
                                      <p:cBhvr>
                                        <p:cTn id="27" dur="500"/>
                                        <p:tgtEl>
                                          <p:spTgt spid="6195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76200" y="304800"/>
            <a:ext cx="8763000" cy="533400"/>
          </a:xfrm>
        </p:spPr>
        <p:txBody>
          <a:bodyPr/>
          <a:lstStyle/>
          <a:p>
            <a:r>
              <a:rPr lang="en-US" sz="3600" dirty="0" smtClean="0"/>
              <a:t>2. </a:t>
            </a:r>
            <a:r>
              <a:rPr lang="en-US" sz="3600" dirty="0" err="1" smtClean="0"/>
              <a:t>Phương</a:t>
            </a:r>
            <a:r>
              <a:rPr lang="en-US" sz="3600" dirty="0" smtClean="0"/>
              <a:t> </a:t>
            </a:r>
            <a:r>
              <a:rPr lang="en-US" sz="3600" dirty="0" err="1" smtClean="0"/>
              <a:t>pháp</a:t>
            </a:r>
            <a:r>
              <a:rPr lang="en-US" sz="3600" dirty="0" smtClean="0"/>
              <a:t> </a:t>
            </a:r>
            <a:r>
              <a:rPr lang="en-US" sz="3600" dirty="0" err="1" smtClean="0"/>
              <a:t>mật</a:t>
            </a:r>
            <a:r>
              <a:rPr lang="en-US" sz="3600" dirty="0" smtClean="0"/>
              <a:t> </a:t>
            </a:r>
            <a:r>
              <a:rPr lang="en-US" sz="3600" dirty="0" err="1" smtClean="0"/>
              <a:t>mã</a:t>
            </a:r>
            <a:endParaRPr lang="en-US" sz="3600" dirty="0" smtClean="0"/>
          </a:p>
        </p:txBody>
      </p:sp>
      <p:sp>
        <p:nvSpPr>
          <p:cNvPr id="27652" name="Rectangle 3"/>
          <p:cNvSpPr>
            <a:spLocks noGrp="1" noChangeArrowheads="1"/>
          </p:cNvSpPr>
          <p:nvPr>
            <p:ph type="body" idx="1"/>
          </p:nvPr>
        </p:nvSpPr>
        <p:spPr/>
        <p:txBody>
          <a:bodyPr/>
          <a:lstStyle/>
          <a:p>
            <a:r>
              <a:rPr lang="en-US" smtClean="0"/>
              <a:t>Các nguyên lý bảo vệ thông tin bằng mật mã</a:t>
            </a:r>
          </a:p>
          <a:p>
            <a:r>
              <a:rPr lang="en-US" b="1" smtClean="0">
                <a:solidFill>
                  <a:srgbClr val="CC0000"/>
                </a:solidFill>
              </a:rPr>
              <a:t>Các vấn đề hệ thống khi áp dụng các phương pháp mật mã</a:t>
            </a:r>
          </a:p>
          <a:p>
            <a:r>
              <a:rPr lang="en-US" smtClean="0"/>
              <a:t>Bảo vệ tầng vận tải và tầng ứng dụng bằng mật mã</a:t>
            </a:r>
          </a:p>
        </p:txBody>
      </p:sp>
    </p:spTree>
    <p:extLst>
      <p:ext uri="{BB962C8B-B14F-4D97-AF65-F5344CB8AC3E}">
        <p14:creationId xmlns:p14="http://schemas.microsoft.com/office/powerpoint/2010/main" val="31805005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179388" y="115888"/>
            <a:ext cx="8812212" cy="576262"/>
          </a:xfrm>
        </p:spPr>
        <p:txBody>
          <a:bodyPr/>
          <a:lstStyle/>
          <a:p>
            <a:r>
              <a:rPr lang="en-US" sz="3600" dirty="0" err="1"/>
              <a:t>V</a:t>
            </a:r>
            <a:r>
              <a:rPr lang="en-US" sz="3600" dirty="0" err="1" smtClean="0"/>
              <a:t>ấn</a:t>
            </a:r>
            <a:r>
              <a:rPr lang="en-US" sz="3600" dirty="0" smtClean="0"/>
              <a:t> </a:t>
            </a:r>
            <a:r>
              <a:rPr lang="en-US" sz="3600" dirty="0" err="1" smtClean="0"/>
              <a:t>đề</a:t>
            </a:r>
            <a:r>
              <a:rPr lang="en-US" sz="3600" dirty="0" smtClean="0"/>
              <a:t> </a:t>
            </a:r>
            <a:r>
              <a:rPr lang="en-US" sz="3600" dirty="0" err="1" smtClean="0"/>
              <a:t>hệ</a:t>
            </a:r>
            <a:r>
              <a:rPr lang="en-US" sz="3600" dirty="0" smtClean="0"/>
              <a:t> </a:t>
            </a:r>
            <a:r>
              <a:rPr lang="en-US" sz="3600" dirty="0" err="1" smtClean="0"/>
              <a:t>thống</a:t>
            </a:r>
            <a:r>
              <a:rPr lang="en-US" sz="3600" dirty="0" smtClean="0"/>
              <a:t> </a:t>
            </a:r>
            <a:r>
              <a:rPr lang="en-US" sz="3600" dirty="0" err="1" smtClean="0"/>
              <a:t>khi</a:t>
            </a:r>
            <a:r>
              <a:rPr lang="en-US" sz="3600" dirty="0" smtClean="0"/>
              <a:t> </a:t>
            </a:r>
            <a:r>
              <a:rPr lang="en-US" sz="3600" dirty="0" err="1" smtClean="0"/>
              <a:t>áp</a:t>
            </a:r>
            <a:r>
              <a:rPr lang="en-US" sz="3600" dirty="0" smtClean="0"/>
              <a:t> </a:t>
            </a:r>
            <a:r>
              <a:rPr lang="en-US" sz="3600" dirty="0" err="1" smtClean="0"/>
              <a:t>dụng</a:t>
            </a:r>
            <a:r>
              <a:rPr lang="en-US" sz="3600" dirty="0" smtClean="0"/>
              <a:t> </a:t>
            </a:r>
            <a:r>
              <a:rPr lang="en-US" sz="3600" dirty="0" err="1" smtClean="0"/>
              <a:t>mật</a:t>
            </a:r>
            <a:r>
              <a:rPr lang="en-US" sz="3600" dirty="0" smtClean="0"/>
              <a:t> </a:t>
            </a:r>
            <a:r>
              <a:rPr lang="en-US" sz="3600" dirty="0" err="1" smtClean="0"/>
              <a:t>mã</a:t>
            </a:r>
            <a:endParaRPr lang="en-US" sz="3600" dirty="0" smtClean="0"/>
          </a:p>
        </p:txBody>
      </p:sp>
      <p:sp>
        <p:nvSpPr>
          <p:cNvPr id="621571" name="Rectangle 3"/>
          <p:cNvSpPr>
            <a:spLocks noGrp="1" noChangeArrowheads="1"/>
          </p:cNvSpPr>
          <p:nvPr>
            <p:ph type="body" idx="1"/>
          </p:nvPr>
        </p:nvSpPr>
        <p:spPr/>
        <p:txBody>
          <a:bodyPr/>
          <a:lstStyle/>
          <a:p>
            <a:r>
              <a:rPr lang="en-US" smtClean="0"/>
              <a:t>Mã hóa tĩnh</a:t>
            </a:r>
          </a:p>
          <a:p>
            <a:r>
              <a:rPr lang="en-US" smtClean="0"/>
              <a:t>Mã hóa động</a:t>
            </a:r>
          </a:p>
          <a:p>
            <a:r>
              <a:rPr lang="en-US" smtClean="0"/>
              <a:t>Phương pháp server mã hóa ứng dụng.</a:t>
            </a:r>
          </a:p>
        </p:txBody>
      </p:sp>
    </p:spTree>
    <p:extLst>
      <p:ext uri="{BB962C8B-B14F-4D97-AF65-F5344CB8AC3E}">
        <p14:creationId xmlns:p14="http://schemas.microsoft.com/office/powerpoint/2010/main" val="12701503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iterate type="lt">
                                    <p:tmPct val="0"/>
                                  </p:iterate>
                                  <p:childTnLst>
                                    <p:set>
                                      <p:cBhvr>
                                        <p:cTn id="6" dur="1" fill="hold">
                                          <p:stCondLst>
                                            <p:cond delay="0"/>
                                          </p:stCondLst>
                                        </p:cTn>
                                        <p:tgtEl>
                                          <p:spTgt spid="621571">
                                            <p:txEl>
                                              <p:pRg st="0" end="0"/>
                                            </p:txEl>
                                          </p:spTgt>
                                        </p:tgtEl>
                                        <p:attrNameLst>
                                          <p:attrName>style.visibility</p:attrName>
                                        </p:attrNameLst>
                                      </p:cBhvr>
                                      <p:to>
                                        <p:strVal val="visible"/>
                                      </p:to>
                                    </p:set>
                                    <p:animEffect transition="in" filter="blinds(horizontal)">
                                      <p:cBhvr>
                                        <p:cTn id="7" dur="500"/>
                                        <p:tgtEl>
                                          <p:spTgt spid="6215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21571">
                                            <p:txEl>
                                              <p:pRg st="1" end="1"/>
                                            </p:txEl>
                                          </p:spTgt>
                                        </p:tgtEl>
                                        <p:attrNameLst>
                                          <p:attrName>style.visibility</p:attrName>
                                        </p:attrNameLst>
                                      </p:cBhvr>
                                      <p:to>
                                        <p:strVal val="visible"/>
                                      </p:to>
                                    </p:set>
                                    <p:animEffect transition="in" filter="blinds(horizontal)">
                                      <p:cBhvr>
                                        <p:cTn id="12" dur="500"/>
                                        <p:tgtEl>
                                          <p:spTgt spid="6215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21571">
                                            <p:txEl>
                                              <p:pRg st="2" end="2"/>
                                            </p:txEl>
                                          </p:spTgt>
                                        </p:tgtEl>
                                        <p:attrNameLst>
                                          <p:attrName>style.visibility</p:attrName>
                                        </p:attrNameLst>
                                      </p:cBhvr>
                                      <p:to>
                                        <p:strVal val="visible"/>
                                      </p:to>
                                    </p:set>
                                    <p:animEffect transition="in" filter="blinds(horizontal)">
                                      <p:cBhvr>
                                        <p:cTn id="17" dur="500"/>
                                        <p:tgtEl>
                                          <p:spTgt spid="6215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0" presetClass="emph" presetSubtype="0" fill="hold" nodeType="clickEffect">
                                  <p:stCondLst>
                                    <p:cond delay="0"/>
                                  </p:stCondLst>
                                  <p:iterate type="lt">
                                    <p:tmPct val="10000"/>
                                  </p:iterate>
                                  <p:childTnLst>
                                    <p:set>
                                      <p:cBhvr override="childStyle">
                                        <p:cTn id="21" dur="250" autoRev="1" fill="hold"/>
                                        <p:tgtEl>
                                          <p:spTgt spid="621571">
                                            <p:txEl>
                                              <p:pRg st="0" end="0"/>
                                            </p:txEl>
                                          </p:spTgt>
                                        </p:tgtEl>
                                        <p:attrNameLst>
                                          <p:attrName>style.color</p:attrName>
                                        </p:attrNameLst>
                                      </p:cBhvr>
                                      <p:to>
                                        <p:clrVal>
                                          <a:srgbClr val="CC0000"/>
                                        </p:clrVal>
                                      </p:to>
                                    </p:set>
                                    <p:set>
                                      <p:cBhvr>
                                        <p:cTn id="22" dur="250" autoRev="1" fill="hold"/>
                                        <p:tgtEl>
                                          <p:spTgt spid="621571">
                                            <p:txEl>
                                              <p:pRg st="0" end="0"/>
                                            </p:txEl>
                                          </p:spTgt>
                                        </p:tgtEl>
                                        <p:attrNameLst>
                                          <p:attrName>fillcolor</p:attrName>
                                        </p:attrNameLst>
                                      </p:cBhvr>
                                      <p:to>
                                        <p:clrVal>
                                          <a:srgbClr val="CC0000"/>
                                        </p:clrVal>
                                      </p:to>
                                    </p:set>
                                    <p:set>
                                      <p:cBhvr>
                                        <p:cTn id="23" dur="250" autoRev="1" fill="hold"/>
                                        <p:tgtEl>
                                          <p:spTgt spid="621571">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en-US" sz="3600" smtClean="0"/>
              <a:t>Mã hóa tĩnh</a:t>
            </a:r>
          </a:p>
        </p:txBody>
      </p:sp>
      <p:sp>
        <p:nvSpPr>
          <p:cNvPr id="623619" name="Rectangle 3"/>
          <p:cNvSpPr>
            <a:spLocks noGrp="1" noChangeArrowheads="1"/>
          </p:cNvSpPr>
          <p:nvPr>
            <p:ph type="body" idx="1"/>
          </p:nvPr>
        </p:nvSpPr>
        <p:spPr>
          <a:xfrm>
            <a:off x="457200" y="990600"/>
            <a:ext cx="8458200" cy="5334000"/>
          </a:xfrm>
        </p:spPr>
        <p:txBody>
          <a:bodyPr/>
          <a:lstStyle/>
          <a:p>
            <a:r>
              <a:rPr lang="en-US" sz="2400" dirty="0" err="1" smtClean="0"/>
              <a:t>Cơ</a:t>
            </a:r>
            <a:r>
              <a:rPr lang="en-US" sz="2400" dirty="0" smtClean="0"/>
              <a:t> </a:t>
            </a:r>
            <a:r>
              <a:rPr lang="en-US" sz="2400" dirty="0" err="1" smtClean="0"/>
              <a:t>chế</a:t>
            </a:r>
            <a:endParaRPr lang="en-US" sz="2400" dirty="0" smtClean="0"/>
          </a:p>
          <a:p>
            <a:pPr lvl="1"/>
            <a:r>
              <a:rPr lang="en-US" sz="2200" dirty="0" err="1" smtClean="0"/>
              <a:t>Mã</a:t>
            </a:r>
            <a:r>
              <a:rPr lang="en-US" sz="2200" dirty="0" smtClean="0"/>
              <a:t> </a:t>
            </a:r>
            <a:r>
              <a:rPr lang="en-US" sz="2200" dirty="0" err="1" smtClean="0"/>
              <a:t>hoá</a:t>
            </a:r>
            <a:r>
              <a:rPr lang="en-US" sz="2200" dirty="0" smtClean="0"/>
              <a:t> </a:t>
            </a:r>
            <a:r>
              <a:rPr lang="en-US" sz="2200" dirty="0" err="1" smtClean="0"/>
              <a:t>toàn</a:t>
            </a:r>
            <a:r>
              <a:rPr lang="en-US" sz="2200" dirty="0" smtClean="0"/>
              <a:t> </a:t>
            </a:r>
            <a:r>
              <a:rPr lang="en-US" sz="2200" dirty="0" err="1" smtClean="0"/>
              <a:t>bộ</a:t>
            </a:r>
            <a:r>
              <a:rPr lang="en-US" sz="2200" dirty="0" smtClean="0"/>
              <a:t> </a:t>
            </a:r>
            <a:r>
              <a:rPr lang="en-US" sz="2200" dirty="0" err="1" smtClean="0"/>
              <a:t>một</a:t>
            </a:r>
            <a:r>
              <a:rPr lang="en-US" sz="2200" dirty="0" smtClean="0"/>
              <a:t> file </a:t>
            </a:r>
            <a:r>
              <a:rPr lang="en-US" sz="2200" dirty="0" err="1" smtClean="0"/>
              <a:t>bằng</a:t>
            </a:r>
            <a:r>
              <a:rPr lang="en-US" sz="2200" dirty="0" smtClean="0"/>
              <a:t> </a:t>
            </a:r>
            <a:r>
              <a:rPr lang="en-US" sz="2200" dirty="0" err="1" smtClean="0"/>
              <a:t>một</a:t>
            </a:r>
            <a:r>
              <a:rPr lang="en-US" sz="2200" dirty="0" smtClean="0"/>
              <a:t> </a:t>
            </a:r>
            <a:r>
              <a:rPr lang="en-US" sz="2200" dirty="0" err="1" smtClean="0"/>
              <a:t>chương</a:t>
            </a:r>
            <a:r>
              <a:rPr lang="en-US" sz="2200" dirty="0" smtClean="0"/>
              <a:t> </a:t>
            </a:r>
            <a:r>
              <a:rPr lang="en-US" sz="2200" dirty="0" err="1" smtClean="0"/>
              <a:t>trình</a:t>
            </a:r>
            <a:endParaRPr lang="en-US" sz="2200" dirty="0" smtClean="0"/>
          </a:p>
          <a:p>
            <a:pPr lvl="1"/>
            <a:r>
              <a:rPr lang="en-US" sz="2200" dirty="0" err="1" smtClean="0"/>
              <a:t>Việc</a:t>
            </a:r>
            <a:r>
              <a:rPr lang="en-US" sz="2200" dirty="0" smtClean="0"/>
              <a:t> </a:t>
            </a:r>
            <a:r>
              <a:rPr lang="en-US" sz="2200" dirty="0" err="1" smtClean="0"/>
              <a:t>giải</a:t>
            </a:r>
            <a:r>
              <a:rPr lang="en-US" sz="2200" dirty="0" smtClean="0"/>
              <a:t> </a:t>
            </a:r>
            <a:r>
              <a:rPr lang="en-US" sz="2200" dirty="0" err="1" smtClean="0"/>
              <a:t>mã</a:t>
            </a:r>
            <a:r>
              <a:rPr lang="en-US" sz="2200" dirty="0" smtClean="0"/>
              <a:t> </a:t>
            </a:r>
            <a:r>
              <a:rPr lang="en-US" sz="2200" dirty="0" err="1" smtClean="0"/>
              <a:t>sẽ</a:t>
            </a:r>
            <a:r>
              <a:rPr lang="en-US" sz="2200" dirty="0" smtClean="0"/>
              <a:t> </a:t>
            </a:r>
            <a:r>
              <a:rPr lang="en-US" sz="2200" dirty="0" err="1" smtClean="0"/>
              <a:t>được</a:t>
            </a:r>
            <a:r>
              <a:rPr lang="en-US" sz="2200" dirty="0" smtClean="0"/>
              <a:t> </a:t>
            </a:r>
            <a:r>
              <a:rPr lang="en-US" sz="2200" dirty="0" err="1" smtClean="0"/>
              <a:t>thực</a:t>
            </a:r>
            <a:r>
              <a:rPr lang="en-US" sz="2200" dirty="0" smtClean="0"/>
              <a:t> </a:t>
            </a:r>
            <a:r>
              <a:rPr lang="en-US" sz="2200" dirty="0" err="1" smtClean="0"/>
              <a:t>hiện</a:t>
            </a:r>
            <a:r>
              <a:rPr lang="en-US" sz="2200" dirty="0" smtClean="0"/>
              <a:t> </a:t>
            </a:r>
            <a:r>
              <a:rPr lang="en-US" sz="2200" dirty="0" err="1" smtClean="0"/>
              <a:t>bằng</a:t>
            </a:r>
            <a:r>
              <a:rPr lang="en-US" sz="2200" dirty="0" smtClean="0"/>
              <a:t> </a:t>
            </a:r>
            <a:r>
              <a:rPr lang="en-US" sz="2200" dirty="0" err="1" smtClean="0"/>
              <a:t>chính</a:t>
            </a:r>
            <a:r>
              <a:rPr lang="en-US" sz="2200" dirty="0" smtClean="0"/>
              <a:t> </a:t>
            </a:r>
            <a:r>
              <a:rPr lang="en-US" sz="2200" dirty="0" err="1" smtClean="0"/>
              <a:t>chủ</a:t>
            </a:r>
            <a:r>
              <a:rPr lang="en-US" sz="2200" dirty="0" smtClean="0"/>
              <a:t> </a:t>
            </a:r>
            <a:r>
              <a:rPr lang="en-US" sz="2200" dirty="0" err="1" smtClean="0"/>
              <a:t>thể</a:t>
            </a:r>
            <a:r>
              <a:rPr lang="en-US" sz="2200" dirty="0" smtClean="0"/>
              <a:t> </a:t>
            </a:r>
            <a:r>
              <a:rPr lang="en-US" sz="2200" dirty="0" err="1" smtClean="0"/>
              <a:t>ấy</a:t>
            </a:r>
            <a:r>
              <a:rPr lang="en-US" sz="2200" dirty="0" smtClean="0"/>
              <a:t> </a:t>
            </a:r>
            <a:r>
              <a:rPr lang="en-US" sz="2200" dirty="0" err="1" smtClean="0"/>
              <a:t>hoặc</a:t>
            </a:r>
            <a:r>
              <a:rPr lang="en-US" sz="2200" dirty="0" smtClean="0"/>
              <a:t> </a:t>
            </a:r>
            <a:r>
              <a:rPr lang="en-US" sz="2200" dirty="0" err="1" smtClean="0"/>
              <a:t>một</a:t>
            </a:r>
            <a:r>
              <a:rPr lang="en-US" sz="2200" dirty="0" smtClean="0"/>
              <a:t> </a:t>
            </a:r>
            <a:r>
              <a:rPr lang="en-US" sz="2200" dirty="0" err="1" smtClean="0"/>
              <a:t>chủ</a:t>
            </a:r>
            <a:r>
              <a:rPr lang="en-US" sz="2200" dirty="0" smtClean="0"/>
              <a:t> </a:t>
            </a:r>
            <a:r>
              <a:rPr lang="en-US" sz="2200" dirty="0" err="1" smtClean="0"/>
              <a:t>thể</a:t>
            </a:r>
            <a:r>
              <a:rPr lang="en-US" sz="2200" dirty="0" smtClean="0"/>
              <a:t> </a:t>
            </a:r>
            <a:r>
              <a:rPr lang="en-US" sz="2200" dirty="0" err="1" smtClean="0"/>
              <a:t>khác</a:t>
            </a:r>
            <a:r>
              <a:rPr lang="en-US" sz="2200" dirty="0" smtClean="0"/>
              <a:t> </a:t>
            </a:r>
            <a:r>
              <a:rPr lang="en-US" sz="2200" dirty="0" err="1" smtClean="0"/>
              <a:t>của</a:t>
            </a:r>
            <a:r>
              <a:rPr lang="en-US" sz="2200" dirty="0" smtClean="0"/>
              <a:t> HT </a:t>
            </a:r>
          </a:p>
          <a:p>
            <a:r>
              <a:rPr lang="en-US" sz="2400" dirty="0" err="1" smtClean="0"/>
              <a:t>Các</a:t>
            </a:r>
            <a:r>
              <a:rPr lang="en-US" sz="2400" dirty="0" smtClean="0"/>
              <a:t> </a:t>
            </a:r>
            <a:r>
              <a:rPr lang="en-US" sz="2400" dirty="0" err="1" smtClean="0"/>
              <a:t>nhược</a:t>
            </a:r>
            <a:r>
              <a:rPr lang="en-US" sz="2400" dirty="0" smtClean="0"/>
              <a:t> </a:t>
            </a:r>
            <a:r>
              <a:rPr lang="en-US" sz="2400" dirty="0" err="1" smtClean="0"/>
              <a:t>điểm</a:t>
            </a:r>
            <a:endParaRPr lang="en-US" sz="2400" dirty="0" smtClean="0"/>
          </a:p>
          <a:p>
            <a:pPr lvl="1"/>
            <a:r>
              <a:rPr lang="en-US" sz="2200" dirty="0" err="1" smtClean="0"/>
              <a:t>Cần</a:t>
            </a:r>
            <a:r>
              <a:rPr lang="en-US" sz="2200" dirty="0" smtClean="0"/>
              <a:t> </a:t>
            </a:r>
            <a:r>
              <a:rPr lang="en-US" sz="2200" dirty="0" err="1" smtClean="0"/>
              <a:t>có</a:t>
            </a:r>
            <a:r>
              <a:rPr lang="en-US" sz="2200" dirty="0" smtClean="0"/>
              <a:t> </a:t>
            </a:r>
            <a:r>
              <a:rPr lang="en-US" sz="2200" dirty="0" err="1" smtClean="0"/>
              <a:t>một</a:t>
            </a:r>
            <a:r>
              <a:rPr lang="en-US" sz="2200" dirty="0" smtClean="0"/>
              <a:t> </a:t>
            </a:r>
            <a:r>
              <a:rPr lang="en-US" sz="2200" dirty="0" err="1" smtClean="0"/>
              <a:t>tài</a:t>
            </a:r>
            <a:r>
              <a:rPr lang="en-US" sz="2200" dirty="0" smtClean="0"/>
              <a:t> </a:t>
            </a:r>
            <a:r>
              <a:rPr lang="en-US" sz="2200" dirty="0" err="1" smtClean="0"/>
              <a:t>nguyên</a:t>
            </a:r>
            <a:r>
              <a:rPr lang="en-US" sz="2200" dirty="0" smtClean="0"/>
              <a:t> </a:t>
            </a:r>
            <a:r>
              <a:rPr lang="en-US" sz="2200" dirty="0" err="1" smtClean="0"/>
              <a:t>hỗ</a:t>
            </a:r>
            <a:r>
              <a:rPr lang="en-US" sz="2200" dirty="0" smtClean="0"/>
              <a:t> </a:t>
            </a:r>
            <a:r>
              <a:rPr lang="en-US" sz="2200" dirty="0" err="1" smtClean="0"/>
              <a:t>trợ</a:t>
            </a:r>
            <a:r>
              <a:rPr lang="en-US" sz="2200" dirty="0" smtClean="0"/>
              <a:t> </a:t>
            </a:r>
            <a:r>
              <a:rPr lang="en-US" sz="2200" dirty="0" err="1" smtClean="0"/>
              <a:t>cho</a:t>
            </a:r>
            <a:r>
              <a:rPr lang="en-US" sz="2200" dirty="0" smtClean="0"/>
              <a:t> </a:t>
            </a:r>
            <a:r>
              <a:rPr lang="en-US" sz="2200" dirty="0" err="1" smtClean="0"/>
              <a:t>việc</a:t>
            </a:r>
            <a:r>
              <a:rPr lang="en-US" sz="2200" dirty="0" smtClean="0"/>
              <a:t> </a:t>
            </a:r>
            <a:r>
              <a:rPr lang="en-US" sz="2200" dirty="0" err="1" smtClean="0"/>
              <a:t>mã</a:t>
            </a:r>
            <a:r>
              <a:rPr lang="en-US" sz="2200" dirty="0" smtClean="0"/>
              <a:t> </a:t>
            </a:r>
            <a:r>
              <a:rPr lang="en-US" sz="2200" dirty="0" err="1" smtClean="0"/>
              <a:t>hoá</a:t>
            </a:r>
            <a:r>
              <a:rPr lang="en-US" sz="2200" dirty="0" smtClean="0"/>
              <a:t> </a:t>
            </a:r>
            <a:r>
              <a:rPr lang="en-US" sz="2200" dirty="0" err="1" smtClean="0"/>
              <a:t>đối</a:t>
            </a:r>
            <a:r>
              <a:rPr lang="en-US" sz="2200" dirty="0" smtClean="0"/>
              <a:t> </a:t>
            </a:r>
            <a:r>
              <a:rPr lang="en-US" sz="2200" dirty="0" err="1" smtClean="0"/>
              <a:t>tượng</a:t>
            </a:r>
            <a:r>
              <a:rPr lang="en-US" sz="2200" dirty="0" smtClean="0"/>
              <a:t> </a:t>
            </a:r>
            <a:r>
              <a:rPr lang="en-US" sz="2200" dirty="0" err="1" smtClean="0"/>
              <a:t>vì</a:t>
            </a:r>
            <a:r>
              <a:rPr lang="en-US" sz="2200" dirty="0" smtClean="0"/>
              <a:t> </a:t>
            </a:r>
            <a:r>
              <a:rPr lang="en-US" sz="2200" dirty="0" err="1" smtClean="0"/>
              <a:t>phải</a:t>
            </a:r>
            <a:r>
              <a:rPr lang="en-US" sz="2200" dirty="0" smtClean="0"/>
              <a:t> </a:t>
            </a:r>
            <a:r>
              <a:rPr lang="en-US" sz="2200" dirty="0" err="1" smtClean="0"/>
              <a:t>mã</a:t>
            </a:r>
            <a:r>
              <a:rPr lang="en-US" sz="2200" dirty="0" smtClean="0"/>
              <a:t> </a:t>
            </a:r>
            <a:r>
              <a:rPr lang="en-US" sz="2200" dirty="0" err="1" smtClean="0"/>
              <a:t>toàn</a:t>
            </a:r>
            <a:r>
              <a:rPr lang="en-US" sz="2200" dirty="0" smtClean="0"/>
              <a:t> </a:t>
            </a:r>
            <a:r>
              <a:rPr lang="en-US" sz="2200" dirty="0" err="1" smtClean="0"/>
              <a:t>bộ</a:t>
            </a:r>
            <a:r>
              <a:rPr lang="en-US" sz="2200" dirty="0" smtClean="0"/>
              <a:t> </a:t>
            </a:r>
            <a:r>
              <a:rPr lang="en-US" sz="2200" dirty="0" err="1" smtClean="0"/>
              <a:t>một</a:t>
            </a:r>
            <a:r>
              <a:rPr lang="en-US" sz="2200" dirty="0" smtClean="0"/>
              <a:t> file (</a:t>
            </a:r>
            <a:r>
              <a:rPr lang="en-US" sz="2200" dirty="0" err="1" smtClean="0"/>
              <a:t>cần</a:t>
            </a:r>
            <a:r>
              <a:rPr lang="en-US" sz="2200" dirty="0" smtClean="0"/>
              <a:t> </a:t>
            </a:r>
            <a:r>
              <a:rPr lang="en-US" sz="2200" dirty="0" err="1" smtClean="0"/>
              <a:t>bộ</a:t>
            </a:r>
            <a:r>
              <a:rPr lang="en-US" sz="2200" dirty="0" smtClean="0"/>
              <a:t> </a:t>
            </a:r>
            <a:r>
              <a:rPr lang="en-US" sz="2200" dirty="0" err="1" smtClean="0"/>
              <a:t>nhớ</a:t>
            </a:r>
            <a:r>
              <a:rPr lang="en-US" sz="2200" dirty="0" smtClean="0"/>
              <a:t> </a:t>
            </a:r>
            <a:r>
              <a:rPr lang="en-US" sz="2200" dirty="0" err="1" smtClean="0"/>
              <a:t>để</a:t>
            </a:r>
            <a:r>
              <a:rPr lang="en-US" sz="2200" dirty="0" smtClean="0"/>
              <a:t> </a:t>
            </a:r>
            <a:r>
              <a:rPr lang="en-US" sz="2200" dirty="0" err="1" smtClean="0"/>
              <a:t>thao</a:t>
            </a:r>
            <a:r>
              <a:rPr lang="en-US" sz="2200" dirty="0" smtClean="0"/>
              <a:t> </a:t>
            </a:r>
            <a:r>
              <a:rPr lang="en-US" sz="2200" dirty="0" err="1" smtClean="0"/>
              <a:t>tác</a:t>
            </a:r>
            <a:r>
              <a:rPr lang="en-US" sz="2200" dirty="0" smtClean="0"/>
              <a:t> </a:t>
            </a:r>
            <a:r>
              <a:rPr lang="en-US" sz="2200" dirty="0" err="1" smtClean="0"/>
              <a:t>mã</a:t>
            </a:r>
            <a:r>
              <a:rPr lang="en-US" sz="2200" dirty="0" smtClean="0"/>
              <a:t> </a:t>
            </a:r>
            <a:r>
              <a:rPr lang="en-US" sz="2200" dirty="0" err="1" smtClean="0"/>
              <a:t>hoá</a:t>
            </a:r>
            <a:r>
              <a:rPr lang="en-US" sz="2200" dirty="0" smtClean="0"/>
              <a:t> </a:t>
            </a:r>
            <a:r>
              <a:rPr lang="en-US" sz="2200" dirty="0" err="1" smtClean="0"/>
              <a:t>và</a:t>
            </a:r>
            <a:r>
              <a:rPr lang="en-US" sz="2200" dirty="0" smtClean="0"/>
              <a:t> </a:t>
            </a:r>
            <a:r>
              <a:rPr lang="en-US" sz="2200" dirty="0" err="1" smtClean="0"/>
              <a:t>không</a:t>
            </a:r>
            <a:r>
              <a:rPr lang="en-US" sz="2200" dirty="0" smtClean="0"/>
              <a:t> </a:t>
            </a:r>
            <a:r>
              <a:rPr lang="en-US" sz="2200" dirty="0" err="1" smtClean="0"/>
              <a:t>gian</a:t>
            </a:r>
            <a:r>
              <a:rPr lang="en-US" sz="2200" dirty="0" smtClean="0"/>
              <a:t> </a:t>
            </a:r>
            <a:r>
              <a:rPr lang="en-US" sz="2200" dirty="0" err="1" smtClean="0"/>
              <a:t>đĩa</a:t>
            </a:r>
            <a:r>
              <a:rPr lang="en-US" sz="2200" dirty="0" smtClean="0"/>
              <a:t> </a:t>
            </a:r>
            <a:r>
              <a:rPr lang="en-US" sz="2200" dirty="0" err="1" smtClean="0"/>
              <a:t>để</a:t>
            </a:r>
            <a:r>
              <a:rPr lang="en-US" sz="2200" dirty="0" smtClean="0"/>
              <a:t> </a:t>
            </a:r>
            <a:r>
              <a:rPr lang="en-US" sz="2200" dirty="0" err="1" smtClean="0"/>
              <a:t>ghi</a:t>
            </a:r>
            <a:r>
              <a:rPr lang="en-US" sz="2200" dirty="0" smtClean="0"/>
              <a:t> </a:t>
            </a:r>
            <a:r>
              <a:rPr lang="en-US" sz="2200" dirty="0" err="1" smtClean="0"/>
              <a:t>kết</a:t>
            </a:r>
            <a:r>
              <a:rPr lang="en-US" sz="2200" dirty="0" smtClean="0"/>
              <a:t> </a:t>
            </a:r>
            <a:r>
              <a:rPr lang="en-US" sz="2200" dirty="0" err="1" smtClean="0"/>
              <a:t>quả</a:t>
            </a:r>
            <a:r>
              <a:rPr lang="en-US" sz="2200" dirty="0" smtClean="0"/>
              <a:t> file </a:t>
            </a:r>
            <a:r>
              <a:rPr lang="en-US" sz="2200" dirty="0" err="1" smtClean="0"/>
              <a:t>đã</a:t>
            </a:r>
            <a:r>
              <a:rPr lang="en-US" sz="2200" dirty="0" smtClean="0"/>
              <a:t> </a:t>
            </a:r>
            <a:r>
              <a:rPr lang="en-US" sz="2200" dirty="0" err="1" smtClean="0"/>
              <a:t>mã</a:t>
            </a:r>
            <a:r>
              <a:rPr lang="en-US" sz="2200" dirty="0" smtClean="0"/>
              <a:t> </a:t>
            </a:r>
            <a:r>
              <a:rPr lang="en-US" sz="2200" dirty="0" err="1" smtClean="0"/>
              <a:t>hoá</a:t>
            </a:r>
            <a:r>
              <a:rPr lang="en-US" sz="2200" dirty="0" smtClean="0"/>
              <a:t>). </a:t>
            </a:r>
            <a:r>
              <a:rPr lang="en-US" sz="2200" dirty="0" err="1" smtClean="0"/>
              <a:t>Trong</a:t>
            </a:r>
            <a:r>
              <a:rPr lang="en-US" sz="2200" dirty="0" smtClean="0"/>
              <a:t> </a:t>
            </a:r>
            <a:r>
              <a:rPr lang="en-US" sz="2200" dirty="0" err="1" smtClean="0"/>
              <a:t>giải</a:t>
            </a:r>
            <a:r>
              <a:rPr lang="en-US" sz="2200" dirty="0" smtClean="0"/>
              <a:t> </a:t>
            </a:r>
            <a:r>
              <a:rPr lang="en-US" sz="2200" dirty="0" err="1" smtClean="0"/>
              <a:t>mã</a:t>
            </a:r>
            <a:r>
              <a:rPr lang="en-US" sz="2200" dirty="0" smtClean="0"/>
              <a:t> </a:t>
            </a:r>
            <a:r>
              <a:rPr lang="en-US" sz="2200" dirty="0" err="1" smtClean="0"/>
              <a:t>cũng</a:t>
            </a:r>
            <a:r>
              <a:rPr lang="en-US" sz="2200" dirty="0" smtClean="0"/>
              <a:t> </a:t>
            </a:r>
            <a:r>
              <a:rPr lang="en-US" sz="2200" dirty="0" err="1" smtClean="0"/>
              <a:t>cần</a:t>
            </a:r>
            <a:r>
              <a:rPr lang="en-US" sz="2200" dirty="0" smtClean="0"/>
              <a:t> </a:t>
            </a:r>
            <a:r>
              <a:rPr lang="en-US" sz="2200" dirty="0" err="1" smtClean="0"/>
              <a:t>có</a:t>
            </a:r>
            <a:r>
              <a:rPr lang="en-US" sz="2200" dirty="0" smtClean="0"/>
              <a:t> </a:t>
            </a:r>
            <a:r>
              <a:rPr lang="en-US" sz="2200" dirty="0" err="1" smtClean="0"/>
              <a:t>không</a:t>
            </a:r>
            <a:r>
              <a:rPr lang="en-US" sz="2200" dirty="0" smtClean="0"/>
              <a:t> </a:t>
            </a:r>
            <a:r>
              <a:rPr lang="en-US" sz="2200" dirty="0" err="1" smtClean="0"/>
              <a:t>gian</a:t>
            </a:r>
            <a:r>
              <a:rPr lang="en-US" sz="2200" dirty="0" smtClean="0"/>
              <a:t> </a:t>
            </a:r>
            <a:r>
              <a:rPr lang="en-US" sz="2200" dirty="0" err="1" smtClean="0"/>
              <a:t>đĩa</a:t>
            </a:r>
            <a:r>
              <a:rPr lang="en-US" sz="2200" dirty="0" smtClean="0"/>
              <a:t> </a:t>
            </a:r>
            <a:r>
              <a:rPr lang="en-US" sz="2200" dirty="0" err="1" smtClean="0"/>
              <a:t>cho</a:t>
            </a:r>
            <a:r>
              <a:rPr lang="en-US" sz="2200" dirty="0" smtClean="0"/>
              <a:t> </a:t>
            </a:r>
            <a:r>
              <a:rPr lang="en-US" sz="2200" dirty="0" err="1" smtClean="0"/>
              <a:t>việc</a:t>
            </a:r>
            <a:r>
              <a:rPr lang="en-US" sz="2200" dirty="0" smtClean="0"/>
              <a:t> </a:t>
            </a:r>
            <a:r>
              <a:rPr lang="en-US" sz="2200" dirty="0" err="1" smtClean="0"/>
              <a:t>giải</a:t>
            </a:r>
            <a:r>
              <a:rPr lang="en-US" sz="2200" dirty="0" smtClean="0"/>
              <a:t> </a:t>
            </a:r>
            <a:r>
              <a:rPr lang="en-US" sz="2200" dirty="0" err="1" smtClean="0"/>
              <a:t>mã</a:t>
            </a:r>
            <a:r>
              <a:rPr lang="en-US" sz="2200" dirty="0" smtClean="0"/>
              <a:t> </a:t>
            </a:r>
            <a:r>
              <a:rPr lang="en-US" sz="2200" dirty="0" err="1" smtClean="0"/>
              <a:t>thành</a:t>
            </a:r>
            <a:r>
              <a:rPr lang="en-US" sz="2200" dirty="0" smtClean="0"/>
              <a:t> file </a:t>
            </a:r>
            <a:r>
              <a:rPr lang="en-US" sz="2200" dirty="0" err="1" smtClean="0"/>
              <a:t>với</a:t>
            </a:r>
            <a:r>
              <a:rPr lang="en-US" sz="2200" dirty="0" smtClean="0"/>
              <a:t> </a:t>
            </a:r>
            <a:r>
              <a:rPr lang="en-US" sz="2200" dirty="0" err="1" smtClean="0"/>
              <a:t>tên</a:t>
            </a:r>
            <a:r>
              <a:rPr lang="en-US" sz="2200" dirty="0" smtClean="0"/>
              <a:t> </a:t>
            </a:r>
            <a:r>
              <a:rPr lang="en-US" sz="2200" dirty="0" err="1" smtClean="0"/>
              <a:t>khác</a:t>
            </a:r>
            <a:r>
              <a:rPr lang="en-US" sz="2200" dirty="0" smtClean="0"/>
              <a:t> (so </a:t>
            </a:r>
            <a:r>
              <a:rPr lang="en-US" sz="2200" dirty="0" err="1" smtClean="0"/>
              <a:t>với</a:t>
            </a:r>
            <a:r>
              <a:rPr lang="en-US" sz="2200" dirty="0" smtClean="0"/>
              <a:t> file </a:t>
            </a:r>
            <a:r>
              <a:rPr lang="en-US" sz="2200" dirty="0" err="1" smtClean="0"/>
              <a:t>đầu</a:t>
            </a:r>
            <a:r>
              <a:rPr lang="en-US" sz="2200" dirty="0" smtClean="0"/>
              <a:t> </a:t>
            </a:r>
            <a:r>
              <a:rPr lang="en-US" sz="2200" dirty="0" err="1" smtClean="0"/>
              <a:t>tiên</a:t>
            </a:r>
            <a:r>
              <a:rPr lang="en-US" sz="2200" dirty="0" smtClean="0"/>
              <a:t>)</a:t>
            </a:r>
          </a:p>
          <a:p>
            <a:pPr lvl="1"/>
            <a:r>
              <a:rPr lang="en-US" sz="2200" dirty="0" err="1" smtClean="0"/>
              <a:t>Tiềm</a:t>
            </a:r>
            <a:r>
              <a:rPr lang="en-US" sz="2200" dirty="0" smtClean="0"/>
              <a:t> </a:t>
            </a:r>
            <a:r>
              <a:rPr lang="en-US" sz="2200" dirty="0" err="1" smtClean="0"/>
              <a:t>chứa</a:t>
            </a:r>
            <a:r>
              <a:rPr lang="en-US" sz="2200" dirty="0" smtClean="0"/>
              <a:t> </a:t>
            </a:r>
            <a:r>
              <a:rPr lang="en-US" sz="2200" dirty="0" err="1" smtClean="0"/>
              <a:t>khả</a:t>
            </a:r>
            <a:r>
              <a:rPr lang="en-US" sz="2200" dirty="0" smtClean="0"/>
              <a:t> </a:t>
            </a:r>
            <a:r>
              <a:rPr lang="en-US" sz="2200" dirty="0" err="1" smtClean="0"/>
              <a:t>năng</a:t>
            </a:r>
            <a:r>
              <a:rPr lang="en-US" sz="2200" dirty="0" smtClean="0"/>
              <a:t> </a:t>
            </a:r>
            <a:r>
              <a:rPr lang="en-US" sz="2200" dirty="0" err="1" smtClean="0"/>
              <a:t>tiếp</a:t>
            </a:r>
            <a:r>
              <a:rPr lang="en-US" sz="2200" dirty="0" smtClean="0"/>
              <a:t> </a:t>
            </a:r>
            <a:r>
              <a:rPr lang="en-US" sz="2200" dirty="0" err="1" smtClean="0"/>
              <a:t>cận</a:t>
            </a:r>
            <a:r>
              <a:rPr lang="en-US" sz="2200" dirty="0" smtClean="0"/>
              <a:t> </a:t>
            </a:r>
            <a:r>
              <a:rPr lang="en-US" sz="2200" dirty="0" err="1" smtClean="0"/>
              <a:t>tới</a:t>
            </a:r>
            <a:r>
              <a:rPr lang="en-US" sz="2200" dirty="0" smtClean="0"/>
              <a:t> file </a:t>
            </a:r>
            <a:r>
              <a:rPr lang="en-US" sz="2200" dirty="0" err="1" smtClean="0"/>
              <a:t>giải</a:t>
            </a:r>
            <a:r>
              <a:rPr lang="en-US" sz="2200" dirty="0" smtClean="0"/>
              <a:t> </a:t>
            </a:r>
            <a:r>
              <a:rPr lang="en-US" sz="2200" dirty="0" err="1" smtClean="0"/>
              <a:t>mã</a:t>
            </a:r>
            <a:r>
              <a:rPr lang="en-US" sz="2200" dirty="0" smtClean="0"/>
              <a:t> (</a:t>
            </a:r>
            <a:r>
              <a:rPr lang="en-US" sz="2200" dirty="0" err="1" smtClean="0"/>
              <a:t>trong</a:t>
            </a:r>
            <a:r>
              <a:rPr lang="en-US" sz="2200" dirty="0" smtClean="0"/>
              <a:t> </a:t>
            </a:r>
            <a:r>
              <a:rPr lang="en-US" sz="2200" dirty="0" err="1" smtClean="0"/>
              <a:t>thời</a:t>
            </a:r>
            <a:r>
              <a:rPr lang="en-US" sz="2200" dirty="0" smtClean="0"/>
              <a:t> </a:t>
            </a:r>
            <a:r>
              <a:rPr lang="en-US" sz="2200" dirty="0" err="1" smtClean="0"/>
              <a:t>gian</a:t>
            </a:r>
            <a:r>
              <a:rPr lang="en-US" sz="2200" dirty="0" smtClean="0"/>
              <a:t> </a:t>
            </a:r>
            <a:r>
              <a:rPr lang="en-US" sz="2200" dirty="0" err="1" smtClean="0"/>
              <a:t>tồn</a:t>
            </a:r>
            <a:r>
              <a:rPr lang="en-US" sz="2200" dirty="0" smtClean="0"/>
              <a:t> </a:t>
            </a:r>
            <a:r>
              <a:rPr lang="en-US" sz="2200" dirty="0" err="1" smtClean="0"/>
              <a:t>tại</a:t>
            </a:r>
            <a:r>
              <a:rPr lang="en-US" sz="2200" dirty="0" smtClean="0"/>
              <a:t> </a:t>
            </a:r>
            <a:r>
              <a:rPr lang="en-US" sz="2200" dirty="0" err="1" smtClean="0"/>
              <a:t>của</a:t>
            </a:r>
            <a:r>
              <a:rPr lang="en-US" sz="2200" dirty="0" smtClean="0"/>
              <a:t> </a:t>
            </a:r>
            <a:r>
              <a:rPr lang="en-US" sz="2200" dirty="0" err="1" smtClean="0"/>
              <a:t>nó</a:t>
            </a:r>
            <a:r>
              <a:rPr lang="en-US" sz="2200" dirty="0" smtClean="0"/>
              <a:t>) </a:t>
            </a:r>
            <a:r>
              <a:rPr lang="en-US" sz="2200" dirty="0" err="1" smtClean="0"/>
              <a:t>từ</a:t>
            </a:r>
            <a:r>
              <a:rPr lang="en-US" sz="2200" dirty="0" smtClean="0"/>
              <a:t> </a:t>
            </a:r>
            <a:r>
              <a:rPr lang="en-US" sz="2200" dirty="0" err="1" smtClean="0"/>
              <a:t>phía</a:t>
            </a:r>
            <a:r>
              <a:rPr lang="en-US" sz="2200" dirty="0" smtClean="0"/>
              <a:t> </a:t>
            </a:r>
            <a:r>
              <a:rPr lang="en-US" sz="2200" dirty="0" err="1" smtClean="0"/>
              <a:t>các</a:t>
            </a:r>
            <a:r>
              <a:rPr lang="en-US" sz="2200" dirty="0" smtClean="0"/>
              <a:t> </a:t>
            </a:r>
            <a:r>
              <a:rPr lang="en-US" sz="2200" dirty="0" err="1" smtClean="0"/>
              <a:t>chủ</a:t>
            </a:r>
            <a:r>
              <a:rPr lang="en-US" sz="2200" dirty="0" smtClean="0"/>
              <a:t> </a:t>
            </a:r>
            <a:r>
              <a:rPr lang="en-US" sz="2200" dirty="0" err="1" smtClean="0"/>
              <a:t>thể</a:t>
            </a:r>
            <a:r>
              <a:rPr lang="en-US" sz="2200" dirty="0" smtClean="0"/>
              <a:t> (S) </a:t>
            </a:r>
            <a:r>
              <a:rPr lang="en-US" sz="2200" dirty="0" err="1" smtClean="0"/>
              <a:t>tích</a:t>
            </a:r>
            <a:r>
              <a:rPr lang="en-US" sz="2200" dirty="0" smtClean="0"/>
              <a:t> </a:t>
            </a:r>
            <a:r>
              <a:rPr lang="en-US" sz="2200" dirty="0" err="1" smtClean="0"/>
              <a:t>cực</a:t>
            </a:r>
            <a:r>
              <a:rPr lang="en-US" sz="2200" dirty="0" smtClean="0"/>
              <a:t> </a:t>
            </a:r>
            <a:r>
              <a:rPr lang="en-US" sz="2200" dirty="0" err="1" smtClean="0"/>
              <a:t>của</a:t>
            </a:r>
            <a:r>
              <a:rPr lang="en-US" sz="2200" dirty="0" smtClean="0"/>
              <a:t> HT</a:t>
            </a:r>
          </a:p>
          <a:p>
            <a:pPr lvl="1"/>
            <a:r>
              <a:rPr lang="en-US" sz="2200" dirty="0" err="1" smtClean="0"/>
              <a:t>Cần</a:t>
            </a:r>
            <a:r>
              <a:rPr lang="en-US" sz="2200" dirty="0" smtClean="0"/>
              <a:t> </a:t>
            </a:r>
            <a:r>
              <a:rPr lang="en-US" sz="2200" dirty="0" err="1" smtClean="0"/>
              <a:t>phải</a:t>
            </a:r>
            <a:r>
              <a:rPr lang="en-US" sz="2200" dirty="0" smtClean="0"/>
              <a:t> </a:t>
            </a:r>
            <a:r>
              <a:rPr lang="en-US" sz="2200" dirty="0" err="1" smtClean="0"/>
              <a:t>giải</a:t>
            </a:r>
            <a:r>
              <a:rPr lang="en-US" sz="2200" dirty="0" smtClean="0"/>
              <a:t> </a:t>
            </a:r>
            <a:r>
              <a:rPr lang="en-US" sz="2200" dirty="0" err="1" smtClean="0"/>
              <a:t>quyết</a:t>
            </a:r>
            <a:r>
              <a:rPr lang="en-US" sz="2200" dirty="0" smtClean="0"/>
              <a:t> </a:t>
            </a:r>
            <a:r>
              <a:rPr lang="en-US" sz="2200" dirty="0" err="1" smtClean="0"/>
              <a:t>vấn</a:t>
            </a:r>
            <a:r>
              <a:rPr lang="en-US" sz="2200" dirty="0" smtClean="0"/>
              <a:t> </a:t>
            </a:r>
            <a:r>
              <a:rPr lang="en-US" sz="2200" dirty="0" err="1" smtClean="0"/>
              <a:t>đề</a:t>
            </a:r>
            <a:r>
              <a:rPr lang="en-US" sz="2200" dirty="0" smtClean="0"/>
              <a:t> </a:t>
            </a:r>
            <a:r>
              <a:rPr lang="en-US" sz="2200" dirty="0" err="1" smtClean="0"/>
              <a:t>huỷ</a:t>
            </a:r>
            <a:r>
              <a:rPr lang="en-US" sz="2200" dirty="0" smtClean="0"/>
              <a:t> (</a:t>
            </a:r>
            <a:r>
              <a:rPr lang="en-US" sz="2200" dirty="0" err="1" smtClean="0"/>
              <a:t>chắc</a:t>
            </a:r>
            <a:r>
              <a:rPr lang="en-US" sz="2200" dirty="0" smtClean="0"/>
              <a:t> </a:t>
            </a:r>
            <a:r>
              <a:rPr lang="en-US" sz="2200" dirty="0" err="1" smtClean="0"/>
              <a:t>chắn</a:t>
            </a:r>
            <a:r>
              <a:rPr lang="en-US" sz="2200" dirty="0" smtClean="0"/>
              <a:t>) file </a:t>
            </a:r>
            <a:r>
              <a:rPr lang="en-US" sz="2200" dirty="0" err="1" smtClean="0"/>
              <a:t>đã</a:t>
            </a:r>
            <a:r>
              <a:rPr lang="en-US" sz="2200" dirty="0" smtClean="0"/>
              <a:t> </a:t>
            </a:r>
            <a:r>
              <a:rPr lang="en-US" sz="2200" dirty="0" err="1" smtClean="0"/>
              <a:t>được</a:t>
            </a:r>
            <a:r>
              <a:rPr lang="en-US" sz="2200" dirty="0" smtClean="0"/>
              <a:t> </a:t>
            </a:r>
            <a:r>
              <a:rPr lang="en-US" sz="2200" dirty="0" err="1" smtClean="0"/>
              <a:t>giải</a:t>
            </a:r>
            <a:r>
              <a:rPr lang="en-US" sz="2200" dirty="0" smtClean="0"/>
              <a:t> </a:t>
            </a:r>
            <a:r>
              <a:rPr lang="en-US" sz="2200" dirty="0" err="1" smtClean="0"/>
              <a:t>mã</a:t>
            </a:r>
            <a:r>
              <a:rPr lang="en-US" sz="2200" dirty="0" smtClean="0"/>
              <a:t> (</a:t>
            </a:r>
            <a:r>
              <a:rPr lang="en-US" sz="2200" dirty="0" err="1" smtClean="0"/>
              <a:t>tức</a:t>
            </a:r>
            <a:r>
              <a:rPr lang="en-US" sz="2200" dirty="0" smtClean="0"/>
              <a:t> </a:t>
            </a:r>
            <a:r>
              <a:rPr lang="en-US" sz="2200" dirty="0" err="1" smtClean="0"/>
              <a:t>là</a:t>
            </a:r>
            <a:r>
              <a:rPr lang="en-US" sz="2200" dirty="0" smtClean="0"/>
              <a:t> file </a:t>
            </a:r>
            <a:r>
              <a:rPr lang="en-US" sz="2200" dirty="0" err="1" smtClean="0"/>
              <a:t>rõ</a:t>
            </a:r>
            <a:r>
              <a:rPr lang="en-US" sz="2200" dirty="0" smtClean="0"/>
              <a:t>) </a:t>
            </a:r>
            <a:r>
              <a:rPr lang="en-US" sz="2200" dirty="0" err="1" smtClean="0"/>
              <a:t>sau</a:t>
            </a:r>
            <a:r>
              <a:rPr lang="en-US" sz="2200" dirty="0" smtClean="0"/>
              <a:t> </a:t>
            </a:r>
            <a:r>
              <a:rPr lang="en-US" sz="2200" dirty="0" err="1" smtClean="0"/>
              <a:t>khi</a:t>
            </a:r>
            <a:r>
              <a:rPr lang="en-US" sz="2200" dirty="0" smtClean="0"/>
              <a:t> </a:t>
            </a:r>
            <a:r>
              <a:rPr lang="en-US" sz="2200" dirty="0" err="1" smtClean="0"/>
              <a:t>sử</a:t>
            </a:r>
            <a:r>
              <a:rPr lang="en-US" sz="2200" dirty="0" smtClean="0"/>
              <a:t> </a:t>
            </a:r>
            <a:r>
              <a:rPr lang="en-US" sz="2200" dirty="0" err="1" smtClean="0"/>
              <a:t>dụng</a:t>
            </a:r>
            <a:r>
              <a:rPr lang="en-US" sz="2200" dirty="0" smtClean="0"/>
              <a:t> </a:t>
            </a:r>
            <a:r>
              <a:rPr lang="en-US" sz="2200" dirty="0" err="1" smtClean="0"/>
              <a:t>xong</a:t>
            </a:r>
            <a:r>
              <a:rPr lang="en-US" sz="2200" dirty="0" smtClean="0"/>
              <a:t>. </a:t>
            </a:r>
          </a:p>
        </p:txBody>
      </p:sp>
    </p:spTree>
    <p:extLst>
      <p:ext uri="{BB962C8B-B14F-4D97-AF65-F5344CB8AC3E}">
        <p14:creationId xmlns:p14="http://schemas.microsoft.com/office/powerpoint/2010/main" val="38852601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3619">
                                            <p:txEl>
                                              <p:pRg st="0" end="0"/>
                                            </p:txEl>
                                          </p:spTgt>
                                        </p:tgtEl>
                                        <p:attrNameLst>
                                          <p:attrName>style.visibility</p:attrName>
                                        </p:attrNameLst>
                                      </p:cBhvr>
                                      <p:to>
                                        <p:strVal val="visible"/>
                                      </p:to>
                                    </p:set>
                                    <p:animEffect transition="in" filter="blinds(horizontal)">
                                      <p:cBhvr>
                                        <p:cTn id="7" dur="500"/>
                                        <p:tgtEl>
                                          <p:spTgt spid="6236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23619">
                                            <p:txEl>
                                              <p:pRg st="1" end="1"/>
                                            </p:txEl>
                                          </p:spTgt>
                                        </p:tgtEl>
                                        <p:attrNameLst>
                                          <p:attrName>style.visibility</p:attrName>
                                        </p:attrNameLst>
                                      </p:cBhvr>
                                      <p:to>
                                        <p:strVal val="visible"/>
                                      </p:to>
                                    </p:set>
                                    <p:animEffect transition="in" filter="blinds(horizontal)">
                                      <p:cBhvr>
                                        <p:cTn id="12" dur="500"/>
                                        <p:tgtEl>
                                          <p:spTgt spid="6236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23619">
                                            <p:txEl>
                                              <p:pRg st="2" end="2"/>
                                            </p:txEl>
                                          </p:spTgt>
                                        </p:tgtEl>
                                        <p:attrNameLst>
                                          <p:attrName>style.visibility</p:attrName>
                                        </p:attrNameLst>
                                      </p:cBhvr>
                                      <p:to>
                                        <p:strVal val="visible"/>
                                      </p:to>
                                    </p:set>
                                    <p:animEffect transition="in" filter="blinds(horizontal)">
                                      <p:cBhvr>
                                        <p:cTn id="17" dur="500"/>
                                        <p:tgtEl>
                                          <p:spTgt spid="6236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23619">
                                            <p:txEl>
                                              <p:pRg st="3" end="3"/>
                                            </p:txEl>
                                          </p:spTgt>
                                        </p:tgtEl>
                                        <p:attrNameLst>
                                          <p:attrName>style.visibility</p:attrName>
                                        </p:attrNameLst>
                                      </p:cBhvr>
                                      <p:to>
                                        <p:strVal val="visible"/>
                                      </p:to>
                                    </p:set>
                                    <p:animEffect transition="in" filter="blinds(horizontal)">
                                      <p:cBhvr>
                                        <p:cTn id="22" dur="500"/>
                                        <p:tgtEl>
                                          <p:spTgt spid="6236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23619">
                                            <p:txEl>
                                              <p:pRg st="4" end="4"/>
                                            </p:txEl>
                                          </p:spTgt>
                                        </p:tgtEl>
                                        <p:attrNameLst>
                                          <p:attrName>style.visibility</p:attrName>
                                        </p:attrNameLst>
                                      </p:cBhvr>
                                      <p:to>
                                        <p:strVal val="visible"/>
                                      </p:to>
                                    </p:set>
                                    <p:animEffect transition="in" filter="blinds(horizontal)">
                                      <p:cBhvr>
                                        <p:cTn id="27" dur="500"/>
                                        <p:tgtEl>
                                          <p:spTgt spid="62361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23619">
                                            <p:txEl>
                                              <p:pRg st="5" end="5"/>
                                            </p:txEl>
                                          </p:spTgt>
                                        </p:tgtEl>
                                        <p:attrNameLst>
                                          <p:attrName>style.visibility</p:attrName>
                                        </p:attrNameLst>
                                      </p:cBhvr>
                                      <p:to>
                                        <p:strVal val="visible"/>
                                      </p:to>
                                    </p:set>
                                    <p:animEffect transition="in" filter="blinds(horizontal)">
                                      <p:cBhvr>
                                        <p:cTn id="32" dur="500"/>
                                        <p:tgtEl>
                                          <p:spTgt spid="62361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23619">
                                            <p:txEl>
                                              <p:pRg st="6" end="6"/>
                                            </p:txEl>
                                          </p:spTgt>
                                        </p:tgtEl>
                                        <p:attrNameLst>
                                          <p:attrName>style.visibility</p:attrName>
                                        </p:attrNameLst>
                                      </p:cBhvr>
                                      <p:to>
                                        <p:strVal val="visible"/>
                                      </p:to>
                                    </p:set>
                                    <p:animEffect transition="in" filter="blinds(horizontal)">
                                      <p:cBhvr>
                                        <p:cTn id="37" dur="500"/>
                                        <p:tgtEl>
                                          <p:spTgt spid="6236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p:cNvSpPr>
            <a:spLocks noGrp="1" noChangeArrowheads="1"/>
          </p:cNvSpPr>
          <p:nvPr>
            <p:ph type="body" idx="1"/>
          </p:nvPr>
        </p:nvSpPr>
        <p:spPr/>
        <p:txBody>
          <a:bodyPr/>
          <a:lstStyle/>
          <a:p>
            <a:r>
              <a:rPr lang="en-US" smtClean="0"/>
              <a:t>Mã hóa tĩnh</a:t>
            </a:r>
          </a:p>
          <a:p>
            <a:r>
              <a:rPr lang="en-US" b="1" smtClean="0">
                <a:solidFill>
                  <a:srgbClr val="CC0000"/>
                </a:solidFill>
              </a:rPr>
              <a:t>Mã hóa động</a:t>
            </a:r>
          </a:p>
          <a:p>
            <a:r>
              <a:rPr lang="en-US" smtClean="0"/>
              <a:t>Phương pháp server mã hóa ứng dụng</a:t>
            </a:r>
          </a:p>
        </p:txBody>
      </p:sp>
      <p:sp>
        <p:nvSpPr>
          <p:cNvPr id="2" name="Title 1"/>
          <p:cNvSpPr>
            <a:spLocks noGrp="1"/>
          </p:cNvSpPr>
          <p:nvPr>
            <p:ph type="title"/>
          </p:nvPr>
        </p:nvSpPr>
        <p:spPr/>
        <p:txBody>
          <a:bodyPr/>
          <a:lstStyle/>
          <a:p>
            <a:endParaRPr lang="en-US"/>
          </a:p>
        </p:txBody>
      </p:sp>
      <p:sp>
        <p:nvSpPr>
          <p:cNvPr id="6" name="Rectangle 2"/>
          <p:cNvSpPr txBox="1">
            <a:spLocks noChangeArrowheads="1"/>
          </p:cNvSpPr>
          <p:nvPr/>
        </p:nvSpPr>
        <p:spPr bwMode="auto">
          <a:xfrm>
            <a:off x="179388" y="115888"/>
            <a:ext cx="881221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lvl1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r>
              <a:rPr lang="en-US" sz="3600" smtClean="0"/>
              <a:t>Vấn đề hệ thống khi áp dụng mật mã</a:t>
            </a:r>
            <a:endParaRPr lang="en-US" sz="3600" dirty="0" smtClean="0"/>
          </a:p>
        </p:txBody>
      </p:sp>
    </p:spTree>
    <p:extLst>
      <p:ext uri="{BB962C8B-B14F-4D97-AF65-F5344CB8AC3E}">
        <p14:creationId xmlns:p14="http://schemas.microsoft.com/office/powerpoint/2010/main" val="1599043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en-US" sz="3600" smtClean="0"/>
              <a:t>Mã hóa động…</a:t>
            </a:r>
          </a:p>
        </p:txBody>
      </p:sp>
      <p:sp>
        <p:nvSpPr>
          <p:cNvPr id="624643" name="Rectangle 3"/>
          <p:cNvSpPr>
            <a:spLocks noGrp="1" noChangeArrowheads="1"/>
          </p:cNvSpPr>
          <p:nvPr>
            <p:ph type="body" idx="1"/>
          </p:nvPr>
        </p:nvSpPr>
        <p:spPr>
          <a:xfrm>
            <a:off x="457200" y="1219200"/>
            <a:ext cx="8229600" cy="5334000"/>
          </a:xfrm>
        </p:spPr>
        <p:txBody>
          <a:bodyPr/>
          <a:lstStyle/>
          <a:p>
            <a:pPr>
              <a:lnSpc>
                <a:spcPct val="90000"/>
              </a:lnSpc>
            </a:pPr>
            <a:r>
              <a:rPr lang="en-US" smtClean="0"/>
              <a:t>Cơ chế</a:t>
            </a:r>
          </a:p>
          <a:p>
            <a:pPr lvl="1">
              <a:lnSpc>
                <a:spcPct val="90000"/>
              </a:lnSpc>
            </a:pPr>
            <a:r>
              <a:rPr lang="en-US" smtClean="0"/>
              <a:t>Mã hoá toàn bộ file (giống như mã hóa tĩnh)</a:t>
            </a:r>
          </a:p>
          <a:p>
            <a:pPr lvl="1">
              <a:lnSpc>
                <a:spcPct val="90000"/>
              </a:lnSpc>
            </a:pPr>
            <a:r>
              <a:rPr lang="en-US" smtClean="0"/>
              <a:t>Sử dụng các cơ chế đặc biệt làm biến đổi chức năng bảo đảm chương trình của HT nhằm điều khiển các đối tượng, thực hiện việc giải mã file đã mã hoá ở trên</a:t>
            </a:r>
          </a:p>
          <a:p>
            <a:pPr lvl="1">
              <a:lnSpc>
                <a:spcPct val="90000"/>
              </a:lnSpc>
            </a:pPr>
            <a:r>
              <a:rPr lang="en-US" smtClean="0"/>
              <a:t>Chỉ giải mã phần của đối tượng mà tại thời điểm đó cần dùng cho chương trình ứng dụng</a:t>
            </a:r>
          </a:p>
          <a:p>
            <a:pPr>
              <a:lnSpc>
                <a:spcPct val="90000"/>
              </a:lnSpc>
            </a:pPr>
            <a:r>
              <a:rPr lang="en-US" smtClean="0"/>
              <a:t>Ưu điểm</a:t>
            </a:r>
          </a:p>
          <a:p>
            <a:pPr lvl="1">
              <a:lnSpc>
                <a:spcPct val="90000"/>
              </a:lnSpc>
            </a:pPr>
            <a:r>
              <a:rPr lang="en-US" smtClean="0"/>
              <a:t>Sử dụng tiết kiệm (tối ưu) các tài nguyên HT </a:t>
            </a:r>
          </a:p>
          <a:p>
            <a:pPr lvl="1">
              <a:lnSpc>
                <a:spcPct val="90000"/>
              </a:lnSpc>
            </a:pPr>
            <a:r>
              <a:rPr lang="en-US" smtClean="0"/>
              <a:t>Trên các vật mang (trên máy) TT luôn luôn được lưu ở dạng mã hoá. </a:t>
            </a:r>
          </a:p>
        </p:txBody>
      </p:sp>
    </p:spTree>
    <p:extLst>
      <p:ext uri="{BB962C8B-B14F-4D97-AF65-F5344CB8AC3E}">
        <p14:creationId xmlns:p14="http://schemas.microsoft.com/office/powerpoint/2010/main" val="295308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4643">
                                            <p:txEl>
                                              <p:pRg st="0" end="0"/>
                                            </p:txEl>
                                          </p:spTgt>
                                        </p:tgtEl>
                                        <p:attrNameLst>
                                          <p:attrName>style.visibility</p:attrName>
                                        </p:attrNameLst>
                                      </p:cBhvr>
                                      <p:to>
                                        <p:strVal val="visible"/>
                                      </p:to>
                                    </p:set>
                                    <p:animEffect transition="in" filter="blinds(horizontal)">
                                      <p:cBhvr>
                                        <p:cTn id="7" dur="500"/>
                                        <p:tgtEl>
                                          <p:spTgt spid="6246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24643">
                                            <p:txEl>
                                              <p:pRg st="1" end="1"/>
                                            </p:txEl>
                                          </p:spTgt>
                                        </p:tgtEl>
                                        <p:attrNameLst>
                                          <p:attrName>style.visibility</p:attrName>
                                        </p:attrNameLst>
                                      </p:cBhvr>
                                      <p:to>
                                        <p:strVal val="visible"/>
                                      </p:to>
                                    </p:set>
                                    <p:animEffect transition="in" filter="blinds(horizontal)">
                                      <p:cBhvr>
                                        <p:cTn id="12" dur="500"/>
                                        <p:tgtEl>
                                          <p:spTgt spid="6246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24643">
                                            <p:txEl>
                                              <p:pRg st="2" end="2"/>
                                            </p:txEl>
                                          </p:spTgt>
                                        </p:tgtEl>
                                        <p:attrNameLst>
                                          <p:attrName>style.visibility</p:attrName>
                                        </p:attrNameLst>
                                      </p:cBhvr>
                                      <p:to>
                                        <p:strVal val="visible"/>
                                      </p:to>
                                    </p:set>
                                    <p:animEffect transition="in" filter="blinds(horizontal)">
                                      <p:cBhvr>
                                        <p:cTn id="17" dur="500"/>
                                        <p:tgtEl>
                                          <p:spTgt spid="6246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24643">
                                            <p:txEl>
                                              <p:pRg st="3" end="3"/>
                                            </p:txEl>
                                          </p:spTgt>
                                        </p:tgtEl>
                                        <p:attrNameLst>
                                          <p:attrName>style.visibility</p:attrName>
                                        </p:attrNameLst>
                                      </p:cBhvr>
                                      <p:to>
                                        <p:strVal val="visible"/>
                                      </p:to>
                                    </p:set>
                                    <p:animEffect transition="in" filter="blinds(horizontal)">
                                      <p:cBhvr>
                                        <p:cTn id="22" dur="500"/>
                                        <p:tgtEl>
                                          <p:spTgt spid="6246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24643">
                                            <p:txEl>
                                              <p:pRg st="4" end="4"/>
                                            </p:txEl>
                                          </p:spTgt>
                                        </p:tgtEl>
                                        <p:attrNameLst>
                                          <p:attrName>style.visibility</p:attrName>
                                        </p:attrNameLst>
                                      </p:cBhvr>
                                      <p:to>
                                        <p:strVal val="visible"/>
                                      </p:to>
                                    </p:set>
                                    <p:animEffect transition="in" filter="blinds(horizontal)">
                                      <p:cBhvr>
                                        <p:cTn id="27" dur="500"/>
                                        <p:tgtEl>
                                          <p:spTgt spid="62464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24643">
                                            <p:txEl>
                                              <p:pRg st="5" end="5"/>
                                            </p:txEl>
                                          </p:spTgt>
                                        </p:tgtEl>
                                        <p:attrNameLst>
                                          <p:attrName>style.visibility</p:attrName>
                                        </p:attrNameLst>
                                      </p:cBhvr>
                                      <p:to>
                                        <p:strVal val="visible"/>
                                      </p:to>
                                    </p:set>
                                    <p:animEffect transition="in" filter="blinds(horizontal)">
                                      <p:cBhvr>
                                        <p:cTn id="32" dur="500"/>
                                        <p:tgtEl>
                                          <p:spTgt spid="62464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24643">
                                            <p:txEl>
                                              <p:pRg st="6" end="6"/>
                                            </p:txEl>
                                          </p:spTgt>
                                        </p:tgtEl>
                                        <p:attrNameLst>
                                          <p:attrName>style.visibility</p:attrName>
                                        </p:attrNameLst>
                                      </p:cBhvr>
                                      <p:to>
                                        <p:strVal val="visible"/>
                                      </p:to>
                                    </p:set>
                                    <p:animEffect transition="in" filter="blinds(horizontal)">
                                      <p:cBhvr>
                                        <p:cTn id="37" dur="500"/>
                                        <p:tgtEl>
                                          <p:spTgt spid="6246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6"/>
          <p:cNvSpPr>
            <a:spLocks noGrp="1" noChangeArrowheads="1"/>
          </p:cNvSpPr>
          <p:nvPr>
            <p:ph type="sldNum" sz="quarter" idx="4294967295"/>
          </p:nvPr>
        </p:nvSpPr>
        <p:spPr>
          <a:xfrm>
            <a:off x="6553200" y="6400800"/>
            <a:ext cx="2133600" cy="32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0184F78-9312-46E9-9820-0E987B88FD95}" type="slidenum">
              <a:rPr lang="en-US" smtClean="0"/>
              <a:pPr eaLnBrk="1" hangingPunct="1"/>
              <a:t>32</a:t>
            </a:fld>
            <a:endParaRPr lang="en-US" smtClean="0"/>
          </a:p>
        </p:txBody>
      </p:sp>
      <p:sp>
        <p:nvSpPr>
          <p:cNvPr id="32771" name="Rectangle 5"/>
          <p:cNvSpPr>
            <a:spLocks noChangeArrowheads="1"/>
          </p:cNvSpPr>
          <p:nvPr/>
        </p:nvSpPr>
        <p:spPr bwMode="auto">
          <a:xfrm>
            <a:off x="0" y="23860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32772" name="Object 4"/>
          <p:cNvGraphicFramePr>
            <a:graphicFrameLocks noChangeAspect="1"/>
          </p:cNvGraphicFramePr>
          <p:nvPr/>
        </p:nvGraphicFramePr>
        <p:xfrm>
          <a:off x="0" y="0"/>
          <a:ext cx="9144000" cy="6834188"/>
        </p:xfrm>
        <a:graphic>
          <a:graphicData uri="http://schemas.openxmlformats.org/presentationml/2006/ole">
            <mc:AlternateContent xmlns:mc="http://schemas.openxmlformats.org/markup-compatibility/2006">
              <mc:Choice xmlns:v="urn:schemas-microsoft-com:vml" Requires="v">
                <p:oleObj spid="_x0000_s1027" name="Slide" r:id="rId3" imgW="4572180" imgH="3428876" progId="PowerPoint.Slide.8">
                  <p:embed/>
                </p:oleObj>
              </mc:Choice>
              <mc:Fallback>
                <p:oleObj name="Slide" r:id="rId3" imgW="4572180" imgH="3428876" progId="PowerPoint.Slid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3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9587218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p:cNvSpPr>
            <a:spLocks noGrp="1" noChangeArrowheads="1"/>
          </p:cNvSpPr>
          <p:nvPr>
            <p:ph type="body" idx="1"/>
          </p:nvPr>
        </p:nvSpPr>
        <p:spPr/>
        <p:txBody>
          <a:bodyPr/>
          <a:lstStyle/>
          <a:p>
            <a:r>
              <a:rPr lang="en-US" smtClean="0"/>
              <a:t>Mã hóa tĩnh</a:t>
            </a:r>
          </a:p>
          <a:p>
            <a:r>
              <a:rPr lang="en-US" smtClean="0"/>
              <a:t>Mã hóa động</a:t>
            </a:r>
          </a:p>
          <a:p>
            <a:r>
              <a:rPr lang="en-US" b="1" smtClean="0">
                <a:solidFill>
                  <a:srgbClr val="CC0000"/>
                </a:solidFill>
              </a:rPr>
              <a:t>Phương pháp server mã hóa ứng dụng</a:t>
            </a:r>
          </a:p>
        </p:txBody>
      </p:sp>
      <p:sp>
        <p:nvSpPr>
          <p:cNvPr id="2" name="Title 1"/>
          <p:cNvSpPr>
            <a:spLocks noGrp="1"/>
          </p:cNvSpPr>
          <p:nvPr>
            <p:ph type="title"/>
          </p:nvPr>
        </p:nvSpPr>
        <p:spPr/>
        <p:txBody>
          <a:bodyPr/>
          <a:lstStyle/>
          <a:p>
            <a:endParaRPr lang="en-US"/>
          </a:p>
        </p:txBody>
      </p:sp>
      <p:sp>
        <p:nvSpPr>
          <p:cNvPr id="6" name="Rectangle 2"/>
          <p:cNvSpPr txBox="1">
            <a:spLocks noChangeArrowheads="1"/>
          </p:cNvSpPr>
          <p:nvPr/>
        </p:nvSpPr>
        <p:spPr bwMode="auto">
          <a:xfrm>
            <a:off x="179388" y="115888"/>
            <a:ext cx="881221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lvl1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mj-lt"/>
                <a:ea typeface="+mj-ea"/>
                <a:cs typeface="+mj-cs"/>
              </a:defRPr>
            </a:lvl1pPr>
            <a:lvl2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2pPr>
            <a:lvl3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3pPr>
            <a:lvl4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4pPr>
            <a:lvl5pPr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5pPr>
            <a:lvl6pPr marL="4572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6pPr>
            <a:lvl7pPr marL="9144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7pPr>
            <a:lvl8pPr marL="13716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8pPr>
            <a:lvl9pPr marL="1828800" algn="l" defTabSz="449263" rtl="0" eaLnBrk="1" fontAlgn="base" hangingPunct="1">
              <a:lnSpc>
                <a:spcPct val="82000"/>
              </a:lnSpc>
              <a:spcBef>
                <a:spcPct val="0"/>
              </a:spcBef>
              <a:spcAft>
                <a:spcPct val="0"/>
              </a:spcAft>
              <a:buClr>
                <a:srgbClr val="333399"/>
              </a:buClr>
              <a:buSzPct val="100000"/>
              <a:buFont typeface="Arial" charset="0"/>
              <a:defRPr sz="3200" b="1">
                <a:solidFill>
                  <a:srgbClr val="333399"/>
                </a:solidFill>
                <a:latin typeface="Arial" charset="0"/>
              </a:defRPr>
            </a:lvl9pPr>
          </a:lstStyle>
          <a:p>
            <a:r>
              <a:rPr lang="en-US" sz="3600" smtClean="0"/>
              <a:t>Vấn đề hệ thống khi áp dụng mật mã</a:t>
            </a:r>
            <a:endParaRPr lang="en-US" sz="3600" dirty="0" smtClean="0"/>
          </a:p>
        </p:txBody>
      </p:sp>
    </p:spTree>
    <p:extLst>
      <p:ext uri="{BB962C8B-B14F-4D97-AF65-F5344CB8AC3E}">
        <p14:creationId xmlns:p14="http://schemas.microsoft.com/office/powerpoint/2010/main" val="274502147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179388" y="115888"/>
            <a:ext cx="8583612" cy="576262"/>
          </a:xfrm>
        </p:spPr>
        <p:txBody>
          <a:bodyPr/>
          <a:lstStyle/>
          <a:p>
            <a:r>
              <a:rPr lang="en-US" sz="3000" dirty="0" err="1" smtClean="0"/>
              <a:t>Phương</a:t>
            </a:r>
            <a:r>
              <a:rPr lang="en-US" sz="3000" dirty="0" smtClean="0"/>
              <a:t> </a:t>
            </a:r>
            <a:r>
              <a:rPr lang="en-US" sz="3000" dirty="0" err="1" smtClean="0"/>
              <a:t>pháp</a:t>
            </a:r>
            <a:r>
              <a:rPr lang="en-US" sz="3000" dirty="0" smtClean="0"/>
              <a:t> server </a:t>
            </a:r>
            <a:r>
              <a:rPr lang="en-US" sz="3000" dirty="0" err="1" smtClean="0"/>
              <a:t>mã</a:t>
            </a:r>
            <a:r>
              <a:rPr lang="en-US" sz="3000" dirty="0" smtClean="0"/>
              <a:t> </a:t>
            </a:r>
            <a:r>
              <a:rPr lang="en-US" sz="3000" dirty="0" err="1" smtClean="0"/>
              <a:t>hóa</a:t>
            </a:r>
            <a:r>
              <a:rPr lang="en-US" sz="3000" dirty="0" smtClean="0"/>
              <a:t> </a:t>
            </a:r>
            <a:r>
              <a:rPr lang="en-US" sz="3000" dirty="0" err="1" smtClean="0"/>
              <a:t>ứng</a:t>
            </a:r>
            <a:r>
              <a:rPr lang="en-US" sz="3000" dirty="0" smtClean="0"/>
              <a:t> </a:t>
            </a:r>
            <a:r>
              <a:rPr lang="en-US" sz="3000" dirty="0" err="1" smtClean="0"/>
              <a:t>dụng</a:t>
            </a:r>
            <a:endParaRPr lang="en-US" sz="3000" dirty="0" smtClean="0"/>
          </a:p>
        </p:txBody>
      </p:sp>
      <p:sp>
        <p:nvSpPr>
          <p:cNvPr id="628739" name="Rectangle 3"/>
          <p:cNvSpPr>
            <a:spLocks noGrp="1" noChangeArrowheads="1"/>
          </p:cNvSpPr>
          <p:nvPr>
            <p:ph type="body" idx="1"/>
          </p:nvPr>
        </p:nvSpPr>
        <p:spPr>
          <a:xfrm>
            <a:off x="457200" y="1219200"/>
            <a:ext cx="8458200" cy="5410200"/>
          </a:xfrm>
        </p:spPr>
        <p:txBody>
          <a:bodyPr/>
          <a:lstStyle/>
          <a:p>
            <a:r>
              <a:rPr lang="en-US" smtClean="0"/>
              <a:t>Một dạng của mã hóa động</a:t>
            </a:r>
          </a:p>
          <a:p>
            <a:r>
              <a:rPr lang="en-US" smtClean="0"/>
              <a:t>Tách riêng một thành tố tích cực của HT (thường là một máy trạm client) để làm chức năng mật mã</a:t>
            </a:r>
          </a:p>
          <a:p>
            <a:r>
              <a:rPr lang="en-US" smtClean="0"/>
              <a:t>Nhiệm vụ của server mật mã</a:t>
            </a:r>
          </a:p>
          <a:p>
            <a:pPr lvl="1"/>
            <a:r>
              <a:rPr lang="en-US" smtClean="0"/>
              <a:t>Tự động mã hoá (hoặc được kiểm soát toàn vẹn) việc ghi vào file mới tạo nào đó thuộc tài nguyên chung</a:t>
            </a:r>
          </a:p>
          <a:p>
            <a:pPr lvl="1"/>
            <a:r>
              <a:rPr lang="en-US" smtClean="0"/>
              <a:t>Thực hiện chức năng cách ly file phải bảo vệ bằng cách di chuyển nó vào một nhóm mảng riêng biệt (thư mục các file “phân kỳ”)   </a:t>
            </a:r>
          </a:p>
          <a:p>
            <a:pPr lvl="1"/>
            <a:r>
              <a:rPr lang="en-US" smtClean="0"/>
              <a:t>Quá trình giải mã hoặc thử toàn vẹn tương tự như vậy sẽ diễn ra tại các mảng được tách riêng khác. </a:t>
            </a:r>
          </a:p>
        </p:txBody>
      </p:sp>
    </p:spTree>
    <p:extLst>
      <p:ext uri="{BB962C8B-B14F-4D97-AF65-F5344CB8AC3E}">
        <p14:creationId xmlns:p14="http://schemas.microsoft.com/office/powerpoint/2010/main" val="20606449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8739">
                                            <p:txEl>
                                              <p:pRg st="0" end="0"/>
                                            </p:txEl>
                                          </p:spTgt>
                                        </p:tgtEl>
                                        <p:attrNameLst>
                                          <p:attrName>style.visibility</p:attrName>
                                        </p:attrNameLst>
                                      </p:cBhvr>
                                      <p:to>
                                        <p:strVal val="visible"/>
                                      </p:to>
                                    </p:set>
                                    <p:animEffect transition="in" filter="blinds(horizontal)">
                                      <p:cBhvr>
                                        <p:cTn id="7" dur="500"/>
                                        <p:tgtEl>
                                          <p:spTgt spid="6287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28739">
                                            <p:txEl>
                                              <p:pRg st="1" end="1"/>
                                            </p:txEl>
                                          </p:spTgt>
                                        </p:tgtEl>
                                        <p:attrNameLst>
                                          <p:attrName>style.visibility</p:attrName>
                                        </p:attrNameLst>
                                      </p:cBhvr>
                                      <p:to>
                                        <p:strVal val="visible"/>
                                      </p:to>
                                    </p:set>
                                    <p:animEffect transition="in" filter="blinds(horizontal)">
                                      <p:cBhvr>
                                        <p:cTn id="12" dur="500"/>
                                        <p:tgtEl>
                                          <p:spTgt spid="6287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28739">
                                            <p:txEl>
                                              <p:pRg st="2" end="2"/>
                                            </p:txEl>
                                          </p:spTgt>
                                        </p:tgtEl>
                                        <p:attrNameLst>
                                          <p:attrName>style.visibility</p:attrName>
                                        </p:attrNameLst>
                                      </p:cBhvr>
                                      <p:to>
                                        <p:strVal val="visible"/>
                                      </p:to>
                                    </p:set>
                                    <p:animEffect transition="in" filter="blinds(horizontal)">
                                      <p:cBhvr>
                                        <p:cTn id="17" dur="500"/>
                                        <p:tgtEl>
                                          <p:spTgt spid="6287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28739">
                                            <p:txEl>
                                              <p:pRg st="3" end="3"/>
                                            </p:txEl>
                                          </p:spTgt>
                                        </p:tgtEl>
                                        <p:attrNameLst>
                                          <p:attrName>style.visibility</p:attrName>
                                        </p:attrNameLst>
                                      </p:cBhvr>
                                      <p:to>
                                        <p:strVal val="visible"/>
                                      </p:to>
                                    </p:set>
                                    <p:animEffect transition="in" filter="blinds(horizontal)">
                                      <p:cBhvr>
                                        <p:cTn id="22" dur="500"/>
                                        <p:tgtEl>
                                          <p:spTgt spid="6287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28739">
                                            <p:txEl>
                                              <p:pRg st="4" end="4"/>
                                            </p:txEl>
                                          </p:spTgt>
                                        </p:tgtEl>
                                        <p:attrNameLst>
                                          <p:attrName>style.visibility</p:attrName>
                                        </p:attrNameLst>
                                      </p:cBhvr>
                                      <p:to>
                                        <p:strVal val="visible"/>
                                      </p:to>
                                    </p:set>
                                    <p:animEffect transition="in" filter="blinds(horizontal)">
                                      <p:cBhvr>
                                        <p:cTn id="27" dur="500"/>
                                        <p:tgtEl>
                                          <p:spTgt spid="6287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28739">
                                            <p:txEl>
                                              <p:pRg st="5" end="5"/>
                                            </p:txEl>
                                          </p:spTgt>
                                        </p:tgtEl>
                                        <p:attrNameLst>
                                          <p:attrName>style.visibility</p:attrName>
                                        </p:attrNameLst>
                                      </p:cBhvr>
                                      <p:to>
                                        <p:strVal val="visible"/>
                                      </p:to>
                                    </p:set>
                                    <p:animEffect transition="in" filter="blinds(horizontal)">
                                      <p:cBhvr>
                                        <p:cTn id="32" dur="500"/>
                                        <p:tgtEl>
                                          <p:spTgt spid="6287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76200" y="228600"/>
            <a:ext cx="8763000" cy="533400"/>
          </a:xfrm>
        </p:spPr>
        <p:txBody>
          <a:bodyPr/>
          <a:lstStyle/>
          <a:p>
            <a:r>
              <a:rPr lang="en-US" sz="3600" dirty="0" smtClean="0"/>
              <a:t>2. </a:t>
            </a:r>
            <a:r>
              <a:rPr lang="en-US" sz="3600" dirty="0" err="1" smtClean="0"/>
              <a:t>Phương</a:t>
            </a:r>
            <a:r>
              <a:rPr lang="en-US" sz="3600" dirty="0" smtClean="0"/>
              <a:t> </a:t>
            </a:r>
            <a:r>
              <a:rPr lang="en-US" sz="3600" dirty="0" err="1" smtClean="0"/>
              <a:t>pháp</a:t>
            </a:r>
            <a:r>
              <a:rPr lang="en-US" sz="3600" dirty="0" smtClean="0"/>
              <a:t> </a:t>
            </a:r>
            <a:r>
              <a:rPr lang="en-US" sz="3600" dirty="0" err="1" smtClean="0"/>
              <a:t>mật</a:t>
            </a:r>
            <a:r>
              <a:rPr lang="en-US" sz="3600" dirty="0" smtClean="0"/>
              <a:t> </a:t>
            </a:r>
            <a:r>
              <a:rPr lang="en-US" sz="3600" dirty="0" err="1" smtClean="0"/>
              <a:t>mã</a:t>
            </a:r>
            <a:endParaRPr lang="en-US" sz="3600" dirty="0" smtClean="0"/>
          </a:p>
        </p:txBody>
      </p:sp>
      <p:sp>
        <p:nvSpPr>
          <p:cNvPr id="35844" name="Rectangle 3"/>
          <p:cNvSpPr>
            <a:spLocks noGrp="1" noChangeArrowheads="1"/>
          </p:cNvSpPr>
          <p:nvPr>
            <p:ph type="body" idx="1"/>
          </p:nvPr>
        </p:nvSpPr>
        <p:spPr/>
        <p:txBody>
          <a:bodyPr/>
          <a:lstStyle/>
          <a:p>
            <a:r>
              <a:rPr lang="en-US" smtClean="0"/>
              <a:t>Các nguyên lý bảo vệ thông tin bằng mật mã</a:t>
            </a:r>
          </a:p>
          <a:p>
            <a:r>
              <a:rPr lang="en-US" smtClean="0"/>
              <a:t>Các vấn đề hệ thống khi áp dụng các phương pháp mật mã</a:t>
            </a:r>
          </a:p>
          <a:p>
            <a:r>
              <a:rPr lang="en-US" b="1" smtClean="0">
                <a:solidFill>
                  <a:srgbClr val="CC0000"/>
                </a:solidFill>
              </a:rPr>
              <a:t>Bảo vệ tầng vận tải bằng mật mã</a:t>
            </a:r>
          </a:p>
          <a:p>
            <a:r>
              <a:rPr lang="en-US" smtClean="0"/>
              <a:t>Bảo vệ tầng ứng dụng bằng mật mã</a:t>
            </a:r>
          </a:p>
        </p:txBody>
      </p:sp>
    </p:spTree>
    <p:extLst>
      <p:ext uri="{BB962C8B-B14F-4D97-AF65-F5344CB8AC3E}">
        <p14:creationId xmlns:p14="http://schemas.microsoft.com/office/powerpoint/2010/main" val="386596207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a:xfrm>
            <a:off x="179388" y="115888"/>
            <a:ext cx="8355012" cy="576262"/>
          </a:xfrm>
        </p:spPr>
        <p:txBody>
          <a:bodyPr/>
          <a:lstStyle/>
          <a:p>
            <a:r>
              <a:rPr lang="en-US" sz="3600" dirty="0" err="1" smtClean="0"/>
              <a:t>Bảo</a:t>
            </a:r>
            <a:r>
              <a:rPr lang="en-US" sz="3600" dirty="0" smtClean="0"/>
              <a:t> </a:t>
            </a:r>
            <a:r>
              <a:rPr lang="en-US" sz="3600" dirty="0" err="1" smtClean="0"/>
              <a:t>vệ</a:t>
            </a:r>
            <a:r>
              <a:rPr lang="en-US" sz="3600" dirty="0" smtClean="0"/>
              <a:t> </a:t>
            </a:r>
            <a:r>
              <a:rPr lang="en-US" sz="3600" dirty="0" err="1" smtClean="0"/>
              <a:t>tầng</a:t>
            </a:r>
            <a:r>
              <a:rPr lang="en-US" sz="3600" dirty="0" smtClean="0"/>
              <a:t> </a:t>
            </a:r>
            <a:r>
              <a:rPr lang="en-US" sz="3600" dirty="0" err="1" smtClean="0"/>
              <a:t>vận</a:t>
            </a:r>
            <a:r>
              <a:rPr lang="en-US" sz="3600" dirty="0" smtClean="0"/>
              <a:t> </a:t>
            </a:r>
            <a:r>
              <a:rPr lang="en-US" sz="3600" dirty="0" err="1" smtClean="0"/>
              <a:t>tải</a:t>
            </a:r>
            <a:r>
              <a:rPr lang="en-US" sz="3600" dirty="0" smtClean="0"/>
              <a:t> </a:t>
            </a:r>
            <a:r>
              <a:rPr lang="en-US" sz="3600" dirty="0" err="1" smtClean="0"/>
              <a:t>bằng</a:t>
            </a:r>
            <a:r>
              <a:rPr lang="en-US" sz="3600" dirty="0" smtClean="0"/>
              <a:t> </a:t>
            </a:r>
            <a:r>
              <a:rPr lang="en-US" sz="3600" dirty="0" err="1" smtClean="0"/>
              <a:t>mật</a:t>
            </a:r>
            <a:r>
              <a:rPr lang="en-US" sz="3600" dirty="0" smtClean="0"/>
              <a:t> </a:t>
            </a:r>
            <a:r>
              <a:rPr lang="en-US" sz="3600" dirty="0" err="1" smtClean="0"/>
              <a:t>mã</a:t>
            </a:r>
            <a:r>
              <a:rPr lang="en-US" sz="3600" dirty="0" smtClean="0"/>
              <a:t>…</a:t>
            </a:r>
          </a:p>
        </p:txBody>
      </p:sp>
      <p:sp>
        <p:nvSpPr>
          <p:cNvPr id="649219" name="Rectangle 3"/>
          <p:cNvSpPr>
            <a:spLocks noGrp="1" noChangeArrowheads="1"/>
          </p:cNvSpPr>
          <p:nvPr>
            <p:ph type="body" idx="1"/>
          </p:nvPr>
        </p:nvSpPr>
        <p:spPr/>
        <p:txBody>
          <a:bodyPr/>
          <a:lstStyle/>
          <a:p>
            <a:r>
              <a:rPr lang="en-US" dirty="0" err="1" smtClean="0"/>
              <a:t>Có</a:t>
            </a:r>
            <a:r>
              <a:rPr lang="en-US" dirty="0" smtClean="0"/>
              <a:t> </a:t>
            </a:r>
            <a:r>
              <a:rPr lang="en-US" dirty="0" err="1" smtClean="0"/>
              <a:t>thể</a:t>
            </a:r>
            <a:r>
              <a:rPr lang="en-US" dirty="0" smtClean="0"/>
              <a:t> </a:t>
            </a:r>
            <a:r>
              <a:rPr lang="en-US" dirty="0" err="1" smtClean="0"/>
              <a:t>áp</a:t>
            </a:r>
            <a:r>
              <a:rPr lang="en-US" dirty="0" smtClean="0"/>
              <a:t> </a:t>
            </a:r>
            <a:r>
              <a:rPr lang="en-US" dirty="0" err="1" smtClean="0"/>
              <a:t>dụng</a:t>
            </a:r>
            <a:r>
              <a:rPr lang="en-US" dirty="0" smtClean="0"/>
              <a:t> </a:t>
            </a:r>
            <a:r>
              <a:rPr lang="en-US" dirty="0" err="1" smtClean="0"/>
              <a:t>mã</a:t>
            </a:r>
            <a:r>
              <a:rPr lang="en-US" dirty="0" smtClean="0"/>
              <a:t> </a:t>
            </a:r>
            <a:r>
              <a:rPr lang="en-US" dirty="0" err="1" smtClean="0"/>
              <a:t>hóa</a:t>
            </a:r>
            <a:r>
              <a:rPr lang="en-US" dirty="0" smtClean="0"/>
              <a:t> </a:t>
            </a:r>
            <a:r>
              <a:rPr lang="en-US" dirty="0" err="1" smtClean="0"/>
              <a:t>tầng</a:t>
            </a:r>
            <a:r>
              <a:rPr lang="en-US" dirty="0" smtClean="0"/>
              <a:t> </a:t>
            </a:r>
            <a:r>
              <a:rPr lang="en-US" dirty="0" err="1" smtClean="0"/>
              <a:t>vận</a:t>
            </a:r>
            <a:r>
              <a:rPr lang="en-US" dirty="0" smtClean="0"/>
              <a:t> </a:t>
            </a:r>
            <a:r>
              <a:rPr lang="en-US" dirty="0" err="1" smtClean="0"/>
              <a:t>tải</a:t>
            </a:r>
            <a:r>
              <a:rPr lang="en-US" dirty="0" smtClean="0"/>
              <a:t> </a:t>
            </a:r>
            <a:r>
              <a:rPr lang="en-US" dirty="0" err="1" smtClean="0"/>
              <a:t>trong</a:t>
            </a:r>
            <a:r>
              <a:rPr lang="en-US" dirty="0" smtClean="0"/>
              <a:t> </a:t>
            </a:r>
            <a:r>
              <a:rPr lang="en-US" dirty="0" err="1" smtClean="0"/>
              <a:t>trường</a:t>
            </a:r>
            <a:r>
              <a:rPr lang="en-US" dirty="0" smtClean="0"/>
              <a:t> </a:t>
            </a:r>
            <a:r>
              <a:rPr lang="en-US" dirty="0" err="1" smtClean="0"/>
              <a:t>hợp</a:t>
            </a:r>
            <a:r>
              <a:rPr lang="en-US" dirty="0" smtClean="0"/>
              <a:t>:</a:t>
            </a:r>
          </a:p>
          <a:p>
            <a:pPr lvl="1"/>
            <a:r>
              <a:rPr lang="en-US" dirty="0" err="1" smtClean="0"/>
              <a:t>Đường</a:t>
            </a:r>
            <a:r>
              <a:rPr lang="en-US" dirty="0" smtClean="0"/>
              <a:t> </a:t>
            </a:r>
            <a:r>
              <a:rPr lang="en-US" dirty="0" err="1" smtClean="0"/>
              <a:t>cáp</a:t>
            </a:r>
            <a:r>
              <a:rPr lang="en-US" dirty="0" smtClean="0"/>
              <a:t> </a:t>
            </a:r>
            <a:r>
              <a:rPr lang="en-US" dirty="0" err="1" smtClean="0"/>
              <a:t>dẫn</a:t>
            </a:r>
            <a:r>
              <a:rPr lang="en-US" dirty="0" smtClean="0"/>
              <a:t> </a:t>
            </a:r>
            <a:r>
              <a:rPr lang="en-US" dirty="0" err="1" smtClean="0"/>
              <a:t>của</a:t>
            </a:r>
            <a:r>
              <a:rPr lang="en-US" dirty="0" smtClean="0"/>
              <a:t> HT </a:t>
            </a:r>
            <a:r>
              <a:rPr lang="en-US" dirty="0" err="1" smtClean="0"/>
              <a:t>đi</a:t>
            </a:r>
            <a:r>
              <a:rPr lang="en-US" dirty="0" smtClean="0"/>
              <a:t> qua </a:t>
            </a:r>
            <a:r>
              <a:rPr lang="en-US" dirty="0" err="1" smtClean="0"/>
              <a:t>vùng</a:t>
            </a:r>
            <a:r>
              <a:rPr lang="en-US" dirty="0" smtClean="0"/>
              <a:t> </a:t>
            </a:r>
            <a:r>
              <a:rPr lang="en-US" dirty="0" err="1" smtClean="0"/>
              <a:t>mà</a:t>
            </a:r>
            <a:r>
              <a:rPr lang="en-US" dirty="0" smtClean="0"/>
              <a:t> </a:t>
            </a:r>
            <a:r>
              <a:rPr lang="en-US" dirty="0" err="1" smtClean="0"/>
              <a:t>kẻ</a:t>
            </a:r>
            <a:r>
              <a:rPr lang="en-US" dirty="0" smtClean="0"/>
              <a:t> </a:t>
            </a:r>
            <a:r>
              <a:rPr lang="en-US" dirty="0" err="1" smtClean="0"/>
              <a:t>xấu</a:t>
            </a:r>
            <a:r>
              <a:rPr lang="en-US" dirty="0" smtClean="0"/>
              <a:t> </a:t>
            </a:r>
            <a:r>
              <a:rPr lang="en-US" dirty="0" err="1" smtClean="0"/>
              <a:t>dễ</a:t>
            </a:r>
            <a:r>
              <a:rPr lang="en-US" dirty="0" smtClean="0"/>
              <a:t> </a:t>
            </a:r>
            <a:r>
              <a:rPr lang="en-US" dirty="0" err="1" smtClean="0"/>
              <a:t>dàng</a:t>
            </a:r>
            <a:r>
              <a:rPr lang="en-US" dirty="0" smtClean="0"/>
              <a:t> </a:t>
            </a:r>
            <a:r>
              <a:rPr lang="en-US" dirty="0" err="1" smtClean="0"/>
              <a:t>tiếp</a:t>
            </a:r>
            <a:r>
              <a:rPr lang="en-US" dirty="0" smtClean="0"/>
              <a:t> </a:t>
            </a:r>
            <a:r>
              <a:rPr lang="en-US" dirty="0" err="1" smtClean="0"/>
              <a:t>cận</a:t>
            </a:r>
            <a:endParaRPr lang="en-US" dirty="0" smtClean="0"/>
          </a:p>
          <a:p>
            <a:pPr lvl="1"/>
            <a:r>
              <a:rPr lang="en-US" dirty="0" err="1" smtClean="0"/>
              <a:t>Không</a:t>
            </a:r>
            <a:r>
              <a:rPr lang="en-US" dirty="0" smtClean="0"/>
              <a:t> </a:t>
            </a:r>
            <a:r>
              <a:rPr lang="en-US" dirty="0" err="1" smtClean="0"/>
              <a:t>có</a:t>
            </a:r>
            <a:r>
              <a:rPr lang="en-US" dirty="0" smtClean="0"/>
              <a:t> </a:t>
            </a:r>
            <a:r>
              <a:rPr lang="en-US" dirty="0" err="1" smtClean="0"/>
              <a:t>khả</a:t>
            </a:r>
            <a:r>
              <a:rPr lang="en-US" dirty="0" smtClean="0"/>
              <a:t> </a:t>
            </a:r>
            <a:r>
              <a:rPr lang="en-US" dirty="0" err="1" smtClean="0"/>
              <a:t>năng</a:t>
            </a:r>
            <a:r>
              <a:rPr lang="en-US" dirty="0" smtClean="0"/>
              <a:t> </a:t>
            </a:r>
            <a:r>
              <a:rPr lang="en-US" dirty="0" err="1" smtClean="0"/>
              <a:t>từ</a:t>
            </a:r>
            <a:r>
              <a:rPr lang="en-US" dirty="0" smtClean="0"/>
              <a:t> </a:t>
            </a:r>
            <a:r>
              <a:rPr lang="en-US" dirty="0" err="1" smtClean="0"/>
              <a:t>các</a:t>
            </a:r>
            <a:r>
              <a:rPr lang="en-US" dirty="0" smtClean="0"/>
              <a:t> </a:t>
            </a:r>
            <a:r>
              <a:rPr lang="en-US" dirty="0" err="1" smtClean="0"/>
              <a:t>ứng</a:t>
            </a:r>
            <a:r>
              <a:rPr lang="en-US" dirty="0" smtClean="0"/>
              <a:t> </a:t>
            </a:r>
            <a:r>
              <a:rPr lang="en-US" dirty="0" err="1" smtClean="0"/>
              <a:t>dụng</a:t>
            </a:r>
            <a:r>
              <a:rPr lang="en-US" dirty="0" smtClean="0"/>
              <a:t> </a:t>
            </a:r>
            <a:r>
              <a:rPr lang="en-US" dirty="0" err="1" smtClean="0"/>
              <a:t>người</a:t>
            </a:r>
            <a:r>
              <a:rPr lang="en-US" dirty="0" smtClean="0"/>
              <a:t> </a:t>
            </a:r>
            <a:r>
              <a:rPr lang="en-US" dirty="0" err="1" smtClean="0"/>
              <a:t>dùng</a:t>
            </a:r>
            <a:r>
              <a:rPr lang="en-US" dirty="0" smtClean="0"/>
              <a:t> </a:t>
            </a:r>
            <a:r>
              <a:rPr lang="en-US" dirty="0" err="1" smtClean="0"/>
              <a:t>viện</a:t>
            </a:r>
            <a:r>
              <a:rPr lang="en-US" dirty="0" smtClean="0"/>
              <a:t> </a:t>
            </a:r>
            <a:r>
              <a:rPr lang="en-US" dirty="0" err="1" smtClean="0"/>
              <a:t>dẫn</a:t>
            </a:r>
            <a:r>
              <a:rPr lang="en-US" dirty="0" smtClean="0"/>
              <a:t> </a:t>
            </a:r>
            <a:r>
              <a:rPr lang="en-US" dirty="0" err="1" smtClean="0"/>
              <a:t>hệ</a:t>
            </a:r>
            <a:r>
              <a:rPr lang="en-US" dirty="0" smtClean="0"/>
              <a:t> </a:t>
            </a:r>
            <a:r>
              <a:rPr lang="en-US" dirty="0" err="1" smtClean="0"/>
              <a:t>mã</a:t>
            </a:r>
            <a:r>
              <a:rPr lang="en-US" dirty="0" smtClean="0"/>
              <a:t> </a:t>
            </a:r>
            <a:r>
              <a:rPr lang="en-US" dirty="0" err="1" smtClean="0"/>
              <a:t>cơ</a:t>
            </a:r>
            <a:r>
              <a:rPr lang="en-US" dirty="0" smtClean="0"/>
              <a:t> </a:t>
            </a:r>
            <a:r>
              <a:rPr lang="en-US" dirty="0" err="1" smtClean="0"/>
              <a:t>động</a:t>
            </a:r>
            <a:r>
              <a:rPr lang="en-US" dirty="0" smtClean="0"/>
              <a:t> </a:t>
            </a:r>
            <a:r>
              <a:rPr lang="en-US" dirty="0" err="1" smtClean="0"/>
              <a:t>cho</a:t>
            </a:r>
            <a:r>
              <a:rPr lang="en-US" dirty="0" smtClean="0"/>
              <a:t> </a:t>
            </a:r>
            <a:r>
              <a:rPr lang="en-US" dirty="0" err="1" smtClean="0"/>
              <a:t>các</a:t>
            </a:r>
            <a:r>
              <a:rPr lang="en-US" dirty="0" smtClean="0"/>
              <a:t> file</a:t>
            </a:r>
          </a:p>
          <a:p>
            <a:pPr lvl="1"/>
            <a:r>
              <a:rPr lang="en-US" dirty="0" err="1" smtClean="0"/>
              <a:t>Không</a:t>
            </a:r>
            <a:r>
              <a:rPr lang="en-US" dirty="0" smtClean="0"/>
              <a:t> </a:t>
            </a:r>
            <a:r>
              <a:rPr lang="en-US" dirty="0" err="1" smtClean="0"/>
              <a:t>cần</a:t>
            </a:r>
            <a:r>
              <a:rPr lang="en-US" dirty="0" smtClean="0"/>
              <a:t> </a:t>
            </a:r>
            <a:r>
              <a:rPr lang="en-US" dirty="0" err="1" smtClean="0"/>
              <a:t>thiết</a:t>
            </a:r>
            <a:r>
              <a:rPr lang="en-US" dirty="0" smtClean="0"/>
              <a:t> </a:t>
            </a:r>
            <a:r>
              <a:rPr lang="en-US" dirty="0" err="1" smtClean="0"/>
              <a:t>mã</a:t>
            </a:r>
            <a:r>
              <a:rPr lang="en-US" dirty="0" smtClean="0"/>
              <a:t> </a:t>
            </a:r>
            <a:r>
              <a:rPr lang="en-US" dirty="0" err="1" smtClean="0"/>
              <a:t>hóa</a:t>
            </a:r>
            <a:r>
              <a:rPr lang="en-US" dirty="0" smtClean="0"/>
              <a:t> </a:t>
            </a:r>
            <a:r>
              <a:rPr lang="en-US" dirty="0" err="1" smtClean="0"/>
              <a:t>các</a:t>
            </a:r>
            <a:r>
              <a:rPr lang="en-US" dirty="0" smtClean="0"/>
              <a:t> </a:t>
            </a:r>
            <a:r>
              <a:rPr lang="en-US" dirty="0" err="1" smtClean="0"/>
              <a:t>tài</a:t>
            </a:r>
            <a:r>
              <a:rPr lang="en-US" dirty="0" smtClean="0"/>
              <a:t> </a:t>
            </a:r>
            <a:r>
              <a:rPr lang="en-US" dirty="0" err="1" smtClean="0"/>
              <a:t>nguyên</a:t>
            </a:r>
            <a:r>
              <a:rPr lang="en-US" dirty="0" smtClean="0"/>
              <a:t> local.</a:t>
            </a:r>
          </a:p>
        </p:txBody>
      </p:sp>
    </p:spTree>
    <p:extLst>
      <p:ext uri="{BB962C8B-B14F-4D97-AF65-F5344CB8AC3E}">
        <p14:creationId xmlns:p14="http://schemas.microsoft.com/office/powerpoint/2010/main" val="42621332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9219">
                                            <p:txEl>
                                              <p:pRg st="1" end="1"/>
                                            </p:txEl>
                                          </p:spTgt>
                                        </p:tgtEl>
                                        <p:attrNameLst>
                                          <p:attrName>style.visibility</p:attrName>
                                        </p:attrNameLst>
                                      </p:cBhvr>
                                      <p:to>
                                        <p:strVal val="visible"/>
                                      </p:to>
                                    </p:set>
                                    <p:animEffect transition="in" filter="blinds(horizontal)">
                                      <p:cBhvr>
                                        <p:cTn id="7" dur="500"/>
                                        <p:tgtEl>
                                          <p:spTgt spid="6492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49219">
                                            <p:txEl>
                                              <p:pRg st="2" end="2"/>
                                            </p:txEl>
                                          </p:spTgt>
                                        </p:tgtEl>
                                        <p:attrNameLst>
                                          <p:attrName>style.visibility</p:attrName>
                                        </p:attrNameLst>
                                      </p:cBhvr>
                                      <p:to>
                                        <p:strVal val="visible"/>
                                      </p:to>
                                    </p:set>
                                    <p:animEffect transition="in" filter="blinds(horizontal)">
                                      <p:cBhvr>
                                        <p:cTn id="12" dur="500"/>
                                        <p:tgtEl>
                                          <p:spTgt spid="64921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49219">
                                            <p:txEl>
                                              <p:pRg st="3" end="3"/>
                                            </p:txEl>
                                          </p:spTgt>
                                        </p:tgtEl>
                                        <p:attrNameLst>
                                          <p:attrName>style.visibility</p:attrName>
                                        </p:attrNameLst>
                                      </p:cBhvr>
                                      <p:to>
                                        <p:strVal val="visible"/>
                                      </p:to>
                                    </p:set>
                                    <p:animEffect transition="in" filter="blinds(horizontal)">
                                      <p:cBhvr>
                                        <p:cTn id="17" dur="500"/>
                                        <p:tgtEl>
                                          <p:spTgt spid="64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179388" y="115888"/>
            <a:ext cx="8736012" cy="576262"/>
          </a:xfrm>
        </p:spPr>
        <p:txBody>
          <a:bodyPr/>
          <a:lstStyle/>
          <a:p>
            <a:r>
              <a:rPr lang="en-US" sz="3600" dirty="0" err="1" smtClean="0"/>
              <a:t>Bảo</a:t>
            </a:r>
            <a:r>
              <a:rPr lang="en-US" sz="3600" dirty="0" smtClean="0"/>
              <a:t> </a:t>
            </a:r>
            <a:r>
              <a:rPr lang="en-US" sz="3600" dirty="0" err="1" smtClean="0"/>
              <a:t>vệ</a:t>
            </a:r>
            <a:r>
              <a:rPr lang="en-US" sz="3600" dirty="0" smtClean="0"/>
              <a:t> </a:t>
            </a:r>
            <a:r>
              <a:rPr lang="en-US" sz="3600" dirty="0" err="1" smtClean="0"/>
              <a:t>tầng</a:t>
            </a:r>
            <a:r>
              <a:rPr lang="en-US" sz="3600" dirty="0" smtClean="0"/>
              <a:t> </a:t>
            </a:r>
            <a:r>
              <a:rPr lang="en-US" sz="3600" dirty="0" err="1" smtClean="0"/>
              <a:t>vận</a:t>
            </a:r>
            <a:r>
              <a:rPr lang="en-US" sz="3600" dirty="0" smtClean="0"/>
              <a:t> </a:t>
            </a:r>
            <a:r>
              <a:rPr lang="en-US" sz="3600" dirty="0" err="1" smtClean="0"/>
              <a:t>tải</a:t>
            </a:r>
            <a:r>
              <a:rPr lang="en-US" sz="3600" dirty="0" smtClean="0"/>
              <a:t> </a:t>
            </a:r>
            <a:r>
              <a:rPr lang="en-US" sz="3600" dirty="0" err="1" smtClean="0"/>
              <a:t>bằng</a:t>
            </a:r>
            <a:r>
              <a:rPr lang="en-US" sz="3600" dirty="0" smtClean="0"/>
              <a:t> </a:t>
            </a:r>
            <a:r>
              <a:rPr lang="en-US" sz="3600" dirty="0" err="1" smtClean="0"/>
              <a:t>mật</a:t>
            </a:r>
            <a:r>
              <a:rPr lang="en-US" sz="3600" dirty="0" smtClean="0"/>
              <a:t> </a:t>
            </a:r>
            <a:r>
              <a:rPr lang="en-US" sz="3600" dirty="0" err="1" smtClean="0"/>
              <a:t>mã</a:t>
            </a:r>
            <a:r>
              <a:rPr lang="en-US" sz="3600" dirty="0" smtClean="0"/>
              <a:t>…</a:t>
            </a:r>
          </a:p>
        </p:txBody>
      </p:sp>
      <p:sp>
        <p:nvSpPr>
          <p:cNvPr id="37892" name="Rectangle 3"/>
          <p:cNvSpPr>
            <a:spLocks noGrp="1" noChangeArrowheads="1"/>
          </p:cNvSpPr>
          <p:nvPr>
            <p:ph type="body" idx="1"/>
          </p:nvPr>
        </p:nvSpPr>
        <p:spPr>
          <a:xfrm>
            <a:off x="457200" y="1219200"/>
            <a:ext cx="8229600" cy="533400"/>
          </a:xfrm>
        </p:spPr>
        <p:txBody>
          <a:bodyPr/>
          <a:lstStyle/>
          <a:p>
            <a:r>
              <a:rPr lang="en-US" smtClean="0"/>
              <a:t>Có thể thực hiện bằng:</a:t>
            </a:r>
          </a:p>
        </p:txBody>
      </p:sp>
      <p:pic>
        <p:nvPicPr>
          <p:cNvPr id="37893" name="Picture 4" descr="h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819400"/>
            <a:ext cx="5181600" cy="379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0245" name="AutoShape 5"/>
          <p:cNvSpPr>
            <a:spLocks noChangeArrowheads="1"/>
          </p:cNvSpPr>
          <p:nvPr/>
        </p:nvSpPr>
        <p:spPr bwMode="auto">
          <a:xfrm>
            <a:off x="1371600" y="1828800"/>
            <a:ext cx="2819400" cy="1447800"/>
          </a:xfrm>
          <a:prstGeom prst="wedgeRoundRectCallout">
            <a:avLst>
              <a:gd name="adj1" fmla="val 89583"/>
              <a:gd name="adj2" fmla="val 138269"/>
              <a:gd name="adj3" fmla="val 16667"/>
            </a:avLst>
          </a:prstGeom>
          <a:noFill/>
          <a:ln w="19050">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2400">
                <a:solidFill>
                  <a:srgbClr val="333399"/>
                </a:solidFill>
                <a:latin typeface="Times New Roman" pitchFamily="18" charset="0"/>
              </a:rPr>
              <a:t>Cài đặt CT phần mềm vào trong các thiết bị luồng mạng</a:t>
            </a:r>
          </a:p>
        </p:txBody>
      </p:sp>
      <p:sp>
        <p:nvSpPr>
          <p:cNvPr id="650246" name="AutoShape 6"/>
          <p:cNvSpPr>
            <a:spLocks noChangeArrowheads="1"/>
          </p:cNvSpPr>
          <p:nvPr/>
        </p:nvSpPr>
        <p:spPr bwMode="auto">
          <a:xfrm>
            <a:off x="5715000" y="1752600"/>
            <a:ext cx="2971800" cy="1371600"/>
          </a:xfrm>
          <a:prstGeom prst="wedgeRoundRectCallout">
            <a:avLst>
              <a:gd name="adj1" fmla="val -50481"/>
              <a:gd name="adj2" fmla="val 170602"/>
              <a:gd name="adj3" fmla="val 16667"/>
            </a:avLst>
          </a:prstGeom>
          <a:noFill/>
          <a:ln w="19050">
            <a:solidFill>
              <a:srgbClr val="692AA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2400">
                <a:solidFill>
                  <a:srgbClr val="692AA2"/>
                </a:solidFill>
                <a:latin typeface="Times New Roman" pitchFamily="18" charset="0"/>
              </a:rPr>
              <a:t>Gá lắp máy vào chỗ giao nhau “máy trạm – các thiết bị mạng”</a:t>
            </a:r>
          </a:p>
        </p:txBody>
      </p:sp>
      <p:sp>
        <p:nvSpPr>
          <p:cNvPr id="650247" name="AutoShape 7"/>
          <p:cNvSpPr>
            <a:spLocks noChangeArrowheads="1"/>
          </p:cNvSpPr>
          <p:nvPr/>
        </p:nvSpPr>
        <p:spPr bwMode="auto">
          <a:xfrm>
            <a:off x="152400" y="5181600"/>
            <a:ext cx="3352800" cy="1371600"/>
          </a:xfrm>
          <a:prstGeom prst="wedgeRoundRectCallout">
            <a:avLst>
              <a:gd name="adj1" fmla="val 74718"/>
              <a:gd name="adj2" fmla="val -137384"/>
              <a:gd name="adj3" fmla="val 16667"/>
            </a:avLst>
          </a:prstGeom>
          <a:noFill/>
          <a:ln w="19050">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2400">
                <a:solidFill>
                  <a:srgbClr val="800000"/>
                </a:solidFill>
                <a:latin typeface="Times New Roman" pitchFamily="18" charset="0"/>
              </a:rPr>
              <a:t>Gá lắp máy vào chỗ giao nhau “máy trạm – hệ thống đường truyền”</a:t>
            </a:r>
          </a:p>
        </p:txBody>
      </p:sp>
    </p:spTree>
    <p:extLst>
      <p:ext uri="{BB962C8B-B14F-4D97-AF65-F5344CB8AC3E}">
        <p14:creationId xmlns:p14="http://schemas.microsoft.com/office/powerpoint/2010/main" val="36149230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0245"/>
                                        </p:tgtEl>
                                        <p:attrNameLst>
                                          <p:attrName>style.visibility</p:attrName>
                                        </p:attrNameLst>
                                      </p:cBhvr>
                                      <p:to>
                                        <p:strVal val="visible"/>
                                      </p:to>
                                    </p:set>
                                    <p:animEffect transition="in" filter="blinds(horizontal)">
                                      <p:cBhvr>
                                        <p:cTn id="7" dur="500"/>
                                        <p:tgtEl>
                                          <p:spTgt spid="6502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50246"/>
                                        </p:tgtEl>
                                        <p:attrNameLst>
                                          <p:attrName>style.visibility</p:attrName>
                                        </p:attrNameLst>
                                      </p:cBhvr>
                                      <p:to>
                                        <p:strVal val="visible"/>
                                      </p:to>
                                    </p:set>
                                    <p:animEffect transition="in" filter="blinds(horizontal)">
                                      <p:cBhvr>
                                        <p:cTn id="12" dur="500"/>
                                        <p:tgtEl>
                                          <p:spTgt spid="6502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50247"/>
                                        </p:tgtEl>
                                        <p:attrNameLst>
                                          <p:attrName>style.visibility</p:attrName>
                                        </p:attrNameLst>
                                      </p:cBhvr>
                                      <p:to>
                                        <p:strVal val="visible"/>
                                      </p:to>
                                    </p:set>
                                    <p:animEffect transition="in" filter="blinds(horizontal)">
                                      <p:cBhvr>
                                        <p:cTn id="17" dur="500"/>
                                        <p:tgtEl>
                                          <p:spTgt spid="650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245" grpId="0" animBg="1"/>
      <p:bldP spid="650246" grpId="0" animBg="1"/>
      <p:bldP spid="65024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5"/>
          <p:cNvSpPr>
            <a:spLocks noChangeArrowheads="1"/>
          </p:cNvSpPr>
          <p:nvPr/>
        </p:nvSpPr>
        <p:spPr bwMode="auto">
          <a:xfrm>
            <a:off x="0" y="2381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8916" name="Rectangle 6"/>
          <p:cNvSpPr>
            <a:spLocks noGrp="1" noChangeArrowheads="1"/>
          </p:cNvSpPr>
          <p:nvPr>
            <p:ph type="title"/>
          </p:nvPr>
        </p:nvSpPr>
        <p:spPr>
          <a:noFill/>
        </p:spPr>
        <p:txBody>
          <a:bodyPr/>
          <a:lstStyle/>
          <a:p>
            <a:r>
              <a:rPr lang="en-US" smtClean="0"/>
              <a:t>Bảo vệ mật mã tầng vận tải… </a:t>
            </a:r>
          </a:p>
        </p:txBody>
      </p:sp>
      <p:grpSp>
        <p:nvGrpSpPr>
          <p:cNvPr id="38917" name="Group 7"/>
          <p:cNvGrpSpPr>
            <a:grpSpLocks/>
          </p:cNvGrpSpPr>
          <p:nvPr/>
        </p:nvGrpSpPr>
        <p:grpSpPr bwMode="auto">
          <a:xfrm>
            <a:off x="974725" y="1295400"/>
            <a:ext cx="7788275" cy="4721225"/>
            <a:chOff x="614" y="816"/>
            <a:chExt cx="4906" cy="2974"/>
          </a:xfrm>
        </p:grpSpPr>
        <p:sp>
          <p:nvSpPr>
            <p:cNvPr id="38918" name="Text Box 8"/>
            <p:cNvSpPr txBox="1">
              <a:spLocks noChangeArrowheads="1"/>
            </p:cNvSpPr>
            <p:nvPr/>
          </p:nvSpPr>
          <p:spPr bwMode="auto">
            <a:xfrm>
              <a:off x="1810" y="816"/>
              <a:ext cx="2154" cy="26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000" b="1">
                  <a:latin typeface="Times New Roman" pitchFamily="18" charset="0"/>
                </a:rPr>
                <a:t>1. Chương trình ứng dụng</a:t>
              </a:r>
            </a:p>
          </p:txBody>
        </p:sp>
        <p:sp>
          <p:nvSpPr>
            <p:cNvPr id="38919" name="Text Box 9"/>
            <p:cNvSpPr txBox="1">
              <a:spLocks noChangeArrowheads="1"/>
            </p:cNvSpPr>
            <p:nvPr/>
          </p:nvSpPr>
          <p:spPr bwMode="auto">
            <a:xfrm>
              <a:off x="1332" y="1341"/>
              <a:ext cx="2991" cy="26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000" b="1">
                  <a:latin typeface="Times New Roman" pitchFamily="18" charset="0"/>
                </a:rPr>
                <a:t>2. Máy trạm (Client của mạng)</a:t>
              </a:r>
            </a:p>
          </p:txBody>
        </p:sp>
        <p:sp>
          <p:nvSpPr>
            <p:cNvPr id="38920" name="Text Box 10"/>
            <p:cNvSpPr txBox="1">
              <a:spLocks noChangeArrowheads="1"/>
            </p:cNvSpPr>
            <p:nvPr/>
          </p:nvSpPr>
          <p:spPr bwMode="auto">
            <a:xfrm>
              <a:off x="614" y="1953"/>
              <a:ext cx="1436" cy="263"/>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000" b="1">
                  <a:latin typeface="Times New Roman" pitchFamily="18" charset="0"/>
                </a:rPr>
                <a:t>3. HĐH cục bộ</a:t>
              </a:r>
            </a:p>
          </p:txBody>
        </p:sp>
        <p:sp>
          <p:nvSpPr>
            <p:cNvPr id="38921" name="Text Box 11"/>
            <p:cNvSpPr txBox="1">
              <a:spLocks noChangeArrowheads="1"/>
            </p:cNvSpPr>
            <p:nvPr/>
          </p:nvSpPr>
          <p:spPr bwMode="auto">
            <a:xfrm>
              <a:off x="3366" y="1955"/>
              <a:ext cx="2154" cy="262"/>
            </a:xfrm>
            <a:prstGeom prst="rect">
              <a:avLst/>
            </a:prstGeom>
            <a:solidFill>
              <a:srgbClr val="FFFFFF"/>
            </a:solidFill>
            <a:ln w="38100">
              <a:solidFill>
                <a:srgbClr val="000000"/>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000" b="1">
                  <a:latin typeface="Times New Roman" pitchFamily="18" charset="0"/>
                </a:rPr>
                <a:t>4. Modul mật mã cài đặt</a:t>
              </a:r>
            </a:p>
          </p:txBody>
        </p:sp>
        <p:sp>
          <p:nvSpPr>
            <p:cNvPr id="38922" name="Text Box 12"/>
            <p:cNvSpPr txBox="1">
              <a:spLocks noChangeArrowheads="1"/>
            </p:cNvSpPr>
            <p:nvPr/>
          </p:nvSpPr>
          <p:spPr bwMode="auto">
            <a:xfrm>
              <a:off x="3366" y="2477"/>
              <a:ext cx="2154" cy="263"/>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000" b="1">
                  <a:latin typeface="Times New Roman" pitchFamily="18" charset="0"/>
                </a:rPr>
                <a:t>5. Tầng vận tải</a:t>
              </a:r>
            </a:p>
          </p:txBody>
        </p:sp>
        <p:sp>
          <p:nvSpPr>
            <p:cNvPr id="38923" name="Text Box 13"/>
            <p:cNvSpPr txBox="1">
              <a:spLocks noChangeArrowheads="1"/>
            </p:cNvSpPr>
            <p:nvPr/>
          </p:nvSpPr>
          <p:spPr bwMode="auto">
            <a:xfrm>
              <a:off x="3366" y="3001"/>
              <a:ext cx="2154" cy="262"/>
            </a:xfrm>
            <a:prstGeom prst="rect">
              <a:avLst/>
            </a:prstGeom>
            <a:solidFill>
              <a:srgbClr val="FFFFFF"/>
            </a:solidFill>
            <a:ln w="38100">
              <a:solidFill>
                <a:srgbClr val="000000"/>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000" b="1">
                  <a:latin typeface="Times New Roman" pitchFamily="18" charset="0"/>
                </a:rPr>
                <a:t>6. Modul mật mã gá lắp</a:t>
              </a:r>
            </a:p>
          </p:txBody>
        </p:sp>
        <p:sp>
          <p:nvSpPr>
            <p:cNvPr id="38924" name="Text Box 14"/>
            <p:cNvSpPr txBox="1">
              <a:spLocks noChangeArrowheads="1"/>
            </p:cNvSpPr>
            <p:nvPr/>
          </p:nvSpPr>
          <p:spPr bwMode="auto">
            <a:xfrm>
              <a:off x="3725" y="3528"/>
              <a:ext cx="1436" cy="26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000" b="1">
                  <a:latin typeface="Times New Roman" pitchFamily="18" charset="0"/>
                </a:rPr>
                <a:t>7. HĐH mạng</a:t>
              </a:r>
            </a:p>
          </p:txBody>
        </p:sp>
        <p:sp>
          <p:nvSpPr>
            <p:cNvPr id="38925" name="Line 15"/>
            <p:cNvSpPr>
              <a:spLocks noChangeShapeType="1"/>
            </p:cNvSpPr>
            <p:nvPr/>
          </p:nvSpPr>
          <p:spPr bwMode="auto">
            <a:xfrm>
              <a:off x="2887" y="1078"/>
              <a:ext cx="0" cy="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6" name="Line 16"/>
            <p:cNvSpPr>
              <a:spLocks noChangeShapeType="1"/>
            </p:cNvSpPr>
            <p:nvPr/>
          </p:nvSpPr>
          <p:spPr bwMode="auto">
            <a:xfrm flipV="1">
              <a:off x="1212" y="1778"/>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7" name="Line 17"/>
            <p:cNvSpPr>
              <a:spLocks noChangeShapeType="1"/>
            </p:cNvSpPr>
            <p:nvPr/>
          </p:nvSpPr>
          <p:spPr bwMode="auto">
            <a:xfrm flipV="1">
              <a:off x="4443" y="1778"/>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8" name="Line 18"/>
            <p:cNvSpPr>
              <a:spLocks noChangeShapeType="1"/>
            </p:cNvSpPr>
            <p:nvPr/>
          </p:nvSpPr>
          <p:spPr bwMode="auto">
            <a:xfrm>
              <a:off x="1212" y="1778"/>
              <a:ext cx="155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9" name="Line 19"/>
            <p:cNvSpPr>
              <a:spLocks noChangeShapeType="1"/>
            </p:cNvSpPr>
            <p:nvPr/>
          </p:nvSpPr>
          <p:spPr bwMode="auto">
            <a:xfrm flipH="1">
              <a:off x="2768" y="1778"/>
              <a:ext cx="1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0" name="Line 20"/>
            <p:cNvSpPr>
              <a:spLocks noChangeShapeType="1"/>
            </p:cNvSpPr>
            <p:nvPr/>
          </p:nvSpPr>
          <p:spPr bwMode="auto">
            <a:xfrm>
              <a:off x="2887" y="1603"/>
              <a:ext cx="0"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1" name="Line 21"/>
            <p:cNvSpPr>
              <a:spLocks noChangeShapeType="1"/>
            </p:cNvSpPr>
            <p:nvPr/>
          </p:nvSpPr>
          <p:spPr bwMode="auto">
            <a:xfrm>
              <a:off x="4443" y="2216"/>
              <a:ext cx="0" cy="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2" name="Line 22"/>
            <p:cNvSpPr>
              <a:spLocks noChangeShapeType="1"/>
            </p:cNvSpPr>
            <p:nvPr/>
          </p:nvSpPr>
          <p:spPr bwMode="auto">
            <a:xfrm>
              <a:off x="4443" y="2740"/>
              <a:ext cx="0" cy="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3" name="Line 23"/>
            <p:cNvSpPr>
              <a:spLocks noChangeShapeType="1"/>
            </p:cNvSpPr>
            <p:nvPr/>
          </p:nvSpPr>
          <p:spPr bwMode="auto">
            <a:xfrm>
              <a:off x="4443" y="3265"/>
              <a:ext cx="0" cy="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2223225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179388" y="115888"/>
            <a:ext cx="8507412" cy="576262"/>
          </a:xfrm>
        </p:spPr>
        <p:txBody>
          <a:bodyPr/>
          <a:lstStyle/>
          <a:p>
            <a:r>
              <a:rPr lang="en-US" sz="3600" dirty="0" err="1" smtClean="0"/>
              <a:t>Bảo</a:t>
            </a:r>
            <a:r>
              <a:rPr lang="en-US" sz="3600" dirty="0" smtClean="0"/>
              <a:t> </a:t>
            </a:r>
            <a:r>
              <a:rPr lang="en-US" sz="3600" dirty="0" err="1" smtClean="0"/>
              <a:t>vệ</a:t>
            </a:r>
            <a:r>
              <a:rPr lang="en-US" sz="3600" dirty="0" smtClean="0"/>
              <a:t> </a:t>
            </a:r>
            <a:r>
              <a:rPr lang="en-US" sz="3600" dirty="0" err="1" smtClean="0"/>
              <a:t>tầng</a:t>
            </a:r>
            <a:r>
              <a:rPr lang="en-US" sz="3600" dirty="0" smtClean="0"/>
              <a:t> </a:t>
            </a:r>
            <a:r>
              <a:rPr lang="en-US" sz="3600" dirty="0" err="1" smtClean="0"/>
              <a:t>vận</a:t>
            </a:r>
            <a:r>
              <a:rPr lang="en-US" sz="3600" dirty="0" smtClean="0"/>
              <a:t> </a:t>
            </a:r>
            <a:r>
              <a:rPr lang="en-US" sz="3600" dirty="0" err="1" smtClean="0"/>
              <a:t>tải</a:t>
            </a:r>
            <a:r>
              <a:rPr lang="en-US" sz="3600" dirty="0" smtClean="0"/>
              <a:t> </a:t>
            </a:r>
            <a:r>
              <a:rPr lang="en-US" sz="3600" dirty="0" err="1" smtClean="0"/>
              <a:t>bằng</a:t>
            </a:r>
            <a:r>
              <a:rPr lang="en-US" sz="3600" dirty="0" smtClean="0"/>
              <a:t> </a:t>
            </a:r>
            <a:r>
              <a:rPr lang="en-US" sz="3600" dirty="0" err="1" smtClean="0"/>
              <a:t>mật</a:t>
            </a:r>
            <a:r>
              <a:rPr lang="en-US" sz="3600" dirty="0" smtClean="0"/>
              <a:t> </a:t>
            </a:r>
            <a:r>
              <a:rPr lang="en-US" sz="3600" dirty="0" err="1" smtClean="0"/>
              <a:t>mã</a:t>
            </a:r>
            <a:endParaRPr lang="en-US" sz="3600" dirty="0" smtClean="0"/>
          </a:p>
        </p:txBody>
      </p:sp>
      <p:sp>
        <p:nvSpPr>
          <p:cNvPr id="653315" name="Rectangle 3"/>
          <p:cNvSpPr>
            <a:spLocks noGrp="1" noChangeArrowheads="1"/>
          </p:cNvSpPr>
          <p:nvPr>
            <p:ph type="body" idx="1"/>
          </p:nvPr>
        </p:nvSpPr>
        <p:spPr/>
        <p:txBody>
          <a:bodyPr/>
          <a:lstStyle/>
          <a:p>
            <a:r>
              <a:rPr lang="en-US" smtClean="0"/>
              <a:t>Trong suốt với việc đi qua của TT tầng ứng dụng</a:t>
            </a:r>
          </a:p>
          <a:p>
            <a:pPr>
              <a:buFont typeface="Wingdings" pitchFamily="2" charset="2"/>
              <a:buNone/>
            </a:pPr>
            <a:r>
              <a:rPr lang="en-US" smtClean="0"/>
              <a:t>=&gt;không bảo vệ, chống lại các hiểm họa ở mức độ tương tác của môi trường thao tác (HĐH)</a:t>
            </a:r>
          </a:p>
          <a:p>
            <a:pPr>
              <a:buFont typeface="Wingdings" pitchFamily="2" charset="2"/>
              <a:buNone/>
            </a:pPr>
            <a:r>
              <a:rPr lang="en-US" smtClean="0"/>
              <a:t>=&gt; không bảo vệ, chống lại các hiểm họa ở mức độ tương tác của các ứng dụng. </a:t>
            </a:r>
          </a:p>
        </p:txBody>
      </p:sp>
    </p:spTree>
    <p:extLst>
      <p:ext uri="{BB962C8B-B14F-4D97-AF65-F5344CB8AC3E}">
        <p14:creationId xmlns:p14="http://schemas.microsoft.com/office/powerpoint/2010/main" val="27052571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53315">
                                            <p:txEl>
                                              <p:pRg st="1" end="1"/>
                                            </p:txEl>
                                          </p:spTgt>
                                        </p:tgtEl>
                                        <p:attrNameLst>
                                          <p:attrName>style.visibility</p:attrName>
                                        </p:attrNameLst>
                                      </p:cBhvr>
                                      <p:to>
                                        <p:strVal val="visible"/>
                                      </p:to>
                                    </p:set>
                                    <p:animEffect transition="in" filter="blinds(horizontal)">
                                      <p:cBhvr>
                                        <p:cTn id="7" dur="500"/>
                                        <p:tgtEl>
                                          <p:spTgt spid="6533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53315">
                                            <p:txEl>
                                              <p:pRg st="2" end="2"/>
                                            </p:txEl>
                                          </p:spTgt>
                                        </p:tgtEl>
                                        <p:attrNameLst>
                                          <p:attrName>style.visibility</p:attrName>
                                        </p:attrNameLst>
                                      </p:cBhvr>
                                      <p:to>
                                        <p:strVal val="visible"/>
                                      </p:to>
                                    </p:set>
                                    <p:animEffect transition="in" filter="blinds(horizontal)">
                                      <p:cBhvr>
                                        <p:cTn id="12" dur="500"/>
                                        <p:tgtEl>
                                          <p:spTgt spid="653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76200" y="152400"/>
            <a:ext cx="8763000" cy="533400"/>
          </a:xfrm>
        </p:spPr>
        <p:txBody>
          <a:bodyPr/>
          <a:lstStyle/>
          <a:p>
            <a:r>
              <a:rPr lang="en-US" sz="3600" dirty="0" smtClean="0"/>
              <a:t>2. </a:t>
            </a:r>
            <a:r>
              <a:rPr lang="en-US" sz="3600" dirty="0" err="1" smtClean="0"/>
              <a:t>Phương</a:t>
            </a:r>
            <a:r>
              <a:rPr lang="en-US" sz="3600" dirty="0" smtClean="0"/>
              <a:t> </a:t>
            </a:r>
            <a:r>
              <a:rPr lang="en-US" sz="3600" dirty="0" err="1" smtClean="0"/>
              <a:t>pháp</a:t>
            </a:r>
            <a:r>
              <a:rPr lang="en-US" sz="3600" dirty="0" smtClean="0"/>
              <a:t> </a:t>
            </a:r>
            <a:r>
              <a:rPr lang="en-US" sz="3600" dirty="0" err="1" smtClean="0"/>
              <a:t>mật</a:t>
            </a:r>
            <a:r>
              <a:rPr lang="en-US" sz="3600" dirty="0" smtClean="0"/>
              <a:t> </a:t>
            </a:r>
            <a:r>
              <a:rPr lang="en-US" sz="3600" dirty="0" err="1" smtClean="0"/>
              <a:t>mã</a:t>
            </a:r>
            <a:endParaRPr lang="en-US" sz="3600" dirty="0" smtClean="0"/>
          </a:p>
        </p:txBody>
      </p:sp>
      <p:sp>
        <p:nvSpPr>
          <p:cNvPr id="40964" name="Rectangle 3"/>
          <p:cNvSpPr>
            <a:spLocks noGrp="1" noChangeArrowheads="1"/>
          </p:cNvSpPr>
          <p:nvPr>
            <p:ph type="body" idx="1"/>
          </p:nvPr>
        </p:nvSpPr>
        <p:spPr/>
        <p:txBody>
          <a:bodyPr/>
          <a:lstStyle/>
          <a:p>
            <a:r>
              <a:rPr lang="en-US" dirty="0" err="1" smtClean="0"/>
              <a:t>Các</a:t>
            </a:r>
            <a:r>
              <a:rPr lang="en-US" dirty="0" smtClean="0"/>
              <a:t> </a:t>
            </a:r>
            <a:r>
              <a:rPr lang="en-US" dirty="0" err="1" smtClean="0"/>
              <a:t>nguyên</a:t>
            </a:r>
            <a:r>
              <a:rPr lang="en-US" dirty="0" smtClean="0"/>
              <a:t> </a:t>
            </a:r>
            <a:r>
              <a:rPr lang="en-US" dirty="0" err="1" smtClean="0"/>
              <a:t>lý</a:t>
            </a:r>
            <a:r>
              <a:rPr lang="en-US" dirty="0" smtClean="0"/>
              <a:t> </a:t>
            </a:r>
            <a:r>
              <a:rPr lang="en-US" dirty="0" err="1" smtClean="0"/>
              <a:t>bảo</a:t>
            </a:r>
            <a:r>
              <a:rPr lang="en-US" dirty="0" smtClean="0"/>
              <a:t> </a:t>
            </a:r>
            <a:r>
              <a:rPr lang="en-US" dirty="0" err="1" smtClean="0"/>
              <a:t>vệ</a:t>
            </a:r>
            <a:r>
              <a:rPr lang="en-US" dirty="0" smtClean="0"/>
              <a:t> </a:t>
            </a:r>
            <a:r>
              <a:rPr lang="en-US" dirty="0" err="1" smtClean="0"/>
              <a:t>thông</a:t>
            </a:r>
            <a:r>
              <a:rPr lang="en-US" dirty="0" smtClean="0"/>
              <a:t> tin </a:t>
            </a:r>
            <a:r>
              <a:rPr lang="en-US" dirty="0" err="1" smtClean="0"/>
              <a:t>bằng</a:t>
            </a:r>
            <a:r>
              <a:rPr lang="en-US" dirty="0" smtClean="0"/>
              <a:t> </a:t>
            </a:r>
            <a:r>
              <a:rPr lang="en-US" dirty="0" err="1" smtClean="0"/>
              <a:t>mật</a:t>
            </a:r>
            <a:r>
              <a:rPr lang="en-US" dirty="0" smtClean="0"/>
              <a:t> </a:t>
            </a:r>
            <a:r>
              <a:rPr lang="en-US" dirty="0" err="1" smtClean="0"/>
              <a:t>mã</a:t>
            </a:r>
            <a:endParaRPr lang="en-US" dirty="0" smtClean="0"/>
          </a:p>
          <a:p>
            <a:r>
              <a:rPr lang="en-US" dirty="0" err="1" smtClean="0"/>
              <a:t>Các</a:t>
            </a:r>
            <a:r>
              <a:rPr lang="en-US" dirty="0" smtClean="0"/>
              <a:t> </a:t>
            </a:r>
            <a:r>
              <a:rPr lang="en-US" dirty="0" err="1" smtClean="0"/>
              <a:t>vấn</a:t>
            </a:r>
            <a:r>
              <a:rPr lang="en-US" dirty="0" smtClean="0"/>
              <a:t> </a:t>
            </a:r>
            <a:r>
              <a:rPr lang="en-US" dirty="0" err="1" smtClean="0"/>
              <a:t>đề</a:t>
            </a:r>
            <a:r>
              <a:rPr lang="en-US" dirty="0" smtClean="0"/>
              <a:t> </a:t>
            </a:r>
            <a:r>
              <a:rPr lang="en-US" dirty="0" err="1" smtClean="0"/>
              <a:t>hệ</a:t>
            </a:r>
            <a:r>
              <a:rPr lang="en-US" dirty="0" smtClean="0"/>
              <a:t> </a:t>
            </a:r>
            <a:r>
              <a:rPr lang="en-US" dirty="0" err="1" smtClean="0"/>
              <a:t>thống</a:t>
            </a:r>
            <a:r>
              <a:rPr lang="en-US" dirty="0" smtClean="0"/>
              <a:t> </a:t>
            </a:r>
            <a:r>
              <a:rPr lang="en-US" dirty="0" err="1" smtClean="0"/>
              <a:t>khi</a:t>
            </a:r>
            <a:r>
              <a:rPr lang="en-US" dirty="0" smtClean="0"/>
              <a:t> </a:t>
            </a:r>
            <a:r>
              <a:rPr lang="en-US" dirty="0" err="1" smtClean="0"/>
              <a:t>áp</a:t>
            </a:r>
            <a:r>
              <a:rPr lang="en-US" dirty="0" smtClean="0"/>
              <a:t> </a:t>
            </a:r>
            <a:r>
              <a:rPr lang="en-US" dirty="0" err="1" smtClean="0"/>
              <a:t>dụng</a:t>
            </a:r>
            <a:r>
              <a:rPr lang="en-US" dirty="0" smtClean="0"/>
              <a:t> </a:t>
            </a:r>
            <a:r>
              <a:rPr lang="en-US" dirty="0" err="1" smtClean="0"/>
              <a:t>các</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mật</a:t>
            </a:r>
            <a:r>
              <a:rPr lang="en-US" dirty="0" smtClean="0"/>
              <a:t> </a:t>
            </a:r>
            <a:r>
              <a:rPr lang="en-US" dirty="0" err="1" smtClean="0"/>
              <a:t>mã</a:t>
            </a:r>
            <a:endParaRPr lang="en-US" dirty="0" smtClean="0"/>
          </a:p>
          <a:p>
            <a:r>
              <a:rPr lang="en-US" dirty="0" err="1" smtClean="0"/>
              <a:t>Bảo</a:t>
            </a:r>
            <a:r>
              <a:rPr lang="en-US" dirty="0" smtClean="0"/>
              <a:t> </a:t>
            </a:r>
            <a:r>
              <a:rPr lang="en-US" dirty="0" err="1" smtClean="0"/>
              <a:t>vệ</a:t>
            </a:r>
            <a:r>
              <a:rPr lang="en-US" dirty="0" smtClean="0"/>
              <a:t> </a:t>
            </a:r>
            <a:r>
              <a:rPr lang="en-US" dirty="0" err="1" smtClean="0"/>
              <a:t>tầng</a:t>
            </a:r>
            <a:r>
              <a:rPr lang="en-US" dirty="0" smtClean="0"/>
              <a:t> </a:t>
            </a:r>
            <a:r>
              <a:rPr lang="en-US" dirty="0" err="1" smtClean="0"/>
              <a:t>vận</a:t>
            </a:r>
            <a:r>
              <a:rPr lang="en-US" dirty="0" smtClean="0"/>
              <a:t> </a:t>
            </a:r>
            <a:r>
              <a:rPr lang="en-US" dirty="0" err="1" smtClean="0"/>
              <a:t>tải</a:t>
            </a:r>
            <a:r>
              <a:rPr lang="en-US" dirty="0" smtClean="0"/>
              <a:t> </a:t>
            </a:r>
            <a:r>
              <a:rPr lang="en-US" dirty="0" err="1" smtClean="0"/>
              <a:t>bằng</a:t>
            </a:r>
            <a:r>
              <a:rPr lang="en-US" dirty="0" smtClean="0"/>
              <a:t> </a:t>
            </a:r>
            <a:r>
              <a:rPr lang="en-US" dirty="0" err="1" smtClean="0"/>
              <a:t>mật</a:t>
            </a:r>
            <a:r>
              <a:rPr lang="en-US" dirty="0" smtClean="0"/>
              <a:t> </a:t>
            </a:r>
            <a:r>
              <a:rPr lang="en-US" dirty="0" err="1" smtClean="0"/>
              <a:t>mã</a:t>
            </a:r>
            <a:endParaRPr lang="en-US" dirty="0" smtClean="0"/>
          </a:p>
          <a:p>
            <a:r>
              <a:rPr lang="en-US" b="1" dirty="0" err="1" smtClean="0">
                <a:solidFill>
                  <a:srgbClr val="CC0000"/>
                </a:solidFill>
              </a:rPr>
              <a:t>Bảo</a:t>
            </a:r>
            <a:r>
              <a:rPr lang="en-US" b="1" dirty="0" smtClean="0">
                <a:solidFill>
                  <a:srgbClr val="CC0000"/>
                </a:solidFill>
              </a:rPr>
              <a:t> </a:t>
            </a:r>
            <a:r>
              <a:rPr lang="en-US" b="1" dirty="0" err="1" smtClean="0">
                <a:solidFill>
                  <a:srgbClr val="CC0000"/>
                </a:solidFill>
              </a:rPr>
              <a:t>vệ</a:t>
            </a:r>
            <a:r>
              <a:rPr lang="en-US" b="1" dirty="0" smtClean="0">
                <a:solidFill>
                  <a:srgbClr val="CC0000"/>
                </a:solidFill>
              </a:rPr>
              <a:t> </a:t>
            </a:r>
            <a:r>
              <a:rPr lang="en-US" b="1" dirty="0" err="1" smtClean="0">
                <a:solidFill>
                  <a:srgbClr val="CC0000"/>
                </a:solidFill>
              </a:rPr>
              <a:t>tầng</a:t>
            </a:r>
            <a:r>
              <a:rPr lang="en-US" b="1" dirty="0" smtClean="0">
                <a:solidFill>
                  <a:srgbClr val="CC0000"/>
                </a:solidFill>
              </a:rPr>
              <a:t> </a:t>
            </a:r>
            <a:r>
              <a:rPr lang="en-US" b="1" dirty="0" err="1" smtClean="0">
                <a:solidFill>
                  <a:srgbClr val="CC0000"/>
                </a:solidFill>
              </a:rPr>
              <a:t>ứng</a:t>
            </a:r>
            <a:r>
              <a:rPr lang="en-US" b="1" dirty="0" smtClean="0">
                <a:solidFill>
                  <a:srgbClr val="CC0000"/>
                </a:solidFill>
              </a:rPr>
              <a:t> </a:t>
            </a:r>
            <a:r>
              <a:rPr lang="en-US" b="1" dirty="0" err="1" smtClean="0">
                <a:solidFill>
                  <a:srgbClr val="CC0000"/>
                </a:solidFill>
              </a:rPr>
              <a:t>dụng</a:t>
            </a:r>
            <a:r>
              <a:rPr lang="en-US" b="1" dirty="0" smtClean="0">
                <a:solidFill>
                  <a:srgbClr val="CC0000"/>
                </a:solidFill>
              </a:rPr>
              <a:t> </a:t>
            </a:r>
            <a:r>
              <a:rPr lang="en-US" b="1" dirty="0" err="1" smtClean="0">
                <a:solidFill>
                  <a:srgbClr val="CC0000"/>
                </a:solidFill>
              </a:rPr>
              <a:t>bằng</a:t>
            </a:r>
            <a:r>
              <a:rPr lang="en-US" b="1" dirty="0" smtClean="0">
                <a:solidFill>
                  <a:srgbClr val="CC0000"/>
                </a:solidFill>
              </a:rPr>
              <a:t> </a:t>
            </a:r>
            <a:r>
              <a:rPr lang="en-US" b="1" dirty="0" err="1" smtClean="0">
                <a:solidFill>
                  <a:srgbClr val="CC0000"/>
                </a:solidFill>
              </a:rPr>
              <a:t>mật</a:t>
            </a:r>
            <a:r>
              <a:rPr lang="en-US" b="1" dirty="0" smtClean="0">
                <a:solidFill>
                  <a:srgbClr val="CC0000"/>
                </a:solidFill>
              </a:rPr>
              <a:t> </a:t>
            </a:r>
            <a:r>
              <a:rPr lang="en-US" b="1" dirty="0" err="1" smtClean="0">
                <a:solidFill>
                  <a:srgbClr val="CC0000"/>
                </a:solidFill>
              </a:rPr>
              <a:t>mã</a:t>
            </a:r>
            <a:endParaRPr lang="en-US" b="1" dirty="0" smtClean="0">
              <a:solidFill>
                <a:srgbClr val="CC0000"/>
              </a:solidFill>
            </a:endParaRPr>
          </a:p>
        </p:txBody>
      </p:sp>
    </p:spTree>
    <p:extLst>
      <p:ext uri="{BB962C8B-B14F-4D97-AF65-F5344CB8AC3E}">
        <p14:creationId xmlns:p14="http://schemas.microsoft.com/office/powerpoint/2010/main" val="18866760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a:xfrm>
            <a:off x="179388" y="115888"/>
            <a:ext cx="8431212" cy="576262"/>
          </a:xfrm>
        </p:spPr>
        <p:txBody>
          <a:bodyPr/>
          <a:lstStyle/>
          <a:p>
            <a:r>
              <a:rPr lang="en-US" sz="3600" dirty="0" err="1" smtClean="0"/>
              <a:t>Bảo</a:t>
            </a:r>
            <a:r>
              <a:rPr lang="en-US" sz="3600" dirty="0" smtClean="0"/>
              <a:t> </a:t>
            </a:r>
            <a:r>
              <a:rPr lang="en-US" sz="3600" dirty="0" err="1" smtClean="0"/>
              <a:t>vệ</a:t>
            </a:r>
            <a:r>
              <a:rPr lang="en-US" sz="3600" dirty="0" smtClean="0"/>
              <a:t> </a:t>
            </a:r>
            <a:r>
              <a:rPr lang="en-US" sz="3600" dirty="0" err="1" smtClean="0"/>
              <a:t>mật</a:t>
            </a:r>
            <a:r>
              <a:rPr lang="en-US" sz="3600" dirty="0" smtClean="0"/>
              <a:t> </a:t>
            </a:r>
            <a:r>
              <a:rPr lang="en-US" sz="3600" dirty="0" err="1" smtClean="0"/>
              <a:t>mã</a:t>
            </a:r>
            <a:r>
              <a:rPr lang="en-US" sz="3600" dirty="0" smtClean="0"/>
              <a:t> </a:t>
            </a:r>
            <a:r>
              <a:rPr lang="en-US" sz="3600" dirty="0" err="1" smtClean="0"/>
              <a:t>tầng</a:t>
            </a:r>
            <a:r>
              <a:rPr lang="en-US" sz="3600" dirty="0" smtClean="0"/>
              <a:t> </a:t>
            </a:r>
            <a:r>
              <a:rPr lang="en-US" sz="3600" dirty="0" err="1" smtClean="0"/>
              <a:t>ứng</a:t>
            </a:r>
            <a:r>
              <a:rPr lang="en-US" sz="3600" dirty="0" smtClean="0"/>
              <a:t> </a:t>
            </a:r>
            <a:r>
              <a:rPr lang="en-US" sz="3600" dirty="0" err="1" smtClean="0"/>
              <a:t>dụng</a:t>
            </a:r>
            <a:r>
              <a:rPr lang="en-US" sz="3600" dirty="0" smtClean="0"/>
              <a:t>…</a:t>
            </a:r>
          </a:p>
        </p:txBody>
      </p:sp>
      <p:sp>
        <p:nvSpPr>
          <p:cNvPr id="656387" name="Rectangle 3"/>
          <p:cNvSpPr>
            <a:spLocks noGrp="1" noChangeArrowheads="1"/>
          </p:cNvSpPr>
          <p:nvPr>
            <p:ph type="body" idx="1"/>
          </p:nvPr>
        </p:nvSpPr>
        <p:spPr>
          <a:xfrm>
            <a:off x="457200" y="1219200"/>
            <a:ext cx="8458200" cy="5410200"/>
          </a:xfrm>
        </p:spPr>
        <p:txBody>
          <a:bodyPr/>
          <a:lstStyle/>
          <a:p>
            <a:r>
              <a:rPr lang="en-US" smtClean="0"/>
              <a:t>Chỉ có ở tầng ứng dụng mới có thể cá thể hóa đối tượng (gán một cách đơn nhất đối tượng đó với chủ thể đã sinh ra nó)</a:t>
            </a:r>
          </a:p>
          <a:p>
            <a:r>
              <a:rPr lang="en-US" smtClean="0"/>
              <a:t>Nhận biết chính xác được các đối tượng có cấu trúc phức tạp (“văn bản điện tử” hay một trường nào đó trong CSDL…).</a:t>
            </a:r>
          </a:p>
        </p:txBody>
      </p:sp>
    </p:spTree>
    <p:extLst>
      <p:ext uri="{BB962C8B-B14F-4D97-AF65-F5344CB8AC3E}">
        <p14:creationId xmlns:p14="http://schemas.microsoft.com/office/powerpoint/2010/main" val="34537051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56387">
                                            <p:txEl>
                                              <p:pRg st="0" end="0"/>
                                            </p:txEl>
                                          </p:spTgt>
                                        </p:tgtEl>
                                        <p:attrNameLst>
                                          <p:attrName>style.visibility</p:attrName>
                                        </p:attrNameLst>
                                      </p:cBhvr>
                                      <p:to>
                                        <p:strVal val="visible"/>
                                      </p:to>
                                    </p:set>
                                    <p:animEffect transition="in" filter="blinds(horizontal)">
                                      <p:cBhvr>
                                        <p:cTn id="7" dur="500"/>
                                        <p:tgtEl>
                                          <p:spTgt spid="65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56387">
                                            <p:txEl>
                                              <p:pRg st="1" end="1"/>
                                            </p:txEl>
                                          </p:spTgt>
                                        </p:tgtEl>
                                        <p:attrNameLst>
                                          <p:attrName>style.visibility</p:attrName>
                                        </p:attrNameLst>
                                      </p:cBhvr>
                                      <p:to>
                                        <p:strVal val="visible"/>
                                      </p:to>
                                    </p:set>
                                    <p:animEffect transition="in" filter="blinds(horizontal)">
                                      <p:cBhvr>
                                        <p:cTn id="12" dur="500"/>
                                        <p:tgtEl>
                                          <p:spTgt spid="6563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179388" y="115888"/>
            <a:ext cx="8355012" cy="576262"/>
          </a:xfrm>
        </p:spPr>
        <p:txBody>
          <a:bodyPr/>
          <a:lstStyle/>
          <a:p>
            <a:r>
              <a:rPr lang="en-US" sz="3600" dirty="0" err="1" smtClean="0"/>
              <a:t>Bảo</a:t>
            </a:r>
            <a:r>
              <a:rPr lang="en-US" sz="3600" dirty="0" smtClean="0"/>
              <a:t> </a:t>
            </a:r>
            <a:r>
              <a:rPr lang="en-US" sz="3600" dirty="0" err="1" smtClean="0"/>
              <a:t>vệ</a:t>
            </a:r>
            <a:r>
              <a:rPr lang="en-US" sz="3600" dirty="0" smtClean="0"/>
              <a:t> </a:t>
            </a:r>
            <a:r>
              <a:rPr lang="en-US" sz="3600" dirty="0" err="1" smtClean="0"/>
              <a:t>mật</a:t>
            </a:r>
            <a:r>
              <a:rPr lang="en-US" sz="3600" dirty="0" smtClean="0"/>
              <a:t> </a:t>
            </a:r>
            <a:r>
              <a:rPr lang="en-US" sz="3600" dirty="0" err="1" smtClean="0"/>
              <a:t>mã</a:t>
            </a:r>
            <a:r>
              <a:rPr lang="en-US" sz="3600" dirty="0" smtClean="0"/>
              <a:t> </a:t>
            </a:r>
            <a:r>
              <a:rPr lang="en-US" sz="3600" dirty="0" err="1" smtClean="0"/>
              <a:t>tầng</a:t>
            </a:r>
            <a:r>
              <a:rPr lang="en-US" sz="3600" dirty="0" smtClean="0"/>
              <a:t> </a:t>
            </a:r>
            <a:r>
              <a:rPr lang="en-US" sz="3600" dirty="0" err="1" smtClean="0"/>
              <a:t>ứng</a:t>
            </a:r>
            <a:r>
              <a:rPr lang="en-US" sz="3600" dirty="0" smtClean="0"/>
              <a:t> </a:t>
            </a:r>
            <a:r>
              <a:rPr lang="en-US" sz="3600" dirty="0" err="1" smtClean="0"/>
              <a:t>dụng</a:t>
            </a:r>
            <a:r>
              <a:rPr lang="en-US" sz="3600" dirty="0" smtClean="0"/>
              <a:t>…</a:t>
            </a:r>
          </a:p>
        </p:txBody>
      </p:sp>
      <p:sp>
        <p:nvSpPr>
          <p:cNvPr id="631811" name="Rectangle 3"/>
          <p:cNvSpPr>
            <a:spLocks noGrp="1" noChangeArrowheads="1"/>
          </p:cNvSpPr>
          <p:nvPr>
            <p:ph type="body" idx="1"/>
          </p:nvPr>
        </p:nvSpPr>
        <p:spPr>
          <a:xfrm>
            <a:off x="457200" y="1219200"/>
            <a:ext cx="8458200" cy="5410200"/>
          </a:xfrm>
        </p:spPr>
        <p:txBody>
          <a:bodyPr/>
          <a:lstStyle/>
          <a:p>
            <a:pPr>
              <a:lnSpc>
                <a:spcPct val="90000"/>
              </a:lnSpc>
            </a:pPr>
            <a:r>
              <a:rPr lang="en-US" smtClean="0"/>
              <a:t>Bảo vệ mật mã các TT ở tầng ứng dụng - Đó là một trật tự thiết kế, thực hiện và sử dụng các TBMM, mà trong đó thông tin đầu vào, đầu ra và có thể cả các tham số khoá đều thuộc về các luồng và các đối tượng của tầng ứng dụng </a:t>
            </a:r>
          </a:p>
          <a:p>
            <a:pPr>
              <a:lnSpc>
                <a:spcPct val="90000"/>
              </a:lnSpc>
            </a:pPr>
            <a:r>
              <a:rPr lang="en-US" smtClean="0"/>
              <a:t>Phương pháp tiếp cận</a:t>
            </a:r>
          </a:p>
          <a:p>
            <a:pPr lvl="1">
              <a:lnSpc>
                <a:spcPct val="90000"/>
              </a:lnSpc>
            </a:pPr>
            <a:r>
              <a:rPr lang="en-US" smtClean="0"/>
              <a:t>Hệ mật mã gá lắp thực hiện chức năng bảo vệ mật mã tại một chủ thể – chương trình phần mềm riêng biệt </a:t>
            </a:r>
          </a:p>
          <a:p>
            <a:pPr lvl="1">
              <a:lnSpc>
                <a:spcPct val="90000"/>
              </a:lnSpc>
            </a:pPr>
            <a:r>
              <a:rPr lang="en-US" smtClean="0"/>
              <a:t>Hệ mật mã cài đặt thực hiện việc gọi chức năng của chủ thể TBMM trực tiếp từ chương trình sinh ra đối tượng cần bảo vệ (files) và cài đặt các hàm mật mã vào chính chương trình ứng dụng đó. </a:t>
            </a:r>
          </a:p>
        </p:txBody>
      </p:sp>
    </p:spTree>
    <p:extLst>
      <p:ext uri="{BB962C8B-B14F-4D97-AF65-F5344CB8AC3E}">
        <p14:creationId xmlns:p14="http://schemas.microsoft.com/office/powerpoint/2010/main" val="495728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1811">
                                            <p:txEl>
                                              <p:pRg st="0" end="0"/>
                                            </p:txEl>
                                          </p:spTgt>
                                        </p:tgtEl>
                                        <p:attrNameLst>
                                          <p:attrName>style.visibility</p:attrName>
                                        </p:attrNameLst>
                                      </p:cBhvr>
                                      <p:to>
                                        <p:strVal val="visible"/>
                                      </p:to>
                                    </p:set>
                                    <p:animEffect transition="in" filter="blinds(horizontal)">
                                      <p:cBhvr>
                                        <p:cTn id="7" dur="500"/>
                                        <p:tgtEl>
                                          <p:spTgt spid="6318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31811">
                                            <p:txEl>
                                              <p:pRg st="1" end="1"/>
                                            </p:txEl>
                                          </p:spTgt>
                                        </p:tgtEl>
                                        <p:attrNameLst>
                                          <p:attrName>style.visibility</p:attrName>
                                        </p:attrNameLst>
                                      </p:cBhvr>
                                      <p:to>
                                        <p:strVal val="visible"/>
                                      </p:to>
                                    </p:set>
                                    <p:animEffect transition="in" filter="blinds(horizontal)">
                                      <p:cBhvr>
                                        <p:cTn id="12" dur="500"/>
                                        <p:tgtEl>
                                          <p:spTgt spid="6318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31811">
                                            <p:txEl>
                                              <p:pRg st="2" end="2"/>
                                            </p:txEl>
                                          </p:spTgt>
                                        </p:tgtEl>
                                        <p:attrNameLst>
                                          <p:attrName>style.visibility</p:attrName>
                                        </p:attrNameLst>
                                      </p:cBhvr>
                                      <p:to>
                                        <p:strVal val="visible"/>
                                      </p:to>
                                    </p:set>
                                    <p:animEffect transition="in" filter="blinds(horizontal)">
                                      <p:cBhvr>
                                        <p:cTn id="17" dur="500"/>
                                        <p:tgtEl>
                                          <p:spTgt spid="6318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31811">
                                            <p:txEl>
                                              <p:pRg st="3" end="3"/>
                                            </p:txEl>
                                          </p:spTgt>
                                        </p:tgtEl>
                                        <p:attrNameLst>
                                          <p:attrName>style.visibility</p:attrName>
                                        </p:attrNameLst>
                                      </p:cBhvr>
                                      <p:to>
                                        <p:strVal val="visible"/>
                                      </p:to>
                                    </p:set>
                                    <p:animEffect transition="in" filter="blinds(horizontal)">
                                      <p:cBhvr>
                                        <p:cTn id="22" dur="500"/>
                                        <p:tgtEl>
                                          <p:spTgt spid="6318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179388" y="115888"/>
            <a:ext cx="8736012" cy="576262"/>
          </a:xfrm>
        </p:spPr>
        <p:txBody>
          <a:bodyPr/>
          <a:lstStyle/>
          <a:p>
            <a:r>
              <a:rPr lang="en-US" sz="3600" dirty="0" err="1" smtClean="0"/>
              <a:t>Bảo</a:t>
            </a:r>
            <a:r>
              <a:rPr lang="en-US" sz="3600" dirty="0" smtClean="0"/>
              <a:t> </a:t>
            </a:r>
            <a:r>
              <a:rPr lang="en-US" sz="3600" dirty="0" err="1" smtClean="0"/>
              <a:t>vệ</a:t>
            </a:r>
            <a:r>
              <a:rPr lang="en-US" sz="3600" dirty="0" smtClean="0"/>
              <a:t> </a:t>
            </a:r>
            <a:r>
              <a:rPr lang="en-US" sz="3600" dirty="0" err="1" smtClean="0"/>
              <a:t>mật</a:t>
            </a:r>
            <a:r>
              <a:rPr lang="en-US" sz="3600" dirty="0" smtClean="0"/>
              <a:t> </a:t>
            </a:r>
            <a:r>
              <a:rPr lang="en-US" sz="3600" dirty="0" err="1" smtClean="0"/>
              <a:t>mã</a:t>
            </a:r>
            <a:r>
              <a:rPr lang="en-US" sz="3600" dirty="0" smtClean="0"/>
              <a:t> </a:t>
            </a:r>
            <a:r>
              <a:rPr lang="en-US" sz="3600" dirty="0" err="1" smtClean="0"/>
              <a:t>tầng</a:t>
            </a:r>
            <a:r>
              <a:rPr lang="en-US" sz="3600" dirty="0" smtClean="0"/>
              <a:t> </a:t>
            </a:r>
            <a:r>
              <a:rPr lang="en-US" sz="3600" dirty="0" err="1" smtClean="0"/>
              <a:t>ứng</a:t>
            </a:r>
            <a:r>
              <a:rPr lang="en-US" sz="3600" dirty="0" smtClean="0"/>
              <a:t> </a:t>
            </a:r>
            <a:r>
              <a:rPr lang="en-US" sz="3600" dirty="0" err="1" smtClean="0"/>
              <a:t>dụng</a:t>
            </a:r>
            <a:r>
              <a:rPr lang="en-US" sz="3600" dirty="0" smtClean="0"/>
              <a:t>…</a:t>
            </a:r>
          </a:p>
        </p:txBody>
      </p:sp>
      <p:sp>
        <p:nvSpPr>
          <p:cNvPr id="44036" name="Rectangle 3"/>
          <p:cNvSpPr>
            <a:spLocks noGrp="1" noChangeArrowheads="1"/>
          </p:cNvSpPr>
          <p:nvPr>
            <p:ph type="body" idx="1"/>
          </p:nvPr>
        </p:nvSpPr>
        <p:spPr>
          <a:xfrm>
            <a:off x="457200" y="1219200"/>
            <a:ext cx="4191000" cy="5410200"/>
          </a:xfrm>
        </p:spPr>
        <p:txBody>
          <a:bodyPr/>
          <a:lstStyle/>
          <a:p>
            <a:r>
              <a:rPr lang="en-US" sz="2400" smtClean="0"/>
              <a:t>Hệ mật mã gá lắp</a:t>
            </a:r>
          </a:p>
        </p:txBody>
      </p:sp>
      <p:sp>
        <p:nvSpPr>
          <p:cNvPr id="44037" name="Rectangle 4"/>
          <p:cNvSpPr>
            <a:spLocks noChangeArrowheads="1"/>
          </p:cNvSpPr>
          <p:nvPr/>
        </p:nvSpPr>
        <p:spPr bwMode="auto">
          <a:xfrm>
            <a:off x="4800600" y="1219200"/>
            <a:ext cx="4114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0" hangingPunct="0">
              <a:lnSpc>
                <a:spcPct val="90000"/>
              </a:lnSpc>
              <a:spcBef>
                <a:spcPct val="20000"/>
              </a:spcBef>
              <a:buClr>
                <a:schemeClr val="tx2"/>
              </a:buClr>
              <a:buFont typeface="Wingdings" pitchFamily="2" charset="2"/>
              <a:buChar char="v"/>
            </a:pPr>
            <a:r>
              <a:rPr lang="en-US" sz="2400"/>
              <a:t>Hệ mật mã cài đặt</a:t>
            </a:r>
          </a:p>
        </p:txBody>
      </p:sp>
      <p:sp>
        <p:nvSpPr>
          <p:cNvPr id="44038" name="AutoShape 5"/>
          <p:cNvSpPr>
            <a:spLocks noChangeArrowheads="1"/>
          </p:cNvSpPr>
          <p:nvPr/>
        </p:nvSpPr>
        <p:spPr bwMode="auto">
          <a:xfrm>
            <a:off x="1447800" y="1981200"/>
            <a:ext cx="1371600" cy="762000"/>
          </a:xfrm>
          <a:prstGeom prst="flowChartAlternateProcess">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CT tạo file rõ</a:t>
            </a:r>
          </a:p>
        </p:txBody>
      </p:sp>
      <p:sp>
        <p:nvSpPr>
          <p:cNvPr id="44039" name="AutoShape 6"/>
          <p:cNvSpPr>
            <a:spLocks noChangeArrowheads="1"/>
          </p:cNvSpPr>
          <p:nvPr/>
        </p:nvSpPr>
        <p:spPr bwMode="auto">
          <a:xfrm>
            <a:off x="1447800" y="3962400"/>
            <a:ext cx="1371600" cy="762000"/>
          </a:xfrm>
          <a:prstGeom prst="flowChartAlternateProcess">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CT Mật mã</a:t>
            </a:r>
          </a:p>
        </p:txBody>
      </p:sp>
      <p:cxnSp>
        <p:nvCxnSpPr>
          <p:cNvPr id="44040" name="AutoShape 7"/>
          <p:cNvCxnSpPr>
            <a:cxnSpLocks noChangeShapeType="1"/>
            <a:stCxn id="44038" idx="2"/>
            <a:endCxn id="44039" idx="0"/>
          </p:cNvCxnSpPr>
          <p:nvPr/>
        </p:nvCxnSpPr>
        <p:spPr bwMode="auto">
          <a:xfrm rot="5400000">
            <a:off x="1536700" y="3352800"/>
            <a:ext cx="1193800" cy="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041" name="AutoShape 8"/>
          <p:cNvSpPr>
            <a:spLocks noChangeArrowheads="1"/>
          </p:cNvSpPr>
          <p:nvPr/>
        </p:nvSpPr>
        <p:spPr bwMode="auto">
          <a:xfrm>
            <a:off x="5029200" y="1828800"/>
            <a:ext cx="3352800" cy="3048000"/>
          </a:xfrm>
          <a:prstGeom prst="flowChartProcess">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Chương trình ứng dụng</a:t>
            </a:r>
          </a:p>
          <a:p>
            <a:pPr algn="ctr"/>
            <a:endParaRPr lang="en-US"/>
          </a:p>
          <a:p>
            <a:pPr algn="ctr"/>
            <a:r>
              <a:rPr lang="en-US"/>
              <a:t>Chức năng tạo file rõ</a:t>
            </a:r>
          </a:p>
          <a:p>
            <a:pPr algn="ctr"/>
            <a:endParaRPr lang="en-US"/>
          </a:p>
          <a:p>
            <a:pPr algn="ctr"/>
            <a:r>
              <a:rPr lang="en-US"/>
              <a:t>Chức năng mật mã</a:t>
            </a:r>
          </a:p>
          <a:p>
            <a:pPr algn="ctr"/>
            <a:endParaRPr lang="en-US"/>
          </a:p>
          <a:p>
            <a:pPr algn="ctr"/>
            <a:r>
              <a:rPr lang="en-US"/>
              <a:t>…</a:t>
            </a:r>
          </a:p>
          <a:p>
            <a:pPr algn="ctr"/>
            <a:endParaRPr lang="en-US"/>
          </a:p>
          <a:p>
            <a:pPr algn="ctr"/>
            <a:endParaRPr lang="en-US"/>
          </a:p>
          <a:p>
            <a:pPr algn="ctr"/>
            <a:r>
              <a:rPr lang="en-US"/>
              <a:t>Chức năng n</a:t>
            </a:r>
          </a:p>
        </p:txBody>
      </p:sp>
      <p:cxnSp>
        <p:nvCxnSpPr>
          <p:cNvPr id="44042" name="AutoShape 9"/>
          <p:cNvCxnSpPr>
            <a:cxnSpLocks noChangeShapeType="1"/>
          </p:cNvCxnSpPr>
          <p:nvPr/>
        </p:nvCxnSpPr>
        <p:spPr bwMode="auto">
          <a:xfrm>
            <a:off x="5029200" y="2286000"/>
            <a:ext cx="335280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043" name="AutoShape 10"/>
          <p:cNvCxnSpPr>
            <a:cxnSpLocks noChangeShapeType="1"/>
          </p:cNvCxnSpPr>
          <p:nvPr/>
        </p:nvCxnSpPr>
        <p:spPr bwMode="auto">
          <a:xfrm>
            <a:off x="5016500" y="2819400"/>
            <a:ext cx="337820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044" name="AutoShape 11"/>
          <p:cNvCxnSpPr>
            <a:cxnSpLocks noChangeShapeType="1"/>
            <a:stCxn id="44041" idx="1"/>
            <a:endCxn id="44041" idx="3"/>
          </p:cNvCxnSpPr>
          <p:nvPr/>
        </p:nvCxnSpPr>
        <p:spPr bwMode="auto">
          <a:xfrm>
            <a:off x="5016500" y="3352800"/>
            <a:ext cx="337820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045" name="AutoShape 12"/>
          <p:cNvCxnSpPr>
            <a:cxnSpLocks noChangeShapeType="1"/>
          </p:cNvCxnSpPr>
          <p:nvPr/>
        </p:nvCxnSpPr>
        <p:spPr bwMode="auto">
          <a:xfrm>
            <a:off x="5016500" y="4343400"/>
            <a:ext cx="3378200"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35190690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5"/>
          <p:cNvSpPr>
            <a:spLocks noChangeArrowheads="1"/>
          </p:cNvSpPr>
          <p:nvPr/>
        </p:nvSpPr>
        <p:spPr bwMode="auto">
          <a:xfrm>
            <a:off x="0" y="22145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5060" name="Rectangle 6"/>
          <p:cNvSpPr>
            <a:spLocks noGrp="1" noChangeArrowheads="1"/>
          </p:cNvSpPr>
          <p:nvPr>
            <p:ph type="title"/>
          </p:nvPr>
        </p:nvSpPr>
        <p:spPr>
          <a:xfrm>
            <a:off x="179388" y="115888"/>
            <a:ext cx="8278812" cy="576262"/>
          </a:xfrm>
          <a:noFill/>
        </p:spPr>
        <p:txBody>
          <a:bodyPr/>
          <a:lstStyle/>
          <a:p>
            <a:r>
              <a:rPr lang="en-US" dirty="0" smtClean="0"/>
              <a:t>So </a:t>
            </a:r>
            <a:r>
              <a:rPr lang="en-US" dirty="0" err="1" smtClean="0"/>
              <a:t>sánh</a:t>
            </a:r>
            <a:r>
              <a:rPr lang="en-US" dirty="0" smtClean="0"/>
              <a:t> </a:t>
            </a:r>
            <a:r>
              <a:rPr lang="en-US" dirty="0" err="1" smtClean="0"/>
              <a:t>hai</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tiếp</a:t>
            </a:r>
            <a:r>
              <a:rPr lang="en-US" dirty="0" smtClean="0"/>
              <a:t> </a:t>
            </a:r>
            <a:r>
              <a:rPr lang="en-US" dirty="0" err="1" smtClean="0"/>
              <a:t>cận</a:t>
            </a:r>
            <a:endParaRPr lang="en-US" dirty="0" smtClean="0"/>
          </a:p>
        </p:txBody>
      </p:sp>
      <p:graphicFrame>
        <p:nvGraphicFramePr>
          <p:cNvPr id="632865" name="Group 33"/>
          <p:cNvGraphicFramePr>
            <a:graphicFrameLocks noGrp="1"/>
          </p:cNvGraphicFramePr>
          <p:nvPr>
            <p:extLst>
              <p:ext uri="{D42A27DB-BD31-4B8C-83A1-F6EECF244321}">
                <p14:modId xmlns:p14="http://schemas.microsoft.com/office/powerpoint/2010/main" val="1938089470"/>
              </p:ext>
            </p:extLst>
          </p:nvPr>
        </p:nvGraphicFramePr>
        <p:xfrm>
          <a:off x="228600" y="990600"/>
          <a:ext cx="8610600" cy="5307012"/>
        </p:xfrm>
        <a:graphic>
          <a:graphicData uri="http://schemas.openxmlformats.org/drawingml/2006/table">
            <a:tbl>
              <a:tblPr/>
              <a:tblGrid>
                <a:gridCol w="2763838"/>
                <a:gridCol w="2924175"/>
                <a:gridCol w="2922587"/>
              </a:tblGrid>
              <a:tr h="823058">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err="1" smtClean="0">
                          <a:ln>
                            <a:noFill/>
                          </a:ln>
                          <a:solidFill>
                            <a:schemeClr val="tx1"/>
                          </a:solidFill>
                          <a:effectLst/>
                          <a:latin typeface="Times New Roman" pitchFamily="18" charset="0"/>
                          <a:cs typeface="Times New Roman" pitchFamily="18" charset="0"/>
                        </a:rPr>
                        <a:t>Tính</a:t>
                      </a: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1" i="0" u="none" strike="noStrike" cap="none" normalizeH="0" baseline="0" dirty="0" err="1" smtClean="0">
                          <a:ln>
                            <a:noFill/>
                          </a:ln>
                          <a:solidFill>
                            <a:schemeClr val="tx1"/>
                          </a:solidFill>
                          <a:effectLst/>
                          <a:latin typeface="Times New Roman" pitchFamily="18" charset="0"/>
                          <a:cs typeface="Times New Roman" pitchFamily="18" charset="0"/>
                        </a:rPr>
                        <a:t>chất</a:t>
                      </a: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1" i="0" u="none" strike="noStrike" cap="none" normalizeH="0" baseline="0" dirty="0" err="1" smtClean="0">
                          <a:ln>
                            <a:noFill/>
                          </a:ln>
                          <a:solidFill>
                            <a:schemeClr val="tx1"/>
                          </a:solidFill>
                          <a:effectLst/>
                          <a:latin typeface="Times New Roman" pitchFamily="18" charset="0"/>
                          <a:cs typeface="Times New Roman" pitchFamily="18" charset="0"/>
                        </a:rPr>
                        <a:t>của</a:t>
                      </a:r>
                      <a:r>
                        <a:rPr kumimoji="0" lang="en-US" sz="2400" b="1" i="0" u="none" strike="noStrike" cap="none" normalizeH="0" baseline="0" dirty="0" smtClean="0">
                          <a:ln>
                            <a:noFill/>
                          </a:ln>
                          <a:solidFill>
                            <a:schemeClr val="tx1"/>
                          </a:solidFill>
                          <a:effectLst/>
                          <a:latin typeface="Times New Roman" pitchFamily="18" charset="0"/>
                          <a:cs typeface="Times New Roman" pitchFamily="18" charset="0"/>
                        </a:rPr>
                        <a:t> TBMM</a:t>
                      </a:r>
                      <a:endParaRPr kumimoji="0" lang="en-US" sz="2400" b="1" i="0" u="none" strike="noStrike" cap="none" normalizeH="0" baseline="0" dirty="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Times New Roman" pitchFamily="18" charset="0"/>
                          <a:cs typeface="Times New Roman" pitchFamily="18" charset="0"/>
                        </a:rPr>
                        <a:t>Hệ mật mã gá lắp</a:t>
                      </a:r>
                      <a:endParaRPr kumimoji="0" lang="en-US" sz="2400" b="1" i="0" u="none" strike="noStrike" cap="none" normalizeH="0" baseline="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Times New Roman" pitchFamily="18" charset="0"/>
                        </a:rPr>
                        <a:t>Hệ mật mã cài đặt</a:t>
                      </a: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71715">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Times New Roman" pitchFamily="18" charset="0"/>
                          <a:cs typeface="Times New Roman" pitchFamily="18" charset="0"/>
                        </a:rPr>
                        <a:t>Đi liền với tiểu hệ ứng dụng</a:t>
                      </a:r>
                      <a:endParaRPr kumimoji="0" lang="en-US" sz="2400" b="1" i="0" u="none" strike="noStrike" cap="none" normalizeH="0" baseline="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ở giai đoạn khai thác</a:t>
                      </a:r>
                      <a:endParaRPr kumimoji="0" lang="en-US" sz="2400" b="0" i="0" u="none" strike="noStrike" cap="none" normalizeH="0" baseline="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ở giai đoạn thiết kế và sản xuất</a:t>
                      </a:r>
                      <a:endParaRPr kumimoji="0" lang="en-US" sz="2400" b="0" i="0" u="none" strike="noStrike" cap="none" normalizeH="0" baseline="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87568">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Times New Roman" pitchFamily="18" charset="0"/>
                          <a:cs typeface="Times New Roman" pitchFamily="18" charset="0"/>
                        </a:rPr>
                        <a:t>Phụ thuộc vào hệ ứng dụng</a:t>
                      </a:r>
                      <a:endParaRPr kumimoji="0" lang="en-US" sz="2400" b="1" i="0" u="none" strike="noStrike" cap="none" normalizeH="0" baseline="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Thấp (ít phụ thuộc)</a:t>
                      </a:r>
                      <a:endParaRPr kumimoji="0" lang="en-US" sz="2400" b="0" i="0" u="none" strike="noStrike" cap="none" normalizeH="0" baseline="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Cao (rất phụ thuộc)</a:t>
                      </a:r>
                      <a:endParaRPr kumimoji="0" lang="en-US" sz="2400" b="0" i="0" u="none" strike="noStrike" cap="none" normalizeH="0" baseline="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554666">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Times New Roman" pitchFamily="18" charset="0"/>
                          <a:cs typeface="Times New Roman" pitchFamily="18" charset="0"/>
                        </a:rPr>
                        <a:t>Vị trí (định vị) của đối tượng bảo vệ</a:t>
                      </a:r>
                      <a:endParaRPr kumimoji="0" lang="en-US" sz="2400" b="1" i="0" u="none" strike="noStrike" cap="none" normalizeH="0" baseline="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Bên ngoài (so với môđun bảo vệ và chương trình ứng dụng)</a:t>
                      </a:r>
                      <a:endParaRPr kumimoji="0" lang="en-US" sz="2400" b="0" i="0" u="none" strike="noStrike" cap="none" normalizeH="0" baseline="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Bên</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trong</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bảo</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vệ</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đối</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tượng</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bên</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trong</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của</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CT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ứng</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dụng</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endParaRPr kumimoji="0" lang="en-US" sz="2400" b="0" i="0" u="none" strike="noStrike" cap="none" normalizeH="0" baseline="0" dirty="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0005">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smtClean="0">
                          <a:ln>
                            <a:noFill/>
                          </a:ln>
                          <a:solidFill>
                            <a:schemeClr val="tx1"/>
                          </a:solidFill>
                          <a:effectLst/>
                          <a:latin typeface="Times New Roman" pitchFamily="18" charset="0"/>
                          <a:cs typeface="Times New Roman" pitchFamily="18" charset="0"/>
                        </a:rPr>
                        <a:t>Phụ thuộc HĐH</a:t>
                      </a:r>
                      <a:endParaRPr kumimoji="0" lang="en-US" sz="2400" b="1" i="0" u="none" strike="noStrike" cap="none" normalizeH="0" baseline="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cs typeface="Times New Roman" pitchFamily="18" charset="0"/>
                        </a:rPr>
                        <a:t>Toàn bộ</a:t>
                      </a:r>
                      <a:endParaRPr kumimoji="0" lang="en-US" sz="2400" b="0" i="0" u="none" strike="noStrike" cap="none" normalizeH="0" baseline="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Thấp</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ít</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phụ</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2400" b="0" i="0" u="none" strike="noStrike" cap="none" normalizeH="0" baseline="0" dirty="0" err="1" smtClean="0">
                          <a:ln>
                            <a:noFill/>
                          </a:ln>
                          <a:solidFill>
                            <a:schemeClr val="tx1"/>
                          </a:solidFill>
                          <a:effectLst/>
                          <a:latin typeface="Times New Roman" pitchFamily="18" charset="0"/>
                          <a:cs typeface="Times New Roman" pitchFamily="18" charset="0"/>
                        </a:rPr>
                        <a:t>thuộc</a:t>
                      </a:r>
                      <a:r>
                        <a:rPr kumimoji="0" lang="en-US" sz="2400" b="0" i="0" u="none" strike="noStrike" cap="none" normalizeH="0" baseline="0" dirty="0" smtClean="0">
                          <a:ln>
                            <a:noFill/>
                          </a:ln>
                          <a:solidFill>
                            <a:schemeClr val="tx1"/>
                          </a:solidFill>
                          <a:effectLst/>
                          <a:latin typeface="Times New Roman" pitchFamily="18" charset="0"/>
                          <a:cs typeface="Times New Roman" pitchFamily="18" charset="0"/>
                        </a:rPr>
                        <a:t>)</a:t>
                      </a:r>
                      <a:endParaRPr kumimoji="0" lang="en-US" sz="2400" b="0" i="0" u="none" strike="noStrike" cap="none" normalizeH="0" baseline="0" dirty="0" smtClean="0">
                        <a:ln>
                          <a:noFill/>
                        </a:ln>
                        <a:solidFill>
                          <a:schemeClr val="tx1"/>
                        </a:solidFill>
                        <a:effectLst/>
                        <a:latin typeface="Times New Roman"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422683451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388" y="115888"/>
            <a:ext cx="8202612" cy="576262"/>
          </a:xfrm>
        </p:spPr>
        <p:txBody>
          <a:bodyPr/>
          <a:lstStyle/>
          <a:p>
            <a:r>
              <a:rPr lang="en-US" dirty="0" smtClean="0"/>
              <a:t>3. </a:t>
            </a:r>
            <a:r>
              <a:rPr lang="en-US" dirty="0" err="1" smtClean="0"/>
              <a:t>Phương</a:t>
            </a:r>
            <a:r>
              <a:rPr lang="en-US" dirty="0" smtClean="0"/>
              <a:t> </a:t>
            </a:r>
            <a:r>
              <a:rPr lang="en-US" dirty="0" err="1" smtClean="0"/>
              <a:t>pháp</a:t>
            </a:r>
            <a:r>
              <a:rPr lang="en-US" dirty="0" smtClean="0"/>
              <a:t> </a:t>
            </a:r>
            <a:r>
              <a:rPr lang="en-US" dirty="0" err="1" smtClean="0"/>
              <a:t>nhận</a:t>
            </a:r>
            <a:r>
              <a:rPr lang="en-US" dirty="0" smtClean="0"/>
              <a:t> </a:t>
            </a:r>
            <a:r>
              <a:rPr lang="en-US" dirty="0" err="1" smtClean="0"/>
              <a:t>dạng</a:t>
            </a:r>
            <a:r>
              <a:rPr lang="en-US" dirty="0" smtClean="0"/>
              <a:t>, </a:t>
            </a:r>
            <a:r>
              <a:rPr lang="en-US" dirty="0" err="1" smtClean="0"/>
              <a:t>xác</a:t>
            </a:r>
            <a:r>
              <a:rPr lang="en-US" dirty="0" smtClean="0"/>
              <a:t> </a:t>
            </a:r>
            <a:r>
              <a:rPr lang="en-US" dirty="0" err="1" smtClean="0"/>
              <a:t>thực</a:t>
            </a:r>
            <a:r>
              <a:rPr lang="en-US" dirty="0" smtClean="0"/>
              <a:t> </a:t>
            </a:r>
            <a:r>
              <a:rPr lang="en-US" dirty="0" err="1" smtClean="0"/>
              <a:t>và</a:t>
            </a:r>
            <a:r>
              <a:rPr lang="en-US" dirty="0" smtClean="0"/>
              <a:t> </a:t>
            </a:r>
            <a:r>
              <a:rPr lang="en-US" dirty="0" err="1" smtClean="0"/>
              <a:t>kiểm</a:t>
            </a:r>
            <a:r>
              <a:rPr lang="en-US" dirty="0" smtClean="0"/>
              <a:t> </a:t>
            </a:r>
            <a:r>
              <a:rPr lang="en-US" dirty="0" err="1" smtClean="0"/>
              <a:t>soát</a:t>
            </a:r>
            <a:r>
              <a:rPr lang="en-US" dirty="0" smtClean="0"/>
              <a:t> </a:t>
            </a:r>
            <a:r>
              <a:rPr lang="en-US" dirty="0" err="1" smtClean="0"/>
              <a:t>truy</a:t>
            </a:r>
            <a:r>
              <a:rPr lang="en-US" dirty="0" smtClean="0"/>
              <a:t> </a:t>
            </a:r>
            <a:r>
              <a:rPr lang="en-US" dirty="0" err="1" smtClean="0"/>
              <a:t>nhập</a:t>
            </a:r>
            <a:r>
              <a:rPr lang="en-US" dirty="0" smtClean="0"/>
              <a:t> </a:t>
            </a:r>
            <a:endParaRPr lang="en-US" dirty="0"/>
          </a:p>
        </p:txBody>
      </p:sp>
      <p:sp>
        <p:nvSpPr>
          <p:cNvPr id="3" name="Content Placeholder 2"/>
          <p:cNvSpPr>
            <a:spLocks noGrp="1"/>
          </p:cNvSpPr>
          <p:nvPr>
            <p:ph idx="1"/>
          </p:nvPr>
        </p:nvSpPr>
        <p:spPr/>
        <p:txBody>
          <a:bodyPr/>
          <a:lstStyle/>
          <a:p>
            <a:r>
              <a:rPr lang="en-US" dirty="0" err="1" smtClean="0"/>
              <a:t>Khái</a:t>
            </a:r>
            <a:r>
              <a:rPr lang="en-US" dirty="0" smtClean="0"/>
              <a:t> </a:t>
            </a:r>
            <a:r>
              <a:rPr lang="en-US" dirty="0" err="1" smtClean="0"/>
              <a:t>niệm</a:t>
            </a:r>
            <a:r>
              <a:rPr lang="en-US" dirty="0" smtClean="0"/>
              <a:t> </a:t>
            </a:r>
            <a:r>
              <a:rPr lang="en-US" dirty="0" err="1" smtClean="0"/>
              <a:t>cơ</a:t>
            </a:r>
            <a:r>
              <a:rPr lang="en-US" dirty="0" smtClean="0"/>
              <a:t> </a:t>
            </a:r>
            <a:r>
              <a:rPr lang="en-US" dirty="0" err="1" smtClean="0"/>
              <a:t>bản</a:t>
            </a:r>
            <a:endParaRPr lang="en-US" dirty="0" smtClean="0"/>
          </a:p>
          <a:p>
            <a:pPr lvl="1"/>
            <a:r>
              <a:rPr lang="en-US" dirty="0" err="1" smtClean="0"/>
              <a:t>Nhận</a:t>
            </a:r>
            <a:r>
              <a:rPr lang="en-US" dirty="0" smtClean="0"/>
              <a:t> </a:t>
            </a:r>
            <a:r>
              <a:rPr lang="en-US" dirty="0" err="1" smtClean="0"/>
              <a:t>dạng</a:t>
            </a:r>
            <a:r>
              <a:rPr lang="en-US" dirty="0" smtClean="0"/>
              <a:t> (identification)</a:t>
            </a:r>
          </a:p>
          <a:p>
            <a:pPr lvl="1"/>
            <a:r>
              <a:rPr lang="en-US" dirty="0" err="1" smtClean="0"/>
              <a:t>Xác</a:t>
            </a:r>
            <a:r>
              <a:rPr lang="en-US" dirty="0" smtClean="0"/>
              <a:t> </a:t>
            </a:r>
            <a:r>
              <a:rPr lang="en-US" dirty="0" err="1" smtClean="0"/>
              <a:t>thực</a:t>
            </a:r>
            <a:r>
              <a:rPr lang="en-US" dirty="0" smtClean="0"/>
              <a:t> (authentication)</a:t>
            </a:r>
          </a:p>
          <a:p>
            <a:pPr lvl="1"/>
            <a:r>
              <a:rPr lang="en-US" dirty="0" err="1" smtClean="0"/>
              <a:t>Kiểm</a:t>
            </a:r>
            <a:r>
              <a:rPr lang="en-US" dirty="0" smtClean="0"/>
              <a:t> </a:t>
            </a:r>
            <a:r>
              <a:rPr lang="en-US" dirty="0" err="1" smtClean="0"/>
              <a:t>soát</a:t>
            </a:r>
            <a:r>
              <a:rPr lang="en-US" dirty="0" smtClean="0"/>
              <a:t> </a:t>
            </a:r>
            <a:r>
              <a:rPr lang="en-US" dirty="0" err="1" smtClean="0"/>
              <a:t>truy</a:t>
            </a:r>
            <a:r>
              <a:rPr lang="en-US" dirty="0" smtClean="0"/>
              <a:t> </a:t>
            </a:r>
            <a:r>
              <a:rPr lang="en-US" dirty="0" err="1" smtClean="0"/>
              <a:t>cập</a:t>
            </a:r>
            <a:r>
              <a:rPr lang="en-US" dirty="0" smtClean="0"/>
              <a:t> (access control)</a:t>
            </a:r>
          </a:p>
          <a:p>
            <a:pPr lvl="1"/>
            <a:r>
              <a:rPr lang="en-US" dirty="0" err="1" smtClean="0"/>
              <a:t>Hệ</a:t>
            </a:r>
            <a:r>
              <a:rPr lang="en-US" dirty="0" smtClean="0"/>
              <a:t> </a:t>
            </a:r>
            <a:r>
              <a:rPr lang="en-US" dirty="0" err="1" smtClean="0"/>
              <a:t>xác</a:t>
            </a:r>
            <a:r>
              <a:rPr lang="en-US" dirty="0" smtClean="0"/>
              <a:t> </a:t>
            </a:r>
            <a:r>
              <a:rPr lang="en-US" dirty="0" err="1" smtClean="0"/>
              <a:t>thực</a:t>
            </a:r>
            <a:endParaRPr lang="en-US" dirty="0" smtClean="0"/>
          </a:p>
        </p:txBody>
      </p:sp>
    </p:spTree>
    <p:extLst>
      <p:ext uri="{BB962C8B-B14F-4D97-AF65-F5344CB8AC3E}">
        <p14:creationId xmlns:p14="http://schemas.microsoft.com/office/powerpoint/2010/main" val="2076913380"/>
      </p:ext>
    </p:extLst>
  </p:cSld>
  <p:clrMapOvr>
    <a:masterClrMapping/>
  </p:clrMapOvr>
</p:sld>
</file>

<file path=ppt/theme/theme1.xml><?xml version="1.0" encoding="utf-8"?>
<a:theme xmlns:a="http://schemas.openxmlformats.org/drawingml/2006/main" name="theme-lecture">
  <a:themeElements>
    <a:clrScheme name="VorlageAGSchaefer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VorlageAGSchaef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49263" rtl="0" eaLnBrk="1" fontAlgn="base" latinLnBrk="0" hangingPunct="1">
          <a:lnSpc>
            <a:spcPct val="82000"/>
          </a:lnSpc>
          <a:spcBef>
            <a:spcPct val="0"/>
          </a:spcBef>
          <a:spcAft>
            <a:spcPct val="0"/>
          </a:spcAft>
          <a:buClr>
            <a:srgbClr val="000000"/>
          </a:buClr>
          <a:buSzPct val="100000"/>
          <a:buFont typeface="Arial" charset="0"/>
          <a:buNone/>
          <a:tabLst/>
          <a:defRPr kumimoji="0" lang="en-GB" sz="1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49263" rtl="0" eaLnBrk="1" fontAlgn="base" latinLnBrk="0" hangingPunct="1">
          <a:lnSpc>
            <a:spcPct val="82000"/>
          </a:lnSpc>
          <a:spcBef>
            <a:spcPct val="0"/>
          </a:spcBef>
          <a:spcAft>
            <a:spcPct val="0"/>
          </a:spcAft>
          <a:buClr>
            <a:srgbClr val="000000"/>
          </a:buClr>
          <a:buSzPct val="100000"/>
          <a:buFont typeface="Arial" charset="0"/>
          <a:buNone/>
          <a:tabLst/>
          <a:defRPr kumimoji="0" lang="en-GB" sz="1800" b="0" i="0" u="none" strike="noStrike" cap="none" normalizeH="0" baseline="0" smtClean="0">
            <a:ln>
              <a:noFill/>
            </a:ln>
            <a:solidFill>
              <a:schemeClr val="bg1"/>
            </a:solidFill>
            <a:effectLst/>
            <a:latin typeface="Arial" charset="0"/>
          </a:defRPr>
        </a:defPPr>
      </a:lstStyle>
    </a:lnDef>
  </a:objectDefaults>
  <a:extraClrSchemeLst>
    <a:extraClrScheme>
      <a:clrScheme name="VorlageAGSchaefer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orlageAGSchaefer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VorlageAGSchaefer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orlageAGSchaefer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orlageAGSchaefer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orlageAGSchaefer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VorlageAGSchaefer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theme-lecture</Template>
  <TotalTime>1910769</TotalTime>
  <Words>3167</Words>
  <Application>Microsoft Office PowerPoint</Application>
  <PresentationFormat>On-screen Show (4:3)</PresentationFormat>
  <Paragraphs>270</Paragraphs>
  <Slides>45</Slides>
  <Notes>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47" baseType="lpstr">
      <vt:lpstr>theme-lecture</vt:lpstr>
      <vt:lpstr>Slide</vt:lpstr>
      <vt:lpstr>PowerPoint Presentation</vt:lpstr>
      <vt:lpstr>Nội dung</vt:lpstr>
      <vt:lpstr>2. Phương pháp mật mã</vt:lpstr>
      <vt:lpstr>Nguyên lý bảo vệ thông tin bằng mật mã</vt:lpstr>
      <vt:lpstr>Khái niệm thiết bị mật mã</vt:lpstr>
      <vt:lpstr>PowerPoint Presentation</vt:lpstr>
      <vt:lpstr>Nhiệm vụ của thiết bị mật mã</vt:lpstr>
      <vt:lpstr>PowerPoint Presentation</vt:lpstr>
      <vt:lpstr>Đặc tính của thiết bị mật mã</vt:lpstr>
      <vt:lpstr>PowerPoint Presentation</vt:lpstr>
      <vt:lpstr>Thể hiện mật mã trong hệ thống bảo vệ thông tin</vt:lpstr>
      <vt:lpstr>PowerPoint Presentation</vt:lpstr>
      <vt:lpstr>Hiểm họa an toàn thông tin khi áp dụng mật mã</vt:lpstr>
      <vt:lpstr>Sự rò rỉ thông tin theo các kênh kỹ thuật</vt:lpstr>
      <vt:lpstr>Lỗi trong các chi tiết của thiết bị mật mã</vt:lpstr>
      <vt:lpstr>Làm việc cùng với các chương trình khác</vt:lpstr>
      <vt:lpstr>Tác động của con người</vt:lpstr>
      <vt:lpstr>PowerPoint Presentation</vt:lpstr>
      <vt:lpstr>Nguyên lý cơ bản của thiết bị mật mã</vt:lpstr>
      <vt:lpstr>Đòi hỏi về mật mã</vt:lpstr>
      <vt:lpstr>PowerPoint Presentation</vt:lpstr>
      <vt:lpstr>Đòi hỏi về độ tin cậy</vt:lpstr>
      <vt:lpstr>PowerPoint Presentation</vt:lpstr>
      <vt:lpstr>Đòi hỏi về bảo vệ chống tiếp cận trái phép</vt:lpstr>
      <vt:lpstr>Nguyên lý cơ bản của thiết bị mật mã</vt:lpstr>
      <vt:lpstr>Đòi hỏi tới môi trường thiết kế, sản xuất và hoạt động của thiết bị mật mã</vt:lpstr>
      <vt:lpstr>2. Phương pháp mật mã</vt:lpstr>
      <vt:lpstr>Vấn đề hệ thống khi áp dụng mật mã</vt:lpstr>
      <vt:lpstr>Mã hóa tĩnh</vt:lpstr>
      <vt:lpstr>PowerPoint Presentation</vt:lpstr>
      <vt:lpstr>Mã hóa động…</vt:lpstr>
      <vt:lpstr>PowerPoint Presentation</vt:lpstr>
      <vt:lpstr>PowerPoint Presentation</vt:lpstr>
      <vt:lpstr>Phương pháp server mã hóa ứng dụng</vt:lpstr>
      <vt:lpstr>2. Phương pháp mật mã</vt:lpstr>
      <vt:lpstr>Bảo vệ tầng vận tải bằng mật mã…</vt:lpstr>
      <vt:lpstr>Bảo vệ tầng vận tải bằng mật mã…</vt:lpstr>
      <vt:lpstr>Bảo vệ mật mã tầng vận tải… </vt:lpstr>
      <vt:lpstr>Bảo vệ tầng vận tải bằng mật mã</vt:lpstr>
      <vt:lpstr>2. Phương pháp mật mã</vt:lpstr>
      <vt:lpstr>Bảo vệ mật mã tầng ứng dụng…</vt:lpstr>
      <vt:lpstr>Bảo vệ mật mã tầng ứng dụng…</vt:lpstr>
      <vt:lpstr>Bảo vệ mật mã tầng ứng dụng…</vt:lpstr>
      <vt:lpstr>So sánh hai phương pháp tiếp cận</vt:lpstr>
      <vt:lpstr>3. Phương pháp nhận dạng, xác thực và kiểm soát truy nhập </vt:lpstr>
    </vt:vector>
  </TitlesOfParts>
  <Company>309-A12</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Van Vu</dc:creator>
  <cp:lastModifiedBy>Hong-Yen Tran</cp:lastModifiedBy>
  <cp:revision>1293</cp:revision>
  <cp:lastPrinted>2016-06-15T15:35:47Z</cp:lastPrinted>
  <dcterms:created xsi:type="dcterms:W3CDTF">2009-10-12T15:30:40Z</dcterms:created>
  <dcterms:modified xsi:type="dcterms:W3CDTF">2016-08-15T08:48:36Z</dcterms:modified>
</cp:coreProperties>
</file>