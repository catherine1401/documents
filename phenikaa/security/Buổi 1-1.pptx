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3"/>
    <p:sldId id="258" r:id="rId4"/>
    <p:sldId id="483" r:id="rId5"/>
    <p:sldId id="481" r:id="rId6"/>
    <p:sldId id="484" r:id="rId7"/>
    <p:sldId id="257" r:id="rId8"/>
    <p:sldId id="259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63" r:id="rId25"/>
    <p:sldId id="280" r:id="rId26"/>
    <p:sldId id="281" r:id="rId27"/>
    <p:sldId id="282" r:id="rId28"/>
    <p:sldId id="260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02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notesMaster" Target="notesMasters/notesMaster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C9667B-26E3-420E-A1CF-D7DE6B97083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74BB2-26A3-4EFD-9814-5FE4A47CC0D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1351B-2C5D-457B-ABE5-B64DBC7BD41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"/>
            <a:ext cx="9144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55914" y="3243263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0" y="6538913"/>
            <a:ext cx="2057400" cy="365125"/>
          </a:xfrm>
        </p:spPr>
        <p:txBody>
          <a:bodyPr/>
          <a:lstStyle/>
          <a:p>
            <a:fld id="{2ADC29F2-8A35-3B44-9BA0-E01F07FBE6DF}" type="datetime1">
              <a:rPr lang="en-US" smtClean="0"/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28950" y="6538913"/>
            <a:ext cx="30861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Khoa Công </a:t>
            </a:r>
            <a:r>
              <a:rPr lang="en-US" dirty="0" err="1"/>
              <a:t>nghệ</a:t>
            </a:r>
            <a:r>
              <a:rPr lang="en-US" dirty="0"/>
              <a:t> Thông Tin – Trường </a:t>
            </a:r>
            <a:r>
              <a:rPr lang="en-US" dirty="0" err="1"/>
              <a:t>Đại</a:t>
            </a:r>
            <a:r>
              <a:rPr lang="en-US" dirty="0"/>
              <a:t> học Phenikaa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7086600" y="6538913"/>
            <a:ext cx="20574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6B6608-6F69-448F-99DC-C9E613BFB696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70388" y="112743"/>
            <a:ext cx="5016212" cy="2070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C81F4-8D9B-F149-A772-453CF73C488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14650" y="6603822"/>
            <a:ext cx="3086100" cy="254179"/>
          </a:xfrm>
        </p:spPr>
        <p:txBody>
          <a:bodyPr/>
          <a:lstStyle/>
          <a:p>
            <a:r>
              <a:rPr lang="en-US"/>
              <a:t>Faculty of Computer Science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65818" y="6600832"/>
            <a:ext cx="2057400" cy="274321"/>
          </a:xfrm>
        </p:spPr>
        <p:txBody>
          <a:bodyPr/>
          <a:lstStyle/>
          <a:p>
            <a:fld id="{086B6608-6F69-448F-99DC-C9E613BFB696}" type="slidenum">
              <a:rPr lang="en-US" smtClean="0"/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55643" y="243490"/>
            <a:ext cx="6045826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300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CHỦ ĐỀ</a:t>
            </a:r>
            <a:endParaRPr lang="en-US"/>
          </a:p>
        </p:txBody>
      </p:sp>
      <p:sp>
        <p:nvSpPr>
          <p:cNvPr id="8" name="Freeform 7"/>
          <p:cNvSpPr/>
          <p:nvPr userDrawn="1"/>
        </p:nvSpPr>
        <p:spPr>
          <a:xfrm>
            <a:off x="233446" y="235206"/>
            <a:ext cx="1312664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231914" y="1169081"/>
            <a:ext cx="8663713" cy="495413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x-none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4602" y="27835"/>
            <a:ext cx="1870364" cy="7718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93186"/>
            <a:ext cx="2057400" cy="267581"/>
          </a:xfrm>
        </p:spPr>
        <p:txBody>
          <a:bodyPr/>
          <a:lstStyle/>
          <a:p>
            <a:fld id="{7FB16B2F-4ABC-DC47-941D-61DAA8C286C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590420"/>
            <a:ext cx="3086100" cy="26758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Faculty of Computer Science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24504" y="6590420"/>
            <a:ext cx="2057400" cy="313617"/>
          </a:xfrm>
        </p:spPr>
        <p:txBody>
          <a:bodyPr/>
          <a:lstStyle/>
          <a:p>
            <a:fld id="{086B6608-6F69-448F-99DC-C9E613BFB696}" type="slidenum">
              <a:rPr lang="en-US" smtClean="0"/>
            </a:fld>
            <a:endParaRPr lang="en-US"/>
          </a:p>
        </p:txBody>
      </p:sp>
      <p:sp>
        <p:nvSpPr>
          <p:cNvPr id="3" name="Freeform 2"/>
          <p:cNvSpPr/>
          <p:nvPr userDrawn="1"/>
        </p:nvSpPr>
        <p:spPr>
          <a:xfrm>
            <a:off x="294680" y="235206"/>
            <a:ext cx="1312664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65607" y="294938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4602" y="27835"/>
            <a:ext cx="1870364" cy="77184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hyperlink" Target="https://www.cvedetails.com/top-50-products.php?year=2017" TargetMode="External"/><Relationship Id="rId4" Type="http://schemas.openxmlformats.org/officeDocument/2006/relationships/hyperlink" Target="https://www.cvedetails.com/" TargetMode="External"/><Relationship Id="rId3" Type="http://schemas.openxmlformats.org/officeDocument/2006/relationships/hyperlink" Target="https://nvd.nist.gov/vuln/search?execution=e3s1" TargetMode="External"/><Relationship Id="rId2" Type="http://schemas.openxmlformats.org/officeDocument/2006/relationships/hyperlink" Target="https://en.wikipedia.org/wiki/CERT_Coordination_Center" TargetMode="External"/><Relationship Id="rId1" Type="http://schemas.openxmlformats.org/officeDocument/2006/relationships/hyperlink" Target="https://www.mitre.org/" TargetMode="Externa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hyperlink" Target="https://nvd.nist.gov/vuln-metrics/cvss/v2-calculator?calculator&amp;adv&amp;version=2#score" TargetMode="External"/><Relationship Id="rId2" Type="http://schemas.openxmlformats.org/officeDocument/2006/relationships/hyperlink" Target="https://nvd.nist.gov/" TargetMode="External"/><Relationship Id="rId1" Type="http://schemas.openxmlformats.org/officeDocument/2006/relationships/hyperlink" Target="https://www.first.org/cvss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hyperlink" Target="Vulnerability/cvss-v30-examples_v1.5.pdf" TargetMode="External"/><Relationship Id="rId1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1084" y="2525377"/>
            <a:ext cx="7385715" cy="1486644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  <a:endParaRPr lang="x-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29F2-8A35-3B44-9BA0-E01F07FBE6DF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Faculty of Computer Science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</a:fld>
            <a:endParaRPr lang="en-US" dirty="0"/>
          </a:p>
        </p:txBody>
      </p:sp>
      <p:sp>
        <p:nvSpPr>
          <p:cNvPr id="6" name="Title 1"/>
          <p:cNvSpPr txBox="1"/>
          <p:nvPr/>
        </p:nvSpPr>
        <p:spPr>
          <a:xfrm>
            <a:off x="1791441" y="5898404"/>
            <a:ext cx="5943600" cy="8230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4/2024</a:t>
            </a:r>
            <a:endParaRPr lang="x-none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458252" y="3892995"/>
            <a:ext cx="6609979" cy="8230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4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 </a:t>
            </a:r>
            <a:r>
              <a:rPr lang="en-US" sz="40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4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Khánh Trâm</a:t>
            </a:r>
            <a:endParaRPr lang="x-none" sz="40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16B2F-4ABC-DC47-941D-61DAA8C286C6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Science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152400" y="2766218"/>
            <a:ext cx="9845193" cy="1325563"/>
          </a:xfrm>
        </p:spPr>
        <p:txBody>
          <a:bodyPr>
            <a:normAutofit fontScale="90000"/>
          </a:bodyPr>
          <a:lstStyle/>
          <a:p>
            <a:r>
              <a:rPr lang="en-US" b="1" kern="0" dirty="0" err="1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Chương</a:t>
            </a:r>
            <a:r>
              <a:rPr lang="en-US" b="1" kern="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1: </a:t>
            </a:r>
            <a:br>
              <a:rPr lang="en-US" b="1" kern="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b="1" kern="0" dirty="0" err="1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Tổng</a:t>
            </a:r>
            <a:r>
              <a:rPr lang="en-US" b="1" kern="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b="1" kern="0" dirty="0" err="1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quan</a:t>
            </a:r>
            <a:r>
              <a:rPr lang="en-US" b="1" kern="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b="1" kern="0" dirty="0" err="1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về</a:t>
            </a:r>
            <a:r>
              <a:rPr lang="en-US" b="1" kern="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br>
              <a:rPr lang="en-US" b="1" kern="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</a:br>
            <a:r>
              <a:rPr lang="en-US" b="1" kern="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An </a:t>
            </a:r>
            <a:r>
              <a:rPr lang="en-US" b="1" kern="0" dirty="0" err="1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toàn</a:t>
            </a:r>
            <a:r>
              <a:rPr lang="en-US" b="1" kern="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en-US" b="1" kern="0" dirty="0" err="1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thông</a:t>
            </a:r>
            <a:r>
              <a:rPr lang="en-US" b="1" kern="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tin</a:t>
            </a:r>
            <a:br>
              <a:rPr kumimoji="0" 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An </a:t>
            </a:r>
            <a:r>
              <a:rPr lang="en-US" b="1" dirty="0" err="1"/>
              <a:t>toàn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(Information Security)</a:t>
            </a:r>
            <a:r>
              <a:rPr lang="en-US" dirty="0"/>
              <a:t>: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,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,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phá</a:t>
            </a:r>
            <a:r>
              <a:rPr lang="en-US" dirty="0"/>
              <a:t> </a:t>
            </a:r>
            <a:r>
              <a:rPr lang="en-US" dirty="0" err="1"/>
              <a:t>hủy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/>
              <a:t>Confidentiality (Tính bí mật): </a:t>
            </a:r>
            <a:r>
              <a:rPr lang="vi-VN" dirty="0"/>
              <a:t>Đảm bảo dữ liệu chỉ được truy cập bởi người được phép.</a:t>
            </a:r>
            <a:endParaRPr lang="en-US" dirty="0"/>
          </a:p>
          <a:p>
            <a:r>
              <a:rPr lang="vi-VN" b="1" dirty="0"/>
              <a:t>Integrity (Tính toàn vẹn): </a:t>
            </a:r>
            <a:r>
              <a:rPr lang="vi-VN" dirty="0"/>
              <a:t>Ngăn chặn sửa đổi, giả mạo dữ liệu.</a:t>
            </a:r>
            <a:endParaRPr lang="en-US" dirty="0"/>
          </a:p>
          <a:p>
            <a:r>
              <a:rPr lang="vi-VN" b="1" dirty="0"/>
              <a:t>Availability (Tính sẵn sàng): </a:t>
            </a:r>
            <a:r>
              <a:rPr lang="vi-VN" dirty="0"/>
              <a:t>Hệ thống, dịch vụ luôn khả dụng khi cần.</a:t>
            </a:r>
            <a:endParaRPr lang="en-US" dirty="0"/>
          </a:p>
        </p:txBody>
      </p:sp>
      <p:pic>
        <p:nvPicPr>
          <p:cNvPr id="1027" name="Picture 3" descr="Giới thiệu về tam giác bảo mật CIA - Giải Pháp Mạng H3T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469" y="3164682"/>
            <a:ext cx="2714375" cy="270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Các mối đe dọa phổ biến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vi-VN" b="1" dirty="0"/>
              <a:t>Tấn công mạng (Cyber Attacks):</a:t>
            </a:r>
            <a:endParaRPr lang="vi-VN" dirty="0"/>
          </a:p>
          <a:p>
            <a:pPr lvl="1"/>
            <a:r>
              <a:rPr lang="vi-VN" dirty="0"/>
              <a:t>Malware (virus, trojan, ransomware, spyware).</a:t>
            </a:r>
            <a:endParaRPr lang="vi-VN" dirty="0"/>
          </a:p>
          <a:p>
            <a:pPr lvl="1"/>
            <a:r>
              <a:rPr lang="vi-VN" dirty="0"/>
              <a:t>Phishing, social engineering.</a:t>
            </a:r>
            <a:endParaRPr lang="vi-VN" dirty="0"/>
          </a:p>
          <a:p>
            <a:pPr lvl="1"/>
            <a:r>
              <a:rPr lang="vi-VN" dirty="0"/>
              <a:t>DDoS (tấn công từ chối dịch vụ).</a:t>
            </a:r>
            <a:endParaRPr lang="vi-VN" dirty="0"/>
          </a:p>
          <a:p>
            <a:pPr lvl="1"/>
            <a:r>
              <a:rPr lang="vi-VN" dirty="0"/>
              <a:t>SQL Injection, XSS, khai thác lỗ hổng ứng dụng.</a:t>
            </a:r>
            <a:endParaRPr lang="vi-VN" dirty="0"/>
          </a:p>
          <a:p>
            <a:r>
              <a:rPr lang="vi-VN" b="1" dirty="0"/>
              <a:t>Rò rỉ dữ liệu (Data Breach):</a:t>
            </a:r>
            <a:r>
              <a:rPr lang="vi-VN" dirty="0"/>
              <a:t> thông tin cá nhân, tài chính bị lộ ra ngoài.</a:t>
            </a:r>
            <a:endParaRPr lang="vi-VN" dirty="0"/>
          </a:p>
          <a:p>
            <a:r>
              <a:rPr lang="vi-VN" b="1" dirty="0"/>
              <a:t>Insider Threat:</a:t>
            </a:r>
            <a:r>
              <a:rPr lang="vi-VN" dirty="0"/>
              <a:t> nhân viên hoặc người nội bộ lợi dụng quyền hạn.</a:t>
            </a:r>
            <a:endParaRPr lang="vi-VN" dirty="0"/>
          </a:p>
          <a:p>
            <a:r>
              <a:rPr lang="vi-VN" b="1" dirty="0"/>
              <a:t>Lỗi con người:</a:t>
            </a:r>
            <a:r>
              <a:rPr lang="vi-VN" dirty="0"/>
              <a:t> sử dụng mật khẩu yếu, gửi nhầm thông tin, cấu hình sai.</a:t>
            </a:r>
            <a:endParaRPr lang="vi-VN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dọa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dọa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(Threat):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Bất kỳ tình huống hoặc sự kiện nào có tiềm năng ảnh hưởng tiêu cực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của tổ chức 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nhiệm vụ, chức năng, hình ảnh, hoặc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danh tiếng), tài sản tổ chức, cá nhâ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quốc gia thông qua truy cập trái phép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thông tin,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tiết lộ, sửa đổi thông tin, và / hoặc từ chối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dịch vụ.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(SP 800-53; SP 800-53A; SP 800-27; SP 800-60; SP 800-37; CNSSI-4009, FIPS 200 ).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 - NIST (National Institute of Standards and Technology) Special Publication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CNSSI - Committee on National Security Systems Instruction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FIPS - Federal Information Processing Standards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Rủi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(Risk): 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ức độ ảnh hưởng đến hoạt động của tổ chức 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nhiệm vụ,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chức năng, hình ảnh hoặc danh tiếng), tài sản tổ chức hoặc cá nhân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bắt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của hệ thống thông tin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tác động của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khả năng xảy ra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đó.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(FIPS 200, SP 800-60)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ức độ một thực thể bị đe doạ bởi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ơ,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(i)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tác động bất lợi có thể nảy sinh nếu xảy ra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ơ;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và (ii) khả năng xảy ra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(SP 800-53, CNSSI-4009, SP 800-37; SP 800-53A).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(Vulnerability):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Là điểm yếu trong một hệ thống thông tin, quy trình bảo mật hệ thống,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soát nội bộ hoặc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thể bị khai thác hoặc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kích hoạt bởi một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ơ.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NIST-SP 800-53; SP 800 -37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(Malware):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lnSpc>
                <a:spcPct val="120000"/>
              </a:lnSpc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ột chương trình được chèn vào một hệ thống, thường là bí mật, với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 định làm ảnh hưởng đến tính bảo mật, tính toàn vẹn hoặc tính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liệu, ứng dụng, hoặc hệ điều hành của nạn nhân hoặc làm phiền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nạn nhân.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 800-83)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(Attack):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chối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thoái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hủy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tin.” (CNSSI-4009)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457200" y="304800"/>
            <a:ext cx="6045826" cy="553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300" b="1" kern="1200" baseline="0">
                <a:solidFill>
                  <a:srgbClr val="22377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ngầm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cư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chép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trộm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ổ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đĩa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(ROM, RAM)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in.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phóng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trộm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virus,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Trojan,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logic…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ngoài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1" y="1219200"/>
            <a:ext cx="2819399" cy="4954133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Unauthorized disclosure: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Threat to confidentiality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Deception: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Threat to integrity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Disruption: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Threat to integrity and availability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Usurpation: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Threat to integrity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704" y="1021837"/>
            <a:ext cx="6094912" cy="423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trộm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lừa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qua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ngẫu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ý,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cẩn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trộm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lừa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65" b="1"/>
          <a:stretch>
            <a:fillRect/>
          </a:stretch>
        </p:blipFill>
        <p:spPr bwMode="auto">
          <a:xfrm>
            <a:off x="763970" y="1351744"/>
            <a:ext cx="7616060" cy="4154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Nguy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lừa</a:t>
            </a:r>
            <a:r>
              <a:rPr lang="en-US" dirty="0"/>
              <a:t> </a:t>
            </a:r>
            <a:r>
              <a:rPr lang="en-US" dirty="0" err="1"/>
              <a:t>đảo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74"/>
          <a:stretch>
            <a:fillRect/>
          </a:stretch>
        </p:blipFill>
        <p:spPr bwMode="auto">
          <a:xfrm>
            <a:off x="1138604" y="2187476"/>
            <a:ext cx="6866792" cy="3483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42" y="243490"/>
            <a:ext cx="7135758" cy="553289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 err="1"/>
              <a:t>Nguy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rò</a:t>
            </a:r>
            <a:r>
              <a:rPr lang="en-US" dirty="0"/>
              <a:t> </a:t>
            </a:r>
            <a:r>
              <a:rPr lang="en-US" dirty="0" err="1"/>
              <a:t>rỉ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truyền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móc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lưới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Liên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sóng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khí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đàn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pPr algn="just">
              <a:lnSpc>
                <a:spcPct val="130000"/>
              </a:lnSpc>
            </a:pP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(video)</a:t>
            </a: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kẻ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xấu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chẳng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quay video…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30000"/>
              </a:lnSpc>
              <a:buNone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xa)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kể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tin.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chia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30000"/>
              </a:lnSpc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30000"/>
              </a:lnSpc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30000"/>
              </a:lnSpc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cục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endParaRPr lang="da-DK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30000"/>
              </a:lnSpc>
            </a:pPr>
            <a:r>
              <a:rPr lang="da-DK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vật mang tin trên máy</a:t>
            </a:r>
            <a:endParaRPr lang="da-DK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30000"/>
              </a:lnSpc>
            </a:pPr>
            <a:r>
              <a:rPr lang="da-DK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đầu cuối.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42" y="243490"/>
            <a:ext cx="7211957" cy="553289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just"/>
            <a:r>
              <a:rPr lang="da-D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nguyên nhân chính làm rò rỉ TT:</a:t>
            </a:r>
            <a:endParaRPr lang="da-D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da-D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Nhân viên và người dùng không tuân thủ các tiêu chuẩn, các yêu cầu, các điều luật khai thác hệ thống</a:t>
            </a:r>
            <a:endParaRPr lang="da-D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da-D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lỗi trong thiết kế hệ thống và bảo vệ hệ thống</a:t>
            </a:r>
            <a:endParaRPr lang="da-D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da-D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Tiến hành các tình báo kỹ thuật và nội gián từ phía đối phương</a:t>
            </a:r>
            <a:endParaRPr lang="da-D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(System weaknesses):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khiếm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khuyết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cài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(Security vulnerability):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tin, quy trình bảo mật hệ thống,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soát nội bộ hoặc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có thể bị khai thác hoặc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kích hoạt bởi một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gây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hại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bao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bí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vẹn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Weakness Enumeration (CWE):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một danh sách chính thức các </a:t>
            </a:r>
            <a:r>
              <a:rPr lang="vi-V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kiểu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phần mềm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được tạo ra để: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Phục vụ như một ngôn ngữ chung mô tả các điểm yếu bảo mật phần mềm trong kiến trúc, thiết kế hoặc mã.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Phục vụ như một đo lường chuẩn cho các công cụ bảo mật phần mềm nhằm vào những điểm yếu này.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Cung cấp một chuẩn cơ sở chung để xác định những điểm yếu, giảm thiểu và phòng ngừa.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Vulnerabilities and Exposures (CVE):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vi-V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ột từ điển các tên gọi chung cho lỗ hổng hệ thống thông tin công khai được biết đến.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 800-51; CNSSI-4009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397206"/>
            <a:ext cx="7041953" cy="47625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57103"/>
            <a:ext cx="9144000" cy="373181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CVE (CVE-ID)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CNA (CVE Numbering Authority).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Mitre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 Corporation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(Microsoft, Oracle, HP, Red Hat,...)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 tooltip="CERT Coordination Center"/>
              </a:rPr>
              <a:t>CERT Coordination Center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CVE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CVE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Vulnerability Statistic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Top 50 products by Total Number Of "Distinct" Vulnerabilities in 2017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20757" y="1219200"/>
            <a:ext cx="8302486" cy="495413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(severity)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CVE đ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 CVSS (Common Vulnerability Scoring System)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 FIRST (Forum of Incident Response and Security Teams)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NVD (U.S National Vulnerability Database)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CVE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mức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nghiêm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trọng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hổng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1620"/>
            <a:ext cx="8543529" cy="26387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200" y="4343400"/>
            <a:ext cx="665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hlinkClick r:id="rId2" action="ppaction://hlinkfile"/>
              </a:rPr>
              <a:t>Ví</a:t>
            </a:r>
            <a:r>
              <a:rPr lang="en-US" dirty="0">
                <a:hlinkClick r:id="rId2" action="ppaction://hlinkfile"/>
              </a:rPr>
              <a:t> </a:t>
            </a:r>
            <a:r>
              <a:rPr lang="en-US" dirty="0" err="1">
                <a:hlinkClick r:id="rId2" action="ppaction://hlinkfile"/>
              </a:rPr>
              <a:t>dụ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42" y="243490"/>
            <a:ext cx="7516758" cy="553289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(Penetration Testing)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1915" y="1169081"/>
            <a:ext cx="5559286" cy="495413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thâm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(Pen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etration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là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 phỏng phương pháp mà kẻ tấn công có thể sử dụng để phá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vỡ</a:t>
            </a:r>
            <a:r>
              <a:rPr lang="vi-V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kiểm soát an ninh và truy cập vào hệ thống.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(Penetration Testing Execution Standard):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866900"/>
            <a:ext cx="3124200" cy="3124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95" y="1447800"/>
            <a:ext cx="8496944" cy="4834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T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(Pre-engagement Interaction)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hảo luận về phạm vi và các điều khoản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ủa thử nghiệm thâm nhập với khách hàng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Thu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(Intelligent Gathering)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 thập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tổ chức bằng cách sử dụng mạng xã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Google hacking, footprinting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quét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(Threat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modelling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ác định bất kỳ lỗ hổng hiện có trên một hệ thống mục tiêu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tấn công hiệu quả nhất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Nắm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chắc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Sau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cáo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Tạo báo cáo đánh giá chi tiết về những lỗ hổng, nguy cơ mất an toàn thông tin và trình bày với khách hàng để thẩm định. 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hảo luận các giải pháp khắc phục các lỗ hổng đã phát hiện.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4884293" y="3590081"/>
            <a:ext cx="4232275" cy="2632075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3098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31830" y="3621416"/>
            <a:ext cx="4724401" cy="2646363"/>
          </a:xfrm>
          <a:prstGeom prst="roundRect">
            <a:avLst>
              <a:gd name="adj" fmla="val 13745"/>
            </a:avLst>
          </a:prstGeom>
          <a:noFill/>
          <a:ln w="381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>
                    <a:alpha val="3098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400">
              <a:latin typeface="Verdana" panose="020B0604030504040204" pitchFamily="34" charset="0"/>
            </a:endParaRPr>
          </a:p>
        </p:txBody>
      </p:sp>
      <p:sp>
        <p:nvSpPr>
          <p:cNvPr id="6" name="Oval 24"/>
          <p:cNvSpPr>
            <a:spLocks noChangeArrowheads="1"/>
          </p:cNvSpPr>
          <p:nvPr/>
        </p:nvSpPr>
        <p:spPr bwMode="gray">
          <a:xfrm>
            <a:off x="6096634" y="2447576"/>
            <a:ext cx="259766" cy="519351"/>
          </a:xfrm>
          <a:prstGeom prst="ellipse">
            <a:avLst/>
          </a:prstGeom>
          <a:gradFill rotWithShape="1">
            <a:gsLst>
              <a:gs pos="0">
                <a:schemeClr val="accent1">
                  <a:alpha val="32001"/>
                </a:schemeClr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/>
          </a:p>
        </p:txBody>
      </p:sp>
      <p:grpSp>
        <p:nvGrpSpPr>
          <p:cNvPr id="7" name="Group 28"/>
          <p:cNvGrpSpPr/>
          <p:nvPr/>
        </p:nvGrpSpPr>
        <p:grpSpPr bwMode="auto">
          <a:xfrm>
            <a:off x="6354338" y="1984824"/>
            <a:ext cx="1290638" cy="1277937"/>
            <a:chOff x="4166" y="1706"/>
            <a:chExt cx="1252" cy="1252"/>
          </a:xfrm>
        </p:grpSpPr>
        <p:sp>
          <p:nvSpPr>
            <p:cNvPr id="8" name="Oval 29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" name="Oval 30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Oval 31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" name="Oval 32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2" name="Text Box 39"/>
          <p:cNvSpPr txBox="1">
            <a:spLocks noChangeArrowheads="1"/>
          </p:cNvSpPr>
          <p:nvPr/>
        </p:nvSpPr>
        <p:spPr bwMode="gray">
          <a:xfrm>
            <a:off x="6307224" y="2248582"/>
            <a:ext cx="138486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Bí mật (Covert)</a:t>
            </a:r>
            <a:endParaRPr lang="en-US" altLang="en-US" sz="2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24"/>
          <p:cNvSpPr>
            <a:spLocks noChangeArrowheads="1"/>
          </p:cNvSpPr>
          <p:nvPr/>
        </p:nvSpPr>
        <p:spPr bwMode="gray">
          <a:xfrm>
            <a:off x="1496568" y="2391382"/>
            <a:ext cx="259766" cy="519351"/>
          </a:xfrm>
          <a:prstGeom prst="ellipse">
            <a:avLst/>
          </a:prstGeom>
          <a:gradFill rotWithShape="1">
            <a:gsLst>
              <a:gs pos="0">
                <a:schemeClr val="accent1">
                  <a:alpha val="32001"/>
                </a:schemeClr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9250" dir="3267739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4" name="Oval 32"/>
          <p:cNvSpPr>
            <a:spLocks noChangeArrowheads="1"/>
          </p:cNvSpPr>
          <p:nvPr/>
        </p:nvSpPr>
        <p:spPr bwMode="gray">
          <a:xfrm>
            <a:off x="2172844" y="2133429"/>
            <a:ext cx="1065213" cy="94615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D6E1E2">
                  <a:alpha val="37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5" name="Group 28"/>
          <p:cNvGrpSpPr/>
          <p:nvPr/>
        </p:nvGrpSpPr>
        <p:grpSpPr bwMode="auto">
          <a:xfrm>
            <a:off x="1727970" y="2025111"/>
            <a:ext cx="1290637" cy="1277937"/>
            <a:chOff x="4166" y="1706"/>
            <a:chExt cx="1252" cy="1252"/>
          </a:xfrm>
        </p:grpSpPr>
        <p:sp>
          <p:nvSpPr>
            <p:cNvPr id="16" name="Oval 29"/>
            <p:cNvSpPr>
              <a:spLocks noChangeArrowheads="1"/>
            </p:cNvSpPr>
            <p:nvPr/>
          </p:nvSpPr>
          <p:spPr bwMode="gray">
            <a:xfrm>
              <a:off x="4166" y="1706"/>
              <a:ext cx="1252" cy="125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Oval 30"/>
            <p:cNvSpPr>
              <a:spLocks noChangeArrowheads="1"/>
            </p:cNvSpPr>
            <p:nvPr/>
          </p:nvSpPr>
          <p:spPr bwMode="gray">
            <a:xfrm>
              <a:off x="4182" y="1713"/>
              <a:ext cx="1222" cy="1221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Oval 31"/>
            <p:cNvSpPr>
              <a:spLocks noChangeArrowheads="1"/>
            </p:cNvSpPr>
            <p:nvPr/>
          </p:nvSpPr>
          <p:spPr bwMode="gray">
            <a:xfrm>
              <a:off x="4195" y="1725"/>
              <a:ext cx="1162" cy="1141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Oval 32"/>
            <p:cNvSpPr>
              <a:spLocks noChangeArrowheads="1"/>
            </p:cNvSpPr>
            <p:nvPr/>
          </p:nvSpPr>
          <p:spPr bwMode="gray">
            <a:xfrm>
              <a:off x="4263" y="1757"/>
              <a:ext cx="1033" cy="92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737190" y="2023629"/>
            <a:ext cx="131348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(Overt)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8768" y="3962400"/>
            <a:ext cx="4528386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/>
              <a:t>- Thảo luận về các mối đe dọa</a:t>
            </a:r>
            <a:endParaRPr lang="en-US" sz="2400"/>
          </a:p>
          <a:p>
            <a:r>
              <a:rPr lang="en-US" sz="2400"/>
              <a:t>- Có quyền truy cập kiến thức nội bộ, hệ thống bảo mật</a:t>
            </a:r>
            <a:endParaRPr lang="en-US" sz="2400"/>
          </a:p>
          <a:p>
            <a:r>
              <a:rPr lang="en-US" sz="2400"/>
              <a:t>- Tiến hành các cuộc tấn công mà không bị chặn</a:t>
            </a:r>
            <a:endParaRPr lang="en-US" sz="2400" dirty="0"/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4958155" y="3987293"/>
            <a:ext cx="409681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400" dirty="0"/>
              <a:t>-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kiến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về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endParaRPr lang="en-US" sz="2400" dirty="0"/>
          </a:p>
          <a:p>
            <a:r>
              <a:rPr lang="en-US" sz="2400" dirty="0"/>
              <a:t>-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khả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đáp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cuộc</a:t>
            </a:r>
            <a:r>
              <a:rPr lang="en-US" sz="2400" dirty="0"/>
              <a:t> </a:t>
            </a:r>
            <a:r>
              <a:rPr lang="en-US" sz="2400" dirty="0" err="1"/>
              <a:t>tấn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đội</a:t>
            </a:r>
            <a:r>
              <a:rPr lang="en-US" sz="2400" dirty="0"/>
              <a:t> an </a:t>
            </a:r>
            <a:r>
              <a:rPr lang="en-US" sz="2400" dirty="0" err="1"/>
              <a:t>ninh</a:t>
            </a:r>
            <a:r>
              <a:rPr lang="en-US" sz="2400" dirty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hổng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0" y="2133600"/>
            <a:ext cx="5859242" cy="36724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967287" y="2438400"/>
            <a:ext cx="417671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quét lỗ hổng là công cụ tự động được sử dụng để xác định các lỗ hổng bảo mật ảnh hưởng đến một hệ thống hoặc ứng dụng nhất định.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872" y="2975610"/>
            <a:ext cx="7868256" cy="1232739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/>
              <a:t>Thanks for listening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29F2-8A35-3B44-9BA0-E01F07FBE6DF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Computer Science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B6608-6F69-448F-99DC-C9E613BFB69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11893</Words>
  <Application>WPS Presentation</Application>
  <PresentationFormat>On-screen Show (4:3)</PresentationFormat>
  <Paragraphs>342</Paragraphs>
  <Slides>40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2" baseType="lpstr">
      <vt:lpstr>Arial</vt:lpstr>
      <vt:lpstr>SimSun</vt:lpstr>
      <vt:lpstr>Wingdings</vt:lpstr>
      <vt:lpstr>Times New Roman</vt:lpstr>
      <vt:lpstr>Times New Roman</vt:lpstr>
      <vt:lpstr>Calibri</vt:lpstr>
      <vt:lpstr>Microsoft YaHei</vt:lpstr>
      <vt:lpstr>Arial Unicode MS</vt:lpstr>
      <vt:lpstr>Aptos</vt:lpstr>
      <vt:lpstr>Segoe UI</vt:lpstr>
      <vt:lpstr>Verdana</vt:lpstr>
      <vt:lpstr>Office Theme</vt:lpstr>
      <vt:lpstr>INFORMATION SECURITY</vt:lpstr>
      <vt:lpstr>Chương 1:  Tổng quan về  An toàn thông tin </vt:lpstr>
      <vt:lpstr>Tổng quan</vt:lpstr>
      <vt:lpstr>2. Mục tiêu chính của bảo mật</vt:lpstr>
      <vt:lpstr>Các mối đe dọa phổ biến</vt:lpstr>
      <vt:lpstr>1. Giới thiệu tổng quan</vt:lpstr>
      <vt:lpstr>1.1. Khái niệm cơ bản</vt:lpstr>
      <vt:lpstr>1.1. Khái niệm cơ bản </vt:lpstr>
      <vt:lpstr>1.1. Khái niệm cơ bản</vt:lpstr>
      <vt:lpstr>1.1. Khái niệm cơ bản</vt:lpstr>
      <vt:lpstr>1.1. Khái niệm cơ bản</vt:lpstr>
      <vt:lpstr>1.2. Phân loại nguy cơ</vt:lpstr>
      <vt:lpstr>PowerPoint 演示文稿</vt:lpstr>
      <vt:lpstr>1.2. Phân loại nguy cơ</vt:lpstr>
      <vt:lpstr>1.2. Phân loại nguy cơ</vt:lpstr>
      <vt:lpstr>1.2. Phân loại nguy cơ</vt:lpstr>
      <vt:lpstr>1.2. Phân loại nguy cơ</vt:lpstr>
      <vt:lpstr>1.2. Phân loại nguy cơ</vt:lpstr>
      <vt:lpstr>Nguy cơ ngẫu nhiên</vt:lpstr>
      <vt:lpstr>Nguy cơ gian lận và trộm cắp</vt:lpstr>
      <vt:lpstr>Nguy cơ lừa đảo</vt:lpstr>
      <vt:lpstr>Nguy cơ lừa đảo</vt:lpstr>
      <vt:lpstr>Nguy cơ rò rỉ thông tin qua các kênh truyền</vt:lpstr>
      <vt:lpstr>Kênh rò rỉ thông tin</vt:lpstr>
      <vt:lpstr>Kênh rò rỉ thông tin</vt:lpstr>
      <vt:lpstr>Các nguyên nhân chính làm rò rỉ thông tin</vt:lpstr>
      <vt:lpstr>2. Điểm yếu và lỗ hổng bảo mật</vt:lpstr>
      <vt:lpstr>2. Điểm yếu và lỗ hổng bảo mật</vt:lpstr>
      <vt:lpstr>2. Điểm yếu và lỗ hổng bảo mật</vt:lpstr>
      <vt:lpstr>2. Điểm yếu và lỗ hổng bảo mật</vt:lpstr>
      <vt:lpstr>2. Điểm yếu và lỗ hổng bảo mật</vt:lpstr>
      <vt:lpstr>2. Điểm yếu và lỗ hổng bảo mật</vt:lpstr>
      <vt:lpstr>2. Điểm yếu và lỗ hổng bảo mật</vt:lpstr>
      <vt:lpstr>Kiểm thử thâm nhập (Penetration Testing)</vt:lpstr>
      <vt:lpstr>Các giai đoạn của PTES</vt:lpstr>
      <vt:lpstr>Các giai đoạn của PTES</vt:lpstr>
      <vt:lpstr>Các giai đoạn của PTES</vt:lpstr>
      <vt:lpstr>Các giai đoạn của PTES</vt:lpstr>
      <vt:lpstr>Các giai đoạn của PTES</vt:lpstr>
      <vt:lpstr>Thanks for listening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SECURITY</dc:title>
  <dc:creator>AD</dc:creator>
  <cp:lastModifiedBy>Ngọc Linh Mai</cp:lastModifiedBy>
  <cp:revision>9</cp:revision>
  <dcterms:created xsi:type="dcterms:W3CDTF">2006-08-16T00:00:00Z</dcterms:created>
  <dcterms:modified xsi:type="dcterms:W3CDTF">2025-09-26T06:33:26Z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3C309BFB60C84F43B2EAD26DF3E0BB4B_13</vt:lpwstr>
  </property>
  <property fmtid="{D5CDD505-2E9C-101B-9397-08002B2CF9AE}" pid="3" name="KSOProductBuildVer">
    <vt:lpwstr>1033-12.2.0.22549</vt:lpwstr>
  </property>
</Properties>
</file>