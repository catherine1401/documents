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 id="2147483658" r:id="rId5"/>
  </p:sldMasterIdLst>
  <p:notesMasterIdLst>
    <p:notesMasterId r:id="rId58"/>
  </p:notesMasterIdLst>
  <p:sldIdLst>
    <p:sldId id="256" r:id="rId6"/>
    <p:sldId id="257" r:id="rId7"/>
    <p:sldId id="261" r:id="rId8"/>
    <p:sldId id="313" r:id="rId9"/>
    <p:sldId id="360" r:id="rId10"/>
    <p:sldId id="354" r:id="rId11"/>
    <p:sldId id="361" r:id="rId12"/>
    <p:sldId id="362" r:id="rId13"/>
    <p:sldId id="355" r:id="rId14"/>
    <p:sldId id="364" r:id="rId15"/>
    <p:sldId id="365" r:id="rId16"/>
    <p:sldId id="366" r:id="rId17"/>
    <p:sldId id="367" r:id="rId18"/>
    <p:sldId id="368" r:id="rId19"/>
    <p:sldId id="369" r:id="rId20"/>
    <p:sldId id="363" r:id="rId21"/>
    <p:sldId id="370" r:id="rId22"/>
    <p:sldId id="372" r:id="rId23"/>
    <p:sldId id="373" r:id="rId24"/>
    <p:sldId id="374" r:id="rId25"/>
    <p:sldId id="375" r:id="rId26"/>
    <p:sldId id="377" r:id="rId27"/>
    <p:sldId id="356" r:id="rId28"/>
    <p:sldId id="378" r:id="rId29"/>
    <p:sldId id="379" r:id="rId30"/>
    <p:sldId id="380" r:id="rId31"/>
    <p:sldId id="381" r:id="rId32"/>
    <p:sldId id="382" r:id="rId33"/>
    <p:sldId id="383" r:id="rId34"/>
    <p:sldId id="384" r:id="rId35"/>
    <p:sldId id="357" r:id="rId36"/>
    <p:sldId id="385" r:id="rId37"/>
    <p:sldId id="386" r:id="rId38"/>
    <p:sldId id="387" r:id="rId39"/>
    <p:sldId id="358" r:id="rId40"/>
    <p:sldId id="388" r:id="rId41"/>
    <p:sldId id="389" r:id="rId42"/>
    <p:sldId id="390" r:id="rId43"/>
    <p:sldId id="371" r:id="rId44"/>
    <p:sldId id="391" r:id="rId45"/>
    <p:sldId id="392" r:id="rId46"/>
    <p:sldId id="393" r:id="rId47"/>
    <p:sldId id="359" r:id="rId48"/>
    <p:sldId id="395" r:id="rId49"/>
    <p:sldId id="396" r:id="rId50"/>
    <p:sldId id="397" r:id="rId51"/>
    <p:sldId id="398" r:id="rId52"/>
    <p:sldId id="394" r:id="rId53"/>
    <p:sldId id="399" r:id="rId54"/>
    <p:sldId id="400" r:id="rId55"/>
    <p:sldId id="401" r:id="rId56"/>
    <p:sldId id="353"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00CC"/>
    <a:srgbClr val="260A8E"/>
    <a:srgbClr val="FFD3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184" autoAdjust="0"/>
  </p:normalViewPr>
  <p:slideViewPr>
    <p:cSldViewPr snapToGrid="0">
      <p:cViewPr varScale="1">
        <p:scale>
          <a:sx n="70" d="100"/>
          <a:sy n="70" d="100"/>
        </p:scale>
        <p:origin x="6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theme" Target="theme/theme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F9B0E6-B9BF-4E2D-AE08-8C7EBB196A2E}" type="datetimeFigureOut">
              <a:rPr lang="en-US" smtClean="0"/>
              <a:t>9/6/2025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53816F-A1CF-4485-B308-1B9F14B36EAD}" type="slidenum">
              <a:rPr lang="en-US" smtClean="0"/>
              <a:t>‹#›</a:t>
            </a:fld>
            <a:endParaRPr lang="en-US"/>
          </a:p>
        </p:txBody>
      </p:sp>
    </p:spTree>
    <p:extLst>
      <p:ext uri="{BB962C8B-B14F-4D97-AF65-F5344CB8AC3E}">
        <p14:creationId xmlns:p14="http://schemas.microsoft.com/office/powerpoint/2010/main" val="1726839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0C5E7-B1A1-4648-89D2-17B0F1E7F5B3}"/>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a:extLst>
              <a:ext uri="{FF2B5EF4-FFF2-40B4-BE49-F238E27FC236}">
                <a16:creationId xmlns:a16="http://schemas.microsoft.com/office/drawing/2014/main" id="{5D140298-3E00-4E73-B947-697E692828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a:extLst>
              <a:ext uri="{FF2B5EF4-FFF2-40B4-BE49-F238E27FC236}">
                <a16:creationId xmlns:a16="http://schemas.microsoft.com/office/drawing/2014/main" id="{A6BB99EB-0E86-4FEA-A9C4-501D4E755A2B}"/>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6731F536-58DF-4935-AE3B-7A08C03124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995127-BE30-42B7-9BE5-B83CC6A2E685}"/>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009751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E108-9C7F-4CDC-AD71-B576580A199F}"/>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5A103746-779A-435F-995A-5BF82C86C297}"/>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5984E866-B322-455F-AC32-8C164B8CD9C7}"/>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AC0D61E0-F80F-48E7-A817-F1CECBEE9A3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BF34AFC-4299-43F1-A312-79EF0102CEFF}"/>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552746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E1D3E-E4B6-4EAA-BFB4-25A0557A6CB8}"/>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6F7E0856-45A8-4EAD-A9D6-8A993968A1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a:extLst>
              <a:ext uri="{FF2B5EF4-FFF2-40B4-BE49-F238E27FC236}">
                <a16:creationId xmlns:a16="http://schemas.microsoft.com/office/drawing/2014/main" id="{E90EEBE1-2BAF-4C94-8403-6E8454F9BC46}"/>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F3358F46-E931-4D79-94A5-037AFD07333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5130D95-EF5F-4A0A-93BD-73AEE2C2FF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601256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ABEC0-6253-4360-B586-B9D20933DE37}"/>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A946E20B-8661-4C60-84FB-4892E8B48608}"/>
              </a:ext>
            </a:extLst>
          </p:cNvPr>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a:extLst>
              <a:ext uri="{FF2B5EF4-FFF2-40B4-BE49-F238E27FC236}">
                <a16:creationId xmlns:a16="http://schemas.microsoft.com/office/drawing/2014/main" id="{5132BE45-79E4-479B-BD2F-46CCB0BEE628}"/>
              </a:ext>
            </a:extLst>
          </p:cNvPr>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a:extLst>
              <a:ext uri="{FF2B5EF4-FFF2-40B4-BE49-F238E27FC236}">
                <a16:creationId xmlns:a16="http://schemas.microsoft.com/office/drawing/2014/main" id="{0589105E-DF25-4F38-BDE2-9B00C2C44FC6}"/>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6" name="Footer Placeholder 5">
            <a:extLst>
              <a:ext uri="{FF2B5EF4-FFF2-40B4-BE49-F238E27FC236}">
                <a16:creationId xmlns:a16="http://schemas.microsoft.com/office/drawing/2014/main" id="{B1D9C4A8-7467-4BAD-98A2-0B63CAC19B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BC5C5C0-08E4-4F7B-9E80-8925539D22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243840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FF641-A5CC-4263-A394-2112D623A8AD}"/>
              </a:ext>
            </a:extLst>
          </p:cNvPr>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B24D6865-C632-473C-AEC8-8D3F71562B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a:extLst>
              <a:ext uri="{FF2B5EF4-FFF2-40B4-BE49-F238E27FC236}">
                <a16:creationId xmlns:a16="http://schemas.microsoft.com/office/drawing/2014/main" id="{D9FDBD19-4D33-4F6A-9938-6A04B3888ECC}"/>
              </a:ext>
            </a:extLst>
          </p:cNvPr>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a:extLst>
              <a:ext uri="{FF2B5EF4-FFF2-40B4-BE49-F238E27FC236}">
                <a16:creationId xmlns:a16="http://schemas.microsoft.com/office/drawing/2014/main" id="{51697E46-CE4D-480E-A997-2B53B2DF55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a:extLst>
              <a:ext uri="{FF2B5EF4-FFF2-40B4-BE49-F238E27FC236}">
                <a16:creationId xmlns:a16="http://schemas.microsoft.com/office/drawing/2014/main" id="{8B8B7E36-823F-4FD4-B826-E450A1248008}"/>
              </a:ext>
            </a:extLst>
          </p:cNvPr>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a:extLst>
              <a:ext uri="{FF2B5EF4-FFF2-40B4-BE49-F238E27FC236}">
                <a16:creationId xmlns:a16="http://schemas.microsoft.com/office/drawing/2014/main" id="{8DBB3B14-C886-4F84-9FD5-11C8320E1FED}"/>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8" name="Footer Placeholder 7">
            <a:extLst>
              <a:ext uri="{FF2B5EF4-FFF2-40B4-BE49-F238E27FC236}">
                <a16:creationId xmlns:a16="http://schemas.microsoft.com/office/drawing/2014/main" id="{DF9AF591-4BBF-4BF2-9EF7-F8B114DFA16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352B1A04-B244-4AE3-8997-9B075B10597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1104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408F1-BB29-4C6F-91C9-653A730BECC6}"/>
              </a:ext>
            </a:extLst>
          </p:cNvPr>
          <p:cNvSpPr>
            <a:spLocks noGrp="1"/>
          </p:cNvSpPr>
          <p:nvPr>
            <p:ph type="title"/>
          </p:nvPr>
        </p:nvSpPr>
        <p:spPr/>
        <p:txBody>
          <a:bodyPr/>
          <a:lstStyle/>
          <a:p>
            <a:r>
              <a:rPr lang="en-US" smtClean="0"/>
              <a:t>Click to edit Master title style</a:t>
            </a:r>
            <a:endParaRPr lang="en-US"/>
          </a:p>
        </p:txBody>
      </p:sp>
      <p:sp>
        <p:nvSpPr>
          <p:cNvPr id="3" name="Date Placeholder 2">
            <a:extLst>
              <a:ext uri="{FF2B5EF4-FFF2-40B4-BE49-F238E27FC236}">
                <a16:creationId xmlns:a16="http://schemas.microsoft.com/office/drawing/2014/main" id="{2F54FEF9-8D09-4091-BE99-B6264EBD34B3}"/>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4" name="Footer Placeholder 3">
            <a:extLst>
              <a:ext uri="{FF2B5EF4-FFF2-40B4-BE49-F238E27FC236}">
                <a16:creationId xmlns:a16="http://schemas.microsoft.com/office/drawing/2014/main" id="{0B5F49AA-83D5-4063-9CDE-AA7763048B6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2A2B27C-3C99-4208-B425-775413C5365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61403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2A62B2-A6D1-4A6F-8B20-80606F478544}"/>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3" name="Footer Placeholder 2">
            <a:extLst>
              <a:ext uri="{FF2B5EF4-FFF2-40B4-BE49-F238E27FC236}">
                <a16:creationId xmlns:a16="http://schemas.microsoft.com/office/drawing/2014/main" id="{C02E4958-7A46-4331-B2D8-2C31D8FCBD7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5C8548B-339B-46B2-BF01-1EE3DDC72AA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914661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F408F-8083-4F07-9628-074C7AFE41C0}"/>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B70477E0-A333-439D-A531-30B39A8134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a:extLst>
              <a:ext uri="{FF2B5EF4-FFF2-40B4-BE49-F238E27FC236}">
                <a16:creationId xmlns:a16="http://schemas.microsoft.com/office/drawing/2014/main" id="{D5D59501-D187-414C-AACE-F838720036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1235F890-BB8A-49E1-880A-924FD6FE4026}"/>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6" name="Footer Placeholder 5">
            <a:extLst>
              <a:ext uri="{FF2B5EF4-FFF2-40B4-BE49-F238E27FC236}">
                <a16:creationId xmlns:a16="http://schemas.microsoft.com/office/drawing/2014/main" id="{51CA38FE-429A-41E7-942D-ECCE639D3CA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401D9BC-0038-4041-AE2C-657BF99D41E9}"/>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28756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56CFD-7F35-482C-A50F-B3D43ACB0AE3}"/>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a:extLst>
              <a:ext uri="{FF2B5EF4-FFF2-40B4-BE49-F238E27FC236}">
                <a16:creationId xmlns:a16="http://schemas.microsoft.com/office/drawing/2014/main" id="{7FD7F3EF-0FE9-46C4-A116-5DA6E26B0D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a:extLst>
              <a:ext uri="{FF2B5EF4-FFF2-40B4-BE49-F238E27FC236}">
                <a16:creationId xmlns:a16="http://schemas.microsoft.com/office/drawing/2014/main" id="{D10B4041-0F17-42D8-AF16-AB099A39FF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8BAF67FF-F8F1-4B22-A471-9317ED3A25F0}"/>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6" name="Footer Placeholder 5">
            <a:extLst>
              <a:ext uri="{FF2B5EF4-FFF2-40B4-BE49-F238E27FC236}">
                <a16:creationId xmlns:a16="http://schemas.microsoft.com/office/drawing/2014/main" id="{A73D6993-98F8-4234-B24A-02D4DB41CE9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2A34037-0E7D-4379-ACA0-98611B2F76E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939197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15128" y="1397977"/>
            <a:ext cx="8361229" cy="3007447"/>
          </a:xfrm>
        </p:spPr>
        <p:txBody>
          <a:bodyPr anchor="ctr" anchorCtr="0">
            <a:noAutofit/>
          </a:bodyPr>
          <a:lstStyle>
            <a:lvl1pPr algn="ctr">
              <a:defRPr sz="6600" cap="none"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2679906" y="4475023"/>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79965FD7-DA9A-4AFB-B8C8-34AC1FEE9F72}"/>
              </a:ext>
            </a:extLst>
          </p:cNvPr>
          <p:cNvSpPr/>
          <p:nvPr userDrawn="1"/>
        </p:nvSpPr>
        <p:spPr>
          <a:xfrm flipV="1">
            <a:off x="887674" y="726883"/>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5" name="L-Shape 14">
            <a:extLst>
              <a:ext uri="{FF2B5EF4-FFF2-40B4-BE49-F238E27FC236}">
                <a16:creationId xmlns:a16="http://schemas.microsoft.com/office/drawing/2014/main" id="{92465177-72B9-4DCF-8F98-0C79F3EE32EC}"/>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4408489"/>
          </a:xfrm>
          <a:prstGeom prst="corner">
            <a:avLst>
              <a:gd name="adj1" fmla="val 6149"/>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8" y="1685652"/>
            <a:ext cx="3152309" cy="4408489"/>
          </a:xfrm>
          <a:prstGeom prst="corner">
            <a:avLst>
              <a:gd name="adj1" fmla="val 6773"/>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23397854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Second Option">
    <p:bg bwMode="grayWhite">
      <p:bgPr>
        <a:gradFill flip="none" rotWithShape="1">
          <a:gsLst>
            <a:gs pos="0">
              <a:schemeClr val="tx2">
                <a:lumMod val="50000"/>
              </a:schemeClr>
            </a:gs>
            <a:gs pos="34000">
              <a:schemeClr val="tx2"/>
            </a:gs>
            <a:gs pos="66000">
              <a:schemeClr val="tx2">
                <a:lumMod val="75000"/>
              </a:schemeClr>
            </a:gs>
            <a:gs pos="97000">
              <a:schemeClr val="tx2">
                <a:lumMod val="50000"/>
              </a:schemeClr>
            </a:gs>
          </a:gsLst>
          <a:lin ang="2700000" scaled="1"/>
          <a:tileRect/>
        </a:gradFill>
        <a:effectLst/>
      </p:bgPr>
    </p:bg>
    <p:spTree>
      <p:nvGrpSpPr>
        <p:cNvPr id="1" name=""/>
        <p:cNvGrpSpPr/>
        <p:nvPr/>
      </p:nvGrpSpPr>
      <p:grpSpPr>
        <a:xfrm>
          <a:off x="0" y="0"/>
          <a:ext cx="0" cy="0"/>
          <a:chOff x="0" y="0"/>
          <a:chExt cx="0" cy="0"/>
        </a:xfrm>
      </p:grpSpPr>
      <p:sp>
        <p:nvSpPr>
          <p:cNvPr id="10" name="L-Shape 9">
            <a:extLst>
              <a:ext uri="{FF2B5EF4-FFF2-40B4-BE49-F238E27FC236}">
                <a16:creationId xmlns:a16="http://schemas.microsoft.com/office/drawing/2014/main" id="{13412040-642F-40C5-8AB5-C0E8D41B481B}"/>
              </a:ext>
            </a:extLst>
          </p:cNvPr>
          <p:cNvSpPr/>
          <p:nvPr userDrawn="1"/>
        </p:nvSpPr>
        <p:spPr>
          <a:xfrm flipV="1">
            <a:off x="870090" y="709300"/>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9" name="Rectangle 8" title="Side bar">
            <a:extLst>
              <a:ext uri="{FF2B5EF4-FFF2-40B4-BE49-F238E27FC236}">
                <a16:creationId xmlns:a16="http://schemas.microsoft.com/office/drawing/2014/main" id="{BADD331D-DA8D-4D47-A2BB-F4875FDB16A4}"/>
              </a:ext>
            </a:extLst>
          </p:cNvPr>
          <p:cNvSpPr/>
          <p:nvPr userDrawn="1"/>
        </p:nvSpPr>
        <p:spPr>
          <a:xfrm rot="5400000">
            <a:off x="5791174" y="457175"/>
            <a:ext cx="609651" cy="1219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1397977" y="1151796"/>
            <a:ext cx="9504485" cy="3007447"/>
          </a:xfrm>
        </p:spPr>
        <p:txBody>
          <a:bodyPr anchor="ctr" anchorCtr="0">
            <a:noAutofit/>
          </a:bodyPr>
          <a:lstStyle>
            <a:lvl1pPr algn="ctr">
              <a:defRPr sz="6600" cap="none" baseline="0">
                <a:solidFill>
                  <a:schemeClr val="bg1"/>
                </a:solidFill>
              </a:defRPr>
            </a:lvl1pPr>
          </a:lstStyle>
          <a:p>
            <a:r>
              <a:rPr lang="en-US" noProof="0"/>
              <a:t>Click To Edit Master Title Style</a:t>
            </a:r>
          </a:p>
        </p:txBody>
      </p:sp>
      <p:sp>
        <p:nvSpPr>
          <p:cNvPr id="3" name="Subtitle 2"/>
          <p:cNvSpPr>
            <a:spLocks noGrp="1"/>
          </p:cNvSpPr>
          <p:nvPr>
            <p:ph type="subTitle" idx="1"/>
          </p:nvPr>
        </p:nvSpPr>
        <p:spPr>
          <a:xfrm>
            <a:off x="1397977" y="4897053"/>
            <a:ext cx="9504485" cy="1086237"/>
          </a:xfrm>
        </p:spPr>
        <p:txBody>
          <a:bodyPr>
            <a:normAutofit/>
          </a:bodyPr>
          <a:lstStyle>
            <a:lvl1pPr marL="0" indent="0" algn="ctr">
              <a:lnSpc>
                <a:spcPct val="112000"/>
              </a:lnSpc>
              <a:spcBef>
                <a:spcPts val="0"/>
              </a:spcBef>
              <a:spcAft>
                <a:spcPts val="0"/>
              </a:spcAft>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bg1"/>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bg1"/>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11" name="L-Shape 10">
            <a:extLst>
              <a:ext uri="{FF2B5EF4-FFF2-40B4-BE49-F238E27FC236}">
                <a16:creationId xmlns:a16="http://schemas.microsoft.com/office/drawing/2014/main" id="{68D376A1-CC76-4C90-B2CF-F89EA13E7942}"/>
              </a:ext>
            </a:extLst>
          </p:cNvPr>
          <p:cNvSpPr/>
          <p:nvPr userDrawn="1"/>
        </p:nvSpPr>
        <p:spPr>
          <a:xfrm rot="10800000" flipV="1">
            <a:off x="8549910" y="1820273"/>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3007448"/>
          </a:xfrm>
          <a:prstGeom prst="corner">
            <a:avLst>
              <a:gd name="adj1" fmla="val 6089"/>
              <a:gd name="adj2" fmla="val 6769"/>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7" y="1685653"/>
            <a:ext cx="3152309" cy="3007448"/>
          </a:xfrm>
          <a:prstGeom prst="corner">
            <a:avLst>
              <a:gd name="adj1" fmla="val 6089"/>
              <a:gd name="adj2" fmla="val 6442"/>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315900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720213"/>
          </a:xfrm>
        </p:spPr>
        <p:txBody>
          <a:bodyPr>
            <a:noAutofit/>
          </a:bodyPr>
          <a:lstStyle>
            <a:lvl1pPr>
              <a:defRPr sz="4800"/>
            </a:lvl1pPr>
          </a:lstStyle>
          <a:p>
            <a:r>
              <a:rPr lang="en-US" noProof="0"/>
              <a:t>Click To Edit Master Title Style</a:t>
            </a:r>
          </a:p>
        </p:txBody>
      </p:sp>
      <p:sp>
        <p:nvSpPr>
          <p:cNvPr id="3" name="Content Placeholder 2"/>
          <p:cNvSpPr>
            <a:spLocks noGrp="1"/>
          </p:cNvSpPr>
          <p:nvPr>
            <p:ph idx="1"/>
          </p:nvPr>
        </p:nvSpPr>
        <p:spPr>
          <a:xfrm>
            <a:off x="1371600" y="1484671"/>
            <a:ext cx="9601200" cy="4382729"/>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7" name="Straight Connector 6">
            <a:extLst>
              <a:ext uri="{FF2B5EF4-FFF2-40B4-BE49-F238E27FC236}">
                <a16:creationId xmlns:a16="http://schemas.microsoft.com/office/drawing/2014/main" id="{CBEFB83C-E1EC-41AC-BFF6-9D094E2D43C6}"/>
              </a:ext>
            </a:extLst>
          </p:cNvPr>
          <p:cNvCxnSpPr/>
          <p:nvPr userDrawn="1"/>
        </p:nvCxnSpPr>
        <p:spPr>
          <a:xfrm>
            <a:off x="1465008" y="1445344"/>
            <a:ext cx="9468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6754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and Picture">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7" name="Oval 26">
            <a:extLst>
              <a:ext uri="{FF2B5EF4-FFF2-40B4-BE49-F238E27FC236}">
                <a16:creationId xmlns:a16="http://schemas.microsoft.com/office/drawing/2014/main" id="{C222C1B9-FA56-4CEA-AD98-25A595D942F8}"/>
              </a:ext>
            </a:extLst>
          </p:cNvPr>
          <p:cNvSpPr/>
          <p:nvPr userDrawn="1"/>
        </p:nvSpPr>
        <p:spPr bwMode="white">
          <a:xfrm>
            <a:off x="7040199" y="564425"/>
            <a:ext cx="4356000" cy="4464000"/>
          </a:xfrm>
          <a:prstGeom prst="ellipse">
            <a:avLst/>
          </a:prstGeom>
          <a:noFill/>
          <a:ln w="123825">
            <a:solidFill>
              <a:schemeClr val="accent3"/>
            </a:solid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Picture Placeholder 12">
            <a:extLst>
              <a:ext uri="{FF2B5EF4-FFF2-40B4-BE49-F238E27FC236}">
                <a16:creationId xmlns:a16="http://schemas.microsoft.com/office/drawing/2014/main" id="{9786B981-6A78-425B-97A2-BA24E40DB7AD}"/>
              </a:ext>
            </a:extLst>
          </p:cNvPr>
          <p:cNvSpPr>
            <a:spLocks noGrp="1"/>
          </p:cNvSpPr>
          <p:nvPr>
            <p:ph type="pic" sz="quarter" idx="13"/>
          </p:nvPr>
        </p:nvSpPr>
        <p:spPr>
          <a:xfrm>
            <a:off x="7145761" y="670570"/>
            <a:ext cx="4151312" cy="4248000"/>
          </a:xfrm>
          <a:prstGeom prst="ellipse">
            <a:avLst/>
          </a:prstGeom>
          <a:ln w="38100">
            <a:solidFill>
              <a:schemeClr val="bg2"/>
            </a:solidFill>
          </a:ln>
          <a:effectLst>
            <a:innerShdw blurRad="114300">
              <a:prstClr val="black"/>
            </a:innerShdw>
          </a:effectLst>
        </p:spPr>
        <p:txBody>
          <a:bodyPr anchor="ctr" anchorCtr="0"/>
          <a:lstStyle>
            <a:lvl1pPr>
              <a:defRPr>
                <a:solidFill>
                  <a:schemeClr val="bg1"/>
                </a:solidFill>
              </a:defRPr>
            </a:lvl1pPr>
          </a:lstStyle>
          <a:p>
            <a:r>
              <a:rPr lang="en-US" noProof="0" smtClean="0"/>
              <a:t>Click icon to add picture</a:t>
            </a:r>
            <a:endParaRPr lang="en-US" noProof="0" dirty="0"/>
          </a:p>
        </p:txBody>
      </p:sp>
      <p:sp>
        <p:nvSpPr>
          <p:cNvPr id="17" name="Content Placeholder 15">
            <a:extLst>
              <a:ext uri="{FF2B5EF4-FFF2-40B4-BE49-F238E27FC236}">
                <a16:creationId xmlns:a16="http://schemas.microsoft.com/office/drawing/2014/main" id="{A21C7D74-31FD-4638-819B-6F7351A1770B}"/>
              </a:ext>
            </a:extLst>
          </p:cNvPr>
          <p:cNvSpPr>
            <a:spLocks noGrp="1"/>
          </p:cNvSpPr>
          <p:nvPr>
            <p:ph sz="quarter" idx="15"/>
          </p:nvPr>
        </p:nvSpPr>
        <p:spPr>
          <a:xfrm>
            <a:off x="6747294" y="5188236"/>
            <a:ext cx="4858459" cy="1126906"/>
          </a:xfrm>
          <a:solidFill>
            <a:schemeClr val="bg2"/>
          </a:solidFill>
          <a:ln>
            <a:noFill/>
          </a:ln>
          <a:effectLst>
            <a:innerShdw blurRad="114300">
              <a:prstClr val="black"/>
            </a:innerShdw>
          </a:effectLst>
        </p:spPr>
        <p:txBody>
          <a:bodyPr anchor="ctr" anchorCtr="0"/>
          <a:lstStyle>
            <a:lvl1pPr marL="0" indent="0" algn="ctr">
              <a:buNone/>
              <a:defRPr sz="1800">
                <a:solidFill>
                  <a:schemeClr val="tx2">
                    <a:lumMod val="50000"/>
                  </a:schemeClr>
                </a:solidFill>
              </a:defRPr>
            </a:lvl1pPr>
            <a:lvl2pPr marL="530352" indent="0" algn="ctr">
              <a:buNone/>
              <a:defRPr sz="1800">
                <a:solidFill>
                  <a:schemeClr val="tx2">
                    <a:lumMod val="50000"/>
                  </a:schemeClr>
                </a:solidFill>
              </a:defRPr>
            </a:lvl2pPr>
            <a:lvl3pPr marL="987552" indent="0" algn="ctr">
              <a:buNone/>
              <a:defRPr sz="1600">
                <a:solidFill>
                  <a:schemeClr val="tx2">
                    <a:lumMod val="50000"/>
                  </a:schemeClr>
                </a:solidFill>
              </a:defRPr>
            </a:lvl3pPr>
            <a:lvl4pPr marL="1444752" indent="0" algn="ctr">
              <a:buNone/>
              <a:defRPr sz="1600">
                <a:solidFill>
                  <a:schemeClr val="tx2">
                    <a:lumMod val="50000"/>
                  </a:schemeClr>
                </a:solidFill>
              </a:defRPr>
            </a:lvl4pPr>
            <a:lvl5pPr marL="1901952" indent="0" algn="ctr">
              <a:buNone/>
              <a:defRPr sz="1400">
                <a:solidFill>
                  <a:schemeClr val="tx2">
                    <a:lumMod val="50000"/>
                  </a:schemeClr>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4736394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8" name="Content Placeholder 2">
            <a:extLst>
              <a:ext uri="{FF2B5EF4-FFF2-40B4-BE49-F238E27FC236}">
                <a16:creationId xmlns:a16="http://schemas.microsoft.com/office/drawing/2014/main" id="{ED439475-E625-4449-B42E-8F291D64A3C7}"/>
              </a:ext>
            </a:extLst>
          </p:cNvPr>
          <p:cNvSpPr>
            <a:spLocks noGrp="1"/>
          </p:cNvSpPr>
          <p:nvPr>
            <p:ph idx="1"/>
          </p:nvPr>
        </p:nvSpPr>
        <p:spPr>
          <a:xfrm>
            <a:off x="6695360" y="518474"/>
            <a:ext cx="4910394" cy="5759777"/>
          </a:xfrm>
          <a:solidFill>
            <a:schemeClr val="bg2"/>
          </a:solidFill>
          <a:ln>
            <a:noFill/>
          </a:ln>
          <a:effectLst>
            <a:innerShdw blurRad="114300">
              <a:prstClr val="black"/>
            </a:innerShdw>
          </a:effectLst>
        </p:spPr>
        <p:txBody>
          <a:bodyPr vert="horz" lIns="91440" tIns="45720" rIns="91440" bIns="45720" rtlCol="0" anchor="ctr" anchorCtr="0">
            <a:noAutofit/>
          </a:bodyPr>
          <a:lstStyle>
            <a:lvl1pPr>
              <a:defRPr lang="en-US" sz="1800">
                <a:solidFill>
                  <a:schemeClr val="tx2">
                    <a:lumMod val="50000"/>
                  </a:schemeClr>
                </a:solidFill>
              </a:defRPr>
            </a:lvl1pPr>
            <a:lvl2pPr>
              <a:defRPr lang="en-US" sz="1800">
                <a:solidFill>
                  <a:schemeClr val="tx2">
                    <a:lumMod val="50000"/>
                  </a:schemeClr>
                </a:solidFill>
              </a:defRPr>
            </a:lvl2pPr>
            <a:lvl3pPr>
              <a:defRPr lang="en-US" sz="1600">
                <a:solidFill>
                  <a:schemeClr val="tx2">
                    <a:lumMod val="50000"/>
                  </a:schemeClr>
                </a:solidFill>
              </a:defRPr>
            </a:lvl3pPr>
            <a:lvl4pPr>
              <a:defRPr lang="en-US" sz="1600">
                <a:solidFill>
                  <a:schemeClr val="tx2">
                    <a:lumMod val="50000"/>
                  </a:schemeClr>
                </a:solidFill>
              </a:defRPr>
            </a:lvl4pPr>
            <a:lvl5pPr>
              <a:defRPr lang="en-US" sz="1400">
                <a:solidFill>
                  <a:schemeClr val="tx2">
                    <a:lumMod val="50000"/>
                  </a:schemeClr>
                </a:solidFill>
              </a:defRPr>
            </a:lvl5pPr>
          </a:lstStyle>
          <a:p>
            <a:pPr marL="0" lvl="0" indent="0" algn="ctr">
              <a:buNone/>
            </a:pPr>
            <a:r>
              <a:rPr lang="en-US" noProof="0" smtClean="0"/>
              <a:t>Edit Master text styles</a:t>
            </a:r>
          </a:p>
          <a:p>
            <a:pPr marL="0" lvl="1" indent="0" algn="ctr">
              <a:buNone/>
            </a:pPr>
            <a:r>
              <a:rPr lang="en-US" noProof="0" smtClean="0"/>
              <a:t>Second level</a:t>
            </a:r>
          </a:p>
          <a:p>
            <a:pPr marL="0" lvl="2" indent="0" algn="ctr">
              <a:buNone/>
            </a:pPr>
            <a:r>
              <a:rPr lang="en-US" noProof="0" smtClean="0"/>
              <a:t>Third level</a:t>
            </a:r>
          </a:p>
          <a:p>
            <a:pPr marL="0" lvl="3" indent="0" algn="ctr">
              <a:buNone/>
            </a:pPr>
            <a:r>
              <a:rPr lang="en-US" noProof="0" smtClean="0"/>
              <a:t>Fourth level</a:t>
            </a:r>
          </a:p>
          <a:p>
            <a:pPr marL="0" lvl="4" indent="0" algn="ctr">
              <a:buNone/>
            </a:pPr>
            <a:r>
              <a:rPr lang="en-US" noProof="0" smtClean="0"/>
              <a:t>Fifth level</a:t>
            </a:r>
            <a:endParaRPr lang="en-US" noProof="0"/>
          </a:p>
        </p:txBody>
      </p:sp>
    </p:spTree>
    <p:extLst>
      <p:ext uri="{BB962C8B-B14F-4D97-AF65-F5344CB8AC3E}">
        <p14:creationId xmlns:p14="http://schemas.microsoft.com/office/powerpoint/2010/main" val="13505088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Picture, TItle, and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1F430D42-50DC-4502-A3E8-251FE7F0809D}"/>
              </a:ext>
            </a:extLst>
          </p:cNvPr>
          <p:cNvSpPr/>
          <p:nvPr userDrawn="1"/>
        </p:nvSpPr>
        <p:spPr>
          <a:xfrm>
            <a:off x="507591" y="5289755"/>
            <a:ext cx="5270049" cy="1012722"/>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6923C"/>
              </a:solidFill>
              <a:effectLst/>
              <a:uLnTx/>
              <a:uFillTx/>
              <a:latin typeface="Arial"/>
              <a:ea typeface="+mn-ea"/>
              <a:cs typeface="+mn-cs"/>
            </a:endParaRPr>
          </a:p>
        </p:txBody>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4732985"/>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0" name="Picture Placeholder 9">
            <a:extLst>
              <a:ext uri="{FF2B5EF4-FFF2-40B4-BE49-F238E27FC236}">
                <a16:creationId xmlns:a16="http://schemas.microsoft.com/office/drawing/2014/main" id="{3BDA3A4D-2561-4EEB-8787-E1A652565755}"/>
              </a:ext>
            </a:extLst>
          </p:cNvPr>
          <p:cNvSpPr>
            <a:spLocks noGrp="1"/>
          </p:cNvSpPr>
          <p:nvPr>
            <p:ph type="pic" sz="quarter" idx="13"/>
          </p:nvPr>
        </p:nvSpPr>
        <p:spPr>
          <a:xfrm>
            <a:off x="806245" y="668595"/>
            <a:ext cx="4646651" cy="4198373"/>
          </a:xfrm>
          <a:prstGeom prst="snip2DiagRect">
            <a:avLst>
              <a:gd name="adj1" fmla="val 0"/>
              <a:gd name="adj2" fmla="val 10300"/>
            </a:avLst>
          </a:prstGeom>
          <a:ln w="38100">
            <a:solidFill>
              <a:schemeClr val="bg1"/>
            </a:solidFill>
          </a:ln>
          <a:effectLst>
            <a:innerShdw blurRad="114300">
              <a:prstClr val="black"/>
            </a:innerShdw>
          </a:effectLst>
        </p:spPr>
        <p:txBody>
          <a:bodyPr/>
          <a:lstStyle>
            <a:lvl1pPr>
              <a:defRPr>
                <a:solidFill>
                  <a:schemeClr val="bg1"/>
                </a:solidFill>
              </a:defRPr>
            </a:lvl1pPr>
          </a:lstStyle>
          <a:p>
            <a:r>
              <a:rPr lang="en-US" noProof="0" smtClean="0"/>
              <a:t>Click icon to add picture</a:t>
            </a:r>
            <a:endParaRPr lang="en-US" noProof="0" dirty="0"/>
          </a:p>
        </p:txBody>
      </p:sp>
      <p:sp>
        <p:nvSpPr>
          <p:cNvPr id="16" name="Text Placeholder 15">
            <a:extLst>
              <a:ext uri="{FF2B5EF4-FFF2-40B4-BE49-F238E27FC236}">
                <a16:creationId xmlns:a16="http://schemas.microsoft.com/office/drawing/2014/main" id="{FBB32A6B-92AA-4208-9120-FFC166CE751C}"/>
              </a:ext>
            </a:extLst>
          </p:cNvPr>
          <p:cNvSpPr>
            <a:spLocks noGrp="1"/>
          </p:cNvSpPr>
          <p:nvPr>
            <p:ph type="body" sz="quarter" idx="14"/>
          </p:nvPr>
        </p:nvSpPr>
        <p:spPr>
          <a:xfrm>
            <a:off x="570275" y="5352418"/>
            <a:ext cx="5148000" cy="900000"/>
          </a:xfrm>
          <a:solidFill>
            <a:schemeClr val="bg2"/>
          </a:solidFill>
          <a:effectLst>
            <a:innerShdw blurRad="114300">
              <a:prstClr val="black">
                <a:alpha val="34000"/>
              </a:prstClr>
            </a:innerShdw>
          </a:effectLst>
        </p:spPr>
        <p:txBody>
          <a:bodyPr anchor="ctr" anchorCtr="0"/>
          <a:lstStyle>
            <a:lvl1pPr marL="0" indent="0" algn="ctr">
              <a:buFont typeface="Arial" panose="020B0604020202020204" pitchFamily="34" charset="0"/>
              <a:buNone/>
              <a:defRPr sz="1800">
                <a:solidFill>
                  <a:schemeClr val="accent3"/>
                </a:solidFill>
              </a:defRPr>
            </a:lvl1pPr>
            <a:lvl2pPr marL="530352" indent="0" algn="ctr">
              <a:buFont typeface="Arial" panose="020B0604020202020204" pitchFamily="34" charset="0"/>
              <a:buNone/>
              <a:defRPr sz="1800">
                <a:solidFill>
                  <a:schemeClr val="accent3"/>
                </a:solidFill>
              </a:defRPr>
            </a:lvl2pPr>
            <a:lvl3pPr marL="987552" indent="0" algn="ctr">
              <a:buFont typeface="Arial" panose="020B0604020202020204" pitchFamily="34" charset="0"/>
              <a:buNone/>
              <a:defRPr sz="1600">
                <a:solidFill>
                  <a:schemeClr val="accent3"/>
                </a:solidFill>
              </a:defRPr>
            </a:lvl3pPr>
            <a:lvl4pPr marL="1444752" indent="0" algn="ctr">
              <a:buFont typeface="Arial" panose="020B0604020202020204" pitchFamily="34" charset="0"/>
              <a:buNone/>
              <a:defRPr sz="1600">
                <a:solidFill>
                  <a:schemeClr val="accent3"/>
                </a:solidFill>
              </a:defRPr>
            </a:lvl4pPr>
            <a:lvl5pPr marL="1901952" indent="0" algn="ctr">
              <a:buFont typeface="Arial" panose="020B0604020202020204" pitchFamily="34" charset="0"/>
              <a:buNone/>
              <a:defRPr sz="1400">
                <a:solidFill>
                  <a:schemeClr val="accent3"/>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0103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5945780"/>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9" name="Picture Placeholder 18">
            <a:extLst>
              <a:ext uri="{FF2B5EF4-FFF2-40B4-BE49-F238E27FC236}">
                <a16:creationId xmlns:a16="http://schemas.microsoft.com/office/drawing/2014/main" id="{D57F3340-8A42-40F0-BF5B-EEF6E3E88E6E}"/>
              </a:ext>
            </a:extLst>
          </p:cNvPr>
          <p:cNvSpPr>
            <a:spLocks noGrp="1"/>
          </p:cNvSpPr>
          <p:nvPr>
            <p:ph type="pic" idx="1"/>
          </p:nvPr>
        </p:nvSpPr>
        <p:spPr>
          <a:xfrm>
            <a:off x="806246" y="668595"/>
            <a:ext cx="4646651" cy="5383413"/>
          </a:xfrm>
          <a:custGeom>
            <a:avLst/>
            <a:gdLst>
              <a:gd name="connsiteX0" fmla="*/ 0 w 4646651"/>
              <a:gd name="connsiteY0" fmla="*/ 0 h 5383413"/>
              <a:gd name="connsiteX1" fmla="*/ 4168046 w 4646651"/>
              <a:gd name="connsiteY1" fmla="*/ 0 h 5383413"/>
              <a:gd name="connsiteX2" fmla="*/ 4646651 w 4646651"/>
              <a:gd name="connsiteY2" fmla="*/ 478605 h 5383413"/>
              <a:gd name="connsiteX3" fmla="*/ 4646651 w 4646651"/>
              <a:gd name="connsiteY3" fmla="*/ 5383413 h 5383413"/>
              <a:gd name="connsiteX4" fmla="*/ 478605 w 4646651"/>
              <a:gd name="connsiteY4" fmla="*/ 5383413 h 5383413"/>
              <a:gd name="connsiteX5" fmla="*/ 0 w 4646651"/>
              <a:gd name="connsiteY5" fmla="*/ 4904808 h 538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6651" h="5383413">
                <a:moveTo>
                  <a:pt x="0" y="0"/>
                </a:moveTo>
                <a:lnTo>
                  <a:pt x="4168046" y="0"/>
                </a:lnTo>
                <a:lnTo>
                  <a:pt x="4646651" y="478605"/>
                </a:lnTo>
                <a:lnTo>
                  <a:pt x="4646651" y="5383413"/>
                </a:lnTo>
                <a:lnTo>
                  <a:pt x="478605" y="5383413"/>
                </a:lnTo>
                <a:lnTo>
                  <a:pt x="0" y="4904808"/>
                </a:lnTo>
                <a:close/>
              </a:path>
            </a:pathLst>
          </a:custGeom>
          <a:ln w="57150">
            <a:solidFill>
              <a:schemeClr val="bg1"/>
            </a:solidFill>
          </a:ln>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0311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blackWhite">
      <p:bgPr>
        <a:gradFill flip="none" rotWithShape="1">
          <a:gsLst>
            <a:gs pos="0">
              <a:schemeClr val="bg2">
                <a:lumMod val="50000"/>
              </a:schemeClr>
            </a:gs>
            <a:gs pos="33000">
              <a:schemeClr val="bg2"/>
            </a:gs>
            <a:gs pos="66000">
              <a:schemeClr val="bg2">
                <a:lumMod val="75000"/>
              </a:schemeClr>
            </a:gs>
            <a:gs pos="97000">
              <a:schemeClr val="bg2">
                <a:lumMod val="50000"/>
              </a:schemeClr>
            </a:gs>
          </a:gsLst>
          <a:lin ang="27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5025" y="1301360"/>
            <a:ext cx="9612971" cy="2852737"/>
          </a:xfrm>
        </p:spPr>
        <p:txBody>
          <a:bodyPr anchor="b">
            <a:normAutofit/>
          </a:bodyPr>
          <a:lstStyle>
            <a:lvl1pPr algn="r">
              <a:defRPr sz="7200" cap="none" baseline="0">
                <a:solidFill>
                  <a:schemeClr val="tx1"/>
                </a:solidFill>
              </a:defRPr>
            </a:lvl1pPr>
          </a:lstStyle>
          <a:p>
            <a:r>
              <a:rPr lang="en-US" noProof="0"/>
              <a:t>Click To Edit Master Title Style</a:t>
            </a:r>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ECE1"/>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9" name="L-Shape 8">
            <a:extLst>
              <a:ext uri="{FF2B5EF4-FFF2-40B4-BE49-F238E27FC236}">
                <a16:creationId xmlns:a16="http://schemas.microsoft.com/office/drawing/2014/main" id="{BF5B4C6D-2825-4690-8D32-39CBF5E0F7E6}"/>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DFD43940-6D78-4E75-BDB6-8792768BB894}"/>
              </a:ext>
            </a:extLst>
          </p:cNvPr>
          <p:cNvSpPr/>
          <p:nvPr userDrawn="1"/>
        </p:nvSpPr>
        <p:spPr>
          <a:xfrm flipH="1">
            <a:off x="8286318" y="1685652"/>
            <a:ext cx="3152309" cy="4408489"/>
          </a:xfrm>
          <a:prstGeom prst="corner">
            <a:avLst>
              <a:gd name="adj1" fmla="val 5837"/>
              <a:gd name="adj2" fmla="val 6502"/>
            </a:avLst>
          </a:prstGeom>
          <a:solidFill>
            <a:srgbClr val="EFEDE3"/>
          </a:solidFill>
          <a:ln>
            <a:solidFill>
              <a:srgbClr val="EFEDE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1772556420"/>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solidFill>
                  <a:schemeClr val="tx2"/>
                </a:solidFill>
              </a:defRPr>
            </a:lvl1pPr>
          </a:lstStyle>
          <a:p>
            <a:r>
              <a:rPr lang="en-US" noProof="0"/>
              <a:t>Click To Edit Master Title Style</a:t>
            </a:r>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6056586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1485900"/>
          </a:xfrm>
        </p:spPr>
        <p:txBody>
          <a:bodyPr>
            <a:normAutofit/>
          </a:bodyPr>
          <a:lstStyle>
            <a:lvl1pPr>
              <a:defRPr sz="4800">
                <a:solidFill>
                  <a:schemeClr val="tx2"/>
                </a:solidFill>
              </a:defRPr>
            </a:lvl1pPr>
          </a:lstStyle>
          <a:p>
            <a:r>
              <a:rPr lang="en-US" noProof="0"/>
              <a:t>Click To Edit Master Title Style</a:t>
            </a:r>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Date Placeholder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8" name="Footer Placeholder 7"/>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9" name="Slide Number Placeholder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1" name="L-Shape 10">
            <a:extLst>
              <a:ext uri="{FF2B5EF4-FFF2-40B4-BE49-F238E27FC236}">
                <a16:creationId xmlns:a16="http://schemas.microsoft.com/office/drawing/2014/main" id="{91236E78-C797-4C31-BA0C-DB193BAF6D2D}"/>
              </a:ext>
            </a:extLst>
          </p:cNvPr>
          <p:cNvSpPr/>
          <p:nvPr userDrawn="1"/>
        </p:nvSpPr>
        <p:spPr>
          <a:xfrm rot="10800000" flipV="1">
            <a:off x="8391654" y="1873024"/>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0" name="L-Shape 9">
            <a:extLst>
              <a:ext uri="{FF2B5EF4-FFF2-40B4-BE49-F238E27FC236}">
                <a16:creationId xmlns:a16="http://schemas.microsoft.com/office/drawing/2014/main" id="{BFA658F0-F295-40A9-8BA8-1F6CBDFBBE09}"/>
              </a:ext>
            </a:extLst>
          </p:cNvPr>
          <p:cNvSpPr/>
          <p:nvPr userDrawn="1"/>
        </p:nvSpPr>
        <p:spPr>
          <a:xfrm flipH="1">
            <a:off x="8152968" y="1752327"/>
            <a:ext cx="3152309" cy="4408489"/>
          </a:xfrm>
          <a:prstGeom prst="corner">
            <a:avLst>
              <a:gd name="adj1" fmla="val 7085"/>
              <a:gd name="adj2" fmla="val 7750"/>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833236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1082870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7" name="Text Placeholder 6">
            <a:extLst>
              <a:ext uri="{FF2B5EF4-FFF2-40B4-BE49-F238E27FC236}">
                <a16:creationId xmlns:a16="http://schemas.microsoft.com/office/drawing/2014/main" id="{CAFD1631-6749-4027-9415-B72D163BBD58}"/>
              </a:ext>
            </a:extLst>
          </p:cNvPr>
          <p:cNvSpPr>
            <a:spLocks noGrp="1"/>
          </p:cNvSpPr>
          <p:nvPr>
            <p:ph type="body" sz="quarter" idx="13"/>
          </p:nvPr>
        </p:nvSpPr>
        <p:spPr>
          <a:xfrm>
            <a:off x="1560471" y="2297695"/>
            <a:ext cx="9071059" cy="2767600"/>
          </a:xfrm>
        </p:spPr>
        <p:txBody>
          <a:bodyPr anchor="ctr"/>
          <a:lstStyle>
            <a:lvl1pPr marL="0" indent="0" algn="ctr">
              <a:buNone/>
              <a:defRPr sz="6000"/>
            </a:lvl1pPr>
          </a:lstStyle>
          <a:p>
            <a:pPr lvl="0"/>
            <a:r>
              <a:rPr lang="en-US" noProof="0" smtClean="0"/>
              <a:t>Edit Master text styles</a:t>
            </a:r>
          </a:p>
        </p:txBody>
      </p:sp>
    </p:spTree>
    <p:extLst>
      <p:ext uri="{BB962C8B-B14F-4D97-AF65-F5344CB8AC3E}">
        <p14:creationId xmlns:p14="http://schemas.microsoft.com/office/powerpoint/2010/main" val="20885593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3" name="Footer Placeholder 2"/>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169565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45B175-C851-453B-B2A0-9A5CFCADC0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2E65F4A2-0E4F-4E49-A0BF-BEEC722033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9328AA27-3F13-4BFD-B949-21CF319108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EEEE99A2-0FED-42D4-9FBD-08CC1C3F81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F2468D4-5440-4CE2-BAB3-61D83F628C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EC5C30-0B3A-4B13-ADDD-7C63C8AA921B}" type="slidenum">
              <a:rPr lang="en-US" smtClean="0"/>
              <a:t>‹#›</a:t>
            </a:fld>
            <a:endParaRPr lang="en-US" dirty="0"/>
          </a:p>
        </p:txBody>
      </p:sp>
    </p:spTree>
    <p:extLst>
      <p:ext uri="{BB962C8B-B14F-4D97-AF65-F5344CB8AC3E}">
        <p14:creationId xmlns:p14="http://schemas.microsoft.com/office/powerpoint/2010/main" val="4122039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Gray">
      <p:bgPr>
        <a:solidFill>
          <a:schemeClr val="bg2"/>
        </a:solidFill>
        <a:effectLst/>
      </p:bgPr>
    </p:bg>
    <p:spTree>
      <p:nvGrpSpPr>
        <p:cNvPr id="1" name=""/>
        <p:cNvGrpSpPr/>
        <p:nvPr/>
      </p:nvGrpSpPr>
      <p:grpSpPr>
        <a:xfrm>
          <a:off x="0" y="0"/>
          <a:ext cx="0" cy="0"/>
          <a:chOff x="0" y="0"/>
          <a:chExt cx="0" cy="0"/>
        </a:xfrm>
      </p:grpSpPr>
      <p:sp>
        <p:nvSpPr>
          <p:cNvPr id="8" name="Rectangle 7" title="Side bar">
            <a:extLst>
              <a:ext uri="{FF2B5EF4-FFF2-40B4-BE49-F238E27FC236}">
                <a16:creationId xmlns:a16="http://schemas.microsoft.com/office/drawing/2014/main" id="{FFA7AFEF-D97A-4A94-A884-7F95E91332B7}"/>
              </a:ext>
            </a:extLst>
          </p:cNvPr>
          <p:cNvSpPr/>
          <p:nvPr userDrawn="1"/>
        </p:nvSpPr>
        <p:spPr>
          <a:xfrm>
            <a:off x="622095" y="0"/>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Side bar"/>
          <p:cNvSpPr/>
          <p:nvPr/>
        </p:nvSpPr>
        <p:spPr>
          <a:xfrm>
            <a:off x="478095" y="376"/>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25347954"/>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42900" indent="-342900" algn="l" defTabSz="914400" rtl="0" eaLnBrk="1" latinLnBrk="0" hangingPunct="1">
        <a:lnSpc>
          <a:spcPct val="94000"/>
        </a:lnSpc>
        <a:spcBef>
          <a:spcPts val="1000"/>
        </a:spcBef>
        <a:spcAft>
          <a:spcPts val="200"/>
        </a:spcAft>
        <a:buFont typeface="Arial" panose="020B0604020202020204" pitchFamily="34" charset="0"/>
        <a:buChar char="•"/>
        <a:defRPr sz="2400" kern="1200" baseline="0">
          <a:solidFill>
            <a:schemeClr val="tx2"/>
          </a:solidFill>
          <a:latin typeface="+mn-lt"/>
          <a:ea typeface="+mn-ea"/>
          <a:cs typeface="+mn-cs"/>
        </a:defRPr>
      </a:lvl1pPr>
      <a:lvl2pPr marL="873252" indent="-342900" algn="l" defTabSz="914400" rtl="0" eaLnBrk="1" latinLnBrk="0" hangingPunct="1">
        <a:lnSpc>
          <a:spcPct val="94000"/>
        </a:lnSpc>
        <a:spcBef>
          <a:spcPts val="500"/>
        </a:spcBef>
        <a:spcAft>
          <a:spcPts val="200"/>
        </a:spcAft>
        <a:buFont typeface="Arial" panose="020B0604020202020204" pitchFamily="34" charset="0"/>
        <a:buChar char="•"/>
        <a:defRPr sz="2400" i="1" kern="1200" baseline="0">
          <a:solidFill>
            <a:schemeClr val="tx2"/>
          </a:solidFill>
          <a:latin typeface="+mn-lt"/>
          <a:ea typeface="+mn-ea"/>
          <a:cs typeface="+mn-cs"/>
        </a:defRPr>
      </a:lvl2pPr>
      <a:lvl3pPr marL="1330452" indent="-342900" algn="l" defTabSz="914400" rtl="0" eaLnBrk="1" latinLnBrk="0" hangingPunct="1">
        <a:lnSpc>
          <a:spcPct val="94000"/>
        </a:lnSpc>
        <a:spcBef>
          <a:spcPts val="500"/>
        </a:spcBef>
        <a:spcAft>
          <a:spcPts val="200"/>
        </a:spcAft>
        <a:buFont typeface="Arial" panose="020B0604020202020204" pitchFamily="34" charset="0"/>
        <a:buChar char="•"/>
        <a:defRPr sz="2000" kern="1200" baseline="0">
          <a:solidFill>
            <a:schemeClr val="tx2"/>
          </a:solidFill>
          <a:latin typeface="+mn-lt"/>
          <a:ea typeface="+mn-ea"/>
          <a:cs typeface="+mn-cs"/>
        </a:defRPr>
      </a:lvl3pPr>
      <a:lvl4pPr marL="1787652" indent="-342900" algn="l" defTabSz="914400" rtl="0" eaLnBrk="1" latinLnBrk="0" hangingPunct="1">
        <a:lnSpc>
          <a:spcPct val="94000"/>
        </a:lnSpc>
        <a:spcBef>
          <a:spcPts val="500"/>
        </a:spcBef>
        <a:spcAft>
          <a:spcPts val="200"/>
        </a:spcAft>
        <a:buFont typeface="Arial" panose="020B0604020202020204" pitchFamily="34" charset="0"/>
        <a:buChar char="•"/>
        <a:defRPr sz="2000" i="1" kern="1200" baseline="0">
          <a:solidFill>
            <a:schemeClr val="tx2"/>
          </a:solidFill>
          <a:latin typeface="+mn-lt"/>
          <a:ea typeface="+mn-ea"/>
          <a:cs typeface="+mn-cs"/>
        </a:defRPr>
      </a:lvl4pPr>
      <a:lvl5pPr marL="2187702" indent="-285750" algn="l" defTabSz="914400" rtl="0" eaLnBrk="1" latinLnBrk="0" hangingPunct="1">
        <a:lnSpc>
          <a:spcPct val="94000"/>
        </a:lnSpc>
        <a:spcBef>
          <a:spcPts val="500"/>
        </a:spcBef>
        <a:spcAft>
          <a:spcPts val="200"/>
        </a:spcAft>
        <a:buFont typeface="Arial" panose="020B0604020202020204" pitchFamily="34" charset="0"/>
        <a:buChar char="•"/>
        <a:defRPr sz="18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557253" y="68033"/>
            <a:ext cx="9144000" cy="2126512"/>
          </a:xfrm>
        </p:spPr>
        <p:txBody>
          <a:bodyPr>
            <a:normAutofit fontScale="90000"/>
          </a:bodyPr>
          <a:lstStyle/>
          <a:p>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Bảo</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mật</a:t>
            </a:r>
            <a:r>
              <a:rPr lang="en-US" sz="7200" dirty="0" smtClean="0">
                <a:solidFill>
                  <a:schemeClr val="bg1"/>
                </a:solidFill>
                <a:latin typeface="Rockwell" panose="02060603020205020403" pitchFamily="18" charset="0"/>
              </a:rPr>
              <a:t> </a:t>
            </a:r>
            <a:br>
              <a:rPr lang="en-US" sz="7200" dirty="0" smtClean="0">
                <a:solidFill>
                  <a:schemeClr val="bg1"/>
                </a:solidFill>
                <a:latin typeface="Rockwell" panose="02060603020205020403" pitchFamily="18" charset="0"/>
              </a:rPr>
            </a:br>
            <a:r>
              <a:rPr lang="en-US" sz="7200" dirty="0" err="1" smtClean="0">
                <a:solidFill>
                  <a:schemeClr val="bg1"/>
                </a:solidFill>
                <a:latin typeface="Rockwell" panose="02060603020205020403" pitchFamily="18" charset="0"/>
              </a:rPr>
              <a:t>Ứng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dụng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và</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Hệ</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thống</a:t>
            </a:r>
            <a:endParaRPr lang="en-US" sz="7200" dirty="0">
              <a:solidFill>
                <a:schemeClr val="bg1"/>
              </a:solidFill>
              <a:latin typeface="Rockwell" panose="02060603020205020403" pitchFamily="18" charset="0"/>
            </a:endParaRPr>
          </a:p>
        </p:txBody>
      </p:sp>
      <p:cxnSp>
        <p:nvCxnSpPr>
          <p:cNvPr id="5" name="Straight Connector 4">
            <a:extLst>
              <a:ext uri="{FF2B5EF4-FFF2-40B4-BE49-F238E27FC236}">
                <a16:creationId xmlns:a16="http://schemas.microsoft.com/office/drawing/2014/main" id="{AA65E432-C1E6-4C36-BF8E-2DA25E65DC32}"/>
              </a:ext>
              <a:ext uri="{C183D7F6-B498-43B3-948B-1728B52AA6E4}">
                <adec:decorative xmlns:adec="http://schemas.microsoft.com/office/drawing/2017/decorative" xmlns="" val="1"/>
              </a:ext>
            </a:extLst>
          </p:cNvPr>
          <p:cNvCxnSpPr/>
          <p:nvPr/>
        </p:nvCxnSpPr>
        <p:spPr>
          <a:xfrm>
            <a:off x="3579677" y="2200147"/>
            <a:ext cx="49149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557253" y="2313117"/>
            <a:ext cx="9144000" cy="1655762"/>
          </a:xfrm>
        </p:spPr>
        <p:txBody>
          <a:bodyPr>
            <a:normAutofit/>
          </a:bodyPr>
          <a:lstStyle/>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Giảng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viên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Nguyễn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Kim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Tuấn</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Khoa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Hệ</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thống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thông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tin</a:t>
            </a: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Trường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CNTT</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Đại</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học</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631394">
            <a:off x="4662065" y="3581995"/>
            <a:ext cx="3194131" cy="319413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rot="1338607" flipH="1">
            <a:off x="-70759" y="489541"/>
            <a:ext cx="2684499" cy="2684499"/>
          </a:xfrm>
          <a:prstGeom prst="rect">
            <a:avLst/>
          </a:prstGeom>
        </p:spPr>
      </p:pic>
      <p:pic>
        <p:nvPicPr>
          <p:cNvPr id="13" name="Graphic 12" descr="Test tubes">
            <a:extLst>
              <a:ext uri="{FF2B5EF4-FFF2-40B4-BE49-F238E27FC236}">
                <a16:creationId xmlns:a16="http://schemas.microsoft.com/office/drawing/2014/main" id="{6A56DF0C-1331-406E-AEE6-06E0E59FB9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rot="21078969">
            <a:off x="2532347" y="3896449"/>
            <a:ext cx="2453456" cy="2453456"/>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rot="1213697">
            <a:off x="24665" y="2787872"/>
            <a:ext cx="3245427" cy="3245427"/>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rot="20451125">
            <a:off x="8283867" y="2036637"/>
            <a:ext cx="3005286" cy="3005286"/>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rot="18889495">
            <a:off x="9914052" y="2300565"/>
            <a:ext cx="1574403" cy="1574403"/>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xmlns="" r:embed="rId15"/>
              </a:ext>
            </a:extLst>
          </a:blip>
          <a:stretch>
            <a:fillRect/>
          </a:stretch>
        </p:blipFill>
        <p:spPr>
          <a:xfrm rot="20520790">
            <a:off x="10660011" y="2938737"/>
            <a:ext cx="1488402" cy="1488402"/>
          </a:xfrm>
          <a:prstGeom prst="rect">
            <a:avLst/>
          </a:prstGeom>
        </p:spPr>
      </p:pic>
      <p:grpSp>
        <p:nvGrpSpPr>
          <p:cNvPr id="12" name="Group 11"/>
          <p:cNvGrpSpPr/>
          <p:nvPr/>
        </p:nvGrpSpPr>
        <p:grpSpPr>
          <a:xfrm>
            <a:off x="7193007" y="5769269"/>
            <a:ext cx="4857966" cy="985602"/>
            <a:chOff x="360535" y="271204"/>
            <a:chExt cx="5047501" cy="985602"/>
          </a:xfrm>
        </p:grpSpPr>
        <p:sp>
          <p:nvSpPr>
            <p:cNvPr id="14" name="Rounded Rectangle 13"/>
            <p:cNvSpPr/>
            <p:nvPr/>
          </p:nvSpPr>
          <p:spPr>
            <a:xfrm>
              <a:off x="360535" y="425063"/>
              <a:ext cx="5047501" cy="721286"/>
            </a:xfrm>
            <a:prstGeom prst="roundRect">
              <a:avLst/>
            </a:prstGeom>
            <a:solidFill>
              <a:schemeClr val="accent5">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6" name="Rounded Rectangle 4"/>
            <p:cNvSpPr txBox="1"/>
            <p:nvPr/>
          </p:nvSpPr>
          <p:spPr>
            <a:xfrm>
              <a:off x="413854" y="271204"/>
              <a:ext cx="4940863" cy="9856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784" tIns="0" rIns="190784" bIns="0" numCol="1" spcCol="1270" anchor="ctr" anchorCtr="0">
              <a:noAutofit/>
            </a:bodyPr>
            <a:lstStyle/>
            <a:p>
              <a:pPr lvl="0" algn="r" defTabSz="1644650">
                <a:spcBef>
                  <a:spcPct val="0"/>
                </a:spcBef>
              </a:pPr>
              <a:r>
                <a:rPr lang="en-US" sz="2000" dirty="0" smtClean="0">
                  <a:latin typeface="Tahoma" panose="020B0604030504040204" pitchFamily="34" charset="0"/>
                  <a:ea typeface="Tahoma" panose="020B0604030504040204" pitchFamily="34" charset="0"/>
                  <a:cs typeface="Tahoma" panose="020B0604030504040204" pitchFamily="34" charset="0"/>
                </a:rPr>
                <a:t>0906.566.665 – 0932.401.907 (</a:t>
              </a:r>
              <a:r>
                <a:rPr lang="en-US" sz="2000" dirty="0" err="1" smtClean="0">
                  <a:latin typeface="Tahoma" panose="020B0604030504040204" pitchFamily="34" charset="0"/>
                  <a:ea typeface="Tahoma" panose="020B0604030504040204" pitchFamily="34" charset="0"/>
                  <a:cs typeface="Tahoma" panose="020B0604030504040204" pitchFamily="34" charset="0"/>
                </a:rPr>
                <a:t>Zalo</a:t>
              </a:r>
              <a:r>
                <a:rPr lang="en-US" sz="2000" dirty="0" smtClean="0">
                  <a:latin typeface="Tahoma" panose="020B0604030504040204" pitchFamily="34" charset="0"/>
                  <a:ea typeface="Tahoma" panose="020B0604030504040204" pitchFamily="34" charset="0"/>
                  <a:cs typeface="Tahoma" panose="020B0604030504040204" pitchFamily="34" charset="0"/>
                </a:rPr>
                <a:t>)</a:t>
              </a:r>
            </a:p>
            <a:p>
              <a:pPr lvl="0" algn="r" defTabSz="1644650">
                <a:spcBef>
                  <a:spcPct val="0"/>
                </a:spcBef>
              </a:pPr>
              <a:r>
                <a:rPr lang="en-US" sz="2000" kern="1200" dirty="0" err="1" smtClean="0">
                  <a:latin typeface="Tahoma" panose="020B0604030504040204" pitchFamily="34" charset="0"/>
                  <a:ea typeface="Tahoma" panose="020B0604030504040204" pitchFamily="34" charset="0"/>
                  <a:cs typeface="Tahoma" panose="020B0604030504040204" pitchFamily="34" charset="0"/>
                </a:rPr>
                <a:t>tuan.nguyenkim@phenikaa-uni.edu.vn</a:t>
              </a:r>
              <a:endParaRPr lang="en-US" sz="2000" kern="1200" dirty="0">
                <a:latin typeface="Tahoma" panose="020B0604030504040204" pitchFamily="34" charset="0"/>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29063970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521284" y="64869"/>
            <a:ext cx="8048289" cy="1325563"/>
          </a:xfrm>
        </p:spPr>
        <p:txBody>
          <a:bodyPr>
            <a:normAutofit/>
          </a:bodyPr>
          <a:lstStyle/>
          <a:p>
            <a:pPr algn="ctr">
              <a:lnSpc>
                <a:spcPct val="100000"/>
              </a:lnSpc>
            </a:pPr>
            <a:r>
              <a:rPr lang="en-US" sz="3600" dirty="0" err="1" smtClean="0">
                <a:solidFill>
                  <a:srgbClr val="0000CC"/>
                </a:solidFill>
                <a:latin typeface="Rockwell" panose="02060603020205020403" pitchFamily="18" charset="0"/>
              </a:rPr>
              <a:t>BẢO</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MẬT</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ỨNG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DỤNG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VÀ</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HỆ</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THỐNG</a:t>
            </a:r>
            <a:r>
              <a:rPr lang="en-US" sz="3600" dirty="0" smtClean="0">
                <a:solidFill>
                  <a:srgbClr val="0000CC"/>
                </a:solidFill>
                <a:latin typeface="Rockwell" panose="02060603020205020403" pitchFamily="18" charset="0"/>
              </a:rPr>
              <a:t>  </a:t>
            </a:r>
            <a:br>
              <a:rPr lang="en-US" sz="3600" dirty="0" smtClean="0">
                <a:solidFill>
                  <a:srgbClr val="0000CC"/>
                </a:solidFill>
                <a:latin typeface="Rockwell" panose="02060603020205020403" pitchFamily="18" charset="0"/>
              </a:rPr>
            </a:br>
            <a:r>
              <a:rPr lang="en-US" sz="3600" dirty="0" err="1" smtClean="0">
                <a:solidFill>
                  <a:srgbClr val="0000CC"/>
                </a:solidFill>
                <a:latin typeface="Rockwell" panose="02060603020205020403" pitchFamily="18" charset="0"/>
              </a:rPr>
              <a:t>CSE702005</a:t>
            </a:r>
            <a:r>
              <a:rPr lang="en-US" sz="3600" dirty="0" smtClean="0">
                <a:solidFill>
                  <a:srgbClr val="0000CC"/>
                </a:solidFill>
                <a:latin typeface="Rockwell" panose="02060603020205020403" pitchFamily="18" charset="0"/>
              </a:rPr>
              <a:t>-1-1-25 (</a:t>
            </a:r>
            <a:r>
              <a:rPr lang="en-US" sz="3600" dirty="0" err="1" smtClean="0">
                <a:solidFill>
                  <a:srgbClr val="0000CC"/>
                </a:solidFill>
                <a:latin typeface="Rockwell" panose="02060603020205020403" pitchFamily="18" charset="0"/>
              </a:rPr>
              <a:t>N03</a:t>
            </a:r>
            <a:r>
              <a:rPr lang="en-US" sz="3600" dirty="0" smtClean="0">
                <a:solidFill>
                  <a:srgbClr val="0000CC"/>
                </a:solidFill>
                <a:latin typeface="Rockwell" panose="02060603020205020403" pitchFamily="18" charset="0"/>
              </a:rPr>
              <a:t>)</a:t>
            </a:r>
            <a:endParaRPr lang="en-US" sz="3600" dirty="0">
              <a:solidFill>
                <a:srgbClr val="0000CC"/>
              </a:solidFill>
              <a:latin typeface="Rockwell" panose="02060603020205020403" pitchFamily="18" charset="0"/>
            </a:endParaRPr>
          </a:p>
        </p:txBody>
      </p:sp>
      <p:grpSp>
        <p:nvGrpSpPr>
          <p:cNvPr id="9" name="Group 8">
            <a:extLst>
              <a:ext uri="{FF2B5EF4-FFF2-40B4-BE49-F238E27FC236}">
                <a16:creationId xmlns:a16="http://schemas.microsoft.com/office/drawing/2014/main" id="{798EA88B-C439-4F17-9585-820972CE0BA5}"/>
              </a:ext>
              <a:ext uri="{C183D7F6-B498-43B3-948B-1728B52AA6E4}">
                <adec:decorative xmlns:adec="http://schemas.microsoft.com/office/drawing/2017/decorative" xmlns="" val="1"/>
              </a:ext>
            </a:extLst>
          </p:cNvPr>
          <p:cNvGrpSpPr/>
          <p:nvPr/>
        </p:nvGrpSpPr>
        <p:grpSpPr>
          <a:xfrm>
            <a:off x="9009186" y="0"/>
            <a:ext cx="3668917" cy="6941127"/>
            <a:chOff x="9009186" y="0"/>
            <a:chExt cx="3668917" cy="6941127"/>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1" name="Graphic 10" descr="Clipboard">
              <a:extLst>
                <a:ext uri="{FF2B5EF4-FFF2-40B4-BE49-F238E27FC236}">
                  <a16:creationId xmlns:a16="http://schemas.microsoft.com/office/drawing/2014/main" id="{4F58D0C9-D25F-4044-8F1B-4190E5A1BD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9009186" y="3272210"/>
              <a:ext cx="3668917" cy="3668917"/>
            </a:xfrm>
            <a:prstGeom prst="rect">
              <a:avLst/>
            </a:prstGeom>
          </p:spPr>
        </p:pic>
      </p:gr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180084" y="1511720"/>
            <a:ext cx="9496177" cy="4807187"/>
          </a:xfrm>
        </p:spPr>
        <p:txBody>
          <a:bodyPr vert="horz" lIns="91440" tIns="45720" rIns="91440" bIns="45720" rtlCol="0" anchor="t">
            <a:noAutofit/>
          </a:bodyPr>
          <a:lstStyle/>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1: </a:t>
            </a:r>
            <a:r>
              <a:rPr lang="en-US" dirty="0" err="1" smtClean="0">
                <a:solidFill>
                  <a:srgbClr val="0000CC"/>
                </a:solidFill>
                <a:latin typeface="Rockwell" panose="02060603020205020403" pitchFamily="18" charset="0"/>
                <a:ea typeface="Tahoma"/>
                <a:cs typeface="Tahoma"/>
              </a:rPr>
              <a:t>Tổng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quan</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về</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Hệ</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thống</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a:solidFill>
                  <a:srgbClr val="0000CC"/>
                </a:solidFill>
                <a:latin typeface="Rockwell" panose="02060603020205020403" pitchFamily="18" charset="0"/>
                <a:ea typeface="Tahoma"/>
                <a:cs typeface="Tahoma"/>
              </a:rPr>
              <a:t>Bài</a:t>
            </a:r>
            <a:r>
              <a:rPr lang="en-US" dirty="0">
                <a:solidFill>
                  <a:srgbClr val="0000CC"/>
                </a:solidFill>
                <a:latin typeface="Rockwell" panose="02060603020205020403" pitchFamily="18" charset="0"/>
                <a:ea typeface="Tahoma"/>
                <a:cs typeface="Tahoma"/>
              </a:rPr>
              <a:t> 2: </a:t>
            </a:r>
            <a:r>
              <a:rPr lang="en-US" dirty="0" err="1">
                <a:solidFill>
                  <a:srgbClr val="0000CC"/>
                </a:solidFill>
                <a:latin typeface="Rockwell" panose="02060603020205020403" pitchFamily="18" charset="0"/>
                <a:ea typeface="Tahoma"/>
                <a:cs typeface="Tahoma"/>
              </a:rPr>
              <a:t>Tấn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công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và</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Phòng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thủ</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trên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không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gian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mạng</a:t>
            </a:r>
            <a:endParaRPr lang="en-US" dirty="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3.1: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Web (</a:t>
            </a:r>
            <a:r>
              <a:rPr lang="en-US" dirty="0" err="1" smtClean="0">
                <a:solidFill>
                  <a:srgbClr val="0000CC"/>
                </a:solidFill>
                <a:latin typeface="Rockwell" panose="02060603020205020403" pitchFamily="18" charset="0"/>
                <a:ea typeface="Tahoma"/>
                <a:cs typeface="Tahoma"/>
              </a:rPr>
              <a:t>Phần</a:t>
            </a:r>
            <a:r>
              <a:rPr lang="en-US" dirty="0" smtClean="0">
                <a:solidFill>
                  <a:srgbClr val="0000CC"/>
                </a:solidFill>
                <a:latin typeface="Rockwell" panose="02060603020205020403" pitchFamily="18" charset="0"/>
                <a:ea typeface="Tahoma"/>
                <a:cs typeface="Tahoma"/>
              </a:rPr>
              <a:t> 1)</a:t>
            </a:r>
          </a:p>
          <a:p>
            <a:pPr>
              <a:lnSpc>
                <a:spcPct val="100000"/>
              </a:lnSpc>
              <a:spcBef>
                <a:spcPts val="600"/>
              </a:spcBef>
              <a:spcAft>
                <a:spcPts val="600"/>
              </a:spcAft>
            </a:pPr>
            <a:r>
              <a:rPr lang="en-US" dirty="0" err="1" smtClean="0">
                <a:solidFill>
                  <a:schemeClr val="bg1"/>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3.2: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Web (</a:t>
            </a:r>
            <a:r>
              <a:rPr lang="en-US" dirty="0" err="1" smtClean="0">
                <a:solidFill>
                  <a:srgbClr val="0000CC"/>
                </a:solidFill>
                <a:latin typeface="Rockwell" panose="02060603020205020403" pitchFamily="18" charset="0"/>
                <a:ea typeface="Tahoma"/>
                <a:cs typeface="Tahoma"/>
              </a:rPr>
              <a:t>Phần</a:t>
            </a:r>
            <a:r>
              <a:rPr lang="en-US" dirty="0" smtClean="0">
                <a:solidFill>
                  <a:srgbClr val="0000CC"/>
                </a:solidFill>
                <a:latin typeface="Rockwell" panose="02060603020205020403" pitchFamily="18" charset="0"/>
                <a:ea typeface="Tahoma"/>
                <a:cs typeface="Tahoma"/>
              </a:rPr>
              <a:t> 2)</a:t>
            </a:r>
            <a:endParaRPr lang="en-US" dirty="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4: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Cơ</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sở</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dữ</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liệu</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FF00FF"/>
                </a:solidFill>
                <a:latin typeface="Rockwell" panose="02060603020205020403" pitchFamily="18" charset="0"/>
                <a:ea typeface="Tahoma"/>
                <a:cs typeface="Tahoma"/>
              </a:rPr>
              <a:t>Bài</a:t>
            </a:r>
            <a:r>
              <a:rPr lang="en-US" dirty="0" smtClean="0">
                <a:solidFill>
                  <a:srgbClr val="FF00FF"/>
                </a:solidFill>
                <a:latin typeface="Rockwell" panose="02060603020205020403" pitchFamily="18" charset="0"/>
                <a:ea typeface="Tahoma"/>
                <a:cs typeface="Tahoma"/>
              </a:rPr>
              <a:t> 5: </a:t>
            </a:r>
            <a:r>
              <a:rPr lang="en-US" dirty="0" err="1" smtClean="0">
                <a:solidFill>
                  <a:srgbClr val="FF00FF"/>
                </a:solidFill>
                <a:latin typeface="Rockwell" panose="02060603020205020403" pitchFamily="18" charset="0"/>
                <a:ea typeface="Tahoma"/>
                <a:cs typeface="Tahoma"/>
              </a:rPr>
              <a:t>Bảo</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mật</a:t>
            </a:r>
            <a:r>
              <a:rPr lang="en-US" dirty="0" smtClean="0">
                <a:solidFill>
                  <a:srgbClr val="FF00FF"/>
                </a:solidFill>
                <a:latin typeface="Rockwell" panose="02060603020205020403" pitchFamily="18" charset="0"/>
                <a:ea typeface="Tahoma"/>
                <a:cs typeface="Tahoma"/>
              </a:rPr>
              <a:t> API </a:t>
            </a:r>
            <a:r>
              <a:rPr lang="en-US" dirty="0" err="1" smtClean="0">
                <a:solidFill>
                  <a:srgbClr val="FF00FF"/>
                </a:solidFill>
                <a:latin typeface="Rockwell" panose="02060603020205020403" pitchFamily="18" charset="0"/>
                <a:ea typeface="Tahoma"/>
                <a:cs typeface="Tahoma"/>
              </a:rPr>
              <a:t>và</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Hệ</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điều</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hành</a:t>
            </a:r>
            <a:endParaRPr lang="en-US" dirty="0" smtClean="0">
              <a:solidFill>
                <a:srgbClr val="FF00FF"/>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6: </a:t>
            </a:r>
            <a:r>
              <a:rPr lang="en-US" dirty="0" err="1" smtClean="0">
                <a:solidFill>
                  <a:srgbClr val="0000CC"/>
                </a:solidFill>
                <a:latin typeface="Rockwell" panose="02060603020205020403" pitchFamily="18" charset="0"/>
                <a:ea typeface="Tahoma"/>
                <a:cs typeface="Tahoma"/>
              </a:rPr>
              <a:t>Mã</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độc</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Mã</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khai</a:t>
            </a:r>
            <a:r>
              <a:rPr lang="en-US" dirty="0" smtClean="0">
                <a:solidFill>
                  <a:srgbClr val="0000CC"/>
                </a:solidFill>
                <a:latin typeface="Rockwell" panose="02060603020205020403" pitchFamily="18" charset="0"/>
                <a:ea typeface="Tahoma"/>
                <a:cs typeface="Tahoma"/>
              </a:rPr>
              <a:t> </a:t>
            </a:r>
            <a:r>
              <a:rPr lang="en-US" smtClean="0">
                <a:solidFill>
                  <a:srgbClr val="0000CC"/>
                </a:solidFill>
                <a:latin typeface="Rockwell" panose="02060603020205020403" pitchFamily="18" charset="0"/>
                <a:ea typeface="Tahoma"/>
                <a:cs typeface="Tahoma"/>
              </a:rPr>
              <a:t>thác</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a:t>
            </a:r>
            <a:r>
              <a:rPr lang="en-US" dirty="0">
                <a:solidFill>
                  <a:srgbClr val="0000CC"/>
                </a:solidFill>
                <a:latin typeface="Rockwell" panose="02060603020205020403" pitchFamily="18" charset="0"/>
                <a:ea typeface="Tahoma"/>
                <a:cs typeface="Tahoma"/>
              </a:rPr>
              <a:t>7: BM </a:t>
            </a:r>
            <a:r>
              <a:rPr lang="en-US" dirty="0" err="1">
                <a:solidFill>
                  <a:srgbClr val="0000CC"/>
                </a:solidFill>
                <a:latin typeface="Rockwell" panose="02060603020205020403" pitchFamily="18" charset="0"/>
                <a:ea typeface="Tahoma"/>
                <a:cs typeface="Tahoma"/>
              </a:rPr>
              <a:t>hạ</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tầng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mạng</a:t>
            </a:r>
            <a:r>
              <a:rPr lang="en-US" dirty="0">
                <a:solidFill>
                  <a:srgbClr val="0000CC"/>
                </a:solidFill>
                <a:latin typeface="Rockwell" panose="02060603020205020403" pitchFamily="18" charset="0"/>
                <a:ea typeface="Tahoma"/>
                <a:cs typeface="Tahoma"/>
              </a:rPr>
              <a:t> E-Commerce: VPN - FW - IDS</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8: </a:t>
            </a:r>
            <a:r>
              <a:rPr lang="en-US" dirty="0" err="1">
                <a:solidFill>
                  <a:srgbClr val="0000CC"/>
                </a:solidFill>
                <a:latin typeface="Rockwell" panose="02060603020205020403" pitchFamily="18" charset="0"/>
                <a:ea typeface="Tahoma"/>
                <a:cs typeface="Tahoma"/>
              </a:rPr>
              <a:t>Quy</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trình</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phát</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triển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phần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mềm</a:t>
            </a:r>
            <a:r>
              <a:rPr lang="en-US" dirty="0">
                <a:solidFill>
                  <a:srgbClr val="0000CC"/>
                </a:solidFill>
                <a:latin typeface="Rockwell" panose="02060603020205020403" pitchFamily="18" charset="0"/>
                <a:ea typeface="Tahoma"/>
                <a:cs typeface="Tahoma"/>
              </a:rPr>
              <a:t> an </a:t>
            </a:r>
            <a:r>
              <a:rPr lang="en-US" dirty="0" err="1">
                <a:solidFill>
                  <a:srgbClr val="0000CC"/>
                </a:solidFill>
                <a:latin typeface="Rockwell" panose="02060603020205020403" pitchFamily="18" charset="0"/>
                <a:ea typeface="Tahoma"/>
                <a:cs typeface="Tahoma"/>
              </a:rPr>
              <a:t>toàn</a:t>
            </a:r>
            <a:r>
              <a:rPr lang="en-US" dirty="0" smtClean="0">
                <a:solidFill>
                  <a:srgbClr val="0000CC"/>
                </a:solidFill>
                <a:latin typeface="Rockwell" panose="02060603020205020403" pitchFamily="18" charset="0"/>
                <a:ea typeface="Tahoma"/>
                <a:cs typeface="Tahoma"/>
              </a:rPr>
              <a:t> </a:t>
            </a:r>
            <a:endParaRPr lang="en-US" dirty="0">
              <a:solidFill>
                <a:srgbClr val="0000CC"/>
              </a:solidFill>
              <a:latin typeface="Rockwell" panose="02060603020205020403" pitchFamily="18" charset="0"/>
              <a:ea typeface="Tahoma"/>
              <a:cs typeface="Tahoma"/>
            </a:endParaRPr>
          </a:p>
        </p:txBody>
      </p:sp>
      <p:cxnSp>
        <p:nvCxnSpPr>
          <p:cNvPr id="13" name="Straight Connector 12"/>
          <p:cNvCxnSpPr/>
          <p:nvPr/>
        </p:nvCxnSpPr>
        <p:spPr>
          <a:xfrm>
            <a:off x="0" y="1363136"/>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4991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354842" y="514297"/>
            <a:ext cx="9155784" cy="479619"/>
          </a:xfrm>
        </p:spPr>
        <p:txBody>
          <a:bodyPr>
            <a:noAutofit/>
          </a:bodyPr>
          <a:lstStyle/>
          <a:p>
            <a:r>
              <a:rPr lang="en-US" sz="2800" dirty="0" err="1" smtClean="0">
                <a:solidFill>
                  <a:srgbClr val="0000CC"/>
                </a:solidFill>
                <a:latin typeface="Rockwell" panose="02060603020205020403" pitchFamily="18" charset="0"/>
              </a:rPr>
              <a:t>BÀI</a:t>
            </a:r>
            <a:r>
              <a:rPr lang="en-US" sz="2800" dirty="0" smtClean="0">
                <a:solidFill>
                  <a:srgbClr val="0000CC"/>
                </a:solidFill>
                <a:latin typeface="Rockwell" panose="02060603020205020403" pitchFamily="18" charset="0"/>
              </a:rPr>
              <a:t> 5: </a:t>
            </a:r>
            <a:r>
              <a:rPr lang="en-US" sz="2800" dirty="0" err="1" smtClean="0">
                <a:solidFill>
                  <a:srgbClr val="0000CC"/>
                </a:solidFill>
                <a:latin typeface="Rockwell" panose="02060603020205020403" pitchFamily="18" charset="0"/>
              </a:rPr>
              <a:t>BẢO</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MẬT</a:t>
            </a:r>
            <a:r>
              <a:rPr lang="en-US" sz="2800" dirty="0" smtClean="0">
                <a:solidFill>
                  <a:srgbClr val="0000CC"/>
                </a:solidFill>
                <a:latin typeface="Rockwell" panose="02060603020205020403" pitchFamily="18" charset="0"/>
              </a:rPr>
              <a:t> API </a:t>
            </a:r>
            <a:r>
              <a:rPr lang="en-US" sz="2800" dirty="0" err="1" smtClean="0">
                <a:solidFill>
                  <a:srgbClr val="0000CC"/>
                </a:solidFill>
                <a:latin typeface="Rockwell" panose="02060603020205020403" pitchFamily="18" charset="0"/>
              </a:rPr>
              <a:t>và</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HỆ</a:t>
            </a:r>
            <a:r>
              <a:rPr lang="en-US" sz="2800" dirty="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ĐIỀU</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HÀNH</a:t>
            </a:r>
            <a:endParaRPr lang="en-US" sz="2800"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354842" y="1181421"/>
            <a:ext cx="9038541" cy="4228811"/>
          </a:xfrm>
        </p:spPr>
        <p:txBody>
          <a:bodyPr>
            <a:noAutofit/>
          </a:bodyPr>
          <a:lstStyle/>
          <a:p>
            <a:pPr marL="457200" indent="-457200">
              <a:lnSpc>
                <a:spcPct val="100000"/>
              </a:lnSpc>
              <a:spcBef>
                <a:spcPts val="600"/>
              </a:spcBef>
              <a:spcAft>
                <a:spcPts val="600"/>
              </a:spcAft>
              <a:buFont typeface="+mj-lt"/>
              <a:buAutoNum type="arabicPeriod"/>
            </a:pP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Khái </a:t>
            </a: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niệm và tầm quan trọng</a:t>
            </a:r>
          </a:p>
          <a:p>
            <a:pPr marL="457200" indent="-457200">
              <a:lnSpc>
                <a:spcPct val="100000"/>
              </a:lnSpc>
              <a:spcBef>
                <a:spcPts val="600"/>
              </a:spcBef>
              <a:spcAft>
                <a:spcPts val="600"/>
              </a:spcAft>
              <a:buFont typeface="+mj-lt"/>
              <a:buAutoNum type="arabicPeriod"/>
            </a:pP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 </a:t>
            </a: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mối đe dọa đối với API</a:t>
            </a:r>
          </a:p>
          <a:p>
            <a:pPr marL="457200" indent="-457200">
              <a:lnSpc>
                <a:spcPct val="100000"/>
              </a:lnSpc>
              <a:spcBef>
                <a:spcPts val="600"/>
              </a:spcBef>
              <a:spcAft>
                <a:spcPts val="600"/>
              </a:spcAft>
              <a:buFont typeface="+mj-lt"/>
              <a:buAutoNum type="arabicPeriod"/>
            </a:pP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 </a:t>
            </a: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mối đe dọa đối với Hệ điều </a:t>
            </a: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hành</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(OS)</a:t>
            </a:r>
            <a:endPar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Nguyên </a:t>
            </a: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tắc bảo mật </a:t>
            </a: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 bảo mật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điều</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hành</a:t>
            </a:r>
            <a:endPar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 </a:t>
            </a: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cụ &amp; Giải pháp bảo </a:t>
            </a: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API</a:t>
            </a:r>
          </a:p>
          <a:p>
            <a:pPr marL="457200" indent="-457200">
              <a:lnSpc>
                <a:spcPct val="100000"/>
              </a:lnSpc>
              <a:spcBef>
                <a:spcPts val="600"/>
              </a:spcBef>
              <a:spcAft>
                <a:spcPts val="600"/>
              </a:spcAft>
              <a:buFont typeface="+mj-lt"/>
              <a:buAutoNum type="arabicPeriod"/>
            </a:pP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Công cụ &amp; Giải pháp bảo mật</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OS</a:t>
            </a:r>
            <a:endPar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 </a:t>
            </a: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hướng hiện đại trong bảo mật API </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 </a:t>
            </a: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hướng hiện đại trong bảo mật </a:t>
            </a: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OS</a:t>
            </a: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1200"/>
              </a:spcBef>
              <a:spcAft>
                <a:spcPts val="1200"/>
              </a:spcAft>
              <a:buFont typeface="+mj-lt"/>
              <a:buAutoNum type="arabicPeriod"/>
            </a:pP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grpSp>
        <p:nvGrpSpPr>
          <p:cNvPr id="13" name="Group 12">
            <a:extLst>
              <a:ext uri="{FF2B5EF4-FFF2-40B4-BE49-F238E27FC236}">
                <a16:creationId xmlns:a16="http://schemas.microsoft.com/office/drawing/2014/main" id="{9C15E21A-C111-4D39-BB47-E83988E5A05E}"/>
              </a:ext>
              <a:ext uri="{C183D7F6-B498-43B3-948B-1728B52AA6E4}">
                <adec:decorative xmlns:adec="http://schemas.microsoft.com/office/drawing/2017/decorative" xmlns="" val="1"/>
              </a:ext>
            </a:extLst>
          </p:cNvPr>
          <p:cNvGrpSpPr/>
          <p:nvPr/>
        </p:nvGrpSpPr>
        <p:grpSpPr>
          <a:xfrm>
            <a:off x="9055676" y="0"/>
            <a:ext cx="3193475" cy="6954260"/>
            <a:chOff x="9055676" y="0"/>
            <a:chExt cx="3193475" cy="6954260"/>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2" name="Graphic 11" descr="Test tubes">
              <a:extLst>
                <a:ext uri="{FF2B5EF4-FFF2-40B4-BE49-F238E27FC236}">
                  <a16:creationId xmlns:a16="http://schemas.microsoft.com/office/drawing/2014/main" id="{57BD2CFA-105C-4606-859E-A8413C62B3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9450534" y="4155643"/>
              <a:ext cx="2798617" cy="2798617"/>
            </a:xfrm>
            <a:prstGeom prst="rect">
              <a:avLst/>
            </a:prstGeom>
          </p:spPr>
        </p:pic>
      </p:grpSp>
      <p:pic>
        <p:nvPicPr>
          <p:cNvPr id="1026" name="Picture 2" descr="What is cyber security? | Wizard Cyb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0534" y="0"/>
            <a:ext cx="2676256" cy="22008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0" y="1090176"/>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1002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5</a:t>
            </a:r>
            <a:r>
              <a:rPr lang="en-US" sz="2800" b="1" dirty="0" smtClean="0">
                <a:solidFill>
                  <a:srgbClr val="0000CC"/>
                </a:solidFill>
                <a:latin typeface="Rockwell" panose="02060603020205020403" pitchFamily="18" charset="0"/>
              </a:rPr>
              <a:t>.1.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Tầm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trọng</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457200" indent="-457200">
              <a:buAutoNum type="arabicPeriod"/>
            </a:pPr>
            <a:r>
              <a:rPr lang="vi-VN" b="1" dirty="0" smtClean="0">
                <a:solidFill>
                  <a:srgbClr val="0000CC"/>
                </a:solidFill>
                <a:latin typeface="Rockwell" panose="02060603020205020403" pitchFamily="18" charset="0"/>
                <a:ea typeface="+mj-ea"/>
                <a:cs typeface="+mj-cs"/>
              </a:rPr>
              <a:t>Khái niệm</a:t>
            </a:r>
            <a:endParaRPr lang="en-US" b="1" dirty="0" smtClean="0">
              <a:solidFill>
                <a:srgbClr val="0000CC"/>
              </a:solidFill>
              <a:latin typeface="Rockwell" panose="02060603020205020403" pitchFamily="18" charset="0"/>
              <a:ea typeface="+mj-ea"/>
              <a:cs typeface="+mj-cs"/>
            </a:endParaRPr>
          </a:p>
          <a:p>
            <a:pPr marL="0" indent="0">
              <a:buNone/>
            </a:pPr>
            <a:r>
              <a:rPr lang="vi-VN" b="1" dirty="0">
                <a:solidFill>
                  <a:srgbClr val="0000CC"/>
                </a:solidFill>
                <a:latin typeface="Rockwell" panose="02060603020205020403" pitchFamily="18" charset="0"/>
                <a:ea typeface="+mj-ea"/>
                <a:cs typeface="+mj-cs"/>
              </a:rPr>
              <a:t>API (Application Programming Interface):</a:t>
            </a:r>
          </a:p>
          <a:p>
            <a:pPr marL="573088"/>
            <a:r>
              <a:rPr lang="vi-VN" dirty="0">
                <a:solidFill>
                  <a:srgbClr val="0000CC"/>
                </a:solidFill>
                <a:latin typeface="Rockwell" panose="02060603020205020403" pitchFamily="18" charset="0"/>
                <a:ea typeface="+mj-ea"/>
                <a:cs typeface="+mj-cs"/>
              </a:rPr>
              <a:t>Là tập hợp các giao diện cho phép các ứng dụng, dịch vụ hoặc hệ thống khác nhau giao tiếp và trao đổi dữ liệu với nhau.</a:t>
            </a:r>
          </a:p>
          <a:p>
            <a:pPr marL="573088"/>
            <a:r>
              <a:rPr lang="vi-VN" dirty="0">
                <a:solidFill>
                  <a:srgbClr val="0000CC"/>
                </a:solidFill>
                <a:latin typeface="Rockwell" panose="02060603020205020403" pitchFamily="18" charset="0"/>
                <a:ea typeface="+mj-ea"/>
                <a:cs typeface="+mj-cs"/>
              </a:rPr>
              <a:t>API thường được dùng trong các hệ thống web, di động, đám mây, và cả trong các ứng dụng doanh nghiệp.</a:t>
            </a:r>
          </a:p>
          <a:p>
            <a:pPr marL="573088"/>
            <a:r>
              <a:rPr lang="vi-VN" dirty="0">
                <a:solidFill>
                  <a:srgbClr val="0000CC"/>
                </a:solidFill>
                <a:latin typeface="Rockwell" panose="02060603020205020403" pitchFamily="18" charset="0"/>
                <a:ea typeface="+mj-ea"/>
                <a:cs typeface="+mj-cs"/>
              </a:rPr>
              <a:t>Ví dụ: API thanh toán của ngân hàng, API đăng nhập bằng Google/Facebook.</a:t>
            </a:r>
          </a:p>
          <a:p>
            <a:pPr marL="457200" indent="-457200">
              <a:buAutoNum type="arabicPeriod"/>
            </a:pP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7851292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5</a:t>
            </a:r>
            <a:r>
              <a:rPr lang="en-US" sz="2800" b="1" dirty="0" smtClean="0">
                <a:solidFill>
                  <a:srgbClr val="0000CC"/>
                </a:solidFill>
                <a:latin typeface="Rockwell" panose="02060603020205020403" pitchFamily="18" charset="0"/>
              </a:rPr>
              <a:t>.1.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Tầm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trọng</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457200" indent="-457200">
              <a:buAutoNum type="arabicPeriod"/>
            </a:pPr>
            <a:r>
              <a:rPr lang="vi-VN" b="1" dirty="0" smtClean="0">
                <a:solidFill>
                  <a:srgbClr val="0000CC"/>
                </a:solidFill>
                <a:latin typeface="Rockwell" panose="02060603020205020403" pitchFamily="18" charset="0"/>
                <a:ea typeface="+mj-ea"/>
                <a:cs typeface="+mj-cs"/>
              </a:rPr>
              <a:t>Khái niệm</a:t>
            </a:r>
            <a:endParaRPr lang="en-US" b="1" dirty="0" smtClean="0">
              <a:solidFill>
                <a:srgbClr val="0000CC"/>
              </a:solidFill>
              <a:latin typeface="Rockwell" panose="02060603020205020403" pitchFamily="18" charset="0"/>
              <a:ea typeface="+mj-ea"/>
              <a:cs typeface="+mj-cs"/>
            </a:endParaRPr>
          </a:p>
          <a:p>
            <a:pPr marL="0" indent="0">
              <a:buNone/>
            </a:pPr>
            <a:r>
              <a:rPr lang="vi-VN" b="1" dirty="0">
                <a:solidFill>
                  <a:srgbClr val="0000CC"/>
                </a:solidFill>
                <a:latin typeface="Rockwell" panose="02060603020205020403" pitchFamily="18" charset="0"/>
                <a:ea typeface="+mj-ea"/>
                <a:cs typeface="+mj-cs"/>
              </a:rPr>
              <a:t>Hệ điều hành (Operating System – OS):</a:t>
            </a:r>
          </a:p>
          <a:p>
            <a:pPr marL="519113"/>
            <a:r>
              <a:rPr lang="vi-VN" dirty="0">
                <a:solidFill>
                  <a:srgbClr val="0000CC"/>
                </a:solidFill>
                <a:latin typeface="Rockwell" panose="02060603020205020403" pitchFamily="18" charset="0"/>
                <a:ea typeface="+mj-ea"/>
                <a:cs typeface="+mj-cs"/>
              </a:rPr>
              <a:t>Là phần mềm hệ thống quản lý phần cứng (CPU, RAM, Disk, Network…) và cung cấp môi trường cho các phần mềm, ứng dụng hoạt động.</a:t>
            </a:r>
          </a:p>
          <a:p>
            <a:pPr marL="519113"/>
            <a:r>
              <a:rPr lang="vi-VN" dirty="0">
                <a:solidFill>
                  <a:srgbClr val="0000CC"/>
                </a:solidFill>
                <a:latin typeface="Rockwell" panose="02060603020205020403" pitchFamily="18" charset="0"/>
                <a:ea typeface="+mj-ea"/>
                <a:cs typeface="+mj-cs"/>
              </a:rPr>
              <a:t>Các hệ điều hành phổ biến: Windows, Linux, macOS, Android, iOS.</a:t>
            </a:r>
          </a:p>
          <a:p>
            <a:pPr marL="519113"/>
            <a:r>
              <a:rPr lang="vi-VN" dirty="0">
                <a:solidFill>
                  <a:srgbClr val="0000CC"/>
                </a:solidFill>
                <a:latin typeface="Rockwell" panose="02060603020205020403" pitchFamily="18" charset="0"/>
                <a:ea typeface="+mj-ea"/>
                <a:cs typeface="+mj-cs"/>
              </a:rPr>
              <a:t>OS chịu trách nhiệm quản lý quyền truy cập, bảo mật tiến trình, và tài nguyên hệ thống.</a:t>
            </a:r>
          </a:p>
          <a:p>
            <a:pPr marL="457200" indent="-457200">
              <a:buAutoNum type="arabicPeriod"/>
            </a:pP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33572486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5.1.</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Khái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niệm</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Tầm</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quan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trọng</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vi-VN" b="1" dirty="0" smtClean="0">
                <a:solidFill>
                  <a:srgbClr val="0000CC"/>
                </a:solidFill>
                <a:latin typeface="Rockwell" panose="02060603020205020403" pitchFamily="18" charset="0"/>
                <a:ea typeface="+mj-ea"/>
                <a:cs typeface="+mj-cs"/>
              </a:rPr>
              <a:t>Tầm </a:t>
            </a:r>
            <a:r>
              <a:rPr lang="vi-VN" b="1" dirty="0">
                <a:solidFill>
                  <a:srgbClr val="0000CC"/>
                </a:solidFill>
                <a:latin typeface="Rockwell" panose="02060603020205020403" pitchFamily="18" charset="0"/>
                <a:ea typeface="+mj-ea"/>
                <a:cs typeface="+mj-cs"/>
              </a:rPr>
              <a:t>quan trọng</a:t>
            </a:r>
          </a:p>
          <a:p>
            <a:pPr marL="0" indent="0">
              <a:buNone/>
            </a:pPr>
            <a:r>
              <a:rPr lang="vi-VN" b="1" dirty="0">
                <a:solidFill>
                  <a:srgbClr val="0000CC"/>
                </a:solidFill>
                <a:latin typeface="Rockwell" panose="02060603020205020403" pitchFamily="18" charset="0"/>
                <a:ea typeface="+mj-ea"/>
                <a:cs typeface="+mj-cs"/>
              </a:rPr>
              <a:t>API:</a:t>
            </a:r>
          </a:p>
          <a:p>
            <a:pPr marL="627063" lvl="1"/>
            <a:r>
              <a:rPr lang="vi-VN" dirty="0">
                <a:solidFill>
                  <a:srgbClr val="0000CC"/>
                </a:solidFill>
                <a:latin typeface="Rockwell" panose="02060603020205020403" pitchFamily="18" charset="0"/>
                <a:ea typeface="+mj-ea"/>
                <a:cs typeface="+mj-cs"/>
              </a:rPr>
              <a:t>API là cửa ngõ dữ </a:t>
            </a:r>
            <a:r>
              <a:rPr lang="vi-VN" dirty="0" smtClean="0">
                <a:solidFill>
                  <a:srgbClr val="0000CC"/>
                </a:solidFill>
                <a:latin typeface="Rockwell" panose="02060603020205020403" pitchFamily="18" charset="0"/>
                <a:ea typeface="+mj-ea"/>
                <a:cs typeface="+mj-cs"/>
              </a:rPr>
              <a:t>liệu</a:t>
            </a:r>
            <a:r>
              <a:rPr lang="en-US" dirty="0" smtClean="0">
                <a:solidFill>
                  <a:srgbClr val="0000CC"/>
                </a:solidFill>
                <a:latin typeface="Rockwell" panose="02060603020205020403" pitchFamily="18" charset="0"/>
                <a:ea typeface="+mj-ea"/>
                <a:cs typeface="+mj-cs"/>
              </a:rPr>
              <a:t>,</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nếu API bị tấn công, kẻ xấu có thể truy cập hoặc thao túng dữ liệu nhạy cảm.</a:t>
            </a:r>
          </a:p>
          <a:p>
            <a:pPr marL="627063" lvl="1"/>
            <a:r>
              <a:rPr lang="vi-VN" dirty="0">
                <a:solidFill>
                  <a:srgbClr val="0000CC"/>
                </a:solidFill>
                <a:latin typeface="Rockwell" panose="02060603020205020403" pitchFamily="18" charset="0"/>
                <a:ea typeface="+mj-ea"/>
                <a:cs typeface="+mj-cs"/>
              </a:rPr>
              <a:t>API đóng vai trò quan trọng trong chuyển đổi số, vì hầu hết các dịch vụ hiện đại đều dựa trên API để kết nối (FinTech, IoT, Cloud…).</a:t>
            </a:r>
          </a:p>
          <a:p>
            <a:pPr marL="627063" lvl="1"/>
            <a:r>
              <a:rPr lang="vi-VN" dirty="0">
                <a:solidFill>
                  <a:srgbClr val="0000CC"/>
                </a:solidFill>
                <a:latin typeface="Rockwell" panose="02060603020205020403" pitchFamily="18" charset="0"/>
                <a:ea typeface="+mj-ea"/>
                <a:cs typeface="+mj-cs"/>
              </a:rPr>
              <a:t>Các lỗ hổng API (như lộ khóa API, xác thực yếu) có thể dẫn đến rò rỉ dữ liệu diện rộng.</a:t>
            </a:r>
          </a:p>
          <a:p>
            <a:pPr marL="457200" indent="-457200">
              <a:buAutoNum type="arabicPeriod"/>
            </a:pP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30060122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5.1.</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Khái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niệm</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Tầm</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quan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trọng</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vi-VN" b="1" dirty="0" smtClean="0">
                <a:solidFill>
                  <a:srgbClr val="0000CC"/>
                </a:solidFill>
                <a:latin typeface="Rockwell" panose="02060603020205020403" pitchFamily="18" charset="0"/>
                <a:ea typeface="+mj-ea"/>
                <a:cs typeface="+mj-cs"/>
              </a:rPr>
              <a:t>Tầm </a:t>
            </a:r>
            <a:r>
              <a:rPr lang="vi-VN" b="1" dirty="0">
                <a:solidFill>
                  <a:srgbClr val="0000CC"/>
                </a:solidFill>
                <a:latin typeface="Rockwell" panose="02060603020205020403" pitchFamily="18" charset="0"/>
                <a:ea typeface="+mj-ea"/>
                <a:cs typeface="+mj-cs"/>
              </a:rPr>
              <a:t>quan trọng</a:t>
            </a:r>
          </a:p>
          <a:p>
            <a:pPr marL="0" indent="0">
              <a:buNone/>
            </a:pPr>
            <a:r>
              <a:rPr lang="vi-VN" b="1" dirty="0">
                <a:solidFill>
                  <a:srgbClr val="0000CC"/>
                </a:solidFill>
                <a:latin typeface="Rockwell" panose="02060603020205020403" pitchFamily="18" charset="0"/>
                <a:ea typeface="+mj-ea"/>
                <a:cs typeface="+mj-cs"/>
              </a:rPr>
              <a:t>Hệ điều hành:</a:t>
            </a:r>
          </a:p>
          <a:p>
            <a:r>
              <a:rPr lang="vi-VN" dirty="0">
                <a:solidFill>
                  <a:srgbClr val="0000CC"/>
                </a:solidFill>
                <a:latin typeface="Rockwell" panose="02060603020205020403" pitchFamily="18" charset="0"/>
                <a:ea typeface="+mj-ea"/>
                <a:cs typeface="+mj-cs"/>
              </a:rPr>
              <a:t>OS là nền tảng cốt lõi: nếu OS bị xâm nhập, toàn bộ hệ thống và ứng dụng chạy trên đó sẽ bị kiểm soát.</a:t>
            </a:r>
          </a:p>
          <a:p>
            <a:r>
              <a:rPr lang="vi-VN" dirty="0">
                <a:solidFill>
                  <a:srgbClr val="0000CC"/>
                </a:solidFill>
                <a:latin typeface="Rockwell" panose="02060603020205020403" pitchFamily="18" charset="0"/>
                <a:ea typeface="+mj-ea"/>
                <a:cs typeface="+mj-cs"/>
              </a:rPr>
              <a:t>Tin tặc có thể lợi dụng lỗ hổng trong OS để leo thang đặc quyền (Privilege Escalation), từ đó chiếm quyền root/admin.</a:t>
            </a:r>
          </a:p>
          <a:p>
            <a:r>
              <a:rPr lang="vi-VN" dirty="0">
                <a:solidFill>
                  <a:srgbClr val="0000CC"/>
                </a:solidFill>
                <a:latin typeface="Rockwell" panose="02060603020205020403" pitchFamily="18" charset="0"/>
                <a:ea typeface="+mj-ea"/>
                <a:cs typeface="+mj-cs"/>
              </a:rPr>
              <a:t>OS cũng là mục tiêu chính của malware, rootkit, ransomware – gây ảnh hưởng nặng nề đến hoạt động doanh nghiệp.</a:t>
            </a:r>
          </a:p>
          <a:p>
            <a:pPr marL="457200" indent="-457200">
              <a:buAutoNum type="arabicPeriod"/>
            </a:pP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23570127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5.1.</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Khái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niệm</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Tầm</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quan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trọng</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vi-VN" b="1" dirty="0" smtClean="0">
                <a:solidFill>
                  <a:srgbClr val="0000CC"/>
                </a:solidFill>
                <a:latin typeface="Rockwell" panose="02060603020205020403" pitchFamily="18" charset="0"/>
                <a:ea typeface="+mj-ea"/>
                <a:cs typeface="+mj-cs"/>
              </a:rPr>
              <a:t>Tầm </a:t>
            </a:r>
            <a:r>
              <a:rPr lang="vi-VN" b="1" dirty="0">
                <a:solidFill>
                  <a:srgbClr val="0000CC"/>
                </a:solidFill>
                <a:latin typeface="Rockwell" panose="02060603020205020403" pitchFamily="18" charset="0"/>
                <a:ea typeface="+mj-ea"/>
                <a:cs typeface="+mj-cs"/>
              </a:rPr>
              <a:t>quan trọng</a:t>
            </a:r>
          </a:p>
          <a:p>
            <a:pPr marL="0" indent="0">
              <a:buNone/>
            </a:pPr>
            <a:r>
              <a:rPr lang="vi-VN" b="1" dirty="0">
                <a:solidFill>
                  <a:srgbClr val="0000CC"/>
                </a:solidFill>
                <a:latin typeface="Rockwell" panose="02060603020205020403" pitchFamily="18" charset="0"/>
                <a:ea typeface="+mj-ea"/>
                <a:cs typeface="+mj-cs"/>
              </a:rPr>
              <a:t>Mối quan hệ giữa API và OS:</a:t>
            </a:r>
          </a:p>
          <a:p>
            <a:r>
              <a:rPr lang="vi-VN" dirty="0">
                <a:solidFill>
                  <a:srgbClr val="0000CC"/>
                </a:solidFill>
                <a:latin typeface="Rockwell" panose="02060603020205020403" pitchFamily="18" charset="0"/>
                <a:ea typeface="+mj-ea"/>
                <a:cs typeface="+mj-cs"/>
              </a:rPr>
              <a:t>API chạy trên nền tảng OS, do đó lỗ hổng bảo mật ở một trong hai sẽ ảnh hưởng trực tiếp đến toàn bộ hệ thống.</a:t>
            </a:r>
          </a:p>
          <a:p>
            <a:r>
              <a:rPr lang="vi-VN" dirty="0">
                <a:solidFill>
                  <a:srgbClr val="0000CC"/>
                </a:solidFill>
                <a:latin typeface="Rockwell" panose="02060603020205020403" pitchFamily="18" charset="0"/>
                <a:ea typeface="+mj-ea"/>
                <a:cs typeface="+mj-cs"/>
              </a:rPr>
              <a:t>Nếu API bị khai thác → dữ liệu ứng dụng rò rỉ.</a:t>
            </a:r>
          </a:p>
          <a:p>
            <a:r>
              <a:rPr lang="vi-VN" dirty="0">
                <a:solidFill>
                  <a:srgbClr val="0000CC"/>
                </a:solidFill>
                <a:latin typeface="Rockwell" panose="02060603020205020403" pitchFamily="18" charset="0"/>
                <a:ea typeface="+mj-ea"/>
                <a:cs typeface="+mj-cs"/>
              </a:rPr>
              <a:t>Nếu OS bị chiếm quyền → API và toàn bộ dịch vụ đều mất an toàn</a:t>
            </a:r>
            <a:r>
              <a:rPr lang="vi-VN" dirty="0" smtClean="0">
                <a:solidFill>
                  <a:srgbClr val="0000CC"/>
                </a:solidFill>
                <a:latin typeface="Rockwell" panose="02060603020205020403" pitchFamily="18" charset="0"/>
                <a:ea typeface="+mj-ea"/>
                <a:cs typeface="+mj-cs"/>
              </a:rPr>
              <a:t>.</a:t>
            </a:r>
            <a:endParaRPr lang="en-US" dirty="0" smtClean="0">
              <a:solidFill>
                <a:srgbClr val="0000CC"/>
              </a:solidFill>
              <a:latin typeface="Rockwell" panose="02060603020205020403" pitchFamily="18" charset="0"/>
              <a:ea typeface="+mj-ea"/>
              <a:cs typeface="+mj-cs"/>
            </a:endParaRPr>
          </a:p>
          <a:p>
            <a:endParaRPr lang="en-US" dirty="0">
              <a:solidFill>
                <a:srgbClr val="0000CC"/>
              </a:solidFill>
              <a:latin typeface="Rockwell" panose="02060603020205020403" pitchFamily="18" charset="0"/>
              <a:ea typeface="+mj-ea"/>
              <a:cs typeface="+mj-cs"/>
            </a:endParaRPr>
          </a:p>
          <a:p>
            <a:pPr marL="341313" indent="0" algn="ctr">
              <a:buNone/>
            </a:pPr>
            <a:r>
              <a:rPr lang="en-US" dirty="0">
                <a:solidFill>
                  <a:srgbClr val="FF00FF"/>
                </a:solidFill>
                <a:latin typeface="Rockwell" panose="02060603020205020403" pitchFamily="18" charset="0"/>
                <a:ea typeface="+mj-ea"/>
                <a:cs typeface="+mj-cs"/>
              </a:rPr>
              <a:t>API </a:t>
            </a:r>
            <a:r>
              <a:rPr lang="en-US" dirty="0" err="1">
                <a:solidFill>
                  <a:srgbClr val="FF00FF"/>
                </a:solidFill>
                <a:latin typeface="Rockwell" panose="02060603020205020403" pitchFamily="18" charset="0"/>
                <a:ea typeface="+mj-ea"/>
                <a:cs typeface="+mj-cs"/>
              </a:rPr>
              <a:t>và</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Hệ</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điều</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hành</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là</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cửa</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ngõ</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và</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trái</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tim</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của</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hệ</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thống</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CNTT</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Bảo</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mật</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chúng</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không</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chỉ</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bảo</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vệ</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dữ</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liệu</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mà</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còn</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đảm</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bảo</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tính</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toàn</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vẹn</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tính</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khả</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dụng</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và</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uy</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tín</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của</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tổ</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chức</a:t>
            </a:r>
            <a:r>
              <a:rPr lang="en-US" dirty="0">
                <a:solidFill>
                  <a:srgbClr val="FF00FF"/>
                </a:solidFill>
                <a:latin typeface="Rockwell" panose="02060603020205020403" pitchFamily="18" charset="0"/>
                <a:ea typeface="+mj-ea"/>
                <a:cs typeface="+mj-cs"/>
              </a:rPr>
              <a:t>.</a:t>
            </a:r>
            <a:endParaRPr lang="vi-VN" dirty="0">
              <a:solidFill>
                <a:srgbClr val="FF00FF"/>
              </a:solidFill>
              <a:latin typeface="Rockwell" panose="02060603020205020403" pitchFamily="18" charset="0"/>
              <a:ea typeface="+mj-ea"/>
              <a:cs typeface="+mj-cs"/>
            </a:endParaRPr>
          </a:p>
          <a:p>
            <a:pPr marL="457200" indent="-457200">
              <a:buAutoNum type="arabicPeriod"/>
            </a:pPr>
            <a:endParaRPr lang="vi-VN" b="1" dirty="0">
              <a:solidFill>
                <a:srgbClr val="FF00FF"/>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3859458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5.2. </a:t>
            </a:r>
            <a:r>
              <a:rPr lang="en-US" sz="2800" b="1" dirty="0" err="1" smtClean="0">
                <a:solidFill>
                  <a:srgbClr val="0000CC"/>
                </a:solidFill>
                <a:latin typeface="Rockwell" panose="02060603020205020403" pitchFamily="18" charset="0"/>
              </a:rPr>
              <a:t>Mối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đe</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doạ</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đối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với</a:t>
            </a:r>
            <a:r>
              <a:rPr lang="en-US" sz="2800" b="1" dirty="0" smtClean="0">
                <a:solidFill>
                  <a:srgbClr val="0000CC"/>
                </a:solidFill>
                <a:latin typeface="Rockwell" panose="02060603020205020403" pitchFamily="18" charset="0"/>
              </a:rPr>
              <a:t> API</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vi-VN" b="1" dirty="0" smtClean="0">
                <a:solidFill>
                  <a:srgbClr val="0000CC"/>
                </a:solidFill>
                <a:latin typeface="Rockwell" panose="02060603020205020403" pitchFamily="18" charset="0"/>
                <a:ea typeface="+mj-ea"/>
                <a:cs typeface="+mj-cs"/>
              </a:rPr>
              <a:t>1. </a:t>
            </a:r>
            <a:r>
              <a:rPr lang="vi-VN" b="1" dirty="0">
                <a:solidFill>
                  <a:srgbClr val="0000CC"/>
                </a:solidFill>
                <a:latin typeface="Rockwell" panose="02060603020205020403" pitchFamily="18" charset="0"/>
                <a:ea typeface="+mj-ea"/>
                <a:cs typeface="+mj-cs"/>
              </a:rPr>
              <a:t>API Injection (SQLi, Command Injection)</a:t>
            </a:r>
          </a:p>
          <a:p>
            <a:pPr marL="0" indent="0">
              <a:buNone/>
            </a:pPr>
            <a:r>
              <a:rPr lang="vi-VN" dirty="0" smtClean="0">
                <a:solidFill>
                  <a:srgbClr val="0000CC"/>
                </a:solidFill>
                <a:latin typeface="Rockwell" panose="02060603020205020403" pitchFamily="18" charset="0"/>
                <a:ea typeface="+mj-ea"/>
                <a:cs typeface="+mj-cs"/>
              </a:rPr>
              <a:t>Tin </a:t>
            </a:r>
            <a:r>
              <a:rPr lang="vi-VN" dirty="0">
                <a:solidFill>
                  <a:srgbClr val="0000CC"/>
                </a:solidFill>
                <a:latin typeface="Rockwell" panose="02060603020205020403" pitchFamily="18" charset="0"/>
                <a:ea typeface="+mj-ea"/>
                <a:cs typeface="+mj-cs"/>
              </a:rPr>
              <a:t>tặc chèn mã độc (SQL, command) vào tham số API để thao túng cơ sở dữ liệu hoặc hệ thống.</a:t>
            </a:r>
          </a:p>
          <a:p>
            <a:pPr marL="0" indent="0">
              <a:buNone/>
            </a:pPr>
            <a:r>
              <a:rPr lang="vi-VN" dirty="0">
                <a:solidFill>
                  <a:srgbClr val="0000CC"/>
                </a:solidFill>
                <a:latin typeface="Rockwell" panose="02060603020205020403" pitchFamily="18" charset="0"/>
                <a:ea typeface="+mj-ea"/>
                <a:cs typeface="+mj-cs"/>
              </a:rPr>
              <a:t>Hậu quả:</a:t>
            </a:r>
          </a:p>
          <a:p>
            <a:pPr lvl="1"/>
            <a:r>
              <a:rPr lang="vi-VN" dirty="0">
                <a:solidFill>
                  <a:srgbClr val="0000CC"/>
                </a:solidFill>
                <a:latin typeface="Rockwell" panose="02060603020205020403" pitchFamily="18" charset="0"/>
                <a:ea typeface="+mj-ea"/>
                <a:cs typeface="+mj-cs"/>
              </a:rPr>
              <a:t>Truy xuất hoặc thay đổi dữ liệu trái phép.</a:t>
            </a:r>
          </a:p>
          <a:p>
            <a:pPr lvl="1"/>
            <a:r>
              <a:rPr lang="vi-VN" dirty="0">
                <a:solidFill>
                  <a:srgbClr val="0000CC"/>
                </a:solidFill>
                <a:latin typeface="Rockwell" panose="02060603020205020403" pitchFamily="18" charset="0"/>
                <a:ea typeface="+mj-ea"/>
                <a:cs typeface="+mj-cs"/>
              </a:rPr>
              <a:t>Chiếm quyền điều khiển hệ thống nếu là OS Command Injection.</a:t>
            </a:r>
          </a:p>
          <a:p>
            <a:pPr marL="0" indent="0">
              <a:buNone/>
            </a:pPr>
            <a:r>
              <a:rPr lang="vi-VN" dirty="0">
                <a:solidFill>
                  <a:srgbClr val="0000CC"/>
                </a:solidFill>
                <a:latin typeface="Rockwell" panose="02060603020205020403" pitchFamily="18" charset="0"/>
                <a:ea typeface="+mj-ea"/>
                <a:cs typeface="+mj-cs"/>
              </a:rPr>
              <a:t>Ví dụ thực tế</a:t>
            </a:r>
            <a:r>
              <a:rPr lang="vi-VN" dirty="0" smtClean="0">
                <a:solidFill>
                  <a:srgbClr val="0000CC"/>
                </a:solidFill>
                <a:latin typeface="Rockwell" panose="02060603020205020403" pitchFamily="18" charset="0"/>
                <a:ea typeface="+mj-ea"/>
                <a:cs typeface="+mj-cs"/>
              </a:rPr>
              <a:t>:</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Một </a:t>
            </a:r>
            <a:r>
              <a:rPr lang="vi-VN" dirty="0">
                <a:solidFill>
                  <a:srgbClr val="0000CC"/>
                </a:solidFill>
                <a:latin typeface="Rockwell" panose="02060603020205020403" pitchFamily="18" charset="0"/>
                <a:ea typeface="+mj-ea"/>
                <a:cs typeface="+mj-cs"/>
              </a:rPr>
              <a:t>API tìm kiếm người dùng với URL:</a:t>
            </a:r>
          </a:p>
          <a:p>
            <a:pPr marL="0" indent="0">
              <a:buNone/>
            </a:pPr>
            <a:r>
              <a:rPr lang="en-US" dirty="0" smtClean="0">
                <a:solidFill>
                  <a:srgbClr val="FF0000"/>
                </a:solidFill>
                <a:latin typeface="Rockwell" panose="02060603020205020403" pitchFamily="18" charset="0"/>
                <a:ea typeface="+mj-ea"/>
                <a:cs typeface="+mj-cs"/>
              </a:rPr>
              <a:t>	</a:t>
            </a:r>
            <a:r>
              <a:rPr lang="vi-VN" dirty="0" smtClean="0">
                <a:solidFill>
                  <a:srgbClr val="FF0000"/>
                </a:solidFill>
                <a:latin typeface="Rockwell" panose="02060603020205020403" pitchFamily="18" charset="0"/>
                <a:ea typeface="+mj-ea"/>
                <a:cs typeface="+mj-cs"/>
              </a:rPr>
              <a:t>/</a:t>
            </a:r>
            <a:r>
              <a:rPr lang="vi-VN" dirty="0">
                <a:solidFill>
                  <a:srgbClr val="FF0000"/>
                </a:solidFill>
                <a:latin typeface="Rockwell" panose="02060603020205020403" pitchFamily="18" charset="0"/>
                <a:ea typeface="+mj-ea"/>
                <a:cs typeface="+mj-cs"/>
              </a:rPr>
              <a:t>api/users?name=admin' OR '1'='1</a:t>
            </a:r>
          </a:p>
          <a:p>
            <a:pPr marL="0" indent="0">
              <a:buNone/>
            </a:pPr>
            <a:r>
              <a:rPr lang="vi-VN" dirty="0" smtClean="0">
                <a:solidFill>
                  <a:srgbClr val="0000CC"/>
                </a:solidFill>
                <a:latin typeface="Rockwell" panose="02060603020205020403" pitchFamily="18" charset="0"/>
                <a:ea typeface="+mj-ea"/>
                <a:cs typeface="+mj-cs"/>
              </a:rPr>
              <a:t>Kết </a:t>
            </a:r>
            <a:r>
              <a:rPr lang="vi-VN" dirty="0">
                <a:solidFill>
                  <a:srgbClr val="0000CC"/>
                </a:solidFill>
                <a:latin typeface="Rockwell" panose="02060603020205020403" pitchFamily="18" charset="0"/>
                <a:ea typeface="+mj-ea"/>
                <a:cs typeface="+mj-cs"/>
              </a:rPr>
              <a:t>quả: trả về toàn bộ danh sách người dùng.</a:t>
            </a:r>
          </a:p>
          <a:p>
            <a:endParaRPr lang="en-US" dirty="0"/>
          </a:p>
        </p:txBody>
      </p:sp>
    </p:spTree>
    <p:extLst>
      <p:ext uri="{BB962C8B-B14F-4D97-AF65-F5344CB8AC3E}">
        <p14:creationId xmlns:p14="http://schemas.microsoft.com/office/powerpoint/2010/main" val="10666757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5.2. </a:t>
            </a:r>
            <a:r>
              <a:rPr lang="en-US" sz="2800" b="1" dirty="0" err="1" smtClean="0">
                <a:solidFill>
                  <a:srgbClr val="0000CC"/>
                </a:solidFill>
                <a:latin typeface="Rockwell" panose="02060603020205020403" pitchFamily="18" charset="0"/>
              </a:rPr>
              <a:t>Mối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đe</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doạ</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đối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với</a:t>
            </a:r>
            <a:r>
              <a:rPr lang="en-US" sz="2800" b="1" dirty="0" smtClean="0">
                <a:solidFill>
                  <a:srgbClr val="0000CC"/>
                </a:solidFill>
                <a:latin typeface="Rockwell" panose="02060603020205020403" pitchFamily="18" charset="0"/>
              </a:rPr>
              <a:t> API</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Broken Authentication / Authorization</a:t>
            </a:r>
          </a:p>
          <a:p>
            <a:pPr marL="0" indent="0">
              <a:buNone/>
            </a:pPr>
            <a:r>
              <a:rPr lang="vi-VN" dirty="0" smtClean="0">
                <a:solidFill>
                  <a:srgbClr val="0000CC"/>
                </a:solidFill>
                <a:latin typeface="Rockwell" panose="02060603020205020403" pitchFamily="18" charset="0"/>
                <a:ea typeface="+mj-ea"/>
                <a:cs typeface="+mj-cs"/>
              </a:rPr>
              <a:t>Lỗi </a:t>
            </a:r>
            <a:r>
              <a:rPr lang="vi-VN" dirty="0">
                <a:solidFill>
                  <a:srgbClr val="0000CC"/>
                </a:solidFill>
                <a:latin typeface="Rockwell" panose="02060603020205020403" pitchFamily="18" charset="0"/>
                <a:ea typeface="+mj-ea"/>
                <a:cs typeface="+mj-cs"/>
              </a:rPr>
              <a:t>trong xác thực (authentication) hoặc phân quyền (authorization) khiến kẻ tấn công có thể giả mạo danh tính hoặc truy cập dữ liệu không thuộc quyền.</a:t>
            </a:r>
          </a:p>
          <a:p>
            <a:pPr marL="0" indent="0">
              <a:buNone/>
            </a:pPr>
            <a:r>
              <a:rPr lang="vi-VN" dirty="0">
                <a:solidFill>
                  <a:srgbClr val="0000CC"/>
                </a:solidFill>
                <a:latin typeface="Rockwell" panose="02060603020205020403" pitchFamily="18" charset="0"/>
                <a:ea typeface="+mj-ea"/>
                <a:cs typeface="+mj-cs"/>
              </a:rPr>
              <a:t>Hậu quả:</a:t>
            </a:r>
          </a:p>
          <a:p>
            <a:pPr lvl="1"/>
            <a:r>
              <a:rPr lang="vi-VN" dirty="0">
                <a:solidFill>
                  <a:srgbClr val="0000CC"/>
                </a:solidFill>
                <a:latin typeface="Rockwell" panose="02060603020205020403" pitchFamily="18" charset="0"/>
                <a:ea typeface="+mj-ea"/>
                <a:cs typeface="+mj-cs"/>
              </a:rPr>
              <a:t>Người dùng bình thường có thể truy cập dữ liệu của admin.</a:t>
            </a:r>
          </a:p>
          <a:p>
            <a:pPr lvl="1"/>
            <a:r>
              <a:rPr lang="vi-VN" dirty="0">
                <a:solidFill>
                  <a:srgbClr val="0000CC"/>
                </a:solidFill>
                <a:latin typeface="Rockwell" panose="02060603020205020403" pitchFamily="18" charset="0"/>
                <a:ea typeface="+mj-ea"/>
                <a:cs typeface="+mj-cs"/>
              </a:rPr>
              <a:t>Chiếm quyền kiểm soát API mà không cần mật khẩu hợp lệ.</a:t>
            </a:r>
          </a:p>
          <a:p>
            <a:pPr marL="0" indent="0">
              <a:buNone/>
            </a:pPr>
            <a:r>
              <a:rPr lang="vi-VN" dirty="0">
                <a:solidFill>
                  <a:srgbClr val="0000CC"/>
                </a:solidFill>
                <a:latin typeface="Rockwell" panose="02060603020205020403" pitchFamily="18" charset="0"/>
                <a:ea typeface="+mj-ea"/>
                <a:cs typeface="+mj-cs"/>
              </a:rPr>
              <a:t>Ví dụ thực tế:</a:t>
            </a:r>
          </a:p>
          <a:p>
            <a:pPr marL="395288" indent="0">
              <a:buNone/>
            </a:pPr>
            <a:r>
              <a:rPr lang="vi-VN" dirty="0" smtClean="0">
                <a:solidFill>
                  <a:srgbClr val="0000CC"/>
                </a:solidFill>
                <a:latin typeface="Rockwell" panose="02060603020205020403" pitchFamily="18" charset="0"/>
                <a:ea typeface="+mj-ea"/>
                <a:cs typeface="+mj-cs"/>
              </a:rPr>
              <a:t>Vụ </a:t>
            </a:r>
            <a:r>
              <a:rPr lang="vi-VN" dirty="0">
                <a:solidFill>
                  <a:srgbClr val="0000CC"/>
                </a:solidFill>
                <a:latin typeface="Rockwell" panose="02060603020205020403" pitchFamily="18" charset="0"/>
                <a:ea typeface="+mj-ea"/>
                <a:cs typeface="+mj-cs"/>
              </a:rPr>
              <a:t>Facebook 2019: Lỗi trong API cho phép hacker khai thác token đăng nhập và chiếm đoạt tài khoản của hàng chục triệu người dùng</a:t>
            </a:r>
            <a:r>
              <a:rPr lang="vi-VN" dirty="0" smtClean="0">
                <a:solidFill>
                  <a:srgbClr val="0000CC"/>
                </a:solidFill>
                <a:latin typeface="Rockwell" panose="02060603020205020403" pitchFamily="18" charset="0"/>
                <a:ea typeface="+mj-ea"/>
                <a:cs typeface="+mj-cs"/>
              </a:rPr>
              <a:t>.</a:t>
            </a:r>
            <a:endParaRPr lang="en-US" dirty="0"/>
          </a:p>
        </p:txBody>
      </p:sp>
    </p:spTree>
    <p:extLst>
      <p:ext uri="{BB962C8B-B14F-4D97-AF65-F5344CB8AC3E}">
        <p14:creationId xmlns:p14="http://schemas.microsoft.com/office/powerpoint/2010/main" val="19023919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5.2. </a:t>
            </a:r>
            <a:r>
              <a:rPr lang="en-US" sz="2800" b="1" dirty="0" err="1" smtClean="0">
                <a:solidFill>
                  <a:srgbClr val="0000CC"/>
                </a:solidFill>
                <a:latin typeface="Rockwell" panose="02060603020205020403" pitchFamily="18" charset="0"/>
              </a:rPr>
              <a:t>Mối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đe</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doạ</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đối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với</a:t>
            </a:r>
            <a:r>
              <a:rPr lang="en-US" sz="2800" b="1" dirty="0" smtClean="0">
                <a:solidFill>
                  <a:srgbClr val="0000CC"/>
                </a:solidFill>
                <a:latin typeface="Rockwell" panose="02060603020205020403" pitchFamily="18" charset="0"/>
              </a:rPr>
              <a:t> API</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vi-VN" b="1" dirty="0" smtClean="0">
                <a:solidFill>
                  <a:srgbClr val="0000CC"/>
                </a:solidFill>
                <a:latin typeface="Rockwell" panose="02060603020205020403" pitchFamily="18" charset="0"/>
                <a:ea typeface="+mj-ea"/>
                <a:cs typeface="+mj-cs"/>
              </a:rPr>
              <a:t>3</a:t>
            </a:r>
            <a:r>
              <a:rPr lang="vi-VN" b="1" dirty="0">
                <a:solidFill>
                  <a:srgbClr val="0000CC"/>
                </a:solidFill>
                <a:latin typeface="Rockwell" panose="02060603020205020403" pitchFamily="18" charset="0"/>
                <a:ea typeface="+mj-ea"/>
                <a:cs typeface="+mj-cs"/>
              </a:rPr>
              <a:t>. Rate Limiting kém → DDoS (Denial of Service)</a:t>
            </a:r>
          </a:p>
          <a:p>
            <a:pPr marL="0" indent="0">
              <a:buNone/>
            </a:pPr>
            <a:r>
              <a:rPr lang="vi-VN" dirty="0" smtClean="0">
                <a:solidFill>
                  <a:srgbClr val="0000CC"/>
                </a:solidFill>
                <a:latin typeface="Rockwell" panose="02060603020205020403" pitchFamily="18" charset="0"/>
                <a:ea typeface="+mj-ea"/>
                <a:cs typeface="+mj-cs"/>
              </a:rPr>
              <a:t>API </a:t>
            </a:r>
            <a:r>
              <a:rPr lang="vi-VN" dirty="0">
                <a:solidFill>
                  <a:srgbClr val="0000CC"/>
                </a:solidFill>
                <a:latin typeface="Rockwell" panose="02060603020205020403" pitchFamily="18" charset="0"/>
                <a:ea typeface="+mj-ea"/>
                <a:cs typeface="+mj-cs"/>
              </a:rPr>
              <a:t>không giới hạn số lần gọi (request) → bị spam hoặc tấn công từ chối dịch vụ.</a:t>
            </a:r>
          </a:p>
          <a:p>
            <a:pPr marL="0" indent="0">
              <a:buNone/>
            </a:pPr>
            <a:r>
              <a:rPr lang="vi-VN" dirty="0">
                <a:solidFill>
                  <a:srgbClr val="0000CC"/>
                </a:solidFill>
                <a:latin typeface="Rockwell" panose="02060603020205020403" pitchFamily="18" charset="0"/>
                <a:ea typeface="+mj-ea"/>
                <a:cs typeface="+mj-cs"/>
              </a:rPr>
              <a:t>Hậu quả:</a:t>
            </a:r>
          </a:p>
          <a:p>
            <a:pPr lvl="1"/>
            <a:r>
              <a:rPr lang="vi-VN" dirty="0">
                <a:solidFill>
                  <a:srgbClr val="0000CC"/>
                </a:solidFill>
                <a:latin typeface="Rockwell" panose="02060603020205020403" pitchFamily="18" charset="0"/>
                <a:ea typeface="+mj-ea"/>
                <a:cs typeface="+mj-cs"/>
              </a:rPr>
              <a:t>API bị nghẽn, làm sập hệ thống.</a:t>
            </a:r>
          </a:p>
          <a:p>
            <a:pPr lvl="1"/>
            <a:r>
              <a:rPr lang="vi-VN" dirty="0">
                <a:solidFill>
                  <a:srgbClr val="0000CC"/>
                </a:solidFill>
                <a:latin typeface="Rockwell" panose="02060603020205020403" pitchFamily="18" charset="0"/>
                <a:ea typeface="+mj-ea"/>
                <a:cs typeface="+mj-cs"/>
              </a:rPr>
              <a:t>Người dùng hợp pháp không thể truy cập dịch </a:t>
            </a:r>
            <a:r>
              <a:rPr lang="vi-VN" dirty="0" smtClean="0">
                <a:solidFill>
                  <a:srgbClr val="0000CC"/>
                </a:solidFill>
                <a:latin typeface="Rockwell" panose="02060603020205020403" pitchFamily="18" charset="0"/>
                <a:ea typeface="+mj-ea"/>
                <a:cs typeface="+mj-cs"/>
              </a:rPr>
              <a:t>vụ.</a:t>
            </a:r>
            <a:endParaRPr lang="en-US" dirty="0" smtClean="0">
              <a:solidFill>
                <a:srgbClr val="0000CC"/>
              </a:solidFill>
              <a:latin typeface="Rockwell" panose="02060603020205020403" pitchFamily="18" charset="0"/>
              <a:ea typeface="+mj-ea"/>
              <a:cs typeface="+mj-cs"/>
            </a:endParaRPr>
          </a:p>
          <a:p>
            <a:pPr marL="0" lvl="1" indent="0">
              <a:buNone/>
            </a:pPr>
            <a:r>
              <a:rPr lang="vi-VN" dirty="0">
                <a:solidFill>
                  <a:srgbClr val="0000CC"/>
                </a:solidFill>
                <a:latin typeface="Rockwell" panose="02060603020205020403" pitchFamily="18" charset="0"/>
                <a:ea typeface="+mj-ea"/>
                <a:cs typeface="+mj-cs"/>
              </a:rPr>
              <a:t>Ví dụ thực tế:</a:t>
            </a:r>
          </a:p>
          <a:p>
            <a:pPr marL="341313" indent="0">
              <a:buNone/>
              <a:tabLst>
                <a:tab pos="109538" algn="l"/>
              </a:tabLst>
            </a:pPr>
            <a:r>
              <a:rPr lang="vi-VN" dirty="0">
                <a:solidFill>
                  <a:srgbClr val="0000CC"/>
                </a:solidFill>
                <a:latin typeface="Rockwell" panose="02060603020205020403" pitchFamily="18" charset="0"/>
                <a:ea typeface="+mj-ea"/>
                <a:cs typeface="+mj-cs"/>
              </a:rPr>
              <a:t>Một dịch vụ API tính phí không giới hạn request → hacker dùng script gọi hàng triệu lần/giây → nghẽn hệ thống, tổn thất dịch vụ.</a:t>
            </a:r>
          </a:p>
          <a:p>
            <a:pPr marL="0" indent="0">
              <a:buNone/>
            </a:pPr>
            <a:endParaRPr lang="en-US" dirty="0"/>
          </a:p>
        </p:txBody>
      </p:sp>
    </p:spTree>
    <p:extLst>
      <p:ext uri="{BB962C8B-B14F-4D97-AF65-F5344CB8AC3E}">
        <p14:creationId xmlns:p14="http://schemas.microsoft.com/office/powerpoint/2010/main" val="42035196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5.2. </a:t>
            </a:r>
            <a:r>
              <a:rPr lang="en-US" sz="2800" b="1" dirty="0" err="1" smtClean="0">
                <a:solidFill>
                  <a:srgbClr val="0000CC"/>
                </a:solidFill>
                <a:latin typeface="Rockwell" panose="02060603020205020403" pitchFamily="18" charset="0"/>
              </a:rPr>
              <a:t>Mối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đe</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doạ</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đối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với</a:t>
            </a:r>
            <a:r>
              <a:rPr lang="en-US" sz="2800" b="1" dirty="0" smtClean="0">
                <a:solidFill>
                  <a:srgbClr val="0000CC"/>
                </a:solidFill>
                <a:latin typeface="Rockwell" panose="02060603020205020403" pitchFamily="18" charset="0"/>
              </a:rPr>
              <a:t> API</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vi-VN" b="1" dirty="0" smtClean="0">
                <a:solidFill>
                  <a:srgbClr val="0000CC"/>
                </a:solidFill>
                <a:latin typeface="Rockwell" panose="02060603020205020403" pitchFamily="18" charset="0"/>
                <a:ea typeface="+mj-ea"/>
                <a:cs typeface="+mj-cs"/>
              </a:rPr>
              <a:t>4</a:t>
            </a:r>
            <a:r>
              <a:rPr lang="vi-VN" b="1" dirty="0">
                <a:solidFill>
                  <a:srgbClr val="0000CC"/>
                </a:solidFill>
                <a:latin typeface="Rockwell" panose="02060603020205020403" pitchFamily="18" charset="0"/>
                <a:ea typeface="+mj-ea"/>
                <a:cs typeface="+mj-cs"/>
              </a:rPr>
              <a:t>. Data Exposure – Rò rỉ dữ liệu</a:t>
            </a:r>
          </a:p>
          <a:p>
            <a:pPr marL="0" indent="0">
              <a:buNone/>
            </a:pPr>
            <a:r>
              <a:rPr lang="vi-VN" dirty="0" smtClean="0">
                <a:solidFill>
                  <a:srgbClr val="0000CC"/>
                </a:solidFill>
                <a:latin typeface="Rockwell" panose="02060603020205020403" pitchFamily="18" charset="0"/>
                <a:ea typeface="+mj-ea"/>
                <a:cs typeface="+mj-cs"/>
              </a:rPr>
              <a:t>API </a:t>
            </a:r>
            <a:r>
              <a:rPr lang="vi-VN" dirty="0">
                <a:solidFill>
                  <a:srgbClr val="0000CC"/>
                </a:solidFill>
                <a:latin typeface="Rockwell" panose="02060603020205020403" pitchFamily="18" charset="0"/>
                <a:ea typeface="+mj-ea"/>
                <a:cs typeface="+mj-cs"/>
              </a:rPr>
              <a:t>trả về quá nhiều thông tin, hoặc không mã hóa dữ liệu nhạy cảm khi truyền tải.</a:t>
            </a:r>
          </a:p>
          <a:p>
            <a:pPr marL="0" indent="0">
              <a:buNone/>
            </a:pPr>
            <a:r>
              <a:rPr lang="vi-VN" dirty="0">
                <a:solidFill>
                  <a:srgbClr val="0000CC"/>
                </a:solidFill>
                <a:latin typeface="Rockwell" panose="02060603020205020403" pitchFamily="18" charset="0"/>
                <a:ea typeface="+mj-ea"/>
                <a:cs typeface="+mj-cs"/>
              </a:rPr>
              <a:t>Hậu quả:</a:t>
            </a:r>
          </a:p>
          <a:p>
            <a:pPr lvl="1"/>
            <a:r>
              <a:rPr lang="vi-VN" dirty="0">
                <a:solidFill>
                  <a:srgbClr val="0000CC"/>
                </a:solidFill>
                <a:latin typeface="Rockwell" panose="02060603020205020403" pitchFamily="18" charset="0"/>
                <a:ea typeface="+mj-ea"/>
                <a:cs typeface="+mj-cs"/>
              </a:rPr>
              <a:t>Lộ số thẻ tín dụng, thông tin cá nhân, dữ liệu khách hàng.</a:t>
            </a:r>
          </a:p>
          <a:p>
            <a:pPr lvl="1"/>
            <a:r>
              <a:rPr lang="vi-VN" dirty="0">
                <a:solidFill>
                  <a:srgbClr val="0000CC"/>
                </a:solidFill>
                <a:latin typeface="Rockwell" panose="02060603020205020403" pitchFamily="18" charset="0"/>
                <a:ea typeface="+mj-ea"/>
                <a:cs typeface="+mj-cs"/>
              </a:rPr>
              <a:t>Tổ chức đối mặt rủi ro pháp lý (GDPR, HIPAA, PCI DSS…).</a:t>
            </a:r>
          </a:p>
          <a:p>
            <a:pPr marL="0" indent="0">
              <a:buNone/>
            </a:pPr>
            <a:r>
              <a:rPr lang="vi-VN" dirty="0">
                <a:solidFill>
                  <a:srgbClr val="0000CC"/>
                </a:solidFill>
                <a:latin typeface="Rockwell" panose="02060603020205020403" pitchFamily="18" charset="0"/>
                <a:ea typeface="+mj-ea"/>
                <a:cs typeface="+mj-cs"/>
              </a:rPr>
              <a:t>Ví dụ thực tế:</a:t>
            </a:r>
          </a:p>
          <a:p>
            <a:pPr marL="341313" indent="0">
              <a:buNone/>
            </a:pPr>
            <a:r>
              <a:rPr lang="vi-VN" dirty="0">
                <a:solidFill>
                  <a:srgbClr val="0000CC"/>
                </a:solidFill>
                <a:latin typeface="Rockwell" panose="02060603020205020403" pitchFamily="18" charset="0"/>
                <a:ea typeface="+mj-ea"/>
                <a:cs typeface="+mj-cs"/>
              </a:rPr>
              <a:t>Vụ Strava 2018: API của ứng dụng fitness tiết lộ dữ liệu hành trình của binh sĩ Mỹ tại căn cứ quân sự → rò rỉ thông tin an ninh quốc gia.</a:t>
            </a:r>
            <a:endParaRPr lang="en-US" dirty="0"/>
          </a:p>
        </p:txBody>
      </p:sp>
    </p:spTree>
    <p:extLst>
      <p:ext uri="{BB962C8B-B14F-4D97-AF65-F5344CB8AC3E}">
        <p14:creationId xmlns:p14="http://schemas.microsoft.com/office/powerpoint/2010/main" val="36909596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5.2. </a:t>
            </a:r>
            <a:r>
              <a:rPr lang="en-US" sz="2800" b="1" dirty="0" err="1" smtClean="0">
                <a:solidFill>
                  <a:srgbClr val="0000CC"/>
                </a:solidFill>
                <a:latin typeface="Rockwell" panose="02060603020205020403" pitchFamily="18" charset="0"/>
              </a:rPr>
              <a:t>Mối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đe</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doạ</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đối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với</a:t>
            </a:r>
            <a:r>
              <a:rPr lang="en-US" sz="2800" b="1" dirty="0" smtClean="0">
                <a:solidFill>
                  <a:srgbClr val="0000CC"/>
                </a:solidFill>
                <a:latin typeface="Rockwell" panose="02060603020205020403" pitchFamily="18" charset="0"/>
              </a:rPr>
              <a:t> API</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092520" cy="4382729"/>
          </a:xfrm>
        </p:spPr>
        <p:txBody>
          <a:bodyPr/>
          <a:lstStyle/>
          <a:p>
            <a:pPr marL="0" indent="0">
              <a:buNone/>
            </a:pPr>
            <a:r>
              <a:rPr lang="vi-VN" b="1" dirty="0">
                <a:solidFill>
                  <a:srgbClr val="0000CC"/>
                </a:solidFill>
                <a:latin typeface="Rockwell" panose="02060603020205020403" pitchFamily="18" charset="0"/>
                <a:ea typeface="+mj-ea"/>
                <a:cs typeface="+mj-cs"/>
              </a:rPr>
              <a:t>Kết luận:</a:t>
            </a:r>
          </a:p>
          <a:p>
            <a:pPr marL="395288" indent="0" algn="just">
              <a:buNone/>
            </a:pPr>
            <a:r>
              <a:rPr lang="vi-VN" dirty="0">
                <a:solidFill>
                  <a:srgbClr val="0000CC"/>
                </a:solidFill>
                <a:latin typeface="Rockwell" panose="02060603020205020403" pitchFamily="18" charset="0"/>
                <a:ea typeface="+mj-ea"/>
                <a:cs typeface="+mj-cs"/>
              </a:rPr>
              <a:t>API là cửa ngõ dữ liệu, nếu không kiểm soát tốt sẽ trở thành điểm yếu </a:t>
            </a:r>
            <a:r>
              <a:rPr lang="en-US" dirty="0" err="1" smtClean="0">
                <a:solidFill>
                  <a:srgbClr val="0000CC"/>
                </a:solidFill>
                <a:latin typeface="Rockwell" panose="02060603020205020403" pitchFamily="18" charset="0"/>
                <a:ea typeface="+mj-ea"/>
                <a:cs typeface="+mj-cs"/>
              </a:rPr>
              <a:t>nghiêm</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trọng</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của </a:t>
            </a:r>
            <a:r>
              <a:rPr lang="vi-VN" dirty="0">
                <a:solidFill>
                  <a:srgbClr val="0000CC"/>
                </a:solidFill>
                <a:latin typeface="Rockwell" panose="02060603020205020403" pitchFamily="18" charset="0"/>
                <a:ea typeface="+mj-ea"/>
                <a:cs typeface="+mj-cs"/>
              </a:rPr>
              <a:t>hệ thống. Việc phòng thủ cần tập trung vào ngăn injection, xác thực/ủy quyền chặt chẽ, giới hạn truy cập hợp lý và mã hóa dữ liệu nhạy cảm.</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3078253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996287" y="112594"/>
            <a:ext cx="10242645" cy="528851"/>
          </a:xfrm>
        </p:spPr>
        <p:txBody>
          <a:bodyPr/>
          <a:lstStyle/>
          <a:p>
            <a:r>
              <a:rPr lang="en-US" sz="2400" b="1" dirty="0" smtClean="0">
                <a:solidFill>
                  <a:srgbClr val="0000CC"/>
                </a:solidFill>
                <a:latin typeface="Rockwell" panose="02060603020205020403" pitchFamily="18" charset="0"/>
              </a:rPr>
              <a:t>5.2. </a:t>
            </a:r>
            <a:r>
              <a:rPr lang="en-US" sz="2400" b="1" dirty="0" err="1" smtClean="0">
                <a:solidFill>
                  <a:srgbClr val="0000CC"/>
                </a:solidFill>
                <a:latin typeface="Rockwell" panose="02060603020205020403" pitchFamily="18" charset="0"/>
              </a:rPr>
              <a:t>Mối</a:t>
            </a:r>
            <a:r>
              <a:rPr lang="en-US" sz="2400" b="1" dirty="0" smtClean="0">
                <a:solidFill>
                  <a:srgbClr val="0000CC"/>
                </a:solidFill>
                <a:latin typeface="Rockwell" panose="02060603020205020403" pitchFamily="18" charset="0"/>
              </a:rPr>
              <a:t> </a:t>
            </a:r>
            <a:r>
              <a:rPr lang="en-US" sz="2400" b="1" dirty="0" err="1" smtClean="0">
                <a:solidFill>
                  <a:srgbClr val="0000CC"/>
                </a:solidFill>
                <a:latin typeface="Rockwell" panose="02060603020205020403" pitchFamily="18" charset="0"/>
              </a:rPr>
              <a:t>đe</a:t>
            </a:r>
            <a:r>
              <a:rPr lang="en-US" sz="2400" b="1" dirty="0" smtClean="0">
                <a:solidFill>
                  <a:srgbClr val="0000CC"/>
                </a:solidFill>
                <a:latin typeface="Rockwell" panose="02060603020205020403" pitchFamily="18" charset="0"/>
              </a:rPr>
              <a:t> </a:t>
            </a:r>
            <a:r>
              <a:rPr lang="en-US" sz="2400" b="1" dirty="0" err="1" smtClean="0">
                <a:solidFill>
                  <a:srgbClr val="0000CC"/>
                </a:solidFill>
                <a:latin typeface="Rockwell" panose="02060603020205020403" pitchFamily="18" charset="0"/>
              </a:rPr>
              <a:t>doạ</a:t>
            </a:r>
            <a:r>
              <a:rPr lang="en-US" sz="2400" b="1" dirty="0" smtClean="0">
                <a:solidFill>
                  <a:srgbClr val="0000CC"/>
                </a:solidFill>
                <a:latin typeface="Rockwell" panose="02060603020205020403" pitchFamily="18" charset="0"/>
              </a:rPr>
              <a:t> </a:t>
            </a:r>
            <a:r>
              <a:rPr lang="en-US" sz="2400" b="1" dirty="0" err="1" smtClean="0">
                <a:solidFill>
                  <a:srgbClr val="0000CC"/>
                </a:solidFill>
                <a:latin typeface="Rockwell" panose="02060603020205020403" pitchFamily="18" charset="0"/>
              </a:rPr>
              <a:t>đối</a:t>
            </a:r>
            <a:r>
              <a:rPr lang="en-US" sz="2400" b="1" dirty="0" smtClean="0">
                <a:solidFill>
                  <a:srgbClr val="0000CC"/>
                </a:solidFill>
                <a:latin typeface="Rockwell" panose="02060603020205020403" pitchFamily="18" charset="0"/>
              </a:rPr>
              <a:t> </a:t>
            </a:r>
            <a:r>
              <a:rPr lang="en-US" sz="2400" b="1" dirty="0" err="1" smtClean="0">
                <a:solidFill>
                  <a:srgbClr val="0000CC"/>
                </a:solidFill>
                <a:latin typeface="Rockwell" panose="02060603020205020403" pitchFamily="18" charset="0"/>
              </a:rPr>
              <a:t>với</a:t>
            </a:r>
            <a:r>
              <a:rPr lang="en-US" sz="2400" b="1" dirty="0" smtClean="0">
                <a:solidFill>
                  <a:srgbClr val="0000CC"/>
                </a:solidFill>
                <a:latin typeface="Rockwell" panose="02060603020205020403" pitchFamily="18" charset="0"/>
              </a:rPr>
              <a:t> API</a:t>
            </a:r>
            <a:r>
              <a:rPr lang="vi-VN" sz="24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400" b="1" dirty="0">
              <a:solidFill>
                <a:srgbClr val="0000CC"/>
              </a:solidFill>
              <a:latin typeface="Rockwell" panose="02060603020205020403"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21211952"/>
              </p:ext>
            </p:extLst>
          </p:nvPr>
        </p:nvGraphicFramePr>
        <p:xfrm>
          <a:off x="996287" y="545911"/>
          <a:ext cx="11095628" cy="6143536"/>
        </p:xfrm>
        <a:graphic>
          <a:graphicData uri="http://schemas.openxmlformats.org/drawingml/2006/table">
            <a:tbl>
              <a:tblPr>
                <a:tableStyleId>{35758FB7-9AC5-4552-8A53-C91805E547FA}</a:tableStyleId>
              </a:tblPr>
              <a:tblGrid>
                <a:gridCol w="2773907">
                  <a:extLst>
                    <a:ext uri="{9D8B030D-6E8A-4147-A177-3AD203B41FA5}">
                      <a16:colId xmlns:a16="http://schemas.microsoft.com/office/drawing/2014/main" val="3829933431"/>
                    </a:ext>
                  </a:extLst>
                </a:gridCol>
                <a:gridCol w="2773907">
                  <a:extLst>
                    <a:ext uri="{9D8B030D-6E8A-4147-A177-3AD203B41FA5}">
                      <a16:colId xmlns:a16="http://schemas.microsoft.com/office/drawing/2014/main" val="2493784103"/>
                    </a:ext>
                  </a:extLst>
                </a:gridCol>
                <a:gridCol w="2773907">
                  <a:extLst>
                    <a:ext uri="{9D8B030D-6E8A-4147-A177-3AD203B41FA5}">
                      <a16:colId xmlns:a16="http://schemas.microsoft.com/office/drawing/2014/main" val="42634990"/>
                    </a:ext>
                  </a:extLst>
                </a:gridCol>
                <a:gridCol w="2773907">
                  <a:extLst>
                    <a:ext uri="{9D8B030D-6E8A-4147-A177-3AD203B41FA5}">
                      <a16:colId xmlns:a16="http://schemas.microsoft.com/office/drawing/2014/main" val="4050868208"/>
                    </a:ext>
                  </a:extLst>
                </a:gridCol>
              </a:tblGrid>
              <a:tr h="417514">
                <a:tc>
                  <a:txBody>
                    <a:bodyPr/>
                    <a:lstStyle/>
                    <a:p>
                      <a:r>
                        <a:rPr lang="en-US" sz="2000" dirty="0" err="1">
                          <a:solidFill>
                            <a:srgbClr val="0000CC"/>
                          </a:solidFill>
                          <a:latin typeface="Rockwell" panose="02060603020205020403" pitchFamily="18" charset="0"/>
                        </a:rPr>
                        <a:t>Mối</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đe</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dọa</a:t>
                      </a:r>
                      <a:r>
                        <a:rPr lang="en-US" sz="2000" dirty="0">
                          <a:solidFill>
                            <a:srgbClr val="0000CC"/>
                          </a:solidFill>
                          <a:latin typeface="Rockwell" panose="02060603020205020403" pitchFamily="18" charset="0"/>
                        </a:rPr>
                        <a:t> API</a:t>
                      </a:r>
                    </a:p>
                  </a:txBody>
                  <a:tcPr marL="63500" marR="63500" marT="31750" marB="31750" anchor="ctr"/>
                </a:tc>
                <a:tc>
                  <a:txBody>
                    <a:bodyPr/>
                    <a:lstStyle/>
                    <a:p>
                      <a:r>
                        <a:rPr lang="en-US" sz="2000">
                          <a:solidFill>
                            <a:srgbClr val="0000CC"/>
                          </a:solidFill>
                          <a:latin typeface="Rockwell" panose="02060603020205020403" pitchFamily="18" charset="0"/>
                        </a:rPr>
                        <a:t>Mô tả</a:t>
                      </a:r>
                    </a:p>
                  </a:txBody>
                  <a:tcPr marL="63500" marR="63500" marT="31750" marB="31750" anchor="ctr"/>
                </a:tc>
                <a:tc>
                  <a:txBody>
                    <a:bodyPr/>
                    <a:lstStyle/>
                    <a:p>
                      <a:r>
                        <a:rPr lang="en-US" sz="2000">
                          <a:solidFill>
                            <a:srgbClr val="0000CC"/>
                          </a:solidFill>
                          <a:latin typeface="Rockwell" panose="02060603020205020403" pitchFamily="18" charset="0"/>
                        </a:rPr>
                        <a:t>Ví dụ minh hoạ</a:t>
                      </a:r>
                    </a:p>
                  </a:txBody>
                  <a:tcPr marL="63500" marR="63500" marT="31750" marB="31750" anchor="ctr"/>
                </a:tc>
                <a:tc>
                  <a:txBody>
                    <a:bodyPr/>
                    <a:lstStyle/>
                    <a:p>
                      <a:r>
                        <a:rPr lang="en-US" sz="2000">
                          <a:solidFill>
                            <a:srgbClr val="0000CC"/>
                          </a:solidFill>
                          <a:latin typeface="Rockwell" panose="02060603020205020403" pitchFamily="18" charset="0"/>
                        </a:rPr>
                        <a:t>Biện pháp phòng thủ</a:t>
                      </a:r>
                    </a:p>
                  </a:txBody>
                  <a:tcPr marL="63500" marR="63500" marT="31750" marB="31750" anchor="ctr"/>
                </a:tc>
                <a:extLst>
                  <a:ext uri="{0D108BD9-81ED-4DB2-BD59-A6C34878D82A}">
                    <a16:rowId xmlns:a16="http://schemas.microsoft.com/office/drawing/2014/main" val="3984197271"/>
                  </a:ext>
                </a:extLst>
              </a:tr>
              <a:tr h="1251144">
                <a:tc>
                  <a:txBody>
                    <a:bodyPr/>
                    <a:lstStyle/>
                    <a:p>
                      <a:r>
                        <a:rPr lang="en-US" sz="2000" dirty="0">
                          <a:solidFill>
                            <a:srgbClr val="0000CC"/>
                          </a:solidFill>
                          <a:latin typeface="Rockwell" panose="02060603020205020403" pitchFamily="18" charset="0"/>
                        </a:rPr>
                        <a:t>API Injection (</a:t>
                      </a:r>
                      <a:r>
                        <a:rPr lang="en-US" sz="2000" dirty="0" err="1">
                          <a:solidFill>
                            <a:srgbClr val="0000CC"/>
                          </a:solidFill>
                          <a:latin typeface="Rockwell" panose="02060603020205020403" pitchFamily="18" charset="0"/>
                        </a:rPr>
                        <a:t>SQLi</a:t>
                      </a:r>
                      <a:r>
                        <a:rPr lang="en-US" sz="2000" dirty="0">
                          <a:solidFill>
                            <a:srgbClr val="0000CC"/>
                          </a:solidFill>
                          <a:latin typeface="Rockwell" panose="02060603020205020403" pitchFamily="18" charset="0"/>
                        </a:rPr>
                        <a:t>, Command Injection)</a:t>
                      </a:r>
                    </a:p>
                  </a:txBody>
                  <a:tcPr marL="63500" marR="63500" marT="31750" marB="31750" anchor="ctr"/>
                </a:tc>
                <a:tc>
                  <a:txBody>
                    <a:bodyPr/>
                    <a:lstStyle/>
                    <a:p>
                      <a:r>
                        <a:rPr lang="en-US" sz="2000" dirty="0">
                          <a:solidFill>
                            <a:srgbClr val="0000CC"/>
                          </a:solidFill>
                          <a:latin typeface="Rockwell" panose="02060603020205020403" pitchFamily="18" charset="0"/>
                        </a:rPr>
                        <a:t>Hacker </a:t>
                      </a:r>
                      <a:r>
                        <a:rPr lang="en-US" sz="2000" dirty="0" err="1">
                          <a:solidFill>
                            <a:srgbClr val="0000CC"/>
                          </a:solidFill>
                          <a:latin typeface="Rockwell" panose="02060603020205020403" pitchFamily="18" charset="0"/>
                        </a:rPr>
                        <a:t>chèn</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mã</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độc</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vào</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tham</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số</a:t>
                      </a:r>
                      <a:r>
                        <a:rPr lang="en-US" sz="2000" dirty="0">
                          <a:solidFill>
                            <a:srgbClr val="0000CC"/>
                          </a:solidFill>
                          <a:latin typeface="Rockwell" panose="02060603020205020403" pitchFamily="18" charset="0"/>
                        </a:rPr>
                        <a:t> API </a:t>
                      </a:r>
                      <a:r>
                        <a:rPr lang="en-US" sz="2000" dirty="0" err="1">
                          <a:solidFill>
                            <a:srgbClr val="0000CC"/>
                          </a:solidFill>
                          <a:latin typeface="Rockwell" panose="02060603020205020403" pitchFamily="18" charset="0"/>
                        </a:rPr>
                        <a:t>để</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điều</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khiển</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hệ</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thống</a:t>
                      </a:r>
                      <a:endParaRPr lang="en-US" sz="2000" dirty="0">
                        <a:solidFill>
                          <a:srgbClr val="0000CC"/>
                        </a:solidFill>
                        <a:latin typeface="Rockwell" panose="02060603020205020403" pitchFamily="18" charset="0"/>
                      </a:endParaRPr>
                    </a:p>
                  </a:txBody>
                  <a:tcPr marL="63500" marR="63500" marT="31750" marB="31750" anchor="ctr"/>
                </a:tc>
                <a:tc>
                  <a:txBody>
                    <a:bodyPr/>
                    <a:lstStyle/>
                    <a:p>
                      <a:r>
                        <a:rPr lang="en-US" sz="2000">
                          <a:solidFill>
                            <a:srgbClr val="0000CC"/>
                          </a:solidFill>
                          <a:latin typeface="Rockwell" panose="02060603020205020403" pitchFamily="18" charset="0"/>
                        </a:rPr>
                        <a:t>POST /api/login { "user":"admin' OR '1'='1", "pass":"x" } → Bypass login</a:t>
                      </a:r>
                    </a:p>
                  </a:txBody>
                  <a:tcPr marL="63500" marR="63500" marT="31750" marB="31750" anchor="ctr"/>
                </a:tc>
                <a:tc>
                  <a:txBody>
                    <a:bodyPr/>
                    <a:lstStyle/>
                    <a:p>
                      <a:r>
                        <a:rPr lang="en-US" sz="2000" dirty="0" err="1">
                          <a:solidFill>
                            <a:srgbClr val="0000CC"/>
                          </a:solidFill>
                          <a:latin typeface="Rockwell" panose="02060603020205020403" pitchFamily="18" charset="0"/>
                        </a:rPr>
                        <a:t>Dùng</a:t>
                      </a:r>
                      <a:r>
                        <a:rPr lang="en-US" sz="2000" dirty="0">
                          <a:solidFill>
                            <a:srgbClr val="0000CC"/>
                          </a:solidFill>
                          <a:latin typeface="Rockwell" panose="02060603020205020403" pitchFamily="18" charset="0"/>
                        </a:rPr>
                        <a:t> Prepared Statement, validate input, </a:t>
                      </a:r>
                      <a:r>
                        <a:rPr lang="en-US" sz="2000" dirty="0" err="1">
                          <a:solidFill>
                            <a:srgbClr val="0000CC"/>
                          </a:solidFill>
                          <a:latin typeface="Rockwell" panose="02060603020205020403" pitchFamily="18" charset="0"/>
                        </a:rPr>
                        <a:t>WAF</a:t>
                      </a:r>
                      <a:endParaRPr lang="en-US" sz="2000" dirty="0">
                        <a:solidFill>
                          <a:srgbClr val="0000CC"/>
                        </a:solidFill>
                        <a:latin typeface="Rockwell" panose="02060603020205020403" pitchFamily="18" charset="0"/>
                      </a:endParaRPr>
                    </a:p>
                  </a:txBody>
                  <a:tcPr marL="63500" marR="63500" marT="31750" marB="31750" anchor="ctr"/>
                </a:tc>
                <a:extLst>
                  <a:ext uri="{0D108BD9-81ED-4DB2-BD59-A6C34878D82A}">
                    <a16:rowId xmlns:a16="http://schemas.microsoft.com/office/drawing/2014/main" val="968964217"/>
                  </a:ext>
                </a:extLst>
              </a:tr>
              <a:tr h="953842">
                <a:tc>
                  <a:txBody>
                    <a:bodyPr/>
                    <a:lstStyle/>
                    <a:p>
                      <a:r>
                        <a:rPr lang="en-US" sz="2000" dirty="0">
                          <a:solidFill>
                            <a:srgbClr val="0000CC"/>
                          </a:solidFill>
                          <a:latin typeface="Rockwell" panose="02060603020205020403" pitchFamily="18" charset="0"/>
                        </a:rPr>
                        <a:t>Broken Authentication / Authorization</a:t>
                      </a:r>
                    </a:p>
                  </a:txBody>
                  <a:tcPr marL="63500" marR="63500" marT="31750" marB="31750" anchor="ctr"/>
                </a:tc>
                <a:tc>
                  <a:txBody>
                    <a:bodyPr/>
                    <a:lstStyle/>
                    <a:p>
                      <a:r>
                        <a:rPr lang="en-US" sz="2000" dirty="0">
                          <a:solidFill>
                            <a:srgbClr val="0000CC"/>
                          </a:solidFill>
                          <a:latin typeface="Rockwell" panose="02060603020205020403" pitchFamily="18" charset="0"/>
                        </a:rPr>
                        <a:t>API </a:t>
                      </a:r>
                      <a:r>
                        <a:rPr lang="en-US" sz="2000" dirty="0" err="1">
                          <a:solidFill>
                            <a:srgbClr val="0000CC"/>
                          </a:solidFill>
                          <a:latin typeface="Rockwell" panose="02060603020205020403" pitchFamily="18" charset="0"/>
                        </a:rPr>
                        <a:t>xác</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thực</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yếu</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phân</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quyền</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sai</a:t>
                      </a:r>
                      <a:r>
                        <a:rPr lang="en-US" sz="2000" dirty="0">
                          <a:solidFill>
                            <a:srgbClr val="0000CC"/>
                          </a:solidFill>
                          <a:latin typeface="Rockwell" panose="02060603020205020403" pitchFamily="18" charset="0"/>
                        </a:rPr>
                        <a:t> → </a:t>
                      </a:r>
                      <a:r>
                        <a:rPr lang="en-US" sz="2000" dirty="0" err="1">
                          <a:solidFill>
                            <a:srgbClr val="0000CC"/>
                          </a:solidFill>
                          <a:latin typeface="Rockwell" panose="02060603020205020403" pitchFamily="18" charset="0"/>
                        </a:rPr>
                        <a:t>lộ</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dữ</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liệu</a:t>
                      </a:r>
                      <a:endParaRPr lang="en-US" sz="2000" dirty="0">
                        <a:solidFill>
                          <a:srgbClr val="0000CC"/>
                        </a:solidFill>
                        <a:latin typeface="Rockwell" panose="02060603020205020403" pitchFamily="18" charset="0"/>
                      </a:endParaRPr>
                    </a:p>
                  </a:txBody>
                  <a:tcPr marL="63500" marR="63500" marT="31750" marB="31750" anchor="ctr"/>
                </a:tc>
                <a:tc>
                  <a:txBody>
                    <a:bodyPr/>
                    <a:lstStyle/>
                    <a:p>
                      <a:r>
                        <a:rPr lang="vi-VN" sz="2000" dirty="0">
                          <a:solidFill>
                            <a:srgbClr val="0000CC"/>
                          </a:solidFill>
                        </a:rPr>
                        <a:t>GET /api/users/124 → xem thông tin người khác (IDOR)</a:t>
                      </a:r>
                    </a:p>
                  </a:txBody>
                  <a:tcPr marL="63500" marR="63500" marT="31750" marB="31750" anchor="ctr"/>
                </a:tc>
                <a:tc>
                  <a:txBody>
                    <a:bodyPr/>
                    <a:lstStyle/>
                    <a:p>
                      <a:r>
                        <a:rPr lang="en-US" sz="2000" dirty="0" err="1">
                          <a:solidFill>
                            <a:srgbClr val="0000CC"/>
                          </a:solidFill>
                          <a:latin typeface="Rockwell" panose="02060603020205020403" pitchFamily="18" charset="0"/>
                        </a:rPr>
                        <a:t>Sử</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dụng</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JWT</a:t>
                      </a:r>
                      <a:r>
                        <a:rPr lang="en-US" sz="2000" dirty="0">
                          <a:solidFill>
                            <a:srgbClr val="0000CC"/>
                          </a:solidFill>
                          <a:latin typeface="Rockwell" panose="02060603020205020403" pitchFamily="18" charset="0"/>
                        </a:rPr>
                        <a:t>/</a:t>
                      </a:r>
                      <a:r>
                        <a:rPr lang="en-US" sz="2000" dirty="0" err="1">
                          <a:solidFill>
                            <a:srgbClr val="0000CC"/>
                          </a:solidFill>
                          <a:latin typeface="Rockwell" panose="02060603020205020403" pitchFamily="18" charset="0"/>
                        </a:rPr>
                        <a:t>OAuth2</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kiểm</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tra</a:t>
                      </a:r>
                      <a:r>
                        <a:rPr lang="en-US" sz="2000" dirty="0">
                          <a:solidFill>
                            <a:srgbClr val="0000CC"/>
                          </a:solidFill>
                          <a:latin typeface="Rockwell" panose="02060603020205020403" pitchFamily="18" charset="0"/>
                        </a:rPr>
                        <a:t> role, enforce </a:t>
                      </a:r>
                      <a:r>
                        <a:rPr lang="en-US" sz="2000" dirty="0" err="1">
                          <a:solidFill>
                            <a:srgbClr val="0000CC"/>
                          </a:solidFill>
                          <a:latin typeface="Rockwell" panose="02060603020205020403" pitchFamily="18" charset="0"/>
                        </a:rPr>
                        <a:t>RBAC</a:t>
                      </a:r>
                      <a:endParaRPr lang="en-US" sz="2000" dirty="0">
                        <a:solidFill>
                          <a:srgbClr val="0000CC"/>
                        </a:solidFill>
                        <a:latin typeface="Rockwell" panose="02060603020205020403" pitchFamily="18" charset="0"/>
                      </a:endParaRPr>
                    </a:p>
                  </a:txBody>
                  <a:tcPr marL="63500" marR="63500" marT="31750" marB="31750" anchor="ctr"/>
                </a:tc>
                <a:extLst>
                  <a:ext uri="{0D108BD9-81ED-4DB2-BD59-A6C34878D82A}">
                    <a16:rowId xmlns:a16="http://schemas.microsoft.com/office/drawing/2014/main" val="3414989329"/>
                  </a:ext>
                </a:extLst>
              </a:tr>
              <a:tr h="1251144">
                <a:tc>
                  <a:txBody>
                    <a:bodyPr/>
                    <a:lstStyle/>
                    <a:p>
                      <a:r>
                        <a:rPr lang="en-US" sz="2000">
                          <a:solidFill>
                            <a:srgbClr val="0000CC"/>
                          </a:solidFill>
                          <a:latin typeface="Rockwell" panose="02060603020205020403" pitchFamily="18" charset="0"/>
                        </a:rPr>
                        <a:t>Rate Limiting kém → DDoS</a:t>
                      </a:r>
                    </a:p>
                  </a:txBody>
                  <a:tcPr marL="63500" marR="63500" marT="31750" marB="31750" anchor="ctr"/>
                </a:tc>
                <a:tc>
                  <a:txBody>
                    <a:bodyPr/>
                    <a:lstStyle/>
                    <a:p>
                      <a:r>
                        <a:rPr lang="en-US" sz="2000" dirty="0">
                          <a:solidFill>
                            <a:srgbClr val="0000CC"/>
                          </a:solidFill>
                          <a:latin typeface="Rockwell" panose="02060603020205020403" pitchFamily="18" charset="0"/>
                        </a:rPr>
                        <a:t>API </a:t>
                      </a:r>
                      <a:r>
                        <a:rPr lang="en-US" sz="2000" dirty="0" err="1">
                          <a:solidFill>
                            <a:srgbClr val="0000CC"/>
                          </a:solidFill>
                          <a:latin typeface="Rockwell" panose="02060603020205020403" pitchFamily="18" charset="0"/>
                        </a:rPr>
                        <a:t>không</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giới</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hạn</a:t>
                      </a:r>
                      <a:r>
                        <a:rPr lang="en-US" sz="2000" dirty="0">
                          <a:solidFill>
                            <a:srgbClr val="0000CC"/>
                          </a:solidFill>
                          <a:latin typeface="Rockwell" panose="02060603020205020403" pitchFamily="18" charset="0"/>
                        </a:rPr>
                        <a:t> request → hacker spam </a:t>
                      </a:r>
                      <a:r>
                        <a:rPr lang="en-US" sz="2000" dirty="0" err="1">
                          <a:solidFill>
                            <a:srgbClr val="0000CC"/>
                          </a:solidFill>
                          <a:latin typeface="Rockwell" panose="02060603020205020403" pitchFamily="18" charset="0"/>
                        </a:rPr>
                        <a:t>hàng</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triệu</a:t>
                      </a:r>
                      <a:r>
                        <a:rPr lang="en-US" sz="2000" dirty="0">
                          <a:solidFill>
                            <a:srgbClr val="0000CC"/>
                          </a:solidFill>
                          <a:latin typeface="Rockwell" panose="02060603020205020403" pitchFamily="18" charset="0"/>
                        </a:rPr>
                        <a:t> request</a:t>
                      </a:r>
                    </a:p>
                  </a:txBody>
                  <a:tcPr marL="63500" marR="63500" marT="31750" marB="31750" anchor="ctr"/>
                </a:tc>
                <a:tc>
                  <a:txBody>
                    <a:bodyPr/>
                    <a:lstStyle/>
                    <a:p>
                      <a:r>
                        <a:rPr lang="en-US" sz="2000" dirty="0">
                          <a:solidFill>
                            <a:srgbClr val="0000CC"/>
                          </a:solidFill>
                          <a:latin typeface="Rockwell" panose="02060603020205020403" pitchFamily="18" charset="0"/>
                        </a:rPr>
                        <a:t>Script spam GET /</a:t>
                      </a:r>
                      <a:r>
                        <a:rPr lang="en-US" sz="2000" dirty="0" err="1">
                          <a:solidFill>
                            <a:srgbClr val="0000CC"/>
                          </a:solidFill>
                          <a:latin typeface="Rockwell" panose="02060603020205020403" pitchFamily="18" charset="0"/>
                        </a:rPr>
                        <a:t>api</a:t>
                      </a:r>
                      <a:r>
                        <a:rPr lang="en-US" sz="2000" dirty="0">
                          <a:solidFill>
                            <a:srgbClr val="0000CC"/>
                          </a:solidFill>
                          <a:latin typeface="Rockwell" panose="02060603020205020403" pitchFamily="18" charset="0"/>
                        </a:rPr>
                        <a:t>/</a:t>
                      </a:r>
                      <a:r>
                        <a:rPr lang="en-US" sz="2000" dirty="0" err="1">
                          <a:solidFill>
                            <a:srgbClr val="0000CC"/>
                          </a:solidFill>
                          <a:latin typeface="Rockwell" panose="02060603020205020403" pitchFamily="18" charset="0"/>
                        </a:rPr>
                        <a:t>search?q</a:t>
                      </a:r>
                      <a:r>
                        <a:rPr lang="en-US" sz="2000" dirty="0">
                          <a:solidFill>
                            <a:srgbClr val="0000CC"/>
                          </a:solidFill>
                          <a:latin typeface="Rockwell" panose="02060603020205020403" pitchFamily="18" charset="0"/>
                        </a:rPr>
                        <a:t>=*</a:t>
                      </a:r>
                    </a:p>
                  </a:txBody>
                  <a:tcPr marL="63500" marR="63500" marT="31750" marB="31750" anchor="ctr"/>
                </a:tc>
                <a:tc>
                  <a:txBody>
                    <a:bodyPr/>
                    <a:lstStyle/>
                    <a:p>
                      <a:r>
                        <a:rPr lang="en-US" sz="2000" dirty="0" err="1">
                          <a:solidFill>
                            <a:srgbClr val="0000CC"/>
                          </a:solidFill>
                          <a:latin typeface="Rockwell" panose="02060603020205020403" pitchFamily="18" charset="0"/>
                        </a:rPr>
                        <a:t>Cấu</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hình</a:t>
                      </a:r>
                      <a:r>
                        <a:rPr lang="en-US" sz="2000" dirty="0">
                          <a:solidFill>
                            <a:srgbClr val="0000CC"/>
                          </a:solidFill>
                          <a:latin typeface="Rockwell" panose="02060603020205020403" pitchFamily="18" charset="0"/>
                        </a:rPr>
                        <a:t> Rate Limit, Throttling, Captcha, </a:t>
                      </a:r>
                      <a:r>
                        <a:rPr lang="en-US" sz="2000" dirty="0" err="1">
                          <a:solidFill>
                            <a:srgbClr val="0000CC"/>
                          </a:solidFill>
                          <a:latin typeface="Rockwell" panose="02060603020205020403" pitchFamily="18" charset="0"/>
                        </a:rPr>
                        <a:t>CDN</a:t>
                      </a:r>
                      <a:endParaRPr lang="en-US" sz="2000" dirty="0">
                        <a:solidFill>
                          <a:srgbClr val="0000CC"/>
                        </a:solidFill>
                        <a:latin typeface="Rockwell" panose="02060603020205020403" pitchFamily="18" charset="0"/>
                      </a:endParaRPr>
                    </a:p>
                  </a:txBody>
                  <a:tcPr marL="63500" marR="63500" marT="31750" marB="31750" anchor="ctr"/>
                </a:tc>
                <a:extLst>
                  <a:ext uri="{0D108BD9-81ED-4DB2-BD59-A6C34878D82A}">
                    <a16:rowId xmlns:a16="http://schemas.microsoft.com/office/drawing/2014/main" val="544382389"/>
                  </a:ext>
                </a:extLst>
              </a:tr>
              <a:tr h="953842">
                <a:tc>
                  <a:txBody>
                    <a:bodyPr/>
                    <a:lstStyle/>
                    <a:p>
                      <a:r>
                        <a:rPr lang="en-US" sz="2000">
                          <a:solidFill>
                            <a:srgbClr val="0000CC"/>
                          </a:solidFill>
                          <a:latin typeface="Rockwell" panose="02060603020205020403" pitchFamily="18" charset="0"/>
                        </a:rPr>
                        <a:t>Data Exposure (Rò rỉ dữ liệu)</a:t>
                      </a:r>
                    </a:p>
                  </a:txBody>
                  <a:tcPr marL="63500" marR="63500" marT="31750" marB="31750" anchor="ctr"/>
                </a:tc>
                <a:tc>
                  <a:txBody>
                    <a:bodyPr/>
                    <a:lstStyle/>
                    <a:p>
                      <a:r>
                        <a:rPr lang="en-US" sz="2000" dirty="0">
                          <a:solidFill>
                            <a:srgbClr val="0000CC"/>
                          </a:solidFill>
                          <a:latin typeface="Rockwell" panose="02060603020205020403" pitchFamily="18" charset="0"/>
                        </a:rPr>
                        <a:t>API </a:t>
                      </a:r>
                      <a:r>
                        <a:rPr lang="en-US" sz="2000" dirty="0" err="1">
                          <a:solidFill>
                            <a:srgbClr val="0000CC"/>
                          </a:solidFill>
                          <a:latin typeface="Rockwell" panose="02060603020205020403" pitchFamily="18" charset="0"/>
                        </a:rPr>
                        <a:t>trả</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về</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quá</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nhiều</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thông</a:t>
                      </a:r>
                      <a:r>
                        <a:rPr lang="en-US" sz="2000" dirty="0">
                          <a:solidFill>
                            <a:srgbClr val="0000CC"/>
                          </a:solidFill>
                          <a:latin typeface="Rockwell" panose="02060603020205020403" pitchFamily="18" charset="0"/>
                        </a:rPr>
                        <a:t> tin </a:t>
                      </a:r>
                      <a:r>
                        <a:rPr lang="en-US" sz="2000" dirty="0" err="1">
                          <a:solidFill>
                            <a:srgbClr val="0000CC"/>
                          </a:solidFill>
                          <a:latin typeface="Rockwell" panose="02060603020205020403" pitchFamily="18" charset="0"/>
                        </a:rPr>
                        <a:t>nhạy</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cảm</a:t>
                      </a:r>
                      <a:endParaRPr lang="en-US" sz="2000" dirty="0">
                        <a:solidFill>
                          <a:srgbClr val="0000CC"/>
                        </a:solidFill>
                        <a:latin typeface="Rockwell" panose="02060603020205020403" pitchFamily="18" charset="0"/>
                      </a:endParaRPr>
                    </a:p>
                  </a:txBody>
                  <a:tcPr marL="63500" marR="63500" marT="31750" marB="31750" anchor="ctr"/>
                </a:tc>
                <a:tc>
                  <a:txBody>
                    <a:bodyPr/>
                    <a:lstStyle/>
                    <a:p>
                      <a:r>
                        <a:rPr lang="en-US" sz="2000" dirty="0" err="1">
                          <a:solidFill>
                            <a:srgbClr val="0000CC"/>
                          </a:solidFill>
                          <a:latin typeface="Rockwell" panose="02060603020205020403" pitchFamily="18" charset="0"/>
                        </a:rPr>
                        <a:t>JSON</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trả</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cả</a:t>
                      </a:r>
                      <a:r>
                        <a:rPr lang="en-US" sz="2000" dirty="0">
                          <a:solidFill>
                            <a:srgbClr val="0000CC"/>
                          </a:solidFill>
                          <a:latin typeface="Rockwell" panose="02060603020205020403" pitchFamily="18" charset="0"/>
                        </a:rPr>
                        <a:t> password </a:t>
                      </a:r>
                      <a:r>
                        <a:rPr lang="en-US" sz="2000" dirty="0" err="1">
                          <a:solidFill>
                            <a:srgbClr val="0000CC"/>
                          </a:solidFill>
                          <a:latin typeface="Rockwell" panose="02060603020205020403" pitchFamily="18" charset="0"/>
                        </a:rPr>
                        <a:t>và</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credit_card</a:t>
                      </a:r>
                      <a:endParaRPr lang="en-US" sz="2000" dirty="0">
                        <a:solidFill>
                          <a:srgbClr val="0000CC"/>
                        </a:solidFill>
                        <a:latin typeface="Rockwell" panose="02060603020205020403" pitchFamily="18" charset="0"/>
                      </a:endParaRPr>
                    </a:p>
                  </a:txBody>
                  <a:tcPr marL="63500" marR="63500" marT="31750" marB="31750" anchor="ctr"/>
                </a:tc>
                <a:tc>
                  <a:txBody>
                    <a:bodyPr/>
                    <a:lstStyle/>
                    <a:p>
                      <a:r>
                        <a:rPr lang="en-US" sz="2000" dirty="0" err="1">
                          <a:solidFill>
                            <a:srgbClr val="0000CC"/>
                          </a:solidFill>
                          <a:latin typeface="Rockwell" panose="02060603020205020403" pitchFamily="18" charset="0"/>
                        </a:rPr>
                        <a:t>Giảm</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thiểu</a:t>
                      </a:r>
                      <a:r>
                        <a:rPr lang="en-US" sz="2000" dirty="0">
                          <a:solidFill>
                            <a:srgbClr val="0000CC"/>
                          </a:solidFill>
                          <a:latin typeface="Rockwell" panose="02060603020205020403" pitchFamily="18" charset="0"/>
                        </a:rPr>
                        <a:t> field </a:t>
                      </a:r>
                      <a:r>
                        <a:rPr lang="en-US" sz="2000" dirty="0" err="1">
                          <a:solidFill>
                            <a:srgbClr val="0000CC"/>
                          </a:solidFill>
                          <a:latin typeface="Rockwell" panose="02060603020205020403" pitchFamily="18" charset="0"/>
                        </a:rPr>
                        <a:t>trả</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về</a:t>
                      </a:r>
                      <a:r>
                        <a:rPr lang="en-US" sz="2000" dirty="0">
                          <a:solidFill>
                            <a:srgbClr val="0000CC"/>
                          </a:solidFill>
                          <a:latin typeface="Rockwell" panose="02060603020205020403" pitchFamily="18" charset="0"/>
                        </a:rPr>
                        <a:t>, TLS/HTTPS, Data Masking</a:t>
                      </a:r>
                    </a:p>
                  </a:txBody>
                  <a:tcPr marL="63500" marR="63500" marT="31750" marB="31750" anchor="ctr"/>
                </a:tc>
                <a:extLst>
                  <a:ext uri="{0D108BD9-81ED-4DB2-BD59-A6C34878D82A}">
                    <a16:rowId xmlns:a16="http://schemas.microsoft.com/office/drawing/2014/main" val="2111036214"/>
                  </a:ext>
                </a:extLst>
              </a:tr>
              <a:tr h="1204822">
                <a:tc>
                  <a:txBody>
                    <a:bodyPr/>
                    <a:lstStyle/>
                    <a:p>
                      <a:r>
                        <a:rPr lang="en-US" sz="2000">
                          <a:solidFill>
                            <a:srgbClr val="0000CC"/>
                          </a:solidFill>
                          <a:latin typeface="Rockwell" panose="02060603020205020403" pitchFamily="18" charset="0"/>
                        </a:rPr>
                        <a:t>Misconfiguration</a:t>
                      </a:r>
                    </a:p>
                  </a:txBody>
                  <a:tcPr marL="63500" marR="63500" marT="31750" marB="31750" anchor="ctr"/>
                </a:tc>
                <a:tc>
                  <a:txBody>
                    <a:bodyPr/>
                    <a:lstStyle/>
                    <a:p>
                      <a:r>
                        <a:rPr lang="en-US" sz="2000" dirty="0">
                          <a:solidFill>
                            <a:srgbClr val="0000CC"/>
                          </a:solidFill>
                          <a:latin typeface="Rockwell" panose="02060603020205020403" pitchFamily="18" charset="0"/>
                        </a:rPr>
                        <a:t>API </a:t>
                      </a:r>
                      <a:r>
                        <a:rPr lang="en-US" sz="2000" dirty="0" err="1">
                          <a:solidFill>
                            <a:srgbClr val="0000CC"/>
                          </a:solidFill>
                          <a:latin typeface="Rockwell" panose="02060603020205020403" pitchFamily="18" charset="0"/>
                        </a:rPr>
                        <a:t>để</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lộ</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thông</a:t>
                      </a:r>
                      <a:r>
                        <a:rPr lang="en-US" sz="2000" dirty="0">
                          <a:solidFill>
                            <a:srgbClr val="0000CC"/>
                          </a:solidFill>
                          <a:latin typeface="Rockwell" panose="02060603020205020403" pitchFamily="18" charset="0"/>
                        </a:rPr>
                        <a:t> tin </a:t>
                      </a:r>
                      <a:r>
                        <a:rPr lang="en-US" sz="2000" dirty="0" err="1">
                          <a:solidFill>
                            <a:srgbClr val="0000CC"/>
                          </a:solidFill>
                          <a:latin typeface="Rockwell" panose="02060603020205020403" pitchFamily="18" charset="0"/>
                        </a:rPr>
                        <a:t>hệ</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thống</a:t>
                      </a:r>
                      <a:r>
                        <a:rPr lang="en-US" sz="2000" dirty="0">
                          <a:solidFill>
                            <a:srgbClr val="0000CC"/>
                          </a:solidFill>
                          <a:latin typeface="Rockwell" panose="02060603020205020403" pitchFamily="18" charset="0"/>
                        </a:rPr>
                        <a:t> qua debug/test endpoint</a:t>
                      </a:r>
                    </a:p>
                  </a:txBody>
                  <a:tcPr marL="63500" marR="63500" marT="31750" marB="31750" anchor="ctr"/>
                </a:tc>
                <a:tc>
                  <a:txBody>
                    <a:bodyPr/>
                    <a:lstStyle/>
                    <a:p>
                      <a:r>
                        <a:rPr lang="en-US" sz="2000">
                          <a:solidFill>
                            <a:srgbClr val="0000CC"/>
                          </a:solidFill>
                          <a:latin typeface="Rockwell" panose="02060603020205020403" pitchFamily="18" charset="0"/>
                        </a:rPr>
                        <a:t>/api/debug → Trả về db_user=root, db_pass=123456</a:t>
                      </a:r>
                    </a:p>
                  </a:txBody>
                  <a:tcPr marL="63500" marR="63500" marT="31750" marB="31750" anchor="ctr"/>
                </a:tc>
                <a:tc>
                  <a:txBody>
                    <a:bodyPr/>
                    <a:lstStyle/>
                    <a:p>
                      <a:r>
                        <a:rPr lang="en-US" sz="2000" dirty="0" err="1">
                          <a:solidFill>
                            <a:srgbClr val="0000CC"/>
                          </a:solidFill>
                          <a:latin typeface="Rockwell" panose="02060603020205020403" pitchFamily="18" charset="0"/>
                        </a:rPr>
                        <a:t>Tắt</a:t>
                      </a:r>
                      <a:r>
                        <a:rPr lang="en-US" sz="2000" dirty="0">
                          <a:solidFill>
                            <a:srgbClr val="0000CC"/>
                          </a:solidFill>
                          <a:latin typeface="Rockwell" panose="02060603020205020403" pitchFamily="18" charset="0"/>
                        </a:rPr>
                        <a:t> debug mode, </a:t>
                      </a:r>
                      <a:r>
                        <a:rPr lang="en-US" sz="2000" dirty="0" err="1">
                          <a:solidFill>
                            <a:srgbClr val="0000CC"/>
                          </a:solidFill>
                          <a:latin typeface="Rockwell" panose="02060603020205020403" pitchFamily="18" charset="0"/>
                        </a:rPr>
                        <a:t>áp</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dụng</a:t>
                      </a:r>
                      <a:r>
                        <a:rPr lang="en-US" sz="2000" dirty="0">
                          <a:solidFill>
                            <a:srgbClr val="0000CC"/>
                          </a:solidFill>
                          <a:latin typeface="Rockwell" panose="02060603020205020403" pitchFamily="18" charset="0"/>
                        </a:rPr>
                        <a:t> Security by Default, </a:t>
                      </a:r>
                      <a:r>
                        <a:rPr lang="en-US" sz="2000" dirty="0" err="1">
                          <a:solidFill>
                            <a:srgbClr val="0000CC"/>
                          </a:solidFill>
                          <a:latin typeface="Rockwell" panose="02060603020205020403" pitchFamily="18" charset="0"/>
                        </a:rPr>
                        <a:t>kiểm</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thử</a:t>
                      </a:r>
                      <a:r>
                        <a:rPr lang="en-US" sz="2000" dirty="0">
                          <a:solidFill>
                            <a:srgbClr val="0000CC"/>
                          </a:solidFill>
                          <a:latin typeface="Rockwell" panose="02060603020205020403" pitchFamily="18" charset="0"/>
                        </a:rPr>
                        <a:t> </a:t>
                      </a:r>
                      <a:r>
                        <a:rPr lang="en-US" sz="2000" dirty="0" err="1" smtClean="0">
                          <a:solidFill>
                            <a:srgbClr val="0000CC"/>
                          </a:solidFill>
                          <a:latin typeface="Rockwell" panose="02060603020205020403" pitchFamily="18" charset="0"/>
                        </a:rPr>
                        <a:t>bmật</a:t>
                      </a:r>
                      <a:endParaRPr lang="en-US" sz="2000" dirty="0">
                        <a:solidFill>
                          <a:srgbClr val="0000CC"/>
                        </a:solidFill>
                        <a:latin typeface="Rockwell" panose="02060603020205020403" pitchFamily="18" charset="0"/>
                      </a:endParaRPr>
                    </a:p>
                  </a:txBody>
                  <a:tcPr marL="63500" marR="63500" marT="31750" marB="31750" anchor="ctr"/>
                </a:tc>
                <a:extLst>
                  <a:ext uri="{0D108BD9-81ED-4DB2-BD59-A6C34878D82A}">
                    <a16:rowId xmlns:a16="http://schemas.microsoft.com/office/drawing/2014/main" val="2214983313"/>
                  </a:ext>
                </a:extLst>
              </a:tr>
            </a:tbl>
          </a:graphicData>
        </a:graphic>
      </p:graphicFrame>
    </p:spTree>
    <p:extLst>
      <p:ext uri="{BB962C8B-B14F-4D97-AF65-F5344CB8AC3E}">
        <p14:creationId xmlns:p14="http://schemas.microsoft.com/office/powerpoint/2010/main" val="16835704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Các mối đe dọa đối với Hệ điều hành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(OS</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mj-ea"/>
                <a:cs typeface="+mj-cs"/>
              </a:rPr>
              <a:t>1. Khai thác lỗ hổng (Exploiting Vulnerabilities)</a:t>
            </a:r>
          </a:p>
          <a:p>
            <a:pPr lvl="1">
              <a:spcBef>
                <a:spcPts val="600"/>
              </a:spcBef>
              <a:spcAft>
                <a:spcPts val="600"/>
              </a:spcAft>
            </a:pPr>
            <a:r>
              <a:rPr lang="vi-VN" dirty="0" smtClean="0">
                <a:solidFill>
                  <a:srgbClr val="0000CC"/>
                </a:solidFill>
                <a:latin typeface="Rockwell" panose="02060603020205020403" pitchFamily="18" charset="0"/>
                <a:ea typeface="+mj-ea"/>
                <a:cs typeface="+mj-cs"/>
              </a:rPr>
              <a:t>Các </a:t>
            </a:r>
            <a:r>
              <a:rPr lang="vi-VN" dirty="0">
                <a:solidFill>
                  <a:srgbClr val="0000CC"/>
                </a:solidFill>
                <a:latin typeface="Rockwell" panose="02060603020205020403" pitchFamily="18" charset="0"/>
                <a:ea typeface="+mj-ea"/>
                <a:cs typeface="+mj-cs"/>
              </a:rPr>
              <a:t>hệ điều hành thường xuyên bị phát hiện lỗ hổng bảo mật (buffer overflow, privilege escalation...).</a:t>
            </a:r>
          </a:p>
          <a:p>
            <a:pPr lvl="1">
              <a:spcBef>
                <a:spcPts val="600"/>
              </a:spcBef>
              <a:spcAft>
                <a:spcPts val="600"/>
              </a:spcAft>
            </a:pPr>
            <a:r>
              <a:rPr lang="vi-VN" dirty="0" smtClean="0">
                <a:solidFill>
                  <a:srgbClr val="0000CC"/>
                </a:solidFill>
                <a:latin typeface="Rockwell" panose="02060603020205020403" pitchFamily="18" charset="0"/>
                <a:ea typeface="+mj-ea"/>
                <a:cs typeface="+mj-cs"/>
              </a:rPr>
              <a:t>Tin </a:t>
            </a:r>
            <a:r>
              <a:rPr lang="vi-VN" dirty="0">
                <a:solidFill>
                  <a:srgbClr val="0000CC"/>
                </a:solidFill>
                <a:latin typeface="Rockwell" panose="02060603020205020403" pitchFamily="18" charset="0"/>
                <a:ea typeface="+mj-ea"/>
                <a:cs typeface="+mj-cs"/>
              </a:rPr>
              <a:t>tặc khai thác để chiếm quyền kiểm soát hệ thống.</a:t>
            </a:r>
          </a:p>
          <a:p>
            <a:pPr lvl="1">
              <a:spcBef>
                <a:spcPts val="600"/>
              </a:spcBef>
              <a:spcAft>
                <a:spcPts val="600"/>
              </a:spcAft>
            </a:pPr>
            <a:r>
              <a:rPr lang="vi-VN" dirty="0" smtClean="0">
                <a:solidFill>
                  <a:srgbClr val="0000CC"/>
                </a:solidFill>
                <a:latin typeface="Rockwell" panose="02060603020205020403" pitchFamily="18" charset="0"/>
                <a:ea typeface="+mj-ea"/>
                <a:cs typeface="+mj-cs"/>
              </a:rPr>
              <a:t>Ví </a:t>
            </a:r>
            <a:r>
              <a:rPr lang="vi-VN" dirty="0">
                <a:solidFill>
                  <a:srgbClr val="0000CC"/>
                </a:solidFill>
                <a:latin typeface="Rockwell" panose="02060603020205020403" pitchFamily="18" charset="0"/>
                <a:ea typeface="+mj-ea"/>
                <a:cs typeface="+mj-cs"/>
              </a:rPr>
              <a:t>dụ: </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WannaCry </a:t>
            </a:r>
            <a:r>
              <a:rPr lang="vi-VN" dirty="0">
                <a:solidFill>
                  <a:srgbClr val="0000CC"/>
                </a:solidFill>
                <a:latin typeface="Rockwell" panose="02060603020205020403" pitchFamily="18" charset="0"/>
                <a:ea typeface="+mj-ea"/>
                <a:cs typeface="+mj-cs"/>
              </a:rPr>
              <a:t>tận dụng lỗ hổng SMB trên Windows để lây lan toàn cầu (2017). </a:t>
            </a:r>
          </a:p>
          <a:p>
            <a:pPr marL="0" indent="0">
              <a:spcBef>
                <a:spcPts val="600"/>
              </a:spcBef>
              <a:spcAft>
                <a:spcPts val="600"/>
              </a:spcAft>
              <a:buNone/>
            </a:pPr>
            <a:r>
              <a:rPr lang="en-US" b="1" dirty="0" smtClean="0">
                <a:solidFill>
                  <a:srgbClr val="0000CC"/>
                </a:solidFill>
                <a:latin typeface="Rockwell" panose="02060603020205020403" pitchFamily="18" charset="0"/>
                <a:ea typeface="+mj-ea"/>
                <a:cs typeface="+mj-cs"/>
              </a:rPr>
              <a:t>2. Malware </a:t>
            </a:r>
            <a:r>
              <a:rPr lang="en-US" b="1" dirty="0">
                <a:solidFill>
                  <a:srgbClr val="0000CC"/>
                </a:solidFill>
                <a:latin typeface="Rockwell" panose="02060603020205020403" pitchFamily="18" charset="0"/>
                <a:ea typeface="+mj-ea"/>
                <a:cs typeface="+mj-cs"/>
              </a:rPr>
              <a:t>&amp; Ransomware</a:t>
            </a:r>
          </a:p>
          <a:p>
            <a:pPr lvl="1">
              <a:spcBef>
                <a:spcPts val="600"/>
              </a:spcBef>
              <a:spcAft>
                <a:spcPts val="600"/>
              </a:spcAft>
            </a:pPr>
            <a:r>
              <a:rPr lang="en-US" dirty="0" err="1">
                <a:solidFill>
                  <a:srgbClr val="0000CC"/>
                </a:solidFill>
                <a:latin typeface="Rockwell" panose="02060603020205020403" pitchFamily="18" charset="0"/>
                <a:ea typeface="+mj-ea"/>
                <a:cs typeface="+mj-cs"/>
              </a:rPr>
              <a:t>Cài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đặt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phần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mềm</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độc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hại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nhằm</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theo</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dõi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đánh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cắp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dữ</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liệu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hoặc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mã</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hóa</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dữ</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liệu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để</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đòi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tiền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chuộc</a:t>
            </a:r>
            <a:r>
              <a:rPr lang="en-US" dirty="0">
                <a:solidFill>
                  <a:srgbClr val="0000CC"/>
                </a:solidFill>
                <a:latin typeface="Rockwell" panose="02060603020205020403" pitchFamily="18" charset="0"/>
                <a:ea typeface="+mj-ea"/>
                <a:cs typeface="+mj-cs"/>
              </a:rPr>
              <a:t>.</a:t>
            </a:r>
          </a:p>
          <a:p>
            <a:pPr lvl="1">
              <a:spcBef>
                <a:spcPts val="600"/>
              </a:spcBef>
              <a:spcAft>
                <a:spcPts val="600"/>
              </a:spcAft>
            </a:pPr>
            <a:r>
              <a:rPr lang="en-US" dirty="0" err="1">
                <a:solidFill>
                  <a:srgbClr val="0000CC"/>
                </a:solidFill>
                <a:latin typeface="Rockwell" panose="02060603020205020403" pitchFamily="18" charset="0"/>
                <a:ea typeface="+mj-ea"/>
                <a:cs typeface="+mj-cs"/>
              </a:rPr>
              <a:t>Ví</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dụ</a:t>
            </a:r>
            <a:r>
              <a:rPr lang="en-US" dirty="0">
                <a:solidFill>
                  <a:srgbClr val="0000CC"/>
                </a:solidFill>
                <a:latin typeface="Rockwell" panose="02060603020205020403" pitchFamily="18" charset="0"/>
                <a:ea typeface="+mj-ea"/>
                <a:cs typeface="+mj-cs"/>
              </a:rPr>
              <a:t>: Ransomware </a:t>
            </a:r>
            <a:r>
              <a:rPr lang="en-US" dirty="0" err="1">
                <a:solidFill>
                  <a:srgbClr val="0000CC"/>
                </a:solidFill>
                <a:latin typeface="Rockwell" panose="02060603020205020403" pitchFamily="18" charset="0"/>
                <a:ea typeface="+mj-ea"/>
                <a:cs typeface="+mj-cs"/>
              </a:rPr>
              <a:t>LockBit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tấn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công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doanh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nghiệp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mã</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hóa</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toàn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bộ</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hệ</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thống</a:t>
            </a:r>
            <a:r>
              <a:rPr lang="en-US" dirty="0">
                <a:solidFill>
                  <a:srgbClr val="0000CC"/>
                </a:solidFill>
                <a:latin typeface="Rockwell" panose="02060603020205020403" pitchFamily="18" charset="0"/>
                <a:ea typeface="+mj-ea"/>
                <a:cs typeface="+mj-cs"/>
              </a:rPr>
              <a:t> OS.</a:t>
            </a:r>
          </a:p>
        </p:txBody>
      </p:sp>
    </p:spTree>
    <p:extLst>
      <p:ext uri="{BB962C8B-B14F-4D97-AF65-F5344CB8AC3E}">
        <p14:creationId xmlns:p14="http://schemas.microsoft.com/office/powerpoint/2010/main" val="11600919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Các mối đe dọa đối với Hệ điều hành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(OS</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spcBef>
                <a:spcPts val="600"/>
              </a:spcBef>
              <a:spcAft>
                <a:spcPts val="600"/>
              </a:spcAft>
              <a:buNone/>
            </a:pPr>
            <a:r>
              <a:rPr lang="en-US" b="1" dirty="0" smtClean="0">
                <a:solidFill>
                  <a:srgbClr val="0000CC"/>
                </a:solidFill>
                <a:latin typeface="Rockwell" panose="02060603020205020403" pitchFamily="18" charset="0"/>
                <a:ea typeface="+mj-ea"/>
                <a:cs typeface="+mj-cs"/>
              </a:rPr>
              <a:t>3. </a:t>
            </a:r>
            <a:r>
              <a:rPr lang="vi-VN" b="1" dirty="0" smtClean="0">
                <a:solidFill>
                  <a:srgbClr val="0000CC"/>
                </a:solidFill>
                <a:latin typeface="Rockwell" panose="02060603020205020403" pitchFamily="18" charset="0"/>
                <a:ea typeface="+mj-ea"/>
                <a:cs typeface="+mj-cs"/>
              </a:rPr>
              <a:t>Truy </a:t>
            </a:r>
            <a:r>
              <a:rPr lang="vi-VN" b="1" dirty="0">
                <a:solidFill>
                  <a:srgbClr val="0000CC"/>
                </a:solidFill>
                <a:latin typeface="Rockwell" panose="02060603020205020403" pitchFamily="18" charset="0"/>
                <a:ea typeface="+mj-ea"/>
                <a:cs typeface="+mj-cs"/>
              </a:rPr>
              <a:t>cập trái phép &amp; leo thang đặc quyền </a:t>
            </a:r>
            <a:r>
              <a:rPr lang="en-US" b="1" dirty="0" smtClean="0">
                <a:solidFill>
                  <a:srgbClr val="0000CC"/>
                </a:solidFill>
                <a:latin typeface="Rockwell" panose="02060603020205020403" pitchFamily="18" charset="0"/>
                <a:ea typeface="+mj-ea"/>
                <a:cs typeface="+mj-cs"/>
              </a:rPr>
              <a:t/>
            </a:r>
            <a:br>
              <a:rPr lang="en-US" b="1" dirty="0" smtClean="0">
                <a:solidFill>
                  <a:srgbClr val="0000CC"/>
                </a:solidFill>
                <a:latin typeface="Rockwell" panose="02060603020205020403" pitchFamily="18" charset="0"/>
                <a:ea typeface="+mj-ea"/>
                <a:cs typeface="+mj-cs"/>
              </a:rPr>
            </a:br>
            <a:r>
              <a:rPr lang="vi-VN" b="1" dirty="0" smtClean="0">
                <a:solidFill>
                  <a:srgbClr val="0000CC"/>
                </a:solidFill>
                <a:latin typeface="Rockwell" panose="02060603020205020403" pitchFamily="18" charset="0"/>
                <a:ea typeface="+mj-ea"/>
                <a:cs typeface="+mj-cs"/>
              </a:rPr>
              <a:t>(</a:t>
            </a:r>
            <a:r>
              <a:rPr lang="vi-VN" b="1" dirty="0">
                <a:solidFill>
                  <a:srgbClr val="0000CC"/>
                </a:solidFill>
                <a:latin typeface="Rockwell" panose="02060603020205020403" pitchFamily="18" charset="0"/>
                <a:ea typeface="+mj-ea"/>
                <a:cs typeface="+mj-cs"/>
              </a:rPr>
              <a:t>Unauthorized Access &amp; Privilege Escalation)</a:t>
            </a:r>
          </a:p>
          <a:p>
            <a:pPr lvl="1">
              <a:spcBef>
                <a:spcPts val="600"/>
              </a:spcBef>
              <a:spcAft>
                <a:spcPts val="600"/>
              </a:spcAft>
            </a:pPr>
            <a:r>
              <a:rPr lang="vi-VN" dirty="0">
                <a:solidFill>
                  <a:srgbClr val="0000CC"/>
                </a:solidFill>
                <a:latin typeface="Rockwell" panose="02060603020205020403" pitchFamily="18" charset="0"/>
                <a:ea typeface="+mj-ea"/>
                <a:cs typeface="+mj-cs"/>
              </a:rPr>
              <a:t>Kẻ tấn công khai thác sai sót trong phân quyền OS để biến tài khoản thường thành tài khoản quản trị.</a:t>
            </a:r>
          </a:p>
          <a:p>
            <a:pPr lvl="1">
              <a:spcBef>
                <a:spcPts val="600"/>
              </a:spcBef>
              <a:spcAft>
                <a:spcPts val="600"/>
              </a:spcAft>
            </a:pPr>
            <a:r>
              <a:rPr lang="vi-VN" dirty="0">
                <a:solidFill>
                  <a:srgbClr val="0000CC"/>
                </a:solidFill>
                <a:latin typeface="Rockwell" panose="02060603020205020403" pitchFamily="18" charset="0"/>
                <a:ea typeface="+mj-ea"/>
                <a:cs typeface="+mj-cs"/>
              </a:rPr>
              <a:t>Hậu quả: </a:t>
            </a:r>
            <a:r>
              <a:rPr lang="en-US" dirty="0" smtClean="0">
                <a:solidFill>
                  <a:srgbClr val="0000CC"/>
                </a:solidFill>
                <a:latin typeface="Rockwell" panose="02060603020205020403" pitchFamily="18" charset="0"/>
                <a:ea typeface="+mj-ea"/>
                <a:cs typeface="+mj-cs"/>
              </a:rPr>
              <a:t>K</a:t>
            </a:r>
            <a:r>
              <a:rPr lang="vi-VN" dirty="0" smtClean="0">
                <a:solidFill>
                  <a:srgbClr val="0000CC"/>
                </a:solidFill>
                <a:latin typeface="Rockwell" panose="02060603020205020403" pitchFamily="18" charset="0"/>
                <a:ea typeface="+mj-ea"/>
                <a:cs typeface="+mj-cs"/>
              </a:rPr>
              <a:t>iểm </a:t>
            </a:r>
            <a:r>
              <a:rPr lang="vi-VN" dirty="0">
                <a:solidFill>
                  <a:srgbClr val="0000CC"/>
                </a:solidFill>
                <a:latin typeface="Rockwell" panose="02060603020205020403" pitchFamily="18" charset="0"/>
                <a:ea typeface="+mj-ea"/>
                <a:cs typeface="+mj-cs"/>
              </a:rPr>
              <a:t>soát toàn bộ hệ thống, cài </a:t>
            </a:r>
            <a:r>
              <a:rPr lang="vi-VN" dirty="0" smtClean="0">
                <a:solidFill>
                  <a:srgbClr val="0000CC"/>
                </a:solidFill>
                <a:latin typeface="Rockwell" panose="02060603020205020403" pitchFamily="18" charset="0"/>
                <a:ea typeface="+mj-ea"/>
                <a:cs typeface="+mj-cs"/>
              </a:rPr>
              <a:t>rootkit.</a:t>
            </a:r>
            <a:endParaRPr lang="en-US" dirty="0">
              <a:solidFill>
                <a:srgbClr val="0000CC"/>
              </a:solidFill>
              <a:latin typeface="Rockwell" panose="02060603020205020403" pitchFamily="18" charset="0"/>
              <a:ea typeface="+mj-ea"/>
              <a:cs typeface="+mj-cs"/>
            </a:endParaRPr>
          </a:p>
          <a:p>
            <a:pPr marL="0" lvl="1" indent="0">
              <a:spcBef>
                <a:spcPts val="600"/>
              </a:spcBef>
              <a:spcAft>
                <a:spcPts val="600"/>
              </a:spcAft>
              <a:buNone/>
            </a:pPr>
            <a:r>
              <a:rPr lang="en-US" b="1" dirty="0" smtClean="0">
                <a:solidFill>
                  <a:srgbClr val="0000CC"/>
                </a:solidFill>
                <a:latin typeface="Rockwell" panose="02060603020205020403" pitchFamily="18" charset="0"/>
                <a:ea typeface="+mj-ea"/>
                <a:cs typeface="+mj-cs"/>
              </a:rPr>
              <a:t>4</a:t>
            </a:r>
            <a:r>
              <a:rPr lang="en-US" b="1" dirty="0">
                <a:solidFill>
                  <a:srgbClr val="0000CC"/>
                </a:solidFill>
                <a:latin typeface="Rockwell" panose="02060603020205020403" pitchFamily="18" charset="0"/>
                <a:ea typeface="+mj-ea"/>
                <a:cs typeface="+mj-cs"/>
              </a:rPr>
              <a:t>. </a:t>
            </a:r>
            <a:r>
              <a:rPr lang="vi-VN" b="1" dirty="0">
                <a:solidFill>
                  <a:srgbClr val="0000CC"/>
                </a:solidFill>
                <a:latin typeface="Rockwell" panose="02060603020205020403" pitchFamily="18" charset="0"/>
                <a:ea typeface="+mj-ea"/>
                <a:cs typeface="+mj-cs"/>
              </a:rPr>
              <a:t>Rootkit &amp; Backdoor</a:t>
            </a:r>
          </a:p>
          <a:p>
            <a:pPr lvl="1">
              <a:spcBef>
                <a:spcPts val="600"/>
              </a:spcBef>
              <a:spcAft>
                <a:spcPts val="600"/>
              </a:spcAft>
            </a:pPr>
            <a:r>
              <a:rPr lang="vi-VN" dirty="0">
                <a:solidFill>
                  <a:srgbClr val="0000CC"/>
                </a:solidFill>
                <a:latin typeface="Rockwell" panose="02060603020205020403" pitchFamily="18" charset="0"/>
                <a:ea typeface="+mj-ea"/>
                <a:cs typeface="+mj-cs"/>
              </a:rPr>
              <a:t>Rootkit ẩn sâu trong OS, cho phép tin tặc duy trì quyền kiểm soát lâu dài.</a:t>
            </a:r>
          </a:p>
          <a:p>
            <a:pPr lvl="1">
              <a:spcBef>
                <a:spcPts val="600"/>
              </a:spcBef>
              <a:spcAft>
                <a:spcPts val="600"/>
              </a:spcAft>
            </a:pPr>
            <a:r>
              <a:rPr lang="vi-VN" dirty="0">
                <a:solidFill>
                  <a:srgbClr val="0000CC"/>
                </a:solidFill>
                <a:latin typeface="Rockwell" panose="02060603020205020403" pitchFamily="18" charset="0"/>
                <a:ea typeface="+mj-ea"/>
                <a:cs typeface="+mj-cs"/>
              </a:rPr>
              <a:t>Backdoor tạo lối vào bí mật, vượt qua cơ chế bảo mật chuẩn.</a:t>
            </a:r>
            <a:endParaRPr lang="en-US" dirty="0" smtClean="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11020662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Các mối đe dọa đối với Hệ điều hành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(OS</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spcBef>
                <a:spcPts val="600"/>
              </a:spcBef>
              <a:spcAft>
                <a:spcPts val="600"/>
              </a:spcAft>
              <a:buNone/>
            </a:pPr>
            <a:r>
              <a:rPr lang="en-US" b="1" dirty="0" smtClean="0">
                <a:solidFill>
                  <a:srgbClr val="0000CC"/>
                </a:solidFill>
                <a:latin typeface="Rockwell" panose="02060603020205020403" pitchFamily="18" charset="0"/>
                <a:ea typeface="+mj-ea"/>
                <a:cs typeface="+mj-cs"/>
              </a:rPr>
              <a:t>5. </a:t>
            </a:r>
            <a:r>
              <a:rPr lang="en-US" b="1" dirty="0" err="1" smtClean="0">
                <a:solidFill>
                  <a:srgbClr val="0000CC"/>
                </a:solidFill>
                <a:latin typeface="Rockwell" panose="02060603020205020403" pitchFamily="18" charset="0"/>
                <a:ea typeface="+mj-ea"/>
                <a:cs typeface="+mj-cs"/>
              </a:rPr>
              <a:t>Tấn</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công</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vào</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dịch</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vụ</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hệ</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điều</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hành</a:t>
            </a:r>
            <a:r>
              <a:rPr lang="en-US" b="1" dirty="0">
                <a:solidFill>
                  <a:srgbClr val="0000CC"/>
                </a:solidFill>
                <a:latin typeface="Rockwell" panose="02060603020205020403" pitchFamily="18" charset="0"/>
                <a:ea typeface="+mj-ea"/>
                <a:cs typeface="+mj-cs"/>
              </a:rPr>
              <a:t> (OS Services Attacks)</a:t>
            </a:r>
          </a:p>
          <a:p>
            <a:pPr lvl="1">
              <a:spcBef>
                <a:spcPts val="600"/>
              </a:spcBef>
              <a:spcAft>
                <a:spcPts val="600"/>
              </a:spcAft>
            </a:pPr>
            <a:r>
              <a:rPr lang="en-US" dirty="0" err="1">
                <a:solidFill>
                  <a:srgbClr val="0000CC"/>
                </a:solidFill>
                <a:latin typeface="Rockwell" panose="02060603020205020403" pitchFamily="18" charset="0"/>
                <a:ea typeface="+mj-ea"/>
                <a:cs typeface="+mj-cs"/>
              </a:rPr>
              <a:t>Các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dịch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vụ</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chạy</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ngầm</a:t>
            </a:r>
            <a:r>
              <a:rPr lang="en-US" dirty="0">
                <a:solidFill>
                  <a:srgbClr val="0000CC"/>
                </a:solidFill>
                <a:latin typeface="Rockwell" panose="02060603020205020403" pitchFamily="18" charset="0"/>
                <a:ea typeface="+mj-ea"/>
                <a:cs typeface="+mj-cs"/>
              </a:rPr>
              <a:t> (telnet, RDP, </a:t>
            </a:r>
            <a:r>
              <a:rPr lang="en-US" dirty="0" err="1">
                <a:solidFill>
                  <a:srgbClr val="0000CC"/>
                </a:solidFill>
                <a:latin typeface="Rockwell" panose="02060603020205020403" pitchFamily="18" charset="0"/>
                <a:ea typeface="+mj-ea"/>
                <a:cs typeface="+mj-cs"/>
              </a:rPr>
              <a:t>SSH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có</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thể</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bị</a:t>
            </a:r>
            <a:r>
              <a:rPr lang="en-US" dirty="0">
                <a:solidFill>
                  <a:srgbClr val="0000CC"/>
                </a:solidFill>
                <a:latin typeface="Rockwell" panose="02060603020205020403" pitchFamily="18" charset="0"/>
                <a:ea typeface="+mj-ea"/>
                <a:cs typeface="+mj-cs"/>
              </a:rPr>
              <a:t> brute force, </a:t>
            </a:r>
            <a:r>
              <a:rPr lang="en-US" dirty="0" err="1">
                <a:solidFill>
                  <a:srgbClr val="0000CC"/>
                </a:solidFill>
                <a:latin typeface="Rockwell" panose="02060603020205020403" pitchFamily="18" charset="0"/>
                <a:ea typeface="+mj-ea"/>
                <a:cs typeface="+mj-cs"/>
              </a:rPr>
              <a:t>tấn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công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từ</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chối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dịch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vụ</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DoS</a:t>
            </a:r>
            <a:r>
              <a:rPr lang="en-US" dirty="0">
                <a:solidFill>
                  <a:srgbClr val="0000CC"/>
                </a:solidFill>
                <a:latin typeface="Rockwell" panose="02060603020205020403" pitchFamily="18" charset="0"/>
                <a:ea typeface="+mj-ea"/>
                <a:cs typeface="+mj-cs"/>
              </a:rPr>
              <a:t>).</a:t>
            </a:r>
          </a:p>
          <a:p>
            <a:pPr lvl="1">
              <a:spcBef>
                <a:spcPts val="600"/>
              </a:spcBef>
              <a:spcAft>
                <a:spcPts val="600"/>
              </a:spcAft>
            </a:pPr>
            <a:r>
              <a:rPr lang="en-US" dirty="0" err="1">
                <a:solidFill>
                  <a:srgbClr val="0000CC"/>
                </a:solidFill>
                <a:latin typeface="Rockwell" panose="02060603020205020403" pitchFamily="18" charset="0"/>
                <a:ea typeface="+mj-ea"/>
                <a:cs typeface="+mj-cs"/>
              </a:rPr>
              <a:t>Ví</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dụ</a:t>
            </a:r>
            <a:r>
              <a:rPr lang="en-US" dirty="0">
                <a:solidFill>
                  <a:srgbClr val="0000CC"/>
                </a:solidFill>
                <a:latin typeface="Rockwell" panose="02060603020205020403" pitchFamily="18" charset="0"/>
                <a:ea typeface="+mj-ea"/>
                <a:cs typeface="+mj-cs"/>
              </a:rPr>
              <a:t>: Brute force </a:t>
            </a:r>
            <a:r>
              <a:rPr lang="en-US" dirty="0" err="1">
                <a:solidFill>
                  <a:srgbClr val="0000CC"/>
                </a:solidFill>
                <a:latin typeface="Rockwell" panose="02060603020205020403" pitchFamily="18" charset="0"/>
                <a:ea typeface="+mj-ea"/>
                <a:cs typeface="+mj-cs"/>
              </a:rPr>
              <a:t>SSH</a:t>
            </a:r>
            <a:r>
              <a:rPr lang="en-US" dirty="0">
                <a:solidFill>
                  <a:srgbClr val="0000CC"/>
                </a:solidFill>
                <a:latin typeface="Rockwell" panose="02060603020205020403" pitchFamily="18" charset="0"/>
                <a:ea typeface="+mj-ea"/>
                <a:cs typeface="+mj-cs"/>
              </a:rPr>
              <a:t> server </a:t>
            </a:r>
            <a:r>
              <a:rPr lang="en-US" dirty="0" err="1">
                <a:solidFill>
                  <a:srgbClr val="0000CC"/>
                </a:solidFill>
                <a:latin typeface="Rockwell" panose="02060603020205020403" pitchFamily="18" charset="0"/>
                <a:ea typeface="+mj-ea"/>
                <a:cs typeface="+mj-cs"/>
              </a:rPr>
              <a:t>trên</a:t>
            </a:r>
            <a:r>
              <a:rPr lang="en-US" dirty="0">
                <a:solidFill>
                  <a:srgbClr val="0000CC"/>
                </a:solidFill>
                <a:latin typeface="Rockwell" panose="02060603020205020403" pitchFamily="18" charset="0"/>
                <a:ea typeface="+mj-ea"/>
                <a:cs typeface="+mj-cs"/>
              </a:rPr>
              <a:t> Linux </a:t>
            </a:r>
            <a:r>
              <a:rPr lang="en-US" dirty="0" err="1">
                <a:solidFill>
                  <a:srgbClr val="0000CC"/>
                </a:solidFill>
                <a:latin typeface="Rockwell" panose="02060603020205020403" pitchFamily="18" charset="0"/>
                <a:ea typeface="+mj-ea"/>
                <a:cs typeface="+mj-cs"/>
              </a:rPr>
              <a:t>để</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chiếm</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quyền</a:t>
            </a:r>
            <a:r>
              <a:rPr lang="en-US" dirty="0">
                <a:solidFill>
                  <a:srgbClr val="0000CC"/>
                </a:solidFill>
                <a:latin typeface="Rockwell" panose="02060603020205020403" pitchFamily="18" charset="0"/>
                <a:ea typeface="+mj-ea"/>
                <a:cs typeface="+mj-cs"/>
              </a:rPr>
              <a:t> shell.</a:t>
            </a:r>
          </a:p>
          <a:p>
            <a:pPr marL="0" indent="0">
              <a:spcBef>
                <a:spcPts val="600"/>
              </a:spcBef>
              <a:spcAft>
                <a:spcPts val="600"/>
              </a:spcAft>
              <a:buNone/>
            </a:pPr>
            <a:r>
              <a:rPr lang="en-US" b="1" dirty="0" smtClean="0">
                <a:solidFill>
                  <a:srgbClr val="0000CC"/>
                </a:solidFill>
                <a:latin typeface="Rockwell" panose="02060603020205020403" pitchFamily="18" charset="0"/>
                <a:ea typeface="+mj-ea"/>
                <a:cs typeface="+mj-cs"/>
              </a:rPr>
              <a:t>6. </a:t>
            </a:r>
            <a:r>
              <a:rPr lang="en-US" b="1" dirty="0" err="1" smtClean="0">
                <a:solidFill>
                  <a:srgbClr val="0000CC"/>
                </a:solidFill>
                <a:latin typeface="Rockwell" panose="02060603020205020403" pitchFamily="18" charset="0"/>
                <a:ea typeface="+mj-ea"/>
                <a:cs typeface="+mj-cs"/>
              </a:rPr>
              <a:t>Thiết</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lập</a:t>
            </a:r>
            <a:r>
              <a:rPr lang="en-US" b="1" dirty="0">
                <a:solidFill>
                  <a:srgbClr val="0000CC"/>
                </a:solidFill>
                <a:latin typeface="Rockwell" panose="02060603020205020403" pitchFamily="18" charset="0"/>
                <a:ea typeface="+mj-ea"/>
                <a:cs typeface="+mj-cs"/>
              </a:rPr>
              <a:t> &amp; </a:t>
            </a:r>
            <a:r>
              <a:rPr lang="en-US" b="1" dirty="0" err="1">
                <a:solidFill>
                  <a:srgbClr val="0000CC"/>
                </a:solidFill>
                <a:latin typeface="Rockwell" panose="02060603020205020403" pitchFamily="18" charset="0"/>
                <a:ea typeface="+mj-ea"/>
                <a:cs typeface="+mj-cs"/>
              </a:rPr>
              <a:t>cấu</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hình</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sai</a:t>
            </a:r>
            <a:r>
              <a:rPr lang="en-US" b="1" dirty="0">
                <a:solidFill>
                  <a:srgbClr val="0000CC"/>
                </a:solidFill>
                <a:latin typeface="Rockwell" panose="02060603020205020403" pitchFamily="18" charset="0"/>
                <a:ea typeface="+mj-ea"/>
                <a:cs typeface="+mj-cs"/>
              </a:rPr>
              <a:t> (Misconfiguration)</a:t>
            </a:r>
          </a:p>
          <a:p>
            <a:pPr lvl="1">
              <a:spcBef>
                <a:spcPts val="600"/>
              </a:spcBef>
              <a:spcAft>
                <a:spcPts val="600"/>
              </a:spcAft>
            </a:pPr>
            <a:r>
              <a:rPr lang="en-US" dirty="0" err="1">
                <a:solidFill>
                  <a:srgbClr val="0000CC"/>
                </a:solidFill>
                <a:latin typeface="Rockwell" panose="02060603020205020403" pitchFamily="18" charset="0"/>
                <a:ea typeface="+mj-ea"/>
                <a:cs typeface="+mj-cs"/>
              </a:rPr>
              <a:t>Bật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dịch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vụ</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không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cần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thiết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tài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khoản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mặc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định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mật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khẩu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yếu</a:t>
            </a:r>
            <a:r>
              <a:rPr lang="en-US" dirty="0">
                <a:solidFill>
                  <a:srgbClr val="0000CC"/>
                </a:solidFill>
                <a:latin typeface="Rockwell" panose="02060603020205020403" pitchFamily="18" charset="0"/>
                <a:ea typeface="+mj-ea"/>
                <a:cs typeface="+mj-cs"/>
              </a:rPr>
              <a:t>.</a:t>
            </a:r>
          </a:p>
          <a:p>
            <a:pPr lvl="1">
              <a:spcBef>
                <a:spcPts val="600"/>
              </a:spcBef>
              <a:spcAft>
                <a:spcPts val="600"/>
              </a:spcAft>
            </a:pPr>
            <a:r>
              <a:rPr lang="en-US" dirty="0" err="1">
                <a:solidFill>
                  <a:srgbClr val="0000CC"/>
                </a:solidFill>
                <a:latin typeface="Rockwell" panose="02060603020205020403" pitchFamily="18" charset="0"/>
                <a:ea typeface="+mj-ea"/>
                <a:cs typeface="+mj-cs"/>
              </a:rPr>
              <a:t>Ví</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dụ</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Máy</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chủ</a:t>
            </a:r>
            <a:r>
              <a:rPr lang="en-US" dirty="0">
                <a:solidFill>
                  <a:srgbClr val="0000CC"/>
                </a:solidFill>
                <a:latin typeface="Rockwell" panose="02060603020205020403" pitchFamily="18" charset="0"/>
                <a:ea typeface="+mj-ea"/>
                <a:cs typeface="+mj-cs"/>
              </a:rPr>
              <a:t> Windows </a:t>
            </a:r>
            <a:r>
              <a:rPr lang="en-US" dirty="0" err="1">
                <a:solidFill>
                  <a:srgbClr val="0000CC"/>
                </a:solidFill>
                <a:latin typeface="Rockwell" panose="02060603020205020403" pitchFamily="18" charset="0"/>
                <a:ea typeface="+mj-ea"/>
                <a:cs typeface="+mj-cs"/>
              </a:rPr>
              <a:t>để</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chế</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độ</a:t>
            </a:r>
            <a:r>
              <a:rPr lang="en-US" dirty="0">
                <a:solidFill>
                  <a:srgbClr val="0000CC"/>
                </a:solidFill>
                <a:latin typeface="Rockwell" panose="02060603020205020403" pitchFamily="18" charset="0"/>
                <a:ea typeface="+mj-ea"/>
                <a:cs typeface="+mj-cs"/>
              </a:rPr>
              <a:t> “Guest Account” </a:t>
            </a:r>
            <a:r>
              <a:rPr lang="en-US" dirty="0" err="1">
                <a:solidFill>
                  <a:srgbClr val="0000CC"/>
                </a:solidFill>
                <a:latin typeface="Rockwell" panose="02060603020205020403" pitchFamily="18" charset="0"/>
                <a:ea typeface="+mj-ea"/>
                <a:cs typeface="+mj-cs"/>
              </a:rPr>
              <a:t>mở</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tạo</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lỗ</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hổng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truy</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cập</a:t>
            </a:r>
            <a:r>
              <a:rPr lang="en-US" dirty="0">
                <a:solidFill>
                  <a:srgbClr val="0000CC"/>
                </a:solidFill>
                <a:latin typeface="Rockwell" panose="02060603020205020403" pitchFamily="18" charset="0"/>
                <a:ea typeface="+mj-ea"/>
                <a:cs typeface="+mj-cs"/>
              </a:rPr>
              <a:t>.</a:t>
            </a:r>
            <a:endParaRPr lang="en-US" dirty="0" smtClean="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14711007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05439"/>
            <a:ext cx="10242645" cy="528851"/>
          </a:xfrm>
        </p:spPr>
        <p:txBody>
          <a:bodyPr/>
          <a:lstStyle/>
          <a:p>
            <a:r>
              <a:rPr lang="en-US" sz="2800" b="1" dirty="0" smtClean="0">
                <a:solidFill>
                  <a:srgbClr val="0000CC"/>
                </a:solidFill>
                <a:latin typeface="Rockwell" panose="02060603020205020403" pitchFamily="18" charset="0"/>
              </a:rPr>
              <a:t>5.3.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Các mối đe dọa đối với Hệ điều hành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(OS</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34290"/>
            <a:ext cx="10242645"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Ví</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dụ</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về</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Tấn</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công</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vào</a:t>
            </a:r>
            <a:r>
              <a:rPr lang="en-US" b="1" dirty="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dịch</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vụ</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hệ</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điều</a:t>
            </a:r>
            <a:r>
              <a:rPr lang="en-US" b="1" dirty="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hành</a:t>
            </a:r>
            <a:endParaRPr lang="en-US" b="1" dirty="0" smtClean="0">
              <a:solidFill>
                <a:srgbClr val="0000CC"/>
              </a:solidFill>
              <a:latin typeface="Rockwell" panose="02060603020205020403" pitchFamily="18" charset="0"/>
              <a:ea typeface="+mj-ea"/>
              <a:cs typeface="+mj-cs"/>
            </a:endParaRPr>
          </a:p>
          <a:p>
            <a:pPr marL="0" indent="0">
              <a:spcBef>
                <a:spcPts val="600"/>
              </a:spcBef>
              <a:spcAft>
                <a:spcPts val="600"/>
              </a:spcAft>
              <a:buNone/>
            </a:pPr>
            <a:r>
              <a:rPr lang="vi-VN" b="1" dirty="0">
                <a:solidFill>
                  <a:srgbClr val="0000CC"/>
                </a:solidFill>
                <a:latin typeface="Rockwell" panose="02060603020205020403" pitchFamily="18" charset="0"/>
                <a:ea typeface="+mj-ea"/>
                <a:cs typeface="+mj-cs"/>
              </a:rPr>
              <a:t>Ví dụ 1: Tấn công vào SMB Service (Windows OS)</a:t>
            </a:r>
          </a:p>
          <a:p>
            <a:pPr lvl="1">
              <a:spcBef>
                <a:spcPts val="600"/>
              </a:spcBef>
              <a:spcAft>
                <a:spcPts val="600"/>
              </a:spcAft>
            </a:pPr>
            <a:r>
              <a:rPr lang="vi-VN" dirty="0">
                <a:solidFill>
                  <a:srgbClr val="0000CC"/>
                </a:solidFill>
                <a:latin typeface="Rockwell" panose="02060603020205020403" pitchFamily="18" charset="0"/>
                <a:ea typeface="+mj-ea"/>
                <a:cs typeface="+mj-cs"/>
              </a:rPr>
              <a:t>Dịch vụ SMB (Server Message Block) cho phép chia sẻ file, máy in.</a:t>
            </a:r>
          </a:p>
          <a:p>
            <a:pPr lvl="1">
              <a:spcBef>
                <a:spcPts val="600"/>
              </a:spcBef>
              <a:spcAft>
                <a:spcPts val="600"/>
              </a:spcAft>
            </a:pPr>
            <a:r>
              <a:rPr lang="vi-VN" dirty="0">
                <a:solidFill>
                  <a:srgbClr val="0000CC"/>
                </a:solidFill>
                <a:latin typeface="Rockwell" panose="02060603020205020403" pitchFamily="18" charset="0"/>
                <a:ea typeface="+mj-ea"/>
                <a:cs typeface="+mj-cs"/>
              </a:rPr>
              <a:t>Lỗ hổng EternalBlue (MS17-010) trong SMBv1 cho phép kẻ tấn công gửi gói tin crafted để Remote Code Execution.</a:t>
            </a:r>
          </a:p>
          <a:p>
            <a:pPr lvl="1">
              <a:spcBef>
                <a:spcPts val="600"/>
              </a:spcBef>
              <a:spcAft>
                <a:spcPts val="600"/>
              </a:spcAft>
            </a:pPr>
            <a:r>
              <a:rPr lang="vi-VN" dirty="0">
                <a:solidFill>
                  <a:srgbClr val="0000CC"/>
                </a:solidFill>
                <a:latin typeface="Rockwell" panose="02060603020205020403" pitchFamily="18" charset="0"/>
                <a:ea typeface="+mj-ea"/>
                <a:cs typeface="+mj-cs"/>
              </a:rPr>
              <a:t>Payload: cài đặt WannaCry ransomware trên hàng loạt máy Windows chưa vá.</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26088647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05439"/>
            <a:ext cx="10242645" cy="528851"/>
          </a:xfrm>
        </p:spPr>
        <p:txBody>
          <a:bodyPr/>
          <a:lstStyle/>
          <a:p>
            <a:r>
              <a:rPr lang="en-US" sz="2800" b="1" dirty="0" smtClean="0">
                <a:solidFill>
                  <a:srgbClr val="0000CC"/>
                </a:solidFill>
                <a:latin typeface="Rockwell" panose="02060603020205020403" pitchFamily="18" charset="0"/>
              </a:rPr>
              <a:t>5.3.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Các mối đe dọa đối với Hệ điều hành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(OS</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34290"/>
            <a:ext cx="10242645"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Ví</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dụ</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về</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Tấn</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công</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vào</a:t>
            </a:r>
            <a:r>
              <a:rPr lang="en-US" b="1" dirty="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dịch</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vụ</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hệ</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điều</a:t>
            </a:r>
            <a:r>
              <a:rPr lang="en-US" b="1" dirty="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hành</a:t>
            </a:r>
            <a:endParaRPr lang="en-US" b="1" dirty="0" smtClean="0">
              <a:solidFill>
                <a:srgbClr val="0000CC"/>
              </a:solidFill>
              <a:latin typeface="Rockwell" panose="02060603020205020403" pitchFamily="18" charset="0"/>
              <a:ea typeface="+mj-ea"/>
              <a:cs typeface="+mj-cs"/>
            </a:endParaRPr>
          </a:p>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Ví </a:t>
            </a:r>
            <a:r>
              <a:rPr lang="vi-VN" b="1" dirty="0">
                <a:solidFill>
                  <a:srgbClr val="0000CC"/>
                </a:solidFill>
                <a:latin typeface="Rockwell" panose="02060603020205020403" pitchFamily="18" charset="0"/>
                <a:ea typeface="+mj-ea"/>
                <a:cs typeface="+mj-cs"/>
              </a:rPr>
              <a:t>dụ 2: Tấn công vào RDP Service (Windows OS)</a:t>
            </a:r>
          </a:p>
          <a:p>
            <a:pPr lvl="1">
              <a:spcBef>
                <a:spcPts val="600"/>
              </a:spcBef>
              <a:spcAft>
                <a:spcPts val="600"/>
              </a:spcAft>
            </a:pPr>
            <a:r>
              <a:rPr lang="vi-VN" dirty="0">
                <a:solidFill>
                  <a:srgbClr val="0000CC"/>
                </a:solidFill>
                <a:latin typeface="Rockwell" panose="02060603020205020403" pitchFamily="18" charset="0"/>
                <a:ea typeface="+mj-ea"/>
                <a:cs typeface="+mj-cs"/>
              </a:rPr>
              <a:t>Dịch vụ Remote Desktop Protocol (RDP) thường chạy ở cổng 3389.</a:t>
            </a:r>
          </a:p>
          <a:p>
            <a:pPr lvl="1">
              <a:spcBef>
                <a:spcPts val="600"/>
              </a:spcBef>
              <a:spcAft>
                <a:spcPts val="600"/>
              </a:spcAft>
            </a:pPr>
            <a:r>
              <a:rPr lang="vi-VN" dirty="0">
                <a:solidFill>
                  <a:srgbClr val="0000CC"/>
                </a:solidFill>
                <a:latin typeface="Rockwell" panose="02060603020205020403" pitchFamily="18" charset="0"/>
                <a:ea typeface="+mj-ea"/>
                <a:cs typeface="+mj-cs"/>
              </a:rPr>
              <a:t>Nếu cấu hình sai (không giới hạn IP, không MFA), hacker có thể brute-force mật khẩu và truy cập thẳng vào hệ thống với quyền admin.</a:t>
            </a:r>
          </a:p>
          <a:p>
            <a:pPr lvl="1">
              <a:spcBef>
                <a:spcPts val="600"/>
              </a:spcBef>
              <a:spcAft>
                <a:spcPts val="600"/>
              </a:spcAft>
            </a:pPr>
            <a:r>
              <a:rPr lang="vi-VN" dirty="0">
                <a:solidFill>
                  <a:srgbClr val="0000CC"/>
                </a:solidFill>
                <a:latin typeface="Rockwell" panose="02060603020205020403" pitchFamily="18" charset="0"/>
                <a:ea typeface="+mj-ea"/>
                <a:cs typeface="+mj-cs"/>
              </a:rPr>
              <a:t>Công cụ phổ biến: Crowbar, Hydra để brute-force RDP.</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124047461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05439"/>
            <a:ext cx="10242645" cy="528851"/>
          </a:xfrm>
        </p:spPr>
        <p:txBody>
          <a:bodyPr/>
          <a:lstStyle/>
          <a:p>
            <a:r>
              <a:rPr lang="en-US" sz="2800" b="1" dirty="0" smtClean="0">
                <a:solidFill>
                  <a:srgbClr val="0000CC"/>
                </a:solidFill>
                <a:latin typeface="Rockwell" panose="02060603020205020403" pitchFamily="18" charset="0"/>
              </a:rPr>
              <a:t>5.3.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Các mối đe dọa đối với Hệ điều hành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(OS</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34290"/>
            <a:ext cx="10242645"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Ví</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dụ</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về</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Tấn</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công</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vào</a:t>
            </a:r>
            <a:r>
              <a:rPr lang="en-US" b="1" dirty="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dịch</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vụ</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hệ</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điều</a:t>
            </a:r>
            <a:r>
              <a:rPr lang="en-US" b="1" dirty="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hành</a:t>
            </a:r>
            <a:endParaRPr lang="en-US" b="1" dirty="0" smtClean="0">
              <a:solidFill>
                <a:srgbClr val="0000CC"/>
              </a:solidFill>
              <a:latin typeface="Rockwell" panose="02060603020205020403" pitchFamily="18" charset="0"/>
              <a:ea typeface="+mj-ea"/>
              <a:cs typeface="+mj-cs"/>
            </a:endParaRPr>
          </a:p>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Ví </a:t>
            </a:r>
            <a:r>
              <a:rPr lang="vi-VN" b="1" dirty="0">
                <a:solidFill>
                  <a:srgbClr val="0000CC"/>
                </a:solidFill>
                <a:latin typeface="Rockwell" panose="02060603020205020403" pitchFamily="18" charset="0"/>
                <a:ea typeface="+mj-ea"/>
                <a:cs typeface="+mj-cs"/>
              </a:rPr>
              <a:t>dụ 3: Tấn công vào SSH Service (Linux/Unix OS)</a:t>
            </a:r>
          </a:p>
          <a:p>
            <a:pPr lvl="1">
              <a:spcBef>
                <a:spcPts val="600"/>
              </a:spcBef>
              <a:spcAft>
                <a:spcPts val="600"/>
              </a:spcAft>
            </a:pPr>
            <a:r>
              <a:rPr lang="vi-VN" dirty="0">
                <a:solidFill>
                  <a:srgbClr val="0000CC"/>
                </a:solidFill>
                <a:latin typeface="Rockwell" panose="02060603020205020403" pitchFamily="18" charset="0"/>
                <a:ea typeface="+mj-ea"/>
                <a:cs typeface="+mj-cs"/>
              </a:rPr>
              <a:t>SSH là dịch vụ quản trị từ xa.</a:t>
            </a:r>
          </a:p>
          <a:p>
            <a:pPr lvl="1">
              <a:spcBef>
                <a:spcPts val="600"/>
              </a:spcBef>
              <a:spcAft>
                <a:spcPts val="600"/>
              </a:spcAft>
            </a:pPr>
            <a:r>
              <a:rPr lang="vi-VN" dirty="0">
                <a:solidFill>
                  <a:srgbClr val="0000CC"/>
                </a:solidFill>
                <a:latin typeface="Rockwell" panose="02060603020205020403" pitchFamily="18" charset="0"/>
                <a:ea typeface="+mj-ea"/>
                <a:cs typeface="+mj-cs"/>
              </a:rPr>
              <a:t>Nếu cho phép đăng nhập bằng password thay vì key-pair, attacker có thể brute-force user root.</a:t>
            </a:r>
          </a:p>
          <a:p>
            <a:pPr lvl="1">
              <a:spcBef>
                <a:spcPts val="600"/>
              </a:spcBef>
              <a:spcAft>
                <a:spcPts val="600"/>
              </a:spcAft>
            </a:pPr>
            <a:r>
              <a:rPr lang="vi-VN" dirty="0">
                <a:solidFill>
                  <a:srgbClr val="0000CC"/>
                </a:solidFill>
                <a:latin typeface="Rockwell" panose="02060603020205020403" pitchFamily="18" charset="0"/>
                <a:ea typeface="+mj-ea"/>
                <a:cs typeface="+mj-cs"/>
              </a:rPr>
              <a:t>Ví dụ tấn công:</a:t>
            </a:r>
          </a:p>
          <a:p>
            <a:pPr marL="530352" lvl="1" indent="0">
              <a:spcBef>
                <a:spcPts val="600"/>
              </a:spcBef>
              <a:spcAft>
                <a:spcPts val="600"/>
              </a:spcAft>
              <a:buNone/>
            </a:pPr>
            <a:r>
              <a:rPr lang="en-US" dirty="0" smtClean="0">
                <a:solidFill>
                  <a:srgbClr val="FF0000"/>
                </a:solidFill>
                <a:latin typeface="Rockwell" panose="02060603020205020403" pitchFamily="18" charset="0"/>
                <a:ea typeface="+mj-ea"/>
                <a:cs typeface="+mj-cs"/>
              </a:rPr>
              <a:t>		</a:t>
            </a:r>
            <a:r>
              <a:rPr lang="vi-VN" dirty="0" smtClean="0">
                <a:solidFill>
                  <a:srgbClr val="FF0000"/>
                </a:solidFill>
                <a:latin typeface="Rockwell" panose="02060603020205020403" pitchFamily="18" charset="0"/>
                <a:ea typeface="+mj-ea"/>
                <a:cs typeface="+mj-cs"/>
              </a:rPr>
              <a:t>hydra </a:t>
            </a:r>
            <a:r>
              <a:rPr lang="vi-VN" dirty="0">
                <a:solidFill>
                  <a:srgbClr val="FF0000"/>
                </a:solidFill>
                <a:latin typeface="Rockwell" panose="02060603020205020403" pitchFamily="18" charset="0"/>
                <a:ea typeface="+mj-ea"/>
                <a:cs typeface="+mj-cs"/>
              </a:rPr>
              <a:t>-l root -P passwords.txt ssh://192.168.1.100</a:t>
            </a:r>
          </a:p>
          <a:p>
            <a:pPr marL="530352" lvl="1" indent="0">
              <a:spcBef>
                <a:spcPts val="600"/>
              </a:spcBef>
              <a:spcAft>
                <a:spcPts val="600"/>
              </a:spcAft>
              <a:buNone/>
            </a:pP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Nếu </a:t>
            </a:r>
            <a:r>
              <a:rPr lang="vi-VN" dirty="0">
                <a:solidFill>
                  <a:srgbClr val="0000CC"/>
                </a:solidFill>
                <a:latin typeface="Rockwell" panose="02060603020205020403" pitchFamily="18" charset="0"/>
                <a:ea typeface="+mj-ea"/>
                <a:cs typeface="+mj-cs"/>
              </a:rPr>
              <a:t>thành </a:t>
            </a:r>
            <a:r>
              <a:rPr lang="vi-VN" dirty="0" smtClean="0">
                <a:solidFill>
                  <a:srgbClr val="0000CC"/>
                </a:solidFill>
                <a:latin typeface="Rockwell" panose="02060603020205020403" pitchFamily="18" charset="0"/>
                <a:ea typeface="+mj-ea"/>
                <a:cs typeface="+mj-cs"/>
              </a:rPr>
              <a:t>công</a:t>
            </a:r>
            <a:r>
              <a:rPr lang="en-US" dirty="0" smtClean="0">
                <a:solidFill>
                  <a:srgbClr val="0000CC"/>
                </a:solidFill>
                <a:latin typeface="Rockwell" panose="02060603020205020403" pitchFamily="18" charset="0"/>
                <a:ea typeface="+mj-ea"/>
                <a:cs typeface="+mj-cs"/>
              </a:rPr>
              <a:t>:</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kiểm soát hoàn toàn hệ thống.</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1886569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05439"/>
            <a:ext cx="10242645" cy="528851"/>
          </a:xfrm>
        </p:spPr>
        <p:txBody>
          <a:bodyPr/>
          <a:lstStyle/>
          <a:p>
            <a:r>
              <a:rPr lang="en-US" sz="2800" b="1" dirty="0" smtClean="0">
                <a:solidFill>
                  <a:srgbClr val="0000CC"/>
                </a:solidFill>
                <a:latin typeface="Rockwell" panose="02060603020205020403" pitchFamily="18" charset="0"/>
              </a:rPr>
              <a:t>5.3.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Các mối đe dọa đối với Hệ điều hành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(OS</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34290"/>
            <a:ext cx="10242645"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Ví</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dụ</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về</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Tấn</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công</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vào</a:t>
            </a:r>
            <a:r>
              <a:rPr lang="en-US" b="1" dirty="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dịch</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vụ</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hệ</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điều</a:t>
            </a:r>
            <a:r>
              <a:rPr lang="en-US" b="1" dirty="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hành</a:t>
            </a:r>
            <a:endParaRPr lang="en-US" b="1" dirty="0" smtClean="0">
              <a:solidFill>
                <a:srgbClr val="0000CC"/>
              </a:solidFill>
              <a:latin typeface="Rockwell" panose="02060603020205020403" pitchFamily="18" charset="0"/>
              <a:ea typeface="+mj-ea"/>
              <a:cs typeface="+mj-cs"/>
            </a:endParaRPr>
          </a:p>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Ví </a:t>
            </a:r>
            <a:r>
              <a:rPr lang="vi-VN" b="1" dirty="0">
                <a:solidFill>
                  <a:srgbClr val="0000CC"/>
                </a:solidFill>
                <a:latin typeface="Rockwell" panose="02060603020205020403" pitchFamily="18" charset="0"/>
                <a:ea typeface="+mj-ea"/>
                <a:cs typeface="+mj-cs"/>
              </a:rPr>
              <a:t>dụ 4: Tấn công vào Print Spooler Service (Windows)</a:t>
            </a:r>
          </a:p>
          <a:p>
            <a:pPr lvl="1">
              <a:spcBef>
                <a:spcPts val="600"/>
              </a:spcBef>
              <a:spcAft>
                <a:spcPts val="600"/>
              </a:spcAft>
            </a:pPr>
            <a:r>
              <a:rPr lang="vi-VN" dirty="0">
                <a:solidFill>
                  <a:srgbClr val="0000CC"/>
                </a:solidFill>
                <a:latin typeface="Rockwell" panose="02060603020205020403" pitchFamily="18" charset="0"/>
                <a:ea typeface="+mj-ea"/>
                <a:cs typeface="+mj-cs"/>
              </a:rPr>
              <a:t>Dịch vụ spoolsv.exe quản lý in ấn.</a:t>
            </a:r>
          </a:p>
          <a:p>
            <a:pPr lvl="1">
              <a:spcBef>
                <a:spcPts val="600"/>
              </a:spcBef>
              <a:spcAft>
                <a:spcPts val="600"/>
              </a:spcAft>
            </a:pPr>
            <a:r>
              <a:rPr lang="vi-VN" dirty="0">
                <a:solidFill>
                  <a:srgbClr val="0000CC"/>
                </a:solidFill>
                <a:latin typeface="Rockwell" panose="02060603020205020403" pitchFamily="18" charset="0"/>
                <a:ea typeface="+mj-ea"/>
                <a:cs typeface="+mj-cs"/>
              </a:rPr>
              <a:t>Lỗ hổng PrintNightmare (CVE-2021-34527) cho phép attacker Remote Code Execution thông qua driver in.</a:t>
            </a:r>
          </a:p>
          <a:p>
            <a:pPr lvl="1">
              <a:spcBef>
                <a:spcPts val="600"/>
              </a:spcBef>
              <a:spcAft>
                <a:spcPts val="600"/>
              </a:spcAft>
            </a:pPr>
            <a:r>
              <a:rPr lang="vi-VN" dirty="0">
                <a:solidFill>
                  <a:srgbClr val="0000CC"/>
                </a:solidFill>
                <a:latin typeface="Rockwell" panose="02060603020205020403" pitchFamily="18" charset="0"/>
                <a:ea typeface="+mj-ea"/>
                <a:cs typeface="+mj-cs"/>
              </a:rPr>
              <a:t>Hacker có thể tải DLL độc hại và thực thi dưới quyền SYSTEM.</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36458617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05439"/>
            <a:ext cx="10242645" cy="528851"/>
          </a:xfrm>
        </p:spPr>
        <p:txBody>
          <a:bodyPr/>
          <a:lstStyle/>
          <a:p>
            <a:pPr>
              <a:lnSpc>
                <a:spcPct val="100000"/>
              </a:lnSpc>
              <a:spcBef>
                <a:spcPts val="1200"/>
              </a:spcBef>
              <a:spcAft>
                <a:spcPts val="600"/>
              </a:spcAft>
            </a:pPr>
            <a:r>
              <a:rPr lang="en-US" sz="2800" b="1" dirty="0" smtClean="0">
                <a:solidFill>
                  <a:srgbClr val="0000CC"/>
                </a:solidFill>
                <a:latin typeface="Rockwell" panose="02060603020205020403" pitchFamily="18" charset="0"/>
              </a:rPr>
              <a:t>5.3.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Các mối đe dọa đối với Hệ điều hành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(OS</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sz="2800" b="1" dirty="0" smtClean="0">
                <a:solidFill>
                  <a:srgbClr val="0000CC"/>
                </a:solidFill>
                <a:latin typeface="Rockwell" panose="02060603020205020403" pitchFamily="18" charset="0"/>
              </a:rPr>
              <a:t> </a:t>
            </a:r>
            <a:br>
              <a:rPr lang="en-US" sz="2800" b="1" dirty="0" smtClean="0">
                <a:solidFill>
                  <a:srgbClr val="0000CC"/>
                </a:solidFill>
                <a:latin typeface="Rockwell" panose="02060603020205020403" pitchFamily="18" charset="0"/>
              </a:rPr>
            </a:br>
            <a:r>
              <a:rPr lang="en-US" sz="2400" b="1" dirty="0" err="1" smtClean="0">
                <a:solidFill>
                  <a:srgbClr val="0000CC"/>
                </a:solidFill>
                <a:latin typeface="Rockwell" panose="02060603020205020403" pitchFamily="18" charset="0"/>
              </a:rPr>
              <a:t>Tấn</a:t>
            </a:r>
            <a:r>
              <a:rPr lang="en-US" sz="2400" b="1" dirty="0" smtClean="0">
                <a:solidFill>
                  <a:srgbClr val="0000CC"/>
                </a:solidFill>
                <a:latin typeface="Rockwell" panose="02060603020205020403" pitchFamily="18" charset="0"/>
              </a:rPr>
              <a:t> </a:t>
            </a:r>
            <a:r>
              <a:rPr lang="en-US" sz="2400" b="1" dirty="0" err="1" smtClean="0">
                <a:solidFill>
                  <a:srgbClr val="0000CC"/>
                </a:solidFill>
                <a:latin typeface="Rockwell" panose="02060603020205020403" pitchFamily="18" charset="0"/>
              </a:rPr>
              <a:t>công</a:t>
            </a:r>
            <a:r>
              <a:rPr lang="en-US" sz="2400" b="1" dirty="0" smtClean="0">
                <a:solidFill>
                  <a:srgbClr val="0000CC"/>
                </a:solidFill>
                <a:latin typeface="Rockwell" panose="02060603020205020403" pitchFamily="18" charset="0"/>
              </a:rPr>
              <a:t> </a:t>
            </a:r>
            <a:r>
              <a:rPr lang="en-US" sz="2400" b="1" dirty="0" err="1" smtClean="0">
                <a:solidFill>
                  <a:srgbClr val="0000CC"/>
                </a:solidFill>
                <a:latin typeface="Rockwell" panose="02060603020205020403" pitchFamily="18" charset="0"/>
              </a:rPr>
              <a:t>vào</a:t>
            </a:r>
            <a:r>
              <a:rPr lang="en-US" sz="2400" b="1" dirty="0" smtClean="0">
                <a:solidFill>
                  <a:srgbClr val="0000CC"/>
                </a:solidFill>
                <a:latin typeface="Rockwell" panose="02060603020205020403" pitchFamily="18" charset="0"/>
              </a:rPr>
              <a:t> </a:t>
            </a:r>
            <a:r>
              <a:rPr lang="en-US" sz="2400" b="1" dirty="0" err="1" smtClean="0">
                <a:solidFill>
                  <a:srgbClr val="0000CC"/>
                </a:solidFill>
                <a:latin typeface="Rockwell" panose="02060603020205020403" pitchFamily="18" charset="0"/>
              </a:rPr>
              <a:t>dịch</a:t>
            </a:r>
            <a:r>
              <a:rPr lang="en-US" sz="2400" b="1" dirty="0" smtClean="0">
                <a:solidFill>
                  <a:srgbClr val="0000CC"/>
                </a:solidFill>
                <a:latin typeface="Rockwell" panose="02060603020205020403" pitchFamily="18" charset="0"/>
              </a:rPr>
              <a:t> </a:t>
            </a:r>
            <a:r>
              <a:rPr lang="en-US" sz="2400" b="1" dirty="0" err="1" smtClean="0">
                <a:solidFill>
                  <a:srgbClr val="0000CC"/>
                </a:solidFill>
                <a:latin typeface="Rockwell" panose="02060603020205020403" pitchFamily="18" charset="0"/>
              </a:rPr>
              <a:t>vụ</a:t>
            </a:r>
            <a:r>
              <a:rPr lang="en-US" sz="2400" b="1" dirty="0" smtClean="0">
                <a:solidFill>
                  <a:srgbClr val="0000CC"/>
                </a:solidFill>
                <a:latin typeface="Rockwell" panose="02060603020205020403" pitchFamily="18" charset="0"/>
              </a:rPr>
              <a:t> OS</a:t>
            </a:r>
            <a:endParaRPr lang="en-US" sz="2400" b="1" dirty="0">
              <a:solidFill>
                <a:srgbClr val="0000CC"/>
              </a:solidFill>
              <a:latin typeface="Rockwell" panose="02060603020205020403" pitchFamily="18" charset="0"/>
            </a:endParaRP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7638" t="2627" r="11419" b="2199"/>
          <a:stretch/>
        </p:blipFill>
        <p:spPr>
          <a:xfrm>
            <a:off x="2975212" y="1487606"/>
            <a:ext cx="6537277" cy="5268035"/>
          </a:xfrm>
        </p:spPr>
      </p:pic>
    </p:spTree>
    <p:extLst>
      <p:ext uri="{BB962C8B-B14F-4D97-AF65-F5344CB8AC3E}">
        <p14:creationId xmlns:p14="http://schemas.microsoft.com/office/powerpoint/2010/main" val="36772603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5.4.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 bảo 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652079" cy="4382729"/>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1. Xác thực và phân quyền chặt chẽ (Authentication &amp; Authorization)</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Sử dụng các cơ chế xác thực mạnh (OAuth 2.0, JWT, API Key bảo mật).</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Mỗi API phải được kiểm soát quyền truy cập rõ ràng, tránh cho phép người dùng vượt quyền.</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Người dùng thường không thể gọi API quản trị hệ thống.</a:t>
            </a:r>
          </a:p>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2</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Nguyên tắc Least Privilege (Đặc quyền tối thiểu)</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Chỉ cấp quyền API ở mức cần thiết cho ứng dụng/khách hàng.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Tránh API có quyền truy cập toàn bộ dữ liệu hoặc hệ thống.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Một ứng dụng bên thứ ba chỉ được quyền đọc dữ liệu, không có quyền xoá.</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4666380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5.4.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 bảo 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652079" cy="4382729"/>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Mã hóa và bảo mật đường truyền (Encryption in Transit &amp; at Rest)</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Bắt buộc dùng HTTPS/TLS để bảo vệ dữ liệu khi truyền.</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Dữ liệu nhạy cảm trả về từ API (ví dụ: token, thông tin cá nhân) phải được mã hóa lưu trữ.</a:t>
            </a:r>
          </a:p>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4</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Rate Limiting và Throttling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Giới hạn số lượng request trong một khoảng thời gian nhất định để chống DDoS.</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Áp dụng throttling để giảm tải khi hệ thống bị tấn công.</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86099268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5.4.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 bảo 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652079" cy="4382729"/>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5</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Input Validation &amp; Output Sanitization</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tra, lọc và ràng buộc dữ liệu đầu vào để tránh injection (SQLi, XSS, Command Injection).</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API response không nên trả về dữ liệu thừa (Data Exposure).</a:t>
            </a:r>
          </a:p>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6</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Nguyên tắc Zero Trust cho API</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tin tưởng bất kỳ request nào, kể cả từ mạng nội bộ.</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Luôn xác thực và log lại mọi hoạt động</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lvl="1"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7. Giám sát và ghi log (Monitoring &amp; Logging)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Ghi lại nhật ký request/response để phát hiện hành vi bất thường.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Kết hợp với SIEM/IDS để phát hiện tấn công API.</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2359612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5.4.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 bảo 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endParaRPr lang="en-US" sz="2800" b="1" dirty="0">
              <a:solidFill>
                <a:srgbClr val="0000CC"/>
              </a:solidFill>
              <a:latin typeface="Rockwell" panose="02060603020205020403" pitchFamily="18" charset="0"/>
            </a:endParaRP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3918" t="11890" r="2642" b="13977"/>
          <a:stretch/>
        </p:blipFill>
        <p:spPr>
          <a:xfrm>
            <a:off x="3794076" y="1514901"/>
            <a:ext cx="5213446" cy="5343099"/>
          </a:xfrm>
        </p:spPr>
      </p:pic>
    </p:spTree>
    <p:extLst>
      <p:ext uri="{BB962C8B-B14F-4D97-AF65-F5344CB8AC3E}">
        <p14:creationId xmlns:p14="http://schemas.microsoft.com/office/powerpoint/2010/main" val="1392436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91796"/>
            <a:ext cx="10242645" cy="528851"/>
          </a:xfrm>
        </p:spPr>
        <p:txBody>
          <a:bodyPr/>
          <a:lstStyle/>
          <a:p>
            <a:r>
              <a:rPr lang="en-US" sz="2800" b="1" dirty="0" smtClean="0">
                <a:solidFill>
                  <a:srgbClr val="0000CC"/>
                </a:solidFill>
                <a:latin typeface="Rockwell" panose="02060603020205020403" pitchFamily="18" charset="0"/>
              </a:rPr>
              <a:t>5.4.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 bảo 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20647"/>
            <a:ext cx="9805917"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1. Xác thực &amp; Ủy quyền chặt chẽ</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Sử dụng OAuth 2.0 + OpenID Connect để cấp quyền cho ứng dụng bên thứ ba thay vì chia sẻ mật khẩu.</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Người dùng đăng nhập Google/Facebook vào ứng dụng, hệ thống chỉ cấp access token giới hạn thay vì thông tin đăng nhập gốc</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lvl="1"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2. Sử dụng HTTPS/TLS</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API thanh toán của Stripe yêu cầu mọi request phải được gửi qua HTTPS (TLS 1.2 hoặc 1.3), từ chối hoàn toàn kết nối HTTP.</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Giúp chống nghe lén hoặc MITM (Man-In-The-Middle).</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99869406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91796"/>
            <a:ext cx="10242645" cy="528851"/>
          </a:xfrm>
        </p:spPr>
        <p:txBody>
          <a:bodyPr/>
          <a:lstStyle/>
          <a:p>
            <a:r>
              <a:rPr lang="en-US" sz="2800" b="1" dirty="0" smtClean="0">
                <a:solidFill>
                  <a:srgbClr val="0000CC"/>
                </a:solidFill>
                <a:latin typeface="Rockwell" panose="02060603020205020403" pitchFamily="18" charset="0"/>
              </a:rPr>
              <a:t>5.4.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 bảo 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20647"/>
            <a:ext cx="10051577"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3. Giới hạn tốc độ (Rate Limiting)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GitHub API giới hạn 60 request/giờ đối với người dùng chưa xác thực và 5000 request/giờ đối với tài khoản có token.</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Ngăn tấn công brute-force hoặc DDoS.</a:t>
            </a: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4. Mã hóa dữ liệu nhạy cảm</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Một API ngân hàng khi trả về số thẻ tín dụng, chỉ cho phép hiển thị dạng masking: **** **** **** 1234.</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Phần dữ liệu còn lại được mã hóa AES-256 trong cơ sở dữ liệu.</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0517344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91796"/>
            <a:ext cx="10242645" cy="528851"/>
          </a:xfrm>
        </p:spPr>
        <p:txBody>
          <a:bodyPr/>
          <a:lstStyle/>
          <a:p>
            <a:r>
              <a:rPr lang="en-US" sz="2800" b="1" dirty="0" smtClean="0">
                <a:solidFill>
                  <a:srgbClr val="0000CC"/>
                </a:solidFill>
                <a:latin typeface="Rockwell" panose="02060603020205020403" pitchFamily="18" charset="0"/>
              </a:rPr>
              <a:t>5.4.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 bảo 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20647"/>
            <a:ext cx="10051577"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5. Kiểm tra và ghi log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API của AWS CloudTrail ghi lại mọi request API (ai gọi, gọi khi nào, từ đâu, với thông số gì).</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Nếu có bất thường (ví dụ brute-force login), admin dễ dàng phát hiện.</a:t>
            </a: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6. Nguyên tắc tối thiểu (Least Privilege)</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Trong hệ thống AWS IAM, một API token chỉ được cấp quyền read-only với S3 bucket thay vì full control.</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Nếu token bị lộ, hacker không thể xóa dữ liệu.</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spcBef>
                <a:spcPts val="600"/>
              </a:spcBef>
              <a:spcAft>
                <a:spcPts val="600"/>
              </a:spcAft>
            </a:pP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64840571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91796"/>
            <a:ext cx="10242645" cy="528851"/>
          </a:xfrm>
        </p:spPr>
        <p:txBody>
          <a:bodyPr/>
          <a:lstStyle/>
          <a:p>
            <a:r>
              <a:rPr lang="en-US" sz="2800" b="1" dirty="0" smtClean="0">
                <a:solidFill>
                  <a:srgbClr val="0000CC"/>
                </a:solidFill>
                <a:latin typeface="Rockwell" panose="02060603020205020403" pitchFamily="18" charset="0"/>
              </a:rPr>
              <a:t>5.4.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 bảo 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20647"/>
            <a:ext cx="10051577"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lvl="1" indent="0">
              <a:spcBef>
                <a:spcPts val="600"/>
              </a:spcBef>
              <a:spcAft>
                <a:spcPts val="600"/>
              </a:spcAft>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7.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đầu</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(Input Validation)</a:t>
            </a:r>
          </a:p>
          <a:p>
            <a:pPr marL="573088" lvl="1">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API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nhận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tham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userId</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query,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thay</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vì</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trực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tiếp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dùng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SQL,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nó</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sẽ</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914400" lvl="2">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Kiểm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có</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phải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UUID</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hợp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lệ</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không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914400" lvl="2">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PreparedStatement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query DB.</a:t>
            </a:r>
          </a:p>
          <a:p>
            <a:pPr marL="573088" lvl="1">
              <a:spcBef>
                <a:spcPts val="600"/>
              </a:spcBef>
              <a:spcAft>
                <a:spcPts val="600"/>
              </a:spcAft>
            </a:pP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Tránh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SQL Injection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hoặc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Command Injection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lvl="1" indent="0">
              <a:spcBef>
                <a:spcPts val="600"/>
              </a:spcBef>
              <a:spcAft>
                <a:spcPts val="600"/>
              </a:spcAft>
              <a:buNone/>
            </a:pPr>
            <a:endParaRPr lang="en-US" dirty="0" smtClean="0"/>
          </a:p>
          <a:p>
            <a:pPr marL="0" lvl="1" indent="0" algn="just">
              <a:lnSpc>
                <a:spcPct val="110000"/>
              </a:lnSpc>
              <a:spcBef>
                <a:spcPts val="600"/>
              </a:spcBef>
              <a:spcAft>
                <a:spcPts val="600"/>
              </a:spcAft>
              <a:buNone/>
            </a:pPr>
            <a:r>
              <a:rPr lang="en-US" dirty="0" err="1" smtClean="0">
                <a:solidFill>
                  <a:srgbClr val="FF00FF"/>
                </a:solidFill>
                <a:latin typeface="Rockwell" panose="02060603020205020403" pitchFamily="18" charset="0"/>
              </a:rPr>
              <a:t>Bảo</a:t>
            </a:r>
            <a:r>
              <a:rPr lang="en-US" dirty="0" smtClean="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mật</a:t>
            </a:r>
            <a:r>
              <a:rPr lang="en-US" dirty="0">
                <a:solidFill>
                  <a:srgbClr val="FF00FF"/>
                </a:solidFill>
                <a:latin typeface="Rockwell" panose="02060603020205020403" pitchFamily="18" charset="0"/>
              </a:rPr>
              <a:t> API </a:t>
            </a:r>
            <a:r>
              <a:rPr lang="en-US" dirty="0" err="1">
                <a:solidFill>
                  <a:srgbClr val="FF00FF"/>
                </a:solidFill>
                <a:latin typeface="Rockwell" panose="02060603020205020403" pitchFamily="18" charset="0"/>
              </a:rPr>
              <a:t>không</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chỉ</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là</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dùng</a:t>
            </a:r>
            <a:r>
              <a:rPr lang="en-US" dirty="0">
                <a:solidFill>
                  <a:srgbClr val="FF00FF"/>
                </a:solidFill>
                <a:latin typeface="Rockwell" panose="02060603020205020403" pitchFamily="18" charset="0"/>
              </a:rPr>
              <a:t> HTTPS </a:t>
            </a:r>
            <a:r>
              <a:rPr lang="en-US" dirty="0" err="1">
                <a:solidFill>
                  <a:srgbClr val="FF00FF"/>
                </a:solidFill>
                <a:latin typeface="Rockwell" panose="02060603020205020403" pitchFamily="18" charset="0"/>
              </a:rPr>
              <a:t>và</a:t>
            </a:r>
            <a:r>
              <a:rPr lang="en-US" dirty="0">
                <a:solidFill>
                  <a:srgbClr val="FF00FF"/>
                </a:solidFill>
                <a:latin typeface="Rockwell" panose="02060603020205020403" pitchFamily="18" charset="0"/>
              </a:rPr>
              <a:t> token, </a:t>
            </a:r>
            <a:r>
              <a:rPr lang="en-US" dirty="0" err="1">
                <a:solidFill>
                  <a:srgbClr val="FF00FF"/>
                </a:solidFill>
                <a:latin typeface="Rockwell" panose="02060603020205020403" pitchFamily="18" charset="0"/>
              </a:rPr>
              <a:t>mà</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là</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một</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tập</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hợp</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các</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nguyên</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tắc</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chặt</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chẽ</a:t>
            </a:r>
            <a:r>
              <a:rPr lang="en-US" dirty="0">
                <a:solidFill>
                  <a:srgbClr val="FF00FF"/>
                </a:solidFill>
                <a:latin typeface="Rockwell" panose="02060603020205020403" pitchFamily="18" charset="0"/>
              </a:rPr>
              <a:t>: </a:t>
            </a:r>
            <a:r>
              <a:rPr lang="en-US" dirty="0" err="1" smtClean="0">
                <a:solidFill>
                  <a:srgbClr val="FF00FF"/>
                </a:solidFill>
                <a:latin typeface="Rockwell" panose="02060603020205020403" pitchFamily="18" charset="0"/>
              </a:rPr>
              <a:t>Xác</a:t>
            </a:r>
            <a:r>
              <a:rPr lang="en-US" dirty="0" smtClean="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thực</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mạnh</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kiểm</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soát</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quyền</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hạn</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chế</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truy</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cập</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mã</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hóa</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giám</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sát</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liên</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tục</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Đây</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là</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lớp</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bảo</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vệ</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quan</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trọng</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giúp</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ngăn</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ngừa</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tấn</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công</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vào</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các</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ứng</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dụng</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hiện</a:t>
            </a:r>
            <a:r>
              <a:rPr lang="en-US" dirty="0">
                <a:solidFill>
                  <a:srgbClr val="FF00FF"/>
                </a:solidFill>
                <a:latin typeface="Rockwell" panose="02060603020205020403" pitchFamily="18" charset="0"/>
              </a:rPr>
              <a:t> </a:t>
            </a:r>
            <a:r>
              <a:rPr lang="en-US" dirty="0" err="1">
                <a:solidFill>
                  <a:srgbClr val="FF00FF"/>
                </a:solidFill>
                <a:latin typeface="Rockwell" panose="02060603020205020403" pitchFamily="18" charset="0"/>
              </a:rPr>
              <a:t>đại</a:t>
            </a:r>
            <a:r>
              <a:rPr lang="en-US" dirty="0">
                <a:solidFill>
                  <a:srgbClr val="FF00FF"/>
                </a:solidFill>
                <a:latin typeface="Rockwell" panose="02060603020205020403" pitchFamily="18" charset="0"/>
              </a:rPr>
              <a:t>.</a:t>
            </a:r>
            <a:endParaRPr lang="en-US"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16162849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5.5.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OS</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1. Cập nhật và vá lỗi thường xuyên</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Hệ điều hành phải được cập nhật bản vá bảo mật kịp thời để tránh khai thác từ lỗ hổng đã biết.</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vá lỗ hổng EternalBlue trên Windows để ngăn mã độc WannaCry.</a:t>
            </a:r>
          </a:p>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2. Nguyên tắc tối thiểu (Least Privilege)</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Chỉ cấp quyền cần thiết cho người dùng và tiến trình.</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tài khoản dịch vụ web server chỉ nên có quyền đọc file cấu hình, không có quyền truy cập root.</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04644970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5.5.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OS</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9819565" cy="4382729"/>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3. Tường lửa và phân vùng mạng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Firewall &amp; Network Segmentation)</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Bật và cấu hình firewall để chặn truy cập trái phép.</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chỉ cho phép port 22 (SSH) từ một dải IP quản trị, còn lại bị chặn.</a:t>
            </a:r>
          </a:p>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4</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Cơ chế xác thực và quản lý mật khẩu an toàn</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Bắt buộc sử dụng mật khẩu mạnh hoặc xác thực đa yếu tố (MFA).</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không cho phép đăng nhập root qua SSH, thay vào đó dùng user thường + sudo + khóa SSH.</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92463482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5.5.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OS</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9942395" cy="4382729"/>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5. Giám sát và ghi log hệ thống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Ghi log đầy đủ (login, thay đổi quyền, cài đặt phần mềm) và theo dõi liên tục.</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dùng auditd trên Linux hoặc Windows Event Viewer để phát hiện truy cập bất thường.</a:t>
            </a:r>
          </a:p>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6</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Bảo mật dịch vụ và tiến trình</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Tắt các dịch vụ không cần thiết, giới hạn số port mở.</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vô hiệu hóa Telnet, FTP (giao thức cũ, không mã hóa) và thay thế bằng SSH/SFTP.</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93983659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5.5.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OS</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9942395" cy="4382729"/>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7. Cơ chế sao lưu &amp; phục hồi</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Đảm bảo có bản sao lưu định kỳ và thử nghiệm khôi phục dữ liệu.</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snapshot định kỳ VM trên VMware/Hyper-V để khôi phục khi hệ thống bị tấn công ransomware.</a:t>
            </a:r>
          </a:p>
          <a:p>
            <a:pPr marL="0" indent="0" algn="just">
              <a:buNone/>
            </a:pP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lgn="just">
              <a:buNone/>
            </a:pPr>
            <a:r>
              <a:rPr lang="vi-VN"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Nguyên </a:t>
            </a:r>
            <a:r>
              <a:rPr lang="vi-VN" dirty="0">
                <a:solidFill>
                  <a:srgbClr val="FF00FF"/>
                </a:solidFill>
                <a:latin typeface="Rockwell" panose="02060603020205020403" pitchFamily="18" charset="0"/>
                <a:ea typeface="Segoe UI Emoji" panose="020B0502040204020203" pitchFamily="34" charset="0"/>
                <a:cs typeface="Tahoma" panose="020B0604030504040204" pitchFamily="34" charset="0"/>
              </a:rPr>
              <a:t>tắc bảo mật OS tập trung vào cập nhật thường xuyên, giới hạn quyền, bảo vệ kết nối mạng, xác thực mạnh, giám sát log, quản lý dịch vụ, và duy trì khả năng phục hồi sau sự cố.</a:t>
            </a:r>
            <a:endParaRPr lang="en-US"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68044204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5.6.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Công cụ &amp; Giải pháp bảo 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1. API Gateway</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Kong, Apigee, AWS API Gateway.</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Chức năng: quản lý truy cập, xác thực, giới hạn tốc độ (rate limiting), ghi log và giám sát API.</a:t>
            </a:r>
          </a:p>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2. Cơ chế Xác thực &amp; Ủy quyền (Authentication &amp; Authorization)</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OAuth 2.0, OpenID Connect, JWT (JSON Web Token).</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Giúp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đảm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bảo chỉ người dùng/ứng dụng hợp lệ mới truy cập API</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lvl="1"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3. Web Application Firewall (WAF)</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ModSecurity, AWS WAF, Cloudflare WAF.</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Lọc và chặn các truy cập độc hại như SQL Injection, XSS, Command Injection.</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227098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5.6.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Công cụ &amp; Giải pháp bảo 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065225" cy="4382729"/>
          </a:xfrm>
        </p:spPr>
        <p:txBody>
          <a:bodyPr/>
          <a:lstStyle/>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4</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Công cụ Kiểm thử và Quản lý Lỗ hổng API</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OWASP ZAP, Burp Suite, Postman (test bảo mật API).</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Phát hiện sớm các điểm yếu trong API.</a:t>
            </a:r>
          </a:p>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5. Giám sát &amp; Logging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ELK Stack (Elasticsearch, Logstash, Kibana), Grafana, Splunk.</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Theo dõi hành vi bất thường, cảnh báo sớm khi có tấn công.</a:t>
            </a:r>
          </a:p>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6. Mã hóa &amp; Bảo mật Giao tiếp</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TLS/SSL để mã hóa dữ liệu truyền qua API.</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Bắt buộc HTTPS thay vì HTTP.</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32955730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5.6.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Công cụ &amp; Giải pháp bảo 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065225" cy="4382729"/>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7. Giải pháp bảo mật API trên nền tảng Cloud</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Azure API Management, Google Cloud Endpoints, AWS Shield.</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Tích hợp sẵn nhiều tính năng bảo mật (xác thực, chống DDoS, phân tích lưu lượng).</a:t>
            </a:r>
          </a:p>
          <a:p>
            <a:pPr marL="0" indent="0">
              <a:buNone/>
            </a:pP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lgn="just">
              <a:buNone/>
            </a:pPr>
            <a:r>
              <a:rPr lang="vi-VN"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Việc </a:t>
            </a:r>
            <a:r>
              <a:rPr lang="vi-VN" dirty="0">
                <a:solidFill>
                  <a:srgbClr val="FF00FF"/>
                </a:solidFill>
                <a:latin typeface="Rockwell" panose="02060603020205020403" pitchFamily="18" charset="0"/>
                <a:ea typeface="Segoe UI Emoji" panose="020B0502040204020203" pitchFamily="34" charset="0"/>
                <a:cs typeface="Tahoma" panose="020B0604030504040204" pitchFamily="34" charset="0"/>
              </a:rPr>
              <a:t>bảo mật API không chỉ dựa vào mã nguồn an toàn, mà còn cần sự hỗ trợ của công cụ giám sát, kiểm thử và quản lý truy cập, nhằm giảm thiểu rủi ro và nâng cao khả năng phòng thủ toàn diện.</a:t>
            </a:r>
            <a:endParaRPr lang="en-US"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425286589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5.6.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Công cụ &amp; Giải pháp bảo 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t="14070" b="12108"/>
          <a:stretch/>
        </p:blipFill>
        <p:spPr>
          <a:xfrm>
            <a:off x="3439235" y="1514900"/>
            <a:ext cx="5486401" cy="5343100"/>
          </a:xfrm>
        </p:spPr>
      </p:pic>
    </p:spTree>
    <p:extLst>
      <p:ext uri="{BB962C8B-B14F-4D97-AF65-F5344CB8AC3E}">
        <p14:creationId xmlns:p14="http://schemas.microsoft.com/office/powerpoint/2010/main" val="283994015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5.7.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Công cụ &amp; Giải pháp bảo 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OS</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1. Antivirus &amp; Anti-malware</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Kaspersky, Windows Defender, Bitdefender.</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Ngăn chặn, phát hiện và loại bỏ phần mềm độc hại (virus, trojan, ransomware).</a:t>
            </a:r>
          </a:p>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2. Firewall (Tường lửa)</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Windows Firewall, pfSense, iptables.</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soát lưu lượng mạng ra/vào, ngăn chặn truy cập trái phép.</a:t>
            </a:r>
          </a:p>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3. Hệ thống phát hiện/xử lý xâm nhập (IDS/IPS)</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Snort, Suricata, OSSEC.</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Phát hiện các hành vi bất thường, cảnh báo và ngăn chặn tấn công.</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00975663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5.7.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Công cụ &amp; Giải pháp bảo 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OS</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4. Quản lý bản vá &amp; cập nhật hệ điều hành</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WSUS (Windows Server Update Services), Landscape (Ubuntu).</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Đảm bảo hệ điều hành và dịch vụ luôn được vá lỗi bảo mật kịp thời.</a:t>
            </a:r>
          </a:p>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5. Quản lý quyền &amp; kiểm soát truy cập (Access Control)</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SELinux (Linux), AppArmor, Group Policy (Windows).</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Giới hạn quyền người dùng, giảm thiểu nguy cơ leo thang đặc quyền.</a:t>
            </a:r>
          </a:p>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6. Mã hóa &amp; bảo vệ dữ liệu</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BitLocker (Windows), LUKS (Linux Unified Key Setup).</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Mã hóa dữ liệu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HDD</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ngăn kẻ tấn công lấy cắp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DL</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khi thiết bị bị mất.</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17263654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5.7.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Công cụ &amp; Giải pháp bảo 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OS</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9696735" cy="4382729"/>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7. Công cụ giám sát &amp; log hệ thống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Splunk, Graylog, ELK Stack.</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Theo dõi nhật ký hệ thống, phát hiện dấu hiệu bất thường và hỗ trợ điều tra.</a:t>
            </a:r>
          </a:p>
          <a:p>
            <a:pPr marL="0" indent="0">
              <a:buNone/>
            </a:pP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lgn="just">
              <a:buNone/>
            </a:pPr>
            <a:r>
              <a:rPr lang="vi-VN" dirty="0">
                <a:solidFill>
                  <a:srgbClr val="FF00FF"/>
                </a:solidFill>
                <a:latin typeface="Rockwell" panose="02060603020205020403" pitchFamily="18" charset="0"/>
                <a:ea typeface="Segoe UI Emoji" panose="020B0502040204020203" pitchFamily="34" charset="0"/>
                <a:cs typeface="Tahoma" panose="020B0604030504040204" pitchFamily="34" charset="0"/>
              </a:rPr>
              <a:t>Như vậy, để bảo mật hệ điều hành hiệu quả, cần kết hợp nhiều lớp giải pháp (Defense in Depth), từ antivirus, firewall đến IDS/IPS, mã hóa và giám sát hệ thống.</a:t>
            </a:r>
            <a:endParaRPr lang="en-US"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31556155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5.7.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Công cụ &amp; Giải pháp bảo 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OS</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t="15316" b="15846"/>
          <a:stretch/>
        </p:blipFill>
        <p:spPr>
          <a:xfrm>
            <a:off x="3667502" y="1555845"/>
            <a:ext cx="5244486" cy="5302156"/>
          </a:xfrm>
        </p:spPr>
      </p:pic>
    </p:spTree>
    <p:extLst>
      <p:ext uri="{BB962C8B-B14F-4D97-AF65-F5344CB8AC3E}">
        <p14:creationId xmlns:p14="http://schemas.microsoft.com/office/powerpoint/2010/main" val="246971192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5.8.</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hướng hiện đại trong bảo 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1. Zero Trust API Security</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tin tưởng mặc định bất kỳ kết nối nào, kể cả nội bộ.</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Mọi request phải được xác thực và kiểm tra liên tục.</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Ứng dụng phổ biến: API Gateway + Identity Provider (IdP) với OAuth2, JWT, OpenID Connect.</a:t>
            </a: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2. API Security Gateway</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Triển khai các gateway chuyên biệt (Kong, Apigee, WSO2) để kiểm soát, giám sát và bảo vệ API.</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Tích hợp các chức năng: xác thực, rate limiting, threat detection, logging</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70495387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5.8.</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hướng hiện đại trong bảo 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spcBef>
                <a:spcPts val="600"/>
              </a:spcBef>
              <a:spcAft>
                <a:spcPts val="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Machine Learning trong bảo mật API</a:t>
            </a:r>
          </a:p>
          <a:p>
            <a:pPr lvl="1">
              <a:spcBef>
                <a:spcPts val="600"/>
              </a:spcBef>
              <a:spcAft>
                <a:spcPts val="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Dùng AI/ML phát hiện hành vi bất thường (ví dụ: traffic đột ngột tăng bất thường, truy cập dữ liệu nhạy cảm ngoài pattern).</a:t>
            </a:r>
          </a:p>
          <a:p>
            <a:pPr lvl="1">
              <a:spcBef>
                <a:spcPts val="600"/>
              </a:spcBef>
              <a:spcAft>
                <a:spcPts val="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Tự động ngăn chặn DDoS, brute-force, hoặc data scraping</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lvl="1" indent="0">
              <a:spcBef>
                <a:spcPts val="600"/>
              </a:spcBef>
              <a:spcAft>
                <a:spcPts val="0"/>
              </a:spcAft>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4. API Threat Intelligence &amp; Runtime Protection</a:t>
            </a:r>
          </a:p>
          <a:p>
            <a:pPr lvl="1">
              <a:spcBef>
                <a:spcPts val="600"/>
              </a:spcBef>
              <a:spcAft>
                <a:spcPts val="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Kết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hợp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dữ</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liệu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threat intelligence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để</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API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theo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thời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gian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thực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1">
              <a:spcBef>
                <a:spcPts val="600"/>
              </a:spcBef>
              <a:spcAft>
                <a:spcPts val="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Tích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hợp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RASP (Runtime Application Self-Protection)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để</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vệ</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API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ngay</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runtime.</a:t>
            </a:r>
          </a:p>
          <a:p>
            <a:pPr marL="530352" lvl="1" indent="0">
              <a:spcBef>
                <a:spcPts val="600"/>
              </a:spcBef>
              <a:spcAft>
                <a:spcPts val="600"/>
              </a:spcAft>
              <a:buNone/>
            </a:pP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15396607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5.8.</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hướng hiện đại trong bảo 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lvl="1"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5. Shift-left Security cho API</a:t>
            </a:r>
          </a:p>
          <a:p>
            <a:pPr marL="800100" lvl="2">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Đưa kiểm thử bảo mật API sớm vào vòng đời phát triển phần mềm (SDLC).</a:t>
            </a:r>
          </a:p>
          <a:p>
            <a:pPr marL="800100" lvl="2">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Sử dụng công cụ như OWASP ZAP, Burp Suite, Postman security tests để phát hiện lỗ hổng ngay từ giai đoạn Dev.</a:t>
            </a:r>
          </a:p>
          <a:p>
            <a:pPr marL="0" lvl="1"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6. API Security as Code</a:t>
            </a:r>
          </a:p>
          <a:p>
            <a:pPr marL="800100" lvl="2">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Bảo mật API được quản lý như code: định nghĩa policy, authentication, rate limiting trong file cấu hình (YAML, JSON) để tự động triển khai trên CI/CD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pipelines</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p:txBody>
      </p:sp>
    </p:spTree>
    <p:extLst>
      <p:ext uri="{BB962C8B-B14F-4D97-AF65-F5344CB8AC3E}">
        <p14:creationId xmlns:p14="http://schemas.microsoft.com/office/powerpoint/2010/main" val="280600369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5.8.</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hướng hiện đại trong bảo 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lvl="1"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7</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Tích hợp API Security vào Cloud-native &amp; Microservices</a:t>
            </a:r>
          </a:p>
          <a:p>
            <a:pPr marL="800100" lvl="2">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API bảo mật được thiết kế sẵn cho Kubernetes, Docker, Serverless.</a:t>
            </a:r>
          </a:p>
          <a:p>
            <a:pPr marL="800100" lvl="2">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Sử dụng Service Mesh (Istio, Linkerd) để kiểm soát luồng API trong microservices.</a:t>
            </a:r>
          </a:p>
          <a:p>
            <a:pPr marL="0" lvl="1" indent="0">
              <a:spcBef>
                <a:spcPts val="600"/>
              </a:spcBef>
              <a:spcAft>
                <a:spcPts val="600"/>
              </a:spcAft>
              <a:buNone/>
            </a:pP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lvl="1" indent="0" algn="just">
              <a:spcBef>
                <a:spcPts val="600"/>
              </a:spcBef>
              <a:spcAft>
                <a:spcPts val="600"/>
              </a:spcAft>
              <a:buNone/>
            </a:pPr>
            <a:r>
              <a:rPr lang="vi-VN" b="1" dirty="0">
                <a:solidFill>
                  <a:srgbClr val="FF00FF"/>
                </a:solidFill>
                <a:latin typeface="Rockwell" panose="02060603020205020403" pitchFamily="18" charset="0"/>
                <a:ea typeface="Segoe UI Emoji" panose="020B0502040204020203" pitchFamily="34" charset="0"/>
                <a:cs typeface="Tahoma" panose="020B0604030504040204" pitchFamily="34" charset="0"/>
              </a:rPr>
              <a:t>Những xu hướng này giúp các tổ chức không chỉ “phòng thủ” trước tấn công API mà còn chủ động phát hiện &amp; ứng phó theo thời gian thực, đồng thời đảm bảo API luôn an toàn trong suốt vòng đời.</a:t>
            </a:r>
            <a:endParaRPr lang="vi-VN"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16542208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5.8.</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hướng hiện đại trong bảo 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11419" y="1539875"/>
            <a:ext cx="5763004" cy="5318125"/>
          </a:xfrm>
        </p:spPr>
      </p:pic>
    </p:spTree>
    <p:extLst>
      <p:ext uri="{BB962C8B-B14F-4D97-AF65-F5344CB8AC3E}">
        <p14:creationId xmlns:p14="http://schemas.microsoft.com/office/powerpoint/2010/main" val="259954635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5.9.</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hướng hiện đại trong bảo 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OS</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lgn="jus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Trong bối cảnh các hệ điều hành ngày càng phức tạp và được triển khai trên nhiều môi trường (máy chủ, thiết bị IoT, cloud, mobile), các xu hướng bảo mật OS hiện đại tập trung vào việc tự động hóa, phòng thủ theo chiều sâu, và tích hợp AI/ML. Một số xu hướng nổi bật gồm:</a:t>
            </a:r>
          </a:p>
          <a:p>
            <a:pPr marL="0" indent="0" algn="jus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1</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Zero Trust Security Model cho OS</a:t>
            </a:r>
          </a:p>
          <a:p>
            <a:pPr lvl="1" algn="just">
              <a:spcBef>
                <a:spcPts val="600"/>
              </a:spcBef>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hình “Không tin cậy mặc định” (Zero Trust) được áp dụng ngay ở cấp hệ điều hành.</a:t>
            </a:r>
          </a:p>
          <a:p>
            <a:pPr lvl="1" algn="just">
              <a:spcBef>
                <a:spcPts val="600"/>
              </a:spcBef>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Mọi truy cập vào tài nguyên hệ thống phải qua xác thực và phân quyền chi tiết, không dựa vào mạng nội bộ là an toàn.</a:t>
            </a:r>
          </a:p>
          <a:p>
            <a:pPr lvl="1">
              <a:spcBef>
                <a:spcPts val="600"/>
              </a:spcBef>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Windows Hello for Business, Linux SELinux, macOS Gatekeeper</a:t>
            </a:r>
            <a:r>
              <a:rPr lang="vi-VN" dirty="0"/>
              <a:t>.</a:t>
            </a:r>
            <a:endParaRPr lang="en-US" dirty="0"/>
          </a:p>
        </p:txBody>
      </p:sp>
    </p:spTree>
    <p:extLst>
      <p:ext uri="{BB962C8B-B14F-4D97-AF65-F5344CB8AC3E}">
        <p14:creationId xmlns:p14="http://schemas.microsoft.com/office/powerpoint/2010/main" val="385937709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5.9.</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hướng hiện đại trong bảo 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OS</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lgn="jus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2</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Tích hợp AI/ML vào giám sát hành vi</a:t>
            </a:r>
          </a:p>
          <a:p>
            <a:pPr marL="804863" lvl="2" algn="just"/>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Hệ điều hành hiện đại kết hợp machine learning để phát hiện bất thường (anomaly detection).</a:t>
            </a:r>
          </a:p>
          <a:p>
            <a:pPr marL="804863" lvl="2" algn="just"/>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Có khả năng phân tích hành vi tiến trình, phát hiện malware zero-day hoặc ransomware chưa có chữ ký.</a:t>
            </a:r>
          </a:p>
          <a:p>
            <a:pPr marL="804863" lvl="2" algn="just"/>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Microsoft Defender ATP trên Windows, CrowdStrike Falcon.</a:t>
            </a:r>
          </a:p>
          <a:p>
            <a:pPr marL="0" indent="0" algn="jus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Hardening OS bằng sandbox &amp; containerization</a:t>
            </a:r>
          </a:p>
          <a:p>
            <a:pPr lvl="1"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Ứng dụng và tiến trình chạy trong sandbox hoặc container để hạn chế quyền và cô lập khi bị xâm nhập.</a:t>
            </a:r>
          </a:p>
          <a:p>
            <a:pPr lvl="1"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Giúp giảm rủi ro khi một dịch vụ OS hoặc ứng dụng bị khai thác lỗ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dụ: Docker, Kubernetes Pod Security, Android Application Sandbox.</a:t>
            </a:r>
            <a:endParaRPr lang="en-US" dirty="0"/>
          </a:p>
        </p:txBody>
      </p:sp>
    </p:spTree>
    <p:extLst>
      <p:ext uri="{BB962C8B-B14F-4D97-AF65-F5344CB8AC3E}">
        <p14:creationId xmlns:p14="http://schemas.microsoft.com/office/powerpoint/2010/main" val="426383648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5.9.</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hướng hiện đại trong bảo 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OS</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lgn="jus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4</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Tự động vá lỗi (Automated Patching)</a:t>
            </a:r>
          </a:p>
          <a:p>
            <a:pPr lvl="1"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hệ điều hành hiện nay ưu tiên cập nhật bảo mật tự động thay vì phụ thuộc vào người dùng.</a:t>
            </a:r>
          </a:p>
          <a:p>
            <a:pPr lvl="1"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Giúp giảm thời gian phơi nhiễm khi lỗ hổng mới xuất hiện.</a:t>
            </a:r>
          </a:p>
          <a:p>
            <a:pPr lvl="1"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Windows Update tự động, Ubuntu Livepatch, Red Hat Satellite.</a:t>
            </a:r>
          </a:p>
          <a:p>
            <a:pPr marL="0" indent="0" algn="jus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5</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Tích hợp bảo mật phần cứng (Hardware-assisted Security)</a:t>
            </a:r>
          </a:p>
          <a:p>
            <a:pPr lvl="1"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OS hiện đại sử dụng cơ chế bảo mật từ phần cứng để chống tấn công nâng cao.</a:t>
            </a:r>
          </a:p>
          <a:p>
            <a:pPr lvl="1"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TPM (Trusted Platform Module), Secure Boot, Intel SGX, AMD SEV.</a:t>
            </a:r>
          </a:p>
          <a:p>
            <a:pPr lvl="1"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Ngăn rootkit/bootkit và bảo vệ dữ liệu khi thiết bị bị đánh cắp.</a:t>
            </a:r>
            <a:endParaRPr lang="en-US" dirty="0"/>
          </a:p>
        </p:txBody>
      </p:sp>
    </p:spTree>
    <p:extLst>
      <p:ext uri="{BB962C8B-B14F-4D97-AF65-F5344CB8AC3E}">
        <p14:creationId xmlns:p14="http://schemas.microsoft.com/office/powerpoint/2010/main" val="19271188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491797"/>
            <a:ext cx="10242645" cy="528851"/>
          </a:xfrm>
        </p:spPr>
        <p:txBody>
          <a:bodyPr/>
          <a:lstStyle/>
          <a:p>
            <a:r>
              <a:rPr lang="en-US" sz="2800" b="1" dirty="0" smtClean="0">
                <a:solidFill>
                  <a:srgbClr val="0000CC"/>
                </a:solidFill>
                <a:latin typeface="Rockwell" panose="02060603020205020403" pitchFamily="18" charset="0"/>
              </a:rPr>
              <a:t>5.9.</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hướng hiện đại trong bảo 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OS</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20648"/>
            <a:ext cx="10242645" cy="4382729"/>
          </a:xfrm>
        </p:spPr>
        <p:txBody>
          <a:bodyPr/>
          <a:lstStyle/>
          <a:p>
            <a:pPr marL="0" indent="0" algn="jus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6</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Cơ chế bảo vệ bộ nhớ tiên tiến</a:t>
            </a:r>
          </a:p>
          <a:p>
            <a:pPr lvl="1"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Sử dụng kỹ thuật như Address Space Layout Randomization (ASLR), Data Execution Prevention (DEP), và Control Flow Guard (CFG).</a:t>
            </a:r>
          </a:p>
          <a:p>
            <a:pPr lvl="1"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Ngăn chặn tấn công tràn bộ nhớ (buffer overflow), ROP/JOP attack.</a:t>
            </a:r>
          </a:p>
          <a:p>
            <a:pPr lvl="1"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Được triển khai mạnh mẽ trên Windows, Linux, iOS.</a:t>
            </a:r>
          </a:p>
          <a:p>
            <a:pPr marL="0" indent="0" algn="jus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7. Bảo mật OS trong môi trường Cloud &amp; Edge</a:t>
            </a:r>
          </a:p>
          <a:p>
            <a:pPr lvl="1"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OS ngày nay không chỉ chạy trên máy tính cá nhân, mà còn trong cloud và thiết bị IoT/Edge.</a:t>
            </a:r>
          </a:p>
          <a:p>
            <a:pPr lvl="1"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Xu hướng là lightweight OS với bảo mật tích hợp, ví dụ như:</a:t>
            </a:r>
          </a:p>
          <a:p>
            <a:pPr lvl="1"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AWS Bottlerocket (Linux cho container).</a:t>
            </a:r>
          </a:p>
          <a:p>
            <a:pPr lvl="1"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Google Fuchsia (IoT &amp; Mobile OS với bảo mật sandbox gốc).</a:t>
            </a:r>
          </a:p>
          <a:p>
            <a:pPr lvl="1"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Azure Sphere OS (IoT security by design).</a:t>
            </a:r>
            <a:endParaRPr lang="en-US" dirty="0"/>
          </a:p>
        </p:txBody>
      </p:sp>
    </p:spTree>
    <p:extLst>
      <p:ext uri="{BB962C8B-B14F-4D97-AF65-F5344CB8AC3E}">
        <p14:creationId xmlns:p14="http://schemas.microsoft.com/office/powerpoint/2010/main" val="248362659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798358" y="425231"/>
            <a:ext cx="9403307" cy="944020"/>
          </a:xfrm>
        </p:spPr>
        <p:txBody>
          <a:bodyPr>
            <a:normAutofit/>
          </a:bodyPr>
          <a:lstStyle/>
          <a:p>
            <a:pPr algn="l"/>
            <a:r>
              <a:rPr lang="en-US" sz="3000" dirty="0" err="1" smtClean="0">
                <a:solidFill>
                  <a:schemeClr val="bg1"/>
                </a:solidFill>
                <a:latin typeface="Rockwell" panose="02060603020205020403" pitchFamily="18" charset="0"/>
              </a:rPr>
              <a:t>Những</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nội</a:t>
            </a:r>
            <a:r>
              <a:rPr lang="en-US" sz="3000" dirty="0" smtClean="0">
                <a:solidFill>
                  <a:schemeClr val="bg1"/>
                </a:solidFill>
                <a:latin typeface="Rockwell" panose="02060603020205020403" pitchFamily="18" charset="0"/>
              </a:rPr>
              <a:t> dung </a:t>
            </a:r>
            <a:r>
              <a:rPr lang="en-US" sz="3000" dirty="0" err="1" smtClean="0">
                <a:solidFill>
                  <a:schemeClr val="bg1"/>
                </a:solidFill>
                <a:latin typeface="Rockwell" panose="02060603020205020403" pitchFamily="18" charset="0"/>
              </a:rPr>
              <a:t>cần</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lưu</a:t>
            </a:r>
            <a:r>
              <a:rPr lang="en-US" sz="3000" smtClean="0">
                <a:solidFill>
                  <a:schemeClr val="bg1"/>
                </a:solidFill>
                <a:latin typeface="Rockwell" panose="02060603020205020403" pitchFamily="18" charset="0"/>
              </a:rPr>
              <a:t> </a:t>
            </a:r>
            <a:r>
              <a:rPr lang="en-US" sz="3000" smtClean="0">
                <a:solidFill>
                  <a:schemeClr val="bg1"/>
                </a:solidFill>
                <a:latin typeface="Rockwell" panose="02060603020205020403" pitchFamily="18" charset="0"/>
              </a:rPr>
              <a:t>ý:</a:t>
            </a:r>
            <a:endParaRPr lang="en-US" sz="3000" dirty="0">
              <a:solidFill>
                <a:schemeClr val="bg1"/>
              </a:solidFill>
              <a:latin typeface="Rockwell" panose="02060603020205020403" pitchFamily="18" charset="0"/>
            </a:endParaRPr>
          </a:p>
        </p:txBody>
      </p: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910692" y="1369251"/>
            <a:ext cx="9717201" cy="4372169"/>
          </a:xfrm>
        </p:spPr>
        <p:txBody>
          <a:bodyPr>
            <a:noAutofit/>
          </a:bodyPr>
          <a:lstStyle/>
          <a:p>
            <a:pPr algn="l">
              <a:spcBef>
                <a:spcPts val="1200"/>
              </a:spcBef>
              <a:spcAft>
                <a:spcPts val="600"/>
              </a:spcAft>
            </a:pPr>
            <a:r>
              <a:rPr lang="en-US" sz="2600" dirty="0">
                <a:solidFill>
                  <a:schemeClr val="bg1"/>
                </a:solidFill>
                <a:latin typeface="Rockwell" panose="02060603020205020403" pitchFamily="18" charset="0"/>
                <a:ea typeface="+mj-ea"/>
                <a:cs typeface="+mj-cs"/>
              </a:rPr>
              <a:t>-</a:t>
            </a:r>
            <a:r>
              <a:rPr lang="vi-VN" sz="2600" dirty="0" smtClean="0">
                <a:solidFill>
                  <a:schemeClr val="bg1"/>
                </a:solidFill>
                <a:latin typeface="Rockwell" panose="02060603020205020403" pitchFamily="18" charset="0"/>
                <a:ea typeface="+mj-ea"/>
                <a:cs typeface="+mj-cs"/>
              </a:rPr>
              <a:t> </a:t>
            </a:r>
            <a:r>
              <a:rPr lang="vi-VN" sz="2600" dirty="0">
                <a:solidFill>
                  <a:schemeClr val="bg1"/>
                </a:solidFill>
                <a:latin typeface="Rockwell" panose="02060603020205020403" pitchFamily="18" charset="0"/>
                <a:ea typeface="+mj-ea"/>
                <a:cs typeface="+mj-cs"/>
              </a:rPr>
              <a:t>API &amp; OS là trọng tâm bảo mật trong hệ thống CNTT.</a:t>
            </a:r>
          </a:p>
          <a:p>
            <a:pPr algn="l">
              <a:spcBef>
                <a:spcPts val="1200"/>
              </a:spcBef>
              <a:spcAft>
                <a:spcPts val="600"/>
              </a:spcAft>
            </a:pPr>
            <a:r>
              <a:rPr lang="en-US" sz="2600" dirty="0" smtClean="0">
                <a:solidFill>
                  <a:schemeClr val="bg1"/>
                </a:solidFill>
                <a:latin typeface="Rockwell" panose="02060603020205020403" pitchFamily="18" charset="0"/>
                <a:ea typeface="+mj-ea"/>
                <a:cs typeface="+mj-cs"/>
              </a:rPr>
              <a:t>- </a:t>
            </a:r>
            <a:r>
              <a:rPr lang="vi-VN" sz="2600" dirty="0" smtClean="0">
                <a:solidFill>
                  <a:schemeClr val="bg1"/>
                </a:solidFill>
                <a:latin typeface="Rockwell" panose="02060603020205020403" pitchFamily="18" charset="0"/>
                <a:ea typeface="+mj-ea"/>
                <a:cs typeface="+mj-cs"/>
              </a:rPr>
              <a:t>API</a:t>
            </a:r>
            <a:r>
              <a:rPr lang="vi-VN" sz="2600" dirty="0">
                <a:solidFill>
                  <a:schemeClr val="bg1"/>
                </a:solidFill>
                <a:latin typeface="Rockwell" panose="02060603020205020403" pitchFamily="18" charset="0"/>
                <a:ea typeface="+mj-ea"/>
                <a:cs typeface="+mj-cs"/>
              </a:rPr>
              <a:t>: chú trọng xác thực, phân quyền, mã hóa, giám sát.</a:t>
            </a:r>
          </a:p>
          <a:p>
            <a:pPr algn="l">
              <a:spcBef>
                <a:spcPts val="1200"/>
              </a:spcBef>
              <a:spcAft>
                <a:spcPts val="600"/>
              </a:spcAft>
            </a:pPr>
            <a:r>
              <a:rPr lang="en-US" sz="2600" dirty="0" smtClean="0">
                <a:solidFill>
                  <a:schemeClr val="bg1"/>
                </a:solidFill>
                <a:latin typeface="Rockwell" panose="02060603020205020403" pitchFamily="18" charset="0"/>
                <a:ea typeface="+mj-ea"/>
                <a:cs typeface="+mj-cs"/>
              </a:rPr>
              <a:t>- </a:t>
            </a:r>
            <a:r>
              <a:rPr lang="vi-VN" sz="2600" dirty="0" smtClean="0">
                <a:solidFill>
                  <a:schemeClr val="bg1"/>
                </a:solidFill>
                <a:latin typeface="Rockwell" panose="02060603020205020403" pitchFamily="18" charset="0"/>
                <a:ea typeface="+mj-ea"/>
                <a:cs typeface="+mj-cs"/>
              </a:rPr>
              <a:t>OS</a:t>
            </a:r>
            <a:r>
              <a:rPr lang="vi-VN" sz="2600" dirty="0">
                <a:solidFill>
                  <a:schemeClr val="bg1"/>
                </a:solidFill>
                <a:latin typeface="Rockwell" panose="02060603020205020403" pitchFamily="18" charset="0"/>
                <a:ea typeface="+mj-ea"/>
                <a:cs typeface="+mj-cs"/>
              </a:rPr>
              <a:t>: chú trọng cập nhật, vá lỗi, phân quyền, kiểm soát dịch vụ.</a:t>
            </a:r>
          </a:p>
          <a:p>
            <a:pPr algn="l">
              <a:spcBef>
                <a:spcPts val="1200"/>
              </a:spcBef>
              <a:spcAft>
                <a:spcPts val="600"/>
              </a:spcAft>
            </a:pPr>
            <a:r>
              <a:rPr lang="en-US" sz="2600" dirty="0" smtClean="0">
                <a:solidFill>
                  <a:schemeClr val="bg1"/>
                </a:solidFill>
                <a:latin typeface="Rockwell" panose="02060603020205020403" pitchFamily="18" charset="0"/>
                <a:ea typeface="+mj-ea"/>
                <a:cs typeface="+mj-cs"/>
              </a:rPr>
              <a:t>- </a:t>
            </a:r>
            <a:r>
              <a:rPr lang="vi-VN" sz="2600" dirty="0" smtClean="0">
                <a:solidFill>
                  <a:schemeClr val="bg1"/>
                </a:solidFill>
                <a:latin typeface="Rockwell" panose="02060603020205020403" pitchFamily="18" charset="0"/>
                <a:ea typeface="+mj-ea"/>
                <a:cs typeface="+mj-cs"/>
              </a:rPr>
              <a:t>Xu </a:t>
            </a:r>
            <a:r>
              <a:rPr lang="vi-VN" sz="2600" dirty="0">
                <a:solidFill>
                  <a:schemeClr val="bg1"/>
                </a:solidFill>
                <a:latin typeface="Rockwell" panose="02060603020205020403" pitchFamily="18" charset="0"/>
                <a:ea typeface="+mj-ea"/>
                <a:cs typeface="+mj-cs"/>
              </a:rPr>
              <a:t>hướng mới: Zero Trust, AI/ML, tự động hóa bảo mật.</a:t>
            </a:r>
          </a:p>
          <a:p>
            <a:pPr algn="l">
              <a:spcBef>
                <a:spcPts val="1200"/>
              </a:spcBef>
              <a:spcAft>
                <a:spcPts val="600"/>
              </a:spcAft>
            </a:pPr>
            <a:r>
              <a:rPr lang="en-US" sz="2600" dirty="0" smtClean="0">
                <a:solidFill>
                  <a:schemeClr val="bg1"/>
                </a:solidFill>
                <a:latin typeface="Rockwell" panose="02060603020205020403" pitchFamily="18" charset="0"/>
                <a:ea typeface="+mj-ea"/>
                <a:cs typeface="+mj-cs"/>
              </a:rPr>
              <a:t>- </a:t>
            </a:r>
            <a:r>
              <a:rPr lang="vi-VN" sz="2600" dirty="0" smtClean="0">
                <a:solidFill>
                  <a:schemeClr val="bg1"/>
                </a:solidFill>
                <a:latin typeface="Rockwell" panose="02060603020205020403" pitchFamily="18" charset="0"/>
                <a:ea typeface="+mj-ea"/>
                <a:cs typeface="+mj-cs"/>
              </a:rPr>
              <a:t>Bảo </a:t>
            </a:r>
            <a:r>
              <a:rPr lang="vi-VN" sz="2600" dirty="0">
                <a:solidFill>
                  <a:schemeClr val="bg1"/>
                </a:solidFill>
                <a:latin typeface="Rockwell" panose="02060603020205020403" pitchFamily="18" charset="0"/>
                <a:ea typeface="+mj-ea"/>
                <a:cs typeface="+mj-cs"/>
              </a:rPr>
              <a:t>mật là quá trình liên tục, cần kết hợp công nghệ &amp; con người.</a:t>
            </a:r>
            <a:endParaRPr lang="en-US" sz="2600" dirty="0">
              <a:solidFill>
                <a:schemeClr val="bg1"/>
              </a:solidFill>
              <a:latin typeface="Rockwell" panose="02060603020205020403" pitchFamily="18" charset="0"/>
              <a:ea typeface="+mj-ea"/>
              <a:cs typeface="+mj-cs"/>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20625611">
            <a:off x="9074711" y="4195353"/>
            <a:ext cx="2678761" cy="267876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rot="1338607" flipH="1">
            <a:off x="178752" y="161130"/>
            <a:ext cx="2684499" cy="2684499"/>
          </a:xfrm>
          <a:prstGeom prst="rect">
            <a:avLst/>
          </a:prstGeom>
        </p:spPr>
      </p:pic>
      <p:pic>
        <p:nvPicPr>
          <p:cNvPr id="13" name="Graphic 12" descr="Test tubes">
            <a:extLst>
              <a:ext uri="{FF2B5EF4-FFF2-40B4-BE49-F238E27FC236}">
                <a16:creationId xmlns:a16="http://schemas.microsoft.com/office/drawing/2014/main" id="{6A56DF0C-1331-406E-AEE6-06E0E59FB9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rot="21078969">
            <a:off x="2872417" y="4602149"/>
            <a:ext cx="2278544" cy="2278544"/>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rot="1213697">
            <a:off x="440734" y="4193986"/>
            <a:ext cx="2610148" cy="2610148"/>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rot="20451125">
            <a:off x="5048344" y="4330201"/>
            <a:ext cx="2521285" cy="2521285"/>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rot="19608170">
            <a:off x="7620306" y="4727630"/>
            <a:ext cx="1676539" cy="1676539"/>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xmlns="" r:embed="rId15"/>
              </a:ext>
            </a:extLst>
          </a:blip>
          <a:stretch>
            <a:fillRect/>
          </a:stretch>
        </p:blipFill>
        <p:spPr>
          <a:xfrm rot="20520790">
            <a:off x="10657273" y="4434388"/>
            <a:ext cx="1156703" cy="1156703"/>
          </a:xfrm>
          <a:prstGeom prst="rect">
            <a:avLst/>
          </a:prstGeom>
        </p:spPr>
      </p:pic>
    </p:spTree>
    <p:extLst>
      <p:ext uri="{BB962C8B-B14F-4D97-AF65-F5344CB8AC3E}">
        <p14:creationId xmlns:p14="http://schemas.microsoft.com/office/powerpoint/2010/main" val="203718721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787325_Lab safety_AAS_v3" id="{898BC5E2-691B-4B41-A97D-F35AD4FFF20D}" vid="{295F60D3-032D-43CA-A300-E4752067AD50}"/>
    </a:ext>
  </a:extLst>
</a:theme>
</file>

<file path=ppt/theme/theme2.xml><?xml version="1.0" encoding="utf-8"?>
<a:theme xmlns:a="http://schemas.openxmlformats.org/drawingml/2006/main" name="Crop">
  <a:themeElements>
    <a:clrScheme name="Custom 27">
      <a:dk1>
        <a:sysClr val="windowText" lastClr="000000"/>
      </a:dk1>
      <a:lt1>
        <a:sysClr val="window" lastClr="FFFFFF"/>
      </a:lt1>
      <a:dk2>
        <a:srgbClr val="1F497D"/>
      </a:dk2>
      <a:lt2>
        <a:srgbClr val="EEECE1"/>
      </a:lt2>
      <a:accent1>
        <a:srgbClr val="4F81BD"/>
      </a:accent1>
      <a:accent2>
        <a:srgbClr val="C0504D"/>
      </a:accent2>
      <a:accent3>
        <a:srgbClr val="76923C"/>
      </a:accent3>
      <a:accent4>
        <a:srgbClr val="8064A2"/>
      </a:accent4>
      <a:accent5>
        <a:srgbClr val="4BACC6"/>
      </a:accent5>
      <a:accent6>
        <a:srgbClr val="F79646"/>
      </a:accent6>
      <a:hlink>
        <a:srgbClr val="0000FF"/>
      </a:hlink>
      <a:folHlink>
        <a:srgbClr val="800080"/>
      </a:folHlink>
    </a:clrScheme>
    <a:fontScheme name="Custom 9">
      <a:majorFont>
        <a:latin typeface="Impact"/>
        <a:ea typeface=""/>
        <a:cs typeface=""/>
      </a:majorFont>
      <a:minorFont>
        <a:latin typeface="Arial"/>
        <a:ea typeface=""/>
        <a:cs typeface=""/>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TF22874644_Trading cards_AAS_v3" id="{4E496154-558D-4612-A753-0794614ED79B}" vid="{A8FAAD10-755F-4F52-9B7F-8A15476B6C2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9E59094-1E6F-42D5-A62B-D0344AFFFA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0096A91-93C8-4C7A-BF68-944591874A6D}">
  <ds:schemaRefs>
    <ds:schemaRef ds:uri="http://purl.org/dc/dcmitype/"/>
    <ds:schemaRef ds:uri="16c05727-aa75-4e4a-9b5f-8a80a1165891"/>
    <ds:schemaRef ds:uri="http://schemas.microsoft.com/office/infopath/2007/PartnerControls"/>
    <ds:schemaRef ds:uri="http://schemas.openxmlformats.org/package/2006/metadata/core-properties"/>
    <ds:schemaRef ds:uri="http://schemas.microsoft.com/office/2006/documentManagement/types"/>
    <ds:schemaRef ds:uri="http://www.w3.org/XML/1998/namespace"/>
    <ds:schemaRef ds:uri="http://purl.org/dc/terms/"/>
    <ds:schemaRef ds:uri="71af3243-3dd4-4a8d-8c0d-dd76da1f02a5"/>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604BA817-A03C-4EA3-86C4-6E42BD37F52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Lab safety</Template>
  <TotalTime>0</TotalTime>
  <Words>4912</Words>
  <Application>Microsoft Office PowerPoint</Application>
  <PresentationFormat>Widescreen</PresentationFormat>
  <Paragraphs>378</Paragraphs>
  <Slides>52</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52</vt:i4>
      </vt:variant>
    </vt:vector>
  </HeadingPairs>
  <TitlesOfParts>
    <vt:vector size="62" baseType="lpstr">
      <vt:lpstr>Arial</vt:lpstr>
      <vt:lpstr>Calibri</vt:lpstr>
      <vt:lpstr>Calibri Light</vt:lpstr>
      <vt:lpstr>Franklin Gothic Book</vt:lpstr>
      <vt:lpstr>Impact</vt:lpstr>
      <vt:lpstr>Rockwell</vt:lpstr>
      <vt:lpstr>Segoe UI Emoji</vt:lpstr>
      <vt:lpstr>Tahoma</vt:lpstr>
      <vt:lpstr>Office Theme</vt:lpstr>
      <vt:lpstr>Crop</vt:lpstr>
      <vt:lpstr> Bảo mật  Ứng dụng và Hệ thống</vt:lpstr>
      <vt:lpstr>BẢO MẬT ỨNG DỤNG VÀ HỆ THỐNG   CSE702005-1-1-25 (N03)</vt:lpstr>
      <vt:lpstr>BÀI 5: BẢO MẬT API và HỆ ĐIỀU HÀNH</vt:lpstr>
      <vt:lpstr>5.1. Khái niệm và Tầm quan trọng</vt:lpstr>
      <vt:lpstr>5.1. Khái niệm và Tầm quan trọng</vt:lpstr>
      <vt:lpstr>5.1. Khái niệm và Tầm quan trọng</vt:lpstr>
      <vt:lpstr>5.1. Khái niệm và Tầm quan trọng</vt:lpstr>
      <vt:lpstr>5.1. Khái niệm và Tầm quan trọng</vt:lpstr>
      <vt:lpstr>5.2. Mối đe doạ đối với API </vt:lpstr>
      <vt:lpstr>5.2. Mối đe doạ đối với API </vt:lpstr>
      <vt:lpstr>5.2. Mối đe doạ đối với API </vt:lpstr>
      <vt:lpstr>5.2. Mối đe doạ đối với API </vt:lpstr>
      <vt:lpstr>5.2. Mối đe doạ đối với API </vt:lpstr>
      <vt:lpstr>5.2. Mối đe doạ đối với API </vt:lpstr>
      <vt:lpstr>5.3. Các mối đe dọa đối với Hệ điều hành (OS) </vt:lpstr>
      <vt:lpstr>5.3. Các mối đe dọa đối với Hệ điều hành (OS) </vt:lpstr>
      <vt:lpstr>5.3. Các mối đe dọa đối với Hệ điều hành (OS) </vt:lpstr>
      <vt:lpstr>5.3. Các mối đe dọa đối với Hệ điều hành (OS) </vt:lpstr>
      <vt:lpstr>5.3. Các mối đe dọa đối với Hệ điều hành (OS) </vt:lpstr>
      <vt:lpstr>5.3. Các mối đe dọa đối với Hệ điều hành (OS) </vt:lpstr>
      <vt:lpstr>5.3. Các mối đe dọa đối với Hệ điều hành (OS) </vt:lpstr>
      <vt:lpstr>5.3. Các mối đe dọa đối với Hệ điều hành (OS)  Tấn công vào dịch vụ OS</vt:lpstr>
      <vt:lpstr>5.4. Nguyên tắc bảo mật API</vt:lpstr>
      <vt:lpstr>5.4. Nguyên tắc bảo mật API</vt:lpstr>
      <vt:lpstr>5.4. Nguyên tắc bảo mật API</vt:lpstr>
      <vt:lpstr>5.4. Nguyên tắc bảo mật API</vt:lpstr>
      <vt:lpstr>5.4. Nguyên tắc bảo mật API</vt:lpstr>
      <vt:lpstr>5.4. Nguyên tắc bảo mật API</vt:lpstr>
      <vt:lpstr>5.4. Nguyên tắc bảo mật API</vt:lpstr>
      <vt:lpstr>5.4. Nguyên tắc bảo mật API</vt:lpstr>
      <vt:lpstr>5.5. Nguyên tắc bảo mật OS </vt:lpstr>
      <vt:lpstr>5.5. Nguyên tắc bảo mật OS </vt:lpstr>
      <vt:lpstr>5.5. Nguyên tắc bảo mật OS </vt:lpstr>
      <vt:lpstr>5.5. Nguyên tắc bảo mật OS </vt:lpstr>
      <vt:lpstr>5.6. Công cụ &amp; Giải pháp bảo mật API  </vt:lpstr>
      <vt:lpstr>5.6. Công cụ &amp; Giải pháp bảo mật API  </vt:lpstr>
      <vt:lpstr>5.6. Công cụ &amp; Giải pháp bảo mật API  </vt:lpstr>
      <vt:lpstr>5.6. Công cụ &amp; Giải pháp bảo mật API  </vt:lpstr>
      <vt:lpstr>5.7. Công cụ &amp; Giải pháp bảo mật OS  </vt:lpstr>
      <vt:lpstr>5.7. Công cụ &amp; Giải pháp bảo mật OS  </vt:lpstr>
      <vt:lpstr>5.7. Công cụ &amp; Giải pháp bảo mật OS  </vt:lpstr>
      <vt:lpstr>5.7. Công cụ &amp; Giải pháp bảo mật OS  </vt:lpstr>
      <vt:lpstr>5.8. Xu hướng hiện đại trong bảo mật API  </vt:lpstr>
      <vt:lpstr>5.8. Xu hướng hiện đại trong bảo mật API  </vt:lpstr>
      <vt:lpstr>5.8. Xu hướng hiện đại trong bảo mật API  </vt:lpstr>
      <vt:lpstr>5.8. Xu hướng hiện đại trong bảo mật API  </vt:lpstr>
      <vt:lpstr>5.8. Xu hướng hiện đại trong bảo mật API  </vt:lpstr>
      <vt:lpstr>5.9. Xu hướng hiện đại trong bảo mật OS  </vt:lpstr>
      <vt:lpstr>5.9. Xu hướng hiện đại trong bảo mật OS  </vt:lpstr>
      <vt:lpstr>5.9. Xu hướng hiện đại trong bảo mật OS  </vt:lpstr>
      <vt:lpstr>5.9. Xu hướng hiện đại trong bảo mật OS  </vt:lpstr>
      <vt:lpstr>Những nội dung cần lưu ý:</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2025-08-05T15:12:50Z</dcterms:created>
  <dcterms:modified xsi:type="dcterms:W3CDTF">2025-09-06T15:17:05Z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