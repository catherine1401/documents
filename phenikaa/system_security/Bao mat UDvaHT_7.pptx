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autoCompressPictures="0">
  <p:sldMasterIdLst>
    <p:sldMasterId id="2147483648" r:id="rId4"/>
    <p:sldMasterId id="2147483658" r:id="rId5"/>
  </p:sldMasterIdLst>
  <p:notesMasterIdLst>
    <p:notesMasterId r:id="rId78"/>
  </p:notesMasterIdLst>
  <p:sldIdLst>
    <p:sldId id="256" r:id="rId6"/>
    <p:sldId id="257" r:id="rId7"/>
    <p:sldId id="261" r:id="rId8"/>
    <p:sldId id="313" r:id="rId9"/>
    <p:sldId id="413" r:id="rId10"/>
    <p:sldId id="414" r:id="rId11"/>
    <p:sldId id="433" r:id="rId12"/>
    <p:sldId id="412" r:id="rId13"/>
    <p:sldId id="407" r:id="rId14"/>
    <p:sldId id="408" r:id="rId15"/>
    <p:sldId id="409" r:id="rId16"/>
    <p:sldId id="410" r:id="rId17"/>
    <p:sldId id="411" r:id="rId18"/>
    <p:sldId id="400" r:id="rId19"/>
    <p:sldId id="416" r:id="rId20"/>
    <p:sldId id="417" r:id="rId21"/>
    <p:sldId id="418" r:id="rId22"/>
    <p:sldId id="419" r:id="rId23"/>
    <p:sldId id="420" r:id="rId24"/>
    <p:sldId id="421" r:id="rId25"/>
    <p:sldId id="422" r:id="rId26"/>
    <p:sldId id="423" r:id="rId27"/>
    <p:sldId id="425" r:id="rId28"/>
    <p:sldId id="424" r:id="rId29"/>
    <p:sldId id="426" r:id="rId30"/>
    <p:sldId id="427" r:id="rId31"/>
    <p:sldId id="428" r:id="rId32"/>
    <p:sldId id="429" r:id="rId33"/>
    <p:sldId id="430" r:id="rId34"/>
    <p:sldId id="431" r:id="rId35"/>
    <p:sldId id="432" r:id="rId36"/>
    <p:sldId id="401" r:id="rId37"/>
    <p:sldId id="434" r:id="rId38"/>
    <p:sldId id="435" r:id="rId39"/>
    <p:sldId id="436" r:id="rId40"/>
    <p:sldId id="437" r:id="rId41"/>
    <p:sldId id="438" r:id="rId42"/>
    <p:sldId id="441" r:id="rId43"/>
    <p:sldId id="442" r:id="rId44"/>
    <p:sldId id="443" r:id="rId45"/>
    <p:sldId id="444" r:id="rId46"/>
    <p:sldId id="445" r:id="rId47"/>
    <p:sldId id="447" r:id="rId48"/>
    <p:sldId id="446" r:id="rId49"/>
    <p:sldId id="448" r:id="rId50"/>
    <p:sldId id="439" r:id="rId51"/>
    <p:sldId id="440" r:id="rId52"/>
    <p:sldId id="404" r:id="rId53"/>
    <p:sldId id="449" r:id="rId54"/>
    <p:sldId id="451" r:id="rId55"/>
    <p:sldId id="452" r:id="rId56"/>
    <p:sldId id="403" r:id="rId57"/>
    <p:sldId id="453" r:id="rId58"/>
    <p:sldId id="454" r:id="rId59"/>
    <p:sldId id="455" r:id="rId60"/>
    <p:sldId id="450" r:id="rId61"/>
    <p:sldId id="456" r:id="rId62"/>
    <p:sldId id="457" r:id="rId63"/>
    <p:sldId id="458" r:id="rId64"/>
    <p:sldId id="459" r:id="rId65"/>
    <p:sldId id="405" r:id="rId66"/>
    <p:sldId id="461" r:id="rId67"/>
    <p:sldId id="462" r:id="rId68"/>
    <p:sldId id="463" r:id="rId69"/>
    <p:sldId id="464" r:id="rId70"/>
    <p:sldId id="465" r:id="rId71"/>
    <p:sldId id="466" r:id="rId72"/>
    <p:sldId id="467" r:id="rId73"/>
    <p:sldId id="468" r:id="rId74"/>
    <p:sldId id="469" r:id="rId75"/>
    <p:sldId id="353" r:id="rId76"/>
    <p:sldId id="460" r:id="rId7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FF"/>
    <a:srgbClr val="0000CC"/>
    <a:srgbClr val="260A8E"/>
    <a:srgbClr val="FFD34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3184" autoAdjust="0"/>
  </p:normalViewPr>
  <p:slideViewPr>
    <p:cSldViewPr snapToGrid="0">
      <p:cViewPr varScale="1">
        <p:scale>
          <a:sx n="70" d="100"/>
          <a:sy n="70" d="100"/>
        </p:scale>
        <p:origin x="660"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1.xml"/><Relationship Id="rId21" Type="http://schemas.openxmlformats.org/officeDocument/2006/relationships/slide" Target="slides/slide16.xml"/><Relationship Id="rId42" Type="http://schemas.openxmlformats.org/officeDocument/2006/relationships/slide" Target="slides/slide37.xml"/><Relationship Id="rId47" Type="http://schemas.openxmlformats.org/officeDocument/2006/relationships/slide" Target="slides/slide42.xml"/><Relationship Id="rId63" Type="http://schemas.openxmlformats.org/officeDocument/2006/relationships/slide" Target="slides/slide58.xml"/><Relationship Id="rId68" Type="http://schemas.openxmlformats.org/officeDocument/2006/relationships/slide" Target="slides/slide63.xml"/><Relationship Id="rId16" Type="http://schemas.openxmlformats.org/officeDocument/2006/relationships/slide" Target="slides/slide11.xml"/><Relationship Id="rId11" Type="http://schemas.openxmlformats.org/officeDocument/2006/relationships/slide" Target="slides/slide6.xml"/><Relationship Id="rId32" Type="http://schemas.openxmlformats.org/officeDocument/2006/relationships/slide" Target="slides/slide27.xml"/><Relationship Id="rId37" Type="http://schemas.openxmlformats.org/officeDocument/2006/relationships/slide" Target="slides/slide32.xml"/><Relationship Id="rId53" Type="http://schemas.openxmlformats.org/officeDocument/2006/relationships/slide" Target="slides/slide48.xml"/><Relationship Id="rId58" Type="http://schemas.openxmlformats.org/officeDocument/2006/relationships/slide" Target="slides/slide53.xml"/><Relationship Id="rId74" Type="http://schemas.openxmlformats.org/officeDocument/2006/relationships/slide" Target="slides/slide69.xml"/><Relationship Id="rId79" Type="http://schemas.openxmlformats.org/officeDocument/2006/relationships/presProps" Target="presProps.xml"/><Relationship Id="rId5" Type="http://schemas.openxmlformats.org/officeDocument/2006/relationships/slideMaster" Target="slideMasters/slideMaster2.xml"/><Relationship Id="rId61" Type="http://schemas.openxmlformats.org/officeDocument/2006/relationships/slide" Target="slides/slide56.xml"/><Relationship Id="rId82" Type="http://schemas.openxmlformats.org/officeDocument/2006/relationships/tableStyles" Target="tableStyles.xml"/><Relationship Id="rId19" Type="http://schemas.openxmlformats.org/officeDocument/2006/relationships/slide" Target="slides/slide1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slide" Target="slides/slide51.xml"/><Relationship Id="rId64" Type="http://schemas.openxmlformats.org/officeDocument/2006/relationships/slide" Target="slides/slide59.xml"/><Relationship Id="rId69" Type="http://schemas.openxmlformats.org/officeDocument/2006/relationships/slide" Target="slides/slide64.xml"/><Relationship Id="rId77" Type="http://schemas.openxmlformats.org/officeDocument/2006/relationships/slide" Target="slides/slide72.xml"/><Relationship Id="rId8" Type="http://schemas.openxmlformats.org/officeDocument/2006/relationships/slide" Target="slides/slide3.xml"/><Relationship Id="rId51" Type="http://schemas.openxmlformats.org/officeDocument/2006/relationships/slide" Target="slides/slide46.xml"/><Relationship Id="rId72" Type="http://schemas.openxmlformats.org/officeDocument/2006/relationships/slide" Target="slides/slide67.xml"/><Relationship Id="rId80" Type="http://schemas.openxmlformats.org/officeDocument/2006/relationships/viewProps" Target="viewProps.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slide" Target="slides/slide54.xml"/><Relationship Id="rId67" Type="http://schemas.openxmlformats.org/officeDocument/2006/relationships/slide" Target="slides/slide62.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slide" Target="slides/slide49.xml"/><Relationship Id="rId62" Type="http://schemas.openxmlformats.org/officeDocument/2006/relationships/slide" Target="slides/slide57.xml"/><Relationship Id="rId70" Type="http://schemas.openxmlformats.org/officeDocument/2006/relationships/slide" Target="slides/slide65.xml"/><Relationship Id="rId75" Type="http://schemas.openxmlformats.org/officeDocument/2006/relationships/slide" Target="slides/slide70.xml"/><Relationship Id="rId1" Type="http://schemas.openxmlformats.org/officeDocument/2006/relationships/customXml" Target="../customXml/item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slide" Target="slides/slide52.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slide" Target="slides/slide55.xml"/><Relationship Id="rId65" Type="http://schemas.openxmlformats.org/officeDocument/2006/relationships/slide" Target="slides/slide60.xml"/><Relationship Id="rId73" Type="http://schemas.openxmlformats.org/officeDocument/2006/relationships/slide" Target="slides/slide68.xml"/><Relationship Id="rId78" Type="http://schemas.openxmlformats.org/officeDocument/2006/relationships/notesMaster" Target="notesMasters/notesMaster1.xml"/><Relationship Id="rId81"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4.xml"/><Relationship Id="rId13" Type="http://schemas.openxmlformats.org/officeDocument/2006/relationships/slide" Target="slides/slide8.xml"/><Relationship Id="rId18" Type="http://schemas.openxmlformats.org/officeDocument/2006/relationships/slide" Target="slides/slide13.xml"/><Relationship Id="rId39" Type="http://schemas.openxmlformats.org/officeDocument/2006/relationships/slide" Target="slides/slide34.xml"/><Relationship Id="rId34" Type="http://schemas.openxmlformats.org/officeDocument/2006/relationships/slide" Target="slides/slide29.xml"/><Relationship Id="rId50" Type="http://schemas.openxmlformats.org/officeDocument/2006/relationships/slide" Target="slides/slide45.xml"/><Relationship Id="rId55" Type="http://schemas.openxmlformats.org/officeDocument/2006/relationships/slide" Target="slides/slide50.xml"/><Relationship Id="rId76" Type="http://schemas.openxmlformats.org/officeDocument/2006/relationships/slide" Target="slides/slide71.xml"/><Relationship Id="rId7" Type="http://schemas.openxmlformats.org/officeDocument/2006/relationships/slide" Target="slides/slide2.xml"/><Relationship Id="rId71" Type="http://schemas.openxmlformats.org/officeDocument/2006/relationships/slide" Target="slides/slide66.xml"/><Relationship Id="rId2" Type="http://schemas.openxmlformats.org/officeDocument/2006/relationships/customXml" Target="../customXml/item2.xml"/><Relationship Id="rId29" Type="http://schemas.openxmlformats.org/officeDocument/2006/relationships/slide" Target="slides/slide24.xml"/><Relationship Id="rId24" Type="http://schemas.openxmlformats.org/officeDocument/2006/relationships/slide" Target="slides/slide19.xml"/><Relationship Id="rId40" Type="http://schemas.openxmlformats.org/officeDocument/2006/relationships/slide" Target="slides/slide35.xml"/><Relationship Id="rId45" Type="http://schemas.openxmlformats.org/officeDocument/2006/relationships/slide" Target="slides/slide40.xml"/><Relationship Id="rId66" Type="http://schemas.openxmlformats.org/officeDocument/2006/relationships/slide" Target="slides/slide6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2F9B0E6-B9BF-4E2D-AE08-8C7EBB196A2E}" type="datetimeFigureOut">
              <a:rPr lang="en-US" smtClean="0"/>
              <a:t>9/6/2025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853816F-A1CF-4485-B308-1B9F14B36EAD}" type="slidenum">
              <a:rPr lang="en-US" smtClean="0"/>
              <a:t>‹#›</a:t>
            </a:fld>
            <a:endParaRPr lang="en-US"/>
          </a:p>
        </p:txBody>
      </p:sp>
    </p:spTree>
    <p:extLst>
      <p:ext uri="{BB962C8B-B14F-4D97-AF65-F5344CB8AC3E}">
        <p14:creationId xmlns:p14="http://schemas.microsoft.com/office/powerpoint/2010/main" val="17268391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80C5E7-B1A1-4648-89D2-17B0F1E7F5B3}"/>
              </a:ext>
            </a:extLst>
          </p:cNvPr>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a:extLst>
              <a:ext uri="{FF2B5EF4-FFF2-40B4-BE49-F238E27FC236}">
                <a16:creationId xmlns:a16="http://schemas.microsoft.com/office/drawing/2014/main" id="{5D140298-3E00-4E73-B947-697E6928286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a:extLst>
              <a:ext uri="{FF2B5EF4-FFF2-40B4-BE49-F238E27FC236}">
                <a16:creationId xmlns:a16="http://schemas.microsoft.com/office/drawing/2014/main" id="{A6BB99EB-0E86-4FEA-A9C4-501D4E755A2B}"/>
              </a:ext>
            </a:extLst>
          </p:cNvPr>
          <p:cNvSpPr>
            <a:spLocks noGrp="1"/>
          </p:cNvSpPr>
          <p:nvPr>
            <p:ph type="dt" sz="half" idx="10"/>
          </p:nvPr>
        </p:nvSpPr>
        <p:spPr/>
        <p:txBody>
          <a:bodyPr/>
          <a:lstStyle/>
          <a:p>
            <a:fld id="{3133F5E9-5DAC-4C4A-9DF5-C2B87276BCC8}" type="datetimeFigureOut">
              <a:rPr lang="en-US" smtClean="0"/>
              <a:t>9/6/2025</a:t>
            </a:fld>
            <a:endParaRPr lang="en-US" dirty="0"/>
          </a:p>
        </p:txBody>
      </p:sp>
      <p:sp>
        <p:nvSpPr>
          <p:cNvPr id="5" name="Footer Placeholder 4">
            <a:extLst>
              <a:ext uri="{FF2B5EF4-FFF2-40B4-BE49-F238E27FC236}">
                <a16:creationId xmlns:a16="http://schemas.microsoft.com/office/drawing/2014/main" id="{6731F536-58DF-4935-AE3B-7A08C03124E4}"/>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E995127-BE30-42B7-9BE5-B83CC6A2E685}"/>
              </a:ext>
            </a:extLst>
          </p:cNvPr>
          <p:cNvSpPr>
            <a:spLocks noGrp="1"/>
          </p:cNvSpPr>
          <p:nvPr>
            <p:ph type="sldNum" sz="quarter" idx="12"/>
          </p:nvPr>
        </p:nvSpPr>
        <p:spPr/>
        <p:txBody>
          <a:bodyPr/>
          <a:lstStyle/>
          <a:p>
            <a:fld id="{ACEC5C30-0B3A-4B13-ADDD-7C63C8AA921B}" type="slidenum">
              <a:rPr lang="en-US" smtClean="0"/>
              <a:t>‹#›</a:t>
            </a:fld>
            <a:endParaRPr lang="en-US" dirty="0"/>
          </a:p>
        </p:txBody>
      </p:sp>
    </p:spTree>
    <p:extLst>
      <p:ext uri="{BB962C8B-B14F-4D97-AF65-F5344CB8AC3E}">
        <p14:creationId xmlns:p14="http://schemas.microsoft.com/office/powerpoint/2010/main" val="30097518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AAE108-9C7F-4CDC-AD71-B576580A199F}"/>
              </a:ext>
            </a:extLst>
          </p:cNvPr>
          <p:cNvSpPr>
            <a:spLocks noGrp="1"/>
          </p:cNvSpPr>
          <p:nvPr>
            <p:ph type="title"/>
          </p:nvPr>
        </p:nvSpPr>
        <p:spPr/>
        <p:txBody>
          <a:bodyPr/>
          <a:lstStyle/>
          <a:p>
            <a:r>
              <a:rPr lang="en-US" smtClean="0"/>
              <a:t>Click to edit Master title style</a:t>
            </a:r>
            <a:endParaRPr lang="en-US"/>
          </a:p>
        </p:txBody>
      </p:sp>
      <p:sp>
        <p:nvSpPr>
          <p:cNvPr id="3" name="Content Placeholder 2">
            <a:extLst>
              <a:ext uri="{FF2B5EF4-FFF2-40B4-BE49-F238E27FC236}">
                <a16:creationId xmlns:a16="http://schemas.microsoft.com/office/drawing/2014/main" id="{5A103746-779A-435F-995A-5BF82C86C297}"/>
              </a:ext>
            </a:extLst>
          </p:cNvPr>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a:extLst>
              <a:ext uri="{FF2B5EF4-FFF2-40B4-BE49-F238E27FC236}">
                <a16:creationId xmlns:a16="http://schemas.microsoft.com/office/drawing/2014/main" id="{5984E866-B322-455F-AC32-8C164B8CD9C7}"/>
              </a:ext>
            </a:extLst>
          </p:cNvPr>
          <p:cNvSpPr>
            <a:spLocks noGrp="1"/>
          </p:cNvSpPr>
          <p:nvPr>
            <p:ph type="dt" sz="half" idx="10"/>
          </p:nvPr>
        </p:nvSpPr>
        <p:spPr/>
        <p:txBody>
          <a:bodyPr/>
          <a:lstStyle/>
          <a:p>
            <a:fld id="{3133F5E9-5DAC-4C4A-9DF5-C2B87276BCC8}" type="datetimeFigureOut">
              <a:rPr lang="en-US" smtClean="0"/>
              <a:t>9/6/2025</a:t>
            </a:fld>
            <a:endParaRPr lang="en-US" dirty="0"/>
          </a:p>
        </p:txBody>
      </p:sp>
      <p:sp>
        <p:nvSpPr>
          <p:cNvPr id="5" name="Footer Placeholder 4">
            <a:extLst>
              <a:ext uri="{FF2B5EF4-FFF2-40B4-BE49-F238E27FC236}">
                <a16:creationId xmlns:a16="http://schemas.microsoft.com/office/drawing/2014/main" id="{AC0D61E0-F80F-48E7-A817-F1CECBEE9A3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5BF34AFC-4299-43F1-A312-79EF0102CEFF}"/>
              </a:ext>
            </a:extLst>
          </p:cNvPr>
          <p:cNvSpPr>
            <a:spLocks noGrp="1"/>
          </p:cNvSpPr>
          <p:nvPr>
            <p:ph type="sldNum" sz="quarter" idx="12"/>
          </p:nvPr>
        </p:nvSpPr>
        <p:spPr/>
        <p:txBody>
          <a:bodyPr/>
          <a:lstStyle/>
          <a:p>
            <a:fld id="{ACEC5C30-0B3A-4B13-ADDD-7C63C8AA921B}" type="slidenum">
              <a:rPr lang="en-US" smtClean="0"/>
              <a:t>‹#›</a:t>
            </a:fld>
            <a:endParaRPr lang="en-US" dirty="0"/>
          </a:p>
        </p:txBody>
      </p:sp>
    </p:spTree>
    <p:extLst>
      <p:ext uri="{BB962C8B-B14F-4D97-AF65-F5344CB8AC3E}">
        <p14:creationId xmlns:p14="http://schemas.microsoft.com/office/powerpoint/2010/main" val="15527462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1E1D3E-E4B6-4EAA-BFB4-25A0557A6CB8}"/>
              </a:ext>
            </a:extLst>
          </p:cNvPr>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a:extLst>
              <a:ext uri="{FF2B5EF4-FFF2-40B4-BE49-F238E27FC236}">
                <a16:creationId xmlns:a16="http://schemas.microsoft.com/office/drawing/2014/main" id="{6F7E0856-45A8-4EAD-A9D6-8A993968A1A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a:extLst>
              <a:ext uri="{FF2B5EF4-FFF2-40B4-BE49-F238E27FC236}">
                <a16:creationId xmlns:a16="http://schemas.microsoft.com/office/drawing/2014/main" id="{E90EEBE1-2BAF-4C94-8403-6E8454F9BC46}"/>
              </a:ext>
            </a:extLst>
          </p:cNvPr>
          <p:cNvSpPr>
            <a:spLocks noGrp="1"/>
          </p:cNvSpPr>
          <p:nvPr>
            <p:ph type="dt" sz="half" idx="10"/>
          </p:nvPr>
        </p:nvSpPr>
        <p:spPr/>
        <p:txBody>
          <a:bodyPr/>
          <a:lstStyle/>
          <a:p>
            <a:fld id="{3133F5E9-5DAC-4C4A-9DF5-C2B87276BCC8}" type="datetimeFigureOut">
              <a:rPr lang="en-US" smtClean="0"/>
              <a:t>9/6/2025</a:t>
            </a:fld>
            <a:endParaRPr lang="en-US" dirty="0"/>
          </a:p>
        </p:txBody>
      </p:sp>
      <p:sp>
        <p:nvSpPr>
          <p:cNvPr id="5" name="Footer Placeholder 4">
            <a:extLst>
              <a:ext uri="{FF2B5EF4-FFF2-40B4-BE49-F238E27FC236}">
                <a16:creationId xmlns:a16="http://schemas.microsoft.com/office/drawing/2014/main" id="{F3358F46-E931-4D79-94A5-037AFD07333B}"/>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E5130D95-EF5F-4A0A-93BD-73AEE2C2FF1B}"/>
              </a:ext>
            </a:extLst>
          </p:cNvPr>
          <p:cNvSpPr>
            <a:spLocks noGrp="1"/>
          </p:cNvSpPr>
          <p:nvPr>
            <p:ph type="sldNum" sz="quarter" idx="12"/>
          </p:nvPr>
        </p:nvSpPr>
        <p:spPr/>
        <p:txBody>
          <a:bodyPr/>
          <a:lstStyle/>
          <a:p>
            <a:fld id="{ACEC5C30-0B3A-4B13-ADDD-7C63C8AA921B}" type="slidenum">
              <a:rPr lang="en-US" smtClean="0"/>
              <a:t>‹#›</a:t>
            </a:fld>
            <a:endParaRPr lang="en-US" dirty="0"/>
          </a:p>
        </p:txBody>
      </p:sp>
    </p:spTree>
    <p:extLst>
      <p:ext uri="{BB962C8B-B14F-4D97-AF65-F5344CB8AC3E}">
        <p14:creationId xmlns:p14="http://schemas.microsoft.com/office/powerpoint/2010/main" val="36012567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BABEC0-6253-4360-B586-B9D20933DE37}"/>
              </a:ext>
            </a:extLst>
          </p:cNvPr>
          <p:cNvSpPr>
            <a:spLocks noGrp="1"/>
          </p:cNvSpPr>
          <p:nvPr>
            <p:ph type="title"/>
          </p:nvPr>
        </p:nvSpPr>
        <p:spPr/>
        <p:txBody>
          <a:bodyPr/>
          <a:lstStyle/>
          <a:p>
            <a:r>
              <a:rPr lang="en-US" smtClean="0"/>
              <a:t>Click to edit Master title style</a:t>
            </a:r>
            <a:endParaRPr lang="en-US"/>
          </a:p>
        </p:txBody>
      </p:sp>
      <p:sp>
        <p:nvSpPr>
          <p:cNvPr id="3" name="Content Placeholder 2">
            <a:extLst>
              <a:ext uri="{FF2B5EF4-FFF2-40B4-BE49-F238E27FC236}">
                <a16:creationId xmlns:a16="http://schemas.microsoft.com/office/drawing/2014/main" id="{A946E20B-8661-4C60-84FB-4892E8B48608}"/>
              </a:ext>
            </a:extLst>
          </p:cNvPr>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a:extLst>
              <a:ext uri="{FF2B5EF4-FFF2-40B4-BE49-F238E27FC236}">
                <a16:creationId xmlns:a16="http://schemas.microsoft.com/office/drawing/2014/main" id="{5132BE45-79E4-479B-BD2F-46CCB0BEE628}"/>
              </a:ext>
            </a:extLst>
          </p:cNvPr>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a:extLst>
              <a:ext uri="{FF2B5EF4-FFF2-40B4-BE49-F238E27FC236}">
                <a16:creationId xmlns:a16="http://schemas.microsoft.com/office/drawing/2014/main" id="{0589105E-DF25-4F38-BDE2-9B00C2C44FC6}"/>
              </a:ext>
            </a:extLst>
          </p:cNvPr>
          <p:cNvSpPr>
            <a:spLocks noGrp="1"/>
          </p:cNvSpPr>
          <p:nvPr>
            <p:ph type="dt" sz="half" idx="10"/>
          </p:nvPr>
        </p:nvSpPr>
        <p:spPr/>
        <p:txBody>
          <a:bodyPr/>
          <a:lstStyle/>
          <a:p>
            <a:fld id="{3133F5E9-5DAC-4C4A-9DF5-C2B87276BCC8}" type="datetimeFigureOut">
              <a:rPr lang="en-US" smtClean="0"/>
              <a:t>9/6/2025</a:t>
            </a:fld>
            <a:endParaRPr lang="en-US" dirty="0"/>
          </a:p>
        </p:txBody>
      </p:sp>
      <p:sp>
        <p:nvSpPr>
          <p:cNvPr id="6" name="Footer Placeholder 5">
            <a:extLst>
              <a:ext uri="{FF2B5EF4-FFF2-40B4-BE49-F238E27FC236}">
                <a16:creationId xmlns:a16="http://schemas.microsoft.com/office/drawing/2014/main" id="{B1D9C4A8-7467-4BAD-98A2-0B63CAC19B66}"/>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8BC5C5C0-08E4-4F7B-9E80-8925539D221B}"/>
              </a:ext>
            </a:extLst>
          </p:cNvPr>
          <p:cNvSpPr>
            <a:spLocks noGrp="1"/>
          </p:cNvSpPr>
          <p:nvPr>
            <p:ph type="sldNum" sz="quarter" idx="12"/>
          </p:nvPr>
        </p:nvSpPr>
        <p:spPr/>
        <p:txBody>
          <a:bodyPr/>
          <a:lstStyle/>
          <a:p>
            <a:fld id="{ACEC5C30-0B3A-4B13-ADDD-7C63C8AA921B}" type="slidenum">
              <a:rPr lang="en-US" smtClean="0"/>
              <a:t>‹#›</a:t>
            </a:fld>
            <a:endParaRPr lang="en-US" dirty="0"/>
          </a:p>
        </p:txBody>
      </p:sp>
    </p:spTree>
    <p:extLst>
      <p:ext uri="{BB962C8B-B14F-4D97-AF65-F5344CB8AC3E}">
        <p14:creationId xmlns:p14="http://schemas.microsoft.com/office/powerpoint/2010/main" val="24384073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7FF641-A5CC-4263-A394-2112D623A8AD}"/>
              </a:ext>
            </a:extLst>
          </p:cNvPr>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a:extLst>
              <a:ext uri="{FF2B5EF4-FFF2-40B4-BE49-F238E27FC236}">
                <a16:creationId xmlns:a16="http://schemas.microsoft.com/office/drawing/2014/main" id="{B24D6865-C632-473C-AEC8-8D3F71562BE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a:extLst>
              <a:ext uri="{FF2B5EF4-FFF2-40B4-BE49-F238E27FC236}">
                <a16:creationId xmlns:a16="http://schemas.microsoft.com/office/drawing/2014/main" id="{D9FDBD19-4D33-4F6A-9938-6A04B3888ECC}"/>
              </a:ext>
            </a:extLst>
          </p:cNvPr>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a:extLst>
              <a:ext uri="{FF2B5EF4-FFF2-40B4-BE49-F238E27FC236}">
                <a16:creationId xmlns:a16="http://schemas.microsoft.com/office/drawing/2014/main" id="{51697E46-CE4D-480E-A997-2B53B2DF55B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a:extLst>
              <a:ext uri="{FF2B5EF4-FFF2-40B4-BE49-F238E27FC236}">
                <a16:creationId xmlns:a16="http://schemas.microsoft.com/office/drawing/2014/main" id="{8B8B7E36-823F-4FD4-B826-E450A1248008}"/>
              </a:ext>
            </a:extLst>
          </p:cNvPr>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a:extLst>
              <a:ext uri="{FF2B5EF4-FFF2-40B4-BE49-F238E27FC236}">
                <a16:creationId xmlns:a16="http://schemas.microsoft.com/office/drawing/2014/main" id="{8DBB3B14-C886-4F84-9FD5-11C8320E1FED}"/>
              </a:ext>
            </a:extLst>
          </p:cNvPr>
          <p:cNvSpPr>
            <a:spLocks noGrp="1"/>
          </p:cNvSpPr>
          <p:nvPr>
            <p:ph type="dt" sz="half" idx="10"/>
          </p:nvPr>
        </p:nvSpPr>
        <p:spPr/>
        <p:txBody>
          <a:bodyPr/>
          <a:lstStyle/>
          <a:p>
            <a:fld id="{3133F5E9-5DAC-4C4A-9DF5-C2B87276BCC8}" type="datetimeFigureOut">
              <a:rPr lang="en-US" smtClean="0"/>
              <a:t>9/6/2025</a:t>
            </a:fld>
            <a:endParaRPr lang="en-US" dirty="0"/>
          </a:p>
        </p:txBody>
      </p:sp>
      <p:sp>
        <p:nvSpPr>
          <p:cNvPr id="8" name="Footer Placeholder 7">
            <a:extLst>
              <a:ext uri="{FF2B5EF4-FFF2-40B4-BE49-F238E27FC236}">
                <a16:creationId xmlns:a16="http://schemas.microsoft.com/office/drawing/2014/main" id="{DF9AF591-4BBF-4BF2-9EF7-F8B114DFA16A}"/>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352B1A04-B244-4AE3-8997-9B075B105971}"/>
              </a:ext>
            </a:extLst>
          </p:cNvPr>
          <p:cNvSpPr>
            <a:spLocks noGrp="1"/>
          </p:cNvSpPr>
          <p:nvPr>
            <p:ph type="sldNum" sz="quarter" idx="12"/>
          </p:nvPr>
        </p:nvSpPr>
        <p:spPr/>
        <p:txBody>
          <a:bodyPr/>
          <a:lstStyle/>
          <a:p>
            <a:fld id="{ACEC5C30-0B3A-4B13-ADDD-7C63C8AA921B}" type="slidenum">
              <a:rPr lang="en-US" smtClean="0"/>
              <a:t>‹#›</a:t>
            </a:fld>
            <a:endParaRPr lang="en-US" dirty="0"/>
          </a:p>
        </p:txBody>
      </p:sp>
    </p:spTree>
    <p:extLst>
      <p:ext uri="{BB962C8B-B14F-4D97-AF65-F5344CB8AC3E}">
        <p14:creationId xmlns:p14="http://schemas.microsoft.com/office/powerpoint/2010/main" val="1110444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5408F1-BB29-4C6F-91C9-653A730BECC6}"/>
              </a:ext>
            </a:extLst>
          </p:cNvPr>
          <p:cNvSpPr>
            <a:spLocks noGrp="1"/>
          </p:cNvSpPr>
          <p:nvPr>
            <p:ph type="title"/>
          </p:nvPr>
        </p:nvSpPr>
        <p:spPr/>
        <p:txBody>
          <a:bodyPr/>
          <a:lstStyle/>
          <a:p>
            <a:r>
              <a:rPr lang="en-US" smtClean="0"/>
              <a:t>Click to edit Master title style</a:t>
            </a:r>
            <a:endParaRPr lang="en-US"/>
          </a:p>
        </p:txBody>
      </p:sp>
      <p:sp>
        <p:nvSpPr>
          <p:cNvPr id="3" name="Date Placeholder 2">
            <a:extLst>
              <a:ext uri="{FF2B5EF4-FFF2-40B4-BE49-F238E27FC236}">
                <a16:creationId xmlns:a16="http://schemas.microsoft.com/office/drawing/2014/main" id="{2F54FEF9-8D09-4091-BE99-B6264EBD34B3}"/>
              </a:ext>
            </a:extLst>
          </p:cNvPr>
          <p:cNvSpPr>
            <a:spLocks noGrp="1"/>
          </p:cNvSpPr>
          <p:nvPr>
            <p:ph type="dt" sz="half" idx="10"/>
          </p:nvPr>
        </p:nvSpPr>
        <p:spPr/>
        <p:txBody>
          <a:bodyPr/>
          <a:lstStyle/>
          <a:p>
            <a:fld id="{3133F5E9-5DAC-4C4A-9DF5-C2B87276BCC8}" type="datetimeFigureOut">
              <a:rPr lang="en-US" smtClean="0"/>
              <a:t>9/6/2025</a:t>
            </a:fld>
            <a:endParaRPr lang="en-US" dirty="0"/>
          </a:p>
        </p:txBody>
      </p:sp>
      <p:sp>
        <p:nvSpPr>
          <p:cNvPr id="4" name="Footer Placeholder 3">
            <a:extLst>
              <a:ext uri="{FF2B5EF4-FFF2-40B4-BE49-F238E27FC236}">
                <a16:creationId xmlns:a16="http://schemas.microsoft.com/office/drawing/2014/main" id="{0B5F49AA-83D5-4063-9CDE-AA7763048B63}"/>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B2A2B27C-3C99-4208-B425-775413C53651}"/>
              </a:ext>
            </a:extLst>
          </p:cNvPr>
          <p:cNvSpPr>
            <a:spLocks noGrp="1"/>
          </p:cNvSpPr>
          <p:nvPr>
            <p:ph type="sldNum" sz="quarter" idx="12"/>
          </p:nvPr>
        </p:nvSpPr>
        <p:spPr/>
        <p:txBody>
          <a:bodyPr/>
          <a:lstStyle/>
          <a:p>
            <a:fld id="{ACEC5C30-0B3A-4B13-ADDD-7C63C8AA921B}" type="slidenum">
              <a:rPr lang="en-US" smtClean="0"/>
              <a:t>‹#›</a:t>
            </a:fld>
            <a:endParaRPr lang="en-US" dirty="0"/>
          </a:p>
        </p:txBody>
      </p:sp>
    </p:spTree>
    <p:extLst>
      <p:ext uri="{BB962C8B-B14F-4D97-AF65-F5344CB8AC3E}">
        <p14:creationId xmlns:p14="http://schemas.microsoft.com/office/powerpoint/2010/main" val="1614035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42A62B2-A6D1-4A6F-8B20-80606F478544}"/>
              </a:ext>
            </a:extLst>
          </p:cNvPr>
          <p:cNvSpPr>
            <a:spLocks noGrp="1"/>
          </p:cNvSpPr>
          <p:nvPr>
            <p:ph type="dt" sz="half" idx="10"/>
          </p:nvPr>
        </p:nvSpPr>
        <p:spPr/>
        <p:txBody>
          <a:bodyPr/>
          <a:lstStyle/>
          <a:p>
            <a:fld id="{3133F5E9-5DAC-4C4A-9DF5-C2B87276BCC8}" type="datetimeFigureOut">
              <a:rPr lang="en-US" smtClean="0"/>
              <a:t>9/6/2025</a:t>
            </a:fld>
            <a:endParaRPr lang="en-US" dirty="0"/>
          </a:p>
        </p:txBody>
      </p:sp>
      <p:sp>
        <p:nvSpPr>
          <p:cNvPr id="3" name="Footer Placeholder 2">
            <a:extLst>
              <a:ext uri="{FF2B5EF4-FFF2-40B4-BE49-F238E27FC236}">
                <a16:creationId xmlns:a16="http://schemas.microsoft.com/office/drawing/2014/main" id="{C02E4958-7A46-4331-B2D8-2C31D8FCBD73}"/>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45C8548B-339B-46B2-BF01-1EE3DDC72AAD}"/>
              </a:ext>
            </a:extLst>
          </p:cNvPr>
          <p:cNvSpPr>
            <a:spLocks noGrp="1"/>
          </p:cNvSpPr>
          <p:nvPr>
            <p:ph type="sldNum" sz="quarter" idx="12"/>
          </p:nvPr>
        </p:nvSpPr>
        <p:spPr/>
        <p:txBody>
          <a:bodyPr/>
          <a:lstStyle/>
          <a:p>
            <a:fld id="{ACEC5C30-0B3A-4B13-ADDD-7C63C8AA921B}" type="slidenum">
              <a:rPr lang="en-US" smtClean="0"/>
              <a:t>‹#›</a:t>
            </a:fld>
            <a:endParaRPr lang="en-US" dirty="0"/>
          </a:p>
        </p:txBody>
      </p:sp>
    </p:spTree>
    <p:extLst>
      <p:ext uri="{BB962C8B-B14F-4D97-AF65-F5344CB8AC3E}">
        <p14:creationId xmlns:p14="http://schemas.microsoft.com/office/powerpoint/2010/main" val="19146615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EF408F-8083-4F07-9628-074C7AFE41C0}"/>
              </a:ext>
            </a:extLst>
          </p:cNvPr>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a:extLst>
              <a:ext uri="{FF2B5EF4-FFF2-40B4-BE49-F238E27FC236}">
                <a16:creationId xmlns:a16="http://schemas.microsoft.com/office/drawing/2014/main" id="{B70477E0-A333-439D-A531-30B39A81346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a:extLst>
              <a:ext uri="{FF2B5EF4-FFF2-40B4-BE49-F238E27FC236}">
                <a16:creationId xmlns:a16="http://schemas.microsoft.com/office/drawing/2014/main" id="{D5D59501-D187-414C-AACE-F838720036C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a:extLst>
              <a:ext uri="{FF2B5EF4-FFF2-40B4-BE49-F238E27FC236}">
                <a16:creationId xmlns:a16="http://schemas.microsoft.com/office/drawing/2014/main" id="{1235F890-BB8A-49E1-880A-924FD6FE4026}"/>
              </a:ext>
            </a:extLst>
          </p:cNvPr>
          <p:cNvSpPr>
            <a:spLocks noGrp="1"/>
          </p:cNvSpPr>
          <p:nvPr>
            <p:ph type="dt" sz="half" idx="10"/>
          </p:nvPr>
        </p:nvSpPr>
        <p:spPr/>
        <p:txBody>
          <a:bodyPr/>
          <a:lstStyle/>
          <a:p>
            <a:fld id="{3133F5E9-5DAC-4C4A-9DF5-C2B87276BCC8}" type="datetimeFigureOut">
              <a:rPr lang="en-US" smtClean="0"/>
              <a:t>9/6/2025</a:t>
            </a:fld>
            <a:endParaRPr lang="en-US" dirty="0"/>
          </a:p>
        </p:txBody>
      </p:sp>
      <p:sp>
        <p:nvSpPr>
          <p:cNvPr id="6" name="Footer Placeholder 5">
            <a:extLst>
              <a:ext uri="{FF2B5EF4-FFF2-40B4-BE49-F238E27FC236}">
                <a16:creationId xmlns:a16="http://schemas.microsoft.com/office/drawing/2014/main" id="{51CA38FE-429A-41E7-942D-ECCE639D3CA5}"/>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2401D9BC-0038-4041-AE2C-657BF99D41E9}"/>
              </a:ext>
            </a:extLst>
          </p:cNvPr>
          <p:cNvSpPr>
            <a:spLocks noGrp="1"/>
          </p:cNvSpPr>
          <p:nvPr>
            <p:ph type="sldNum" sz="quarter" idx="12"/>
          </p:nvPr>
        </p:nvSpPr>
        <p:spPr/>
        <p:txBody>
          <a:bodyPr/>
          <a:lstStyle/>
          <a:p>
            <a:fld id="{ACEC5C30-0B3A-4B13-ADDD-7C63C8AA921B}" type="slidenum">
              <a:rPr lang="en-US" smtClean="0"/>
              <a:t>‹#›</a:t>
            </a:fld>
            <a:endParaRPr lang="en-US" dirty="0"/>
          </a:p>
        </p:txBody>
      </p:sp>
    </p:spTree>
    <p:extLst>
      <p:ext uri="{BB962C8B-B14F-4D97-AF65-F5344CB8AC3E}">
        <p14:creationId xmlns:p14="http://schemas.microsoft.com/office/powerpoint/2010/main" val="12875613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956CFD-7F35-482C-A50F-B3D43ACB0AE3}"/>
              </a:ext>
            </a:extLst>
          </p:cNvPr>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a:extLst>
              <a:ext uri="{FF2B5EF4-FFF2-40B4-BE49-F238E27FC236}">
                <a16:creationId xmlns:a16="http://schemas.microsoft.com/office/drawing/2014/main" id="{7FD7F3EF-0FE9-46C4-A116-5DA6E26B0D5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a:extLst>
              <a:ext uri="{FF2B5EF4-FFF2-40B4-BE49-F238E27FC236}">
                <a16:creationId xmlns:a16="http://schemas.microsoft.com/office/drawing/2014/main" id="{D10B4041-0F17-42D8-AF16-AB099A39FFB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a:extLst>
              <a:ext uri="{FF2B5EF4-FFF2-40B4-BE49-F238E27FC236}">
                <a16:creationId xmlns:a16="http://schemas.microsoft.com/office/drawing/2014/main" id="{8BAF67FF-F8F1-4B22-A471-9317ED3A25F0}"/>
              </a:ext>
            </a:extLst>
          </p:cNvPr>
          <p:cNvSpPr>
            <a:spLocks noGrp="1"/>
          </p:cNvSpPr>
          <p:nvPr>
            <p:ph type="dt" sz="half" idx="10"/>
          </p:nvPr>
        </p:nvSpPr>
        <p:spPr/>
        <p:txBody>
          <a:bodyPr/>
          <a:lstStyle/>
          <a:p>
            <a:fld id="{3133F5E9-5DAC-4C4A-9DF5-C2B87276BCC8}" type="datetimeFigureOut">
              <a:rPr lang="en-US" smtClean="0"/>
              <a:t>9/6/2025</a:t>
            </a:fld>
            <a:endParaRPr lang="en-US" dirty="0"/>
          </a:p>
        </p:txBody>
      </p:sp>
      <p:sp>
        <p:nvSpPr>
          <p:cNvPr id="6" name="Footer Placeholder 5">
            <a:extLst>
              <a:ext uri="{FF2B5EF4-FFF2-40B4-BE49-F238E27FC236}">
                <a16:creationId xmlns:a16="http://schemas.microsoft.com/office/drawing/2014/main" id="{A73D6993-98F8-4234-B24A-02D4DB41CE93}"/>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F2A34037-0E7D-4379-ACA0-98611B2F76ED}"/>
              </a:ext>
            </a:extLst>
          </p:cNvPr>
          <p:cNvSpPr>
            <a:spLocks noGrp="1"/>
          </p:cNvSpPr>
          <p:nvPr>
            <p:ph type="sldNum" sz="quarter" idx="12"/>
          </p:nvPr>
        </p:nvSpPr>
        <p:spPr/>
        <p:txBody>
          <a:bodyPr/>
          <a:lstStyle/>
          <a:p>
            <a:fld id="{ACEC5C30-0B3A-4B13-ADDD-7C63C8AA921B}" type="slidenum">
              <a:rPr lang="en-US" smtClean="0"/>
              <a:t>‹#›</a:t>
            </a:fld>
            <a:endParaRPr lang="en-US" dirty="0"/>
          </a:p>
        </p:txBody>
      </p:sp>
    </p:spTree>
    <p:extLst>
      <p:ext uri="{BB962C8B-B14F-4D97-AF65-F5344CB8AC3E}">
        <p14:creationId xmlns:p14="http://schemas.microsoft.com/office/powerpoint/2010/main" val="39391979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1915128" y="1397977"/>
            <a:ext cx="8361229" cy="3007447"/>
          </a:xfrm>
        </p:spPr>
        <p:txBody>
          <a:bodyPr anchor="ctr" anchorCtr="0">
            <a:noAutofit/>
          </a:bodyPr>
          <a:lstStyle>
            <a:lvl1pPr algn="ctr">
              <a:defRPr sz="6600" cap="none" baseline="0">
                <a:solidFill>
                  <a:schemeClr val="tx2"/>
                </a:solidFill>
              </a:defRPr>
            </a:lvl1pPr>
          </a:lstStyle>
          <a:p>
            <a:r>
              <a:rPr lang="en-US" noProof="0"/>
              <a:t>Click To Edit Master Title Style</a:t>
            </a:r>
          </a:p>
        </p:txBody>
      </p:sp>
      <p:sp>
        <p:nvSpPr>
          <p:cNvPr id="3" name="Subtitle 2"/>
          <p:cNvSpPr>
            <a:spLocks noGrp="1"/>
          </p:cNvSpPr>
          <p:nvPr>
            <p:ph type="subTitle" idx="1"/>
          </p:nvPr>
        </p:nvSpPr>
        <p:spPr>
          <a:xfrm>
            <a:off x="2679906" y="4475023"/>
            <a:ext cx="6831673" cy="1086237"/>
          </a:xfrm>
        </p:spPr>
        <p:txBody>
          <a:bodyPr>
            <a:normAutofit/>
          </a:bodyPr>
          <a:lstStyle>
            <a:lvl1pPr marL="0" indent="0" algn="ctr">
              <a:lnSpc>
                <a:spcPct val="112000"/>
              </a:lnSpc>
              <a:spcBef>
                <a:spcPts val="0"/>
              </a:spcBef>
              <a:spcAft>
                <a:spcPts val="0"/>
              </a:spcAft>
              <a:buNone/>
              <a:defRPr sz="23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smtClean="0"/>
              <a:t>Click to edit Master subtitle style</a:t>
            </a:r>
            <a:endParaRPr lang="en-US" noProof="0"/>
          </a:p>
        </p:txBody>
      </p:sp>
      <p:sp>
        <p:nvSpPr>
          <p:cNvPr id="4" name="Date Placeholder 3"/>
          <p:cNvSpPr>
            <a:spLocks noGrp="1"/>
          </p:cNvSpPr>
          <p:nvPr>
            <p:ph type="dt" sz="half" idx="10"/>
          </p:nvPr>
        </p:nvSpPr>
        <p:spPr>
          <a:xfrm>
            <a:off x="752858" y="6453386"/>
            <a:ext cx="1607944" cy="404614"/>
          </a:xfrm>
        </p:spPr>
        <p:txBody>
          <a:bodyPr/>
          <a:lstStyle>
            <a:lvl1pPr>
              <a:defRPr baseline="0">
                <a:solidFill>
                  <a:schemeClr val="tx2"/>
                </a:solidFill>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fld id="{3B77EF04-6424-4B70-94D1-FC932CBBDD9B}" type="datetimeFigureOut">
              <a:rPr kumimoji="0" lang="en-US" sz="1200" b="0" i="0" u="none" strike="noStrike" kern="1200" cap="none" spc="0" normalizeH="0" baseline="0" noProof="0" smtClean="0">
                <a:ln>
                  <a:noFill/>
                </a:ln>
                <a:solidFill>
                  <a:srgbClr val="1F497D"/>
                </a:solidFill>
                <a:effectLst/>
                <a:uLnTx/>
                <a:uFillTx/>
                <a:latin typeface="Arial"/>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9/6/2025</a:t>
            </a:fld>
            <a:endParaRPr kumimoji="0" lang="en-US" sz="1200" b="0" i="0" u="none" strike="noStrike" kern="1200" cap="none" spc="0" normalizeH="0" baseline="0" noProof="0" dirty="0">
              <a:ln>
                <a:noFill/>
              </a:ln>
              <a:solidFill>
                <a:srgbClr val="1F497D"/>
              </a:solidFill>
              <a:effectLst/>
              <a:uLnTx/>
              <a:uFillTx/>
              <a:latin typeface="Arial"/>
              <a:ea typeface="+mn-ea"/>
              <a:cs typeface="+mn-cs"/>
            </a:endParaRPr>
          </a:p>
        </p:txBody>
      </p:sp>
      <p:sp>
        <p:nvSpPr>
          <p:cNvPr id="5" name="Footer Placeholder 4"/>
          <p:cNvSpPr>
            <a:spLocks noGrp="1"/>
          </p:cNvSpPr>
          <p:nvPr>
            <p:ph type="ftr" sz="quarter" idx="11"/>
          </p:nvPr>
        </p:nvSpPr>
        <p:spPr>
          <a:xfrm>
            <a:off x="2584054" y="6453386"/>
            <a:ext cx="7023377" cy="404614"/>
          </a:xfrm>
        </p:spPr>
        <p:txBody>
          <a:bodyPr/>
          <a:lstStyle>
            <a:lvl1pPr algn="ctr">
              <a:defRPr baseline="0">
                <a:solidFill>
                  <a:schemeClr val="tx2"/>
                </a:solidFill>
              </a:defRPr>
            </a:lvl1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1F497D"/>
                </a:solidFill>
                <a:effectLst/>
                <a:uLnTx/>
                <a:uFillTx/>
                <a:latin typeface="Arial"/>
                <a:ea typeface="+mn-ea"/>
                <a:cs typeface="+mn-cs"/>
              </a:rPr>
              <a:t>Add a footer </a:t>
            </a:r>
          </a:p>
        </p:txBody>
      </p:sp>
      <p:sp>
        <p:nvSpPr>
          <p:cNvPr id="6" name="Slide Number Placeholder 5"/>
          <p:cNvSpPr>
            <a:spLocks noGrp="1"/>
          </p:cNvSpPr>
          <p:nvPr>
            <p:ph type="sldNum" sz="quarter" idx="12"/>
          </p:nvPr>
        </p:nvSpPr>
        <p:spPr>
          <a:xfrm>
            <a:off x="9830683" y="6453386"/>
            <a:ext cx="1596292" cy="404614"/>
          </a:xfrm>
        </p:spPr>
        <p:txBody>
          <a:bodyPr/>
          <a:lstStyle>
            <a:lvl1pPr>
              <a:defRPr baseline="0">
                <a:solidFill>
                  <a:schemeClr val="tx2"/>
                </a:solidFill>
              </a:defRPr>
            </a:lvl1pPr>
          </a:lstStyle>
          <a:p>
            <a:pPr marL="0" marR="0" lvl="0" indent="0" algn="r" defTabSz="457200" rtl="0" eaLnBrk="1" fontAlgn="auto" latinLnBrk="0" hangingPunct="1">
              <a:lnSpc>
                <a:spcPct val="100000"/>
              </a:lnSpc>
              <a:spcBef>
                <a:spcPts val="0"/>
              </a:spcBef>
              <a:spcAft>
                <a:spcPts val="0"/>
              </a:spcAft>
              <a:buClrTx/>
              <a:buSzTx/>
              <a:buFontTx/>
              <a:buNone/>
              <a:tabLst/>
              <a:defRPr/>
            </a:pPr>
            <a:fld id="{B38049E5-7B53-4E85-8972-7D6C4BCE5BB9}" type="slidenum">
              <a:rPr kumimoji="0" lang="en-US" sz="1200" b="0" i="0" u="none" strike="noStrike" kern="1200" cap="none" spc="0" normalizeH="0" baseline="0" noProof="0" smtClean="0">
                <a:ln>
                  <a:noFill/>
                </a:ln>
                <a:solidFill>
                  <a:srgbClr val="1F497D"/>
                </a:solidFill>
                <a:effectLst/>
                <a:uLnTx/>
                <a:uFillTx/>
                <a:latin typeface="Arial"/>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srgbClr val="1F497D"/>
              </a:solidFill>
              <a:effectLst/>
              <a:uLnTx/>
              <a:uFillTx/>
              <a:latin typeface="Arial"/>
              <a:ea typeface="+mn-ea"/>
              <a:cs typeface="+mn-cs"/>
            </a:endParaRPr>
          </a:p>
        </p:txBody>
      </p:sp>
      <p:sp>
        <p:nvSpPr>
          <p:cNvPr id="13" name="L-Shape 12">
            <a:extLst>
              <a:ext uri="{FF2B5EF4-FFF2-40B4-BE49-F238E27FC236}">
                <a16:creationId xmlns:a16="http://schemas.microsoft.com/office/drawing/2014/main" id="{79965FD7-DA9A-4AFB-B8C8-34AC1FEE9F72}"/>
              </a:ext>
            </a:extLst>
          </p:cNvPr>
          <p:cNvSpPr/>
          <p:nvPr userDrawn="1"/>
        </p:nvSpPr>
        <p:spPr>
          <a:xfrm flipV="1">
            <a:off x="887674" y="726883"/>
            <a:ext cx="2772000" cy="4158497"/>
          </a:xfrm>
          <a:prstGeom prst="corner">
            <a:avLst>
              <a:gd name="adj1" fmla="val 7397"/>
              <a:gd name="adj2" fmla="val 7750"/>
            </a:avLst>
          </a:prstGeom>
          <a:solidFill>
            <a:schemeClr val="accent3"/>
          </a:solidFill>
          <a:ln>
            <a:solidFill>
              <a:schemeClr val="accent3"/>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a:ea typeface="+mn-ea"/>
              <a:cs typeface="+mn-cs"/>
            </a:endParaRPr>
          </a:p>
        </p:txBody>
      </p:sp>
      <p:sp>
        <p:nvSpPr>
          <p:cNvPr id="15" name="L-Shape 14">
            <a:extLst>
              <a:ext uri="{FF2B5EF4-FFF2-40B4-BE49-F238E27FC236}">
                <a16:creationId xmlns:a16="http://schemas.microsoft.com/office/drawing/2014/main" id="{92465177-72B9-4DCF-8F98-0C79F3EE32EC}"/>
              </a:ext>
            </a:extLst>
          </p:cNvPr>
          <p:cNvSpPr/>
          <p:nvPr userDrawn="1"/>
        </p:nvSpPr>
        <p:spPr>
          <a:xfrm rot="10800000" flipV="1">
            <a:off x="8532326" y="1820272"/>
            <a:ext cx="2772000" cy="4158497"/>
          </a:xfrm>
          <a:prstGeom prst="corner">
            <a:avLst>
              <a:gd name="adj1" fmla="val 7397"/>
              <a:gd name="adj2" fmla="val 7750"/>
            </a:avLst>
          </a:prstGeom>
          <a:solidFill>
            <a:schemeClr val="accent3"/>
          </a:solidFill>
          <a:ln>
            <a:solidFill>
              <a:schemeClr val="accent3"/>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a:ea typeface="+mn-ea"/>
              <a:cs typeface="+mn-cs"/>
            </a:endParaRPr>
          </a:p>
        </p:txBody>
      </p:sp>
      <p:sp>
        <p:nvSpPr>
          <p:cNvPr id="8" name="L-Shape 7">
            <a:extLst>
              <a:ext uri="{FF2B5EF4-FFF2-40B4-BE49-F238E27FC236}">
                <a16:creationId xmlns:a16="http://schemas.microsoft.com/office/drawing/2014/main" id="{B5516E7A-AEB0-4772-8098-8B0F8B5F1126}"/>
              </a:ext>
            </a:extLst>
          </p:cNvPr>
          <p:cNvSpPr/>
          <p:nvPr userDrawn="1"/>
        </p:nvSpPr>
        <p:spPr>
          <a:xfrm flipV="1">
            <a:off x="752858" y="609652"/>
            <a:ext cx="3152309" cy="4408489"/>
          </a:xfrm>
          <a:prstGeom prst="corner">
            <a:avLst>
              <a:gd name="adj1" fmla="val 6149"/>
              <a:gd name="adj2" fmla="val 6814"/>
            </a:avLst>
          </a:prstGeom>
          <a:solidFill>
            <a:schemeClr val="tx2"/>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a:ea typeface="+mn-ea"/>
              <a:cs typeface="+mn-cs"/>
            </a:endParaRPr>
          </a:p>
        </p:txBody>
      </p:sp>
      <p:sp>
        <p:nvSpPr>
          <p:cNvPr id="12" name="L-Shape 11">
            <a:extLst>
              <a:ext uri="{FF2B5EF4-FFF2-40B4-BE49-F238E27FC236}">
                <a16:creationId xmlns:a16="http://schemas.microsoft.com/office/drawing/2014/main" id="{E864F603-D3F0-4241-9005-3F6C3BD62BEF}"/>
              </a:ext>
            </a:extLst>
          </p:cNvPr>
          <p:cNvSpPr/>
          <p:nvPr userDrawn="1"/>
        </p:nvSpPr>
        <p:spPr>
          <a:xfrm flipH="1">
            <a:off x="8286318" y="1685652"/>
            <a:ext cx="3152309" cy="4408489"/>
          </a:xfrm>
          <a:prstGeom prst="corner">
            <a:avLst>
              <a:gd name="adj1" fmla="val 6773"/>
              <a:gd name="adj2" fmla="val 6814"/>
            </a:avLst>
          </a:prstGeom>
          <a:solidFill>
            <a:schemeClr val="tx2"/>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a:ea typeface="+mn-ea"/>
              <a:cs typeface="+mn-cs"/>
            </a:endParaRPr>
          </a:p>
        </p:txBody>
      </p:sp>
    </p:spTree>
    <p:extLst>
      <p:ext uri="{BB962C8B-B14F-4D97-AF65-F5344CB8AC3E}">
        <p14:creationId xmlns:p14="http://schemas.microsoft.com/office/powerpoint/2010/main" val="2339785430"/>
      </p:ext>
    </p:extLst>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title" preserve="1">
  <p:cSld name="Title Slide Second Option">
    <p:bg bwMode="grayWhite">
      <p:bgPr>
        <a:gradFill flip="none" rotWithShape="1">
          <a:gsLst>
            <a:gs pos="0">
              <a:schemeClr val="tx2">
                <a:lumMod val="50000"/>
              </a:schemeClr>
            </a:gs>
            <a:gs pos="34000">
              <a:schemeClr val="tx2"/>
            </a:gs>
            <a:gs pos="66000">
              <a:schemeClr val="tx2">
                <a:lumMod val="75000"/>
              </a:schemeClr>
            </a:gs>
            <a:gs pos="97000">
              <a:schemeClr val="tx2">
                <a:lumMod val="50000"/>
              </a:schemeClr>
            </a:gs>
          </a:gsLst>
          <a:lin ang="2700000" scaled="1"/>
          <a:tileRect/>
        </a:gradFill>
        <a:effectLst/>
      </p:bgPr>
    </p:bg>
    <p:spTree>
      <p:nvGrpSpPr>
        <p:cNvPr id="1" name=""/>
        <p:cNvGrpSpPr/>
        <p:nvPr/>
      </p:nvGrpSpPr>
      <p:grpSpPr>
        <a:xfrm>
          <a:off x="0" y="0"/>
          <a:ext cx="0" cy="0"/>
          <a:chOff x="0" y="0"/>
          <a:chExt cx="0" cy="0"/>
        </a:xfrm>
      </p:grpSpPr>
      <p:sp>
        <p:nvSpPr>
          <p:cNvPr id="10" name="L-Shape 9">
            <a:extLst>
              <a:ext uri="{FF2B5EF4-FFF2-40B4-BE49-F238E27FC236}">
                <a16:creationId xmlns:a16="http://schemas.microsoft.com/office/drawing/2014/main" id="{13412040-642F-40C5-8AB5-C0E8D41B481B}"/>
              </a:ext>
            </a:extLst>
          </p:cNvPr>
          <p:cNvSpPr/>
          <p:nvPr userDrawn="1"/>
        </p:nvSpPr>
        <p:spPr>
          <a:xfrm flipV="1">
            <a:off x="870090" y="709300"/>
            <a:ext cx="2772000" cy="2772000"/>
          </a:xfrm>
          <a:prstGeom prst="corner">
            <a:avLst>
              <a:gd name="adj1" fmla="val 7397"/>
              <a:gd name="adj2" fmla="val 7750"/>
            </a:avLst>
          </a:prstGeom>
          <a:solidFill>
            <a:schemeClr val="bg2"/>
          </a:solidFill>
          <a:ln>
            <a:solidFill>
              <a:schemeClr val="bg2"/>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a:ea typeface="+mn-ea"/>
              <a:cs typeface="+mn-cs"/>
            </a:endParaRPr>
          </a:p>
        </p:txBody>
      </p:sp>
      <p:sp>
        <p:nvSpPr>
          <p:cNvPr id="9" name="Rectangle 8" title="Side bar">
            <a:extLst>
              <a:ext uri="{FF2B5EF4-FFF2-40B4-BE49-F238E27FC236}">
                <a16:creationId xmlns:a16="http://schemas.microsoft.com/office/drawing/2014/main" id="{BADD331D-DA8D-4D47-A2BB-F4875FDB16A4}"/>
              </a:ext>
            </a:extLst>
          </p:cNvPr>
          <p:cNvSpPr/>
          <p:nvPr userDrawn="1"/>
        </p:nvSpPr>
        <p:spPr>
          <a:xfrm rot="5400000">
            <a:off x="5791174" y="457175"/>
            <a:ext cx="609651" cy="12192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hasCustomPrompt="1"/>
          </p:nvPr>
        </p:nvSpPr>
        <p:spPr>
          <a:xfrm>
            <a:off x="1397977" y="1151796"/>
            <a:ext cx="9504485" cy="3007447"/>
          </a:xfrm>
        </p:spPr>
        <p:txBody>
          <a:bodyPr anchor="ctr" anchorCtr="0">
            <a:noAutofit/>
          </a:bodyPr>
          <a:lstStyle>
            <a:lvl1pPr algn="ctr">
              <a:defRPr sz="6600" cap="none" baseline="0">
                <a:solidFill>
                  <a:schemeClr val="bg1"/>
                </a:solidFill>
              </a:defRPr>
            </a:lvl1pPr>
          </a:lstStyle>
          <a:p>
            <a:r>
              <a:rPr lang="en-US" noProof="0"/>
              <a:t>Click To Edit Master Title Style</a:t>
            </a:r>
          </a:p>
        </p:txBody>
      </p:sp>
      <p:sp>
        <p:nvSpPr>
          <p:cNvPr id="3" name="Subtitle 2"/>
          <p:cNvSpPr>
            <a:spLocks noGrp="1"/>
          </p:cNvSpPr>
          <p:nvPr>
            <p:ph type="subTitle" idx="1"/>
          </p:nvPr>
        </p:nvSpPr>
        <p:spPr>
          <a:xfrm>
            <a:off x="1397977" y="4897053"/>
            <a:ext cx="9504485" cy="1086237"/>
          </a:xfrm>
        </p:spPr>
        <p:txBody>
          <a:bodyPr>
            <a:normAutofit/>
          </a:bodyPr>
          <a:lstStyle>
            <a:lvl1pPr marL="0" indent="0" algn="ctr">
              <a:lnSpc>
                <a:spcPct val="112000"/>
              </a:lnSpc>
              <a:spcBef>
                <a:spcPts val="0"/>
              </a:spcBef>
              <a:spcAft>
                <a:spcPts val="0"/>
              </a:spcAft>
              <a:buNone/>
              <a:defRPr sz="23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smtClean="0"/>
              <a:t>Click to edit Master subtitle style</a:t>
            </a:r>
            <a:endParaRPr lang="en-US" noProof="0"/>
          </a:p>
        </p:txBody>
      </p:sp>
      <p:sp>
        <p:nvSpPr>
          <p:cNvPr id="4" name="Date Placeholder 3"/>
          <p:cNvSpPr>
            <a:spLocks noGrp="1"/>
          </p:cNvSpPr>
          <p:nvPr>
            <p:ph type="dt" sz="half" idx="10"/>
          </p:nvPr>
        </p:nvSpPr>
        <p:spPr>
          <a:xfrm>
            <a:off x="752858" y="6453386"/>
            <a:ext cx="1607944" cy="404614"/>
          </a:xfrm>
        </p:spPr>
        <p:txBody>
          <a:bodyPr/>
          <a:lstStyle>
            <a:lvl1pPr>
              <a:defRPr baseline="0">
                <a:solidFill>
                  <a:schemeClr val="bg1"/>
                </a:solidFill>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fld id="{3B77EF04-6424-4B70-94D1-FC932CBBDD9B}" type="datetimeFigureOut">
              <a:rPr kumimoji="0" lang="en-US" sz="1200" b="0" i="0" u="none" strike="noStrike" kern="1200" cap="none" spc="0" normalizeH="0" baseline="0" noProof="0" smtClean="0">
                <a:ln>
                  <a:noFill/>
                </a:ln>
                <a:solidFill>
                  <a:prstClr val="white"/>
                </a:solidFill>
                <a:effectLst/>
                <a:uLnTx/>
                <a:uFillTx/>
                <a:latin typeface="Arial"/>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9/6/2025</a:t>
            </a:fld>
            <a:endParaRPr kumimoji="0" lang="en-US" sz="1200" b="0" i="0" u="none" strike="noStrike" kern="1200" cap="none" spc="0" normalizeH="0" baseline="0" noProof="0" dirty="0">
              <a:ln>
                <a:noFill/>
              </a:ln>
              <a:solidFill>
                <a:prstClr val="white"/>
              </a:solidFill>
              <a:effectLst/>
              <a:uLnTx/>
              <a:uFillTx/>
              <a:latin typeface="Arial"/>
              <a:ea typeface="+mn-ea"/>
              <a:cs typeface="+mn-cs"/>
            </a:endParaRPr>
          </a:p>
        </p:txBody>
      </p:sp>
      <p:sp>
        <p:nvSpPr>
          <p:cNvPr id="5" name="Footer Placeholder 4"/>
          <p:cNvSpPr>
            <a:spLocks noGrp="1"/>
          </p:cNvSpPr>
          <p:nvPr>
            <p:ph type="ftr" sz="quarter" idx="11"/>
          </p:nvPr>
        </p:nvSpPr>
        <p:spPr>
          <a:xfrm>
            <a:off x="2584054" y="6453386"/>
            <a:ext cx="7023377" cy="404614"/>
          </a:xfrm>
        </p:spPr>
        <p:txBody>
          <a:bodyPr/>
          <a:lstStyle>
            <a:lvl1pPr algn="ctr">
              <a:defRPr baseline="0">
                <a:solidFill>
                  <a:schemeClr val="bg1"/>
                </a:solidFill>
              </a:defRPr>
            </a:lvl1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white"/>
                </a:solidFill>
                <a:effectLst/>
                <a:uLnTx/>
                <a:uFillTx/>
                <a:latin typeface="Arial"/>
                <a:ea typeface="+mn-ea"/>
                <a:cs typeface="+mn-cs"/>
              </a:rPr>
              <a:t>Add a footer </a:t>
            </a:r>
          </a:p>
        </p:txBody>
      </p:sp>
      <p:sp>
        <p:nvSpPr>
          <p:cNvPr id="6" name="Slide Number Placeholder 5"/>
          <p:cNvSpPr>
            <a:spLocks noGrp="1"/>
          </p:cNvSpPr>
          <p:nvPr>
            <p:ph type="sldNum" sz="quarter" idx="12"/>
          </p:nvPr>
        </p:nvSpPr>
        <p:spPr>
          <a:xfrm>
            <a:off x="9830683" y="6453386"/>
            <a:ext cx="1596292" cy="404614"/>
          </a:xfrm>
        </p:spPr>
        <p:txBody>
          <a:bodyPr/>
          <a:lstStyle>
            <a:lvl1pPr>
              <a:defRPr baseline="0">
                <a:solidFill>
                  <a:schemeClr val="bg1"/>
                </a:solidFill>
              </a:defRPr>
            </a:lvl1pPr>
          </a:lstStyle>
          <a:p>
            <a:pPr marL="0" marR="0" lvl="0" indent="0" algn="r" defTabSz="457200" rtl="0" eaLnBrk="1" fontAlgn="auto" latinLnBrk="0" hangingPunct="1">
              <a:lnSpc>
                <a:spcPct val="100000"/>
              </a:lnSpc>
              <a:spcBef>
                <a:spcPts val="0"/>
              </a:spcBef>
              <a:spcAft>
                <a:spcPts val="0"/>
              </a:spcAft>
              <a:buClrTx/>
              <a:buSzTx/>
              <a:buFontTx/>
              <a:buNone/>
              <a:tabLst/>
              <a:defRPr/>
            </a:pPr>
            <a:fld id="{B38049E5-7B53-4E85-8972-7D6C4BCE5BB9}" type="slidenum">
              <a:rPr kumimoji="0" lang="en-US" sz="1200" b="0" i="0" u="none" strike="noStrike" kern="1200" cap="none" spc="0" normalizeH="0" baseline="0" noProof="0" smtClean="0">
                <a:ln>
                  <a:noFill/>
                </a:ln>
                <a:solidFill>
                  <a:prstClr val="white"/>
                </a:solidFill>
                <a:effectLst/>
                <a:uLnTx/>
                <a:uFillTx/>
                <a:latin typeface="Arial"/>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prstClr val="white"/>
              </a:solidFill>
              <a:effectLst/>
              <a:uLnTx/>
              <a:uFillTx/>
              <a:latin typeface="Arial"/>
              <a:ea typeface="+mn-ea"/>
              <a:cs typeface="+mn-cs"/>
            </a:endParaRPr>
          </a:p>
        </p:txBody>
      </p:sp>
      <p:sp>
        <p:nvSpPr>
          <p:cNvPr id="11" name="L-Shape 10">
            <a:extLst>
              <a:ext uri="{FF2B5EF4-FFF2-40B4-BE49-F238E27FC236}">
                <a16:creationId xmlns:a16="http://schemas.microsoft.com/office/drawing/2014/main" id="{68D376A1-CC76-4C90-B2CF-F89EA13E7942}"/>
              </a:ext>
            </a:extLst>
          </p:cNvPr>
          <p:cNvSpPr/>
          <p:nvPr userDrawn="1"/>
        </p:nvSpPr>
        <p:spPr>
          <a:xfrm rot="10800000" flipV="1">
            <a:off x="8549910" y="1820273"/>
            <a:ext cx="2772000" cy="2772000"/>
          </a:xfrm>
          <a:prstGeom prst="corner">
            <a:avLst>
              <a:gd name="adj1" fmla="val 7397"/>
              <a:gd name="adj2" fmla="val 7750"/>
            </a:avLst>
          </a:prstGeom>
          <a:solidFill>
            <a:schemeClr val="bg2"/>
          </a:solidFill>
          <a:ln>
            <a:solidFill>
              <a:schemeClr val="bg2"/>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a:ea typeface="+mn-ea"/>
              <a:cs typeface="+mn-cs"/>
            </a:endParaRPr>
          </a:p>
        </p:txBody>
      </p:sp>
      <p:sp>
        <p:nvSpPr>
          <p:cNvPr id="8" name="L-Shape 7">
            <a:extLst>
              <a:ext uri="{FF2B5EF4-FFF2-40B4-BE49-F238E27FC236}">
                <a16:creationId xmlns:a16="http://schemas.microsoft.com/office/drawing/2014/main" id="{B5516E7A-AEB0-4772-8098-8B0F8B5F1126}"/>
              </a:ext>
            </a:extLst>
          </p:cNvPr>
          <p:cNvSpPr/>
          <p:nvPr userDrawn="1"/>
        </p:nvSpPr>
        <p:spPr>
          <a:xfrm flipV="1">
            <a:off x="752858" y="609652"/>
            <a:ext cx="3152309" cy="3007448"/>
          </a:xfrm>
          <a:prstGeom prst="corner">
            <a:avLst>
              <a:gd name="adj1" fmla="val 6089"/>
              <a:gd name="adj2" fmla="val 6769"/>
            </a:avLst>
          </a:prstGeom>
          <a:solidFill>
            <a:schemeClr val="accent3"/>
          </a:solidFill>
          <a:ln>
            <a:solidFill>
              <a:schemeClr val="accent3"/>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a:ea typeface="+mn-ea"/>
              <a:cs typeface="+mn-cs"/>
            </a:endParaRPr>
          </a:p>
        </p:txBody>
      </p:sp>
      <p:sp>
        <p:nvSpPr>
          <p:cNvPr id="12" name="L-Shape 11">
            <a:extLst>
              <a:ext uri="{FF2B5EF4-FFF2-40B4-BE49-F238E27FC236}">
                <a16:creationId xmlns:a16="http://schemas.microsoft.com/office/drawing/2014/main" id="{E864F603-D3F0-4241-9005-3F6C3BD62BEF}"/>
              </a:ext>
            </a:extLst>
          </p:cNvPr>
          <p:cNvSpPr/>
          <p:nvPr userDrawn="1"/>
        </p:nvSpPr>
        <p:spPr>
          <a:xfrm flipH="1">
            <a:off x="8286317" y="1685653"/>
            <a:ext cx="3152309" cy="3007448"/>
          </a:xfrm>
          <a:prstGeom prst="corner">
            <a:avLst>
              <a:gd name="adj1" fmla="val 6089"/>
              <a:gd name="adj2" fmla="val 6442"/>
            </a:avLst>
          </a:prstGeom>
          <a:solidFill>
            <a:schemeClr val="accent3"/>
          </a:solidFill>
          <a:ln>
            <a:solidFill>
              <a:schemeClr val="accent3"/>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a:ea typeface="+mn-ea"/>
              <a:cs typeface="+mn-cs"/>
            </a:endParaRPr>
          </a:p>
        </p:txBody>
      </p:sp>
    </p:spTree>
    <p:extLst>
      <p:ext uri="{BB962C8B-B14F-4D97-AF65-F5344CB8AC3E}">
        <p14:creationId xmlns:p14="http://schemas.microsoft.com/office/powerpoint/2010/main" val="33159004"/>
      </p:ext>
    </p:extLst>
  </p:cSld>
  <p:clrMapOvr>
    <a:overrideClrMapping bg1="lt1" tx1="dk1" bg2="lt2" tx2="dk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371600" y="685800"/>
            <a:ext cx="9601200" cy="720213"/>
          </a:xfrm>
        </p:spPr>
        <p:txBody>
          <a:bodyPr>
            <a:noAutofit/>
          </a:bodyPr>
          <a:lstStyle>
            <a:lvl1pPr>
              <a:defRPr sz="4800"/>
            </a:lvl1pPr>
          </a:lstStyle>
          <a:p>
            <a:r>
              <a:rPr lang="en-US" noProof="0"/>
              <a:t>Click To Edit Master Title Style</a:t>
            </a:r>
          </a:p>
        </p:txBody>
      </p:sp>
      <p:sp>
        <p:nvSpPr>
          <p:cNvPr id="3" name="Content Placeholder 2"/>
          <p:cNvSpPr>
            <a:spLocks noGrp="1"/>
          </p:cNvSpPr>
          <p:nvPr>
            <p:ph idx="1"/>
          </p:nvPr>
        </p:nvSpPr>
        <p:spPr>
          <a:xfrm>
            <a:off x="1371600" y="1484671"/>
            <a:ext cx="9601200" cy="4382729"/>
          </a:xfrm>
        </p:spPr>
        <p:txBody>
          <a:bodyPr/>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4" name="Date Placeholder 3"/>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3B77EF04-6424-4B70-94D1-FC932CBBDD9B}" type="datetimeFigureOut">
              <a:rPr kumimoji="0" lang="en-US" sz="1200" b="0" i="0" u="none" strike="noStrike" kern="1200" cap="none" spc="0" normalizeH="0" baseline="0" noProof="0" smtClean="0">
                <a:ln>
                  <a:noFill/>
                </a:ln>
                <a:solidFill>
                  <a:srgbClr val="1F497D"/>
                </a:solidFill>
                <a:effectLst/>
                <a:uLnTx/>
                <a:uFillTx/>
                <a:latin typeface="Arial"/>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9/6/2025</a:t>
            </a:fld>
            <a:endParaRPr kumimoji="0" lang="en-US" sz="1200" b="0" i="0" u="none" strike="noStrike" kern="1200" cap="none" spc="0" normalizeH="0" baseline="0" noProof="0" dirty="0">
              <a:ln>
                <a:noFill/>
              </a:ln>
              <a:solidFill>
                <a:srgbClr val="1F497D"/>
              </a:solidFill>
              <a:effectLst/>
              <a:uLnTx/>
              <a:uFillTx/>
              <a:latin typeface="Arial"/>
              <a:ea typeface="+mn-ea"/>
              <a:cs typeface="+mn-cs"/>
            </a:endParaRPr>
          </a:p>
        </p:txBody>
      </p:sp>
      <p:sp>
        <p:nvSpPr>
          <p:cNvPr id="5" name="Footer Placeholder 4"/>
          <p:cNvSpPr>
            <a:spLocks noGrp="1"/>
          </p:cNvSpPr>
          <p:nvPr>
            <p:ph type="ftr" sz="quarter" idx="1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1F497D"/>
                </a:solidFill>
                <a:effectLst/>
                <a:uLnTx/>
                <a:uFillTx/>
                <a:latin typeface="Arial"/>
                <a:ea typeface="+mn-ea"/>
                <a:cs typeface="+mn-cs"/>
              </a:rPr>
              <a:t>Add a footer </a:t>
            </a:r>
          </a:p>
        </p:txBody>
      </p:sp>
      <p:sp>
        <p:nvSpPr>
          <p:cNvPr id="6" name="Slide Number Placeholder 5"/>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B38049E5-7B53-4E85-8972-7D6C4BCE5BB9}" type="slidenum">
              <a:rPr kumimoji="0" lang="en-US" sz="1200" b="0" i="0" u="none" strike="noStrike" kern="1200" cap="none" spc="0" normalizeH="0" baseline="0" noProof="0" smtClean="0">
                <a:ln>
                  <a:noFill/>
                </a:ln>
                <a:solidFill>
                  <a:srgbClr val="1F497D"/>
                </a:solidFill>
                <a:effectLst/>
                <a:uLnTx/>
                <a:uFillTx/>
                <a:latin typeface="Arial"/>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srgbClr val="1F497D"/>
              </a:solidFill>
              <a:effectLst/>
              <a:uLnTx/>
              <a:uFillTx/>
              <a:latin typeface="Arial"/>
              <a:ea typeface="+mn-ea"/>
              <a:cs typeface="+mn-cs"/>
            </a:endParaRPr>
          </a:p>
        </p:txBody>
      </p:sp>
      <p:cxnSp>
        <p:nvCxnSpPr>
          <p:cNvPr id="7" name="Straight Connector 6">
            <a:extLst>
              <a:ext uri="{FF2B5EF4-FFF2-40B4-BE49-F238E27FC236}">
                <a16:creationId xmlns:a16="http://schemas.microsoft.com/office/drawing/2014/main" id="{CBEFB83C-E1EC-41AC-BFF6-9D094E2D43C6}"/>
              </a:ext>
            </a:extLst>
          </p:cNvPr>
          <p:cNvCxnSpPr/>
          <p:nvPr userDrawn="1"/>
        </p:nvCxnSpPr>
        <p:spPr>
          <a:xfrm>
            <a:off x="1465008" y="1445344"/>
            <a:ext cx="9468000" cy="0"/>
          </a:xfrm>
          <a:prstGeom prst="line">
            <a:avLst/>
          </a:prstGeom>
          <a:ln w="28575">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1675448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Content with Caption and Picture">
    <p:bg bwMode="ltGray">
      <p:bgPr>
        <a:solidFill>
          <a:schemeClr val="bg2"/>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20A2BD38-4A6C-44EB-900D-A3E3AE37854F}"/>
              </a:ext>
            </a:extLst>
          </p:cNvPr>
          <p:cNvSpPr/>
          <p:nvPr userDrawn="1"/>
        </p:nvSpPr>
        <p:spPr>
          <a:xfrm>
            <a:off x="6581723" y="404614"/>
            <a:ext cx="5191176" cy="6048772"/>
          </a:xfrm>
          <a:prstGeom prst="rect">
            <a:avLst/>
          </a:prstGeom>
          <a:gradFill flip="none" rotWithShape="1">
            <a:gsLst>
              <a:gs pos="0">
                <a:schemeClr val="tx2">
                  <a:lumMod val="50000"/>
                </a:schemeClr>
              </a:gs>
              <a:gs pos="36000">
                <a:schemeClr val="tx2"/>
              </a:gs>
              <a:gs pos="69000">
                <a:schemeClr val="tx2">
                  <a:lumMod val="75000"/>
                </a:schemeClr>
              </a:gs>
              <a:gs pos="97000">
                <a:schemeClr val="tx2">
                  <a:lumMod val="50000"/>
                </a:schemeClr>
              </a:gs>
            </a:gsLst>
            <a:lin ang="2700000" scaled="1"/>
            <a:tileRect/>
          </a:gradFill>
          <a:ln>
            <a:noFill/>
          </a:ln>
          <a:effectLst>
            <a:outerShdw blurRad="63500" sx="102000" sy="102000" algn="ctr" rotWithShape="0">
              <a:prstClr val="black">
                <a:alpha val="20000"/>
              </a:prstClr>
            </a:outerShdw>
          </a:effectLst>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a:ea typeface="+mn-ea"/>
              <a:cs typeface="+mn-cs"/>
            </a:endParaRPr>
          </a:p>
        </p:txBody>
      </p:sp>
      <p:sp>
        <p:nvSpPr>
          <p:cNvPr id="27" name="Oval 26">
            <a:extLst>
              <a:ext uri="{FF2B5EF4-FFF2-40B4-BE49-F238E27FC236}">
                <a16:creationId xmlns:a16="http://schemas.microsoft.com/office/drawing/2014/main" id="{C222C1B9-FA56-4CEA-AD98-25A595D942F8}"/>
              </a:ext>
            </a:extLst>
          </p:cNvPr>
          <p:cNvSpPr/>
          <p:nvPr userDrawn="1"/>
        </p:nvSpPr>
        <p:spPr bwMode="white">
          <a:xfrm>
            <a:off x="7040199" y="564425"/>
            <a:ext cx="4356000" cy="4464000"/>
          </a:xfrm>
          <a:prstGeom prst="ellipse">
            <a:avLst/>
          </a:prstGeom>
          <a:noFill/>
          <a:ln w="123825">
            <a:solidFill>
              <a:schemeClr val="accent3"/>
            </a:solidFill>
          </a:ln>
          <a:effectLst>
            <a:outerShdw blurRad="63500" sx="102000" sy="102000" algn="ctr" rotWithShape="0">
              <a:prstClr val="black">
                <a:alpha val="40000"/>
              </a:prstClr>
            </a:outerShdw>
          </a:effectLst>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a:ea typeface="+mn-ea"/>
              <a:cs typeface="+mn-cs"/>
            </a:endParaRPr>
          </a:p>
        </p:txBody>
      </p:sp>
      <p:sp>
        <p:nvSpPr>
          <p:cNvPr id="8" name="Rectangle 7" title="Background Shape"/>
          <p:cNvSpPr/>
          <p:nvPr/>
        </p:nvSpPr>
        <p:spPr>
          <a:xfrm>
            <a:off x="0" y="376"/>
            <a:ext cx="6096000" cy="6857624"/>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hasCustomPrompt="1"/>
          </p:nvPr>
        </p:nvSpPr>
        <p:spPr bwMode="white">
          <a:xfrm>
            <a:off x="586246" y="400665"/>
            <a:ext cx="4858460" cy="1428136"/>
          </a:xfrm>
        </p:spPr>
        <p:txBody>
          <a:bodyPr anchor="ctr" anchorCtr="0">
            <a:noAutofit/>
          </a:bodyPr>
          <a:lstStyle>
            <a:lvl1pPr algn="ctr">
              <a:lnSpc>
                <a:spcPct val="84000"/>
              </a:lnSpc>
              <a:defRPr sz="4800" baseline="0">
                <a:solidFill>
                  <a:schemeClr val="bg1"/>
                </a:solidFill>
              </a:defRPr>
            </a:lvl1pPr>
          </a:lstStyle>
          <a:p>
            <a:r>
              <a:rPr lang="en-US" noProof="0"/>
              <a:t>Click To Edit Master Title Style</a:t>
            </a:r>
          </a:p>
        </p:txBody>
      </p:sp>
      <p:sp>
        <p:nvSpPr>
          <p:cNvPr id="4" name="Text Placeholder 3"/>
          <p:cNvSpPr>
            <a:spLocks noGrp="1"/>
          </p:cNvSpPr>
          <p:nvPr>
            <p:ph type="body" sz="half" idx="2"/>
          </p:nvPr>
        </p:nvSpPr>
        <p:spPr>
          <a:xfrm>
            <a:off x="586246" y="2113935"/>
            <a:ext cx="4858460" cy="4247186"/>
          </a:xfrm>
        </p:spPr>
        <p:txBody>
          <a:bodyPr/>
          <a:lstStyle>
            <a:lvl1pPr marL="285750" indent="-285750">
              <a:lnSpc>
                <a:spcPct val="100000"/>
              </a:lnSpc>
              <a:spcBef>
                <a:spcPts val="0"/>
              </a:spcBef>
              <a:spcAft>
                <a:spcPts val="100"/>
              </a:spcAft>
              <a:buFont typeface="Arial" panose="020B0604020202020204" pitchFamily="34" charset="0"/>
              <a:buChar char="•"/>
              <a:defRPr sz="18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smtClean="0"/>
              <a:t>Edit Master text styles</a:t>
            </a:r>
          </a:p>
        </p:txBody>
      </p:sp>
      <p:sp>
        <p:nvSpPr>
          <p:cNvPr id="5" name="Date Placeholder 4"/>
          <p:cNvSpPr>
            <a:spLocks noGrp="1"/>
          </p:cNvSpPr>
          <p:nvPr>
            <p:ph type="dt" sz="half" idx="10"/>
          </p:nvPr>
        </p:nvSpPr>
        <p:spPr>
          <a:xfrm>
            <a:off x="586246" y="6443554"/>
            <a:ext cx="1324322" cy="404614"/>
          </a:xfrm>
        </p:spPr>
        <p:txBody>
          <a:bodyPr/>
          <a:lstStyle>
            <a:lvl1pPr>
              <a:defRPr>
                <a:solidFill>
                  <a:schemeClr val="bg1"/>
                </a:solidFill>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fld id="{3B77EF04-6424-4B70-94D1-FC932CBBDD9B}" type="datetimeFigureOut">
              <a:rPr kumimoji="0" lang="en-US" sz="1200" b="0" i="0" u="none" strike="noStrike" kern="1200" cap="none" spc="0" normalizeH="0" baseline="0" noProof="0" smtClean="0">
                <a:ln>
                  <a:noFill/>
                </a:ln>
                <a:solidFill>
                  <a:prstClr val="white"/>
                </a:solidFill>
                <a:effectLst/>
                <a:uLnTx/>
                <a:uFillTx/>
                <a:latin typeface="Arial"/>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9/6/2025</a:t>
            </a:fld>
            <a:endParaRPr kumimoji="0" lang="en-US" sz="1200" b="0" i="0" u="none" strike="noStrike" kern="1200" cap="none" spc="0" normalizeH="0" baseline="0" noProof="0" dirty="0">
              <a:ln>
                <a:noFill/>
              </a:ln>
              <a:solidFill>
                <a:prstClr val="white"/>
              </a:solidFill>
              <a:effectLst/>
              <a:uLnTx/>
              <a:uFillTx/>
              <a:latin typeface="Arial"/>
              <a:ea typeface="+mn-ea"/>
              <a:cs typeface="+mn-cs"/>
            </a:endParaRPr>
          </a:p>
        </p:txBody>
      </p:sp>
      <p:sp>
        <p:nvSpPr>
          <p:cNvPr id="6" name="Footer Placeholder 5"/>
          <p:cNvSpPr>
            <a:spLocks noGrp="1"/>
          </p:cNvSpPr>
          <p:nvPr>
            <p:ph type="ftr" sz="quarter" idx="11"/>
          </p:nvPr>
        </p:nvSpPr>
        <p:spPr>
          <a:xfrm>
            <a:off x="2825377" y="6453386"/>
            <a:ext cx="2619329" cy="404614"/>
          </a:xfrm>
        </p:spPr>
        <p:txBody>
          <a:bodyPr/>
          <a:lstStyle>
            <a:lvl1pPr>
              <a:defRPr>
                <a:solidFill>
                  <a:schemeClr val="bg1"/>
                </a:solidFill>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white"/>
                </a:solidFill>
                <a:effectLst/>
                <a:uLnTx/>
                <a:uFillTx/>
                <a:latin typeface="Arial"/>
                <a:ea typeface="+mn-ea"/>
                <a:cs typeface="+mn-cs"/>
              </a:rPr>
              <a:t>Add a footer </a:t>
            </a:r>
          </a:p>
        </p:txBody>
      </p:sp>
      <p:sp>
        <p:nvSpPr>
          <p:cNvPr id="7" name="Slide Number Placeholder 6"/>
          <p:cNvSpPr>
            <a:spLocks noGrp="1"/>
          </p:cNvSpPr>
          <p:nvPr>
            <p:ph type="sldNum" sz="quarter" idx="12"/>
          </p:nvPr>
        </p:nvSpPr>
        <p:spPr>
          <a:xfrm>
            <a:off x="10187939" y="6453386"/>
            <a:ext cx="1596292" cy="404614"/>
          </a:xfrm>
        </p:spPr>
        <p:txBody>
          <a:bodyPr/>
          <a:lstStyle>
            <a:lvl1pPr>
              <a:defRPr>
                <a:solidFill>
                  <a:schemeClr val="tx2"/>
                </a:solidFill>
              </a:defRPr>
            </a:lvl1pPr>
          </a:lstStyle>
          <a:p>
            <a:pPr marL="0" marR="0" lvl="0" indent="0" algn="r" defTabSz="457200" rtl="0" eaLnBrk="1" fontAlgn="auto" latinLnBrk="0" hangingPunct="1">
              <a:lnSpc>
                <a:spcPct val="100000"/>
              </a:lnSpc>
              <a:spcBef>
                <a:spcPts val="0"/>
              </a:spcBef>
              <a:spcAft>
                <a:spcPts val="0"/>
              </a:spcAft>
              <a:buClrTx/>
              <a:buSzTx/>
              <a:buFontTx/>
              <a:buNone/>
              <a:tabLst/>
              <a:defRPr/>
            </a:pPr>
            <a:fld id="{B38049E5-7B53-4E85-8972-7D6C4BCE5BB9}" type="slidenum">
              <a:rPr kumimoji="0" lang="en-US" sz="1200" b="0" i="0" u="none" strike="noStrike" kern="1200" cap="none" spc="0" normalizeH="0" baseline="0" noProof="0" smtClean="0">
                <a:ln>
                  <a:noFill/>
                </a:ln>
                <a:solidFill>
                  <a:srgbClr val="1F497D"/>
                </a:solidFill>
                <a:effectLst/>
                <a:uLnTx/>
                <a:uFillTx/>
                <a:latin typeface="Arial"/>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srgbClr val="1F497D"/>
              </a:solidFill>
              <a:effectLst/>
              <a:uLnTx/>
              <a:uFillTx/>
              <a:latin typeface="Arial"/>
              <a:ea typeface="+mn-ea"/>
              <a:cs typeface="+mn-cs"/>
            </a:endParaRPr>
          </a:p>
        </p:txBody>
      </p:sp>
      <p:sp>
        <p:nvSpPr>
          <p:cNvPr id="9" name="Rectangle 8" title="Divider Bar"/>
          <p:cNvSpPr/>
          <p:nvPr/>
        </p:nvSpPr>
        <p:spPr>
          <a:xfrm>
            <a:off x="6024000" y="0"/>
            <a:ext cx="1440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Picture Placeholder 12">
            <a:extLst>
              <a:ext uri="{FF2B5EF4-FFF2-40B4-BE49-F238E27FC236}">
                <a16:creationId xmlns:a16="http://schemas.microsoft.com/office/drawing/2014/main" id="{9786B981-6A78-425B-97A2-BA24E40DB7AD}"/>
              </a:ext>
            </a:extLst>
          </p:cNvPr>
          <p:cNvSpPr>
            <a:spLocks noGrp="1"/>
          </p:cNvSpPr>
          <p:nvPr>
            <p:ph type="pic" sz="quarter" idx="13"/>
          </p:nvPr>
        </p:nvSpPr>
        <p:spPr>
          <a:xfrm>
            <a:off x="7145761" y="670570"/>
            <a:ext cx="4151312" cy="4248000"/>
          </a:xfrm>
          <a:prstGeom prst="ellipse">
            <a:avLst/>
          </a:prstGeom>
          <a:ln w="38100">
            <a:solidFill>
              <a:schemeClr val="bg2"/>
            </a:solidFill>
          </a:ln>
          <a:effectLst>
            <a:innerShdw blurRad="114300">
              <a:prstClr val="black"/>
            </a:innerShdw>
          </a:effectLst>
        </p:spPr>
        <p:txBody>
          <a:bodyPr anchor="ctr" anchorCtr="0"/>
          <a:lstStyle>
            <a:lvl1pPr>
              <a:defRPr>
                <a:solidFill>
                  <a:schemeClr val="bg1"/>
                </a:solidFill>
              </a:defRPr>
            </a:lvl1pPr>
          </a:lstStyle>
          <a:p>
            <a:r>
              <a:rPr lang="en-US" noProof="0" smtClean="0"/>
              <a:t>Click icon to add picture</a:t>
            </a:r>
            <a:endParaRPr lang="en-US" noProof="0" dirty="0"/>
          </a:p>
        </p:txBody>
      </p:sp>
      <p:sp>
        <p:nvSpPr>
          <p:cNvPr id="17" name="Content Placeholder 15">
            <a:extLst>
              <a:ext uri="{FF2B5EF4-FFF2-40B4-BE49-F238E27FC236}">
                <a16:creationId xmlns:a16="http://schemas.microsoft.com/office/drawing/2014/main" id="{A21C7D74-31FD-4638-819B-6F7351A1770B}"/>
              </a:ext>
            </a:extLst>
          </p:cNvPr>
          <p:cNvSpPr>
            <a:spLocks noGrp="1"/>
          </p:cNvSpPr>
          <p:nvPr>
            <p:ph sz="quarter" idx="15"/>
          </p:nvPr>
        </p:nvSpPr>
        <p:spPr>
          <a:xfrm>
            <a:off x="6747294" y="5188236"/>
            <a:ext cx="4858459" cy="1126906"/>
          </a:xfrm>
          <a:solidFill>
            <a:schemeClr val="bg2"/>
          </a:solidFill>
          <a:ln>
            <a:noFill/>
          </a:ln>
          <a:effectLst>
            <a:innerShdw blurRad="114300">
              <a:prstClr val="black"/>
            </a:innerShdw>
          </a:effectLst>
        </p:spPr>
        <p:txBody>
          <a:bodyPr anchor="ctr" anchorCtr="0"/>
          <a:lstStyle>
            <a:lvl1pPr marL="0" indent="0" algn="ctr">
              <a:buNone/>
              <a:defRPr sz="1800">
                <a:solidFill>
                  <a:schemeClr val="tx2">
                    <a:lumMod val="50000"/>
                  </a:schemeClr>
                </a:solidFill>
              </a:defRPr>
            </a:lvl1pPr>
            <a:lvl2pPr marL="530352" indent="0" algn="ctr">
              <a:buNone/>
              <a:defRPr sz="1800">
                <a:solidFill>
                  <a:schemeClr val="tx2">
                    <a:lumMod val="50000"/>
                  </a:schemeClr>
                </a:solidFill>
              </a:defRPr>
            </a:lvl2pPr>
            <a:lvl3pPr marL="987552" indent="0" algn="ctr">
              <a:buNone/>
              <a:defRPr sz="1600">
                <a:solidFill>
                  <a:schemeClr val="tx2">
                    <a:lumMod val="50000"/>
                  </a:schemeClr>
                </a:solidFill>
              </a:defRPr>
            </a:lvl3pPr>
            <a:lvl4pPr marL="1444752" indent="0" algn="ctr">
              <a:buNone/>
              <a:defRPr sz="1600">
                <a:solidFill>
                  <a:schemeClr val="tx2">
                    <a:lumMod val="50000"/>
                  </a:schemeClr>
                </a:solidFill>
              </a:defRPr>
            </a:lvl4pPr>
            <a:lvl5pPr marL="1901952" indent="0" algn="ctr">
              <a:buNone/>
              <a:defRPr sz="1400">
                <a:solidFill>
                  <a:schemeClr val="tx2">
                    <a:lumMod val="50000"/>
                  </a:schemeClr>
                </a:solidFill>
              </a:defRPr>
            </a:lvl5pPr>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21" name="L-Shape 20">
            <a:extLst>
              <a:ext uri="{FF2B5EF4-FFF2-40B4-BE49-F238E27FC236}">
                <a16:creationId xmlns:a16="http://schemas.microsoft.com/office/drawing/2014/main" id="{CB430D22-8AAF-444F-A6CE-7C02859083DF}"/>
              </a:ext>
            </a:extLst>
          </p:cNvPr>
          <p:cNvSpPr>
            <a:spLocks noChangeAspect="1"/>
          </p:cNvSpPr>
          <p:nvPr userDrawn="1"/>
        </p:nvSpPr>
        <p:spPr>
          <a:xfrm flipV="1">
            <a:off x="516927" y="335049"/>
            <a:ext cx="403201" cy="395617"/>
          </a:xfrm>
          <a:prstGeom prst="corner">
            <a:avLst>
              <a:gd name="adj1" fmla="val 4470"/>
              <a:gd name="adj2" fmla="val 4823"/>
            </a:avLst>
          </a:prstGeom>
          <a:solidFill>
            <a:schemeClr val="bg2"/>
          </a:solidFill>
          <a:ln w="12700">
            <a:solidFill>
              <a:schemeClr val="bg2"/>
            </a:solidFill>
          </a:ln>
          <a:effectLst/>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a:ea typeface="+mn-ea"/>
              <a:cs typeface="+mn-cs"/>
            </a:endParaRPr>
          </a:p>
        </p:txBody>
      </p:sp>
      <p:sp>
        <p:nvSpPr>
          <p:cNvPr id="23" name="L-Shape 22">
            <a:extLst>
              <a:ext uri="{FF2B5EF4-FFF2-40B4-BE49-F238E27FC236}">
                <a16:creationId xmlns:a16="http://schemas.microsoft.com/office/drawing/2014/main" id="{0D8BA010-8544-4718-9EA3-B0248C963FD4}"/>
              </a:ext>
            </a:extLst>
          </p:cNvPr>
          <p:cNvSpPr>
            <a:spLocks noChangeAspect="1"/>
          </p:cNvSpPr>
          <p:nvPr userDrawn="1"/>
        </p:nvSpPr>
        <p:spPr>
          <a:xfrm flipH="1" flipV="1">
            <a:off x="5085711" y="330291"/>
            <a:ext cx="410929" cy="403201"/>
          </a:xfrm>
          <a:prstGeom prst="corner">
            <a:avLst>
              <a:gd name="adj1" fmla="val 4470"/>
              <a:gd name="adj2" fmla="val 4823"/>
            </a:avLst>
          </a:prstGeom>
          <a:solidFill>
            <a:schemeClr val="bg2"/>
          </a:solidFill>
          <a:ln w="12700">
            <a:solidFill>
              <a:schemeClr val="bg2"/>
            </a:solidFill>
          </a:ln>
          <a:effectLst/>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a:ea typeface="+mn-ea"/>
              <a:cs typeface="+mn-cs"/>
            </a:endParaRPr>
          </a:p>
        </p:txBody>
      </p:sp>
      <p:sp>
        <p:nvSpPr>
          <p:cNvPr id="24" name="L-Shape 23">
            <a:extLst>
              <a:ext uri="{FF2B5EF4-FFF2-40B4-BE49-F238E27FC236}">
                <a16:creationId xmlns:a16="http://schemas.microsoft.com/office/drawing/2014/main" id="{C0FFB550-21A6-456B-BA1A-EF145674866C}"/>
              </a:ext>
            </a:extLst>
          </p:cNvPr>
          <p:cNvSpPr>
            <a:spLocks noChangeAspect="1"/>
          </p:cNvSpPr>
          <p:nvPr userDrawn="1"/>
        </p:nvSpPr>
        <p:spPr>
          <a:xfrm>
            <a:off x="522817" y="1476927"/>
            <a:ext cx="403201" cy="395617"/>
          </a:xfrm>
          <a:prstGeom prst="corner">
            <a:avLst>
              <a:gd name="adj1" fmla="val 4470"/>
              <a:gd name="adj2" fmla="val 4823"/>
            </a:avLst>
          </a:prstGeom>
          <a:solidFill>
            <a:schemeClr val="bg2"/>
          </a:solidFill>
          <a:ln w="12700">
            <a:solidFill>
              <a:schemeClr val="bg2"/>
            </a:solidFill>
          </a:ln>
          <a:effectLst/>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a:ea typeface="+mn-ea"/>
              <a:cs typeface="+mn-cs"/>
            </a:endParaRPr>
          </a:p>
        </p:txBody>
      </p:sp>
      <p:sp>
        <p:nvSpPr>
          <p:cNvPr id="25" name="L-Shape 24">
            <a:extLst>
              <a:ext uri="{FF2B5EF4-FFF2-40B4-BE49-F238E27FC236}">
                <a16:creationId xmlns:a16="http://schemas.microsoft.com/office/drawing/2014/main" id="{70EF88E9-8CAC-422B-A9A6-D9FD1F17DAE2}"/>
              </a:ext>
            </a:extLst>
          </p:cNvPr>
          <p:cNvSpPr>
            <a:spLocks noChangeAspect="1"/>
          </p:cNvSpPr>
          <p:nvPr userDrawn="1"/>
        </p:nvSpPr>
        <p:spPr>
          <a:xfrm flipH="1">
            <a:off x="5081769" y="1482001"/>
            <a:ext cx="410929" cy="403201"/>
          </a:xfrm>
          <a:prstGeom prst="corner">
            <a:avLst>
              <a:gd name="adj1" fmla="val 4470"/>
              <a:gd name="adj2" fmla="val 4823"/>
            </a:avLst>
          </a:prstGeom>
          <a:solidFill>
            <a:schemeClr val="bg2"/>
          </a:solidFill>
          <a:ln w="12700">
            <a:solidFill>
              <a:schemeClr val="bg2"/>
            </a:solidFill>
          </a:ln>
          <a:effectLst/>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a:ea typeface="+mn-ea"/>
              <a:cs typeface="+mn-cs"/>
            </a:endParaRPr>
          </a:p>
        </p:txBody>
      </p:sp>
    </p:spTree>
    <p:extLst>
      <p:ext uri="{BB962C8B-B14F-4D97-AF65-F5344CB8AC3E}">
        <p14:creationId xmlns:p14="http://schemas.microsoft.com/office/powerpoint/2010/main" val="47363941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Content with Caption">
    <p:bg bwMode="ltGray">
      <p:bgPr>
        <a:solidFill>
          <a:schemeClr val="bg2"/>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20A2BD38-4A6C-44EB-900D-A3E3AE37854F}"/>
              </a:ext>
            </a:extLst>
          </p:cNvPr>
          <p:cNvSpPr/>
          <p:nvPr userDrawn="1"/>
        </p:nvSpPr>
        <p:spPr>
          <a:xfrm>
            <a:off x="6581723" y="404614"/>
            <a:ext cx="5191176" cy="6048772"/>
          </a:xfrm>
          <a:prstGeom prst="rect">
            <a:avLst/>
          </a:prstGeom>
          <a:gradFill flip="none" rotWithShape="1">
            <a:gsLst>
              <a:gs pos="0">
                <a:schemeClr val="tx2">
                  <a:lumMod val="50000"/>
                </a:schemeClr>
              </a:gs>
              <a:gs pos="36000">
                <a:schemeClr val="tx2"/>
              </a:gs>
              <a:gs pos="69000">
                <a:schemeClr val="tx2">
                  <a:lumMod val="75000"/>
                </a:schemeClr>
              </a:gs>
              <a:gs pos="97000">
                <a:schemeClr val="tx2">
                  <a:lumMod val="50000"/>
                </a:schemeClr>
              </a:gs>
            </a:gsLst>
            <a:lin ang="2700000" scaled="1"/>
            <a:tileRect/>
          </a:gradFill>
          <a:ln>
            <a:noFill/>
          </a:ln>
          <a:effectLst>
            <a:outerShdw blurRad="63500" sx="102000" sy="102000" algn="ctr" rotWithShape="0">
              <a:prstClr val="black">
                <a:alpha val="20000"/>
              </a:prstClr>
            </a:outerShdw>
          </a:effectLst>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a:ea typeface="+mn-ea"/>
              <a:cs typeface="+mn-cs"/>
            </a:endParaRPr>
          </a:p>
        </p:txBody>
      </p:sp>
      <p:sp>
        <p:nvSpPr>
          <p:cNvPr id="8" name="Rectangle 7" title="Background Shape"/>
          <p:cNvSpPr/>
          <p:nvPr/>
        </p:nvSpPr>
        <p:spPr>
          <a:xfrm>
            <a:off x="0" y="376"/>
            <a:ext cx="6096000" cy="6857624"/>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hasCustomPrompt="1"/>
          </p:nvPr>
        </p:nvSpPr>
        <p:spPr bwMode="white">
          <a:xfrm>
            <a:off x="586246" y="400665"/>
            <a:ext cx="4858460" cy="1428136"/>
          </a:xfrm>
        </p:spPr>
        <p:txBody>
          <a:bodyPr anchor="ctr" anchorCtr="0">
            <a:noAutofit/>
          </a:bodyPr>
          <a:lstStyle>
            <a:lvl1pPr algn="ctr">
              <a:lnSpc>
                <a:spcPct val="84000"/>
              </a:lnSpc>
              <a:defRPr sz="4800" baseline="0">
                <a:solidFill>
                  <a:schemeClr val="bg1"/>
                </a:solidFill>
              </a:defRPr>
            </a:lvl1pPr>
          </a:lstStyle>
          <a:p>
            <a:r>
              <a:rPr lang="en-US" noProof="0"/>
              <a:t>Click To Edit Master Title Style</a:t>
            </a:r>
          </a:p>
        </p:txBody>
      </p:sp>
      <p:sp>
        <p:nvSpPr>
          <p:cNvPr id="4" name="Text Placeholder 3"/>
          <p:cNvSpPr>
            <a:spLocks noGrp="1"/>
          </p:cNvSpPr>
          <p:nvPr>
            <p:ph type="body" sz="half" idx="2"/>
          </p:nvPr>
        </p:nvSpPr>
        <p:spPr>
          <a:xfrm>
            <a:off x="586246" y="2113935"/>
            <a:ext cx="4858460" cy="4247186"/>
          </a:xfrm>
        </p:spPr>
        <p:txBody>
          <a:bodyPr/>
          <a:lstStyle>
            <a:lvl1pPr marL="285750" indent="-285750">
              <a:lnSpc>
                <a:spcPct val="100000"/>
              </a:lnSpc>
              <a:spcBef>
                <a:spcPts val="0"/>
              </a:spcBef>
              <a:spcAft>
                <a:spcPts val="100"/>
              </a:spcAft>
              <a:buFont typeface="Arial" panose="020B0604020202020204" pitchFamily="34" charset="0"/>
              <a:buChar char="•"/>
              <a:defRPr sz="18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smtClean="0"/>
              <a:t>Edit Master text styles</a:t>
            </a:r>
          </a:p>
        </p:txBody>
      </p:sp>
      <p:sp>
        <p:nvSpPr>
          <p:cNvPr id="5" name="Date Placeholder 4"/>
          <p:cNvSpPr>
            <a:spLocks noGrp="1"/>
          </p:cNvSpPr>
          <p:nvPr>
            <p:ph type="dt" sz="half" idx="10"/>
          </p:nvPr>
        </p:nvSpPr>
        <p:spPr>
          <a:xfrm>
            <a:off x="586246" y="6443554"/>
            <a:ext cx="1324322" cy="404614"/>
          </a:xfrm>
        </p:spPr>
        <p:txBody>
          <a:bodyPr/>
          <a:lstStyle>
            <a:lvl1pPr>
              <a:defRPr>
                <a:solidFill>
                  <a:schemeClr val="bg1"/>
                </a:solidFill>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fld id="{3B77EF04-6424-4B70-94D1-FC932CBBDD9B}" type="datetimeFigureOut">
              <a:rPr kumimoji="0" lang="en-US" sz="1200" b="0" i="0" u="none" strike="noStrike" kern="1200" cap="none" spc="0" normalizeH="0" baseline="0" noProof="0" smtClean="0">
                <a:ln>
                  <a:noFill/>
                </a:ln>
                <a:solidFill>
                  <a:prstClr val="white"/>
                </a:solidFill>
                <a:effectLst/>
                <a:uLnTx/>
                <a:uFillTx/>
                <a:latin typeface="Arial"/>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9/6/2025</a:t>
            </a:fld>
            <a:endParaRPr kumimoji="0" lang="en-US" sz="1200" b="0" i="0" u="none" strike="noStrike" kern="1200" cap="none" spc="0" normalizeH="0" baseline="0" noProof="0" dirty="0">
              <a:ln>
                <a:noFill/>
              </a:ln>
              <a:solidFill>
                <a:prstClr val="white"/>
              </a:solidFill>
              <a:effectLst/>
              <a:uLnTx/>
              <a:uFillTx/>
              <a:latin typeface="Arial"/>
              <a:ea typeface="+mn-ea"/>
              <a:cs typeface="+mn-cs"/>
            </a:endParaRPr>
          </a:p>
        </p:txBody>
      </p:sp>
      <p:sp>
        <p:nvSpPr>
          <p:cNvPr id="6" name="Footer Placeholder 5"/>
          <p:cNvSpPr>
            <a:spLocks noGrp="1"/>
          </p:cNvSpPr>
          <p:nvPr>
            <p:ph type="ftr" sz="quarter" idx="11"/>
          </p:nvPr>
        </p:nvSpPr>
        <p:spPr>
          <a:xfrm>
            <a:off x="2825377" y="6453386"/>
            <a:ext cx="2619329" cy="404614"/>
          </a:xfrm>
        </p:spPr>
        <p:txBody>
          <a:bodyPr/>
          <a:lstStyle>
            <a:lvl1pPr>
              <a:defRPr>
                <a:solidFill>
                  <a:schemeClr val="bg1"/>
                </a:solidFill>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white"/>
                </a:solidFill>
                <a:effectLst/>
                <a:uLnTx/>
                <a:uFillTx/>
                <a:latin typeface="Arial"/>
                <a:ea typeface="+mn-ea"/>
                <a:cs typeface="+mn-cs"/>
              </a:rPr>
              <a:t>Add a footer </a:t>
            </a:r>
          </a:p>
        </p:txBody>
      </p:sp>
      <p:sp>
        <p:nvSpPr>
          <p:cNvPr id="7" name="Slide Number Placeholder 6"/>
          <p:cNvSpPr>
            <a:spLocks noGrp="1"/>
          </p:cNvSpPr>
          <p:nvPr>
            <p:ph type="sldNum" sz="quarter" idx="12"/>
          </p:nvPr>
        </p:nvSpPr>
        <p:spPr>
          <a:xfrm>
            <a:off x="10187939" y="6453386"/>
            <a:ext cx="1596292" cy="404614"/>
          </a:xfrm>
        </p:spPr>
        <p:txBody>
          <a:bodyPr/>
          <a:lstStyle>
            <a:lvl1pPr>
              <a:defRPr>
                <a:solidFill>
                  <a:schemeClr val="tx2"/>
                </a:solidFill>
              </a:defRPr>
            </a:lvl1pPr>
          </a:lstStyle>
          <a:p>
            <a:pPr marL="0" marR="0" lvl="0" indent="0" algn="r" defTabSz="457200" rtl="0" eaLnBrk="1" fontAlgn="auto" latinLnBrk="0" hangingPunct="1">
              <a:lnSpc>
                <a:spcPct val="100000"/>
              </a:lnSpc>
              <a:spcBef>
                <a:spcPts val="0"/>
              </a:spcBef>
              <a:spcAft>
                <a:spcPts val="0"/>
              </a:spcAft>
              <a:buClrTx/>
              <a:buSzTx/>
              <a:buFontTx/>
              <a:buNone/>
              <a:tabLst/>
              <a:defRPr/>
            </a:pPr>
            <a:fld id="{B38049E5-7B53-4E85-8972-7D6C4BCE5BB9}" type="slidenum">
              <a:rPr kumimoji="0" lang="en-US" sz="1200" b="0" i="0" u="none" strike="noStrike" kern="1200" cap="none" spc="0" normalizeH="0" baseline="0" noProof="0" smtClean="0">
                <a:ln>
                  <a:noFill/>
                </a:ln>
                <a:solidFill>
                  <a:srgbClr val="1F497D"/>
                </a:solidFill>
                <a:effectLst/>
                <a:uLnTx/>
                <a:uFillTx/>
                <a:latin typeface="Arial"/>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srgbClr val="1F497D"/>
              </a:solidFill>
              <a:effectLst/>
              <a:uLnTx/>
              <a:uFillTx/>
              <a:latin typeface="Arial"/>
              <a:ea typeface="+mn-ea"/>
              <a:cs typeface="+mn-cs"/>
            </a:endParaRPr>
          </a:p>
        </p:txBody>
      </p:sp>
      <p:sp>
        <p:nvSpPr>
          <p:cNvPr id="9" name="Rectangle 8" title="Divider Bar"/>
          <p:cNvSpPr/>
          <p:nvPr/>
        </p:nvSpPr>
        <p:spPr>
          <a:xfrm>
            <a:off x="6024000" y="0"/>
            <a:ext cx="1440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1" name="L-Shape 20">
            <a:extLst>
              <a:ext uri="{FF2B5EF4-FFF2-40B4-BE49-F238E27FC236}">
                <a16:creationId xmlns:a16="http://schemas.microsoft.com/office/drawing/2014/main" id="{CB430D22-8AAF-444F-A6CE-7C02859083DF}"/>
              </a:ext>
            </a:extLst>
          </p:cNvPr>
          <p:cNvSpPr>
            <a:spLocks noChangeAspect="1"/>
          </p:cNvSpPr>
          <p:nvPr userDrawn="1"/>
        </p:nvSpPr>
        <p:spPr>
          <a:xfrm flipV="1">
            <a:off x="516927" y="335049"/>
            <a:ext cx="403201" cy="395617"/>
          </a:xfrm>
          <a:prstGeom prst="corner">
            <a:avLst>
              <a:gd name="adj1" fmla="val 4470"/>
              <a:gd name="adj2" fmla="val 4823"/>
            </a:avLst>
          </a:prstGeom>
          <a:solidFill>
            <a:schemeClr val="bg2"/>
          </a:solidFill>
          <a:ln w="12700">
            <a:solidFill>
              <a:schemeClr val="bg2"/>
            </a:solidFill>
          </a:ln>
          <a:effectLst/>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a:ea typeface="+mn-ea"/>
              <a:cs typeface="+mn-cs"/>
            </a:endParaRPr>
          </a:p>
        </p:txBody>
      </p:sp>
      <p:sp>
        <p:nvSpPr>
          <p:cNvPr id="23" name="L-Shape 22">
            <a:extLst>
              <a:ext uri="{FF2B5EF4-FFF2-40B4-BE49-F238E27FC236}">
                <a16:creationId xmlns:a16="http://schemas.microsoft.com/office/drawing/2014/main" id="{0D8BA010-8544-4718-9EA3-B0248C963FD4}"/>
              </a:ext>
            </a:extLst>
          </p:cNvPr>
          <p:cNvSpPr>
            <a:spLocks noChangeAspect="1"/>
          </p:cNvSpPr>
          <p:nvPr userDrawn="1"/>
        </p:nvSpPr>
        <p:spPr>
          <a:xfrm flipH="1" flipV="1">
            <a:off x="5085711" y="330291"/>
            <a:ext cx="410929" cy="403201"/>
          </a:xfrm>
          <a:prstGeom prst="corner">
            <a:avLst>
              <a:gd name="adj1" fmla="val 4470"/>
              <a:gd name="adj2" fmla="val 4823"/>
            </a:avLst>
          </a:prstGeom>
          <a:solidFill>
            <a:schemeClr val="bg2"/>
          </a:solidFill>
          <a:ln w="12700">
            <a:solidFill>
              <a:schemeClr val="bg2"/>
            </a:solidFill>
          </a:ln>
          <a:effectLst/>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a:ea typeface="+mn-ea"/>
              <a:cs typeface="+mn-cs"/>
            </a:endParaRPr>
          </a:p>
        </p:txBody>
      </p:sp>
      <p:sp>
        <p:nvSpPr>
          <p:cNvPr id="24" name="L-Shape 23">
            <a:extLst>
              <a:ext uri="{FF2B5EF4-FFF2-40B4-BE49-F238E27FC236}">
                <a16:creationId xmlns:a16="http://schemas.microsoft.com/office/drawing/2014/main" id="{C0FFB550-21A6-456B-BA1A-EF145674866C}"/>
              </a:ext>
            </a:extLst>
          </p:cNvPr>
          <p:cNvSpPr>
            <a:spLocks noChangeAspect="1"/>
          </p:cNvSpPr>
          <p:nvPr userDrawn="1"/>
        </p:nvSpPr>
        <p:spPr>
          <a:xfrm>
            <a:off x="522817" y="1476927"/>
            <a:ext cx="403201" cy="395617"/>
          </a:xfrm>
          <a:prstGeom prst="corner">
            <a:avLst>
              <a:gd name="adj1" fmla="val 4470"/>
              <a:gd name="adj2" fmla="val 4823"/>
            </a:avLst>
          </a:prstGeom>
          <a:solidFill>
            <a:schemeClr val="bg2"/>
          </a:solidFill>
          <a:ln w="12700">
            <a:solidFill>
              <a:schemeClr val="bg2"/>
            </a:solidFill>
          </a:ln>
          <a:effectLst/>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a:ea typeface="+mn-ea"/>
              <a:cs typeface="+mn-cs"/>
            </a:endParaRPr>
          </a:p>
        </p:txBody>
      </p:sp>
      <p:sp>
        <p:nvSpPr>
          <p:cNvPr id="25" name="L-Shape 24">
            <a:extLst>
              <a:ext uri="{FF2B5EF4-FFF2-40B4-BE49-F238E27FC236}">
                <a16:creationId xmlns:a16="http://schemas.microsoft.com/office/drawing/2014/main" id="{70EF88E9-8CAC-422B-A9A6-D9FD1F17DAE2}"/>
              </a:ext>
            </a:extLst>
          </p:cNvPr>
          <p:cNvSpPr>
            <a:spLocks noChangeAspect="1"/>
          </p:cNvSpPr>
          <p:nvPr userDrawn="1"/>
        </p:nvSpPr>
        <p:spPr>
          <a:xfrm flipH="1">
            <a:off x="5081769" y="1482001"/>
            <a:ext cx="410929" cy="403201"/>
          </a:xfrm>
          <a:prstGeom prst="corner">
            <a:avLst>
              <a:gd name="adj1" fmla="val 4470"/>
              <a:gd name="adj2" fmla="val 4823"/>
            </a:avLst>
          </a:prstGeom>
          <a:solidFill>
            <a:schemeClr val="bg2"/>
          </a:solidFill>
          <a:ln w="12700">
            <a:solidFill>
              <a:schemeClr val="bg2"/>
            </a:solidFill>
          </a:ln>
          <a:effectLst/>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a:ea typeface="+mn-ea"/>
              <a:cs typeface="+mn-cs"/>
            </a:endParaRPr>
          </a:p>
        </p:txBody>
      </p:sp>
      <p:sp>
        <p:nvSpPr>
          <p:cNvPr id="18" name="Content Placeholder 2">
            <a:extLst>
              <a:ext uri="{FF2B5EF4-FFF2-40B4-BE49-F238E27FC236}">
                <a16:creationId xmlns:a16="http://schemas.microsoft.com/office/drawing/2014/main" id="{ED439475-E625-4449-B42E-8F291D64A3C7}"/>
              </a:ext>
            </a:extLst>
          </p:cNvPr>
          <p:cNvSpPr>
            <a:spLocks noGrp="1"/>
          </p:cNvSpPr>
          <p:nvPr>
            <p:ph idx="1"/>
          </p:nvPr>
        </p:nvSpPr>
        <p:spPr>
          <a:xfrm>
            <a:off x="6695360" y="518474"/>
            <a:ext cx="4910394" cy="5759777"/>
          </a:xfrm>
          <a:solidFill>
            <a:schemeClr val="bg2"/>
          </a:solidFill>
          <a:ln>
            <a:noFill/>
          </a:ln>
          <a:effectLst>
            <a:innerShdw blurRad="114300">
              <a:prstClr val="black"/>
            </a:innerShdw>
          </a:effectLst>
        </p:spPr>
        <p:txBody>
          <a:bodyPr vert="horz" lIns="91440" tIns="45720" rIns="91440" bIns="45720" rtlCol="0" anchor="ctr" anchorCtr="0">
            <a:noAutofit/>
          </a:bodyPr>
          <a:lstStyle>
            <a:lvl1pPr>
              <a:defRPr lang="en-US" sz="1800">
                <a:solidFill>
                  <a:schemeClr val="tx2">
                    <a:lumMod val="50000"/>
                  </a:schemeClr>
                </a:solidFill>
              </a:defRPr>
            </a:lvl1pPr>
            <a:lvl2pPr>
              <a:defRPr lang="en-US" sz="1800">
                <a:solidFill>
                  <a:schemeClr val="tx2">
                    <a:lumMod val="50000"/>
                  </a:schemeClr>
                </a:solidFill>
              </a:defRPr>
            </a:lvl2pPr>
            <a:lvl3pPr>
              <a:defRPr lang="en-US" sz="1600">
                <a:solidFill>
                  <a:schemeClr val="tx2">
                    <a:lumMod val="50000"/>
                  </a:schemeClr>
                </a:solidFill>
              </a:defRPr>
            </a:lvl3pPr>
            <a:lvl4pPr>
              <a:defRPr lang="en-US" sz="1600">
                <a:solidFill>
                  <a:schemeClr val="tx2">
                    <a:lumMod val="50000"/>
                  </a:schemeClr>
                </a:solidFill>
              </a:defRPr>
            </a:lvl4pPr>
            <a:lvl5pPr>
              <a:defRPr lang="en-US" sz="1400">
                <a:solidFill>
                  <a:schemeClr val="tx2">
                    <a:lumMod val="50000"/>
                  </a:schemeClr>
                </a:solidFill>
              </a:defRPr>
            </a:lvl5pPr>
          </a:lstStyle>
          <a:p>
            <a:pPr marL="0" lvl="0" indent="0" algn="ctr">
              <a:buNone/>
            </a:pPr>
            <a:r>
              <a:rPr lang="en-US" noProof="0" smtClean="0"/>
              <a:t>Edit Master text styles</a:t>
            </a:r>
          </a:p>
          <a:p>
            <a:pPr marL="0" lvl="1" indent="0" algn="ctr">
              <a:buNone/>
            </a:pPr>
            <a:r>
              <a:rPr lang="en-US" noProof="0" smtClean="0"/>
              <a:t>Second level</a:t>
            </a:r>
          </a:p>
          <a:p>
            <a:pPr marL="0" lvl="2" indent="0" algn="ctr">
              <a:buNone/>
            </a:pPr>
            <a:r>
              <a:rPr lang="en-US" noProof="0" smtClean="0"/>
              <a:t>Third level</a:t>
            </a:r>
          </a:p>
          <a:p>
            <a:pPr marL="0" lvl="3" indent="0" algn="ctr">
              <a:buNone/>
            </a:pPr>
            <a:r>
              <a:rPr lang="en-US" noProof="0" smtClean="0"/>
              <a:t>Fourth level</a:t>
            </a:r>
          </a:p>
          <a:p>
            <a:pPr marL="0" lvl="4" indent="0" algn="ctr">
              <a:buNone/>
            </a:pPr>
            <a:r>
              <a:rPr lang="en-US" noProof="0" smtClean="0"/>
              <a:t>Fifth level</a:t>
            </a:r>
            <a:endParaRPr lang="en-US" noProof="0"/>
          </a:p>
        </p:txBody>
      </p:sp>
    </p:spTree>
    <p:extLst>
      <p:ext uri="{BB962C8B-B14F-4D97-AF65-F5344CB8AC3E}">
        <p14:creationId xmlns:p14="http://schemas.microsoft.com/office/powerpoint/2010/main" val="135050884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Picture, TItle, and Caption">
    <p:spTree>
      <p:nvGrpSpPr>
        <p:cNvPr id="1" name=""/>
        <p:cNvGrpSpPr/>
        <p:nvPr/>
      </p:nvGrpSpPr>
      <p:grpSpPr>
        <a:xfrm>
          <a:off x="0" y="0"/>
          <a:ext cx="0" cy="0"/>
          <a:chOff x="0" y="0"/>
          <a:chExt cx="0" cy="0"/>
        </a:xfrm>
      </p:grpSpPr>
      <p:sp>
        <p:nvSpPr>
          <p:cNvPr id="8" name="Rectangle 7" title="Background Shape"/>
          <p:cNvSpPr/>
          <p:nvPr/>
        </p:nvSpPr>
        <p:spPr>
          <a:xfrm>
            <a:off x="-1" y="376"/>
            <a:ext cx="6234898" cy="6857624"/>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Rectangle 13">
            <a:extLst>
              <a:ext uri="{FF2B5EF4-FFF2-40B4-BE49-F238E27FC236}">
                <a16:creationId xmlns:a16="http://schemas.microsoft.com/office/drawing/2014/main" id="{1F430D42-50DC-4502-A3E8-251FE7F0809D}"/>
              </a:ext>
            </a:extLst>
          </p:cNvPr>
          <p:cNvSpPr/>
          <p:nvPr userDrawn="1"/>
        </p:nvSpPr>
        <p:spPr>
          <a:xfrm>
            <a:off x="507591" y="5289755"/>
            <a:ext cx="5270049" cy="1012722"/>
          </a:xfrm>
          <a:prstGeom prst="rect">
            <a:avLst/>
          </a:prstGeom>
          <a:solidFill>
            <a:schemeClr val="bg1"/>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6923C"/>
              </a:solidFill>
              <a:effectLst/>
              <a:uLnTx/>
              <a:uFillTx/>
              <a:latin typeface="Arial"/>
              <a:ea typeface="+mn-ea"/>
              <a:cs typeface="+mn-cs"/>
            </a:endParaRPr>
          </a:p>
        </p:txBody>
      </p:sp>
      <p:sp>
        <p:nvSpPr>
          <p:cNvPr id="11" name="Rectangle: Diagonal Corners Snipped 10">
            <a:extLst>
              <a:ext uri="{FF2B5EF4-FFF2-40B4-BE49-F238E27FC236}">
                <a16:creationId xmlns:a16="http://schemas.microsoft.com/office/drawing/2014/main" id="{836AFDEB-3C72-49E0-9B45-DC9EFBA6587F}"/>
              </a:ext>
            </a:extLst>
          </p:cNvPr>
          <p:cNvSpPr/>
          <p:nvPr userDrawn="1"/>
        </p:nvSpPr>
        <p:spPr bwMode="white">
          <a:xfrm>
            <a:off x="507591" y="409286"/>
            <a:ext cx="5270049" cy="4732985"/>
          </a:xfrm>
          <a:prstGeom prst="snip2DiagRect">
            <a:avLst>
              <a:gd name="adj1" fmla="val 0"/>
              <a:gd name="adj2" fmla="val 10697"/>
            </a:avLst>
          </a:prstGeom>
          <a:solidFill>
            <a:schemeClr val="accent3"/>
          </a:solidFill>
          <a:ln>
            <a:noFill/>
          </a:ln>
          <a:effectLst>
            <a:outerShdw blurRad="63500" sx="102000" sy="102000" algn="ctr" rotWithShape="0">
              <a:prstClr val="black">
                <a:alpha val="40000"/>
              </a:prstClr>
            </a:outerShdw>
          </a:effectLst>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a:ea typeface="+mn-ea"/>
              <a:cs typeface="+mn-cs"/>
            </a:endParaRPr>
          </a:p>
        </p:txBody>
      </p:sp>
      <p:sp>
        <p:nvSpPr>
          <p:cNvPr id="2" name="Title 1"/>
          <p:cNvSpPr>
            <a:spLocks noGrp="1"/>
          </p:cNvSpPr>
          <p:nvPr>
            <p:ph type="title" hasCustomPrompt="1"/>
          </p:nvPr>
        </p:nvSpPr>
        <p:spPr>
          <a:xfrm>
            <a:off x="6930776" y="477366"/>
            <a:ext cx="4644000" cy="1341602"/>
          </a:xfrm>
        </p:spPr>
        <p:txBody>
          <a:bodyPr anchor="ctr" anchorCtr="0">
            <a:normAutofit/>
          </a:bodyPr>
          <a:lstStyle>
            <a:lvl1pPr algn="ctr">
              <a:lnSpc>
                <a:spcPct val="84000"/>
              </a:lnSpc>
              <a:defRPr sz="4800" baseline="0">
                <a:solidFill>
                  <a:schemeClr val="tx2"/>
                </a:solidFill>
              </a:defRPr>
            </a:lvl1pPr>
          </a:lstStyle>
          <a:p>
            <a:r>
              <a:rPr lang="en-US" noProof="0"/>
              <a:t>Click To Edit Master Title Style</a:t>
            </a:r>
          </a:p>
        </p:txBody>
      </p:sp>
      <p:sp>
        <p:nvSpPr>
          <p:cNvPr id="4" name="Text Placeholder 3"/>
          <p:cNvSpPr>
            <a:spLocks noGrp="1"/>
          </p:cNvSpPr>
          <p:nvPr>
            <p:ph type="body" sz="half" idx="2"/>
          </p:nvPr>
        </p:nvSpPr>
        <p:spPr>
          <a:xfrm>
            <a:off x="6930775" y="1966451"/>
            <a:ext cx="4644001" cy="4388615"/>
          </a:xfrm>
        </p:spPr>
        <p:txBody>
          <a:bodyPr/>
          <a:lstStyle>
            <a:lvl1pPr marL="285750" indent="-285750">
              <a:lnSpc>
                <a:spcPct val="100000"/>
              </a:lnSpc>
              <a:spcBef>
                <a:spcPts val="0"/>
              </a:spcBef>
              <a:spcAft>
                <a:spcPts val="0"/>
              </a:spcAft>
              <a:buFont typeface="Arial" panose="020B0604020202020204" pitchFamily="34" charset="0"/>
              <a:buChar char="•"/>
              <a:defRPr sz="1800">
                <a:solidFill>
                  <a:schemeClr val="tx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smtClean="0"/>
              <a:t>Edit Master text styles</a:t>
            </a:r>
          </a:p>
        </p:txBody>
      </p:sp>
      <p:sp>
        <p:nvSpPr>
          <p:cNvPr id="5" name="Date Placeholder 4"/>
          <p:cNvSpPr>
            <a:spLocks noGrp="1"/>
          </p:cNvSpPr>
          <p:nvPr>
            <p:ph type="dt" sz="half" idx="10"/>
          </p:nvPr>
        </p:nvSpPr>
        <p:spPr>
          <a:xfrm>
            <a:off x="507591" y="6453386"/>
            <a:ext cx="1204572" cy="404614"/>
          </a:xfrm>
        </p:spPr>
        <p:txBody>
          <a:bodyPr/>
          <a:lstStyle>
            <a:lvl1pPr>
              <a:defRPr>
                <a:solidFill>
                  <a:schemeClr val="bg1"/>
                </a:solidFill>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fld id="{3B77EF04-6424-4B70-94D1-FC932CBBDD9B}" type="datetimeFigureOut">
              <a:rPr kumimoji="0" lang="en-US" sz="1200" b="0" i="0" u="none" strike="noStrike" kern="1200" cap="none" spc="0" normalizeH="0" baseline="0" noProof="0" smtClean="0">
                <a:ln>
                  <a:noFill/>
                </a:ln>
                <a:solidFill>
                  <a:prstClr val="white"/>
                </a:solidFill>
                <a:effectLst/>
                <a:uLnTx/>
                <a:uFillTx/>
                <a:latin typeface="Arial"/>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9/6/2025</a:t>
            </a:fld>
            <a:endParaRPr kumimoji="0" lang="en-US" sz="1200" b="0" i="0" u="none" strike="noStrike" kern="1200" cap="none" spc="0" normalizeH="0" baseline="0" noProof="0" dirty="0">
              <a:ln>
                <a:noFill/>
              </a:ln>
              <a:solidFill>
                <a:prstClr val="white"/>
              </a:solidFill>
              <a:effectLst/>
              <a:uLnTx/>
              <a:uFillTx/>
              <a:latin typeface="Arial"/>
              <a:ea typeface="+mn-ea"/>
              <a:cs typeface="+mn-cs"/>
            </a:endParaRPr>
          </a:p>
        </p:txBody>
      </p:sp>
      <p:sp>
        <p:nvSpPr>
          <p:cNvPr id="6" name="Footer Placeholder 5"/>
          <p:cNvSpPr>
            <a:spLocks noGrp="1"/>
          </p:cNvSpPr>
          <p:nvPr>
            <p:ph type="ftr" sz="quarter" idx="11"/>
          </p:nvPr>
        </p:nvSpPr>
        <p:spPr>
          <a:xfrm>
            <a:off x="3403965" y="6453386"/>
            <a:ext cx="2373675" cy="404614"/>
          </a:xfrm>
        </p:spPr>
        <p:txBody>
          <a:bodyPr/>
          <a:lstStyle>
            <a:lvl1pPr>
              <a:defRPr>
                <a:solidFill>
                  <a:schemeClr val="bg1"/>
                </a:solidFill>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white"/>
                </a:solidFill>
                <a:effectLst/>
                <a:uLnTx/>
                <a:uFillTx/>
                <a:latin typeface="Arial"/>
                <a:ea typeface="+mn-ea"/>
                <a:cs typeface="+mn-cs"/>
              </a:rPr>
              <a:t>Add a footer </a:t>
            </a:r>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pPr marL="0" marR="0" lvl="0" indent="0" algn="r" defTabSz="457200" rtl="0" eaLnBrk="1" fontAlgn="auto" latinLnBrk="0" hangingPunct="1">
              <a:lnSpc>
                <a:spcPct val="100000"/>
              </a:lnSpc>
              <a:spcBef>
                <a:spcPts val="0"/>
              </a:spcBef>
              <a:spcAft>
                <a:spcPts val="0"/>
              </a:spcAft>
              <a:buClrTx/>
              <a:buSzTx/>
              <a:buFontTx/>
              <a:buNone/>
              <a:tabLst/>
              <a:defRPr/>
            </a:pPr>
            <a:fld id="{B38049E5-7B53-4E85-8972-7D6C4BCE5BB9}" type="slidenum">
              <a:rPr kumimoji="0" lang="en-US" sz="1200" b="0" i="0" u="none" strike="noStrike" kern="1200" cap="none" spc="0" normalizeH="0" baseline="0" noProof="0" smtClean="0">
                <a:ln>
                  <a:noFill/>
                </a:ln>
                <a:solidFill>
                  <a:srgbClr val="1F497D"/>
                </a:solidFill>
                <a:effectLst/>
                <a:uLnTx/>
                <a:uFillTx/>
                <a:latin typeface="Arial"/>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srgbClr val="1F497D"/>
              </a:solidFill>
              <a:effectLst/>
              <a:uLnTx/>
              <a:uFillTx/>
              <a:latin typeface="Arial"/>
              <a:ea typeface="+mn-ea"/>
              <a:cs typeface="+mn-cs"/>
            </a:endParaRPr>
          </a:p>
        </p:txBody>
      </p:sp>
      <p:sp>
        <p:nvSpPr>
          <p:cNvPr id="9" name="Rectangle 8" title="Divider Bar"/>
          <p:cNvSpPr/>
          <p:nvPr/>
        </p:nvSpPr>
        <p:spPr>
          <a:xfrm>
            <a:off x="6234897" y="-376"/>
            <a:ext cx="144000" cy="6876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L-Shape 11">
            <a:extLst>
              <a:ext uri="{FF2B5EF4-FFF2-40B4-BE49-F238E27FC236}">
                <a16:creationId xmlns:a16="http://schemas.microsoft.com/office/drawing/2014/main" id="{26A5AA85-E28D-4647-B000-742C83A8047D}"/>
              </a:ext>
            </a:extLst>
          </p:cNvPr>
          <p:cNvSpPr>
            <a:spLocks noChangeAspect="1"/>
          </p:cNvSpPr>
          <p:nvPr userDrawn="1"/>
        </p:nvSpPr>
        <p:spPr>
          <a:xfrm flipV="1">
            <a:off x="6845770" y="372071"/>
            <a:ext cx="625971" cy="614197"/>
          </a:xfrm>
          <a:prstGeom prst="corner">
            <a:avLst>
              <a:gd name="adj1" fmla="val 4470"/>
              <a:gd name="adj2" fmla="val 4823"/>
            </a:avLst>
          </a:prstGeom>
          <a:solidFill>
            <a:schemeClr val="tx2"/>
          </a:solidFill>
          <a:ln w="28575">
            <a:solidFill>
              <a:schemeClr val="tx2"/>
            </a:solidFill>
          </a:ln>
          <a:effectLst/>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1F497D"/>
              </a:solidFill>
              <a:effectLst/>
              <a:uLnTx/>
              <a:uFillTx/>
              <a:latin typeface="Arial"/>
              <a:ea typeface="+mn-ea"/>
              <a:cs typeface="+mn-cs"/>
            </a:endParaRPr>
          </a:p>
        </p:txBody>
      </p:sp>
      <p:sp>
        <p:nvSpPr>
          <p:cNvPr id="13" name="L-Shape 12">
            <a:extLst>
              <a:ext uri="{FF2B5EF4-FFF2-40B4-BE49-F238E27FC236}">
                <a16:creationId xmlns:a16="http://schemas.microsoft.com/office/drawing/2014/main" id="{C3CD9875-0A2E-4F4D-ACB7-87DD98EED9D0}"/>
              </a:ext>
            </a:extLst>
          </p:cNvPr>
          <p:cNvSpPr>
            <a:spLocks noChangeAspect="1"/>
          </p:cNvSpPr>
          <p:nvPr userDrawn="1"/>
        </p:nvSpPr>
        <p:spPr>
          <a:xfrm flipH="1">
            <a:off x="11058438" y="5819525"/>
            <a:ext cx="625971" cy="614197"/>
          </a:xfrm>
          <a:prstGeom prst="corner">
            <a:avLst>
              <a:gd name="adj1" fmla="val 4470"/>
              <a:gd name="adj2" fmla="val 4823"/>
            </a:avLst>
          </a:prstGeom>
          <a:solidFill>
            <a:schemeClr val="tx2"/>
          </a:solidFill>
          <a:ln w="28575">
            <a:solidFill>
              <a:schemeClr val="tx2"/>
            </a:solidFill>
          </a:ln>
          <a:effectLst/>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1F497D"/>
              </a:solidFill>
              <a:effectLst/>
              <a:uLnTx/>
              <a:uFillTx/>
              <a:latin typeface="Arial"/>
              <a:ea typeface="+mn-ea"/>
              <a:cs typeface="+mn-cs"/>
            </a:endParaRPr>
          </a:p>
        </p:txBody>
      </p:sp>
      <p:sp>
        <p:nvSpPr>
          <p:cNvPr id="10" name="Picture Placeholder 9">
            <a:extLst>
              <a:ext uri="{FF2B5EF4-FFF2-40B4-BE49-F238E27FC236}">
                <a16:creationId xmlns:a16="http://schemas.microsoft.com/office/drawing/2014/main" id="{3BDA3A4D-2561-4EEB-8787-E1A652565755}"/>
              </a:ext>
            </a:extLst>
          </p:cNvPr>
          <p:cNvSpPr>
            <a:spLocks noGrp="1"/>
          </p:cNvSpPr>
          <p:nvPr>
            <p:ph type="pic" sz="quarter" idx="13"/>
          </p:nvPr>
        </p:nvSpPr>
        <p:spPr>
          <a:xfrm>
            <a:off x="806245" y="668595"/>
            <a:ext cx="4646651" cy="4198373"/>
          </a:xfrm>
          <a:prstGeom prst="snip2DiagRect">
            <a:avLst>
              <a:gd name="adj1" fmla="val 0"/>
              <a:gd name="adj2" fmla="val 10300"/>
            </a:avLst>
          </a:prstGeom>
          <a:ln w="38100">
            <a:solidFill>
              <a:schemeClr val="bg1"/>
            </a:solidFill>
          </a:ln>
          <a:effectLst>
            <a:innerShdw blurRad="114300">
              <a:prstClr val="black"/>
            </a:innerShdw>
          </a:effectLst>
        </p:spPr>
        <p:txBody>
          <a:bodyPr/>
          <a:lstStyle>
            <a:lvl1pPr>
              <a:defRPr>
                <a:solidFill>
                  <a:schemeClr val="bg1"/>
                </a:solidFill>
              </a:defRPr>
            </a:lvl1pPr>
          </a:lstStyle>
          <a:p>
            <a:r>
              <a:rPr lang="en-US" noProof="0" smtClean="0"/>
              <a:t>Click icon to add picture</a:t>
            </a:r>
            <a:endParaRPr lang="en-US" noProof="0" dirty="0"/>
          </a:p>
        </p:txBody>
      </p:sp>
      <p:sp>
        <p:nvSpPr>
          <p:cNvPr id="16" name="Text Placeholder 15">
            <a:extLst>
              <a:ext uri="{FF2B5EF4-FFF2-40B4-BE49-F238E27FC236}">
                <a16:creationId xmlns:a16="http://schemas.microsoft.com/office/drawing/2014/main" id="{FBB32A6B-92AA-4208-9120-FFC166CE751C}"/>
              </a:ext>
            </a:extLst>
          </p:cNvPr>
          <p:cNvSpPr>
            <a:spLocks noGrp="1"/>
          </p:cNvSpPr>
          <p:nvPr>
            <p:ph type="body" sz="quarter" idx="14"/>
          </p:nvPr>
        </p:nvSpPr>
        <p:spPr>
          <a:xfrm>
            <a:off x="570275" y="5352418"/>
            <a:ext cx="5148000" cy="900000"/>
          </a:xfrm>
          <a:solidFill>
            <a:schemeClr val="bg2"/>
          </a:solidFill>
          <a:effectLst>
            <a:innerShdw blurRad="114300">
              <a:prstClr val="black">
                <a:alpha val="34000"/>
              </a:prstClr>
            </a:innerShdw>
          </a:effectLst>
        </p:spPr>
        <p:txBody>
          <a:bodyPr anchor="ctr" anchorCtr="0"/>
          <a:lstStyle>
            <a:lvl1pPr marL="0" indent="0" algn="ctr">
              <a:buFont typeface="Arial" panose="020B0604020202020204" pitchFamily="34" charset="0"/>
              <a:buNone/>
              <a:defRPr sz="1800">
                <a:solidFill>
                  <a:schemeClr val="accent3"/>
                </a:solidFill>
              </a:defRPr>
            </a:lvl1pPr>
            <a:lvl2pPr marL="530352" indent="0" algn="ctr">
              <a:buFont typeface="Arial" panose="020B0604020202020204" pitchFamily="34" charset="0"/>
              <a:buNone/>
              <a:defRPr sz="1800">
                <a:solidFill>
                  <a:schemeClr val="accent3"/>
                </a:solidFill>
              </a:defRPr>
            </a:lvl2pPr>
            <a:lvl3pPr marL="987552" indent="0" algn="ctr">
              <a:buFont typeface="Arial" panose="020B0604020202020204" pitchFamily="34" charset="0"/>
              <a:buNone/>
              <a:defRPr sz="1600">
                <a:solidFill>
                  <a:schemeClr val="accent3"/>
                </a:solidFill>
              </a:defRPr>
            </a:lvl3pPr>
            <a:lvl4pPr marL="1444752" indent="0" algn="ctr">
              <a:buFont typeface="Arial" panose="020B0604020202020204" pitchFamily="34" charset="0"/>
              <a:buNone/>
              <a:defRPr sz="1600">
                <a:solidFill>
                  <a:schemeClr val="accent3"/>
                </a:solidFill>
              </a:defRPr>
            </a:lvl4pPr>
            <a:lvl5pPr marL="1901952" indent="0" algn="ctr">
              <a:buFont typeface="Arial" panose="020B0604020202020204" pitchFamily="34" charset="0"/>
              <a:buNone/>
              <a:defRPr sz="1400">
                <a:solidFill>
                  <a:schemeClr val="accent3"/>
                </a:solidFill>
              </a:defRPr>
            </a:lvl5pPr>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20" name="L-Shape 19">
            <a:extLst>
              <a:ext uri="{FF2B5EF4-FFF2-40B4-BE49-F238E27FC236}">
                <a16:creationId xmlns:a16="http://schemas.microsoft.com/office/drawing/2014/main" id="{CC096F9F-3AD4-4FC8-823F-DBD962E2E1C6}"/>
              </a:ext>
            </a:extLst>
          </p:cNvPr>
          <p:cNvSpPr>
            <a:spLocks noChangeAspect="1"/>
          </p:cNvSpPr>
          <p:nvPr userDrawn="1"/>
        </p:nvSpPr>
        <p:spPr>
          <a:xfrm flipH="1" flipV="1">
            <a:off x="11021316" y="361496"/>
            <a:ext cx="625971" cy="614197"/>
          </a:xfrm>
          <a:prstGeom prst="corner">
            <a:avLst>
              <a:gd name="adj1" fmla="val 4470"/>
              <a:gd name="adj2" fmla="val 4823"/>
            </a:avLst>
          </a:prstGeom>
          <a:solidFill>
            <a:schemeClr val="tx2"/>
          </a:solidFill>
          <a:ln w="28575">
            <a:solidFill>
              <a:schemeClr val="tx2"/>
            </a:solidFill>
          </a:ln>
          <a:effectLst/>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1F497D"/>
              </a:solidFill>
              <a:effectLst/>
              <a:uLnTx/>
              <a:uFillTx/>
              <a:latin typeface="Arial"/>
              <a:ea typeface="+mn-ea"/>
              <a:cs typeface="+mn-cs"/>
            </a:endParaRPr>
          </a:p>
        </p:txBody>
      </p:sp>
      <p:sp>
        <p:nvSpPr>
          <p:cNvPr id="21" name="L-Shape 20">
            <a:extLst>
              <a:ext uri="{FF2B5EF4-FFF2-40B4-BE49-F238E27FC236}">
                <a16:creationId xmlns:a16="http://schemas.microsoft.com/office/drawing/2014/main" id="{9CFFEAD0-9992-49A8-A068-3357E08CD7C0}"/>
              </a:ext>
            </a:extLst>
          </p:cNvPr>
          <p:cNvSpPr>
            <a:spLocks noChangeAspect="1"/>
          </p:cNvSpPr>
          <p:nvPr userDrawn="1"/>
        </p:nvSpPr>
        <p:spPr>
          <a:xfrm>
            <a:off x="6865431" y="5819524"/>
            <a:ext cx="625971" cy="614197"/>
          </a:xfrm>
          <a:prstGeom prst="corner">
            <a:avLst>
              <a:gd name="adj1" fmla="val 4470"/>
              <a:gd name="adj2" fmla="val 4823"/>
            </a:avLst>
          </a:prstGeom>
          <a:solidFill>
            <a:schemeClr val="tx2"/>
          </a:solidFill>
          <a:ln w="28575">
            <a:solidFill>
              <a:schemeClr val="tx2"/>
            </a:solidFill>
          </a:ln>
          <a:effectLst/>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1F497D"/>
              </a:solidFill>
              <a:effectLst/>
              <a:uLnTx/>
              <a:uFillTx/>
              <a:latin typeface="Arial"/>
              <a:ea typeface="+mn-ea"/>
              <a:cs typeface="+mn-cs"/>
            </a:endParaRPr>
          </a:p>
        </p:txBody>
      </p:sp>
      <p:cxnSp>
        <p:nvCxnSpPr>
          <p:cNvPr id="23" name="Straight Connector 22">
            <a:extLst>
              <a:ext uri="{FF2B5EF4-FFF2-40B4-BE49-F238E27FC236}">
                <a16:creationId xmlns:a16="http://schemas.microsoft.com/office/drawing/2014/main" id="{D470145D-417E-4648-AB08-0A7974A629E0}"/>
              </a:ext>
            </a:extLst>
          </p:cNvPr>
          <p:cNvCxnSpPr/>
          <p:nvPr userDrawn="1"/>
        </p:nvCxnSpPr>
        <p:spPr>
          <a:xfrm>
            <a:off x="7118556" y="1789472"/>
            <a:ext cx="4284000" cy="0"/>
          </a:xfrm>
          <a:prstGeom prst="line">
            <a:avLst/>
          </a:prstGeom>
          <a:ln w="28575">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9001036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Picture with Caption">
    <p:spTree>
      <p:nvGrpSpPr>
        <p:cNvPr id="1" name=""/>
        <p:cNvGrpSpPr/>
        <p:nvPr/>
      </p:nvGrpSpPr>
      <p:grpSpPr>
        <a:xfrm>
          <a:off x="0" y="0"/>
          <a:ext cx="0" cy="0"/>
          <a:chOff x="0" y="0"/>
          <a:chExt cx="0" cy="0"/>
        </a:xfrm>
      </p:grpSpPr>
      <p:sp>
        <p:nvSpPr>
          <p:cNvPr id="8" name="Rectangle 7" title="Background Shape"/>
          <p:cNvSpPr/>
          <p:nvPr/>
        </p:nvSpPr>
        <p:spPr>
          <a:xfrm>
            <a:off x="-1" y="376"/>
            <a:ext cx="6234898" cy="6857624"/>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Diagonal Corners Snipped 10">
            <a:extLst>
              <a:ext uri="{FF2B5EF4-FFF2-40B4-BE49-F238E27FC236}">
                <a16:creationId xmlns:a16="http://schemas.microsoft.com/office/drawing/2014/main" id="{836AFDEB-3C72-49E0-9B45-DC9EFBA6587F}"/>
              </a:ext>
            </a:extLst>
          </p:cNvPr>
          <p:cNvSpPr/>
          <p:nvPr userDrawn="1"/>
        </p:nvSpPr>
        <p:spPr bwMode="white">
          <a:xfrm>
            <a:off x="507591" y="409286"/>
            <a:ext cx="5270049" cy="5945780"/>
          </a:xfrm>
          <a:prstGeom prst="snip2DiagRect">
            <a:avLst>
              <a:gd name="adj1" fmla="val 0"/>
              <a:gd name="adj2" fmla="val 10697"/>
            </a:avLst>
          </a:prstGeom>
          <a:solidFill>
            <a:schemeClr val="accent3"/>
          </a:solidFill>
          <a:ln>
            <a:noFill/>
          </a:ln>
          <a:effectLst>
            <a:outerShdw blurRad="63500" sx="102000" sy="102000" algn="ctr" rotWithShape="0">
              <a:prstClr val="black">
                <a:alpha val="40000"/>
              </a:prstClr>
            </a:outerShdw>
          </a:effectLst>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a:ea typeface="+mn-ea"/>
              <a:cs typeface="+mn-cs"/>
            </a:endParaRPr>
          </a:p>
        </p:txBody>
      </p:sp>
      <p:sp>
        <p:nvSpPr>
          <p:cNvPr id="2" name="Title 1"/>
          <p:cNvSpPr>
            <a:spLocks noGrp="1"/>
          </p:cNvSpPr>
          <p:nvPr>
            <p:ph type="title" hasCustomPrompt="1"/>
          </p:nvPr>
        </p:nvSpPr>
        <p:spPr>
          <a:xfrm>
            <a:off x="6930776" y="477366"/>
            <a:ext cx="4644000" cy="1341602"/>
          </a:xfrm>
        </p:spPr>
        <p:txBody>
          <a:bodyPr anchor="ctr" anchorCtr="0">
            <a:normAutofit/>
          </a:bodyPr>
          <a:lstStyle>
            <a:lvl1pPr algn="ctr">
              <a:lnSpc>
                <a:spcPct val="84000"/>
              </a:lnSpc>
              <a:defRPr sz="4800" baseline="0">
                <a:solidFill>
                  <a:schemeClr val="tx2"/>
                </a:solidFill>
              </a:defRPr>
            </a:lvl1pPr>
          </a:lstStyle>
          <a:p>
            <a:r>
              <a:rPr lang="en-US" noProof="0"/>
              <a:t>Click To Edit Master Title Style</a:t>
            </a:r>
          </a:p>
        </p:txBody>
      </p:sp>
      <p:sp>
        <p:nvSpPr>
          <p:cNvPr id="4" name="Text Placeholder 3"/>
          <p:cNvSpPr>
            <a:spLocks noGrp="1"/>
          </p:cNvSpPr>
          <p:nvPr>
            <p:ph type="body" sz="half" idx="2"/>
          </p:nvPr>
        </p:nvSpPr>
        <p:spPr>
          <a:xfrm>
            <a:off x="6930775" y="1966451"/>
            <a:ext cx="4644001" cy="4388615"/>
          </a:xfrm>
        </p:spPr>
        <p:txBody>
          <a:bodyPr/>
          <a:lstStyle>
            <a:lvl1pPr marL="285750" indent="-285750">
              <a:lnSpc>
                <a:spcPct val="100000"/>
              </a:lnSpc>
              <a:spcBef>
                <a:spcPts val="0"/>
              </a:spcBef>
              <a:spcAft>
                <a:spcPts val="0"/>
              </a:spcAft>
              <a:buFont typeface="Arial" panose="020B0604020202020204" pitchFamily="34" charset="0"/>
              <a:buChar char="•"/>
              <a:defRPr sz="1800">
                <a:solidFill>
                  <a:schemeClr val="tx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smtClean="0"/>
              <a:t>Edit Master text styles</a:t>
            </a:r>
          </a:p>
        </p:txBody>
      </p:sp>
      <p:sp>
        <p:nvSpPr>
          <p:cNvPr id="5" name="Date Placeholder 4"/>
          <p:cNvSpPr>
            <a:spLocks noGrp="1"/>
          </p:cNvSpPr>
          <p:nvPr>
            <p:ph type="dt" sz="half" idx="10"/>
          </p:nvPr>
        </p:nvSpPr>
        <p:spPr>
          <a:xfrm>
            <a:off x="507591" y="6453386"/>
            <a:ext cx="1204572" cy="404614"/>
          </a:xfrm>
        </p:spPr>
        <p:txBody>
          <a:bodyPr/>
          <a:lstStyle>
            <a:lvl1pPr>
              <a:defRPr>
                <a:solidFill>
                  <a:schemeClr val="bg1"/>
                </a:solidFill>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fld id="{3B77EF04-6424-4B70-94D1-FC932CBBDD9B}" type="datetimeFigureOut">
              <a:rPr kumimoji="0" lang="en-US" sz="1200" b="0" i="0" u="none" strike="noStrike" kern="1200" cap="none" spc="0" normalizeH="0" baseline="0" noProof="0" smtClean="0">
                <a:ln>
                  <a:noFill/>
                </a:ln>
                <a:solidFill>
                  <a:prstClr val="white"/>
                </a:solidFill>
                <a:effectLst/>
                <a:uLnTx/>
                <a:uFillTx/>
                <a:latin typeface="Arial"/>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9/6/2025</a:t>
            </a:fld>
            <a:endParaRPr kumimoji="0" lang="en-US" sz="1200" b="0" i="0" u="none" strike="noStrike" kern="1200" cap="none" spc="0" normalizeH="0" baseline="0" noProof="0" dirty="0">
              <a:ln>
                <a:noFill/>
              </a:ln>
              <a:solidFill>
                <a:prstClr val="white"/>
              </a:solidFill>
              <a:effectLst/>
              <a:uLnTx/>
              <a:uFillTx/>
              <a:latin typeface="Arial"/>
              <a:ea typeface="+mn-ea"/>
              <a:cs typeface="+mn-cs"/>
            </a:endParaRPr>
          </a:p>
        </p:txBody>
      </p:sp>
      <p:sp>
        <p:nvSpPr>
          <p:cNvPr id="6" name="Footer Placeholder 5"/>
          <p:cNvSpPr>
            <a:spLocks noGrp="1"/>
          </p:cNvSpPr>
          <p:nvPr>
            <p:ph type="ftr" sz="quarter" idx="11"/>
          </p:nvPr>
        </p:nvSpPr>
        <p:spPr>
          <a:xfrm>
            <a:off x="3403965" y="6453386"/>
            <a:ext cx="2373675" cy="404614"/>
          </a:xfrm>
        </p:spPr>
        <p:txBody>
          <a:bodyPr/>
          <a:lstStyle>
            <a:lvl1pPr>
              <a:defRPr>
                <a:solidFill>
                  <a:schemeClr val="bg1"/>
                </a:solidFill>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white"/>
                </a:solidFill>
                <a:effectLst/>
                <a:uLnTx/>
                <a:uFillTx/>
                <a:latin typeface="Arial"/>
                <a:ea typeface="+mn-ea"/>
                <a:cs typeface="+mn-cs"/>
              </a:rPr>
              <a:t>Add a footer </a:t>
            </a:r>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pPr marL="0" marR="0" lvl="0" indent="0" algn="r" defTabSz="457200" rtl="0" eaLnBrk="1" fontAlgn="auto" latinLnBrk="0" hangingPunct="1">
              <a:lnSpc>
                <a:spcPct val="100000"/>
              </a:lnSpc>
              <a:spcBef>
                <a:spcPts val="0"/>
              </a:spcBef>
              <a:spcAft>
                <a:spcPts val="0"/>
              </a:spcAft>
              <a:buClrTx/>
              <a:buSzTx/>
              <a:buFontTx/>
              <a:buNone/>
              <a:tabLst/>
              <a:defRPr/>
            </a:pPr>
            <a:fld id="{B38049E5-7B53-4E85-8972-7D6C4BCE5BB9}" type="slidenum">
              <a:rPr kumimoji="0" lang="en-US" sz="1200" b="0" i="0" u="none" strike="noStrike" kern="1200" cap="none" spc="0" normalizeH="0" baseline="0" noProof="0" smtClean="0">
                <a:ln>
                  <a:noFill/>
                </a:ln>
                <a:solidFill>
                  <a:srgbClr val="1F497D"/>
                </a:solidFill>
                <a:effectLst/>
                <a:uLnTx/>
                <a:uFillTx/>
                <a:latin typeface="Arial"/>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srgbClr val="1F497D"/>
              </a:solidFill>
              <a:effectLst/>
              <a:uLnTx/>
              <a:uFillTx/>
              <a:latin typeface="Arial"/>
              <a:ea typeface="+mn-ea"/>
              <a:cs typeface="+mn-cs"/>
            </a:endParaRPr>
          </a:p>
        </p:txBody>
      </p:sp>
      <p:sp>
        <p:nvSpPr>
          <p:cNvPr id="9" name="Rectangle 8" title="Divider Bar"/>
          <p:cNvSpPr/>
          <p:nvPr/>
        </p:nvSpPr>
        <p:spPr>
          <a:xfrm>
            <a:off x="6234897" y="-376"/>
            <a:ext cx="144000" cy="6876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L-Shape 11">
            <a:extLst>
              <a:ext uri="{FF2B5EF4-FFF2-40B4-BE49-F238E27FC236}">
                <a16:creationId xmlns:a16="http://schemas.microsoft.com/office/drawing/2014/main" id="{26A5AA85-E28D-4647-B000-742C83A8047D}"/>
              </a:ext>
            </a:extLst>
          </p:cNvPr>
          <p:cNvSpPr>
            <a:spLocks noChangeAspect="1"/>
          </p:cNvSpPr>
          <p:nvPr userDrawn="1"/>
        </p:nvSpPr>
        <p:spPr>
          <a:xfrm flipV="1">
            <a:off x="6845770" y="372071"/>
            <a:ext cx="625971" cy="614197"/>
          </a:xfrm>
          <a:prstGeom prst="corner">
            <a:avLst>
              <a:gd name="adj1" fmla="val 4470"/>
              <a:gd name="adj2" fmla="val 4823"/>
            </a:avLst>
          </a:prstGeom>
          <a:solidFill>
            <a:schemeClr val="tx2"/>
          </a:solidFill>
          <a:ln w="28575">
            <a:solidFill>
              <a:schemeClr val="tx2"/>
            </a:solidFill>
          </a:ln>
          <a:effectLst/>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1F497D"/>
              </a:solidFill>
              <a:effectLst/>
              <a:uLnTx/>
              <a:uFillTx/>
              <a:latin typeface="Arial"/>
              <a:ea typeface="+mn-ea"/>
              <a:cs typeface="+mn-cs"/>
            </a:endParaRPr>
          </a:p>
        </p:txBody>
      </p:sp>
      <p:sp>
        <p:nvSpPr>
          <p:cNvPr id="13" name="L-Shape 12">
            <a:extLst>
              <a:ext uri="{FF2B5EF4-FFF2-40B4-BE49-F238E27FC236}">
                <a16:creationId xmlns:a16="http://schemas.microsoft.com/office/drawing/2014/main" id="{C3CD9875-0A2E-4F4D-ACB7-87DD98EED9D0}"/>
              </a:ext>
            </a:extLst>
          </p:cNvPr>
          <p:cNvSpPr>
            <a:spLocks noChangeAspect="1"/>
          </p:cNvSpPr>
          <p:nvPr userDrawn="1"/>
        </p:nvSpPr>
        <p:spPr>
          <a:xfrm flipH="1">
            <a:off x="11058438" y="5819525"/>
            <a:ext cx="625971" cy="614197"/>
          </a:xfrm>
          <a:prstGeom prst="corner">
            <a:avLst>
              <a:gd name="adj1" fmla="val 4470"/>
              <a:gd name="adj2" fmla="val 4823"/>
            </a:avLst>
          </a:prstGeom>
          <a:solidFill>
            <a:schemeClr val="tx2"/>
          </a:solidFill>
          <a:ln w="28575">
            <a:solidFill>
              <a:schemeClr val="tx2"/>
            </a:solidFill>
          </a:ln>
          <a:effectLst/>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1F497D"/>
              </a:solidFill>
              <a:effectLst/>
              <a:uLnTx/>
              <a:uFillTx/>
              <a:latin typeface="Arial"/>
              <a:ea typeface="+mn-ea"/>
              <a:cs typeface="+mn-cs"/>
            </a:endParaRPr>
          </a:p>
        </p:txBody>
      </p:sp>
      <p:sp>
        <p:nvSpPr>
          <p:cNvPr id="19" name="Picture Placeholder 18">
            <a:extLst>
              <a:ext uri="{FF2B5EF4-FFF2-40B4-BE49-F238E27FC236}">
                <a16:creationId xmlns:a16="http://schemas.microsoft.com/office/drawing/2014/main" id="{D57F3340-8A42-40F0-BF5B-EEF6E3E88E6E}"/>
              </a:ext>
            </a:extLst>
          </p:cNvPr>
          <p:cNvSpPr>
            <a:spLocks noGrp="1"/>
          </p:cNvSpPr>
          <p:nvPr>
            <p:ph type="pic" idx="1"/>
          </p:nvPr>
        </p:nvSpPr>
        <p:spPr>
          <a:xfrm>
            <a:off x="806246" y="668595"/>
            <a:ext cx="4646651" cy="5383413"/>
          </a:xfrm>
          <a:custGeom>
            <a:avLst/>
            <a:gdLst>
              <a:gd name="connsiteX0" fmla="*/ 0 w 4646651"/>
              <a:gd name="connsiteY0" fmla="*/ 0 h 5383413"/>
              <a:gd name="connsiteX1" fmla="*/ 4168046 w 4646651"/>
              <a:gd name="connsiteY1" fmla="*/ 0 h 5383413"/>
              <a:gd name="connsiteX2" fmla="*/ 4646651 w 4646651"/>
              <a:gd name="connsiteY2" fmla="*/ 478605 h 5383413"/>
              <a:gd name="connsiteX3" fmla="*/ 4646651 w 4646651"/>
              <a:gd name="connsiteY3" fmla="*/ 5383413 h 5383413"/>
              <a:gd name="connsiteX4" fmla="*/ 478605 w 4646651"/>
              <a:gd name="connsiteY4" fmla="*/ 5383413 h 5383413"/>
              <a:gd name="connsiteX5" fmla="*/ 0 w 4646651"/>
              <a:gd name="connsiteY5" fmla="*/ 4904808 h 53834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46651" h="5383413">
                <a:moveTo>
                  <a:pt x="0" y="0"/>
                </a:moveTo>
                <a:lnTo>
                  <a:pt x="4168046" y="0"/>
                </a:lnTo>
                <a:lnTo>
                  <a:pt x="4646651" y="478605"/>
                </a:lnTo>
                <a:lnTo>
                  <a:pt x="4646651" y="5383413"/>
                </a:lnTo>
                <a:lnTo>
                  <a:pt x="478605" y="5383413"/>
                </a:lnTo>
                <a:lnTo>
                  <a:pt x="0" y="4904808"/>
                </a:lnTo>
                <a:close/>
              </a:path>
            </a:pathLst>
          </a:custGeom>
          <a:ln w="57150">
            <a:solidFill>
              <a:schemeClr val="bg1"/>
            </a:solidFill>
          </a:ln>
        </p:spPr>
        <p:txBody>
          <a:bodyPr wrap="square" anchor="ctr">
            <a:noAutofit/>
          </a:bodyPr>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noProof="0" smtClean="0"/>
              <a:t>Click icon to add picture</a:t>
            </a:r>
            <a:endParaRPr lang="en-US" noProof="0" dirty="0"/>
          </a:p>
        </p:txBody>
      </p:sp>
      <p:sp>
        <p:nvSpPr>
          <p:cNvPr id="20" name="L-Shape 19">
            <a:extLst>
              <a:ext uri="{FF2B5EF4-FFF2-40B4-BE49-F238E27FC236}">
                <a16:creationId xmlns:a16="http://schemas.microsoft.com/office/drawing/2014/main" id="{CC096F9F-3AD4-4FC8-823F-DBD962E2E1C6}"/>
              </a:ext>
            </a:extLst>
          </p:cNvPr>
          <p:cNvSpPr>
            <a:spLocks noChangeAspect="1"/>
          </p:cNvSpPr>
          <p:nvPr userDrawn="1"/>
        </p:nvSpPr>
        <p:spPr>
          <a:xfrm flipH="1" flipV="1">
            <a:off x="11021316" y="361496"/>
            <a:ext cx="625971" cy="614197"/>
          </a:xfrm>
          <a:prstGeom prst="corner">
            <a:avLst>
              <a:gd name="adj1" fmla="val 4470"/>
              <a:gd name="adj2" fmla="val 4823"/>
            </a:avLst>
          </a:prstGeom>
          <a:solidFill>
            <a:schemeClr val="tx2"/>
          </a:solidFill>
          <a:ln w="28575">
            <a:solidFill>
              <a:schemeClr val="tx2"/>
            </a:solidFill>
          </a:ln>
          <a:effectLst/>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1F497D"/>
              </a:solidFill>
              <a:effectLst/>
              <a:uLnTx/>
              <a:uFillTx/>
              <a:latin typeface="Arial"/>
              <a:ea typeface="+mn-ea"/>
              <a:cs typeface="+mn-cs"/>
            </a:endParaRPr>
          </a:p>
        </p:txBody>
      </p:sp>
      <p:sp>
        <p:nvSpPr>
          <p:cNvPr id="21" name="L-Shape 20">
            <a:extLst>
              <a:ext uri="{FF2B5EF4-FFF2-40B4-BE49-F238E27FC236}">
                <a16:creationId xmlns:a16="http://schemas.microsoft.com/office/drawing/2014/main" id="{9CFFEAD0-9992-49A8-A068-3357E08CD7C0}"/>
              </a:ext>
            </a:extLst>
          </p:cNvPr>
          <p:cNvSpPr>
            <a:spLocks noChangeAspect="1"/>
          </p:cNvSpPr>
          <p:nvPr userDrawn="1"/>
        </p:nvSpPr>
        <p:spPr>
          <a:xfrm>
            <a:off x="6865431" y="5819524"/>
            <a:ext cx="625971" cy="614197"/>
          </a:xfrm>
          <a:prstGeom prst="corner">
            <a:avLst>
              <a:gd name="adj1" fmla="val 4470"/>
              <a:gd name="adj2" fmla="val 4823"/>
            </a:avLst>
          </a:prstGeom>
          <a:solidFill>
            <a:schemeClr val="tx2"/>
          </a:solidFill>
          <a:ln w="28575">
            <a:solidFill>
              <a:schemeClr val="tx2"/>
            </a:solidFill>
          </a:ln>
          <a:effectLst/>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1F497D"/>
              </a:solidFill>
              <a:effectLst/>
              <a:uLnTx/>
              <a:uFillTx/>
              <a:latin typeface="Arial"/>
              <a:ea typeface="+mn-ea"/>
              <a:cs typeface="+mn-cs"/>
            </a:endParaRPr>
          </a:p>
        </p:txBody>
      </p:sp>
      <p:cxnSp>
        <p:nvCxnSpPr>
          <p:cNvPr id="23" name="Straight Connector 22">
            <a:extLst>
              <a:ext uri="{FF2B5EF4-FFF2-40B4-BE49-F238E27FC236}">
                <a16:creationId xmlns:a16="http://schemas.microsoft.com/office/drawing/2014/main" id="{D470145D-417E-4648-AB08-0A7974A629E0}"/>
              </a:ext>
            </a:extLst>
          </p:cNvPr>
          <p:cNvCxnSpPr/>
          <p:nvPr userDrawn="1"/>
        </p:nvCxnSpPr>
        <p:spPr>
          <a:xfrm>
            <a:off x="7118556" y="1789472"/>
            <a:ext cx="4284000" cy="0"/>
          </a:xfrm>
          <a:prstGeom prst="line">
            <a:avLst/>
          </a:prstGeom>
          <a:ln w="28575">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7031148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bwMode="blackWhite">
      <p:bgPr>
        <a:gradFill flip="none" rotWithShape="1">
          <a:gsLst>
            <a:gs pos="0">
              <a:schemeClr val="bg2">
                <a:lumMod val="50000"/>
              </a:schemeClr>
            </a:gs>
            <a:gs pos="33000">
              <a:schemeClr val="bg2"/>
            </a:gs>
            <a:gs pos="66000">
              <a:schemeClr val="bg2">
                <a:lumMod val="75000"/>
              </a:schemeClr>
            </a:gs>
            <a:gs pos="97000">
              <a:schemeClr val="bg2">
                <a:lumMod val="50000"/>
              </a:schemeClr>
            </a:gs>
          </a:gsLst>
          <a:lin ang="2700000" scaled="1"/>
          <a:tileRect/>
        </a:gra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65025" y="1301360"/>
            <a:ext cx="9612971" cy="2852737"/>
          </a:xfrm>
        </p:spPr>
        <p:txBody>
          <a:bodyPr anchor="b">
            <a:normAutofit/>
          </a:bodyPr>
          <a:lstStyle>
            <a:lvl1pPr algn="r">
              <a:defRPr sz="7200" cap="none" baseline="0">
                <a:solidFill>
                  <a:schemeClr val="tx1"/>
                </a:solidFill>
              </a:defRPr>
            </a:lvl1pPr>
          </a:lstStyle>
          <a:p>
            <a:r>
              <a:rPr lang="en-US" noProof="0"/>
              <a:t>Click To Edit Master Title Style</a:t>
            </a:r>
          </a:p>
        </p:txBody>
      </p:sp>
      <p:sp>
        <p:nvSpPr>
          <p:cNvPr id="3" name="Text Placeholder 2"/>
          <p:cNvSpPr>
            <a:spLocks noGrp="1"/>
          </p:cNvSpPr>
          <p:nvPr>
            <p:ph type="body" idx="1"/>
          </p:nvPr>
        </p:nvSpPr>
        <p:spPr>
          <a:xfrm>
            <a:off x="765025" y="4216328"/>
            <a:ext cx="9612971" cy="1143324"/>
          </a:xfrm>
        </p:spPr>
        <p:txBody>
          <a:bodyPr/>
          <a:lstStyle>
            <a:lvl1pPr marL="0" indent="0" algn="r">
              <a:lnSpc>
                <a:spcPct val="112000"/>
              </a:lnSpc>
              <a:spcBef>
                <a:spcPts val="0"/>
              </a:spcBef>
              <a:spcAft>
                <a:spcPts val="0"/>
              </a:spcAft>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noProof="0" smtClean="0"/>
              <a:t>Edit Master text styles</a:t>
            </a:r>
          </a:p>
        </p:txBody>
      </p:sp>
      <p:sp>
        <p:nvSpPr>
          <p:cNvPr id="4" name="Date Placeholder 3"/>
          <p:cNvSpPr>
            <a:spLocks noGrp="1"/>
          </p:cNvSpPr>
          <p:nvPr>
            <p:ph type="dt" sz="half" idx="10"/>
          </p:nvPr>
        </p:nvSpPr>
        <p:spPr>
          <a:xfrm>
            <a:off x="738908" y="6453386"/>
            <a:ext cx="1622409" cy="404614"/>
          </a:xfrm>
        </p:spPr>
        <p:txBody>
          <a:bodyPr/>
          <a:lstStyle>
            <a:lvl1pPr>
              <a:defRPr>
                <a:solidFill>
                  <a:schemeClr val="tx2"/>
                </a:solidFill>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fld id="{3B77EF04-6424-4B70-94D1-FC932CBBDD9B}" type="datetimeFigureOut">
              <a:rPr kumimoji="0" lang="en-US" sz="1200" b="0" i="0" u="none" strike="noStrike" kern="1200" cap="none" spc="0" normalizeH="0" baseline="0" noProof="0" smtClean="0">
                <a:ln>
                  <a:noFill/>
                </a:ln>
                <a:solidFill>
                  <a:srgbClr val="EEECE1"/>
                </a:solidFill>
                <a:effectLst/>
                <a:uLnTx/>
                <a:uFillTx/>
                <a:latin typeface="Arial"/>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9/6/2025</a:t>
            </a:fld>
            <a:endParaRPr kumimoji="0" lang="en-US" sz="1200" b="0" i="0" u="none" strike="noStrike" kern="1200" cap="none" spc="0" normalizeH="0" baseline="0" noProof="0" dirty="0">
              <a:ln>
                <a:noFill/>
              </a:ln>
              <a:solidFill>
                <a:srgbClr val="EEECE1"/>
              </a:solidFill>
              <a:effectLst/>
              <a:uLnTx/>
              <a:uFillTx/>
              <a:latin typeface="Arial"/>
              <a:ea typeface="+mn-ea"/>
              <a:cs typeface="+mn-cs"/>
            </a:endParaRPr>
          </a:p>
        </p:txBody>
      </p:sp>
      <p:sp>
        <p:nvSpPr>
          <p:cNvPr id="5" name="Footer Placeholder 4"/>
          <p:cNvSpPr>
            <a:spLocks noGrp="1"/>
          </p:cNvSpPr>
          <p:nvPr>
            <p:ph type="ftr" sz="quarter" idx="11"/>
          </p:nvPr>
        </p:nvSpPr>
        <p:spPr>
          <a:xfrm>
            <a:off x="2584312" y="6453386"/>
            <a:ext cx="7023377" cy="404614"/>
          </a:xfrm>
        </p:spPr>
        <p:txBody>
          <a:bodyPr/>
          <a:lstStyle>
            <a:lvl1pPr algn="ctr">
              <a:defRPr>
                <a:solidFill>
                  <a:schemeClr val="tx2"/>
                </a:solidFill>
              </a:defRPr>
            </a:lvl1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EEECE1"/>
                </a:solidFill>
                <a:effectLst/>
                <a:uLnTx/>
                <a:uFillTx/>
                <a:latin typeface="Arial"/>
                <a:ea typeface="+mn-ea"/>
                <a:cs typeface="+mn-cs"/>
              </a:rPr>
              <a:t>Add a footer </a:t>
            </a:r>
          </a:p>
        </p:txBody>
      </p:sp>
      <p:sp>
        <p:nvSpPr>
          <p:cNvPr id="6" name="Slide Number Placeholder 5"/>
          <p:cNvSpPr>
            <a:spLocks noGrp="1"/>
          </p:cNvSpPr>
          <p:nvPr>
            <p:ph type="sldNum" sz="quarter" idx="12"/>
          </p:nvPr>
        </p:nvSpPr>
        <p:spPr>
          <a:xfrm>
            <a:off x="9830683" y="6453386"/>
            <a:ext cx="1596292" cy="404614"/>
          </a:xfrm>
        </p:spPr>
        <p:txBody>
          <a:bodyPr/>
          <a:lstStyle>
            <a:lvl1pPr>
              <a:defRPr>
                <a:solidFill>
                  <a:schemeClr val="tx2"/>
                </a:solidFill>
              </a:defRPr>
            </a:lvl1pPr>
          </a:lstStyle>
          <a:p>
            <a:pPr marL="0" marR="0" lvl="0" indent="0" algn="r" defTabSz="457200" rtl="0" eaLnBrk="1" fontAlgn="auto" latinLnBrk="0" hangingPunct="1">
              <a:lnSpc>
                <a:spcPct val="100000"/>
              </a:lnSpc>
              <a:spcBef>
                <a:spcPts val="0"/>
              </a:spcBef>
              <a:spcAft>
                <a:spcPts val="0"/>
              </a:spcAft>
              <a:buClrTx/>
              <a:buSzTx/>
              <a:buFontTx/>
              <a:buNone/>
              <a:tabLst/>
              <a:defRPr/>
            </a:pPr>
            <a:fld id="{B38049E5-7B53-4E85-8972-7D6C4BCE5BB9}" type="slidenum">
              <a:rPr kumimoji="0" lang="en-US" sz="1200" b="0" i="0" u="none" strike="noStrike" kern="1200" cap="none" spc="0" normalizeH="0" baseline="0" noProof="0" smtClean="0">
                <a:ln>
                  <a:noFill/>
                </a:ln>
                <a:solidFill>
                  <a:srgbClr val="EEECE1"/>
                </a:solidFill>
                <a:effectLst/>
                <a:uLnTx/>
                <a:uFillTx/>
                <a:latin typeface="Arial"/>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srgbClr val="EEECE1"/>
              </a:solidFill>
              <a:effectLst/>
              <a:uLnTx/>
              <a:uFillTx/>
              <a:latin typeface="Arial"/>
              <a:ea typeface="+mn-ea"/>
              <a:cs typeface="+mn-cs"/>
            </a:endParaRPr>
          </a:p>
        </p:txBody>
      </p:sp>
      <p:sp>
        <p:nvSpPr>
          <p:cNvPr id="9" name="L-Shape 8">
            <a:extLst>
              <a:ext uri="{FF2B5EF4-FFF2-40B4-BE49-F238E27FC236}">
                <a16:creationId xmlns:a16="http://schemas.microsoft.com/office/drawing/2014/main" id="{BF5B4C6D-2825-4690-8D32-39CBF5E0F7E6}"/>
              </a:ext>
            </a:extLst>
          </p:cNvPr>
          <p:cNvSpPr/>
          <p:nvPr userDrawn="1"/>
        </p:nvSpPr>
        <p:spPr>
          <a:xfrm rot="10800000" flipV="1">
            <a:off x="8532326" y="1820272"/>
            <a:ext cx="2772000" cy="4158497"/>
          </a:xfrm>
          <a:prstGeom prst="corner">
            <a:avLst>
              <a:gd name="adj1" fmla="val 7397"/>
              <a:gd name="adj2" fmla="val 7750"/>
            </a:avLst>
          </a:prstGeom>
          <a:solidFill>
            <a:schemeClr val="accent3"/>
          </a:solidFill>
          <a:ln>
            <a:solidFill>
              <a:schemeClr val="accent3"/>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a:ea typeface="+mn-ea"/>
              <a:cs typeface="+mn-cs"/>
            </a:endParaRPr>
          </a:p>
        </p:txBody>
      </p:sp>
      <p:sp>
        <p:nvSpPr>
          <p:cNvPr id="8" name="L-Shape 7">
            <a:extLst>
              <a:ext uri="{FF2B5EF4-FFF2-40B4-BE49-F238E27FC236}">
                <a16:creationId xmlns:a16="http://schemas.microsoft.com/office/drawing/2014/main" id="{DFD43940-6D78-4E75-BDB6-8792768BB894}"/>
              </a:ext>
            </a:extLst>
          </p:cNvPr>
          <p:cNvSpPr/>
          <p:nvPr userDrawn="1"/>
        </p:nvSpPr>
        <p:spPr>
          <a:xfrm flipH="1">
            <a:off x="8286318" y="1685652"/>
            <a:ext cx="3152309" cy="4408489"/>
          </a:xfrm>
          <a:prstGeom prst="corner">
            <a:avLst>
              <a:gd name="adj1" fmla="val 5837"/>
              <a:gd name="adj2" fmla="val 6502"/>
            </a:avLst>
          </a:prstGeom>
          <a:solidFill>
            <a:srgbClr val="EFEDE3"/>
          </a:solidFill>
          <a:ln>
            <a:solidFill>
              <a:srgbClr val="EFEDE3"/>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a:ea typeface="+mn-ea"/>
              <a:cs typeface="+mn-cs"/>
            </a:endParaRPr>
          </a:p>
        </p:txBody>
      </p:sp>
    </p:spTree>
    <p:extLst>
      <p:ext uri="{BB962C8B-B14F-4D97-AF65-F5344CB8AC3E}">
        <p14:creationId xmlns:p14="http://schemas.microsoft.com/office/powerpoint/2010/main" val="1772556420"/>
      </p:ext>
    </p:extLst>
  </p:cSld>
  <p:clrMapOvr>
    <a:overrideClrMapping bg1="dk1" tx1="lt1" bg2="dk2" tx2="lt2" accent1="accent1" accent2="accent2" accent3="accent3" accent4="accent4" accent5="accent5" accent6="accent6" hlink="hlink" folHlink="folHlink"/>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normAutofit/>
          </a:bodyPr>
          <a:lstStyle>
            <a:lvl1pPr>
              <a:defRPr sz="4800">
                <a:solidFill>
                  <a:schemeClr val="tx2"/>
                </a:solidFill>
              </a:defRPr>
            </a:lvl1pPr>
          </a:lstStyle>
          <a:p>
            <a:r>
              <a:rPr lang="en-US" noProof="0"/>
              <a:t>Click To Edit Master Title Style</a:t>
            </a:r>
          </a:p>
        </p:txBody>
      </p:sp>
      <p:sp>
        <p:nvSpPr>
          <p:cNvPr id="3" name="Content Placeholder 2"/>
          <p:cNvSpPr>
            <a:spLocks noGrp="1"/>
          </p:cNvSpPr>
          <p:nvPr>
            <p:ph sz="half" idx="1"/>
          </p:nvPr>
        </p:nvSpPr>
        <p:spPr>
          <a:xfrm>
            <a:off x="1371600" y="2285999"/>
            <a:ext cx="4447786" cy="3581401"/>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4" name="Content Placeholder 3"/>
          <p:cNvSpPr>
            <a:spLocks noGrp="1"/>
          </p:cNvSpPr>
          <p:nvPr>
            <p:ph sz="half" idx="2"/>
          </p:nvPr>
        </p:nvSpPr>
        <p:spPr>
          <a:xfrm>
            <a:off x="6525403" y="2285999"/>
            <a:ext cx="4447786" cy="3581401"/>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5" name="Date Placeholder 4"/>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3B77EF04-6424-4B70-94D1-FC932CBBDD9B}" type="datetimeFigureOut">
              <a:rPr kumimoji="0" lang="en-US" sz="1200" b="0" i="0" u="none" strike="noStrike" kern="1200" cap="none" spc="0" normalizeH="0" baseline="0" noProof="0" smtClean="0">
                <a:ln>
                  <a:noFill/>
                </a:ln>
                <a:solidFill>
                  <a:srgbClr val="1F497D"/>
                </a:solidFill>
                <a:effectLst/>
                <a:uLnTx/>
                <a:uFillTx/>
                <a:latin typeface="Arial"/>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9/6/2025</a:t>
            </a:fld>
            <a:endParaRPr kumimoji="0" lang="en-US" sz="1200" b="0" i="0" u="none" strike="noStrike" kern="1200" cap="none" spc="0" normalizeH="0" baseline="0" noProof="0" dirty="0">
              <a:ln>
                <a:noFill/>
              </a:ln>
              <a:solidFill>
                <a:srgbClr val="1F497D"/>
              </a:solidFill>
              <a:effectLst/>
              <a:uLnTx/>
              <a:uFillTx/>
              <a:latin typeface="Arial"/>
              <a:ea typeface="+mn-ea"/>
              <a:cs typeface="+mn-cs"/>
            </a:endParaRPr>
          </a:p>
        </p:txBody>
      </p:sp>
      <p:sp>
        <p:nvSpPr>
          <p:cNvPr id="6" name="Footer Placeholder 5"/>
          <p:cNvSpPr>
            <a:spLocks noGrp="1"/>
          </p:cNvSpPr>
          <p:nvPr>
            <p:ph type="ftr" sz="quarter" idx="1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1F497D"/>
                </a:solidFill>
                <a:effectLst/>
                <a:uLnTx/>
                <a:uFillTx/>
                <a:latin typeface="Arial"/>
                <a:ea typeface="+mn-ea"/>
                <a:cs typeface="+mn-cs"/>
              </a:rPr>
              <a:t>Add a footer </a:t>
            </a:r>
          </a:p>
        </p:txBody>
      </p:sp>
      <p:sp>
        <p:nvSpPr>
          <p:cNvPr id="7" name="Slide Number Placeholder 6"/>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B38049E5-7B53-4E85-8972-7D6C4BCE5BB9}" type="slidenum">
              <a:rPr kumimoji="0" lang="en-US" sz="1200" b="0" i="0" u="none" strike="noStrike" kern="1200" cap="none" spc="0" normalizeH="0" baseline="0" noProof="0" smtClean="0">
                <a:ln>
                  <a:noFill/>
                </a:ln>
                <a:solidFill>
                  <a:srgbClr val="1F497D"/>
                </a:solidFill>
                <a:effectLst/>
                <a:uLnTx/>
                <a:uFillTx/>
                <a:latin typeface="Arial"/>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srgbClr val="1F497D"/>
              </a:solidFill>
              <a:effectLst/>
              <a:uLnTx/>
              <a:uFillTx/>
              <a:latin typeface="Arial"/>
              <a:ea typeface="+mn-ea"/>
              <a:cs typeface="+mn-cs"/>
            </a:endParaRPr>
          </a:p>
        </p:txBody>
      </p:sp>
    </p:spTree>
    <p:extLst>
      <p:ext uri="{BB962C8B-B14F-4D97-AF65-F5344CB8AC3E}">
        <p14:creationId xmlns:p14="http://schemas.microsoft.com/office/powerpoint/2010/main" val="360565867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371600" y="685800"/>
            <a:ext cx="9601200" cy="1485900"/>
          </a:xfrm>
        </p:spPr>
        <p:txBody>
          <a:bodyPr>
            <a:normAutofit/>
          </a:bodyPr>
          <a:lstStyle>
            <a:lvl1pPr>
              <a:defRPr sz="4800">
                <a:solidFill>
                  <a:schemeClr val="tx2"/>
                </a:solidFill>
              </a:defRPr>
            </a:lvl1pPr>
          </a:lstStyle>
          <a:p>
            <a:r>
              <a:rPr lang="en-US" noProof="0"/>
              <a:t>Click To Edit Master Title Style</a:t>
            </a:r>
          </a:p>
        </p:txBody>
      </p:sp>
      <p:sp>
        <p:nvSpPr>
          <p:cNvPr id="3" name="Text Placeholder 2"/>
          <p:cNvSpPr>
            <a:spLocks noGrp="1"/>
          </p:cNvSpPr>
          <p:nvPr>
            <p:ph type="body" idx="1"/>
          </p:nvPr>
        </p:nvSpPr>
        <p:spPr>
          <a:xfrm>
            <a:off x="1371600"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smtClean="0"/>
              <a:t>Edit Master text styles</a:t>
            </a:r>
          </a:p>
        </p:txBody>
      </p:sp>
      <p:sp>
        <p:nvSpPr>
          <p:cNvPr id="4" name="Content Placeholder 3"/>
          <p:cNvSpPr>
            <a:spLocks noGrp="1"/>
          </p:cNvSpPr>
          <p:nvPr>
            <p:ph sz="half" idx="2"/>
          </p:nvPr>
        </p:nvSpPr>
        <p:spPr>
          <a:xfrm>
            <a:off x="1371600"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5" name="Text Placeholder 4"/>
          <p:cNvSpPr>
            <a:spLocks noGrp="1"/>
          </p:cNvSpPr>
          <p:nvPr>
            <p:ph type="body" sz="quarter" idx="3"/>
          </p:nvPr>
        </p:nvSpPr>
        <p:spPr>
          <a:xfrm>
            <a:off x="6525014"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smtClean="0"/>
              <a:t>Edit Master text styles</a:t>
            </a:r>
          </a:p>
        </p:txBody>
      </p:sp>
      <p:sp>
        <p:nvSpPr>
          <p:cNvPr id="6" name="Content Placeholder 5"/>
          <p:cNvSpPr>
            <a:spLocks noGrp="1"/>
          </p:cNvSpPr>
          <p:nvPr>
            <p:ph sz="quarter" idx="4"/>
          </p:nvPr>
        </p:nvSpPr>
        <p:spPr>
          <a:xfrm>
            <a:off x="6525014"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7" name="Date Placeholder 6"/>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3B77EF04-6424-4B70-94D1-FC932CBBDD9B}" type="datetimeFigureOut">
              <a:rPr kumimoji="0" lang="en-US" sz="1200" b="0" i="0" u="none" strike="noStrike" kern="1200" cap="none" spc="0" normalizeH="0" baseline="0" noProof="0" smtClean="0">
                <a:ln>
                  <a:noFill/>
                </a:ln>
                <a:solidFill>
                  <a:srgbClr val="1F497D"/>
                </a:solidFill>
                <a:effectLst/>
                <a:uLnTx/>
                <a:uFillTx/>
                <a:latin typeface="Arial"/>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9/6/2025</a:t>
            </a:fld>
            <a:endParaRPr kumimoji="0" lang="en-US" sz="1200" b="0" i="0" u="none" strike="noStrike" kern="1200" cap="none" spc="0" normalizeH="0" baseline="0" noProof="0" dirty="0">
              <a:ln>
                <a:noFill/>
              </a:ln>
              <a:solidFill>
                <a:srgbClr val="1F497D"/>
              </a:solidFill>
              <a:effectLst/>
              <a:uLnTx/>
              <a:uFillTx/>
              <a:latin typeface="Arial"/>
              <a:ea typeface="+mn-ea"/>
              <a:cs typeface="+mn-cs"/>
            </a:endParaRPr>
          </a:p>
        </p:txBody>
      </p:sp>
      <p:sp>
        <p:nvSpPr>
          <p:cNvPr id="8" name="Footer Placeholder 7"/>
          <p:cNvSpPr>
            <a:spLocks noGrp="1"/>
          </p:cNvSpPr>
          <p:nvPr>
            <p:ph type="ftr" sz="quarter" idx="1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1F497D"/>
                </a:solidFill>
                <a:effectLst/>
                <a:uLnTx/>
                <a:uFillTx/>
                <a:latin typeface="Arial"/>
                <a:ea typeface="+mn-ea"/>
                <a:cs typeface="+mn-cs"/>
              </a:rPr>
              <a:t>Add a footer </a:t>
            </a:r>
          </a:p>
        </p:txBody>
      </p:sp>
      <p:sp>
        <p:nvSpPr>
          <p:cNvPr id="9" name="Slide Number Placeholder 8"/>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B38049E5-7B53-4E85-8972-7D6C4BCE5BB9}" type="slidenum">
              <a:rPr kumimoji="0" lang="en-US" sz="1200" b="0" i="0" u="none" strike="noStrike" kern="1200" cap="none" spc="0" normalizeH="0" baseline="0" noProof="0" smtClean="0">
                <a:ln>
                  <a:noFill/>
                </a:ln>
                <a:solidFill>
                  <a:srgbClr val="1F497D"/>
                </a:solidFill>
                <a:effectLst/>
                <a:uLnTx/>
                <a:uFillTx/>
                <a:latin typeface="Arial"/>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srgbClr val="1F497D"/>
              </a:solidFill>
              <a:effectLst/>
              <a:uLnTx/>
              <a:uFillTx/>
              <a:latin typeface="Arial"/>
              <a:ea typeface="+mn-ea"/>
              <a:cs typeface="+mn-cs"/>
            </a:endParaRPr>
          </a:p>
        </p:txBody>
      </p:sp>
      <p:sp>
        <p:nvSpPr>
          <p:cNvPr id="11" name="L-Shape 10">
            <a:extLst>
              <a:ext uri="{FF2B5EF4-FFF2-40B4-BE49-F238E27FC236}">
                <a16:creationId xmlns:a16="http://schemas.microsoft.com/office/drawing/2014/main" id="{91236E78-C797-4C31-BA0C-DB193BAF6D2D}"/>
              </a:ext>
            </a:extLst>
          </p:cNvPr>
          <p:cNvSpPr/>
          <p:nvPr userDrawn="1"/>
        </p:nvSpPr>
        <p:spPr>
          <a:xfrm rot="10800000" flipV="1">
            <a:off x="8391654" y="1873024"/>
            <a:ext cx="2772000" cy="4158497"/>
          </a:xfrm>
          <a:prstGeom prst="corner">
            <a:avLst>
              <a:gd name="adj1" fmla="val 7397"/>
              <a:gd name="adj2" fmla="val 7750"/>
            </a:avLst>
          </a:prstGeom>
          <a:solidFill>
            <a:schemeClr val="accent3"/>
          </a:solidFill>
          <a:ln>
            <a:solidFill>
              <a:schemeClr val="accent3"/>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a:ea typeface="+mn-ea"/>
              <a:cs typeface="+mn-cs"/>
            </a:endParaRPr>
          </a:p>
        </p:txBody>
      </p:sp>
      <p:sp>
        <p:nvSpPr>
          <p:cNvPr id="10" name="L-Shape 9">
            <a:extLst>
              <a:ext uri="{FF2B5EF4-FFF2-40B4-BE49-F238E27FC236}">
                <a16:creationId xmlns:a16="http://schemas.microsoft.com/office/drawing/2014/main" id="{BFA658F0-F295-40A9-8BA8-1F6CBDFBBE09}"/>
              </a:ext>
            </a:extLst>
          </p:cNvPr>
          <p:cNvSpPr/>
          <p:nvPr userDrawn="1"/>
        </p:nvSpPr>
        <p:spPr>
          <a:xfrm flipH="1">
            <a:off x="8152968" y="1752327"/>
            <a:ext cx="3152309" cy="4408489"/>
          </a:xfrm>
          <a:prstGeom prst="corner">
            <a:avLst>
              <a:gd name="adj1" fmla="val 7085"/>
              <a:gd name="adj2" fmla="val 7750"/>
            </a:avLst>
          </a:prstGeom>
          <a:solidFill>
            <a:schemeClr val="tx2"/>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a:ea typeface="+mn-ea"/>
              <a:cs typeface="+mn-cs"/>
            </a:endParaRPr>
          </a:p>
        </p:txBody>
      </p:sp>
    </p:spTree>
    <p:extLst>
      <p:ext uri="{BB962C8B-B14F-4D97-AF65-F5344CB8AC3E}">
        <p14:creationId xmlns:p14="http://schemas.microsoft.com/office/powerpoint/2010/main" val="383323670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normAutofit/>
          </a:bodyPr>
          <a:lstStyle>
            <a:lvl1pPr>
              <a:defRPr sz="4800"/>
            </a:lvl1pPr>
          </a:lstStyle>
          <a:p>
            <a:r>
              <a:rPr lang="en-US" noProof="0"/>
              <a:t>Click To Edit Master Title Style</a:t>
            </a:r>
          </a:p>
        </p:txBody>
      </p:sp>
      <p:sp>
        <p:nvSpPr>
          <p:cNvPr id="3" name="Date Placeholder 2"/>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3B77EF04-6424-4B70-94D1-FC932CBBDD9B}" type="datetimeFigureOut">
              <a:rPr kumimoji="0" lang="en-US" sz="1200" b="0" i="0" u="none" strike="noStrike" kern="1200" cap="none" spc="0" normalizeH="0" baseline="0" noProof="0" smtClean="0">
                <a:ln>
                  <a:noFill/>
                </a:ln>
                <a:solidFill>
                  <a:srgbClr val="1F497D"/>
                </a:solidFill>
                <a:effectLst/>
                <a:uLnTx/>
                <a:uFillTx/>
                <a:latin typeface="Arial"/>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9/6/2025</a:t>
            </a:fld>
            <a:endParaRPr kumimoji="0" lang="en-US" sz="1200" b="0" i="0" u="none" strike="noStrike" kern="1200" cap="none" spc="0" normalizeH="0" baseline="0" noProof="0" dirty="0">
              <a:ln>
                <a:noFill/>
              </a:ln>
              <a:solidFill>
                <a:srgbClr val="1F497D"/>
              </a:solidFill>
              <a:effectLst/>
              <a:uLnTx/>
              <a:uFillTx/>
              <a:latin typeface="Arial"/>
              <a:ea typeface="+mn-ea"/>
              <a:cs typeface="+mn-cs"/>
            </a:endParaRPr>
          </a:p>
        </p:txBody>
      </p:sp>
      <p:sp>
        <p:nvSpPr>
          <p:cNvPr id="4" name="Footer Placeholder 3"/>
          <p:cNvSpPr>
            <a:spLocks noGrp="1"/>
          </p:cNvSpPr>
          <p:nvPr>
            <p:ph type="ftr" sz="quarter" idx="1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1F497D"/>
                </a:solidFill>
                <a:effectLst/>
                <a:uLnTx/>
                <a:uFillTx/>
                <a:latin typeface="Arial"/>
                <a:ea typeface="+mn-ea"/>
                <a:cs typeface="+mn-cs"/>
              </a:rPr>
              <a:t>Add a footer </a:t>
            </a:r>
          </a:p>
        </p:txBody>
      </p:sp>
      <p:sp>
        <p:nvSpPr>
          <p:cNvPr id="5" name="Slide Number Placeholder 4"/>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B38049E5-7B53-4E85-8972-7D6C4BCE5BB9}" type="slidenum">
              <a:rPr kumimoji="0" lang="en-US" sz="1200" b="0" i="0" u="none" strike="noStrike" kern="1200" cap="none" spc="0" normalizeH="0" baseline="0" noProof="0" smtClean="0">
                <a:ln>
                  <a:noFill/>
                </a:ln>
                <a:solidFill>
                  <a:srgbClr val="1F497D"/>
                </a:solidFill>
                <a:effectLst/>
                <a:uLnTx/>
                <a:uFillTx/>
                <a:latin typeface="Arial"/>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srgbClr val="1F497D"/>
              </a:solidFill>
              <a:effectLst/>
              <a:uLnTx/>
              <a:uFillTx/>
              <a:latin typeface="Arial"/>
              <a:ea typeface="+mn-ea"/>
              <a:cs typeface="+mn-cs"/>
            </a:endParaRPr>
          </a:p>
        </p:txBody>
      </p:sp>
    </p:spTree>
    <p:extLst>
      <p:ext uri="{BB962C8B-B14F-4D97-AF65-F5344CB8AC3E}">
        <p14:creationId xmlns:p14="http://schemas.microsoft.com/office/powerpoint/2010/main" val="310828700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normAutofit/>
          </a:bodyPr>
          <a:lstStyle>
            <a:lvl1pPr>
              <a:defRPr sz="4800"/>
            </a:lvl1pPr>
          </a:lstStyle>
          <a:p>
            <a:r>
              <a:rPr lang="en-US" noProof="0"/>
              <a:t>Click To Edit Master Title Style</a:t>
            </a:r>
          </a:p>
        </p:txBody>
      </p:sp>
      <p:sp>
        <p:nvSpPr>
          <p:cNvPr id="3" name="Date Placeholder 2"/>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3B77EF04-6424-4B70-94D1-FC932CBBDD9B}" type="datetimeFigureOut">
              <a:rPr kumimoji="0" lang="en-US" sz="1200" b="0" i="0" u="none" strike="noStrike" kern="1200" cap="none" spc="0" normalizeH="0" baseline="0" noProof="0" smtClean="0">
                <a:ln>
                  <a:noFill/>
                </a:ln>
                <a:solidFill>
                  <a:srgbClr val="1F497D"/>
                </a:solidFill>
                <a:effectLst/>
                <a:uLnTx/>
                <a:uFillTx/>
                <a:latin typeface="Arial"/>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9/6/2025</a:t>
            </a:fld>
            <a:endParaRPr kumimoji="0" lang="en-US" sz="1200" b="0" i="0" u="none" strike="noStrike" kern="1200" cap="none" spc="0" normalizeH="0" baseline="0" noProof="0" dirty="0">
              <a:ln>
                <a:noFill/>
              </a:ln>
              <a:solidFill>
                <a:srgbClr val="1F497D"/>
              </a:solidFill>
              <a:effectLst/>
              <a:uLnTx/>
              <a:uFillTx/>
              <a:latin typeface="Arial"/>
              <a:ea typeface="+mn-ea"/>
              <a:cs typeface="+mn-cs"/>
            </a:endParaRPr>
          </a:p>
        </p:txBody>
      </p:sp>
      <p:sp>
        <p:nvSpPr>
          <p:cNvPr id="4" name="Footer Placeholder 3"/>
          <p:cNvSpPr>
            <a:spLocks noGrp="1"/>
          </p:cNvSpPr>
          <p:nvPr>
            <p:ph type="ftr" sz="quarter" idx="1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1F497D"/>
                </a:solidFill>
                <a:effectLst/>
                <a:uLnTx/>
                <a:uFillTx/>
                <a:latin typeface="Arial"/>
                <a:ea typeface="+mn-ea"/>
                <a:cs typeface="+mn-cs"/>
              </a:rPr>
              <a:t>Add a footer </a:t>
            </a:r>
          </a:p>
        </p:txBody>
      </p:sp>
      <p:sp>
        <p:nvSpPr>
          <p:cNvPr id="5" name="Slide Number Placeholder 4"/>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B38049E5-7B53-4E85-8972-7D6C4BCE5BB9}" type="slidenum">
              <a:rPr kumimoji="0" lang="en-US" sz="1200" b="0" i="0" u="none" strike="noStrike" kern="1200" cap="none" spc="0" normalizeH="0" baseline="0" noProof="0" smtClean="0">
                <a:ln>
                  <a:noFill/>
                </a:ln>
                <a:solidFill>
                  <a:srgbClr val="1F497D"/>
                </a:solidFill>
                <a:effectLst/>
                <a:uLnTx/>
                <a:uFillTx/>
                <a:latin typeface="Arial"/>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srgbClr val="1F497D"/>
              </a:solidFill>
              <a:effectLst/>
              <a:uLnTx/>
              <a:uFillTx/>
              <a:latin typeface="Arial"/>
              <a:ea typeface="+mn-ea"/>
              <a:cs typeface="+mn-cs"/>
            </a:endParaRPr>
          </a:p>
        </p:txBody>
      </p:sp>
      <p:sp>
        <p:nvSpPr>
          <p:cNvPr id="7" name="Text Placeholder 6">
            <a:extLst>
              <a:ext uri="{FF2B5EF4-FFF2-40B4-BE49-F238E27FC236}">
                <a16:creationId xmlns:a16="http://schemas.microsoft.com/office/drawing/2014/main" id="{CAFD1631-6749-4027-9415-B72D163BBD58}"/>
              </a:ext>
            </a:extLst>
          </p:cNvPr>
          <p:cNvSpPr>
            <a:spLocks noGrp="1"/>
          </p:cNvSpPr>
          <p:nvPr>
            <p:ph type="body" sz="quarter" idx="13"/>
          </p:nvPr>
        </p:nvSpPr>
        <p:spPr>
          <a:xfrm>
            <a:off x="1560471" y="2297695"/>
            <a:ext cx="9071059" cy="2767600"/>
          </a:xfrm>
        </p:spPr>
        <p:txBody>
          <a:bodyPr anchor="ctr"/>
          <a:lstStyle>
            <a:lvl1pPr marL="0" indent="0" algn="ctr">
              <a:buNone/>
              <a:defRPr sz="6000"/>
            </a:lvl1pPr>
          </a:lstStyle>
          <a:p>
            <a:pPr lvl="0"/>
            <a:r>
              <a:rPr lang="en-US" noProof="0" smtClean="0"/>
              <a:t>Edit Master text styles</a:t>
            </a:r>
          </a:p>
        </p:txBody>
      </p:sp>
    </p:spTree>
    <p:extLst>
      <p:ext uri="{BB962C8B-B14F-4D97-AF65-F5344CB8AC3E}">
        <p14:creationId xmlns:p14="http://schemas.microsoft.com/office/powerpoint/2010/main" val="208855933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3B77EF04-6424-4B70-94D1-FC932CBBDD9B}" type="datetimeFigureOut">
              <a:rPr kumimoji="0" lang="en-US" sz="1200" b="0" i="0" u="none" strike="noStrike" kern="1200" cap="none" spc="0" normalizeH="0" baseline="0" noProof="0" smtClean="0">
                <a:ln>
                  <a:noFill/>
                </a:ln>
                <a:solidFill>
                  <a:srgbClr val="1F497D"/>
                </a:solidFill>
                <a:effectLst/>
                <a:uLnTx/>
                <a:uFillTx/>
                <a:latin typeface="Arial"/>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9/6/2025</a:t>
            </a:fld>
            <a:endParaRPr kumimoji="0" lang="en-US" sz="1200" b="0" i="0" u="none" strike="noStrike" kern="1200" cap="none" spc="0" normalizeH="0" baseline="0" noProof="0" dirty="0">
              <a:ln>
                <a:noFill/>
              </a:ln>
              <a:solidFill>
                <a:srgbClr val="1F497D"/>
              </a:solidFill>
              <a:effectLst/>
              <a:uLnTx/>
              <a:uFillTx/>
              <a:latin typeface="Arial"/>
              <a:ea typeface="+mn-ea"/>
              <a:cs typeface="+mn-cs"/>
            </a:endParaRPr>
          </a:p>
        </p:txBody>
      </p:sp>
      <p:sp>
        <p:nvSpPr>
          <p:cNvPr id="3" name="Footer Placeholder 2"/>
          <p:cNvSpPr>
            <a:spLocks noGrp="1"/>
          </p:cNvSpPr>
          <p:nvPr>
            <p:ph type="ftr" sz="quarter" idx="1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1F497D"/>
                </a:solidFill>
                <a:effectLst/>
                <a:uLnTx/>
                <a:uFillTx/>
                <a:latin typeface="Arial"/>
                <a:ea typeface="+mn-ea"/>
                <a:cs typeface="+mn-cs"/>
              </a:rPr>
              <a:t>Add a footer </a:t>
            </a:r>
          </a:p>
        </p:txBody>
      </p:sp>
      <p:sp>
        <p:nvSpPr>
          <p:cNvPr id="4" name="Slide Number Placeholder 3"/>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B38049E5-7B53-4E85-8972-7D6C4BCE5BB9}" type="slidenum">
              <a:rPr kumimoji="0" lang="en-US" sz="1200" b="0" i="0" u="none" strike="noStrike" kern="1200" cap="none" spc="0" normalizeH="0" baseline="0" noProof="0" smtClean="0">
                <a:ln>
                  <a:noFill/>
                </a:ln>
                <a:solidFill>
                  <a:srgbClr val="1F497D"/>
                </a:solidFill>
                <a:effectLst/>
                <a:uLnTx/>
                <a:uFillTx/>
                <a:latin typeface="Arial"/>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srgbClr val="1F497D"/>
              </a:solidFill>
              <a:effectLst/>
              <a:uLnTx/>
              <a:uFillTx/>
              <a:latin typeface="Arial"/>
              <a:ea typeface="+mn-ea"/>
              <a:cs typeface="+mn-cs"/>
            </a:endParaRPr>
          </a:p>
        </p:txBody>
      </p:sp>
    </p:spTree>
    <p:extLst>
      <p:ext uri="{BB962C8B-B14F-4D97-AF65-F5344CB8AC3E}">
        <p14:creationId xmlns:p14="http://schemas.microsoft.com/office/powerpoint/2010/main" val="1695650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7.xml"/><Relationship Id="rId13" Type="http://schemas.openxmlformats.org/officeDocument/2006/relationships/slideLayout" Target="../slideLayouts/slideLayout22.xml"/><Relationship Id="rId3" Type="http://schemas.openxmlformats.org/officeDocument/2006/relationships/slideLayout" Target="../slideLayouts/slideLayout12.xml"/><Relationship Id="rId7" Type="http://schemas.openxmlformats.org/officeDocument/2006/relationships/slideLayout" Target="../slideLayouts/slideLayout16.xml"/><Relationship Id="rId12" Type="http://schemas.openxmlformats.org/officeDocument/2006/relationships/slideLayout" Target="../slideLayouts/slideLayout21.xml"/><Relationship Id="rId2" Type="http://schemas.openxmlformats.org/officeDocument/2006/relationships/slideLayout" Target="../slideLayouts/slideLayout11.xml"/><Relationship Id="rId1" Type="http://schemas.openxmlformats.org/officeDocument/2006/relationships/slideLayout" Target="../slideLayouts/slideLayout10.xml"/><Relationship Id="rId6" Type="http://schemas.openxmlformats.org/officeDocument/2006/relationships/slideLayout" Target="../slideLayouts/slideLayout15.xml"/><Relationship Id="rId11" Type="http://schemas.openxmlformats.org/officeDocument/2006/relationships/slideLayout" Target="../slideLayouts/slideLayout20.xml"/><Relationship Id="rId5" Type="http://schemas.openxmlformats.org/officeDocument/2006/relationships/slideLayout" Target="../slideLayouts/slideLayout14.xml"/><Relationship Id="rId10" Type="http://schemas.openxmlformats.org/officeDocument/2006/relationships/slideLayout" Target="../slideLayouts/slideLayout19.xml"/><Relationship Id="rId4" Type="http://schemas.openxmlformats.org/officeDocument/2006/relationships/slideLayout" Target="../slideLayouts/slideLayout13.xml"/><Relationship Id="rId9" Type="http://schemas.openxmlformats.org/officeDocument/2006/relationships/slideLayout" Target="../slideLayouts/slideLayout18.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645B175-C851-453B-B2A0-9A5CFCADC07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a:extLst>
              <a:ext uri="{FF2B5EF4-FFF2-40B4-BE49-F238E27FC236}">
                <a16:creationId xmlns:a16="http://schemas.microsoft.com/office/drawing/2014/main" id="{2E65F4A2-0E4F-4E49-A0BF-BEEC7220330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a:extLst>
              <a:ext uri="{FF2B5EF4-FFF2-40B4-BE49-F238E27FC236}">
                <a16:creationId xmlns:a16="http://schemas.microsoft.com/office/drawing/2014/main" id="{9328AA27-3F13-4BFD-B949-21CF3191088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133F5E9-5DAC-4C4A-9DF5-C2B87276BCC8}" type="datetimeFigureOut">
              <a:rPr lang="en-US" smtClean="0"/>
              <a:t>9/6/2025</a:t>
            </a:fld>
            <a:endParaRPr lang="en-US" dirty="0"/>
          </a:p>
        </p:txBody>
      </p:sp>
      <p:sp>
        <p:nvSpPr>
          <p:cNvPr id="5" name="Footer Placeholder 4">
            <a:extLst>
              <a:ext uri="{FF2B5EF4-FFF2-40B4-BE49-F238E27FC236}">
                <a16:creationId xmlns:a16="http://schemas.microsoft.com/office/drawing/2014/main" id="{EEEE99A2-0FED-42D4-9FBD-08CC1C3F81B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DF2468D4-5440-4CE2-BAB3-61D83F628C5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CEC5C30-0B3A-4B13-ADDD-7C63C8AA921B}" type="slidenum">
              <a:rPr lang="en-US" smtClean="0"/>
              <a:t>‹#›</a:t>
            </a:fld>
            <a:endParaRPr lang="en-US" dirty="0"/>
          </a:p>
        </p:txBody>
      </p:sp>
    </p:spTree>
    <p:extLst>
      <p:ext uri="{BB962C8B-B14F-4D97-AF65-F5344CB8AC3E}">
        <p14:creationId xmlns:p14="http://schemas.microsoft.com/office/powerpoint/2010/main" val="412203945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bwMode="blackGray">
      <p:bgPr>
        <a:solidFill>
          <a:schemeClr val="bg2"/>
        </a:solidFill>
        <a:effectLst/>
      </p:bgPr>
    </p:bg>
    <p:spTree>
      <p:nvGrpSpPr>
        <p:cNvPr id="1" name=""/>
        <p:cNvGrpSpPr/>
        <p:nvPr/>
      </p:nvGrpSpPr>
      <p:grpSpPr>
        <a:xfrm>
          <a:off x="0" y="0"/>
          <a:ext cx="0" cy="0"/>
          <a:chOff x="0" y="0"/>
          <a:chExt cx="0" cy="0"/>
        </a:xfrm>
      </p:grpSpPr>
      <p:sp>
        <p:nvSpPr>
          <p:cNvPr id="8" name="Rectangle 7" title="Side bar">
            <a:extLst>
              <a:ext uri="{FF2B5EF4-FFF2-40B4-BE49-F238E27FC236}">
                <a16:creationId xmlns:a16="http://schemas.microsoft.com/office/drawing/2014/main" id="{FFA7AFEF-D97A-4A94-A884-7F95E91332B7}"/>
              </a:ext>
            </a:extLst>
          </p:cNvPr>
          <p:cNvSpPr/>
          <p:nvPr userDrawn="1"/>
        </p:nvSpPr>
        <p:spPr>
          <a:xfrm>
            <a:off x="622095" y="0"/>
            <a:ext cx="144000" cy="6876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371600" y="685800"/>
            <a:ext cx="9601200" cy="1485900"/>
          </a:xfrm>
          <a:prstGeom prst="rect">
            <a:avLst/>
          </a:prstGeom>
        </p:spPr>
        <p:txBody>
          <a:bodyPr vert="horz" lIns="91440" tIns="45720" rIns="91440" bIns="45720" rtlCol="0" anchor="t">
            <a:normAutofit/>
          </a:bodyPr>
          <a:lstStyle/>
          <a:p>
            <a:r>
              <a:rPr lang="en-US" noProof="0" smtClean="0"/>
              <a:t>Click to edit Master title style</a:t>
            </a:r>
            <a:endParaRPr lang="en-US" noProof="0"/>
          </a:p>
        </p:txBody>
      </p:sp>
      <p:sp>
        <p:nvSpPr>
          <p:cNvPr id="3" name="Text Placeholder 2"/>
          <p:cNvSpPr>
            <a:spLocks noGrp="1"/>
          </p:cNvSpPr>
          <p:nvPr>
            <p:ph type="body" idx="1"/>
          </p:nvPr>
        </p:nvSpPr>
        <p:spPr>
          <a:xfrm>
            <a:off x="1371600" y="2286000"/>
            <a:ext cx="9601200" cy="3581400"/>
          </a:xfrm>
          <a:prstGeom prst="rect">
            <a:avLst/>
          </a:prstGeom>
        </p:spPr>
        <p:txBody>
          <a:bodyPr vert="horz" lIns="91440" tIns="45720" rIns="91440" bIns="45720" rtlCol="0">
            <a:noAutofit/>
          </a:bodyPr>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4" name="Date Placeholder 3"/>
          <p:cNvSpPr>
            <a:spLocks noGrp="1"/>
          </p:cNvSpPr>
          <p:nvPr>
            <p:ph type="dt" sz="half" idx="2"/>
          </p:nvPr>
        </p:nvSpPr>
        <p:spPr>
          <a:xfrm>
            <a:off x="1390650" y="6453386"/>
            <a:ext cx="1204572" cy="404614"/>
          </a:xfrm>
          <a:prstGeom prst="rect">
            <a:avLst/>
          </a:prstGeom>
        </p:spPr>
        <p:txBody>
          <a:bodyPr vert="horz" lIns="91440" tIns="45720" rIns="91440" bIns="45720" rtlCol="0" anchor="ctr"/>
          <a:lstStyle>
            <a:lvl1pPr algn="l">
              <a:defRPr sz="1200" baseline="0">
                <a:solidFill>
                  <a:schemeClr val="tx2"/>
                </a:solidFill>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fld id="{3B77EF04-6424-4B70-94D1-FC932CBBDD9B}" type="datetimeFigureOut">
              <a:rPr kumimoji="0" lang="en-US" sz="1200" b="0" i="0" u="none" strike="noStrike" kern="1200" cap="none" spc="0" normalizeH="0" baseline="0" noProof="0" smtClean="0">
                <a:ln>
                  <a:noFill/>
                </a:ln>
                <a:solidFill>
                  <a:srgbClr val="1F497D"/>
                </a:solidFill>
                <a:effectLst/>
                <a:uLnTx/>
                <a:uFillTx/>
                <a:latin typeface="Arial"/>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9/6/2025</a:t>
            </a:fld>
            <a:endParaRPr kumimoji="0" lang="en-US" sz="1200" b="0" i="0" u="none" strike="noStrike" kern="1200" cap="none" spc="0" normalizeH="0" baseline="0" noProof="0" dirty="0">
              <a:ln>
                <a:noFill/>
              </a:ln>
              <a:solidFill>
                <a:srgbClr val="1F497D"/>
              </a:solidFill>
              <a:effectLst/>
              <a:uLnTx/>
              <a:uFillTx/>
              <a:latin typeface="Arial"/>
              <a:ea typeface="+mn-ea"/>
              <a:cs typeface="+mn-cs"/>
            </a:endParaRPr>
          </a:p>
        </p:txBody>
      </p:sp>
      <p:sp>
        <p:nvSpPr>
          <p:cNvPr id="5" name="Footer Placeholder 4"/>
          <p:cNvSpPr>
            <a:spLocks noGrp="1"/>
          </p:cNvSpPr>
          <p:nvPr>
            <p:ph type="ftr" sz="quarter" idx="3"/>
          </p:nvPr>
        </p:nvSpPr>
        <p:spPr>
          <a:xfrm>
            <a:off x="2893564" y="6453386"/>
            <a:ext cx="6280830" cy="404614"/>
          </a:xfrm>
          <a:prstGeom prst="rect">
            <a:avLst/>
          </a:prstGeom>
        </p:spPr>
        <p:txBody>
          <a:bodyPr vert="horz" lIns="91440" tIns="45720" rIns="91440" bIns="45720" rtlCol="0" anchor="ctr"/>
          <a:lstStyle>
            <a:lvl1pPr algn="l">
              <a:defRPr sz="1200" baseline="0">
                <a:solidFill>
                  <a:schemeClr val="tx2"/>
                </a:solidFill>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1F497D"/>
                </a:solidFill>
                <a:effectLst/>
                <a:uLnTx/>
                <a:uFillTx/>
                <a:latin typeface="Arial"/>
                <a:ea typeface="+mn-ea"/>
                <a:cs typeface="+mn-cs"/>
              </a:rPr>
              <a:t>Add a footer </a:t>
            </a:r>
          </a:p>
        </p:txBody>
      </p:sp>
      <p:sp>
        <p:nvSpPr>
          <p:cNvPr id="6" name="Slide Number Placeholder 5"/>
          <p:cNvSpPr>
            <a:spLocks noGrp="1"/>
          </p:cNvSpPr>
          <p:nvPr>
            <p:ph type="sldNum" sz="quarter" idx="4"/>
          </p:nvPr>
        </p:nvSpPr>
        <p:spPr>
          <a:xfrm>
            <a:off x="9472736" y="6453386"/>
            <a:ext cx="1596292" cy="404614"/>
          </a:xfrm>
          <a:prstGeom prst="rect">
            <a:avLst/>
          </a:prstGeom>
        </p:spPr>
        <p:txBody>
          <a:bodyPr vert="horz" lIns="91440" tIns="45720" rIns="91440" bIns="45720" rtlCol="0" anchor="ctr"/>
          <a:lstStyle>
            <a:lvl1pPr algn="r">
              <a:defRPr sz="1200" baseline="0">
                <a:solidFill>
                  <a:schemeClr val="tx2"/>
                </a:solidFill>
              </a:defRPr>
            </a:lvl1pPr>
          </a:lstStyle>
          <a:p>
            <a:pPr marL="0" marR="0" lvl="0" indent="0" algn="r" defTabSz="457200" rtl="0" eaLnBrk="1" fontAlgn="auto" latinLnBrk="0" hangingPunct="1">
              <a:lnSpc>
                <a:spcPct val="100000"/>
              </a:lnSpc>
              <a:spcBef>
                <a:spcPts val="0"/>
              </a:spcBef>
              <a:spcAft>
                <a:spcPts val="0"/>
              </a:spcAft>
              <a:buClrTx/>
              <a:buSzTx/>
              <a:buFontTx/>
              <a:buNone/>
              <a:tabLst/>
              <a:defRPr/>
            </a:pPr>
            <a:fld id="{B38049E5-7B53-4E85-8972-7D6C4BCE5BB9}" type="slidenum">
              <a:rPr kumimoji="0" lang="en-US" sz="1200" b="0" i="0" u="none" strike="noStrike" kern="1200" cap="none" spc="0" normalizeH="0" baseline="0" noProof="0" smtClean="0">
                <a:ln>
                  <a:noFill/>
                </a:ln>
                <a:solidFill>
                  <a:srgbClr val="1F497D"/>
                </a:solidFill>
                <a:effectLst/>
                <a:uLnTx/>
                <a:uFillTx/>
                <a:latin typeface="Arial"/>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srgbClr val="1F497D"/>
              </a:solidFill>
              <a:effectLst/>
              <a:uLnTx/>
              <a:uFillTx/>
              <a:latin typeface="Arial"/>
              <a:ea typeface="+mn-ea"/>
              <a:cs typeface="+mn-cs"/>
            </a:endParaRPr>
          </a:p>
        </p:txBody>
      </p:sp>
      <p:sp>
        <p:nvSpPr>
          <p:cNvPr id="9" name="Rectangle 8" title="Side bar"/>
          <p:cNvSpPr/>
          <p:nvPr/>
        </p:nvSpPr>
        <p:spPr>
          <a:xfrm>
            <a:off x="478095" y="376"/>
            <a:ext cx="1440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425347954"/>
      </p:ext>
    </p:extLst>
  </p:cSld>
  <p:clrMap bg1="lt1" tx1="dk1" bg2="lt2" tx2="dk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Lst>
  <p:txStyles>
    <p:titleStyle>
      <a:lvl1pPr algn="l" defTabSz="914400" rtl="0" eaLnBrk="1" latinLnBrk="0" hangingPunct="1">
        <a:lnSpc>
          <a:spcPct val="89000"/>
        </a:lnSpc>
        <a:spcBef>
          <a:spcPct val="0"/>
        </a:spcBef>
        <a:buNone/>
        <a:defRPr sz="4400" kern="1200" baseline="0">
          <a:solidFill>
            <a:schemeClr val="tx2"/>
          </a:solidFill>
          <a:latin typeface="+mj-lt"/>
          <a:ea typeface="+mj-ea"/>
          <a:cs typeface="+mj-cs"/>
        </a:defRPr>
      </a:lvl1pPr>
    </p:titleStyle>
    <p:bodyStyle>
      <a:lvl1pPr marL="342900" indent="-342900" algn="l" defTabSz="914400" rtl="0" eaLnBrk="1" latinLnBrk="0" hangingPunct="1">
        <a:lnSpc>
          <a:spcPct val="94000"/>
        </a:lnSpc>
        <a:spcBef>
          <a:spcPts val="1000"/>
        </a:spcBef>
        <a:spcAft>
          <a:spcPts val="200"/>
        </a:spcAft>
        <a:buFont typeface="Arial" panose="020B0604020202020204" pitchFamily="34" charset="0"/>
        <a:buChar char="•"/>
        <a:defRPr sz="2400" kern="1200" baseline="0">
          <a:solidFill>
            <a:schemeClr val="tx2"/>
          </a:solidFill>
          <a:latin typeface="+mn-lt"/>
          <a:ea typeface="+mn-ea"/>
          <a:cs typeface="+mn-cs"/>
        </a:defRPr>
      </a:lvl1pPr>
      <a:lvl2pPr marL="873252" indent="-342900" algn="l" defTabSz="914400" rtl="0" eaLnBrk="1" latinLnBrk="0" hangingPunct="1">
        <a:lnSpc>
          <a:spcPct val="94000"/>
        </a:lnSpc>
        <a:spcBef>
          <a:spcPts val="500"/>
        </a:spcBef>
        <a:spcAft>
          <a:spcPts val="200"/>
        </a:spcAft>
        <a:buFont typeface="Arial" panose="020B0604020202020204" pitchFamily="34" charset="0"/>
        <a:buChar char="•"/>
        <a:defRPr sz="2400" i="1" kern="1200" baseline="0">
          <a:solidFill>
            <a:schemeClr val="tx2"/>
          </a:solidFill>
          <a:latin typeface="+mn-lt"/>
          <a:ea typeface="+mn-ea"/>
          <a:cs typeface="+mn-cs"/>
        </a:defRPr>
      </a:lvl2pPr>
      <a:lvl3pPr marL="1330452" indent="-342900" algn="l" defTabSz="914400" rtl="0" eaLnBrk="1" latinLnBrk="0" hangingPunct="1">
        <a:lnSpc>
          <a:spcPct val="94000"/>
        </a:lnSpc>
        <a:spcBef>
          <a:spcPts val="500"/>
        </a:spcBef>
        <a:spcAft>
          <a:spcPts val="200"/>
        </a:spcAft>
        <a:buFont typeface="Arial" panose="020B0604020202020204" pitchFamily="34" charset="0"/>
        <a:buChar char="•"/>
        <a:defRPr sz="2000" kern="1200" baseline="0">
          <a:solidFill>
            <a:schemeClr val="tx2"/>
          </a:solidFill>
          <a:latin typeface="+mn-lt"/>
          <a:ea typeface="+mn-ea"/>
          <a:cs typeface="+mn-cs"/>
        </a:defRPr>
      </a:lvl3pPr>
      <a:lvl4pPr marL="1787652" indent="-342900" algn="l" defTabSz="914400" rtl="0" eaLnBrk="1" latinLnBrk="0" hangingPunct="1">
        <a:lnSpc>
          <a:spcPct val="94000"/>
        </a:lnSpc>
        <a:spcBef>
          <a:spcPts val="500"/>
        </a:spcBef>
        <a:spcAft>
          <a:spcPts val="200"/>
        </a:spcAft>
        <a:buFont typeface="Arial" panose="020B0604020202020204" pitchFamily="34" charset="0"/>
        <a:buChar char="•"/>
        <a:defRPr sz="2000" i="1" kern="1200" baseline="0">
          <a:solidFill>
            <a:schemeClr val="tx2"/>
          </a:solidFill>
          <a:latin typeface="+mn-lt"/>
          <a:ea typeface="+mn-ea"/>
          <a:cs typeface="+mn-cs"/>
        </a:defRPr>
      </a:lvl4pPr>
      <a:lvl5pPr marL="2187702" indent="-285750" algn="l" defTabSz="914400" rtl="0" eaLnBrk="1" latinLnBrk="0" hangingPunct="1">
        <a:lnSpc>
          <a:spcPct val="94000"/>
        </a:lnSpc>
        <a:spcBef>
          <a:spcPts val="500"/>
        </a:spcBef>
        <a:spcAft>
          <a:spcPts val="200"/>
        </a:spcAft>
        <a:buFont typeface="Arial" panose="020B0604020202020204" pitchFamily="34" charset="0"/>
        <a:buChar char="•"/>
        <a:defRPr sz="18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3" orient="horz" pos="1368">
          <p15:clr>
            <a:srgbClr val="F26B43"/>
          </p15:clr>
        </p15:guide>
        <p15:guide id="4" orient="horz" pos="1440">
          <p15:clr>
            <a:srgbClr val="F26B43"/>
          </p15:clr>
        </p15:guide>
        <p15:guide id="6" orient="horz" pos="3696">
          <p15:clr>
            <a:srgbClr val="F26B43"/>
          </p15:clr>
        </p15:guide>
        <p15:guide id="7" orient="horz" pos="432">
          <p15:clr>
            <a:srgbClr val="F26B43"/>
          </p15:clr>
        </p15:guide>
        <p15:guide id="8" orient="horz" pos="1512">
          <p15:clr>
            <a:srgbClr val="F26B43"/>
          </p15:clr>
        </p15:guide>
        <p15:guide id="9" pos="6912">
          <p15:clr>
            <a:srgbClr val="F26B43"/>
          </p15:clr>
        </p15:guide>
        <p15:guide id="10" pos="936">
          <p15:clr>
            <a:srgbClr val="F26B43"/>
          </p15:clr>
        </p15:guide>
        <p15:guide id="11" pos="864">
          <p15:clr>
            <a:srgbClr val="F26B43"/>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image" Target="../media/image4.png"/><Relationship Id="rId13" Type="http://schemas.openxmlformats.org/officeDocument/2006/relationships/image" Target="../media/image12.svg"/><Relationship Id="rId3" Type="http://schemas.openxmlformats.org/officeDocument/2006/relationships/image" Target="../media/image2.svg"/><Relationship Id="rId7" Type="http://schemas.openxmlformats.org/officeDocument/2006/relationships/image" Target="../media/image6.svg"/><Relationship Id="rId12"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3.png"/><Relationship Id="rId11" Type="http://schemas.openxmlformats.org/officeDocument/2006/relationships/image" Target="../media/image10.svg"/><Relationship Id="rId5" Type="http://schemas.openxmlformats.org/officeDocument/2006/relationships/image" Target="../media/image4.svg"/><Relationship Id="rId15" Type="http://schemas.openxmlformats.org/officeDocument/2006/relationships/image" Target="../media/image14.svg"/><Relationship Id="rId10" Type="http://schemas.openxmlformats.org/officeDocument/2006/relationships/image" Target="../media/image5.png"/><Relationship Id="rId4" Type="http://schemas.openxmlformats.org/officeDocument/2006/relationships/image" Target="../media/image2.png"/><Relationship Id="rId9" Type="http://schemas.openxmlformats.org/officeDocument/2006/relationships/image" Target="../media/image8.svg"/><Relationship Id="rId14" Type="http://schemas.openxmlformats.org/officeDocument/2006/relationships/image" Target="../media/image7.png"/></Relationships>
</file>

<file path=ppt/slides/_rels/slide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8.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1.xml.rels><?xml version="1.0" encoding="UTF-8" standalone="yes"?>
<Relationships xmlns="http://schemas.openxmlformats.org/package/2006/relationships"><Relationship Id="rId13" Type="http://schemas.openxmlformats.org/officeDocument/2006/relationships/image" Target="../media/image12.svg"/><Relationship Id="rId3" Type="http://schemas.openxmlformats.org/officeDocument/2006/relationships/image" Target="../media/image2.svg"/><Relationship Id="rId12"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4.png"/><Relationship Id="rId11" Type="http://schemas.openxmlformats.org/officeDocument/2006/relationships/image" Target="../media/image10.svg"/><Relationship Id="rId5" Type="http://schemas.openxmlformats.org/officeDocument/2006/relationships/image" Target="../media/image4.svg"/><Relationship Id="rId15" Type="http://schemas.openxmlformats.org/officeDocument/2006/relationships/image" Target="../media/image14.svg"/><Relationship Id="rId10" Type="http://schemas.openxmlformats.org/officeDocument/2006/relationships/image" Target="../media/image5.png"/><Relationship Id="rId4" Type="http://schemas.openxmlformats.org/officeDocument/2006/relationships/image" Target="../media/image2.png"/><Relationship Id="rId9" Type="http://schemas.openxmlformats.org/officeDocument/2006/relationships/image" Target="../media/image8.svg"/><Relationship Id="rId14" Type="http://schemas.openxmlformats.org/officeDocument/2006/relationships/image" Target="../media/image7.png"/></Relationships>
</file>

<file path=ppt/slides/_rels/slide72.xml.rels><?xml version="1.0" encoding="UTF-8" standalone="yes"?>
<Relationships xmlns="http://schemas.openxmlformats.org/package/2006/relationships"><Relationship Id="rId13" Type="http://schemas.openxmlformats.org/officeDocument/2006/relationships/image" Target="../media/image12.svg"/><Relationship Id="rId3" Type="http://schemas.openxmlformats.org/officeDocument/2006/relationships/image" Target="../media/image2.svg"/><Relationship Id="rId12"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4.png"/><Relationship Id="rId11" Type="http://schemas.openxmlformats.org/officeDocument/2006/relationships/image" Target="../media/image10.svg"/><Relationship Id="rId5" Type="http://schemas.openxmlformats.org/officeDocument/2006/relationships/image" Target="../media/image4.svg"/><Relationship Id="rId15" Type="http://schemas.openxmlformats.org/officeDocument/2006/relationships/image" Target="../media/image14.svg"/><Relationship Id="rId10" Type="http://schemas.openxmlformats.org/officeDocument/2006/relationships/image" Target="../media/image5.png"/><Relationship Id="rId4" Type="http://schemas.openxmlformats.org/officeDocument/2006/relationships/image" Target="../media/image2.png"/><Relationship Id="rId9" Type="http://schemas.openxmlformats.org/officeDocument/2006/relationships/image" Target="../media/image8.svg"/><Relationship Id="rId14"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5">
            <a:lumMod val="5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B5F415-7490-4054-85B4-10F7AE6D3385}"/>
              </a:ext>
            </a:extLst>
          </p:cNvPr>
          <p:cNvSpPr>
            <a:spLocks noGrp="1"/>
          </p:cNvSpPr>
          <p:nvPr>
            <p:ph type="ctrTitle"/>
          </p:nvPr>
        </p:nvSpPr>
        <p:spPr>
          <a:xfrm>
            <a:off x="1557253" y="68033"/>
            <a:ext cx="9144000" cy="2126512"/>
          </a:xfrm>
        </p:spPr>
        <p:txBody>
          <a:bodyPr>
            <a:normAutofit fontScale="90000"/>
          </a:bodyPr>
          <a:lstStyle/>
          <a:p>
            <a:r>
              <a:rPr lang="en-US" sz="7200" dirty="0" smtClean="0">
                <a:solidFill>
                  <a:schemeClr val="bg1"/>
                </a:solidFill>
                <a:latin typeface="Rockwell" panose="02060603020205020403" pitchFamily="18" charset="0"/>
              </a:rPr>
              <a:t> </a:t>
            </a:r>
            <a:r>
              <a:rPr lang="en-US" sz="7200" dirty="0" err="1" smtClean="0">
                <a:solidFill>
                  <a:schemeClr val="bg1"/>
                </a:solidFill>
                <a:latin typeface="Rockwell" panose="02060603020205020403" pitchFamily="18" charset="0"/>
              </a:rPr>
              <a:t>Bảo</a:t>
            </a:r>
            <a:r>
              <a:rPr lang="en-US" sz="7200" dirty="0" smtClean="0">
                <a:solidFill>
                  <a:schemeClr val="bg1"/>
                </a:solidFill>
                <a:latin typeface="Rockwell" panose="02060603020205020403" pitchFamily="18" charset="0"/>
              </a:rPr>
              <a:t> </a:t>
            </a:r>
            <a:r>
              <a:rPr lang="en-US" sz="7200" dirty="0" err="1" smtClean="0">
                <a:solidFill>
                  <a:schemeClr val="bg1"/>
                </a:solidFill>
                <a:latin typeface="Rockwell" panose="02060603020205020403" pitchFamily="18" charset="0"/>
              </a:rPr>
              <a:t>mật</a:t>
            </a:r>
            <a:r>
              <a:rPr lang="en-US" sz="7200" dirty="0" smtClean="0">
                <a:solidFill>
                  <a:schemeClr val="bg1"/>
                </a:solidFill>
                <a:latin typeface="Rockwell" panose="02060603020205020403" pitchFamily="18" charset="0"/>
              </a:rPr>
              <a:t> </a:t>
            </a:r>
            <a:br>
              <a:rPr lang="en-US" sz="7200" dirty="0" smtClean="0">
                <a:solidFill>
                  <a:schemeClr val="bg1"/>
                </a:solidFill>
                <a:latin typeface="Rockwell" panose="02060603020205020403" pitchFamily="18" charset="0"/>
              </a:rPr>
            </a:br>
            <a:r>
              <a:rPr lang="en-US" sz="7200" dirty="0" err="1" smtClean="0">
                <a:solidFill>
                  <a:schemeClr val="bg1"/>
                </a:solidFill>
                <a:latin typeface="Rockwell" panose="02060603020205020403" pitchFamily="18" charset="0"/>
              </a:rPr>
              <a:t>Ứng</a:t>
            </a:r>
            <a:r>
              <a:rPr lang="en-US" sz="7200" dirty="0" smtClean="0">
                <a:solidFill>
                  <a:schemeClr val="bg1"/>
                </a:solidFill>
                <a:latin typeface="Rockwell" panose="02060603020205020403" pitchFamily="18" charset="0"/>
              </a:rPr>
              <a:t> </a:t>
            </a:r>
            <a:r>
              <a:rPr lang="en-US" sz="7200" dirty="0" err="1" smtClean="0">
                <a:solidFill>
                  <a:schemeClr val="bg1"/>
                </a:solidFill>
                <a:latin typeface="Rockwell" panose="02060603020205020403" pitchFamily="18" charset="0"/>
              </a:rPr>
              <a:t>dụng</a:t>
            </a:r>
            <a:r>
              <a:rPr lang="en-US" sz="7200" dirty="0" smtClean="0">
                <a:solidFill>
                  <a:schemeClr val="bg1"/>
                </a:solidFill>
                <a:latin typeface="Rockwell" panose="02060603020205020403" pitchFamily="18" charset="0"/>
              </a:rPr>
              <a:t> </a:t>
            </a:r>
            <a:r>
              <a:rPr lang="en-US" sz="7200" dirty="0" err="1" smtClean="0">
                <a:solidFill>
                  <a:schemeClr val="bg1"/>
                </a:solidFill>
                <a:latin typeface="Rockwell" panose="02060603020205020403" pitchFamily="18" charset="0"/>
              </a:rPr>
              <a:t>và</a:t>
            </a:r>
            <a:r>
              <a:rPr lang="en-US" sz="7200" dirty="0" smtClean="0">
                <a:solidFill>
                  <a:schemeClr val="bg1"/>
                </a:solidFill>
                <a:latin typeface="Rockwell" panose="02060603020205020403" pitchFamily="18" charset="0"/>
              </a:rPr>
              <a:t> </a:t>
            </a:r>
            <a:r>
              <a:rPr lang="en-US" sz="7200" dirty="0" err="1" smtClean="0">
                <a:solidFill>
                  <a:schemeClr val="bg1"/>
                </a:solidFill>
                <a:latin typeface="Rockwell" panose="02060603020205020403" pitchFamily="18" charset="0"/>
              </a:rPr>
              <a:t>Hệ</a:t>
            </a:r>
            <a:r>
              <a:rPr lang="en-US" sz="7200" dirty="0" smtClean="0">
                <a:solidFill>
                  <a:schemeClr val="bg1"/>
                </a:solidFill>
                <a:latin typeface="Rockwell" panose="02060603020205020403" pitchFamily="18" charset="0"/>
              </a:rPr>
              <a:t> </a:t>
            </a:r>
            <a:r>
              <a:rPr lang="en-US" sz="7200" dirty="0" err="1" smtClean="0">
                <a:solidFill>
                  <a:schemeClr val="bg1"/>
                </a:solidFill>
                <a:latin typeface="Rockwell" panose="02060603020205020403" pitchFamily="18" charset="0"/>
              </a:rPr>
              <a:t>thống</a:t>
            </a:r>
            <a:endParaRPr lang="en-US" sz="7200" dirty="0">
              <a:solidFill>
                <a:schemeClr val="bg1"/>
              </a:solidFill>
              <a:latin typeface="Rockwell" panose="02060603020205020403" pitchFamily="18" charset="0"/>
            </a:endParaRPr>
          </a:p>
        </p:txBody>
      </p:sp>
      <p:cxnSp>
        <p:nvCxnSpPr>
          <p:cNvPr id="5" name="Straight Connector 4">
            <a:extLst>
              <a:ext uri="{FF2B5EF4-FFF2-40B4-BE49-F238E27FC236}">
                <a16:creationId xmlns:a16="http://schemas.microsoft.com/office/drawing/2014/main" id="{AA65E432-C1E6-4C36-BF8E-2DA25E65DC32}"/>
              </a:ext>
              <a:ext uri="{C183D7F6-B498-43B3-948B-1728B52AA6E4}">
                <adec:decorative xmlns:adec="http://schemas.microsoft.com/office/drawing/2017/decorative" xmlns="" val="1"/>
              </a:ext>
            </a:extLst>
          </p:cNvPr>
          <p:cNvCxnSpPr/>
          <p:nvPr/>
        </p:nvCxnSpPr>
        <p:spPr>
          <a:xfrm>
            <a:off x="3579677" y="2200147"/>
            <a:ext cx="4914900"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3" name="Subtitle 2">
            <a:extLst>
              <a:ext uri="{FF2B5EF4-FFF2-40B4-BE49-F238E27FC236}">
                <a16:creationId xmlns:a16="http://schemas.microsoft.com/office/drawing/2014/main" id="{D05F6415-1E7C-453D-B6B7-DBF76BDA691B}"/>
              </a:ext>
            </a:extLst>
          </p:cNvPr>
          <p:cNvSpPr>
            <a:spLocks noGrp="1"/>
          </p:cNvSpPr>
          <p:nvPr>
            <p:ph type="subTitle" idx="1"/>
          </p:nvPr>
        </p:nvSpPr>
        <p:spPr>
          <a:xfrm>
            <a:off x="1557253" y="2313117"/>
            <a:ext cx="9144000" cy="1655762"/>
          </a:xfrm>
        </p:spPr>
        <p:txBody>
          <a:bodyPr>
            <a:normAutofit/>
          </a:bodyPr>
          <a:lstStyle/>
          <a:p>
            <a:r>
              <a:rPr lang="en-US" sz="2800" dirty="0" err="1" smtClean="0">
                <a:solidFill>
                  <a:schemeClr val="bg1"/>
                </a:solidFill>
                <a:latin typeface="Tahoma" panose="020B0604030504040204" pitchFamily="34" charset="0"/>
                <a:ea typeface="Tahoma" panose="020B0604030504040204" pitchFamily="34" charset="0"/>
                <a:cs typeface="Tahoma" panose="020B0604030504040204" pitchFamily="34" charset="0"/>
              </a:rPr>
              <a:t>Giảng</a:t>
            </a:r>
            <a:r>
              <a:rPr lang="en-US" sz="2800" dirty="0" smtClean="0">
                <a:solidFill>
                  <a:schemeClr val="bg1"/>
                </a:solidFill>
                <a:latin typeface="Tahoma" panose="020B0604030504040204" pitchFamily="34" charset="0"/>
                <a:ea typeface="Tahoma" panose="020B0604030504040204" pitchFamily="34" charset="0"/>
                <a:cs typeface="Tahoma" panose="020B0604030504040204" pitchFamily="34" charset="0"/>
              </a:rPr>
              <a:t> </a:t>
            </a:r>
            <a:r>
              <a:rPr lang="en-US" sz="2800" dirty="0" err="1" smtClean="0">
                <a:solidFill>
                  <a:schemeClr val="bg1"/>
                </a:solidFill>
                <a:latin typeface="Tahoma" panose="020B0604030504040204" pitchFamily="34" charset="0"/>
                <a:ea typeface="Tahoma" panose="020B0604030504040204" pitchFamily="34" charset="0"/>
                <a:cs typeface="Tahoma" panose="020B0604030504040204" pitchFamily="34" charset="0"/>
              </a:rPr>
              <a:t>viên</a:t>
            </a:r>
            <a:r>
              <a:rPr lang="en-US" sz="2800" dirty="0" smtClean="0">
                <a:solidFill>
                  <a:schemeClr val="bg1"/>
                </a:solidFill>
                <a:latin typeface="Tahoma" panose="020B0604030504040204" pitchFamily="34" charset="0"/>
                <a:ea typeface="Tahoma" panose="020B0604030504040204" pitchFamily="34" charset="0"/>
                <a:cs typeface="Tahoma" panose="020B0604030504040204" pitchFamily="34" charset="0"/>
              </a:rPr>
              <a:t>: </a:t>
            </a:r>
            <a:r>
              <a:rPr lang="en-US" sz="2800" dirty="0" err="1" smtClean="0">
                <a:solidFill>
                  <a:schemeClr val="bg1"/>
                </a:solidFill>
                <a:latin typeface="Tahoma" panose="020B0604030504040204" pitchFamily="34" charset="0"/>
                <a:ea typeface="Tahoma" panose="020B0604030504040204" pitchFamily="34" charset="0"/>
                <a:cs typeface="Tahoma" panose="020B0604030504040204" pitchFamily="34" charset="0"/>
              </a:rPr>
              <a:t>Nguyễn</a:t>
            </a:r>
            <a:r>
              <a:rPr lang="en-US" sz="2800" dirty="0" smtClean="0">
                <a:solidFill>
                  <a:schemeClr val="bg1"/>
                </a:solidFill>
                <a:latin typeface="Tahoma" panose="020B0604030504040204" pitchFamily="34" charset="0"/>
                <a:ea typeface="Tahoma" panose="020B0604030504040204" pitchFamily="34" charset="0"/>
                <a:cs typeface="Tahoma" panose="020B0604030504040204" pitchFamily="34" charset="0"/>
              </a:rPr>
              <a:t> Kim </a:t>
            </a:r>
            <a:r>
              <a:rPr lang="en-US" sz="2800" dirty="0" err="1" smtClean="0">
                <a:solidFill>
                  <a:schemeClr val="bg1"/>
                </a:solidFill>
                <a:latin typeface="Tahoma" panose="020B0604030504040204" pitchFamily="34" charset="0"/>
                <a:ea typeface="Tahoma" panose="020B0604030504040204" pitchFamily="34" charset="0"/>
                <a:cs typeface="Tahoma" panose="020B0604030504040204" pitchFamily="34" charset="0"/>
              </a:rPr>
              <a:t>Tuấn</a:t>
            </a:r>
            <a:endParaRPr lang="en-US" sz="2800" dirty="0">
              <a:solidFill>
                <a:schemeClr val="bg1"/>
              </a:solidFill>
              <a:latin typeface="Tahoma" panose="020B0604030504040204" pitchFamily="34" charset="0"/>
              <a:ea typeface="Tahoma" panose="020B0604030504040204" pitchFamily="34" charset="0"/>
              <a:cs typeface="Tahoma" panose="020B0604030504040204" pitchFamily="34" charset="0"/>
            </a:endParaRPr>
          </a:p>
          <a:p>
            <a:r>
              <a:rPr lang="en-US" sz="2800" dirty="0" err="1" smtClean="0">
                <a:solidFill>
                  <a:schemeClr val="bg1"/>
                </a:solidFill>
                <a:latin typeface="Tahoma" panose="020B0604030504040204" pitchFamily="34" charset="0"/>
                <a:ea typeface="Tahoma" panose="020B0604030504040204" pitchFamily="34" charset="0"/>
                <a:cs typeface="Tahoma" panose="020B0604030504040204" pitchFamily="34" charset="0"/>
              </a:rPr>
              <a:t>Khoa</a:t>
            </a:r>
            <a:r>
              <a:rPr lang="en-US" sz="2800" dirty="0" smtClean="0">
                <a:solidFill>
                  <a:schemeClr val="bg1"/>
                </a:solidFill>
                <a:latin typeface="Tahoma" panose="020B0604030504040204" pitchFamily="34" charset="0"/>
                <a:ea typeface="Tahoma" panose="020B0604030504040204" pitchFamily="34" charset="0"/>
                <a:cs typeface="Tahoma" panose="020B0604030504040204" pitchFamily="34" charset="0"/>
              </a:rPr>
              <a:t> </a:t>
            </a:r>
            <a:r>
              <a:rPr lang="en-US" sz="2800" dirty="0" err="1" smtClean="0">
                <a:solidFill>
                  <a:schemeClr val="bg1"/>
                </a:solidFill>
                <a:latin typeface="Tahoma" panose="020B0604030504040204" pitchFamily="34" charset="0"/>
                <a:ea typeface="Tahoma" panose="020B0604030504040204" pitchFamily="34" charset="0"/>
                <a:cs typeface="Tahoma" panose="020B0604030504040204" pitchFamily="34" charset="0"/>
              </a:rPr>
              <a:t>Hệ</a:t>
            </a:r>
            <a:r>
              <a:rPr lang="en-US" sz="2800" dirty="0" smtClean="0">
                <a:solidFill>
                  <a:schemeClr val="bg1"/>
                </a:solidFill>
                <a:latin typeface="Tahoma" panose="020B0604030504040204" pitchFamily="34" charset="0"/>
                <a:ea typeface="Tahoma" panose="020B0604030504040204" pitchFamily="34" charset="0"/>
                <a:cs typeface="Tahoma" panose="020B0604030504040204" pitchFamily="34" charset="0"/>
              </a:rPr>
              <a:t> </a:t>
            </a:r>
            <a:r>
              <a:rPr lang="en-US" sz="2800" dirty="0" err="1" smtClean="0">
                <a:solidFill>
                  <a:schemeClr val="bg1"/>
                </a:solidFill>
                <a:latin typeface="Tahoma" panose="020B0604030504040204" pitchFamily="34" charset="0"/>
                <a:ea typeface="Tahoma" panose="020B0604030504040204" pitchFamily="34" charset="0"/>
                <a:cs typeface="Tahoma" panose="020B0604030504040204" pitchFamily="34" charset="0"/>
              </a:rPr>
              <a:t>thống</a:t>
            </a:r>
            <a:r>
              <a:rPr lang="en-US" sz="2800" dirty="0" smtClean="0">
                <a:solidFill>
                  <a:schemeClr val="bg1"/>
                </a:solidFill>
                <a:latin typeface="Tahoma" panose="020B0604030504040204" pitchFamily="34" charset="0"/>
                <a:ea typeface="Tahoma" panose="020B0604030504040204" pitchFamily="34" charset="0"/>
                <a:cs typeface="Tahoma" panose="020B0604030504040204" pitchFamily="34" charset="0"/>
              </a:rPr>
              <a:t> </a:t>
            </a:r>
            <a:r>
              <a:rPr lang="en-US" sz="2800" dirty="0" err="1" smtClean="0">
                <a:solidFill>
                  <a:schemeClr val="bg1"/>
                </a:solidFill>
                <a:latin typeface="Tahoma" panose="020B0604030504040204" pitchFamily="34" charset="0"/>
                <a:ea typeface="Tahoma" panose="020B0604030504040204" pitchFamily="34" charset="0"/>
                <a:cs typeface="Tahoma" panose="020B0604030504040204" pitchFamily="34" charset="0"/>
              </a:rPr>
              <a:t>thông</a:t>
            </a:r>
            <a:r>
              <a:rPr lang="en-US" sz="2800" dirty="0" smtClean="0">
                <a:solidFill>
                  <a:schemeClr val="bg1"/>
                </a:solidFill>
                <a:latin typeface="Tahoma" panose="020B0604030504040204" pitchFamily="34" charset="0"/>
                <a:ea typeface="Tahoma" panose="020B0604030504040204" pitchFamily="34" charset="0"/>
                <a:cs typeface="Tahoma" panose="020B0604030504040204" pitchFamily="34" charset="0"/>
              </a:rPr>
              <a:t> tin</a:t>
            </a:r>
          </a:p>
          <a:p>
            <a:r>
              <a:rPr lang="en-US" sz="2800" dirty="0" err="1" smtClean="0">
                <a:solidFill>
                  <a:schemeClr val="bg1"/>
                </a:solidFill>
                <a:latin typeface="Tahoma" panose="020B0604030504040204" pitchFamily="34" charset="0"/>
                <a:ea typeface="Tahoma" panose="020B0604030504040204" pitchFamily="34" charset="0"/>
                <a:cs typeface="Tahoma" panose="020B0604030504040204" pitchFamily="34" charset="0"/>
              </a:rPr>
              <a:t>Trường</a:t>
            </a:r>
            <a:r>
              <a:rPr lang="en-US" sz="2800" dirty="0" smtClean="0">
                <a:solidFill>
                  <a:schemeClr val="bg1"/>
                </a:solidFill>
                <a:latin typeface="Tahoma" panose="020B0604030504040204" pitchFamily="34" charset="0"/>
                <a:ea typeface="Tahoma" panose="020B0604030504040204" pitchFamily="34" charset="0"/>
                <a:cs typeface="Tahoma" panose="020B0604030504040204" pitchFamily="34" charset="0"/>
              </a:rPr>
              <a:t> </a:t>
            </a:r>
            <a:r>
              <a:rPr lang="en-US" sz="2800" dirty="0" err="1" smtClean="0">
                <a:solidFill>
                  <a:schemeClr val="bg1"/>
                </a:solidFill>
                <a:latin typeface="Tahoma" panose="020B0604030504040204" pitchFamily="34" charset="0"/>
                <a:ea typeface="Tahoma" panose="020B0604030504040204" pitchFamily="34" charset="0"/>
                <a:cs typeface="Tahoma" panose="020B0604030504040204" pitchFamily="34" charset="0"/>
              </a:rPr>
              <a:t>CNTT</a:t>
            </a:r>
            <a:r>
              <a:rPr lang="en-US" sz="2800" dirty="0" smtClean="0">
                <a:solidFill>
                  <a:schemeClr val="bg1"/>
                </a:solidFill>
                <a:latin typeface="Tahoma" panose="020B0604030504040204" pitchFamily="34" charset="0"/>
                <a:ea typeface="Tahoma" panose="020B0604030504040204" pitchFamily="34" charset="0"/>
                <a:cs typeface="Tahoma" panose="020B0604030504040204" pitchFamily="34" charset="0"/>
              </a:rPr>
              <a:t> </a:t>
            </a:r>
            <a:r>
              <a:rPr lang="en-US" sz="2800" dirty="0" err="1" smtClean="0">
                <a:solidFill>
                  <a:schemeClr val="bg1"/>
                </a:solidFill>
                <a:latin typeface="Tahoma" panose="020B0604030504040204" pitchFamily="34" charset="0"/>
                <a:ea typeface="Tahoma" panose="020B0604030504040204" pitchFamily="34" charset="0"/>
                <a:cs typeface="Tahoma" panose="020B0604030504040204" pitchFamily="34" charset="0"/>
              </a:rPr>
              <a:t>Phenikaa</a:t>
            </a:r>
            <a:r>
              <a:rPr lang="en-US" sz="2800" dirty="0" smtClean="0">
                <a:solidFill>
                  <a:schemeClr val="bg1"/>
                </a:solidFill>
                <a:latin typeface="Tahoma" panose="020B0604030504040204" pitchFamily="34" charset="0"/>
                <a:ea typeface="Tahoma" panose="020B0604030504040204" pitchFamily="34" charset="0"/>
                <a:cs typeface="Tahoma" panose="020B0604030504040204" pitchFamily="34" charset="0"/>
              </a:rPr>
              <a:t> – </a:t>
            </a:r>
            <a:r>
              <a:rPr lang="en-US" sz="2800" dirty="0" err="1" smtClean="0">
                <a:solidFill>
                  <a:schemeClr val="bg1"/>
                </a:solidFill>
                <a:latin typeface="Tahoma" panose="020B0604030504040204" pitchFamily="34" charset="0"/>
                <a:ea typeface="Tahoma" panose="020B0604030504040204" pitchFamily="34" charset="0"/>
                <a:cs typeface="Tahoma" panose="020B0604030504040204" pitchFamily="34" charset="0"/>
              </a:rPr>
              <a:t>Đại</a:t>
            </a:r>
            <a:r>
              <a:rPr lang="en-US" sz="2800" dirty="0" smtClean="0">
                <a:solidFill>
                  <a:schemeClr val="bg1"/>
                </a:solidFill>
                <a:latin typeface="Tahoma" panose="020B0604030504040204" pitchFamily="34" charset="0"/>
                <a:ea typeface="Tahoma" panose="020B0604030504040204" pitchFamily="34" charset="0"/>
                <a:cs typeface="Tahoma" panose="020B0604030504040204" pitchFamily="34" charset="0"/>
              </a:rPr>
              <a:t> </a:t>
            </a:r>
            <a:r>
              <a:rPr lang="en-US" sz="2800" dirty="0" err="1" smtClean="0">
                <a:solidFill>
                  <a:schemeClr val="bg1"/>
                </a:solidFill>
                <a:latin typeface="Tahoma" panose="020B0604030504040204" pitchFamily="34" charset="0"/>
                <a:ea typeface="Tahoma" panose="020B0604030504040204" pitchFamily="34" charset="0"/>
                <a:cs typeface="Tahoma" panose="020B0604030504040204" pitchFamily="34" charset="0"/>
              </a:rPr>
              <a:t>học</a:t>
            </a:r>
            <a:r>
              <a:rPr lang="en-US" sz="2800" dirty="0" smtClean="0">
                <a:solidFill>
                  <a:schemeClr val="bg1"/>
                </a:solidFill>
                <a:latin typeface="Tahoma" panose="020B0604030504040204" pitchFamily="34" charset="0"/>
                <a:ea typeface="Tahoma" panose="020B0604030504040204" pitchFamily="34" charset="0"/>
                <a:cs typeface="Tahoma" panose="020B0604030504040204" pitchFamily="34" charset="0"/>
              </a:rPr>
              <a:t> </a:t>
            </a:r>
            <a:r>
              <a:rPr lang="en-US" sz="2800" dirty="0" err="1" smtClean="0">
                <a:solidFill>
                  <a:schemeClr val="bg1"/>
                </a:solidFill>
                <a:latin typeface="Tahoma" panose="020B0604030504040204" pitchFamily="34" charset="0"/>
                <a:ea typeface="Tahoma" panose="020B0604030504040204" pitchFamily="34" charset="0"/>
                <a:cs typeface="Tahoma" panose="020B0604030504040204" pitchFamily="34" charset="0"/>
              </a:rPr>
              <a:t>Phenikaa</a:t>
            </a:r>
            <a:endParaRPr lang="en-US" sz="2800" dirty="0">
              <a:solidFill>
                <a:schemeClr val="bg1"/>
              </a:solidFill>
              <a:latin typeface="Tahoma" panose="020B0604030504040204" pitchFamily="34" charset="0"/>
              <a:ea typeface="Tahoma" panose="020B0604030504040204" pitchFamily="34" charset="0"/>
              <a:cs typeface="Tahoma" panose="020B0604030504040204" pitchFamily="34" charset="0"/>
            </a:endParaRPr>
          </a:p>
        </p:txBody>
      </p:sp>
      <p:pic>
        <p:nvPicPr>
          <p:cNvPr id="15" name="Graphic 14" descr="Clipboard">
            <a:extLst>
              <a:ext uri="{FF2B5EF4-FFF2-40B4-BE49-F238E27FC236}">
                <a16:creationId xmlns:a16="http://schemas.microsoft.com/office/drawing/2014/main" id="{2A123BD8-A09C-49C0-98E8-54B55610A92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xmlns="" r:embed="rId3"/>
              </a:ext>
            </a:extLst>
          </a:blip>
          <a:stretch>
            <a:fillRect/>
          </a:stretch>
        </p:blipFill>
        <p:spPr>
          <a:xfrm rot="631394">
            <a:off x="4662065" y="3581995"/>
            <a:ext cx="3194131" cy="3194131"/>
          </a:xfrm>
          <a:prstGeom prst="rect">
            <a:avLst/>
          </a:prstGeom>
        </p:spPr>
      </p:pic>
      <p:pic>
        <p:nvPicPr>
          <p:cNvPr id="11" name="Graphic 10" descr="Microscope">
            <a:extLst>
              <a:ext uri="{FF2B5EF4-FFF2-40B4-BE49-F238E27FC236}">
                <a16:creationId xmlns:a16="http://schemas.microsoft.com/office/drawing/2014/main" id="{3CB00449-E308-4DF3-9CFD-9A7D30B672DE}"/>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xmlns="" r:embed="rId5"/>
              </a:ext>
            </a:extLst>
          </a:blip>
          <a:stretch>
            <a:fillRect/>
          </a:stretch>
        </p:blipFill>
        <p:spPr>
          <a:xfrm rot="1338607" flipH="1">
            <a:off x="-70759" y="489541"/>
            <a:ext cx="2684499" cy="2684499"/>
          </a:xfrm>
          <a:prstGeom prst="rect">
            <a:avLst/>
          </a:prstGeom>
        </p:spPr>
      </p:pic>
      <p:pic>
        <p:nvPicPr>
          <p:cNvPr id="13" name="Graphic 12" descr="Test tubes">
            <a:extLst>
              <a:ext uri="{FF2B5EF4-FFF2-40B4-BE49-F238E27FC236}">
                <a16:creationId xmlns:a16="http://schemas.microsoft.com/office/drawing/2014/main" id="{6A56DF0C-1331-406E-AEE6-06E0E59FB9A8}"/>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xmlns="" r:embed="rId7"/>
              </a:ext>
            </a:extLst>
          </a:blip>
          <a:stretch>
            <a:fillRect/>
          </a:stretch>
        </p:blipFill>
        <p:spPr>
          <a:xfrm rot="21078969">
            <a:off x="2532347" y="3896449"/>
            <a:ext cx="2453456" cy="2453456"/>
          </a:xfrm>
          <a:prstGeom prst="rect">
            <a:avLst/>
          </a:prstGeom>
        </p:spPr>
      </p:pic>
      <p:pic>
        <p:nvPicPr>
          <p:cNvPr id="7" name="Graphic 6" descr="Beaker">
            <a:extLst>
              <a:ext uri="{FF2B5EF4-FFF2-40B4-BE49-F238E27FC236}">
                <a16:creationId xmlns:a16="http://schemas.microsoft.com/office/drawing/2014/main" id="{88D22565-F42F-439B-A6A4-CF161165E6B6}"/>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xmlns="" r:embed="rId9"/>
              </a:ext>
            </a:extLst>
          </a:blip>
          <a:stretch>
            <a:fillRect/>
          </a:stretch>
        </p:blipFill>
        <p:spPr>
          <a:xfrm rot="1213697">
            <a:off x="24665" y="2787872"/>
            <a:ext cx="3245427" cy="3245427"/>
          </a:xfrm>
          <a:prstGeom prst="rect">
            <a:avLst/>
          </a:prstGeom>
        </p:spPr>
      </p:pic>
      <p:pic>
        <p:nvPicPr>
          <p:cNvPr id="9" name="Graphic 8" descr="Flask">
            <a:extLst>
              <a:ext uri="{FF2B5EF4-FFF2-40B4-BE49-F238E27FC236}">
                <a16:creationId xmlns:a16="http://schemas.microsoft.com/office/drawing/2014/main" id="{B46E3E84-D1E6-4422-AA93-3EE98A821B98}"/>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xmlns="" r:embed="rId11"/>
              </a:ext>
            </a:extLst>
          </a:blip>
          <a:stretch>
            <a:fillRect/>
          </a:stretch>
        </p:blipFill>
        <p:spPr>
          <a:xfrm rot="20451125">
            <a:off x="8283867" y="2036637"/>
            <a:ext cx="3005286" cy="3005286"/>
          </a:xfrm>
          <a:prstGeom prst="rect">
            <a:avLst/>
          </a:prstGeom>
        </p:spPr>
      </p:pic>
      <p:pic>
        <p:nvPicPr>
          <p:cNvPr id="19" name="Graphic 18" descr="Ruler">
            <a:extLst>
              <a:ext uri="{FF2B5EF4-FFF2-40B4-BE49-F238E27FC236}">
                <a16:creationId xmlns:a16="http://schemas.microsoft.com/office/drawing/2014/main" id="{39130E3C-1E93-4315-AE76-13C55147DCF2}"/>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xmlns="" r:embed="rId13"/>
              </a:ext>
            </a:extLst>
          </a:blip>
          <a:stretch>
            <a:fillRect/>
          </a:stretch>
        </p:blipFill>
        <p:spPr>
          <a:xfrm rot="18889495">
            <a:off x="9914052" y="2300565"/>
            <a:ext cx="1574403" cy="1574403"/>
          </a:xfrm>
          <a:prstGeom prst="rect">
            <a:avLst/>
          </a:prstGeom>
        </p:spPr>
      </p:pic>
      <p:pic>
        <p:nvPicPr>
          <p:cNvPr id="21" name="Graphic 20" descr="Pencil">
            <a:extLst>
              <a:ext uri="{FF2B5EF4-FFF2-40B4-BE49-F238E27FC236}">
                <a16:creationId xmlns:a16="http://schemas.microsoft.com/office/drawing/2014/main" id="{FFEC1660-205F-490E-800A-0D57D250BAE4}"/>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xmlns="" r:embed="rId15"/>
              </a:ext>
            </a:extLst>
          </a:blip>
          <a:stretch>
            <a:fillRect/>
          </a:stretch>
        </p:blipFill>
        <p:spPr>
          <a:xfrm rot="20520790">
            <a:off x="10660011" y="2938737"/>
            <a:ext cx="1488402" cy="1488402"/>
          </a:xfrm>
          <a:prstGeom prst="rect">
            <a:avLst/>
          </a:prstGeom>
        </p:spPr>
      </p:pic>
      <p:grpSp>
        <p:nvGrpSpPr>
          <p:cNvPr id="12" name="Group 11"/>
          <p:cNvGrpSpPr/>
          <p:nvPr/>
        </p:nvGrpSpPr>
        <p:grpSpPr>
          <a:xfrm>
            <a:off x="7193007" y="5769269"/>
            <a:ext cx="4857966" cy="985602"/>
            <a:chOff x="360535" y="271204"/>
            <a:chExt cx="5047501" cy="985602"/>
          </a:xfrm>
        </p:grpSpPr>
        <p:sp>
          <p:nvSpPr>
            <p:cNvPr id="14" name="Rounded Rectangle 13"/>
            <p:cNvSpPr/>
            <p:nvPr/>
          </p:nvSpPr>
          <p:spPr>
            <a:xfrm>
              <a:off x="360535" y="425063"/>
              <a:ext cx="5047501" cy="721286"/>
            </a:xfrm>
            <a:prstGeom prst="roundRect">
              <a:avLst/>
            </a:prstGeom>
            <a:solidFill>
              <a:schemeClr val="accent5">
                <a:lumMod val="50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sp>
        <p:sp>
          <p:nvSpPr>
            <p:cNvPr id="16" name="Rounded Rectangle 4"/>
            <p:cNvSpPr txBox="1"/>
            <p:nvPr/>
          </p:nvSpPr>
          <p:spPr>
            <a:xfrm>
              <a:off x="413854" y="271204"/>
              <a:ext cx="4940863" cy="98560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90784" tIns="0" rIns="190784" bIns="0" numCol="1" spcCol="1270" anchor="ctr" anchorCtr="0">
              <a:noAutofit/>
            </a:bodyPr>
            <a:lstStyle/>
            <a:p>
              <a:pPr lvl="0" algn="r" defTabSz="1644650">
                <a:spcBef>
                  <a:spcPct val="0"/>
                </a:spcBef>
              </a:pPr>
              <a:r>
                <a:rPr lang="en-US" sz="2000" dirty="0" smtClean="0">
                  <a:latin typeface="Tahoma" panose="020B0604030504040204" pitchFamily="34" charset="0"/>
                  <a:ea typeface="Tahoma" panose="020B0604030504040204" pitchFamily="34" charset="0"/>
                  <a:cs typeface="Tahoma" panose="020B0604030504040204" pitchFamily="34" charset="0"/>
                </a:rPr>
                <a:t>0906.566.665 – 0932.401.907 (</a:t>
              </a:r>
              <a:r>
                <a:rPr lang="en-US" sz="2000" dirty="0" err="1" smtClean="0">
                  <a:latin typeface="Tahoma" panose="020B0604030504040204" pitchFamily="34" charset="0"/>
                  <a:ea typeface="Tahoma" panose="020B0604030504040204" pitchFamily="34" charset="0"/>
                  <a:cs typeface="Tahoma" panose="020B0604030504040204" pitchFamily="34" charset="0"/>
                </a:rPr>
                <a:t>Zalo</a:t>
              </a:r>
              <a:r>
                <a:rPr lang="en-US" sz="2000" dirty="0" smtClean="0">
                  <a:latin typeface="Tahoma" panose="020B0604030504040204" pitchFamily="34" charset="0"/>
                  <a:ea typeface="Tahoma" panose="020B0604030504040204" pitchFamily="34" charset="0"/>
                  <a:cs typeface="Tahoma" panose="020B0604030504040204" pitchFamily="34" charset="0"/>
                </a:rPr>
                <a:t>)</a:t>
              </a:r>
            </a:p>
            <a:p>
              <a:pPr lvl="0" algn="r" defTabSz="1644650">
                <a:spcBef>
                  <a:spcPct val="0"/>
                </a:spcBef>
              </a:pPr>
              <a:r>
                <a:rPr lang="en-US" sz="2000" kern="1200" dirty="0" err="1" smtClean="0">
                  <a:latin typeface="Tahoma" panose="020B0604030504040204" pitchFamily="34" charset="0"/>
                  <a:ea typeface="Tahoma" panose="020B0604030504040204" pitchFamily="34" charset="0"/>
                  <a:cs typeface="Tahoma" panose="020B0604030504040204" pitchFamily="34" charset="0"/>
                </a:rPr>
                <a:t>tuan.nguyenkim@phenikaa-uni.edu.vn</a:t>
              </a:r>
              <a:endParaRPr lang="en-US" sz="2000" kern="1200" dirty="0">
                <a:latin typeface="Tahoma" panose="020B0604030504040204" pitchFamily="34" charset="0"/>
                <a:ea typeface="Tahoma" panose="020B0604030504040204" pitchFamily="34" charset="0"/>
                <a:cs typeface="Tahoma" panose="020B0604030504040204" pitchFamily="34" charset="0"/>
              </a:endParaRPr>
            </a:p>
          </p:txBody>
        </p:sp>
      </p:grpSp>
    </p:spTree>
    <p:extLst>
      <p:ext uri="{BB962C8B-B14F-4D97-AF65-F5344CB8AC3E}">
        <p14:creationId xmlns:p14="http://schemas.microsoft.com/office/powerpoint/2010/main" val="290639705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742257-3980-4551-868A-26DC3CB821EE}"/>
              </a:ext>
            </a:extLst>
          </p:cNvPr>
          <p:cNvSpPr>
            <a:spLocks noGrp="1"/>
          </p:cNvSpPr>
          <p:nvPr>
            <p:ph type="title"/>
          </p:nvPr>
        </p:nvSpPr>
        <p:spPr>
          <a:xfrm>
            <a:off x="521284" y="64869"/>
            <a:ext cx="8048289" cy="1325563"/>
          </a:xfrm>
        </p:spPr>
        <p:txBody>
          <a:bodyPr>
            <a:normAutofit/>
          </a:bodyPr>
          <a:lstStyle/>
          <a:p>
            <a:pPr algn="ctr">
              <a:lnSpc>
                <a:spcPct val="100000"/>
              </a:lnSpc>
            </a:pPr>
            <a:r>
              <a:rPr lang="en-US" sz="3600" dirty="0" err="1" smtClean="0">
                <a:solidFill>
                  <a:srgbClr val="0000CC"/>
                </a:solidFill>
                <a:latin typeface="Rockwell" panose="02060603020205020403" pitchFamily="18" charset="0"/>
              </a:rPr>
              <a:t>BẢO</a:t>
            </a:r>
            <a:r>
              <a:rPr lang="en-US" sz="3600" dirty="0" smtClean="0">
                <a:solidFill>
                  <a:srgbClr val="0000CC"/>
                </a:solidFill>
                <a:latin typeface="Rockwell" panose="02060603020205020403" pitchFamily="18" charset="0"/>
              </a:rPr>
              <a:t> </a:t>
            </a:r>
            <a:r>
              <a:rPr lang="en-US" sz="3600" dirty="0" err="1" smtClean="0">
                <a:solidFill>
                  <a:srgbClr val="0000CC"/>
                </a:solidFill>
                <a:latin typeface="Rockwell" panose="02060603020205020403" pitchFamily="18" charset="0"/>
              </a:rPr>
              <a:t>MẬT</a:t>
            </a:r>
            <a:r>
              <a:rPr lang="en-US" sz="3600" dirty="0" smtClean="0">
                <a:solidFill>
                  <a:srgbClr val="0000CC"/>
                </a:solidFill>
                <a:latin typeface="Rockwell" panose="02060603020205020403" pitchFamily="18" charset="0"/>
              </a:rPr>
              <a:t> </a:t>
            </a:r>
            <a:r>
              <a:rPr lang="en-US" sz="3600" dirty="0" err="1" smtClean="0">
                <a:solidFill>
                  <a:srgbClr val="0000CC"/>
                </a:solidFill>
                <a:latin typeface="Rockwell" panose="02060603020205020403" pitchFamily="18" charset="0"/>
              </a:rPr>
              <a:t>ỨNG</a:t>
            </a:r>
            <a:r>
              <a:rPr lang="en-US" sz="3600" dirty="0" smtClean="0">
                <a:solidFill>
                  <a:srgbClr val="0000CC"/>
                </a:solidFill>
                <a:latin typeface="Rockwell" panose="02060603020205020403" pitchFamily="18" charset="0"/>
              </a:rPr>
              <a:t> </a:t>
            </a:r>
            <a:r>
              <a:rPr lang="en-US" sz="3600" dirty="0" err="1" smtClean="0">
                <a:solidFill>
                  <a:srgbClr val="0000CC"/>
                </a:solidFill>
                <a:latin typeface="Rockwell" panose="02060603020205020403" pitchFamily="18" charset="0"/>
              </a:rPr>
              <a:t>DỤNG</a:t>
            </a:r>
            <a:r>
              <a:rPr lang="en-US" sz="3600" dirty="0" smtClean="0">
                <a:solidFill>
                  <a:srgbClr val="0000CC"/>
                </a:solidFill>
                <a:latin typeface="Rockwell" panose="02060603020205020403" pitchFamily="18" charset="0"/>
              </a:rPr>
              <a:t> </a:t>
            </a:r>
            <a:r>
              <a:rPr lang="en-US" sz="3600" dirty="0" err="1" smtClean="0">
                <a:solidFill>
                  <a:srgbClr val="0000CC"/>
                </a:solidFill>
                <a:latin typeface="Rockwell" panose="02060603020205020403" pitchFamily="18" charset="0"/>
              </a:rPr>
              <a:t>VÀ</a:t>
            </a:r>
            <a:r>
              <a:rPr lang="en-US" sz="3600" dirty="0" smtClean="0">
                <a:solidFill>
                  <a:srgbClr val="0000CC"/>
                </a:solidFill>
                <a:latin typeface="Rockwell" panose="02060603020205020403" pitchFamily="18" charset="0"/>
              </a:rPr>
              <a:t> </a:t>
            </a:r>
            <a:r>
              <a:rPr lang="en-US" sz="3600" dirty="0" err="1" smtClean="0">
                <a:solidFill>
                  <a:srgbClr val="0000CC"/>
                </a:solidFill>
                <a:latin typeface="Rockwell" panose="02060603020205020403" pitchFamily="18" charset="0"/>
              </a:rPr>
              <a:t>HỆ</a:t>
            </a:r>
            <a:r>
              <a:rPr lang="en-US" sz="3600" dirty="0" smtClean="0">
                <a:solidFill>
                  <a:srgbClr val="0000CC"/>
                </a:solidFill>
                <a:latin typeface="Rockwell" panose="02060603020205020403" pitchFamily="18" charset="0"/>
              </a:rPr>
              <a:t> </a:t>
            </a:r>
            <a:r>
              <a:rPr lang="en-US" sz="3600" dirty="0" err="1" smtClean="0">
                <a:solidFill>
                  <a:srgbClr val="0000CC"/>
                </a:solidFill>
                <a:latin typeface="Rockwell" panose="02060603020205020403" pitchFamily="18" charset="0"/>
              </a:rPr>
              <a:t>THỐNG</a:t>
            </a:r>
            <a:r>
              <a:rPr lang="en-US" sz="3600" dirty="0" smtClean="0">
                <a:solidFill>
                  <a:srgbClr val="0000CC"/>
                </a:solidFill>
                <a:latin typeface="Rockwell" panose="02060603020205020403" pitchFamily="18" charset="0"/>
              </a:rPr>
              <a:t>  </a:t>
            </a:r>
            <a:br>
              <a:rPr lang="en-US" sz="3600" dirty="0" smtClean="0">
                <a:solidFill>
                  <a:srgbClr val="0000CC"/>
                </a:solidFill>
                <a:latin typeface="Rockwell" panose="02060603020205020403" pitchFamily="18" charset="0"/>
              </a:rPr>
            </a:br>
            <a:r>
              <a:rPr lang="en-US" sz="3600" dirty="0" err="1" smtClean="0">
                <a:solidFill>
                  <a:srgbClr val="0000CC"/>
                </a:solidFill>
                <a:latin typeface="Rockwell" panose="02060603020205020403" pitchFamily="18" charset="0"/>
              </a:rPr>
              <a:t>CSE702005</a:t>
            </a:r>
            <a:r>
              <a:rPr lang="en-US" sz="3600" dirty="0" smtClean="0">
                <a:solidFill>
                  <a:srgbClr val="0000CC"/>
                </a:solidFill>
                <a:latin typeface="Rockwell" panose="02060603020205020403" pitchFamily="18" charset="0"/>
              </a:rPr>
              <a:t>-1-1-25 (</a:t>
            </a:r>
            <a:r>
              <a:rPr lang="en-US" sz="3600" dirty="0" err="1" smtClean="0">
                <a:solidFill>
                  <a:srgbClr val="0000CC"/>
                </a:solidFill>
                <a:latin typeface="Rockwell" panose="02060603020205020403" pitchFamily="18" charset="0"/>
              </a:rPr>
              <a:t>N03</a:t>
            </a:r>
            <a:r>
              <a:rPr lang="en-US" sz="3600" dirty="0" smtClean="0">
                <a:solidFill>
                  <a:srgbClr val="0000CC"/>
                </a:solidFill>
                <a:latin typeface="Rockwell" panose="02060603020205020403" pitchFamily="18" charset="0"/>
              </a:rPr>
              <a:t>)</a:t>
            </a:r>
            <a:endParaRPr lang="en-US" sz="3600" dirty="0">
              <a:solidFill>
                <a:srgbClr val="0000CC"/>
              </a:solidFill>
              <a:latin typeface="Rockwell" panose="02060603020205020403" pitchFamily="18" charset="0"/>
            </a:endParaRPr>
          </a:p>
        </p:txBody>
      </p:sp>
      <p:grpSp>
        <p:nvGrpSpPr>
          <p:cNvPr id="9" name="Group 8">
            <a:extLst>
              <a:ext uri="{FF2B5EF4-FFF2-40B4-BE49-F238E27FC236}">
                <a16:creationId xmlns:a16="http://schemas.microsoft.com/office/drawing/2014/main" id="{798EA88B-C439-4F17-9585-820972CE0BA5}"/>
              </a:ext>
              <a:ext uri="{C183D7F6-B498-43B3-948B-1728B52AA6E4}">
                <adec:decorative xmlns:adec="http://schemas.microsoft.com/office/drawing/2017/decorative" xmlns="" val="1"/>
              </a:ext>
            </a:extLst>
          </p:cNvPr>
          <p:cNvGrpSpPr/>
          <p:nvPr/>
        </p:nvGrpSpPr>
        <p:grpSpPr>
          <a:xfrm>
            <a:off x="9009186" y="0"/>
            <a:ext cx="3668917" cy="6941127"/>
            <a:chOff x="9009186" y="0"/>
            <a:chExt cx="3668917" cy="6941127"/>
          </a:xfrm>
        </p:grpSpPr>
        <p:grpSp>
          <p:nvGrpSpPr>
            <p:cNvPr id="10" name="Group 9">
              <a:extLst>
                <a:ext uri="{FF2B5EF4-FFF2-40B4-BE49-F238E27FC236}">
                  <a16:creationId xmlns:a16="http://schemas.microsoft.com/office/drawing/2014/main" id="{D4EF09CF-3362-453A-9463-F6669A9D3E01}"/>
                </a:ext>
              </a:extLst>
            </p:cNvPr>
            <p:cNvGrpSpPr/>
            <p:nvPr/>
          </p:nvGrpSpPr>
          <p:grpSpPr>
            <a:xfrm>
              <a:off x="9055676" y="0"/>
              <a:ext cx="3136324" cy="6858000"/>
              <a:chOff x="9055676" y="0"/>
              <a:chExt cx="3136324" cy="6858000"/>
            </a:xfrm>
          </p:grpSpPr>
          <p:sp>
            <p:nvSpPr>
              <p:cNvPr id="4" name="Rectangle 3">
                <a:extLst>
                  <a:ext uri="{FF2B5EF4-FFF2-40B4-BE49-F238E27FC236}">
                    <a16:creationId xmlns:a16="http://schemas.microsoft.com/office/drawing/2014/main" id="{403AE892-EBD6-40F1-851B-FEADBD59429F}"/>
                  </a:ext>
                </a:extLst>
              </p:cNvPr>
              <p:cNvSpPr/>
              <p:nvPr/>
            </p:nvSpPr>
            <p:spPr>
              <a:xfrm>
                <a:off x="9221932" y="0"/>
                <a:ext cx="2970068" cy="6858000"/>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Rectangle 4">
                <a:extLst>
                  <a:ext uri="{FF2B5EF4-FFF2-40B4-BE49-F238E27FC236}">
                    <a16:creationId xmlns:a16="http://schemas.microsoft.com/office/drawing/2014/main" id="{54318653-1A38-442C-BA0F-F2C51149BCFF}"/>
                  </a:ext>
                </a:extLst>
              </p:cNvPr>
              <p:cNvSpPr/>
              <p:nvPr/>
            </p:nvSpPr>
            <p:spPr>
              <a:xfrm>
                <a:off x="9055676" y="0"/>
                <a:ext cx="166255"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ectangle 5">
                <a:extLst>
                  <a:ext uri="{FF2B5EF4-FFF2-40B4-BE49-F238E27FC236}">
                    <a16:creationId xmlns:a16="http://schemas.microsoft.com/office/drawing/2014/main" id="{C25D63D1-E9CE-42BF-BD4D-374FD0293155}"/>
                  </a:ext>
                </a:extLst>
              </p:cNvPr>
              <p:cNvSpPr/>
              <p:nvPr/>
            </p:nvSpPr>
            <p:spPr>
              <a:xfrm>
                <a:off x="9221932" y="0"/>
                <a:ext cx="114301" cy="6858000"/>
              </a:xfrm>
              <a:prstGeom prst="rect">
                <a:avLst/>
              </a:prstGeom>
              <a:solidFill>
                <a:srgbClr val="FFD34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BA4EE865-9F0D-4531-A737-E13A557C0277}"/>
                  </a:ext>
                </a:extLst>
              </p:cNvPr>
              <p:cNvSpPr/>
              <p:nvPr/>
            </p:nvSpPr>
            <p:spPr>
              <a:xfrm>
                <a:off x="9336233" y="0"/>
                <a:ext cx="150667"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a:extLst>
                  <a:ext uri="{FF2B5EF4-FFF2-40B4-BE49-F238E27FC236}">
                    <a16:creationId xmlns:a16="http://schemas.microsoft.com/office/drawing/2014/main" id="{6A1183CB-C5B0-498A-A49C-4180134C74B0}"/>
                  </a:ext>
                </a:extLst>
              </p:cNvPr>
              <p:cNvSpPr/>
              <p:nvPr/>
            </p:nvSpPr>
            <p:spPr>
              <a:xfrm>
                <a:off x="9336233" y="0"/>
                <a:ext cx="5715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pic>
          <p:nvPicPr>
            <p:cNvPr id="11" name="Graphic 10" descr="Clipboard">
              <a:extLst>
                <a:ext uri="{FF2B5EF4-FFF2-40B4-BE49-F238E27FC236}">
                  <a16:creationId xmlns:a16="http://schemas.microsoft.com/office/drawing/2014/main" id="{4F58D0C9-D25F-4044-8F1B-4190E5A1BD57}"/>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xmlns="" r:embed="rId3"/>
                </a:ext>
              </a:extLst>
            </a:blip>
            <a:stretch>
              <a:fillRect/>
            </a:stretch>
          </p:blipFill>
          <p:spPr>
            <a:xfrm>
              <a:off x="9009186" y="3272210"/>
              <a:ext cx="3668917" cy="3668917"/>
            </a:xfrm>
            <a:prstGeom prst="rect">
              <a:avLst/>
            </a:prstGeom>
          </p:spPr>
        </p:pic>
      </p:grpSp>
      <p:sp>
        <p:nvSpPr>
          <p:cNvPr id="3" name="Content Placeholder 2">
            <a:extLst>
              <a:ext uri="{FF2B5EF4-FFF2-40B4-BE49-F238E27FC236}">
                <a16:creationId xmlns:a16="http://schemas.microsoft.com/office/drawing/2014/main" id="{B57E0B0F-4D29-4786-B2AB-B84D9F8B5429}"/>
              </a:ext>
            </a:extLst>
          </p:cNvPr>
          <p:cNvSpPr>
            <a:spLocks noGrp="1"/>
          </p:cNvSpPr>
          <p:nvPr>
            <p:ph idx="1"/>
          </p:nvPr>
        </p:nvSpPr>
        <p:spPr>
          <a:xfrm>
            <a:off x="180084" y="1511720"/>
            <a:ext cx="9496177" cy="4807187"/>
          </a:xfrm>
        </p:spPr>
        <p:txBody>
          <a:bodyPr vert="horz" lIns="91440" tIns="45720" rIns="91440" bIns="45720" rtlCol="0" anchor="t">
            <a:noAutofit/>
          </a:bodyPr>
          <a:lstStyle/>
          <a:p>
            <a:pPr>
              <a:lnSpc>
                <a:spcPct val="100000"/>
              </a:lnSpc>
              <a:spcBef>
                <a:spcPts val="600"/>
              </a:spcBef>
              <a:spcAft>
                <a:spcPts val="600"/>
              </a:spcAft>
            </a:pPr>
            <a:r>
              <a:rPr lang="en-US" dirty="0" err="1" smtClean="0">
                <a:solidFill>
                  <a:srgbClr val="0000CC"/>
                </a:solidFill>
                <a:latin typeface="Rockwell" panose="02060603020205020403" pitchFamily="18" charset="0"/>
                <a:ea typeface="Tahoma"/>
                <a:cs typeface="Tahoma"/>
              </a:rPr>
              <a:t>Bài</a:t>
            </a:r>
            <a:r>
              <a:rPr lang="en-US" dirty="0" smtClean="0">
                <a:solidFill>
                  <a:srgbClr val="0000CC"/>
                </a:solidFill>
                <a:latin typeface="Rockwell" panose="02060603020205020403" pitchFamily="18" charset="0"/>
                <a:ea typeface="Tahoma"/>
                <a:cs typeface="Tahoma"/>
              </a:rPr>
              <a:t> 1: </a:t>
            </a:r>
            <a:r>
              <a:rPr lang="en-US" dirty="0" err="1" smtClean="0">
                <a:solidFill>
                  <a:srgbClr val="0000CC"/>
                </a:solidFill>
                <a:latin typeface="Rockwell" panose="02060603020205020403" pitchFamily="18" charset="0"/>
                <a:ea typeface="Tahoma"/>
                <a:cs typeface="Tahoma"/>
              </a:rPr>
              <a:t>Tổng</a:t>
            </a:r>
            <a:r>
              <a:rPr lang="en-US" dirty="0" smtClean="0">
                <a:solidFill>
                  <a:srgbClr val="0000CC"/>
                </a:solidFill>
                <a:latin typeface="Rockwell" panose="02060603020205020403" pitchFamily="18" charset="0"/>
                <a:ea typeface="Tahoma"/>
                <a:cs typeface="Tahoma"/>
              </a:rPr>
              <a:t> </a:t>
            </a:r>
            <a:r>
              <a:rPr lang="en-US" dirty="0" err="1" smtClean="0">
                <a:solidFill>
                  <a:srgbClr val="0000CC"/>
                </a:solidFill>
                <a:latin typeface="Rockwell" panose="02060603020205020403" pitchFamily="18" charset="0"/>
                <a:ea typeface="Tahoma"/>
                <a:cs typeface="Tahoma"/>
              </a:rPr>
              <a:t>quan</a:t>
            </a:r>
            <a:r>
              <a:rPr lang="en-US" dirty="0" smtClean="0">
                <a:solidFill>
                  <a:srgbClr val="0000CC"/>
                </a:solidFill>
                <a:latin typeface="Rockwell" panose="02060603020205020403" pitchFamily="18" charset="0"/>
                <a:ea typeface="Tahoma"/>
                <a:cs typeface="Tahoma"/>
              </a:rPr>
              <a:t> </a:t>
            </a:r>
            <a:r>
              <a:rPr lang="en-US" dirty="0" err="1" smtClean="0">
                <a:solidFill>
                  <a:srgbClr val="0000CC"/>
                </a:solidFill>
                <a:latin typeface="Rockwell" panose="02060603020205020403" pitchFamily="18" charset="0"/>
                <a:ea typeface="Tahoma"/>
                <a:cs typeface="Tahoma"/>
              </a:rPr>
              <a:t>về</a:t>
            </a:r>
            <a:r>
              <a:rPr lang="en-US" dirty="0" smtClean="0">
                <a:solidFill>
                  <a:srgbClr val="0000CC"/>
                </a:solidFill>
                <a:latin typeface="Rockwell" panose="02060603020205020403" pitchFamily="18" charset="0"/>
                <a:ea typeface="Tahoma"/>
                <a:cs typeface="Tahoma"/>
              </a:rPr>
              <a:t> </a:t>
            </a:r>
            <a:r>
              <a:rPr lang="en-US" dirty="0" err="1" smtClean="0">
                <a:solidFill>
                  <a:srgbClr val="0000CC"/>
                </a:solidFill>
                <a:latin typeface="Rockwell" panose="02060603020205020403" pitchFamily="18" charset="0"/>
                <a:ea typeface="Tahoma"/>
                <a:cs typeface="Tahoma"/>
              </a:rPr>
              <a:t>Bảo</a:t>
            </a:r>
            <a:r>
              <a:rPr lang="en-US" dirty="0" smtClean="0">
                <a:solidFill>
                  <a:srgbClr val="0000CC"/>
                </a:solidFill>
                <a:latin typeface="Rockwell" panose="02060603020205020403" pitchFamily="18" charset="0"/>
                <a:ea typeface="Tahoma"/>
                <a:cs typeface="Tahoma"/>
              </a:rPr>
              <a:t> </a:t>
            </a:r>
            <a:r>
              <a:rPr lang="en-US" dirty="0" err="1" smtClean="0">
                <a:solidFill>
                  <a:srgbClr val="0000CC"/>
                </a:solidFill>
                <a:latin typeface="Rockwell" panose="02060603020205020403" pitchFamily="18" charset="0"/>
                <a:ea typeface="Tahoma"/>
                <a:cs typeface="Tahoma"/>
              </a:rPr>
              <a:t>mật</a:t>
            </a:r>
            <a:r>
              <a:rPr lang="en-US" dirty="0" smtClean="0">
                <a:solidFill>
                  <a:srgbClr val="0000CC"/>
                </a:solidFill>
                <a:latin typeface="Rockwell" panose="02060603020205020403" pitchFamily="18" charset="0"/>
                <a:ea typeface="Tahoma"/>
                <a:cs typeface="Tahoma"/>
              </a:rPr>
              <a:t> </a:t>
            </a:r>
            <a:r>
              <a:rPr lang="en-US" dirty="0" err="1" smtClean="0">
                <a:solidFill>
                  <a:srgbClr val="0000CC"/>
                </a:solidFill>
                <a:latin typeface="Rockwell" panose="02060603020205020403" pitchFamily="18" charset="0"/>
                <a:ea typeface="Tahoma"/>
                <a:cs typeface="Tahoma"/>
              </a:rPr>
              <a:t>Ứng</a:t>
            </a:r>
            <a:r>
              <a:rPr lang="en-US" dirty="0" smtClean="0">
                <a:solidFill>
                  <a:srgbClr val="0000CC"/>
                </a:solidFill>
                <a:latin typeface="Rockwell" panose="02060603020205020403" pitchFamily="18" charset="0"/>
                <a:ea typeface="Tahoma"/>
                <a:cs typeface="Tahoma"/>
              </a:rPr>
              <a:t> </a:t>
            </a:r>
            <a:r>
              <a:rPr lang="en-US" dirty="0" err="1" smtClean="0">
                <a:solidFill>
                  <a:srgbClr val="0000CC"/>
                </a:solidFill>
                <a:latin typeface="Rockwell" panose="02060603020205020403" pitchFamily="18" charset="0"/>
                <a:ea typeface="Tahoma"/>
                <a:cs typeface="Tahoma"/>
              </a:rPr>
              <a:t>dụng</a:t>
            </a:r>
            <a:r>
              <a:rPr lang="en-US" dirty="0" smtClean="0">
                <a:solidFill>
                  <a:srgbClr val="0000CC"/>
                </a:solidFill>
                <a:latin typeface="Rockwell" panose="02060603020205020403" pitchFamily="18" charset="0"/>
                <a:ea typeface="Tahoma"/>
                <a:cs typeface="Tahoma"/>
              </a:rPr>
              <a:t> </a:t>
            </a:r>
            <a:r>
              <a:rPr lang="en-US" dirty="0" err="1" smtClean="0">
                <a:solidFill>
                  <a:srgbClr val="0000CC"/>
                </a:solidFill>
                <a:latin typeface="Rockwell" panose="02060603020205020403" pitchFamily="18" charset="0"/>
                <a:ea typeface="Tahoma"/>
                <a:cs typeface="Tahoma"/>
              </a:rPr>
              <a:t>và</a:t>
            </a:r>
            <a:r>
              <a:rPr lang="en-US" dirty="0" smtClean="0">
                <a:solidFill>
                  <a:srgbClr val="0000CC"/>
                </a:solidFill>
                <a:latin typeface="Rockwell" panose="02060603020205020403" pitchFamily="18" charset="0"/>
                <a:ea typeface="Tahoma"/>
                <a:cs typeface="Tahoma"/>
              </a:rPr>
              <a:t> </a:t>
            </a:r>
            <a:r>
              <a:rPr lang="en-US" dirty="0" err="1" smtClean="0">
                <a:solidFill>
                  <a:srgbClr val="0000CC"/>
                </a:solidFill>
                <a:latin typeface="Rockwell" panose="02060603020205020403" pitchFamily="18" charset="0"/>
                <a:ea typeface="Tahoma"/>
                <a:cs typeface="Tahoma"/>
              </a:rPr>
              <a:t>Hệ</a:t>
            </a:r>
            <a:r>
              <a:rPr lang="en-US" dirty="0" smtClean="0">
                <a:solidFill>
                  <a:srgbClr val="0000CC"/>
                </a:solidFill>
                <a:latin typeface="Rockwell" panose="02060603020205020403" pitchFamily="18" charset="0"/>
                <a:ea typeface="Tahoma"/>
                <a:cs typeface="Tahoma"/>
              </a:rPr>
              <a:t> </a:t>
            </a:r>
            <a:r>
              <a:rPr lang="en-US" dirty="0" err="1" smtClean="0">
                <a:solidFill>
                  <a:srgbClr val="0000CC"/>
                </a:solidFill>
                <a:latin typeface="Rockwell" panose="02060603020205020403" pitchFamily="18" charset="0"/>
                <a:ea typeface="Tahoma"/>
                <a:cs typeface="Tahoma"/>
              </a:rPr>
              <a:t>thống</a:t>
            </a:r>
            <a:endParaRPr lang="en-US" dirty="0" smtClean="0">
              <a:solidFill>
                <a:srgbClr val="0000CC"/>
              </a:solidFill>
              <a:latin typeface="Rockwell" panose="02060603020205020403" pitchFamily="18" charset="0"/>
              <a:ea typeface="Tahoma"/>
              <a:cs typeface="Tahoma"/>
            </a:endParaRPr>
          </a:p>
          <a:p>
            <a:pPr>
              <a:lnSpc>
                <a:spcPct val="100000"/>
              </a:lnSpc>
              <a:spcBef>
                <a:spcPts val="600"/>
              </a:spcBef>
              <a:spcAft>
                <a:spcPts val="600"/>
              </a:spcAft>
            </a:pPr>
            <a:r>
              <a:rPr lang="en-US" dirty="0" err="1">
                <a:solidFill>
                  <a:srgbClr val="0000CC"/>
                </a:solidFill>
                <a:latin typeface="Rockwell" panose="02060603020205020403" pitchFamily="18" charset="0"/>
                <a:ea typeface="Tahoma"/>
                <a:cs typeface="Tahoma"/>
              </a:rPr>
              <a:t>Bài</a:t>
            </a:r>
            <a:r>
              <a:rPr lang="en-US" dirty="0">
                <a:solidFill>
                  <a:srgbClr val="0000CC"/>
                </a:solidFill>
                <a:latin typeface="Rockwell" panose="02060603020205020403" pitchFamily="18" charset="0"/>
                <a:ea typeface="Tahoma"/>
                <a:cs typeface="Tahoma"/>
              </a:rPr>
              <a:t> 2: </a:t>
            </a:r>
            <a:r>
              <a:rPr lang="en-US" dirty="0" err="1">
                <a:solidFill>
                  <a:srgbClr val="0000CC"/>
                </a:solidFill>
                <a:latin typeface="Rockwell" panose="02060603020205020403" pitchFamily="18" charset="0"/>
                <a:ea typeface="Tahoma"/>
                <a:cs typeface="Tahoma"/>
              </a:rPr>
              <a:t>Tấn</a:t>
            </a:r>
            <a:r>
              <a:rPr lang="en-US" dirty="0">
                <a:solidFill>
                  <a:srgbClr val="0000CC"/>
                </a:solidFill>
                <a:latin typeface="Rockwell" panose="02060603020205020403" pitchFamily="18" charset="0"/>
                <a:ea typeface="Tahoma"/>
                <a:cs typeface="Tahoma"/>
              </a:rPr>
              <a:t> </a:t>
            </a:r>
            <a:r>
              <a:rPr lang="en-US" dirty="0" err="1">
                <a:solidFill>
                  <a:srgbClr val="0000CC"/>
                </a:solidFill>
                <a:latin typeface="Rockwell" panose="02060603020205020403" pitchFamily="18" charset="0"/>
                <a:ea typeface="Tahoma"/>
                <a:cs typeface="Tahoma"/>
              </a:rPr>
              <a:t>công</a:t>
            </a:r>
            <a:r>
              <a:rPr lang="en-US" dirty="0">
                <a:solidFill>
                  <a:srgbClr val="0000CC"/>
                </a:solidFill>
                <a:latin typeface="Rockwell" panose="02060603020205020403" pitchFamily="18" charset="0"/>
                <a:ea typeface="Tahoma"/>
                <a:cs typeface="Tahoma"/>
              </a:rPr>
              <a:t> </a:t>
            </a:r>
            <a:r>
              <a:rPr lang="en-US" dirty="0" err="1">
                <a:solidFill>
                  <a:srgbClr val="0000CC"/>
                </a:solidFill>
                <a:latin typeface="Rockwell" panose="02060603020205020403" pitchFamily="18" charset="0"/>
                <a:ea typeface="Tahoma"/>
                <a:cs typeface="Tahoma"/>
              </a:rPr>
              <a:t>và</a:t>
            </a:r>
            <a:r>
              <a:rPr lang="en-US" dirty="0">
                <a:solidFill>
                  <a:srgbClr val="0000CC"/>
                </a:solidFill>
                <a:latin typeface="Rockwell" panose="02060603020205020403" pitchFamily="18" charset="0"/>
                <a:ea typeface="Tahoma"/>
                <a:cs typeface="Tahoma"/>
              </a:rPr>
              <a:t> </a:t>
            </a:r>
            <a:r>
              <a:rPr lang="en-US" dirty="0" err="1">
                <a:solidFill>
                  <a:srgbClr val="0000CC"/>
                </a:solidFill>
                <a:latin typeface="Rockwell" panose="02060603020205020403" pitchFamily="18" charset="0"/>
                <a:ea typeface="Tahoma"/>
                <a:cs typeface="Tahoma"/>
              </a:rPr>
              <a:t>Phòng</a:t>
            </a:r>
            <a:r>
              <a:rPr lang="en-US" dirty="0">
                <a:solidFill>
                  <a:srgbClr val="0000CC"/>
                </a:solidFill>
                <a:latin typeface="Rockwell" panose="02060603020205020403" pitchFamily="18" charset="0"/>
                <a:ea typeface="Tahoma"/>
                <a:cs typeface="Tahoma"/>
              </a:rPr>
              <a:t> </a:t>
            </a:r>
            <a:r>
              <a:rPr lang="en-US" dirty="0" err="1">
                <a:solidFill>
                  <a:srgbClr val="0000CC"/>
                </a:solidFill>
                <a:latin typeface="Rockwell" panose="02060603020205020403" pitchFamily="18" charset="0"/>
                <a:ea typeface="Tahoma"/>
                <a:cs typeface="Tahoma"/>
              </a:rPr>
              <a:t>thủ</a:t>
            </a:r>
            <a:r>
              <a:rPr lang="en-US" dirty="0">
                <a:solidFill>
                  <a:srgbClr val="0000CC"/>
                </a:solidFill>
                <a:latin typeface="Rockwell" panose="02060603020205020403" pitchFamily="18" charset="0"/>
                <a:ea typeface="Tahoma"/>
                <a:cs typeface="Tahoma"/>
              </a:rPr>
              <a:t> </a:t>
            </a:r>
            <a:r>
              <a:rPr lang="en-US" dirty="0" err="1">
                <a:solidFill>
                  <a:srgbClr val="0000CC"/>
                </a:solidFill>
                <a:latin typeface="Rockwell" panose="02060603020205020403" pitchFamily="18" charset="0"/>
                <a:ea typeface="Tahoma"/>
                <a:cs typeface="Tahoma"/>
              </a:rPr>
              <a:t>trên</a:t>
            </a:r>
            <a:r>
              <a:rPr lang="en-US" dirty="0">
                <a:solidFill>
                  <a:srgbClr val="0000CC"/>
                </a:solidFill>
                <a:latin typeface="Rockwell" panose="02060603020205020403" pitchFamily="18" charset="0"/>
                <a:ea typeface="Tahoma"/>
                <a:cs typeface="Tahoma"/>
              </a:rPr>
              <a:t> </a:t>
            </a:r>
            <a:r>
              <a:rPr lang="en-US" dirty="0" err="1">
                <a:solidFill>
                  <a:srgbClr val="0000CC"/>
                </a:solidFill>
                <a:latin typeface="Rockwell" panose="02060603020205020403" pitchFamily="18" charset="0"/>
                <a:ea typeface="Tahoma"/>
                <a:cs typeface="Tahoma"/>
              </a:rPr>
              <a:t>không</a:t>
            </a:r>
            <a:r>
              <a:rPr lang="en-US" dirty="0">
                <a:solidFill>
                  <a:srgbClr val="0000CC"/>
                </a:solidFill>
                <a:latin typeface="Rockwell" panose="02060603020205020403" pitchFamily="18" charset="0"/>
                <a:ea typeface="Tahoma"/>
                <a:cs typeface="Tahoma"/>
              </a:rPr>
              <a:t> </a:t>
            </a:r>
            <a:r>
              <a:rPr lang="en-US" dirty="0" err="1">
                <a:solidFill>
                  <a:srgbClr val="0000CC"/>
                </a:solidFill>
                <a:latin typeface="Rockwell" panose="02060603020205020403" pitchFamily="18" charset="0"/>
                <a:ea typeface="Tahoma"/>
                <a:cs typeface="Tahoma"/>
              </a:rPr>
              <a:t>gian</a:t>
            </a:r>
            <a:r>
              <a:rPr lang="en-US" dirty="0">
                <a:solidFill>
                  <a:srgbClr val="0000CC"/>
                </a:solidFill>
                <a:latin typeface="Rockwell" panose="02060603020205020403" pitchFamily="18" charset="0"/>
                <a:ea typeface="Tahoma"/>
                <a:cs typeface="Tahoma"/>
              </a:rPr>
              <a:t> </a:t>
            </a:r>
            <a:r>
              <a:rPr lang="en-US" dirty="0" err="1">
                <a:solidFill>
                  <a:srgbClr val="0000CC"/>
                </a:solidFill>
                <a:latin typeface="Rockwell" panose="02060603020205020403" pitchFamily="18" charset="0"/>
                <a:ea typeface="Tahoma"/>
                <a:cs typeface="Tahoma"/>
              </a:rPr>
              <a:t>mạng</a:t>
            </a:r>
            <a:endParaRPr lang="en-US" dirty="0">
              <a:solidFill>
                <a:srgbClr val="0000CC"/>
              </a:solidFill>
              <a:latin typeface="Rockwell" panose="02060603020205020403" pitchFamily="18" charset="0"/>
              <a:ea typeface="Tahoma"/>
              <a:cs typeface="Tahoma"/>
            </a:endParaRPr>
          </a:p>
          <a:p>
            <a:pPr>
              <a:lnSpc>
                <a:spcPct val="100000"/>
              </a:lnSpc>
              <a:spcBef>
                <a:spcPts val="600"/>
              </a:spcBef>
              <a:spcAft>
                <a:spcPts val="600"/>
              </a:spcAft>
            </a:pPr>
            <a:r>
              <a:rPr lang="en-US" dirty="0" err="1" smtClean="0">
                <a:solidFill>
                  <a:srgbClr val="0000CC"/>
                </a:solidFill>
                <a:latin typeface="Rockwell" panose="02060603020205020403" pitchFamily="18" charset="0"/>
                <a:ea typeface="Tahoma"/>
                <a:cs typeface="Tahoma"/>
              </a:rPr>
              <a:t>Bài</a:t>
            </a:r>
            <a:r>
              <a:rPr lang="en-US" dirty="0" smtClean="0">
                <a:solidFill>
                  <a:srgbClr val="0000CC"/>
                </a:solidFill>
                <a:latin typeface="Rockwell" panose="02060603020205020403" pitchFamily="18" charset="0"/>
                <a:ea typeface="Tahoma"/>
                <a:cs typeface="Tahoma"/>
              </a:rPr>
              <a:t> 3.1: </a:t>
            </a:r>
            <a:r>
              <a:rPr lang="en-US" dirty="0" err="1" smtClean="0">
                <a:solidFill>
                  <a:srgbClr val="0000CC"/>
                </a:solidFill>
                <a:latin typeface="Rockwell" panose="02060603020205020403" pitchFamily="18" charset="0"/>
                <a:ea typeface="Tahoma"/>
                <a:cs typeface="Tahoma"/>
              </a:rPr>
              <a:t>Bảo</a:t>
            </a:r>
            <a:r>
              <a:rPr lang="en-US" dirty="0" smtClean="0">
                <a:solidFill>
                  <a:srgbClr val="0000CC"/>
                </a:solidFill>
                <a:latin typeface="Rockwell" panose="02060603020205020403" pitchFamily="18" charset="0"/>
                <a:ea typeface="Tahoma"/>
                <a:cs typeface="Tahoma"/>
              </a:rPr>
              <a:t> </a:t>
            </a:r>
            <a:r>
              <a:rPr lang="en-US" dirty="0" err="1" smtClean="0">
                <a:solidFill>
                  <a:srgbClr val="0000CC"/>
                </a:solidFill>
                <a:latin typeface="Rockwell" panose="02060603020205020403" pitchFamily="18" charset="0"/>
                <a:ea typeface="Tahoma"/>
                <a:cs typeface="Tahoma"/>
              </a:rPr>
              <a:t>mật</a:t>
            </a:r>
            <a:r>
              <a:rPr lang="en-US" dirty="0" smtClean="0">
                <a:solidFill>
                  <a:srgbClr val="0000CC"/>
                </a:solidFill>
                <a:latin typeface="Rockwell" panose="02060603020205020403" pitchFamily="18" charset="0"/>
                <a:ea typeface="Tahoma"/>
                <a:cs typeface="Tahoma"/>
              </a:rPr>
              <a:t> </a:t>
            </a:r>
            <a:r>
              <a:rPr lang="en-US" dirty="0" err="1" smtClean="0">
                <a:solidFill>
                  <a:srgbClr val="0000CC"/>
                </a:solidFill>
                <a:latin typeface="Rockwell" panose="02060603020205020403" pitchFamily="18" charset="0"/>
                <a:ea typeface="Tahoma"/>
                <a:cs typeface="Tahoma"/>
              </a:rPr>
              <a:t>ứng</a:t>
            </a:r>
            <a:r>
              <a:rPr lang="en-US" dirty="0" smtClean="0">
                <a:solidFill>
                  <a:srgbClr val="0000CC"/>
                </a:solidFill>
                <a:latin typeface="Rockwell" panose="02060603020205020403" pitchFamily="18" charset="0"/>
                <a:ea typeface="Tahoma"/>
                <a:cs typeface="Tahoma"/>
              </a:rPr>
              <a:t> </a:t>
            </a:r>
            <a:r>
              <a:rPr lang="en-US" dirty="0" err="1" smtClean="0">
                <a:solidFill>
                  <a:srgbClr val="0000CC"/>
                </a:solidFill>
                <a:latin typeface="Rockwell" panose="02060603020205020403" pitchFamily="18" charset="0"/>
                <a:ea typeface="Tahoma"/>
                <a:cs typeface="Tahoma"/>
              </a:rPr>
              <a:t>dụng</a:t>
            </a:r>
            <a:r>
              <a:rPr lang="en-US" dirty="0" smtClean="0">
                <a:solidFill>
                  <a:srgbClr val="0000CC"/>
                </a:solidFill>
                <a:latin typeface="Rockwell" panose="02060603020205020403" pitchFamily="18" charset="0"/>
                <a:ea typeface="Tahoma"/>
                <a:cs typeface="Tahoma"/>
              </a:rPr>
              <a:t> Web (</a:t>
            </a:r>
            <a:r>
              <a:rPr lang="en-US" dirty="0" err="1" smtClean="0">
                <a:solidFill>
                  <a:srgbClr val="0000CC"/>
                </a:solidFill>
                <a:latin typeface="Rockwell" panose="02060603020205020403" pitchFamily="18" charset="0"/>
                <a:ea typeface="Tahoma"/>
                <a:cs typeface="Tahoma"/>
              </a:rPr>
              <a:t>Phần</a:t>
            </a:r>
            <a:r>
              <a:rPr lang="en-US" dirty="0" smtClean="0">
                <a:solidFill>
                  <a:srgbClr val="0000CC"/>
                </a:solidFill>
                <a:latin typeface="Rockwell" panose="02060603020205020403" pitchFamily="18" charset="0"/>
                <a:ea typeface="Tahoma"/>
                <a:cs typeface="Tahoma"/>
              </a:rPr>
              <a:t> 1)</a:t>
            </a:r>
          </a:p>
          <a:p>
            <a:pPr>
              <a:lnSpc>
                <a:spcPct val="100000"/>
              </a:lnSpc>
              <a:spcBef>
                <a:spcPts val="600"/>
              </a:spcBef>
              <a:spcAft>
                <a:spcPts val="600"/>
              </a:spcAft>
            </a:pPr>
            <a:r>
              <a:rPr lang="en-US" dirty="0" err="1" smtClean="0">
                <a:solidFill>
                  <a:schemeClr val="bg1"/>
                </a:solidFill>
                <a:latin typeface="Rockwell" panose="02060603020205020403" pitchFamily="18" charset="0"/>
                <a:ea typeface="Tahoma"/>
                <a:cs typeface="Tahoma"/>
              </a:rPr>
              <a:t>Bài</a:t>
            </a:r>
            <a:r>
              <a:rPr lang="en-US" dirty="0" smtClean="0">
                <a:solidFill>
                  <a:srgbClr val="0000CC"/>
                </a:solidFill>
                <a:latin typeface="Rockwell" panose="02060603020205020403" pitchFamily="18" charset="0"/>
                <a:ea typeface="Tahoma"/>
                <a:cs typeface="Tahoma"/>
              </a:rPr>
              <a:t> 3.2: </a:t>
            </a:r>
            <a:r>
              <a:rPr lang="en-US" dirty="0" err="1" smtClean="0">
                <a:solidFill>
                  <a:srgbClr val="0000CC"/>
                </a:solidFill>
                <a:latin typeface="Rockwell" panose="02060603020205020403" pitchFamily="18" charset="0"/>
                <a:ea typeface="Tahoma"/>
                <a:cs typeface="Tahoma"/>
              </a:rPr>
              <a:t>Bảo</a:t>
            </a:r>
            <a:r>
              <a:rPr lang="en-US" dirty="0" smtClean="0">
                <a:solidFill>
                  <a:srgbClr val="0000CC"/>
                </a:solidFill>
                <a:latin typeface="Rockwell" panose="02060603020205020403" pitchFamily="18" charset="0"/>
                <a:ea typeface="Tahoma"/>
                <a:cs typeface="Tahoma"/>
              </a:rPr>
              <a:t> </a:t>
            </a:r>
            <a:r>
              <a:rPr lang="en-US" dirty="0" err="1" smtClean="0">
                <a:solidFill>
                  <a:srgbClr val="0000CC"/>
                </a:solidFill>
                <a:latin typeface="Rockwell" panose="02060603020205020403" pitchFamily="18" charset="0"/>
                <a:ea typeface="Tahoma"/>
                <a:cs typeface="Tahoma"/>
              </a:rPr>
              <a:t>mật</a:t>
            </a:r>
            <a:r>
              <a:rPr lang="en-US" dirty="0" smtClean="0">
                <a:solidFill>
                  <a:srgbClr val="0000CC"/>
                </a:solidFill>
                <a:latin typeface="Rockwell" panose="02060603020205020403" pitchFamily="18" charset="0"/>
                <a:ea typeface="Tahoma"/>
                <a:cs typeface="Tahoma"/>
              </a:rPr>
              <a:t> </a:t>
            </a:r>
            <a:r>
              <a:rPr lang="en-US" dirty="0" err="1" smtClean="0">
                <a:solidFill>
                  <a:srgbClr val="0000CC"/>
                </a:solidFill>
                <a:latin typeface="Rockwell" panose="02060603020205020403" pitchFamily="18" charset="0"/>
                <a:ea typeface="Tahoma"/>
                <a:cs typeface="Tahoma"/>
              </a:rPr>
              <a:t>ứng</a:t>
            </a:r>
            <a:r>
              <a:rPr lang="en-US" dirty="0" smtClean="0">
                <a:solidFill>
                  <a:srgbClr val="0000CC"/>
                </a:solidFill>
                <a:latin typeface="Rockwell" panose="02060603020205020403" pitchFamily="18" charset="0"/>
                <a:ea typeface="Tahoma"/>
                <a:cs typeface="Tahoma"/>
              </a:rPr>
              <a:t> </a:t>
            </a:r>
            <a:r>
              <a:rPr lang="en-US" dirty="0" err="1" smtClean="0">
                <a:solidFill>
                  <a:srgbClr val="0000CC"/>
                </a:solidFill>
                <a:latin typeface="Rockwell" panose="02060603020205020403" pitchFamily="18" charset="0"/>
                <a:ea typeface="Tahoma"/>
                <a:cs typeface="Tahoma"/>
              </a:rPr>
              <a:t>dụng</a:t>
            </a:r>
            <a:r>
              <a:rPr lang="en-US" dirty="0" smtClean="0">
                <a:solidFill>
                  <a:srgbClr val="0000CC"/>
                </a:solidFill>
                <a:latin typeface="Rockwell" panose="02060603020205020403" pitchFamily="18" charset="0"/>
                <a:ea typeface="Tahoma"/>
                <a:cs typeface="Tahoma"/>
              </a:rPr>
              <a:t> Web (</a:t>
            </a:r>
            <a:r>
              <a:rPr lang="en-US" dirty="0" err="1" smtClean="0">
                <a:solidFill>
                  <a:srgbClr val="0000CC"/>
                </a:solidFill>
                <a:latin typeface="Rockwell" panose="02060603020205020403" pitchFamily="18" charset="0"/>
                <a:ea typeface="Tahoma"/>
                <a:cs typeface="Tahoma"/>
              </a:rPr>
              <a:t>Phần</a:t>
            </a:r>
            <a:r>
              <a:rPr lang="en-US" dirty="0" smtClean="0">
                <a:solidFill>
                  <a:srgbClr val="0000CC"/>
                </a:solidFill>
                <a:latin typeface="Rockwell" panose="02060603020205020403" pitchFamily="18" charset="0"/>
                <a:ea typeface="Tahoma"/>
                <a:cs typeface="Tahoma"/>
              </a:rPr>
              <a:t> 2)</a:t>
            </a:r>
            <a:endParaRPr lang="en-US" dirty="0">
              <a:solidFill>
                <a:srgbClr val="0000CC"/>
              </a:solidFill>
              <a:latin typeface="Rockwell" panose="02060603020205020403" pitchFamily="18" charset="0"/>
              <a:ea typeface="Tahoma"/>
              <a:cs typeface="Tahoma"/>
            </a:endParaRPr>
          </a:p>
          <a:p>
            <a:pPr>
              <a:lnSpc>
                <a:spcPct val="100000"/>
              </a:lnSpc>
              <a:spcBef>
                <a:spcPts val="600"/>
              </a:spcBef>
              <a:spcAft>
                <a:spcPts val="600"/>
              </a:spcAft>
            </a:pPr>
            <a:r>
              <a:rPr lang="en-US" dirty="0" err="1" smtClean="0">
                <a:solidFill>
                  <a:srgbClr val="0000CC"/>
                </a:solidFill>
                <a:latin typeface="Rockwell" panose="02060603020205020403" pitchFamily="18" charset="0"/>
                <a:ea typeface="Tahoma"/>
                <a:cs typeface="Tahoma"/>
              </a:rPr>
              <a:t>Bài</a:t>
            </a:r>
            <a:r>
              <a:rPr lang="en-US" dirty="0" smtClean="0">
                <a:solidFill>
                  <a:srgbClr val="0000CC"/>
                </a:solidFill>
                <a:latin typeface="Rockwell" panose="02060603020205020403" pitchFamily="18" charset="0"/>
                <a:ea typeface="Tahoma"/>
                <a:cs typeface="Tahoma"/>
              </a:rPr>
              <a:t> 4: </a:t>
            </a:r>
            <a:r>
              <a:rPr lang="en-US" dirty="0" err="1" smtClean="0">
                <a:solidFill>
                  <a:srgbClr val="0000CC"/>
                </a:solidFill>
                <a:latin typeface="Rockwell" panose="02060603020205020403" pitchFamily="18" charset="0"/>
                <a:ea typeface="Tahoma"/>
                <a:cs typeface="Tahoma"/>
              </a:rPr>
              <a:t>Bảo</a:t>
            </a:r>
            <a:r>
              <a:rPr lang="en-US" dirty="0" smtClean="0">
                <a:solidFill>
                  <a:srgbClr val="0000CC"/>
                </a:solidFill>
                <a:latin typeface="Rockwell" panose="02060603020205020403" pitchFamily="18" charset="0"/>
                <a:ea typeface="Tahoma"/>
                <a:cs typeface="Tahoma"/>
              </a:rPr>
              <a:t> </a:t>
            </a:r>
            <a:r>
              <a:rPr lang="en-US" dirty="0" err="1" smtClean="0">
                <a:solidFill>
                  <a:srgbClr val="0000CC"/>
                </a:solidFill>
                <a:latin typeface="Rockwell" panose="02060603020205020403" pitchFamily="18" charset="0"/>
                <a:ea typeface="Tahoma"/>
                <a:cs typeface="Tahoma"/>
              </a:rPr>
              <a:t>mật</a:t>
            </a:r>
            <a:r>
              <a:rPr lang="en-US" dirty="0" smtClean="0">
                <a:solidFill>
                  <a:srgbClr val="0000CC"/>
                </a:solidFill>
                <a:latin typeface="Rockwell" panose="02060603020205020403" pitchFamily="18" charset="0"/>
                <a:ea typeface="Tahoma"/>
                <a:cs typeface="Tahoma"/>
              </a:rPr>
              <a:t> </a:t>
            </a:r>
            <a:r>
              <a:rPr lang="en-US" dirty="0" err="1" smtClean="0">
                <a:solidFill>
                  <a:srgbClr val="0000CC"/>
                </a:solidFill>
                <a:latin typeface="Rockwell" panose="02060603020205020403" pitchFamily="18" charset="0"/>
                <a:ea typeface="Tahoma"/>
                <a:cs typeface="Tahoma"/>
              </a:rPr>
              <a:t>Cơ</a:t>
            </a:r>
            <a:r>
              <a:rPr lang="en-US" dirty="0" smtClean="0">
                <a:solidFill>
                  <a:srgbClr val="0000CC"/>
                </a:solidFill>
                <a:latin typeface="Rockwell" panose="02060603020205020403" pitchFamily="18" charset="0"/>
                <a:ea typeface="Tahoma"/>
                <a:cs typeface="Tahoma"/>
              </a:rPr>
              <a:t> </a:t>
            </a:r>
            <a:r>
              <a:rPr lang="en-US" dirty="0" err="1" smtClean="0">
                <a:solidFill>
                  <a:srgbClr val="0000CC"/>
                </a:solidFill>
                <a:latin typeface="Rockwell" panose="02060603020205020403" pitchFamily="18" charset="0"/>
                <a:ea typeface="Tahoma"/>
                <a:cs typeface="Tahoma"/>
              </a:rPr>
              <a:t>sở</a:t>
            </a:r>
            <a:r>
              <a:rPr lang="en-US" dirty="0" smtClean="0">
                <a:solidFill>
                  <a:srgbClr val="0000CC"/>
                </a:solidFill>
                <a:latin typeface="Rockwell" panose="02060603020205020403" pitchFamily="18" charset="0"/>
                <a:ea typeface="Tahoma"/>
                <a:cs typeface="Tahoma"/>
              </a:rPr>
              <a:t> </a:t>
            </a:r>
            <a:r>
              <a:rPr lang="en-US" dirty="0" err="1" smtClean="0">
                <a:solidFill>
                  <a:srgbClr val="0000CC"/>
                </a:solidFill>
                <a:latin typeface="Rockwell" panose="02060603020205020403" pitchFamily="18" charset="0"/>
                <a:ea typeface="Tahoma"/>
                <a:cs typeface="Tahoma"/>
              </a:rPr>
              <a:t>dữ</a:t>
            </a:r>
            <a:r>
              <a:rPr lang="en-US" dirty="0" smtClean="0">
                <a:solidFill>
                  <a:srgbClr val="0000CC"/>
                </a:solidFill>
                <a:latin typeface="Rockwell" panose="02060603020205020403" pitchFamily="18" charset="0"/>
                <a:ea typeface="Tahoma"/>
                <a:cs typeface="Tahoma"/>
              </a:rPr>
              <a:t> </a:t>
            </a:r>
            <a:r>
              <a:rPr lang="en-US" dirty="0" err="1" smtClean="0">
                <a:solidFill>
                  <a:srgbClr val="0000CC"/>
                </a:solidFill>
                <a:latin typeface="Rockwell" panose="02060603020205020403" pitchFamily="18" charset="0"/>
                <a:ea typeface="Tahoma"/>
                <a:cs typeface="Tahoma"/>
              </a:rPr>
              <a:t>liệu</a:t>
            </a:r>
            <a:endParaRPr lang="en-US" dirty="0" smtClean="0">
              <a:solidFill>
                <a:srgbClr val="0000CC"/>
              </a:solidFill>
              <a:latin typeface="Rockwell" panose="02060603020205020403" pitchFamily="18" charset="0"/>
              <a:ea typeface="Tahoma"/>
              <a:cs typeface="Tahoma"/>
            </a:endParaRPr>
          </a:p>
          <a:p>
            <a:pPr>
              <a:lnSpc>
                <a:spcPct val="100000"/>
              </a:lnSpc>
              <a:spcBef>
                <a:spcPts val="600"/>
              </a:spcBef>
              <a:spcAft>
                <a:spcPts val="600"/>
              </a:spcAft>
            </a:pPr>
            <a:r>
              <a:rPr lang="en-US" dirty="0" err="1" smtClean="0">
                <a:solidFill>
                  <a:srgbClr val="0000CC"/>
                </a:solidFill>
                <a:latin typeface="Rockwell" panose="02060603020205020403" pitchFamily="18" charset="0"/>
                <a:ea typeface="Tahoma"/>
                <a:cs typeface="Tahoma"/>
              </a:rPr>
              <a:t>Bài</a:t>
            </a:r>
            <a:r>
              <a:rPr lang="en-US" dirty="0" smtClean="0">
                <a:solidFill>
                  <a:srgbClr val="0000CC"/>
                </a:solidFill>
                <a:latin typeface="Rockwell" panose="02060603020205020403" pitchFamily="18" charset="0"/>
                <a:ea typeface="Tahoma"/>
                <a:cs typeface="Tahoma"/>
              </a:rPr>
              <a:t> 5: </a:t>
            </a:r>
            <a:r>
              <a:rPr lang="en-US" dirty="0" err="1" smtClean="0">
                <a:solidFill>
                  <a:srgbClr val="0000CC"/>
                </a:solidFill>
                <a:latin typeface="Rockwell" panose="02060603020205020403" pitchFamily="18" charset="0"/>
                <a:ea typeface="Tahoma"/>
                <a:cs typeface="Tahoma"/>
              </a:rPr>
              <a:t>Bảo</a:t>
            </a:r>
            <a:r>
              <a:rPr lang="en-US" dirty="0" smtClean="0">
                <a:solidFill>
                  <a:srgbClr val="0000CC"/>
                </a:solidFill>
                <a:latin typeface="Rockwell" panose="02060603020205020403" pitchFamily="18" charset="0"/>
                <a:ea typeface="Tahoma"/>
                <a:cs typeface="Tahoma"/>
              </a:rPr>
              <a:t> </a:t>
            </a:r>
            <a:r>
              <a:rPr lang="en-US" dirty="0" err="1" smtClean="0">
                <a:solidFill>
                  <a:srgbClr val="0000CC"/>
                </a:solidFill>
                <a:latin typeface="Rockwell" panose="02060603020205020403" pitchFamily="18" charset="0"/>
                <a:ea typeface="Tahoma"/>
                <a:cs typeface="Tahoma"/>
              </a:rPr>
              <a:t>mật</a:t>
            </a:r>
            <a:r>
              <a:rPr lang="en-US" dirty="0" smtClean="0">
                <a:solidFill>
                  <a:srgbClr val="0000CC"/>
                </a:solidFill>
                <a:latin typeface="Rockwell" panose="02060603020205020403" pitchFamily="18" charset="0"/>
                <a:ea typeface="Tahoma"/>
                <a:cs typeface="Tahoma"/>
              </a:rPr>
              <a:t> API </a:t>
            </a:r>
            <a:r>
              <a:rPr lang="en-US" dirty="0" err="1" smtClean="0">
                <a:solidFill>
                  <a:srgbClr val="0000CC"/>
                </a:solidFill>
                <a:latin typeface="Rockwell" panose="02060603020205020403" pitchFamily="18" charset="0"/>
                <a:ea typeface="Tahoma"/>
                <a:cs typeface="Tahoma"/>
              </a:rPr>
              <a:t>và</a:t>
            </a:r>
            <a:r>
              <a:rPr lang="en-US" dirty="0" smtClean="0">
                <a:solidFill>
                  <a:srgbClr val="0000CC"/>
                </a:solidFill>
                <a:latin typeface="Rockwell" panose="02060603020205020403" pitchFamily="18" charset="0"/>
                <a:ea typeface="Tahoma"/>
                <a:cs typeface="Tahoma"/>
              </a:rPr>
              <a:t> </a:t>
            </a:r>
            <a:r>
              <a:rPr lang="en-US" dirty="0" err="1" smtClean="0">
                <a:solidFill>
                  <a:srgbClr val="0000CC"/>
                </a:solidFill>
                <a:latin typeface="Rockwell" panose="02060603020205020403" pitchFamily="18" charset="0"/>
                <a:ea typeface="Tahoma"/>
                <a:cs typeface="Tahoma"/>
              </a:rPr>
              <a:t>Hệ</a:t>
            </a:r>
            <a:r>
              <a:rPr lang="en-US" dirty="0" smtClean="0">
                <a:solidFill>
                  <a:srgbClr val="0000CC"/>
                </a:solidFill>
                <a:latin typeface="Rockwell" panose="02060603020205020403" pitchFamily="18" charset="0"/>
                <a:ea typeface="Tahoma"/>
                <a:cs typeface="Tahoma"/>
              </a:rPr>
              <a:t> </a:t>
            </a:r>
            <a:r>
              <a:rPr lang="en-US" dirty="0" err="1" smtClean="0">
                <a:solidFill>
                  <a:srgbClr val="0000CC"/>
                </a:solidFill>
                <a:latin typeface="Rockwell" panose="02060603020205020403" pitchFamily="18" charset="0"/>
                <a:ea typeface="Tahoma"/>
                <a:cs typeface="Tahoma"/>
              </a:rPr>
              <a:t>điều</a:t>
            </a:r>
            <a:r>
              <a:rPr lang="en-US" dirty="0" smtClean="0">
                <a:solidFill>
                  <a:srgbClr val="0000CC"/>
                </a:solidFill>
                <a:latin typeface="Rockwell" panose="02060603020205020403" pitchFamily="18" charset="0"/>
                <a:ea typeface="Tahoma"/>
                <a:cs typeface="Tahoma"/>
              </a:rPr>
              <a:t> </a:t>
            </a:r>
            <a:r>
              <a:rPr lang="en-US" dirty="0" err="1" smtClean="0">
                <a:solidFill>
                  <a:srgbClr val="0000CC"/>
                </a:solidFill>
                <a:latin typeface="Rockwell" panose="02060603020205020403" pitchFamily="18" charset="0"/>
                <a:ea typeface="Tahoma"/>
                <a:cs typeface="Tahoma"/>
              </a:rPr>
              <a:t>hành</a:t>
            </a:r>
            <a:endParaRPr lang="en-US" dirty="0" smtClean="0">
              <a:solidFill>
                <a:srgbClr val="0000CC"/>
              </a:solidFill>
              <a:latin typeface="Rockwell" panose="02060603020205020403" pitchFamily="18" charset="0"/>
              <a:ea typeface="Tahoma"/>
              <a:cs typeface="Tahoma"/>
            </a:endParaRPr>
          </a:p>
          <a:p>
            <a:pPr>
              <a:lnSpc>
                <a:spcPct val="100000"/>
              </a:lnSpc>
              <a:spcBef>
                <a:spcPts val="600"/>
              </a:spcBef>
              <a:spcAft>
                <a:spcPts val="600"/>
              </a:spcAft>
            </a:pPr>
            <a:r>
              <a:rPr lang="en-US" dirty="0" err="1" smtClean="0">
                <a:solidFill>
                  <a:srgbClr val="0000CC"/>
                </a:solidFill>
                <a:latin typeface="Rockwell" panose="02060603020205020403" pitchFamily="18" charset="0"/>
                <a:ea typeface="Tahoma"/>
                <a:cs typeface="Tahoma"/>
              </a:rPr>
              <a:t>Bài</a:t>
            </a:r>
            <a:r>
              <a:rPr lang="en-US" dirty="0" smtClean="0">
                <a:solidFill>
                  <a:srgbClr val="0000CC"/>
                </a:solidFill>
                <a:latin typeface="Rockwell" panose="02060603020205020403" pitchFamily="18" charset="0"/>
                <a:ea typeface="Tahoma"/>
                <a:cs typeface="Tahoma"/>
              </a:rPr>
              <a:t> 6: </a:t>
            </a:r>
            <a:r>
              <a:rPr lang="en-US" dirty="0" err="1" smtClean="0">
                <a:solidFill>
                  <a:srgbClr val="0000CC"/>
                </a:solidFill>
                <a:latin typeface="Rockwell" panose="02060603020205020403" pitchFamily="18" charset="0"/>
                <a:ea typeface="Tahoma"/>
                <a:cs typeface="Tahoma"/>
              </a:rPr>
              <a:t>Mã</a:t>
            </a:r>
            <a:r>
              <a:rPr lang="en-US" dirty="0" smtClean="0">
                <a:solidFill>
                  <a:srgbClr val="0000CC"/>
                </a:solidFill>
                <a:latin typeface="Rockwell" panose="02060603020205020403" pitchFamily="18" charset="0"/>
                <a:ea typeface="Tahoma"/>
                <a:cs typeface="Tahoma"/>
              </a:rPr>
              <a:t> </a:t>
            </a:r>
            <a:r>
              <a:rPr lang="en-US" dirty="0" err="1" smtClean="0">
                <a:solidFill>
                  <a:srgbClr val="0000CC"/>
                </a:solidFill>
                <a:latin typeface="Rockwell" panose="02060603020205020403" pitchFamily="18" charset="0"/>
                <a:ea typeface="Tahoma"/>
                <a:cs typeface="Tahoma"/>
              </a:rPr>
              <a:t>độc</a:t>
            </a:r>
            <a:r>
              <a:rPr lang="en-US" dirty="0" smtClean="0">
                <a:solidFill>
                  <a:srgbClr val="0000CC"/>
                </a:solidFill>
                <a:latin typeface="Rockwell" panose="02060603020205020403" pitchFamily="18" charset="0"/>
                <a:ea typeface="Tahoma"/>
                <a:cs typeface="Tahoma"/>
              </a:rPr>
              <a:t> </a:t>
            </a:r>
            <a:r>
              <a:rPr lang="en-US" dirty="0" err="1" smtClean="0">
                <a:solidFill>
                  <a:srgbClr val="0000CC"/>
                </a:solidFill>
                <a:latin typeface="Rockwell" panose="02060603020205020403" pitchFamily="18" charset="0"/>
                <a:ea typeface="Tahoma"/>
                <a:cs typeface="Tahoma"/>
              </a:rPr>
              <a:t>và</a:t>
            </a:r>
            <a:r>
              <a:rPr lang="en-US" dirty="0" smtClean="0">
                <a:solidFill>
                  <a:srgbClr val="0000CC"/>
                </a:solidFill>
                <a:latin typeface="Rockwell" panose="02060603020205020403" pitchFamily="18" charset="0"/>
                <a:ea typeface="Tahoma"/>
                <a:cs typeface="Tahoma"/>
              </a:rPr>
              <a:t> </a:t>
            </a:r>
            <a:r>
              <a:rPr lang="en-US" dirty="0" err="1" smtClean="0">
                <a:solidFill>
                  <a:srgbClr val="0000CC"/>
                </a:solidFill>
                <a:latin typeface="Rockwell" panose="02060603020205020403" pitchFamily="18" charset="0"/>
                <a:ea typeface="Tahoma"/>
                <a:cs typeface="Tahoma"/>
              </a:rPr>
              <a:t>Mã</a:t>
            </a:r>
            <a:r>
              <a:rPr lang="en-US" dirty="0" smtClean="0">
                <a:solidFill>
                  <a:srgbClr val="0000CC"/>
                </a:solidFill>
                <a:latin typeface="Rockwell" panose="02060603020205020403" pitchFamily="18" charset="0"/>
                <a:ea typeface="Tahoma"/>
                <a:cs typeface="Tahoma"/>
              </a:rPr>
              <a:t> </a:t>
            </a:r>
            <a:r>
              <a:rPr lang="en-US" dirty="0" err="1" smtClean="0">
                <a:solidFill>
                  <a:srgbClr val="0000CC"/>
                </a:solidFill>
                <a:latin typeface="Rockwell" panose="02060603020205020403" pitchFamily="18" charset="0"/>
                <a:ea typeface="Tahoma"/>
                <a:cs typeface="Tahoma"/>
              </a:rPr>
              <a:t>khai</a:t>
            </a:r>
            <a:r>
              <a:rPr lang="en-US" dirty="0" smtClean="0">
                <a:solidFill>
                  <a:srgbClr val="0000CC"/>
                </a:solidFill>
                <a:latin typeface="Rockwell" panose="02060603020205020403" pitchFamily="18" charset="0"/>
                <a:ea typeface="Tahoma"/>
                <a:cs typeface="Tahoma"/>
              </a:rPr>
              <a:t> </a:t>
            </a:r>
            <a:r>
              <a:rPr lang="en-US" dirty="0" err="1" smtClean="0">
                <a:solidFill>
                  <a:srgbClr val="0000CC"/>
                </a:solidFill>
                <a:latin typeface="Rockwell" panose="02060603020205020403" pitchFamily="18" charset="0"/>
                <a:ea typeface="Tahoma"/>
                <a:cs typeface="Tahoma"/>
              </a:rPr>
              <a:t>thác</a:t>
            </a:r>
            <a:endParaRPr lang="en-US" dirty="0" smtClean="0">
              <a:solidFill>
                <a:srgbClr val="0000CC"/>
              </a:solidFill>
              <a:latin typeface="Rockwell" panose="02060603020205020403" pitchFamily="18" charset="0"/>
              <a:ea typeface="Tahoma"/>
              <a:cs typeface="Tahoma"/>
            </a:endParaRPr>
          </a:p>
          <a:p>
            <a:pPr>
              <a:lnSpc>
                <a:spcPct val="100000"/>
              </a:lnSpc>
              <a:spcBef>
                <a:spcPts val="600"/>
              </a:spcBef>
              <a:spcAft>
                <a:spcPts val="600"/>
              </a:spcAft>
            </a:pPr>
            <a:r>
              <a:rPr lang="en-US" dirty="0" err="1" smtClean="0">
                <a:solidFill>
                  <a:srgbClr val="FF00FF"/>
                </a:solidFill>
                <a:latin typeface="Rockwell" panose="02060603020205020403" pitchFamily="18" charset="0"/>
                <a:ea typeface="Tahoma"/>
                <a:cs typeface="Tahoma"/>
              </a:rPr>
              <a:t>Bài</a:t>
            </a:r>
            <a:r>
              <a:rPr lang="en-US" dirty="0" smtClean="0">
                <a:solidFill>
                  <a:srgbClr val="FF00FF"/>
                </a:solidFill>
                <a:latin typeface="Rockwell" panose="02060603020205020403" pitchFamily="18" charset="0"/>
                <a:ea typeface="Tahoma"/>
                <a:cs typeface="Tahoma"/>
              </a:rPr>
              <a:t> </a:t>
            </a:r>
            <a:r>
              <a:rPr lang="en-US" dirty="0">
                <a:solidFill>
                  <a:srgbClr val="FF00FF"/>
                </a:solidFill>
                <a:latin typeface="Rockwell" panose="02060603020205020403" pitchFamily="18" charset="0"/>
                <a:ea typeface="Tahoma"/>
                <a:cs typeface="Tahoma"/>
              </a:rPr>
              <a:t>7: </a:t>
            </a:r>
            <a:r>
              <a:rPr lang="en-US" dirty="0" smtClean="0">
                <a:solidFill>
                  <a:srgbClr val="FF00FF"/>
                </a:solidFill>
                <a:latin typeface="Rockwell" panose="02060603020205020403" pitchFamily="18" charset="0"/>
                <a:ea typeface="Tahoma"/>
                <a:cs typeface="Tahoma"/>
              </a:rPr>
              <a:t>BM </a:t>
            </a:r>
            <a:r>
              <a:rPr lang="en-US" dirty="0" err="1" smtClean="0">
                <a:solidFill>
                  <a:srgbClr val="FF00FF"/>
                </a:solidFill>
                <a:latin typeface="Rockwell" panose="02060603020205020403" pitchFamily="18" charset="0"/>
                <a:ea typeface="Tahoma"/>
                <a:cs typeface="Tahoma"/>
              </a:rPr>
              <a:t>hạ</a:t>
            </a:r>
            <a:r>
              <a:rPr lang="en-US" dirty="0" smtClean="0">
                <a:solidFill>
                  <a:srgbClr val="FF00FF"/>
                </a:solidFill>
                <a:latin typeface="Rockwell" panose="02060603020205020403" pitchFamily="18" charset="0"/>
                <a:ea typeface="Tahoma"/>
                <a:cs typeface="Tahoma"/>
              </a:rPr>
              <a:t> </a:t>
            </a:r>
            <a:r>
              <a:rPr lang="en-US" dirty="0" err="1" smtClean="0">
                <a:solidFill>
                  <a:srgbClr val="FF00FF"/>
                </a:solidFill>
                <a:latin typeface="Rockwell" panose="02060603020205020403" pitchFamily="18" charset="0"/>
                <a:ea typeface="Tahoma"/>
                <a:cs typeface="Tahoma"/>
              </a:rPr>
              <a:t>tầng</a:t>
            </a:r>
            <a:r>
              <a:rPr lang="en-US" dirty="0" smtClean="0">
                <a:solidFill>
                  <a:srgbClr val="FF00FF"/>
                </a:solidFill>
                <a:latin typeface="Rockwell" panose="02060603020205020403" pitchFamily="18" charset="0"/>
                <a:ea typeface="Tahoma"/>
                <a:cs typeface="Tahoma"/>
              </a:rPr>
              <a:t> </a:t>
            </a:r>
            <a:r>
              <a:rPr lang="en-US" dirty="0" err="1" smtClean="0">
                <a:solidFill>
                  <a:srgbClr val="FF00FF"/>
                </a:solidFill>
                <a:latin typeface="Rockwell" panose="02060603020205020403" pitchFamily="18" charset="0"/>
                <a:ea typeface="Tahoma"/>
                <a:cs typeface="Tahoma"/>
              </a:rPr>
              <a:t>mạng</a:t>
            </a:r>
            <a:r>
              <a:rPr lang="en-US" dirty="0" smtClean="0">
                <a:solidFill>
                  <a:srgbClr val="FF00FF"/>
                </a:solidFill>
                <a:latin typeface="Rockwell" panose="02060603020205020403" pitchFamily="18" charset="0"/>
                <a:ea typeface="Tahoma"/>
                <a:cs typeface="Tahoma"/>
              </a:rPr>
              <a:t> E-Commerce: </a:t>
            </a:r>
            <a:r>
              <a:rPr lang="en-US" dirty="0">
                <a:solidFill>
                  <a:srgbClr val="FF00FF"/>
                </a:solidFill>
                <a:latin typeface="Rockwell" panose="02060603020205020403" pitchFamily="18" charset="0"/>
                <a:ea typeface="Tahoma"/>
                <a:cs typeface="Tahoma"/>
              </a:rPr>
              <a:t>VPN </a:t>
            </a:r>
            <a:r>
              <a:rPr lang="en-US" dirty="0" smtClean="0">
                <a:solidFill>
                  <a:srgbClr val="FF00FF"/>
                </a:solidFill>
                <a:latin typeface="Rockwell" panose="02060603020205020403" pitchFamily="18" charset="0"/>
                <a:ea typeface="Tahoma"/>
                <a:cs typeface="Tahoma"/>
              </a:rPr>
              <a:t>- </a:t>
            </a:r>
            <a:r>
              <a:rPr lang="en-US" dirty="0">
                <a:solidFill>
                  <a:srgbClr val="FF00FF"/>
                </a:solidFill>
                <a:latin typeface="Rockwell" panose="02060603020205020403" pitchFamily="18" charset="0"/>
                <a:ea typeface="Tahoma"/>
                <a:cs typeface="Tahoma"/>
              </a:rPr>
              <a:t>FW - IDS</a:t>
            </a:r>
            <a:endParaRPr lang="en-US" dirty="0" smtClean="0">
              <a:solidFill>
                <a:srgbClr val="FF00FF"/>
              </a:solidFill>
              <a:latin typeface="Rockwell" panose="02060603020205020403" pitchFamily="18" charset="0"/>
              <a:ea typeface="Tahoma"/>
              <a:cs typeface="Tahoma"/>
            </a:endParaRPr>
          </a:p>
          <a:p>
            <a:pPr>
              <a:lnSpc>
                <a:spcPct val="100000"/>
              </a:lnSpc>
              <a:spcBef>
                <a:spcPts val="600"/>
              </a:spcBef>
              <a:spcAft>
                <a:spcPts val="600"/>
              </a:spcAft>
            </a:pPr>
            <a:r>
              <a:rPr lang="en-US" dirty="0" err="1" smtClean="0">
                <a:solidFill>
                  <a:srgbClr val="0000CC"/>
                </a:solidFill>
                <a:latin typeface="Rockwell" panose="02060603020205020403" pitchFamily="18" charset="0"/>
                <a:ea typeface="Tahoma"/>
                <a:cs typeface="Tahoma"/>
              </a:rPr>
              <a:t>Bài</a:t>
            </a:r>
            <a:r>
              <a:rPr lang="en-US" dirty="0" smtClean="0">
                <a:solidFill>
                  <a:srgbClr val="0000CC"/>
                </a:solidFill>
                <a:latin typeface="Rockwell" panose="02060603020205020403" pitchFamily="18" charset="0"/>
                <a:ea typeface="Tahoma"/>
                <a:cs typeface="Tahoma"/>
              </a:rPr>
              <a:t> 8: </a:t>
            </a:r>
            <a:r>
              <a:rPr lang="en-US" dirty="0" err="1">
                <a:solidFill>
                  <a:srgbClr val="0000CC"/>
                </a:solidFill>
                <a:latin typeface="Rockwell" panose="02060603020205020403" pitchFamily="18" charset="0"/>
                <a:ea typeface="Tahoma"/>
                <a:cs typeface="Tahoma"/>
              </a:rPr>
              <a:t>Quy</a:t>
            </a:r>
            <a:r>
              <a:rPr lang="en-US" dirty="0">
                <a:solidFill>
                  <a:srgbClr val="0000CC"/>
                </a:solidFill>
                <a:latin typeface="Rockwell" panose="02060603020205020403" pitchFamily="18" charset="0"/>
                <a:ea typeface="Tahoma"/>
                <a:cs typeface="Tahoma"/>
              </a:rPr>
              <a:t> </a:t>
            </a:r>
            <a:r>
              <a:rPr lang="en-US" dirty="0" err="1">
                <a:solidFill>
                  <a:srgbClr val="0000CC"/>
                </a:solidFill>
                <a:latin typeface="Rockwell" panose="02060603020205020403" pitchFamily="18" charset="0"/>
                <a:ea typeface="Tahoma"/>
                <a:cs typeface="Tahoma"/>
              </a:rPr>
              <a:t>trình</a:t>
            </a:r>
            <a:r>
              <a:rPr lang="en-US" dirty="0">
                <a:solidFill>
                  <a:srgbClr val="0000CC"/>
                </a:solidFill>
                <a:latin typeface="Rockwell" panose="02060603020205020403" pitchFamily="18" charset="0"/>
                <a:ea typeface="Tahoma"/>
                <a:cs typeface="Tahoma"/>
              </a:rPr>
              <a:t> </a:t>
            </a:r>
            <a:r>
              <a:rPr lang="en-US" dirty="0" err="1">
                <a:solidFill>
                  <a:srgbClr val="0000CC"/>
                </a:solidFill>
                <a:latin typeface="Rockwell" panose="02060603020205020403" pitchFamily="18" charset="0"/>
                <a:ea typeface="Tahoma"/>
                <a:cs typeface="Tahoma"/>
              </a:rPr>
              <a:t>phát</a:t>
            </a:r>
            <a:r>
              <a:rPr lang="en-US" dirty="0">
                <a:solidFill>
                  <a:srgbClr val="0000CC"/>
                </a:solidFill>
                <a:latin typeface="Rockwell" panose="02060603020205020403" pitchFamily="18" charset="0"/>
                <a:ea typeface="Tahoma"/>
                <a:cs typeface="Tahoma"/>
              </a:rPr>
              <a:t> </a:t>
            </a:r>
            <a:r>
              <a:rPr lang="en-US" dirty="0" err="1">
                <a:solidFill>
                  <a:srgbClr val="0000CC"/>
                </a:solidFill>
                <a:latin typeface="Rockwell" panose="02060603020205020403" pitchFamily="18" charset="0"/>
                <a:ea typeface="Tahoma"/>
                <a:cs typeface="Tahoma"/>
              </a:rPr>
              <a:t>triển</a:t>
            </a:r>
            <a:r>
              <a:rPr lang="en-US" dirty="0">
                <a:solidFill>
                  <a:srgbClr val="0000CC"/>
                </a:solidFill>
                <a:latin typeface="Rockwell" panose="02060603020205020403" pitchFamily="18" charset="0"/>
                <a:ea typeface="Tahoma"/>
                <a:cs typeface="Tahoma"/>
              </a:rPr>
              <a:t> </a:t>
            </a:r>
            <a:r>
              <a:rPr lang="en-US" dirty="0" err="1">
                <a:solidFill>
                  <a:srgbClr val="0000CC"/>
                </a:solidFill>
                <a:latin typeface="Rockwell" panose="02060603020205020403" pitchFamily="18" charset="0"/>
                <a:ea typeface="Tahoma"/>
                <a:cs typeface="Tahoma"/>
              </a:rPr>
              <a:t>phần</a:t>
            </a:r>
            <a:r>
              <a:rPr lang="en-US" dirty="0">
                <a:solidFill>
                  <a:srgbClr val="0000CC"/>
                </a:solidFill>
                <a:latin typeface="Rockwell" panose="02060603020205020403" pitchFamily="18" charset="0"/>
                <a:ea typeface="Tahoma"/>
                <a:cs typeface="Tahoma"/>
              </a:rPr>
              <a:t> </a:t>
            </a:r>
            <a:r>
              <a:rPr lang="en-US" dirty="0" err="1">
                <a:solidFill>
                  <a:srgbClr val="0000CC"/>
                </a:solidFill>
                <a:latin typeface="Rockwell" panose="02060603020205020403" pitchFamily="18" charset="0"/>
                <a:ea typeface="Tahoma"/>
                <a:cs typeface="Tahoma"/>
              </a:rPr>
              <a:t>mềm</a:t>
            </a:r>
            <a:r>
              <a:rPr lang="en-US" dirty="0">
                <a:solidFill>
                  <a:srgbClr val="0000CC"/>
                </a:solidFill>
                <a:latin typeface="Rockwell" panose="02060603020205020403" pitchFamily="18" charset="0"/>
                <a:ea typeface="Tahoma"/>
                <a:cs typeface="Tahoma"/>
              </a:rPr>
              <a:t> an </a:t>
            </a:r>
            <a:r>
              <a:rPr lang="en-US" dirty="0" err="1">
                <a:solidFill>
                  <a:srgbClr val="0000CC"/>
                </a:solidFill>
                <a:latin typeface="Rockwell" panose="02060603020205020403" pitchFamily="18" charset="0"/>
                <a:ea typeface="Tahoma"/>
                <a:cs typeface="Tahoma"/>
              </a:rPr>
              <a:t>toàn</a:t>
            </a:r>
            <a:r>
              <a:rPr lang="en-US" dirty="0" smtClean="0">
                <a:solidFill>
                  <a:srgbClr val="0000CC"/>
                </a:solidFill>
                <a:latin typeface="Rockwell" panose="02060603020205020403" pitchFamily="18" charset="0"/>
                <a:ea typeface="Tahoma"/>
                <a:cs typeface="Tahoma"/>
              </a:rPr>
              <a:t> </a:t>
            </a:r>
            <a:endParaRPr lang="en-US" dirty="0">
              <a:solidFill>
                <a:srgbClr val="0000CC"/>
              </a:solidFill>
              <a:latin typeface="Rockwell" panose="02060603020205020403" pitchFamily="18" charset="0"/>
              <a:ea typeface="Tahoma"/>
              <a:cs typeface="Tahoma"/>
            </a:endParaRPr>
          </a:p>
        </p:txBody>
      </p:sp>
      <p:cxnSp>
        <p:nvCxnSpPr>
          <p:cNvPr id="13" name="Straight Connector 12"/>
          <p:cNvCxnSpPr/>
          <p:nvPr/>
        </p:nvCxnSpPr>
        <p:spPr>
          <a:xfrm>
            <a:off x="0" y="1363136"/>
            <a:ext cx="9055676" cy="0"/>
          </a:xfrm>
          <a:prstGeom prst="line">
            <a:avLst/>
          </a:prstGeom>
          <a:ln w="44450">
            <a:solidFill>
              <a:srgbClr val="0000CC"/>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9049914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742257-3980-4551-868A-26DC3CB821EE}"/>
              </a:ext>
            </a:extLst>
          </p:cNvPr>
          <p:cNvSpPr>
            <a:spLocks noGrp="1"/>
          </p:cNvSpPr>
          <p:nvPr>
            <p:ph type="title"/>
          </p:nvPr>
        </p:nvSpPr>
        <p:spPr>
          <a:xfrm>
            <a:off x="451614" y="773609"/>
            <a:ext cx="8622193" cy="479619"/>
          </a:xfrm>
        </p:spPr>
        <p:txBody>
          <a:bodyPr>
            <a:noAutofit/>
          </a:bodyPr>
          <a:lstStyle/>
          <a:p>
            <a:r>
              <a:rPr lang="en-US" sz="2800" dirty="0" err="1" smtClean="0">
                <a:solidFill>
                  <a:srgbClr val="0000CC"/>
                </a:solidFill>
                <a:latin typeface="Rockwell" panose="02060603020205020403" pitchFamily="18" charset="0"/>
              </a:rPr>
              <a:t>BÀI</a:t>
            </a:r>
            <a:r>
              <a:rPr lang="en-US" sz="2800" dirty="0" smtClean="0">
                <a:solidFill>
                  <a:srgbClr val="0000CC"/>
                </a:solidFill>
                <a:latin typeface="Rockwell" panose="02060603020205020403" pitchFamily="18" charset="0"/>
              </a:rPr>
              <a:t> 7: </a:t>
            </a:r>
            <a:r>
              <a:rPr lang="en-US" sz="2800" dirty="0" smtClean="0">
                <a:solidFill>
                  <a:srgbClr val="0000CC"/>
                </a:solidFill>
                <a:latin typeface="Rockwell" panose="02060603020205020403" pitchFamily="18" charset="0"/>
                <a:ea typeface="Tahoma"/>
                <a:cs typeface="Tahoma"/>
              </a:rPr>
              <a:t>BM </a:t>
            </a:r>
            <a:r>
              <a:rPr lang="en-US" sz="2800" dirty="0" err="1" smtClean="0">
                <a:solidFill>
                  <a:srgbClr val="0000CC"/>
                </a:solidFill>
                <a:latin typeface="Rockwell" panose="02060603020205020403" pitchFamily="18" charset="0"/>
                <a:ea typeface="Tahoma"/>
                <a:cs typeface="Tahoma"/>
              </a:rPr>
              <a:t>HẠ</a:t>
            </a:r>
            <a:r>
              <a:rPr lang="en-US" sz="2800" dirty="0" smtClean="0">
                <a:solidFill>
                  <a:srgbClr val="0000CC"/>
                </a:solidFill>
                <a:latin typeface="Rockwell" panose="02060603020205020403" pitchFamily="18" charset="0"/>
                <a:ea typeface="Tahoma"/>
                <a:cs typeface="Tahoma"/>
              </a:rPr>
              <a:t> </a:t>
            </a:r>
            <a:r>
              <a:rPr lang="en-US" sz="2800" dirty="0" err="1" smtClean="0">
                <a:solidFill>
                  <a:srgbClr val="0000CC"/>
                </a:solidFill>
                <a:latin typeface="Rockwell" panose="02060603020205020403" pitchFamily="18" charset="0"/>
                <a:ea typeface="Tahoma"/>
                <a:cs typeface="Tahoma"/>
              </a:rPr>
              <a:t>TẦNG</a:t>
            </a:r>
            <a:r>
              <a:rPr lang="en-US" sz="2800" dirty="0" smtClean="0">
                <a:solidFill>
                  <a:srgbClr val="0000CC"/>
                </a:solidFill>
                <a:latin typeface="Rockwell" panose="02060603020205020403" pitchFamily="18" charset="0"/>
                <a:ea typeface="Tahoma"/>
                <a:cs typeface="Tahoma"/>
              </a:rPr>
              <a:t> </a:t>
            </a:r>
            <a:r>
              <a:rPr lang="en-US" sz="2800" dirty="0" err="1" smtClean="0">
                <a:solidFill>
                  <a:srgbClr val="0000CC"/>
                </a:solidFill>
                <a:latin typeface="Rockwell" panose="02060603020205020403" pitchFamily="18" charset="0"/>
                <a:ea typeface="Tahoma"/>
                <a:cs typeface="Tahoma"/>
              </a:rPr>
              <a:t>MẠNG</a:t>
            </a:r>
            <a:r>
              <a:rPr lang="en-US" sz="2800" dirty="0" smtClean="0">
                <a:solidFill>
                  <a:srgbClr val="0000CC"/>
                </a:solidFill>
                <a:latin typeface="Rockwell" panose="02060603020205020403" pitchFamily="18" charset="0"/>
                <a:ea typeface="Tahoma"/>
                <a:cs typeface="Tahoma"/>
              </a:rPr>
              <a:t> E-COMMERCE: </a:t>
            </a:r>
            <a:br>
              <a:rPr lang="en-US" sz="2800" dirty="0" smtClean="0">
                <a:solidFill>
                  <a:srgbClr val="0000CC"/>
                </a:solidFill>
                <a:latin typeface="Rockwell" panose="02060603020205020403" pitchFamily="18" charset="0"/>
                <a:ea typeface="Tahoma"/>
                <a:cs typeface="Tahoma"/>
              </a:rPr>
            </a:br>
            <a:r>
              <a:rPr lang="en-US" sz="2800" dirty="0" smtClean="0">
                <a:solidFill>
                  <a:srgbClr val="0000CC"/>
                </a:solidFill>
                <a:latin typeface="Rockwell" panose="02060603020205020403" pitchFamily="18" charset="0"/>
                <a:ea typeface="Tahoma"/>
                <a:cs typeface="Tahoma"/>
              </a:rPr>
              <a:t>            VPN - FW - IDS</a:t>
            </a:r>
            <a:endParaRPr lang="en-US" sz="2800"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B57E0B0F-4D29-4786-B2AB-B84D9F8B5429}"/>
              </a:ext>
            </a:extLst>
          </p:cNvPr>
          <p:cNvSpPr>
            <a:spLocks noGrp="1"/>
          </p:cNvSpPr>
          <p:nvPr>
            <p:ph idx="1"/>
          </p:nvPr>
        </p:nvSpPr>
        <p:spPr>
          <a:xfrm>
            <a:off x="450376" y="1440733"/>
            <a:ext cx="9000158" cy="4228811"/>
          </a:xfrm>
        </p:spPr>
        <p:txBody>
          <a:bodyPr>
            <a:noAutofit/>
          </a:bodyPr>
          <a:lstStyle/>
          <a:p>
            <a:pPr marL="457200" indent="-457200">
              <a:lnSpc>
                <a:spcPct val="100000"/>
              </a:lnSpc>
              <a:spcBef>
                <a:spcPts val="600"/>
              </a:spcBef>
              <a:spcAft>
                <a:spcPts val="600"/>
              </a:spcAft>
              <a:buFont typeface="+mj-lt"/>
              <a:buAutoNum type="arabicPeriod"/>
            </a:pPr>
            <a:r>
              <a:rPr lang="en-US" sz="26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Chức</a:t>
            </a:r>
            <a:r>
              <a:rPr lang="en-US" sz="26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6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năng</a:t>
            </a:r>
            <a:r>
              <a:rPr lang="en-US" sz="26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6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và</a:t>
            </a:r>
            <a:r>
              <a:rPr lang="en-US" sz="26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6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mục</a:t>
            </a:r>
            <a:r>
              <a:rPr lang="en-US" sz="26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6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đích</a:t>
            </a:r>
            <a:r>
              <a:rPr lang="en-US" sz="26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6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sử</a:t>
            </a:r>
            <a:r>
              <a:rPr lang="en-US" sz="26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6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dụng</a:t>
            </a:r>
            <a:r>
              <a:rPr lang="en-US" sz="26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6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của</a:t>
            </a:r>
            <a:r>
              <a:rPr lang="en-US" sz="26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VPN</a:t>
            </a:r>
          </a:p>
          <a:p>
            <a:pPr marL="457200" indent="-457200">
              <a:lnSpc>
                <a:spcPct val="100000"/>
              </a:lnSpc>
              <a:spcBef>
                <a:spcPts val="600"/>
              </a:spcBef>
              <a:spcAft>
                <a:spcPts val="600"/>
              </a:spcAft>
              <a:buFont typeface="+mj-lt"/>
              <a:buAutoNum type="arabicPeriod"/>
            </a:pPr>
            <a:r>
              <a:rPr lang="en-US" sz="26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Chức</a:t>
            </a:r>
            <a:r>
              <a:rPr lang="en-US" sz="26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6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năng</a:t>
            </a:r>
            <a:r>
              <a:rPr lang="en-US" sz="26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6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và</a:t>
            </a:r>
            <a:r>
              <a:rPr lang="en-US" sz="26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6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mục</a:t>
            </a:r>
            <a:r>
              <a:rPr lang="en-US" sz="26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6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đích</a:t>
            </a:r>
            <a:r>
              <a:rPr lang="en-US" sz="26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6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sử</a:t>
            </a:r>
            <a:r>
              <a:rPr lang="en-US" sz="26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6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dụng</a:t>
            </a:r>
            <a:r>
              <a:rPr lang="en-US" sz="26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6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của</a:t>
            </a:r>
            <a:r>
              <a:rPr lang="en-US" sz="26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6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FIREWALL</a:t>
            </a:r>
          </a:p>
          <a:p>
            <a:pPr marL="457200" indent="-457200">
              <a:lnSpc>
                <a:spcPct val="100000"/>
              </a:lnSpc>
              <a:spcBef>
                <a:spcPts val="600"/>
              </a:spcBef>
              <a:spcAft>
                <a:spcPts val="600"/>
              </a:spcAft>
              <a:buFont typeface="+mj-lt"/>
              <a:buAutoNum type="arabicPeriod"/>
            </a:pPr>
            <a:r>
              <a:rPr lang="en-US" sz="26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Chức</a:t>
            </a:r>
            <a:r>
              <a:rPr lang="en-US" sz="26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6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năng</a:t>
            </a:r>
            <a:r>
              <a:rPr lang="en-US" sz="26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6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và</a:t>
            </a:r>
            <a:r>
              <a:rPr lang="en-US" sz="26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6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mục</a:t>
            </a:r>
            <a:r>
              <a:rPr lang="en-US" sz="26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6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đích</a:t>
            </a:r>
            <a:r>
              <a:rPr lang="en-US" sz="26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6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sử</a:t>
            </a:r>
            <a:r>
              <a:rPr lang="en-US" sz="26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6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dụng</a:t>
            </a:r>
            <a:r>
              <a:rPr lang="en-US" sz="26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6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của</a:t>
            </a:r>
            <a:r>
              <a:rPr lang="en-US" sz="26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6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IDS</a:t>
            </a:r>
          </a:p>
          <a:p>
            <a:pPr marL="457200" indent="-457200">
              <a:lnSpc>
                <a:spcPct val="100000"/>
              </a:lnSpc>
              <a:spcBef>
                <a:spcPts val="600"/>
              </a:spcBef>
              <a:spcAft>
                <a:spcPts val="600"/>
              </a:spcAft>
              <a:buFont typeface="+mj-lt"/>
              <a:buAutoNum type="arabicPeriod"/>
            </a:pPr>
            <a:r>
              <a:rPr lang="en-US" sz="26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Yêu</a:t>
            </a:r>
            <a:r>
              <a:rPr lang="en-US" sz="26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6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cầu</a:t>
            </a:r>
            <a:r>
              <a:rPr lang="en-US" sz="26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BM </a:t>
            </a:r>
            <a:r>
              <a:rPr lang="en-US" sz="26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đối</a:t>
            </a:r>
            <a:r>
              <a:rPr lang="en-US" sz="26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6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với</a:t>
            </a:r>
            <a:r>
              <a:rPr lang="en-US" sz="26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6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hạ</a:t>
            </a:r>
            <a:r>
              <a:rPr lang="en-US" sz="26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6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tầng</a:t>
            </a:r>
            <a:r>
              <a:rPr lang="en-US" sz="26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6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mạng</a:t>
            </a:r>
            <a:r>
              <a:rPr lang="en-US" sz="26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E-Commerce</a:t>
            </a:r>
          </a:p>
          <a:p>
            <a:pPr marL="457200" indent="-457200">
              <a:lnSpc>
                <a:spcPct val="100000"/>
              </a:lnSpc>
              <a:spcBef>
                <a:spcPts val="600"/>
              </a:spcBef>
              <a:spcAft>
                <a:spcPts val="600"/>
              </a:spcAft>
              <a:buFont typeface="+mj-lt"/>
              <a:buAutoNum type="arabicPeriod"/>
            </a:pPr>
            <a:r>
              <a:rPr lang="en-US" sz="26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Tích</a:t>
            </a:r>
            <a:r>
              <a:rPr lang="en-US" sz="26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6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hợp</a:t>
            </a:r>
            <a:r>
              <a:rPr lang="en-US" sz="26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VPN – FW – IDS </a:t>
            </a:r>
            <a:r>
              <a:rPr lang="en-US" sz="26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trong</a:t>
            </a:r>
            <a:r>
              <a:rPr lang="en-US" sz="26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6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mạng</a:t>
            </a:r>
            <a:r>
              <a:rPr lang="en-US" sz="26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E-Commerce</a:t>
            </a:r>
          </a:p>
          <a:p>
            <a:pPr marL="457200" indent="-457200">
              <a:lnSpc>
                <a:spcPct val="100000"/>
              </a:lnSpc>
              <a:spcBef>
                <a:spcPts val="600"/>
              </a:spcBef>
              <a:spcAft>
                <a:spcPts val="600"/>
              </a:spcAft>
              <a:buFont typeface="+mj-lt"/>
              <a:buAutoNum type="arabicPeriod"/>
            </a:pPr>
            <a:r>
              <a:rPr lang="en-US" sz="26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Chính</a:t>
            </a:r>
            <a:r>
              <a:rPr lang="en-US" sz="26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6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sách</a:t>
            </a:r>
            <a:r>
              <a:rPr lang="en-US" sz="26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6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bảo</a:t>
            </a:r>
            <a:r>
              <a:rPr lang="en-US" sz="26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6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mật</a:t>
            </a:r>
            <a:r>
              <a:rPr lang="en-US" sz="26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6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hạ</a:t>
            </a:r>
            <a:r>
              <a:rPr lang="en-US" sz="26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6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tầng</a:t>
            </a:r>
            <a:r>
              <a:rPr lang="en-US" sz="26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6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mạng</a:t>
            </a:r>
            <a:r>
              <a:rPr lang="en-US" sz="26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E-Commerce</a:t>
            </a:r>
          </a:p>
          <a:p>
            <a:pPr marL="457200" indent="-457200">
              <a:lnSpc>
                <a:spcPct val="100000"/>
              </a:lnSpc>
              <a:spcBef>
                <a:spcPts val="600"/>
              </a:spcBef>
              <a:spcAft>
                <a:spcPts val="600"/>
              </a:spcAft>
              <a:buFont typeface="+mj-lt"/>
              <a:buAutoNum type="arabicPeriod"/>
            </a:pPr>
            <a:r>
              <a:rPr lang="en-US" sz="26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Kết</a:t>
            </a:r>
            <a:r>
              <a:rPr lang="en-US" sz="26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6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luận</a:t>
            </a:r>
            <a:r>
              <a:rPr lang="en-US" sz="26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&amp; </a:t>
            </a:r>
            <a:r>
              <a:rPr lang="en-US" sz="26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Thảo</a:t>
            </a:r>
            <a:r>
              <a:rPr lang="en-US" sz="26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6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luận</a:t>
            </a:r>
            <a:r>
              <a:rPr lang="en-US" sz="26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endParaRPr lang="en-US" sz="2600" b="1" dirty="0">
              <a:solidFill>
                <a:srgbClr val="0000CC"/>
              </a:solidFill>
              <a:latin typeface="Rockwell" panose="02060603020205020403" pitchFamily="18" charset="0"/>
              <a:ea typeface="Segoe UI Emoji" panose="020B0502040204020203" pitchFamily="34" charset="0"/>
              <a:cs typeface="Tahoma" panose="020B0604030504040204" pitchFamily="34" charset="0"/>
            </a:endParaRPr>
          </a:p>
          <a:p>
            <a:pPr marL="457200" indent="-457200">
              <a:lnSpc>
                <a:spcPct val="100000"/>
              </a:lnSpc>
              <a:spcBef>
                <a:spcPts val="1200"/>
              </a:spcBef>
              <a:spcAft>
                <a:spcPts val="1200"/>
              </a:spcAft>
              <a:buFont typeface="+mj-lt"/>
              <a:buAutoNum type="arabicPeriod"/>
            </a:pPr>
            <a:endParaRPr lang="en-US" sz="2600" b="1" dirty="0">
              <a:solidFill>
                <a:srgbClr val="0000CC"/>
              </a:solidFill>
              <a:latin typeface="Rockwell" panose="02060603020205020403" pitchFamily="18" charset="0"/>
              <a:ea typeface="Segoe UI Emoji" panose="020B0502040204020203" pitchFamily="34" charset="0"/>
              <a:cs typeface="Tahoma" panose="020B0604030504040204" pitchFamily="34" charset="0"/>
            </a:endParaRPr>
          </a:p>
        </p:txBody>
      </p:sp>
      <p:grpSp>
        <p:nvGrpSpPr>
          <p:cNvPr id="13" name="Group 12">
            <a:extLst>
              <a:ext uri="{FF2B5EF4-FFF2-40B4-BE49-F238E27FC236}">
                <a16:creationId xmlns:a16="http://schemas.microsoft.com/office/drawing/2014/main" id="{9C15E21A-C111-4D39-BB47-E83988E5A05E}"/>
              </a:ext>
              <a:ext uri="{C183D7F6-B498-43B3-948B-1728B52AA6E4}">
                <adec:decorative xmlns:adec="http://schemas.microsoft.com/office/drawing/2017/decorative" xmlns="" val="1"/>
              </a:ext>
            </a:extLst>
          </p:cNvPr>
          <p:cNvGrpSpPr/>
          <p:nvPr/>
        </p:nvGrpSpPr>
        <p:grpSpPr>
          <a:xfrm>
            <a:off x="9055676" y="0"/>
            <a:ext cx="3193475" cy="6954260"/>
            <a:chOff x="9055676" y="0"/>
            <a:chExt cx="3193475" cy="6954260"/>
          </a:xfrm>
        </p:grpSpPr>
        <p:grpSp>
          <p:nvGrpSpPr>
            <p:cNvPr id="10" name="Group 9">
              <a:extLst>
                <a:ext uri="{FF2B5EF4-FFF2-40B4-BE49-F238E27FC236}">
                  <a16:creationId xmlns:a16="http://schemas.microsoft.com/office/drawing/2014/main" id="{D4EF09CF-3362-453A-9463-F6669A9D3E01}"/>
                </a:ext>
              </a:extLst>
            </p:cNvPr>
            <p:cNvGrpSpPr/>
            <p:nvPr/>
          </p:nvGrpSpPr>
          <p:grpSpPr>
            <a:xfrm>
              <a:off x="9055676" y="0"/>
              <a:ext cx="3136324" cy="6858000"/>
              <a:chOff x="9055676" y="0"/>
              <a:chExt cx="3136324" cy="6858000"/>
            </a:xfrm>
          </p:grpSpPr>
          <p:sp>
            <p:nvSpPr>
              <p:cNvPr id="4" name="Rectangle 3">
                <a:extLst>
                  <a:ext uri="{FF2B5EF4-FFF2-40B4-BE49-F238E27FC236}">
                    <a16:creationId xmlns:a16="http://schemas.microsoft.com/office/drawing/2014/main" id="{403AE892-EBD6-40F1-851B-FEADBD59429F}"/>
                  </a:ext>
                </a:extLst>
              </p:cNvPr>
              <p:cNvSpPr/>
              <p:nvPr/>
            </p:nvSpPr>
            <p:spPr>
              <a:xfrm>
                <a:off x="9221932" y="0"/>
                <a:ext cx="2970068" cy="6858000"/>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Rectangle 4">
                <a:extLst>
                  <a:ext uri="{FF2B5EF4-FFF2-40B4-BE49-F238E27FC236}">
                    <a16:creationId xmlns:a16="http://schemas.microsoft.com/office/drawing/2014/main" id="{54318653-1A38-442C-BA0F-F2C51149BCFF}"/>
                  </a:ext>
                </a:extLst>
              </p:cNvPr>
              <p:cNvSpPr/>
              <p:nvPr/>
            </p:nvSpPr>
            <p:spPr>
              <a:xfrm>
                <a:off x="9055676" y="0"/>
                <a:ext cx="166255"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ectangle 5">
                <a:extLst>
                  <a:ext uri="{FF2B5EF4-FFF2-40B4-BE49-F238E27FC236}">
                    <a16:creationId xmlns:a16="http://schemas.microsoft.com/office/drawing/2014/main" id="{C25D63D1-E9CE-42BF-BD4D-374FD0293155}"/>
                  </a:ext>
                </a:extLst>
              </p:cNvPr>
              <p:cNvSpPr/>
              <p:nvPr/>
            </p:nvSpPr>
            <p:spPr>
              <a:xfrm>
                <a:off x="9221932" y="0"/>
                <a:ext cx="114301" cy="6858000"/>
              </a:xfrm>
              <a:prstGeom prst="rect">
                <a:avLst/>
              </a:prstGeom>
              <a:solidFill>
                <a:srgbClr val="FFD34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BA4EE865-9F0D-4531-A737-E13A557C0277}"/>
                  </a:ext>
                </a:extLst>
              </p:cNvPr>
              <p:cNvSpPr/>
              <p:nvPr/>
            </p:nvSpPr>
            <p:spPr>
              <a:xfrm>
                <a:off x="9336233" y="0"/>
                <a:ext cx="150667"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a:extLst>
                  <a:ext uri="{FF2B5EF4-FFF2-40B4-BE49-F238E27FC236}">
                    <a16:creationId xmlns:a16="http://schemas.microsoft.com/office/drawing/2014/main" id="{6A1183CB-C5B0-498A-A49C-4180134C74B0}"/>
                  </a:ext>
                </a:extLst>
              </p:cNvPr>
              <p:cNvSpPr/>
              <p:nvPr/>
            </p:nvSpPr>
            <p:spPr>
              <a:xfrm>
                <a:off x="9336233" y="0"/>
                <a:ext cx="5715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pic>
          <p:nvPicPr>
            <p:cNvPr id="12" name="Graphic 11" descr="Test tubes">
              <a:extLst>
                <a:ext uri="{FF2B5EF4-FFF2-40B4-BE49-F238E27FC236}">
                  <a16:creationId xmlns:a16="http://schemas.microsoft.com/office/drawing/2014/main" id="{57BD2CFA-105C-4606-859E-A8413C62B3D5}"/>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xmlns="" r:embed="rId3"/>
                </a:ext>
              </a:extLst>
            </a:blip>
            <a:stretch>
              <a:fillRect/>
            </a:stretch>
          </p:blipFill>
          <p:spPr>
            <a:xfrm>
              <a:off x="9450534" y="4155643"/>
              <a:ext cx="2798617" cy="2798617"/>
            </a:xfrm>
            <a:prstGeom prst="rect">
              <a:avLst/>
            </a:prstGeom>
          </p:spPr>
        </p:pic>
      </p:grpSp>
      <p:pic>
        <p:nvPicPr>
          <p:cNvPr id="1026" name="Picture 2" descr="What is cyber security? | Wizard Cybe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450534" y="0"/>
            <a:ext cx="2676256" cy="2200855"/>
          </a:xfrm>
          <a:prstGeom prst="rect">
            <a:avLst/>
          </a:prstGeom>
          <a:noFill/>
          <a:extLst>
            <a:ext uri="{909E8E84-426E-40DD-AFC4-6F175D3DCCD1}">
              <a14:hiddenFill xmlns:a14="http://schemas.microsoft.com/office/drawing/2010/main">
                <a:solidFill>
                  <a:srgbClr val="FFFFFF"/>
                </a:solidFill>
              </a14:hiddenFill>
            </a:ext>
          </a:extLst>
        </p:spPr>
      </p:pic>
      <p:cxnSp>
        <p:nvCxnSpPr>
          <p:cNvPr id="14" name="Straight Connector 13"/>
          <p:cNvCxnSpPr/>
          <p:nvPr/>
        </p:nvCxnSpPr>
        <p:spPr>
          <a:xfrm>
            <a:off x="0" y="1349488"/>
            <a:ext cx="9055676" cy="0"/>
          </a:xfrm>
          <a:prstGeom prst="line">
            <a:avLst/>
          </a:prstGeom>
          <a:ln w="44450">
            <a:solidFill>
              <a:srgbClr val="0000CC"/>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7100206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599" y="876869"/>
            <a:ext cx="10242645" cy="528851"/>
          </a:xfrm>
        </p:spPr>
        <p:txBody>
          <a:bodyPr/>
          <a:lstStyle/>
          <a:p>
            <a:r>
              <a:rPr lang="en-US" sz="2800" b="1" dirty="0">
                <a:solidFill>
                  <a:srgbClr val="0000CC"/>
                </a:solidFill>
                <a:latin typeface="Rockwell" panose="02060603020205020403" pitchFamily="18" charset="0"/>
              </a:rPr>
              <a:t>7</a:t>
            </a:r>
            <a:r>
              <a:rPr lang="en-US" sz="2800" b="1" dirty="0" smtClean="0">
                <a:solidFill>
                  <a:srgbClr val="0000CC"/>
                </a:solidFill>
                <a:latin typeface="Rockwell" panose="02060603020205020403" pitchFamily="18" charset="0"/>
              </a:rPr>
              <a:t>.1.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Chức</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năng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và</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mục</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đích</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sử</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dụng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của</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VPN</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600" y="1539263"/>
            <a:ext cx="10529248" cy="4382729"/>
          </a:xfrm>
        </p:spPr>
        <p:txBody>
          <a:bodyPr/>
          <a:lstStyle/>
          <a:p>
            <a:r>
              <a:rPr lang="vi-VN" dirty="0" smtClean="0">
                <a:solidFill>
                  <a:srgbClr val="0000CC"/>
                </a:solidFill>
                <a:latin typeface="Rockwell" panose="02060603020205020403" pitchFamily="18" charset="0"/>
                <a:ea typeface="+mj-ea"/>
                <a:cs typeface="+mj-cs"/>
              </a:rPr>
              <a:t>VPN </a:t>
            </a:r>
            <a:r>
              <a:rPr lang="vi-VN" dirty="0">
                <a:solidFill>
                  <a:srgbClr val="0000CC"/>
                </a:solidFill>
                <a:latin typeface="Rockwell" panose="02060603020205020403" pitchFamily="18" charset="0"/>
                <a:ea typeface="+mj-ea"/>
                <a:cs typeface="+mj-cs"/>
              </a:rPr>
              <a:t>(Virtual Private Network) là mạng riêng ảo, cho phép thiết lập kết nối bảo mật qua Internet công cộng.</a:t>
            </a:r>
          </a:p>
          <a:p>
            <a:r>
              <a:rPr lang="vi-VN" dirty="0">
                <a:solidFill>
                  <a:srgbClr val="0000CC"/>
                </a:solidFill>
                <a:latin typeface="Rockwell" panose="02060603020205020403" pitchFamily="18" charset="0"/>
                <a:ea typeface="+mj-ea"/>
                <a:cs typeface="+mj-cs"/>
              </a:rPr>
              <a:t>VPN tạo ra một “đường hầm” mã hóa giữa người dùng và hệ thống, giúp truyền dữ liệu an toàn, tránh bị nghe lén hoặc đánh cắp</a:t>
            </a:r>
            <a:r>
              <a:rPr lang="vi-VN" dirty="0" smtClean="0">
                <a:solidFill>
                  <a:srgbClr val="0000CC"/>
                </a:solidFill>
                <a:latin typeface="Rockwell" panose="02060603020205020403" pitchFamily="18" charset="0"/>
                <a:ea typeface="+mj-ea"/>
                <a:cs typeface="+mj-cs"/>
              </a:rPr>
              <a:t>.</a:t>
            </a:r>
            <a:endParaRPr lang="en-US" dirty="0" smtClean="0">
              <a:solidFill>
                <a:srgbClr val="0000CC"/>
              </a:solidFill>
              <a:latin typeface="Rockwell" panose="02060603020205020403" pitchFamily="18" charset="0"/>
              <a:ea typeface="+mj-ea"/>
              <a:cs typeface="+mj-cs"/>
            </a:endParaRPr>
          </a:p>
          <a:p>
            <a:r>
              <a:rPr lang="en-US" dirty="0" err="1" smtClean="0">
                <a:solidFill>
                  <a:srgbClr val="0000CC"/>
                </a:solidFill>
                <a:latin typeface="Rockwell" panose="02060603020205020403" pitchFamily="18" charset="0"/>
                <a:ea typeface="+mj-ea"/>
                <a:cs typeface="+mj-cs"/>
              </a:rPr>
              <a:t>Có</a:t>
            </a:r>
            <a:r>
              <a:rPr lang="en-US" dirty="0" smtClean="0">
                <a:solidFill>
                  <a:srgbClr val="0000CC"/>
                </a:solidFill>
                <a:latin typeface="Rockwell" panose="02060603020205020403" pitchFamily="18" charset="0"/>
                <a:ea typeface="+mj-ea"/>
                <a:cs typeface="+mj-cs"/>
              </a:rPr>
              <a:t> 2 </a:t>
            </a:r>
            <a:r>
              <a:rPr lang="en-US" dirty="0" err="1" smtClean="0">
                <a:solidFill>
                  <a:srgbClr val="0000CC"/>
                </a:solidFill>
                <a:latin typeface="Rockwell" panose="02060603020205020403" pitchFamily="18" charset="0"/>
                <a:ea typeface="+mj-ea"/>
                <a:cs typeface="+mj-cs"/>
              </a:rPr>
              <a:t>dạng</a:t>
            </a:r>
            <a:r>
              <a:rPr lang="en-US" dirty="0" smtClean="0">
                <a:solidFill>
                  <a:srgbClr val="0000CC"/>
                </a:solidFill>
                <a:latin typeface="Rockwell" panose="02060603020205020403" pitchFamily="18" charset="0"/>
                <a:ea typeface="+mj-ea"/>
                <a:cs typeface="+mj-cs"/>
              </a:rPr>
              <a:t> VPN </a:t>
            </a:r>
            <a:r>
              <a:rPr lang="en-US" dirty="0" err="1" smtClean="0">
                <a:solidFill>
                  <a:srgbClr val="0000CC"/>
                </a:solidFill>
                <a:latin typeface="Rockwell" panose="02060603020205020403" pitchFamily="18" charset="0"/>
                <a:ea typeface="+mj-ea"/>
                <a:cs typeface="+mj-cs"/>
              </a:rPr>
              <a:t>chính</a:t>
            </a:r>
            <a:r>
              <a:rPr lang="en-US" dirty="0" smtClean="0">
                <a:solidFill>
                  <a:srgbClr val="0000CC"/>
                </a:solidFill>
                <a:latin typeface="Rockwell" panose="02060603020205020403" pitchFamily="18" charset="0"/>
                <a:ea typeface="+mj-ea"/>
                <a:cs typeface="+mj-cs"/>
              </a:rPr>
              <a:t>: Client – to – Site </a:t>
            </a:r>
            <a:r>
              <a:rPr lang="en-US" dirty="0" err="1" smtClean="0">
                <a:solidFill>
                  <a:srgbClr val="0000CC"/>
                </a:solidFill>
                <a:latin typeface="Rockwell" panose="02060603020205020403" pitchFamily="18" charset="0"/>
                <a:ea typeface="+mj-ea"/>
                <a:cs typeface="+mj-cs"/>
              </a:rPr>
              <a:t>và</a:t>
            </a:r>
            <a:r>
              <a:rPr lang="en-US" dirty="0" smtClean="0">
                <a:solidFill>
                  <a:srgbClr val="0000CC"/>
                </a:solidFill>
                <a:latin typeface="Rockwell" panose="02060603020205020403" pitchFamily="18" charset="0"/>
                <a:ea typeface="+mj-ea"/>
                <a:cs typeface="+mj-cs"/>
              </a:rPr>
              <a:t> Site – to – site. </a:t>
            </a:r>
            <a:r>
              <a:rPr lang="en-US" dirty="0" err="1" smtClean="0">
                <a:solidFill>
                  <a:srgbClr val="0000CC"/>
                </a:solidFill>
                <a:latin typeface="Rockwell" panose="02060603020205020403" pitchFamily="18" charset="0"/>
                <a:ea typeface="+mj-ea"/>
                <a:cs typeface="+mj-cs"/>
              </a:rPr>
              <a:t>Nhưng</a:t>
            </a:r>
            <a:r>
              <a:rPr lang="en-US" dirty="0" smtClean="0">
                <a:solidFill>
                  <a:srgbClr val="0000CC"/>
                </a:solidFill>
                <a:latin typeface="Rockwell" panose="02060603020205020403" pitchFamily="18" charset="0"/>
                <a:ea typeface="+mj-ea"/>
                <a:cs typeface="+mj-cs"/>
              </a:rPr>
              <a:t> </a:t>
            </a:r>
            <a:r>
              <a:rPr lang="en-US" dirty="0" err="1" smtClean="0">
                <a:solidFill>
                  <a:srgbClr val="0000CC"/>
                </a:solidFill>
                <a:latin typeface="Rockwell" panose="02060603020205020403" pitchFamily="18" charset="0"/>
                <a:ea typeface="+mj-ea"/>
                <a:cs typeface="+mj-cs"/>
              </a:rPr>
              <a:t>trong</a:t>
            </a:r>
            <a:r>
              <a:rPr lang="en-US" dirty="0" smtClean="0">
                <a:solidFill>
                  <a:srgbClr val="0000CC"/>
                </a:solidFill>
                <a:latin typeface="Rockwell" panose="02060603020205020403" pitchFamily="18" charset="0"/>
                <a:ea typeface="+mj-ea"/>
                <a:cs typeface="+mj-cs"/>
              </a:rPr>
              <a:t> </a:t>
            </a:r>
            <a:r>
              <a:rPr lang="en-US" dirty="0" err="1" smtClean="0">
                <a:solidFill>
                  <a:srgbClr val="0000CC"/>
                </a:solidFill>
                <a:latin typeface="Rockwell" panose="02060603020205020403" pitchFamily="18" charset="0"/>
                <a:ea typeface="+mj-ea"/>
                <a:cs typeface="+mj-cs"/>
              </a:rPr>
              <a:t>bài</a:t>
            </a:r>
            <a:r>
              <a:rPr lang="en-US" dirty="0" smtClean="0">
                <a:solidFill>
                  <a:srgbClr val="0000CC"/>
                </a:solidFill>
                <a:latin typeface="Rockwell" panose="02060603020205020403" pitchFamily="18" charset="0"/>
                <a:ea typeface="+mj-ea"/>
                <a:cs typeface="+mj-cs"/>
              </a:rPr>
              <a:t> </a:t>
            </a:r>
            <a:r>
              <a:rPr lang="en-US" dirty="0" err="1" smtClean="0">
                <a:solidFill>
                  <a:srgbClr val="0000CC"/>
                </a:solidFill>
                <a:latin typeface="Rockwell" panose="02060603020205020403" pitchFamily="18" charset="0"/>
                <a:ea typeface="+mj-ea"/>
                <a:cs typeface="+mj-cs"/>
              </a:rPr>
              <a:t>giảng</a:t>
            </a:r>
            <a:r>
              <a:rPr lang="en-US" dirty="0" smtClean="0">
                <a:solidFill>
                  <a:srgbClr val="0000CC"/>
                </a:solidFill>
                <a:latin typeface="Rockwell" panose="02060603020205020403" pitchFamily="18" charset="0"/>
                <a:ea typeface="+mj-ea"/>
                <a:cs typeface="+mj-cs"/>
              </a:rPr>
              <a:t> </a:t>
            </a:r>
            <a:r>
              <a:rPr lang="en-US" dirty="0" err="1" smtClean="0">
                <a:solidFill>
                  <a:srgbClr val="0000CC"/>
                </a:solidFill>
                <a:latin typeface="Rockwell" panose="02060603020205020403" pitchFamily="18" charset="0"/>
                <a:ea typeface="+mj-ea"/>
                <a:cs typeface="+mj-cs"/>
              </a:rPr>
              <a:t>này</a:t>
            </a:r>
            <a:r>
              <a:rPr lang="en-US" dirty="0" smtClean="0">
                <a:solidFill>
                  <a:srgbClr val="0000CC"/>
                </a:solidFill>
                <a:latin typeface="Rockwell" panose="02060603020205020403" pitchFamily="18" charset="0"/>
                <a:ea typeface="+mj-ea"/>
                <a:cs typeface="+mj-cs"/>
              </a:rPr>
              <a:t>, </a:t>
            </a:r>
            <a:r>
              <a:rPr lang="en-US" dirty="0" err="1" smtClean="0">
                <a:solidFill>
                  <a:srgbClr val="0000CC"/>
                </a:solidFill>
                <a:latin typeface="Rockwell" panose="02060603020205020403" pitchFamily="18" charset="0"/>
                <a:ea typeface="+mj-ea"/>
                <a:cs typeface="+mj-cs"/>
              </a:rPr>
              <a:t>chỉ</a:t>
            </a:r>
            <a:r>
              <a:rPr lang="en-US" dirty="0" smtClean="0">
                <a:solidFill>
                  <a:srgbClr val="0000CC"/>
                </a:solidFill>
                <a:latin typeface="Rockwell" panose="02060603020205020403" pitchFamily="18" charset="0"/>
                <a:ea typeface="+mj-ea"/>
                <a:cs typeface="+mj-cs"/>
              </a:rPr>
              <a:t> </a:t>
            </a:r>
            <a:r>
              <a:rPr lang="en-US" dirty="0" err="1" smtClean="0">
                <a:solidFill>
                  <a:srgbClr val="0000CC"/>
                </a:solidFill>
                <a:latin typeface="Rockwell" panose="02060603020205020403" pitchFamily="18" charset="0"/>
                <a:ea typeface="+mj-ea"/>
                <a:cs typeface="+mj-cs"/>
              </a:rPr>
              <a:t>đề</a:t>
            </a:r>
            <a:r>
              <a:rPr lang="en-US" dirty="0" smtClean="0">
                <a:solidFill>
                  <a:srgbClr val="0000CC"/>
                </a:solidFill>
                <a:latin typeface="Rockwell" panose="02060603020205020403" pitchFamily="18" charset="0"/>
                <a:ea typeface="+mj-ea"/>
                <a:cs typeface="+mj-cs"/>
              </a:rPr>
              <a:t> </a:t>
            </a:r>
            <a:r>
              <a:rPr lang="en-US" dirty="0" err="1" smtClean="0">
                <a:solidFill>
                  <a:srgbClr val="0000CC"/>
                </a:solidFill>
                <a:latin typeface="Rockwell" panose="02060603020205020403" pitchFamily="18" charset="0"/>
                <a:ea typeface="+mj-ea"/>
                <a:cs typeface="+mj-cs"/>
              </a:rPr>
              <a:t>cập</a:t>
            </a:r>
            <a:r>
              <a:rPr lang="en-US" dirty="0" smtClean="0">
                <a:solidFill>
                  <a:srgbClr val="0000CC"/>
                </a:solidFill>
                <a:latin typeface="Rockwell" panose="02060603020205020403" pitchFamily="18" charset="0"/>
                <a:ea typeface="+mj-ea"/>
                <a:cs typeface="+mj-cs"/>
              </a:rPr>
              <a:t> </a:t>
            </a:r>
            <a:r>
              <a:rPr lang="en-US" dirty="0" err="1" smtClean="0">
                <a:solidFill>
                  <a:srgbClr val="0000CC"/>
                </a:solidFill>
                <a:latin typeface="Rockwell" panose="02060603020205020403" pitchFamily="18" charset="0"/>
                <a:ea typeface="+mj-ea"/>
                <a:cs typeface="+mj-cs"/>
              </a:rPr>
              <a:t>đến</a:t>
            </a:r>
            <a:r>
              <a:rPr lang="en-US" dirty="0" smtClean="0">
                <a:solidFill>
                  <a:srgbClr val="0000CC"/>
                </a:solidFill>
                <a:latin typeface="Rockwell" panose="02060603020205020403" pitchFamily="18" charset="0"/>
                <a:ea typeface="+mj-ea"/>
                <a:cs typeface="+mj-cs"/>
              </a:rPr>
              <a:t> </a:t>
            </a:r>
            <a:r>
              <a:rPr lang="en-US" dirty="0" err="1" smtClean="0">
                <a:solidFill>
                  <a:srgbClr val="0000CC"/>
                </a:solidFill>
                <a:latin typeface="Rockwell" panose="02060603020205020403" pitchFamily="18" charset="0"/>
                <a:ea typeface="+mj-ea"/>
                <a:cs typeface="+mj-cs"/>
              </a:rPr>
              <a:t>dạng</a:t>
            </a:r>
            <a:r>
              <a:rPr lang="en-US" dirty="0">
                <a:solidFill>
                  <a:srgbClr val="0000CC"/>
                </a:solidFill>
                <a:latin typeface="Rockwell" panose="02060603020205020403" pitchFamily="18" charset="0"/>
              </a:rPr>
              <a:t> Client – to – </a:t>
            </a:r>
            <a:r>
              <a:rPr lang="en-US" dirty="0" smtClean="0">
                <a:solidFill>
                  <a:srgbClr val="0000CC"/>
                </a:solidFill>
                <a:latin typeface="Rockwell" panose="02060603020205020403" pitchFamily="18" charset="0"/>
              </a:rPr>
              <a:t>Site.</a:t>
            </a:r>
            <a:endParaRPr lang="vi-VN" dirty="0">
              <a:solidFill>
                <a:srgbClr val="0000CC"/>
              </a:solidFill>
              <a:latin typeface="Rockwell" panose="02060603020205020403" pitchFamily="18" charset="0"/>
              <a:ea typeface="+mj-ea"/>
              <a:cs typeface="+mj-cs"/>
            </a:endParaRPr>
          </a:p>
          <a:p>
            <a:pPr marL="0" indent="0">
              <a:buNone/>
            </a:pPr>
            <a:r>
              <a:rPr lang="en-US" b="1" dirty="0" smtClean="0">
                <a:solidFill>
                  <a:srgbClr val="0000CC"/>
                </a:solidFill>
                <a:latin typeface="Rockwell" panose="02060603020205020403" pitchFamily="18" charset="0"/>
                <a:ea typeface="+mj-ea"/>
                <a:cs typeface="+mj-cs"/>
              </a:rPr>
              <a:t>1.</a:t>
            </a:r>
            <a:r>
              <a:rPr lang="vi-VN" b="1" dirty="0">
                <a:solidFill>
                  <a:srgbClr val="0000CC"/>
                </a:solidFill>
                <a:latin typeface="Rockwell" panose="02060603020205020403" pitchFamily="18" charset="0"/>
                <a:ea typeface="+mj-ea"/>
                <a:cs typeface="+mj-cs"/>
              </a:rPr>
              <a:t> Các thành phần chính của VPN</a:t>
            </a:r>
          </a:p>
          <a:p>
            <a:pPr marL="0" indent="0">
              <a:buNone/>
            </a:pPr>
            <a:r>
              <a:rPr lang="en-US" b="1" dirty="0" smtClean="0">
                <a:solidFill>
                  <a:srgbClr val="0000CC"/>
                </a:solidFill>
                <a:latin typeface="Rockwell" panose="02060603020205020403" pitchFamily="18" charset="0"/>
                <a:ea typeface="+mj-ea"/>
                <a:cs typeface="+mj-cs"/>
              </a:rPr>
              <a:t>a. </a:t>
            </a:r>
            <a:r>
              <a:rPr lang="vi-VN" b="1" dirty="0" smtClean="0">
                <a:solidFill>
                  <a:srgbClr val="0000CC"/>
                </a:solidFill>
                <a:latin typeface="Rockwell" panose="02060603020205020403" pitchFamily="18" charset="0"/>
                <a:ea typeface="+mj-ea"/>
                <a:cs typeface="+mj-cs"/>
              </a:rPr>
              <a:t>Client </a:t>
            </a:r>
            <a:r>
              <a:rPr lang="vi-VN" b="1" dirty="0">
                <a:solidFill>
                  <a:srgbClr val="0000CC"/>
                </a:solidFill>
                <a:latin typeface="Rockwell" panose="02060603020205020403" pitchFamily="18" charset="0"/>
                <a:ea typeface="+mj-ea"/>
                <a:cs typeface="+mj-cs"/>
              </a:rPr>
              <a:t>VPN (Người dùng/Thiết bị đầu cuối)</a:t>
            </a:r>
          </a:p>
          <a:p>
            <a:r>
              <a:rPr lang="vi-VN" dirty="0">
                <a:solidFill>
                  <a:srgbClr val="0000CC"/>
                </a:solidFill>
                <a:latin typeface="Rockwell" panose="02060603020205020403" pitchFamily="18" charset="0"/>
                <a:ea typeface="+mj-ea"/>
                <a:cs typeface="+mj-cs"/>
              </a:rPr>
              <a:t>Máy tính, điện thoại, hoặc thiết bị IoT của người dùng.</a:t>
            </a:r>
          </a:p>
          <a:p>
            <a:r>
              <a:rPr lang="vi-VN" dirty="0">
                <a:solidFill>
                  <a:srgbClr val="0000CC"/>
                </a:solidFill>
                <a:latin typeface="Rockwell" panose="02060603020205020403" pitchFamily="18" charset="0"/>
                <a:ea typeface="+mj-ea"/>
                <a:cs typeface="+mj-cs"/>
              </a:rPr>
              <a:t>Cài đặt phần mềm VPN hoặc cấu hình sẵn để khởi tạo kết nối đến máy chủ VPN</a:t>
            </a:r>
            <a:r>
              <a:rPr lang="vi-VN" dirty="0" smtClean="0">
                <a:solidFill>
                  <a:srgbClr val="0000CC"/>
                </a:solidFill>
                <a:latin typeface="Rockwell" panose="02060603020205020403" pitchFamily="18" charset="0"/>
                <a:ea typeface="+mj-ea"/>
                <a:cs typeface="+mj-cs"/>
              </a:rPr>
              <a:t>.</a:t>
            </a:r>
            <a:endParaRPr lang="vi-VN" dirty="0">
              <a:solidFill>
                <a:srgbClr val="0000CC"/>
              </a:solidFill>
              <a:latin typeface="Rockwell" panose="02060603020205020403" pitchFamily="18" charset="0"/>
              <a:ea typeface="+mj-ea"/>
              <a:cs typeface="+mj-cs"/>
            </a:endParaRPr>
          </a:p>
        </p:txBody>
      </p:sp>
    </p:spTree>
    <p:extLst>
      <p:ext uri="{BB962C8B-B14F-4D97-AF65-F5344CB8AC3E}">
        <p14:creationId xmlns:p14="http://schemas.microsoft.com/office/powerpoint/2010/main" val="78512927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599" y="876869"/>
            <a:ext cx="10242645" cy="528851"/>
          </a:xfrm>
        </p:spPr>
        <p:txBody>
          <a:bodyPr/>
          <a:lstStyle/>
          <a:p>
            <a:r>
              <a:rPr lang="en-US" sz="2800" b="1" dirty="0">
                <a:solidFill>
                  <a:srgbClr val="0000CC"/>
                </a:solidFill>
                <a:latin typeface="Rockwell" panose="02060603020205020403" pitchFamily="18" charset="0"/>
              </a:rPr>
              <a:t>7</a:t>
            </a:r>
            <a:r>
              <a:rPr lang="en-US" sz="2800" b="1" dirty="0" smtClean="0">
                <a:solidFill>
                  <a:srgbClr val="0000CC"/>
                </a:solidFill>
                <a:latin typeface="Rockwell" panose="02060603020205020403" pitchFamily="18" charset="0"/>
              </a:rPr>
              <a:t>.1.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Chức</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năng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và</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mục</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đích</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sử</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dụng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của</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VPN</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600" y="1539263"/>
            <a:ext cx="10119815" cy="4382729"/>
          </a:xfrm>
        </p:spPr>
        <p:txBody>
          <a:bodyPr/>
          <a:lstStyle/>
          <a:p>
            <a:pPr marL="0" indent="0">
              <a:buNone/>
            </a:pPr>
            <a:r>
              <a:rPr lang="en-US" b="1" dirty="0" smtClean="0">
                <a:solidFill>
                  <a:srgbClr val="0000CC"/>
                </a:solidFill>
                <a:latin typeface="Rockwell" panose="02060603020205020403" pitchFamily="18" charset="0"/>
              </a:rPr>
              <a:t>1. </a:t>
            </a:r>
            <a:r>
              <a:rPr lang="en-US" b="1" dirty="0" err="1" smtClean="0">
                <a:solidFill>
                  <a:srgbClr val="0000CC"/>
                </a:solidFill>
                <a:latin typeface="Rockwell" panose="02060603020205020403" pitchFamily="18" charset="0"/>
              </a:rPr>
              <a:t>Các</a:t>
            </a:r>
            <a:r>
              <a:rPr lang="en-US" b="1" dirty="0" smtClean="0">
                <a:solidFill>
                  <a:srgbClr val="0000CC"/>
                </a:solidFill>
                <a:latin typeface="Rockwell" panose="02060603020205020403" pitchFamily="18" charset="0"/>
              </a:rPr>
              <a:t> </a:t>
            </a:r>
            <a:r>
              <a:rPr lang="en-US" b="1" dirty="0" err="1" smtClean="0">
                <a:solidFill>
                  <a:srgbClr val="0000CC"/>
                </a:solidFill>
                <a:latin typeface="Rockwell" panose="02060603020205020403" pitchFamily="18" charset="0"/>
              </a:rPr>
              <a:t>thành</a:t>
            </a:r>
            <a:r>
              <a:rPr lang="en-US" b="1" dirty="0" smtClean="0">
                <a:solidFill>
                  <a:srgbClr val="0000CC"/>
                </a:solidFill>
                <a:latin typeface="Rockwell" panose="02060603020205020403" pitchFamily="18" charset="0"/>
              </a:rPr>
              <a:t> </a:t>
            </a:r>
            <a:r>
              <a:rPr lang="en-US" b="1" dirty="0" err="1" smtClean="0">
                <a:solidFill>
                  <a:srgbClr val="0000CC"/>
                </a:solidFill>
                <a:latin typeface="Rockwell" panose="02060603020205020403" pitchFamily="18" charset="0"/>
              </a:rPr>
              <a:t>phần</a:t>
            </a:r>
            <a:r>
              <a:rPr lang="en-US" b="1" dirty="0" smtClean="0">
                <a:solidFill>
                  <a:srgbClr val="0000CC"/>
                </a:solidFill>
                <a:latin typeface="Rockwell" panose="02060603020205020403" pitchFamily="18" charset="0"/>
              </a:rPr>
              <a:t> </a:t>
            </a:r>
            <a:r>
              <a:rPr lang="en-US" b="1" dirty="0" err="1" smtClean="0">
                <a:solidFill>
                  <a:srgbClr val="0000CC"/>
                </a:solidFill>
                <a:latin typeface="Rockwell" panose="02060603020205020403" pitchFamily="18" charset="0"/>
              </a:rPr>
              <a:t>chính</a:t>
            </a:r>
            <a:r>
              <a:rPr lang="en-US" b="1" dirty="0" smtClean="0">
                <a:solidFill>
                  <a:srgbClr val="0000CC"/>
                </a:solidFill>
                <a:latin typeface="Rockwell" panose="02060603020205020403" pitchFamily="18" charset="0"/>
              </a:rPr>
              <a:t> </a:t>
            </a:r>
            <a:r>
              <a:rPr lang="en-US" b="1" dirty="0" err="1" smtClean="0">
                <a:solidFill>
                  <a:srgbClr val="0000CC"/>
                </a:solidFill>
                <a:latin typeface="Rockwell" panose="02060603020205020403" pitchFamily="18" charset="0"/>
              </a:rPr>
              <a:t>của</a:t>
            </a:r>
            <a:r>
              <a:rPr lang="en-US" b="1" dirty="0" smtClean="0">
                <a:solidFill>
                  <a:srgbClr val="0000CC"/>
                </a:solidFill>
                <a:latin typeface="Rockwell" panose="02060603020205020403" pitchFamily="18" charset="0"/>
              </a:rPr>
              <a:t> VPN</a:t>
            </a:r>
          </a:p>
          <a:p>
            <a:pPr marL="0" indent="0">
              <a:buNone/>
            </a:pPr>
            <a:r>
              <a:rPr lang="en-US" b="1" dirty="0" smtClean="0">
                <a:solidFill>
                  <a:srgbClr val="0000CC"/>
                </a:solidFill>
                <a:latin typeface="Rockwell" panose="02060603020205020403" pitchFamily="18" charset="0"/>
              </a:rPr>
              <a:t>b</a:t>
            </a:r>
            <a:r>
              <a:rPr lang="vi-VN" b="1" dirty="0" smtClean="0">
                <a:solidFill>
                  <a:srgbClr val="0000CC"/>
                </a:solidFill>
                <a:latin typeface="Rockwell" panose="02060603020205020403" pitchFamily="18" charset="0"/>
              </a:rPr>
              <a:t>. </a:t>
            </a:r>
            <a:r>
              <a:rPr lang="vi-VN" b="1" dirty="0">
                <a:solidFill>
                  <a:srgbClr val="0000CC"/>
                </a:solidFill>
                <a:latin typeface="Rockwell" panose="02060603020205020403" pitchFamily="18" charset="0"/>
              </a:rPr>
              <a:t>VPN </a:t>
            </a:r>
            <a:r>
              <a:rPr lang="vi-VN" b="1" dirty="0" smtClean="0">
                <a:solidFill>
                  <a:srgbClr val="0000CC"/>
                </a:solidFill>
                <a:latin typeface="Rockwell" panose="02060603020205020403" pitchFamily="18" charset="0"/>
              </a:rPr>
              <a:t>Gateway/VPN </a:t>
            </a:r>
            <a:r>
              <a:rPr lang="vi-VN" b="1" dirty="0">
                <a:solidFill>
                  <a:srgbClr val="0000CC"/>
                </a:solidFill>
                <a:latin typeface="Rockwell" panose="02060603020205020403" pitchFamily="18" charset="0"/>
              </a:rPr>
              <a:t>Server</a:t>
            </a:r>
          </a:p>
          <a:p>
            <a:r>
              <a:rPr lang="vi-VN" dirty="0">
                <a:solidFill>
                  <a:srgbClr val="0000CC"/>
                </a:solidFill>
                <a:latin typeface="Rockwell" panose="02060603020205020403" pitchFamily="18" charset="0"/>
              </a:rPr>
              <a:t>Thiết bị hoặc máy chủ chuyên trách quản lý phiên VPN.</a:t>
            </a:r>
          </a:p>
          <a:p>
            <a:r>
              <a:rPr lang="vi-VN" dirty="0">
                <a:solidFill>
                  <a:srgbClr val="0000CC"/>
                </a:solidFill>
                <a:latin typeface="Rockwell" panose="02060603020205020403" pitchFamily="18" charset="0"/>
              </a:rPr>
              <a:t>Thực hiện xác thực, mã hóa/giải mã dữ liệu, và định tuyến đến hệ thống đích.</a:t>
            </a:r>
          </a:p>
          <a:p>
            <a:r>
              <a:rPr lang="vi-VN" dirty="0">
                <a:solidFill>
                  <a:srgbClr val="0000CC"/>
                </a:solidFill>
                <a:latin typeface="Rockwell" panose="02060603020205020403" pitchFamily="18" charset="0"/>
              </a:rPr>
              <a:t>Có thể triển khai dưới dạng thiết bị phần cứng (appliance) hoặc máy chủ phần mềm (software-based).</a:t>
            </a:r>
            <a:r>
              <a:rPr lang="en-US" dirty="0">
                <a:solidFill>
                  <a:srgbClr val="0000CC"/>
                </a:solidFill>
                <a:latin typeface="Rockwell" panose="02060603020205020403" pitchFamily="18" charset="0"/>
              </a:rPr>
              <a:t> </a:t>
            </a:r>
            <a:endParaRPr lang="en-US" dirty="0"/>
          </a:p>
          <a:p>
            <a:pPr marL="0" indent="0">
              <a:buNone/>
            </a:pPr>
            <a:r>
              <a:rPr lang="en-US" b="1" dirty="0" smtClean="0">
                <a:solidFill>
                  <a:srgbClr val="0000CC"/>
                </a:solidFill>
                <a:latin typeface="Rockwell" panose="02060603020205020403" pitchFamily="18" charset="0"/>
                <a:ea typeface="+mj-ea"/>
                <a:cs typeface="+mj-cs"/>
              </a:rPr>
              <a:t>c</a:t>
            </a:r>
            <a:r>
              <a:rPr lang="vi-VN" b="1" dirty="0" smtClean="0">
                <a:solidFill>
                  <a:srgbClr val="0000CC"/>
                </a:solidFill>
                <a:latin typeface="Rockwell" panose="02060603020205020403" pitchFamily="18" charset="0"/>
                <a:ea typeface="+mj-ea"/>
                <a:cs typeface="+mj-cs"/>
              </a:rPr>
              <a:t>. </a:t>
            </a:r>
            <a:r>
              <a:rPr lang="vi-VN" b="1" dirty="0">
                <a:solidFill>
                  <a:srgbClr val="0000CC"/>
                </a:solidFill>
                <a:latin typeface="Rockwell" panose="02060603020205020403" pitchFamily="18" charset="0"/>
                <a:ea typeface="+mj-ea"/>
                <a:cs typeface="+mj-cs"/>
              </a:rPr>
              <a:t>Đường hầm (VPN Tunnel)</a:t>
            </a:r>
          </a:p>
          <a:p>
            <a:r>
              <a:rPr lang="vi-VN" dirty="0">
                <a:solidFill>
                  <a:srgbClr val="0000CC"/>
                </a:solidFill>
                <a:latin typeface="Rockwell" panose="02060603020205020403" pitchFamily="18" charset="0"/>
                <a:ea typeface="+mj-ea"/>
                <a:cs typeface="+mj-cs"/>
              </a:rPr>
              <a:t>Kênh truyền dữ liệu được mã hóa qua Internet công cộng.</a:t>
            </a:r>
          </a:p>
          <a:p>
            <a:r>
              <a:rPr lang="vi-VN" dirty="0">
                <a:solidFill>
                  <a:srgbClr val="0000CC"/>
                </a:solidFill>
                <a:latin typeface="Rockwell" panose="02060603020205020403" pitchFamily="18" charset="0"/>
                <a:ea typeface="+mj-ea"/>
                <a:cs typeface="+mj-cs"/>
              </a:rPr>
              <a:t>Đảm bảo dữ liệu không bị đọc trộm hay chỉnh sửa trong quá trình truyền.</a:t>
            </a:r>
          </a:p>
        </p:txBody>
      </p:sp>
    </p:spTree>
    <p:extLst>
      <p:ext uri="{BB962C8B-B14F-4D97-AF65-F5344CB8AC3E}">
        <p14:creationId xmlns:p14="http://schemas.microsoft.com/office/powerpoint/2010/main" val="277784595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599" y="876869"/>
            <a:ext cx="10242645" cy="528851"/>
          </a:xfrm>
        </p:spPr>
        <p:txBody>
          <a:bodyPr/>
          <a:lstStyle/>
          <a:p>
            <a:r>
              <a:rPr lang="en-US" sz="2800" b="1" dirty="0">
                <a:solidFill>
                  <a:srgbClr val="0000CC"/>
                </a:solidFill>
                <a:latin typeface="Rockwell" panose="02060603020205020403" pitchFamily="18" charset="0"/>
              </a:rPr>
              <a:t>7</a:t>
            </a:r>
            <a:r>
              <a:rPr lang="en-US" sz="2800" b="1" dirty="0" smtClean="0">
                <a:solidFill>
                  <a:srgbClr val="0000CC"/>
                </a:solidFill>
                <a:latin typeface="Rockwell" panose="02060603020205020403" pitchFamily="18" charset="0"/>
              </a:rPr>
              <a:t>.1.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Chức</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năng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và</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mục</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đích</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sử</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dụng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của</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VPN</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600" y="1539263"/>
            <a:ext cx="10420066" cy="4382729"/>
          </a:xfrm>
        </p:spPr>
        <p:txBody>
          <a:bodyPr/>
          <a:lstStyle/>
          <a:p>
            <a:pPr marL="0" indent="0">
              <a:buNone/>
            </a:pPr>
            <a:r>
              <a:rPr lang="en-US" b="1" dirty="0" smtClean="0">
                <a:solidFill>
                  <a:srgbClr val="0000CC"/>
                </a:solidFill>
                <a:latin typeface="Rockwell" panose="02060603020205020403" pitchFamily="18" charset="0"/>
              </a:rPr>
              <a:t>1. </a:t>
            </a:r>
            <a:r>
              <a:rPr lang="en-US" b="1" dirty="0" err="1" smtClean="0">
                <a:solidFill>
                  <a:srgbClr val="0000CC"/>
                </a:solidFill>
                <a:latin typeface="Rockwell" panose="02060603020205020403" pitchFamily="18" charset="0"/>
              </a:rPr>
              <a:t>Các</a:t>
            </a:r>
            <a:r>
              <a:rPr lang="en-US" b="1" dirty="0" smtClean="0">
                <a:solidFill>
                  <a:srgbClr val="0000CC"/>
                </a:solidFill>
                <a:latin typeface="Rockwell" panose="02060603020205020403" pitchFamily="18" charset="0"/>
              </a:rPr>
              <a:t> </a:t>
            </a:r>
            <a:r>
              <a:rPr lang="en-US" b="1" dirty="0" err="1" smtClean="0">
                <a:solidFill>
                  <a:srgbClr val="0000CC"/>
                </a:solidFill>
                <a:latin typeface="Rockwell" panose="02060603020205020403" pitchFamily="18" charset="0"/>
              </a:rPr>
              <a:t>thành</a:t>
            </a:r>
            <a:r>
              <a:rPr lang="en-US" b="1" dirty="0" smtClean="0">
                <a:solidFill>
                  <a:srgbClr val="0000CC"/>
                </a:solidFill>
                <a:latin typeface="Rockwell" panose="02060603020205020403" pitchFamily="18" charset="0"/>
              </a:rPr>
              <a:t> </a:t>
            </a:r>
            <a:r>
              <a:rPr lang="en-US" b="1" dirty="0" err="1" smtClean="0">
                <a:solidFill>
                  <a:srgbClr val="0000CC"/>
                </a:solidFill>
                <a:latin typeface="Rockwell" panose="02060603020205020403" pitchFamily="18" charset="0"/>
              </a:rPr>
              <a:t>phần</a:t>
            </a:r>
            <a:r>
              <a:rPr lang="en-US" b="1" dirty="0" smtClean="0">
                <a:solidFill>
                  <a:srgbClr val="0000CC"/>
                </a:solidFill>
                <a:latin typeface="Rockwell" panose="02060603020205020403" pitchFamily="18" charset="0"/>
              </a:rPr>
              <a:t> </a:t>
            </a:r>
            <a:r>
              <a:rPr lang="en-US" b="1" dirty="0" err="1" smtClean="0">
                <a:solidFill>
                  <a:srgbClr val="0000CC"/>
                </a:solidFill>
                <a:latin typeface="Rockwell" panose="02060603020205020403" pitchFamily="18" charset="0"/>
              </a:rPr>
              <a:t>chính</a:t>
            </a:r>
            <a:r>
              <a:rPr lang="en-US" b="1" dirty="0" smtClean="0">
                <a:solidFill>
                  <a:srgbClr val="0000CC"/>
                </a:solidFill>
                <a:latin typeface="Rockwell" panose="02060603020205020403" pitchFamily="18" charset="0"/>
              </a:rPr>
              <a:t> </a:t>
            </a:r>
            <a:r>
              <a:rPr lang="en-US" b="1" dirty="0" err="1" smtClean="0">
                <a:solidFill>
                  <a:srgbClr val="0000CC"/>
                </a:solidFill>
                <a:latin typeface="Rockwell" panose="02060603020205020403" pitchFamily="18" charset="0"/>
              </a:rPr>
              <a:t>của</a:t>
            </a:r>
            <a:r>
              <a:rPr lang="en-US" b="1" dirty="0" smtClean="0">
                <a:solidFill>
                  <a:srgbClr val="0000CC"/>
                </a:solidFill>
                <a:latin typeface="Rockwell" panose="02060603020205020403" pitchFamily="18" charset="0"/>
              </a:rPr>
              <a:t> VPN</a:t>
            </a:r>
          </a:p>
          <a:p>
            <a:pPr marL="0" indent="0">
              <a:buNone/>
            </a:pPr>
            <a:r>
              <a:rPr lang="en-US" b="1" dirty="0" smtClean="0">
                <a:solidFill>
                  <a:srgbClr val="0000CC"/>
                </a:solidFill>
                <a:latin typeface="Rockwell" panose="02060603020205020403" pitchFamily="18" charset="0"/>
              </a:rPr>
              <a:t>d</a:t>
            </a:r>
            <a:r>
              <a:rPr lang="vi-VN" b="1" dirty="0" smtClean="0">
                <a:solidFill>
                  <a:srgbClr val="0000CC"/>
                </a:solidFill>
                <a:latin typeface="Rockwell" panose="02060603020205020403" pitchFamily="18" charset="0"/>
              </a:rPr>
              <a:t>. </a:t>
            </a:r>
            <a:r>
              <a:rPr lang="vi-VN" b="1" dirty="0">
                <a:solidFill>
                  <a:srgbClr val="0000CC"/>
                </a:solidFill>
                <a:latin typeface="Rockwell" panose="02060603020205020403" pitchFamily="18" charset="0"/>
              </a:rPr>
              <a:t>Giao thức VPN (VPN Protocols)</a:t>
            </a:r>
          </a:p>
          <a:p>
            <a:r>
              <a:rPr lang="vi-VN" dirty="0">
                <a:solidFill>
                  <a:srgbClr val="0000CC"/>
                </a:solidFill>
                <a:latin typeface="Rockwell" panose="02060603020205020403" pitchFamily="18" charset="0"/>
              </a:rPr>
              <a:t>Xác định cách thức thiết lập, mã hóa, và duy trì đường hầm VPN.</a:t>
            </a:r>
          </a:p>
          <a:p>
            <a:r>
              <a:rPr lang="vi-VN" dirty="0">
                <a:solidFill>
                  <a:srgbClr val="0000CC"/>
                </a:solidFill>
                <a:latin typeface="Rockwell" panose="02060603020205020403" pitchFamily="18" charset="0"/>
              </a:rPr>
              <a:t>Các giao thức phổ biến:</a:t>
            </a:r>
          </a:p>
          <a:p>
            <a:pPr lvl="1"/>
            <a:r>
              <a:rPr lang="vi-VN" dirty="0">
                <a:solidFill>
                  <a:srgbClr val="0000CC"/>
                </a:solidFill>
                <a:latin typeface="Rockwell" panose="02060603020205020403" pitchFamily="18" charset="0"/>
              </a:rPr>
              <a:t>IPSec (Internet Protocol Security</a:t>
            </a:r>
            <a:r>
              <a:rPr lang="vi-VN" dirty="0" smtClean="0">
                <a:solidFill>
                  <a:srgbClr val="0000CC"/>
                </a:solidFill>
                <a:latin typeface="Rockwell" panose="02060603020205020403" pitchFamily="18" charset="0"/>
              </a:rPr>
              <a:t>)</a:t>
            </a:r>
            <a:r>
              <a:rPr lang="en-US" dirty="0" smtClean="0">
                <a:solidFill>
                  <a:srgbClr val="0000CC"/>
                </a:solidFill>
                <a:latin typeface="Rockwell" panose="02060603020205020403" pitchFamily="18" charset="0"/>
              </a:rPr>
              <a:t>; </a:t>
            </a:r>
            <a:r>
              <a:rPr lang="vi-VN" dirty="0">
                <a:solidFill>
                  <a:srgbClr val="0000CC"/>
                </a:solidFill>
                <a:latin typeface="Rockwell" panose="02060603020205020403" pitchFamily="18" charset="0"/>
              </a:rPr>
              <a:t>L2TP (Layer 2 Tunneling Protocol)</a:t>
            </a:r>
          </a:p>
          <a:p>
            <a:pPr lvl="1"/>
            <a:r>
              <a:rPr lang="vi-VN" dirty="0" smtClean="0">
                <a:solidFill>
                  <a:srgbClr val="0000CC"/>
                </a:solidFill>
                <a:latin typeface="Rockwell" panose="02060603020205020403" pitchFamily="18" charset="0"/>
              </a:rPr>
              <a:t>SSL/TLS </a:t>
            </a:r>
            <a:r>
              <a:rPr lang="vi-VN" dirty="0">
                <a:solidFill>
                  <a:srgbClr val="0000CC"/>
                </a:solidFill>
                <a:latin typeface="Rockwell" panose="02060603020205020403" pitchFamily="18" charset="0"/>
              </a:rPr>
              <a:t>VPN (thường dùng trong truy cập web/app)</a:t>
            </a:r>
          </a:p>
          <a:p>
            <a:pPr lvl="1"/>
            <a:r>
              <a:rPr lang="vi-VN" dirty="0" smtClean="0">
                <a:solidFill>
                  <a:srgbClr val="0000CC"/>
                </a:solidFill>
                <a:latin typeface="Rockwell" panose="02060603020205020403" pitchFamily="18" charset="0"/>
              </a:rPr>
              <a:t>OpenVPN</a:t>
            </a:r>
            <a:r>
              <a:rPr lang="vi-VN" dirty="0">
                <a:solidFill>
                  <a:srgbClr val="0000CC"/>
                </a:solidFill>
                <a:latin typeface="Rockwell" panose="02060603020205020403" pitchFamily="18" charset="0"/>
              </a:rPr>
              <a:t>, WireGuard (mới, hiệu năng cao, bảo mật tốt).</a:t>
            </a:r>
          </a:p>
          <a:p>
            <a:pPr marL="0" indent="0">
              <a:buNone/>
            </a:pPr>
            <a:r>
              <a:rPr lang="en-US" b="1" dirty="0" smtClean="0">
                <a:solidFill>
                  <a:srgbClr val="0000CC"/>
                </a:solidFill>
                <a:latin typeface="Rockwell" panose="02060603020205020403" pitchFamily="18" charset="0"/>
              </a:rPr>
              <a:t>e</a:t>
            </a:r>
            <a:r>
              <a:rPr lang="vi-VN" b="1" dirty="0" smtClean="0">
                <a:solidFill>
                  <a:srgbClr val="0000CC"/>
                </a:solidFill>
                <a:latin typeface="Rockwell" panose="02060603020205020403" pitchFamily="18" charset="0"/>
              </a:rPr>
              <a:t>. </a:t>
            </a:r>
            <a:r>
              <a:rPr lang="vi-VN" b="1" dirty="0">
                <a:solidFill>
                  <a:srgbClr val="0000CC"/>
                </a:solidFill>
                <a:latin typeface="Rockwell" panose="02060603020205020403" pitchFamily="18" charset="0"/>
              </a:rPr>
              <a:t>Cơ chế xác thực (Authentication Mechanism)</a:t>
            </a:r>
          </a:p>
          <a:p>
            <a:r>
              <a:rPr lang="vi-VN" dirty="0">
                <a:solidFill>
                  <a:srgbClr val="0000CC"/>
                </a:solidFill>
                <a:latin typeface="Rockwell" panose="02060603020205020403" pitchFamily="18" charset="0"/>
              </a:rPr>
              <a:t>Bảo đảm chỉ người dùng hợp lệ được phép kết nối.</a:t>
            </a:r>
          </a:p>
          <a:p>
            <a:r>
              <a:rPr lang="vi-VN" dirty="0">
                <a:solidFill>
                  <a:srgbClr val="0000CC"/>
                </a:solidFill>
                <a:latin typeface="Rockwell" panose="02060603020205020403" pitchFamily="18" charset="0"/>
              </a:rPr>
              <a:t>Có thể dùng: </a:t>
            </a:r>
            <a:r>
              <a:rPr lang="en-US" dirty="0" smtClean="0">
                <a:solidFill>
                  <a:srgbClr val="0000CC"/>
                </a:solidFill>
                <a:latin typeface="Rockwell" panose="02060603020205020403" pitchFamily="18" charset="0"/>
              </a:rPr>
              <a:t>M</a:t>
            </a:r>
            <a:r>
              <a:rPr lang="vi-VN" dirty="0" smtClean="0">
                <a:solidFill>
                  <a:srgbClr val="0000CC"/>
                </a:solidFill>
                <a:latin typeface="Rockwell" panose="02060603020205020403" pitchFamily="18" charset="0"/>
              </a:rPr>
              <a:t>ật </a:t>
            </a:r>
            <a:r>
              <a:rPr lang="vi-VN" dirty="0">
                <a:solidFill>
                  <a:srgbClr val="0000CC"/>
                </a:solidFill>
                <a:latin typeface="Rockwell" panose="02060603020205020403" pitchFamily="18" charset="0"/>
              </a:rPr>
              <a:t>khẩu, chứng chỉ số (digital certificate), hoặc </a:t>
            </a:r>
            <a:r>
              <a:rPr lang="vi-VN" dirty="0" smtClean="0">
                <a:solidFill>
                  <a:srgbClr val="0000CC"/>
                </a:solidFill>
                <a:latin typeface="Rockwell" panose="02060603020205020403" pitchFamily="18" charset="0"/>
              </a:rPr>
              <a:t>MFA.</a:t>
            </a:r>
            <a:endParaRPr lang="vi-VN" dirty="0">
              <a:solidFill>
                <a:srgbClr val="0000CC"/>
              </a:solidFill>
              <a:latin typeface="Rockwell" panose="02060603020205020403" pitchFamily="18" charset="0"/>
              <a:ea typeface="+mj-ea"/>
              <a:cs typeface="+mj-cs"/>
            </a:endParaRPr>
          </a:p>
        </p:txBody>
      </p:sp>
    </p:spTree>
    <p:extLst>
      <p:ext uri="{BB962C8B-B14F-4D97-AF65-F5344CB8AC3E}">
        <p14:creationId xmlns:p14="http://schemas.microsoft.com/office/powerpoint/2010/main" val="318959551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599" y="876869"/>
            <a:ext cx="10242645" cy="528851"/>
          </a:xfrm>
        </p:spPr>
        <p:txBody>
          <a:bodyPr/>
          <a:lstStyle/>
          <a:p>
            <a:r>
              <a:rPr lang="en-US" sz="2800" b="1" dirty="0">
                <a:solidFill>
                  <a:srgbClr val="0000CC"/>
                </a:solidFill>
                <a:latin typeface="Rockwell" panose="02060603020205020403" pitchFamily="18" charset="0"/>
              </a:rPr>
              <a:t>7</a:t>
            </a:r>
            <a:r>
              <a:rPr lang="en-US" sz="2800" b="1" dirty="0" smtClean="0">
                <a:solidFill>
                  <a:srgbClr val="0000CC"/>
                </a:solidFill>
                <a:latin typeface="Rockwell" panose="02060603020205020403" pitchFamily="18" charset="0"/>
              </a:rPr>
              <a:t>.1.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Chức</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năng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và</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mục</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đích</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sử</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dụng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của</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VPN</a:t>
            </a:r>
            <a:endParaRPr lang="en-US" sz="2800" b="1" dirty="0">
              <a:solidFill>
                <a:srgbClr val="0000CC"/>
              </a:solidFill>
              <a:latin typeface="Rockwell" panose="02060603020205020403" pitchFamily="18" charset="0"/>
            </a:endParaRPr>
          </a:p>
        </p:txBody>
      </p:sp>
      <p:pic>
        <p:nvPicPr>
          <p:cNvPr id="4" name="Content Placeholder 3"/>
          <p:cNvPicPr>
            <a:picLocks noGrp="1" noChangeAspect="1"/>
          </p:cNvPicPr>
          <p:nvPr>
            <p:ph idx="1"/>
          </p:nvPr>
        </p:nvPicPr>
        <p:blipFill rotWithShape="1">
          <a:blip r:embed="rId2"/>
          <a:srcRect b="961"/>
          <a:stretch/>
        </p:blipFill>
        <p:spPr>
          <a:xfrm>
            <a:off x="3504832" y="1565268"/>
            <a:ext cx="5976177" cy="3825598"/>
          </a:xfrm>
          <a:prstGeom prst="rect">
            <a:avLst/>
          </a:prstGeom>
        </p:spPr>
      </p:pic>
    </p:spTree>
    <p:extLst>
      <p:ext uri="{BB962C8B-B14F-4D97-AF65-F5344CB8AC3E}">
        <p14:creationId xmlns:p14="http://schemas.microsoft.com/office/powerpoint/2010/main" val="415281987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599" y="876869"/>
            <a:ext cx="10242645" cy="528851"/>
          </a:xfrm>
        </p:spPr>
        <p:txBody>
          <a:bodyPr/>
          <a:lstStyle/>
          <a:p>
            <a:r>
              <a:rPr lang="en-US" sz="2800" b="1" dirty="0">
                <a:solidFill>
                  <a:srgbClr val="0000CC"/>
                </a:solidFill>
                <a:latin typeface="Rockwell" panose="02060603020205020403" pitchFamily="18" charset="0"/>
              </a:rPr>
              <a:t>7</a:t>
            </a:r>
            <a:r>
              <a:rPr lang="en-US" sz="2800" b="1" dirty="0" smtClean="0">
                <a:solidFill>
                  <a:srgbClr val="0000CC"/>
                </a:solidFill>
                <a:latin typeface="Rockwell" panose="02060603020205020403" pitchFamily="18" charset="0"/>
              </a:rPr>
              <a:t>.1.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Chức</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năng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và</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mục</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đích</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sử</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dụng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của</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VPN</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600" y="1539263"/>
            <a:ext cx="10529248" cy="4382729"/>
          </a:xfrm>
        </p:spPr>
        <p:txBody>
          <a:bodyPr/>
          <a:lstStyle/>
          <a:p>
            <a:pPr marL="0" indent="0">
              <a:buNone/>
            </a:pPr>
            <a:r>
              <a:rPr lang="en-US" b="1" dirty="0" smtClean="0">
                <a:solidFill>
                  <a:srgbClr val="0000CC"/>
                </a:solidFill>
                <a:latin typeface="Rockwell" panose="02060603020205020403" pitchFamily="18" charset="0"/>
                <a:ea typeface="+mj-ea"/>
                <a:cs typeface="+mj-cs"/>
              </a:rPr>
              <a:t>2. </a:t>
            </a:r>
            <a:r>
              <a:rPr lang="vi-VN" b="1" dirty="0" smtClean="0">
                <a:solidFill>
                  <a:srgbClr val="0000CC"/>
                </a:solidFill>
                <a:latin typeface="Rockwell" panose="02060603020205020403" pitchFamily="18" charset="0"/>
                <a:ea typeface="+mj-ea"/>
                <a:cs typeface="+mj-cs"/>
              </a:rPr>
              <a:t>Nguyên </a:t>
            </a:r>
            <a:r>
              <a:rPr lang="vi-VN" b="1" dirty="0">
                <a:solidFill>
                  <a:srgbClr val="0000CC"/>
                </a:solidFill>
                <a:latin typeface="Rockwell" panose="02060603020205020403" pitchFamily="18" charset="0"/>
                <a:ea typeface="+mj-ea"/>
                <a:cs typeface="+mj-cs"/>
              </a:rPr>
              <a:t>lý hoạt </a:t>
            </a:r>
            <a:r>
              <a:rPr lang="vi-VN" b="1" dirty="0" smtClean="0">
                <a:solidFill>
                  <a:srgbClr val="0000CC"/>
                </a:solidFill>
                <a:latin typeface="Rockwell" panose="02060603020205020403" pitchFamily="18" charset="0"/>
                <a:ea typeface="+mj-ea"/>
                <a:cs typeface="+mj-cs"/>
              </a:rPr>
              <a:t>động</a:t>
            </a:r>
            <a:endParaRPr lang="vi-VN" b="1" dirty="0">
              <a:solidFill>
                <a:srgbClr val="0000CC"/>
              </a:solidFill>
              <a:latin typeface="Rockwell" panose="02060603020205020403" pitchFamily="18" charset="0"/>
              <a:ea typeface="+mj-ea"/>
              <a:cs typeface="+mj-cs"/>
            </a:endParaRPr>
          </a:p>
          <a:p>
            <a:r>
              <a:rPr lang="vi-VN" dirty="0">
                <a:solidFill>
                  <a:srgbClr val="0000CC"/>
                </a:solidFill>
                <a:latin typeface="Rockwell" panose="02060603020205020403" pitchFamily="18" charset="0"/>
                <a:ea typeface="+mj-ea"/>
                <a:cs typeface="+mj-cs"/>
              </a:rPr>
              <a:t>Người dùng khởi tạo kết nối đến máy chủ VPN.</a:t>
            </a:r>
          </a:p>
          <a:p>
            <a:r>
              <a:rPr lang="vi-VN" dirty="0">
                <a:solidFill>
                  <a:srgbClr val="0000CC"/>
                </a:solidFill>
                <a:latin typeface="Rockwell" panose="02060603020205020403" pitchFamily="18" charset="0"/>
                <a:ea typeface="+mj-ea"/>
                <a:cs typeface="+mj-cs"/>
              </a:rPr>
              <a:t>VPN thực hiện xác thực người dùng (tài khoản, chứng chỉ, khóa </a:t>
            </a:r>
            <a:r>
              <a:rPr lang="vi-VN" dirty="0" smtClean="0">
                <a:solidFill>
                  <a:srgbClr val="0000CC"/>
                </a:solidFill>
                <a:latin typeface="Rockwell" panose="02060603020205020403" pitchFamily="18" charset="0"/>
                <a:ea typeface="+mj-ea"/>
                <a:cs typeface="+mj-cs"/>
              </a:rPr>
              <a:t>m</a:t>
            </a:r>
            <a:r>
              <a:rPr lang="en-US" dirty="0" smtClean="0">
                <a:solidFill>
                  <a:srgbClr val="0000CC"/>
                </a:solidFill>
                <a:latin typeface="Rockwell" panose="02060603020205020403" pitchFamily="18" charset="0"/>
                <a:ea typeface="+mj-ea"/>
                <a:cs typeface="+mj-cs"/>
              </a:rPr>
              <a:t>/</a:t>
            </a:r>
            <a:r>
              <a:rPr lang="vi-VN" dirty="0" smtClean="0">
                <a:solidFill>
                  <a:srgbClr val="0000CC"/>
                </a:solidFill>
                <a:latin typeface="Rockwell" panose="02060603020205020403" pitchFamily="18" charset="0"/>
                <a:ea typeface="+mj-ea"/>
                <a:cs typeface="+mj-cs"/>
              </a:rPr>
              <a:t>hóa</a:t>
            </a:r>
            <a:r>
              <a:rPr lang="vi-VN" dirty="0">
                <a:solidFill>
                  <a:srgbClr val="0000CC"/>
                </a:solidFill>
                <a:latin typeface="Rockwell" panose="02060603020205020403" pitchFamily="18" charset="0"/>
                <a:ea typeface="+mj-ea"/>
                <a:cs typeface="+mj-cs"/>
              </a:rPr>
              <a:t>).</a:t>
            </a:r>
          </a:p>
          <a:p>
            <a:r>
              <a:rPr lang="vi-VN" dirty="0">
                <a:solidFill>
                  <a:srgbClr val="0000CC"/>
                </a:solidFill>
                <a:latin typeface="Rockwell" panose="02060603020205020403" pitchFamily="18" charset="0"/>
                <a:ea typeface="+mj-ea"/>
                <a:cs typeface="+mj-cs"/>
              </a:rPr>
              <a:t>Dữ liệu được mã hóa trước khi rời thiết bị, sau đó truyền qua Internet.</a:t>
            </a:r>
          </a:p>
          <a:p>
            <a:r>
              <a:rPr lang="vi-VN" dirty="0">
                <a:solidFill>
                  <a:srgbClr val="0000CC"/>
                </a:solidFill>
                <a:latin typeface="Rockwell" panose="02060603020205020403" pitchFamily="18" charset="0"/>
                <a:ea typeface="+mj-ea"/>
                <a:cs typeface="+mj-cs"/>
              </a:rPr>
              <a:t>Máy chủ VPN giải mã dữ liệu và chuyển tiếp đến hệ thống đích (server thương mại điện tử).</a:t>
            </a:r>
          </a:p>
          <a:p>
            <a:r>
              <a:rPr lang="vi-VN" dirty="0">
                <a:solidFill>
                  <a:srgbClr val="0000CC"/>
                </a:solidFill>
                <a:latin typeface="Rockwell" panose="02060603020205020403" pitchFamily="18" charset="0"/>
                <a:ea typeface="+mj-ea"/>
                <a:cs typeface="+mj-cs"/>
              </a:rPr>
              <a:t>Chiều ngược lại cũng được mã hóa, đảm bảo tính bí mật và toàn vẹn </a:t>
            </a:r>
            <a:r>
              <a:rPr lang="en-US" dirty="0" smtClean="0">
                <a:solidFill>
                  <a:srgbClr val="0000CC"/>
                </a:solidFill>
                <a:latin typeface="Rockwell" panose="02060603020205020403" pitchFamily="18" charset="0"/>
                <a:ea typeface="+mj-ea"/>
                <a:cs typeface="+mj-cs"/>
              </a:rPr>
              <a:t>DL</a:t>
            </a:r>
            <a:r>
              <a:rPr lang="vi-VN" dirty="0" smtClean="0">
                <a:solidFill>
                  <a:srgbClr val="0000CC"/>
                </a:solidFill>
                <a:latin typeface="Rockwell" panose="02060603020205020403" pitchFamily="18" charset="0"/>
                <a:ea typeface="+mj-ea"/>
                <a:cs typeface="+mj-cs"/>
              </a:rPr>
              <a:t>.</a:t>
            </a:r>
            <a:endParaRPr lang="vi-VN" dirty="0">
              <a:solidFill>
                <a:srgbClr val="0000CC"/>
              </a:solidFill>
              <a:latin typeface="Rockwell" panose="02060603020205020403" pitchFamily="18" charset="0"/>
              <a:ea typeface="+mj-ea"/>
              <a:cs typeface="+mj-cs"/>
            </a:endParaRPr>
          </a:p>
          <a:p>
            <a:endParaRPr lang="en-US" dirty="0"/>
          </a:p>
        </p:txBody>
      </p:sp>
    </p:spTree>
    <p:extLst>
      <p:ext uri="{BB962C8B-B14F-4D97-AF65-F5344CB8AC3E}">
        <p14:creationId xmlns:p14="http://schemas.microsoft.com/office/powerpoint/2010/main" val="157026165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599" y="876869"/>
            <a:ext cx="10242645" cy="528851"/>
          </a:xfrm>
        </p:spPr>
        <p:txBody>
          <a:bodyPr/>
          <a:lstStyle/>
          <a:p>
            <a:r>
              <a:rPr lang="en-US" sz="2800" b="1" dirty="0">
                <a:solidFill>
                  <a:srgbClr val="0000CC"/>
                </a:solidFill>
                <a:latin typeface="Rockwell" panose="02060603020205020403" pitchFamily="18" charset="0"/>
              </a:rPr>
              <a:t>7</a:t>
            </a:r>
            <a:r>
              <a:rPr lang="en-US" sz="2800" b="1" dirty="0" smtClean="0">
                <a:solidFill>
                  <a:srgbClr val="0000CC"/>
                </a:solidFill>
                <a:latin typeface="Rockwell" panose="02060603020205020403" pitchFamily="18" charset="0"/>
              </a:rPr>
              <a:t>.1.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Chức</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năng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và</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mục</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đích</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sử</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dụng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của</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VPN</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600" y="1539263"/>
            <a:ext cx="10379122" cy="4382729"/>
          </a:xfrm>
        </p:spPr>
        <p:txBody>
          <a:bodyPr/>
          <a:lstStyle/>
          <a:p>
            <a:pPr marL="0" indent="0">
              <a:buNone/>
            </a:pPr>
            <a:r>
              <a:rPr lang="en-US" b="1" dirty="0">
                <a:solidFill>
                  <a:srgbClr val="0000CC"/>
                </a:solidFill>
                <a:latin typeface="Rockwell" panose="02060603020205020403" pitchFamily="18" charset="0"/>
                <a:ea typeface="+mj-ea"/>
                <a:cs typeface="+mj-cs"/>
              </a:rPr>
              <a:t>3</a:t>
            </a:r>
            <a:r>
              <a:rPr lang="en-US" b="1" dirty="0" smtClean="0">
                <a:solidFill>
                  <a:srgbClr val="0000CC"/>
                </a:solidFill>
                <a:latin typeface="Rockwell" panose="02060603020205020403" pitchFamily="18" charset="0"/>
                <a:ea typeface="+mj-ea"/>
                <a:cs typeface="+mj-cs"/>
              </a:rPr>
              <a:t>. </a:t>
            </a:r>
            <a:r>
              <a:rPr lang="vi-VN" b="1" dirty="0" smtClean="0">
                <a:solidFill>
                  <a:srgbClr val="0000CC"/>
                </a:solidFill>
                <a:latin typeface="Rockwell" panose="02060603020205020403" pitchFamily="18" charset="0"/>
                <a:ea typeface="+mj-ea"/>
                <a:cs typeface="+mj-cs"/>
              </a:rPr>
              <a:t>Chức </a:t>
            </a:r>
            <a:r>
              <a:rPr lang="vi-VN" b="1" dirty="0">
                <a:solidFill>
                  <a:srgbClr val="0000CC"/>
                </a:solidFill>
                <a:latin typeface="Rockwell" panose="02060603020205020403" pitchFamily="18" charset="0"/>
                <a:ea typeface="+mj-ea"/>
                <a:cs typeface="+mj-cs"/>
              </a:rPr>
              <a:t>năng của VPN</a:t>
            </a:r>
          </a:p>
          <a:p>
            <a:pPr marL="0" indent="0">
              <a:buNone/>
            </a:pPr>
            <a:r>
              <a:rPr lang="en-US" b="1" dirty="0" smtClean="0">
                <a:solidFill>
                  <a:srgbClr val="0000CC"/>
                </a:solidFill>
                <a:latin typeface="Rockwell" panose="02060603020205020403" pitchFamily="18" charset="0"/>
                <a:ea typeface="+mj-ea"/>
                <a:cs typeface="+mj-cs"/>
              </a:rPr>
              <a:t>a. </a:t>
            </a:r>
            <a:r>
              <a:rPr lang="vi-VN" b="1" dirty="0" smtClean="0">
                <a:solidFill>
                  <a:srgbClr val="0000CC"/>
                </a:solidFill>
                <a:latin typeface="Rockwell" panose="02060603020205020403" pitchFamily="18" charset="0"/>
                <a:ea typeface="+mj-ea"/>
                <a:cs typeface="+mj-cs"/>
              </a:rPr>
              <a:t>Mã </a:t>
            </a:r>
            <a:r>
              <a:rPr lang="vi-VN" b="1" dirty="0">
                <a:solidFill>
                  <a:srgbClr val="0000CC"/>
                </a:solidFill>
                <a:latin typeface="Rockwell" panose="02060603020205020403" pitchFamily="18" charset="0"/>
                <a:ea typeface="+mj-ea"/>
                <a:cs typeface="+mj-cs"/>
              </a:rPr>
              <a:t>hóa dữ liệu khi truyền qua Internet</a:t>
            </a:r>
          </a:p>
          <a:p>
            <a:pPr marL="627063" lvl="1"/>
            <a:r>
              <a:rPr lang="vi-VN" dirty="0">
                <a:solidFill>
                  <a:srgbClr val="0000CC"/>
                </a:solidFill>
                <a:latin typeface="Rockwell" panose="02060603020205020403" pitchFamily="18" charset="0"/>
                <a:ea typeface="+mj-ea"/>
                <a:cs typeface="+mj-cs"/>
              </a:rPr>
              <a:t>VPN sử dụng các thuật toán mã hóa (AES, SSL/TLS, IPsec) để bảo vệ dữ liệu trên đường truyền.</a:t>
            </a:r>
          </a:p>
          <a:p>
            <a:pPr marL="627063" lvl="1"/>
            <a:r>
              <a:rPr lang="vi-VN" dirty="0">
                <a:solidFill>
                  <a:srgbClr val="0000CC"/>
                </a:solidFill>
                <a:latin typeface="Rockwell" panose="02060603020205020403" pitchFamily="18" charset="0"/>
                <a:ea typeface="+mj-ea"/>
                <a:cs typeface="+mj-cs"/>
              </a:rPr>
              <a:t>Ngay cả khi dữ liệu bị chặn (intercepted), kẻ tấn công cũng khó giải mã nội dung.</a:t>
            </a:r>
          </a:p>
          <a:p>
            <a:pPr marL="0" indent="0">
              <a:buNone/>
            </a:pPr>
            <a:r>
              <a:rPr lang="en-US" b="1" dirty="0" smtClean="0">
                <a:solidFill>
                  <a:srgbClr val="0000CC"/>
                </a:solidFill>
                <a:latin typeface="Rockwell" panose="02060603020205020403" pitchFamily="18" charset="0"/>
                <a:ea typeface="+mj-ea"/>
                <a:cs typeface="+mj-cs"/>
              </a:rPr>
              <a:t>b. </a:t>
            </a:r>
            <a:r>
              <a:rPr lang="vi-VN" b="1" dirty="0" smtClean="0">
                <a:solidFill>
                  <a:srgbClr val="0000CC"/>
                </a:solidFill>
                <a:latin typeface="Rockwell" panose="02060603020205020403" pitchFamily="18" charset="0"/>
                <a:ea typeface="+mj-ea"/>
                <a:cs typeface="+mj-cs"/>
              </a:rPr>
              <a:t>Ẩn </a:t>
            </a:r>
            <a:r>
              <a:rPr lang="vi-VN" b="1" dirty="0">
                <a:solidFill>
                  <a:srgbClr val="0000CC"/>
                </a:solidFill>
                <a:latin typeface="Rockwell" panose="02060603020205020403" pitchFamily="18" charset="0"/>
                <a:ea typeface="+mj-ea"/>
                <a:cs typeface="+mj-cs"/>
              </a:rPr>
              <a:t>địa chỉ IP và vị trí thực</a:t>
            </a:r>
          </a:p>
          <a:p>
            <a:pPr marL="627063" lvl="1"/>
            <a:r>
              <a:rPr lang="vi-VN" dirty="0">
                <a:solidFill>
                  <a:srgbClr val="0000CC"/>
                </a:solidFill>
                <a:latin typeface="Rockwell" panose="02060603020205020403" pitchFamily="18" charset="0"/>
                <a:ea typeface="+mj-ea"/>
                <a:cs typeface="+mj-cs"/>
              </a:rPr>
              <a:t>VPN che giấu địa chỉ IP thật của người dùng, thay bằng IP của máy chủ VPN.</a:t>
            </a:r>
          </a:p>
          <a:p>
            <a:pPr marL="627063" lvl="1"/>
            <a:r>
              <a:rPr lang="vi-VN" dirty="0">
                <a:solidFill>
                  <a:srgbClr val="0000CC"/>
                </a:solidFill>
                <a:latin typeface="Rockwell" panose="02060603020205020403" pitchFamily="18" charset="0"/>
                <a:ea typeface="+mj-ea"/>
                <a:cs typeface="+mj-cs"/>
              </a:rPr>
              <a:t>Giúp tránh truy vết và giảm nguy cơ bị hacker nhắm mục tiêu trực tiếp.</a:t>
            </a:r>
          </a:p>
          <a:p>
            <a:endParaRPr lang="vi-VN" dirty="0">
              <a:solidFill>
                <a:srgbClr val="0000CC"/>
              </a:solidFill>
              <a:latin typeface="Rockwell" panose="02060603020205020403" pitchFamily="18" charset="0"/>
              <a:ea typeface="+mj-ea"/>
              <a:cs typeface="+mj-cs"/>
            </a:endParaRPr>
          </a:p>
          <a:p>
            <a:endParaRPr lang="en-US" dirty="0"/>
          </a:p>
        </p:txBody>
      </p:sp>
    </p:spTree>
    <p:extLst>
      <p:ext uri="{BB962C8B-B14F-4D97-AF65-F5344CB8AC3E}">
        <p14:creationId xmlns:p14="http://schemas.microsoft.com/office/powerpoint/2010/main" val="491533243"/>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599" y="876869"/>
            <a:ext cx="10242645" cy="528851"/>
          </a:xfrm>
        </p:spPr>
        <p:txBody>
          <a:bodyPr/>
          <a:lstStyle/>
          <a:p>
            <a:r>
              <a:rPr lang="en-US" sz="2800" b="1" dirty="0">
                <a:solidFill>
                  <a:srgbClr val="0000CC"/>
                </a:solidFill>
                <a:latin typeface="Rockwell" panose="02060603020205020403" pitchFamily="18" charset="0"/>
              </a:rPr>
              <a:t>7</a:t>
            </a:r>
            <a:r>
              <a:rPr lang="en-US" sz="2800" b="1" dirty="0" smtClean="0">
                <a:solidFill>
                  <a:srgbClr val="0000CC"/>
                </a:solidFill>
                <a:latin typeface="Rockwell" panose="02060603020205020403" pitchFamily="18" charset="0"/>
              </a:rPr>
              <a:t>.1.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Chức</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năng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và</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mục</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đích</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sử</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dụng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của</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VPN</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601" y="1539263"/>
            <a:ext cx="9260006" cy="4382729"/>
          </a:xfrm>
        </p:spPr>
        <p:txBody>
          <a:bodyPr/>
          <a:lstStyle/>
          <a:p>
            <a:pPr marL="0" indent="0">
              <a:buNone/>
            </a:pPr>
            <a:r>
              <a:rPr lang="en-US" b="1" dirty="0">
                <a:solidFill>
                  <a:srgbClr val="0000CC"/>
                </a:solidFill>
                <a:latin typeface="Rockwell" panose="02060603020205020403" pitchFamily="18" charset="0"/>
                <a:ea typeface="+mj-ea"/>
                <a:cs typeface="+mj-cs"/>
              </a:rPr>
              <a:t>3</a:t>
            </a:r>
            <a:r>
              <a:rPr lang="en-US" b="1" dirty="0" smtClean="0">
                <a:solidFill>
                  <a:srgbClr val="0000CC"/>
                </a:solidFill>
                <a:latin typeface="Rockwell" panose="02060603020205020403" pitchFamily="18" charset="0"/>
                <a:ea typeface="+mj-ea"/>
                <a:cs typeface="+mj-cs"/>
              </a:rPr>
              <a:t>. </a:t>
            </a:r>
            <a:r>
              <a:rPr lang="vi-VN" b="1" dirty="0" smtClean="0">
                <a:solidFill>
                  <a:srgbClr val="0000CC"/>
                </a:solidFill>
                <a:latin typeface="Rockwell" panose="02060603020205020403" pitchFamily="18" charset="0"/>
                <a:ea typeface="+mj-ea"/>
                <a:cs typeface="+mj-cs"/>
              </a:rPr>
              <a:t>Chức </a:t>
            </a:r>
            <a:r>
              <a:rPr lang="vi-VN" b="1" dirty="0">
                <a:solidFill>
                  <a:srgbClr val="0000CC"/>
                </a:solidFill>
                <a:latin typeface="Rockwell" panose="02060603020205020403" pitchFamily="18" charset="0"/>
                <a:ea typeface="+mj-ea"/>
                <a:cs typeface="+mj-cs"/>
              </a:rPr>
              <a:t>năng của VPN</a:t>
            </a:r>
          </a:p>
          <a:p>
            <a:pPr marL="0" indent="0">
              <a:buNone/>
            </a:pPr>
            <a:r>
              <a:rPr lang="en-US" b="1" dirty="0" smtClean="0">
                <a:solidFill>
                  <a:srgbClr val="0000CC"/>
                </a:solidFill>
                <a:latin typeface="Rockwell" panose="02060603020205020403" pitchFamily="18" charset="0"/>
                <a:ea typeface="+mj-ea"/>
                <a:cs typeface="+mj-cs"/>
              </a:rPr>
              <a:t>c. </a:t>
            </a:r>
            <a:r>
              <a:rPr lang="vi-VN" b="1" dirty="0" smtClean="0">
                <a:solidFill>
                  <a:srgbClr val="0000CC"/>
                </a:solidFill>
                <a:latin typeface="Rockwell" panose="02060603020205020403" pitchFamily="18" charset="0"/>
              </a:rPr>
              <a:t>Tạo </a:t>
            </a:r>
            <a:r>
              <a:rPr lang="vi-VN" b="1" dirty="0">
                <a:solidFill>
                  <a:srgbClr val="0000CC"/>
                </a:solidFill>
                <a:latin typeface="Rockwell" panose="02060603020205020403" pitchFamily="18" charset="0"/>
              </a:rPr>
              <a:t>đường hầm (tunnel) bảo mật</a:t>
            </a:r>
          </a:p>
          <a:p>
            <a:pPr lvl="1"/>
            <a:r>
              <a:rPr lang="vi-VN" dirty="0">
                <a:solidFill>
                  <a:srgbClr val="0000CC"/>
                </a:solidFill>
                <a:latin typeface="Rockwell" panose="02060603020205020403" pitchFamily="18" charset="0"/>
              </a:rPr>
              <a:t>VPN thiết lập một “đường hầm” ảo giữa thiết bị người dùng và máy chủ VPN.</a:t>
            </a:r>
          </a:p>
          <a:p>
            <a:pPr lvl="1"/>
            <a:r>
              <a:rPr lang="vi-VN" dirty="0">
                <a:solidFill>
                  <a:srgbClr val="0000CC"/>
                </a:solidFill>
                <a:latin typeface="Rockwell" panose="02060603020205020403" pitchFamily="18" charset="0"/>
              </a:rPr>
              <a:t>Tất cả dữ liệu đi qua đường hầm này đều được mã hóa và kiểm soát.</a:t>
            </a:r>
          </a:p>
          <a:p>
            <a:pPr lvl="1"/>
            <a:r>
              <a:rPr lang="vi-VN" dirty="0">
                <a:solidFill>
                  <a:srgbClr val="0000CC"/>
                </a:solidFill>
                <a:latin typeface="Rockwell" panose="02060603020205020403" pitchFamily="18" charset="0"/>
              </a:rPr>
              <a:t>Hạn chế nguy cơ bị tấn công man-in-the-middle (MITM) hoặc nghe lén (sniffing).</a:t>
            </a:r>
          </a:p>
          <a:p>
            <a:pPr marL="0" indent="0">
              <a:buNone/>
            </a:pPr>
            <a:endParaRPr lang="en-US" dirty="0"/>
          </a:p>
        </p:txBody>
      </p:sp>
    </p:spTree>
    <p:extLst>
      <p:ext uri="{BB962C8B-B14F-4D97-AF65-F5344CB8AC3E}">
        <p14:creationId xmlns:p14="http://schemas.microsoft.com/office/powerpoint/2010/main" val="58640014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599" y="876869"/>
            <a:ext cx="10242645" cy="528851"/>
          </a:xfrm>
        </p:spPr>
        <p:txBody>
          <a:bodyPr/>
          <a:lstStyle/>
          <a:p>
            <a:r>
              <a:rPr lang="en-US" sz="2800" b="1" dirty="0">
                <a:solidFill>
                  <a:srgbClr val="0000CC"/>
                </a:solidFill>
                <a:latin typeface="Rockwell" panose="02060603020205020403" pitchFamily="18" charset="0"/>
              </a:rPr>
              <a:t>7</a:t>
            </a:r>
            <a:r>
              <a:rPr lang="en-US" sz="2800" b="1" dirty="0" smtClean="0">
                <a:solidFill>
                  <a:srgbClr val="0000CC"/>
                </a:solidFill>
                <a:latin typeface="Rockwell" panose="02060603020205020403" pitchFamily="18" charset="0"/>
              </a:rPr>
              <a:t>.1.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Chức</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năng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và</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mục</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đích</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sử</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dụng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của</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VPN</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601" y="1539263"/>
            <a:ext cx="9874154" cy="4382729"/>
          </a:xfrm>
        </p:spPr>
        <p:txBody>
          <a:bodyPr/>
          <a:lstStyle/>
          <a:p>
            <a:pPr marL="0" indent="0">
              <a:buNone/>
            </a:pPr>
            <a:r>
              <a:rPr lang="en-US" b="1" dirty="0">
                <a:solidFill>
                  <a:srgbClr val="0000CC"/>
                </a:solidFill>
                <a:latin typeface="Rockwell" panose="02060603020205020403" pitchFamily="18" charset="0"/>
                <a:ea typeface="+mj-ea"/>
                <a:cs typeface="+mj-cs"/>
              </a:rPr>
              <a:t>4</a:t>
            </a:r>
            <a:r>
              <a:rPr lang="en-US" b="1" dirty="0" smtClean="0">
                <a:solidFill>
                  <a:srgbClr val="0000CC"/>
                </a:solidFill>
                <a:latin typeface="Rockwell" panose="02060603020205020403" pitchFamily="18" charset="0"/>
                <a:ea typeface="+mj-ea"/>
                <a:cs typeface="+mj-cs"/>
              </a:rPr>
              <a:t>. </a:t>
            </a:r>
            <a:r>
              <a:rPr lang="vi-VN" b="1" dirty="0" smtClean="0">
                <a:solidFill>
                  <a:srgbClr val="0000CC"/>
                </a:solidFill>
                <a:latin typeface="Rockwell" panose="02060603020205020403" pitchFamily="18" charset="0"/>
                <a:ea typeface="+mj-ea"/>
                <a:cs typeface="+mj-cs"/>
              </a:rPr>
              <a:t>Mục </a:t>
            </a:r>
            <a:r>
              <a:rPr lang="vi-VN" b="1" dirty="0">
                <a:solidFill>
                  <a:srgbClr val="0000CC"/>
                </a:solidFill>
                <a:latin typeface="Rockwell" panose="02060603020205020403" pitchFamily="18" charset="0"/>
                <a:ea typeface="+mj-ea"/>
                <a:cs typeface="+mj-cs"/>
              </a:rPr>
              <a:t>đích sử dụng của VPN trong E-Commerce</a:t>
            </a:r>
          </a:p>
          <a:p>
            <a:pPr marL="0" indent="0">
              <a:buNone/>
            </a:pPr>
            <a:r>
              <a:rPr lang="en-US" b="1" dirty="0" smtClean="0">
                <a:solidFill>
                  <a:srgbClr val="0000CC"/>
                </a:solidFill>
                <a:latin typeface="Rockwell" panose="02060603020205020403" pitchFamily="18" charset="0"/>
                <a:ea typeface="+mj-ea"/>
                <a:cs typeface="+mj-cs"/>
              </a:rPr>
              <a:t>a. </a:t>
            </a:r>
            <a:r>
              <a:rPr lang="vi-VN" b="1" dirty="0" smtClean="0">
                <a:solidFill>
                  <a:srgbClr val="0000CC"/>
                </a:solidFill>
                <a:latin typeface="Rockwell" panose="02060603020205020403" pitchFamily="18" charset="0"/>
                <a:ea typeface="+mj-ea"/>
                <a:cs typeface="+mj-cs"/>
              </a:rPr>
              <a:t>Bảo </a:t>
            </a:r>
            <a:r>
              <a:rPr lang="vi-VN" b="1" dirty="0">
                <a:solidFill>
                  <a:srgbClr val="0000CC"/>
                </a:solidFill>
                <a:latin typeface="Rockwell" panose="02060603020205020403" pitchFamily="18" charset="0"/>
                <a:ea typeface="+mj-ea"/>
                <a:cs typeface="+mj-cs"/>
              </a:rPr>
              <a:t>vệ dữ liệu giao dịch</a:t>
            </a:r>
          </a:p>
          <a:p>
            <a:pPr lvl="1"/>
            <a:r>
              <a:rPr lang="vi-VN" dirty="0">
                <a:solidFill>
                  <a:srgbClr val="0000CC"/>
                </a:solidFill>
                <a:latin typeface="Rockwell" panose="02060603020205020403" pitchFamily="18" charset="0"/>
                <a:ea typeface="+mj-ea"/>
                <a:cs typeface="+mj-cs"/>
              </a:rPr>
              <a:t>Thông tin thanh toán, thẻ tín dụng, dữ liệu khách hàng được bảo vệ khi truyền qua Internet.</a:t>
            </a:r>
          </a:p>
          <a:p>
            <a:pPr lvl="1"/>
            <a:r>
              <a:rPr lang="vi-VN" dirty="0">
                <a:solidFill>
                  <a:srgbClr val="0000CC"/>
                </a:solidFill>
                <a:latin typeface="Rockwell" panose="02060603020205020403" pitchFamily="18" charset="0"/>
                <a:ea typeface="+mj-ea"/>
                <a:cs typeface="+mj-cs"/>
              </a:rPr>
              <a:t>Ngăn chặn nguy cơ rò rỉ thông tin khi kết nối qua mạng công cộng (Wi-Fi, 4G).</a:t>
            </a:r>
          </a:p>
          <a:p>
            <a:pPr marL="0" indent="0">
              <a:buNone/>
            </a:pPr>
            <a:r>
              <a:rPr lang="en-US" dirty="0" smtClean="0">
                <a:solidFill>
                  <a:srgbClr val="0000CC"/>
                </a:solidFill>
                <a:latin typeface="Rockwell" panose="02060603020205020403" pitchFamily="18" charset="0"/>
                <a:ea typeface="+mj-ea"/>
                <a:cs typeface="+mj-cs"/>
              </a:rPr>
              <a:t>b. </a:t>
            </a:r>
            <a:r>
              <a:rPr lang="vi-VN" dirty="0" smtClean="0">
                <a:solidFill>
                  <a:srgbClr val="0000CC"/>
                </a:solidFill>
                <a:latin typeface="Rockwell" panose="02060603020205020403" pitchFamily="18" charset="0"/>
                <a:ea typeface="+mj-ea"/>
                <a:cs typeface="+mj-cs"/>
              </a:rPr>
              <a:t>Truy </a:t>
            </a:r>
            <a:r>
              <a:rPr lang="vi-VN" dirty="0">
                <a:solidFill>
                  <a:srgbClr val="0000CC"/>
                </a:solidFill>
                <a:latin typeface="Rockwell" panose="02060603020205020403" pitchFamily="18" charset="0"/>
                <a:ea typeface="+mj-ea"/>
                <a:cs typeface="+mj-cs"/>
              </a:rPr>
              <a:t>cập từ xa an toàn</a:t>
            </a:r>
          </a:p>
          <a:p>
            <a:pPr lvl="1"/>
            <a:r>
              <a:rPr lang="vi-VN" dirty="0">
                <a:solidFill>
                  <a:srgbClr val="0000CC"/>
                </a:solidFill>
                <a:latin typeface="Rockwell" panose="02060603020205020403" pitchFamily="18" charset="0"/>
                <a:ea typeface="+mj-ea"/>
                <a:cs typeface="+mj-cs"/>
              </a:rPr>
              <a:t>Cho phép nhân viên, đối tác, quản trị viên truy cập vào hệ thống E-Commerce một cách bảo mật.</a:t>
            </a:r>
          </a:p>
          <a:p>
            <a:pPr lvl="1"/>
            <a:r>
              <a:rPr lang="vi-VN" dirty="0">
                <a:solidFill>
                  <a:srgbClr val="0000CC"/>
                </a:solidFill>
                <a:latin typeface="Rockwell" panose="02060603020205020403" pitchFamily="18" charset="0"/>
                <a:ea typeface="+mj-ea"/>
                <a:cs typeface="+mj-cs"/>
              </a:rPr>
              <a:t>Đảm bảo mọi kết nối từ xa đều được mã hóa và xác thực.</a:t>
            </a:r>
          </a:p>
          <a:p>
            <a:pPr marL="0" indent="0">
              <a:buNone/>
            </a:pPr>
            <a:endParaRPr lang="en-US" dirty="0"/>
          </a:p>
        </p:txBody>
      </p:sp>
    </p:spTree>
    <p:extLst>
      <p:ext uri="{BB962C8B-B14F-4D97-AF65-F5344CB8AC3E}">
        <p14:creationId xmlns:p14="http://schemas.microsoft.com/office/powerpoint/2010/main" val="956293313"/>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599" y="876869"/>
            <a:ext cx="10242645" cy="528851"/>
          </a:xfrm>
        </p:spPr>
        <p:txBody>
          <a:bodyPr/>
          <a:lstStyle/>
          <a:p>
            <a:r>
              <a:rPr lang="en-US" sz="2800" b="1" dirty="0">
                <a:solidFill>
                  <a:srgbClr val="0000CC"/>
                </a:solidFill>
                <a:latin typeface="Rockwell" panose="02060603020205020403" pitchFamily="18" charset="0"/>
              </a:rPr>
              <a:t>7</a:t>
            </a:r>
            <a:r>
              <a:rPr lang="en-US" sz="2800" b="1" dirty="0" smtClean="0">
                <a:solidFill>
                  <a:srgbClr val="0000CC"/>
                </a:solidFill>
                <a:latin typeface="Rockwell" panose="02060603020205020403" pitchFamily="18" charset="0"/>
              </a:rPr>
              <a:t>.1.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Chức</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năng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và</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mục</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đích</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sử</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dụng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của</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VPN</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600" y="1539263"/>
            <a:ext cx="9846859" cy="4382729"/>
          </a:xfrm>
        </p:spPr>
        <p:txBody>
          <a:bodyPr/>
          <a:lstStyle/>
          <a:p>
            <a:pPr marL="0" indent="0">
              <a:buNone/>
            </a:pPr>
            <a:r>
              <a:rPr lang="en-US" b="1" dirty="0">
                <a:solidFill>
                  <a:srgbClr val="0000CC"/>
                </a:solidFill>
                <a:latin typeface="Rockwell" panose="02060603020205020403" pitchFamily="18" charset="0"/>
                <a:ea typeface="+mj-ea"/>
                <a:cs typeface="+mj-cs"/>
              </a:rPr>
              <a:t>4</a:t>
            </a:r>
            <a:r>
              <a:rPr lang="en-US" b="1" dirty="0" smtClean="0">
                <a:solidFill>
                  <a:srgbClr val="0000CC"/>
                </a:solidFill>
                <a:latin typeface="Rockwell" panose="02060603020205020403" pitchFamily="18" charset="0"/>
                <a:ea typeface="+mj-ea"/>
                <a:cs typeface="+mj-cs"/>
              </a:rPr>
              <a:t>. </a:t>
            </a:r>
            <a:r>
              <a:rPr lang="vi-VN" b="1" dirty="0" smtClean="0">
                <a:solidFill>
                  <a:srgbClr val="0000CC"/>
                </a:solidFill>
                <a:latin typeface="Rockwell" panose="02060603020205020403" pitchFamily="18" charset="0"/>
                <a:ea typeface="+mj-ea"/>
                <a:cs typeface="+mj-cs"/>
              </a:rPr>
              <a:t>Mục </a:t>
            </a:r>
            <a:r>
              <a:rPr lang="vi-VN" b="1" dirty="0">
                <a:solidFill>
                  <a:srgbClr val="0000CC"/>
                </a:solidFill>
                <a:latin typeface="Rockwell" panose="02060603020205020403" pitchFamily="18" charset="0"/>
                <a:ea typeface="+mj-ea"/>
                <a:cs typeface="+mj-cs"/>
              </a:rPr>
              <a:t>đích sử dụng của VPN trong E-Commerce</a:t>
            </a:r>
          </a:p>
          <a:p>
            <a:pPr marL="0" indent="0">
              <a:buNone/>
            </a:pPr>
            <a:r>
              <a:rPr lang="en-US" b="1" dirty="0" smtClean="0">
                <a:solidFill>
                  <a:srgbClr val="0000CC"/>
                </a:solidFill>
                <a:latin typeface="Rockwell" panose="02060603020205020403" pitchFamily="18" charset="0"/>
                <a:ea typeface="+mj-ea"/>
                <a:cs typeface="+mj-cs"/>
              </a:rPr>
              <a:t>c.</a:t>
            </a:r>
            <a:r>
              <a:rPr lang="vi-VN" b="1" dirty="0" smtClean="0">
                <a:solidFill>
                  <a:srgbClr val="0000CC"/>
                </a:solidFill>
                <a:latin typeface="Rockwell" panose="02060603020205020403" pitchFamily="18" charset="0"/>
                <a:ea typeface="+mj-ea"/>
                <a:cs typeface="+mj-cs"/>
              </a:rPr>
              <a:t> </a:t>
            </a:r>
            <a:r>
              <a:rPr lang="vi-VN" b="1" dirty="0">
                <a:solidFill>
                  <a:srgbClr val="0000CC"/>
                </a:solidFill>
                <a:latin typeface="Rockwell" panose="02060603020205020403" pitchFamily="18" charset="0"/>
              </a:rPr>
              <a:t>Đảm bảo tính toàn vẹn và bảo mật giao dịch</a:t>
            </a:r>
          </a:p>
          <a:p>
            <a:pPr lvl="1"/>
            <a:r>
              <a:rPr lang="vi-VN" dirty="0">
                <a:solidFill>
                  <a:srgbClr val="0000CC"/>
                </a:solidFill>
                <a:latin typeface="Rockwell" panose="02060603020205020403" pitchFamily="18" charset="0"/>
              </a:rPr>
              <a:t>VPN hỗ trợ duy trì sự tin cậy giữa khách hàng và doanh nghiệp.</a:t>
            </a:r>
          </a:p>
          <a:p>
            <a:pPr lvl="1"/>
            <a:r>
              <a:rPr lang="vi-VN" dirty="0">
                <a:solidFill>
                  <a:srgbClr val="0000CC"/>
                </a:solidFill>
                <a:latin typeface="Rockwell" panose="02060603020205020403" pitchFamily="18" charset="0"/>
              </a:rPr>
              <a:t>Ngăn chặn việc chỉnh sửa hoặc giả mạo dữ liệu trong quá trình truyền.</a:t>
            </a:r>
          </a:p>
          <a:p>
            <a:pPr marL="0" indent="0">
              <a:buNone/>
            </a:pPr>
            <a:r>
              <a:rPr lang="en-US" b="1" dirty="0" smtClean="0">
                <a:solidFill>
                  <a:srgbClr val="0000CC"/>
                </a:solidFill>
                <a:latin typeface="Rockwell" panose="02060603020205020403" pitchFamily="18" charset="0"/>
              </a:rPr>
              <a:t>d. </a:t>
            </a:r>
            <a:r>
              <a:rPr lang="vi-VN" b="1" dirty="0" smtClean="0">
                <a:solidFill>
                  <a:srgbClr val="0000CC"/>
                </a:solidFill>
                <a:latin typeface="Rockwell" panose="02060603020205020403" pitchFamily="18" charset="0"/>
              </a:rPr>
              <a:t>Hỗ </a:t>
            </a:r>
            <a:r>
              <a:rPr lang="vi-VN" b="1" dirty="0">
                <a:solidFill>
                  <a:srgbClr val="0000CC"/>
                </a:solidFill>
                <a:latin typeface="Rockwell" panose="02060603020205020403" pitchFamily="18" charset="0"/>
              </a:rPr>
              <a:t>trợ tuân thủ tiêu chuẩn bảo mật</a:t>
            </a:r>
          </a:p>
          <a:p>
            <a:pPr lvl="1"/>
            <a:r>
              <a:rPr lang="vi-VN" dirty="0">
                <a:solidFill>
                  <a:srgbClr val="0000CC"/>
                </a:solidFill>
                <a:latin typeface="Rockwell" panose="02060603020205020403" pitchFamily="18" charset="0"/>
              </a:rPr>
              <a:t>Các doanh nghiệp thương mại điện tử thường phải tuân thủ PCI DSS, GDPR…</a:t>
            </a:r>
          </a:p>
          <a:p>
            <a:pPr lvl="1"/>
            <a:r>
              <a:rPr lang="vi-VN" dirty="0">
                <a:solidFill>
                  <a:srgbClr val="0000CC"/>
                </a:solidFill>
                <a:latin typeface="Rockwell" panose="02060603020205020403" pitchFamily="18" charset="0"/>
              </a:rPr>
              <a:t>VPN là công cụ quan trọng để đáp ứng yêu cầu về mã hóa và bảo vệ dữ liệu.</a:t>
            </a:r>
          </a:p>
          <a:p>
            <a:pPr marL="0" indent="0">
              <a:buNone/>
            </a:pPr>
            <a:endParaRPr lang="en-US" dirty="0"/>
          </a:p>
        </p:txBody>
      </p:sp>
    </p:spTree>
    <p:extLst>
      <p:ext uri="{BB962C8B-B14F-4D97-AF65-F5344CB8AC3E}">
        <p14:creationId xmlns:p14="http://schemas.microsoft.com/office/powerpoint/2010/main" val="1626256807"/>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599" y="876869"/>
            <a:ext cx="10242645" cy="528851"/>
          </a:xfrm>
        </p:spPr>
        <p:txBody>
          <a:bodyPr/>
          <a:lstStyle/>
          <a:p>
            <a:r>
              <a:rPr lang="en-US" sz="2800" b="1" dirty="0">
                <a:solidFill>
                  <a:srgbClr val="0000CC"/>
                </a:solidFill>
                <a:latin typeface="Rockwell" panose="02060603020205020403" pitchFamily="18" charset="0"/>
              </a:rPr>
              <a:t>7</a:t>
            </a:r>
            <a:r>
              <a:rPr lang="en-US" sz="2800" b="1" dirty="0" smtClean="0">
                <a:solidFill>
                  <a:srgbClr val="0000CC"/>
                </a:solidFill>
                <a:latin typeface="Rockwell" panose="02060603020205020403" pitchFamily="18" charset="0"/>
              </a:rPr>
              <a:t>.1.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Chức</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năng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và</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mục</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đích</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sử</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dụng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của</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VPN</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678675" y="1539263"/>
            <a:ext cx="9280477" cy="4382729"/>
          </a:xfrm>
        </p:spPr>
        <p:txBody>
          <a:bodyPr/>
          <a:lstStyle/>
          <a:p>
            <a:pPr marL="0" indent="0">
              <a:buNone/>
            </a:pPr>
            <a:endParaRPr lang="en-US" sz="2600" i="1" dirty="0" err="1" smtClean="0">
              <a:solidFill>
                <a:srgbClr val="FF00FF"/>
              </a:solidFill>
              <a:latin typeface="Rockwell" panose="02060603020205020403" pitchFamily="18" charset="0"/>
              <a:ea typeface="+mj-ea"/>
              <a:cs typeface="+mj-cs"/>
            </a:endParaRPr>
          </a:p>
          <a:p>
            <a:pPr marL="0" indent="0" algn="just">
              <a:lnSpc>
                <a:spcPct val="120000"/>
              </a:lnSpc>
              <a:buNone/>
            </a:pPr>
            <a:r>
              <a:rPr lang="en-US" sz="2600" i="1" dirty="0" smtClean="0">
                <a:solidFill>
                  <a:srgbClr val="FF00FF"/>
                </a:solidFill>
                <a:latin typeface="Rockwell" panose="02060603020205020403" pitchFamily="18" charset="0"/>
                <a:ea typeface="+mj-ea"/>
                <a:cs typeface="+mj-cs"/>
              </a:rPr>
              <a:t>VPN </a:t>
            </a:r>
            <a:r>
              <a:rPr lang="en-US" sz="2600" i="1" dirty="0" err="1" smtClean="0">
                <a:solidFill>
                  <a:srgbClr val="FF00FF"/>
                </a:solidFill>
                <a:latin typeface="Rockwell" panose="02060603020205020403" pitchFamily="18" charset="0"/>
                <a:ea typeface="+mj-ea"/>
                <a:cs typeface="+mj-cs"/>
              </a:rPr>
              <a:t>được</a:t>
            </a:r>
            <a:r>
              <a:rPr lang="en-US" sz="2600" i="1" dirty="0" smtClean="0">
                <a:solidFill>
                  <a:srgbClr val="FF00FF"/>
                </a:solidFill>
                <a:latin typeface="Rockwell" panose="02060603020205020403" pitchFamily="18" charset="0"/>
                <a:ea typeface="+mj-ea"/>
                <a:cs typeface="+mj-cs"/>
              </a:rPr>
              <a:t> </a:t>
            </a:r>
            <a:r>
              <a:rPr lang="en-US" sz="2600" i="1" dirty="0" err="1" smtClean="0">
                <a:solidFill>
                  <a:srgbClr val="FF00FF"/>
                </a:solidFill>
                <a:latin typeface="Rockwell" panose="02060603020205020403" pitchFamily="18" charset="0"/>
                <a:ea typeface="+mj-ea"/>
                <a:cs typeface="+mj-cs"/>
              </a:rPr>
              <a:t>xem</a:t>
            </a:r>
            <a:r>
              <a:rPr lang="en-US" sz="2600" i="1" dirty="0" smtClean="0">
                <a:solidFill>
                  <a:srgbClr val="FF00FF"/>
                </a:solidFill>
                <a:latin typeface="Rockwell" panose="02060603020205020403" pitchFamily="18" charset="0"/>
                <a:ea typeface="+mj-ea"/>
                <a:cs typeface="+mj-cs"/>
              </a:rPr>
              <a:t> </a:t>
            </a:r>
            <a:r>
              <a:rPr lang="en-US" sz="2600" i="1" dirty="0" err="1" smtClean="0">
                <a:solidFill>
                  <a:srgbClr val="FF00FF"/>
                </a:solidFill>
                <a:latin typeface="Rockwell" panose="02060603020205020403" pitchFamily="18" charset="0"/>
                <a:ea typeface="+mj-ea"/>
                <a:cs typeface="+mj-cs"/>
              </a:rPr>
              <a:t>là</a:t>
            </a:r>
            <a:r>
              <a:rPr lang="en-US" sz="2600" i="1" dirty="0" smtClean="0">
                <a:solidFill>
                  <a:srgbClr val="FF00FF"/>
                </a:solidFill>
                <a:latin typeface="Rockwell" panose="02060603020205020403" pitchFamily="18" charset="0"/>
                <a:ea typeface="+mj-ea"/>
                <a:cs typeface="+mj-cs"/>
              </a:rPr>
              <a:t> </a:t>
            </a:r>
            <a:r>
              <a:rPr lang="en-US" sz="2600" i="1" dirty="0">
                <a:solidFill>
                  <a:srgbClr val="FF00FF"/>
                </a:solidFill>
                <a:latin typeface="Rockwell" panose="02060603020205020403" pitchFamily="18" charset="0"/>
                <a:ea typeface="+mj-ea"/>
                <a:cs typeface="+mj-cs"/>
              </a:rPr>
              <a:t>“</a:t>
            </a:r>
            <a:r>
              <a:rPr lang="en-US" sz="2600" i="1" dirty="0" err="1">
                <a:solidFill>
                  <a:srgbClr val="FF00FF"/>
                </a:solidFill>
                <a:latin typeface="Rockwell" panose="02060603020205020403" pitchFamily="18" charset="0"/>
                <a:ea typeface="+mj-ea"/>
                <a:cs typeface="+mj-cs"/>
              </a:rPr>
              <a:t>lá</a:t>
            </a:r>
            <a:r>
              <a:rPr lang="en-US" sz="2600" i="1" dirty="0">
                <a:solidFill>
                  <a:srgbClr val="FF00FF"/>
                </a:solidFill>
                <a:latin typeface="Rockwell" panose="02060603020205020403" pitchFamily="18" charset="0"/>
                <a:ea typeface="+mj-ea"/>
                <a:cs typeface="+mj-cs"/>
              </a:rPr>
              <a:t> </a:t>
            </a:r>
            <a:r>
              <a:rPr lang="en-US" sz="2600" i="1" dirty="0" err="1">
                <a:solidFill>
                  <a:srgbClr val="FF00FF"/>
                </a:solidFill>
                <a:latin typeface="Rockwell" panose="02060603020205020403" pitchFamily="18" charset="0"/>
                <a:ea typeface="+mj-ea"/>
                <a:cs typeface="+mj-cs"/>
              </a:rPr>
              <a:t>chắn</a:t>
            </a:r>
            <a:r>
              <a:rPr lang="en-US" sz="2600" i="1" dirty="0">
                <a:solidFill>
                  <a:srgbClr val="FF00FF"/>
                </a:solidFill>
                <a:latin typeface="Rockwell" panose="02060603020205020403" pitchFamily="18" charset="0"/>
                <a:ea typeface="+mj-ea"/>
                <a:cs typeface="+mj-cs"/>
              </a:rPr>
              <a:t>” </a:t>
            </a:r>
            <a:r>
              <a:rPr lang="en-US" sz="2600" i="1" dirty="0" err="1">
                <a:solidFill>
                  <a:srgbClr val="FF00FF"/>
                </a:solidFill>
                <a:latin typeface="Rockwell" panose="02060603020205020403" pitchFamily="18" charset="0"/>
                <a:ea typeface="+mj-ea"/>
                <a:cs typeface="+mj-cs"/>
              </a:rPr>
              <a:t>đầu</a:t>
            </a:r>
            <a:r>
              <a:rPr lang="en-US" sz="2600" i="1" dirty="0">
                <a:solidFill>
                  <a:srgbClr val="FF00FF"/>
                </a:solidFill>
                <a:latin typeface="Rockwell" panose="02060603020205020403" pitchFamily="18" charset="0"/>
                <a:ea typeface="+mj-ea"/>
                <a:cs typeface="+mj-cs"/>
              </a:rPr>
              <a:t> </a:t>
            </a:r>
            <a:r>
              <a:rPr lang="en-US" sz="2600" i="1" dirty="0" err="1">
                <a:solidFill>
                  <a:srgbClr val="FF00FF"/>
                </a:solidFill>
                <a:latin typeface="Rockwell" panose="02060603020205020403" pitchFamily="18" charset="0"/>
                <a:ea typeface="+mj-ea"/>
                <a:cs typeface="+mj-cs"/>
              </a:rPr>
              <a:t>tiên</a:t>
            </a:r>
            <a:r>
              <a:rPr lang="en-US" sz="2600" i="1" dirty="0">
                <a:solidFill>
                  <a:srgbClr val="FF00FF"/>
                </a:solidFill>
                <a:latin typeface="Rockwell" panose="02060603020205020403" pitchFamily="18" charset="0"/>
                <a:ea typeface="+mj-ea"/>
                <a:cs typeface="+mj-cs"/>
              </a:rPr>
              <a:t> </a:t>
            </a:r>
            <a:r>
              <a:rPr lang="en-US" sz="2600" i="1" dirty="0" err="1">
                <a:solidFill>
                  <a:srgbClr val="FF00FF"/>
                </a:solidFill>
                <a:latin typeface="Rockwell" panose="02060603020205020403" pitchFamily="18" charset="0"/>
                <a:ea typeface="+mj-ea"/>
                <a:cs typeface="+mj-cs"/>
              </a:rPr>
              <a:t>trong</a:t>
            </a:r>
            <a:r>
              <a:rPr lang="en-US" sz="2600" i="1" dirty="0">
                <a:solidFill>
                  <a:srgbClr val="FF00FF"/>
                </a:solidFill>
                <a:latin typeface="Rockwell" panose="02060603020205020403" pitchFamily="18" charset="0"/>
                <a:ea typeface="+mj-ea"/>
                <a:cs typeface="+mj-cs"/>
              </a:rPr>
              <a:t> </a:t>
            </a:r>
            <a:r>
              <a:rPr lang="en-US" sz="2600" i="1" dirty="0" err="1">
                <a:solidFill>
                  <a:srgbClr val="FF00FF"/>
                </a:solidFill>
                <a:latin typeface="Rockwell" panose="02060603020205020403" pitchFamily="18" charset="0"/>
                <a:ea typeface="+mj-ea"/>
                <a:cs typeface="+mj-cs"/>
              </a:rPr>
              <a:t>việc</a:t>
            </a:r>
            <a:r>
              <a:rPr lang="en-US" sz="2600" i="1" dirty="0">
                <a:solidFill>
                  <a:srgbClr val="FF00FF"/>
                </a:solidFill>
                <a:latin typeface="Rockwell" panose="02060603020205020403" pitchFamily="18" charset="0"/>
                <a:ea typeface="+mj-ea"/>
                <a:cs typeface="+mj-cs"/>
              </a:rPr>
              <a:t> </a:t>
            </a:r>
            <a:r>
              <a:rPr lang="en-US" sz="2600" i="1" dirty="0" err="1">
                <a:solidFill>
                  <a:srgbClr val="FF00FF"/>
                </a:solidFill>
                <a:latin typeface="Rockwell" panose="02060603020205020403" pitchFamily="18" charset="0"/>
                <a:ea typeface="+mj-ea"/>
                <a:cs typeface="+mj-cs"/>
              </a:rPr>
              <a:t>bảo</a:t>
            </a:r>
            <a:r>
              <a:rPr lang="en-US" sz="2600" i="1" dirty="0">
                <a:solidFill>
                  <a:srgbClr val="FF00FF"/>
                </a:solidFill>
                <a:latin typeface="Rockwell" panose="02060603020205020403" pitchFamily="18" charset="0"/>
                <a:ea typeface="+mj-ea"/>
                <a:cs typeface="+mj-cs"/>
              </a:rPr>
              <a:t> </a:t>
            </a:r>
            <a:r>
              <a:rPr lang="en-US" sz="2600" i="1" dirty="0" err="1">
                <a:solidFill>
                  <a:srgbClr val="FF00FF"/>
                </a:solidFill>
                <a:latin typeface="Rockwell" panose="02060603020205020403" pitchFamily="18" charset="0"/>
                <a:ea typeface="+mj-ea"/>
                <a:cs typeface="+mj-cs"/>
              </a:rPr>
              <a:t>vệ</a:t>
            </a:r>
            <a:r>
              <a:rPr lang="en-US" sz="2600" i="1" dirty="0">
                <a:solidFill>
                  <a:srgbClr val="FF00FF"/>
                </a:solidFill>
                <a:latin typeface="Rockwell" panose="02060603020205020403" pitchFamily="18" charset="0"/>
                <a:ea typeface="+mj-ea"/>
                <a:cs typeface="+mj-cs"/>
              </a:rPr>
              <a:t> </a:t>
            </a:r>
            <a:r>
              <a:rPr lang="en-US" sz="2600" i="1" dirty="0" err="1">
                <a:solidFill>
                  <a:srgbClr val="FF00FF"/>
                </a:solidFill>
                <a:latin typeface="Rockwell" panose="02060603020205020403" pitchFamily="18" charset="0"/>
                <a:ea typeface="+mj-ea"/>
                <a:cs typeface="+mj-cs"/>
              </a:rPr>
              <a:t>hạ</a:t>
            </a:r>
            <a:r>
              <a:rPr lang="en-US" sz="2600" i="1" dirty="0">
                <a:solidFill>
                  <a:srgbClr val="FF00FF"/>
                </a:solidFill>
                <a:latin typeface="Rockwell" panose="02060603020205020403" pitchFamily="18" charset="0"/>
                <a:ea typeface="+mj-ea"/>
                <a:cs typeface="+mj-cs"/>
              </a:rPr>
              <a:t> </a:t>
            </a:r>
            <a:r>
              <a:rPr lang="en-US" sz="2600" i="1" dirty="0" err="1">
                <a:solidFill>
                  <a:srgbClr val="FF00FF"/>
                </a:solidFill>
                <a:latin typeface="Rockwell" panose="02060603020205020403" pitchFamily="18" charset="0"/>
                <a:ea typeface="+mj-ea"/>
                <a:cs typeface="+mj-cs"/>
              </a:rPr>
              <a:t>tầng</a:t>
            </a:r>
            <a:r>
              <a:rPr lang="en-US" sz="2600" i="1" dirty="0">
                <a:solidFill>
                  <a:srgbClr val="FF00FF"/>
                </a:solidFill>
                <a:latin typeface="Rockwell" panose="02060603020205020403" pitchFamily="18" charset="0"/>
                <a:ea typeface="+mj-ea"/>
                <a:cs typeface="+mj-cs"/>
              </a:rPr>
              <a:t> E-Commerce, </a:t>
            </a:r>
            <a:r>
              <a:rPr lang="en-US" sz="2600" i="1" dirty="0" err="1">
                <a:solidFill>
                  <a:srgbClr val="FF00FF"/>
                </a:solidFill>
                <a:latin typeface="Rockwell" panose="02060603020205020403" pitchFamily="18" charset="0"/>
                <a:ea typeface="+mj-ea"/>
                <a:cs typeface="+mj-cs"/>
              </a:rPr>
              <a:t>đảm</a:t>
            </a:r>
            <a:r>
              <a:rPr lang="en-US" sz="2600" i="1" dirty="0">
                <a:solidFill>
                  <a:srgbClr val="FF00FF"/>
                </a:solidFill>
                <a:latin typeface="Rockwell" panose="02060603020205020403" pitchFamily="18" charset="0"/>
                <a:ea typeface="+mj-ea"/>
                <a:cs typeface="+mj-cs"/>
              </a:rPr>
              <a:t> </a:t>
            </a:r>
            <a:r>
              <a:rPr lang="en-US" sz="2600" i="1" dirty="0" err="1">
                <a:solidFill>
                  <a:srgbClr val="FF00FF"/>
                </a:solidFill>
                <a:latin typeface="Rockwell" panose="02060603020205020403" pitchFamily="18" charset="0"/>
                <a:ea typeface="+mj-ea"/>
                <a:cs typeface="+mj-cs"/>
              </a:rPr>
              <a:t>bảo</a:t>
            </a:r>
            <a:r>
              <a:rPr lang="en-US" sz="2600" i="1" dirty="0">
                <a:solidFill>
                  <a:srgbClr val="FF00FF"/>
                </a:solidFill>
                <a:latin typeface="Rockwell" panose="02060603020205020403" pitchFamily="18" charset="0"/>
                <a:ea typeface="+mj-ea"/>
                <a:cs typeface="+mj-cs"/>
              </a:rPr>
              <a:t> </a:t>
            </a:r>
            <a:r>
              <a:rPr lang="en-US" sz="2600" i="1" dirty="0" err="1">
                <a:solidFill>
                  <a:srgbClr val="FF00FF"/>
                </a:solidFill>
                <a:latin typeface="Rockwell" panose="02060603020205020403" pitchFamily="18" charset="0"/>
                <a:ea typeface="+mj-ea"/>
                <a:cs typeface="+mj-cs"/>
              </a:rPr>
              <a:t>giao</a:t>
            </a:r>
            <a:r>
              <a:rPr lang="en-US" sz="2600" i="1" dirty="0">
                <a:solidFill>
                  <a:srgbClr val="FF00FF"/>
                </a:solidFill>
                <a:latin typeface="Rockwell" panose="02060603020205020403" pitchFamily="18" charset="0"/>
                <a:ea typeface="+mj-ea"/>
                <a:cs typeface="+mj-cs"/>
              </a:rPr>
              <a:t> </a:t>
            </a:r>
            <a:r>
              <a:rPr lang="en-US" sz="2600" i="1" dirty="0" err="1">
                <a:solidFill>
                  <a:srgbClr val="FF00FF"/>
                </a:solidFill>
                <a:latin typeface="Rockwell" panose="02060603020205020403" pitchFamily="18" charset="0"/>
                <a:ea typeface="+mj-ea"/>
                <a:cs typeface="+mj-cs"/>
              </a:rPr>
              <a:t>dịch</a:t>
            </a:r>
            <a:r>
              <a:rPr lang="en-US" sz="2600" i="1" dirty="0">
                <a:solidFill>
                  <a:srgbClr val="FF00FF"/>
                </a:solidFill>
                <a:latin typeface="Rockwell" panose="02060603020205020403" pitchFamily="18" charset="0"/>
                <a:ea typeface="+mj-ea"/>
                <a:cs typeface="+mj-cs"/>
              </a:rPr>
              <a:t> </a:t>
            </a:r>
            <a:r>
              <a:rPr lang="en-US" sz="2600" i="1" dirty="0" err="1">
                <a:solidFill>
                  <a:srgbClr val="FF00FF"/>
                </a:solidFill>
                <a:latin typeface="Rockwell" panose="02060603020205020403" pitchFamily="18" charset="0"/>
                <a:ea typeface="+mj-ea"/>
                <a:cs typeface="+mj-cs"/>
              </a:rPr>
              <a:t>trực</a:t>
            </a:r>
            <a:r>
              <a:rPr lang="en-US" sz="2600" i="1" dirty="0">
                <a:solidFill>
                  <a:srgbClr val="FF00FF"/>
                </a:solidFill>
                <a:latin typeface="Rockwell" panose="02060603020205020403" pitchFamily="18" charset="0"/>
                <a:ea typeface="+mj-ea"/>
                <a:cs typeface="+mj-cs"/>
              </a:rPr>
              <a:t> </a:t>
            </a:r>
            <a:r>
              <a:rPr lang="en-US" sz="2600" i="1" dirty="0" err="1">
                <a:solidFill>
                  <a:srgbClr val="FF00FF"/>
                </a:solidFill>
                <a:latin typeface="Rockwell" panose="02060603020205020403" pitchFamily="18" charset="0"/>
                <a:ea typeface="+mj-ea"/>
                <a:cs typeface="+mj-cs"/>
              </a:rPr>
              <a:t>tuyến</a:t>
            </a:r>
            <a:r>
              <a:rPr lang="en-US" sz="2600" i="1" dirty="0">
                <a:solidFill>
                  <a:srgbClr val="FF00FF"/>
                </a:solidFill>
                <a:latin typeface="Rockwell" panose="02060603020205020403" pitchFamily="18" charset="0"/>
                <a:ea typeface="+mj-ea"/>
                <a:cs typeface="+mj-cs"/>
              </a:rPr>
              <a:t> </a:t>
            </a:r>
            <a:r>
              <a:rPr lang="en-US" sz="2600" i="1" dirty="0" err="1">
                <a:solidFill>
                  <a:srgbClr val="FF00FF"/>
                </a:solidFill>
                <a:latin typeface="Rockwell" panose="02060603020205020403" pitchFamily="18" charset="0"/>
                <a:ea typeface="+mj-ea"/>
                <a:cs typeface="+mj-cs"/>
              </a:rPr>
              <a:t>diễn</a:t>
            </a:r>
            <a:r>
              <a:rPr lang="en-US" sz="2600" i="1" dirty="0">
                <a:solidFill>
                  <a:srgbClr val="FF00FF"/>
                </a:solidFill>
                <a:latin typeface="Rockwell" panose="02060603020205020403" pitchFamily="18" charset="0"/>
                <a:ea typeface="+mj-ea"/>
                <a:cs typeface="+mj-cs"/>
              </a:rPr>
              <a:t> </a:t>
            </a:r>
            <a:r>
              <a:rPr lang="en-US" sz="2600" i="1" dirty="0" err="1">
                <a:solidFill>
                  <a:srgbClr val="FF00FF"/>
                </a:solidFill>
                <a:latin typeface="Rockwell" panose="02060603020205020403" pitchFamily="18" charset="0"/>
                <a:ea typeface="+mj-ea"/>
                <a:cs typeface="+mj-cs"/>
              </a:rPr>
              <a:t>ra</a:t>
            </a:r>
            <a:r>
              <a:rPr lang="en-US" sz="2600" i="1" dirty="0">
                <a:solidFill>
                  <a:srgbClr val="FF00FF"/>
                </a:solidFill>
                <a:latin typeface="Rockwell" panose="02060603020205020403" pitchFamily="18" charset="0"/>
                <a:ea typeface="+mj-ea"/>
                <a:cs typeface="+mj-cs"/>
              </a:rPr>
              <a:t> an </a:t>
            </a:r>
            <a:r>
              <a:rPr lang="en-US" sz="2600" i="1" dirty="0" err="1">
                <a:solidFill>
                  <a:srgbClr val="FF00FF"/>
                </a:solidFill>
                <a:latin typeface="Rockwell" panose="02060603020205020403" pitchFamily="18" charset="0"/>
                <a:ea typeface="+mj-ea"/>
                <a:cs typeface="+mj-cs"/>
              </a:rPr>
              <a:t>toàn</a:t>
            </a:r>
            <a:r>
              <a:rPr lang="en-US" sz="2600" i="1" dirty="0">
                <a:solidFill>
                  <a:srgbClr val="FF00FF"/>
                </a:solidFill>
                <a:latin typeface="Rockwell" panose="02060603020205020403" pitchFamily="18" charset="0"/>
                <a:ea typeface="+mj-ea"/>
                <a:cs typeface="+mj-cs"/>
              </a:rPr>
              <a:t>, </a:t>
            </a:r>
            <a:r>
              <a:rPr lang="en-US" sz="2600" i="1" dirty="0" err="1">
                <a:solidFill>
                  <a:srgbClr val="FF00FF"/>
                </a:solidFill>
                <a:latin typeface="Rockwell" panose="02060603020205020403" pitchFamily="18" charset="0"/>
                <a:ea typeface="+mj-ea"/>
                <a:cs typeface="+mj-cs"/>
              </a:rPr>
              <a:t>bí</a:t>
            </a:r>
            <a:r>
              <a:rPr lang="en-US" sz="2600" i="1" dirty="0">
                <a:solidFill>
                  <a:srgbClr val="FF00FF"/>
                </a:solidFill>
                <a:latin typeface="Rockwell" panose="02060603020205020403" pitchFamily="18" charset="0"/>
                <a:ea typeface="+mj-ea"/>
                <a:cs typeface="+mj-cs"/>
              </a:rPr>
              <a:t> </a:t>
            </a:r>
            <a:r>
              <a:rPr lang="en-US" sz="2600" i="1" dirty="0" err="1">
                <a:solidFill>
                  <a:srgbClr val="FF00FF"/>
                </a:solidFill>
                <a:latin typeface="Rockwell" panose="02060603020205020403" pitchFamily="18" charset="0"/>
                <a:ea typeface="+mj-ea"/>
                <a:cs typeface="+mj-cs"/>
              </a:rPr>
              <a:t>mật</a:t>
            </a:r>
            <a:r>
              <a:rPr lang="en-US" sz="2600" i="1" dirty="0">
                <a:solidFill>
                  <a:srgbClr val="FF00FF"/>
                </a:solidFill>
                <a:latin typeface="Rockwell" panose="02060603020205020403" pitchFamily="18" charset="0"/>
                <a:ea typeface="+mj-ea"/>
                <a:cs typeface="+mj-cs"/>
              </a:rPr>
              <a:t> </a:t>
            </a:r>
            <a:r>
              <a:rPr lang="en-US" sz="2600" i="1" dirty="0" err="1">
                <a:solidFill>
                  <a:srgbClr val="FF00FF"/>
                </a:solidFill>
                <a:latin typeface="Rockwell" panose="02060603020205020403" pitchFamily="18" charset="0"/>
                <a:ea typeface="+mj-ea"/>
                <a:cs typeface="+mj-cs"/>
              </a:rPr>
              <a:t>và</a:t>
            </a:r>
            <a:r>
              <a:rPr lang="en-US" sz="2600" i="1" dirty="0">
                <a:solidFill>
                  <a:srgbClr val="FF00FF"/>
                </a:solidFill>
                <a:latin typeface="Rockwell" panose="02060603020205020403" pitchFamily="18" charset="0"/>
                <a:ea typeface="+mj-ea"/>
                <a:cs typeface="+mj-cs"/>
              </a:rPr>
              <a:t> </a:t>
            </a:r>
            <a:r>
              <a:rPr lang="en-US" sz="2600" i="1" dirty="0" err="1">
                <a:solidFill>
                  <a:srgbClr val="FF00FF"/>
                </a:solidFill>
                <a:latin typeface="Rockwell" panose="02060603020205020403" pitchFamily="18" charset="0"/>
                <a:ea typeface="+mj-ea"/>
                <a:cs typeface="+mj-cs"/>
              </a:rPr>
              <a:t>đáng</a:t>
            </a:r>
            <a:r>
              <a:rPr lang="en-US" sz="2600" i="1" dirty="0">
                <a:solidFill>
                  <a:srgbClr val="FF00FF"/>
                </a:solidFill>
                <a:latin typeface="Rockwell" panose="02060603020205020403" pitchFamily="18" charset="0"/>
                <a:ea typeface="+mj-ea"/>
                <a:cs typeface="+mj-cs"/>
              </a:rPr>
              <a:t> tin </a:t>
            </a:r>
            <a:r>
              <a:rPr lang="en-US" sz="2600" i="1" dirty="0" err="1">
                <a:solidFill>
                  <a:srgbClr val="FF00FF"/>
                </a:solidFill>
                <a:latin typeface="Rockwell" panose="02060603020205020403" pitchFamily="18" charset="0"/>
                <a:ea typeface="+mj-ea"/>
                <a:cs typeface="+mj-cs"/>
              </a:rPr>
              <a:t>cậy</a:t>
            </a:r>
            <a:r>
              <a:rPr lang="en-US" sz="2600" i="1" dirty="0">
                <a:solidFill>
                  <a:srgbClr val="FF00FF"/>
                </a:solidFill>
                <a:latin typeface="Rockwell" panose="02060603020205020403" pitchFamily="18" charset="0"/>
                <a:ea typeface="+mj-ea"/>
                <a:cs typeface="+mj-cs"/>
              </a:rPr>
              <a:t>.</a:t>
            </a:r>
          </a:p>
          <a:p>
            <a:pPr marL="0" indent="0">
              <a:buNone/>
            </a:pPr>
            <a:endParaRPr lang="en-US" dirty="0"/>
          </a:p>
        </p:txBody>
      </p:sp>
    </p:spTree>
    <p:extLst>
      <p:ext uri="{BB962C8B-B14F-4D97-AF65-F5344CB8AC3E}">
        <p14:creationId xmlns:p14="http://schemas.microsoft.com/office/powerpoint/2010/main" val="3153254955"/>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44303" y="491797"/>
            <a:ext cx="10242645" cy="528851"/>
          </a:xfrm>
        </p:spPr>
        <p:txBody>
          <a:bodyPr/>
          <a:lstStyle/>
          <a:p>
            <a:r>
              <a:rPr lang="en-US" sz="2800" b="1" dirty="0">
                <a:solidFill>
                  <a:srgbClr val="0000CC"/>
                </a:solidFill>
                <a:latin typeface="Rockwell" panose="02060603020205020403" pitchFamily="18" charset="0"/>
              </a:rPr>
              <a:t>7</a:t>
            </a:r>
            <a:r>
              <a:rPr lang="en-US" sz="2800" b="1" dirty="0" smtClean="0">
                <a:solidFill>
                  <a:srgbClr val="0000CC"/>
                </a:solidFill>
                <a:latin typeface="Rockwell" panose="02060603020205020403" pitchFamily="18" charset="0"/>
              </a:rPr>
              <a:t>.2.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Chức</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năng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và</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mục</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đích</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sử</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dụng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của</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FIREWALL</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44303" y="1020648"/>
            <a:ext cx="10611135" cy="4382729"/>
          </a:xfrm>
        </p:spPr>
        <p:txBody>
          <a:bodyPr/>
          <a:lstStyle/>
          <a:p>
            <a:pPr marL="341313" indent="-341313">
              <a:buAutoNum type="arabicPeriod"/>
            </a:pPr>
            <a:r>
              <a:rPr lang="vi-VN" b="1" dirty="0" smtClean="0">
                <a:solidFill>
                  <a:srgbClr val="0000CC"/>
                </a:solidFill>
                <a:latin typeface="Rockwell" panose="02060603020205020403" pitchFamily="18" charset="0"/>
                <a:ea typeface="+mj-ea"/>
                <a:cs typeface="+mj-cs"/>
              </a:rPr>
              <a:t>Khái niệm</a:t>
            </a:r>
            <a:r>
              <a:rPr lang="en-US" b="1" dirty="0" smtClean="0">
                <a:solidFill>
                  <a:srgbClr val="0000CC"/>
                </a:solidFill>
                <a:latin typeface="Rockwell" panose="02060603020205020403" pitchFamily="18" charset="0"/>
                <a:ea typeface="+mj-ea"/>
                <a:cs typeface="+mj-cs"/>
              </a:rPr>
              <a:t> </a:t>
            </a:r>
            <a:r>
              <a:rPr lang="en-US" b="1" dirty="0" err="1" smtClean="0">
                <a:solidFill>
                  <a:srgbClr val="0000CC"/>
                </a:solidFill>
                <a:latin typeface="Rockwell" panose="02060603020205020403" pitchFamily="18" charset="0"/>
                <a:ea typeface="+mj-ea"/>
                <a:cs typeface="+mj-cs"/>
              </a:rPr>
              <a:t>và</a:t>
            </a:r>
            <a:r>
              <a:rPr lang="en-US" b="1" dirty="0" smtClean="0">
                <a:solidFill>
                  <a:srgbClr val="0000CC"/>
                </a:solidFill>
                <a:latin typeface="Rockwell" panose="02060603020205020403" pitchFamily="18" charset="0"/>
                <a:ea typeface="+mj-ea"/>
                <a:cs typeface="+mj-cs"/>
              </a:rPr>
              <a:t> </a:t>
            </a:r>
            <a:r>
              <a:rPr lang="en-US" b="1" dirty="0" err="1" smtClean="0">
                <a:solidFill>
                  <a:srgbClr val="0000CC"/>
                </a:solidFill>
                <a:latin typeface="Rockwell" panose="02060603020205020403" pitchFamily="18" charset="0"/>
                <a:ea typeface="+mj-ea"/>
                <a:cs typeface="+mj-cs"/>
              </a:rPr>
              <a:t>phân</a:t>
            </a:r>
            <a:r>
              <a:rPr lang="en-US" b="1" dirty="0" smtClean="0">
                <a:solidFill>
                  <a:srgbClr val="0000CC"/>
                </a:solidFill>
                <a:latin typeface="Rockwell" panose="02060603020205020403" pitchFamily="18" charset="0"/>
                <a:ea typeface="+mj-ea"/>
                <a:cs typeface="+mj-cs"/>
              </a:rPr>
              <a:t> </a:t>
            </a:r>
            <a:r>
              <a:rPr lang="en-US" b="1" dirty="0" err="1" smtClean="0">
                <a:solidFill>
                  <a:srgbClr val="0000CC"/>
                </a:solidFill>
                <a:latin typeface="Rockwell" panose="02060603020205020403" pitchFamily="18" charset="0"/>
                <a:ea typeface="+mj-ea"/>
                <a:cs typeface="+mj-cs"/>
              </a:rPr>
              <a:t>loại</a:t>
            </a:r>
            <a:r>
              <a:rPr lang="vi-VN" b="1" dirty="0" smtClean="0">
                <a:solidFill>
                  <a:srgbClr val="0000CC"/>
                </a:solidFill>
                <a:latin typeface="Rockwell" panose="02060603020205020403" pitchFamily="18" charset="0"/>
                <a:ea typeface="+mj-ea"/>
                <a:cs typeface="+mj-cs"/>
              </a:rPr>
              <a:t>:</a:t>
            </a:r>
            <a:endParaRPr lang="en-US" b="1" dirty="0" smtClean="0">
              <a:solidFill>
                <a:srgbClr val="0000CC"/>
              </a:solidFill>
              <a:latin typeface="Rockwell" panose="02060603020205020403" pitchFamily="18" charset="0"/>
              <a:ea typeface="+mj-ea"/>
              <a:cs typeface="+mj-cs"/>
            </a:endParaRPr>
          </a:p>
          <a:p>
            <a:pPr marL="0" indent="0">
              <a:spcBef>
                <a:spcPts val="600"/>
              </a:spcBef>
              <a:spcAft>
                <a:spcPts val="300"/>
              </a:spcAft>
              <a:buNone/>
            </a:pPr>
            <a:r>
              <a:rPr lang="vi-VN" dirty="0" smtClean="0">
                <a:solidFill>
                  <a:srgbClr val="0000CC"/>
                </a:solidFill>
                <a:latin typeface="Rockwell" panose="02060603020205020403" pitchFamily="18" charset="0"/>
                <a:ea typeface="+mj-ea"/>
                <a:cs typeface="+mj-cs"/>
              </a:rPr>
              <a:t>Firewall </a:t>
            </a:r>
            <a:r>
              <a:rPr lang="vi-VN" dirty="0">
                <a:solidFill>
                  <a:srgbClr val="0000CC"/>
                </a:solidFill>
                <a:latin typeface="Rockwell" panose="02060603020205020403" pitchFamily="18" charset="0"/>
                <a:ea typeface="+mj-ea"/>
                <a:cs typeface="+mj-cs"/>
              </a:rPr>
              <a:t>(tường lửa) là hệ thống bảo mật mạng được thiết kế để giám sát, kiểm soát và ngăn chặn lưu lượng truy cập mạng dựa trên các quy tắc an ninh đã định trước</a:t>
            </a:r>
            <a:r>
              <a:rPr lang="vi-VN" dirty="0" smtClean="0">
                <a:solidFill>
                  <a:srgbClr val="0000CC"/>
                </a:solidFill>
                <a:latin typeface="Rockwell" panose="02060603020205020403" pitchFamily="18" charset="0"/>
                <a:ea typeface="+mj-ea"/>
                <a:cs typeface="+mj-cs"/>
              </a:rPr>
              <a:t>.</a:t>
            </a:r>
            <a:r>
              <a:rPr lang="en-US" dirty="0" smtClean="0">
                <a:solidFill>
                  <a:srgbClr val="0000CC"/>
                </a:solidFill>
                <a:latin typeface="Rockwell" panose="02060603020205020403" pitchFamily="18" charset="0"/>
                <a:ea typeface="+mj-ea"/>
                <a:cs typeface="+mj-cs"/>
              </a:rPr>
              <a:t> </a:t>
            </a:r>
            <a:r>
              <a:rPr lang="vi-VN" dirty="0" smtClean="0">
                <a:solidFill>
                  <a:srgbClr val="0000CC"/>
                </a:solidFill>
                <a:latin typeface="Rockwell" panose="02060603020205020403" pitchFamily="18" charset="0"/>
                <a:ea typeface="+mj-ea"/>
                <a:cs typeface="+mj-cs"/>
              </a:rPr>
              <a:t>Có </a:t>
            </a:r>
            <a:r>
              <a:rPr lang="vi-VN" dirty="0">
                <a:solidFill>
                  <a:srgbClr val="0000CC"/>
                </a:solidFill>
                <a:latin typeface="Rockwell" panose="02060603020205020403" pitchFamily="18" charset="0"/>
                <a:ea typeface="+mj-ea"/>
                <a:cs typeface="+mj-cs"/>
              </a:rPr>
              <a:t>2 loại Firewall chính:</a:t>
            </a:r>
          </a:p>
          <a:p>
            <a:pPr marL="342900" lvl="1">
              <a:spcBef>
                <a:spcPts val="600"/>
              </a:spcBef>
              <a:spcAft>
                <a:spcPts val="300"/>
              </a:spcAft>
            </a:pPr>
            <a:r>
              <a:rPr lang="vi-VN" dirty="0">
                <a:solidFill>
                  <a:srgbClr val="0000CC"/>
                </a:solidFill>
                <a:latin typeface="Rockwell" panose="02060603020205020403" pitchFamily="18" charset="0"/>
                <a:ea typeface="+mj-ea"/>
                <a:cs typeface="+mj-cs"/>
              </a:rPr>
              <a:t>Firewall lọc gói (Packet Filtering Firewall):</a:t>
            </a:r>
          </a:p>
          <a:p>
            <a:pPr marL="682625" lvl="2">
              <a:spcBef>
                <a:spcPts val="600"/>
              </a:spcBef>
              <a:spcAft>
                <a:spcPts val="300"/>
              </a:spcAft>
            </a:pPr>
            <a:r>
              <a:rPr lang="vi-VN" sz="2400" dirty="0">
                <a:solidFill>
                  <a:srgbClr val="0000CC"/>
                </a:solidFill>
                <a:latin typeface="Rockwell" panose="02060603020205020403" pitchFamily="18" charset="0"/>
                <a:ea typeface="+mj-ea"/>
                <a:cs typeface="+mj-cs"/>
              </a:rPr>
              <a:t>Kiểm tra thông tin cơ bản của gói tin (IP nguồn, IP đích, port, </a:t>
            </a:r>
            <a:r>
              <a:rPr lang="en-US" sz="2400" dirty="0" smtClean="0">
                <a:solidFill>
                  <a:srgbClr val="0000CC"/>
                </a:solidFill>
                <a:latin typeface="Rockwell" panose="02060603020205020403" pitchFamily="18" charset="0"/>
                <a:ea typeface="+mj-ea"/>
                <a:cs typeface="+mj-cs"/>
              </a:rPr>
              <a:t>protocol</a:t>
            </a:r>
            <a:r>
              <a:rPr lang="vi-VN" sz="2400" dirty="0" smtClean="0">
                <a:solidFill>
                  <a:srgbClr val="0000CC"/>
                </a:solidFill>
                <a:latin typeface="Rockwell" panose="02060603020205020403" pitchFamily="18" charset="0"/>
                <a:ea typeface="+mj-ea"/>
                <a:cs typeface="+mj-cs"/>
              </a:rPr>
              <a:t>).</a:t>
            </a:r>
            <a:endParaRPr lang="vi-VN" sz="2400" dirty="0">
              <a:solidFill>
                <a:srgbClr val="0000CC"/>
              </a:solidFill>
              <a:latin typeface="Rockwell" panose="02060603020205020403" pitchFamily="18" charset="0"/>
              <a:ea typeface="+mj-ea"/>
              <a:cs typeface="+mj-cs"/>
            </a:endParaRPr>
          </a:p>
          <a:p>
            <a:pPr marL="682625" lvl="2">
              <a:spcBef>
                <a:spcPts val="600"/>
              </a:spcBef>
              <a:spcAft>
                <a:spcPts val="300"/>
              </a:spcAft>
            </a:pPr>
            <a:r>
              <a:rPr lang="vi-VN" sz="2400" dirty="0">
                <a:solidFill>
                  <a:srgbClr val="0000CC"/>
                </a:solidFill>
                <a:latin typeface="Rockwell" panose="02060603020205020403" pitchFamily="18" charset="0"/>
                <a:ea typeface="+mj-ea"/>
                <a:cs typeface="+mj-cs"/>
              </a:rPr>
              <a:t>Nhanh, đơn giản, nhưng không phân tích sâu nội dung dữ liệu.</a:t>
            </a:r>
          </a:p>
          <a:p>
            <a:pPr marL="342900" lvl="1">
              <a:spcBef>
                <a:spcPts val="600"/>
              </a:spcBef>
              <a:spcAft>
                <a:spcPts val="300"/>
              </a:spcAft>
            </a:pPr>
            <a:r>
              <a:rPr lang="vi-VN" dirty="0">
                <a:solidFill>
                  <a:srgbClr val="0000CC"/>
                </a:solidFill>
                <a:latin typeface="Rockwell" panose="02060603020205020403" pitchFamily="18" charset="0"/>
                <a:ea typeface="+mj-ea"/>
                <a:cs typeface="+mj-cs"/>
              </a:rPr>
              <a:t>Firewall tầng ứng dụng (Application Layer </a:t>
            </a:r>
            <a:r>
              <a:rPr lang="vi-VN" dirty="0" smtClean="0">
                <a:solidFill>
                  <a:srgbClr val="0000CC"/>
                </a:solidFill>
                <a:latin typeface="Rockwell" panose="02060603020205020403" pitchFamily="18" charset="0"/>
                <a:ea typeface="+mj-ea"/>
                <a:cs typeface="+mj-cs"/>
              </a:rPr>
              <a:t>Firewall/Proxy </a:t>
            </a:r>
            <a:r>
              <a:rPr lang="vi-VN" dirty="0">
                <a:solidFill>
                  <a:srgbClr val="0000CC"/>
                </a:solidFill>
                <a:latin typeface="Rockwell" panose="02060603020205020403" pitchFamily="18" charset="0"/>
                <a:ea typeface="+mj-ea"/>
                <a:cs typeface="+mj-cs"/>
              </a:rPr>
              <a:t>Firewall):</a:t>
            </a:r>
          </a:p>
          <a:p>
            <a:pPr marL="682625" lvl="2">
              <a:spcBef>
                <a:spcPts val="600"/>
              </a:spcBef>
              <a:spcAft>
                <a:spcPts val="300"/>
              </a:spcAft>
            </a:pPr>
            <a:r>
              <a:rPr lang="vi-VN" sz="2400" dirty="0">
                <a:solidFill>
                  <a:srgbClr val="0000CC"/>
                </a:solidFill>
                <a:latin typeface="Rockwell" panose="02060603020205020403" pitchFamily="18" charset="0"/>
                <a:ea typeface="+mj-ea"/>
                <a:cs typeface="+mj-cs"/>
              </a:rPr>
              <a:t>Hoạt động ở mức cao hơn, kiểm soát nội dung ứng dụng (HTTP, </a:t>
            </a:r>
            <a:r>
              <a:rPr lang="vi-VN" sz="2400" dirty="0" smtClean="0">
                <a:solidFill>
                  <a:srgbClr val="0000CC"/>
                </a:solidFill>
                <a:latin typeface="Rockwell" panose="02060603020205020403" pitchFamily="18" charset="0"/>
                <a:ea typeface="+mj-ea"/>
                <a:cs typeface="+mj-cs"/>
              </a:rPr>
              <a:t>FTP,..).</a:t>
            </a:r>
            <a:endParaRPr lang="vi-VN" sz="2400" dirty="0">
              <a:solidFill>
                <a:srgbClr val="0000CC"/>
              </a:solidFill>
              <a:latin typeface="Rockwell" panose="02060603020205020403" pitchFamily="18" charset="0"/>
              <a:ea typeface="+mj-ea"/>
              <a:cs typeface="+mj-cs"/>
            </a:endParaRPr>
          </a:p>
          <a:p>
            <a:pPr marL="682625" lvl="2">
              <a:spcBef>
                <a:spcPts val="600"/>
              </a:spcBef>
              <a:spcAft>
                <a:spcPts val="300"/>
              </a:spcAft>
            </a:pPr>
            <a:r>
              <a:rPr lang="vi-VN" sz="2400" dirty="0">
                <a:solidFill>
                  <a:srgbClr val="0000CC"/>
                </a:solidFill>
                <a:latin typeface="Rockwell" panose="02060603020205020403" pitchFamily="18" charset="0"/>
                <a:ea typeface="+mj-ea"/>
                <a:cs typeface="+mj-cs"/>
              </a:rPr>
              <a:t>Phát hiện và ngăn chặn các tấn công ứng dụng (SQL Injection, XSS...).</a:t>
            </a:r>
          </a:p>
          <a:p>
            <a:pPr marL="0" indent="0" algn="just">
              <a:spcBef>
                <a:spcPts val="600"/>
              </a:spcBef>
              <a:spcAft>
                <a:spcPts val="300"/>
              </a:spcAft>
              <a:buNone/>
            </a:pPr>
            <a:r>
              <a:rPr lang="vi-VN" i="1" dirty="0" smtClean="0">
                <a:solidFill>
                  <a:srgbClr val="FF00FF"/>
                </a:solidFill>
                <a:latin typeface="Rockwell" panose="02060603020205020403" pitchFamily="18" charset="0"/>
                <a:ea typeface="+mj-ea"/>
                <a:cs typeface="+mj-cs"/>
              </a:rPr>
              <a:t>Khác </a:t>
            </a:r>
            <a:r>
              <a:rPr lang="vi-VN" i="1" dirty="0">
                <a:solidFill>
                  <a:srgbClr val="FF00FF"/>
                </a:solidFill>
                <a:latin typeface="Rockwell" panose="02060603020205020403" pitchFamily="18" charset="0"/>
                <a:ea typeface="+mj-ea"/>
                <a:cs typeface="+mj-cs"/>
              </a:rPr>
              <a:t>biệt chính: Firewall lọc gói tập trung vào lớp mạng/vận chuyển, trong khi Firewall tầng ứng dụng có khả năng phân tích sâu và ngăn chặn tấn công ở lớp ứng dụng</a:t>
            </a:r>
            <a:r>
              <a:rPr lang="vi-VN" i="1" dirty="0" smtClean="0">
                <a:solidFill>
                  <a:srgbClr val="FF00FF"/>
                </a:solidFill>
                <a:latin typeface="Rockwell" panose="02060603020205020403" pitchFamily="18" charset="0"/>
                <a:ea typeface="+mj-ea"/>
                <a:cs typeface="+mj-cs"/>
              </a:rPr>
              <a:t>.</a:t>
            </a:r>
            <a:endParaRPr lang="vi-VN" b="1" i="1" dirty="0">
              <a:solidFill>
                <a:srgbClr val="FF00FF"/>
              </a:solidFill>
              <a:latin typeface="Rockwell" panose="02060603020205020403" pitchFamily="18" charset="0"/>
              <a:ea typeface="+mj-ea"/>
              <a:cs typeface="+mj-cs"/>
            </a:endParaRPr>
          </a:p>
          <a:p>
            <a:endParaRPr lang="en-US" dirty="0"/>
          </a:p>
        </p:txBody>
      </p:sp>
    </p:spTree>
    <p:extLst>
      <p:ext uri="{BB962C8B-B14F-4D97-AF65-F5344CB8AC3E}">
        <p14:creationId xmlns:p14="http://schemas.microsoft.com/office/powerpoint/2010/main" val="2904457080"/>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44303" y="491797"/>
            <a:ext cx="10242645" cy="528851"/>
          </a:xfrm>
        </p:spPr>
        <p:txBody>
          <a:bodyPr/>
          <a:lstStyle/>
          <a:p>
            <a:r>
              <a:rPr lang="en-US" sz="2800" b="1" dirty="0">
                <a:solidFill>
                  <a:srgbClr val="0000CC"/>
                </a:solidFill>
                <a:latin typeface="Rockwell" panose="02060603020205020403" pitchFamily="18" charset="0"/>
              </a:rPr>
              <a:t>7</a:t>
            </a:r>
            <a:r>
              <a:rPr lang="en-US" sz="2800" b="1" dirty="0" smtClean="0">
                <a:solidFill>
                  <a:srgbClr val="0000CC"/>
                </a:solidFill>
                <a:latin typeface="Rockwell" panose="02060603020205020403" pitchFamily="18" charset="0"/>
              </a:rPr>
              <a:t>.2.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Chức</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năng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và</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mục</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đích</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sử</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dụng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của</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FIREWALL</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44304" y="1020648"/>
            <a:ext cx="10051578" cy="4382729"/>
          </a:xfrm>
        </p:spPr>
        <p:txBody>
          <a:bodyPr/>
          <a:lstStyle/>
          <a:p>
            <a:pPr marL="0" indent="0">
              <a:buNone/>
            </a:pPr>
            <a:r>
              <a:rPr lang="en-US" b="1" dirty="0" smtClean="0">
                <a:solidFill>
                  <a:srgbClr val="0000CC"/>
                </a:solidFill>
                <a:latin typeface="Rockwell" panose="02060603020205020403" pitchFamily="18" charset="0"/>
                <a:ea typeface="+mj-ea"/>
                <a:cs typeface="+mj-cs"/>
              </a:rPr>
              <a:t>2. </a:t>
            </a:r>
            <a:r>
              <a:rPr lang="en-US" b="1" dirty="0" err="1" smtClean="0">
                <a:solidFill>
                  <a:srgbClr val="0000CC"/>
                </a:solidFill>
                <a:latin typeface="Rockwell" panose="02060603020205020403" pitchFamily="18" charset="0"/>
                <a:ea typeface="+mj-ea"/>
                <a:cs typeface="+mj-cs"/>
              </a:rPr>
              <a:t>Các</a:t>
            </a:r>
            <a:r>
              <a:rPr lang="en-US" b="1" dirty="0" smtClean="0">
                <a:solidFill>
                  <a:srgbClr val="0000CC"/>
                </a:solidFill>
                <a:latin typeface="Rockwell" panose="02060603020205020403" pitchFamily="18" charset="0"/>
                <a:ea typeface="+mj-ea"/>
                <a:cs typeface="+mj-cs"/>
              </a:rPr>
              <a:t> </a:t>
            </a:r>
            <a:r>
              <a:rPr lang="en-US" b="1" dirty="0" err="1" smtClean="0">
                <a:solidFill>
                  <a:srgbClr val="0000CC"/>
                </a:solidFill>
                <a:latin typeface="Rockwell" panose="02060603020205020403" pitchFamily="18" charset="0"/>
                <a:ea typeface="+mj-ea"/>
                <a:cs typeface="+mj-cs"/>
              </a:rPr>
              <a:t>thành</a:t>
            </a:r>
            <a:r>
              <a:rPr lang="en-US" b="1" dirty="0" smtClean="0">
                <a:solidFill>
                  <a:srgbClr val="0000CC"/>
                </a:solidFill>
                <a:latin typeface="Rockwell" panose="02060603020205020403" pitchFamily="18" charset="0"/>
                <a:ea typeface="+mj-ea"/>
                <a:cs typeface="+mj-cs"/>
              </a:rPr>
              <a:t> </a:t>
            </a:r>
            <a:r>
              <a:rPr lang="en-US" b="1" dirty="0" err="1" smtClean="0">
                <a:solidFill>
                  <a:srgbClr val="0000CC"/>
                </a:solidFill>
                <a:latin typeface="Rockwell" panose="02060603020205020403" pitchFamily="18" charset="0"/>
                <a:ea typeface="+mj-ea"/>
                <a:cs typeface="+mj-cs"/>
              </a:rPr>
              <a:t>phần</a:t>
            </a:r>
            <a:r>
              <a:rPr lang="en-US" b="1" dirty="0" smtClean="0">
                <a:solidFill>
                  <a:srgbClr val="0000CC"/>
                </a:solidFill>
                <a:latin typeface="Rockwell" panose="02060603020205020403" pitchFamily="18" charset="0"/>
                <a:ea typeface="+mj-ea"/>
                <a:cs typeface="+mj-cs"/>
              </a:rPr>
              <a:t> </a:t>
            </a:r>
            <a:r>
              <a:rPr lang="en-US" b="1" dirty="0" err="1" smtClean="0">
                <a:solidFill>
                  <a:srgbClr val="0000CC"/>
                </a:solidFill>
                <a:latin typeface="Rockwell" panose="02060603020205020403" pitchFamily="18" charset="0"/>
                <a:ea typeface="+mj-ea"/>
                <a:cs typeface="+mj-cs"/>
              </a:rPr>
              <a:t>chính</a:t>
            </a:r>
            <a:r>
              <a:rPr lang="en-US" b="1" dirty="0" smtClean="0">
                <a:solidFill>
                  <a:srgbClr val="0000CC"/>
                </a:solidFill>
                <a:latin typeface="Rockwell" panose="02060603020205020403" pitchFamily="18" charset="0"/>
                <a:ea typeface="+mj-ea"/>
                <a:cs typeface="+mj-cs"/>
              </a:rPr>
              <a:t> </a:t>
            </a:r>
            <a:r>
              <a:rPr lang="en-US" b="1" dirty="0" err="1" smtClean="0">
                <a:solidFill>
                  <a:srgbClr val="0000CC"/>
                </a:solidFill>
                <a:latin typeface="Rockwell" panose="02060603020205020403" pitchFamily="18" charset="0"/>
                <a:ea typeface="+mj-ea"/>
                <a:cs typeface="+mj-cs"/>
              </a:rPr>
              <a:t>của</a:t>
            </a:r>
            <a:r>
              <a:rPr lang="en-US" b="1" dirty="0" smtClean="0">
                <a:solidFill>
                  <a:srgbClr val="0000CC"/>
                </a:solidFill>
                <a:latin typeface="Rockwell" panose="02060603020205020403" pitchFamily="18" charset="0"/>
                <a:ea typeface="+mj-ea"/>
                <a:cs typeface="+mj-cs"/>
              </a:rPr>
              <a:t> Firewall</a:t>
            </a:r>
            <a:r>
              <a:rPr lang="vi-VN" b="1" dirty="0" smtClean="0">
                <a:solidFill>
                  <a:srgbClr val="0000CC"/>
                </a:solidFill>
                <a:latin typeface="Rockwell" panose="02060603020205020403" pitchFamily="18" charset="0"/>
                <a:ea typeface="+mj-ea"/>
                <a:cs typeface="+mj-cs"/>
              </a:rPr>
              <a:t>:</a:t>
            </a:r>
            <a:endParaRPr lang="en-US" b="1" dirty="0" smtClean="0">
              <a:solidFill>
                <a:srgbClr val="0000CC"/>
              </a:solidFill>
              <a:latin typeface="Rockwell" panose="02060603020205020403" pitchFamily="18" charset="0"/>
              <a:ea typeface="+mj-ea"/>
              <a:cs typeface="+mj-cs"/>
            </a:endParaRPr>
          </a:p>
          <a:p>
            <a:pPr marL="0" indent="0">
              <a:buNone/>
            </a:pPr>
            <a:r>
              <a:rPr lang="en-US" b="1" dirty="0" smtClean="0">
                <a:solidFill>
                  <a:srgbClr val="0000CC"/>
                </a:solidFill>
                <a:latin typeface="Rockwell" panose="02060603020205020403" pitchFamily="18" charset="0"/>
                <a:ea typeface="+mj-ea"/>
                <a:cs typeface="+mj-cs"/>
              </a:rPr>
              <a:t>a. </a:t>
            </a:r>
            <a:r>
              <a:rPr lang="en-US" b="1" dirty="0" err="1" smtClean="0">
                <a:solidFill>
                  <a:srgbClr val="0000CC"/>
                </a:solidFill>
                <a:latin typeface="Rockwell" panose="02060603020205020403" pitchFamily="18" charset="0"/>
                <a:ea typeface="+mj-ea"/>
                <a:cs typeface="+mj-cs"/>
              </a:rPr>
              <a:t>Đối</a:t>
            </a:r>
            <a:r>
              <a:rPr lang="en-US" b="1" dirty="0" smtClean="0">
                <a:solidFill>
                  <a:srgbClr val="0000CC"/>
                </a:solidFill>
                <a:latin typeface="Rockwell" panose="02060603020205020403" pitchFamily="18" charset="0"/>
                <a:ea typeface="+mj-ea"/>
                <a:cs typeface="+mj-cs"/>
              </a:rPr>
              <a:t> </a:t>
            </a:r>
            <a:r>
              <a:rPr lang="en-US" b="1" dirty="0" err="1" smtClean="0">
                <a:solidFill>
                  <a:srgbClr val="0000CC"/>
                </a:solidFill>
                <a:latin typeface="Rockwell" panose="02060603020205020403" pitchFamily="18" charset="0"/>
                <a:ea typeface="+mj-ea"/>
                <a:cs typeface="+mj-cs"/>
              </a:rPr>
              <a:t>với</a:t>
            </a:r>
            <a:r>
              <a:rPr lang="en-US" b="1" dirty="0" smtClean="0">
                <a:solidFill>
                  <a:srgbClr val="0000CC"/>
                </a:solidFill>
                <a:latin typeface="Rockwell" panose="02060603020205020403" pitchFamily="18" charset="0"/>
                <a:ea typeface="+mj-ea"/>
                <a:cs typeface="+mj-cs"/>
              </a:rPr>
              <a:t> Firewall </a:t>
            </a:r>
            <a:r>
              <a:rPr lang="en-US" b="1" dirty="0" err="1">
                <a:solidFill>
                  <a:srgbClr val="0000CC"/>
                </a:solidFill>
                <a:latin typeface="Rockwell" panose="02060603020205020403" pitchFamily="18" charset="0"/>
                <a:ea typeface="+mj-ea"/>
                <a:cs typeface="+mj-cs"/>
              </a:rPr>
              <a:t>lọc</a:t>
            </a:r>
            <a:r>
              <a:rPr lang="en-US" b="1" dirty="0">
                <a:solidFill>
                  <a:srgbClr val="0000CC"/>
                </a:solidFill>
                <a:latin typeface="Rockwell" panose="02060603020205020403" pitchFamily="18" charset="0"/>
                <a:ea typeface="+mj-ea"/>
                <a:cs typeface="+mj-cs"/>
              </a:rPr>
              <a:t> </a:t>
            </a:r>
            <a:r>
              <a:rPr lang="en-US" b="1" dirty="0" err="1" smtClean="0">
                <a:solidFill>
                  <a:srgbClr val="0000CC"/>
                </a:solidFill>
                <a:latin typeface="Rockwell" panose="02060603020205020403" pitchFamily="18" charset="0"/>
                <a:ea typeface="+mj-ea"/>
                <a:cs typeface="+mj-cs"/>
              </a:rPr>
              <a:t>gói</a:t>
            </a:r>
            <a:r>
              <a:rPr lang="en-US" b="1" dirty="0" smtClean="0">
                <a:solidFill>
                  <a:srgbClr val="0000CC"/>
                </a:solidFill>
                <a:latin typeface="Rockwell" panose="02060603020205020403" pitchFamily="18" charset="0"/>
                <a:ea typeface="+mj-ea"/>
                <a:cs typeface="+mj-cs"/>
              </a:rPr>
              <a:t>:</a:t>
            </a:r>
            <a:endParaRPr lang="en-US" b="1" dirty="0">
              <a:solidFill>
                <a:srgbClr val="0000CC"/>
              </a:solidFill>
              <a:latin typeface="Rockwell" panose="02060603020205020403" pitchFamily="18" charset="0"/>
              <a:ea typeface="+mj-ea"/>
              <a:cs typeface="+mj-cs"/>
            </a:endParaRPr>
          </a:p>
          <a:p>
            <a:r>
              <a:rPr lang="en-US" dirty="0">
                <a:solidFill>
                  <a:srgbClr val="0000CC"/>
                </a:solidFill>
                <a:latin typeface="Rockwell" panose="02060603020205020403" pitchFamily="18" charset="0"/>
                <a:ea typeface="+mj-ea"/>
                <a:cs typeface="+mj-cs"/>
              </a:rPr>
              <a:t>Rule set </a:t>
            </a:r>
            <a:r>
              <a:rPr lang="en-US" dirty="0" smtClean="0">
                <a:solidFill>
                  <a:srgbClr val="0000CC"/>
                </a:solidFill>
                <a:latin typeface="Rockwell" panose="02060603020205020403" pitchFamily="18" charset="0"/>
                <a:ea typeface="+mj-ea"/>
                <a:cs typeface="+mj-cs"/>
              </a:rPr>
              <a:t>(</a:t>
            </a:r>
            <a:r>
              <a:rPr lang="en-US" dirty="0" err="1">
                <a:solidFill>
                  <a:srgbClr val="0000CC"/>
                </a:solidFill>
                <a:latin typeface="Rockwell" panose="02060603020205020403" pitchFamily="18" charset="0"/>
                <a:ea typeface="+mj-ea"/>
                <a:cs typeface="+mj-cs"/>
              </a:rPr>
              <a:t>T</a:t>
            </a:r>
            <a:r>
              <a:rPr lang="en-US" dirty="0" err="1" smtClean="0">
                <a:solidFill>
                  <a:srgbClr val="0000CC"/>
                </a:solidFill>
                <a:latin typeface="Rockwell" panose="02060603020205020403" pitchFamily="18" charset="0"/>
                <a:ea typeface="+mj-ea"/>
                <a:cs typeface="+mj-cs"/>
              </a:rPr>
              <a:t>ập</a:t>
            </a:r>
            <a:r>
              <a:rPr lang="en-US" dirty="0" smtClean="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luật</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lọc</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gói</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Xác</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định</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điều</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kiện</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cho</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phép</a:t>
            </a:r>
            <a:r>
              <a:rPr lang="en-US" dirty="0">
                <a:solidFill>
                  <a:srgbClr val="0000CC"/>
                </a:solidFill>
                <a:latin typeface="Rockwell" panose="02060603020205020403" pitchFamily="18" charset="0"/>
                <a:ea typeface="+mj-ea"/>
                <a:cs typeface="+mj-cs"/>
              </a:rPr>
              <a:t>/</a:t>
            </a:r>
            <a:r>
              <a:rPr lang="en-US" dirty="0" err="1">
                <a:solidFill>
                  <a:srgbClr val="0000CC"/>
                </a:solidFill>
                <a:latin typeface="Rockwell" panose="02060603020205020403" pitchFamily="18" charset="0"/>
                <a:ea typeface="+mj-ea"/>
                <a:cs typeface="+mj-cs"/>
              </a:rPr>
              <a:t>chặn</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gói</a:t>
            </a:r>
            <a:r>
              <a:rPr lang="en-US" dirty="0">
                <a:solidFill>
                  <a:srgbClr val="0000CC"/>
                </a:solidFill>
                <a:latin typeface="Rockwell" panose="02060603020205020403" pitchFamily="18" charset="0"/>
                <a:ea typeface="+mj-ea"/>
                <a:cs typeface="+mj-cs"/>
              </a:rPr>
              <a:t> tin </a:t>
            </a:r>
            <a:r>
              <a:rPr lang="en-US" dirty="0" err="1">
                <a:solidFill>
                  <a:srgbClr val="0000CC"/>
                </a:solidFill>
                <a:latin typeface="Rockwell" panose="02060603020205020403" pitchFamily="18" charset="0"/>
                <a:ea typeface="+mj-ea"/>
                <a:cs typeface="+mj-cs"/>
              </a:rPr>
              <a:t>dựa</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trên</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địa</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chỉ</a:t>
            </a:r>
            <a:r>
              <a:rPr lang="en-US" dirty="0">
                <a:solidFill>
                  <a:srgbClr val="0000CC"/>
                </a:solidFill>
                <a:latin typeface="Rockwell" panose="02060603020205020403" pitchFamily="18" charset="0"/>
                <a:ea typeface="+mj-ea"/>
                <a:cs typeface="+mj-cs"/>
              </a:rPr>
              <a:t> IP, </a:t>
            </a:r>
            <a:r>
              <a:rPr lang="en-US" dirty="0" err="1">
                <a:solidFill>
                  <a:srgbClr val="0000CC"/>
                </a:solidFill>
                <a:latin typeface="Rockwell" panose="02060603020205020403" pitchFamily="18" charset="0"/>
                <a:ea typeface="+mj-ea"/>
                <a:cs typeface="+mj-cs"/>
              </a:rPr>
              <a:t>cổng</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giao</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thức</a:t>
            </a:r>
            <a:r>
              <a:rPr lang="en-US" dirty="0">
                <a:solidFill>
                  <a:srgbClr val="0000CC"/>
                </a:solidFill>
                <a:latin typeface="Rockwell" panose="02060603020205020403" pitchFamily="18" charset="0"/>
                <a:ea typeface="+mj-ea"/>
                <a:cs typeface="+mj-cs"/>
              </a:rPr>
              <a:t>.</a:t>
            </a:r>
          </a:p>
          <a:p>
            <a:r>
              <a:rPr lang="en-US" dirty="0">
                <a:solidFill>
                  <a:srgbClr val="0000CC"/>
                </a:solidFill>
                <a:latin typeface="Rockwell" panose="02060603020205020403" pitchFamily="18" charset="0"/>
                <a:ea typeface="+mj-ea"/>
                <a:cs typeface="+mj-cs"/>
              </a:rPr>
              <a:t>Packet header analyzer (</a:t>
            </a:r>
            <a:r>
              <a:rPr lang="en-US" dirty="0" err="1">
                <a:solidFill>
                  <a:srgbClr val="0000CC"/>
                </a:solidFill>
                <a:latin typeface="Rockwell" panose="02060603020205020403" pitchFamily="18" charset="0"/>
                <a:ea typeface="+mj-ea"/>
                <a:cs typeface="+mj-cs"/>
              </a:rPr>
              <a:t>bộ</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phân</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tích</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tiêu</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đề</a:t>
            </a:r>
            <a:r>
              <a:rPr lang="en-US" dirty="0">
                <a:solidFill>
                  <a:srgbClr val="0000CC"/>
                </a:solidFill>
                <a:latin typeface="Rockwell" panose="02060603020205020403" pitchFamily="18" charset="0"/>
                <a:ea typeface="+mj-ea"/>
                <a:cs typeface="+mj-cs"/>
              </a:rPr>
              <a:t> </a:t>
            </a:r>
            <a:r>
              <a:rPr lang="en-US" dirty="0" err="1" smtClean="0">
                <a:solidFill>
                  <a:srgbClr val="0000CC"/>
                </a:solidFill>
                <a:latin typeface="Rockwell" panose="02060603020205020403" pitchFamily="18" charset="0"/>
                <a:ea typeface="+mj-ea"/>
                <a:cs typeface="+mj-cs"/>
              </a:rPr>
              <a:t>gói</a:t>
            </a:r>
            <a:r>
              <a:rPr lang="en-US" dirty="0" smtClean="0">
                <a:solidFill>
                  <a:srgbClr val="0000CC"/>
                </a:solidFill>
                <a:latin typeface="Rockwell" panose="02060603020205020403" pitchFamily="18" charset="0"/>
                <a:ea typeface="+mj-ea"/>
                <a:cs typeface="+mj-cs"/>
              </a:rPr>
              <a:t> tin): </a:t>
            </a:r>
            <a:r>
              <a:rPr lang="en-US" dirty="0" err="1">
                <a:solidFill>
                  <a:srgbClr val="0000CC"/>
                </a:solidFill>
                <a:latin typeface="Rockwell" panose="02060603020205020403" pitchFamily="18" charset="0"/>
                <a:ea typeface="+mj-ea"/>
                <a:cs typeface="+mj-cs"/>
              </a:rPr>
              <a:t>Kiểm</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tra</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phần</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tiêu</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đề</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gói</a:t>
            </a:r>
            <a:r>
              <a:rPr lang="en-US" dirty="0">
                <a:solidFill>
                  <a:srgbClr val="0000CC"/>
                </a:solidFill>
                <a:latin typeface="Rockwell" panose="02060603020205020403" pitchFamily="18" charset="0"/>
                <a:ea typeface="+mj-ea"/>
                <a:cs typeface="+mj-cs"/>
              </a:rPr>
              <a:t> tin (IP, TCP/</a:t>
            </a:r>
            <a:r>
              <a:rPr lang="en-US" dirty="0" err="1">
                <a:solidFill>
                  <a:srgbClr val="0000CC"/>
                </a:solidFill>
                <a:latin typeface="Rockwell" panose="02060603020205020403" pitchFamily="18" charset="0"/>
                <a:ea typeface="+mj-ea"/>
                <a:cs typeface="+mj-cs"/>
              </a:rPr>
              <a:t>UDP</a:t>
            </a:r>
            <a:r>
              <a:rPr lang="en-US" dirty="0">
                <a:solidFill>
                  <a:srgbClr val="0000CC"/>
                </a:solidFill>
                <a:latin typeface="Rockwell" panose="02060603020205020403" pitchFamily="18" charset="0"/>
                <a:ea typeface="+mj-ea"/>
                <a:cs typeface="+mj-cs"/>
              </a:rPr>
              <a:t>).</a:t>
            </a:r>
          </a:p>
          <a:p>
            <a:r>
              <a:rPr lang="en-US" dirty="0">
                <a:solidFill>
                  <a:srgbClr val="0000CC"/>
                </a:solidFill>
                <a:latin typeface="Rockwell" panose="02060603020205020403" pitchFamily="18" charset="0"/>
                <a:ea typeface="+mj-ea"/>
                <a:cs typeface="+mj-cs"/>
              </a:rPr>
              <a:t>Access Control List (ACL): </a:t>
            </a:r>
            <a:r>
              <a:rPr lang="en-US" dirty="0" err="1">
                <a:solidFill>
                  <a:srgbClr val="0000CC"/>
                </a:solidFill>
                <a:latin typeface="Rockwell" panose="02060603020205020403" pitchFamily="18" charset="0"/>
                <a:ea typeface="+mj-ea"/>
                <a:cs typeface="+mj-cs"/>
              </a:rPr>
              <a:t>Danh</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sách</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quy</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tắc</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lọc</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áp</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dụng</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cho</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các</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gói</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đi</a:t>
            </a:r>
            <a:r>
              <a:rPr lang="en-US" dirty="0">
                <a:solidFill>
                  <a:srgbClr val="0000CC"/>
                </a:solidFill>
                <a:latin typeface="Rockwell" panose="02060603020205020403" pitchFamily="18" charset="0"/>
                <a:ea typeface="+mj-ea"/>
                <a:cs typeface="+mj-cs"/>
              </a:rPr>
              <a:t> </a:t>
            </a:r>
            <a:r>
              <a:rPr lang="en-US" dirty="0" err="1" smtClean="0">
                <a:solidFill>
                  <a:srgbClr val="0000CC"/>
                </a:solidFill>
                <a:latin typeface="Rockwell" panose="02060603020205020403" pitchFamily="18" charset="0"/>
                <a:ea typeface="+mj-ea"/>
                <a:cs typeface="+mj-cs"/>
              </a:rPr>
              <a:t>vào</a:t>
            </a:r>
            <a:r>
              <a:rPr lang="en-US" dirty="0" smtClean="0">
                <a:solidFill>
                  <a:srgbClr val="0000CC"/>
                </a:solidFill>
                <a:latin typeface="Rockwell" panose="02060603020205020403" pitchFamily="18" charset="0"/>
                <a:ea typeface="+mj-ea"/>
                <a:cs typeface="+mj-cs"/>
              </a:rPr>
              <a:t>/</a:t>
            </a:r>
            <a:r>
              <a:rPr lang="en-US" dirty="0" err="1" smtClean="0">
                <a:solidFill>
                  <a:srgbClr val="0000CC"/>
                </a:solidFill>
                <a:latin typeface="Rockwell" panose="02060603020205020403" pitchFamily="18" charset="0"/>
                <a:ea typeface="+mj-ea"/>
                <a:cs typeface="+mj-cs"/>
              </a:rPr>
              <a:t>ra</a:t>
            </a:r>
            <a:r>
              <a:rPr lang="en-US" dirty="0" smtClean="0">
                <a:solidFill>
                  <a:srgbClr val="0000CC"/>
                </a:solidFill>
                <a:latin typeface="Rockwell" panose="02060603020205020403" pitchFamily="18" charset="0"/>
                <a:ea typeface="+mj-ea"/>
                <a:cs typeface="+mj-cs"/>
              </a:rPr>
              <a:t> (</a:t>
            </a:r>
            <a:r>
              <a:rPr lang="en-US" dirty="0" err="1" smtClean="0">
                <a:solidFill>
                  <a:srgbClr val="0000CC"/>
                </a:solidFill>
                <a:latin typeface="Rockwell" panose="02060603020205020403" pitchFamily="18" charset="0"/>
                <a:ea typeface="+mj-ea"/>
                <a:cs typeface="+mj-cs"/>
              </a:rPr>
              <a:t>còn</a:t>
            </a:r>
            <a:r>
              <a:rPr lang="en-US" dirty="0" smtClean="0">
                <a:solidFill>
                  <a:srgbClr val="0000CC"/>
                </a:solidFill>
                <a:latin typeface="Rockwell" panose="02060603020205020403" pitchFamily="18" charset="0"/>
                <a:ea typeface="+mj-ea"/>
                <a:cs typeface="+mj-cs"/>
              </a:rPr>
              <a:t> </a:t>
            </a:r>
            <a:r>
              <a:rPr lang="en-US" dirty="0" err="1" smtClean="0">
                <a:solidFill>
                  <a:srgbClr val="0000CC"/>
                </a:solidFill>
                <a:latin typeface="Rockwell" panose="02060603020205020403" pitchFamily="18" charset="0"/>
                <a:ea typeface="+mj-ea"/>
                <a:cs typeface="+mj-cs"/>
              </a:rPr>
              <a:t>gọi</a:t>
            </a:r>
            <a:r>
              <a:rPr lang="en-US" dirty="0" smtClean="0">
                <a:solidFill>
                  <a:srgbClr val="0000CC"/>
                </a:solidFill>
                <a:latin typeface="Rockwell" panose="02060603020205020403" pitchFamily="18" charset="0"/>
                <a:ea typeface="+mj-ea"/>
                <a:cs typeface="+mj-cs"/>
              </a:rPr>
              <a:t> </a:t>
            </a:r>
            <a:r>
              <a:rPr lang="en-US" dirty="0" err="1" smtClean="0">
                <a:solidFill>
                  <a:srgbClr val="0000CC"/>
                </a:solidFill>
                <a:latin typeface="Rockwell" panose="02060603020205020403" pitchFamily="18" charset="0"/>
                <a:ea typeface="+mj-ea"/>
                <a:cs typeface="+mj-cs"/>
              </a:rPr>
              <a:t>là</a:t>
            </a:r>
            <a:r>
              <a:rPr lang="en-US" dirty="0">
                <a:solidFill>
                  <a:srgbClr val="0000CC"/>
                </a:solidFill>
                <a:latin typeface="Rockwell" panose="02060603020205020403" pitchFamily="18" charset="0"/>
                <a:ea typeface="+mj-ea"/>
                <a:cs typeface="+mj-cs"/>
              </a:rPr>
              <a:t> </a:t>
            </a:r>
            <a:r>
              <a:rPr lang="en-US" dirty="0" smtClean="0">
                <a:solidFill>
                  <a:srgbClr val="0000CC"/>
                </a:solidFill>
                <a:latin typeface="Rockwell" panose="02060603020205020403" pitchFamily="18" charset="0"/>
                <a:ea typeface="+mj-ea"/>
                <a:cs typeface="+mj-cs"/>
              </a:rPr>
              <a:t> </a:t>
            </a:r>
            <a:r>
              <a:rPr lang="en-US" dirty="0" err="1" smtClean="0">
                <a:solidFill>
                  <a:srgbClr val="0000CC"/>
                </a:solidFill>
                <a:latin typeface="Rockwell" panose="02060603020205020403" pitchFamily="18" charset="0"/>
                <a:ea typeface="+mj-ea"/>
                <a:cs typeface="+mj-cs"/>
              </a:rPr>
              <a:t>Bảng</a:t>
            </a:r>
            <a:r>
              <a:rPr lang="en-US" dirty="0" smtClean="0">
                <a:solidFill>
                  <a:srgbClr val="0000CC"/>
                </a:solidFill>
                <a:latin typeface="Rockwell" panose="02060603020205020403" pitchFamily="18" charset="0"/>
                <a:ea typeface="+mj-ea"/>
                <a:cs typeface="+mj-cs"/>
              </a:rPr>
              <a:t> </a:t>
            </a:r>
            <a:r>
              <a:rPr lang="en-US" dirty="0" err="1" smtClean="0">
                <a:solidFill>
                  <a:srgbClr val="0000CC"/>
                </a:solidFill>
                <a:latin typeface="Rockwell" panose="02060603020205020403" pitchFamily="18" charset="0"/>
                <a:ea typeface="+mj-ea"/>
                <a:cs typeface="+mj-cs"/>
              </a:rPr>
              <a:t>luật</a:t>
            </a:r>
            <a:r>
              <a:rPr lang="en-US" dirty="0" smtClean="0">
                <a:solidFill>
                  <a:srgbClr val="0000CC"/>
                </a:solidFill>
                <a:latin typeface="Rockwell" panose="02060603020205020403" pitchFamily="18" charset="0"/>
                <a:ea typeface="+mj-ea"/>
                <a:cs typeface="+mj-cs"/>
              </a:rPr>
              <a:t> </a:t>
            </a:r>
            <a:r>
              <a:rPr lang="en-US" dirty="0" err="1" smtClean="0">
                <a:solidFill>
                  <a:srgbClr val="0000CC"/>
                </a:solidFill>
                <a:latin typeface="Rockwell" panose="02060603020205020403" pitchFamily="18" charset="0"/>
                <a:ea typeface="+mj-ea"/>
                <a:cs typeface="+mj-cs"/>
              </a:rPr>
              <a:t>lọc</a:t>
            </a:r>
            <a:r>
              <a:rPr lang="en-US" dirty="0" smtClean="0">
                <a:solidFill>
                  <a:srgbClr val="0000CC"/>
                </a:solidFill>
                <a:latin typeface="Rockwell" panose="02060603020205020403" pitchFamily="18" charset="0"/>
                <a:ea typeface="+mj-ea"/>
                <a:cs typeface="+mj-cs"/>
              </a:rPr>
              <a:t> </a:t>
            </a:r>
            <a:r>
              <a:rPr lang="en-US" dirty="0" err="1" smtClean="0">
                <a:solidFill>
                  <a:srgbClr val="0000CC"/>
                </a:solidFill>
                <a:latin typeface="Rockwell" panose="02060603020205020403" pitchFamily="18" charset="0"/>
                <a:ea typeface="+mj-ea"/>
                <a:cs typeface="+mj-cs"/>
              </a:rPr>
              <a:t>gói</a:t>
            </a:r>
            <a:r>
              <a:rPr lang="en-US" dirty="0" smtClean="0">
                <a:solidFill>
                  <a:srgbClr val="0000CC"/>
                </a:solidFill>
                <a:latin typeface="Rockwell" panose="02060603020205020403" pitchFamily="18" charset="0"/>
                <a:ea typeface="+mj-ea"/>
                <a:cs typeface="+mj-cs"/>
              </a:rPr>
              <a:t>).</a:t>
            </a:r>
            <a:endParaRPr lang="en-US" dirty="0">
              <a:solidFill>
                <a:srgbClr val="0000CC"/>
              </a:solidFill>
              <a:latin typeface="Rockwell" panose="02060603020205020403" pitchFamily="18" charset="0"/>
              <a:ea typeface="+mj-ea"/>
              <a:cs typeface="+mj-cs"/>
            </a:endParaRPr>
          </a:p>
          <a:p>
            <a:r>
              <a:rPr lang="en-US" dirty="0" err="1">
                <a:solidFill>
                  <a:srgbClr val="0000CC"/>
                </a:solidFill>
                <a:latin typeface="Rockwell" panose="02060603020205020403" pitchFamily="18" charset="0"/>
                <a:ea typeface="+mj-ea"/>
                <a:cs typeface="+mj-cs"/>
              </a:rPr>
              <a:t>Input/Output</a:t>
            </a:r>
            <a:r>
              <a:rPr lang="en-US" dirty="0">
                <a:solidFill>
                  <a:srgbClr val="0000CC"/>
                </a:solidFill>
                <a:latin typeface="Rockwell" panose="02060603020205020403" pitchFamily="18" charset="0"/>
                <a:ea typeface="+mj-ea"/>
                <a:cs typeface="+mj-cs"/>
              </a:rPr>
              <a:t> interfaces: </a:t>
            </a:r>
            <a:r>
              <a:rPr lang="en-US" dirty="0" err="1">
                <a:solidFill>
                  <a:srgbClr val="0000CC"/>
                </a:solidFill>
                <a:latin typeface="Rockwell" panose="02060603020205020403" pitchFamily="18" charset="0"/>
                <a:ea typeface="+mj-ea"/>
                <a:cs typeface="+mj-cs"/>
              </a:rPr>
              <a:t>Cổng</a:t>
            </a:r>
            <a:r>
              <a:rPr lang="en-US" dirty="0">
                <a:solidFill>
                  <a:srgbClr val="0000CC"/>
                </a:solidFill>
                <a:latin typeface="Rockwell" panose="02060603020205020403" pitchFamily="18" charset="0"/>
                <a:ea typeface="+mj-ea"/>
                <a:cs typeface="+mj-cs"/>
              </a:rPr>
              <a:t> </a:t>
            </a:r>
            <a:r>
              <a:rPr lang="en-US" dirty="0" err="1" smtClean="0">
                <a:solidFill>
                  <a:srgbClr val="0000CC"/>
                </a:solidFill>
                <a:latin typeface="Rockwell" panose="02060603020205020403" pitchFamily="18" charset="0"/>
                <a:ea typeface="+mj-ea"/>
                <a:cs typeface="+mj-cs"/>
              </a:rPr>
              <a:t>vào</a:t>
            </a:r>
            <a:r>
              <a:rPr lang="en-US" dirty="0">
                <a:solidFill>
                  <a:srgbClr val="0000CC"/>
                </a:solidFill>
                <a:latin typeface="Rockwell" panose="02060603020205020403" pitchFamily="18" charset="0"/>
                <a:ea typeface="+mj-ea"/>
                <a:cs typeface="+mj-cs"/>
              </a:rPr>
              <a:t>/</a:t>
            </a:r>
            <a:r>
              <a:rPr lang="en-US" dirty="0" err="1" smtClean="0">
                <a:solidFill>
                  <a:srgbClr val="0000CC"/>
                </a:solidFill>
                <a:latin typeface="Rockwell" panose="02060603020205020403" pitchFamily="18" charset="0"/>
                <a:ea typeface="+mj-ea"/>
                <a:cs typeface="+mj-cs"/>
              </a:rPr>
              <a:t>ra</a:t>
            </a:r>
            <a:r>
              <a:rPr lang="en-US" dirty="0" smtClean="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để</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nhận</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và</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gửi</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gói</a:t>
            </a:r>
            <a:r>
              <a:rPr lang="en-US" dirty="0">
                <a:solidFill>
                  <a:srgbClr val="0000CC"/>
                </a:solidFill>
                <a:latin typeface="Rockwell" panose="02060603020205020403" pitchFamily="18" charset="0"/>
                <a:ea typeface="+mj-ea"/>
                <a:cs typeface="+mj-cs"/>
              </a:rPr>
              <a:t> tin qua </a:t>
            </a:r>
            <a:r>
              <a:rPr lang="en-US" dirty="0" smtClean="0">
                <a:solidFill>
                  <a:srgbClr val="0000CC"/>
                </a:solidFill>
                <a:latin typeface="Rockwell" panose="02060603020205020403" pitchFamily="18" charset="0"/>
                <a:ea typeface="+mj-ea"/>
                <a:cs typeface="+mj-cs"/>
              </a:rPr>
              <a:t>FW</a:t>
            </a:r>
            <a:endParaRPr lang="en-US" dirty="0">
              <a:solidFill>
                <a:srgbClr val="0000CC"/>
              </a:solidFill>
              <a:latin typeface="Rockwell" panose="02060603020205020403" pitchFamily="18" charset="0"/>
              <a:ea typeface="+mj-ea"/>
              <a:cs typeface="+mj-cs"/>
            </a:endParaRPr>
          </a:p>
          <a:p>
            <a:r>
              <a:rPr lang="en-US" dirty="0" smtClean="0">
                <a:solidFill>
                  <a:srgbClr val="0000CC"/>
                </a:solidFill>
                <a:latin typeface="Rockwell" panose="02060603020205020403" pitchFamily="18" charset="0"/>
                <a:ea typeface="+mj-ea"/>
                <a:cs typeface="+mj-cs"/>
              </a:rPr>
              <a:t>Logging </a:t>
            </a:r>
            <a:r>
              <a:rPr lang="en-US" dirty="0">
                <a:solidFill>
                  <a:srgbClr val="0000CC"/>
                </a:solidFill>
                <a:latin typeface="Rockwell" panose="02060603020205020403" pitchFamily="18" charset="0"/>
                <a:ea typeface="+mj-ea"/>
                <a:cs typeface="+mj-cs"/>
              </a:rPr>
              <a:t>&amp; Monitoring module: </a:t>
            </a:r>
            <a:r>
              <a:rPr lang="en-US" dirty="0" err="1">
                <a:solidFill>
                  <a:srgbClr val="0000CC"/>
                </a:solidFill>
                <a:latin typeface="Rockwell" panose="02060603020205020403" pitchFamily="18" charset="0"/>
                <a:ea typeface="+mj-ea"/>
                <a:cs typeface="+mj-cs"/>
              </a:rPr>
              <a:t>Ghi</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lại</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và</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giám</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sát</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các</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gói</a:t>
            </a:r>
            <a:r>
              <a:rPr lang="en-US" dirty="0">
                <a:solidFill>
                  <a:srgbClr val="0000CC"/>
                </a:solidFill>
                <a:latin typeface="Rockwell" panose="02060603020205020403" pitchFamily="18" charset="0"/>
                <a:ea typeface="+mj-ea"/>
                <a:cs typeface="+mj-cs"/>
              </a:rPr>
              <a:t> tin </a:t>
            </a:r>
            <a:r>
              <a:rPr lang="en-US" dirty="0" err="1">
                <a:solidFill>
                  <a:srgbClr val="0000CC"/>
                </a:solidFill>
                <a:latin typeface="Rockwell" panose="02060603020205020403" pitchFamily="18" charset="0"/>
                <a:ea typeface="+mj-ea"/>
                <a:cs typeface="+mj-cs"/>
              </a:rPr>
              <a:t>bị</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chặn</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hoặc</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cho</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phép</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để</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phục</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vụ</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phân</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tích</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sự</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kiện</a:t>
            </a:r>
            <a:r>
              <a:rPr lang="en-US" dirty="0">
                <a:solidFill>
                  <a:srgbClr val="0000CC"/>
                </a:solidFill>
                <a:latin typeface="Rockwell" panose="02060603020205020403" pitchFamily="18" charset="0"/>
                <a:ea typeface="+mj-ea"/>
                <a:cs typeface="+mj-cs"/>
              </a:rPr>
              <a:t>.</a:t>
            </a:r>
          </a:p>
          <a:p>
            <a:pPr marL="0" indent="0">
              <a:spcBef>
                <a:spcPts val="600"/>
              </a:spcBef>
              <a:spcAft>
                <a:spcPts val="300"/>
              </a:spcAft>
              <a:buNone/>
            </a:pPr>
            <a:endParaRPr lang="en-US" dirty="0"/>
          </a:p>
        </p:txBody>
      </p:sp>
    </p:spTree>
    <p:extLst>
      <p:ext uri="{BB962C8B-B14F-4D97-AF65-F5344CB8AC3E}">
        <p14:creationId xmlns:p14="http://schemas.microsoft.com/office/powerpoint/2010/main" val="1830120760"/>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44303" y="491797"/>
            <a:ext cx="10242645" cy="528851"/>
          </a:xfrm>
        </p:spPr>
        <p:txBody>
          <a:bodyPr/>
          <a:lstStyle/>
          <a:p>
            <a:r>
              <a:rPr lang="en-US" sz="2800" b="1" dirty="0">
                <a:solidFill>
                  <a:srgbClr val="0000CC"/>
                </a:solidFill>
                <a:latin typeface="Rockwell" panose="02060603020205020403" pitchFamily="18" charset="0"/>
              </a:rPr>
              <a:t>7</a:t>
            </a:r>
            <a:r>
              <a:rPr lang="en-US" sz="2800" b="1" dirty="0" smtClean="0">
                <a:solidFill>
                  <a:srgbClr val="0000CC"/>
                </a:solidFill>
                <a:latin typeface="Rockwell" panose="02060603020205020403" pitchFamily="18" charset="0"/>
              </a:rPr>
              <a:t>.2.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Chức</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năng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và</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mục</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đích</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sử</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dụng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của</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FIREWALL</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44304" y="1020648"/>
            <a:ext cx="10747612" cy="4382729"/>
          </a:xfrm>
        </p:spPr>
        <p:txBody>
          <a:bodyPr/>
          <a:lstStyle/>
          <a:p>
            <a:pPr marL="0" indent="0">
              <a:buNone/>
            </a:pPr>
            <a:r>
              <a:rPr lang="en-US" b="1" dirty="0" smtClean="0">
                <a:solidFill>
                  <a:srgbClr val="0000CC"/>
                </a:solidFill>
                <a:latin typeface="Rockwell" panose="02060603020205020403" pitchFamily="18" charset="0"/>
                <a:ea typeface="+mj-ea"/>
                <a:cs typeface="+mj-cs"/>
              </a:rPr>
              <a:t>2. </a:t>
            </a:r>
            <a:r>
              <a:rPr lang="en-US" b="1" dirty="0" err="1" smtClean="0">
                <a:solidFill>
                  <a:srgbClr val="0000CC"/>
                </a:solidFill>
                <a:latin typeface="Rockwell" panose="02060603020205020403" pitchFamily="18" charset="0"/>
                <a:ea typeface="+mj-ea"/>
                <a:cs typeface="+mj-cs"/>
              </a:rPr>
              <a:t>Các</a:t>
            </a:r>
            <a:r>
              <a:rPr lang="en-US" b="1" dirty="0" smtClean="0">
                <a:solidFill>
                  <a:srgbClr val="0000CC"/>
                </a:solidFill>
                <a:latin typeface="Rockwell" panose="02060603020205020403" pitchFamily="18" charset="0"/>
                <a:ea typeface="+mj-ea"/>
                <a:cs typeface="+mj-cs"/>
              </a:rPr>
              <a:t> </a:t>
            </a:r>
            <a:r>
              <a:rPr lang="en-US" b="1" dirty="0" err="1" smtClean="0">
                <a:solidFill>
                  <a:srgbClr val="0000CC"/>
                </a:solidFill>
                <a:latin typeface="Rockwell" panose="02060603020205020403" pitchFamily="18" charset="0"/>
                <a:ea typeface="+mj-ea"/>
                <a:cs typeface="+mj-cs"/>
              </a:rPr>
              <a:t>thành</a:t>
            </a:r>
            <a:r>
              <a:rPr lang="en-US" b="1" dirty="0" smtClean="0">
                <a:solidFill>
                  <a:srgbClr val="0000CC"/>
                </a:solidFill>
                <a:latin typeface="Rockwell" panose="02060603020205020403" pitchFamily="18" charset="0"/>
                <a:ea typeface="+mj-ea"/>
                <a:cs typeface="+mj-cs"/>
              </a:rPr>
              <a:t> </a:t>
            </a:r>
            <a:r>
              <a:rPr lang="en-US" b="1" dirty="0" err="1" smtClean="0">
                <a:solidFill>
                  <a:srgbClr val="0000CC"/>
                </a:solidFill>
                <a:latin typeface="Rockwell" panose="02060603020205020403" pitchFamily="18" charset="0"/>
                <a:ea typeface="+mj-ea"/>
                <a:cs typeface="+mj-cs"/>
              </a:rPr>
              <a:t>phần</a:t>
            </a:r>
            <a:r>
              <a:rPr lang="en-US" b="1" dirty="0" smtClean="0">
                <a:solidFill>
                  <a:srgbClr val="0000CC"/>
                </a:solidFill>
                <a:latin typeface="Rockwell" panose="02060603020205020403" pitchFamily="18" charset="0"/>
                <a:ea typeface="+mj-ea"/>
                <a:cs typeface="+mj-cs"/>
              </a:rPr>
              <a:t> </a:t>
            </a:r>
            <a:r>
              <a:rPr lang="en-US" b="1" dirty="0" err="1" smtClean="0">
                <a:solidFill>
                  <a:srgbClr val="0000CC"/>
                </a:solidFill>
                <a:latin typeface="Rockwell" panose="02060603020205020403" pitchFamily="18" charset="0"/>
                <a:ea typeface="+mj-ea"/>
                <a:cs typeface="+mj-cs"/>
              </a:rPr>
              <a:t>chính</a:t>
            </a:r>
            <a:r>
              <a:rPr lang="en-US" b="1" dirty="0" smtClean="0">
                <a:solidFill>
                  <a:srgbClr val="0000CC"/>
                </a:solidFill>
                <a:latin typeface="Rockwell" panose="02060603020205020403" pitchFamily="18" charset="0"/>
                <a:ea typeface="+mj-ea"/>
                <a:cs typeface="+mj-cs"/>
              </a:rPr>
              <a:t> </a:t>
            </a:r>
            <a:r>
              <a:rPr lang="en-US" b="1" dirty="0" err="1" smtClean="0">
                <a:solidFill>
                  <a:srgbClr val="0000CC"/>
                </a:solidFill>
                <a:latin typeface="Rockwell" panose="02060603020205020403" pitchFamily="18" charset="0"/>
                <a:ea typeface="+mj-ea"/>
                <a:cs typeface="+mj-cs"/>
              </a:rPr>
              <a:t>của</a:t>
            </a:r>
            <a:r>
              <a:rPr lang="en-US" b="1" dirty="0" smtClean="0">
                <a:solidFill>
                  <a:srgbClr val="0000CC"/>
                </a:solidFill>
                <a:latin typeface="Rockwell" panose="02060603020205020403" pitchFamily="18" charset="0"/>
                <a:ea typeface="+mj-ea"/>
                <a:cs typeface="+mj-cs"/>
              </a:rPr>
              <a:t> Firewall</a:t>
            </a:r>
            <a:r>
              <a:rPr lang="vi-VN" b="1" dirty="0" smtClean="0">
                <a:solidFill>
                  <a:srgbClr val="0000CC"/>
                </a:solidFill>
                <a:latin typeface="Rockwell" panose="02060603020205020403" pitchFamily="18" charset="0"/>
                <a:ea typeface="+mj-ea"/>
                <a:cs typeface="+mj-cs"/>
              </a:rPr>
              <a:t>:</a:t>
            </a:r>
            <a:endParaRPr lang="en-US" b="1" dirty="0" smtClean="0">
              <a:solidFill>
                <a:srgbClr val="0000CC"/>
              </a:solidFill>
              <a:latin typeface="Rockwell" panose="02060603020205020403" pitchFamily="18" charset="0"/>
              <a:ea typeface="+mj-ea"/>
              <a:cs typeface="+mj-cs"/>
            </a:endParaRPr>
          </a:p>
          <a:p>
            <a:pPr marL="0" indent="0">
              <a:buNone/>
            </a:pPr>
            <a:r>
              <a:rPr lang="en-US" b="1" dirty="0">
                <a:solidFill>
                  <a:srgbClr val="0000CC"/>
                </a:solidFill>
                <a:latin typeface="Rockwell" panose="02060603020205020403" pitchFamily="18" charset="0"/>
                <a:ea typeface="+mj-ea"/>
                <a:cs typeface="+mj-cs"/>
              </a:rPr>
              <a:t>b</a:t>
            </a:r>
            <a:r>
              <a:rPr lang="en-US" b="1" dirty="0" smtClean="0">
                <a:solidFill>
                  <a:srgbClr val="0000CC"/>
                </a:solidFill>
                <a:latin typeface="Rockwell" panose="02060603020205020403" pitchFamily="18" charset="0"/>
                <a:ea typeface="+mj-ea"/>
                <a:cs typeface="+mj-cs"/>
              </a:rPr>
              <a:t>. </a:t>
            </a:r>
            <a:r>
              <a:rPr lang="en-US" b="1" dirty="0" err="1" smtClean="0">
                <a:solidFill>
                  <a:srgbClr val="0000CC"/>
                </a:solidFill>
                <a:latin typeface="Rockwell" panose="02060603020205020403" pitchFamily="18" charset="0"/>
                <a:ea typeface="+mj-ea"/>
                <a:cs typeface="+mj-cs"/>
              </a:rPr>
              <a:t>Đối</a:t>
            </a:r>
            <a:r>
              <a:rPr lang="en-US" b="1" dirty="0" smtClean="0">
                <a:solidFill>
                  <a:srgbClr val="0000CC"/>
                </a:solidFill>
                <a:latin typeface="Rockwell" panose="02060603020205020403" pitchFamily="18" charset="0"/>
                <a:ea typeface="+mj-ea"/>
                <a:cs typeface="+mj-cs"/>
              </a:rPr>
              <a:t> </a:t>
            </a:r>
            <a:r>
              <a:rPr lang="en-US" b="1" dirty="0" err="1" smtClean="0">
                <a:solidFill>
                  <a:srgbClr val="0000CC"/>
                </a:solidFill>
                <a:latin typeface="Rockwell" panose="02060603020205020403" pitchFamily="18" charset="0"/>
                <a:ea typeface="+mj-ea"/>
                <a:cs typeface="+mj-cs"/>
              </a:rPr>
              <a:t>với</a:t>
            </a:r>
            <a:r>
              <a:rPr lang="en-US" b="1" dirty="0" smtClean="0">
                <a:solidFill>
                  <a:srgbClr val="0000CC"/>
                </a:solidFill>
                <a:latin typeface="Rockwell" panose="02060603020205020403" pitchFamily="18" charset="0"/>
                <a:ea typeface="+mj-ea"/>
                <a:cs typeface="+mj-cs"/>
              </a:rPr>
              <a:t> Firewall </a:t>
            </a:r>
            <a:r>
              <a:rPr lang="en-US" b="1" dirty="0" err="1" smtClean="0">
                <a:solidFill>
                  <a:srgbClr val="0000CC"/>
                </a:solidFill>
                <a:latin typeface="Rockwell" panose="02060603020205020403" pitchFamily="18" charset="0"/>
                <a:ea typeface="+mj-ea"/>
                <a:cs typeface="+mj-cs"/>
              </a:rPr>
              <a:t>tầng</a:t>
            </a:r>
            <a:r>
              <a:rPr lang="en-US" b="1" dirty="0" smtClean="0">
                <a:solidFill>
                  <a:srgbClr val="0000CC"/>
                </a:solidFill>
                <a:latin typeface="Rockwell" panose="02060603020205020403" pitchFamily="18" charset="0"/>
                <a:ea typeface="+mj-ea"/>
                <a:cs typeface="+mj-cs"/>
              </a:rPr>
              <a:t> </a:t>
            </a:r>
            <a:r>
              <a:rPr lang="en-US" b="1" dirty="0" err="1" smtClean="0">
                <a:solidFill>
                  <a:srgbClr val="0000CC"/>
                </a:solidFill>
                <a:latin typeface="Rockwell" panose="02060603020205020403" pitchFamily="18" charset="0"/>
                <a:ea typeface="+mj-ea"/>
                <a:cs typeface="+mj-cs"/>
              </a:rPr>
              <a:t>ứng</a:t>
            </a:r>
            <a:r>
              <a:rPr lang="en-US" b="1" dirty="0" smtClean="0">
                <a:solidFill>
                  <a:srgbClr val="0000CC"/>
                </a:solidFill>
                <a:latin typeface="Rockwell" panose="02060603020205020403" pitchFamily="18" charset="0"/>
                <a:ea typeface="+mj-ea"/>
                <a:cs typeface="+mj-cs"/>
              </a:rPr>
              <a:t> </a:t>
            </a:r>
            <a:r>
              <a:rPr lang="en-US" b="1" dirty="0" err="1" smtClean="0">
                <a:solidFill>
                  <a:srgbClr val="0000CC"/>
                </a:solidFill>
                <a:latin typeface="Rockwell" panose="02060603020205020403" pitchFamily="18" charset="0"/>
                <a:ea typeface="+mj-ea"/>
                <a:cs typeface="+mj-cs"/>
              </a:rPr>
              <a:t>dụng</a:t>
            </a:r>
            <a:endParaRPr lang="en-US" b="1" dirty="0" smtClean="0">
              <a:solidFill>
                <a:srgbClr val="0000CC"/>
              </a:solidFill>
              <a:latin typeface="Rockwell" panose="02060603020205020403" pitchFamily="18" charset="0"/>
              <a:ea typeface="+mj-ea"/>
              <a:cs typeface="+mj-cs"/>
            </a:endParaRPr>
          </a:p>
          <a:p>
            <a:pPr marL="0" indent="0">
              <a:buNone/>
            </a:pPr>
            <a:r>
              <a:rPr lang="vi-VN" dirty="0">
                <a:solidFill>
                  <a:srgbClr val="0000CC"/>
                </a:solidFill>
                <a:latin typeface="Rockwell" panose="02060603020205020403" pitchFamily="18" charset="0"/>
                <a:ea typeface="+mj-ea"/>
                <a:cs typeface="+mj-cs"/>
              </a:rPr>
              <a:t>b1. Traffic Interceptor (hoặc Proxy/Inspection Engine)</a:t>
            </a:r>
          </a:p>
          <a:p>
            <a:pPr lvl="1"/>
            <a:r>
              <a:rPr lang="vi-VN" dirty="0">
                <a:solidFill>
                  <a:srgbClr val="0000CC"/>
                </a:solidFill>
                <a:latin typeface="Rockwell" panose="02060603020205020403" pitchFamily="18" charset="0"/>
                <a:ea typeface="+mj-ea"/>
                <a:cs typeface="+mj-cs"/>
              </a:rPr>
              <a:t>Nhận toàn bộ lưu lượng ứng dụng (HTTP/HTTPS, DNS, SMTP…).</a:t>
            </a:r>
          </a:p>
          <a:p>
            <a:pPr lvl="1"/>
            <a:r>
              <a:rPr lang="vi-VN" dirty="0">
                <a:solidFill>
                  <a:srgbClr val="0000CC"/>
                </a:solidFill>
                <a:latin typeface="Rockwell" panose="02060603020205020403" pitchFamily="18" charset="0"/>
                <a:ea typeface="+mj-ea"/>
                <a:cs typeface="+mj-cs"/>
              </a:rPr>
              <a:t>Giải mã nếu là SSL/TLS.</a:t>
            </a:r>
          </a:p>
          <a:p>
            <a:pPr lvl="1"/>
            <a:r>
              <a:rPr lang="vi-VN" dirty="0">
                <a:solidFill>
                  <a:srgbClr val="0000CC"/>
                </a:solidFill>
                <a:latin typeface="Rockwell" panose="02060603020205020403" pitchFamily="18" charset="0"/>
                <a:ea typeface="+mj-ea"/>
                <a:cs typeface="+mj-cs"/>
              </a:rPr>
              <a:t>Chuyển tiếp dữ liệu vào Policy Engine.</a:t>
            </a:r>
            <a:endParaRPr lang="en-US" dirty="0" smtClean="0">
              <a:solidFill>
                <a:srgbClr val="0000CC"/>
              </a:solidFill>
              <a:latin typeface="Rockwell" panose="02060603020205020403" pitchFamily="18" charset="0"/>
              <a:ea typeface="+mj-ea"/>
              <a:cs typeface="+mj-cs"/>
            </a:endParaRPr>
          </a:p>
        </p:txBody>
      </p:sp>
    </p:spTree>
    <p:extLst>
      <p:ext uri="{BB962C8B-B14F-4D97-AF65-F5344CB8AC3E}">
        <p14:creationId xmlns:p14="http://schemas.microsoft.com/office/powerpoint/2010/main" val="388664909"/>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44303" y="491797"/>
            <a:ext cx="10242645" cy="528851"/>
          </a:xfrm>
        </p:spPr>
        <p:txBody>
          <a:bodyPr/>
          <a:lstStyle/>
          <a:p>
            <a:r>
              <a:rPr lang="en-US" sz="2800" b="1" dirty="0">
                <a:solidFill>
                  <a:srgbClr val="0000CC"/>
                </a:solidFill>
                <a:latin typeface="Rockwell" panose="02060603020205020403" pitchFamily="18" charset="0"/>
              </a:rPr>
              <a:t>7</a:t>
            </a:r>
            <a:r>
              <a:rPr lang="en-US" sz="2800" b="1" dirty="0" smtClean="0">
                <a:solidFill>
                  <a:srgbClr val="0000CC"/>
                </a:solidFill>
                <a:latin typeface="Rockwell" panose="02060603020205020403" pitchFamily="18" charset="0"/>
              </a:rPr>
              <a:t>.2.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Chức</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năng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và</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mục</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đích</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sử</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dụng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của</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FIREWALL</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44304" y="1020648"/>
            <a:ext cx="10242644" cy="4382729"/>
          </a:xfrm>
        </p:spPr>
        <p:txBody>
          <a:bodyPr/>
          <a:lstStyle/>
          <a:p>
            <a:pPr marL="0" indent="0">
              <a:buNone/>
            </a:pPr>
            <a:r>
              <a:rPr lang="en-US" b="1" dirty="0" smtClean="0">
                <a:solidFill>
                  <a:srgbClr val="0000CC"/>
                </a:solidFill>
                <a:latin typeface="Rockwell" panose="02060603020205020403" pitchFamily="18" charset="0"/>
                <a:ea typeface="+mj-ea"/>
                <a:cs typeface="+mj-cs"/>
              </a:rPr>
              <a:t>2. </a:t>
            </a:r>
            <a:r>
              <a:rPr lang="en-US" b="1" dirty="0" err="1" smtClean="0">
                <a:solidFill>
                  <a:srgbClr val="0000CC"/>
                </a:solidFill>
                <a:latin typeface="Rockwell" panose="02060603020205020403" pitchFamily="18" charset="0"/>
                <a:ea typeface="+mj-ea"/>
                <a:cs typeface="+mj-cs"/>
              </a:rPr>
              <a:t>Các</a:t>
            </a:r>
            <a:r>
              <a:rPr lang="en-US" b="1" dirty="0" smtClean="0">
                <a:solidFill>
                  <a:srgbClr val="0000CC"/>
                </a:solidFill>
                <a:latin typeface="Rockwell" panose="02060603020205020403" pitchFamily="18" charset="0"/>
                <a:ea typeface="+mj-ea"/>
                <a:cs typeface="+mj-cs"/>
              </a:rPr>
              <a:t> </a:t>
            </a:r>
            <a:r>
              <a:rPr lang="en-US" b="1" dirty="0" err="1" smtClean="0">
                <a:solidFill>
                  <a:srgbClr val="0000CC"/>
                </a:solidFill>
                <a:latin typeface="Rockwell" panose="02060603020205020403" pitchFamily="18" charset="0"/>
                <a:ea typeface="+mj-ea"/>
                <a:cs typeface="+mj-cs"/>
              </a:rPr>
              <a:t>thành</a:t>
            </a:r>
            <a:r>
              <a:rPr lang="en-US" b="1" dirty="0" smtClean="0">
                <a:solidFill>
                  <a:srgbClr val="0000CC"/>
                </a:solidFill>
                <a:latin typeface="Rockwell" panose="02060603020205020403" pitchFamily="18" charset="0"/>
                <a:ea typeface="+mj-ea"/>
                <a:cs typeface="+mj-cs"/>
              </a:rPr>
              <a:t> </a:t>
            </a:r>
            <a:r>
              <a:rPr lang="en-US" b="1" dirty="0" err="1" smtClean="0">
                <a:solidFill>
                  <a:srgbClr val="0000CC"/>
                </a:solidFill>
                <a:latin typeface="Rockwell" panose="02060603020205020403" pitchFamily="18" charset="0"/>
                <a:ea typeface="+mj-ea"/>
                <a:cs typeface="+mj-cs"/>
              </a:rPr>
              <a:t>phần</a:t>
            </a:r>
            <a:r>
              <a:rPr lang="en-US" b="1" dirty="0" smtClean="0">
                <a:solidFill>
                  <a:srgbClr val="0000CC"/>
                </a:solidFill>
                <a:latin typeface="Rockwell" panose="02060603020205020403" pitchFamily="18" charset="0"/>
                <a:ea typeface="+mj-ea"/>
                <a:cs typeface="+mj-cs"/>
              </a:rPr>
              <a:t> </a:t>
            </a:r>
            <a:r>
              <a:rPr lang="en-US" b="1" dirty="0" err="1" smtClean="0">
                <a:solidFill>
                  <a:srgbClr val="0000CC"/>
                </a:solidFill>
                <a:latin typeface="Rockwell" panose="02060603020205020403" pitchFamily="18" charset="0"/>
                <a:ea typeface="+mj-ea"/>
                <a:cs typeface="+mj-cs"/>
              </a:rPr>
              <a:t>chính</a:t>
            </a:r>
            <a:r>
              <a:rPr lang="en-US" b="1" dirty="0" smtClean="0">
                <a:solidFill>
                  <a:srgbClr val="0000CC"/>
                </a:solidFill>
                <a:latin typeface="Rockwell" panose="02060603020205020403" pitchFamily="18" charset="0"/>
                <a:ea typeface="+mj-ea"/>
                <a:cs typeface="+mj-cs"/>
              </a:rPr>
              <a:t> </a:t>
            </a:r>
            <a:r>
              <a:rPr lang="en-US" b="1" dirty="0" err="1" smtClean="0">
                <a:solidFill>
                  <a:srgbClr val="0000CC"/>
                </a:solidFill>
                <a:latin typeface="Rockwell" panose="02060603020205020403" pitchFamily="18" charset="0"/>
                <a:ea typeface="+mj-ea"/>
                <a:cs typeface="+mj-cs"/>
              </a:rPr>
              <a:t>của</a:t>
            </a:r>
            <a:r>
              <a:rPr lang="en-US" b="1" dirty="0" smtClean="0">
                <a:solidFill>
                  <a:srgbClr val="0000CC"/>
                </a:solidFill>
                <a:latin typeface="Rockwell" panose="02060603020205020403" pitchFamily="18" charset="0"/>
                <a:ea typeface="+mj-ea"/>
                <a:cs typeface="+mj-cs"/>
              </a:rPr>
              <a:t> Firewall</a:t>
            </a:r>
            <a:r>
              <a:rPr lang="vi-VN" b="1" dirty="0" smtClean="0">
                <a:solidFill>
                  <a:srgbClr val="0000CC"/>
                </a:solidFill>
                <a:latin typeface="Rockwell" panose="02060603020205020403" pitchFamily="18" charset="0"/>
                <a:ea typeface="+mj-ea"/>
                <a:cs typeface="+mj-cs"/>
              </a:rPr>
              <a:t>:</a:t>
            </a:r>
            <a:endParaRPr lang="en-US" b="1" dirty="0" smtClean="0">
              <a:solidFill>
                <a:srgbClr val="0000CC"/>
              </a:solidFill>
              <a:latin typeface="Rockwell" panose="02060603020205020403" pitchFamily="18" charset="0"/>
              <a:ea typeface="+mj-ea"/>
              <a:cs typeface="+mj-cs"/>
            </a:endParaRPr>
          </a:p>
          <a:p>
            <a:pPr marL="0" indent="0">
              <a:buNone/>
            </a:pPr>
            <a:r>
              <a:rPr lang="en-US" b="1" dirty="0">
                <a:solidFill>
                  <a:srgbClr val="0000CC"/>
                </a:solidFill>
                <a:latin typeface="Rockwell" panose="02060603020205020403" pitchFamily="18" charset="0"/>
                <a:ea typeface="+mj-ea"/>
                <a:cs typeface="+mj-cs"/>
              </a:rPr>
              <a:t>b</a:t>
            </a:r>
            <a:r>
              <a:rPr lang="en-US" b="1" dirty="0" smtClean="0">
                <a:solidFill>
                  <a:srgbClr val="0000CC"/>
                </a:solidFill>
                <a:latin typeface="Rockwell" panose="02060603020205020403" pitchFamily="18" charset="0"/>
                <a:ea typeface="+mj-ea"/>
                <a:cs typeface="+mj-cs"/>
              </a:rPr>
              <a:t>. </a:t>
            </a:r>
            <a:r>
              <a:rPr lang="en-US" b="1" dirty="0" err="1" smtClean="0">
                <a:solidFill>
                  <a:srgbClr val="0000CC"/>
                </a:solidFill>
                <a:latin typeface="Rockwell" panose="02060603020205020403" pitchFamily="18" charset="0"/>
                <a:ea typeface="+mj-ea"/>
                <a:cs typeface="+mj-cs"/>
              </a:rPr>
              <a:t>Đối</a:t>
            </a:r>
            <a:r>
              <a:rPr lang="en-US" b="1" dirty="0" smtClean="0">
                <a:solidFill>
                  <a:srgbClr val="0000CC"/>
                </a:solidFill>
                <a:latin typeface="Rockwell" panose="02060603020205020403" pitchFamily="18" charset="0"/>
                <a:ea typeface="+mj-ea"/>
                <a:cs typeface="+mj-cs"/>
              </a:rPr>
              <a:t> </a:t>
            </a:r>
            <a:r>
              <a:rPr lang="en-US" b="1" dirty="0" err="1" smtClean="0">
                <a:solidFill>
                  <a:srgbClr val="0000CC"/>
                </a:solidFill>
                <a:latin typeface="Rockwell" panose="02060603020205020403" pitchFamily="18" charset="0"/>
                <a:ea typeface="+mj-ea"/>
                <a:cs typeface="+mj-cs"/>
              </a:rPr>
              <a:t>với</a:t>
            </a:r>
            <a:r>
              <a:rPr lang="en-US" b="1" dirty="0" smtClean="0">
                <a:solidFill>
                  <a:srgbClr val="0000CC"/>
                </a:solidFill>
                <a:latin typeface="Rockwell" panose="02060603020205020403" pitchFamily="18" charset="0"/>
                <a:ea typeface="+mj-ea"/>
                <a:cs typeface="+mj-cs"/>
              </a:rPr>
              <a:t> Firewall </a:t>
            </a:r>
            <a:r>
              <a:rPr lang="en-US" b="1" dirty="0" err="1" smtClean="0">
                <a:solidFill>
                  <a:srgbClr val="0000CC"/>
                </a:solidFill>
                <a:latin typeface="Rockwell" panose="02060603020205020403" pitchFamily="18" charset="0"/>
                <a:ea typeface="+mj-ea"/>
                <a:cs typeface="+mj-cs"/>
              </a:rPr>
              <a:t>tầng</a:t>
            </a:r>
            <a:r>
              <a:rPr lang="en-US" b="1" dirty="0" smtClean="0">
                <a:solidFill>
                  <a:srgbClr val="0000CC"/>
                </a:solidFill>
                <a:latin typeface="Rockwell" panose="02060603020205020403" pitchFamily="18" charset="0"/>
                <a:ea typeface="+mj-ea"/>
                <a:cs typeface="+mj-cs"/>
              </a:rPr>
              <a:t> </a:t>
            </a:r>
            <a:r>
              <a:rPr lang="en-US" b="1" dirty="0" err="1" smtClean="0">
                <a:solidFill>
                  <a:srgbClr val="0000CC"/>
                </a:solidFill>
                <a:latin typeface="Rockwell" panose="02060603020205020403" pitchFamily="18" charset="0"/>
                <a:ea typeface="+mj-ea"/>
                <a:cs typeface="+mj-cs"/>
              </a:rPr>
              <a:t>ứng</a:t>
            </a:r>
            <a:r>
              <a:rPr lang="en-US" b="1" dirty="0" smtClean="0">
                <a:solidFill>
                  <a:srgbClr val="0000CC"/>
                </a:solidFill>
                <a:latin typeface="Rockwell" panose="02060603020205020403" pitchFamily="18" charset="0"/>
                <a:ea typeface="+mj-ea"/>
                <a:cs typeface="+mj-cs"/>
              </a:rPr>
              <a:t> </a:t>
            </a:r>
            <a:r>
              <a:rPr lang="en-US" b="1" dirty="0" err="1" smtClean="0">
                <a:solidFill>
                  <a:srgbClr val="0000CC"/>
                </a:solidFill>
                <a:latin typeface="Rockwell" panose="02060603020205020403" pitchFamily="18" charset="0"/>
                <a:ea typeface="+mj-ea"/>
                <a:cs typeface="+mj-cs"/>
              </a:rPr>
              <a:t>dụng</a:t>
            </a:r>
            <a:endParaRPr lang="en-US" b="1" dirty="0" smtClean="0">
              <a:solidFill>
                <a:srgbClr val="0000CC"/>
              </a:solidFill>
              <a:latin typeface="Rockwell" panose="02060603020205020403" pitchFamily="18" charset="0"/>
              <a:ea typeface="+mj-ea"/>
              <a:cs typeface="+mj-cs"/>
            </a:endParaRPr>
          </a:p>
          <a:p>
            <a:pPr marL="0" indent="0">
              <a:buNone/>
            </a:pPr>
            <a:r>
              <a:rPr lang="vi-VN" dirty="0" smtClean="0">
                <a:solidFill>
                  <a:srgbClr val="0000CC"/>
                </a:solidFill>
                <a:latin typeface="Rockwell" panose="02060603020205020403" pitchFamily="18" charset="0"/>
                <a:ea typeface="+mj-ea"/>
                <a:cs typeface="+mj-cs"/>
              </a:rPr>
              <a:t>b2</a:t>
            </a:r>
            <a:r>
              <a:rPr lang="vi-VN" dirty="0">
                <a:solidFill>
                  <a:srgbClr val="0000CC"/>
                </a:solidFill>
                <a:latin typeface="Rockwell" panose="02060603020205020403" pitchFamily="18" charset="0"/>
                <a:ea typeface="+mj-ea"/>
                <a:cs typeface="+mj-cs"/>
              </a:rPr>
              <a:t>. Application Rules/Policies Engine (Policy Enforcement Point)</a:t>
            </a:r>
          </a:p>
          <a:p>
            <a:r>
              <a:rPr lang="vi-VN" dirty="0">
                <a:solidFill>
                  <a:srgbClr val="0000CC"/>
                </a:solidFill>
                <a:latin typeface="Rockwell" panose="02060603020205020403" pitchFamily="18" charset="0"/>
                <a:ea typeface="+mj-ea"/>
                <a:cs typeface="+mj-cs"/>
              </a:rPr>
              <a:t>Chính là nơi chứa Application Rules/Policies.</a:t>
            </a:r>
          </a:p>
          <a:p>
            <a:r>
              <a:rPr lang="vi-VN" dirty="0">
                <a:solidFill>
                  <a:srgbClr val="0000CC"/>
                </a:solidFill>
                <a:latin typeface="Rockwell" panose="02060603020205020403" pitchFamily="18" charset="0"/>
                <a:ea typeface="+mj-ea"/>
                <a:cs typeface="+mj-cs"/>
              </a:rPr>
              <a:t>Tại đây, firewall kiểm tra:</a:t>
            </a:r>
          </a:p>
          <a:p>
            <a:pPr lvl="1"/>
            <a:r>
              <a:rPr lang="vi-VN" dirty="0">
                <a:solidFill>
                  <a:srgbClr val="0000CC"/>
                </a:solidFill>
                <a:latin typeface="Rockwell" panose="02060603020205020403" pitchFamily="18" charset="0"/>
                <a:ea typeface="+mj-ea"/>
                <a:cs typeface="+mj-cs"/>
              </a:rPr>
              <a:t>HTTP request/response</a:t>
            </a:r>
          </a:p>
          <a:p>
            <a:pPr lvl="1"/>
            <a:r>
              <a:rPr lang="vi-VN" dirty="0">
                <a:solidFill>
                  <a:srgbClr val="0000CC"/>
                </a:solidFill>
                <a:latin typeface="Rockwell" panose="02060603020205020403" pitchFamily="18" charset="0"/>
                <a:ea typeface="+mj-ea"/>
                <a:cs typeface="+mj-cs"/>
              </a:rPr>
              <a:t>Payload nội dung (chuỗi SQL, script, file upload…)</a:t>
            </a:r>
          </a:p>
          <a:p>
            <a:pPr lvl="1"/>
            <a:r>
              <a:rPr lang="vi-VN" dirty="0">
                <a:solidFill>
                  <a:srgbClr val="0000CC"/>
                </a:solidFill>
                <a:latin typeface="Rockwell" panose="02060603020205020403" pitchFamily="18" charset="0"/>
                <a:ea typeface="+mj-ea"/>
                <a:cs typeface="+mj-cs"/>
              </a:rPr>
              <a:t>Context của ứng dụng (session, cookie, user role)</a:t>
            </a:r>
          </a:p>
          <a:p>
            <a:r>
              <a:rPr lang="vi-VN" dirty="0">
                <a:solidFill>
                  <a:srgbClr val="0000CC"/>
                </a:solidFill>
                <a:latin typeface="Rockwell" panose="02060603020205020403" pitchFamily="18" charset="0"/>
                <a:ea typeface="+mj-ea"/>
                <a:cs typeface="+mj-cs"/>
              </a:rPr>
              <a:t>Rules/policies được thiết lập thủ công bởi admin hoặc tự động học từ hành vi ứng dụng.</a:t>
            </a:r>
          </a:p>
          <a:p>
            <a:r>
              <a:rPr lang="vi-VN" dirty="0">
                <a:solidFill>
                  <a:srgbClr val="0000CC"/>
                </a:solidFill>
                <a:latin typeface="Rockwell" panose="02060603020205020403" pitchFamily="18" charset="0"/>
                <a:ea typeface="+mj-ea"/>
                <a:cs typeface="+mj-cs"/>
              </a:rPr>
              <a:t>Ví dụ policy: “Chặn mọi request POST chứa chuỗi &lt;script&gt; trong payload”.</a:t>
            </a:r>
            <a:endParaRPr lang="en-US" dirty="0" smtClean="0">
              <a:solidFill>
                <a:srgbClr val="0000CC"/>
              </a:solidFill>
              <a:latin typeface="Rockwell" panose="02060603020205020403" pitchFamily="18" charset="0"/>
              <a:ea typeface="+mj-ea"/>
              <a:cs typeface="+mj-cs"/>
            </a:endParaRPr>
          </a:p>
        </p:txBody>
      </p:sp>
    </p:spTree>
    <p:extLst>
      <p:ext uri="{BB962C8B-B14F-4D97-AF65-F5344CB8AC3E}">
        <p14:creationId xmlns:p14="http://schemas.microsoft.com/office/powerpoint/2010/main" val="2011885386"/>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44303" y="491797"/>
            <a:ext cx="10242645" cy="528851"/>
          </a:xfrm>
        </p:spPr>
        <p:txBody>
          <a:bodyPr/>
          <a:lstStyle/>
          <a:p>
            <a:r>
              <a:rPr lang="en-US" sz="2800" b="1" dirty="0">
                <a:solidFill>
                  <a:srgbClr val="0000CC"/>
                </a:solidFill>
                <a:latin typeface="Rockwell" panose="02060603020205020403" pitchFamily="18" charset="0"/>
              </a:rPr>
              <a:t>7</a:t>
            </a:r>
            <a:r>
              <a:rPr lang="en-US" sz="2800" b="1" dirty="0" smtClean="0">
                <a:solidFill>
                  <a:srgbClr val="0000CC"/>
                </a:solidFill>
                <a:latin typeface="Rockwell" panose="02060603020205020403" pitchFamily="18" charset="0"/>
              </a:rPr>
              <a:t>.2.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Chức</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năng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và</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mục</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đích</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sử</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dụng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của</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FIREWALL</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44304" y="1020648"/>
            <a:ext cx="10242644" cy="4382729"/>
          </a:xfrm>
        </p:spPr>
        <p:txBody>
          <a:bodyPr/>
          <a:lstStyle/>
          <a:p>
            <a:pPr marL="0" indent="0">
              <a:buNone/>
            </a:pPr>
            <a:r>
              <a:rPr lang="en-US" b="1" dirty="0" smtClean="0">
                <a:solidFill>
                  <a:srgbClr val="0000CC"/>
                </a:solidFill>
                <a:latin typeface="Rockwell" panose="02060603020205020403" pitchFamily="18" charset="0"/>
                <a:ea typeface="+mj-ea"/>
                <a:cs typeface="+mj-cs"/>
              </a:rPr>
              <a:t>2. </a:t>
            </a:r>
            <a:r>
              <a:rPr lang="en-US" b="1" dirty="0" err="1" smtClean="0">
                <a:solidFill>
                  <a:srgbClr val="0000CC"/>
                </a:solidFill>
                <a:latin typeface="Rockwell" panose="02060603020205020403" pitchFamily="18" charset="0"/>
                <a:ea typeface="+mj-ea"/>
                <a:cs typeface="+mj-cs"/>
              </a:rPr>
              <a:t>Các</a:t>
            </a:r>
            <a:r>
              <a:rPr lang="en-US" b="1" dirty="0" smtClean="0">
                <a:solidFill>
                  <a:srgbClr val="0000CC"/>
                </a:solidFill>
                <a:latin typeface="Rockwell" panose="02060603020205020403" pitchFamily="18" charset="0"/>
                <a:ea typeface="+mj-ea"/>
                <a:cs typeface="+mj-cs"/>
              </a:rPr>
              <a:t> </a:t>
            </a:r>
            <a:r>
              <a:rPr lang="en-US" b="1" dirty="0" err="1" smtClean="0">
                <a:solidFill>
                  <a:srgbClr val="0000CC"/>
                </a:solidFill>
                <a:latin typeface="Rockwell" panose="02060603020205020403" pitchFamily="18" charset="0"/>
                <a:ea typeface="+mj-ea"/>
                <a:cs typeface="+mj-cs"/>
              </a:rPr>
              <a:t>thành</a:t>
            </a:r>
            <a:r>
              <a:rPr lang="en-US" b="1" dirty="0" smtClean="0">
                <a:solidFill>
                  <a:srgbClr val="0000CC"/>
                </a:solidFill>
                <a:latin typeface="Rockwell" panose="02060603020205020403" pitchFamily="18" charset="0"/>
                <a:ea typeface="+mj-ea"/>
                <a:cs typeface="+mj-cs"/>
              </a:rPr>
              <a:t> </a:t>
            </a:r>
            <a:r>
              <a:rPr lang="en-US" b="1" dirty="0" err="1" smtClean="0">
                <a:solidFill>
                  <a:srgbClr val="0000CC"/>
                </a:solidFill>
                <a:latin typeface="Rockwell" panose="02060603020205020403" pitchFamily="18" charset="0"/>
                <a:ea typeface="+mj-ea"/>
                <a:cs typeface="+mj-cs"/>
              </a:rPr>
              <a:t>phần</a:t>
            </a:r>
            <a:r>
              <a:rPr lang="en-US" b="1" dirty="0" smtClean="0">
                <a:solidFill>
                  <a:srgbClr val="0000CC"/>
                </a:solidFill>
                <a:latin typeface="Rockwell" panose="02060603020205020403" pitchFamily="18" charset="0"/>
                <a:ea typeface="+mj-ea"/>
                <a:cs typeface="+mj-cs"/>
              </a:rPr>
              <a:t> </a:t>
            </a:r>
            <a:r>
              <a:rPr lang="en-US" b="1" dirty="0" err="1" smtClean="0">
                <a:solidFill>
                  <a:srgbClr val="0000CC"/>
                </a:solidFill>
                <a:latin typeface="Rockwell" panose="02060603020205020403" pitchFamily="18" charset="0"/>
                <a:ea typeface="+mj-ea"/>
                <a:cs typeface="+mj-cs"/>
              </a:rPr>
              <a:t>chính</a:t>
            </a:r>
            <a:r>
              <a:rPr lang="en-US" b="1" dirty="0" smtClean="0">
                <a:solidFill>
                  <a:srgbClr val="0000CC"/>
                </a:solidFill>
                <a:latin typeface="Rockwell" panose="02060603020205020403" pitchFamily="18" charset="0"/>
                <a:ea typeface="+mj-ea"/>
                <a:cs typeface="+mj-cs"/>
              </a:rPr>
              <a:t> </a:t>
            </a:r>
            <a:r>
              <a:rPr lang="en-US" b="1" dirty="0" err="1" smtClean="0">
                <a:solidFill>
                  <a:srgbClr val="0000CC"/>
                </a:solidFill>
                <a:latin typeface="Rockwell" panose="02060603020205020403" pitchFamily="18" charset="0"/>
                <a:ea typeface="+mj-ea"/>
                <a:cs typeface="+mj-cs"/>
              </a:rPr>
              <a:t>của</a:t>
            </a:r>
            <a:r>
              <a:rPr lang="en-US" b="1" dirty="0" smtClean="0">
                <a:solidFill>
                  <a:srgbClr val="0000CC"/>
                </a:solidFill>
                <a:latin typeface="Rockwell" panose="02060603020205020403" pitchFamily="18" charset="0"/>
                <a:ea typeface="+mj-ea"/>
                <a:cs typeface="+mj-cs"/>
              </a:rPr>
              <a:t> Firewall</a:t>
            </a:r>
            <a:r>
              <a:rPr lang="vi-VN" b="1" dirty="0" smtClean="0">
                <a:solidFill>
                  <a:srgbClr val="0000CC"/>
                </a:solidFill>
                <a:latin typeface="Rockwell" panose="02060603020205020403" pitchFamily="18" charset="0"/>
                <a:ea typeface="+mj-ea"/>
                <a:cs typeface="+mj-cs"/>
              </a:rPr>
              <a:t>:</a:t>
            </a:r>
            <a:endParaRPr lang="en-US" b="1" dirty="0" smtClean="0">
              <a:solidFill>
                <a:srgbClr val="0000CC"/>
              </a:solidFill>
              <a:latin typeface="Rockwell" panose="02060603020205020403" pitchFamily="18" charset="0"/>
              <a:ea typeface="+mj-ea"/>
              <a:cs typeface="+mj-cs"/>
            </a:endParaRPr>
          </a:p>
          <a:p>
            <a:pPr marL="0" indent="0">
              <a:buNone/>
            </a:pPr>
            <a:r>
              <a:rPr lang="en-US" b="1" dirty="0">
                <a:solidFill>
                  <a:srgbClr val="0000CC"/>
                </a:solidFill>
                <a:latin typeface="Rockwell" panose="02060603020205020403" pitchFamily="18" charset="0"/>
                <a:ea typeface="+mj-ea"/>
                <a:cs typeface="+mj-cs"/>
              </a:rPr>
              <a:t>b</a:t>
            </a:r>
            <a:r>
              <a:rPr lang="en-US" b="1" dirty="0" smtClean="0">
                <a:solidFill>
                  <a:srgbClr val="0000CC"/>
                </a:solidFill>
                <a:latin typeface="Rockwell" panose="02060603020205020403" pitchFamily="18" charset="0"/>
                <a:ea typeface="+mj-ea"/>
                <a:cs typeface="+mj-cs"/>
              </a:rPr>
              <a:t>. </a:t>
            </a:r>
            <a:r>
              <a:rPr lang="en-US" b="1" dirty="0" err="1" smtClean="0">
                <a:solidFill>
                  <a:srgbClr val="0000CC"/>
                </a:solidFill>
                <a:latin typeface="Rockwell" panose="02060603020205020403" pitchFamily="18" charset="0"/>
                <a:ea typeface="+mj-ea"/>
                <a:cs typeface="+mj-cs"/>
              </a:rPr>
              <a:t>Đối</a:t>
            </a:r>
            <a:r>
              <a:rPr lang="en-US" b="1" dirty="0" smtClean="0">
                <a:solidFill>
                  <a:srgbClr val="0000CC"/>
                </a:solidFill>
                <a:latin typeface="Rockwell" panose="02060603020205020403" pitchFamily="18" charset="0"/>
                <a:ea typeface="+mj-ea"/>
                <a:cs typeface="+mj-cs"/>
              </a:rPr>
              <a:t> </a:t>
            </a:r>
            <a:r>
              <a:rPr lang="en-US" b="1" dirty="0" err="1" smtClean="0">
                <a:solidFill>
                  <a:srgbClr val="0000CC"/>
                </a:solidFill>
                <a:latin typeface="Rockwell" panose="02060603020205020403" pitchFamily="18" charset="0"/>
                <a:ea typeface="+mj-ea"/>
                <a:cs typeface="+mj-cs"/>
              </a:rPr>
              <a:t>với</a:t>
            </a:r>
            <a:r>
              <a:rPr lang="en-US" b="1" dirty="0" smtClean="0">
                <a:solidFill>
                  <a:srgbClr val="0000CC"/>
                </a:solidFill>
                <a:latin typeface="Rockwell" panose="02060603020205020403" pitchFamily="18" charset="0"/>
                <a:ea typeface="+mj-ea"/>
                <a:cs typeface="+mj-cs"/>
              </a:rPr>
              <a:t> Firewall </a:t>
            </a:r>
            <a:r>
              <a:rPr lang="en-US" b="1" dirty="0" err="1" smtClean="0">
                <a:solidFill>
                  <a:srgbClr val="0000CC"/>
                </a:solidFill>
                <a:latin typeface="Rockwell" panose="02060603020205020403" pitchFamily="18" charset="0"/>
                <a:ea typeface="+mj-ea"/>
                <a:cs typeface="+mj-cs"/>
              </a:rPr>
              <a:t>tầng</a:t>
            </a:r>
            <a:r>
              <a:rPr lang="en-US" b="1" dirty="0" smtClean="0">
                <a:solidFill>
                  <a:srgbClr val="0000CC"/>
                </a:solidFill>
                <a:latin typeface="Rockwell" panose="02060603020205020403" pitchFamily="18" charset="0"/>
                <a:ea typeface="+mj-ea"/>
                <a:cs typeface="+mj-cs"/>
              </a:rPr>
              <a:t> </a:t>
            </a:r>
            <a:r>
              <a:rPr lang="en-US" b="1" dirty="0" err="1" smtClean="0">
                <a:solidFill>
                  <a:srgbClr val="0000CC"/>
                </a:solidFill>
                <a:latin typeface="Rockwell" panose="02060603020205020403" pitchFamily="18" charset="0"/>
                <a:ea typeface="+mj-ea"/>
                <a:cs typeface="+mj-cs"/>
              </a:rPr>
              <a:t>ứng</a:t>
            </a:r>
            <a:r>
              <a:rPr lang="en-US" b="1" dirty="0" smtClean="0">
                <a:solidFill>
                  <a:srgbClr val="0000CC"/>
                </a:solidFill>
                <a:latin typeface="Rockwell" panose="02060603020205020403" pitchFamily="18" charset="0"/>
                <a:ea typeface="+mj-ea"/>
                <a:cs typeface="+mj-cs"/>
              </a:rPr>
              <a:t> </a:t>
            </a:r>
            <a:r>
              <a:rPr lang="en-US" b="1" dirty="0" err="1" smtClean="0">
                <a:solidFill>
                  <a:srgbClr val="0000CC"/>
                </a:solidFill>
                <a:latin typeface="Rockwell" panose="02060603020205020403" pitchFamily="18" charset="0"/>
                <a:ea typeface="+mj-ea"/>
                <a:cs typeface="+mj-cs"/>
              </a:rPr>
              <a:t>dụng</a:t>
            </a:r>
            <a:endParaRPr lang="en-US" b="1" dirty="0" smtClean="0">
              <a:solidFill>
                <a:srgbClr val="0000CC"/>
              </a:solidFill>
              <a:latin typeface="Rockwell" panose="02060603020205020403" pitchFamily="18" charset="0"/>
              <a:ea typeface="+mj-ea"/>
              <a:cs typeface="+mj-cs"/>
            </a:endParaRPr>
          </a:p>
          <a:p>
            <a:pPr marL="0" indent="0">
              <a:buNone/>
            </a:pPr>
            <a:r>
              <a:rPr lang="vi-VN" dirty="0" smtClean="0">
                <a:solidFill>
                  <a:srgbClr val="0000CC"/>
                </a:solidFill>
                <a:latin typeface="Rockwell" panose="02060603020205020403" pitchFamily="18" charset="0"/>
                <a:ea typeface="+mj-ea"/>
                <a:cs typeface="+mj-cs"/>
              </a:rPr>
              <a:t>b3</a:t>
            </a:r>
            <a:r>
              <a:rPr lang="vi-VN" dirty="0">
                <a:solidFill>
                  <a:srgbClr val="0000CC"/>
                </a:solidFill>
                <a:latin typeface="Rockwell" panose="02060603020205020403" pitchFamily="18" charset="0"/>
                <a:ea typeface="+mj-ea"/>
                <a:cs typeface="+mj-cs"/>
              </a:rPr>
              <a:t>. Decision Module (Allow/Deny/Modify)</a:t>
            </a:r>
          </a:p>
          <a:p>
            <a:r>
              <a:rPr lang="vi-VN" dirty="0">
                <a:solidFill>
                  <a:srgbClr val="0000CC"/>
                </a:solidFill>
                <a:latin typeface="Rockwell" panose="02060603020205020403" pitchFamily="18" charset="0"/>
                <a:ea typeface="+mj-ea"/>
                <a:cs typeface="+mj-cs"/>
              </a:rPr>
              <a:t>Nếu request hợp lệ → cho phép.</a:t>
            </a:r>
          </a:p>
          <a:p>
            <a:r>
              <a:rPr lang="vi-VN" dirty="0">
                <a:solidFill>
                  <a:srgbClr val="0000CC"/>
                </a:solidFill>
                <a:latin typeface="Rockwell" panose="02060603020205020403" pitchFamily="18" charset="0"/>
                <a:ea typeface="+mj-ea"/>
                <a:cs typeface="+mj-cs"/>
              </a:rPr>
              <a:t>Nếu vi phạm policy → block, log, hoặc sanitize (chỉnh sửa request).</a:t>
            </a:r>
          </a:p>
          <a:p>
            <a:pPr marL="0" indent="0">
              <a:buNone/>
            </a:pPr>
            <a:r>
              <a:rPr lang="vi-VN" dirty="0">
                <a:solidFill>
                  <a:srgbClr val="0000CC"/>
                </a:solidFill>
                <a:latin typeface="Rockwell" panose="02060603020205020403" pitchFamily="18" charset="0"/>
                <a:ea typeface="+mj-ea"/>
                <a:cs typeface="+mj-cs"/>
              </a:rPr>
              <a:t>b4. Input/Output interfaces: </a:t>
            </a:r>
          </a:p>
          <a:p>
            <a:r>
              <a:rPr lang="vi-VN" dirty="0">
                <a:solidFill>
                  <a:srgbClr val="0000CC"/>
                </a:solidFill>
                <a:latin typeface="Rockwell" panose="02060603020205020403" pitchFamily="18" charset="0"/>
                <a:ea typeface="+mj-ea"/>
                <a:cs typeface="+mj-cs"/>
              </a:rPr>
              <a:t>Nhận lưu lượng từ client và gửi đến server (thông qua proxy).</a:t>
            </a:r>
          </a:p>
          <a:p>
            <a:pPr marL="0" indent="0">
              <a:buNone/>
            </a:pPr>
            <a:r>
              <a:rPr lang="vi-VN" dirty="0">
                <a:solidFill>
                  <a:srgbClr val="0000CC"/>
                </a:solidFill>
                <a:latin typeface="Rockwell" panose="02060603020205020403" pitchFamily="18" charset="0"/>
                <a:ea typeface="+mj-ea"/>
                <a:cs typeface="+mj-cs"/>
              </a:rPr>
              <a:t>b5. Logging &amp; Monitoring Module</a:t>
            </a:r>
          </a:p>
          <a:p>
            <a:r>
              <a:rPr lang="vi-VN" dirty="0">
                <a:solidFill>
                  <a:srgbClr val="0000CC"/>
                </a:solidFill>
                <a:latin typeface="Rockwell" panose="02060603020205020403" pitchFamily="18" charset="0"/>
                <a:ea typeface="+mj-ea"/>
                <a:cs typeface="+mj-cs"/>
              </a:rPr>
              <a:t>Ghi lại toàn bộ hành vi, vi phạm rules, để hỗ trợ điều chỉnh policy.</a:t>
            </a:r>
            <a:endParaRPr lang="en-US" dirty="0" smtClean="0">
              <a:solidFill>
                <a:srgbClr val="0000CC"/>
              </a:solidFill>
              <a:latin typeface="Rockwell" panose="02060603020205020403" pitchFamily="18" charset="0"/>
              <a:ea typeface="+mj-ea"/>
              <a:cs typeface="+mj-cs"/>
            </a:endParaRPr>
          </a:p>
        </p:txBody>
      </p:sp>
    </p:spTree>
    <p:extLst>
      <p:ext uri="{BB962C8B-B14F-4D97-AF65-F5344CB8AC3E}">
        <p14:creationId xmlns:p14="http://schemas.microsoft.com/office/powerpoint/2010/main" val="3240009879"/>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44303" y="491797"/>
            <a:ext cx="10242645" cy="528851"/>
          </a:xfrm>
        </p:spPr>
        <p:txBody>
          <a:bodyPr/>
          <a:lstStyle/>
          <a:p>
            <a:r>
              <a:rPr lang="en-US" sz="2800" b="1" dirty="0">
                <a:solidFill>
                  <a:srgbClr val="0000CC"/>
                </a:solidFill>
                <a:latin typeface="Rockwell" panose="02060603020205020403" pitchFamily="18" charset="0"/>
              </a:rPr>
              <a:t>7</a:t>
            </a:r>
            <a:r>
              <a:rPr lang="en-US" sz="2800" b="1" dirty="0" smtClean="0">
                <a:solidFill>
                  <a:srgbClr val="0000CC"/>
                </a:solidFill>
                <a:latin typeface="Rockwell" panose="02060603020205020403" pitchFamily="18" charset="0"/>
              </a:rPr>
              <a:t>.2.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Chức</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năng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và</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mục</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đích</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sử</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dụng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của</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FIREWALL</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44304" y="1020648"/>
            <a:ext cx="10242644" cy="4382729"/>
          </a:xfrm>
        </p:spPr>
        <p:txBody>
          <a:bodyPr/>
          <a:lstStyle/>
          <a:p>
            <a:pPr marL="0" indent="0">
              <a:buNone/>
            </a:pPr>
            <a:r>
              <a:rPr lang="en-US" b="1" dirty="0" smtClean="0">
                <a:solidFill>
                  <a:srgbClr val="0000CC"/>
                </a:solidFill>
                <a:latin typeface="Rockwell" panose="02060603020205020403" pitchFamily="18" charset="0"/>
                <a:ea typeface="+mj-ea"/>
                <a:cs typeface="+mj-cs"/>
              </a:rPr>
              <a:t>2. </a:t>
            </a:r>
            <a:r>
              <a:rPr lang="en-US" b="1" dirty="0" err="1" smtClean="0">
                <a:solidFill>
                  <a:srgbClr val="0000CC"/>
                </a:solidFill>
                <a:latin typeface="Rockwell" panose="02060603020205020403" pitchFamily="18" charset="0"/>
                <a:ea typeface="+mj-ea"/>
                <a:cs typeface="+mj-cs"/>
              </a:rPr>
              <a:t>Các</a:t>
            </a:r>
            <a:r>
              <a:rPr lang="en-US" b="1" dirty="0" smtClean="0">
                <a:solidFill>
                  <a:srgbClr val="0000CC"/>
                </a:solidFill>
                <a:latin typeface="Rockwell" panose="02060603020205020403" pitchFamily="18" charset="0"/>
                <a:ea typeface="+mj-ea"/>
                <a:cs typeface="+mj-cs"/>
              </a:rPr>
              <a:t> </a:t>
            </a:r>
            <a:r>
              <a:rPr lang="en-US" b="1" dirty="0" err="1" smtClean="0">
                <a:solidFill>
                  <a:srgbClr val="0000CC"/>
                </a:solidFill>
                <a:latin typeface="Rockwell" panose="02060603020205020403" pitchFamily="18" charset="0"/>
                <a:ea typeface="+mj-ea"/>
                <a:cs typeface="+mj-cs"/>
              </a:rPr>
              <a:t>thành</a:t>
            </a:r>
            <a:r>
              <a:rPr lang="en-US" b="1" dirty="0" smtClean="0">
                <a:solidFill>
                  <a:srgbClr val="0000CC"/>
                </a:solidFill>
                <a:latin typeface="Rockwell" panose="02060603020205020403" pitchFamily="18" charset="0"/>
                <a:ea typeface="+mj-ea"/>
                <a:cs typeface="+mj-cs"/>
              </a:rPr>
              <a:t> </a:t>
            </a:r>
            <a:r>
              <a:rPr lang="en-US" b="1" dirty="0" err="1" smtClean="0">
                <a:solidFill>
                  <a:srgbClr val="0000CC"/>
                </a:solidFill>
                <a:latin typeface="Rockwell" panose="02060603020205020403" pitchFamily="18" charset="0"/>
                <a:ea typeface="+mj-ea"/>
                <a:cs typeface="+mj-cs"/>
              </a:rPr>
              <a:t>phần</a:t>
            </a:r>
            <a:r>
              <a:rPr lang="en-US" b="1" dirty="0" smtClean="0">
                <a:solidFill>
                  <a:srgbClr val="0000CC"/>
                </a:solidFill>
                <a:latin typeface="Rockwell" panose="02060603020205020403" pitchFamily="18" charset="0"/>
                <a:ea typeface="+mj-ea"/>
                <a:cs typeface="+mj-cs"/>
              </a:rPr>
              <a:t> </a:t>
            </a:r>
            <a:r>
              <a:rPr lang="en-US" b="1" dirty="0" err="1" smtClean="0">
                <a:solidFill>
                  <a:srgbClr val="0000CC"/>
                </a:solidFill>
                <a:latin typeface="Rockwell" panose="02060603020205020403" pitchFamily="18" charset="0"/>
                <a:ea typeface="+mj-ea"/>
                <a:cs typeface="+mj-cs"/>
              </a:rPr>
              <a:t>chính</a:t>
            </a:r>
            <a:r>
              <a:rPr lang="en-US" b="1" dirty="0" smtClean="0">
                <a:solidFill>
                  <a:srgbClr val="0000CC"/>
                </a:solidFill>
                <a:latin typeface="Rockwell" panose="02060603020205020403" pitchFamily="18" charset="0"/>
                <a:ea typeface="+mj-ea"/>
                <a:cs typeface="+mj-cs"/>
              </a:rPr>
              <a:t> </a:t>
            </a:r>
            <a:r>
              <a:rPr lang="en-US" b="1" dirty="0" err="1" smtClean="0">
                <a:solidFill>
                  <a:srgbClr val="0000CC"/>
                </a:solidFill>
                <a:latin typeface="Rockwell" panose="02060603020205020403" pitchFamily="18" charset="0"/>
                <a:ea typeface="+mj-ea"/>
                <a:cs typeface="+mj-cs"/>
              </a:rPr>
              <a:t>của</a:t>
            </a:r>
            <a:r>
              <a:rPr lang="en-US" b="1" dirty="0" smtClean="0">
                <a:solidFill>
                  <a:srgbClr val="0000CC"/>
                </a:solidFill>
                <a:latin typeface="Rockwell" panose="02060603020205020403" pitchFamily="18" charset="0"/>
                <a:ea typeface="+mj-ea"/>
                <a:cs typeface="+mj-cs"/>
              </a:rPr>
              <a:t> Firewall</a:t>
            </a:r>
            <a:r>
              <a:rPr lang="vi-VN" b="1" dirty="0" smtClean="0">
                <a:solidFill>
                  <a:srgbClr val="0000CC"/>
                </a:solidFill>
                <a:latin typeface="Rockwell" panose="02060603020205020403" pitchFamily="18" charset="0"/>
                <a:ea typeface="+mj-ea"/>
                <a:cs typeface="+mj-cs"/>
              </a:rPr>
              <a:t>:</a:t>
            </a:r>
            <a:endParaRPr lang="en-US" b="1" dirty="0" smtClean="0">
              <a:solidFill>
                <a:srgbClr val="0000CC"/>
              </a:solidFill>
              <a:latin typeface="Rockwell" panose="02060603020205020403" pitchFamily="18" charset="0"/>
              <a:ea typeface="+mj-ea"/>
              <a:cs typeface="+mj-cs"/>
            </a:endParaRPr>
          </a:p>
          <a:p>
            <a:pPr marL="0" indent="0" algn="just">
              <a:lnSpc>
                <a:spcPct val="120000"/>
              </a:lnSpc>
              <a:spcBef>
                <a:spcPts val="1200"/>
              </a:spcBef>
              <a:spcAft>
                <a:spcPts val="600"/>
              </a:spcAft>
              <a:buNone/>
            </a:pPr>
            <a:r>
              <a:rPr lang="vi-VN" i="1" dirty="0" smtClean="0">
                <a:solidFill>
                  <a:srgbClr val="FF00FF"/>
                </a:solidFill>
                <a:latin typeface="Rockwell" panose="02060603020205020403" pitchFamily="18" charset="0"/>
                <a:ea typeface="+mj-ea"/>
                <a:cs typeface="+mj-cs"/>
              </a:rPr>
              <a:t>Như </a:t>
            </a:r>
            <a:r>
              <a:rPr lang="vi-VN" i="1" dirty="0">
                <a:solidFill>
                  <a:srgbClr val="FF00FF"/>
                </a:solidFill>
                <a:latin typeface="Rockwell" panose="02060603020205020403" pitchFamily="18" charset="0"/>
                <a:ea typeface="+mj-ea"/>
                <a:cs typeface="+mj-cs"/>
              </a:rPr>
              <a:t>vậy, </a:t>
            </a:r>
            <a:endParaRPr lang="en-US" i="1" dirty="0" smtClean="0">
              <a:solidFill>
                <a:srgbClr val="FF00FF"/>
              </a:solidFill>
              <a:latin typeface="Rockwell" panose="02060603020205020403" pitchFamily="18" charset="0"/>
              <a:ea typeface="+mj-ea"/>
              <a:cs typeface="+mj-cs"/>
            </a:endParaRPr>
          </a:p>
          <a:p>
            <a:pPr marL="0" indent="0" algn="just">
              <a:lnSpc>
                <a:spcPct val="120000"/>
              </a:lnSpc>
              <a:spcBef>
                <a:spcPts val="1200"/>
              </a:spcBef>
              <a:spcAft>
                <a:spcPts val="600"/>
              </a:spcAft>
              <a:buNone/>
            </a:pPr>
            <a:r>
              <a:rPr lang="vi-VN" i="1" dirty="0" smtClean="0">
                <a:solidFill>
                  <a:srgbClr val="FF00FF"/>
                </a:solidFill>
                <a:latin typeface="Rockwell" panose="02060603020205020403" pitchFamily="18" charset="0"/>
                <a:ea typeface="+mj-ea"/>
                <a:cs typeface="+mj-cs"/>
              </a:rPr>
              <a:t>Application </a:t>
            </a:r>
            <a:r>
              <a:rPr lang="vi-VN" i="1" dirty="0">
                <a:solidFill>
                  <a:srgbClr val="FF00FF"/>
                </a:solidFill>
                <a:latin typeface="Rockwell" panose="02060603020205020403" pitchFamily="18" charset="0"/>
                <a:ea typeface="+mj-ea"/>
                <a:cs typeface="+mj-cs"/>
              </a:rPr>
              <a:t>Rules/Policies nằm trong Policy </a:t>
            </a:r>
            <a:r>
              <a:rPr lang="vi-VN" i="1" dirty="0" smtClean="0">
                <a:solidFill>
                  <a:srgbClr val="FF00FF"/>
                </a:solidFill>
                <a:latin typeface="Rockwell" panose="02060603020205020403" pitchFamily="18" charset="0"/>
                <a:ea typeface="+mj-ea"/>
                <a:cs typeface="+mj-cs"/>
              </a:rPr>
              <a:t>Engine</a:t>
            </a:r>
            <a:r>
              <a:rPr lang="en-US" i="1" dirty="0" smtClean="0">
                <a:solidFill>
                  <a:srgbClr val="FF00FF"/>
                </a:solidFill>
                <a:latin typeface="Rockwell" panose="02060603020205020403" pitchFamily="18" charset="0"/>
                <a:ea typeface="+mj-ea"/>
                <a:cs typeface="+mj-cs"/>
              </a:rPr>
              <a:t>,</a:t>
            </a:r>
            <a:r>
              <a:rPr lang="vi-VN" i="1" dirty="0" smtClean="0">
                <a:solidFill>
                  <a:srgbClr val="FF00FF"/>
                </a:solidFill>
                <a:latin typeface="Rockwell" panose="02060603020205020403" pitchFamily="18" charset="0"/>
                <a:ea typeface="+mj-ea"/>
                <a:cs typeface="+mj-cs"/>
              </a:rPr>
              <a:t> </a:t>
            </a:r>
            <a:r>
              <a:rPr lang="vi-VN" i="1" dirty="0">
                <a:solidFill>
                  <a:srgbClr val="FF00FF"/>
                </a:solidFill>
                <a:latin typeface="Rockwell" panose="02060603020205020403" pitchFamily="18" charset="0"/>
                <a:ea typeface="+mj-ea"/>
                <a:cs typeface="+mj-cs"/>
              </a:rPr>
              <a:t>là bộ não quyết định của Application Firewall.</a:t>
            </a:r>
          </a:p>
          <a:p>
            <a:pPr marL="0" indent="0" algn="just">
              <a:lnSpc>
                <a:spcPct val="120000"/>
              </a:lnSpc>
              <a:spcBef>
                <a:spcPts val="1200"/>
              </a:spcBef>
              <a:spcAft>
                <a:spcPts val="600"/>
              </a:spcAft>
              <a:buNone/>
            </a:pPr>
            <a:r>
              <a:rPr lang="vi-VN" i="1" dirty="0">
                <a:solidFill>
                  <a:srgbClr val="FF00FF"/>
                </a:solidFill>
                <a:latin typeface="Rockwell" panose="02060603020205020403" pitchFamily="18" charset="0"/>
                <a:ea typeface="+mj-ea"/>
                <a:cs typeface="+mj-cs"/>
              </a:rPr>
              <a:t>Nếu </a:t>
            </a:r>
            <a:r>
              <a:rPr lang="vi-VN" i="1" dirty="0" smtClean="0">
                <a:solidFill>
                  <a:srgbClr val="FF00FF"/>
                </a:solidFill>
                <a:latin typeface="Rockwell" panose="02060603020205020403" pitchFamily="18" charset="0"/>
                <a:ea typeface="+mj-ea"/>
                <a:cs typeface="+mj-cs"/>
              </a:rPr>
              <a:t>F</a:t>
            </a:r>
            <a:r>
              <a:rPr lang="en-US" i="1" dirty="0" err="1" smtClean="0">
                <a:solidFill>
                  <a:srgbClr val="FF00FF"/>
                </a:solidFill>
                <a:latin typeface="Rockwell" panose="02060603020205020403" pitchFamily="18" charset="0"/>
                <a:ea typeface="+mj-ea"/>
                <a:cs typeface="+mj-cs"/>
              </a:rPr>
              <a:t>irewall</a:t>
            </a:r>
            <a:r>
              <a:rPr lang="vi-VN" i="1" dirty="0" smtClean="0">
                <a:solidFill>
                  <a:srgbClr val="FF00FF"/>
                </a:solidFill>
                <a:latin typeface="Rockwell" panose="02060603020205020403" pitchFamily="18" charset="0"/>
                <a:ea typeface="+mj-ea"/>
                <a:cs typeface="+mj-cs"/>
              </a:rPr>
              <a:t> </a:t>
            </a:r>
            <a:r>
              <a:rPr lang="vi-VN" i="1" dirty="0">
                <a:solidFill>
                  <a:srgbClr val="FF00FF"/>
                </a:solidFill>
                <a:latin typeface="Rockwell" panose="02060603020205020403" pitchFamily="18" charset="0"/>
                <a:ea typeface="+mj-ea"/>
                <a:cs typeface="+mj-cs"/>
              </a:rPr>
              <a:t>lọc gói có ACL thì </a:t>
            </a:r>
            <a:r>
              <a:rPr lang="vi-VN" i="1" dirty="0" smtClean="0">
                <a:solidFill>
                  <a:srgbClr val="FF00FF"/>
                </a:solidFill>
                <a:latin typeface="Rockwell" panose="02060603020205020403" pitchFamily="18" charset="0"/>
                <a:ea typeface="+mj-ea"/>
                <a:cs typeface="+mj-cs"/>
              </a:rPr>
              <a:t>F</a:t>
            </a:r>
            <a:r>
              <a:rPr lang="en-US" i="1" dirty="0" err="1" smtClean="0">
                <a:solidFill>
                  <a:srgbClr val="FF00FF"/>
                </a:solidFill>
                <a:latin typeface="Rockwell" panose="02060603020205020403" pitchFamily="18" charset="0"/>
                <a:ea typeface="+mj-ea"/>
                <a:cs typeface="+mj-cs"/>
              </a:rPr>
              <a:t>irewall</a:t>
            </a:r>
            <a:r>
              <a:rPr lang="en-US" i="1" dirty="0" smtClean="0">
                <a:solidFill>
                  <a:srgbClr val="FF00FF"/>
                </a:solidFill>
                <a:latin typeface="Rockwell" panose="02060603020205020403" pitchFamily="18" charset="0"/>
                <a:ea typeface="+mj-ea"/>
                <a:cs typeface="+mj-cs"/>
              </a:rPr>
              <a:t> </a:t>
            </a:r>
            <a:r>
              <a:rPr lang="en-US" i="1" dirty="0" err="1" smtClean="0">
                <a:solidFill>
                  <a:srgbClr val="FF00FF"/>
                </a:solidFill>
                <a:latin typeface="Rockwell" panose="02060603020205020403" pitchFamily="18" charset="0"/>
                <a:ea typeface="+mj-ea"/>
                <a:cs typeface="+mj-cs"/>
              </a:rPr>
              <a:t>tầng</a:t>
            </a:r>
            <a:r>
              <a:rPr lang="en-US" i="1" dirty="0" smtClean="0">
                <a:solidFill>
                  <a:srgbClr val="FF00FF"/>
                </a:solidFill>
                <a:latin typeface="Rockwell" panose="02060603020205020403" pitchFamily="18" charset="0"/>
                <a:ea typeface="+mj-ea"/>
                <a:cs typeface="+mj-cs"/>
              </a:rPr>
              <a:t> </a:t>
            </a:r>
            <a:r>
              <a:rPr lang="en-US" i="1" dirty="0" err="1" smtClean="0">
                <a:solidFill>
                  <a:srgbClr val="FF00FF"/>
                </a:solidFill>
                <a:latin typeface="Rockwell" panose="02060603020205020403" pitchFamily="18" charset="0"/>
                <a:ea typeface="+mj-ea"/>
                <a:cs typeface="+mj-cs"/>
              </a:rPr>
              <a:t>ứng</a:t>
            </a:r>
            <a:r>
              <a:rPr lang="en-US" i="1" dirty="0" smtClean="0">
                <a:solidFill>
                  <a:srgbClr val="FF00FF"/>
                </a:solidFill>
                <a:latin typeface="Rockwell" panose="02060603020205020403" pitchFamily="18" charset="0"/>
                <a:ea typeface="+mj-ea"/>
                <a:cs typeface="+mj-cs"/>
              </a:rPr>
              <a:t> </a:t>
            </a:r>
            <a:r>
              <a:rPr lang="en-US" i="1" dirty="0" err="1" smtClean="0">
                <a:solidFill>
                  <a:srgbClr val="FF00FF"/>
                </a:solidFill>
                <a:latin typeface="Rockwell" panose="02060603020205020403" pitchFamily="18" charset="0"/>
                <a:ea typeface="+mj-ea"/>
                <a:cs typeface="+mj-cs"/>
              </a:rPr>
              <a:t>dụng</a:t>
            </a:r>
            <a:r>
              <a:rPr lang="vi-VN" i="1" dirty="0" smtClean="0">
                <a:solidFill>
                  <a:srgbClr val="FF00FF"/>
                </a:solidFill>
                <a:latin typeface="Rockwell" panose="02060603020205020403" pitchFamily="18" charset="0"/>
                <a:ea typeface="+mj-ea"/>
                <a:cs typeface="+mj-cs"/>
              </a:rPr>
              <a:t> </a:t>
            </a:r>
            <a:r>
              <a:rPr lang="vi-VN" i="1" dirty="0">
                <a:solidFill>
                  <a:srgbClr val="FF00FF"/>
                </a:solidFill>
                <a:latin typeface="Rockwell" panose="02060603020205020403" pitchFamily="18" charset="0"/>
                <a:ea typeface="+mj-ea"/>
                <a:cs typeface="+mj-cs"/>
              </a:rPr>
              <a:t>có Policy Engine với Rules chính là tương đương, nhưng hoạt động ở mức payload/ngữ cảnh ứng dụng.</a:t>
            </a:r>
            <a:endParaRPr lang="en-US" i="1" dirty="0" smtClean="0">
              <a:solidFill>
                <a:srgbClr val="FF00FF"/>
              </a:solidFill>
              <a:latin typeface="Rockwell" panose="02060603020205020403" pitchFamily="18" charset="0"/>
              <a:ea typeface="+mj-ea"/>
              <a:cs typeface="+mj-cs"/>
            </a:endParaRPr>
          </a:p>
        </p:txBody>
      </p:sp>
    </p:spTree>
    <p:extLst>
      <p:ext uri="{BB962C8B-B14F-4D97-AF65-F5344CB8AC3E}">
        <p14:creationId xmlns:p14="http://schemas.microsoft.com/office/powerpoint/2010/main" val="1738919047"/>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44303" y="491797"/>
            <a:ext cx="10242645" cy="528851"/>
          </a:xfrm>
        </p:spPr>
        <p:txBody>
          <a:bodyPr/>
          <a:lstStyle/>
          <a:p>
            <a:r>
              <a:rPr lang="en-US" sz="2800" b="1" dirty="0">
                <a:solidFill>
                  <a:srgbClr val="0000CC"/>
                </a:solidFill>
                <a:latin typeface="Rockwell" panose="02060603020205020403" pitchFamily="18" charset="0"/>
              </a:rPr>
              <a:t>7</a:t>
            </a:r>
            <a:r>
              <a:rPr lang="en-US" sz="2800" b="1" dirty="0" smtClean="0">
                <a:solidFill>
                  <a:srgbClr val="0000CC"/>
                </a:solidFill>
                <a:latin typeface="Rockwell" panose="02060603020205020403" pitchFamily="18" charset="0"/>
              </a:rPr>
              <a:t>.2.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Chức</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năng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và</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mục</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đích</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sử</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dụng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của</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FIREWALL</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44304" y="1020648"/>
            <a:ext cx="10242644" cy="4382729"/>
          </a:xfrm>
        </p:spPr>
        <p:txBody>
          <a:bodyPr/>
          <a:lstStyle/>
          <a:p>
            <a:pPr marL="0" indent="0">
              <a:buNone/>
            </a:pPr>
            <a:r>
              <a:rPr lang="en-US" b="1" dirty="0" smtClean="0">
                <a:solidFill>
                  <a:srgbClr val="0000CC"/>
                </a:solidFill>
                <a:latin typeface="Rockwell" panose="02060603020205020403" pitchFamily="18" charset="0"/>
                <a:ea typeface="+mj-ea"/>
                <a:cs typeface="+mj-cs"/>
              </a:rPr>
              <a:t>2. </a:t>
            </a:r>
            <a:r>
              <a:rPr lang="en-US" b="1" dirty="0" err="1" smtClean="0">
                <a:solidFill>
                  <a:srgbClr val="0000CC"/>
                </a:solidFill>
                <a:latin typeface="Rockwell" panose="02060603020205020403" pitchFamily="18" charset="0"/>
                <a:ea typeface="+mj-ea"/>
                <a:cs typeface="+mj-cs"/>
              </a:rPr>
              <a:t>Các</a:t>
            </a:r>
            <a:r>
              <a:rPr lang="en-US" b="1" dirty="0" smtClean="0">
                <a:solidFill>
                  <a:srgbClr val="0000CC"/>
                </a:solidFill>
                <a:latin typeface="Rockwell" panose="02060603020205020403" pitchFamily="18" charset="0"/>
                <a:ea typeface="+mj-ea"/>
                <a:cs typeface="+mj-cs"/>
              </a:rPr>
              <a:t> </a:t>
            </a:r>
            <a:r>
              <a:rPr lang="en-US" b="1" dirty="0" err="1" smtClean="0">
                <a:solidFill>
                  <a:srgbClr val="0000CC"/>
                </a:solidFill>
                <a:latin typeface="Rockwell" panose="02060603020205020403" pitchFamily="18" charset="0"/>
                <a:ea typeface="+mj-ea"/>
                <a:cs typeface="+mj-cs"/>
              </a:rPr>
              <a:t>thành</a:t>
            </a:r>
            <a:r>
              <a:rPr lang="en-US" b="1" dirty="0" smtClean="0">
                <a:solidFill>
                  <a:srgbClr val="0000CC"/>
                </a:solidFill>
                <a:latin typeface="Rockwell" panose="02060603020205020403" pitchFamily="18" charset="0"/>
                <a:ea typeface="+mj-ea"/>
                <a:cs typeface="+mj-cs"/>
              </a:rPr>
              <a:t> </a:t>
            </a:r>
            <a:r>
              <a:rPr lang="en-US" b="1" dirty="0" err="1" smtClean="0">
                <a:solidFill>
                  <a:srgbClr val="0000CC"/>
                </a:solidFill>
                <a:latin typeface="Rockwell" panose="02060603020205020403" pitchFamily="18" charset="0"/>
                <a:ea typeface="+mj-ea"/>
                <a:cs typeface="+mj-cs"/>
              </a:rPr>
              <a:t>phần</a:t>
            </a:r>
            <a:r>
              <a:rPr lang="en-US" b="1" dirty="0" smtClean="0">
                <a:solidFill>
                  <a:srgbClr val="0000CC"/>
                </a:solidFill>
                <a:latin typeface="Rockwell" panose="02060603020205020403" pitchFamily="18" charset="0"/>
                <a:ea typeface="+mj-ea"/>
                <a:cs typeface="+mj-cs"/>
              </a:rPr>
              <a:t> </a:t>
            </a:r>
            <a:r>
              <a:rPr lang="en-US" b="1" dirty="0" err="1" smtClean="0">
                <a:solidFill>
                  <a:srgbClr val="0000CC"/>
                </a:solidFill>
                <a:latin typeface="Rockwell" panose="02060603020205020403" pitchFamily="18" charset="0"/>
                <a:ea typeface="+mj-ea"/>
                <a:cs typeface="+mj-cs"/>
              </a:rPr>
              <a:t>chính</a:t>
            </a:r>
            <a:r>
              <a:rPr lang="en-US" b="1" dirty="0" smtClean="0">
                <a:solidFill>
                  <a:srgbClr val="0000CC"/>
                </a:solidFill>
                <a:latin typeface="Rockwell" panose="02060603020205020403" pitchFamily="18" charset="0"/>
                <a:ea typeface="+mj-ea"/>
                <a:cs typeface="+mj-cs"/>
              </a:rPr>
              <a:t> </a:t>
            </a:r>
            <a:r>
              <a:rPr lang="en-US" b="1" dirty="0" err="1" smtClean="0">
                <a:solidFill>
                  <a:srgbClr val="0000CC"/>
                </a:solidFill>
                <a:latin typeface="Rockwell" panose="02060603020205020403" pitchFamily="18" charset="0"/>
                <a:ea typeface="+mj-ea"/>
                <a:cs typeface="+mj-cs"/>
              </a:rPr>
              <a:t>của</a:t>
            </a:r>
            <a:r>
              <a:rPr lang="en-US" b="1" dirty="0" smtClean="0">
                <a:solidFill>
                  <a:srgbClr val="0000CC"/>
                </a:solidFill>
                <a:latin typeface="Rockwell" panose="02060603020205020403" pitchFamily="18" charset="0"/>
                <a:ea typeface="+mj-ea"/>
                <a:cs typeface="+mj-cs"/>
              </a:rPr>
              <a:t> Firewall</a:t>
            </a:r>
            <a:r>
              <a:rPr lang="vi-VN" b="1" dirty="0" smtClean="0">
                <a:solidFill>
                  <a:srgbClr val="0000CC"/>
                </a:solidFill>
                <a:latin typeface="Rockwell" panose="02060603020205020403" pitchFamily="18" charset="0"/>
                <a:ea typeface="+mj-ea"/>
                <a:cs typeface="+mj-cs"/>
              </a:rPr>
              <a:t>:</a:t>
            </a:r>
            <a:endParaRPr lang="en-US" b="1" dirty="0" smtClean="0">
              <a:solidFill>
                <a:srgbClr val="0000CC"/>
              </a:solidFill>
              <a:latin typeface="Rockwell" panose="02060603020205020403" pitchFamily="18" charset="0"/>
              <a:ea typeface="+mj-ea"/>
              <a:cs typeface="+mj-cs"/>
            </a:endParaRPr>
          </a:p>
          <a:p>
            <a:pPr marL="0" indent="0" algn="just">
              <a:lnSpc>
                <a:spcPct val="120000"/>
              </a:lnSpc>
              <a:spcBef>
                <a:spcPts val="1200"/>
              </a:spcBef>
              <a:spcAft>
                <a:spcPts val="600"/>
              </a:spcAft>
              <a:buNone/>
            </a:pPr>
            <a:r>
              <a:rPr lang="en-US" dirty="0" err="1" smtClean="0">
                <a:solidFill>
                  <a:srgbClr val="0000CC"/>
                </a:solidFill>
                <a:latin typeface="Rockwell" panose="02060603020205020403" pitchFamily="18" charset="0"/>
                <a:ea typeface="+mj-ea"/>
                <a:cs typeface="+mj-cs"/>
              </a:rPr>
              <a:t>Ví</a:t>
            </a:r>
            <a:r>
              <a:rPr lang="en-US" dirty="0" smtClean="0">
                <a:solidFill>
                  <a:srgbClr val="0000CC"/>
                </a:solidFill>
                <a:latin typeface="Rockwell" panose="02060603020205020403" pitchFamily="18" charset="0"/>
                <a:ea typeface="+mj-ea"/>
                <a:cs typeface="+mj-cs"/>
              </a:rPr>
              <a:t> </a:t>
            </a:r>
            <a:r>
              <a:rPr lang="en-US" dirty="0" err="1" smtClean="0">
                <a:solidFill>
                  <a:srgbClr val="0000CC"/>
                </a:solidFill>
                <a:latin typeface="Rockwell" panose="02060603020205020403" pitchFamily="18" charset="0"/>
                <a:ea typeface="+mj-ea"/>
                <a:cs typeface="+mj-cs"/>
              </a:rPr>
              <a:t>dụ1</a:t>
            </a:r>
            <a:r>
              <a:rPr lang="en-US" dirty="0" smtClean="0">
                <a:solidFill>
                  <a:srgbClr val="0000CC"/>
                </a:solidFill>
                <a:latin typeface="Rockwell" panose="02060603020205020403" pitchFamily="18" charset="0"/>
                <a:ea typeface="+mj-ea"/>
                <a:cs typeface="+mj-cs"/>
              </a:rPr>
              <a:t>: </a:t>
            </a:r>
            <a:r>
              <a:rPr lang="en-US" dirty="0" err="1" smtClean="0">
                <a:solidFill>
                  <a:srgbClr val="0000CC"/>
                </a:solidFill>
                <a:latin typeface="Rockwell" panose="02060603020205020403" pitchFamily="18" charset="0"/>
                <a:ea typeface="+mj-ea"/>
                <a:cs typeface="+mj-cs"/>
              </a:rPr>
              <a:t>Bảng</a:t>
            </a:r>
            <a:r>
              <a:rPr lang="en-US" dirty="0" smtClean="0">
                <a:solidFill>
                  <a:srgbClr val="0000CC"/>
                </a:solidFill>
                <a:latin typeface="Rockwell" panose="02060603020205020403" pitchFamily="18" charset="0"/>
                <a:ea typeface="+mj-ea"/>
                <a:cs typeface="+mj-cs"/>
              </a:rPr>
              <a:t> </a:t>
            </a:r>
            <a:r>
              <a:rPr lang="en-US" dirty="0" err="1" smtClean="0">
                <a:solidFill>
                  <a:srgbClr val="0000CC"/>
                </a:solidFill>
                <a:latin typeface="Rockwell" panose="02060603020205020403" pitchFamily="18" charset="0"/>
                <a:ea typeface="+mj-ea"/>
                <a:cs typeface="+mj-cs"/>
              </a:rPr>
              <a:t>luật</a:t>
            </a:r>
            <a:r>
              <a:rPr lang="en-US" dirty="0" smtClean="0">
                <a:solidFill>
                  <a:srgbClr val="0000CC"/>
                </a:solidFill>
                <a:latin typeface="Rockwell" panose="02060603020205020403" pitchFamily="18" charset="0"/>
                <a:ea typeface="+mj-ea"/>
                <a:cs typeface="+mj-cs"/>
              </a:rPr>
              <a:t> </a:t>
            </a:r>
            <a:r>
              <a:rPr lang="en-US" dirty="0" err="1" smtClean="0">
                <a:solidFill>
                  <a:srgbClr val="0000CC"/>
                </a:solidFill>
                <a:latin typeface="Rockwell" panose="02060603020205020403" pitchFamily="18" charset="0"/>
                <a:ea typeface="+mj-ea"/>
                <a:cs typeface="+mj-cs"/>
              </a:rPr>
              <a:t>lọc</a:t>
            </a:r>
            <a:r>
              <a:rPr lang="en-US" dirty="0" smtClean="0">
                <a:solidFill>
                  <a:srgbClr val="0000CC"/>
                </a:solidFill>
                <a:latin typeface="Rockwell" panose="02060603020205020403" pitchFamily="18" charset="0"/>
                <a:ea typeface="+mj-ea"/>
                <a:cs typeface="+mj-cs"/>
              </a:rPr>
              <a:t> </a:t>
            </a:r>
            <a:r>
              <a:rPr lang="en-US" dirty="0" err="1" smtClean="0">
                <a:solidFill>
                  <a:srgbClr val="0000CC"/>
                </a:solidFill>
                <a:latin typeface="Rockwell" panose="02060603020205020403" pitchFamily="18" charset="0"/>
                <a:ea typeface="+mj-ea"/>
                <a:cs typeface="+mj-cs"/>
              </a:rPr>
              <a:t>gói</a:t>
            </a:r>
            <a:r>
              <a:rPr lang="en-US" dirty="0" smtClean="0">
                <a:solidFill>
                  <a:srgbClr val="0000CC"/>
                </a:solidFill>
                <a:latin typeface="Rockwell" panose="02060603020205020403" pitchFamily="18" charset="0"/>
                <a:ea typeface="+mj-ea"/>
                <a:cs typeface="+mj-cs"/>
              </a:rPr>
              <a:t> </a:t>
            </a:r>
            <a:r>
              <a:rPr lang="en-US" dirty="0" err="1" smtClean="0">
                <a:solidFill>
                  <a:srgbClr val="0000CC"/>
                </a:solidFill>
                <a:latin typeface="Rockwell" panose="02060603020205020403" pitchFamily="18" charset="0"/>
                <a:ea typeface="+mj-ea"/>
                <a:cs typeface="+mj-cs"/>
              </a:rPr>
              <a:t>trong</a:t>
            </a:r>
            <a:r>
              <a:rPr lang="en-US" dirty="0" smtClean="0">
                <a:solidFill>
                  <a:srgbClr val="0000CC"/>
                </a:solidFill>
                <a:latin typeface="Rockwell" panose="02060603020205020403" pitchFamily="18" charset="0"/>
                <a:ea typeface="+mj-ea"/>
                <a:cs typeface="+mj-cs"/>
              </a:rPr>
              <a:t> Firewall </a:t>
            </a:r>
            <a:r>
              <a:rPr lang="en-US" dirty="0" err="1" smtClean="0">
                <a:solidFill>
                  <a:srgbClr val="0000CC"/>
                </a:solidFill>
                <a:latin typeface="Rockwell" panose="02060603020205020403" pitchFamily="18" charset="0"/>
                <a:ea typeface="+mj-ea"/>
                <a:cs typeface="+mj-cs"/>
              </a:rPr>
              <a:t>lọc</a:t>
            </a:r>
            <a:r>
              <a:rPr lang="en-US" dirty="0" smtClean="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gói</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dựa</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trên</a:t>
            </a:r>
            <a:r>
              <a:rPr lang="en-US" dirty="0">
                <a:solidFill>
                  <a:srgbClr val="0000CC"/>
                </a:solidFill>
                <a:latin typeface="Rockwell" panose="02060603020205020403" pitchFamily="18" charset="0"/>
                <a:ea typeface="+mj-ea"/>
                <a:cs typeface="+mj-cs"/>
              </a:rPr>
              <a:t> ACL):</a:t>
            </a:r>
          </a:p>
          <a:p>
            <a:pPr marL="0" indent="0" algn="just">
              <a:lnSpc>
                <a:spcPct val="120000"/>
              </a:lnSpc>
              <a:spcBef>
                <a:spcPts val="1200"/>
              </a:spcBef>
              <a:spcAft>
                <a:spcPts val="600"/>
              </a:spcAft>
              <a:buNone/>
            </a:pPr>
            <a:endParaRPr lang="en-US" dirty="0" smtClean="0">
              <a:solidFill>
                <a:srgbClr val="0000CC"/>
              </a:solidFill>
              <a:latin typeface="Rockwell" panose="02060603020205020403" pitchFamily="18" charset="0"/>
              <a:ea typeface="+mj-ea"/>
              <a:cs typeface="+mj-cs"/>
            </a:endParaRPr>
          </a:p>
        </p:txBody>
      </p:sp>
      <p:graphicFrame>
        <p:nvGraphicFramePr>
          <p:cNvPr id="4" name="Table 3"/>
          <p:cNvGraphicFramePr>
            <a:graphicFrameLocks noGrp="1"/>
          </p:cNvGraphicFramePr>
          <p:nvPr>
            <p:extLst>
              <p:ext uri="{D42A27DB-BD31-4B8C-83A1-F6EECF244321}">
                <p14:modId xmlns:p14="http://schemas.microsoft.com/office/powerpoint/2010/main" val="1223638177"/>
              </p:ext>
            </p:extLst>
          </p:nvPr>
        </p:nvGraphicFramePr>
        <p:xfrm>
          <a:off x="1467134" y="2160452"/>
          <a:ext cx="9601200" cy="1828800"/>
        </p:xfrm>
        <a:graphic>
          <a:graphicData uri="http://schemas.openxmlformats.org/drawingml/2006/table">
            <a:tbl>
              <a:tblPr>
                <a:tableStyleId>{3C2FFA5D-87B4-456A-9821-1D502468CF0F}</a:tableStyleId>
              </a:tblPr>
              <a:tblGrid>
                <a:gridCol w="1600200">
                  <a:extLst>
                    <a:ext uri="{9D8B030D-6E8A-4147-A177-3AD203B41FA5}">
                      <a16:colId xmlns:a16="http://schemas.microsoft.com/office/drawing/2014/main" val="139227654"/>
                    </a:ext>
                  </a:extLst>
                </a:gridCol>
                <a:gridCol w="1600200">
                  <a:extLst>
                    <a:ext uri="{9D8B030D-6E8A-4147-A177-3AD203B41FA5}">
                      <a16:colId xmlns:a16="http://schemas.microsoft.com/office/drawing/2014/main" val="1871709679"/>
                    </a:ext>
                  </a:extLst>
                </a:gridCol>
                <a:gridCol w="2006221">
                  <a:extLst>
                    <a:ext uri="{9D8B030D-6E8A-4147-A177-3AD203B41FA5}">
                      <a16:colId xmlns:a16="http://schemas.microsoft.com/office/drawing/2014/main" val="2112614021"/>
                    </a:ext>
                  </a:extLst>
                </a:gridCol>
                <a:gridCol w="1460311">
                  <a:extLst>
                    <a:ext uri="{9D8B030D-6E8A-4147-A177-3AD203B41FA5}">
                      <a16:colId xmlns:a16="http://schemas.microsoft.com/office/drawing/2014/main" val="2239637883"/>
                    </a:ext>
                  </a:extLst>
                </a:gridCol>
                <a:gridCol w="1334068">
                  <a:extLst>
                    <a:ext uri="{9D8B030D-6E8A-4147-A177-3AD203B41FA5}">
                      <a16:colId xmlns:a16="http://schemas.microsoft.com/office/drawing/2014/main" val="3939355258"/>
                    </a:ext>
                  </a:extLst>
                </a:gridCol>
                <a:gridCol w="1600200">
                  <a:extLst>
                    <a:ext uri="{9D8B030D-6E8A-4147-A177-3AD203B41FA5}">
                      <a16:colId xmlns:a16="http://schemas.microsoft.com/office/drawing/2014/main" val="1304739469"/>
                    </a:ext>
                  </a:extLst>
                </a:gridCol>
              </a:tblGrid>
              <a:tr h="0">
                <a:tc>
                  <a:txBody>
                    <a:bodyPr/>
                    <a:lstStyle/>
                    <a:p>
                      <a:pPr algn="ctr">
                        <a:spcBef>
                          <a:spcPts val="200"/>
                        </a:spcBef>
                        <a:spcAft>
                          <a:spcPts val="200"/>
                        </a:spcAft>
                      </a:pPr>
                      <a:r>
                        <a:rPr lang="en-US" b="1" dirty="0">
                          <a:solidFill>
                            <a:srgbClr val="0000CC"/>
                          </a:solidFill>
                        </a:rPr>
                        <a:t>Rule</a:t>
                      </a:r>
                    </a:p>
                  </a:txBody>
                  <a:tcPr anchor="ctr"/>
                </a:tc>
                <a:tc>
                  <a:txBody>
                    <a:bodyPr/>
                    <a:lstStyle/>
                    <a:p>
                      <a:pPr algn="ctr">
                        <a:spcBef>
                          <a:spcPts val="200"/>
                        </a:spcBef>
                        <a:spcAft>
                          <a:spcPts val="200"/>
                        </a:spcAft>
                      </a:pPr>
                      <a:r>
                        <a:rPr lang="en-US" b="1" dirty="0">
                          <a:solidFill>
                            <a:srgbClr val="0000CC"/>
                          </a:solidFill>
                        </a:rPr>
                        <a:t>Source IP</a:t>
                      </a:r>
                    </a:p>
                  </a:txBody>
                  <a:tcPr anchor="ctr"/>
                </a:tc>
                <a:tc>
                  <a:txBody>
                    <a:bodyPr/>
                    <a:lstStyle/>
                    <a:p>
                      <a:pPr algn="ctr">
                        <a:spcBef>
                          <a:spcPts val="200"/>
                        </a:spcBef>
                        <a:spcAft>
                          <a:spcPts val="200"/>
                        </a:spcAft>
                      </a:pPr>
                      <a:r>
                        <a:rPr lang="en-US" b="1" dirty="0">
                          <a:solidFill>
                            <a:srgbClr val="0000CC"/>
                          </a:solidFill>
                        </a:rPr>
                        <a:t>Destination IP</a:t>
                      </a:r>
                    </a:p>
                  </a:txBody>
                  <a:tcPr anchor="ctr"/>
                </a:tc>
                <a:tc>
                  <a:txBody>
                    <a:bodyPr/>
                    <a:lstStyle/>
                    <a:p>
                      <a:pPr algn="ctr">
                        <a:spcBef>
                          <a:spcPts val="200"/>
                        </a:spcBef>
                        <a:spcAft>
                          <a:spcPts val="200"/>
                        </a:spcAft>
                      </a:pPr>
                      <a:r>
                        <a:rPr lang="en-US" b="1" dirty="0">
                          <a:solidFill>
                            <a:srgbClr val="0000CC"/>
                          </a:solidFill>
                        </a:rPr>
                        <a:t>Protocol</a:t>
                      </a:r>
                    </a:p>
                  </a:txBody>
                  <a:tcPr anchor="ctr"/>
                </a:tc>
                <a:tc>
                  <a:txBody>
                    <a:bodyPr/>
                    <a:lstStyle/>
                    <a:p>
                      <a:pPr algn="ctr">
                        <a:spcBef>
                          <a:spcPts val="200"/>
                        </a:spcBef>
                        <a:spcAft>
                          <a:spcPts val="200"/>
                        </a:spcAft>
                      </a:pPr>
                      <a:r>
                        <a:rPr lang="en-US" b="1" dirty="0">
                          <a:solidFill>
                            <a:srgbClr val="0000CC"/>
                          </a:solidFill>
                        </a:rPr>
                        <a:t>Port</a:t>
                      </a:r>
                    </a:p>
                  </a:txBody>
                  <a:tcPr anchor="ctr"/>
                </a:tc>
                <a:tc>
                  <a:txBody>
                    <a:bodyPr/>
                    <a:lstStyle/>
                    <a:p>
                      <a:pPr algn="ctr">
                        <a:spcBef>
                          <a:spcPts val="200"/>
                        </a:spcBef>
                        <a:spcAft>
                          <a:spcPts val="200"/>
                        </a:spcAft>
                      </a:pPr>
                      <a:r>
                        <a:rPr lang="en-US" b="1" dirty="0">
                          <a:solidFill>
                            <a:srgbClr val="0000CC"/>
                          </a:solidFill>
                        </a:rPr>
                        <a:t>Action</a:t>
                      </a:r>
                    </a:p>
                  </a:txBody>
                  <a:tcPr anchor="ctr"/>
                </a:tc>
                <a:extLst>
                  <a:ext uri="{0D108BD9-81ED-4DB2-BD59-A6C34878D82A}">
                    <a16:rowId xmlns:a16="http://schemas.microsoft.com/office/drawing/2014/main" val="3870221186"/>
                  </a:ext>
                </a:extLst>
              </a:tr>
              <a:tr h="0">
                <a:tc>
                  <a:txBody>
                    <a:bodyPr/>
                    <a:lstStyle/>
                    <a:p>
                      <a:pPr algn="ctr">
                        <a:spcBef>
                          <a:spcPts val="200"/>
                        </a:spcBef>
                        <a:spcAft>
                          <a:spcPts val="200"/>
                        </a:spcAft>
                      </a:pPr>
                      <a:r>
                        <a:rPr lang="en-US" dirty="0">
                          <a:solidFill>
                            <a:srgbClr val="0000CC"/>
                          </a:solidFill>
                        </a:rPr>
                        <a:t>1</a:t>
                      </a:r>
                    </a:p>
                  </a:txBody>
                  <a:tcPr anchor="ctr"/>
                </a:tc>
                <a:tc>
                  <a:txBody>
                    <a:bodyPr/>
                    <a:lstStyle/>
                    <a:p>
                      <a:pPr>
                        <a:spcBef>
                          <a:spcPts val="200"/>
                        </a:spcBef>
                        <a:spcAft>
                          <a:spcPts val="200"/>
                        </a:spcAft>
                      </a:pPr>
                      <a:r>
                        <a:rPr lang="en-US">
                          <a:solidFill>
                            <a:srgbClr val="0000CC"/>
                          </a:solidFill>
                        </a:rPr>
                        <a:t>192.168.1.10</a:t>
                      </a:r>
                    </a:p>
                  </a:txBody>
                  <a:tcPr anchor="ctr"/>
                </a:tc>
                <a:tc>
                  <a:txBody>
                    <a:bodyPr/>
                    <a:lstStyle/>
                    <a:p>
                      <a:pPr>
                        <a:spcBef>
                          <a:spcPts val="200"/>
                        </a:spcBef>
                        <a:spcAft>
                          <a:spcPts val="200"/>
                        </a:spcAft>
                      </a:pPr>
                      <a:r>
                        <a:rPr lang="en-US" dirty="0">
                          <a:solidFill>
                            <a:srgbClr val="0000CC"/>
                          </a:solidFill>
                        </a:rPr>
                        <a:t>Any</a:t>
                      </a:r>
                    </a:p>
                  </a:txBody>
                  <a:tcPr anchor="ctr"/>
                </a:tc>
                <a:tc>
                  <a:txBody>
                    <a:bodyPr/>
                    <a:lstStyle/>
                    <a:p>
                      <a:pPr algn="ctr">
                        <a:spcBef>
                          <a:spcPts val="200"/>
                        </a:spcBef>
                        <a:spcAft>
                          <a:spcPts val="200"/>
                        </a:spcAft>
                      </a:pPr>
                      <a:r>
                        <a:rPr lang="en-US" dirty="0">
                          <a:solidFill>
                            <a:srgbClr val="0000CC"/>
                          </a:solidFill>
                        </a:rPr>
                        <a:t>TCP</a:t>
                      </a:r>
                    </a:p>
                  </a:txBody>
                  <a:tcPr anchor="ctr"/>
                </a:tc>
                <a:tc>
                  <a:txBody>
                    <a:bodyPr/>
                    <a:lstStyle/>
                    <a:p>
                      <a:pPr algn="ctr">
                        <a:spcBef>
                          <a:spcPts val="200"/>
                        </a:spcBef>
                        <a:spcAft>
                          <a:spcPts val="200"/>
                        </a:spcAft>
                      </a:pPr>
                      <a:r>
                        <a:rPr lang="en-US" dirty="0">
                          <a:solidFill>
                            <a:srgbClr val="0000CC"/>
                          </a:solidFill>
                        </a:rPr>
                        <a:t>80</a:t>
                      </a:r>
                    </a:p>
                  </a:txBody>
                  <a:tcPr anchor="ctr"/>
                </a:tc>
                <a:tc>
                  <a:txBody>
                    <a:bodyPr/>
                    <a:lstStyle/>
                    <a:p>
                      <a:pPr algn="ctr">
                        <a:spcBef>
                          <a:spcPts val="200"/>
                        </a:spcBef>
                        <a:spcAft>
                          <a:spcPts val="200"/>
                        </a:spcAft>
                      </a:pPr>
                      <a:r>
                        <a:rPr lang="en-US" dirty="0">
                          <a:solidFill>
                            <a:srgbClr val="0000CC"/>
                          </a:solidFill>
                        </a:rPr>
                        <a:t>Allow</a:t>
                      </a:r>
                    </a:p>
                  </a:txBody>
                  <a:tcPr anchor="ctr"/>
                </a:tc>
                <a:extLst>
                  <a:ext uri="{0D108BD9-81ED-4DB2-BD59-A6C34878D82A}">
                    <a16:rowId xmlns:a16="http://schemas.microsoft.com/office/drawing/2014/main" val="1637796914"/>
                  </a:ext>
                </a:extLst>
              </a:tr>
              <a:tr h="0">
                <a:tc>
                  <a:txBody>
                    <a:bodyPr/>
                    <a:lstStyle/>
                    <a:p>
                      <a:pPr algn="ctr">
                        <a:spcBef>
                          <a:spcPts val="200"/>
                        </a:spcBef>
                        <a:spcAft>
                          <a:spcPts val="200"/>
                        </a:spcAft>
                      </a:pPr>
                      <a:r>
                        <a:rPr lang="en-US" dirty="0">
                          <a:solidFill>
                            <a:srgbClr val="0000CC"/>
                          </a:solidFill>
                        </a:rPr>
                        <a:t>2</a:t>
                      </a:r>
                    </a:p>
                  </a:txBody>
                  <a:tcPr anchor="ctr"/>
                </a:tc>
                <a:tc>
                  <a:txBody>
                    <a:bodyPr/>
                    <a:lstStyle/>
                    <a:p>
                      <a:pPr>
                        <a:spcBef>
                          <a:spcPts val="200"/>
                        </a:spcBef>
                        <a:spcAft>
                          <a:spcPts val="200"/>
                        </a:spcAft>
                      </a:pPr>
                      <a:r>
                        <a:rPr lang="en-US">
                          <a:solidFill>
                            <a:srgbClr val="0000CC"/>
                          </a:solidFill>
                        </a:rPr>
                        <a:t>Any</a:t>
                      </a:r>
                    </a:p>
                  </a:txBody>
                  <a:tcPr anchor="ctr"/>
                </a:tc>
                <a:tc>
                  <a:txBody>
                    <a:bodyPr/>
                    <a:lstStyle/>
                    <a:p>
                      <a:pPr>
                        <a:spcBef>
                          <a:spcPts val="200"/>
                        </a:spcBef>
                        <a:spcAft>
                          <a:spcPts val="200"/>
                        </a:spcAft>
                      </a:pPr>
                      <a:r>
                        <a:rPr lang="en-US" dirty="0">
                          <a:solidFill>
                            <a:srgbClr val="0000CC"/>
                          </a:solidFill>
                        </a:rPr>
                        <a:t>192.168.1.20</a:t>
                      </a:r>
                    </a:p>
                  </a:txBody>
                  <a:tcPr anchor="ctr"/>
                </a:tc>
                <a:tc>
                  <a:txBody>
                    <a:bodyPr/>
                    <a:lstStyle/>
                    <a:p>
                      <a:pPr algn="ctr">
                        <a:spcBef>
                          <a:spcPts val="200"/>
                        </a:spcBef>
                        <a:spcAft>
                          <a:spcPts val="200"/>
                        </a:spcAft>
                      </a:pPr>
                      <a:r>
                        <a:rPr lang="en-US" dirty="0">
                          <a:solidFill>
                            <a:srgbClr val="0000CC"/>
                          </a:solidFill>
                        </a:rPr>
                        <a:t>TCP</a:t>
                      </a:r>
                    </a:p>
                  </a:txBody>
                  <a:tcPr anchor="ctr"/>
                </a:tc>
                <a:tc>
                  <a:txBody>
                    <a:bodyPr/>
                    <a:lstStyle/>
                    <a:p>
                      <a:pPr algn="ctr">
                        <a:spcBef>
                          <a:spcPts val="200"/>
                        </a:spcBef>
                        <a:spcAft>
                          <a:spcPts val="200"/>
                        </a:spcAft>
                      </a:pPr>
                      <a:r>
                        <a:rPr lang="en-US" dirty="0">
                          <a:solidFill>
                            <a:srgbClr val="0000CC"/>
                          </a:solidFill>
                        </a:rPr>
                        <a:t>22</a:t>
                      </a:r>
                    </a:p>
                  </a:txBody>
                  <a:tcPr anchor="ctr"/>
                </a:tc>
                <a:tc>
                  <a:txBody>
                    <a:bodyPr/>
                    <a:lstStyle/>
                    <a:p>
                      <a:pPr algn="ctr">
                        <a:spcBef>
                          <a:spcPts val="200"/>
                        </a:spcBef>
                        <a:spcAft>
                          <a:spcPts val="200"/>
                        </a:spcAft>
                      </a:pPr>
                      <a:r>
                        <a:rPr lang="en-US" dirty="0">
                          <a:solidFill>
                            <a:srgbClr val="0000CC"/>
                          </a:solidFill>
                        </a:rPr>
                        <a:t>Deny</a:t>
                      </a:r>
                    </a:p>
                  </a:txBody>
                  <a:tcPr anchor="ctr"/>
                </a:tc>
                <a:extLst>
                  <a:ext uri="{0D108BD9-81ED-4DB2-BD59-A6C34878D82A}">
                    <a16:rowId xmlns:a16="http://schemas.microsoft.com/office/drawing/2014/main" val="2130330110"/>
                  </a:ext>
                </a:extLst>
              </a:tr>
              <a:tr h="0">
                <a:tc>
                  <a:txBody>
                    <a:bodyPr/>
                    <a:lstStyle/>
                    <a:p>
                      <a:pPr algn="ctr">
                        <a:spcBef>
                          <a:spcPts val="200"/>
                        </a:spcBef>
                        <a:spcAft>
                          <a:spcPts val="200"/>
                        </a:spcAft>
                      </a:pPr>
                      <a:r>
                        <a:rPr lang="en-US" dirty="0">
                          <a:solidFill>
                            <a:srgbClr val="0000CC"/>
                          </a:solidFill>
                        </a:rPr>
                        <a:t>3</a:t>
                      </a:r>
                    </a:p>
                  </a:txBody>
                  <a:tcPr anchor="ctr"/>
                </a:tc>
                <a:tc>
                  <a:txBody>
                    <a:bodyPr/>
                    <a:lstStyle/>
                    <a:p>
                      <a:pPr>
                        <a:spcBef>
                          <a:spcPts val="200"/>
                        </a:spcBef>
                        <a:spcAft>
                          <a:spcPts val="200"/>
                        </a:spcAft>
                      </a:pPr>
                      <a:r>
                        <a:rPr lang="en-US">
                          <a:solidFill>
                            <a:srgbClr val="0000CC"/>
                          </a:solidFill>
                        </a:rPr>
                        <a:t>Any</a:t>
                      </a:r>
                    </a:p>
                  </a:txBody>
                  <a:tcPr anchor="ctr"/>
                </a:tc>
                <a:tc>
                  <a:txBody>
                    <a:bodyPr/>
                    <a:lstStyle/>
                    <a:p>
                      <a:pPr>
                        <a:spcBef>
                          <a:spcPts val="200"/>
                        </a:spcBef>
                        <a:spcAft>
                          <a:spcPts val="200"/>
                        </a:spcAft>
                      </a:pPr>
                      <a:r>
                        <a:rPr lang="en-US">
                          <a:solidFill>
                            <a:srgbClr val="0000CC"/>
                          </a:solidFill>
                        </a:rPr>
                        <a:t>Any</a:t>
                      </a:r>
                    </a:p>
                  </a:txBody>
                  <a:tcPr anchor="ctr"/>
                </a:tc>
                <a:tc>
                  <a:txBody>
                    <a:bodyPr/>
                    <a:lstStyle/>
                    <a:p>
                      <a:pPr algn="ctr">
                        <a:spcBef>
                          <a:spcPts val="200"/>
                        </a:spcBef>
                        <a:spcAft>
                          <a:spcPts val="200"/>
                        </a:spcAft>
                      </a:pPr>
                      <a:r>
                        <a:rPr lang="en-US" dirty="0" err="1">
                          <a:solidFill>
                            <a:srgbClr val="0000CC"/>
                          </a:solidFill>
                        </a:rPr>
                        <a:t>ICMP</a:t>
                      </a:r>
                      <a:endParaRPr lang="en-US" dirty="0">
                        <a:solidFill>
                          <a:srgbClr val="0000CC"/>
                        </a:solidFill>
                      </a:endParaRPr>
                    </a:p>
                  </a:txBody>
                  <a:tcPr anchor="ctr"/>
                </a:tc>
                <a:tc>
                  <a:txBody>
                    <a:bodyPr/>
                    <a:lstStyle/>
                    <a:p>
                      <a:pPr algn="ctr">
                        <a:spcBef>
                          <a:spcPts val="200"/>
                        </a:spcBef>
                        <a:spcAft>
                          <a:spcPts val="200"/>
                        </a:spcAft>
                      </a:pPr>
                      <a:r>
                        <a:rPr lang="en-US" dirty="0">
                          <a:solidFill>
                            <a:srgbClr val="0000CC"/>
                          </a:solidFill>
                        </a:rPr>
                        <a:t>Any</a:t>
                      </a:r>
                    </a:p>
                  </a:txBody>
                  <a:tcPr anchor="ctr"/>
                </a:tc>
                <a:tc>
                  <a:txBody>
                    <a:bodyPr/>
                    <a:lstStyle/>
                    <a:p>
                      <a:pPr algn="ctr">
                        <a:spcBef>
                          <a:spcPts val="200"/>
                        </a:spcBef>
                        <a:spcAft>
                          <a:spcPts val="200"/>
                        </a:spcAft>
                      </a:pPr>
                      <a:r>
                        <a:rPr lang="en-US" dirty="0">
                          <a:solidFill>
                            <a:srgbClr val="0000CC"/>
                          </a:solidFill>
                        </a:rPr>
                        <a:t>Deny</a:t>
                      </a:r>
                    </a:p>
                  </a:txBody>
                  <a:tcPr anchor="ctr"/>
                </a:tc>
                <a:extLst>
                  <a:ext uri="{0D108BD9-81ED-4DB2-BD59-A6C34878D82A}">
                    <a16:rowId xmlns:a16="http://schemas.microsoft.com/office/drawing/2014/main" val="3990746874"/>
                  </a:ext>
                </a:extLst>
              </a:tr>
              <a:tr h="0">
                <a:tc>
                  <a:txBody>
                    <a:bodyPr/>
                    <a:lstStyle/>
                    <a:p>
                      <a:pPr algn="ctr">
                        <a:spcBef>
                          <a:spcPts val="200"/>
                        </a:spcBef>
                        <a:spcAft>
                          <a:spcPts val="200"/>
                        </a:spcAft>
                      </a:pPr>
                      <a:r>
                        <a:rPr lang="en-US" dirty="0">
                          <a:solidFill>
                            <a:srgbClr val="0000CC"/>
                          </a:solidFill>
                        </a:rPr>
                        <a:t>4</a:t>
                      </a:r>
                    </a:p>
                  </a:txBody>
                  <a:tcPr anchor="ctr"/>
                </a:tc>
                <a:tc>
                  <a:txBody>
                    <a:bodyPr/>
                    <a:lstStyle/>
                    <a:p>
                      <a:pPr>
                        <a:spcBef>
                          <a:spcPts val="200"/>
                        </a:spcBef>
                        <a:spcAft>
                          <a:spcPts val="200"/>
                        </a:spcAft>
                      </a:pPr>
                      <a:r>
                        <a:rPr lang="en-US">
                          <a:solidFill>
                            <a:srgbClr val="0000CC"/>
                          </a:solidFill>
                        </a:rPr>
                        <a:t>Any</a:t>
                      </a:r>
                    </a:p>
                  </a:txBody>
                  <a:tcPr anchor="ctr"/>
                </a:tc>
                <a:tc>
                  <a:txBody>
                    <a:bodyPr/>
                    <a:lstStyle/>
                    <a:p>
                      <a:pPr>
                        <a:spcBef>
                          <a:spcPts val="200"/>
                        </a:spcBef>
                        <a:spcAft>
                          <a:spcPts val="200"/>
                        </a:spcAft>
                      </a:pPr>
                      <a:r>
                        <a:rPr lang="en-US">
                          <a:solidFill>
                            <a:srgbClr val="0000CC"/>
                          </a:solidFill>
                        </a:rPr>
                        <a:t>Any</a:t>
                      </a:r>
                    </a:p>
                  </a:txBody>
                  <a:tcPr anchor="ctr"/>
                </a:tc>
                <a:tc>
                  <a:txBody>
                    <a:bodyPr/>
                    <a:lstStyle/>
                    <a:p>
                      <a:pPr algn="ctr">
                        <a:spcBef>
                          <a:spcPts val="200"/>
                        </a:spcBef>
                        <a:spcAft>
                          <a:spcPts val="200"/>
                        </a:spcAft>
                      </a:pPr>
                      <a:r>
                        <a:rPr lang="en-US">
                          <a:solidFill>
                            <a:srgbClr val="0000CC"/>
                          </a:solidFill>
                        </a:rPr>
                        <a:t>Any</a:t>
                      </a:r>
                    </a:p>
                  </a:txBody>
                  <a:tcPr anchor="ctr"/>
                </a:tc>
                <a:tc>
                  <a:txBody>
                    <a:bodyPr/>
                    <a:lstStyle/>
                    <a:p>
                      <a:pPr algn="ctr">
                        <a:spcBef>
                          <a:spcPts val="200"/>
                        </a:spcBef>
                        <a:spcAft>
                          <a:spcPts val="200"/>
                        </a:spcAft>
                      </a:pPr>
                      <a:r>
                        <a:rPr lang="en-US">
                          <a:solidFill>
                            <a:srgbClr val="0000CC"/>
                          </a:solidFill>
                        </a:rPr>
                        <a:t>Any</a:t>
                      </a:r>
                    </a:p>
                  </a:txBody>
                  <a:tcPr anchor="ctr"/>
                </a:tc>
                <a:tc>
                  <a:txBody>
                    <a:bodyPr/>
                    <a:lstStyle/>
                    <a:p>
                      <a:pPr algn="ctr">
                        <a:spcBef>
                          <a:spcPts val="200"/>
                        </a:spcBef>
                        <a:spcAft>
                          <a:spcPts val="200"/>
                        </a:spcAft>
                      </a:pPr>
                      <a:r>
                        <a:rPr lang="en-US" dirty="0">
                          <a:solidFill>
                            <a:srgbClr val="FF00FF"/>
                          </a:solidFill>
                        </a:rPr>
                        <a:t>Allow</a:t>
                      </a:r>
                    </a:p>
                  </a:txBody>
                  <a:tcPr anchor="ctr"/>
                </a:tc>
                <a:extLst>
                  <a:ext uri="{0D108BD9-81ED-4DB2-BD59-A6C34878D82A}">
                    <a16:rowId xmlns:a16="http://schemas.microsoft.com/office/drawing/2014/main" val="2106110846"/>
                  </a:ext>
                </a:extLst>
              </a:tr>
            </a:tbl>
          </a:graphicData>
        </a:graphic>
      </p:graphicFrame>
      <p:sp>
        <p:nvSpPr>
          <p:cNvPr id="6" name="Rectangle 5"/>
          <p:cNvSpPr/>
          <p:nvPr/>
        </p:nvSpPr>
        <p:spPr>
          <a:xfrm>
            <a:off x="1467134" y="4232533"/>
            <a:ext cx="9601200" cy="2031325"/>
          </a:xfrm>
          <a:prstGeom prst="rect">
            <a:avLst/>
          </a:prstGeom>
        </p:spPr>
        <p:txBody>
          <a:bodyPr wrap="square">
            <a:spAutoFit/>
          </a:bodyPr>
          <a:lstStyle/>
          <a:p>
            <a:pPr>
              <a:spcBef>
                <a:spcPts val="600"/>
              </a:spcBef>
              <a:spcAft>
                <a:spcPts val="600"/>
              </a:spcAft>
            </a:pPr>
            <a:r>
              <a:rPr lang="en-US" sz="2400" dirty="0">
                <a:solidFill>
                  <a:srgbClr val="0000CC"/>
                </a:solidFill>
                <a:latin typeface="Rockwell" panose="02060603020205020403" pitchFamily="18" charset="0"/>
                <a:ea typeface="+mj-ea"/>
                <a:cs typeface="+mj-cs"/>
              </a:rPr>
              <a:t>Rule 1: Cho </a:t>
            </a:r>
            <a:r>
              <a:rPr lang="en-US" sz="2400" dirty="0" err="1">
                <a:solidFill>
                  <a:srgbClr val="0000CC"/>
                </a:solidFill>
                <a:latin typeface="Rockwell" panose="02060603020205020403" pitchFamily="18" charset="0"/>
                <a:ea typeface="+mj-ea"/>
                <a:cs typeface="+mj-cs"/>
              </a:rPr>
              <a:t>phép</a:t>
            </a:r>
            <a:r>
              <a:rPr lang="en-US" sz="2400" dirty="0">
                <a:solidFill>
                  <a:srgbClr val="0000CC"/>
                </a:solidFill>
                <a:latin typeface="Rockwell" panose="02060603020205020403" pitchFamily="18" charset="0"/>
                <a:ea typeface="+mj-ea"/>
                <a:cs typeface="+mj-cs"/>
              </a:rPr>
              <a:t> </a:t>
            </a:r>
            <a:r>
              <a:rPr lang="en-US" sz="2400" dirty="0" err="1">
                <a:solidFill>
                  <a:srgbClr val="0000CC"/>
                </a:solidFill>
                <a:latin typeface="Rockwell" panose="02060603020205020403" pitchFamily="18" charset="0"/>
                <a:ea typeface="+mj-ea"/>
                <a:cs typeface="+mj-cs"/>
              </a:rPr>
              <a:t>máy</a:t>
            </a:r>
            <a:r>
              <a:rPr lang="en-US" sz="2400" dirty="0">
                <a:solidFill>
                  <a:srgbClr val="0000CC"/>
                </a:solidFill>
                <a:latin typeface="Rockwell" panose="02060603020205020403" pitchFamily="18" charset="0"/>
                <a:ea typeface="+mj-ea"/>
                <a:cs typeface="+mj-cs"/>
              </a:rPr>
              <a:t> 192.168.1.10 </a:t>
            </a:r>
            <a:r>
              <a:rPr lang="en-US" sz="2400" dirty="0" err="1">
                <a:solidFill>
                  <a:srgbClr val="0000CC"/>
                </a:solidFill>
                <a:latin typeface="Rockwell" panose="02060603020205020403" pitchFamily="18" charset="0"/>
                <a:ea typeface="+mj-ea"/>
                <a:cs typeface="+mj-cs"/>
              </a:rPr>
              <a:t>truy</a:t>
            </a:r>
            <a:r>
              <a:rPr lang="en-US" sz="2400" dirty="0">
                <a:solidFill>
                  <a:srgbClr val="0000CC"/>
                </a:solidFill>
                <a:latin typeface="Rockwell" panose="02060603020205020403" pitchFamily="18" charset="0"/>
                <a:ea typeface="+mj-ea"/>
                <a:cs typeface="+mj-cs"/>
              </a:rPr>
              <a:t> </a:t>
            </a:r>
            <a:r>
              <a:rPr lang="en-US" sz="2400" dirty="0" err="1">
                <a:solidFill>
                  <a:srgbClr val="0000CC"/>
                </a:solidFill>
                <a:latin typeface="Rockwell" panose="02060603020205020403" pitchFamily="18" charset="0"/>
                <a:ea typeface="+mj-ea"/>
                <a:cs typeface="+mj-cs"/>
              </a:rPr>
              <a:t>cập</a:t>
            </a:r>
            <a:r>
              <a:rPr lang="en-US" sz="2400" dirty="0">
                <a:solidFill>
                  <a:srgbClr val="0000CC"/>
                </a:solidFill>
                <a:latin typeface="Rockwell" panose="02060603020205020403" pitchFamily="18" charset="0"/>
                <a:ea typeface="+mj-ea"/>
                <a:cs typeface="+mj-cs"/>
              </a:rPr>
              <a:t> web (port 80).</a:t>
            </a:r>
          </a:p>
          <a:p>
            <a:pPr>
              <a:spcBef>
                <a:spcPts val="600"/>
              </a:spcBef>
              <a:spcAft>
                <a:spcPts val="600"/>
              </a:spcAft>
            </a:pPr>
            <a:r>
              <a:rPr lang="en-US" sz="2400" dirty="0">
                <a:solidFill>
                  <a:srgbClr val="0000CC"/>
                </a:solidFill>
                <a:latin typeface="Rockwell" panose="02060603020205020403" pitchFamily="18" charset="0"/>
                <a:ea typeface="+mj-ea"/>
                <a:cs typeface="+mj-cs"/>
              </a:rPr>
              <a:t>Rule 2: </a:t>
            </a:r>
            <a:r>
              <a:rPr lang="en-US" sz="2400" dirty="0" err="1">
                <a:solidFill>
                  <a:srgbClr val="0000CC"/>
                </a:solidFill>
                <a:latin typeface="Rockwell" panose="02060603020205020403" pitchFamily="18" charset="0"/>
                <a:ea typeface="+mj-ea"/>
                <a:cs typeface="+mj-cs"/>
              </a:rPr>
              <a:t>Cấm</a:t>
            </a:r>
            <a:r>
              <a:rPr lang="en-US" sz="2400" dirty="0">
                <a:solidFill>
                  <a:srgbClr val="0000CC"/>
                </a:solidFill>
                <a:latin typeface="Rockwell" panose="02060603020205020403" pitchFamily="18" charset="0"/>
                <a:ea typeface="+mj-ea"/>
                <a:cs typeface="+mj-cs"/>
              </a:rPr>
              <a:t> </a:t>
            </a:r>
            <a:r>
              <a:rPr lang="en-US" sz="2400" dirty="0" err="1">
                <a:solidFill>
                  <a:srgbClr val="0000CC"/>
                </a:solidFill>
                <a:latin typeface="Rockwell" panose="02060603020205020403" pitchFamily="18" charset="0"/>
                <a:ea typeface="+mj-ea"/>
                <a:cs typeface="+mj-cs"/>
              </a:rPr>
              <a:t>SSH</a:t>
            </a:r>
            <a:r>
              <a:rPr lang="en-US" sz="2400" dirty="0">
                <a:solidFill>
                  <a:srgbClr val="0000CC"/>
                </a:solidFill>
                <a:latin typeface="Rockwell" panose="02060603020205020403" pitchFamily="18" charset="0"/>
                <a:ea typeface="+mj-ea"/>
                <a:cs typeface="+mj-cs"/>
              </a:rPr>
              <a:t> (port 22) </a:t>
            </a:r>
            <a:r>
              <a:rPr lang="en-US" sz="2400" dirty="0" err="1">
                <a:solidFill>
                  <a:srgbClr val="0000CC"/>
                </a:solidFill>
                <a:latin typeface="Rockwell" panose="02060603020205020403" pitchFamily="18" charset="0"/>
                <a:ea typeface="+mj-ea"/>
                <a:cs typeface="+mj-cs"/>
              </a:rPr>
              <a:t>tới</a:t>
            </a:r>
            <a:r>
              <a:rPr lang="en-US" sz="2400" dirty="0">
                <a:solidFill>
                  <a:srgbClr val="0000CC"/>
                </a:solidFill>
                <a:latin typeface="Rockwell" panose="02060603020205020403" pitchFamily="18" charset="0"/>
                <a:ea typeface="+mj-ea"/>
                <a:cs typeface="+mj-cs"/>
              </a:rPr>
              <a:t> </a:t>
            </a:r>
            <a:r>
              <a:rPr lang="en-US" sz="2400" dirty="0" err="1">
                <a:solidFill>
                  <a:srgbClr val="0000CC"/>
                </a:solidFill>
                <a:latin typeface="Rockwell" panose="02060603020205020403" pitchFamily="18" charset="0"/>
                <a:ea typeface="+mj-ea"/>
                <a:cs typeface="+mj-cs"/>
              </a:rPr>
              <a:t>máy</a:t>
            </a:r>
            <a:r>
              <a:rPr lang="en-US" sz="2400" dirty="0">
                <a:solidFill>
                  <a:srgbClr val="0000CC"/>
                </a:solidFill>
                <a:latin typeface="Rockwell" panose="02060603020205020403" pitchFamily="18" charset="0"/>
                <a:ea typeface="+mj-ea"/>
                <a:cs typeface="+mj-cs"/>
              </a:rPr>
              <a:t> </a:t>
            </a:r>
            <a:r>
              <a:rPr lang="en-US" sz="2400" dirty="0" err="1">
                <a:solidFill>
                  <a:srgbClr val="0000CC"/>
                </a:solidFill>
                <a:latin typeface="Rockwell" panose="02060603020205020403" pitchFamily="18" charset="0"/>
                <a:ea typeface="+mj-ea"/>
                <a:cs typeface="+mj-cs"/>
              </a:rPr>
              <a:t>chủ</a:t>
            </a:r>
            <a:r>
              <a:rPr lang="en-US" sz="2400" dirty="0">
                <a:solidFill>
                  <a:srgbClr val="0000CC"/>
                </a:solidFill>
                <a:latin typeface="Rockwell" panose="02060603020205020403" pitchFamily="18" charset="0"/>
                <a:ea typeface="+mj-ea"/>
                <a:cs typeface="+mj-cs"/>
              </a:rPr>
              <a:t> 192.168.1.20.</a:t>
            </a:r>
          </a:p>
          <a:p>
            <a:pPr>
              <a:spcBef>
                <a:spcPts val="600"/>
              </a:spcBef>
              <a:spcAft>
                <a:spcPts val="600"/>
              </a:spcAft>
            </a:pPr>
            <a:r>
              <a:rPr lang="en-US" sz="2400" dirty="0">
                <a:solidFill>
                  <a:srgbClr val="0000CC"/>
                </a:solidFill>
                <a:latin typeface="Rockwell" panose="02060603020205020403" pitchFamily="18" charset="0"/>
                <a:ea typeface="+mj-ea"/>
                <a:cs typeface="+mj-cs"/>
              </a:rPr>
              <a:t>Rule 3: </a:t>
            </a:r>
            <a:r>
              <a:rPr lang="en-US" sz="2400" dirty="0" err="1">
                <a:solidFill>
                  <a:srgbClr val="0000CC"/>
                </a:solidFill>
                <a:latin typeface="Rockwell" panose="02060603020205020403" pitchFamily="18" charset="0"/>
                <a:ea typeface="+mj-ea"/>
                <a:cs typeface="+mj-cs"/>
              </a:rPr>
              <a:t>Cấm</a:t>
            </a:r>
            <a:r>
              <a:rPr lang="en-US" sz="2400" dirty="0">
                <a:solidFill>
                  <a:srgbClr val="0000CC"/>
                </a:solidFill>
                <a:latin typeface="Rockwell" panose="02060603020205020403" pitchFamily="18" charset="0"/>
                <a:ea typeface="+mj-ea"/>
                <a:cs typeface="+mj-cs"/>
              </a:rPr>
              <a:t> ping </a:t>
            </a:r>
            <a:r>
              <a:rPr lang="en-US" sz="2400" dirty="0" err="1">
                <a:solidFill>
                  <a:srgbClr val="0000CC"/>
                </a:solidFill>
                <a:latin typeface="Rockwell" panose="02060603020205020403" pitchFamily="18" charset="0"/>
                <a:ea typeface="+mj-ea"/>
                <a:cs typeface="+mj-cs"/>
              </a:rPr>
              <a:t>toàn</a:t>
            </a:r>
            <a:r>
              <a:rPr lang="en-US" sz="2400" dirty="0">
                <a:solidFill>
                  <a:srgbClr val="0000CC"/>
                </a:solidFill>
                <a:latin typeface="Rockwell" panose="02060603020205020403" pitchFamily="18" charset="0"/>
                <a:ea typeface="+mj-ea"/>
                <a:cs typeface="+mj-cs"/>
              </a:rPr>
              <a:t> </a:t>
            </a:r>
            <a:r>
              <a:rPr lang="en-US" sz="2400" dirty="0" err="1">
                <a:solidFill>
                  <a:srgbClr val="0000CC"/>
                </a:solidFill>
                <a:latin typeface="Rockwell" panose="02060603020205020403" pitchFamily="18" charset="0"/>
                <a:ea typeface="+mj-ea"/>
                <a:cs typeface="+mj-cs"/>
              </a:rPr>
              <a:t>hệ</a:t>
            </a:r>
            <a:r>
              <a:rPr lang="en-US" sz="2400" dirty="0">
                <a:solidFill>
                  <a:srgbClr val="0000CC"/>
                </a:solidFill>
                <a:latin typeface="Rockwell" panose="02060603020205020403" pitchFamily="18" charset="0"/>
                <a:ea typeface="+mj-ea"/>
                <a:cs typeface="+mj-cs"/>
              </a:rPr>
              <a:t> </a:t>
            </a:r>
            <a:r>
              <a:rPr lang="en-US" sz="2400" dirty="0" err="1">
                <a:solidFill>
                  <a:srgbClr val="0000CC"/>
                </a:solidFill>
                <a:latin typeface="Rockwell" panose="02060603020205020403" pitchFamily="18" charset="0"/>
                <a:ea typeface="+mj-ea"/>
                <a:cs typeface="+mj-cs"/>
              </a:rPr>
              <a:t>thống</a:t>
            </a:r>
            <a:r>
              <a:rPr lang="en-US" sz="2400" dirty="0">
                <a:solidFill>
                  <a:srgbClr val="0000CC"/>
                </a:solidFill>
                <a:latin typeface="Rockwell" panose="02060603020205020403" pitchFamily="18" charset="0"/>
                <a:ea typeface="+mj-ea"/>
                <a:cs typeface="+mj-cs"/>
              </a:rPr>
              <a:t> (</a:t>
            </a:r>
            <a:r>
              <a:rPr lang="en-US" sz="2400" dirty="0" err="1">
                <a:solidFill>
                  <a:srgbClr val="0000CC"/>
                </a:solidFill>
                <a:latin typeface="Rockwell" panose="02060603020205020403" pitchFamily="18" charset="0"/>
                <a:ea typeface="+mj-ea"/>
                <a:cs typeface="+mj-cs"/>
              </a:rPr>
              <a:t>ICMP</a:t>
            </a:r>
            <a:r>
              <a:rPr lang="en-US" sz="2400" dirty="0">
                <a:solidFill>
                  <a:srgbClr val="0000CC"/>
                </a:solidFill>
                <a:latin typeface="Rockwell" panose="02060603020205020403" pitchFamily="18" charset="0"/>
                <a:ea typeface="+mj-ea"/>
                <a:cs typeface="+mj-cs"/>
              </a:rPr>
              <a:t>).</a:t>
            </a:r>
          </a:p>
          <a:p>
            <a:pPr>
              <a:spcBef>
                <a:spcPts val="600"/>
              </a:spcBef>
              <a:spcAft>
                <a:spcPts val="600"/>
              </a:spcAft>
            </a:pPr>
            <a:r>
              <a:rPr lang="en-US" sz="2400" dirty="0">
                <a:solidFill>
                  <a:srgbClr val="0000CC"/>
                </a:solidFill>
                <a:latin typeface="Rockwell" panose="02060603020205020403" pitchFamily="18" charset="0"/>
                <a:ea typeface="+mj-ea"/>
                <a:cs typeface="+mj-cs"/>
              </a:rPr>
              <a:t>Rule 4: Cho </a:t>
            </a:r>
            <a:r>
              <a:rPr lang="en-US" sz="2400" dirty="0" err="1">
                <a:solidFill>
                  <a:srgbClr val="0000CC"/>
                </a:solidFill>
                <a:latin typeface="Rockwell" panose="02060603020205020403" pitchFamily="18" charset="0"/>
                <a:ea typeface="+mj-ea"/>
                <a:cs typeface="+mj-cs"/>
              </a:rPr>
              <a:t>phép</a:t>
            </a:r>
            <a:r>
              <a:rPr lang="en-US" sz="2400" dirty="0">
                <a:solidFill>
                  <a:srgbClr val="0000CC"/>
                </a:solidFill>
                <a:latin typeface="Rockwell" panose="02060603020205020403" pitchFamily="18" charset="0"/>
                <a:ea typeface="+mj-ea"/>
                <a:cs typeface="+mj-cs"/>
              </a:rPr>
              <a:t> </a:t>
            </a:r>
            <a:r>
              <a:rPr lang="en-US" sz="2400" dirty="0" err="1">
                <a:solidFill>
                  <a:srgbClr val="0000CC"/>
                </a:solidFill>
                <a:latin typeface="Rockwell" panose="02060603020205020403" pitchFamily="18" charset="0"/>
                <a:ea typeface="+mj-ea"/>
                <a:cs typeface="+mj-cs"/>
              </a:rPr>
              <a:t>các</a:t>
            </a:r>
            <a:r>
              <a:rPr lang="en-US" sz="2400" dirty="0">
                <a:solidFill>
                  <a:srgbClr val="0000CC"/>
                </a:solidFill>
                <a:latin typeface="Rockwell" panose="02060603020205020403" pitchFamily="18" charset="0"/>
                <a:ea typeface="+mj-ea"/>
                <a:cs typeface="+mj-cs"/>
              </a:rPr>
              <a:t> traffic </a:t>
            </a:r>
            <a:r>
              <a:rPr lang="en-US" sz="2400" dirty="0" err="1">
                <a:solidFill>
                  <a:srgbClr val="0000CC"/>
                </a:solidFill>
                <a:latin typeface="Rockwell" panose="02060603020205020403" pitchFamily="18" charset="0"/>
                <a:ea typeface="+mj-ea"/>
                <a:cs typeface="+mj-cs"/>
              </a:rPr>
              <a:t>khác</a:t>
            </a:r>
            <a:r>
              <a:rPr lang="en-US" sz="2400" dirty="0">
                <a:solidFill>
                  <a:srgbClr val="0000CC"/>
                </a:solidFill>
                <a:latin typeface="Rockwell" panose="02060603020205020403" pitchFamily="18" charset="0"/>
                <a:ea typeface="+mj-ea"/>
                <a:cs typeface="+mj-cs"/>
              </a:rPr>
              <a:t>.</a:t>
            </a:r>
          </a:p>
        </p:txBody>
      </p:sp>
    </p:spTree>
    <p:extLst>
      <p:ext uri="{BB962C8B-B14F-4D97-AF65-F5344CB8AC3E}">
        <p14:creationId xmlns:p14="http://schemas.microsoft.com/office/powerpoint/2010/main" val="1885699335"/>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44303" y="491797"/>
            <a:ext cx="10242645" cy="528851"/>
          </a:xfrm>
        </p:spPr>
        <p:txBody>
          <a:bodyPr/>
          <a:lstStyle/>
          <a:p>
            <a:r>
              <a:rPr lang="en-US" sz="2800" b="1" dirty="0">
                <a:solidFill>
                  <a:srgbClr val="0000CC"/>
                </a:solidFill>
                <a:latin typeface="Rockwell" panose="02060603020205020403" pitchFamily="18" charset="0"/>
              </a:rPr>
              <a:t>7</a:t>
            </a:r>
            <a:r>
              <a:rPr lang="en-US" sz="2800" b="1" dirty="0" smtClean="0">
                <a:solidFill>
                  <a:srgbClr val="0000CC"/>
                </a:solidFill>
                <a:latin typeface="Rockwell" panose="02060603020205020403" pitchFamily="18" charset="0"/>
              </a:rPr>
              <a:t>.2.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Chức</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năng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và</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mục</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đích</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sử</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dụng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của</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FIREWALL</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44304" y="1020648"/>
            <a:ext cx="9764976" cy="3865251"/>
          </a:xfrm>
        </p:spPr>
        <p:txBody>
          <a:bodyPr/>
          <a:lstStyle/>
          <a:p>
            <a:pPr marL="0" indent="0">
              <a:buNone/>
            </a:pPr>
            <a:r>
              <a:rPr lang="en-US" b="1" dirty="0" smtClean="0">
                <a:solidFill>
                  <a:srgbClr val="0000CC"/>
                </a:solidFill>
                <a:latin typeface="Rockwell" panose="02060603020205020403" pitchFamily="18" charset="0"/>
                <a:ea typeface="+mj-ea"/>
                <a:cs typeface="+mj-cs"/>
              </a:rPr>
              <a:t>2. </a:t>
            </a:r>
            <a:r>
              <a:rPr lang="en-US" b="1" dirty="0" err="1" smtClean="0">
                <a:solidFill>
                  <a:srgbClr val="0000CC"/>
                </a:solidFill>
                <a:latin typeface="Rockwell" panose="02060603020205020403" pitchFamily="18" charset="0"/>
                <a:ea typeface="+mj-ea"/>
                <a:cs typeface="+mj-cs"/>
              </a:rPr>
              <a:t>Các</a:t>
            </a:r>
            <a:r>
              <a:rPr lang="en-US" b="1" dirty="0" smtClean="0">
                <a:solidFill>
                  <a:srgbClr val="0000CC"/>
                </a:solidFill>
                <a:latin typeface="Rockwell" panose="02060603020205020403" pitchFamily="18" charset="0"/>
                <a:ea typeface="+mj-ea"/>
                <a:cs typeface="+mj-cs"/>
              </a:rPr>
              <a:t> </a:t>
            </a:r>
            <a:r>
              <a:rPr lang="en-US" b="1" dirty="0" err="1" smtClean="0">
                <a:solidFill>
                  <a:srgbClr val="0000CC"/>
                </a:solidFill>
                <a:latin typeface="Rockwell" panose="02060603020205020403" pitchFamily="18" charset="0"/>
                <a:ea typeface="+mj-ea"/>
                <a:cs typeface="+mj-cs"/>
              </a:rPr>
              <a:t>thành</a:t>
            </a:r>
            <a:r>
              <a:rPr lang="en-US" b="1" dirty="0" smtClean="0">
                <a:solidFill>
                  <a:srgbClr val="0000CC"/>
                </a:solidFill>
                <a:latin typeface="Rockwell" panose="02060603020205020403" pitchFamily="18" charset="0"/>
                <a:ea typeface="+mj-ea"/>
                <a:cs typeface="+mj-cs"/>
              </a:rPr>
              <a:t> </a:t>
            </a:r>
            <a:r>
              <a:rPr lang="en-US" b="1" dirty="0" err="1" smtClean="0">
                <a:solidFill>
                  <a:srgbClr val="0000CC"/>
                </a:solidFill>
                <a:latin typeface="Rockwell" panose="02060603020205020403" pitchFamily="18" charset="0"/>
                <a:ea typeface="+mj-ea"/>
                <a:cs typeface="+mj-cs"/>
              </a:rPr>
              <a:t>phần</a:t>
            </a:r>
            <a:r>
              <a:rPr lang="en-US" b="1" dirty="0" smtClean="0">
                <a:solidFill>
                  <a:srgbClr val="0000CC"/>
                </a:solidFill>
                <a:latin typeface="Rockwell" panose="02060603020205020403" pitchFamily="18" charset="0"/>
                <a:ea typeface="+mj-ea"/>
                <a:cs typeface="+mj-cs"/>
              </a:rPr>
              <a:t> </a:t>
            </a:r>
            <a:r>
              <a:rPr lang="en-US" b="1" dirty="0" err="1" smtClean="0">
                <a:solidFill>
                  <a:srgbClr val="0000CC"/>
                </a:solidFill>
                <a:latin typeface="Rockwell" panose="02060603020205020403" pitchFamily="18" charset="0"/>
                <a:ea typeface="+mj-ea"/>
                <a:cs typeface="+mj-cs"/>
              </a:rPr>
              <a:t>chính</a:t>
            </a:r>
            <a:r>
              <a:rPr lang="en-US" b="1" dirty="0" smtClean="0">
                <a:solidFill>
                  <a:srgbClr val="0000CC"/>
                </a:solidFill>
                <a:latin typeface="Rockwell" panose="02060603020205020403" pitchFamily="18" charset="0"/>
                <a:ea typeface="+mj-ea"/>
                <a:cs typeface="+mj-cs"/>
              </a:rPr>
              <a:t> </a:t>
            </a:r>
            <a:r>
              <a:rPr lang="en-US" b="1" dirty="0" err="1" smtClean="0">
                <a:solidFill>
                  <a:srgbClr val="0000CC"/>
                </a:solidFill>
                <a:latin typeface="Rockwell" panose="02060603020205020403" pitchFamily="18" charset="0"/>
                <a:ea typeface="+mj-ea"/>
                <a:cs typeface="+mj-cs"/>
              </a:rPr>
              <a:t>của</a:t>
            </a:r>
            <a:r>
              <a:rPr lang="en-US" b="1" dirty="0" smtClean="0">
                <a:solidFill>
                  <a:srgbClr val="0000CC"/>
                </a:solidFill>
                <a:latin typeface="Rockwell" panose="02060603020205020403" pitchFamily="18" charset="0"/>
                <a:ea typeface="+mj-ea"/>
                <a:cs typeface="+mj-cs"/>
              </a:rPr>
              <a:t> Firewall</a:t>
            </a:r>
            <a:r>
              <a:rPr lang="vi-VN" b="1" dirty="0" smtClean="0">
                <a:solidFill>
                  <a:srgbClr val="0000CC"/>
                </a:solidFill>
                <a:latin typeface="Rockwell" panose="02060603020205020403" pitchFamily="18" charset="0"/>
                <a:ea typeface="+mj-ea"/>
                <a:cs typeface="+mj-cs"/>
              </a:rPr>
              <a:t>:</a:t>
            </a:r>
            <a:endParaRPr lang="en-US" b="1" dirty="0" smtClean="0">
              <a:solidFill>
                <a:srgbClr val="0000CC"/>
              </a:solidFill>
              <a:latin typeface="Rockwell" panose="02060603020205020403" pitchFamily="18" charset="0"/>
              <a:ea typeface="+mj-ea"/>
              <a:cs typeface="+mj-cs"/>
            </a:endParaRPr>
          </a:p>
          <a:p>
            <a:pPr marL="0" indent="0" algn="just">
              <a:lnSpc>
                <a:spcPct val="120000"/>
              </a:lnSpc>
              <a:spcBef>
                <a:spcPts val="1200"/>
              </a:spcBef>
              <a:spcAft>
                <a:spcPts val="600"/>
              </a:spcAft>
              <a:buNone/>
            </a:pPr>
            <a:r>
              <a:rPr lang="en-US" dirty="0" err="1" smtClean="0">
                <a:solidFill>
                  <a:srgbClr val="0000CC"/>
                </a:solidFill>
                <a:latin typeface="Rockwell" panose="02060603020205020403" pitchFamily="18" charset="0"/>
                <a:ea typeface="+mj-ea"/>
                <a:cs typeface="+mj-cs"/>
              </a:rPr>
              <a:t>Ví</a:t>
            </a:r>
            <a:r>
              <a:rPr lang="en-US" dirty="0" smtClean="0">
                <a:solidFill>
                  <a:srgbClr val="0000CC"/>
                </a:solidFill>
                <a:latin typeface="Rockwell" panose="02060603020205020403" pitchFamily="18" charset="0"/>
                <a:ea typeface="+mj-ea"/>
                <a:cs typeface="+mj-cs"/>
              </a:rPr>
              <a:t> </a:t>
            </a:r>
            <a:r>
              <a:rPr lang="en-US" dirty="0" err="1" smtClean="0">
                <a:solidFill>
                  <a:srgbClr val="0000CC"/>
                </a:solidFill>
                <a:latin typeface="Rockwell" panose="02060603020205020403" pitchFamily="18" charset="0"/>
                <a:ea typeface="+mj-ea"/>
                <a:cs typeface="+mj-cs"/>
              </a:rPr>
              <a:t>dụ</a:t>
            </a:r>
            <a:r>
              <a:rPr lang="en-US" dirty="0" smtClean="0">
                <a:solidFill>
                  <a:srgbClr val="0000CC"/>
                </a:solidFill>
                <a:latin typeface="Rockwell" panose="02060603020205020403" pitchFamily="18" charset="0"/>
                <a:ea typeface="+mj-ea"/>
                <a:cs typeface="+mj-cs"/>
              </a:rPr>
              <a:t> 2: </a:t>
            </a:r>
            <a:r>
              <a:rPr lang="en-US" dirty="0" err="1" smtClean="0">
                <a:solidFill>
                  <a:srgbClr val="0000CC"/>
                </a:solidFill>
                <a:latin typeface="Rockwell" panose="02060603020205020403" pitchFamily="18" charset="0"/>
                <a:ea typeface="+mj-ea"/>
                <a:cs typeface="+mj-cs"/>
              </a:rPr>
              <a:t>Bảng</a:t>
            </a:r>
            <a:r>
              <a:rPr lang="en-US" dirty="0" smtClean="0">
                <a:solidFill>
                  <a:srgbClr val="0000CC"/>
                </a:solidFill>
                <a:latin typeface="Rockwell" panose="02060603020205020403" pitchFamily="18" charset="0"/>
                <a:ea typeface="+mj-ea"/>
                <a:cs typeface="+mj-cs"/>
              </a:rPr>
              <a:t> </a:t>
            </a:r>
            <a:r>
              <a:rPr lang="en-US" dirty="0" err="1" smtClean="0">
                <a:solidFill>
                  <a:srgbClr val="0000CC"/>
                </a:solidFill>
                <a:latin typeface="Rockwell" panose="02060603020205020403" pitchFamily="18" charset="0"/>
                <a:ea typeface="+mj-ea"/>
                <a:cs typeface="+mj-cs"/>
              </a:rPr>
              <a:t>luật</a:t>
            </a:r>
            <a:r>
              <a:rPr lang="en-US" dirty="0" smtClean="0">
                <a:solidFill>
                  <a:srgbClr val="0000CC"/>
                </a:solidFill>
                <a:latin typeface="Rockwell" panose="02060603020205020403" pitchFamily="18" charset="0"/>
                <a:ea typeface="+mj-ea"/>
                <a:cs typeface="+mj-cs"/>
              </a:rPr>
              <a:t> </a:t>
            </a:r>
            <a:r>
              <a:rPr lang="en-US" dirty="0" err="1" smtClean="0">
                <a:solidFill>
                  <a:srgbClr val="0000CC"/>
                </a:solidFill>
                <a:latin typeface="Rockwell" panose="02060603020205020403" pitchFamily="18" charset="0"/>
                <a:ea typeface="+mj-ea"/>
                <a:cs typeface="+mj-cs"/>
              </a:rPr>
              <a:t>lọc</a:t>
            </a:r>
            <a:r>
              <a:rPr lang="en-US" dirty="0" smtClean="0">
                <a:solidFill>
                  <a:srgbClr val="0000CC"/>
                </a:solidFill>
                <a:latin typeface="Rockwell" panose="02060603020205020403" pitchFamily="18" charset="0"/>
                <a:ea typeface="+mj-ea"/>
                <a:cs typeface="+mj-cs"/>
              </a:rPr>
              <a:t> payload </a:t>
            </a:r>
            <a:r>
              <a:rPr lang="en-US" dirty="0" err="1" smtClean="0">
                <a:solidFill>
                  <a:srgbClr val="0000CC"/>
                </a:solidFill>
                <a:latin typeface="Rockwell" panose="02060603020205020403" pitchFamily="18" charset="0"/>
                <a:ea typeface="+mj-ea"/>
                <a:cs typeface="+mj-cs"/>
              </a:rPr>
              <a:t>trong</a:t>
            </a:r>
            <a:r>
              <a:rPr lang="en-US" dirty="0" smtClean="0">
                <a:solidFill>
                  <a:srgbClr val="0000CC"/>
                </a:solidFill>
                <a:latin typeface="Rockwell" panose="02060603020205020403" pitchFamily="18" charset="0"/>
                <a:ea typeface="+mj-ea"/>
                <a:cs typeface="+mj-cs"/>
              </a:rPr>
              <a:t> Firewall </a:t>
            </a:r>
            <a:r>
              <a:rPr lang="en-US" dirty="0" err="1" smtClean="0">
                <a:solidFill>
                  <a:srgbClr val="0000CC"/>
                </a:solidFill>
                <a:latin typeface="Rockwell" panose="02060603020205020403" pitchFamily="18" charset="0"/>
                <a:ea typeface="+mj-ea"/>
                <a:cs typeface="+mj-cs"/>
              </a:rPr>
              <a:t>tầng</a:t>
            </a:r>
            <a:r>
              <a:rPr lang="en-US" dirty="0" smtClean="0">
                <a:solidFill>
                  <a:srgbClr val="0000CC"/>
                </a:solidFill>
                <a:latin typeface="Rockwell" panose="02060603020205020403" pitchFamily="18" charset="0"/>
                <a:ea typeface="+mj-ea"/>
                <a:cs typeface="+mj-cs"/>
              </a:rPr>
              <a:t> </a:t>
            </a:r>
            <a:r>
              <a:rPr lang="en-US" dirty="0" err="1" smtClean="0">
                <a:solidFill>
                  <a:srgbClr val="0000CC"/>
                </a:solidFill>
                <a:latin typeface="Rockwell" panose="02060603020205020403" pitchFamily="18" charset="0"/>
                <a:ea typeface="+mj-ea"/>
                <a:cs typeface="+mj-cs"/>
              </a:rPr>
              <a:t>ứng</a:t>
            </a:r>
            <a:r>
              <a:rPr lang="en-US" dirty="0" smtClean="0">
                <a:solidFill>
                  <a:srgbClr val="0000CC"/>
                </a:solidFill>
                <a:latin typeface="Rockwell" panose="02060603020205020403" pitchFamily="18" charset="0"/>
                <a:ea typeface="+mj-ea"/>
                <a:cs typeface="+mj-cs"/>
              </a:rPr>
              <a:t> </a:t>
            </a:r>
            <a:r>
              <a:rPr lang="en-US" dirty="0" err="1" smtClean="0">
                <a:solidFill>
                  <a:srgbClr val="0000CC"/>
                </a:solidFill>
                <a:latin typeface="Rockwell" panose="02060603020205020403" pitchFamily="18" charset="0"/>
                <a:ea typeface="+mj-ea"/>
                <a:cs typeface="+mj-cs"/>
              </a:rPr>
              <a:t>dụng</a:t>
            </a:r>
            <a:r>
              <a:rPr lang="en-US" dirty="0" smtClean="0">
                <a:solidFill>
                  <a:srgbClr val="0000CC"/>
                </a:solidFill>
                <a:latin typeface="Rockwell" panose="02060603020205020403" pitchFamily="18" charset="0"/>
                <a:ea typeface="+mj-ea"/>
                <a:cs typeface="+mj-cs"/>
              </a:rPr>
              <a:t> (</a:t>
            </a:r>
            <a:r>
              <a:rPr lang="en-US" dirty="0" err="1" smtClean="0">
                <a:solidFill>
                  <a:srgbClr val="0000CC"/>
                </a:solidFill>
                <a:latin typeface="Rockwell" panose="02060603020205020403" pitchFamily="18" charset="0"/>
                <a:ea typeface="+mj-ea"/>
                <a:cs typeface="+mj-cs"/>
              </a:rPr>
              <a:t>dựa</a:t>
            </a:r>
            <a:r>
              <a:rPr lang="en-US" dirty="0" smtClean="0">
                <a:solidFill>
                  <a:srgbClr val="0000CC"/>
                </a:solidFill>
                <a:latin typeface="Rockwell" panose="02060603020205020403" pitchFamily="18" charset="0"/>
                <a:ea typeface="+mj-ea"/>
                <a:cs typeface="+mj-cs"/>
              </a:rPr>
              <a:t> </a:t>
            </a:r>
            <a:r>
              <a:rPr lang="en-US" dirty="0" err="1" smtClean="0">
                <a:solidFill>
                  <a:srgbClr val="0000CC"/>
                </a:solidFill>
                <a:latin typeface="Rockwell" panose="02060603020205020403" pitchFamily="18" charset="0"/>
                <a:ea typeface="+mj-ea"/>
                <a:cs typeface="+mj-cs"/>
              </a:rPr>
              <a:t>trên</a:t>
            </a:r>
            <a:r>
              <a:rPr lang="en-US" dirty="0" smtClean="0">
                <a:solidFill>
                  <a:srgbClr val="0000CC"/>
                </a:solidFill>
                <a:latin typeface="Rockwell" panose="02060603020205020403" pitchFamily="18" charset="0"/>
                <a:ea typeface="+mj-ea"/>
                <a:cs typeface="+mj-cs"/>
              </a:rPr>
              <a:t> Application Policies/Rules):</a:t>
            </a:r>
          </a:p>
          <a:p>
            <a:pPr marL="0" indent="0" algn="just">
              <a:lnSpc>
                <a:spcPct val="120000"/>
              </a:lnSpc>
              <a:spcBef>
                <a:spcPts val="1200"/>
              </a:spcBef>
              <a:spcAft>
                <a:spcPts val="600"/>
              </a:spcAft>
              <a:buNone/>
            </a:pPr>
            <a:endParaRPr lang="en-US" dirty="0">
              <a:solidFill>
                <a:srgbClr val="0000CC"/>
              </a:solidFill>
              <a:latin typeface="Rockwell" panose="02060603020205020403" pitchFamily="18" charset="0"/>
              <a:ea typeface="+mj-ea"/>
              <a:cs typeface="+mj-cs"/>
            </a:endParaRPr>
          </a:p>
        </p:txBody>
      </p:sp>
      <p:graphicFrame>
        <p:nvGraphicFramePr>
          <p:cNvPr id="4" name="Table 3"/>
          <p:cNvGraphicFramePr>
            <a:graphicFrameLocks noGrp="1"/>
          </p:cNvGraphicFramePr>
          <p:nvPr>
            <p:extLst>
              <p:ext uri="{D42A27DB-BD31-4B8C-83A1-F6EECF244321}">
                <p14:modId xmlns:p14="http://schemas.microsoft.com/office/powerpoint/2010/main" val="2313618496"/>
              </p:ext>
            </p:extLst>
          </p:nvPr>
        </p:nvGraphicFramePr>
        <p:xfrm>
          <a:off x="1371600" y="2613660"/>
          <a:ext cx="9737680" cy="1828800"/>
        </p:xfrm>
        <a:graphic>
          <a:graphicData uri="http://schemas.openxmlformats.org/drawingml/2006/table">
            <a:tbl>
              <a:tblPr>
                <a:tableStyleId>{35758FB7-9AC5-4552-8A53-C91805E547FA}</a:tableStyleId>
              </a:tblPr>
              <a:tblGrid>
                <a:gridCol w="743803">
                  <a:extLst>
                    <a:ext uri="{9D8B030D-6E8A-4147-A177-3AD203B41FA5}">
                      <a16:colId xmlns:a16="http://schemas.microsoft.com/office/drawing/2014/main" val="3202625817"/>
                    </a:ext>
                  </a:extLst>
                </a:gridCol>
                <a:gridCol w="2497540">
                  <a:extLst>
                    <a:ext uri="{9D8B030D-6E8A-4147-A177-3AD203B41FA5}">
                      <a16:colId xmlns:a16="http://schemas.microsoft.com/office/drawing/2014/main" val="3214420350"/>
                    </a:ext>
                  </a:extLst>
                </a:gridCol>
                <a:gridCol w="4749421">
                  <a:extLst>
                    <a:ext uri="{9D8B030D-6E8A-4147-A177-3AD203B41FA5}">
                      <a16:colId xmlns:a16="http://schemas.microsoft.com/office/drawing/2014/main" val="1400273542"/>
                    </a:ext>
                  </a:extLst>
                </a:gridCol>
                <a:gridCol w="1746916">
                  <a:extLst>
                    <a:ext uri="{9D8B030D-6E8A-4147-A177-3AD203B41FA5}">
                      <a16:colId xmlns:a16="http://schemas.microsoft.com/office/drawing/2014/main" val="689040826"/>
                    </a:ext>
                  </a:extLst>
                </a:gridCol>
              </a:tblGrid>
              <a:tr h="0">
                <a:tc>
                  <a:txBody>
                    <a:bodyPr/>
                    <a:lstStyle/>
                    <a:p>
                      <a:pPr algn="ctr">
                        <a:spcBef>
                          <a:spcPts val="200"/>
                        </a:spcBef>
                        <a:spcAft>
                          <a:spcPts val="200"/>
                        </a:spcAft>
                      </a:pPr>
                      <a:r>
                        <a:rPr lang="en-US" sz="1800" b="1" kern="1200" baseline="0" dirty="0">
                          <a:solidFill>
                            <a:srgbClr val="0000CC"/>
                          </a:solidFill>
                        </a:rPr>
                        <a:t>Rule</a:t>
                      </a:r>
                      <a:endParaRPr lang="en-US" sz="1800" b="1" kern="1200" baseline="0" dirty="0">
                        <a:solidFill>
                          <a:srgbClr val="0000CC"/>
                        </a:solidFill>
                        <a:latin typeface="Rockwell" panose="02060603020205020403" pitchFamily="18" charset="0"/>
                        <a:ea typeface="+mj-ea"/>
                        <a:cs typeface="+mj-cs"/>
                      </a:endParaRPr>
                    </a:p>
                  </a:txBody>
                  <a:tcPr anchor="ctr"/>
                </a:tc>
                <a:tc>
                  <a:txBody>
                    <a:bodyPr/>
                    <a:lstStyle/>
                    <a:p>
                      <a:pPr>
                        <a:spcBef>
                          <a:spcPts val="200"/>
                        </a:spcBef>
                        <a:spcAft>
                          <a:spcPts val="200"/>
                        </a:spcAft>
                      </a:pPr>
                      <a:r>
                        <a:rPr lang="en-US" sz="1800" b="1" kern="1200" baseline="0" dirty="0">
                          <a:solidFill>
                            <a:srgbClr val="0000CC"/>
                          </a:solidFill>
                        </a:rPr>
                        <a:t>Application/Service</a:t>
                      </a:r>
                      <a:endParaRPr lang="en-US" sz="1800" b="1" kern="1200" baseline="0" dirty="0">
                        <a:solidFill>
                          <a:srgbClr val="0000CC"/>
                        </a:solidFill>
                        <a:latin typeface="Rockwell" panose="02060603020205020403" pitchFamily="18" charset="0"/>
                        <a:ea typeface="+mj-ea"/>
                        <a:cs typeface="+mj-cs"/>
                      </a:endParaRPr>
                    </a:p>
                  </a:txBody>
                  <a:tcPr anchor="ctr"/>
                </a:tc>
                <a:tc>
                  <a:txBody>
                    <a:bodyPr/>
                    <a:lstStyle/>
                    <a:p>
                      <a:pPr>
                        <a:spcBef>
                          <a:spcPts val="200"/>
                        </a:spcBef>
                        <a:spcAft>
                          <a:spcPts val="200"/>
                        </a:spcAft>
                      </a:pPr>
                      <a:r>
                        <a:rPr lang="en-US" sz="1800" b="1" kern="1200" baseline="0" dirty="0">
                          <a:solidFill>
                            <a:srgbClr val="0000CC"/>
                          </a:solidFill>
                        </a:rPr>
                        <a:t>Condition (Payload Inspection)</a:t>
                      </a:r>
                      <a:endParaRPr lang="en-US" sz="1800" b="1" kern="1200" baseline="0" dirty="0">
                        <a:solidFill>
                          <a:srgbClr val="0000CC"/>
                        </a:solidFill>
                        <a:latin typeface="Rockwell" panose="02060603020205020403" pitchFamily="18" charset="0"/>
                        <a:ea typeface="+mj-ea"/>
                        <a:cs typeface="+mj-cs"/>
                      </a:endParaRPr>
                    </a:p>
                  </a:txBody>
                  <a:tcPr anchor="ctr"/>
                </a:tc>
                <a:tc>
                  <a:txBody>
                    <a:bodyPr/>
                    <a:lstStyle/>
                    <a:p>
                      <a:pPr algn="ctr">
                        <a:spcBef>
                          <a:spcPts val="200"/>
                        </a:spcBef>
                        <a:spcAft>
                          <a:spcPts val="200"/>
                        </a:spcAft>
                      </a:pPr>
                      <a:r>
                        <a:rPr lang="en-US" sz="1800" b="1" kern="1200" baseline="0" dirty="0">
                          <a:solidFill>
                            <a:srgbClr val="0000CC"/>
                          </a:solidFill>
                        </a:rPr>
                        <a:t>Action</a:t>
                      </a:r>
                      <a:endParaRPr lang="en-US" sz="1800" b="1" kern="1200" baseline="0" dirty="0">
                        <a:solidFill>
                          <a:srgbClr val="0000CC"/>
                        </a:solidFill>
                        <a:latin typeface="Rockwell" panose="02060603020205020403" pitchFamily="18" charset="0"/>
                        <a:ea typeface="+mj-ea"/>
                        <a:cs typeface="+mj-cs"/>
                      </a:endParaRPr>
                    </a:p>
                  </a:txBody>
                  <a:tcPr anchor="ctr"/>
                </a:tc>
                <a:extLst>
                  <a:ext uri="{0D108BD9-81ED-4DB2-BD59-A6C34878D82A}">
                    <a16:rowId xmlns:a16="http://schemas.microsoft.com/office/drawing/2014/main" val="3889067712"/>
                  </a:ext>
                </a:extLst>
              </a:tr>
              <a:tr h="0">
                <a:tc>
                  <a:txBody>
                    <a:bodyPr/>
                    <a:lstStyle/>
                    <a:p>
                      <a:pPr algn="ctr">
                        <a:spcBef>
                          <a:spcPts val="200"/>
                        </a:spcBef>
                        <a:spcAft>
                          <a:spcPts val="200"/>
                        </a:spcAft>
                      </a:pPr>
                      <a:r>
                        <a:rPr lang="en-US" sz="1800" kern="1200" baseline="0" dirty="0">
                          <a:solidFill>
                            <a:srgbClr val="0000CC"/>
                          </a:solidFill>
                        </a:rPr>
                        <a:t>1</a:t>
                      </a:r>
                      <a:endParaRPr lang="en-US" sz="1800" kern="1200" baseline="0" dirty="0">
                        <a:solidFill>
                          <a:srgbClr val="0000CC"/>
                        </a:solidFill>
                        <a:latin typeface="Rockwell" panose="02060603020205020403" pitchFamily="18" charset="0"/>
                        <a:ea typeface="+mj-ea"/>
                        <a:cs typeface="+mj-cs"/>
                      </a:endParaRPr>
                    </a:p>
                  </a:txBody>
                  <a:tcPr anchor="ctr"/>
                </a:tc>
                <a:tc>
                  <a:txBody>
                    <a:bodyPr/>
                    <a:lstStyle/>
                    <a:p>
                      <a:pPr algn="ctr">
                        <a:spcBef>
                          <a:spcPts val="200"/>
                        </a:spcBef>
                        <a:spcAft>
                          <a:spcPts val="200"/>
                        </a:spcAft>
                      </a:pPr>
                      <a:r>
                        <a:rPr lang="en-US" sz="1800" kern="1200" baseline="0" dirty="0">
                          <a:solidFill>
                            <a:srgbClr val="0000CC"/>
                          </a:solidFill>
                        </a:rPr>
                        <a:t>HTTP (Web)</a:t>
                      </a:r>
                      <a:endParaRPr lang="en-US" sz="1800" kern="1200" baseline="0" dirty="0">
                        <a:solidFill>
                          <a:srgbClr val="0000CC"/>
                        </a:solidFill>
                        <a:latin typeface="Rockwell" panose="02060603020205020403" pitchFamily="18" charset="0"/>
                        <a:ea typeface="+mj-ea"/>
                        <a:cs typeface="+mj-cs"/>
                      </a:endParaRPr>
                    </a:p>
                  </a:txBody>
                  <a:tcPr anchor="ctr"/>
                </a:tc>
                <a:tc>
                  <a:txBody>
                    <a:bodyPr/>
                    <a:lstStyle/>
                    <a:p>
                      <a:pPr>
                        <a:spcBef>
                          <a:spcPts val="200"/>
                        </a:spcBef>
                        <a:spcAft>
                          <a:spcPts val="200"/>
                        </a:spcAft>
                      </a:pPr>
                      <a:r>
                        <a:rPr lang="en-US" sz="1800" kern="1200" baseline="0" dirty="0">
                          <a:solidFill>
                            <a:srgbClr val="0000CC"/>
                          </a:solidFill>
                        </a:rPr>
                        <a:t>Block keyword: </a:t>
                      </a:r>
                      <a:r>
                        <a:rPr lang="en-US" sz="1800" b="1" kern="1200" baseline="0" dirty="0">
                          <a:solidFill>
                            <a:srgbClr val="0000CC"/>
                          </a:solidFill>
                        </a:rPr>
                        <a:t>DROP TABLE</a:t>
                      </a:r>
                      <a:endParaRPr lang="en-US" sz="1800" b="1" kern="1200" baseline="0" dirty="0">
                        <a:solidFill>
                          <a:srgbClr val="0000CC"/>
                        </a:solidFill>
                        <a:latin typeface="Rockwell" panose="02060603020205020403" pitchFamily="18" charset="0"/>
                        <a:ea typeface="+mj-ea"/>
                        <a:cs typeface="+mj-cs"/>
                      </a:endParaRPr>
                    </a:p>
                  </a:txBody>
                  <a:tcPr anchor="ctr"/>
                </a:tc>
                <a:tc>
                  <a:txBody>
                    <a:bodyPr/>
                    <a:lstStyle/>
                    <a:p>
                      <a:pPr algn="ctr">
                        <a:spcBef>
                          <a:spcPts val="200"/>
                        </a:spcBef>
                        <a:spcAft>
                          <a:spcPts val="200"/>
                        </a:spcAft>
                      </a:pPr>
                      <a:r>
                        <a:rPr lang="en-US" sz="1800" kern="1200" baseline="0" dirty="0">
                          <a:solidFill>
                            <a:srgbClr val="0000CC"/>
                          </a:solidFill>
                        </a:rPr>
                        <a:t>Deny</a:t>
                      </a:r>
                      <a:endParaRPr lang="en-US" sz="1800" kern="1200" baseline="0" dirty="0">
                        <a:solidFill>
                          <a:srgbClr val="0000CC"/>
                        </a:solidFill>
                        <a:latin typeface="Rockwell" panose="02060603020205020403" pitchFamily="18" charset="0"/>
                        <a:ea typeface="+mj-ea"/>
                        <a:cs typeface="+mj-cs"/>
                      </a:endParaRPr>
                    </a:p>
                  </a:txBody>
                  <a:tcPr anchor="ctr"/>
                </a:tc>
                <a:extLst>
                  <a:ext uri="{0D108BD9-81ED-4DB2-BD59-A6C34878D82A}">
                    <a16:rowId xmlns:a16="http://schemas.microsoft.com/office/drawing/2014/main" val="3663283109"/>
                  </a:ext>
                </a:extLst>
              </a:tr>
              <a:tr h="0">
                <a:tc>
                  <a:txBody>
                    <a:bodyPr/>
                    <a:lstStyle/>
                    <a:p>
                      <a:pPr algn="ctr">
                        <a:spcBef>
                          <a:spcPts val="200"/>
                        </a:spcBef>
                        <a:spcAft>
                          <a:spcPts val="200"/>
                        </a:spcAft>
                      </a:pPr>
                      <a:r>
                        <a:rPr lang="en-US" sz="1800" kern="1200" baseline="0" dirty="0">
                          <a:solidFill>
                            <a:srgbClr val="0000CC"/>
                          </a:solidFill>
                        </a:rPr>
                        <a:t>2</a:t>
                      </a:r>
                      <a:endParaRPr lang="en-US" sz="1800" kern="1200" baseline="0" dirty="0">
                        <a:solidFill>
                          <a:srgbClr val="0000CC"/>
                        </a:solidFill>
                        <a:latin typeface="Rockwell" panose="02060603020205020403" pitchFamily="18" charset="0"/>
                        <a:ea typeface="+mj-ea"/>
                        <a:cs typeface="+mj-cs"/>
                      </a:endParaRPr>
                    </a:p>
                  </a:txBody>
                  <a:tcPr anchor="ctr"/>
                </a:tc>
                <a:tc>
                  <a:txBody>
                    <a:bodyPr/>
                    <a:lstStyle/>
                    <a:p>
                      <a:pPr algn="ctr">
                        <a:spcBef>
                          <a:spcPts val="200"/>
                        </a:spcBef>
                        <a:spcAft>
                          <a:spcPts val="200"/>
                        </a:spcAft>
                      </a:pPr>
                      <a:r>
                        <a:rPr lang="en-US" sz="1800" kern="1200" baseline="0" dirty="0">
                          <a:solidFill>
                            <a:srgbClr val="0000CC"/>
                          </a:solidFill>
                        </a:rPr>
                        <a:t>HTTP (Web)</a:t>
                      </a:r>
                      <a:endParaRPr lang="en-US" sz="1800" kern="1200" baseline="0" dirty="0">
                        <a:solidFill>
                          <a:srgbClr val="0000CC"/>
                        </a:solidFill>
                        <a:latin typeface="Rockwell" panose="02060603020205020403" pitchFamily="18" charset="0"/>
                        <a:ea typeface="+mj-ea"/>
                        <a:cs typeface="+mj-cs"/>
                      </a:endParaRPr>
                    </a:p>
                  </a:txBody>
                  <a:tcPr anchor="ctr"/>
                </a:tc>
                <a:tc>
                  <a:txBody>
                    <a:bodyPr/>
                    <a:lstStyle/>
                    <a:p>
                      <a:pPr>
                        <a:spcBef>
                          <a:spcPts val="200"/>
                        </a:spcBef>
                        <a:spcAft>
                          <a:spcPts val="200"/>
                        </a:spcAft>
                      </a:pPr>
                      <a:r>
                        <a:rPr lang="en-US" sz="1800" kern="1200" baseline="0" dirty="0">
                          <a:solidFill>
                            <a:srgbClr val="0000CC"/>
                          </a:solidFill>
                        </a:rPr>
                        <a:t>URL matches </a:t>
                      </a:r>
                      <a:r>
                        <a:rPr lang="en-US" sz="1800" b="1" kern="1200" baseline="0" dirty="0">
                          <a:solidFill>
                            <a:srgbClr val="0000CC"/>
                          </a:solidFill>
                        </a:rPr>
                        <a:t>/admin </a:t>
                      </a:r>
                      <a:r>
                        <a:rPr lang="en-US" sz="1800" kern="1200" baseline="0" dirty="0">
                          <a:solidFill>
                            <a:srgbClr val="0000CC"/>
                          </a:solidFill>
                        </a:rPr>
                        <a:t>(from outside network)</a:t>
                      </a:r>
                      <a:endParaRPr lang="en-US" sz="1800" kern="1200" baseline="0" dirty="0">
                        <a:solidFill>
                          <a:srgbClr val="0000CC"/>
                        </a:solidFill>
                        <a:latin typeface="Rockwell" panose="02060603020205020403" pitchFamily="18" charset="0"/>
                        <a:ea typeface="+mj-ea"/>
                        <a:cs typeface="+mj-cs"/>
                      </a:endParaRPr>
                    </a:p>
                  </a:txBody>
                  <a:tcPr anchor="ctr"/>
                </a:tc>
                <a:tc>
                  <a:txBody>
                    <a:bodyPr/>
                    <a:lstStyle/>
                    <a:p>
                      <a:pPr algn="ctr">
                        <a:spcBef>
                          <a:spcPts val="200"/>
                        </a:spcBef>
                        <a:spcAft>
                          <a:spcPts val="200"/>
                        </a:spcAft>
                      </a:pPr>
                      <a:r>
                        <a:rPr lang="en-US" sz="1800" kern="1200" baseline="0" dirty="0">
                          <a:solidFill>
                            <a:srgbClr val="0000CC"/>
                          </a:solidFill>
                        </a:rPr>
                        <a:t>Deny</a:t>
                      </a:r>
                      <a:endParaRPr lang="en-US" sz="1800" kern="1200" baseline="0" dirty="0">
                        <a:solidFill>
                          <a:srgbClr val="0000CC"/>
                        </a:solidFill>
                        <a:latin typeface="Rockwell" panose="02060603020205020403" pitchFamily="18" charset="0"/>
                        <a:ea typeface="+mj-ea"/>
                        <a:cs typeface="+mj-cs"/>
                      </a:endParaRPr>
                    </a:p>
                  </a:txBody>
                  <a:tcPr anchor="ctr"/>
                </a:tc>
                <a:extLst>
                  <a:ext uri="{0D108BD9-81ED-4DB2-BD59-A6C34878D82A}">
                    <a16:rowId xmlns:a16="http://schemas.microsoft.com/office/drawing/2014/main" val="1852076394"/>
                  </a:ext>
                </a:extLst>
              </a:tr>
              <a:tr h="0">
                <a:tc>
                  <a:txBody>
                    <a:bodyPr/>
                    <a:lstStyle/>
                    <a:p>
                      <a:pPr algn="ctr">
                        <a:spcBef>
                          <a:spcPts val="200"/>
                        </a:spcBef>
                        <a:spcAft>
                          <a:spcPts val="200"/>
                        </a:spcAft>
                      </a:pPr>
                      <a:r>
                        <a:rPr lang="en-US" sz="1800" kern="1200" baseline="0" dirty="0">
                          <a:solidFill>
                            <a:srgbClr val="0000CC"/>
                          </a:solidFill>
                        </a:rPr>
                        <a:t>3</a:t>
                      </a:r>
                      <a:endParaRPr lang="en-US" sz="1800" kern="1200" baseline="0" dirty="0">
                        <a:solidFill>
                          <a:srgbClr val="0000CC"/>
                        </a:solidFill>
                        <a:latin typeface="Rockwell" panose="02060603020205020403" pitchFamily="18" charset="0"/>
                        <a:ea typeface="+mj-ea"/>
                        <a:cs typeface="+mj-cs"/>
                      </a:endParaRPr>
                    </a:p>
                  </a:txBody>
                  <a:tcPr anchor="ctr"/>
                </a:tc>
                <a:tc>
                  <a:txBody>
                    <a:bodyPr/>
                    <a:lstStyle/>
                    <a:p>
                      <a:pPr algn="ctr">
                        <a:spcBef>
                          <a:spcPts val="200"/>
                        </a:spcBef>
                        <a:spcAft>
                          <a:spcPts val="200"/>
                        </a:spcAft>
                      </a:pPr>
                      <a:r>
                        <a:rPr lang="en-US" sz="1800" kern="1200" baseline="0" dirty="0">
                          <a:solidFill>
                            <a:srgbClr val="0000CC"/>
                          </a:solidFill>
                        </a:rPr>
                        <a:t>SMTP (Email)</a:t>
                      </a:r>
                      <a:endParaRPr lang="en-US" sz="1800" kern="1200" baseline="0" dirty="0">
                        <a:solidFill>
                          <a:srgbClr val="0000CC"/>
                        </a:solidFill>
                        <a:latin typeface="Rockwell" panose="02060603020205020403" pitchFamily="18" charset="0"/>
                        <a:ea typeface="+mj-ea"/>
                        <a:cs typeface="+mj-cs"/>
                      </a:endParaRPr>
                    </a:p>
                  </a:txBody>
                  <a:tcPr anchor="ctr"/>
                </a:tc>
                <a:tc>
                  <a:txBody>
                    <a:bodyPr/>
                    <a:lstStyle/>
                    <a:p>
                      <a:pPr>
                        <a:spcBef>
                          <a:spcPts val="200"/>
                        </a:spcBef>
                        <a:spcAft>
                          <a:spcPts val="200"/>
                        </a:spcAft>
                      </a:pPr>
                      <a:r>
                        <a:rPr lang="en-US" sz="1800" kern="1200" baseline="0" dirty="0">
                          <a:solidFill>
                            <a:srgbClr val="0000CC"/>
                          </a:solidFill>
                        </a:rPr>
                        <a:t>Attachment type: </a:t>
                      </a:r>
                      <a:r>
                        <a:rPr lang="en-US" sz="1800" b="1" kern="1200" baseline="0" dirty="0">
                          <a:solidFill>
                            <a:srgbClr val="0000CC"/>
                          </a:solidFill>
                        </a:rPr>
                        <a:t>.exe</a:t>
                      </a:r>
                      <a:endParaRPr lang="en-US" sz="1800" b="1" kern="1200" baseline="0" dirty="0">
                        <a:solidFill>
                          <a:srgbClr val="0000CC"/>
                        </a:solidFill>
                        <a:latin typeface="Rockwell" panose="02060603020205020403" pitchFamily="18" charset="0"/>
                        <a:ea typeface="+mj-ea"/>
                        <a:cs typeface="+mj-cs"/>
                      </a:endParaRPr>
                    </a:p>
                  </a:txBody>
                  <a:tcPr anchor="ctr"/>
                </a:tc>
                <a:tc>
                  <a:txBody>
                    <a:bodyPr/>
                    <a:lstStyle/>
                    <a:p>
                      <a:pPr algn="ctr">
                        <a:spcBef>
                          <a:spcPts val="200"/>
                        </a:spcBef>
                        <a:spcAft>
                          <a:spcPts val="200"/>
                        </a:spcAft>
                      </a:pPr>
                      <a:r>
                        <a:rPr lang="en-US" sz="1800" kern="1200" baseline="0" dirty="0">
                          <a:solidFill>
                            <a:srgbClr val="0000CC"/>
                          </a:solidFill>
                        </a:rPr>
                        <a:t>Quarantine</a:t>
                      </a:r>
                      <a:endParaRPr lang="en-US" sz="1800" kern="1200" baseline="0" dirty="0">
                        <a:solidFill>
                          <a:srgbClr val="0000CC"/>
                        </a:solidFill>
                        <a:latin typeface="Rockwell" panose="02060603020205020403" pitchFamily="18" charset="0"/>
                        <a:ea typeface="+mj-ea"/>
                        <a:cs typeface="+mj-cs"/>
                      </a:endParaRPr>
                    </a:p>
                  </a:txBody>
                  <a:tcPr anchor="ctr"/>
                </a:tc>
                <a:extLst>
                  <a:ext uri="{0D108BD9-81ED-4DB2-BD59-A6C34878D82A}">
                    <a16:rowId xmlns:a16="http://schemas.microsoft.com/office/drawing/2014/main" val="418475595"/>
                  </a:ext>
                </a:extLst>
              </a:tr>
              <a:tr h="0">
                <a:tc>
                  <a:txBody>
                    <a:bodyPr/>
                    <a:lstStyle/>
                    <a:p>
                      <a:pPr algn="ctr">
                        <a:spcBef>
                          <a:spcPts val="200"/>
                        </a:spcBef>
                        <a:spcAft>
                          <a:spcPts val="200"/>
                        </a:spcAft>
                      </a:pPr>
                      <a:r>
                        <a:rPr lang="en-US" sz="1800" kern="1200" baseline="0" dirty="0">
                          <a:solidFill>
                            <a:srgbClr val="0000CC"/>
                          </a:solidFill>
                        </a:rPr>
                        <a:t>4</a:t>
                      </a:r>
                      <a:endParaRPr lang="en-US" sz="1800" kern="1200" baseline="0" dirty="0">
                        <a:solidFill>
                          <a:srgbClr val="0000CC"/>
                        </a:solidFill>
                        <a:latin typeface="Rockwell" panose="02060603020205020403" pitchFamily="18" charset="0"/>
                        <a:ea typeface="+mj-ea"/>
                        <a:cs typeface="+mj-cs"/>
                      </a:endParaRPr>
                    </a:p>
                  </a:txBody>
                  <a:tcPr anchor="ctr"/>
                </a:tc>
                <a:tc>
                  <a:txBody>
                    <a:bodyPr/>
                    <a:lstStyle/>
                    <a:p>
                      <a:pPr algn="ctr">
                        <a:spcBef>
                          <a:spcPts val="200"/>
                        </a:spcBef>
                        <a:spcAft>
                          <a:spcPts val="200"/>
                        </a:spcAft>
                      </a:pPr>
                      <a:r>
                        <a:rPr lang="en-US" sz="1800" kern="1200" baseline="0" dirty="0">
                          <a:solidFill>
                            <a:srgbClr val="0000CC"/>
                          </a:solidFill>
                        </a:rPr>
                        <a:t>FTP</a:t>
                      </a:r>
                      <a:endParaRPr lang="en-US" sz="1800" kern="1200" baseline="0" dirty="0">
                        <a:solidFill>
                          <a:srgbClr val="0000CC"/>
                        </a:solidFill>
                        <a:latin typeface="Rockwell" panose="02060603020205020403" pitchFamily="18" charset="0"/>
                        <a:ea typeface="+mj-ea"/>
                        <a:cs typeface="+mj-cs"/>
                      </a:endParaRPr>
                    </a:p>
                  </a:txBody>
                  <a:tcPr anchor="ctr"/>
                </a:tc>
                <a:tc>
                  <a:txBody>
                    <a:bodyPr/>
                    <a:lstStyle/>
                    <a:p>
                      <a:pPr>
                        <a:spcBef>
                          <a:spcPts val="200"/>
                        </a:spcBef>
                        <a:spcAft>
                          <a:spcPts val="200"/>
                        </a:spcAft>
                      </a:pPr>
                      <a:r>
                        <a:rPr lang="en-US" sz="1800" kern="1200" baseline="0" dirty="0">
                          <a:solidFill>
                            <a:srgbClr val="0000CC"/>
                          </a:solidFill>
                        </a:rPr>
                        <a:t>File size </a:t>
                      </a:r>
                      <a:r>
                        <a:rPr lang="en-US" sz="1800" b="1" kern="1200" baseline="0" dirty="0">
                          <a:solidFill>
                            <a:srgbClr val="0000CC"/>
                          </a:solidFill>
                        </a:rPr>
                        <a:t>&gt; 100 MB</a:t>
                      </a:r>
                      <a:endParaRPr lang="en-US" sz="1800" b="1" kern="1200" baseline="0" dirty="0">
                        <a:solidFill>
                          <a:srgbClr val="0000CC"/>
                        </a:solidFill>
                        <a:latin typeface="Rockwell" panose="02060603020205020403" pitchFamily="18" charset="0"/>
                        <a:ea typeface="+mj-ea"/>
                        <a:cs typeface="+mj-cs"/>
                      </a:endParaRPr>
                    </a:p>
                  </a:txBody>
                  <a:tcPr anchor="ctr"/>
                </a:tc>
                <a:tc>
                  <a:txBody>
                    <a:bodyPr/>
                    <a:lstStyle/>
                    <a:p>
                      <a:pPr algn="ctr">
                        <a:spcBef>
                          <a:spcPts val="200"/>
                        </a:spcBef>
                        <a:spcAft>
                          <a:spcPts val="200"/>
                        </a:spcAft>
                      </a:pPr>
                      <a:r>
                        <a:rPr lang="en-US" sz="1800" kern="1200" baseline="0" dirty="0">
                          <a:solidFill>
                            <a:srgbClr val="0000CC"/>
                          </a:solidFill>
                        </a:rPr>
                        <a:t>Deny</a:t>
                      </a:r>
                      <a:endParaRPr lang="en-US" sz="1800" kern="1200" baseline="0" dirty="0">
                        <a:solidFill>
                          <a:srgbClr val="0000CC"/>
                        </a:solidFill>
                        <a:latin typeface="Rockwell" panose="02060603020205020403" pitchFamily="18" charset="0"/>
                        <a:ea typeface="+mj-ea"/>
                        <a:cs typeface="+mj-cs"/>
                      </a:endParaRPr>
                    </a:p>
                  </a:txBody>
                  <a:tcPr anchor="ctr"/>
                </a:tc>
                <a:extLst>
                  <a:ext uri="{0D108BD9-81ED-4DB2-BD59-A6C34878D82A}">
                    <a16:rowId xmlns:a16="http://schemas.microsoft.com/office/drawing/2014/main" val="459320431"/>
                  </a:ext>
                </a:extLst>
              </a:tr>
            </a:tbl>
          </a:graphicData>
        </a:graphic>
      </p:graphicFrame>
      <p:sp>
        <p:nvSpPr>
          <p:cNvPr id="5" name="Rectangle 4"/>
          <p:cNvSpPr/>
          <p:nvPr/>
        </p:nvSpPr>
        <p:spPr>
          <a:xfrm>
            <a:off x="1371599" y="4558144"/>
            <a:ext cx="9996985" cy="2031325"/>
          </a:xfrm>
          <a:prstGeom prst="rect">
            <a:avLst/>
          </a:prstGeom>
        </p:spPr>
        <p:txBody>
          <a:bodyPr wrap="square">
            <a:spAutoFit/>
          </a:bodyPr>
          <a:lstStyle/>
          <a:p>
            <a:pPr>
              <a:spcBef>
                <a:spcPts val="600"/>
              </a:spcBef>
              <a:spcAft>
                <a:spcPts val="600"/>
              </a:spcAft>
            </a:pPr>
            <a:r>
              <a:rPr lang="en-US" sz="2400" dirty="0">
                <a:solidFill>
                  <a:srgbClr val="0000CC"/>
                </a:solidFill>
                <a:latin typeface="Rockwell" panose="02060603020205020403" pitchFamily="18" charset="0"/>
                <a:ea typeface="+mj-ea"/>
                <a:cs typeface="+mj-cs"/>
              </a:rPr>
              <a:t>Rule 1: </a:t>
            </a:r>
            <a:r>
              <a:rPr lang="en-US" sz="2400" dirty="0" err="1">
                <a:solidFill>
                  <a:srgbClr val="0000CC"/>
                </a:solidFill>
                <a:latin typeface="Rockwell" panose="02060603020205020403" pitchFamily="18" charset="0"/>
                <a:ea typeface="+mj-ea"/>
                <a:cs typeface="+mj-cs"/>
              </a:rPr>
              <a:t>Ngăn</a:t>
            </a:r>
            <a:r>
              <a:rPr lang="en-US" sz="2400" dirty="0">
                <a:solidFill>
                  <a:srgbClr val="0000CC"/>
                </a:solidFill>
                <a:latin typeface="Rockwell" panose="02060603020205020403" pitchFamily="18" charset="0"/>
                <a:ea typeface="+mj-ea"/>
                <a:cs typeface="+mj-cs"/>
              </a:rPr>
              <a:t> </a:t>
            </a:r>
            <a:r>
              <a:rPr lang="en-US" sz="2400" dirty="0" err="1">
                <a:solidFill>
                  <a:srgbClr val="0000CC"/>
                </a:solidFill>
                <a:latin typeface="Rockwell" panose="02060603020205020403" pitchFamily="18" charset="0"/>
                <a:ea typeface="+mj-ea"/>
                <a:cs typeface="+mj-cs"/>
              </a:rPr>
              <a:t>chặn</a:t>
            </a:r>
            <a:r>
              <a:rPr lang="en-US" sz="2400" dirty="0">
                <a:solidFill>
                  <a:srgbClr val="0000CC"/>
                </a:solidFill>
                <a:latin typeface="Rockwell" panose="02060603020205020403" pitchFamily="18" charset="0"/>
                <a:ea typeface="+mj-ea"/>
                <a:cs typeface="+mj-cs"/>
              </a:rPr>
              <a:t> SQL Injection </a:t>
            </a:r>
            <a:r>
              <a:rPr lang="en-US" sz="2400" dirty="0" err="1">
                <a:solidFill>
                  <a:srgbClr val="0000CC"/>
                </a:solidFill>
                <a:latin typeface="Rockwell" panose="02060603020205020403" pitchFamily="18" charset="0"/>
                <a:ea typeface="+mj-ea"/>
                <a:cs typeface="+mj-cs"/>
              </a:rPr>
              <a:t>bằng</a:t>
            </a:r>
            <a:r>
              <a:rPr lang="en-US" sz="2400" dirty="0">
                <a:solidFill>
                  <a:srgbClr val="0000CC"/>
                </a:solidFill>
                <a:latin typeface="Rockwell" panose="02060603020205020403" pitchFamily="18" charset="0"/>
                <a:ea typeface="+mj-ea"/>
                <a:cs typeface="+mj-cs"/>
              </a:rPr>
              <a:t> </a:t>
            </a:r>
            <a:r>
              <a:rPr lang="en-US" sz="2400" dirty="0" err="1">
                <a:solidFill>
                  <a:srgbClr val="0000CC"/>
                </a:solidFill>
                <a:latin typeface="Rockwell" panose="02060603020205020403" pitchFamily="18" charset="0"/>
                <a:ea typeface="+mj-ea"/>
                <a:cs typeface="+mj-cs"/>
              </a:rPr>
              <a:t>cách</a:t>
            </a:r>
            <a:r>
              <a:rPr lang="en-US" sz="2400" dirty="0">
                <a:solidFill>
                  <a:srgbClr val="0000CC"/>
                </a:solidFill>
                <a:latin typeface="Rockwell" panose="02060603020205020403" pitchFamily="18" charset="0"/>
                <a:ea typeface="+mj-ea"/>
                <a:cs typeface="+mj-cs"/>
              </a:rPr>
              <a:t> </a:t>
            </a:r>
            <a:r>
              <a:rPr lang="en-US" sz="2400" dirty="0" err="1">
                <a:solidFill>
                  <a:srgbClr val="0000CC"/>
                </a:solidFill>
                <a:latin typeface="Rockwell" panose="02060603020205020403" pitchFamily="18" charset="0"/>
                <a:ea typeface="+mj-ea"/>
                <a:cs typeface="+mj-cs"/>
              </a:rPr>
              <a:t>chặn</a:t>
            </a:r>
            <a:r>
              <a:rPr lang="en-US" sz="2400" dirty="0">
                <a:solidFill>
                  <a:srgbClr val="0000CC"/>
                </a:solidFill>
                <a:latin typeface="Rockwell" panose="02060603020205020403" pitchFamily="18" charset="0"/>
                <a:ea typeface="+mj-ea"/>
                <a:cs typeface="+mj-cs"/>
              </a:rPr>
              <a:t> </a:t>
            </a:r>
            <a:r>
              <a:rPr lang="en-US" sz="2400" dirty="0" err="1">
                <a:solidFill>
                  <a:srgbClr val="0000CC"/>
                </a:solidFill>
                <a:latin typeface="Rockwell" panose="02060603020205020403" pitchFamily="18" charset="0"/>
                <a:ea typeface="+mj-ea"/>
                <a:cs typeface="+mj-cs"/>
              </a:rPr>
              <a:t>chuỗi</a:t>
            </a:r>
            <a:r>
              <a:rPr lang="en-US" sz="2400" dirty="0">
                <a:solidFill>
                  <a:srgbClr val="0000CC"/>
                </a:solidFill>
                <a:latin typeface="Rockwell" panose="02060603020205020403" pitchFamily="18" charset="0"/>
                <a:ea typeface="+mj-ea"/>
                <a:cs typeface="+mj-cs"/>
              </a:rPr>
              <a:t> </a:t>
            </a:r>
            <a:r>
              <a:rPr lang="en-US" sz="2400" b="1" dirty="0">
                <a:solidFill>
                  <a:srgbClr val="0000CC"/>
                </a:solidFill>
                <a:latin typeface="Rockwell" panose="02060603020205020403" pitchFamily="18" charset="0"/>
                <a:ea typeface="+mj-ea"/>
                <a:cs typeface="+mj-cs"/>
              </a:rPr>
              <a:t>DROP</a:t>
            </a:r>
            <a:r>
              <a:rPr lang="en-US" sz="2400" dirty="0">
                <a:solidFill>
                  <a:srgbClr val="0000CC"/>
                </a:solidFill>
                <a:latin typeface="Rockwell" panose="02060603020205020403" pitchFamily="18" charset="0"/>
                <a:ea typeface="+mj-ea"/>
                <a:cs typeface="+mj-cs"/>
              </a:rPr>
              <a:t> </a:t>
            </a:r>
            <a:r>
              <a:rPr lang="en-US" sz="2400" b="1" dirty="0">
                <a:solidFill>
                  <a:srgbClr val="0000CC"/>
                </a:solidFill>
                <a:latin typeface="Rockwell" panose="02060603020205020403" pitchFamily="18" charset="0"/>
                <a:ea typeface="+mj-ea"/>
                <a:cs typeface="+mj-cs"/>
              </a:rPr>
              <a:t>TABLE</a:t>
            </a:r>
            <a:r>
              <a:rPr lang="en-US" sz="2400" dirty="0">
                <a:solidFill>
                  <a:srgbClr val="0000CC"/>
                </a:solidFill>
                <a:latin typeface="Rockwell" panose="02060603020205020403" pitchFamily="18" charset="0"/>
                <a:ea typeface="+mj-ea"/>
                <a:cs typeface="+mj-cs"/>
              </a:rPr>
              <a:t>.</a:t>
            </a:r>
          </a:p>
          <a:p>
            <a:pPr>
              <a:spcBef>
                <a:spcPts val="600"/>
              </a:spcBef>
              <a:spcAft>
                <a:spcPts val="600"/>
              </a:spcAft>
            </a:pPr>
            <a:r>
              <a:rPr lang="en-US" sz="2400" dirty="0">
                <a:solidFill>
                  <a:srgbClr val="0000CC"/>
                </a:solidFill>
                <a:latin typeface="Rockwell" panose="02060603020205020403" pitchFamily="18" charset="0"/>
                <a:ea typeface="+mj-ea"/>
                <a:cs typeface="+mj-cs"/>
              </a:rPr>
              <a:t>Rule 2: </a:t>
            </a:r>
            <a:r>
              <a:rPr lang="en-US" sz="2400" dirty="0" err="1">
                <a:solidFill>
                  <a:srgbClr val="0000CC"/>
                </a:solidFill>
                <a:latin typeface="Rockwell" panose="02060603020205020403" pitchFamily="18" charset="0"/>
                <a:ea typeface="+mj-ea"/>
                <a:cs typeface="+mj-cs"/>
              </a:rPr>
              <a:t>Cấm</a:t>
            </a:r>
            <a:r>
              <a:rPr lang="en-US" sz="2400" dirty="0">
                <a:solidFill>
                  <a:srgbClr val="0000CC"/>
                </a:solidFill>
                <a:latin typeface="Rockwell" panose="02060603020205020403" pitchFamily="18" charset="0"/>
                <a:ea typeface="+mj-ea"/>
                <a:cs typeface="+mj-cs"/>
              </a:rPr>
              <a:t> </a:t>
            </a:r>
            <a:r>
              <a:rPr lang="en-US" sz="2400" dirty="0" err="1">
                <a:solidFill>
                  <a:srgbClr val="0000CC"/>
                </a:solidFill>
                <a:latin typeface="Rockwell" panose="02060603020205020403" pitchFamily="18" charset="0"/>
                <a:ea typeface="+mj-ea"/>
                <a:cs typeface="+mj-cs"/>
              </a:rPr>
              <a:t>người</a:t>
            </a:r>
            <a:r>
              <a:rPr lang="en-US" sz="2400" dirty="0">
                <a:solidFill>
                  <a:srgbClr val="0000CC"/>
                </a:solidFill>
                <a:latin typeface="Rockwell" panose="02060603020205020403" pitchFamily="18" charset="0"/>
                <a:ea typeface="+mj-ea"/>
                <a:cs typeface="+mj-cs"/>
              </a:rPr>
              <a:t> </a:t>
            </a:r>
            <a:r>
              <a:rPr lang="en-US" sz="2400" dirty="0" err="1">
                <a:solidFill>
                  <a:srgbClr val="0000CC"/>
                </a:solidFill>
                <a:latin typeface="Rockwell" panose="02060603020205020403" pitchFamily="18" charset="0"/>
                <a:ea typeface="+mj-ea"/>
                <a:cs typeface="+mj-cs"/>
              </a:rPr>
              <a:t>ngoài</a:t>
            </a:r>
            <a:r>
              <a:rPr lang="en-US" sz="2400" dirty="0">
                <a:solidFill>
                  <a:srgbClr val="0000CC"/>
                </a:solidFill>
                <a:latin typeface="Rockwell" panose="02060603020205020403" pitchFamily="18" charset="0"/>
                <a:ea typeface="+mj-ea"/>
                <a:cs typeface="+mj-cs"/>
              </a:rPr>
              <a:t> </a:t>
            </a:r>
            <a:r>
              <a:rPr lang="en-US" sz="2400" dirty="0" err="1">
                <a:solidFill>
                  <a:srgbClr val="0000CC"/>
                </a:solidFill>
                <a:latin typeface="Rockwell" panose="02060603020205020403" pitchFamily="18" charset="0"/>
                <a:ea typeface="+mj-ea"/>
                <a:cs typeface="+mj-cs"/>
              </a:rPr>
              <a:t>truy</a:t>
            </a:r>
            <a:r>
              <a:rPr lang="en-US" sz="2400" dirty="0">
                <a:solidFill>
                  <a:srgbClr val="0000CC"/>
                </a:solidFill>
                <a:latin typeface="Rockwell" panose="02060603020205020403" pitchFamily="18" charset="0"/>
                <a:ea typeface="+mj-ea"/>
                <a:cs typeface="+mj-cs"/>
              </a:rPr>
              <a:t> </a:t>
            </a:r>
            <a:r>
              <a:rPr lang="en-US" sz="2400" dirty="0" err="1">
                <a:solidFill>
                  <a:srgbClr val="0000CC"/>
                </a:solidFill>
                <a:latin typeface="Rockwell" panose="02060603020205020403" pitchFamily="18" charset="0"/>
                <a:ea typeface="+mj-ea"/>
                <a:cs typeface="+mj-cs"/>
              </a:rPr>
              <a:t>cập</a:t>
            </a:r>
            <a:r>
              <a:rPr lang="en-US" sz="2400" dirty="0">
                <a:solidFill>
                  <a:srgbClr val="0000CC"/>
                </a:solidFill>
                <a:latin typeface="Rockwell" panose="02060603020205020403" pitchFamily="18" charset="0"/>
                <a:ea typeface="+mj-ea"/>
                <a:cs typeface="+mj-cs"/>
              </a:rPr>
              <a:t> </a:t>
            </a:r>
            <a:r>
              <a:rPr lang="en-US" sz="2400" dirty="0" err="1">
                <a:solidFill>
                  <a:srgbClr val="0000CC"/>
                </a:solidFill>
                <a:latin typeface="Rockwell" panose="02060603020205020403" pitchFamily="18" charset="0"/>
                <a:ea typeface="+mj-ea"/>
                <a:cs typeface="+mj-cs"/>
              </a:rPr>
              <a:t>trang</a:t>
            </a:r>
            <a:r>
              <a:rPr lang="en-US" sz="2400" dirty="0">
                <a:solidFill>
                  <a:srgbClr val="0000CC"/>
                </a:solidFill>
                <a:latin typeface="Rockwell" panose="02060603020205020403" pitchFamily="18" charset="0"/>
                <a:ea typeface="+mj-ea"/>
                <a:cs typeface="+mj-cs"/>
              </a:rPr>
              <a:t> </a:t>
            </a:r>
            <a:r>
              <a:rPr lang="en-US" sz="2400" dirty="0" err="1">
                <a:solidFill>
                  <a:srgbClr val="0000CC"/>
                </a:solidFill>
                <a:latin typeface="Rockwell" panose="02060603020205020403" pitchFamily="18" charset="0"/>
                <a:ea typeface="+mj-ea"/>
                <a:cs typeface="+mj-cs"/>
              </a:rPr>
              <a:t>quản</a:t>
            </a:r>
            <a:r>
              <a:rPr lang="en-US" sz="2400" dirty="0">
                <a:solidFill>
                  <a:srgbClr val="0000CC"/>
                </a:solidFill>
                <a:latin typeface="Rockwell" panose="02060603020205020403" pitchFamily="18" charset="0"/>
                <a:ea typeface="+mj-ea"/>
                <a:cs typeface="+mj-cs"/>
              </a:rPr>
              <a:t> </a:t>
            </a:r>
            <a:r>
              <a:rPr lang="en-US" sz="2400" dirty="0" err="1">
                <a:solidFill>
                  <a:srgbClr val="0000CC"/>
                </a:solidFill>
                <a:latin typeface="Rockwell" panose="02060603020205020403" pitchFamily="18" charset="0"/>
                <a:ea typeface="+mj-ea"/>
                <a:cs typeface="+mj-cs"/>
              </a:rPr>
              <a:t>trị</a:t>
            </a:r>
            <a:r>
              <a:rPr lang="en-US" sz="2400" dirty="0">
                <a:solidFill>
                  <a:srgbClr val="0000CC"/>
                </a:solidFill>
                <a:latin typeface="Rockwell" panose="02060603020205020403" pitchFamily="18" charset="0"/>
                <a:ea typeface="+mj-ea"/>
                <a:cs typeface="+mj-cs"/>
              </a:rPr>
              <a:t> </a:t>
            </a:r>
            <a:r>
              <a:rPr lang="en-US" sz="2400" b="1" dirty="0">
                <a:solidFill>
                  <a:srgbClr val="0000CC"/>
                </a:solidFill>
                <a:latin typeface="Rockwell" panose="02060603020205020403" pitchFamily="18" charset="0"/>
                <a:ea typeface="+mj-ea"/>
                <a:cs typeface="+mj-cs"/>
              </a:rPr>
              <a:t>/admin</a:t>
            </a:r>
            <a:r>
              <a:rPr lang="en-US" sz="2400" dirty="0">
                <a:solidFill>
                  <a:srgbClr val="0000CC"/>
                </a:solidFill>
                <a:latin typeface="Rockwell" panose="02060603020205020403" pitchFamily="18" charset="0"/>
                <a:ea typeface="+mj-ea"/>
                <a:cs typeface="+mj-cs"/>
              </a:rPr>
              <a:t>.</a:t>
            </a:r>
          </a:p>
          <a:p>
            <a:pPr>
              <a:spcBef>
                <a:spcPts val="600"/>
              </a:spcBef>
              <a:spcAft>
                <a:spcPts val="600"/>
              </a:spcAft>
            </a:pPr>
            <a:r>
              <a:rPr lang="en-US" sz="2400" dirty="0">
                <a:solidFill>
                  <a:srgbClr val="0000CC"/>
                </a:solidFill>
                <a:latin typeface="Rockwell" panose="02060603020205020403" pitchFamily="18" charset="0"/>
                <a:ea typeface="+mj-ea"/>
                <a:cs typeface="+mj-cs"/>
              </a:rPr>
              <a:t>Rule 3: Email </a:t>
            </a:r>
            <a:r>
              <a:rPr lang="en-US" sz="2400" dirty="0" err="1">
                <a:solidFill>
                  <a:srgbClr val="0000CC"/>
                </a:solidFill>
                <a:latin typeface="Rockwell" panose="02060603020205020403" pitchFamily="18" charset="0"/>
                <a:ea typeface="+mj-ea"/>
                <a:cs typeface="+mj-cs"/>
              </a:rPr>
              <a:t>có</a:t>
            </a:r>
            <a:r>
              <a:rPr lang="en-US" sz="2400" dirty="0">
                <a:solidFill>
                  <a:srgbClr val="0000CC"/>
                </a:solidFill>
                <a:latin typeface="Rockwell" panose="02060603020205020403" pitchFamily="18" charset="0"/>
                <a:ea typeface="+mj-ea"/>
                <a:cs typeface="+mj-cs"/>
              </a:rPr>
              <a:t> file </a:t>
            </a:r>
            <a:r>
              <a:rPr lang="en-US" sz="2400" b="1" dirty="0">
                <a:solidFill>
                  <a:srgbClr val="0000CC"/>
                </a:solidFill>
                <a:latin typeface="Rockwell" panose="02060603020205020403" pitchFamily="18" charset="0"/>
                <a:ea typeface="+mj-ea"/>
                <a:cs typeface="+mj-cs"/>
              </a:rPr>
              <a:t>.exe </a:t>
            </a:r>
            <a:r>
              <a:rPr lang="en-US" sz="2400" dirty="0" err="1">
                <a:solidFill>
                  <a:srgbClr val="0000CC"/>
                </a:solidFill>
                <a:latin typeface="Rockwell" panose="02060603020205020403" pitchFamily="18" charset="0"/>
                <a:ea typeface="+mj-ea"/>
                <a:cs typeface="+mj-cs"/>
              </a:rPr>
              <a:t>sẽ</a:t>
            </a:r>
            <a:r>
              <a:rPr lang="en-US" sz="2400" dirty="0">
                <a:solidFill>
                  <a:srgbClr val="0000CC"/>
                </a:solidFill>
                <a:latin typeface="Rockwell" panose="02060603020205020403" pitchFamily="18" charset="0"/>
                <a:ea typeface="+mj-ea"/>
                <a:cs typeface="+mj-cs"/>
              </a:rPr>
              <a:t> </a:t>
            </a:r>
            <a:r>
              <a:rPr lang="en-US" sz="2400" dirty="0" err="1">
                <a:solidFill>
                  <a:srgbClr val="0000CC"/>
                </a:solidFill>
                <a:latin typeface="Rockwell" panose="02060603020205020403" pitchFamily="18" charset="0"/>
                <a:ea typeface="+mj-ea"/>
                <a:cs typeface="+mj-cs"/>
              </a:rPr>
              <a:t>bị</a:t>
            </a:r>
            <a:r>
              <a:rPr lang="en-US" sz="2400" dirty="0">
                <a:solidFill>
                  <a:srgbClr val="0000CC"/>
                </a:solidFill>
                <a:latin typeface="Rockwell" panose="02060603020205020403" pitchFamily="18" charset="0"/>
                <a:ea typeface="+mj-ea"/>
                <a:cs typeface="+mj-cs"/>
              </a:rPr>
              <a:t> </a:t>
            </a:r>
            <a:r>
              <a:rPr lang="en-US" sz="2400" dirty="0" err="1">
                <a:solidFill>
                  <a:srgbClr val="0000CC"/>
                </a:solidFill>
                <a:latin typeface="Rockwell" panose="02060603020205020403" pitchFamily="18" charset="0"/>
                <a:ea typeface="+mj-ea"/>
                <a:cs typeface="+mj-cs"/>
              </a:rPr>
              <a:t>cách</a:t>
            </a:r>
            <a:r>
              <a:rPr lang="en-US" sz="2400" dirty="0">
                <a:solidFill>
                  <a:srgbClr val="0000CC"/>
                </a:solidFill>
                <a:latin typeface="Rockwell" panose="02060603020205020403" pitchFamily="18" charset="0"/>
                <a:ea typeface="+mj-ea"/>
                <a:cs typeface="+mj-cs"/>
              </a:rPr>
              <a:t> </a:t>
            </a:r>
            <a:r>
              <a:rPr lang="en-US" sz="2400" dirty="0" err="1">
                <a:solidFill>
                  <a:srgbClr val="0000CC"/>
                </a:solidFill>
                <a:latin typeface="Rockwell" panose="02060603020205020403" pitchFamily="18" charset="0"/>
                <a:ea typeface="+mj-ea"/>
                <a:cs typeface="+mj-cs"/>
              </a:rPr>
              <a:t>ly</a:t>
            </a:r>
            <a:r>
              <a:rPr lang="en-US" sz="2400" dirty="0">
                <a:solidFill>
                  <a:srgbClr val="0000CC"/>
                </a:solidFill>
                <a:latin typeface="Rockwell" panose="02060603020205020403" pitchFamily="18" charset="0"/>
                <a:ea typeface="+mj-ea"/>
                <a:cs typeface="+mj-cs"/>
              </a:rPr>
              <a:t>.</a:t>
            </a:r>
          </a:p>
          <a:p>
            <a:pPr>
              <a:spcBef>
                <a:spcPts val="600"/>
              </a:spcBef>
              <a:spcAft>
                <a:spcPts val="600"/>
              </a:spcAft>
            </a:pPr>
            <a:r>
              <a:rPr lang="en-US" sz="2400" dirty="0">
                <a:solidFill>
                  <a:srgbClr val="0000CC"/>
                </a:solidFill>
                <a:latin typeface="Rockwell" panose="02060603020205020403" pitchFamily="18" charset="0"/>
                <a:ea typeface="+mj-ea"/>
                <a:cs typeface="+mj-cs"/>
              </a:rPr>
              <a:t>Rule 4: </a:t>
            </a:r>
            <a:r>
              <a:rPr lang="en-US" sz="2400" dirty="0" err="1">
                <a:solidFill>
                  <a:srgbClr val="0000CC"/>
                </a:solidFill>
                <a:latin typeface="Rockwell" panose="02060603020205020403" pitchFamily="18" charset="0"/>
                <a:ea typeface="+mj-ea"/>
                <a:cs typeface="+mj-cs"/>
              </a:rPr>
              <a:t>Cấm</a:t>
            </a:r>
            <a:r>
              <a:rPr lang="en-US" sz="2400" dirty="0">
                <a:solidFill>
                  <a:srgbClr val="0000CC"/>
                </a:solidFill>
                <a:latin typeface="Rockwell" panose="02060603020205020403" pitchFamily="18" charset="0"/>
                <a:ea typeface="+mj-ea"/>
                <a:cs typeface="+mj-cs"/>
              </a:rPr>
              <a:t> upload/download file </a:t>
            </a:r>
            <a:r>
              <a:rPr lang="en-US" sz="2400" b="1" dirty="0" err="1">
                <a:solidFill>
                  <a:srgbClr val="0000CC"/>
                </a:solidFill>
                <a:latin typeface="Rockwell" panose="02060603020205020403" pitchFamily="18" charset="0"/>
                <a:ea typeface="+mj-ea"/>
                <a:cs typeface="+mj-cs"/>
              </a:rPr>
              <a:t>quá</a:t>
            </a:r>
            <a:r>
              <a:rPr lang="en-US" sz="2400" b="1" dirty="0">
                <a:solidFill>
                  <a:srgbClr val="0000CC"/>
                </a:solidFill>
                <a:latin typeface="Rockwell" panose="02060603020205020403" pitchFamily="18" charset="0"/>
                <a:ea typeface="+mj-ea"/>
                <a:cs typeface="+mj-cs"/>
              </a:rPr>
              <a:t> 100 MB </a:t>
            </a:r>
            <a:r>
              <a:rPr lang="en-US" sz="2400" dirty="0">
                <a:solidFill>
                  <a:srgbClr val="0000CC"/>
                </a:solidFill>
                <a:latin typeface="Rockwell" panose="02060603020205020403" pitchFamily="18" charset="0"/>
                <a:ea typeface="+mj-ea"/>
                <a:cs typeface="+mj-cs"/>
              </a:rPr>
              <a:t>qua FTP.</a:t>
            </a:r>
          </a:p>
        </p:txBody>
      </p:sp>
    </p:spTree>
    <p:extLst>
      <p:ext uri="{BB962C8B-B14F-4D97-AF65-F5344CB8AC3E}">
        <p14:creationId xmlns:p14="http://schemas.microsoft.com/office/powerpoint/2010/main" val="2485867510"/>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44303" y="491797"/>
            <a:ext cx="10242645" cy="528851"/>
          </a:xfrm>
        </p:spPr>
        <p:txBody>
          <a:bodyPr/>
          <a:lstStyle/>
          <a:p>
            <a:r>
              <a:rPr lang="en-US" sz="2800" b="1" dirty="0">
                <a:solidFill>
                  <a:srgbClr val="0000CC"/>
                </a:solidFill>
                <a:latin typeface="Rockwell" panose="02060603020205020403" pitchFamily="18" charset="0"/>
              </a:rPr>
              <a:t>7</a:t>
            </a:r>
            <a:r>
              <a:rPr lang="en-US" sz="2800" b="1" dirty="0" smtClean="0">
                <a:solidFill>
                  <a:srgbClr val="0000CC"/>
                </a:solidFill>
                <a:latin typeface="Rockwell" panose="02060603020205020403" pitchFamily="18" charset="0"/>
              </a:rPr>
              <a:t>.2.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Chức</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năng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và</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mục</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đích</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sử</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dụng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của</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FIREWALL</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44304" y="1020648"/>
            <a:ext cx="9764976" cy="3865251"/>
          </a:xfrm>
        </p:spPr>
        <p:txBody>
          <a:bodyPr/>
          <a:lstStyle/>
          <a:p>
            <a:pPr marL="0" indent="0">
              <a:buNone/>
            </a:pPr>
            <a:r>
              <a:rPr lang="en-US" b="1" dirty="0" smtClean="0">
                <a:solidFill>
                  <a:srgbClr val="0000CC"/>
                </a:solidFill>
                <a:latin typeface="Rockwell" panose="02060603020205020403" pitchFamily="18" charset="0"/>
                <a:ea typeface="+mj-ea"/>
                <a:cs typeface="+mj-cs"/>
              </a:rPr>
              <a:t>2. </a:t>
            </a:r>
            <a:r>
              <a:rPr lang="en-US" b="1" dirty="0" err="1" smtClean="0">
                <a:solidFill>
                  <a:srgbClr val="0000CC"/>
                </a:solidFill>
                <a:latin typeface="Rockwell" panose="02060603020205020403" pitchFamily="18" charset="0"/>
                <a:ea typeface="+mj-ea"/>
                <a:cs typeface="+mj-cs"/>
              </a:rPr>
              <a:t>Các</a:t>
            </a:r>
            <a:r>
              <a:rPr lang="en-US" b="1" dirty="0" smtClean="0">
                <a:solidFill>
                  <a:srgbClr val="0000CC"/>
                </a:solidFill>
                <a:latin typeface="Rockwell" panose="02060603020205020403" pitchFamily="18" charset="0"/>
                <a:ea typeface="+mj-ea"/>
                <a:cs typeface="+mj-cs"/>
              </a:rPr>
              <a:t> </a:t>
            </a:r>
            <a:r>
              <a:rPr lang="en-US" b="1" dirty="0" err="1" smtClean="0">
                <a:solidFill>
                  <a:srgbClr val="0000CC"/>
                </a:solidFill>
                <a:latin typeface="Rockwell" panose="02060603020205020403" pitchFamily="18" charset="0"/>
                <a:ea typeface="+mj-ea"/>
                <a:cs typeface="+mj-cs"/>
              </a:rPr>
              <a:t>thành</a:t>
            </a:r>
            <a:r>
              <a:rPr lang="en-US" b="1" dirty="0" smtClean="0">
                <a:solidFill>
                  <a:srgbClr val="0000CC"/>
                </a:solidFill>
                <a:latin typeface="Rockwell" panose="02060603020205020403" pitchFamily="18" charset="0"/>
                <a:ea typeface="+mj-ea"/>
                <a:cs typeface="+mj-cs"/>
              </a:rPr>
              <a:t> </a:t>
            </a:r>
            <a:r>
              <a:rPr lang="en-US" b="1" dirty="0" err="1" smtClean="0">
                <a:solidFill>
                  <a:srgbClr val="0000CC"/>
                </a:solidFill>
                <a:latin typeface="Rockwell" panose="02060603020205020403" pitchFamily="18" charset="0"/>
                <a:ea typeface="+mj-ea"/>
                <a:cs typeface="+mj-cs"/>
              </a:rPr>
              <a:t>phần</a:t>
            </a:r>
            <a:r>
              <a:rPr lang="en-US" b="1" dirty="0" smtClean="0">
                <a:solidFill>
                  <a:srgbClr val="0000CC"/>
                </a:solidFill>
                <a:latin typeface="Rockwell" panose="02060603020205020403" pitchFamily="18" charset="0"/>
                <a:ea typeface="+mj-ea"/>
                <a:cs typeface="+mj-cs"/>
              </a:rPr>
              <a:t> </a:t>
            </a:r>
            <a:r>
              <a:rPr lang="en-US" b="1" dirty="0" err="1" smtClean="0">
                <a:solidFill>
                  <a:srgbClr val="0000CC"/>
                </a:solidFill>
                <a:latin typeface="Rockwell" panose="02060603020205020403" pitchFamily="18" charset="0"/>
                <a:ea typeface="+mj-ea"/>
                <a:cs typeface="+mj-cs"/>
              </a:rPr>
              <a:t>chính</a:t>
            </a:r>
            <a:r>
              <a:rPr lang="en-US" b="1" dirty="0" smtClean="0">
                <a:solidFill>
                  <a:srgbClr val="0000CC"/>
                </a:solidFill>
                <a:latin typeface="Rockwell" panose="02060603020205020403" pitchFamily="18" charset="0"/>
                <a:ea typeface="+mj-ea"/>
                <a:cs typeface="+mj-cs"/>
              </a:rPr>
              <a:t> </a:t>
            </a:r>
            <a:r>
              <a:rPr lang="en-US" b="1" dirty="0" err="1" smtClean="0">
                <a:solidFill>
                  <a:srgbClr val="0000CC"/>
                </a:solidFill>
                <a:latin typeface="Rockwell" panose="02060603020205020403" pitchFamily="18" charset="0"/>
                <a:ea typeface="+mj-ea"/>
                <a:cs typeface="+mj-cs"/>
              </a:rPr>
              <a:t>của</a:t>
            </a:r>
            <a:r>
              <a:rPr lang="en-US" b="1" dirty="0" smtClean="0">
                <a:solidFill>
                  <a:srgbClr val="0000CC"/>
                </a:solidFill>
                <a:latin typeface="Rockwell" panose="02060603020205020403" pitchFamily="18" charset="0"/>
                <a:ea typeface="+mj-ea"/>
                <a:cs typeface="+mj-cs"/>
              </a:rPr>
              <a:t> Firewall</a:t>
            </a:r>
            <a:r>
              <a:rPr lang="vi-VN" b="1" dirty="0" smtClean="0">
                <a:solidFill>
                  <a:srgbClr val="0000CC"/>
                </a:solidFill>
                <a:latin typeface="Rockwell" panose="02060603020205020403" pitchFamily="18" charset="0"/>
                <a:ea typeface="+mj-ea"/>
                <a:cs typeface="+mj-cs"/>
              </a:rPr>
              <a:t>:</a:t>
            </a:r>
            <a:endParaRPr lang="en-US" b="1" dirty="0" smtClean="0">
              <a:solidFill>
                <a:srgbClr val="0000CC"/>
              </a:solidFill>
              <a:latin typeface="Rockwell" panose="02060603020205020403" pitchFamily="18" charset="0"/>
              <a:ea typeface="+mj-ea"/>
              <a:cs typeface="+mj-cs"/>
            </a:endParaRPr>
          </a:p>
          <a:p>
            <a:pPr marL="0" indent="0" algn="just">
              <a:lnSpc>
                <a:spcPct val="120000"/>
              </a:lnSpc>
              <a:spcBef>
                <a:spcPts val="1200"/>
              </a:spcBef>
              <a:spcAft>
                <a:spcPts val="600"/>
              </a:spcAft>
              <a:buNone/>
            </a:pPr>
            <a:r>
              <a:rPr lang="en-US" dirty="0" err="1" smtClean="0">
                <a:solidFill>
                  <a:srgbClr val="0000CC"/>
                </a:solidFill>
                <a:latin typeface="Rockwell" panose="02060603020205020403" pitchFamily="18" charset="0"/>
                <a:ea typeface="+mj-ea"/>
                <a:cs typeface="+mj-cs"/>
              </a:rPr>
              <a:t>Ví</a:t>
            </a:r>
            <a:r>
              <a:rPr lang="en-US" dirty="0" smtClean="0">
                <a:solidFill>
                  <a:srgbClr val="0000CC"/>
                </a:solidFill>
                <a:latin typeface="Rockwell" panose="02060603020205020403" pitchFamily="18" charset="0"/>
                <a:ea typeface="+mj-ea"/>
                <a:cs typeface="+mj-cs"/>
              </a:rPr>
              <a:t> </a:t>
            </a:r>
            <a:r>
              <a:rPr lang="en-US" dirty="0" err="1" smtClean="0">
                <a:solidFill>
                  <a:srgbClr val="0000CC"/>
                </a:solidFill>
                <a:latin typeface="Rockwell" panose="02060603020205020403" pitchFamily="18" charset="0"/>
                <a:ea typeface="+mj-ea"/>
                <a:cs typeface="+mj-cs"/>
              </a:rPr>
              <a:t>dụ</a:t>
            </a:r>
            <a:r>
              <a:rPr lang="en-US" dirty="0" smtClean="0">
                <a:solidFill>
                  <a:srgbClr val="0000CC"/>
                </a:solidFill>
                <a:latin typeface="Rockwell" panose="02060603020205020403" pitchFamily="18" charset="0"/>
                <a:ea typeface="+mj-ea"/>
                <a:cs typeface="+mj-cs"/>
              </a:rPr>
              <a:t> 3:</a:t>
            </a:r>
          </a:p>
          <a:p>
            <a:pPr marL="0" indent="0" algn="just">
              <a:lnSpc>
                <a:spcPct val="120000"/>
              </a:lnSpc>
              <a:spcBef>
                <a:spcPts val="1200"/>
              </a:spcBef>
              <a:spcAft>
                <a:spcPts val="600"/>
              </a:spcAft>
              <a:buNone/>
            </a:pPr>
            <a:endParaRPr lang="en-US" dirty="0">
              <a:solidFill>
                <a:srgbClr val="0000CC"/>
              </a:solidFill>
              <a:latin typeface="Rockwell" panose="02060603020205020403" pitchFamily="18" charset="0"/>
              <a:ea typeface="+mj-ea"/>
              <a:cs typeface="+mj-cs"/>
            </a:endParaRPr>
          </a:p>
        </p:txBody>
      </p:sp>
      <p:graphicFrame>
        <p:nvGraphicFramePr>
          <p:cNvPr id="6" name="Table 5"/>
          <p:cNvGraphicFramePr>
            <a:graphicFrameLocks noGrp="1"/>
          </p:cNvGraphicFramePr>
          <p:nvPr>
            <p:extLst>
              <p:ext uri="{D42A27DB-BD31-4B8C-83A1-F6EECF244321}">
                <p14:modId xmlns:p14="http://schemas.microsoft.com/office/powerpoint/2010/main" val="3252483030"/>
              </p:ext>
            </p:extLst>
          </p:nvPr>
        </p:nvGraphicFramePr>
        <p:xfrm>
          <a:off x="1473959" y="2038873"/>
          <a:ext cx="9601200" cy="1828800"/>
        </p:xfrm>
        <a:graphic>
          <a:graphicData uri="http://schemas.openxmlformats.org/drawingml/2006/table">
            <a:tbl>
              <a:tblPr>
                <a:tableStyleId>{3C2FFA5D-87B4-456A-9821-1D502468CF0F}</a:tableStyleId>
              </a:tblPr>
              <a:tblGrid>
                <a:gridCol w="1385247">
                  <a:extLst>
                    <a:ext uri="{9D8B030D-6E8A-4147-A177-3AD203B41FA5}">
                      <a16:colId xmlns:a16="http://schemas.microsoft.com/office/drawing/2014/main" val="3247748538"/>
                    </a:ext>
                  </a:extLst>
                </a:gridCol>
                <a:gridCol w="1692322">
                  <a:extLst>
                    <a:ext uri="{9D8B030D-6E8A-4147-A177-3AD203B41FA5}">
                      <a16:colId xmlns:a16="http://schemas.microsoft.com/office/drawing/2014/main" val="2257990892"/>
                    </a:ext>
                  </a:extLst>
                </a:gridCol>
                <a:gridCol w="1723031">
                  <a:extLst>
                    <a:ext uri="{9D8B030D-6E8A-4147-A177-3AD203B41FA5}">
                      <a16:colId xmlns:a16="http://schemas.microsoft.com/office/drawing/2014/main" val="3462958396"/>
                    </a:ext>
                  </a:extLst>
                </a:gridCol>
                <a:gridCol w="1600200">
                  <a:extLst>
                    <a:ext uri="{9D8B030D-6E8A-4147-A177-3AD203B41FA5}">
                      <a16:colId xmlns:a16="http://schemas.microsoft.com/office/drawing/2014/main" val="3595350186"/>
                    </a:ext>
                  </a:extLst>
                </a:gridCol>
                <a:gridCol w="1600200">
                  <a:extLst>
                    <a:ext uri="{9D8B030D-6E8A-4147-A177-3AD203B41FA5}">
                      <a16:colId xmlns:a16="http://schemas.microsoft.com/office/drawing/2014/main" val="3613102809"/>
                    </a:ext>
                  </a:extLst>
                </a:gridCol>
                <a:gridCol w="1600200">
                  <a:extLst>
                    <a:ext uri="{9D8B030D-6E8A-4147-A177-3AD203B41FA5}">
                      <a16:colId xmlns:a16="http://schemas.microsoft.com/office/drawing/2014/main" val="3144100270"/>
                    </a:ext>
                  </a:extLst>
                </a:gridCol>
              </a:tblGrid>
              <a:tr h="0">
                <a:tc>
                  <a:txBody>
                    <a:bodyPr/>
                    <a:lstStyle/>
                    <a:p>
                      <a:pPr algn="ctr"/>
                      <a:r>
                        <a:rPr lang="en-US" b="1" dirty="0">
                          <a:solidFill>
                            <a:srgbClr val="0000CC"/>
                          </a:solidFill>
                        </a:rPr>
                        <a:t>Rule</a:t>
                      </a:r>
                    </a:p>
                  </a:txBody>
                  <a:tcPr anchor="ctr"/>
                </a:tc>
                <a:tc>
                  <a:txBody>
                    <a:bodyPr/>
                    <a:lstStyle/>
                    <a:p>
                      <a:pPr algn="ctr"/>
                      <a:r>
                        <a:rPr lang="en-US" b="1" dirty="0">
                          <a:solidFill>
                            <a:srgbClr val="0000CC"/>
                          </a:solidFill>
                        </a:rPr>
                        <a:t>Source IP</a:t>
                      </a:r>
                    </a:p>
                  </a:txBody>
                  <a:tcPr anchor="ctr"/>
                </a:tc>
                <a:tc>
                  <a:txBody>
                    <a:bodyPr/>
                    <a:lstStyle/>
                    <a:p>
                      <a:pPr algn="ctr"/>
                      <a:r>
                        <a:rPr lang="en-US" b="1" dirty="0">
                          <a:solidFill>
                            <a:srgbClr val="0000CC"/>
                          </a:solidFill>
                        </a:rPr>
                        <a:t>Destination IP</a:t>
                      </a:r>
                    </a:p>
                  </a:txBody>
                  <a:tcPr anchor="ctr"/>
                </a:tc>
                <a:tc>
                  <a:txBody>
                    <a:bodyPr/>
                    <a:lstStyle/>
                    <a:p>
                      <a:pPr algn="ctr"/>
                      <a:r>
                        <a:rPr lang="en-US" b="1" dirty="0">
                          <a:solidFill>
                            <a:srgbClr val="0000CC"/>
                          </a:solidFill>
                        </a:rPr>
                        <a:t>Protocol</a:t>
                      </a:r>
                    </a:p>
                  </a:txBody>
                  <a:tcPr anchor="ctr"/>
                </a:tc>
                <a:tc>
                  <a:txBody>
                    <a:bodyPr/>
                    <a:lstStyle/>
                    <a:p>
                      <a:pPr algn="ctr"/>
                      <a:r>
                        <a:rPr lang="en-US" b="1" dirty="0">
                          <a:solidFill>
                            <a:srgbClr val="0000CC"/>
                          </a:solidFill>
                        </a:rPr>
                        <a:t>Port</a:t>
                      </a:r>
                    </a:p>
                  </a:txBody>
                  <a:tcPr anchor="ctr"/>
                </a:tc>
                <a:tc>
                  <a:txBody>
                    <a:bodyPr/>
                    <a:lstStyle/>
                    <a:p>
                      <a:pPr algn="ctr"/>
                      <a:r>
                        <a:rPr lang="en-US" b="1" dirty="0">
                          <a:solidFill>
                            <a:srgbClr val="0000CC"/>
                          </a:solidFill>
                        </a:rPr>
                        <a:t>Action</a:t>
                      </a:r>
                    </a:p>
                  </a:txBody>
                  <a:tcPr anchor="ctr"/>
                </a:tc>
                <a:extLst>
                  <a:ext uri="{0D108BD9-81ED-4DB2-BD59-A6C34878D82A}">
                    <a16:rowId xmlns:a16="http://schemas.microsoft.com/office/drawing/2014/main" val="2976239897"/>
                  </a:ext>
                </a:extLst>
              </a:tr>
              <a:tr h="0">
                <a:tc>
                  <a:txBody>
                    <a:bodyPr/>
                    <a:lstStyle/>
                    <a:p>
                      <a:pPr algn="ctr"/>
                      <a:r>
                        <a:rPr lang="en-US" dirty="0">
                          <a:solidFill>
                            <a:srgbClr val="0000CC"/>
                          </a:solidFill>
                        </a:rPr>
                        <a:t>1</a:t>
                      </a:r>
                    </a:p>
                  </a:txBody>
                  <a:tcPr anchor="ctr"/>
                </a:tc>
                <a:tc>
                  <a:txBody>
                    <a:bodyPr/>
                    <a:lstStyle/>
                    <a:p>
                      <a:pPr algn="ctr"/>
                      <a:r>
                        <a:rPr lang="en-US" dirty="0">
                          <a:solidFill>
                            <a:srgbClr val="0000CC"/>
                          </a:solidFill>
                        </a:rPr>
                        <a:t>Any</a:t>
                      </a:r>
                    </a:p>
                  </a:txBody>
                  <a:tcPr anchor="ctr"/>
                </a:tc>
                <a:tc>
                  <a:txBody>
                    <a:bodyPr/>
                    <a:lstStyle/>
                    <a:p>
                      <a:pPr algn="ctr"/>
                      <a:r>
                        <a:rPr lang="en-US" dirty="0">
                          <a:solidFill>
                            <a:srgbClr val="0000CC"/>
                          </a:solidFill>
                        </a:rPr>
                        <a:t>10.0.0.5</a:t>
                      </a:r>
                    </a:p>
                  </a:txBody>
                  <a:tcPr anchor="ctr"/>
                </a:tc>
                <a:tc>
                  <a:txBody>
                    <a:bodyPr/>
                    <a:lstStyle/>
                    <a:p>
                      <a:pPr algn="ctr"/>
                      <a:r>
                        <a:rPr lang="en-US" dirty="0">
                          <a:solidFill>
                            <a:srgbClr val="0000CC"/>
                          </a:solidFill>
                        </a:rPr>
                        <a:t>TCP</a:t>
                      </a:r>
                    </a:p>
                  </a:txBody>
                  <a:tcPr anchor="ctr"/>
                </a:tc>
                <a:tc>
                  <a:txBody>
                    <a:bodyPr/>
                    <a:lstStyle/>
                    <a:p>
                      <a:pPr algn="ctr"/>
                      <a:r>
                        <a:rPr lang="en-US">
                          <a:solidFill>
                            <a:srgbClr val="0000CC"/>
                          </a:solidFill>
                        </a:rPr>
                        <a:t>443</a:t>
                      </a:r>
                    </a:p>
                  </a:txBody>
                  <a:tcPr anchor="ctr"/>
                </a:tc>
                <a:tc>
                  <a:txBody>
                    <a:bodyPr/>
                    <a:lstStyle/>
                    <a:p>
                      <a:pPr algn="ctr"/>
                      <a:r>
                        <a:rPr lang="en-US">
                          <a:solidFill>
                            <a:srgbClr val="0000CC"/>
                          </a:solidFill>
                        </a:rPr>
                        <a:t>Allow</a:t>
                      </a:r>
                    </a:p>
                  </a:txBody>
                  <a:tcPr anchor="ctr"/>
                </a:tc>
                <a:extLst>
                  <a:ext uri="{0D108BD9-81ED-4DB2-BD59-A6C34878D82A}">
                    <a16:rowId xmlns:a16="http://schemas.microsoft.com/office/drawing/2014/main" val="598383860"/>
                  </a:ext>
                </a:extLst>
              </a:tr>
              <a:tr h="0">
                <a:tc>
                  <a:txBody>
                    <a:bodyPr/>
                    <a:lstStyle/>
                    <a:p>
                      <a:pPr algn="ctr"/>
                      <a:r>
                        <a:rPr lang="en-US">
                          <a:solidFill>
                            <a:srgbClr val="0000CC"/>
                          </a:solidFill>
                        </a:rPr>
                        <a:t>2</a:t>
                      </a:r>
                    </a:p>
                  </a:txBody>
                  <a:tcPr anchor="ctr"/>
                </a:tc>
                <a:tc>
                  <a:txBody>
                    <a:bodyPr/>
                    <a:lstStyle/>
                    <a:p>
                      <a:pPr algn="ctr"/>
                      <a:r>
                        <a:rPr lang="en-US" dirty="0">
                          <a:solidFill>
                            <a:srgbClr val="0000CC"/>
                          </a:solidFill>
                        </a:rPr>
                        <a:t>172.16.0.0/24</a:t>
                      </a:r>
                    </a:p>
                  </a:txBody>
                  <a:tcPr anchor="ctr"/>
                </a:tc>
                <a:tc>
                  <a:txBody>
                    <a:bodyPr/>
                    <a:lstStyle/>
                    <a:p>
                      <a:pPr algn="ctr"/>
                      <a:r>
                        <a:rPr lang="en-US">
                          <a:solidFill>
                            <a:srgbClr val="0000CC"/>
                          </a:solidFill>
                        </a:rPr>
                        <a:t>Any</a:t>
                      </a:r>
                    </a:p>
                  </a:txBody>
                  <a:tcPr anchor="ctr"/>
                </a:tc>
                <a:tc>
                  <a:txBody>
                    <a:bodyPr/>
                    <a:lstStyle/>
                    <a:p>
                      <a:pPr algn="ctr"/>
                      <a:r>
                        <a:rPr lang="en-US" dirty="0" err="1">
                          <a:solidFill>
                            <a:srgbClr val="0000CC"/>
                          </a:solidFill>
                        </a:rPr>
                        <a:t>UDP</a:t>
                      </a:r>
                      <a:endParaRPr lang="en-US" dirty="0">
                        <a:solidFill>
                          <a:srgbClr val="0000CC"/>
                        </a:solidFill>
                      </a:endParaRPr>
                    </a:p>
                  </a:txBody>
                  <a:tcPr anchor="ctr"/>
                </a:tc>
                <a:tc>
                  <a:txBody>
                    <a:bodyPr/>
                    <a:lstStyle/>
                    <a:p>
                      <a:pPr algn="ctr"/>
                      <a:r>
                        <a:rPr lang="en-US" dirty="0">
                          <a:solidFill>
                            <a:srgbClr val="0000CC"/>
                          </a:solidFill>
                        </a:rPr>
                        <a:t>53</a:t>
                      </a:r>
                    </a:p>
                  </a:txBody>
                  <a:tcPr anchor="ctr"/>
                </a:tc>
                <a:tc>
                  <a:txBody>
                    <a:bodyPr/>
                    <a:lstStyle/>
                    <a:p>
                      <a:pPr algn="ctr"/>
                      <a:r>
                        <a:rPr lang="en-US">
                          <a:solidFill>
                            <a:srgbClr val="0000CC"/>
                          </a:solidFill>
                        </a:rPr>
                        <a:t>Allow</a:t>
                      </a:r>
                    </a:p>
                  </a:txBody>
                  <a:tcPr anchor="ctr"/>
                </a:tc>
                <a:extLst>
                  <a:ext uri="{0D108BD9-81ED-4DB2-BD59-A6C34878D82A}">
                    <a16:rowId xmlns:a16="http://schemas.microsoft.com/office/drawing/2014/main" val="1542753763"/>
                  </a:ext>
                </a:extLst>
              </a:tr>
              <a:tr h="0">
                <a:tc>
                  <a:txBody>
                    <a:bodyPr/>
                    <a:lstStyle/>
                    <a:p>
                      <a:pPr algn="ctr"/>
                      <a:r>
                        <a:rPr lang="en-US">
                          <a:solidFill>
                            <a:srgbClr val="0000CC"/>
                          </a:solidFill>
                        </a:rPr>
                        <a:t>3</a:t>
                      </a:r>
                    </a:p>
                  </a:txBody>
                  <a:tcPr anchor="ctr"/>
                </a:tc>
                <a:tc>
                  <a:txBody>
                    <a:bodyPr/>
                    <a:lstStyle/>
                    <a:p>
                      <a:pPr algn="ctr"/>
                      <a:r>
                        <a:rPr lang="en-US">
                          <a:solidFill>
                            <a:srgbClr val="0000CC"/>
                          </a:solidFill>
                        </a:rPr>
                        <a:t>Any</a:t>
                      </a:r>
                    </a:p>
                  </a:txBody>
                  <a:tcPr anchor="ctr"/>
                </a:tc>
                <a:tc>
                  <a:txBody>
                    <a:bodyPr/>
                    <a:lstStyle/>
                    <a:p>
                      <a:pPr algn="ctr"/>
                      <a:r>
                        <a:rPr lang="en-US">
                          <a:solidFill>
                            <a:srgbClr val="0000CC"/>
                          </a:solidFill>
                        </a:rPr>
                        <a:t>10.0.0.5</a:t>
                      </a:r>
                    </a:p>
                  </a:txBody>
                  <a:tcPr anchor="ctr"/>
                </a:tc>
                <a:tc>
                  <a:txBody>
                    <a:bodyPr/>
                    <a:lstStyle/>
                    <a:p>
                      <a:pPr algn="ctr"/>
                      <a:r>
                        <a:rPr lang="en-US">
                          <a:solidFill>
                            <a:srgbClr val="0000CC"/>
                          </a:solidFill>
                        </a:rPr>
                        <a:t>TCP</a:t>
                      </a:r>
                    </a:p>
                  </a:txBody>
                  <a:tcPr anchor="ctr"/>
                </a:tc>
                <a:tc>
                  <a:txBody>
                    <a:bodyPr/>
                    <a:lstStyle/>
                    <a:p>
                      <a:pPr algn="ctr"/>
                      <a:r>
                        <a:rPr lang="en-US" dirty="0">
                          <a:solidFill>
                            <a:srgbClr val="0000CC"/>
                          </a:solidFill>
                        </a:rPr>
                        <a:t>21</a:t>
                      </a:r>
                    </a:p>
                  </a:txBody>
                  <a:tcPr anchor="ctr"/>
                </a:tc>
                <a:tc>
                  <a:txBody>
                    <a:bodyPr/>
                    <a:lstStyle/>
                    <a:p>
                      <a:pPr algn="ctr"/>
                      <a:r>
                        <a:rPr lang="en-US" dirty="0">
                          <a:solidFill>
                            <a:srgbClr val="0000CC"/>
                          </a:solidFill>
                        </a:rPr>
                        <a:t>Deny</a:t>
                      </a:r>
                    </a:p>
                  </a:txBody>
                  <a:tcPr anchor="ctr"/>
                </a:tc>
                <a:extLst>
                  <a:ext uri="{0D108BD9-81ED-4DB2-BD59-A6C34878D82A}">
                    <a16:rowId xmlns:a16="http://schemas.microsoft.com/office/drawing/2014/main" val="2426148883"/>
                  </a:ext>
                </a:extLst>
              </a:tr>
              <a:tr h="0">
                <a:tc>
                  <a:txBody>
                    <a:bodyPr/>
                    <a:lstStyle/>
                    <a:p>
                      <a:pPr algn="ctr"/>
                      <a:r>
                        <a:rPr lang="en-US">
                          <a:solidFill>
                            <a:srgbClr val="0000CC"/>
                          </a:solidFill>
                        </a:rPr>
                        <a:t>4</a:t>
                      </a:r>
                    </a:p>
                  </a:txBody>
                  <a:tcPr anchor="ctr"/>
                </a:tc>
                <a:tc>
                  <a:txBody>
                    <a:bodyPr/>
                    <a:lstStyle/>
                    <a:p>
                      <a:pPr algn="ctr"/>
                      <a:r>
                        <a:rPr lang="en-US" dirty="0">
                          <a:solidFill>
                            <a:srgbClr val="0000CC"/>
                          </a:solidFill>
                        </a:rPr>
                        <a:t>Any</a:t>
                      </a:r>
                    </a:p>
                  </a:txBody>
                  <a:tcPr anchor="ctr"/>
                </a:tc>
                <a:tc>
                  <a:txBody>
                    <a:bodyPr/>
                    <a:lstStyle/>
                    <a:p>
                      <a:pPr algn="ctr"/>
                      <a:r>
                        <a:rPr lang="en-US">
                          <a:solidFill>
                            <a:srgbClr val="0000CC"/>
                          </a:solidFill>
                        </a:rPr>
                        <a:t>Any</a:t>
                      </a:r>
                    </a:p>
                  </a:txBody>
                  <a:tcPr anchor="ctr"/>
                </a:tc>
                <a:tc>
                  <a:txBody>
                    <a:bodyPr/>
                    <a:lstStyle/>
                    <a:p>
                      <a:pPr algn="ctr"/>
                      <a:r>
                        <a:rPr lang="en-US">
                          <a:solidFill>
                            <a:srgbClr val="0000CC"/>
                          </a:solidFill>
                        </a:rPr>
                        <a:t>Any</a:t>
                      </a:r>
                    </a:p>
                  </a:txBody>
                  <a:tcPr anchor="ctr"/>
                </a:tc>
                <a:tc>
                  <a:txBody>
                    <a:bodyPr/>
                    <a:lstStyle/>
                    <a:p>
                      <a:pPr algn="ctr"/>
                      <a:r>
                        <a:rPr lang="en-US" dirty="0">
                          <a:solidFill>
                            <a:srgbClr val="0000CC"/>
                          </a:solidFill>
                        </a:rPr>
                        <a:t>Any</a:t>
                      </a:r>
                    </a:p>
                  </a:txBody>
                  <a:tcPr anchor="ctr"/>
                </a:tc>
                <a:tc>
                  <a:txBody>
                    <a:bodyPr/>
                    <a:lstStyle/>
                    <a:p>
                      <a:pPr algn="ctr"/>
                      <a:r>
                        <a:rPr lang="en-US" dirty="0">
                          <a:solidFill>
                            <a:srgbClr val="0000CC"/>
                          </a:solidFill>
                        </a:rPr>
                        <a:t>Deny</a:t>
                      </a:r>
                    </a:p>
                  </a:txBody>
                  <a:tcPr anchor="ctr"/>
                </a:tc>
                <a:extLst>
                  <a:ext uri="{0D108BD9-81ED-4DB2-BD59-A6C34878D82A}">
                    <a16:rowId xmlns:a16="http://schemas.microsoft.com/office/drawing/2014/main" val="3061736390"/>
                  </a:ext>
                </a:extLst>
              </a:tr>
            </a:tbl>
          </a:graphicData>
        </a:graphic>
      </p:graphicFrame>
    </p:spTree>
    <p:extLst>
      <p:ext uri="{BB962C8B-B14F-4D97-AF65-F5344CB8AC3E}">
        <p14:creationId xmlns:p14="http://schemas.microsoft.com/office/powerpoint/2010/main" val="3331457575"/>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44303" y="491797"/>
            <a:ext cx="10242645" cy="528851"/>
          </a:xfrm>
        </p:spPr>
        <p:txBody>
          <a:bodyPr/>
          <a:lstStyle/>
          <a:p>
            <a:r>
              <a:rPr lang="en-US" sz="2800" b="1" dirty="0">
                <a:solidFill>
                  <a:srgbClr val="0000CC"/>
                </a:solidFill>
                <a:latin typeface="Rockwell" panose="02060603020205020403" pitchFamily="18" charset="0"/>
              </a:rPr>
              <a:t>7</a:t>
            </a:r>
            <a:r>
              <a:rPr lang="en-US" sz="2800" b="1" dirty="0" smtClean="0">
                <a:solidFill>
                  <a:srgbClr val="0000CC"/>
                </a:solidFill>
                <a:latin typeface="Rockwell" panose="02060603020205020403" pitchFamily="18" charset="0"/>
              </a:rPr>
              <a:t>.2.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Chức</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năng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và</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mục</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đích</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sử</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dụng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của</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FIREWALL</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44304" y="1020648"/>
            <a:ext cx="9764976" cy="3865251"/>
          </a:xfrm>
        </p:spPr>
        <p:txBody>
          <a:bodyPr/>
          <a:lstStyle/>
          <a:p>
            <a:pPr marL="0" indent="0">
              <a:buNone/>
            </a:pPr>
            <a:r>
              <a:rPr lang="en-US" b="1" dirty="0" smtClean="0">
                <a:solidFill>
                  <a:srgbClr val="0000CC"/>
                </a:solidFill>
                <a:latin typeface="Rockwell" panose="02060603020205020403" pitchFamily="18" charset="0"/>
                <a:ea typeface="+mj-ea"/>
                <a:cs typeface="+mj-cs"/>
              </a:rPr>
              <a:t>2. </a:t>
            </a:r>
            <a:r>
              <a:rPr lang="en-US" b="1" dirty="0" err="1" smtClean="0">
                <a:solidFill>
                  <a:srgbClr val="0000CC"/>
                </a:solidFill>
                <a:latin typeface="Rockwell" panose="02060603020205020403" pitchFamily="18" charset="0"/>
                <a:ea typeface="+mj-ea"/>
                <a:cs typeface="+mj-cs"/>
              </a:rPr>
              <a:t>Các</a:t>
            </a:r>
            <a:r>
              <a:rPr lang="en-US" b="1" dirty="0" smtClean="0">
                <a:solidFill>
                  <a:srgbClr val="0000CC"/>
                </a:solidFill>
                <a:latin typeface="Rockwell" panose="02060603020205020403" pitchFamily="18" charset="0"/>
                <a:ea typeface="+mj-ea"/>
                <a:cs typeface="+mj-cs"/>
              </a:rPr>
              <a:t> </a:t>
            </a:r>
            <a:r>
              <a:rPr lang="en-US" b="1" dirty="0" err="1" smtClean="0">
                <a:solidFill>
                  <a:srgbClr val="0000CC"/>
                </a:solidFill>
                <a:latin typeface="Rockwell" panose="02060603020205020403" pitchFamily="18" charset="0"/>
                <a:ea typeface="+mj-ea"/>
                <a:cs typeface="+mj-cs"/>
              </a:rPr>
              <a:t>thành</a:t>
            </a:r>
            <a:r>
              <a:rPr lang="en-US" b="1" dirty="0" smtClean="0">
                <a:solidFill>
                  <a:srgbClr val="0000CC"/>
                </a:solidFill>
                <a:latin typeface="Rockwell" panose="02060603020205020403" pitchFamily="18" charset="0"/>
                <a:ea typeface="+mj-ea"/>
                <a:cs typeface="+mj-cs"/>
              </a:rPr>
              <a:t> </a:t>
            </a:r>
            <a:r>
              <a:rPr lang="en-US" b="1" dirty="0" err="1" smtClean="0">
                <a:solidFill>
                  <a:srgbClr val="0000CC"/>
                </a:solidFill>
                <a:latin typeface="Rockwell" panose="02060603020205020403" pitchFamily="18" charset="0"/>
                <a:ea typeface="+mj-ea"/>
                <a:cs typeface="+mj-cs"/>
              </a:rPr>
              <a:t>phần</a:t>
            </a:r>
            <a:r>
              <a:rPr lang="en-US" b="1" dirty="0" smtClean="0">
                <a:solidFill>
                  <a:srgbClr val="0000CC"/>
                </a:solidFill>
                <a:latin typeface="Rockwell" panose="02060603020205020403" pitchFamily="18" charset="0"/>
                <a:ea typeface="+mj-ea"/>
                <a:cs typeface="+mj-cs"/>
              </a:rPr>
              <a:t> </a:t>
            </a:r>
            <a:r>
              <a:rPr lang="en-US" b="1" dirty="0" err="1" smtClean="0">
                <a:solidFill>
                  <a:srgbClr val="0000CC"/>
                </a:solidFill>
                <a:latin typeface="Rockwell" panose="02060603020205020403" pitchFamily="18" charset="0"/>
                <a:ea typeface="+mj-ea"/>
                <a:cs typeface="+mj-cs"/>
              </a:rPr>
              <a:t>chính</a:t>
            </a:r>
            <a:r>
              <a:rPr lang="en-US" b="1" dirty="0" smtClean="0">
                <a:solidFill>
                  <a:srgbClr val="0000CC"/>
                </a:solidFill>
                <a:latin typeface="Rockwell" panose="02060603020205020403" pitchFamily="18" charset="0"/>
                <a:ea typeface="+mj-ea"/>
                <a:cs typeface="+mj-cs"/>
              </a:rPr>
              <a:t> </a:t>
            </a:r>
            <a:r>
              <a:rPr lang="en-US" b="1" dirty="0" err="1" smtClean="0">
                <a:solidFill>
                  <a:srgbClr val="0000CC"/>
                </a:solidFill>
                <a:latin typeface="Rockwell" panose="02060603020205020403" pitchFamily="18" charset="0"/>
                <a:ea typeface="+mj-ea"/>
                <a:cs typeface="+mj-cs"/>
              </a:rPr>
              <a:t>của</a:t>
            </a:r>
            <a:r>
              <a:rPr lang="en-US" b="1" dirty="0" smtClean="0">
                <a:solidFill>
                  <a:srgbClr val="0000CC"/>
                </a:solidFill>
                <a:latin typeface="Rockwell" panose="02060603020205020403" pitchFamily="18" charset="0"/>
                <a:ea typeface="+mj-ea"/>
                <a:cs typeface="+mj-cs"/>
              </a:rPr>
              <a:t> Firewall</a:t>
            </a:r>
            <a:r>
              <a:rPr lang="vi-VN" b="1" dirty="0" smtClean="0">
                <a:solidFill>
                  <a:srgbClr val="0000CC"/>
                </a:solidFill>
                <a:latin typeface="Rockwell" panose="02060603020205020403" pitchFamily="18" charset="0"/>
                <a:ea typeface="+mj-ea"/>
                <a:cs typeface="+mj-cs"/>
              </a:rPr>
              <a:t>:</a:t>
            </a:r>
            <a:endParaRPr lang="en-US" b="1" dirty="0" smtClean="0">
              <a:solidFill>
                <a:srgbClr val="0000CC"/>
              </a:solidFill>
              <a:latin typeface="Rockwell" panose="02060603020205020403" pitchFamily="18" charset="0"/>
              <a:ea typeface="+mj-ea"/>
              <a:cs typeface="+mj-cs"/>
            </a:endParaRPr>
          </a:p>
          <a:p>
            <a:pPr marL="0" indent="0" algn="just">
              <a:lnSpc>
                <a:spcPct val="120000"/>
              </a:lnSpc>
              <a:spcBef>
                <a:spcPts val="1200"/>
              </a:spcBef>
              <a:spcAft>
                <a:spcPts val="600"/>
              </a:spcAft>
              <a:buNone/>
            </a:pPr>
            <a:r>
              <a:rPr lang="en-US" dirty="0" err="1" smtClean="0">
                <a:solidFill>
                  <a:srgbClr val="0000CC"/>
                </a:solidFill>
                <a:latin typeface="Rockwell" panose="02060603020205020403" pitchFamily="18" charset="0"/>
                <a:ea typeface="+mj-ea"/>
                <a:cs typeface="+mj-cs"/>
              </a:rPr>
              <a:t>Ví</a:t>
            </a:r>
            <a:r>
              <a:rPr lang="en-US" dirty="0" smtClean="0">
                <a:solidFill>
                  <a:srgbClr val="0000CC"/>
                </a:solidFill>
                <a:latin typeface="Rockwell" panose="02060603020205020403" pitchFamily="18" charset="0"/>
                <a:ea typeface="+mj-ea"/>
                <a:cs typeface="+mj-cs"/>
              </a:rPr>
              <a:t> </a:t>
            </a:r>
            <a:r>
              <a:rPr lang="en-US" dirty="0" err="1" smtClean="0">
                <a:solidFill>
                  <a:srgbClr val="0000CC"/>
                </a:solidFill>
                <a:latin typeface="Rockwell" panose="02060603020205020403" pitchFamily="18" charset="0"/>
                <a:ea typeface="+mj-ea"/>
                <a:cs typeface="+mj-cs"/>
              </a:rPr>
              <a:t>dụ</a:t>
            </a:r>
            <a:r>
              <a:rPr lang="en-US" dirty="0" smtClean="0">
                <a:solidFill>
                  <a:srgbClr val="0000CC"/>
                </a:solidFill>
                <a:latin typeface="Rockwell" panose="02060603020205020403" pitchFamily="18" charset="0"/>
                <a:ea typeface="+mj-ea"/>
                <a:cs typeface="+mj-cs"/>
              </a:rPr>
              <a:t> 3:</a:t>
            </a:r>
          </a:p>
          <a:p>
            <a:pPr marL="0" indent="0" algn="just">
              <a:lnSpc>
                <a:spcPct val="120000"/>
              </a:lnSpc>
              <a:spcBef>
                <a:spcPts val="1200"/>
              </a:spcBef>
              <a:spcAft>
                <a:spcPts val="600"/>
              </a:spcAft>
              <a:buNone/>
            </a:pPr>
            <a:endParaRPr lang="en-US" dirty="0">
              <a:solidFill>
                <a:srgbClr val="0000CC"/>
              </a:solidFill>
              <a:latin typeface="Rockwell" panose="02060603020205020403" pitchFamily="18" charset="0"/>
              <a:ea typeface="+mj-ea"/>
              <a:cs typeface="+mj-cs"/>
            </a:endParaRPr>
          </a:p>
        </p:txBody>
      </p:sp>
      <p:graphicFrame>
        <p:nvGraphicFramePr>
          <p:cNvPr id="6" name="Table 5"/>
          <p:cNvGraphicFramePr>
            <a:graphicFrameLocks noGrp="1"/>
          </p:cNvGraphicFramePr>
          <p:nvPr>
            <p:extLst>
              <p:ext uri="{D42A27DB-BD31-4B8C-83A1-F6EECF244321}">
                <p14:modId xmlns:p14="http://schemas.microsoft.com/office/powerpoint/2010/main" val="3252483030"/>
              </p:ext>
            </p:extLst>
          </p:nvPr>
        </p:nvGraphicFramePr>
        <p:xfrm>
          <a:off x="1473959" y="2038873"/>
          <a:ext cx="9601200" cy="1828800"/>
        </p:xfrm>
        <a:graphic>
          <a:graphicData uri="http://schemas.openxmlformats.org/drawingml/2006/table">
            <a:tbl>
              <a:tblPr>
                <a:tableStyleId>{3C2FFA5D-87B4-456A-9821-1D502468CF0F}</a:tableStyleId>
              </a:tblPr>
              <a:tblGrid>
                <a:gridCol w="1385247">
                  <a:extLst>
                    <a:ext uri="{9D8B030D-6E8A-4147-A177-3AD203B41FA5}">
                      <a16:colId xmlns:a16="http://schemas.microsoft.com/office/drawing/2014/main" val="3247748538"/>
                    </a:ext>
                  </a:extLst>
                </a:gridCol>
                <a:gridCol w="1692322">
                  <a:extLst>
                    <a:ext uri="{9D8B030D-6E8A-4147-A177-3AD203B41FA5}">
                      <a16:colId xmlns:a16="http://schemas.microsoft.com/office/drawing/2014/main" val="2257990892"/>
                    </a:ext>
                  </a:extLst>
                </a:gridCol>
                <a:gridCol w="1723031">
                  <a:extLst>
                    <a:ext uri="{9D8B030D-6E8A-4147-A177-3AD203B41FA5}">
                      <a16:colId xmlns:a16="http://schemas.microsoft.com/office/drawing/2014/main" val="3462958396"/>
                    </a:ext>
                  </a:extLst>
                </a:gridCol>
                <a:gridCol w="1600200">
                  <a:extLst>
                    <a:ext uri="{9D8B030D-6E8A-4147-A177-3AD203B41FA5}">
                      <a16:colId xmlns:a16="http://schemas.microsoft.com/office/drawing/2014/main" val="3595350186"/>
                    </a:ext>
                  </a:extLst>
                </a:gridCol>
                <a:gridCol w="1600200">
                  <a:extLst>
                    <a:ext uri="{9D8B030D-6E8A-4147-A177-3AD203B41FA5}">
                      <a16:colId xmlns:a16="http://schemas.microsoft.com/office/drawing/2014/main" val="3613102809"/>
                    </a:ext>
                  </a:extLst>
                </a:gridCol>
                <a:gridCol w="1600200">
                  <a:extLst>
                    <a:ext uri="{9D8B030D-6E8A-4147-A177-3AD203B41FA5}">
                      <a16:colId xmlns:a16="http://schemas.microsoft.com/office/drawing/2014/main" val="3144100270"/>
                    </a:ext>
                  </a:extLst>
                </a:gridCol>
              </a:tblGrid>
              <a:tr h="0">
                <a:tc>
                  <a:txBody>
                    <a:bodyPr/>
                    <a:lstStyle/>
                    <a:p>
                      <a:pPr algn="ctr"/>
                      <a:r>
                        <a:rPr lang="en-US" b="1" dirty="0">
                          <a:solidFill>
                            <a:srgbClr val="0000CC"/>
                          </a:solidFill>
                        </a:rPr>
                        <a:t>Rule</a:t>
                      </a:r>
                    </a:p>
                  </a:txBody>
                  <a:tcPr anchor="ctr"/>
                </a:tc>
                <a:tc>
                  <a:txBody>
                    <a:bodyPr/>
                    <a:lstStyle/>
                    <a:p>
                      <a:pPr algn="ctr"/>
                      <a:r>
                        <a:rPr lang="en-US" b="1" dirty="0">
                          <a:solidFill>
                            <a:srgbClr val="0000CC"/>
                          </a:solidFill>
                        </a:rPr>
                        <a:t>Source IP</a:t>
                      </a:r>
                    </a:p>
                  </a:txBody>
                  <a:tcPr anchor="ctr"/>
                </a:tc>
                <a:tc>
                  <a:txBody>
                    <a:bodyPr/>
                    <a:lstStyle/>
                    <a:p>
                      <a:pPr algn="ctr"/>
                      <a:r>
                        <a:rPr lang="en-US" b="1" dirty="0">
                          <a:solidFill>
                            <a:srgbClr val="0000CC"/>
                          </a:solidFill>
                        </a:rPr>
                        <a:t>Destination IP</a:t>
                      </a:r>
                    </a:p>
                  </a:txBody>
                  <a:tcPr anchor="ctr"/>
                </a:tc>
                <a:tc>
                  <a:txBody>
                    <a:bodyPr/>
                    <a:lstStyle/>
                    <a:p>
                      <a:pPr algn="ctr"/>
                      <a:r>
                        <a:rPr lang="en-US" b="1" dirty="0">
                          <a:solidFill>
                            <a:srgbClr val="0000CC"/>
                          </a:solidFill>
                        </a:rPr>
                        <a:t>Protocol</a:t>
                      </a:r>
                    </a:p>
                  </a:txBody>
                  <a:tcPr anchor="ctr"/>
                </a:tc>
                <a:tc>
                  <a:txBody>
                    <a:bodyPr/>
                    <a:lstStyle/>
                    <a:p>
                      <a:pPr algn="ctr"/>
                      <a:r>
                        <a:rPr lang="en-US" b="1" dirty="0">
                          <a:solidFill>
                            <a:srgbClr val="0000CC"/>
                          </a:solidFill>
                        </a:rPr>
                        <a:t>Port</a:t>
                      </a:r>
                    </a:p>
                  </a:txBody>
                  <a:tcPr anchor="ctr"/>
                </a:tc>
                <a:tc>
                  <a:txBody>
                    <a:bodyPr/>
                    <a:lstStyle/>
                    <a:p>
                      <a:pPr algn="ctr"/>
                      <a:r>
                        <a:rPr lang="en-US" b="1" dirty="0">
                          <a:solidFill>
                            <a:srgbClr val="0000CC"/>
                          </a:solidFill>
                        </a:rPr>
                        <a:t>Action</a:t>
                      </a:r>
                    </a:p>
                  </a:txBody>
                  <a:tcPr anchor="ctr"/>
                </a:tc>
                <a:extLst>
                  <a:ext uri="{0D108BD9-81ED-4DB2-BD59-A6C34878D82A}">
                    <a16:rowId xmlns:a16="http://schemas.microsoft.com/office/drawing/2014/main" val="2976239897"/>
                  </a:ext>
                </a:extLst>
              </a:tr>
              <a:tr h="0">
                <a:tc>
                  <a:txBody>
                    <a:bodyPr/>
                    <a:lstStyle/>
                    <a:p>
                      <a:pPr algn="ctr"/>
                      <a:r>
                        <a:rPr lang="en-US" dirty="0">
                          <a:solidFill>
                            <a:srgbClr val="0000CC"/>
                          </a:solidFill>
                        </a:rPr>
                        <a:t>1</a:t>
                      </a:r>
                    </a:p>
                  </a:txBody>
                  <a:tcPr anchor="ctr"/>
                </a:tc>
                <a:tc>
                  <a:txBody>
                    <a:bodyPr/>
                    <a:lstStyle/>
                    <a:p>
                      <a:pPr algn="ctr"/>
                      <a:r>
                        <a:rPr lang="en-US" dirty="0">
                          <a:solidFill>
                            <a:srgbClr val="0000CC"/>
                          </a:solidFill>
                        </a:rPr>
                        <a:t>Any</a:t>
                      </a:r>
                    </a:p>
                  </a:txBody>
                  <a:tcPr anchor="ctr"/>
                </a:tc>
                <a:tc>
                  <a:txBody>
                    <a:bodyPr/>
                    <a:lstStyle/>
                    <a:p>
                      <a:pPr algn="ctr"/>
                      <a:r>
                        <a:rPr lang="en-US" dirty="0">
                          <a:solidFill>
                            <a:srgbClr val="0000CC"/>
                          </a:solidFill>
                        </a:rPr>
                        <a:t>10.0.0.5</a:t>
                      </a:r>
                    </a:p>
                  </a:txBody>
                  <a:tcPr anchor="ctr"/>
                </a:tc>
                <a:tc>
                  <a:txBody>
                    <a:bodyPr/>
                    <a:lstStyle/>
                    <a:p>
                      <a:pPr algn="ctr"/>
                      <a:r>
                        <a:rPr lang="en-US" dirty="0">
                          <a:solidFill>
                            <a:srgbClr val="0000CC"/>
                          </a:solidFill>
                        </a:rPr>
                        <a:t>TCP</a:t>
                      </a:r>
                    </a:p>
                  </a:txBody>
                  <a:tcPr anchor="ctr"/>
                </a:tc>
                <a:tc>
                  <a:txBody>
                    <a:bodyPr/>
                    <a:lstStyle/>
                    <a:p>
                      <a:pPr algn="ctr"/>
                      <a:r>
                        <a:rPr lang="en-US">
                          <a:solidFill>
                            <a:srgbClr val="0000CC"/>
                          </a:solidFill>
                        </a:rPr>
                        <a:t>443</a:t>
                      </a:r>
                    </a:p>
                  </a:txBody>
                  <a:tcPr anchor="ctr"/>
                </a:tc>
                <a:tc>
                  <a:txBody>
                    <a:bodyPr/>
                    <a:lstStyle/>
                    <a:p>
                      <a:pPr algn="ctr"/>
                      <a:r>
                        <a:rPr lang="en-US">
                          <a:solidFill>
                            <a:srgbClr val="0000CC"/>
                          </a:solidFill>
                        </a:rPr>
                        <a:t>Allow</a:t>
                      </a:r>
                    </a:p>
                  </a:txBody>
                  <a:tcPr anchor="ctr"/>
                </a:tc>
                <a:extLst>
                  <a:ext uri="{0D108BD9-81ED-4DB2-BD59-A6C34878D82A}">
                    <a16:rowId xmlns:a16="http://schemas.microsoft.com/office/drawing/2014/main" val="598383860"/>
                  </a:ext>
                </a:extLst>
              </a:tr>
              <a:tr h="0">
                <a:tc>
                  <a:txBody>
                    <a:bodyPr/>
                    <a:lstStyle/>
                    <a:p>
                      <a:pPr algn="ctr"/>
                      <a:r>
                        <a:rPr lang="en-US">
                          <a:solidFill>
                            <a:srgbClr val="0000CC"/>
                          </a:solidFill>
                        </a:rPr>
                        <a:t>2</a:t>
                      </a:r>
                    </a:p>
                  </a:txBody>
                  <a:tcPr anchor="ctr"/>
                </a:tc>
                <a:tc>
                  <a:txBody>
                    <a:bodyPr/>
                    <a:lstStyle/>
                    <a:p>
                      <a:pPr algn="ctr"/>
                      <a:r>
                        <a:rPr lang="en-US" dirty="0">
                          <a:solidFill>
                            <a:srgbClr val="0000CC"/>
                          </a:solidFill>
                        </a:rPr>
                        <a:t>172.16.0.0/24</a:t>
                      </a:r>
                    </a:p>
                  </a:txBody>
                  <a:tcPr anchor="ctr"/>
                </a:tc>
                <a:tc>
                  <a:txBody>
                    <a:bodyPr/>
                    <a:lstStyle/>
                    <a:p>
                      <a:pPr algn="ctr"/>
                      <a:r>
                        <a:rPr lang="en-US">
                          <a:solidFill>
                            <a:srgbClr val="0000CC"/>
                          </a:solidFill>
                        </a:rPr>
                        <a:t>Any</a:t>
                      </a:r>
                    </a:p>
                  </a:txBody>
                  <a:tcPr anchor="ctr"/>
                </a:tc>
                <a:tc>
                  <a:txBody>
                    <a:bodyPr/>
                    <a:lstStyle/>
                    <a:p>
                      <a:pPr algn="ctr"/>
                      <a:r>
                        <a:rPr lang="en-US" dirty="0" err="1">
                          <a:solidFill>
                            <a:srgbClr val="0000CC"/>
                          </a:solidFill>
                        </a:rPr>
                        <a:t>UDP</a:t>
                      </a:r>
                      <a:endParaRPr lang="en-US" dirty="0">
                        <a:solidFill>
                          <a:srgbClr val="0000CC"/>
                        </a:solidFill>
                      </a:endParaRPr>
                    </a:p>
                  </a:txBody>
                  <a:tcPr anchor="ctr"/>
                </a:tc>
                <a:tc>
                  <a:txBody>
                    <a:bodyPr/>
                    <a:lstStyle/>
                    <a:p>
                      <a:pPr algn="ctr"/>
                      <a:r>
                        <a:rPr lang="en-US" dirty="0">
                          <a:solidFill>
                            <a:srgbClr val="0000CC"/>
                          </a:solidFill>
                        </a:rPr>
                        <a:t>53</a:t>
                      </a:r>
                    </a:p>
                  </a:txBody>
                  <a:tcPr anchor="ctr"/>
                </a:tc>
                <a:tc>
                  <a:txBody>
                    <a:bodyPr/>
                    <a:lstStyle/>
                    <a:p>
                      <a:pPr algn="ctr"/>
                      <a:r>
                        <a:rPr lang="en-US">
                          <a:solidFill>
                            <a:srgbClr val="0000CC"/>
                          </a:solidFill>
                        </a:rPr>
                        <a:t>Allow</a:t>
                      </a:r>
                    </a:p>
                  </a:txBody>
                  <a:tcPr anchor="ctr"/>
                </a:tc>
                <a:extLst>
                  <a:ext uri="{0D108BD9-81ED-4DB2-BD59-A6C34878D82A}">
                    <a16:rowId xmlns:a16="http://schemas.microsoft.com/office/drawing/2014/main" val="1542753763"/>
                  </a:ext>
                </a:extLst>
              </a:tr>
              <a:tr h="0">
                <a:tc>
                  <a:txBody>
                    <a:bodyPr/>
                    <a:lstStyle/>
                    <a:p>
                      <a:pPr algn="ctr"/>
                      <a:r>
                        <a:rPr lang="en-US">
                          <a:solidFill>
                            <a:srgbClr val="0000CC"/>
                          </a:solidFill>
                        </a:rPr>
                        <a:t>3</a:t>
                      </a:r>
                    </a:p>
                  </a:txBody>
                  <a:tcPr anchor="ctr"/>
                </a:tc>
                <a:tc>
                  <a:txBody>
                    <a:bodyPr/>
                    <a:lstStyle/>
                    <a:p>
                      <a:pPr algn="ctr"/>
                      <a:r>
                        <a:rPr lang="en-US">
                          <a:solidFill>
                            <a:srgbClr val="0000CC"/>
                          </a:solidFill>
                        </a:rPr>
                        <a:t>Any</a:t>
                      </a:r>
                    </a:p>
                  </a:txBody>
                  <a:tcPr anchor="ctr"/>
                </a:tc>
                <a:tc>
                  <a:txBody>
                    <a:bodyPr/>
                    <a:lstStyle/>
                    <a:p>
                      <a:pPr algn="ctr"/>
                      <a:r>
                        <a:rPr lang="en-US">
                          <a:solidFill>
                            <a:srgbClr val="0000CC"/>
                          </a:solidFill>
                        </a:rPr>
                        <a:t>10.0.0.5</a:t>
                      </a:r>
                    </a:p>
                  </a:txBody>
                  <a:tcPr anchor="ctr"/>
                </a:tc>
                <a:tc>
                  <a:txBody>
                    <a:bodyPr/>
                    <a:lstStyle/>
                    <a:p>
                      <a:pPr algn="ctr"/>
                      <a:r>
                        <a:rPr lang="en-US">
                          <a:solidFill>
                            <a:srgbClr val="0000CC"/>
                          </a:solidFill>
                        </a:rPr>
                        <a:t>TCP</a:t>
                      </a:r>
                    </a:p>
                  </a:txBody>
                  <a:tcPr anchor="ctr"/>
                </a:tc>
                <a:tc>
                  <a:txBody>
                    <a:bodyPr/>
                    <a:lstStyle/>
                    <a:p>
                      <a:pPr algn="ctr"/>
                      <a:r>
                        <a:rPr lang="en-US" dirty="0">
                          <a:solidFill>
                            <a:srgbClr val="0000CC"/>
                          </a:solidFill>
                        </a:rPr>
                        <a:t>21</a:t>
                      </a:r>
                    </a:p>
                  </a:txBody>
                  <a:tcPr anchor="ctr"/>
                </a:tc>
                <a:tc>
                  <a:txBody>
                    <a:bodyPr/>
                    <a:lstStyle/>
                    <a:p>
                      <a:pPr algn="ctr"/>
                      <a:r>
                        <a:rPr lang="en-US" dirty="0">
                          <a:solidFill>
                            <a:srgbClr val="0000CC"/>
                          </a:solidFill>
                        </a:rPr>
                        <a:t>Deny</a:t>
                      </a:r>
                    </a:p>
                  </a:txBody>
                  <a:tcPr anchor="ctr"/>
                </a:tc>
                <a:extLst>
                  <a:ext uri="{0D108BD9-81ED-4DB2-BD59-A6C34878D82A}">
                    <a16:rowId xmlns:a16="http://schemas.microsoft.com/office/drawing/2014/main" val="2426148883"/>
                  </a:ext>
                </a:extLst>
              </a:tr>
              <a:tr h="0">
                <a:tc>
                  <a:txBody>
                    <a:bodyPr/>
                    <a:lstStyle/>
                    <a:p>
                      <a:pPr algn="ctr"/>
                      <a:r>
                        <a:rPr lang="en-US">
                          <a:solidFill>
                            <a:srgbClr val="0000CC"/>
                          </a:solidFill>
                        </a:rPr>
                        <a:t>4</a:t>
                      </a:r>
                    </a:p>
                  </a:txBody>
                  <a:tcPr anchor="ctr"/>
                </a:tc>
                <a:tc>
                  <a:txBody>
                    <a:bodyPr/>
                    <a:lstStyle/>
                    <a:p>
                      <a:pPr algn="ctr"/>
                      <a:r>
                        <a:rPr lang="en-US" dirty="0">
                          <a:solidFill>
                            <a:srgbClr val="0000CC"/>
                          </a:solidFill>
                        </a:rPr>
                        <a:t>Any</a:t>
                      </a:r>
                    </a:p>
                  </a:txBody>
                  <a:tcPr anchor="ctr"/>
                </a:tc>
                <a:tc>
                  <a:txBody>
                    <a:bodyPr/>
                    <a:lstStyle/>
                    <a:p>
                      <a:pPr algn="ctr"/>
                      <a:r>
                        <a:rPr lang="en-US">
                          <a:solidFill>
                            <a:srgbClr val="0000CC"/>
                          </a:solidFill>
                        </a:rPr>
                        <a:t>Any</a:t>
                      </a:r>
                    </a:p>
                  </a:txBody>
                  <a:tcPr anchor="ctr"/>
                </a:tc>
                <a:tc>
                  <a:txBody>
                    <a:bodyPr/>
                    <a:lstStyle/>
                    <a:p>
                      <a:pPr algn="ctr"/>
                      <a:r>
                        <a:rPr lang="en-US">
                          <a:solidFill>
                            <a:srgbClr val="0000CC"/>
                          </a:solidFill>
                        </a:rPr>
                        <a:t>Any</a:t>
                      </a:r>
                    </a:p>
                  </a:txBody>
                  <a:tcPr anchor="ctr"/>
                </a:tc>
                <a:tc>
                  <a:txBody>
                    <a:bodyPr/>
                    <a:lstStyle/>
                    <a:p>
                      <a:pPr algn="ctr"/>
                      <a:r>
                        <a:rPr lang="en-US" dirty="0">
                          <a:solidFill>
                            <a:srgbClr val="0000CC"/>
                          </a:solidFill>
                        </a:rPr>
                        <a:t>Any</a:t>
                      </a:r>
                    </a:p>
                  </a:txBody>
                  <a:tcPr anchor="ctr"/>
                </a:tc>
                <a:tc>
                  <a:txBody>
                    <a:bodyPr/>
                    <a:lstStyle/>
                    <a:p>
                      <a:pPr algn="ctr"/>
                      <a:r>
                        <a:rPr lang="en-US" dirty="0">
                          <a:solidFill>
                            <a:srgbClr val="0000CC"/>
                          </a:solidFill>
                        </a:rPr>
                        <a:t>Deny</a:t>
                      </a:r>
                    </a:p>
                  </a:txBody>
                  <a:tcPr anchor="ctr"/>
                </a:tc>
                <a:extLst>
                  <a:ext uri="{0D108BD9-81ED-4DB2-BD59-A6C34878D82A}">
                    <a16:rowId xmlns:a16="http://schemas.microsoft.com/office/drawing/2014/main" val="3061736390"/>
                  </a:ext>
                </a:extLst>
              </a:tr>
            </a:tbl>
          </a:graphicData>
        </a:graphic>
      </p:graphicFrame>
      <p:sp>
        <p:nvSpPr>
          <p:cNvPr id="5" name="Rectangle 4"/>
          <p:cNvSpPr/>
          <p:nvPr/>
        </p:nvSpPr>
        <p:spPr>
          <a:xfrm>
            <a:off x="1473958" y="4008735"/>
            <a:ext cx="10112989" cy="2031325"/>
          </a:xfrm>
          <a:prstGeom prst="rect">
            <a:avLst/>
          </a:prstGeom>
        </p:spPr>
        <p:txBody>
          <a:bodyPr wrap="square">
            <a:spAutoFit/>
          </a:bodyPr>
          <a:lstStyle/>
          <a:p>
            <a:pPr>
              <a:spcBef>
                <a:spcPts val="600"/>
              </a:spcBef>
              <a:spcAft>
                <a:spcPts val="600"/>
              </a:spcAft>
            </a:pPr>
            <a:r>
              <a:rPr lang="en-US" sz="2400" dirty="0">
                <a:solidFill>
                  <a:srgbClr val="0000CC"/>
                </a:solidFill>
                <a:latin typeface="Rockwell" panose="02060603020205020403" pitchFamily="18" charset="0"/>
                <a:ea typeface="+mj-ea"/>
                <a:cs typeface="+mj-cs"/>
              </a:rPr>
              <a:t>Rule 1: Cho </a:t>
            </a:r>
            <a:r>
              <a:rPr lang="en-US" sz="2400" dirty="0" err="1">
                <a:solidFill>
                  <a:srgbClr val="0000CC"/>
                </a:solidFill>
                <a:latin typeface="Rockwell" panose="02060603020205020403" pitchFamily="18" charset="0"/>
                <a:ea typeface="+mj-ea"/>
                <a:cs typeface="+mj-cs"/>
              </a:rPr>
              <a:t>phép</a:t>
            </a:r>
            <a:r>
              <a:rPr lang="en-US" sz="2400" dirty="0">
                <a:solidFill>
                  <a:srgbClr val="0000CC"/>
                </a:solidFill>
                <a:latin typeface="Rockwell" panose="02060603020205020403" pitchFamily="18" charset="0"/>
                <a:ea typeface="+mj-ea"/>
                <a:cs typeface="+mj-cs"/>
              </a:rPr>
              <a:t> </a:t>
            </a:r>
            <a:r>
              <a:rPr lang="en-US" sz="2400" dirty="0" err="1">
                <a:solidFill>
                  <a:srgbClr val="0000CC"/>
                </a:solidFill>
                <a:latin typeface="Rockwell" panose="02060603020205020403" pitchFamily="18" charset="0"/>
                <a:ea typeface="+mj-ea"/>
                <a:cs typeface="+mj-cs"/>
              </a:rPr>
              <a:t>tất</a:t>
            </a:r>
            <a:r>
              <a:rPr lang="en-US" sz="2400" dirty="0">
                <a:solidFill>
                  <a:srgbClr val="0000CC"/>
                </a:solidFill>
                <a:latin typeface="Rockwell" panose="02060603020205020403" pitchFamily="18" charset="0"/>
                <a:ea typeface="+mj-ea"/>
                <a:cs typeface="+mj-cs"/>
              </a:rPr>
              <a:t> </a:t>
            </a:r>
            <a:r>
              <a:rPr lang="en-US" sz="2400" dirty="0" err="1">
                <a:solidFill>
                  <a:srgbClr val="0000CC"/>
                </a:solidFill>
                <a:latin typeface="Rockwell" panose="02060603020205020403" pitchFamily="18" charset="0"/>
                <a:ea typeface="+mj-ea"/>
                <a:cs typeface="+mj-cs"/>
              </a:rPr>
              <a:t>cả</a:t>
            </a:r>
            <a:r>
              <a:rPr lang="en-US" sz="2400" dirty="0">
                <a:solidFill>
                  <a:srgbClr val="0000CC"/>
                </a:solidFill>
                <a:latin typeface="Rockwell" panose="02060603020205020403" pitchFamily="18" charset="0"/>
                <a:ea typeface="+mj-ea"/>
                <a:cs typeface="+mj-cs"/>
              </a:rPr>
              <a:t> client </a:t>
            </a:r>
            <a:r>
              <a:rPr lang="en-US" sz="2400" dirty="0" err="1">
                <a:solidFill>
                  <a:srgbClr val="0000CC"/>
                </a:solidFill>
                <a:latin typeface="Rockwell" panose="02060603020205020403" pitchFamily="18" charset="0"/>
                <a:ea typeface="+mj-ea"/>
                <a:cs typeface="+mj-cs"/>
              </a:rPr>
              <a:t>truy</a:t>
            </a:r>
            <a:r>
              <a:rPr lang="en-US" sz="2400" dirty="0">
                <a:solidFill>
                  <a:srgbClr val="0000CC"/>
                </a:solidFill>
                <a:latin typeface="Rockwell" panose="02060603020205020403" pitchFamily="18" charset="0"/>
                <a:ea typeface="+mj-ea"/>
                <a:cs typeface="+mj-cs"/>
              </a:rPr>
              <a:t> </a:t>
            </a:r>
            <a:r>
              <a:rPr lang="en-US" sz="2400" dirty="0" err="1">
                <a:solidFill>
                  <a:srgbClr val="0000CC"/>
                </a:solidFill>
                <a:latin typeface="Rockwell" panose="02060603020205020403" pitchFamily="18" charset="0"/>
                <a:ea typeface="+mj-ea"/>
                <a:cs typeface="+mj-cs"/>
              </a:rPr>
              <a:t>cập</a:t>
            </a:r>
            <a:r>
              <a:rPr lang="en-US" sz="2400" dirty="0">
                <a:solidFill>
                  <a:srgbClr val="0000CC"/>
                </a:solidFill>
                <a:latin typeface="Rockwell" panose="02060603020205020403" pitchFamily="18" charset="0"/>
                <a:ea typeface="+mj-ea"/>
                <a:cs typeface="+mj-cs"/>
              </a:rPr>
              <a:t> HTTPS (443) </a:t>
            </a:r>
            <a:r>
              <a:rPr lang="en-US" sz="2400" dirty="0" err="1">
                <a:solidFill>
                  <a:srgbClr val="0000CC"/>
                </a:solidFill>
                <a:latin typeface="Rockwell" panose="02060603020205020403" pitchFamily="18" charset="0"/>
                <a:ea typeface="+mj-ea"/>
                <a:cs typeface="+mj-cs"/>
              </a:rPr>
              <a:t>vào</a:t>
            </a:r>
            <a:r>
              <a:rPr lang="en-US" sz="2400" dirty="0">
                <a:solidFill>
                  <a:srgbClr val="0000CC"/>
                </a:solidFill>
                <a:latin typeface="Rockwell" panose="02060603020205020403" pitchFamily="18" charset="0"/>
                <a:ea typeface="+mj-ea"/>
                <a:cs typeface="+mj-cs"/>
              </a:rPr>
              <a:t> server 10.0.0.5.</a:t>
            </a:r>
          </a:p>
          <a:p>
            <a:pPr>
              <a:spcBef>
                <a:spcPts val="600"/>
              </a:spcBef>
              <a:spcAft>
                <a:spcPts val="600"/>
              </a:spcAft>
            </a:pPr>
            <a:r>
              <a:rPr lang="en-US" sz="2400" dirty="0">
                <a:solidFill>
                  <a:srgbClr val="0000CC"/>
                </a:solidFill>
                <a:latin typeface="Rockwell" panose="02060603020205020403" pitchFamily="18" charset="0"/>
                <a:ea typeface="+mj-ea"/>
                <a:cs typeface="+mj-cs"/>
              </a:rPr>
              <a:t>Rule 2: Cho </a:t>
            </a:r>
            <a:r>
              <a:rPr lang="en-US" sz="2400" dirty="0" err="1">
                <a:solidFill>
                  <a:srgbClr val="0000CC"/>
                </a:solidFill>
                <a:latin typeface="Rockwell" panose="02060603020205020403" pitchFamily="18" charset="0"/>
                <a:ea typeface="+mj-ea"/>
                <a:cs typeface="+mj-cs"/>
              </a:rPr>
              <a:t>phép</a:t>
            </a:r>
            <a:r>
              <a:rPr lang="en-US" sz="2400" dirty="0">
                <a:solidFill>
                  <a:srgbClr val="0000CC"/>
                </a:solidFill>
                <a:latin typeface="Rockwell" panose="02060603020205020403" pitchFamily="18" charset="0"/>
                <a:ea typeface="+mj-ea"/>
                <a:cs typeface="+mj-cs"/>
              </a:rPr>
              <a:t> </a:t>
            </a:r>
            <a:r>
              <a:rPr lang="en-US" sz="2400" dirty="0" err="1">
                <a:solidFill>
                  <a:srgbClr val="0000CC"/>
                </a:solidFill>
                <a:latin typeface="Rockwell" panose="02060603020205020403" pitchFamily="18" charset="0"/>
                <a:ea typeface="+mj-ea"/>
                <a:cs typeface="+mj-cs"/>
              </a:rPr>
              <a:t>mạng</a:t>
            </a:r>
            <a:r>
              <a:rPr lang="en-US" sz="2400" dirty="0">
                <a:solidFill>
                  <a:srgbClr val="0000CC"/>
                </a:solidFill>
                <a:latin typeface="Rockwell" panose="02060603020205020403" pitchFamily="18" charset="0"/>
                <a:ea typeface="+mj-ea"/>
                <a:cs typeface="+mj-cs"/>
              </a:rPr>
              <a:t> </a:t>
            </a:r>
            <a:r>
              <a:rPr lang="en-US" sz="2400" dirty="0" err="1">
                <a:solidFill>
                  <a:srgbClr val="0000CC"/>
                </a:solidFill>
                <a:latin typeface="Rockwell" panose="02060603020205020403" pitchFamily="18" charset="0"/>
                <a:ea typeface="+mj-ea"/>
                <a:cs typeface="+mj-cs"/>
              </a:rPr>
              <a:t>nội</a:t>
            </a:r>
            <a:r>
              <a:rPr lang="en-US" sz="2400" dirty="0">
                <a:solidFill>
                  <a:srgbClr val="0000CC"/>
                </a:solidFill>
                <a:latin typeface="Rockwell" panose="02060603020205020403" pitchFamily="18" charset="0"/>
                <a:ea typeface="+mj-ea"/>
                <a:cs typeface="+mj-cs"/>
              </a:rPr>
              <a:t> </a:t>
            </a:r>
            <a:r>
              <a:rPr lang="en-US" sz="2400" dirty="0" err="1">
                <a:solidFill>
                  <a:srgbClr val="0000CC"/>
                </a:solidFill>
                <a:latin typeface="Rockwell" panose="02060603020205020403" pitchFamily="18" charset="0"/>
                <a:ea typeface="+mj-ea"/>
                <a:cs typeface="+mj-cs"/>
              </a:rPr>
              <a:t>bộ</a:t>
            </a:r>
            <a:r>
              <a:rPr lang="en-US" sz="2400" dirty="0">
                <a:solidFill>
                  <a:srgbClr val="0000CC"/>
                </a:solidFill>
                <a:latin typeface="Rockwell" panose="02060603020205020403" pitchFamily="18" charset="0"/>
                <a:ea typeface="+mj-ea"/>
                <a:cs typeface="+mj-cs"/>
              </a:rPr>
              <a:t> 172.16.0.0/24 </a:t>
            </a:r>
            <a:r>
              <a:rPr lang="en-US" sz="2400" dirty="0" err="1">
                <a:solidFill>
                  <a:srgbClr val="0000CC"/>
                </a:solidFill>
                <a:latin typeface="Rockwell" panose="02060603020205020403" pitchFamily="18" charset="0"/>
                <a:ea typeface="+mj-ea"/>
                <a:cs typeface="+mj-cs"/>
              </a:rPr>
              <a:t>truy</a:t>
            </a:r>
            <a:r>
              <a:rPr lang="en-US" sz="2400" dirty="0">
                <a:solidFill>
                  <a:srgbClr val="0000CC"/>
                </a:solidFill>
                <a:latin typeface="Rockwell" panose="02060603020205020403" pitchFamily="18" charset="0"/>
                <a:ea typeface="+mj-ea"/>
                <a:cs typeface="+mj-cs"/>
              </a:rPr>
              <a:t> </a:t>
            </a:r>
            <a:r>
              <a:rPr lang="en-US" sz="2400" dirty="0" err="1">
                <a:solidFill>
                  <a:srgbClr val="0000CC"/>
                </a:solidFill>
                <a:latin typeface="Rockwell" panose="02060603020205020403" pitchFamily="18" charset="0"/>
                <a:ea typeface="+mj-ea"/>
                <a:cs typeface="+mj-cs"/>
              </a:rPr>
              <a:t>vấn</a:t>
            </a:r>
            <a:r>
              <a:rPr lang="en-US" sz="2400" dirty="0">
                <a:solidFill>
                  <a:srgbClr val="0000CC"/>
                </a:solidFill>
                <a:latin typeface="Rockwell" panose="02060603020205020403" pitchFamily="18" charset="0"/>
                <a:ea typeface="+mj-ea"/>
                <a:cs typeface="+mj-cs"/>
              </a:rPr>
              <a:t> DNS (</a:t>
            </a:r>
            <a:r>
              <a:rPr lang="en-US" sz="2400" dirty="0" err="1">
                <a:solidFill>
                  <a:srgbClr val="0000CC"/>
                </a:solidFill>
                <a:latin typeface="Rockwell" panose="02060603020205020403" pitchFamily="18" charset="0"/>
                <a:ea typeface="+mj-ea"/>
                <a:cs typeface="+mj-cs"/>
              </a:rPr>
              <a:t>UDP</a:t>
            </a:r>
            <a:r>
              <a:rPr lang="en-US" sz="2400" dirty="0">
                <a:solidFill>
                  <a:srgbClr val="0000CC"/>
                </a:solidFill>
                <a:latin typeface="Rockwell" panose="02060603020205020403" pitchFamily="18" charset="0"/>
                <a:ea typeface="+mj-ea"/>
                <a:cs typeface="+mj-cs"/>
              </a:rPr>
              <a:t>/53).</a:t>
            </a:r>
          </a:p>
          <a:p>
            <a:pPr>
              <a:spcBef>
                <a:spcPts val="600"/>
              </a:spcBef>
              <a:spcAft>
                <a:spcPts val="600"/>
              </a:spcAft>
            </a:pPr>
            <a:r>
              <a:rPr lang="en-US" sz="2400" dirty="0">
                <a:solidFill>
                  <a:srgbClr val="0000CC"/>
                </a:solidFill>
                <a:latin typeface="Rockwell" panose="02060603020205020403" pitchFamily="18" charset="0"/>
                <a:ea typeface="+mj-ea"/>
                <a:cs typeface="+mj-cs"/>
              </a:rPr>
              <a:t>Rule 3: </a:t>
            </a:r>
            <a:r>
              <a:rPr lang="en-US" sz="2400" dirty="0" err="1">
                <a:solidFill>
                  <a:srgbClr val="0000CC"/>
                </a:solidFill>
                <a:latin typeface="Rockwell" panose="02060603020205020403" pitchFamily="18" charset="0"/>
                <a:ea typeface="+mj-ea"/>
                <a:cs typeface="+mj-cs"/>
              </a:rPr>
              <a:t>Chặn</a:t>
            </a:r>
            <a:r>
              <a:rPr lang="en-US" sz="2400" dirty="0">
                <a:solidFill>
                  <a:srgbClr val="0000CC"/>
                </a:solidFill>
                <a:latin typeface="Rockwell" panose="02060603020205020403" pitchFamily="18" charset="0"/>
                <a:ea typeface="+mj-ea"/>
                <a:cs typeface="+mj-cs"/>
              </a:rPr>
              <a:t> FTP (port 21) </a:t>
            </a:r>
            <a:r>
              <a:rPr lang="en-US" sz="2400" dirty="0" err="1">
                <a:solidFill>
                  <a:srgbClr val="0000CC"/>
                </a:solidFill>
                <a:latin typeface="Rockwell" panose="02060603020205020403" pitchFamily="18" charset="0"/>
                <a:ea typeface="+mj-ea"/>
                <a:cs typeface="+mj-cs"/>
              </a:rPr>
              <a:t>tới</a:t>
            </a:r>
            <a:r>
              <a:rPr lang="en-US" sz="2400" dirty="0">
                <a:solidFill>
                  <a:srgbClr val="0000CC"/>
                </a:solidFill>
                <a:latin typeface="Rockwell" panose="02060603020205020403" pitchFamily="18" charset="0"/>
                <a:ea typeface="+mj-ea"/>
                <a:cs typeface="+mj-cs"/>
              </a:rPr>
              <a:t> server 10.0.0.5.</a:t>
            </a:r>
          </a:p>
          <a:p>
            <a:pPr>
              <a:spcBef>
                <a:spcPts val="600"/>
              </a:spcBef>
              <a:spcAft>
                <a:spcPts val="600"/>
              </a:spcAft>
            </a:pPr>
            <a:r>
              <a:rPr lang="en-US" sz="2400" dirty="0">
                <a:solidFill>
                  <a:srgbClr val="0000CC"/>
                </a:solidFill>
                <a:latin typeface="Rockwell" panose="02060603020205020403" pitchFamily="18" charset="0"/>
                <a:ea typeface="+mj-ea"/>
                <a:cs typeface="+mj-cs"/>
              </a:rPr>
              <a:t>Rule 4: </a:t>
            </a:r>
            <a:r>
              <a:rPr lang="en-US" sz="2400" dirty="0" err="1">
                <a:solidFill>
                  <a:srgbClr val="0000CC"/>
                </a:solidFill>
                <a:latin typeface="Rockwell" panose="02060603020205020403" pitchFamily="18" charset="0"/>
                <a:ea typeface="+mj-ea"/>
                <a:cs typeface="+mj-cs"/>
              </a:rPr>
              <a:t>Chặn</a:t>
            </a:r>
            <a:r>
              <a:rPr lang="en-US" sz="2400" dirty="0">
                <a:solidFill>
                  <a:srgbClr val="0000CC"/>
                </a:solidFill>
                <a:latin typeface="Rockwell" panose="02060603020205020403" pitchFamily="18" charset="0"/>
                <a:ea typeface="+mj-ea"/>
                <a:cs typeface="+mj-cs"/>
              </a:rPr>
              <a:t> </a:t>
            </a:r>
            <a:r>
              <a:rPr lang="en-US" sz="2400" dirty="0" err="1">
                <a:solidFill>
                  <a:srgbClr val="0000CC"/>
                </a:solidFill>
                <a:latin typeface="Rockwell" panose="02060603020205020403" pitchFamily="18" charset="0"/>
                <a:ea typeface="+mj-ea"/>
                <a:cs typeface="+mj-cs"/>
              </a:rPr>
              <a:t>toàn</a:t>
            </a:r>
            <a:r>
              <a:rPr lang="en-US" sz="2400" dirty="0">
                <a:solidFill>
                  <a:srgbClr val="0000CC"/>
                </a:solidFill>
                <a:latin typeface="Rockwell" panose="02060603020205020403" pitchFamily="18" charset="0"/>
                <a:ea typeface="+mj-ea"/>
                <a:cs typeface="+mj-cs"/>
              </a:rPr>
              <a:t> </a:t>
            </a:r>
            <a:r>
              <a:rPr lang="en-US" sz="2400" dirty="0" err="1">
                <a:solidFill>
                  <a:srgbClr val="0000CC"/>
                </a:solidFill>
                <a:latin typeface="Rockwell" panose="02060603020205020403" pitchFamily="18" charset="0"/>
                <a:ea typeface="+mj-ea"/>
                <a:cs typeface="+mj-cs"/>
              </a:rPr>
              <a:t>bộ</a:t>
            </a:r>
            <a:r>
              <a:rPr lang="en-US" sz="2400" dirty="0">
                <a:solidFill>
                  <a:srgbClr val="0000CC"/>
                </a:solidFill>
                <a:latin typeface="Rockwell" panose="02060603020205020403" pitchFamily="18" charset="0"/>
                <a:ea typeface="+mj-ea"/>
                <a:cs typeface="+mj-cs"/>
              </a:rPr>
              <a:t> traffic </a:t>
            </a:r>
            <a:r>
              <a:rPr lang="en-US" sz="2400" dirty="0" err="1">
                <a:solidFill>
                  <a:srgbClr val="0000CC"/>
                </a:solidFill>
                <a:latin typeface="Rockwell" panose="02060603020205020403" pitchFamily="18" charset="0"/>
                <a:ea typeface="+mj-ea"/>
                <a:cs typeface="+mj-cs"/>
              </a:rPr>
              <a:t>còn</a:t>
            </a:r>
            <a:r>
              <a:rPr lang="en-US" sz="2400" dirty="0">
                <a:solidFill>
                  <a:srgbClr val="0000CC"/>
                </a:solidFill>
                <a:latin typeface="Rockwell" panose="02060603020205020403" pitchFamily="18" charset="0"/>
                <a:ea typeface="+mj-ea"/>
                <a:cs typeface="+mj-cs"/>
              </a:rPr>
              <a:t> </a:t>
            </a:r>
            <a:r>
              <a:rPr lang="en-US" sz="2400" dirty="0" err="1">
                <a:solidFill>
                  <a:srgbClr val="0000CC"/>
                </a:solidFill>
                <a:latin typeface="Rockwell" panose="02060603020205020403" pitchFamily="18" charset="0"/>
                <a:ea typeface="+mj-ea"/>
                <a:cs typeface="+mj-cs"/>
              </a:rPr>
              <a:t>lại</a:t>
            </a:r>
            <a:r>
              <a:rPr lang="en-US" sz="2400" dirty="0">
                <a:solidFill>
                  <a:srgbClr val="0000CC"/>
                </a:solidFill>
                <a:latin typeface="Rockwell" panose="02060603020205020403" pitchFamily="18" charset="0"/>
                <a:ea typeface="+mj-ea"/>
                <a:cs typeface="+mj-cs"/>
              </a:rPr>
              <a:t>.</a:t>
            </a:r>
          </a:p>
        </p:txBody>
      </p:sp>
    </p:spTree>
    <p:extLst>
      <p:ext uri="{BB962C8B-B14F-4D97-AF65-F5344CB8AC3E}">
        <p14:creationId xmlns:p14="http://schemas.microsoft.com/office/powerpoint/2010/main" val="20659273"/>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44303" y="491797"/>
            <a:ext cx="10242645" cy="528851"/>
          </a:xfrm>
        </p:spPr>
        <p:txBody>
          <a:bodyPr/>
          <a:lstStyle/>
          <a:p>
            <a:r>
              <a:rPr lang="en-US" sz="2800" b="1" dirty="0">
                <a:solidFill>
                  <a:srgbClr val="0000CC"/>
                </a:solidFill>
                <a:latin typeface="Rockwell" panose="02060603020205020403" pitchFamily="18" charset="0"/>
              </a:rPr>
              <a:t>7</a:t>
            </a:r>
            <a:r>
              <a:rPr lang="en-US" sz="2800" b="1" dirty="0" smtClean="0">
                <a:solidFill>
                  <a:srgbClr val="0000CC"/>
                </a:solidFill>
                <a:latin typeface="Rockwell" panose="02060603020205020403" pitchFamily="18" charset="0"/>
              </a:rPr>
              <a:t>.2.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Chức</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năng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và</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mục</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đích</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sử</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dụng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của</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FIREWALL</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44304" y="1020648"/>
            <a:ext cx="9764976" cy="3865251"/>
          </a:xfrm>
        </p:spPr>
        <p:txBody>
          <a:bodyPr/>
          <a:lstStyle/>
          <a:p>
            <a:pPr marL="0" indent="0">
              <a:buNone/>
            </a:pPr>
            <a:r>
              <a:rPr lang="en-US" b="1" dirty="0" smtClean="0">
                <a:solidFill>
                  <a:srgbClr val="0000CC"/>
                </a:solidFill>
                <a:latin typeface="Rockwell" panose="02060603020205020403" pitchFamily="18" charset="0"/>
                <a:ea typeface="+mj-ea"/>
                <a:cs typeface="+mj-cs"/>
              </a:rPr>
              <a:t>2. </a:t>
            </a:r>
            <a:r>
              <a:rPr lang="en-US" b="1" dirty="0" err="1" smtClean="0">
                <a:solidFill>
                  <a:srgbClr val="0000CC"/>
                </a:solidFill>
                <a:latin typeface="Rockwell" panose="02060603020205020403" pitchFamily="18" charset="0"/>
                <a:ea typeface="+mj-ea"/>
                <a:cs typeface="+mj-cs"/>
              </a:rPr>
              <a:t>Các</a:t>
            </a:r>
            <a:r>
              <a:rPr lang="en-US" b="1" dirty="0" smtClean="0">
                <a:solidFill>
                  <a:srgbClr val="0000CC"/>
                </a:solidFill>
                <a:latin typeface="Rockwell" panose="02060603020205020403" pitchFamily="18" charset="0"/>
                <a:ea typeface="+mj-ea"/>
                <a:cs typeface="+mj-cs"/>
              </a:rPr>
              <a:t> </a:t>
            </a:r>
            <a:r>
              <a:rPr lang="en-US" b="1" dirty="0" err="1" smtClean="0">
                <a:solidFill>
                  <a:srgbClr val="0000CC"/>
                </a:solidFill>
                <a:latin typeface="Rockwell" panose="02060603020205020403" pitchFamily="18" charset="0"/>
                <a:ea typeface="+mj-ea"/>
                <a:cs typeface="+mj-cs"/>
              </a:rPr>
              <a:t>thành</a:t>
            </a:r>
            <a:r>
              <a:rPr lang="en-US" b="1" dirty="0" smtClean="0">
                <a:solidFill>
                  <a:srgbClr val="0000CC"/>
                </a:solidFill>
                <a:latin typeface="Rockwell" panose="02060603020205020403" pitchFamily="18" charset="0"/>
                <a:ea typeface="+mj-ea"/>
                <a:cs typeface="+mj-cs"/>
              </a:rPr>
              <a:t> </a:t>
            </a:r>
            <a:r>
              <a:rPr lang="en-US" b="1" dirty="0" err="1" smtClean="0">
                <a:solidFill>
                  <a:srgbClr val="0000CC"/>
                </a:solidFill>
                <a:latin typeface="Rockwell" panose="02060603020205020403" pitchFamily="18" charset="0"/>
                <a:ea typeface="+mj-ea"/>
                <a:cs typeface="+mj-cs"/>
              </a:rPr>
              <a:t>phần</a:t>
            </a:r>
            <a:r>
              <a:rPr lang="en-US" b="1" dirty="0" smtClean="0">
                <a:solidFill>
                  <a:srgbClr val="0000CC"/>
                </a:solidFill>
                <a:latin typeface="Rockwell" panose="02060603020205020403" pitchFamily="18" charset="0"/>
                <a:ea typeface="+mj-ea"/>
                <a:cs typeface="+mj-cs"/>
              </a:rPr>
              <a:t> </a:t>
            </a:r>
            <a:r>
              <a:rPr lang="en-US" b="1" dirty="0" err="1" smtClean="0">
                <a:solidFill>
                  <a:srgbClr val="0000CC"/>
                </a:solidFill>
                <a:latin typeface="Rockwell" panose="02060603020205020403" pitchFamily="18" charset="0"/>
                <a:ea typeface="+mj-ea"/>
                <a:cs typeface="+mj-cs"/>
              </a:rPr>
              <a:t>chính</a:t>
            </a:r>
            <a:r>
              <a:rPr lang="en-US" b="1" dirty="0" smtClean="0">
                <a:solidFill>
                  <a:srgbClr val="0000CC"/>
                </a:solidFill>
                <a:latin typeface="Rockwell" panose="02060603020205020403" pitchFamily="18" charset="0"/>
                <a:ea typeface="+mj-ea"/>
                <a:cs typeface="+mj-cs"/>
              </a:rPr>
              <a:t> </a:t>
            </a:r>
            <a:r>
              <a:rPr lang="en-US" b="1" dirty="0" err="1" smtClean="0">
                <a:solidFill>
                  <a:srgbClr val="0000CC"/>
                </a:solidFill>
                <a:latin typeface="Rockwell" panose="02060603020205020403" pitchFamily="18" charset="0"/>
                <a:ea typeface="+mj-ea"/>
                <a:cs typeface="+mj-cs"/>
              </a:rPr>
              <a:t>của</a:t>
            </a:r>
            <a:r>
              <a:rPr lang="en-US" b="1" dirty="0" smtClean="0">
                <a:solidFill>
                  <a:srgbClr val="0000CC"/>
                </a:solidFill>
                <a:latin typeface="Rockwell" panose="02060603020205020403" pitchFamily="18" charset="0"/>
                <a:ea typeface="+mj-ea"/>
                <a:cs typeface="+mj-cs"/>
              </a:rPr>
              <a:t> Firewall</a:t>
            </a:r>
            <a:r>
              <a:rPr lang="vi-VN" b="1" dirty="0" smtClean="0">
                <a:solidFill>
                  <a:srgbClr val="0000CC"/>
                </a:solidFill>
                <a:latin typeface="Rockwell" panose="02060603020205020403" pitchFamily="18" charset="0"/>
                <a:ea typeface="+mj-ea"/>
                <a:cs typeface="+mj-cs"/>
              </a:rPr>
              <a:t>:</a:t>
            </a:r>
            <a:endParaRPr lang="en-US" b="1" dirty="0" smtClean="0">
              <a:solidFill>
                <a:srgbClr val="0000CC"/>
              </a:solidFill>
              <a:latin typeface="Rockwell" panose="02060603020205020403" pitchFamily="18" charset="0"/>
              <a:ea typeface="+mj-ea"/>
              <a:cs typeface="+mj-cs"/>
            </a:endParaRPr>
          </a:p>
          <a:p>
            <a:pPr marL="0" indent="0" algn="just">
              <a:lnSpc>
                <a:spcPct val="120000"/>
              </a:lnSpc>
              <a:spcBef>
                <a:spcPts val="1200"/>
              </a:spcBef>
              <a:spcAft>
                <a:spcPts val="600"/>
              </a:spcAft>
              <a:buNone/>
            </a:pPr>
            <a:r>
              <a:rPr lang="en-US" dirty="0" err="1" smtClean="0">
                <a:solidFill>
                  <a:srgbClr val="0000CC"/>
                </a:solidFill>
                <a:latin typeface="Rockwell" panose="02060603020205020403" pitchFamily="18" charset="0"/>
                <a:ea typeface="+mj-ea"/>
                <a:cs typeface="+mj-cs"/>
              </a:rPr>
              <a:t>Ví</a:t>
            </a:r>
            <a:r>
              <a:rPr lang="en-US" dirty="0" smtClean="0">
                <a:solidFill>
                  <a:srgbClr val="0000CC"/>
                </a:solidFill>
                <a:latin typeface="Rockwell" panose="02060603020205020403" pitchFamily="18" charset="0"/>
                <a:ea typeface="+mj-ea"/>
                <a:cs typeface="+mj-cs"/>
              </a:rPr>
              <a:t> </a:t>
            </a:r>
            <a:r>
              <a:rPr lang="en-US" dirty="0" err="1" smtClean="0">
                <a:solidFill>
                  <a:srgbClr val="0000CC"/>
                </a:solidFill>
                <a:latin typeface="Rockwell" panose="02060603020205020403" pitchFamily="18" charset="0"/>
                <a:ea typeface="+mj-ea"/>
                <a:cs typeface="+mj-cs"/>
              </a:rPr>
              <a:t>dụ</a:t>
            </a:r>
            <a:r>
              <a:rPr lang="en-US" dirty="0" smtClean="0">
                <a:solidFill>
                  <a:srgbClr val="0000CC"/>
                </a:solidFill>
                <a:latin typeface="Rockwell" panose="02060603020205020403" pitchFamily="18" charset="0"/>
                <a:ea typeface="+mj-ea"/>
                <a:cs typeface="+mj-cs"/>
              </a:rPr>
              <a:t> 4:</a:t>
            </a:r>
          </a:p>
          <a:p>
            <a:pPr marL="0" indent="0" algn="just">
              <a:lnSpc>
                <a:spcPct val="120000"/>
              </a:lnSpc>
              <a:spcBef>
                <a:spcPts val="1200"/>
              </a:spcBef>
              <a:spcAft>
                <a:spcPts val="600"/>
              </a:spcAft>
              <a:buNone/>
            </a:pPr>
            <a:endParaRPr lang="en-US" dirty="0" smtClean="0">
              <a:solidFill>
                <a:srgbClr val="0000CC"/>
              </a:solidFill>
              <a:latin typeface="Rockwell" panose="02060603020205020403" pitchFamily="18" charset="0"/>
              <a:ea typeface="+mj-ea"/>
              <a:cs typeface="+mj-cs"/>
            </a:endParaRPr>
          </a:p>
          <a:p>
            <a:pPr marL="0" indent="0" algn="just">
              <a:lnSpc>
                <a:spcPct val="120000"/>
              </a:lnSpc>
              <a:spcBef>
                <a:spcPts val="1200"/>
              </a:spcBef>
              <a:spcAft>
                <a:spcPts val="600"/>
              </a:spcAft>
              <a:buNone/>
            </a:pPr>
            <a:endParaRPr lang="en-US" dirty="0">
              <a:solidFill>
                <a:srgbClr val="0000CC"/>
              </a:solidFill>
              <a:latin typeface="Rockwell" panose="02060603020205020403" pitchFamily="18" charset="0"/>
              <a:ea typeface="+mj-ea"/>
              <a:cs typeface="+mj-cs"/>
            </a:endParaRPr>
          </a:p>
        </p:txBody>
      </p:sp>
      <p:graphicFrame>
        <p:nvGraphicFramePr>
          <p:cNvPr id="4" name="Table 3"/>
          <p:cNvGraphicFramePr>
            <a:graphicFrameLocks noGrp="1"/>
          </p:cNvGraphicFramePr>
          <p:nvPr>
            <p:extLst>
              <p:ext uri="{D42A27DB-BD31-4B8C-83A1-F6EECF244321}">
                <p14:modId xmlns:p14="http://schemas.microsoft.com/office/powerpoint/2010/main" val="1837189110"/>
              </p:ext>
            </p:extLst>
          </p:nvPr>
        </p:nvGraphicFramePr>
        <p:xfrm>
          <a:off x="1344303" y="2038873"/>
          <a:ext cx="9601200" cy="1828800"/>
        </p:xfrm>
        <a:graphic>
          <a:graphicData uri="http://schemas.openxmlformats.org/drawingml/2006/table">
            <a:tbl>
              <a:tblPr>
                <a:tableStyleId>{3C2FFA5D-87B4-456A-9821-1D502468CF0F}</a:tableStyleId>
              </a:tblPr>
              <a:tblGrid>
                <a:gridCol w="962169">
                  <a:extLst>
                    <a:ext uri="{9D8B030D-6E8A-4147-A177-3AD203B41FA5}">
                      <a16:colId xmlns:a16="http://schemas.microsoft.com/office/drawing/2014/main" val="4192725513"/>
                    </a:ext>
                  </a:extLst>
                </a:gridCol>
                <a:gridCol w="2388358">
                  <a:extLst>
                    <a:ext uri="{9D8B030D-6E8A-4147-A177-3AD203B41FA5}">
                      <a16:colId xmlns:a16="http://schemas.microsoft.com/office/drawing/2014/main" val="1773065825"/>
                    </a:ext>
                  </a:extLst>
                </a:gridCol>
                <a:gridCol w="4449170">
                  <a:extLst>
                    <a:ext uri="{9D8B030D-6E8A-4147-A177-3AD203B41FA5}">
                      <a16:colId xmlns:a16="http://schemas.microsoft.com/office/drawing/2014/main" val="2619054700"/>
                    </a:ext>
                  </a:extLst>
                </a:gridCol>
                <a:gridCol w="1801503">
                  <a:extLst>
                    <a:ext uri="{9D8B030D-6E8A-4147-A177-3AD203B41FA5}">
                      <a16:colId xmlns:a16="http://schemas.microsoft.com/office/drawing/2014/main" val="2523722842"/>
                    </a:ext>
                  </a:extLst>
                </a:gridCol>
              </a:tblGrid>
              <a:tr h="0">
                <a:tc>
                  <a:txBody>
                    <a:bodyPr/>
                    <a:lstStyle/>
                    <a:p>
                      <a:pPr algn="ctr"/>
                      <a:r>
                        <a:rPr lang="en-US" b="1" dirty="0">
                          <a:solidFill>
                            <a:srgbClr val="0000CC"/>
                          </a:solidFill>
                        </a:rPr>
                        <a:t>Rule</a:t>
                      </a:r>
                    </a:p>
                  </a:txBody>
                  <a:tcPr anchor="ctr"/>
                </a:tc>
                <a:tc>
                  <a:txBody>
                    <a:bodyPr/>
                    <a:lstStyle/>
                    <a:p>
                      <a:pPr algn="ctr"/>
                      <a:r>
                        <a:rPr lang="en-US" b="1" dirty="0">
                          <a:solidFill>
                            <a:srgbClr val="0000CC"/>
                          </a:solidFill>
                        </a:rPr>
                        <a:t>Application/Service</a:t>
                      </a:r>
                    </a:p>
                  </a:txBody>
                  <a:tcPr anchor="ctr"/>
                </a:tc>
                <a:tc>
                  <a:txBody>
                    <a:bodyPr/>
                    <a:lstStyle/>
                    <a:p>
                      <a:pPr algn="ctr"/>
                      <a:r>
                        <a:rPr lang="en-US" b="1" dirty="0">
                          <a:solidFill>
                            <a:srgbClr val="0000CC"/>
                          </a:solidFill>
                        </a:rPr>
                        <a:t>Condition (Payload Inspection)</a:t>
                      </a:r>
                    </a:p>
                  </a:txBody>
                  <a:tcPr anchor="ctr"/>
                </a:tc>
                <a:tc>
                  <a:txBody>
                    <a:bodyPr/>
                    <a:lstStyle/>
                    <a:p>
                      <a:pPr algn="ctr"/>
                      <a:r>
                        <a:rPr lang="en-US" b="1" dirty="0">
                          <a:solidFill>
                            <a:srgbClr val="0000CC"/>
                          </a:solidFill>
                        </a:rPr>
                        <a:t>Action</a:t>
                      </a:r>
                    </a:p>
                  </a:txBody>
                  <a:tcPr anchor="ctr"/>
                </a:tc>
                <a:extLst>
                  <a:ext uri="{0D108BD9-81ED-4DB2-BD59-A6C34878D82A}">
                    <a16:rowId xmlns:a16="http://schemas.microsoft.com/office/drawing/2014/main" val="3557252656"/>
                  </a:ext>
                </a:extLst>
              </a:tr>
              <a:tr h="0">
                <a:tc>
                  <a:txBody>
                    <a:bodyPr/>
                    <a:lstStyle/>
                    <a:p>
                      <a:pPr algn="ctr"/>
                      <a:r>
                        <a:rPr lang="en-US" dirty="0">
                          <a:solidFill>
                            <a:srgbClr val="0000CC"/>
                          </a:solidFill>
                        </a:rPr>
                        <a:t>1</a:t>
                      </a:r>
                    </a:p>
                  </a:txBody>
                  <a:tcPr anchor="ctr"/>
                </a:tc>
                <a:tc>
                  <a:txBody>
                    <a:bodyPr/>
                    <a:lstStyle/>
                    <a:p>
                      <a:pPr algn="ctr"/>
                      <a:r>
                        <a:rPr lang="en-US" dirty="0">
                          <a:solidFill>
                            <a:srgbClr val="0000CC"/>
                          </a:solidFill>
                        </a:rPr>
                        <a:t>HTTP (Web)</a:t>
                      </a:r>
                    </a:p>
                  </a:txBody>
                  <a:tcPr anchor="ctr"/>
                </a:tc>
                <a:tc>
                  <a:txBody>
                    <a:bodyPr/>
                    <a:lstStyle/>
                    <a:p>
                      <a:pPr algn="ctr"/>
                      <a:r>
                        <a:rPr lang="en-US" dirty="0">
                          <a:solidFill>
                            <a:srgbClr val="0000CC"/>
                          </a:solidFill>
                        </a:rPr>
                        <a:t>Method = POST, Payload size &gt; </a:t>
                      </a:r>
                      <a:r>
                        <a:rPr lang="en-US" dirty="0" err="1">
                          <a:solidFill>
                            <a:srgbClr val="0000CC"/>
                          </a:solidFill>
                        </a:rPr>
                        <a:t>5MB</a:t>
                      </a:r>
                      <a:endParaRPr lang="en-US" dirty="0">
                        <a:solidFill>
                          <a:srgbClr val="0000CC"/>
                        </a:solidFill>
                      </a:endParaRPr>
                    </a:p>
                  </a:txBody>
                  <a:tcPr anchor="ctr"/>
                </a:tc>
                <a:tc>
                  <a:txBody>
                    <a:bodyPr/>
                    <a:lstStyle/>
                    <a:p>
                      <a:pPr algn="ctr"/>
                      <a:r>
                        <a:rPr lang="en-US">
                          <a:solidFill>
                            <a:srgbClr val="0000CC"/>
                          </a:solidFill>
                        </a:rPr>
                        <a:t>Deny</a:t>
                      </a:r>
                    </a:p>
                  </a:txBody>
                  <a:tcPr anchor="ctr"/>
                </a:tc>
                <a:extLst>
                  <a:ext uri="{0D108BD9-81ED-4DB2-BD59-A6C34878D82A}">
                    <a16:rowId xmlns:a16="http://schemas.microsoft.com/office/drawing/2014/main" val="411166831"/>
                  </a:ext>
                </a:extLst>
              </a:tr>
              <a:tr h="0">
                <a:tc>
                  <a:txBody>
                    <a:bodyPr/>
                    <a:lstStyle/>
                    <a:p>
                      <a:pPr algn="ctr"/>
                      <a:r>
                        <a:rPr lang="en-US">
                          <a:solidFill>
                            <a:srgbClr val="0000CC"/>
                          </a:solidFill>
                        </a:rPr>
                        <a:t>2</a:t>
                      </a:r>
                    </a:p>
                  </a:txBody>
                  <a:tcPr anchor="ctr"/>
                </a:tc>
                <a:tc>
                  <a:txBody>
                    <a:bodyPr/>
                    <a:lstStyle/>
                    <a:p>
                      <a:pPr algn="ctr"/>
                      <a:r>
                        <a:rPr lang="en-US" dirty="0">
                          <a:solidFill>
                            <a:srgbClr val="0000CC"/>
                          </a:solidFill>
                        </a:rPr>
                        <a:t>HTTP (Web)</a:t>
                      </a:r>
                    </a:p>
                  </a:txBody>
                  <a:tcPr anchor="ctr"/>
                </a:tc>
                <a:tc>
                  <a:txBody>
                    <a:bodyPr/>
                    <a:lstStyle/>
                    <a:p>
                      <a:pPr algn="ctr"/>
                      <a:r>
                        <a:rPr lang="en-US" dirty="0">
                          <a:solidFill>
                            <a:srgbClr val="0000CC"/>
                          </a:solidFill>
                        </a:rPr>
                        <a:t>Block keyword: UNION SELECT</a:t>
                      </a:r>
                    </a:p>
                  </a:txBody>
                  <a:tcPr anchor="ctr"/>
                </a:tc>
                <a:tc>
                  <a:txBody>
                    <a:bodyPr/>
                    <a:lstStyle/>
                    <a:p>
                      <a:pPr algn="ctr"/>
                      <a:r>
                        <a:rPr lang="en-US">
                          <a:solidFill>
                            <a:srgbClr val="0000CC"/>
                          </a:solidFill>
                        </a:rPr>
                        <a:t>Deny</a:t>
                      </a:r>
                    </a:p>
                  </a:txBody>
                  <a:tcPr anchor="ctr"/>
                </a:tc>
                <a:extLst>
                  <a:ext uri="{0D108BD9-81ED-4DB2-BD59-A6C34878D82A}">
                    <a16:rowId xmlns:a16="http://schemas.microsoft.com/office/drawing/2014/main" val="2408176238"/>
                  </a:ext>
                </a:extLst>
              </a:tr>
              <a:tr h="0">
                <a:tc>
                  <a:txBody>
                    <a:bodyPr/>
                    <a:lstStyle/>
                    <a:p>
                      <a:pPr algn="ctr"/>
                      <a:r>
                        <a:rPr lang="en-US">
                          <a:solidFill>
                            <a:srgbClr val="0000CC"/>
                          </a:solidFill>
                        </a:rPr>
                        <a:t>3</a:t>
                      </a:r>
                    </a:p>
                  </a:txBody>
                  <a:tcPr anchor="ctr"/>
                </a:tc>
                <a:tc>
                  <a:txBody>
                    <a:bodyPr/>
                    <a:lstStyle/>
                    <a:p>
                      <a:pPr algn="ctr"/>
                      <a:r>
                        <a:rPr lang="en-US">
                          <a:solidFill>
                            <a:srgbClr val="0000CC"/>
                          </a:solidFill>
                        </a:rPr>
                        <a:t>SMTP (Email)</a:t>
                      </a:r>
                    </a:p>
                  </a:txBody>
                  <a:tcPr anchor="ctr"/>
                </a:tc>
                <a:tc>
                  <a:txBody>
                    <a:bodyPr/>
                    <a:lstStyle/>
                    <a:p>
                      <a:pPr algn="ctr"/>
                      <a:r>
                        <a:rPr lang="en-US" dirty="0">
                          <a:solidFill>
                            <a:srgbClr val="0000CC"/>
                          </a:solidFill>
                        </a:rPr>
                        <a:t>Sender domain = @</a:t>
                      </a:r>
                      <a:r>
                        <a:rPr lang="en-US" dirty="0" err="1">
                          <a:solidFill>
                            <a:srgbClr val="0000CC"/>
                          </a:solidFill>
                        </a:rPr>
                        <a:t>spam.com</a:t>
                      </a:r>
                      <a:endParaRPr lang="en-US" dirty="0">
                        <a:solidFill>
                          <a:srgbClr val="0000CC"/>
                        </a:solidFill>
                      </a:endParaRPr>
                    </a:p>
                  </a:txBody>
                  <a:tcPr anchor="ctr"/>
                </a:tc>
                <a:tc>
                  <a:txBody>
                    <a:bodyPr/>
                    <a:lstStyle/>
                    <a:p>
                      <a:pPr algn="ctr"/>
                      <a:r>
                        <a:rPr lang="en-US" dirty="0">
                          <a:solidFill>
                            <a:srgbClr val="0000CC"/>
                          </a:solidFill>
                        </a:rPr>
                        <a:t>Reject</a:t>
                      </a:r>
                    </a:p>
                  </a:txBody>
                  <a:tcPr anchor="ctr"/>
                </a:tc>
                <a:extLst>
                  <a:ext uri="{0D108BD9-81ED-4DB2-BD59-A6C34878D82A}">
                    <a16:rowId xmlns:a16="http://schemas.microsoft.com/office/drawing/2014/main" val="3013447300"/>
                  </a:ext>
                </a:extLst>
              </a:tr>
              <a:tr h="0">
                <a:tc>
                  <a:txBody>
                    <a:bodyPr/>
                    <a:lstStyle/>
                    <a:p>
                      <a:pPr algn="ctr"/>
                      <a:r>
                        <a:rPr lang="en-US">
                          <a:solidFill>
                            <a:srgbClr val="0000CC"/>
                          </a:solidFill>
                        </a:rPr>
                        <a:t>4</a:t>
                      </a:r>
                    </a:p>
                  </a:txBody>
                  <a:tcPr anchor="ctr"/>
                </a:tc>
                <a:tc>
                  <a:txBody>
                    <a:bodyPr/>
                    <a:lstStyle/>
                    <a:p>
                      <a:pPr algn="ctr"/>
                      <a:r>
                        <a:rPr lang="en-US">
                          <a:solidFill>
                            <a:srgbClr val="0000CC"/>
                          </a:solidFill>
                        </a:rPr>
                        <a:t>HTTP (Web)</a:t>
                      </a:r>
                    </a:p>
                  </a:txBody>
                  <a:tcPr anchor="ctr"/>
                </a:tc>
                <a:tc>
                  <a:txBody>
                    <a:bodyPr/>
                    <a:lstStyle/>
                    <a:p>
                      <a:pPr algn="ctr"/>
                      <a:r>
                        <a:rPr lang="en-US">
                          <a:solidFill>
                            <a:srgbClr val="0000CC"/>
                          </a:solidFill>
                        </a:rPr>
                        <a:t>File upload extension = .php</a:t>
                      </a:r>
                    </a:p>
                  </a:txBody>
                  <a:tcPr anchor="ctr"/>
                </a:tc>
                <a:tc>
                  <a:txBody>
                    <a:bodyPr/>
                    <a:lstStyle/>
                    <a:p>
                      <a:pPr algn="ctr"/>
                      <a:r>
                        <a:rPr lang="en-US" dirty="0">
                          <a:solidFill>
                            <a:srgbClr val="0000CC"/>
                          </a:solidFill>
                        </a:rPr>
                        <a:t>Deny</a:t>
                      </a:r>
                    </a:p>
                  </a:txBody>
                  <a:tcPr anchor="ctr"/>
                </a:tc>
                <a:extLst>
                  <a:ext uri="{0D108BD9-81ED-4DB2-BD59-A6C34878D82A}">
                    <a16:rowId xmlns:a16="http://schemas.microsoft.com/office/drawing/2014/main" val="934142750"/>
                  </a:ext>
                </a:extLst>
              </a:tr>
            </a:tbl>
          </a:graphicData>
        </a:graphic>
      </p:graphicFrame>
    </p:spTree>
    <p:extLst>
      <p:ext uri="{BB962C8B-B14F-4D97-AF65-F5344CB8AC3E}">
        <p14:creationId xmlns:p14="http://schemas.microsoft.com/office/powerpoint/2010/main" val="3667196793"/>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44303" y="491797"/>
            <a:ext cx="10242645" cy="528851"/>
          </a:xfrm>
        </p:spPr>
        <p:txBody>
          <a:bodyPr/>
          <a:lstStyle/>
          <a:p>
            <a:r>
              <a:rPr lang="en-US" sz="2800" b="1" dirty="0">
                <a:solidFill>
                  <a:srgbClr val="0000CC"/>
                </a:solidFill>
                <a:latin typeface="Rockwell" panose="02060603020205020403" pitchFamily="18" charset="0"/>
              </a:rPr>
              <a:t>7</a:t>
            </a:r>
            <a:r>
              <a:rPr lang="en-US" sz="2800" b="1" dirty="0" smtClean="0">
                <a:solidFill>
                  <a:srgbClr val="0000CC"/>
                </a:solidFill>
                <a:latin typeface="Rockwell" panose="02060603020205020403" pitchFamily="18" charset="0"/>
              </a:rPr>
              <a:t>.2.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Chức</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năng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và</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mục</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đích</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sử</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dụng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của</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FIREWALL</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44304" y="1020648"/>
            <a:ext cx="9764976" cy="3865251"/>
          </a:xfrm>
        </p:spPr>
        <p:txBody>
          <a:bodyPr/>
          <a:lstStyle/>
          <a:p>
            <a:pPr marL="0" indent="0">
              <a:buNone/>
            </a:pPr>
            <a:r>
              <a:rPr lang="en-US" b="1" dirty="0" smtClean="0">
                <a:solidFill>
                  <a:srgbClr val="0000CC"/>
                </a:solidFill>
                <a:latin typeface="Rockwell" panose="02060603020205020403" pitchFamily="18" charset="0"/>
                <a:ea typeface="+mj-ea"/>
                <a:cs typeface="+mj-cs"/>
              </a:rPr>
              <a:t>2. </a:t>
            </a:r>
            <a:r>
              <a:rPr lang="en-US" b="1" dirty="0" err="1" smtClean="0">
                <a:solidFill>
                  <a:srgbClr val="0000CC"/>
                </a:solidFill>
                <a:latin typeface="Rockwell" panose="02060603020205020403" pitchFamily="18" charset="0"/>
                <a:ea typeface="+mj-ea"/>
                <a:cs typeface="+mj-cs"/>
              </a:rPr>
              <a:t>Các</a:t>
            </a:r>
            <a:r>
              <a:rPr lang="en-US" b="1" dirty="0" smtClean="0">
                <a:solidFill>
                  <a:srgbClr val="0000CC"/>
                </a:solidFill>
                <a:latin typeface="Rockwell" panose="02060603020205020403" pitchFamily="18" charset="0"/>
                <a:ea typeface="+mj-ea"/>
                <a:cs typeface="+mj-cs"/>
              </a:rPr>
              <a:t> </a:t>
            </a:r>
            <a:r>
              <a:rPr lang="en-US" b="1" dirty="0" err="1" smtClean="0">
                <a:solidFill>
                  <a:srgbClr val="0000CC"/>
                </a:solidFill>
                <a:latin typeface="Rockwell" panose="02060603020205020403" pitchFamily="18" charset="0"/>
                <a:ea typeface="+mj-ea"/>
                <a:cs typeface="+mj-cs"/>
              </a:rPr>
              <a:t>thành</a:t>
            </a:r>
            <a:r>
              <a:rPr lang="en-US" b="1" dirty="0" smtClean="0">
                <a:solidFill>
                  <a:srgbClr val="0000CC"/>
                </a:solidFill>
                <a:latin typeface="Rockwell" panose="02060603020205020403" pitchFamily="18" charset="0"/>
                <a:ea typeface="+mj-ea"/>
                <a:cs typeface="+mj-cs"/>
              </a:rPr>
              <a:t> </a:t>
            </a:r>
            <a:r>
              <a:rPr lang="en-US" b="1" dirty="0" err="1" smtClean="0">
                <a:solidFill>
                  <a:srgbClr val="0000CC"/>
                </a:solidFill>
                <a:latin typeface="Rockwell" panose="02060603020205020403" pitchFamily="18" charset="0"/>
                <a:ea typeface="+mj-ea"/>
                <a:cs typeface="+mj-cs"/>
              </a:rPr>
              <a:t>phần</a:t>
            </a:r>
            <a:r>
              <a:rPr lang="en-US" b="1" dirty="0" smtClean="0">
                <a:solidFill>
                  <a:srgbClr val="0000CC"/>
                </a:solidFill>
                <a:latin typeface="Rockwell" panose="02060603020205020403" pitchFamily="18" charset="0"/>
                <a:ea typeface="+mj-ea"/>
                <a:cs typeface="+mj-cs"/>
              </a:rPr>
              <a:t> </a:t>
            </a:r>
            <a:r>
              <a:rPr lang="en-US" b="1" dirty="0" err="1" smtClean="0">
                <a:solidFill>
                  <a:srgbClr val="0000CC"/>
                </a:solidFill>
                <a:latin typeface="Rockwell" panose="02060603020205020403" pitchFamily="18" charset="0"/>
                <a:ea typeface="+mj-ea"/>
                <a:cs typeface="+mj-cs"/>
              </a:rPr>
              <a:t>chính</a:t>
            </a:r>
            <a:r>
              <a:rPr lang="en-US" b="1" dirty="0" smtClean="0">
                <a:solidFill>
                  <a:srgbClr val="0000CC"/>
                </a:solidFill>
                <a:latin typeface="Rockwell" panose="02060603020205020403" pitchFamily="18" charset="0"/>
                <a:ea typeface="+mj-ea"/>
                <a:cs typeface="+mj-cs"/>
              </a:rPr>
              <a:t> </a:t>
            </a:r>
            <a:r>
              <a:rPr lang="en-US" b="1" dirty="0" err="1" smtClean="0">
                <a:solidFill>
                  <a:srgbClr val="0000CC"/>
                </a:solidFill>
                <a:latin typeface="Rockwell" panose="02060603020205020403" pitchFamily="18" charset="0"/>
                <a:ea typeface="+mj-ea"/>
                <a:cs typeface="+mj-cs"/>
              </a:rPr>
              <a:t>của</a:t>
            </a:r>
            <a:r>
              <a:rPr lang="en-US" b="1" dirty="0" smtClean="0">
                <a:solidFill>
                  <a:srgbClr val="0000CC"/>
                </a:solidFill>
                <a:latin typeface="Rockwell" panose="02060603020205020403" pitchFamily="18" charset="0"/>
                <a:ea typeface="+mj-ea"/>
                <a:cs typeface="+mj-cs"/>
              </a:rPr>
              <a:t> Firewall</a:t>
            </a:r>
            <a:r>
              <a:rPr lang="vi-VN" b="1" dirty="0" smtClean="0">
                <a:solidFill>
                  <a:srgbClr val="0000CC"/>
                </a:solidFill>
                <a:latin typeface="Rockwell" panose="02060603020205020403" pitchFamily="18" charset="0"/>
                <a:ea typeface="+mj-ea"/>
                <a:cs typeface="+mj-cs"/>
              </a:rPr>
              <a:t>:</a:t>
            </a:r>
            <a:endParaRPr lang="en-US" b="1" dirty="0" smtClean="0">
              <a:solidFill>
                <a:srgbClr val="0000CC"/>
              </a:solidFill>
              <a:latin typeface="Rockwell" panose="02060603020205020403" pitchFamily="18" charset="0"/>
              <a:ea typeface="+mj-ea"/>
              <a:cs typeface="+mj-cs"/>
            </a:endParaRPr>
          </a:p>
          <a:p>
            <a:pPr marL="0" indent="0" algn="just">
              <a:lnSpc>
                <a:spcPct val="120000"/>
              </a:lnSpc>
              <a:spcBef>
                <a:spcPts val="1200"/>
              </a:spcBef>
              <a:spcAft>
                <a:spcPts val="600"/>
              </a:spcAft>
              <a:buNone/>
            </a:pPr>
            <a:r>
              <a:rPr lang="en-US" dirty="0" err="1" smtClean="0">
                <a:solidFill>
                  <a:srgbClr val="0000CC"/>
                </a:solidFill>
                <a:latin typeface="Rockwell" panose="02060603020205020403" pitchFamily="18" charset="0"/>
                <a:ea typeface="+mj-ea"/>
                <a:cs typeface="+mj-cs"/>
              </a:rPr>
              <a:t>Ví</a:t>
            </a:r>
            <a:r>
              <a:rPr lang="en-US" dirty="0" smtClean="0">
                <a:solidFill>
                  <a:srgbClr val="0000CC"/>
                </a:solidFill>
                <a:latin typeface="Rockwell" panose="02060603020205020403" pitchFamily="18" charset="0"/>
                <a:ea typeface="+mj-ea"/>
                <a:cs typeface="+mj-cs"/>
              </a:rPr>
              <a:t> </a:t>
            </a:r>
            <a:r>
              <a:rPr lang="en-US" dirty="0" err="1" smtClean="0">
                <a:solidFill>
                  <a:srgbClr val="0000CC"/>
                </a:solidFill>
                <a:latin typeface="Rockwell" panose="02060603020205020403" pitchFamily="18" charset="0"/>
                <a:ea typeface="+mj-ea"/>
                <a:cs typeface="+mj-cs"/>
              </a:rPr>
              <a:t>dụ</a:t>
            </a:r>
            <a:r>
              <a:rPr lang="en-US" dirty="0" smtClean="0">
                <a:solidFill>
                  <a:srgbClr val="0000CC"/>
                </a:solidFill>
                <a:latin typeface="Rockwell" panose="02060603020205020403" pitchFamily="18" charset="0"/>
                <a:ea typeface="+mj-ea"/>
                <a:cs typeface="+mj-cs"/>
              </a:rPr>
              <a:t> 4:</a:t>
            </a:r>
          </a:p>
          <a:p>
            <a:pPr marL="0" indent="0" algn="just">
              <a:lnSpc>
                <a:spcPct val="120000"/>
              </a:lnSpc>
              <a:spcBef>
                <a:spcPts val="1200"/>
              </a:spcBef>
              <a:spcAft>
                <a:spcPts val="600"/>
              </a:spcAft>
              <a:buNone/>
            </a:pPr>
            <a:endParaRPr lang="en-US" dirty="0" smtClean="0">
              <a:solidFill>
                <a:srgbClr val="0000CC"/>
              </a:solidFill>
              <a:latin typeface="Rockwell" panose="02060603020205020403" pitchFamily="18" charset="0"/>
              <a:ea typeface="+mj-ea"/>
              <a:cs typeface="+mj-cs"/>
            </a:endParaRPr>
          </a:p>
          <a:p>
            <a:pPr marL="0" indent="0" algn="just">
              <a:lnSpc>
                <a:spcPct val="120000"/>
              </a:lnSpc>
              <a:spcBef>
                <a:spcPts val="1200"/>
              </a:spcBef>
              <a:spcAft>
                <a:spcPts val="600"/>
              </a:spcAft>
              <a:buNone/>
            </a:pPr>
            <a:endParaRPr lang="en-US" dirty="0">
              <a:solidFill>
                <a:srgbClr val="0000CC"/>
              </a:solidFill>
              <a:latin typeface="Rockwell" panose="02060603020205020403" pitchFamily="18" charset="0"/>
              <a:ea typeface="+mj-ea"/>
              <a:cs typeface="+mj-cs"/>
            </a:endParaRPr>
          </a:p>
        </p:txBody>
      </p:sp>
      <p:graphicFrame>
        <p:nvGraphicFramePr>
          <p:cNvPr id="4" name="Table 3"/>
          <p:cNvGraphicFramePr>
            <a:graphicFrameLocks noGrp="1"/>
          </p:cNvGraphicFramePr>
          <p:nvPr>
            <p:extLst>
              <p:ext uri="{D42A27DB-BD31-4B8C-83A1-F6EECF244321}">
                <p14:modId xmlns:p14="http://schemas.microsoft.com/office/powerpoint/2010/main" val="3795082138"/>
              </p:ext>
            </p:extLst>
          </p:nvPr>
        </p:nvGraphicFramePr>
        <p:xfrm>
          <a:off x="1344303" y="2038873"/>
          <a:ext cx="9601200" cy="1828800"/>
        </p:xfrm>
        <a:graphic>
          <a:graphicData uri="http://schemas.openxmlformats.org/drawingml/2006/table">
            <a:tbl>
              <a:tblPr>
                <a:tableStyleId>{3C2FFA5D-87B4-456A-9821-1D502468CF0F}</a:tableStyleId>
              </a:tblPr>
              <a:tblGrid>
                <a:gridCol w="962169">
                  <a:extLst>
                    <a:ext uri="{9D8B030D-6E8A-4147-A177-3AD203B41FA5}">
                      <a16:colId xmlns:a16="http://schemas.microsoft.com/office/drawing/2014/main" val="4192725513"/>
                    </a:ext>
                  </a:extLst>
                </a:gridCol>
                <a:gridCol w="2388358">
                  <a:extLst>
                    <a:ext uri="{9D8B030D-6E8A-4147-A177-3AD203B41FA5}">
                      <a16:colId xmlns:a16="http://schemas.microsoft.com/office/drawing/2014/main" val="1773065825"/>
                    </a:ext>
                  </a:extLst>
                </a:gridCol>
                <a:gridCol w="4449170">
                  <a:extLst>
                    <a:ext uri="{9D8B030D-6E8A-4147-A177-3AD203B41FA5}">
                      <a16:colId xmlns:a16="http://schemas.microsoft.com/office/drawing/2014/main" val="2619054700"/>
                    </a:ext>
                  </a:extLst>
                </a:gridCol>
                <a:gridCol w="1801503">
                  <a:extLst>
                    <a:ext uri="{9D8B030D-6E8A-4147-A177-3AD203B41FA5}">
                      <a16:colId xmlns:a16="http://schemas.microsoft.com/office/drawing/2014/main" val="2523722842"/>
                    </a:ext>
                  </a:extLst>
                </a:gridCol>
              </a:tblGrid>
              <a:tr h="0">
                <a:tc>
                  <a:txBody>
                    <a:bodyPr/>
                    <a:lstStyle/>
                    <a:p>
                      <a:pPr algn="ctr"/>
                      <a:r>
                        <a:rPr lang="en-US" b="1" dirty="0">
                          <a:solidFill>
                            <a:srgbClr val="0000CC"/>
                          </a:solidFill>
                        </a:rPr>
                        <a:t>Rule</a:t>
                      </a:r>
                    </a:p>
                  </a:txBody>
                  <a:tcPr anchor="ctr"/>
                </a:tc>
                <a:tc>
                  <a:txBody>
                    <a:bodyPr/>
                    <a:lstStyle/>
                    <a:p>
                      <a:pPr algn="ctr"/>
                      <a:r>
                        <a:rPr lang="en-US" b="1" dirty="0">
                          <a:solidFill>
                            <a:srgbClr val="0000CC"/>
                          </a:solidFill>
                        </a:rPr>
                        <a:t>Application/Service</a:t>
                      </a:r>
                    </a:p>
                  </a:txBody>
                  <a:tcPr anchor="ctr"/>
                </a:tc>
                <a:tc>
                  <a:txBody>
                    <a:bodyPr/>
                    <a:lstStyle/>
                    <a:p>
                      <a:pPr algn="ctr"/>
                      <a:r>
                        <a:rPr lang="en-US" b="1" dirty="0">
                          <a:solidFill>
                            <a:srgbClr val="0000CC"/>
                          </a:solidFill>
                        </a:rPr>
                        <a:t>Condition (Payload Inspection)</a:t>
                      </a:r>
                    </a:p>
                  </a:txBody>
                  <a:tcPr anchor="ctr"/>
                </a:tc>
                <a:tc>
                  <a:txBody>
                    <a:bodyPr/>
                    <a:lstStyle/>
                    <a:p>
                      <a:pPr algn="ctr"/>
                      <a:r>
                        <a:rPr lang="en-US" b="1" dirty="0">
                          <a:solidFill>
                            <a:srgbClr val="0000CC"/>
                          </a:solidFill>
                        </a:rPr>
                        <a:t>Action</a:t>
                      </a:r>
                    </a:p>
                  </a:txBody>
                  <a:tcPr anchor="ctr"/>
                </a:tc>
                <a:extLst>
                  <a:ext uri="{0D108BD9-81ED-4DB2-BD59-A6C34878D82A}">
                    <a16:rowId xmlns:a16="http://schemas.microsoft.com/office/drawing/2014/main" val="3557252656"/>
                  </a:ext>
                </a:extLst>
              </a:tr>
              <a:tr h="0">
                <a:tc>
                  <a:txBody>
                    <a:bodyPr/>
                    <a:lstStyle/>
                    <a:p>
                      <a:pPr algn="ctr"/>
                      <a:r>
                        <a:rPr lang="en-US" dirty="0">
                          <a:solidFill>
                            <a:srgbClr val="0000CC"/>
                          </a:solidFill>
                        </a:rPr>
                        <a:t>1</a:t>
                      </a:r>
                    </a:p>
                  </a:txBody>
                  <a:tcPr anchor="ctr"/>
                </a:tc>
                <a:tc>
                  <a:txBody>
                    <a:bodyPr/>
                    <a:lstStyle/>
                    <a:p>
                      <a:pPr algn="ctr"/>
                      <a:r>
                        <a:rPr lang="en-US" dirty="0">
                          <a:solidFill>
                            <a:srgbClr val="0000CC"/>
                          </a:solidFill>
                        </a:rPr>
                        <a:t>HTTP (Web)</a:t>
                      </a:r>
                    </a:p>
                  </a:txBody>
                  <a:tcPr anchor="ctr"/>
                </a:tc>
                <a:tc>
                  <a:txBody>
                    <a:bodyPr/>
                    <a:lstStyle/>
                    <a:p>
                      <a:pPr algn="ctr"/>
                      <a:r>
                        <a:rPr lang="en-US" dirty="0">
                          <a:solidFill>
                            <a:srgbClr val="0000CC"/>
                          </a:solidFill>
                        </a:rPr>
                        <a:t>Method </a:t>
                      </a:r>
                      <a:r>
                        <a:rPr lang="en-US" b="1" dirty="0">
                          <a:solidFill>
                            <a:srgbClr val="0000CC"/>
                          </a:solidFill>
                        </a:rPr>
                        <a:t>= POST</a:t>
                      </a:r>
                      <a:r>
                        <a:rPr lang="en-US" dirty="0">
                          <a:solidFill>
                            <a:srgbClr val="0000CC"/>
                          </a:solidFill>
                        </a:rPr>
                        <a:t>, Payload size </a:t>
                      </a:r>
                      <a:r>
                        <a:rPr lang="en-US" b="1" dirty="0">
                          <a:solidFill>
                            <a:srgbClr val="0000CC"/>
                          </a:solidFill>
                        </a:rPr>
                        <a:t>&gt; </a:t>
                      </a:r>
                      <a:r>
                        <a:rPr lang="en-US" b="1" dirty="0" err="1">
                          <a:solidFill>
                            <a:srgbClr val="0000CC"/>
                          </a:solidFill>
                        </a:rPr>
                        <a:t>5MB</a:t>
                      </a:r>
                      <a:endParaRPr lang="en-US" b="1" dirty="0">
                        <a:solidFill>
                          <a:srgbClr val="0000CC"/>
                        </a:solidFill>
                      </a:endParaRPr>
                    </a:p>
                  </a:txBody>
                  <a:tcPr anchor="ctr"/>
                </a:tc>
                <a:tc>
                  <a:txBody>
                    <a:bodyPr/>
                    <a:lstStyle/>
                    <a:p>
                      <a:pPr algn="ctr"/>
                      <a:r>
                        <a:rPr lang="en-US">
                          <a:solidFill>
                            <a:srgbClr val="0000CC"/>
                          </a:solidFill>
                        </a:rPr>
                        <a:t>Deny</a:t>
                      </a:r>
                    </a:p>
                  </a:txBody>
                  <a:tcPr anchor="ctr"/>
                </a:tc>
                <a:extLst>
                  <a:ext uri="{0D108BD9-81ED-4DB2-BD59-A6C34878D82A}">
                    <a16:rowId xmlns:a16="http://schemas.microsoft.com/office/drawing/2014/main" val="411166831"/>
                  </a:ext>
                </a:extLst>
              </a:tr>
              <a:tr h="0">
                <a:tc>
                  <a:txBody>
                    <a:bodyPr/>
                    <a:lstStyle/>
                    <a:p>
                      <a:pPr algn="ctr"/>
                      <a:r>
                        <a:rPr lang="en-US">
                          <a:solidFill>
                            <a:srgbClr val="0000CC"/>
                          </a:solidFill>
                        </a:rPr>
                        <a:t>2</a:t>
                      </a:r>
                    </a:p>
                  </a:txBody>
                  <a:tcPr anchor="ctr"/>
                </a:tc>
                <a:tc>
                  <a:txBody>
                    <a:bodyPr/>
                    <a:lstStyle/>
                    <a:p>
                      <a:pPr algn="ctr"/>
                      <a:r>
                        <a:rPr lang="en-US" dirty="0">
                          <a:solidFill>
                            <a:srgbClr val="0000CC"/>
                          </a:solidFill>
                        </a:rPr>
                        <a:t>HTTP (Web)</a:t>
                      </a:r>
                    </a:p>
                  </a:txBody>
                  <a:tcPr anchor="ctr"/>
                </a:tc>
                <a:tc>
                  <a:txBody>
                    <a:bodyPr/>
                    <a:lstStyle/>
                    <a:p>
                      <a:pPr algn="ctr"/>
                      <a:r>
                        <a:rPr lang="en-US" dirty="0">
                          <a:solidFill>
                            <a:srgbClr val="0000CC"/>
                          </a:solidFill>
                        </a:rPr>
                        <a:t>Block keyword: </a:t>
                      </a:r>
                      <a:r>
                        <a:rPr lang="en-US" b="1" dirty="0">
                          <a:solidFill>
                            <a:srgbClr val="0000CC"/>
                          </a:solidFill>
                        </a:rPr>
                        <a:t>UNION</a:t>
                      </a:r>
                      <a:r>
                        <a:rPr lang="en-US" dirty="0">
                          <a:solidFill>
                            <a:srgbClr val="0000CC"/>
                          </a:solidFill>
                        </a:rPr>
                        <a:t> </a:t>
                      </a:r>
                      <a:r>
                        <a:rPr lang="en-US" b="1" dirty="0">
                          <a:solidFill>
                            <a:srgbClr val="0000CC"/>
                          </a:solidFill>
                        </a:rPr>
                        <a:t>SELECT</a:t>
                      </a:r>
                    </a:p>
                  </a:txBody>
                  <a:tcPr anchor="ctr"/>
                </a:tc>
                <a:tc>
                  <a:txBody>
                    <a:bodyPr/>
                    <a:lstStyle/>
                    <a:p>
                      <a:pPr algn="ctr"/>
                      <a:r>
                        <a:rPr lang="en-US">
                          <a:solidFill>
                            <a:srgbClr val="0000CC"/>
                          </a:solidFill>
                        </a:rPr>
                        <a:t>Deny</a:t>
                      </a:r>
                    </a:p>
                  </a:txBody>
                  <a:tcPr anchor="ctr"/>
                </a:tc>
                <a:extLst>
                  <a:ext uri="{0D108BD9-81ED-4DB2-BD59-A6C34878D82A}">
                    <a16:rowId xmlns:a16="http://schemas.microsoft.com/office/drawing/2014/main" val="2408176238"/>
                  </a:ext>
                </a:extLst>
              </a:tr>
              <a:tr h="0">
                <a:tc>
                  <a:txBody>
                    <a:bodyPr/>
                    <a:lstStyle/>
                    <a:p>
                      <a:pPr algn="ctr"/>
                      <a:r>
                        <a:rPr lang="en-US">
                          <a:solidFill>
                            <a:srgbClr val="0000CC"/>
                          </a:solidFill>
                        </a:rPr>
                        <a:t>3</a:t>
                      </a:r>
                    </a:p>
                  </a:txBody>
                  <a:tcPr anchor="ctr"/>
                </a:tc>
                <a:tc>
                  <a:txBody>
                    <a:bodyPr/>
                    <a:lstStyle/>
                    <a:p>
                      <a:pPr algn="ctr"/>
                      <a:r>
                        <a:rPr lang="en-US" dirty="0">
                          <a:solidFill>
                            <a:srgbClr val="0000CC"/>
                          </a:solidFill>
                        </a:rPr>
                        <a:t>SMTP (Email)</a:t>
                      </a:r>
                    </a:p>
                  </a:txBody>
                  <a:tcPr anchor="ctr"/>
                </a:tc>
                <a:tc>
                  <a:txBody>
                    <a:bodyPr/>
                    <a:lstStyle/>
                    <a:p>
                      <a:pPr algn="ctr"/>
                      <a:r>
                        <a:rPr lang="en-US" dirty="0">
                          <a:solidFill>
                            <a:srgbClr val="0000CC"/>
                          </a:solidFill>
                        </a:rPr>
                        <a:t>Sender domain </a:t>
                      </a:r>
                      <a:r>
                        <a:rPr lang="en-US" b="1" dirty="0">
                          <a:solidFill>
                            <a:srgbClr val="0000CC"/>
                          </a:solidFill>
                        </a:rPr>
                        <a:t>= @</a:t>
                      </a:r>
                      <a:r>
                        <a:rPr lang="en-US" b="1" dirty="0" err="1">
                          <a:solidFill>
                            <a:srgbClr val="0000CC"/>
                          </a:solidFill>
                        </a:rPr>
                        <a:t>spam.com</a:t>
                      </a:r>
                      <a:endParaRPr lang="en-US" b="1" dirty="0">
                        <a:solidFill>
                          <a:srgbClr val="0000CC"/>
                        </a:solidFill>
                      </a:endParaRPr>
                    </a:p>
                  </a:txBody>
                  <a:tcPr anchor="ctr"/>
                </a:tc>
                <a:tc>
                  <a:txBody>
                    <a:bodyPr/>
                    <a:lstStyle/>
                    <a:p>
                      <a:pPr algn="ctr"/>
                      <a:r>
                        <a:rPr lang="en-US" dirty="0">
                          <a:solidFill>
                            <a:srgbClr val="0000CC"/>
                          </a:solidFill>
                        </a:rPr>
                        <a:t>Reject</a:t>
                      </a:r>
                    </a:p>
                  </a:txBody>
                  <a:tcPr anchor="ctr"/>
                </a:tc>
                <a:extLst>
                  <a:ext uri="{0D108BD9-81ED-4DB2-BD59-A6C34878D82A}">
                    <a16:rowId xmlns:a16="http://schemas.microsoft.com/office/drawing/2014/main" val="3013447300"/>
                  </a:ext>
                </a:extLst>
              </a:tr>
              <a:tr h="0">
                <a:tc>
                  <a:txBody>
                    <a:bodyPr/>
                    <a:lstStyle/>
                    <a:p>
                      <a:pPr algn="ctr"/>
                      <a:r>
                        <a:rPr lang="en-US" dirty="0">
                          <a:solidFill>
                            <a:srgbClr val="0000CC"/>
                          </a:solidFill>
                        </a:rPr>
                        <a:t>4</a:t>
                      </a:r>
                    </a:p>
                  </a:txBody>
                  <a:tcPr anchor="ctr"/>
                </a:tc>
                <a:tc>
                  <a:txBody>
                    <a:bodyPr/>
                    <a:lstStyle/>
                    <a:p>
                      <a:pPr algn="ctr"/>
                      <a:r>
                        <a:rPr lang="en-US">
                          <a:solidFill>
                            <a:srgbClr val="0000CC"/>
                          </a:solidFill>
                        </a:rPr>
                        <a:t>HTTP (Web)</a:t>
                      </a:r>
                    </a:p>
                  </a:txBody>
                  <a:tcPr anchor="ctr"/>
                </a:tc>
                <a:tc>
                  <a:txBody>
                    <a:bodyPr/>
                    <a:lstStyle/>
                    <a:p>
                      <a:pPr algn="ctr"/>
                      <a:r>
                        <a:rPr lang="en-US" dirty="0">
                          <a:solidFill>
                            <a:srgbClr val="0000CC"/>
                          </a:solidFill>
                        </a:rPr>
                        <a:t>File upload extension </a:t>
                      </a:r>
                      <a:r>
                        <a:rPr lang="en-US" b="1" dirty="0">
                          <a:solidFill>
                            <a:srgbClr val="0000CC"/>
                          </a:solidFill>
                        </a:rPr>
                        <a:t>= .</a:t>
                      </a:r>
                      <a:r>
                        <a:rPr lang="en-US" b="1" dirty="0" err="1">
                          <a:solidFill>
                            <a:srgbClr val="0000CC"/>
                          </a:solidFill>
                        </a:rPr>
                        <a:t>php</a:t>
                      </a:r>
                      <a:endParaRPr lang="en-US" b="1" dirty="0">
                        <a:solidFill>
                          <a:srgbClr val="0000CC"/>
                        </a:solidFill>
                      </a:endParaRPr>
                    </a:p>
                  </a:txBody>
                  <a:tcPr anchor="ctr"/>
                </a:tc>
                <a:tc>
                  <a:txBody>
                    <a:bodyPr/>
                    <a:lstStyle/>
                    <a:p>
                      <a:pPr algn="ctr"/>
                      <a:r>
                        <a:rPr lang="en-US" dirty="0">
                          <a:solidFill>
                            <a:srgbClr val="0000CC"/>
                          </a:solidFill>
                        </a:rPr>
                        <a:t>Deny</a:t>
                      </a:r>
                    </a:p>
                  </a:txBody>
                  <a:tcPr anchor="ctr"/>
                </a:tc>
                <a:extLst>
                  <a:ext uri="{0D108BD9-81ED-4DB2-BD59-A6C34878D82A}">
                    <a16:rowId xmlns:a16="http://schemas.microsoft.com/office/drawing/2014/main" val="934142750"/>
                  </a:ext>
                </a:extLst>
              </a:tr>
            </a:tbl>
          </a:graphicData>
        </a:graphic>
      </p:graphicFrame>
      <p:sp>
        <p:nvSpPr>
          <p:cNvPr id="5" name="Rectangle 4"/>
          <p:cNvSpPr/>
          <p:nvPr/>
        </p:nvSpPr>
        <p:spPr>
          <a:xfrm>
            <a:off x="1344302" y="4008735"/>
            <a:ext cx="10242645" cy="2400657"/>
          </a:xfrm>
          <a:prstGeom prst="rect">
            <a:avLst/>
          </a:prstGeom>
        </p:spPr>
        <p:txBody>
          <a:bodyPr wrap="square">
            <a:spAutoFit/>
          </a:bodyPr>
          <a:lstStyle/>
          <a:p>
            <a:pPr>
              <a:spcAft>
                <a:spcPts val="300"/>
              </a:spcAft>
            </a:pPr>
            <a:r>
              <a:rPr lang="en-US" sz="2400" dirty="0">
                <a:solidFill>
                  <a:srgbClr val="0000CC"/>
                </a:solidFill>
                <a:latin typeface="Rockwell" panose="02060603020205020403" pitchFamily="18" charset="0"/>
                <a:ea typeface="+mj-ea"/>
                <a:cs typeface="+mj-cs"/>
              </a:rPr>
              <a:t>Rule 1: </a:t>
            </a:r>
            <a:r>
              <a:rPr lang="en-US" sz="2400" dirty="0" err="1">
                <a:solidFill>
                  <a:srgbClr val="0000CC"/>
                </a:solidFill>
                <a:latin typeface="Rockwell" panose="02060603020205020403" pitchFamily="18" charset="0"/>
                <a:ea typeface="+mj-ea"/>
                <a:cs typeface="+mj-cs"/>
              </a:rPr>
              <a:t>Chặn</a:t>
            </a:r>
            <a:r>
              <a:rPr lang="en-US" sz="2400" dirty="0">
                <a:solidFill>
                  <a:srgbClr val="0000CC"/>
                </a:solidFill>
                <a:latin typeface="Rockwell" panose="02060603020205020403" pitchFamily="18" charset="0"/>
                <a:ea typeface="+mj-ea"/>
                <a:cs typeface="+mj-cs"/>
              </a:rPr>
              <a:t> </a:t>
            </a:r>
            <a:r>
              <a:rPr lang="en-US" sz="2400" dirty="0" err="1">
                <a:solidFill>
                  <a:srgbClr val="0000CC"/>
                </a:solidFill>
                <a:latin typeface="Rockwell" panose="02060603020205020403" pitchFamily="18" charset="0"/>
                <a:ea typeface="+mj-ea"/>
                <a:cs typeface="+mj-cs"/>
              </a:rPr>
              <a:t>các</a:t>
            </a:r>
            <a:r>
              <a:rPr lang="en-US" sz="2400" dirty="0">
                <a:solidFill>
                  <a:srgbClr val="0000CC"/>
                </a:solidFill>
                <a:latin typeface="Rockwell" panose="02060603020205020403" pitchFamily="18" charset="0"/>
                <a:ea typeface="+mj-ea"/>
                <a:cs typeface="+mj-cs"/>
              </a:rPr>
              <a:t> POST request </a:t>
            </a:r>
            <a:r>
              <a:rPr lang="en-US" sz="2400" b="1" dirty="0" err="1">
                <a:solidFill>
                  <a:srgbClr val="0000CC"/>
                </a:solidFill>
                <a:latin typeface="Rockwell" panose="02060603020205020403" pitchFamily="18" charset="0"/>
                <a:ea typeface="+mj-ea"/>
                <a:cs typeface="+mj-cs"/>
              </a:rPr>
              <a:t>quá</a:t>
            </a:r>
            <a:r>
              <a:rPr lang="en-US" sz="2400" b="1" dirty="0">
                <a:solidFill>
                  <a:srgbClr val="0000CC"/>
                </a:solidFill>
                <a:latin typeface="Rockwell" panose="02060603020205020403" pitchFamily="18" charset="0"/>
                <a:ea typeface="+mj-ea"/>
                <a:cs typeface="+mj-cs"/>
              </a:rPr>
              <a:t> </a:t>
            </a:r>
            <a:r>
              <a:rPr lang="en-US" sz="2400" b="1" dirty="0" err="1">
                <a:solidFill>
                  <a:srgbClr val="0000CC"/>
                </a:solidFill>
                <a:latin typeface="Rockwell" panose="02060603020205020403" pitchFamily="18" charset="0"/>
                <a:ea typeface="+mj-ea"/>
                <a:cs typeface="+mj-cs"/>
              </a:rPr>
              <a:t>5MB</a:t>
            </a:r>
            <a:r>
              <a:rPr lang="en-US" sz="2400" b="1" dirty="0">
                <a:solidFill>
                  <a:srgbClr val="0000CC"/>
                </a:solidFill>
                <a:latin typeface="Rockwell" panose="02060603020205020403" pitchFamily="18" charset="0"/>
                <a:ea typeface="+mj-ea"/>
                <a:cs typeface="+mj-cs"/>
              </a:rPr>
              <a:t> </a:t>
            </a:r>
            <a:endParaRPr lang="en-US" sz="2400" b="1" dirty="0" smtClean="0">
              <a:solidFill>
                <a:srgbClr val="0000CC"/>
              </a:solidFill>
              <a:latin typeface="Rockwell" panose="02060603020205020403" pitchFamily="18" charset="0"/>
              <a:ea typeface="+mj-ea"/>
              <a:cs typeface="+mj-cs"/>
            </a:endParaRPr>
          </a:p>
          <a:p>
            <a:pPr>
              <a:spcAft>
                <a:spcPts val="300"/>
              </a:spcAft>
            </a:pPr>
            <a:r>
              <a:rPr lang="en-US" sz="2400" dirty="0" smtClean="0">
                <a:solidFill>
                  <a:srgbClr val="0000CC"/>
                </a:solidFill>
                <a:latin typeface="Rockwell" panose="02060603020205020403" pitchFamily="18" charset="0"/>
                <a:ea typeface="+mj-ea"/>
                <a:cs typeface="+mj-cs"/>
              </a:rPr>
              <a:t>(</a:t>
            </a:r>
            <a:r>
              <a:rPr lang="en-US" sz="2400" dirty="0" err="1">
                <a:solidFill>
                  <a:srgbClr val="0000CC"/>
                </a:solidFill>
                <a:latin typeface="Rockwell" panose="02060603020205020403" pitchFamily="18" charset="0"/>
                <a:ea typeface="+mj-ea"/>
                <a:cs typeface="+mj-cs"/>
              </a:rPr>
              <a:t>tránh</a:t>
            </a:r>
            <a:r>
              <a:rPr lang="en-US" sz="2400" dirty="0">
                <a:solidFill>
                  <a:srgbClr val="0000CC"/>
                </a:solidFill>
                <a:latin typeface="Rockwell" panose="02060603020205020403" pitchFamily="18" charset="0"/>
                <a:ea typeface="+mj-ea"/>
                <a:cs typeface="+mj-cs"/>
              </a:rPr>
              <a:t> upload </a:t>
            </a:r>
            <a:r>
              <a:rPr lang="en-US" sz="2400" dirty="0" err="1">
                <a:solidFill>
                  <a:srgbClr val="0000CC"/>
                </a:solidFill>
                <a:latin typeface="Rockwell" panose="02060603020205020403" pitchFamily="18" charset="0"/>
                <a:ea typeface="+mj-ea"/>
                <a:cs typeface="+mj-cs"/>
              </a:rPr>
              <a:t>tấn</a:t>
            </a:r>
            <a:r>
              <a:rPr lang="en-US" sz="2400" dirty="0">
                <a:solidFill>
                  <a:srgbClr val="0000CC"/>
                </a:solidFill>
                <a:latin typeface="Rockwell" panose="02060603020205020403" pitchFamily="18" charset="0"/>
                <a:ea typeface="+mj-ea"/>
                <a:cs typeface="+mj-cs"/>
              </a:rPr>
              <a:t> </a:t>
            </a:r>
            <a:r>
              <a:rPr lang="en-US" sz="2400" dirty="0" err="1">
                <a:solidFill>
                  <a:srgbClr val="0000CC"/>
                </a:solidFill>
                <a:latin typeface="Rockwell" panose="02060603020205020403" pitchFamily="18" charset="0"/>
                <a:ea typeface="+mj-ea"/>
                <a:cs typeface="+mj-cs"/>
              </a:rPr>
              <a:t>công</a:t>
            </a:r>
            <a:r>
              <a:rPr lang="en-US" sz="2400" dirty="0">
                <a:solidFill>
                  <a:srgbClr val="0000CC"/>
                </a:solidFill>
                <a:latin typeface="Rockwell" panose="02060603020205020403" pitchFamily="18" charset="0"/>
                <a:ea typeface="+mj-ea"/>
                <a:cs typeface="+mj-cs"/>
              </a:rPr>
              <a:t> </a:t>
            </a:r>
            <a:r>
              <a:rPr lang="en-US" sz="2400" dirty="0" err="1">
                <a:solidFill>
                  <a:srgbClr val="0000CC"/>
                </a:solidFill>
                <a:latin typeface="Rockwell" panose="02060603020205020403" pitchFamily="18" charset="0"/>
                <a:ea typeface="+mj-ea"/>
                <a:cs typeface="+mj-cs"/>
              </a:rPr>
              <a:t>DDoS</a:t>
            </a:r>
            <a:r>
              <a:rPr lang="en-US" sz="2400" dirty="0">
                <a:solidFill>
                  <a:srgbClr val="0000CC"/>
                </a:solidFill>
                <a:latin typeface="Rockwell" panose="02060603020205020403" pitchFamily="18" charset="0"/>
                <a:ea typeface="+mj-ea"/>
                <a:cs typeface="+mj-cs"/>
              </a:rPr>
              <a:t> </a:t>
            </a:r>
            <a:r>
              <a:rPr lang="en-US" sz="2400" dirty="0" err="1">
                <a:solidFill>
                  <a:srgbClr val="0000CC"/>
                </a:solidFill>
                <a:latin typeface="Rockwell" panose="02060603020205020403" pitchFamily="18" charset="0"/>
                <a:ea typeface="+mj-ea"/>
                <a:cs typeface="+mj-cs"/>
              </a:rPr>
              <a:t>ứng</a:t>
            </a:r>
            <a:r>
              <a:rPr lang="en-US" sz="2400" dirty="0">
                <a:solidFill>
                  <a:srgbClr val="0000CC"/>
                </a:solidFill>
                <a:latin typeface="Rockwell" panose="02060603020205020403" pitchFamily="18" charset="0"/>
                <a:ea typeface="+mj-ea"/>
                <a:cs typeface="+mj-cs"/>
              </a:rPr>
              <a:t> </a:t>
            </a:r>
            <a:r>
              <a:rPr lang="en-US" sz="2400" dirty="0" err="1">
                <a:solidFill>
                  <a:srgbClr val="0000CC"/>
                </a:solidFill>
                <a:latin typeface="Rockwell" panose="02060603020205020403" pitchFamily="18" charset="0"/>
                <a:ea typeface="+mj-ea"/>
                <a:cs typeface="+mj-cs"/>
              </a:rPr>
              <a:t>dụng</a:t>
            </a:r>
            <a:r>
              <a:rPr lang="en-US" sz="2400" dirty="0">
                <a:solidFill>
                  <a:srgbClr val="0000CC"/>
                </a:solidFill>
                <a:latin typeface="Rockwell" panose="02060603020205020403" pitchFamily="18" charset="0"/>
                <a:ea typeface="+mj-ea"/>
                <a:cs typeface="+mj-cs"/>
              </a:rPr>
              <a:t>).</a:t>
            </a:r>
          </a:p>
          <a:p>
            <a:pPr>
              <a:spcBef>
                <a:spcPts val="600"/>
              </a:spcBef>
              <a:spcAft>
                <a:spcPts val="300"/>
              </a:spcAft>
            </a:pPr>
            <a:r>
              <a:rPr lang="en-US" sz="2400" dirty="0">
                <a:solidFill>
                  <a:srgbClr val="0000CC"/>
                </a:solidFill>
                <a:latin typeface="Rockwell" panose="02060603020205020403" pitchFamily="18" charset="0"/>
                <a:ea typeface="+mj-ea"/>
                <a:cs typeface="+mj-cs"/>
              </a:rPr>
              <a:t>Rule 2: </a:t>
            </a:r>
            <a:r>
              <a:rPr lang="en-US" sz="2400" dirty="0" err="1">
                <a:solidFill>
                  <a:srgbClr val="0000CC"/>
                </a:solidFill>
                <a:latin typeface="Rockwell" panose="02060603020205020403" pitchFamily="18" charset="0"/>
                <a:ea typeface="+mj-ea"/>
                <a:cs typeface="+mj-cs"/>
              </a:rPr>
              <a:t>Ngăn</a:t>
            </a:r>
            <a:r>
              <a:rPr lang="en-US" sz="2400" dirty="0">
                <a:solidFill>
                  <a:srgbClr val="0000CC"/>
                </a:solidFill>
                <a:latin typeface="Rockwell" panose="02060603020205020403" pitchFamily="18" charset="0"/>
                <a:ea typeface="+mj-ea"/>
                <a:cs typeface="+mj-cs"/>
              </a:rPr>
              <a:t> SQL Injection </a:t>
            </a:r>
            <a:r>
              <a:rPr lang="en-US" sz="2400" dirty="0" err="1">
                <a:solidFill>
                  <a:srgbClr val="0000CC"/>
                </a:solidFill>
                <a:latin typeface="Rockwell" panose="02060603020205020403" pitchFamily="18" charset="0"/>
                <a:ea typeface="+mj-ea"/>
                <a:cs typeface="+mj-cs"/>
              </a:rPr>
              <a:t>với</a:t>
            </a:r>
            <a:r>
              <a:rPr lang="en-US" sz="2400" dirty="0">
                <a:solidFill>
                  <a:srgbClr val="0000CC"/>
                </a:solidFill>
                <a:latin typeface="Rockwell" panose="02060603020205020403" pitchFamily="18" charset="0"/>
                <a:ea typeface="+mj-ea"/>
                <a:cs typeface="+mj-cs"/>
              </a:rPr>
              <a:t> </a:t>
            </a:r>
            <a:r>
              <a:rPr lang="en-US" sz="2400" dirty="0" err="1">
                <a:solidFill>
                  <a:srgbClr val="0000CC"/>
                </a:solidFill>
                <a:latin typeface="Rockwell" panose="02060603020205020403" pitchFamily="18" charset="0"/>
                <a:ea typeface="+mj-ea"/>
                <a:cs typeface="+mj-cs"/>
              </a:rPr>
              <a:t>từ</a:t>
            </a:r>
            <a:r>
              <a:rPr lang="en-US" sz="2400" dirty="0">
                <a:solidFill>
                  <a:srgbClr val="0000CC"/>
                </a:solidFill>
                <a:latin typeface="Rockwell" panose="02060603020205020403" pitchFamily="18" charset="0"/>
                <a:ea typeface="+mj-ea"/>
                <a:cs typeface="+mj-cs"/>
              </a:rPr>
              <a:t> </a:t>
            </a:r>
            <a:r>
              <a:rPr lang="en-US" sz="2400" dirty="0" err="1">
                <a:solidFill>
                  <a:srgbClr val="0000CC"/>
                </a:solidFill>
                <a:latin typeface="Rockwell" panose="02060603020205020403" pitchFamily="18" charset="0"/>
                <a:ea typeface="+mj-ea"/>
                <a:cs typeface="+mj-cs"/>
              </a:rPr>
              <a:t>khóa</a:t>
            </a:r>
            <a:r>
              <a:rPr lang="en-US" sz="2400" dirty="0">
                <a:solidFill>
                  <a:srgbClr val="0000CC"/>
                </a:solidFill>
                <a:latin typeface="Rockwell" panose="02060603020205020403" pitchFamily="18" charset="0"/>
                <a:ea typeface="+mj-ea"/>
                <a:cs typeface="+mj-cs"/>
              </a:rPr>
              <a:t> </a:t>
            </a:r>
            <a:r>
              <a:rPr lang="en-US" sz="2400" b="1" dirty="0">
                <a:solidFill>
                  <a:srgbClr val="0000CC"/>
                </a:solidFill>
                <a:latin typeface="Rockwell" panose="02060603020205020403" pitchFamily="18" charset="0"/>
                <a:ea typeface="+mj-ea"/>
                <a:cs typeface="+mj-cs"/>
              </a:rPr>
              <a:t>UNION</a:t>
            </a:r>
            <a:r>
              <a:rPr lang="en-US" sz="2400" dirty="0">
                <a:solidFill>
                  <a:srgbClr val="0000CC"/>
                </a:solidFill>
                <a:latin typeface="Rockwell" panose="02060603020205020403" pitchFamily="18" charset="0"/>
                <a:ea typeface="+mj-ea"/>
                <a:cs typeface="+mj-cs"/>
              </a:rPr>
              <a:t> </a:t>
            </a:r>
            <a:r>
              <a:rPr lang="en-US" sz="2400" b="1" dirty="0">
                <a:solidFill>
                  <a:srgbClr val="0000CC"/>
                </a:solidFill>
                <a:latin typeface="Rockwell" panose="02060603020205020403" pitchFamily="18" charset="0"/>
                <a:ea typeface="+mj-ea"/>
                <a:cs typeface="+mj-cs"/>
              </a:rPr>
              <a:t>SELECT</a:t>
            </a:r>
            <a:r>
              <a:rPr lang="en-US" sz="2400" dirty="0">
                <a:solidFill>
                  <a:srgbClr val="0000CC"/>
                </a:solidFill>
                <a:latin typeface="Rockwell" panose="02060603020205020403" pitchFamily="18" charset="0"/>
                <a:ea typeface="+mj-ea"/>
                <a:cs typeface="+mj-cs"/>
              </a:rPr>
              <a:t>.</a:t>
            </a:r>
          </a:p>
          <a:p>
            <a:pPr>
              <a:spcBef>
                <a:spcPts val="600"/>
              </a:spcBef>
              <a:spcAft>
                <a:spcPts val="300"/>
              </a:spcAft>
            </a:pPr>
            <a:r>
              <a:rPr lang="en-US" sz="2400" dirty="0">
                <a:solidFill>
                  <a:srgbClr val="0000CC"/>
                </a:solidFill>
                <a:latin typeface="Rockwell" panose="02060603020205020403" pitchFamily="18" charset="0"/>
                <a:ea typeface="+mj-ea"/>
                <a:cs typeface="+mj-cs"/>
              </a:rPr>
              <a:t>Rule 3: </a:t>
            </a:r>
            <a:r>
              <a:rPr lang="en-US" sz="2400" dirty="0" err="1">
                <a:solidFill>
                  <a:srgbClr val="0000CC"/>
                </a:solidFill>
                <a:latin typeface="Rockwell" panose="02060603020205020403" pitchFamily="18" charset="0"/>
                <a:ea typeface="+mj-ea"/>
                <a:cs typeface="+mj-cs"/>
              </a:rPr>
              <a:t>Từ</a:t>
            </a:r>
            <a:r>
              <a:rPr lang="en-US" sz="2400" dirty="0">
                <a:solidFill>
                  <a:srgbClr val="0000CC"/>
                </a:solidFill>
                <a:latin typeface="Rockwell" panose="02060603020205020403" pitchFamily="18" charset="0"/>
                <a:ea typeface="+mj-ea"/>
                <a:cs typeface="+mj-cs"/>
              </a:rPr>
              <a:t> </a:t>
            </a:r>
            <a:r>
              <a:rPr lang="en-US" sz="2400" dirty="0" err="1">
                <a:solidFill>
                  <a:srgbClr val="0000CC"/>
                </a:solidFill>
                <a:latin typeface="Rockwell" panose="02060603020205020403" pitchFamily="18" charset="0"/>
                <a:ea typeface="+mj-ea"/>
                <a:cs typeface="+mj-cs"/>
              </a:rPr>
              <a:t>chối</a:t>
            </a:r>
            <a:r>
              <a:rPr lang="en-US" sz="2400" dirty="0">
                <a:solidFill>
                  <a:srgbClr val="0000CC"/>
                </a:solidFill>
                <a:latin typeface="Rockwell" panose="02060603020205020403" pitchFamily="18" charset="0"/>
                <a:ea typeface="+mj-ea"/>
                <a:cs typeface="+mj-cs"/>
              </a:rPr>
              <a:t> email </a:t>
            </a:r>
            <a:r>
              <a:rPr lang="en-US" sz="2400" dirty="0" err="1">
                <a:solidFill>
                  <a:srgbClr val="0000CC"/>
                </a:solidFill>
                <a:latin typeface="Rockwell" panose="02060603020205020403" pitchFamily="18" charset="0"/>
                <a:ea typeface="+mj-ea"/>
                <a:cs typeface="+mj-cs"/>
              </a:rPr>
              <a:t>từ</a:t>
            </a:r>
            <a:r>
              <a:rPr lang="en-US" sz="2400" dirty="0">
                <a:solidFill>
                  <a:srgbClr val="0000CC"/>
                </a:solidFill>
                <a:latin typeface="Rockwell" panose="02060603020205020403" pitchFamily="18" charset="0"/>
                <a:ea typeface="+mj-ea"/>
                <a:cs typeface="+mj-cs"/>
              </a:rPr>
              <a:t> domain</a:t>
            </a:r>
            <a:r>
              <a:rPr lang="en-US" sz="2400" b="1" dirty="0">
                <a:solidFill>
                  <a:srgbClr val="0000CC"/>
                </a:solidFill>
                <a:latin typeface="Rockwell" panose="02060603020205020403" pitchFamily="18" charset="0"/>
                <a:ea typeface="+mj-ea"/>
                <a:cs typeface="+mj-cs"/>
              </a:rPr>
              <a:t> </a:t>
            </a:r>
            <a:r>
              <a:rPr lang="en-US" sz="2400" b="1" dirty="0" err="1">
                <a:solidFill>
                  <a:srgbClr val="0000CC"/>
                </a:solidFill>
                <a:latin typeface="Rockwell" panose="02060603020205020403" pitchFamily="18" charset="0"/>
                <a:ea typeface="+mj-ea"/>
                <a:cs typeface="+mj-cs"/>
              </a:rPr>
              <a:t>spam.com</a:t>
            </a:r>
            <a:r>
              <a:rPr lang="en-US" sz="2400" b="1" dirty="0">
                <a:solidFill>
                  <a:srgbClr val="0000CC"/>
                </a:solidFill>
                <a:latin typeface="Rockwell" panose="02060603020205020403" pitchFamily="18" charset="0"/>
                <a:ea typeface="+mj-ea"/>
                <a:cs typeface="+mj-cs"/>
              </a:rPr>
              <a:t>.</a:t>
            </a:r>
          </a:p>
          <a:p>
            <a:pPr>
              <a:spcBef>
                <a:spcPts val="600"/>
              </a:spcBef>
              <a:spcAft>
                <a:spcPts val="300"/>
              </a:spcAft>
            </a:pPr>
            <a:r>
              <a:rPr lang="en-US" sz="2400" dirty="0">
                <a:solidFill>
                  <a:srgbClr val="0000CC"/>
                </a:solidFill>
                <a:latin typeface="Rockwell" panose="02060603020205020403" pitchFamily="18" charset="0"/>
                <a:ea typeface="+mj-ea"/>
                <a:cs typeface="+mj-cs"/>
              </a:rPr>
              <a:t>Rule 4: </a:t>
            </a:r>
            <a:r>
              <a:rPr lang="en-US" sz="2400" dirty="0" err="1">
                <a:solidFill>
                  <a:srgbClr val="0000CC"/>
                </a:solidFill>
                <a:latin typeface="Rockwell" panose="02060603020205020403" pitchFamily="18" charset="0"/>
                <a:ea typeface="+mj-ea"/>
                <a:cs typeface="+mj-cs"/>
              </a:rPr>
              <a:t>Cấm</a:t>
            </a:r>
            <a:r>
              <a:rPr lang="en-US" sz="2400" dirty="0">
                <a:solidFill>
                  <a:srgbClr val="0000CC"/>
                </a:solidFill>
                <a:latin typeface="Rockwell" panose="02060603020205020403" pitchFamily="18" charset="0"/>
                <a:ea typeface="+mj-ea"/>
                <a:cs typeface="+mj-cs"/>
              </a:rPr>
              <a:t> upload file </a:t>
            </a:r>
            <a:r>
              <a:rPr lang="en-US" sz="2400" b="1" dirty="0">
                <a:solidFill>
                  <a:srgbClr val="0000CC"/>
                </a:solidFill>
                <a:latin typeface="Rockwell" panose="02060603020205020403" pitchFamily="18" charset="0"/>
                <a:ea typeface="+mj-ea"/>
                <a:cs typeface="+mj-cs"/>
              </a:rPr>
              <a:t>.</a:t>
            </a:r>
            <a:r>
              <a:rPr lang="en-US" sz="2400" b="1" dirty="0" err="1">
                <a:solidFill>
                  <a:srgbClr val="0000CC"/>
                </a:solidFill>
                <a:latin typeface="Rockwell" panose="02060603020205020403" pitchFamily="18" charset="0"/>
                <a:ea typeface="+mj-ea"/>
                <a:cs typeface="+mj-cs"/>
              </a:rPr>
              <a:t>php</a:t>
            </a:r>
            <a:r>
              <a:rPr lang="en-US" sz="2400" b="1" dirty="0">
                <a:solidFill>
                  <a:srgbClr val="0000CC"/>
                </a:solidFill>
                <a:latin typeface="Rockwell" panose="02060603020205020403" pitchFamily="18" charset="0"/>
                <a:ea typeface="+mj-ea"/>
                <a:cs typeface="+mj-cs"/>
              </a:rPr>
              <a:t> </a:t>
            </a:r>
            <a:r>
              <a:rPr lang="en-US" sz="2400" dirty="0">
                <a:solidFill>
                  <a:srgbClr val="0000CC"/>
                </a:solidFill>
                <a:latin typeface="Rockwell" panose="02060603020205020403" pitchFamily="18" charset="0"/>
                <a:ea typeface="+mj-ea"/>
                <a:cs typeface="+mj-cs"/>
              </a:rPr>
              <a:t>qua form web (</a:t>
            </a:r>
            <a:r>
              <a:rPr lang="en-US" sz="2400" dirty="0" err="1">
                <a:solidFill>
                  <a:srgbClr val="0000CC"/>
                </a:solidFill>
                <a:latin typeface="Rockwell" panose="02060603020205020403" pitchFamily="18" charset="0"/>
                <a:ea typeface="+mj-ea"/>
                <a:cs typeface="+mj-cs"/>
              </a:rPr>
              <a:t>tránh</a:t>
            </a:r>
            <a:r>
              <a:rPr lang="en-US" sz="2400" dirty="0">
                <a:solidFill>
                  <a:srgbClr val="0000CC"/>
                </a:solidFill>
                <a:latin typeface="Rockwell" panose="02060603020205020403" pitchFamily="18" charset="0"/>
                <a:ea typeface="+mj-ea"/>
                <a:cs typeface="+mj-cs"/>
              </a:rPr>
              <a:t> upload </a:t>
            </a:r>
            <a:r>
              <a:rPr lang="en-US" sz="2400" dirty="0" err="1">
                <a:solidFill>
                  <a:srgbClr val="0000CC"/>
                </a:solidFill>
                <a:latin typeface="Rockwell" panose="02060603020205020403" pitchFamily="18" charset="0"/>
                <a:ea typeface="+mj-ea"/>
                <a:cs typeface="+mj-cs"/>
              </a:rPr>
              <a:t>webshell</a:t>
            </a:r>
            <a:r>
              <a:rPr lang="en-US" sz="2400" dirty="0">
                <a:solidFill>
                  <a:srgbClr val="0000CC"/>
                </a:solidFill>
                <a:latin typeface="Rockwell" panose="02060603020205020403" pitchFamily="18" charset="0"/>
                <a:ea typeface="+mj-ea"/>
                <a:cs typeface="+mj-cs"/>
              </a:rPr>
              <a:t>).</a:t>
            </a:r>
          </a:p>
        </p:txBody>
      </p:sp>
    </p:spTree>
    <p:extLst>
      <p:ext uri="{BB962C8B-B14F-4D97-AF65-F5344CB8AC3E}">
        <p14:creationId xmlns:p14="http://schemas.microsoft.com/office/powerpoint/2010/main" val="3506481419"/>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44303" y="491797"/>
            <a:ext cx="10242645" cy="528851"/>
          </a:xfrm>
        </p:spPr>
        <p:txBody>
          <a:bodyPr/>
          <a:lstStyle/>
          <a:p>
            <a:r>
              <a:rPr lang="en-US" sz="2800" b="1" dirty="0">
                <a:solidFill>
                  <a:srgbClr val="0000CC"/>
                </a:solidFill>
                <a:latin typeface="Rockwell" panose="02060603020205020403" pitchFamily="18" charset="0"/>
              </a:rPr>
              <a:t>7</a:t>
            </a:r>
            <a:r>
              <a:rPr lang="en-US" sz="2800" b="1" dirty="0" smtClean="0">
                <a:solidFill>
                  <a:srgbClr val="0000CC"/>
                </a:solidFill>
                <a:latin typeface="Rockwell" panose="02060603020205020403" pitchFamily="18" charset="0"/>
              </a:rPr>
              <a:t>.2.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Chức</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năng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và</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mục</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đích</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sử</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dụng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của</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FIREWALL</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44304" y="1020648"/>
            <a:ext cx="9764976" cy="3865251"/>
          </a:xfrm>
        </p:spPr>
        <p:txBody>
          <a:bodyPr/>
          <a:lstStyle/>
          <a:p>
            <a:pPr marL="0" indent="0">
              <a:buNone/>
            </a:pPr>
            <a:r>
              <a:rPr lang="en-US" b="1" dirty="0" smtClean="0">
                <a:solidFill>
                  <a:srgbClr val="0000CC"/>
                </a:solidFill>
                <a:latin typeface="Rockwell" panose="02060603020205020403" pitchFamily="18" charset="0"/>
                <a:ea typeface="+mj-ea"/>
                <a:cs typeface="+mj-cs"/>
              </a:rPr>
              <a:t>2. </a:t>
            </a:r>
            <a:r>
              <a:rPr lang="en-US" b="1" dirty="0" err="1" smtClean="0">
                <a:solidFill>
                  <a:srgbClr val="0000CC"/>
                </a:solidFill>
                <a:latin typeface="Rockwell" panose="02060603020205020403" pitchFamily="18" charset="0"/>
                <a:ea typeface="+mj-ea"/>
                <a:cs typeface="+mj-cs"/>
              </a:rPr>
              <a:t>Các</a:t>
            </a:r>
            <a:r>
              <a:rPr lang="en-US" b="1" dirty="0" smtClean="0">
                <a:solidFill>
                  <a:srgbClr val="0000CC"/>
                </a:solidFill>
                <a:latin typeface="Rockwell" panose="02060603020205020403" pitchFamily="18" charset="0"/>
                <a:ea typeface="+mj-ea"/>
                <a:cs typeface="+mj-cs"/>
              </a:rPr>
              <a:t> </a:t>
            </a:r>
            <a:r>
              <a:rPr lang="en-US" b="1" dirty="0" err="1" smtClean="0">
                <a:solidFill>
                  <a:srgbClr val="0000CC"/>
                </a:solidFill>
                <a:latin typeface="Rockwell" panose="02060603020205020403" pitchFamily="18" charset="0"/>
                <a:ea typeface="+mj-ea"/>
                <a:cs typeface="+mj-cs"/>
              </a:rPr>
              <a:t>thành</a:t>
            </a:r>
            <a:r>
              <a:rPr lang="en-US" b="1" dirty="0" smtClean="0">
                <a:solidFill>
                  <a:srgbClr val="0000CC"/>
                </a:solidFill>
                <a:latin typeface="Rockwell" panose="02060603020205020403" pitchFamily="18" charset="0"/>
                <a:ea typeface="+mj-ea"/>
                <a:cs typeface="+mj-cs"/>
              </a:rPr>
              <a:t> </a:t>
            </a:r>
            <a:r>
              <a:rPr lang="en-US" b="1" dirty="0" err="1" smtClean="0">
                <a:solidFill>
                  <a:srgbClr val="0000CC"/>
                </a:solidFill>
                <a:latin typeface="Rockwell" panose="02060603020205020403" pitchFamily="18" charset="0"/>
                <a:ea typeface="+mj-ea"/>
                <a:cs typeface="+mj-cs"/>
              </a:rPr>
              <a:t>phần</a:t>
            </a:r>
            <a:r>
              <a:rPr lang="en-US" b="1" dirty="0" smtClean="0">
                <a:solidFill>
                  <a:srgbClr val="0000CC"/>
                </a:solidFill>
                <a:latin typeface="Rockwell" panose="02060603020205020403" pitchFamily="18" charset="0"/>
                <a:ea typeface="+mj-ea"/>
                <a:cs typeface="+mj-cs"/>
              </a:rPr>
              <a:t> </a:t>
            </a:r>
            <a:r>
              <a:rPr lang="en-US" b="1" dirty="0" err="1" smtClean="0">
                <a:solidFill>
                  <a:srgbClr val="0000CC"/>
                </a:solidFill>
                <a:latin typeface="Rockwell" panose="02060603020205020403" pitchFamily="18" charset="0"/>
                <a:ea typeface="+mj-ea"/>
                <a:cs typeface="+mj-cs"/>
              </a:rPr>
              <a:t>chính</a:t>
            </a:r>
            <a:r>
              <a:rPr lang="en-US" b="1" dirty="0" smtClean="0">
                <a:solidFill>
                  <a:srgbClr val="0000CC"/>
                </a:solidFill>
                <a:latin typeface="Rockwell" panose="02060603020205020403" pitchFamily="18" charset="0"/>
                <a:ea typeface="+mj-ea"/>
                <a:cs typeface="+mj-cs"/>
              </a:rPr>
              <a:t> </a:t>
            </a:r>
            <a:r>
              <a:rPr lang="en-US" b="1" dirty="0" err="1" smtClean="0">
                <a:solidFill>
                  <a:srgbClr val="0000CC"/>
                </a:solidFill>
                <a:latin typeface="Rockwell" panose="02060603020205020403" pitchFamily="18" charset="0"/>
                <a:ea typeface="+mj-ea"/>
                <a:cs typeface="+mj-cs"/>
              </a:rPr>
              <a:t>của</a:t>
            </a:r>
            <a:r>
              <a:rPr lang="en-US" b="1" dirty="0" smtClean="0">
                <a:solidFill>
                  <a:srgbClr val="0000CC"/>
                </a:solidFill>
                <a:latin typeface="Rockwell" panose="02060603020205020403" pitchFamily="18" charset="0"/>
                <a:ea typeface="+mj-ea"/>
                <a:cs typeface="+mj-cs"/>
              </a:rPr>
              <a:t> Firewall</a:t>
            </a:r>
            <a:r>
              <a:rPr lang="vi-VN" b="1" dirty="0" smtClean="0">
                <a:solidFill>
                  <a:srgbClr val="0000CC"/>
                </a:solidFill>
                <a:latin typeface="Rockwell" panose="02060603020205020403" pitchFamily="18" charset="0"/>
                <a:ea typeface="+mj-ea"/>
                <a:cs typeface="+mj-cs"/>
              </a:rPr>
              <a:t>:</a:t>
            </a:r>
            <a:endParaRPr lang="en-US" b="1" dirty="0" smtClean="0">
              <a:solidFill>
                <a:srgbClr val="0000CC"/>
              </a:solidFill>
              <a:latin typeface="Rockwell" panose="02060603020205020403" pitchFamily="18" charset="0"/>
              <a:ea typeface="+mj-ea"/>
              <a:cs typeface="+mj-cs"/>
            </a:endParaRPr>
          </a:p>
          <a:p>
            <a:pPr marL="0" indent="0" algn="just">
              <a:lnSpc>
                <a:spcPct val="120000"/>
              </a:lnSpc>
              <a:spcBef>
                <a:spcPts val="1200"/>
              </a:spcBef>
              <a:spcAft>
                <a:spcPts val="600"/>
              </a:spcAft>
              <a:buNone/>
            </a:pPr>
            <a:r>
              <a:rPr lang="en-US" dirty="0" err="1" smtClean="0">
                <a:solidFill>
                  <a:srgbClr val="0000CC"/>
                </a:solidFill>
                <a:latin typeface="Rockwell" panose="02060603020205020403" pitchFamily="18" charset="0"/>
                <a:ea typeface="+mj-ea"/>
                <a:cs typeface="+mj-cs"/>
              </a:rPr>
              <a:t>Ví</a:t>
            </a:r>
            <a:r>
              <a:rPr lang="en-US" dirty="0" smtClean="0">
                <a:solidFill>
                  <a:srgbClr val="0000CC"/>
                </a:solidFill>
                <a:latin typeface="Rockwell" panose="02060603020205020403" pitchFamily="18" charset="0"/>
                <a:ea typeface="+mj-ea"/>
                <a:cs typeface="+mj-cs"/>
              </a:rPr>
              <a:t> </a:t>
            </a:r>
            <a:r>
              <a:rPr lang="en-US" dirty="0" err="1" smtClean="0">
                <a:solidFill>
                  <a:srgbClr val="0000CC"/>
                </a:solidFill>
                <a:latin typeface="Rockwell" panose="02060603020205020403" pitchFamily="18" charset="0"/>
                <a:ea typeface="+mj-ea"/>
                <a:cs typeface="+mj-cs"/>
              </a:rPr>
              <a:t>dụ</a:t>
            </a:r>
            <a:r>
              <a:rPr lang="en-US" dirty="0" smtClean="0">
                <a:solidFill>
                  <a:srgbClr val="0000CC"/>
                </a:solidFill>
                <a:latin typeface="Rockwell" panose="02060603020205020403" pitchFamily="18" charset="0"/>
                <a:ea typeface="+mj-ea"/>
                <a:cs typeface="+mj-cs"/>
              </a:rPr>
              <a:t> 4:</a:t>
            </a:r>
          </a:p>
          <a:p>
            <a:pPr marL="0" indent="0" algn="just">
              <a:lnSpc>
                <a:spcPct val="120000"/>
              </a:lnSpc>
              <a:spcBef>
                <a:spcPts val="1200"/>
              </a:spcBef>
              <a:spcAft>
                <a:spcPts val="600"/>
              </a:spcAft>
              <a:buNone/>
            </a:pPr>
            <a:endParaRPr lang="en-US" dirty="0" smtClean="0">
              <a:solidFill>
                <a:srgbClr val="0000CC"/>
              </a:solidFill>
              <a:latin typeface="Rockwell" panose="02060603020205020403" pitchFamily="18" charset="0"/>
              <a:ea typeface="+mj-ea"/>
              <a:cs typeface="+mj-cs"/>
            </a:endParaRPr>
          </a:p>
          <a:p>
            <a:pPr marL="0" indent="0" algn="just">
              <a:lnSpc>
                <a:spcPct val="120000"/>
              </a:lnSpc>
              <a:spcBef>
                <a:spcPts val="1200"/>
              </a:spcBef>
              <a:spcAft>
                <a:spcPts val="600"/>
              </a:spcAft>
              <a:buNone/>
            </a:pPr>
            <a:endParaRPr lang="en-US" dirty="0">
              <a:solidFill>
                <a:srgbClr val="0000CC"/>
              </a:solidFill>
              <a:latin typeface="Rockwell" panose="02060603020205020403" pitchFamily="18" charset="0"/>
              <a:ea typeface="+mj-ea"/>
              <a:cs typeface="+mj-cs"/>
            </a:endParaRPr>
          </a:p>
        </p:txBody>
      </p:sp>
      <p:graphicFrame>
        <p:nvGraphicFramePr>
          <p:cNvPr id="4" name="Table 3"/>
          <p:cNvGraphicFramePr>
            <a:graphicFrameLocks noGrp="1"/>
          </p:cNvGraphicFramePr>
          <p:nvPr>
            <p:extLst>
              <p:ext uri="{D42A27DB-BD31-4B8C-83A1-F6EECF244321}">
                <p14:modId xmlns:p14="http://schemas.microsoft.com/office/powerpoint/2010/main" val="3795082138"/>
              </p:ext>
            </p:extLst>
          </p:nvPr>
        </p:nvGraphicFramePr>
        <p:xfrm>
          <a:off x="1344303" y="2038873"/>
          <a:ext cx="9601200" cy="1828800"/>
        </p:xfrm>
        <a:graphic>
          <a:graphicData uri="http://schemas.openxmlformats.org/drawingml/2006/table">
            <a:tbl>
              <a:tblPr>
                <a:tableStyleId>{3C2FFA5D-87B4-456A-9821-1D502468CF0F}</a:tableStyleId>
              </a:tblPr>
              <a:tblGrid>
                <a:gridCol w="962169">
                  <a:extLst>
                    <a:ext uri="{9D8B030D-6E8A-4147-A177-3AD203B41FA5}">
                      <a16:colId xmlns:a16="http://schemas.microsoft.com/office/drawing/2014/main" val="4192725513"/>
                    </a:ext>
                  </a:extLst>
                </a:gridCol>
                <a:gridCol w="2388358">
                  <a:extLst>
                    <a:ext uri="{9D8B030D-6E8A-4147-A177-3AD203B41FA5}">
                      <a16:colId xmlns:a16="http://schemas.microsoft.com/office/drawing/2014/main" val="1773065825"/>
                    </a:ext>
                  </a:extLst>
                </a:gridCol>
                <a:gridCol w="4449170">
                  <a:extLst>
                    <a:ext uri="{9D8B030D-6E8A-4147-A177-3AD203B41FA5}">
                      <a16:colId xmlns:a16="http://schemas.microsoft.com/office/drawing/2014/main" val="2619054700"/>
                    </a:ext>
                  </a:extLst>
                </a:gridCol>
                <a:gridCol w="1801503">
                  <a:extLst>
                    <a:ext uri="{9D8B030D-6E8A-4147-A177-3AD203B41FA5}">
                      <a16:colId xmlns:a16="http://schemas.microsoft.com/office/drawing/2014/main" val="2523722842"/>
                    </a:ext>
                  </a:extLst>
                </a:gridCol>
              </a:tblGrid>
              <a:tr h="0">
                <a:tc>
                  <a:txBody>
                    <a:bodyPr/>
                    <a:lstStyle/>
                    <a:p>
                      <a:pPr algn="ctr"/>
                      <a:r>
                        <a:rPr lang="en-US" b="1" dirty="0">
                          <a:solidFill>
                            <a:srgbClr val="0000CC"/>
                          </a:solidFill>
                        </a:rPr>
                        <a:t>Rule</a:t>
                      </a:r>
                    </a:p>
                  </a:txBody>
                  <a:tcPr anchor="ctr"/>
                </a:tc>
                <a:tc>
                  <a:txBody>
                    <a:bodyPr/>
                    <a:lstStyle/>
                    <a:p>
                      <a:pPr algn="ctr"/>
                      <a:r>
                        <a:rPr lang="en-US" b="1" dirty="0">
                          <a:solidFill>
                            <a:srgbClr val="0000CC"/>
                          </a:solidFill>
                        </a:rPr>
                        <a:t>Application/Service</a:t>
                      </a:r>
                    </a:p>
                  </a:txBody>
                  <a:tcPr anchor="ctr"/>
                </a:tc>
                <a:tc>
                  <a:txBody>
                    <a:bodyPr/>
                    <a:lstStyle/>
                    <a:p>
                      <a:pPr algn="ctr"/>
                      <a:r>
                        <a:rPr lang="en-US" b="1" dirty="0">
                          <a:solidFill>
                            <a:srgbClr val="0000CC"/>
                          </a:solidFill>
                        </a:rPr>
                        <a:t>Condition (Payload Inspection)</a:t>
                      </a:r>
                    </a:p>
                  </a:txBody>
                  <a:tcPr anchor="ctr"/>
                </a:tc>
                <a:tc>
                  <a:txBody>
                    <a:bodyPr/>
                    <a:lstStyle/>
                    <a:p>
                      <a:pPr algn="ctr"/>
                      <a:r>
                        <a:rPr lang="en-US" b="1" dirty="0">
                          <a:solidFill>
                            <a:srgbClr val="0000CC"/>
                          </a:solidFill>
                        </a:rPr>
                        <a:t>Action</a:t>
                      </a:r>
                    </a:p>
                  </a:txBody>
                  <a:tcPr anchor="ctr"/>
                </a:tc>
                <a:extLst>
                  <a:ext uri="{0D108BD9-81ED-4DB2-BD59-A6C34878D82A}">
                    <a16:rowId xmlns:a16="http://schemas.microsoft.com/office/drawing/2014/main" val="3557252656"/>
                  </a:ext>
                </a:extLst>
              </a:tr>
              <a:tr h="0">
                <a:tc>
                  <a:txBody>
                    <a:bodyPr/>
                    <a:lstStyle/>
                    <a:p>
                      <a:pPr algn="ctr"/>
                      <a:r>
                        <a:rPr lang="en-US" dirty="0">
                          <a:solidFill>
                            <a:srgbClr val="0000CC"/>
                          </a:solidFill>
                        </a:rPr>
                        <a:t>1</a:t>
                      </a:r>
                    </a:p>
                  </a:txBody>
                  <a:tcPr anchor="ctr"/>
                </a:tc>
                <a:tc>
                  <a:txBody>
                    <a:bodyPr/>
                    <a:lstStyle/>
                    <a:p>
                      <a:pPr algn="ctr"/>
                      <a:r>
                        <a:rPr lang="en-US" dirty="0">
                          <a:solidFill>
                            <a:srgbClr val="0000CC"/>
                          </a:solidFill>
                        </a:rPr>
                        <a:t>HTTP (Web)</a:t>
                      </a:r>
                    </a:p>
                  </a:txBody>
                  <a:tcPr anchor="ctr"/>
                </a:tc>
                <a:tc>
                  <a:txBody>
                    <a:bodyPr/>
                    <a:lstStyle/>
                    <a:p>
                      <a:pPr algn="ctr"/>
                      <a:r>
                        <a:rPr lang="en-US" dirty="0">
                          <a:solidFill>
                            <a:srgbClr val="0000CC"/>
                          </a:solidFill>
                        </a:rPr>
                        <a:t>Method </a:t>
                      </a:r>
                      <a:r>
                        <a:rPr lang="en-US" b="1" dirty="0">
                          <a:solidFill>
                            <a:srgbClr val="0000CC"/>
                          </a:solidFill>
                        </a:rPr>
                        <a:t>= POST</a:t>
                      </a:r>
                      <a:r>
                        <a:rPr lang="en-US" dirty="0">
                          <a:solidFill>
                            <a:srgbClr val="0000CC"/>
                          </a:solidFill>
                        </a:rPr>
                        <a:t>, Payload size </a:t>
                      </a:r>
                      <a:r>
                        <a:rPr lang="en-US" b="1" dirty="0">
                          <a:solidFill>
                            <a:srgbClr val="0000CC"/>
                          </a:solidFill>
                        </a:rPr>
                        <a:t>&gt; </a:t>
                      </a:r>
                      <a:r>
                        <a:rPr lang="en-US" b="1" dirty="0" err="1">
                          <a:solidFill>
                            <a:srgbClr val="0000CC"/>
                          </a:solidFill>
                        </a:rPr>
                        <a:t>5MB</a:t>
                      </a:r>
                      <a:endParaRPr lang="en-US" b="1" dirty="0">
                        <a:solidFill>
                          <a:srgbClr val="0000CC"/>
                        </a:solidFill>
                      </a:endParaRPr>
                    </a:p>
                  </a:txBody>
                  <a:tcPr anchor="ctr"/>
                </a:tc>
                <a:tc>
                  <a:txBody>
                    <a:bodyPr/>
                    <a:lstStyle/>
                    <a:p>
                      <a:pPr algn="ctr"/>
                      <a:r>
                        <a:rPr lang="en-US">
                          <a:solidFill>
                            <a:srgbClr val="0000CC"/>
                          </a:solidFill>
                        </a:rPr>
                        <a:t>Deny</a:t>
                      </a:r>
                    </a:p>
                  </a:txBody>
                  <a:tcPr anchor="ctr"/>
                </a:tc>
                <a:extLst>
                  <a:ext uri="{0D108BD9-81ED-4DB2-BD59-A6C34878D82A}">
                    <a16:rowId xmlns:a16="http://schemas.microsoft.com/office/drawing/2014/main" val="411166831"/>
                  </a:ext>
                </a:extLst>
              </a:tr>
              <a:tr h="0">
                <a:tc>
                  <a:txBody>
                    <a:bodyPr/>
                    <a:lstStyle/>
                    <a:p>
                      <a:pPr algn="ctr"/>
                      <a:r>
                        <a:rPr lang="en-US">
                          <a:solidFill>
                            <a:srgbClr val="0000CC"/>
                          </a:solidFill>
                        </a:rPr>
                        <a:t>2</a:t>
                      </a:r>
                    </a:p>
                  </a:txBody>
                  <a:tcPr anchor="ctr"/>
                </a:tc>
                <a:tc>
                  <a:txBody>
                    <a:bodyPr/>
                    <a:lstStyle/>
                    <a:p>
                      <a:pPr algn="ctr"/>
                      <a:r>
                        <a:rPr lang="en-US" dirty="0">
                          <a:solidFill>
                            <a:srgbClr val="0000CC"/>
                          </a:solidFill>
                        </a:rPr>
                        <a:t>HTTP (Web)</a:t>
                      </a:r>
                    </a:p>
                  </a:txBody>
                  <a:tcPr anchor="ctr"/>
                </a:tc>
                <a:tc>
                  <a:txBody>
                    <a:bodyPr/>
                    <a:lstStyle/>
                    <a:p>
                      <a:pPr algn="ctr"/>
                      <a:r>
                        <a:rPr lang="en-US" dirty="0">
                          <a:solidFill>
                            <a:srgbClr val="0000CC"/>
                          </a:solidFill>
                        </a:rPr>
                        <a:t>Block keyword: </a:t>
                      </a:r>
                      <a:r>
                        <a:rPr lang="en-US" b="1" dirty="0">
                          <a:solidFill>
                            <a:srgbClr val="0000CC"/>
                          </a:solidFill>
                        </a:rPr>
                        <a:t>UNION</a:t>
                      </a:r>
                      <a:r>
                        <a:rPr lang="en-US" dirty="0">
                          <a:solidFill>
                            <a:srgbClr val="0000CC"/>
                          </a:solidFill>
                        </a:rPr>
                        <a:t> </a:t>
                      </a:r>
                      <a:r>
                        <a:rPr lang="en-US" b="1" dirty="0">
                          <a:solidFill>
                            <a:srgbClr val="0000CC"/>
                          </a:solidFill>
                        </a:rPr>
                        <a:t>SELECT</a:t>
                      </a:r>
                    </a:p>
                  </a:txBody>
                  <a:tcPr anchor="ctr"/>
                </a:tc>
                <a:tc>
                  <a:txBody>
                    <a:bodyPr/>
                    <a:lstStyle/>
                    <a:p>
                      <a:pPr algn="ctr"/>
                      <a:r>
                        <a:rPr lang="en-US">
                          <a:solidFill>
                            <a:srgbClr val="0000CC"/>
                          </a:solidFill>
                        </a:rPr>
                        <a:t>Deny</a:t>
                      </a:r>
                    </a:p>
                  </a:txBody>
                  <a:tcPr anchor="ctr"/>
                </a:tc>
                <a:extLst>
                  <a:ext uri="{0D108BD9-81ED-4DB2-BD59-A6C34878D82A}">
                    <a16:rowId xmlns:a16="http://schemas.microsoft.com/office/drawing/2014/main" val="2408176238"/>
                  </a:ext>
                </a:extLst>
              </a:tr>
              <a:tr h="0">
                <a:tc>
                  <a:txBody>
                    <a:bodyPr/>
                    <a:lstStyle/>
                    <a:p>
                      <a:pPr algn="ctr"/>
                      <a:r>
                        <a:rPr lang="en-US">
                          <a:solidFill>
                            <a:srgbClr val="0000CC"/>
                          </a:solidFill>
                        </a:rPr>
                        <a:t>3</a:t>
                      </a:r>
                    </a:p>
                  </a:txBody>
                  <a:tcPr anchor="ctr"/>
                </a:tc>
                <a:tc>
                  <a:txBody>
                    <a:bodyPr/>
                    <a:lstStyle/>
                    <a:p>
                      <a:pPr algn="ctr"/>
                      <a:r>
                        <a:rPr lang="en-US" dirty="0">
                          <a:solidFill>
                            <a:srgbClr val="0000CC"/>
                          </a:solidFill>
                        </a:rPr>
                        <a:t>SMTP (Email)</a:t>
                      </a:r>
                    </a:p>
                  </a:txBody>
                  <a:tcPr anchor="ctr"/>
                </a:tc>
                <a:tc>
                  <a:txBody>
                    <a:bodyPr/>
                    <a:lstStyle/>
                    <a:p>
                      <a:pPr algn="ctr"/>
                      <a:r>
                        <a:rPr lang="en-US" dirty="0">
                          <a:solidFill>
                            <a:srgbClr val="0000CC"/>
                          </a:solidFill>
                        </a:rPr>
                        <a:t>Sender domain </a:t>
                      </a:r>
                      <a:r>
                        <a:rPr lang="en-US" b="1" dirty="0">
                          <a:solidFill>
                            <a:srgbClr val="0000CC"/>
                          </a:solidFill>
                        </a:rPr>
                        <a:t>= @</a:t>
                      </a:r>
                      <a:r>
                        <a:rPr lang="en-US" b="1" dirty="0" err="1">
                          <a:solidFill>
                            <a:srgbClr val="0000CC"/>
                          </a:solidFill>
                        </a:rPr>
                        <a:t>spam.com</a:t>
                      </a:r>
                      <a:endParaRPr lang="en-US" b="1" dirty="0">
                        <a:solidFill>
                          <a:srgbClr val="0000CC"/>
                        </a:solidFill>
                      </a:endParaRPr>
                    </a:p>
                  </a:txBody>
                  <a:tcPr anchor="ctr"/>
                </a:tc>
                <a:tc>
                  <a:txBody>
                    <a:bodyPr/>
                    <a:lstStyle/>
                    <a:p>
                      <a:pPr algn="ctr"/>
                      <a:r>
                        <a:rPr lang="en-US" dirty="0">
                          <a:solidFill>
                            <a:srgbClr val="0000CC"/>
                          </a:solidFill>
                        </a:rPr>
                        <a:t>Reject</a:t>
                      </a:r>
                    </a:p>
                  </a:txBody>
                  <a:tcPr anchor="ctr"/>
                </a:tc>
                <a:extLst>
                  <a:ext uri="{0D108BD9-81ED-4DB2-BD59-A6C34878D82A}">
                    <a16:rowId xmlns:a16="http://schemas.microsoft.com/office/drawing/2014/main" val="3013447300"/>
                  </a:ext>
                </a:extLst>
              </a:tr>
              <a:tr h="0">
                <a:tc>
                  <a:txBody>
                    <a:bodyPr/>
                    <a:lstStyle/>
                    <a:p>
                      <a:pPr algn="ctr"/>
                      <a:r>
                        <a:rPr lang="en-US" dirty="0">
                          <a:solidFill>
                            <a:srgbClr val="0000CC"/>
                          </a:solidFill>
                        </a:rPr>
                        <a:t>4</a:t>
                      </a:r>
                    </a:p>
                  </a:txBody>
                  <a:tcPr anchor="ctr"/>
                </a:tc>
                <a:tc>
                  <a:txBody>
                    <a:bodyPr/>
                    <a:lstStyle/>
                    <a:p>
                      <a:pPr algn="ctr"/>
                      <a:r>
                        <a:rPr lang="en-US">
                          <a:solidFill>
                            <a:srgbClr val="0000CC"/>
                          </a:solidFill>
                        </a:rPr>
                        <a:t>HTTP (Web)</a:t>
                      </a:r>
                    </a:p>
                  </a:txBody>
                  <a:tcPr anchor="ctr"/>
                </a:tc>
                <a:tc>
                  <a:txBody>
                    <a:bodyPr/>
                    <a:lstStyle/>
                    <a:p>
                      <a:pPr algn="ctr"/>
                      <a:r>
                        <a:rPr lang="en-US" dirty="0">
                          <a:solidFill>
                            <a:srgbClr val="0000CC"/>
                          </a:solidFill>
                        </a:rPr>
                        <a:t>File upload extension </a:t>
                      </a:r>
                      <a:r>
                        <a:rPr lang="en-US" b="1" dirty="0">
                          <a:solidFill>
                            <a:srgbClr val="0000CC"/>
                          </a:solidFill>
                        </a:rPr>
                        <a:t>= .</a:t>
                      </a:r>
                      <a:r>
                        <a:rPr lang="en-US" b="1" dirty="0" err="1">
                          <a:solidFill>
                            <a:srgbClr val="0000CC"/>
                          </a:solidFill>
                        </a:rPr>
                        <a:t>php</a:t>
                      </a:r>
                      <a:endParaRPr lang="en-US" b="1" dirty="0">
                        <a:solidFill>
                          <a:srgbClr val="0000CC"/>
                        </a:solidFill>
                      </a:endParaRPr>
                    </a:p>
                  </a:txBody>
                  <a:tcPr anchor="ctr"/>
                </a:tc>
                <a:tc>
                  <a:txBody>
                    <a:bodyPr/>
                    <a:lstStyle/>
                    <a:p>
                      <a:pPr algn="ctr"/>
                      <a:r>
                        <a:rPr lang="en-US" dirty="0">
                          <a:solidFill>
                            <a:srgbClr val="0000CC"/>
                          </a:solidFill>
                        </a:rPr>
                        <a:t>Deny</a:t>
                      </a:r>
                    </a:p>
                  </a:txBody>
                  <a:tcPr anchor="ctr"/>
                </a:tc>
                <a:extLst>
                  <a:ext uri="{0D108BD9-81ED-4DB2-BD59-A6C34878D82A}">
                    <a16:rowId xmlns:a16="http://schemas.microsoft.com/office/drawing/2014/main" val="934142750"/>
                  </a:ext>
                </a:extLst>
              </a:tr>
            </a:tbl>
          </a:graphicData>
        </a:graphic>
      </p:graphicFrame>
      <p:sp>
        <p:nvSpPr>
          <p:cNvPr id="5" name="Rectangle 4"/>
          <p:cNvSpPr/>
          <p:nvPr/>
        </p:nvSpPr>
        <p:spPr>
          <a:xfrm>
            <a:off x="1344302" y="4008735"/>
            <a:ext cx="10242645" cy="2400657"/>
          </a:xfrm>
          <a:prstGeom prst="rect">
            <a:avLst/>
          </a:prstGeom>
        </p:spPr>
        <p:txBody>
          <a:bodyPr wrap="square">
            <a:spAutoFit/>
          </a:bodyPr>
          <a:lstStyle/>
          <a:p>
            <a:pPr>
              <a:spcAft>
                <a:spcPts val="300"/>
              </a:spcAft>
            </a:pPr>
            <a:r>
              <a:rPr lang="en-US" sz="2400" dirty="0">
                <a:solidFill>
                  <a:srgbClr val="0000CC"/>
                </a:solidFill>
                <a:latin typeface="Rockwell" panose="02060603020205020403" pitchFamily="18" charset="0"/>
                <a:ea typeface="+mj-ea"/>
                <a:cs typeface="+mj-cs"/>
              </a:rPr>
              <a:t>Rule 1: </a:t>
            </a:r>
            <a:r>
              <a:rPr lang="en-US" sz="2400" dirty="0" err="1">
                <a:solidFill>
                  <a:srgbClr val="0000CC"/>
                </a:solidFill>
                <a:latin typeface="Rockwell" panose="02060603020205020403" pitchFamily="18" charset="0"/>
                <a:ea typeface="+mj-ea"/>
                <a:cs typeface="+mj-cs"/>
              </a:rPr>
              <a:t>Chặn</a:t>
            </a:r>
            <a:r>
              <a:rPr lang="en-US" sz="2400" dirty="0">
                <a:solidFill>
                  <a:srgbClr val="0000CC"/>
                </a:solidFill>
                <a:latin typeface="Rockwell" panose="02060603020205020403" pitchFamily="18" charset="0"/>
                <a:ea typeface="+mj-ea"/>
                <a:cs typeface="+mj-cs"/>
              </a:rPr>
              <a:t> </a:t>
            </a:r>
            <a:r>
              <a:rPr lang="en-US" sz="2400" dirty="0" err="1">
                <a:solidFill>
                  <a:srgbClr val="0000CC"/>
                </a:solidFill>
                <a:latin typeface="Rockwell" panose="02060603020205020403" pitchFamily="18" charset="0"/>
                <a:ea typeface="+mj-ea"/>
                <a:cs typeface="+mj-cs"/>
              </a:rPr>
              <a:t>các</a:t>
            </a:r>
            <a:r>
              <a:rPr lang="en-US" sz="2400" dirty="0">
                <a:solidFill>
                  <a:srgbClr val="0000CC"/>
                </a:solidFill>
                <a:latin typeface="Rockwell" panose="02060603020205020403" pitchFamily="18" charset="0"/>
                <a:ea typeface="+mj-ea"/>
                <a:cs typeface="+mj-cs"/>
              </a:rPr>
              <a:t> POST request </a:t>
            </a:r>
            <a:r>
              <a:rPr lang="en-US" sz="2400" b="1" dirty="0" err="1">
                <a:solidFill>
                  <a:srgbClr val="0000CC"/>
                </a:solidFill>
                <a:latin typeface="Rockwell" panose="02060603020205020403" pitchFamily="18" charset="0"/>
                <a:ea typeface="+mj-ea"/>
                <a:cs typeface="+mj-cs"/>
              </a:rPr>
              <a:t>quá</a:t>
            </a:r>
            <a:r>
              <a:rPr lang="en-US" sz="2400" b="1" dirty="0">
                <a:solidFill>
                  <a:srgbClr val="0000CC"/>
                </a:solidFill>
                <a:latin typeface="Rockwell" panose="02060603020205020403" pitchFamily="18" charset="0"/>
                <a:ea typeface="+mj-ea"/>
                <a:cs typeface="+mj-cs"/>
              </a:rPr>
              <a:t> </a:t>
            </a:r>
            <a:r>
              <a:rPr lang="en-US" sz="2400" b="1" dirty="0" err="1">
                <a:solidFill>
                  <a:srgbClr val="0000CC"/>
                </a:solidFill>
                <a:latin typeface="Rockwell" panose="02060603020205020403" pitchFamily="18" charset="0"/>
                <a:ea typeface="+mj-ea"/>
                <a:cs typeface="+mj-cs"/>
              </a:rPr>
              <a:t>5MB</a:t>
            </a:r>
            <a:r>
              <a:rPr lang="en-US" sz="2400" b="1" dirty="0">
                <a:solidFill>
                  <a:srgbClr val="0000CC"/>
                </a:solidFill>
                <a:latin typeface="Rockwell" panose="02060603020205020403" pitchFamily="18" charset="0"/>
                <a:ea typeface="+mj-ea"/>
                <a:cs typeface="+mj-cs"/>
              </a:rPr>
              <a:t> </a:t>
            </a:r>
            <a:endParaRPr lang="en-US" sz="2400" b="1" dirty="0" smtClean="0">
              <a:solidFill>
                <a:srgbClr val="0000CC"/>
              </a:solidFill>
              <a:latin typeface="Rockwell" panose="02060603020205020403" pitchFamily="18" charset="0"/>
              <a:ea typeface="+mj-ea"/>
              <a:cs typeface="+mj-cs"/>
            </a:endParaRPr>
          </a:p>
          <a:p>
            <a:pPr>
              <a:spcAft>
                <a:spcPts val="300"/>
              </a:spcAft>
            </a:pPr>
            <a:r>
              <a:rPr lang="en-US" sz="2400" dirty="0" smtClean="0">
                <a:solidFill>
                  <a:srgbClr val="0000CC"/>
                </a:solidFill>
                <a:latin typeface="Rockwell" panose="02060603020205020403" pitchFamily="18" charset="0"/>
                <a:ea typeface="+mj-ea"/>
                <a:cs typeface="+mj-cs"/>
              </a:rPr>
              <a:t>(</a:t>
            </a:r>
            <a:r>
              <a:rPr lang="en-US" sz="2400" dirty="0" err="1">
                <a:solidFill>
                  <a:srgbClr val="0000CC"/>
                </a:solidFill>
                <a:latin typeface="Rockwell" panose="02060603020205020403" pitchFamily="18" charset="0"/>
                <a:ea typeface="+mj-ea"/>
                <a:cs typeface="+mj-cs"/>
              </a:rPr>
              <a:t>tránh</a:t>
            </a:r>
            <a:r>
              <a:rPr lang="en-US" sz="2400" dirty="0">
                <a:solidFill>
                  <a:srgbClr val="0000CC"/>
                </a:solidFill>
                <a:latin typeface="Rockwell" panose="02060603020205020403" pitchFamily="18" charset="0"/>
                <a:ea typeface="+mj-ea"/>
                <a:cs typeface="+mj-cs"/>
              </a:rPr>
              <a:t> upload </a:t>
            </a:r>
            <a:r>
              <a:rPr lang="en-US" sz="2400" dirty="0" err="1">
                <a:solidFill>
                  <a:srgbClr val="0000CC"/>
                </a:solidFill>
                <a:latin typeface="Rockwell" panose="02060603020205020403" pitchFamily="18" charset="0"/>
                <a:ea typeface="+mj-ea"/>
                <a:cs typeface="+mj-cs"/>
              </a:rPr>
              <a:t>tấn</a:t>
            </a:r>
            <a:r>
              <a:rPr lang="en-US" sz="2400" dirty="0">
                <a:solidFill>
                  <a:srgbClr val="0000CC"/>
                </a:solidFill>
                <a:latin typeface="Rockwell" panose="02060603020205020403" pitchFamily="18" charset="0"/>
                <a:ea typeface="+mj-ea"/>
                <a:cs typeface="+mj-cs"/>
              </a:rPr>
              <a:t> </a:t>
            </a:r>
            <a:r>
              <a:rPr lang="en-US" sz="2400" dirty="0" err="1">
                <a:solidFill>
                  <a:srgbClr val="0000CC"/>
                </a:solidFill>
                <a:latin typeface="Rockwell" panose="02060603020205020403" pitchFamily="18" charset="0"/>
                <a:ea typeface="+mj-ea"/>
                <a:cs typeface="+mj-cs"/>
              </a:rPr>
              <a:t>công</a:t>
            </a:r>
            <a:r>
              <a:rPr lang="en-US" sz="2400" dirty="0">
                <a:solidFill>
                  <a:srgbClr val="0000CC"/>
                </a:solidFill>
                <a:latin typeface="Rockwell" panose="02060603020205020403" pitchFamily="18" charset="0"/>
                <a:ea typeface="+mj-ea"/>
                <a:cs typeface="+mj-cs"/>
              </a:rPr>
              <a:t> </a:t>
            </a:r>
            <a:r>
              <a:rPr lang="en-US" sz="2400" dirty="0" err="1">
                <a:solidFill>
                  <a:srgbClr val="0000CC"/>
                </a:solidFill>
                <a:latin typeface="Rockwell" panose="02060603020205020403" pitchFamily="18" charset="0"/>
                <a:ea typeface="+mj-ea"/>
                <a:cs typeface="+mj-cs"/>
              </a:rPr>
              <a:t>DDoS</a:t>
            </a:r>
            <a:r>
              <a:rPr lang="en-US" sz="2400" dirty="0">
                <a:solidFill>
                  <a:srgbClr val="0000CC"/>
                </a:solidFill>
                <a:latin typeface="Rockwell" panose="02060603020205020403" pitchFamily="18" charset="0"/>
                <a:ea typeface="+mj-ea"/>
                <a:cs typeface="+mj-cs"/>
              </a:rPr>
              <a:t> </a:t>
            </a:r>
            <a:r>
              <a:rPr lang="en-US" sz="2400" dirty="0" err="1">
                <a:solidFill>
                  <a:srgbClr val="0000CC"/>
                </a:solidFill>
                <a:latin typeface="Rockwell" panose="02060603020205020403" pitchFamily="18" charset="0"/>
                <a:ea typeface="+mj-ea"/>
                <a:cs typeface="+mj-cs"/>
              </a:rPr>
              <a:t>ứng</a:t>
            </a:r>
            <a:r>
              <a:rPr lang="en-US" sz="2400" dirty="0">
                <a:solidFill>
                  <a:srgbClr val="0000CC"/>
                </a:solidFill>
                <a:latin typeface="Rockwell" panose="02060603020205020403" pitchFamily="18" charset="0"/>
                <a:ea typeface="+mj-ea"/>
                <a:cs typeface="+mj-cs"/>
              </a:rPr>
              <a:t> </a:t>
            </a:r>
            <a:r>
              <a:rPr lang="en-US" sz="2400" dirty="0" err="1">
                <a:solidFill>
                  <a:srgbClr val="0000CC"/>
                </a:solidFill>
                <a:latin typeface="Rockwell" panose="02060603020205020403" pitchFamily="18" charset="0"/>
                <a:ea typeface="+mj-ea"/>
                <a:cs typeface="+mj-cs"/>
              </a:rPr>
              <a:t>dụng</a:t>
            </a:r>
            <a:r>
              <a:rPr lang="en-US" sz="2400" dirty="0">
                <a:solidFill>
                  <a:srgbClr val="0000CC"/>
                </a:solidFill>
                <a:latin typeface="Rockwell" panose="02060603020205020403" pitchFamily="18" charset="0"/>
                <a:ea typeface="+mj-ea"/>
                <a:cs typeface="+mj-cs"/>
              </a:rPr>
              <a:t>).</a:t>
            </a:r>
          </a:p>
          <a:p>
            <a:pPr>
              <a:spcBef>
                <a:spcPts val="600"/>
              </a:spcBef>
              <a:spcAft>
                <a:spcPts val="300"/>
              </a:spcAft>
            </a:pPr>
            <a:r>
              <a:rPr lang="en-US" sz="2400" dirty="0">
                <a:solidFill>
                  <a:srgbClr val="0000CC"/>
                </a:solidFill>
                <a:latin typeface="Rockwell" panose="02060603020205020403" pitchFamily="18" charset="0"/>
                <a:ea typeface="+mj-ea"/>
                <a:cs typeface="+mj-cs"/>
              </a:rPr>
              <a:t>Rule 2: </a:t>
            </a:r>
            <a:r>
              <a:rPr lang="en-US" sz="2400" dirty="0" err="1">
                <a:solidFill>
                  <a:srgbClr val="0000CC"/>
                </a:solidFill>
                <a:latin typeface="Rockwell" panose="02060603020205020403" pitchFamily="18" charset="0"/>
                <a:ea typeface="+mj-ea"/>
                <a:cs typeface="+mj-cs"/>
              </a:rPr>
              <a:t>Ngăn</a:t>
            </a:r>
            <a:r>
              <a:rPr lang="en-US" sz="2400" dirty="0">
                <a:solidFill>
                  <a:srgbClr val="0000CC"/>
                </a:solidFill>
                <a:latin typeface="Rockwell" panose="02060603020205020403" pitchFamily="18" charset="0"/>
                <a:ea typeface="+mj-ea"/>
                <a:cs typeface="+mj-cs"/>
              </a:rPr>
              <a:t> SQL Injection </a:t>
            </a:r>
            <a:r>
              <a:rPr lang="en-US" sz="2400" dirty="0" err="1">
                <a:solidFill>
                  <a:srgbClr val="0000CC"/>
                </a:solidFill>
                <a:latin typeface="Rockwell" panose="02060603020205020403" pitchFamily="18" charset="0"/>
                <a:ea typeface="+mj-ea"/>
                <a:cs typeface="+mj-cs"/>
              </a:rPr>
              <a:t>với</a:t>
            </a:r>
            <a:r>
              <a:rPr lang="en-US" sz="2400" dirty="0">
                <a:solidFill>
                  <a:srgbClr val="0000CC"/>
                </a:solidFill>
                <a:latin typeface="Rockwell" panose="02060603020205020403" pitchFamily="18" charset="0"/>
                <a:ea typeface="+mj-ea"/>
                <a:cs typeface="+mj-cs"/>
              </a:rPr>
              <a:t> </a:t>
            </a:r>
            <a:r>
              <a:rPr lang="en-US" sz="2400" dirty="0" err="1">
                <a:solidFill>
                  <a:srgbClr val="0000CC"/>
                </a:solidFill>
                <a:latin typeface="Rockwell" panose="02060603020205020403" pitchFamily="18" charset="0"/>
                <a:ea typeface="+mj-ea"/>
                <a:cs typeface="+mj-cs"/>
              </a:rPr>
              <a:t>từ</a:t>
            </a:r>
            <a:r>
              <a:rPr lang="en-US" sz="2400" dirty="0">
                <a:solidFill>
                  <a:srgbClr val="0000CC"/>
                </a:solidFill>
                <a:latin typeface="Rockwell" panose="02060603020205020403" pitchFamily="18" charset="0"/>
                <a:ea typeface="+mj-ea"/>
                <a:cs typeface="+mj-cs"/>
              </a:rPr>
              <a:t> </a:t>
            </a:r>
            <a:r>
              <a:rPr lang="en-US" sz="2400" dirty="0" err="1">
                <a:solidFill>
                  <a:srgbClr val="0000CC"/>
                </a:solidFill>
                <a:latin typeface="Rockwell" panose="02060603020205020403" pitchFamily="18" charset="0"/>
                <a:ea typeface="+mj-ea"/>
                <a:cs typeface="+mj-cs"/>
              </a:rPr>
              <a:t>khóa</a:t>
            </a:r>
            <a:r>
              <a:rPr lang="en-US" sz="2400" dirty="0">
                <a:solidFill>
                  <a:srgbClr val="0000CC"/>
                </a:solidFill>
                <a:latin typeface="Rockwell" panose="02060603020205020403" pitchFamily="18" charset="0"/>
                <a:ea typeface="+mj-ea"/>
                <a:cs typeface="+mj-cs"/>
              </a:rPr>
              <a:t> </a:t>
            </a:r>
            <a:r>
              <a:rPr lang="en-US" sz="2400" b="1" dirty="0">
                <a:solidFill>
                  <a:srgbClr val="0000CC"/>
                </a:solidFill>
                <a:latin typeface="Rockwell" panose="02060603020205020403" pitchFamily="18" charset="0"/>
                <a:ea typeface="+mj-ea"/>
                <a:cs typeface="+mj-cs"/>
              </a:rPr>
              <a:t>UNION</a:t>
            </a:r>
            <a:r>
              <a:rPr lang="en-US" sz="2400" dirty="0">
                <a:solidFill>
                  <a:srgbClr val="0000CC"/>
                </a:solidFill>
                <a:latin typeface="Rockwell" panose="02060603020205020403" pitchFamily="18" charset="0"/>
                <a:ea typeface="+mj-ea"/>
                <a:cs typeface="+mj-cs"/>
              </a:rPr>
              <a:t> </a:t>
            </a:r>
            <a:r>
              <a:rPr lang="en-US" sz="2400" b="1" dirty="0">
                <a:solidFill>
                  <a:srgbClr val="0000CC"/>
                </a:solidFill>
                <a:latin typeface="Rockwell" panose="02060603020205020403" pitchFamily="18" charset="0"/>
                <a:ea typeface="+mj-ea"/>
                <a:cs typeface="+mj-cs"/>
              </a:rPr>
              <a:t>SELECT</a:t>
            </a:r>
            <a:r>
              <a:rPr lang="en-US" sz="2400" dirty="0">
                <a:solidFill>
                  <a:srgbClr val="0000CC"/>
                </a:solidFill>
                <a:latin typeface="Rockwell" panose="02060603020205020403" pitchFamily="18" charset="0"/>
                <a:ea typeface="+mj-ea"/>
                <a:cs typeface="+mj-cs"/>
              </a:rPr>
              <a:t>.</a:t>
            </a:r>
          </a:p>
          <a:p>
            <a:pPr>
              <a:spcBef>
                <a:spcPts val="600"/>
              </a:spcBef>
              <a:spcAft>
                <a:spcPts val="300"/>
              </a:spcAft>
            </a:pPr>
            <a:r>
              <a:rPr lang="en-US" sz="2400" dirty="0">
                <a:solidFill>
                  <a:srgbClr val="0000CC"/>
                </a:solidFill>
                <a:latin typeface="Rockwell" panose="02060603020205020403" pitchFamily="18" charset="0"/>
                <a:ea typeface="+mj-ea"/>
                <a:cs typeface="+mj-cs"/>
              </a:rPr>
              <a:t>Rule 3: </a:t>
            </a:r>
            <a:r>
              <a:rPr lang="en-US" sz="2400" dirty="0" err="1">
                <a:solidFill>
                  <a:srgbClr val="0000CC"/>
                </a:solidFill>
                <a:latin typeface="Rockwell" panose="02060603020205020403" pitchFamily="18" charset="0"/>
                <a:ea typeface="+mj-ea"/>
                <a:cs typeface="+mj-cs"/>
              </a:rPr>
              <a:t>Từ</a:t>
            </a:r>
            <a:r>
              <a:rPr lang="en-US" sz="2400" dirty="0">
                <a:solidFill>
                  <a:srgbClr val="0000CC"/>
                </a:solidFill>
                <a:latin typeface="Rockwell" panose="02060603020205020403" pitchFamily="18" charset="0"/>
                <a:ea typeface="+mj-ea"/>
                <a:cs typeface="+mj-cs"/>
              </a:rPr>
              <a:t> </a:t>
            </a:r>
            <a:r>
              <a:rPr lang="en-US" sz="2400" dirty="0" err="1">
                <a:solidFill>
                  <a:srgbClr val="0000CC"/>
                </a:solidFill>
                <a:latin typeface="Rockwell" panose="02060603020205020403" pitchFamily="18" charset="0"/>
                <a:ea typeface="+mj-ea"/>
                <a:cs typeface="+mj-cs"/>
              </a:rPr>
              <a:t>chối</a:t>
            </a:r>
            <a:r>
              <a:rPr lang="en-US" sz="2400" dirty="0">
                <a:solidFill>
                  <a:srgbClr val="0000CC"/>
                </a:solidFill>
                <a:latin typeface="Rockwell" panose="02060603020205020403" pitchFamily="18" charset="0"/>
                <a:ea typeface="+mj-ea"/>
                <a:cs typeface="+mj-cs"/>
              </a:rPr>
              <a:t> email </a:t>
            </a:r>
            <a:r>
              <a:rPr lang="en-US" sz="2400" dirty="0" err="1">
                <a:solidFill>
                  <a:srgbClr val="0000CC"/>
                </a:solidFill>
                <a:latin typeface="Rockwell" panose="02060603020205020403" pitchFamily="18" charset="0"/>
                <a:ea typeface="+mj-ea"/>
                <a:cs typeface="+mj-cs"/>
              </a:rPr>
              <a:t>từ</a:t>
            </a:r>
            <a:r>
              <a:rPr lang="en-US" sz="2400" dirty="0">
                <a:solidFill>
                  <a:srgbClr val="0000CC"/>
                </a:solidFill>
                <a:latin typeface="Rockwell" panose="02060603020205020403" pitchFamily="18" charset="0"/>
                <a:ea typeface="+mj-ea"/>
                <a:cs typeface="+mj-cs"/>
              </a:rPr>
              <a:t> domain</a:t>
            </a:r>
            <a:r>
              <a:rPr lang="en-US" sz="2400" b="1" dirty="0">
                <a:solidFill>
                  <a:srgbClr val="0000CC"/>
                </a:solidFill>
                <a:latin typeface="Rockwell" panose="02060603020205020403" pitchFamily="18" charset="0"/>
                <a:ea typeface="+mj-ea"/>
                <a:cs typeface="+mj-cs"/>
              </a:rPr>
              <a:t> </a:t>
            </a:r>
            <a:r>
              <a:rPr lang="en-US" sz="2400" b="1" dirty="0" err="1">
                <a:solidFill>
                  <a:srgbClr val="0000CC"/>
                </a:solidFill>
                <a:latin typeface="Rockwell" panose="02060603020205020403" pitchFamily="18" charset="0"/>
                <a:ea typeface="+mj-ea"/>
                <a:cs typeface="+mj-cs"/>
              </a:rPr>
              <a:t>spam.com</a:t>
            </a:r>
            <a:r>
              <a:rPr lang="en-US" sz="2400" b="1" dirty="0">
                <a:solidFill>
                  <a:srgbClr val="0000CC"/>
                </a:solidFill>
                <a:latin typeface="Rockwell" panose="02060603020205020403" pitchFamily="18" charset="0"/>
                <a:ea typeface="+mj-ea"/>
                <a:cs typeface="+mj-cs"/>
              </a:rPr>
              <a:t>.</a:t>
            </a:r>
          </a:p>
          <a:p>
            <a:pPr>
              <a:spcBef>
                <a:spcPts val="600"/>
              </a:spcBef>
              <a:spcAft>
                <a:spcPts val="300"/>
              </a:spcAft>
            </a:pPr>
            <a:r>
              <a:rPr lang="en-US" sz="2400" dirty="0">
                <a:solidFill>
                  <a:srgbClr val="0000CC"/>
                </a:solidFill>
                <a:latin typeface="Rockwell" panose="02060603020205020403" pitchFamily="18" charset="0"/>
                <a:ea typeface="+mj-ea"/>
                <a:cs typeface="+mj-cs"/>
              </a:rPr>
              <a:t>Rule 4: </a:t>
            </a:r>
            <a:r>
              <a:rPr lang="en-US" sz="2400" dirty="0" err="1">
                <a:solidFill>
                  <a:srgbClr val="0000CC"/>
                </a:solidFill>
                <a:latin typeface="Rockwell" panose="02060603020205020403" pitchFamily="18" charset="0"/>
                <a:ea typeface="+mj-ea"/>
                <a:cs typeface="+mj-cs"/>
              </a:rPr>
              <a:t>Cấm</a:t>
            </a:r>
            <a:r>
              <a:rPr lang="en-US" sz="2400" dirty="0">
                <a:solidFill>
                  <a:srgbClr val="0000CC"/>
                </a:solidFill>
                <a:latin typeface="Rockwell" panose="02060603020205020403" pitchFamily="18" charset="0"/>
                <a:ea typeface="+mj-ea"/>
                <a:cs typeface="+mj-cs"/>
              </a:rPr>
              <a:t> upload file </a:t>
            </a:r>
            <a:r>
              <a:rPr lang="en-US" sz="2400" b="1" dirty="0">
                <a:solidFill>
                  <a:srgbClr val="0000CC"/>
                </a:solidFill>
                <a:latin typeface="Rockwell" panose="02060603020205020403" pitchFamily="18" charset="0"/>
                <a:ea typeface="+mj-ea"/>
                <a:cs typeface="+mj-cs"/>
              </a:rPr>
              <a:t>.</a:t>
            </a:r>
            <a:r>
              <a:rPr lang="en-US" sz="2400" b="1" dirty="0" err="1">
                <a:solidFill>
                  <a:srgbClr val="0000CC"/>
                </a:solidFill>
                <a:latin typeface="Rockwell" panose="02060603020205020403" pitchFamily="18" charset="0"/>
                <a:ea typeface="+mj-ea"/>
                <a:cs typeface="+mj-cs"/>
              </a:rPr>
              <a:t>php</a:t>
            </a:r>
            <a:r>
              <a:rPr lang="en-US" sz="2400" b="1" dirty="0">
                <a:solidFill>
                  <a:srgbClr val="0000CC"/>
                </a:solidFill>
                <a:latin typeface="Rockwell" panose="02060603020205020403" pitchFamily="18" charset="0"/>
                <a:ea typeface="+mj-ea"/>
                <a:cs typeface="+mj-cs"/>
              </a:rPr>
              <a:t> </a:t>
            </a:r>
            <a:r>
              <a:rPr lang="en-US" sz="2400" dirty="0">
                <a:solidFill>
                  <a:srgbClr val="0000CC"/>
                </a:solidFill>
                <a:latin typeface="Rockwell" panose="02060603020205020403" pitchFamily="18" charset="0"/>
                <a:ea typeface="+mj-ea"/>
                <a:cs typeface="+mj-cs"/>
              </a:rPr>
              <a:t>qua form web (</a:t>
            </a:r>
            <a:r>
              <a:rPr lang="en-US" sz="2400" dirty="0" err="1">
                <a:solidFill>
                  <a:srgbClr val="0000CC"/>
                </a:solidFill>
                <a:latin typeface="Rockwell" panose="02060603020205020403" pitchFamily="18" charset="0"/>
                <a:ea typeface="+mj-ea"/>
                <a:cs typeface="+mj-cs"/>
              </a:rPr>
              <a:t>tránh</a:t>
            </a:r>
            <a:r>
              <a:rPr lang="en-US" sz="2400" dirty="0">
                <a:solidFill>
                  <a:srgbClr val="0000CC"/>
                </a:solidFill>
                <a:latin typeface="Rockwell" panose="02060603020205020403" pitchFamily="18" charset="0"/>
                <a:ea typeface="+mj-ea"/>
                <a:cs typeface="+mj-cs"/>
              </a:rPr>
              <a:t> upload </a:t>
            </a:r>
            <a:r>
              <a:rPr lang="en-US" sz="2400" dirty="0" err="1">
                <a:solidFill>
                  <a:srgbClr val="0000CC"/>
                </a:solidFill>
                <a:latin typeface="Rockwell" panose="02060603020205020403" pitchFamily="18" charset="0"/>
                <a:ea typeface="+mj-ea"/>
                <a:cs typeface="+mj-cs"/>
              </a:rPr>
              <a:t>webshell</a:t>
            </a:r>
            <a:r>
              <a:rPr lang="en-US" sz="2400" dirty="0">
                <a:solidFill>
                  <a:srgbClr val="0000CC"/>
                </a:solidFill>
                <a:latin typeface="Rockwell" panose="02060603020205020403" pitchFamily="18" charset="0"/>
                <a:ea typeface="+mj-ea"/>
                <a:cs typeface="+mj-cs"/>
              </a:rPr>
              <a:t>).</a:t>
            </a:r>
          </a:p>
        </p:txBody>
      </p:sp>
    </p:spTree>
    <p:extLst>
      <p:ext uri="{BB962C8B-B14F-4D97-AF65-F5344CB8AC3E}">
        <p14:creationId xmlns:p14="http://schemas.microsoft.com/office/powerpoint/2010/main" val="2150798660"/>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44303" y="491797"/>
            <a:ext cx="10242645" cy="528851"/>
          </a:xfrm>
        </p:spPr>
        <p:txBody>
          <a:bodyPr/>
          <a:lstStyle/>
          <a:p>
            <a:r>
              <a:rPr lang="en-US" sz="2800" b="1" dirty="0">
                <a:solidFill>
                  <a:srgbClr val="0000CC"/>
                </a:solidFill>
                <a:latin typeface="Rockwell" panose="02060603020205020403" pitchFamily="18" charset="0"/>
              </a:rPr>
              <a:t>7</a:t>
            </a:r>
            <a:r>
              <a:rPr lang="en-US" sz="2800" b="1" dirty="0" smtClean="0">
                <a:solidFill>
                  <a:srgbClr val="0000CC"/>
                </a:solidFill>
                <a:latin typeface="Rockwell" panose="02060603020205020403" pitchFamily="18" charset="0"/>
              </a:rPr>
              <a:t>.2.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Chức</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năng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và</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mục</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đích</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sử</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dụng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của</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FIREWALL</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44304" y="1020648"/>
            <a:ext cx="9764976" cy="3865251"/>
          </a:xfrm>
        </p:spPr>
        <p:txBody>
          <a:bodyPr/>
          <a:lstStyle/>
          <a:p>
            <a:pPr marL="0" indent="0">
              <a:buNone/>
            </a:pPr>
            <a:r>
              <a:rPr lang="en-US" b="1" dirty="0">
                <a:solidFill>
                  <a:srgbClr val="0000CC"/>
                </a:solidFill>
                <a:latin typeface="Rockwell" panose="02060603020205020403" pitchFamily="18" charset="0"/>
                <a:ea typeface="+mj-ea"/>
                <a:cs typeface="+mj-cs"/>
              </a:rPr>
              <a:t>3</a:t>
            </a:r>
            <a:r>
              <a:rPr lang="en-US" b="1" dirty="0" smtClean="0">
                <a:solidFill>
                  <a:srgbClr val="0000CC"/>
                </a:solidFill>
                <a:latin typeface="Rockwell" panose="02060603020205020403" pitchFamily="18" charset="0"/>
                <a:ea typeface="+mj-ea"/>
                <a:cs typeface="+mj-cs"/>
              </a:rPr>
              <a:t>. </a:t>
            </a:r>
            <a:r>
              <a:rPr lang="en-US" b="1" dirty="0" err="1" smtClean="0">
                <a:solidFill>
                  <a:srgbClr val="0000CC"/>
                </a:solidFill>
                <a:latin typeface="Rockwell" panose="02060603020205020403" pitchFamily="18" charset="0"/>
                <a:ea typeface="+mj-ea"/>
                <a:cs typeface="+mj-cs"/>
              </a:rPr>
              <a:t>Nguyên</a:t>
            </a:r>
            <a:r>
              <a:rPr lang="en-US" b="1" dirty="0" smtClean="0">
                <a:solidFill>
                  <a:srgbClr val="0000CC"/>
                </a:solidFill>
                <a:latin typeface="Rockwell" panose="02060603020205020403" pitchFamily="18" charset="0"/>
                <a:ea typeface="+mj-ea"/>
                <a:cs typeface="+mj-cs"/>
              </a:rPr>
              <a:t> </a:t>
            </a:r>
            <a:r>
              <a:rPr lang="en-US" b="1" dirty="0" err="1" smtClean="0">
                <a:solidFill>
                  <a:srgbClr val="0000CC"/>
                </a:solidFill>
                <a:latin typeface="Rockwell" panose="02060603020205020403" pitchFamily="18" charset="0"/>
                <a:ea typeface="+mj-ea"/>
                <a:cs typeface="+mj-cs"/>
              </a:rPr>
              <a:t>lý</a:t>
            </a:r>
            <a:r>
              <a:rPr lang="en-US" b="1" dirty="0" smtClean="0">
                <a:solidFill>
                  <a:srgbClr val="0000CC"/>
                </a:solidFill>
                <a:latin typeface="Rockwell" panose="02060603020205020403" pitchFamily="18" charset="0"/>
                <a:ea typeface="+mj-ea"/>
                <a:cs typeface="+mj-cs"/>
              </a:rPr>
              <a:t> </a:t>
            </a:r>
            <a:r>
              <a:rPr lang="en-US" b="1" dirty="0" err="1" smtClean="0">
                <a:solidFill>
                  <a:srgbClr val="0000CC"/>
                </a:solidFill>
                <a:latin typeface="Rockwell" panose="02060603020205020403" pitchFamily="18" charset="0"/>
                <a:ea typeface="+mj-ea"/>
                <a:cs typeface="+mj-cs"/>
              </a:rPr>
              <a:t>hoạt</a:t>
            </a:r>
            <a:r>
              <a:rPr lang="en-US" b="1" dirty="0" smtClean="0">
                <a:solidFill>
                  <a:srgbClr val="0000CC"/>
                </a:solidFill>
                <a:latin typeface="Rockwell" panose="02060603020205020403" pitchFamily="18" charset="0"/>
                <a:ea typeface="+mj-ea"/>
                <a:cs typeface="+mj-cs"/>
              </a:rPr>
              <a:t> </a:t>
            </a:r>
            <a:r>
              <a:rPr lang="en-US" b="1" dirty="0" err="1" smtClean="0">
                <a:solidFill>
                  <a:srgbClr val="0000CC"/>
                </a:solidFill>
                <a:latin typeface="Rockwell" panose="02060603020205020403" pitchFamily="18" charset="0"/>
                <a:ea typeface="+mj-ea"/>
                <a:cs typeface="+mj-cs"/>
              </a:rPr>
              <a:t>động</a:t>
            </a:r>
            <a:r>
              <a:rPr lang="en-US" b="1" dirty="0" smtClean="0">
                <a:solidFill>
                  <a:srgbClr val="0000CC"/>
                </a:solidFill>
                <a:latin typeface="Rockwell" panose="02060603020205020403" pitchFamily="18" charset="0"/>
                <a:ea typeface="+mj-ea"/>
                <a:cs typeface="+mj-cs"/>
              </a:rPr>
              <a:t> </a:t>
            </a:r>
            <a:r>
              <a:rPr lang="en-US" b="1" dirty="0" err="1" smtClean="0">
                <a:solidFill>
                  <a:srgbClr val="0000CC"/>
                </a:solidFill>
                <a:latin typeface="Rockwell" panose="02060603020205020403" pitchFamily="18" charset="0"/>
                <a:ea typeface="+mj-ea"/>
                <a:cs typeface="+mj-cs"/>
              </a:rPr>
              <a:t>của</a:t>
            </a:r>
            <a:r>
              <a:rPr lang="en-US" b="1" dirty="0" smtClean="0">
                <a:solidFill>
                  <a:srgbClr val="0000CC"/>
                </a:solidFill>
                <a:latin typeface="Rockwell" panose="02060603020205020403" pitchFamily="18" charset="0"/>
                <a:ea typeface="+mj-ea"/>
                <a:cs typeface="+mj-cs"/>
              </a:rPr>
              <a:t> Firewall</a:t>
            </a:r>
            <a:r>
              <a:rPr lang="vi-VN" b="1" dirty="0" smtClean="0">
                <a:solidFill>
                  <a:srgbClr val="0000CC"/>
                </a:solidFill>
                <a:latin typeface="Rockwell" panose="02060603020205020403" pitchFamily="18" charset="0"/>
                <a:ea typeface="+mj-ea"/>
                <a:cs typeface="+mj-cs"/>
              </a:rPr>
              <a:t>:</a:t>
            </a:r>
            <a:endParaRPr lang="en-US" b="1" dirty="0" smtClean="0">
              <a:solidFill>
                <a:srgbClr val="0000CC"/>
              </a:solidFill>
              <a:latin typeface="Rockwell" panose="02060603020205020403" pitchFamily="18" charset="0"/>
              <a:ea typeface="+mj-ea"/>
              <a:cs typeface="+mj-cs"/>
            </a:endParaRPr>
          </a:p>
          <a:p>
            <a:pPr marL="0" indent="0" algn="just">
              <a:lnSpc>
                <a:spcPct val="120000"/>
              </a:lnSpc>
              <a:spcBef>
                <a:spcPts val="600"/>
              </a:spcBef>
              <a:spcAft>
                <a:spcPts val="600"/>
              </a:spcAft>
              <a:buNone/>
            </a:pPr>
            <a:r>
              <a:rPr lang="en-US" b="1" dirty="0" smtClean="0">
                <a:solidFill>
                  <a:srgbClr val="0000CC"/>
                </a:solidFill>
                <a:latin typeface="Rockwell" panose="02060603020205020403" pitchFamily="18" charset="0"/>
                <a:ea typeface="+mj-ea"/>
                <a:cs typeface="+mj-cs"/>
              </a:rPr>
              <a:t>a. </a:t>
            </a:r>
            <a:r>
              <a:rPr lang="en-US" b="1" dirty="0" err="1" smtClean="0">
                <a:solidFill>
                  <a:srgbClr val="0000CC"/>
                </a:solidFill>
                <a:latin typeface="Rockwell" panose="02060603020205020403" pitchFamily="18" charset="0"/>
                <a:ea typeface="+mj-ea"/>
                <a:cs typeface="+mj-cs"/>
              </a:rPr>
              <a:t>Với</a:t>
            </a:r>
            <a:r>
              <a:rPr lang="en-US" b="1" dirty="0" smtClean="0">
                <a:solidFill>
                  <a:srgbClr val="0000CC"/>
                </a:solidFill>
                <a:latin typeface="Rockwell" panose="02060603020205020403" pitchFamily="18" charset="0"/>
                <a:ea typeface="+mj-ea"/>
                <a:cs typeface="+mj-cs"/>
              </a:rPr>
              <a:t> Firewall </a:t>
            </a:r>
            <a:r>
              <a:rPr lang="en-US" b="1" dirty="0" err="1" smtClean="0">
                <a:solidFill>
                  <a:srgbClr val="0000CC"/>
                </a:solidFill>
                <a:latin typeface="Rockwell" panose="02060603020205020403" pitchFamily="18" charset="0"/>
                <a:ea typeface="+mj-ea"/>
                <a:cs typeface="+mj-cs"/>
              </a:rPr>
              <a:t>lọc</a:t>
            </a:r>
            <a:r>
              <a:rPr lang="en-US" b="1" dirty="0" smtClean="0">
                <a:solidFill>
                  <a:srgbClr val="0000CC"/>
                </a:solidFill>
                <a:latin typeface="Rockwell" panose="02060603020205020403" pitchFamily="18" charset="0"/>
                <a:ea typeface="+mj-ea"/>
                <a:cs typeface="+mj-cs"/>
              </a:rPr>
              <a:t> </a:t>
            </a:r>
            <a:r>
              <a:rPr lang="en-US" b="1" dirty="0" err="1" smtClean="0">
                <a:solidFill>
                  <a:srgbClr val="0000CC"/>
                </a:solidFill>
                <a:latin typeface="Rockwell" panose="02060603020205020403" pitchFamily="18" charset="0"/>
                <a:ea typeface="+mj-ea"/>
                <a:cs typeface="+mj-cs"/>
              </a:rPr>
              <a:t>gói</a:t>
            </a:r>
            <a:r>
              <a:rPr lang="en-US" b="1" dirty="0" smtClean="0">
                <a:solidFill>
                  <a:srgbClr val="0000CC"/>
                </a:solidFill>
                <a:latin typeface="Rockwell" panose="02060603020205020403" pitchFamily="18" charset="0"/>
                <a:ea typeface="+mj-ea"/>
                <a:cs typeface="+mj-cs"/>
              </a:rPr>
              <a:t>:</a:t>
            </a:r>
          </a:p>
          <a:p>
            <a:pPr algn="just">
              <a:lnSpc>
                <a:spcPct val="90000"/>
              </a:lnSpc>
              <a:spcBef>
                <a:spcPts val="600"/>
              </a:spcBef>
              <a:spcAft>
                <a:spcPts val="600"/>
              </a:spcAft>
            </a:pPr>
            <a:r>
              <a:rPr lang="vi-VN" dirty="0">
                <a:solidFill>
                  <a:srgbClr val="0000CC"/>
                </a:solidFill>
                <a:latin typeface="Rockwell" panose="02060603020205020403" pitchFamily="18" charset="0"/>
                <a:ea typeface="+mj-ea"/>
                <a:cs typeface="+mj-cs"/>
              </a:rPr>
              <a:t>Dựa vào ACL </a:t>
            </a:r>
            <a:r>
              <a:rPr lang="vi-VN" dirty="0" smtClean="0">
                <a:solidFill>
                  <a:srgbClr val="0000CC"/>
                </a:solidFill>
                <a:latin typeface="Rockwell" panose="02060603020205020403" pitchFamily="18" charset="0"/>
                <a:ea typeface="+mj-ea"/>
                <a:cs typeface="+mj-cs"/>
              </a:rPr>
              <a:t>gồm </a:t>
            </a:r>
            <a:r>
              <a:rPr lang="vi-VN" dirty="0">
                <a:solidFill>
                  <a:srgbClr val="0000CC"/>
                </a:solidFill>
                <a:latin typeface="Rockwell" panose="02060603020205020403" pitchFamily="18" charset="0"/>
                <a:ea typeface="+mj-ea"/>
                <a:cs typeface="+mj-cs"/>
              </a:rPr>
              <a:t>các rule được cấu hình sẵn.</a:t>
            </a:r>
          </a:p>
          <a:p>
            <a:pPr algn="just">
              <a:lnSpc>
                <a:spcPct val="90000"/>
              </a:lnSpc>
              <a:spcBef>
                <a:spcPts val="600"/>
              </a:spcBef>
              <a:spcAft>
                <a:spcPts val="600"/>
              </a:spcAft>
            </a:pPr>
            <a:r>
              <a:rPr lang="vi-VN" dirty="0">
                <a:solidFill>
                  <a:srgbClr val="0000CC"/>
                </a:solidFill>
                <a:latin typeface="Rockwell" panose="02060603020205020403" pitchFamily="18" charset="0"/>
                <a:ea typeface="+mj-ea"/>
                <a:cs typeface="+mj-cs"/>
              </a:rPr>
              <a:t>Kiểm tra thông tin trong header của packet: </a:t>
            </a:r>
            <a:r>
              <a:rPr lang="en-US" dirty="0">
                <a:solidFill>
                  <a:srgbClr val="0000CC"/>
                </a:solidFill>
                <a:latin typeface="Rockwell" panose="02060603020205020403" pitchFamily="18" charset="0"/>
                <a:ea typeface="+mj-ea"/>
                <a:cs typeface="+mj-cs"/>
              </a:rPr>
              <a:t>Đ</a:t>
            </a:r>
            <a:r>
              <a:rPr lang="vi-VN" dirty="0" smtClean="0">
                <a:solidFill>
                  <a:srgbClr val="0000CC"/>
                </a:solidFill>
                <a:latin typeface="Rockwell" panose="02060603020205020403" pitchFamily="18" charset="0"/>
                <a:ea typeface="+mj-ea"/>
                <a:cs typeface="+mj-cs"/>
              </a:rPr>
              <a:t>ịa </a:t>
            </a:r>
            <a:r>
              <a:rPr lang="vi-VN" dirty="0">
                <a:solidFill>
                  <a:srgbClr val="0000CC"/>
                </a:solidFill>
                <a:latin typeface="Rockwell" panose="02060603020205020403" pitchFamily="18" charset="0"/>
                <a:ea typeface="+mj-ea"/>
                <a:cs typeface="+mj-cs"/>
              </a:rPr>
              <a:t>chỉ IP nguồn/đích, protocol, port.</a:t>
            </a:r>
          </a:p>
          <a:p>
            <a:pPr algn="just">
              <a:lnSpc>
                <a:spcPct val="90000"/>
              </a:lnSpc>
              <a:spcBef>
                <a:spcPts val="600"/>
              </a:spcBef>
              <a:spcAft>
                <a:spcPts val="600"/>
              </a:spcAft>
            </a:pPr>
            <a:r>
              <a:rPr lang="vi-VN" dirty="0">
                <a:solidFill>
                  <a:srgbClr val="0000CC"/>
                </a:solidFill>
                <a:latin typeface="Rockwell" panose="02060603020205020403" pitchFamily="18" charset="0"/>
                <a:ea typeface="+mj-ea"/>
                <a:cs typeface="+mj-cs"/>
              </a:rPr>
              <a:t>So khớp packet với các rule theo thứ tự từ trên xuống (first-match).</a:t>
            </a:r>
          </a:p>
          <a:p>
            <a:pPr algn="just">
              <a:lnSpc>
                <a:spcPct val="90000"/>
              </a:lnSpc>
              <a:spcBef>
                <a:spcPts val="600"/>
              </a:spcBef>
              <a:spcAft>
                <a:spcPts val="600"/>
              </a:spcAft>
            </a:pPr>
            <a:r>
              <a:rPr lang="vi-VN" dirty="0">
                <a:solidFill>
                  <a:srgbClr val="0000CC"/>
                </a:solidFill>
                <a:latin typeface="Rockwell" panose="02060603020205020403" pitchFamily="18" charset="0"/>
                <a:ea typeface="+mj-ea"/>
                <a:cs typeface="+mj-cs"/>
              </a:rPr>
              <a:t>Quyết định Allow (cho phép) hoặc Deny (chặn) ngay tại Network </a:t>
            </a:r>
            <a:r>
              <a:rPr lang="vi-VN" dirty="0" smtClean="0">
                <a:solidFill>
                  <a:srgbClr val="0000CC"/>
                </a:solidFill>
                <a:latin typeface="Rockwell" panose="02060603020205020403" pitchFamily="18" charset="0"/>
                <a:ea typeface="+mj-ea"/>
                <a:cs typeface="+mj-cs"/>
              </a:rPr>
              <a:t>Layer/Transport </a:t>
            </a:r>
            <a:r>
              <a:rPr lang="vi-VN" dirty="0">
                <a:solidFill>
                  <a:srgbClr val="0000CC"/>
                </a:solidFill>
                <a:latin typeface="Rockwell" panose="02060603020205020403" pitchFamily="18" charset="0"/>
                <a:ea typeface="+mj-ea"/>
                <a:cs typeface="+mj-cs"/>
              </a:rPr>
              <a:t>Layer.</a:t>
            </a:r>
          </a:p>
          <a:p>
            <a:pPr algn="just">
              <a:lnSpc>
                <a:spcPct val="90000"/>
              </a:lnSpc>
              <a:spcBef>
                <a:spcPts val="600"/>
              </a:spcBef>
              <a:spcAft>
                <a:spcPts val="600"/>
              </a:spcAft>
            </a:pPr>
            <a:r>
              <a:rPr lang="vi-VN" dirty="0">
                <a:solidFill>
                  <a:srgbClr val="0000CC"/>
                </a:solidFill>
                <a:latin typeface="Rockwell" panose="02060603020205020403" pitchFamily="18" charset="0"/>
                <a:ea typeface="+mj-ea"/>
                <a:cs typeface="+mj-cs"/>
              </a:rPr>
              <a:t>Không kiểm tra nội dung (payload), nên tốc độ nhanh nhưng dễ bị vượt qua nếu tấn công ứng dụng.</a:t>
            </a:r>
            <a:endParaRPr lang="en-US" dirty="0" smtClean="0">
              <a:solidFill>
                <a:srgbClr val="0000CC"/>
              </a:solidFill>
              <a:latin typeface="Rockwell" panose="02060603020205020403" pitchFamily="18" charset="0"/>
              <a:ea typeface="+mj-ea"/>
              <a:cs typeface="+mj-cs"/>
            </a:endParaRPr>
          </a:p>
          <a:p>
            <a:pPr marL="0" indent="0" algn="just">
              <a:lnSpc>
                <a:spcPct val="120000"/>
              </a:lnSpc>
              <a:spcBef>
                <a:spcPts val="1200"/>
              </a:spcBef>
              <a:spcAft>
                <a:spcPts val="600"/>
              </a:spcAft>
              <a:buNone/>
            </a:pPr>
            <a:endParaRPr lang="en-US" dirty="0" smtClean="0">
              <a:solidFill>
                <a:srgbClr val="0000CC"/>
              </a:solidFill>
              <a:latin typeface="Rockwell" panose="02060603020205020403" pitchFamily="18" charset="0"/>
              <a:ea typeface="+mj-ea"/>
              <a:cs typeface="+mj-cs"/>
            </a:endParaRPr>
          </a:p>
          <a:p>
            <a:pPr marL="0" indent="0" algn="just">
              <a:lnSpc>
                <a:spcPct val="120000"/>
              </a:lnSpc>
              <a:spcBef>
                <a:spcPts val="1200"/>
              </a:spcBef>
              <a:spcAft>
                <a:spcPts val="600"/>
              </a:spcAft>
              <a:buNone/>
            </a:pPr>
            <a:endParaRPr lang="en-US" dirty="0">
              <a:solidFill>
                <a:srgbClr val="0000CC"/>
              </a:solidFill>
              <a:latin typeface="Rockwell" panose="02060603020205020403" pitchFamily="18" charset="0"/>
              <a:ea typeface="+mj-ea"/>
              <a:cs typeface="+mj-cs"/>
            </a:endParaRPr>
          </a:p>
        </p:txBody>
      </p:sp>
    </p:spTree>
    <p:extLst>
      <p:ext uri="{BB962C8B-B14F-4D97-AF65-F5344CB8AC3E}">
        <p14:creationId xmlns:p14="http://schemas.microsoft.com/office/powerpoint/2010/main" val="874420843"/>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44303" y="491797"/>
            <a:ext cx="10242645" cy="528851"/>
          </a:xfrm>
        </p:spPr>
        <p:txBody>
          <a:bodyPr/>
          <a:lstStyle/>
          <a:p>
            <a:r>
              <a:rPr lang="en-US" sz="2800" b="1" dirty="0">
                <a:solidFill>
                  <a:srgbClr val="0000CC"/>
                </a:solidFill>
                <a:latin typeface="Rockwell" panose="02060603020205020403" pitchFamily="18" charset="0"/>
              </a:rPr>
              <a:t>7</a:t>
            </a:r>
            <a:r>
              <a:rPr lang="en-US" sz="2800" b="1" dirty="0" smtClean="0">
                <a:solidFill>
                  <a:srgbClr val="0000CC"/>
                </a:solidFill>
                <a:latin typeface="Rockwell" panose="02060603020205020403" pitchFamily="18" charset="0"/>
              </a:rPr>
              <a:t>.2.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Chức</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năng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và</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mục</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đích</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sử</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dụng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của</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FIREWALL</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44304" y="1020648"/>
            <a:ext cx="9764976" cy="3865251"/>
          </a:xfrm>
        </p:spPr>
        <p:txBody>
          <a:bodyPr/>
          <a:lstStyle/>
          <a:p>
            <a:pPr marL="0" indent="0">
              <a:buNone/>
            </a:pPr>
            <a:r>
              <a:rPr lang="en-US" b="1" dirty="0">
                <a:solidFill>
                  <a:srgbClr val="0000CC"/>
                </a:solidFill>
                <a:latin typeface="Rockwell" panose="02060603020205020403" pitchFamily="18" charset="0"/>
                <a:ea typeface="+mj-ea"/>
                <a:cs typeface="+mj-cs"/>
              </a:rPr>
              <a:t>3</a:t>
            </a:r>
            <a:r>
              <a:rPr lang="en-US" b="1" dirty="0" smtClean="0">
                <a:solidFill>
                  <a:srgbClr val="0000CC"/>
                </a:solidFill>
                <a:latin typeface="Rockwell" panose="02060603020205020403" pitchFamily="18" charset="0"/>
                <a:ea typeface="+mj-ea"/>
                <a:cs typeface="+mj-cs"/>
              </a:rPr>
              <a:t>. </a:t>
            </a:r>
            <a:r>
              <a:rPr lang="en-US" b="1" dirty="0" err="1" smtClean="0">
                <a:solidFill>
                  <a:srgbClr val="0000CC"/>
                </a:solidFill>
                <a:latin typeface="Rockwell" panose="02060603020205020403" pitchFamily="18" charset="0"/>
                <a:ea typeface="+mj-ea"/>
                <a:cs typeface="+mj-cs"/>
              </a:rPr>
              <a:t>Nguyên</a:t>
            </a:r>
            <a:r>
              <a:rPr lang="en-US" b="1" dirty="0" smtClean="0">
                <a:solidFill>
                  <a:srgbClr val="0000CC"/>
                </a:solidFill>
                <a:latin typeface="Rockwell" panose="02060603020205020403" pitchFamily="18" charset="0"/>
                <a:ea typeface="+mj-ea"/>
                <a:cs typeface="+mj-cs"/>
              </a:rPr>
              <a:t> </a:t>
            </a:r>
            <a:r>
              <a:rPr lang="en-US" b="1" dirty="0" err="1" smtClean="0">
                <a:solidFill>
                  <a:srgbClr val="0000CC"/>
                </a:solidFill>
                <a:latin typeface="Rockwell" panose="02060603020205020403" pitchFamily="18" charset="0"/>
                <a:ea typeface="+mj-ea"/>
                <a:cs typeface="+mj-cs"/>
              </a:rPr>
              <a:t>lý</a:t>
            </a:r>
            <a:r>
              <a:rPr lang="en-US" b="1" dirty="0" smtClean="0">
                <a:solidFill>
                  <a:srgbClr val="0000CC"/>
                </a:solidFill>
                <a:latin typeface="Rockwell" panose="02060603020205020403" pitchFamily="18" charset="0"/>
                <a:ea typeface="+mj-ea"/>
                <a:cs typeface="+mj-cs"/>
              </a:rPr>
              <a:t> </a:t>
            </a:r>
            <a:r>
              <a:rPr lang="en-US" b="1" dirty="0" err="1" smtClean="0">
                <a:solidFill>
                  <a:srgbClr val="0000CC"/>
                </a:solidFill>
                <a:latin typeface="Rockwell" panose="02060603020205020403" pitchFamily="18" charset="0"/>
                <a:ea typeface="+mj-ea"/>
                <a:cs typeface="+mj-cs"/>
              </a:rPr>
              <a:t>hoạt</a:t>
            </a:r>
            <a:r>
              <a:rPr lang="en-US" b="1" dirty="0" smtClean="0">
                <a:solidFill>
                  <a:srgbClr val="0000CC"/>
                </a:solidFill>
                <a:latin typeface="Rockwell" panose="02060603020205020403" pitchFamily="18" charset="0"/>
                <a:ea typeface="+mj-ea"/>
                <a:cs typeface="+mj-cs"/>
              </a:rPr>
              <a:t> </a:t>
            </a:r>
            <a:r>
              <a:rPr lang="en-US" b="1" dirty="0" err="1" smtClean="0">
                <a:solidFill>
                  <a:srgbClr val="0000CC"/>
                </a:solidFill>
                <a:latin typeface="Rockwell" panose="02060603020205020403" pitchFamily="18" charset="0"/>
                <a:ea typeface="+mj-ea"/>
                <a:cs typeface="+mj-cs"/>
              </a:rPr>
              <a:t>động</a:t>
            </a:r>
            <a:r>
              <a:rPr lang="en-US" b="1" dirty="0" smtClean="0">
                <a:solidFill>
                  <a:srgbClr val="0000CC"/>
                </a:solidFill>
                <a:latin typeface="Rockwell" panose="02060603020205020403" pitchFamily="18" charset="0"/>
                <a:ea typeface="+mj-ea"/>
                <a:cs typeface="+mj-cs"/>
              </a:rPr>
              <a:t> </a:t>
            </a:r>
            <a:r>
              <a:rPr lang="en-US" b="1" dirty="0" err="1" smtClean="0">
                <a:solidFill>
                  <a:srgbClr val="0000CC"/>
                </a:solidFill>
                <a:latin typeface="Rockwell" panose="02060603020205020403" pitchFamily="18" charset="0"/>
                <a:ea typeface="+mj-ea"/>
                <a:cs typeface="+mj-cs"/>
              </a:rPr>
              <a:t>của</a:t>
            </a:r>
            <a:r>
              <a:rPr lang="en-US" b="1" dirty="0" smtClean="0">
                <a:solidFill>
                  <a:srgbClr val="0000CC"/>
                </a:solidFill>
                <a:latin typeface="Rockwell" panose="02060603020205020403" pitchFamily="18" charset="0"/>
                <a:ea typeface="+mj-ea"/>
                <a:cs typeface="+mj-cs"/>
              </a:rPr>
              <a:t> Firewall</a:t>
            </a:r>
            <a:r>
              <a:rPr lang="vi-VN" b="1" dirty="0" smtClean="0">
                <a:solidFill>
                  <a:srgbClr val="0000CC"/>
                </a:solidFill>
                <a:latin typeface="Rockwell" panose="02060603020205020403" pitchFamily="18" charset="0"/>
                <a:ea typeface="+mj-ea"/>
                <a:cs typeface="+mj-cs"/>
              </a:rPr>
              <a:t>:</a:t>
            </a:r>
            <a:endParaRPr lang="en-US" b="1" dirty="0" smtClean="0">
              <a:solidFill>
                <a:srgbClr val="0000CC"/>
              </a:solidFill>
              <a:latin typeface="Rockwell" panose="02060603020205020403" pitchFamily="18" charset="0"/>
              <a:ea typeface="+mj-ea"/>
              <a:cs typeface="+mj-cs"/>
            </a:endParaRPr>
          </a:p>
          <a:p>
            <a:pPr marL="0" indent="0" algn="just">
              <a:lnSpc>
                <a:spcPct val="90000"/>
              </a:lnSpc>
              <a:spcBef>
                <a:spcPts val="600"/>
              </a:spcBef>
              <a:spcAft>
                <a:spcPts val="600"/>
              </a:spcAft>
              <a:buNone/>
            </a:pPr>
            <a:r>
              <a:rPr lang="en-US" b="1" dirty="0" smtClean="0">
                <a:solidFill>
                  <a:srgbClr val="0000CC"/>
                </a:solidFill>
                <a:latin typeface="Rockwell" panose="02060603020205020403" pitchFamily="18" charset="0"/>
                <a:ea typeface="+mj-ea"/>
                <a:cs typeface="+mj-cs"/>
              </a:rPr>
              <a:t>b. </a:t>
            </a:r>
            <a:r>
              <a:rPr lang="en-US" b="1" dirty="0" err="1" smtClean="0">
                <a:solidFill>
                  <a:srgbClr val="0000CC"/>
                </a:solidFill>
                <a:latin typeface="Rockwell" panose="02060603020205020403" pitchFamily="18" charset="0"/>
                <a:ea typeface="+mj-ea"/>
                <a:cs typeface="+mj-cs"/>
              </a:rPr>
              <a:t>Với</a:t>
            </a:r>
            <a:r>
              <a:rPr lang="en-US" b="1" dirty="0" smtClean="0">
                <a:solidFill>
                  <a:srgbClr val="0000CC"/>
                </a:solidFill>
                <a:latin typeface="Rockwell" panose="02060603020205020403" pitchFamily="18" charset="0"/>
                <a:ea typeface="+mj-ea"/>
                <a:cs typeface="+mj-cs"/>
              </a:rPr>
              <a:t> Firewall </a:t>
            </a:r>
            <a:r>
              <a:rPr lang="en-US" b="1" dirty="0" err="1" smtClean="0">
                <a:solidFill>
                  <a:srgbClr val="0000CC"/>
                </a:solidFill>
                <a:latin typeface="Rockwell" panose="02060603020205020403" pitchFamily="18" charset="0"/>
                <a:ea typeface="+mj-ea"/>
                <a:cs typeface="+mj-cs"/>
              </a:rPr>
              <a:t>tầng</a:t>
            </a:r>
            <a:r>
              <a:rPr lang="en-US" b="1" dirty="0" smtClean="0">
                <a:solidFill>
                  <a:srgbClr val="0000CC"/>
                </a:solidFill>
                <a:latin typeface="Rockwell" panose="02060603020205020403" pitchFamily="18" charset="0"/>
                <a:ea typeface="+mj-ea"/>
                <a:cs typeface="+mj-cs"/>
              </a:rPr>
              <a:t> </a:t>
            </a:r>
            <a:r>
              <a:rPr lang="en-US" b="1" dirty="0" err="1" smtClean="0">
                <a:solidFill>
                  <a:srgbClr val="0000CC"/>
                </a:solidFill>
                <a:latin typeface="Rockwell" panose="02060603020205020403" pitchFamily="18" charset="0"/>
                <a:ea typeface="+mj-ea"/>
                <a:cs typeface="+mj-cs"/>
              </a:rPr>
              <a:t>ứng</a:t>
            </a:r>
            <a:r>
              <a:rPr lang="en-US" b="1" dirty="0" smtClean="0">
                <a:solidFill>
                  <a:srgbClr val="0000CC"/>
                </a:solidFill>
                <a:latin typeface="Rockwell" panose="02060603020205020403" pitchFamily="18" charset="0"/>
                <a:ea typeface="+mj-ea"/>
                <a:cs typeface="+mj-cs"/>
              </a:rPr>
              <a:t> </a:t>
            </a:r>
            <a:r>
              <a:rPr lang="en-US" b="1" dirty="0" err="1" smtClean="0">
                <a:solidFill>
                  <a:srgbClr val="0000CC"/>
                </a:solidFill>
                <a:latin typeface="Rockwell" panose="02060603020205020403" pitchFamily="18" charset="0"/>
                <a:ea typeface="+mj-ea"/>
                <a:cs typeface="+mj-cs"/>
              </a:rPr>
              <a:t>dụng</a:t>
            </a:r>
            <a:endParaRPr lang="en-US" b="1" dirty="0" smtClean="0">
              <a:solidFill>
                <a:srgbClr val="0000CC"/>
              </a:solidFill>
              <a:latin typeface="Rockwell" panose="02060603020205020403" pitchFamily="18" charset="0"/>
              <a:ea typeface="+mj-ea"/>
              <a:cs typeface="+mj-cs"/>
            </a:endParaRPr>
          </a:p>
          <a:p>
            <a:pPr algn="just">
              <a:lnSpc>
                <a:spcPct val="90000"/>
              </a:lnSpc>
              <a:spcBef>
                <a:spcPts val="600"/>
              </a:spcBef>
              <a:spcAft>
                <a:spcPts val="600"/>
              </a:spcAft>
            </a:pPr>
            <a:r>
              <a:rPr lang="vi-VN" dirty="0">
                <a:solidFill>
                  <a:srgbClr val="0000CC"/>
                </a:solidFill>
                <a:latin typeface="Rockwell" panose="02060603020205020403" pitchFamily="18" charset="0"/>
                <a:ea typeface="+mj-ea"/>
                <a:cs typeface="+mj-cs"/>
              </a:rPr>
              <a:t>Dựa vào Application Rules/Policies do quản trị viên thiết lập.</a:t>
            </a:r>
          </a:p>
          <a:p>
            <a:pPr algn="just">
              <a:lnSpc>
                <a:spcPct val="90000"/>
              </a:lnSpc>
              <a:spcBef>
                <a:spcPts val="600"/>
              </a:spcBef>
              <a:spcAft>
                <a:spcPts val="600"/>
              </a:spcAft>
            </a:pPr>
            <a:r>
              <a:rPr lang="vi-VN" dirty="0">
                <a:solidFill>
                  <a:srgbClr val="0000CC"/>
                </a:solidFill>
                <a:latin typeface="Rockwell" panose="02060603020205020403" pitchFamily="18" charset="0"/>
                <a:ea typeface="+mj-ea"/>
                <a:cs typeface="+mj-cs"/>
              </a:rPr>
              <a:t>Phân tích chi tiết payload trong packet ở tầng ứng dụng (HTTP, SMTP, FTP, </a:t>
            </a:r>
            <a:r>
              <a:rPr lang="vi-VN" dirty="0" smtClean="0">
                <a:solidFill>
                  <a:srgbClr val="0000CC"/>
                </a:solidFill>
                <a:latin typeface="Rockwell" panose="02060603020205020403" pitchFamily="18" charset="0"/>
                <a:ea typeface="+mj-ea"/>
                <a:cs typeface="+mj-cs"/>
              </a:rPr>
              <a:t>DNS</a:t>
            </a:r>
            <a:r>
              <a:rPr lang="en-US" dirty="0" smtClean="0">
                <a:solidFill>
                  <a:srgbClr val="0000CC"/>
                </a:solidFill>
                <a:latin typeface="Rockwell" panose="02060603020205020403" pitchFamily="18" charset="0"/>
                <a:ea typeface="+mj-ea"/>
                <a:cs typeface="+mj-cs"/>
              </a:rPr>
              <a:t>, v.v.</a:t>
            </a:r>
            <a:r>
              <a:rPr lang="vi-VN" dirty="0" smtClean="0">
                <a:solidFill>
                  <a:srgbClr val="0000CC"/>
                </a:solidFill>
                <a:latin typeface="Rockwell" panose="02060603020205020403" pitchFamily="18" charset="0"/>
                <a:ea typeface="+mj-ea"/>
                <a:cs typeface="+mj-cs"/>
              </a:rPr>
              <a:t>).</a:t>
            </a:r>
            <a:endParaRPr lang="vi-VN" dirty="0">
              <a:solidFill>
                <a:srgbClr val="0000CC"/>
              </a:solidFill>
              <a:latin typeface="Rockwell" panose="02060603020205020403" pitchFamily="18" charset="0"/>
              <a:ea typeface="+mj-ea"/>
              <a:cs typeface="+mj-cs"/>
            </a:endParaRPr>
          </a:p>
          <a:p>
            <a:pPr algn="just">
              <a:lnSpc>
                <a:spcPct val="90000"/>
              </a:lnSpc>
              <a:spcBef>
                <a:spcPts val="600"/>
              </a:spcBef>
              <a:spcAft>
                <a:spcPts val="600"/>
              </a:spcAft>
            </a:pPr>
            <a:r>
              <a:rPr lang="vi-VN" dirty="0">
                <a:solidFill>
                  <a:srgbClr val="0000CC"/>
                </a:solidFill>
                <a:latin typeface="Rockwell" panose="02060603020205020403" pitchFamily="18" charset="0"/>
                <a:ea typeface="+mj-ea"/>
                <a:cs typeface="+mj-cs"/>
              </a:rPr>
              <a:t>Có khả năng nhận biết hành vi và nội dung dữ liệu (ví dụ: </a:t>
            </a:r>
            <a:r>
              <a:rPr lang="en-US" dirty="0" smtClean="0">
                <a:solidFill>
                  <a:srgbClr val="0000CC"/>
                </a:solidFill>
                <a:latin typeface="Rockwell" panose="02060603020205020403" pitchFamily="18" charset="0"/>
                <a:ea typeface="+mj-ea"/>
                <a:cs typeface="+mj-cs"/>
              </a:rPr>
              <a:t>T</a:t>
            </a:r>
            <a:r>
              <a:rPr lang="vi-VN" dirty="0" smtClean="0">
                <a:solidFill>
                  <a:srgbClr val="0000CC"/>
                </a:solidFill>
                <a:latin typeface="Rockwell" panose="02060603020205020403" pitchFamily="18" charset="0"/>
                <a:ea typeface="+mj-ea"/>
                <a:cs typeface="+mj-cs"/>
              </a:rPr>
              <a:t>ừ </a:t>
            </a:r>
            <a:r>
              <a:rPr lang="vi-VN" dirty="0">
                <a:solidFill>
                  <a:srgbClr val="0000CC"/>
                </a:solidFill>
                <a:latin typeface="Rockwell" panose="02060603020205020403" pitchFamily="18" charset="0"/>
                <a:ea typeface="+mj-ea"/>
                <a:cs typeface="+mj-cs"/>
              </a:rPr>
              <a:t>khóa SQL Injection, file upload, spam mail).</a:t>
            </a:r>
          </a:p>
          <a:p>
            <a:pPr algn="just">
              <a:lnSpc>
                <a:spcPct val="90000"/>
              </a:lnSpc>
              <a:spcBef>
                <a:spcPts val="600"/>
              </a:spcBef>
              <a:spcAft>
                <a:spcPts val="600"/>
              </a:spcAft>
            </a:pPr>
            <a:r>
              <a:rPr lang="vi-VN" dirty="0">
                <a:solidFill>
                  <a:srgbClr val="0000CC"/>
                </a:solidFill>
                <a:latin typeface="Rockwell" panose="02060603020205020403" pitchFamily="18" charset="0"/>
                <a:ea typeface="+mj-ea"/>
                <a:cs typeface="+mj-cs"/>
              </a:rPr>
              <a:t>Quyết định Allow/Deny dựa trên chính sách nội dung &amp; hành vi ứng dụng, không chỉ dựa vào IP/port.</a:t>
            </a:r>
          </a:p>
          <a:p>
            <a:pPr algn="just">
              <a:lnSpc>
                <a:spcPct val="90000"/>
              </a:lnSpc>
              <a:spcBef>
                <a:spcPts val="600"/>
              </a:spcBef>
              <a:spcAft>
                <a:spcPts val="600"/>
              </a:spcAft>
            </a:pPr>
            <a:r>
              <a:rPr lang="vi-VN" dirty="0">
                <a:solidFill>
                  <a:srgbClr val="0000CC"/>
                </a:solidFill>
                <a:latin typeface="Rockwell" panose="02060603020205020403" pitchFamily="18" charset="0"/>
                <a:ea typeface="+mj-ea"/>
                <a:cs typeface="+mj-cs"/>
              </a:rPr>
              <a:t>Cung cấp mức độ bảo mật cao hơn nhưng tốn tài nguyên và phức tạp trong quản lý.</a:t>
            </a:r>
            <a:endParaRPr lang="en-US" dirty="0" smtClean="0">
              <a:solidFill>
                <a:srgbClr val="0000CC"/>
              </a:solidFill>
              <a:latin typeface="Rockwell" panose="02060603020205020403" pitchFamily="18" charset="0"/>
              <a:ea typeface="+mj-ea"/>
              <a:cs typeface="+mj-cs"/>
            </a:endParaRPr>
          </a:p>
          <a:p>
            <a:pPr marL="0" indent="0" algn="just">
              <a:lnSpc>
                <a:spcPct val="120000"/>
              </a:lnSpc>
              <a:spcBef>
                <a:spcPts val="1200"/>
              </a:spcBef>
              <a:spcAft>
                <a:spcPts val="600"/>
              </a:spcAft>
              <a:buNone/>
            </a:pPr>
            <a:endParaRPr lang="en-US" dirty="0">
              <a:solidFill>
                <a:srgbClr val="0000CC"/>
              </a:solidFill>
              <a:latin typeface="Rockwell" panose="02060603020205020403" pitchFamily="18" charset="0"/>
              <a:ea typeface="+mj-ea"/>
              <a:cs typeface="+mj-cs"/>
            </a:endParaRPr>
          </a:p>
        </p:txBody>
      </p:sp>
    </p:spTree>
    <p:extLst>
      <p:ext uri="{BB962C8B-B14F-4D97-AF65-F5344CB8AC3E}">
        <p14:creationId xmlns:p14="http://schemas.microsoft.com/office/powerpoint/2010/main" val="1408242315"/>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44303" y="491797"/>
            <a:ext cx="10242645" cy="528851"/>
          </a:xfrm>
        </p:spPr>
        <p:txBody>
          <a:bodyPr/>
          <a:lstStyle/>
          <a:p>
            <a:r>
              <a:rPr lang="en-US" sz="2800" b="1" dirty="0">
                <a:solidFill>
                  <a:srgbClr val="0000CC"/>
                </a:solidFill>
                <a:latin typeface="Rockwell" panose="02060603020205020403" pitchFamily="18" charset="0"/>
              </a:rPr>
              <a:t>7</a:t>
            </a:r>
            <a:r>
              <a:rPr lang="en-US" sz="2800" b="1" dirty="0" smtClean="0">
                <a:solidFill>
                  <a:srgbClr val="0000CC"/>
                </a:solidFill>
                <a:latin typeface="Rockwell" panose="02060603020205020403" pitchFamily="18" charset="0"/>
              </a:rPr>
              <a:t>.2.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Chức</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năng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và</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mục</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đích</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sử</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dụng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của</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FIREWALL</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44304" y="1020648"/>
            <a:ext cx="9764976" cy="3865251"/>
          </a:xfrm>
        </p:spPr>
        <p:txBody>
          <a:bodyPr/>
          <a:lstStyle/>
          <a:p>
            <a:pPr marL="0" indent="0">
              <a:buNone/>
            </a:pPr>
            <a:r>
              <a:rPr lang="en-US" b="1" dirty="0" smtClean="0">
                <a:solidFill>
                  <a:srgbClr val="0000CC"/>
                </a:solidFill>
                <a:latin typeface="Rockwell" panose="02060603020205020403" pitchFamily="18" charset="0"/>
                <a:ea typeface="+mj-ea"/>
                <a:cs typeface="+mj-cs"/>
              </a:rPr>
              <a:t>4. </a:t>
            </a:r>
            <a:r>
              <a:rPr lang="en-US" b="1" dirty="0" err="1" smtClean="0">
                <a:solidFill>
                  <a:srgbClr val="0000CC"/>
                </a:solidFill>
                <a:latin typeface="Rockwell" panose="02060603020205020403" pitchFamily="18" charset="0"/>
                <a:ea typeface="+mj-ea"/>
                <a:cs typeface="+mj-cs"/>
              </a:rPr>
              <a:t>Mục</a:t>
            </a:r>
            <a:r>
              <a:rPr lang="en-US" b="1" dirty="0" smtClean="0">
                <a:solidFill>
                  <a:srgbClr val="0000CC"/>
                </a:solidFill>
                <a:latin typeface="Rockwell" panose="02060603020205020403" pitchFamily="18" charset="0"/>
                <a:ea typeface="+mj-ea"/>
                <a:cs typeface="+mj-cs"/>
              </a:rPr>
              <a:t> </a:t>
            </a:r>
            <a:r>
              <a:rPr lang="en-US" b="1" dirty="0" err="1" smtClean="0">
                <a:solidFill>
                  <a:srgbClr val="0000CC"/>
                </a:solidFill>
                <a:latin typeface="Rockwell" panose="02060603020205020403" pitchFamily="18" charset="0"/>
                <a:ea typeface="+mj-ea"/>
                <a:cs typeface="+mj-cs"/>
              </a:rPr>
              <a:t>đích</a:t>
            </a:r>
            <a:r>
              <a:rPr lang="en-US" b="1" dirty="0" smtClean="0">
                <a:solidFill>
                  <a:srgbClr val="0000CC"/>
                </a:solidFill>
                <a:latin typeface="Rockwell" panose="02060603020205020403" pitchFamily="18" charset="0"/>
                <a:ea typeface="+mj-ea"/>
                <a:cs typeface="+mj-cs"/>
              </a:rPr>
              <a:t> </a:t>
            </a:r>
            <a:r>
              <a:rPr lang="en-US" b="1" dirty="0" err="1" smtClean="0">
                <a:solidFill>
                  <a:srgbClr val="0000CC"/>
                </a:solidFill>
                <a:latin typeface="Rockwell" panose="02060603020205020403" pitchFamily="18" charset="0"/>
                <a:ea typeface="+mj-ea"/>
                <a:cs typeface="+mj-cs"/>
              </a:rPr>
              <a:t>sử</a:t>
            </a:r>
            <a:r>
              <a:rPr lang="en-US" b="1" dirty="0" smtClean="0">
                <a:solidFill>
                  <a:srgbClr val="0000CC"/>
                </a:solidFill>
                <a:latin typeface="Rockwell" panose="02060603020205020403" pitchFamily="18" charset="0"/>
                <a:ea typeface="+mj-ea"/>
                <a:cs typeface="+mj-cs"/>
              </a:rPr>
              <a:t> </a:t>
            </a:r>
            <a:r>
              <a:rPr lang="en-US" b="1" dirty="0" err="1" smtClean="0">
                <a:solidFill>
                  <a:srgbClr val="0000CC"/>
                </a:solidFill>
                <a:latin typeface="Rockwell" panose="02060603020205020403" pitchFamily="18" charset="0"/>
                <a:ea typeface="+mj-ea"/>
                <a:cs typeface="+mj-cs"/>
              </a:rPr>
              <a:t>dụng</a:t>
            </a:r>
            <a:r>
              <a:rPr lang="en-US" b="1" dirty="0" smtClean="0">
                <a:solidFill>
                  <a:srgbClr val="0000CC"/>
                </a:solidFill>
                <a:latin typeface="Rockwell" panose="02060603020205020403" pitchFamily="18" charset="0"/>
                <a:ea typeface="+mj-ea"/>
                <a:cs typeface="+mj-cs"/>
              </a:rPr>
              <a:t> </a:t>
            </a:r>
            <a:r>
              <a:rPr lang="en-US" b="1" dirty="0" err="1" smtClean="0">
                <a:solidFill>
                  <a:srgbClr val="0000CC"/>
                </a:solidFill>
                <a:latin typeface="Rockwell" panose="02060603020205020403" pitchFamily="18" charset="0"/>
                <a:ea typeface="+mj-ea"/>
                <a:cs typeface="+mj-cs"/>
              </a:rPr>
              <a:t>của</a:t>
            </a:r>
            <a:r>
              <a:rPr lang="en-US" b="1" dirty="0" smtClean="0">
                <a:solidFill>
                  <a:srgbClr val="0000CC"/>
                </a:solidFill>
                <a:latin typeface="Rockwell" panose="02060603020205020403" pitchFamily="18" charset="0"/>
                <a:ea typeface="+mj-ea"/>
                <a:cs typeface="+mj-cs"/>
              </a:rPr>
              <a:t> Firewall </a:t>
            </a:r>
            <a:r>
              <a:rPr lang="en-US" b="1" dirty="0" err="1" smtClean="0">
                <a:solidFill>
                  <a:srgbClr val="0000CC"/>
                </a:solidFill>
                <a:latin typeface="Rockwell" panose="02060603020205020403" pitchFamily="18" charset="0"/>
                <a:ea typeface="+mj-ea"/>
                <a:cs typeface="+mj-cs"/>
              </a:rPr>
              <a:t>trong</a:t>
            </a:r>
            <a:r>
              <a:rPr lang="en-US" b="1" dirty="0" smtClean="0">
                <a:solidFill>
                  <a:srgbClr val="0000CC"/>
                </a:solidFill>
                <a:latin typeface="Rockwell" panose="02060603020205020403" pitchFamily="18" charset="0"/>
                <a:ea typeface="+mj-ea"/>
                <a:cs typeface="+mj-cs"/>
              </a:rPr>
              <a:t> </a:t>
            </a:r>
            <a:r>
              <a:rPr lang="en-US" b="1" dirty="0" err="1" smtClean="0">
                <a:solidFill>
                  <a:srgbClr val="0000CC"/>
                </a:solidFill>
                <a:latin typeface="Rockwell" panose="02060603020205020403" pitchFamily="18" charset="0"/>
                <a:ea typeface="+mj-ea"/>
                <a:cs typeface="+mj-cs"/>
              </a:rPr>
              <a:t>mạng</a:t>
            </a:r>
            <a:r>
              <a:rPr lang="en-US" b="1" dirty="0" smtClean="0">
                <a:solidFill>
                  <a:srgbClr val="0000CC"/>
                </a:solidFill>
                <a:latin typeface="Rockwell" panose="02060603020205020403" pitchFamily="18" charset="0"/>
                <a:ea typeface="+mj-ea"/>
                <a:cs typeface="+mj-cs"/>
              </a:rPr>
              <a:t> E-commerce</a:t>
            </a:r>
            <a:r>
              <a:rPr lang="vi-VN" b="1" dirty="0" smtClean="0">
                <a:solidFill>
                  <a:srgbClr val="0000CC"/>
                </a:solidFill>
                <a:latin typeface="Rockwell" panose="02060603020205020403" pitchFamily="18" charset="0"/>
                <a:ea typeface="+mj-ea"/>
                <a:cs typeface="+mj-cs"/>
              </a:rPr>
              <a:t>:</a:t>
            </a:r>
            <a:endParaRPr lang="en-US" b="1" dirty="0" smtClean="0">
              <a:solidFill>
                <a:srgbClr val="0000CC"/>
              </a:solidFill>
              <a:latin typeface="Rockwell" panose="02060603020205020403" pitchFamily="18" charset="0"/>
              <a:ea typeface="+mj-ea"/>
              <a:cs typeface="+mj-cs"/>
            </a:endParaRPr>
          </a:p>
          <a:p>
            <a:pPr marL="0" indent="0" algn="just">
              <a:lnSpc>
                <a:spcPct val="90000"/>
              </a:lnSpc>
              <a:spcBef>
                <a:spcPts val="600"/>
              </a:spcBef>
              <a:spcAft>
                <a:spcPts val="600"/>
              </a:spcAft>
              <a:buNone/>
            </a:pPr>
            <a:r>
              <a:rPr lang="en-US" b="1" dirty="0" smtClean="0">
                <a:solidFill>
                  <a:srgbClr val="0000CC"/>
                </a:solidFill>
                <a:latin typeface="Rockwell" panose="02060603020205020403" pitchFamily="18" charset="0"/>
                <a:ea typeface="+mj-ea"/>
                <a:cs typeface="+mj-cs"/>
              </a:rPr>
              <a:t>a. </a:t>
            </a:r>
            <a:r>
              <a:rPr lang="en-US" b="1" dirty="0" err="1" smtClean="0">
                <a:solidFill>
                  <a:srgbClr val="0000CC"/>
                </a:solidFill>
                <a:latin typeface="Rockwell" panose="02060603020205020403" pitchFamily="18" charset="0"/>
                <a:ea typeface="+mj-ea"/>
                <a:cs typeface="+mj-cs"/>
              </a:rPr>
              <a:t>Đối</a:t>
            </a:r>
            <a:r>
              <a:rPr lang="en-US" b="1" dirty="0" smtClean="0">
                <a:solidFill>
                  <a:srgbClr val="0000CC"/>
                </a:solidFill>
                <a:latin typeface="Rockwell" panose="02060603020205020403" pitchFamily="18" charset="0"/>
                <a:ea typeface="+mj-ea"/>
                <a:cs typeface="+mj-cs"/>
              </a:rPr>
              <a:t> </a:t>
            </a:r>
            <a:r>
              <a:rPr lang="en-US" b="1" dirty="0" err="1" smtClean="0">
                <a:solidFill>
                  <a:srgbClr val="0000CC"/>
                </a:solidFill>
                <a:latin typeface="Rockwell" panose="02060603020205020403" pitchFamily="18" charset="0"/>
                <a:ea typeface="+mj-ea"/>
                <a:cs typeface="+mj-cs"/>
              </a:rPr>
              <a:t>với</a:t>
            </a:r>
            <a:r>
              <a:rPr lang="en-US" b="1" dirty="0" smtClean="0">
                <a:solidFill>
                  <a:srgbClr val="0000CC"/>
                </a:solidFill>
                <a:latin typeface="Rockwell" panose="02060603020205020403" pitchFamily="18" charset="0"/>
                <a:ea typeface="+mj-ea"/>
                <a:cs typeface="+mj-cs"/>
              </a:rPr>
              <a:t> Firewall </a:t>
            </a:r>
            <a:r>
              <a:rPr lang="en-US" b="1" dirty="0" err="1" smtClean="0">
                <a:solidFill>
                  <a:srgbClr val="0000CC"/>
                </a:solidFill>
                <a:latin typeface="Rockwell" panose="02060603020205020403" pitchFamily="18" charset="0"/>
                <a:ea typeface="+mj-ea"/>
                <a:cs typeface="+mj-cs"/>
              </a:rPr>
              <a:t>lọc</a:t>
            </a:r>
            <a:r>
              <a:rPr lang="en-US" b="1" dirty="0" smtClean="0">
                <a:solidFill>
                  <a:srgbClr val="0000CC"/>
                </a:solidFill>
                <a:latin typeface="Rockwell" panose="02060603020205020403" pitchFamily="18" charset="0"/>
                <a:ea typeface="+mj-ea"/>
                <a:cs typeface="+mj-cs"/>
              </a:rPr>
              <a:t> </a:t>
            </a:r>
            <a:r>
              <a:rPr lang="en-US" b="1" dirty="0" err="1" smtClean="0">
                <a:solidFill>
                  <a:srgbClr val="0000CC"/>
                </a:solidFill>
                <a:latin typeface="Rockwell" panose="02060603020205020403" pitchFamily="18" charset="0"/>
                <a:ea typeface="+mj-ea"/>
                <a:cs typeface="+mj-cs"/>
              </a:rPr>
              <a:t>gói</a:t>
            </a:r>
            <a:r>
              <a:rPr lang="en-US" b="1" dirty="0" smtClean="0">
                <a:solidFill>
                  <a:srgbClr val="0000CC"/>
                </a:solidFill>
                <a:latin typeface="Rockwell" panose="02060603020205020403" pitchFamily="18" charset="0"/>
                <a:ea typeface="+mj-ea"/>
                <a:cs typeface="+mj-cs"/>
              </a:rPr>
              <a:t> </a:t>
            </a:r>
          </a:p>
          <a:p>
            <a:pPr algn="just">
              <a:lnSpc>
                <a:spcPct val="90000"/>
              </a:lnSpc>
              <a:spcBef>
                <a:spcPts val="600"/>
              </a:spcBef>
              <a:spcAft>
                <a:spcPts val="600"/>
              </a:spcAft>
            </a:pPr>
            <a:r>
              <a:rPr lang="vi-VN" dirty="0">
                <a:solidFill>
                  <a:srgbClr val="0000CC"/>
                </a:solidFill>
                <a:latin typeface="Rockwell" panose="02060603020205020403" pitchFamily="18" charset="0"/>
                <a:ea typeface="+mj-ea"/>
                <a:cs typeface="+mj-cs"/>
              </a:rPr>
              <a:t>Bảo vệ tầng mạng cơ bản: </a:t>
            </a:r>
            <a:r>
              <a:rPr lang="en-US" dirty="0" smtClean="0">
                <a:solidFill>
                  <a:srgbClr val="0000CC"/>
                </a:solidFill>
                <a:latin typeface="Rockwell" panose="02060603020205020403" pitchFamily="18" charset="0"/>
                <a:ea typeface="+mj-ea"/>
                <a:cs typeface="+mj-cs"/>
              </a:rPr>
              <a:t>C</a:t>
            </a:r>
            <a:r>
              <a:rPr lang="vi-VN" dirty="0" smtClean="0">
                <a:solidFill>
                  <a:srgbClr val="0000CC"/>
                </a:solidFill>
                <a:latin typeface="Rockwell" panose="02060603020205020403" pitchFamily="18" charset="0"/>
                <a:ea typeface="+mj-ea"/>
                <a:cs typeface="+mj-cs"/>
              </a:rPr>
              <a:t>hặn </a:t>
            </a:r>
            <a:r>
              <a:rPr lang="vi-VN" dirty="0">
                <a:solidFill>
                  <a:srgbClr val="0000CC"/>
                </a:solidFill>
                <a:latin typeface="Rockwell" panose="02060603020205020403" pitchFamily="18" charset="0"/>
                <a:ea typeface="+mj-ea"/>
                <a:cs typeface="+mj-cs"/>
              </a:rPr>
              <a:t>các kết nối không hợp lệ dựa trên IP, port, protocol.</a:t>
            </a:r>
          </a:p>
          <a:p>
            <a:pPr algn="just">
              <a:lnSpc>
                <a:spcPct val="90000"/>
              </a:lnSpc>
              <a:spcBef>
                <a:spcPts val="600"/>
              </a:spcBef>
              <a:spcAft>
                <a:spcPts val="600"/>
              </a:spcAft>
            </a:pPr>
            <a:r>
              <a:rPr lang="vi-VN" dirty="0">
                <a:solidFill>
                  <a:srgbClr val="0000CC"/>
                </a:solidFill>
                <a:latin typeface="Rockwell" panose="02060603020205020403" pitchFamily="18" charset="0"/>
                <a:ea typeface="+mj-ea"/>
                <a:cs typeface="+mj-cs"/>
              </a:rPr>
              <a:t>Ngăn chặn truy cập trái phép từ Internet vào các server nội bộ (web server, database server).</a:t>
            </a:r>
          </a:p>
          <a:p>
            <a:pPr algn="just">
              <a:lnSpc>
                <a:spcPct val="90000"/>
              </a:lnSpc>
              <a:spcBef>
                <a:spcPts val="600"/>
              </a:spcBef>
              <a:spcAft>
                <a:spcPts val="600"/>
              </a:spcAft>
            </a:pPr>
            <a:r>
              <a:rPr lang="vi-VN" dirty="0">
                <a:solidFill>
                  <a:srgbClr val="0000CC"/>
                </a:solidFill>
                <a:latin typeface="Rockwell" panose="02060603020205020403" pitchFamily="18" charset="0"/>
                <a:ea typeface="+mj-ea"/>
                <a:cs typeface="+mj-cs"/>
              </a:rPr>
              <a:t>Kiểm soát lưu lượng cơ bản: </a:t>
            </a:r>
            <a:r>
              <a:rPr lang="en-US" dirty="0" smtClean="0">
                <a:solidFill>
                  <a:srgbClr val="0000CC"/>
                </a:solidFill>
                <a:latin typeface="Rockwell" panose="02060603020205020403" pitchFamily="18" charset="0"/>
                <a:ea typeface="+mj-ea"/>
                <a:cs typeface="+mj-cs"/>
              </a:rPr>
              <a:t>C</a:t>
            </a:r>
            <a:r>
              <a:rPr lang="vi-VN" dirty="0" smtClean="0">
                <a:solidFill>
                  <a:srgbClr val="0000CC"/>
                </a:solidFill>
                <a:latin typeface="Rockwell" panose="02060603020205020403" pitchFamily="18" charset="0"/>
                <a:ea typeface="+mj-ea"/>
                <a:cs typeface="+mj-cs"/>
              </a:rPr>
              <a:t>hỉ </a:t>
            </a:r>
            <a:r>
              <a:rPr lang="vi-VN" dirty="0">
                <a:solidFill>
                  <a:srgbClr val="0000CC"/>
                </a:solidFill>
                <a:latin typeface="Rockwell" panose="02060603020205020403" pitchFamily="18" charset="0"/>
                <a:ea typeface="+mj-ea"/>
                <a:cs typeface="+mj-cs"/>
              </a:rPr>
              <a:t>cho phép các dịch vụ cần thiết như HTTP/HTTPS (80, 443), SMTP (25), chặn tất cả port khác.</a:t>
            </a:r>
          </a:p>
          <a:p>
            <a:pPr algn="just">
              <a:lnSpc>
                <a:spcPct val="90000"/>
              </a:lnSpc>
              <a:spcBef>
                <a:spcPts val="600"/>
              </a:spcBef>
              <a:spcAft>
                <a:spcPts val="600"/>
              </a:spcAft>
            </a:pPr>
            <a:r>
              <a:rPr lang="vi-VN" dirty="0">
                <a:solidFill>
                  <a:srgbClr val="0000CC"/>
                </a:solidFill>
                <a:latin typeface="Rockwell" panose="02060603020205020403" pitchFamily="18" charset="0"/>
                <a:ea typeface="+mj-ea"/>
                <a:cs typeface="+mj-cs"/>
              </a:rPr>
              <a:t>Giảm thiểu tấn công mạng phổ biến như: IP spoofing, quét port (port scanning).</a:t>
            </a:r>
          </a:p>
          <a:p>
            <a:pPr algn="just">
              <a:lnSpc>
                <a:spcPct val="90000"/>
              </a:lnSpc>
              <a:spcBef>
                <a:spcPts val="600"/>
              </a:spcBef>
              <a:spcAft>
                <a:spcPts val="600"/>
              </a:spcAft>
            </a:pPr>
            <a:r>
              <a:rPr lang="vi-VN" dirty="0">
                <a:solidFill>
                  <a:srgbClr val="0000CC"/>
                </a:solidFill>
                <a:latin typeface="Rockwell" panose="02060603020205020403" pitchFamily="18" charset="0"/>
                <a:ea typeface="+mj-ea"/>
                <a:cs typeface="+mj-cs"/>
              </a:rPr>
              <a:t>Đảm bảo rằng chỉ có luồng giao tiếp hợp lệ mới được đi qua hệ thống mạng E-commerce.</a:t>
            </a:r>
            <a:endParaRPr lang="en-US" dirty="0">
              <a:solidFill>
                <a:srgbClr val="0000CC"/>
              </a:solidFill>
              <a:latin typeface="Rockwell" panose="02060603020205020403" pitchFamily="18" charset="0"/>
              <a:ea typeface="+mj-ea"/>
              <a:cs typeface="+mj-cs"/>
            </a:endParaRPr>
          </a:p>
        </p:txBody>
      </p:sp>
    </p:spTree>
    <p:extLst>
      <p:ext uri="{BB962C8B-B14F-4D97-AF65-F5344CB8AC3E}">
        <p14:creationId xmlns:p14="http://schemas.microsoft.com/office/powerpoint/2010/main" val="484645784"/>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44303" y="491797"/>
            <a:ext cx="10242645" cy="528851"/>
          </a:xfrm>
        </p:spPr>
        <p:txBody>
          <a:bodyPr/>
          <a:lstStyle/>
          <a:p>
            <a:r>
              <a:rPr lang="en-US" sz="2800" b="1" dirty="0">
                <a:solidFill>
                  <a:srgbClr val="0000CC"/>
                </a:solidFill>
                <a:latin typeface="Rockwell" panose="02060603020205020403" pitchFamily="18" charset="0"/>
              </a:rPr>
              <a:t>7</a:t>
            </a:r>
            <a:r>
              <a:rPr lang="en-US" sz="2800" b="1" dirty="0" smtClean="0">
                <a:solidFill>
                  <a:srgbClr val="0000CC"/>
                </a:solidFill>
                <a:latin typeface="Rockwell" panose="02060603020205020403" pitchFamily="18" charset="0"/>
              </a:rPr>
              <a:t>.2.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Chức</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năng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và</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mục</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đích</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sử</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dụng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của</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FIREWALL</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44304" y="1020648"/>
            <a:ext cx="9764976" cy="3865251"/>
          </a:xfrm>
        </p:spPr>
        <p:txBody>
          <a:bodyPr/>
          <a:lstStyle/>
          <a:p>
            <a:pPr marL="0" indent="0">
              <a:buNone/>
            </a:pPr>
            <a:r>
              <a:rPr lang="en-US" b="1" dirty="0" smtClean="0">
                <a:solidFill>
                  <a:srgbClr val="0000CC"/>
                </a:solidFill>
                <a:latin typeface="Rockwell" panose="02060603020205020403" pitchFamily="18" charset="0"/>
                <a:ea typeface="+mj-ea"/>
                <a:cs typeface="+mj-cs"/>
              </a:rPr>
              <a:t>4. </a:t>
            </a:r>
            <a:r>
              <a:rPr lang="en-US" b="1" dirty="0" err="1" smtClean="0">
                <a:solidFill>
                  <a:srgbClr val="0000CC"/>
                </a:solidFill>
                <a:latin typeface="Rockwell" panose="02060603020205020403" pitchFamily="18" charset="0"/>
                <a:ea typeface="+mj-ea"/>
                <a:cs typeface="+mj-cs"/>
              </a:rPr>
              <a:t>Mục</a:t>
            </a:r>
            <a:r>
              <a:rPr lang="en-US" b="1" dirty="0" smtClean="0">
                <a:solidFill>
                  <a:srgbClr val="0000CC"/>
                </a:solidFill>
                <a:latin typeface="Rockwell" panose="02060603020205020403" pitchFamily="18" charset="0"/>
                <a:ea typeface="+mj-ea"/>
                <a:cs typeface="+mj-cs"/>
              </a:rPr>
              <a:t> </a:t>
            </a:r>
            <a:r>
              <a:rPr lang="en-US" b="1" dirty="0" err="1" smtClean="0">
                <a:solidFill>
                  <a:srgbClr val="0000CC"/>
                </a:solidFill>
                <a:latin typeface="Rockwell" panose="02060603020205020403" pitchFamily="18" charset="0"/>
                <a:ea typeface="+mj-ea"/>
                <a:cs typeface="+mj-cs"/>
              </a:rPr>
              <a:t>đích</a:t>
            </a:r>
            <a:r>
              <a:rPr lang="en-US" b="1" dirty="0" smtClean="0">
                <a:solidFill>
                  <a:srgbClr val="0000CC"/>
                </a:solidFill>
                <a:latin typeface="Rockwell" panose="02060603020205020403" pitchFamily="18" charset="0"/>
                <a:ea typeface="+mj-ea"/>
                <a:cs typeface="+mj-cs"/>
              </a:rPr>
              <a:t> </a:t>
            </a:r>
            <a:r>
              <a:rPr lang="en-US" b="1" dirty="0" err="1" smtClean="0">
                <a:solidFill>
                  <a:srgbClr val="0000CC"/>
                </a:solidFill>
                <a:latin typeface="Rockwell" panose="02060603020205020403" pitchFamily="18" charset="0"/>
                <a:ea typeface="+mj-ea"/>
                <a:cs typeface="+mj-cs"/>
              </a:rPr>
              <a:t>sử</a:t>
            </a:r>
            <a:r>
              <a:rPr lang="en-US" b="1" dirty="0" smtClean="0">
                <a:solidFill>
                  <a:srgbClr val="0000CC"/>
                </a:solidFill>
                <a:latin typeface="Rockwell" panose="02060603020205020403" pitchFamily="18" charset="0"/>
                <a:ea typeface="+mj-ea"/>
                <a:cs typeface="+mj-cs"/>
              </a:rPr>
              <a:t> </a:t>
            </a:r>
            <a:r>
              <a:rPr lang="en-US" b="1" dirty="0" err="1" smtClean="0">
                <a:solidFill>
                  <a:srgbClr val="0000CC"/>
                </a:solidFill>
                <a:latin typeface="Rockwell" panose="02060603020205020403" pitchFamily="18" charset="0"/>
                <a:ea typeface="+mj-ea"/>
                <a:cs typeface="+mj-cs"/>
              </a:rPr>
              <a:t>dụng</a:t>
            </a:r>
            <a:r>
              <a:rPr lang="en-US" b="1" dirty="0" smtClean="0">
                <a:solidFill>
                  <a:srgbClr val="0000CC"/>
                </a:solidFill>
                <a:latin typeface="Rockwell" panose="02060603020205020403" pitchFamily="18" charset="0"/>
                <a:ea typeface="+mj-ea"/>
                <a:cs typeface="+mj-cs"/>
              </a:rPr>
              <a:t> </a:t>
            </a:r>
            <a:r>
              <a:rPr lang="en-US" b="1" dirty="0" err="1" smtClean="0">
                <a:solidFill>
                  <a:srgbClr val="0000CC"/>
                </a:solidFill>
                <a:latin typeface="Rockwell" panose="02060603020205020403" pitchFamily="18" charset="0"/>
                <a:ea typeface="+mj-ea"/>
                <a:cs typeface="+mj-cs"/>
              </a:rPr>
              <a:t>của</a:t>
            </a:r>
            <a:r>
              <a:rPr lang="en-US" b="1" dirty="0" smtClean="0">
                <a:solidFill>
                  <a:srgbClr val="0000CC"/>
                </a:solidFill>
                <a:latin typeface="Rockwell" panose="02060603020205020403" pitchFamily="18" charset="0"/>
                <a:ea typeface="+mj-ea"/>
                <a:cs typeface="+mj-cs"/>
              </a:rPr>
              <a:t> Firewall </a:t>
            </a:r>
            <a:r>
              <a:rPr lang="en-US" b="1" dirty="0" err="1" smtClean="0">
                <a:solidFill>
                  <a:srgbClr val="0000CC"/>
                </a:solidFill>
                <a:latin typeface="Rockwell" panose="02060603020205020403" pitchFamily="18" charset="0"/>
                <a:ea typeface="+mj-ea"/>
                <a:cs typeface="+mj-cs"/>
              </a:rPr>
              <a:t>trong</a:t>
            </a:r>
            <a:r>
              <a:rPr lang="en-US" b="1" dirty="0" smtClean="0">
                <a:solidFill>
                  <a:srgbClr val="0000CC"/>
                </a:solidFill>
                <a:latin typeface="Rockwell" panose="02060603020205020403" pitchFamily="18" charset="0"/>
                <a:ea typeface="+mj-ea"/>
                <a:cs typeface="+mj-cs"/>
              </a:rPr>
              <a:t> </a:t>
            </a:r>
            <a:r>
              <a:rPr lang="en-US" b="1" dirty="0" err="1" smtClean="0">
                <a:solidFill>
                  <a:srgbClr val="0000CC"/>
                </a:solidFill>
                <a:latin typeface="Rockwell" panose="02060603020205020403" pitchFamily="18" charset="0"/>
                <a:ea typeface="+mj-ea"/>
                <a:cs typeface="+mj-cs"/>
              </a:rPr>
              <a:t>mạng</a:t>
            </a:r>
            <a:r>
              <a:rPr lang="en-US" b="1" dirty="0" smtClean="0">
                <a:solidFill>
                  <a:srgbClr val="0000CC"/>
                </a:solidFill>
                <a:latin typeface="Rockwell" panose="02060603020205020403" pitchFamily="18" charset="0"/>
                <a:ea typeface="+mj-ea"/>
                <a:cs typeface="+mj-cs"/>
              </a:rPr>
              <a:t> E-commerce</a:t>
            </a:r>
            <a:r>
              <a:rPr lang="vi-VN" b="1" dirty="0" smtClean="0">
                <a:solidFill>
                  <a:srgbClr val="0000CC"/>
                </a:solidFill>
                <a:latin typeface="Rockwell" panose="02060603020205020403" pitchFamily="18" charset="0"/>
                <a:ea typeface="+mj-ea"/>
                <a:cs typeface="+mj-cs"/>
              </a:rPr>
              <a:t>:</a:t>
            </a:r>
            <a:endParaRPr lang="en-US" b="1" dirty="0" smtClean="0">
              <a:solidFill>
                <a:srgbClr val="0000CC"/>
              </a:solidFill>
              <a:latin typeface="Rockwell" panose="02060603020205020403" pitchFamily="18" charset="0"/>
              <a:ea typeface="+mj-ea"/>
              <a:cs typeface="+mj-cs"/>
            </a:endParaRPr>
          </a:p>
          <a:p>
            <a:pPr marL="0" indent="0" algn="just">
              <a:lnSpc>
                <a:spcPct val="90000"/>
              </a:lnSpc>
              <a:spcBef>
                <a:spcPts val="600"/>
              </a:spcBef>
              <a:spcAft>
                <a:spcPts val="600"/>
              </a:spcAft>
              <a:buNone/>
            </a:pPr>
            <a:r>
              <a:rPr lang="en-US" b="1" dirty="0" smtClean="0">
                <a:solidFill>
                  <a:srgbClr val="0000CC"/>
                </a:solidFill>
                <a:latin typeface="Rockwell" panose="02060603020205020403" pitchFamily="18" charset="0"/>
                <a:ea typeface="+mj-ea"/>
                <a:cs typeface="+mj-cs"/>
              </a:rPr>
              <a:t>b. </a:t>
            </a:r>
            <a:r>
              <a:rPr lang="en-US" b="1" dirty="0" err="1" smtClean="0">
                <a:solidFill>
                  <a:srgbClr val="0000CC"/>
                </a:solidFill>
                <a:latin typeface="Rockwell" panose="02060603020205020403" pitchFamily="18" charset="0"/>
                <a:ea typeface="+mj-ea"/>
                <a:cs typeface="+mj-cs"/>
              </a:rPr>
              <a:t>Đối</a:t>
            </a:r>
            <a:r>
              <a:rPr lang="en-US" b="1" dirty="0" smtClean="0">
                <a:solidFill>
                  <a:srgbClr val="0000CC"/>
                </a:solidFill>
                <a:latin typeface="Rockwell" panose="02060603020205020403" pitchFamily="18" charset="0"/>
                <a:ea typeface="+mj-ea"/>
                <a:cs typeface="+mj-cs"/>
              </a:rPr>
              <a:t> </a:t>
            </a:r>
            <a:r>
              <a:rPr lang="en-US" b="1" dirty="0" err="1" smtClean="0">
                <a:solidFill>
                  <a:srgbClr val="0000CC"/>
                </a:solidFill>
                <a:latin typeface="Rockwell" panose="02060603020205020403" pitchFamily="18" charset="0"/>
                <a:ea typeface="+mj-ea"/>
                <a:cs typeface="+mj-cs"/>
              </a:rPr>
              <a:t>với</a:t>
            </a:r>
            <a:r>
              <a:rPr lang="en-US" b="1" dirty="0" smtClean="0">
                <a:solidFill>
                  <a:srgbClr val="0000CC"/>
                </a:solidFill>
                <a:latin typeface="Rockwell" panose="02060603020205020403" pitchFamily="18" charset="0"/>
                <a:ea typeface="+mj-ea"/>
                <a:cs typeface="+mj-cs"/>
              </a:rPr>
              <a:t> Firewall </a:t>
            </a:r>
            <a:r>
              <a:rPr lang="en-US" b="1" dirty="0" err="1" smtClean="0">
                <a:solidFill>
                  <a:srgbClr val="0000CC"/>
                </a:solidFill>
                <a:latin typeface="Rockwell" panose="02060603020205020403" pitchFamily="18" charset="0"/>
                <a:ea typeface="+mj-ea"/>
                <a:cs typeface="+mj-cs"/>
              </a:rPr>
              <a:t>tần</a:t>
            </a:r>
            <a:r>
              <a:rPr lang="en-US" b="1" dirty="0" smtClean="0">
                <a:solidFill>
                  <a:srgbClr val="0000CC"/>
                </a:solidFill>
                <a:latin typeface="Rockwell" panose="02060603020205020403" pitchFamily="18" charset="0"/>
                <a:ea typeface="+mj-ea"/>
                <a:cs typeface="+mj-cs"/>
              </a:rPr>
              <a:t> </a:t>
            </a:r>
            <a:r>
              <a:rPr lang="en-US" b="1" dirty="0" err="1" smtClean="0">
                <a:solidFill>
                  <a:srgbClr val="0000CC"/>
                </a:solidFill>
                <a:latin typeface="Rockwell" panose="02060603020205020403" pitchFamily="18" charset="0"/>
                <a:ea typeface="+mj-ea"/>
                <a:cs typeface="+mj-cs"/>
              </a:rPr>
              <a:t>ứng</a:t>
            </a:r>
            <a:r>
              <a:rPr lang="en-US" b="1" dirty="0" smtClean="0">
                <a:solidFill>
                  <a:srgbClr val="0000CC"/>
                </a:solidFill>
                <a:latin typeface="Rockwell" panose="02060603020205020403" pitchFamily="18" charset="0"/>
                <a:ea typeface="+mj-ea"/>
                <a:cs typeface="+mj-cs"/>
              </a:rPr>
              <a:t> </a:t>
            </a:r>
            <a:r>
              <a:rPr lang="en-US" b="1" dirty="0" err="1" smtClean="0">
                <a:solidFill>
                  <a:srgbClr val="0000CC"/>
                </a:solidFill>
                <a:latin typeface="Rockwell" panose="02060603020205020403" pitchFamily="18" charset="0"/>
                <a:ea typeface="+mj-ea"/>
                <a:cs typeface="+mj-cs"/>
              </a:rPr>
              <a:t>dụng</a:t>
            </a:r>
            <a:r>
              <a:rPr lang="en-US" b="1" dirty="0" smtClean="0">
                <a:solidFill>
                  <a:srgbClr val="0000CC"/>
                </a:solidFill>
                <a:latin typeface="Rockwell" panose="02060603020205020403" pitchFamily="18" charset="0"/>
                <a:ea typeface="+mj-ea"/>
                <a:cs typeface="+mj-cs"/>
              </a:rPr>
              <a:t> </a:t>
            </a:r>
          </a:p>
          <a:p>
            <a:pPr algn="just">
              <a:lnSpc>
                <a:spcPct val="90000"/>
              </a:lnSpc>
              <a:spcBef>
                <a:spcPts val="600"/>
              </a:spcBef>
              <a:spcAft>
                <a:spcPts val="600"/>
              </a:spcAft>
            </a:pPr>
            <a:r>
              <a:rPr lang="vi-VN" dirty="0">
                <a:solidFill>
                  <a:srgbClr val="0000CC"/>
                </a:solidFill>
                <a:latin typeface="Rockwell" panose="02060603020205020403" pitchFamily="18" charset="0"/>
                <a:ea typeface="+mj-ea"/>
                <a:cs typeface="+mj-cs"/>
              </a:rPr>
              <a:t>Bảo vệ ứng dụng web: </a:t>
            </a:r>
            <a:r>
              <a:rPr lang="en-US" dirty="0" smtClean="0">
                <a:solidFill>
                  <a:srgbClr val="0000CC"/>
                </a:solidFill>
                <a:latin typeface="Rockwell" panose="02060603020205020403" pitchFamily="18" charset="0"/>
                <a:ea typeface="+mj-ea"/>
                <a:cs typeface="+mj-cs"/>
              </a:rPr>
              <a:t>P</a:t>
            </a:r>
            <a:r>
              <a:rPr lang="vi-VN" dirty="0" smtClean="0">
                <a:solidFill>
                  <a:srgbClr val="0000CC"/>
                </a:solidFill>
                <a:latin typeface="Rockwell" panose="02060603020205020403" pitchFamily="18" charset="0"/>
                <a:ea typeface="+mj-ea"/>
                <a:cs typeface="+mj-cs"/>
              </a:rPr>
              <a:t>hát </a:t>
            </a:r>
            <a:r>
              <a:rPr lang="vi-VN" dirty="0">
                <a:solidFill>
                  <a:srgbClr val="0000CC"/>
                </a:solidFill>
                <a:latin typeface="Rockwell" panose="02060603020205020403" pitchFamily="18" charset="0"/>
                <a:ea typeface="+mj-ea"/>
                <a:cs typeface="+mj-cs"/>
              </a:rPr>
              <a:t>hiện và chặn các tấn công SQL Injection, XSS, CSRF thường nhắm vào website </a:t>
            </a:r>
            <a:r>
              <a:rPr lang="en-US" dirty="0" smtClean="0">
                <a:solidFill>
                  <a:srgbClr val="0000CC"/>
                </a:solidFill>
                <a:latin typeface="Rockwell" panose="02060603020205020403" pitchFamily="18" charset="0"/>
                <a:ea typeface="+mj-ea"/>
                <a:cs typeface="+mj-cs"/>
              </a:rPr>
              <a:t>E-commerce</a:t>
            </a:r>
            <a:r>
              <a:rPr lang="vi-VN" dirty="0" smtClean="0">
                <a:solidFill>
                  <a:srgbClr val="0000CC"/>
                </a:solidFill>
                <a:latin typeface="Rockwell" panose="02060603020205020403" pitchFamily="18" charset="0"/>
                <a:ea typeface="+mj-ea"/>
                <a:cs typeface="+mj-cs"/>
              </a:rPr>
              <a:t>.</a:t>
            </a:r>
            <a:endParaRPr lang="vi-VN" dirty="0">
              <a:solidFill>
                <a:srgbClr val="0000CC"/>
              </a:solidFill>
              <a:latin typeface="Rockwell" panose="02060603020205020403" pitchFamily="18" charset="0"/>
              <a:ea typeface="+mj-ea"/>
              <a:cs typeface="+mj-cs"/>
            </a:endParaRPr>
          </a:p>
          <a:p>
            <a:pPr algn="just">
              <a:lnSpc>
                <a:spcPct val="90000"/>
              </a:lnSpc>
              <a:spcBef>
                <a:spcPts val="600"/>
              </a:spcBef>
              <a:spcAft>
                <a:spcPts val="600"/>
              </a:spcAft>
            </a:pPr>
            <a:r>
              <a:rPr lang="vi-VN" dirty="0">
                <a:solidFill>
                  <a:srgbClr val="0000CC"/>
                </a:solidFill>
                <a:latin typeface="Rockwell" panose="02060603020205020403" pitchFamily="18" charset="0"/>
                <a:ea typeface="+mj-ea"/>
                <a:cs typeface="+mj-cs"/>
              </a:rPr>
              <a:t>Kiểm soát nội dung payload: </a:t>
            </a:r>
            <a:r>
              <a:rPr lang="en-US" dirty="0" smtClean="0">
                <a:solidFill>
                  <a:srgbClr val="0000CC"/>
                </a:solidFill>
                <a:latin typeface="Rockwell" panose="02060603020205020403" pitchFamily="18" charset="0"/>
                <a:ea typeface="+mj-ea"/>
                <a:cs typeface="+mj-cs"/>
              </a:rPr>
              <a:t>N</a:t>
            </a:r>
            <a:r>
              <a:rPr lang="vi-VN" dirty="0" smtClean="0">
                <a:solidFill>
                  <a:srgbClr val="0000CC"/>
                </a:solidFill>
                <a:latin typeface="Rockwell" panose="02060603020205020403" pitchFamily="18" charset="0"/>
                <a:ea typeface="+mj-ea"/>
                <a:cs typeface="+mj-cs"/>
              </a:rPr>
              <a:t>găn </a:t>
            </a:r>
            <a:r>
              <a:rPr lang="vi-VN" dirty="0">
                <a:solidFill>
                  <a:srgbClr val="0000CC"/>
                </a:solidFill>
                <a:latin typeface="Rockwell" panose="02060603020205020403" pitchFamily="18" charset="0"/>
                <a:ea typeface="+mj-ea"/>
                <a:cs typeface="+mj-cs"/>
              </a:rPr>
              <a:t>tải lên file độc hại, lọc từ khóa nhạy cảm, chống rò rỉ thông tin (Data Leakage).</a:t>
            </a:r>
          </a:p>
          <a:p>
            <a:pPr algn="just">
              <a:lnSpc>
                <a:spcPct val="90000"/>
              </a:lnSpc>
              <a:spcBef>
                <a:spcPts val="600"/>
              </a:spcBef>
              <a:spcAft>
                <a:spcPts val="600"/>
              </a:spcAft>
            </a:pPr>
            <a:r>
              <a:rPr lang="vi-VN" dirty="0">
                <a:solidFill>
                  <a:srgbClr val="0000CC"/>
                </a:solidFill>
                <a:latin typeface="Rockwell" panose="02060603020205020403" pitchFamily="18" charset="0"/>
                <a:ea typeface="+mj-ea"/>
                <a:cs typeface="+mj-cs"/>
              </a:rPr>
              <a:t>Giám sát hành vi người dùng: </a:t>
            </a:r>
            <a:r>
              <a:rPr lang="en-US" dirty="0" smtClean="0">
                <a:solidFill>
                  <a:srgbClr val="0000CC"/>
                </a:solidFill>
                <a:latin typeface="Rockwell" panose="02060603020205020403" pitchFamily="18" charset="0"/>
                <a:ea typeface="+mj-ea"/>
                <a:cs typeface="+mj-cs"/>
              </a:rPr>
              <a:t>P</a:t>
            </a:r>
            <a:r>
              <a:rPr lang="vi-VN" dirty="0" smtClean="0">
                <a:solidFill>
                  <a:srgbClr val="0000CC"/>
                </a:solidFill>
                <a:latin typeface="Rockwell" panose="02060603020205020403" pitchFamily="18" charset="0"/>
                <a:ea typeface="+mj-ea"/>
                <a:cs typeface="+mj-cs"/>
              </a:rPr>
              <a:t>hát </a:t>
            </a:r>
            <a:r>
              <a:rPr lang="vi-VN" dirty="0">
                <a:solidFill>
                  <a:srgbClr val="0000CC"/>
                </a:solidFill>
                <a:latin typeface="Rockwell" panose="02060603020205020403" pitchFamily="18" charset="0"/>
                <a:ea typeface="+mj-ea"/>
                <a:cs typeface="+mj-cs"/>
              </a:rPr>
              <a:t>hiện request bất thường như brute-force login, session hijacking.</a:t>
            </a:r>
          </a:p>
          <a:p>
            <a:pPr algn="just">
              <a:lnSpc>
                <a:spcPct val="90000"/>
              </a:lnSpc>
              <a:spcBef>
                <a:spcPts val="600"/>
              </a:spcBef>
              <a:spcAft>
                <a:spcPts val="600"/>
              </a:spcAft>
            </a:pPr>
            <a:r>
              <a:rPr lang="vi-VN" dirty="0">
                <a:solidFill>
                  <a:srgbClr val="0000CC"/>
                </a:solidFill>
                <a:latin typeface="Rockwell" panose="02060603020205020403" pitchFamily="18" charset="0"/>
                <a:ea typeface="+mj-ea"/>
                <a:cs typeface="+mj-cs"/>
              </a:rPr>
              <a:t>Đảm bảo an toàn giao dịch online: </a:t>
            </a:r>
            <a:r>
              <a:rPr lang="en-US" dirty="0" smtClean="0">
                <a:solidFill>
                  <a:srgbClr val="0000CC"/>
                </a:solidFill>
                <a:latin typeface="Rockwell" panose="02060603020205020403" pitchFamily="18" charset="0"/>
                <a:ea typeface="+mj-ea"/>
                <a:cs typeface="+mj-cs"/>
              </a:rPr>
              <a:t>C</a:t>
            </a:r>
            <a:r>
              <a:rPr lang="vi-VN" dirty="0" smtClean="0">
                <a:solidFill>
                  <a:srgbClr val="0000CC"/>
                </a:solidFill>
                <a:latin typeface="Rockwell" panose="02060603020205020403" pitchFamily="18" charset="0"/>
                <a:ea typeface="+mj-ea"/>
                <a:cs typeface="+mj-cs"/>
              </a:rPr>
              <a:t>hỉ </a:t>
            </a:r>
            <a:r>
              <a:rPr lang="vi-VN" dirty="0">
                <a:solidFill>
                  <a:srgbClr val="0000CC"/>
                </a:solidFill>
                <a:latin typeface="Rockwell" panose="02060603020205020403" pitchFamily="18" charset="0"/>
                <a:ea typeface="+mj-ea"/>
                <a:cs typeface="+mj-cs"/>
              </a:rPr>
              <a:t>cho phép các request hợp lệ của ứng dụng thanh toán, ngăn chặn gian lận.</a:t>
            </a:r>
          </a:p>
          <a:p>
            <a:pPr algn="just">
              <a:lnSpc>
                <a:spcPct val="90000"/>
              </a:lnSpc>
              <a:spcBef>
                <a:spcPts val="600"/>
              </a:spcBef>
              <a:spcAft>
                <a:spcPts val="600"/>
              </a:spcAft>
            </a:pPr>
            <a:r>
              <a:rPr lang="vi-VN" dirty="0">
                <a:solidFill>
                  <a:srgbClr val="0000CC"/>
                </a:solidFill>
                <a:latin typeface="Rockwell" panose="02060603020205020403" pitchFamily="18" charset="0"/>
                <a:ea typeface="+mj-ea"/>
                <a:cs typeface="+mj-cs"/>
              </a:rPr>
              <a:t>Bổ sung lớp bảo mật nâng cao khi Packet Filtering Firewall không thể kiểm tra nội dung sâu.</a:t>
            </a:r>
            <a:endParaRPr lang="en-US" dirty="0">
              <a:solidFill>
                <a:srgbClr val="0000CC"/>
              </a:solidFill>
              <a:latin typeface="Rockwell" panose="02060603020205020403" pitchFamily="18" charset="0"/>
              <a:ea typeface="+mj-ea"/>
              <a:cs typeface="+mj-cs"/>
            </a:endParaRPr>
          </a:p>
        </p:txBody>
      </p:sp>
    </p:spTree>
    <p:extLst>
      <p:ext uri="{BB962C8B-B14F-4D97-AF65-F5344CB8AC3E}">
        <p14:creationId xmlns:p14="http://schemas.microsoft.com/office/powerpoint/2010/main" val="2975430394"/>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44303" y="491797"/>
            <a:ext cx="10242645" cy="528851"/>
          </a:xfrm>
        </p:spPr>
        <p:txBody>
          <a:bodyPr/>
          <a:lstStyle/>
          <a:p>
            <a:r>
              <a:rPr lang="en-US" sz="2800" b="1" dirty="0">
                <a:solidFill>
                  <a:srgbClr val="0000CC"/>
                </a:solidFill>
                <a:latin typeface="Rockwell" panose="02060603020205020403" pitchFamily="18" charset="0"/>
              </a:rPr>
              <a:t>7</a:t>
            </a:r>
            <a:r>
              <a:rPr lang="en-US" sz="2800" b="1" dirty="0" smtClean="0">
                <a:solidFill>
                  <a:srgbClr val="0000CC"/>
                </a:solidFill>
                <a:latin typeface="Rockwell" panose="02060603020205020403" pitchFamily="18" charset="0"/>
              </a:rPr>
              <a:t>.2.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Chức</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năng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và</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mục</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đích</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sử</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dụng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của</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FIREWALL</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44303" y="1020648"/>
            <a:ext cx="10037929" cy="3865251"/>
          </a:xfrm>
        </p:spPr>
        <p:txBody>
          <a:bodyPr/>
          <a:lstStyle/>
          <a:p>
            <a:pPr marL="0" indent="0">
              <a:buNone/>
            </a:pPr>
            <a:r>
              <a:rPr lang="en-US" b="1" dirty="0" smtClean="0">
                <a:solidFill>
                  <a:srgbClr val="0000CC"/>
                </a:solidFill>
                <a:latin typeface="Rockwell" panose="02060603020205020403" pitchFamily="18" charset="0"/>
                <a:ea typeface="+mj-ea"/>
                <a:cs typeface="+mj-cs"/>
              </a:rPr>
              <a:t>4. </a:t>
            </a:r>
            <a:r>
              <a:rPr lang="en-US" b="1" dirty="0" err="1" smtClean="0">
                <a:solidFill>
                  <a:srgbClr val="0000CC"/>
                </a:solidFill>
                <a:latin typeface="Rockwell" panose="02060603020205020403" pitchFamily="18" charset="0"/>
                <a:ea typeface="+mj-ea"/>
                <a:cs typeface="+mj-cs"/>
              </a:rPr>
              <a:t>Mục</a:t>
            </a:r>
            <a:r>
              <a:rPr lang="en-US" b="1" dirty="0" smtClean="0">
                <a:solidFill>
                  <a:srgbClr val="0000CC"/>
                </a:solidFill>
                <a:latin typeface="Rockwell" panose="02060603020205020403" pitchFamily="18" charset="0"/>
                <a:ea typeface="+mj-ea"/>
                <a:cs typeface="+mj-cs"/>
              </a:rPr>
              <a:t> </a:t>
            </a:r>
            <a:r>
              <a:rPr lang="en-US" b="1" dirty="0" err="1" smtClean="0">
                <a:solidFill>
                  <a:srgbClr val="0000CC"/>
                </a:solidFill>
                <a:latin typeface="Rockwell" panose="02060603020205020403" pitchFamily="18" charset="0"/>
                <a:ea typeface="+mj-ea"/>
                <a:cs typeface="+mj-cs"/>
              </a:rPr>
              <a:t>đích</a:t>
            </a:r>
            <a:r>
              <a:rPr lang="en-US" b="1" dirty="0" smtClean="0">
                <a:solidFill>
                  <a:srgbClr val="0000CC"/>
                </a:solidFill>
                <a:latin typeface="Rockwell" panose="02060603020205020403" pitchFamily="18" charset="0"/>
                <a:ea typeface="+mj-ea"/>
                <a:cs typeface="+mj-cs"/>
              </a:rPr>
              <a:t> </a:t>
            </a:r>
            <a:r>
              <a:rPr lang="en-US" b="1" dirty="0" err="1" smtClean="0">
                <a:solidFill>
                  <a:srgbClr val="0000CC"/>
                </a:solidFill>
                <a:latin typeface="Rockwell" panose="02060603020205020403" pitchFamily="18" charset="0"/>
                <a:ea typeface="+mj-ea"/>
                <a:cs typeface="+mj-cs"/>
              </a:rPr>
              <a:t>sử</a:t>
            </a:r>
            <a:r>
              <a:rPr lang="en-US" b="1" dirty="0" smtClean="0">
                <a:solidFill>
                  <a:srgbClr val="0000CC"/>
                </a:solidFill>
                <a:latin typeface="Rockwell" panose="02060603020205020403" pitchFamily="18" charset="0"/>
                <a:ea typeface="+mj-ea"/>
                <a:cs typeface="+mj-cs"/>
              </a:rPr>
              <a:t> </a:t>
            </a:r>
            <a:r>
              <a:rPr lang="en-US" b="1" dirty="0" err="1" smtClean="0">
                <a:solidFill>
                  <a:srgbClr val="0000CC"/>
                </a:solidFill>
                <a:latin typeface="Rockwell" panose="02060603020205020403" pitchFamily="18" charset="0"/>
                <a:ea typeface="+mj-ea"/>
                <a:cs typeface="+mj-cs"/>
              </a:rPr>
              <a:t>dụng</a:t>
            </a:r>
            <a:r>
              <a:rPr lang="en-US" b="1" dirty="0" smtClean="0">
                <a:solidFill>
                  <a:srgbClr val="0000CC"/>
                </a:solidFill>
                <a:latin typeface="Rockwell" panose="02060603020205020403" pitchFamily="18" charset="0"/>
                <a:ea typeface="+mj-ea"/>
                <a:cs typeface="+mj-cs"/>
              </a:rPr>
              <a:t> </a:t>
            </a:r>
            <a:r>
              <a:rPr lang="en-US" b="1" dirty="0" err="1" smtClean="0">
                <a:solidFill>
                  <a:srgbClr val="0000CC"/>
                </a:solidFill>
                <a:latin typeface="Rockwell" panose="02060603020205020403" pitchFamily="18" charset="0"/>
                <a:ea typeface="+mj-ea"/>
                <a:cs typeface="+mj-cs"/>
              </a:rPr>
              <a:t>của</a:t>
            </a:r>
            <a:r>
              <a:rPr lang="en-US" b="1" dirty="0" smtClean="0">
                <a:solidFill>
                  <a:srgbClr val="0000CC"/>
                </a:solidFill>
                <a:latin typeface="Rockwell" panose="02060603020205020403" pitchFamily="18" charset="0"/>
                <a:ea typeface="+mj-ea"/>
                <a:cs typeface="+mj-cs"/>
              </a:rPr>
              <a:t> Firewall </a:t>
            </a:r>
            <a:r>
              <a:rPr lang="en-US" b="1" dirty="0" err="1" smtClean="0">
                <a:solidFill>
                  <a:srgbClr val="0000CC"/>
                </a:solidFill>
                <a:latin typeface="Rockwell" panose="02060603020205020403" pitchFamily="18" charset="0"/>
                <a:ea typeface="+mj-ea"/>
                <a:cs typeface="+mj-cs"/>
              </a:rPr>
              <a:t>trong</a:t>
            </a:r>
            <a:r>
              <a:rPr lang="en-US" b="1" dirty="0" smtClean="0">
                <a:solidFill>
                  <a:srgbClr val="0000CC"/>
                </a:solidFill>
                <a:latin typeface="Rockwell" panose="02060603020205020403" pitchFamily="18" charset="0"/>
                <a:ea typeface="+mj-ea"/>
                <a:cs typeface="+mj-cs"/>
              </a:rPr>
              <a:t> </a:t>
            </a:r>
            <a:r>
              <a:rPr lang="en-US" b="1" dirty="0" err="1" smtClean="0">
                <a:solidFill>
                  <a:srgbClr val="0000CC"/>
                </a:solidFill>
                <a:latin typeface="Rockwell" panose="02060603020205020403" pitchFamily="18" charset="0"/>
                <a:ea typeface="+mj-ea"/>
                <a:cs typeface="+mj-cs"/>
              </a:rPr>
              <a:t>mạng</a:t>
            </a:r>
            <a:r>
              <a:rPr lang="en-US" b="1" dirty="0" smtClean="0">
                <a:solidFill>
                  <a:srgbClr val="0000CC"/>
                </a:solidFill>
                <a:latin typeface="Rockwell" panose="02060603020205020403" pitchFamily="18" charset="0"/>
                <a:ea typeface="+mj-ea"/>
                <a:cs typeface="+mj-cs"/>
              </a:rPr>
              <a:t> E-commerce</a:t>
            </a:r>
            <a:r>
              <a:rPr lang="vi-VN" b="1" dirty="0" smtClean="0">
                <a:solidFill>
                  <a:srgbClr val="0000CC"/>
                </a:solidFill>
                <a:latin typeface="Rockwell" panose="02060603020205020403" pitchFamily="18" charset="0"/>
                <a:ea typeface="+mj-ea"/>
                <a:cs typeface="+mj-cs"/>
              </a:rPr>
              <a:t>:</a:t>
            </a:r>
            <a:endParaRPr lang="en-US" b="1" dirty="0" smtClean="0">
              <a:solidFill>
                <a:srgbClr val="0000CC"/>
              </a:solidFill>
              <a:latin typeface="Rockwell" panose="02060603020205020403" pitchFamily="18" charset="0"/>
              <a:ea typeface="+mj-ea"/>
              <a:cs typeface="+mj-cs"/>
            </a:endParaRPr>
          </a:p>
          <a:p>
            <a:pPr marL="0" indent="0" algn="just">
              <a:lnSpc>
                <a:spcPct val="90000"/>
              </a:lnSpc>
              <a:spcBef>
                <a:spcPts val="600"/>
              </a:spcBef>
              <a:spcAft>
                <a:spcPts val="600"/>
              </a:spcAft>
              <a:buNone/>
            </a:pPr>
            <a:endParaRPr lang="en-US" b="1" dirty="0" smtClean="0">
              <a:solidFill>
                <a:srgbClr val="0000CC"/>
              </a:solidFill>
              <a:latin typeface="Rockwell" panose="02060603020205020403" pitchFamily="18" charset="0"/>
              <a:ea typeface="+mj-ea"/>
              <a:cs typeface="+mj-cs"/>
            </a:endParaRPr>
          </a:p>
          <a:p>
            <a:pPr marL="0" indent="0" algn="just">
              <a:lnSpc>
                <a:spcPct val="90000"/>
              </a:lnSpc>
              <a:spcBef>
                <a:spcPts val="600"/>
              </a:spcBef>
              <a:spcAft>
                <a:spcPts val="600"/>
              </a:spcAft>
              <a:buNone/>
            </a:pPr>
            <a:r>
              <a:rPr lang="en-US" sz="2600" i="1" dirty="0" err="1" smtClean="0">
                <a:solidFill>
                  <a:srgbClr val="FF00FF"/>
                </a:solidFill>
                <a:latin typeface="Rockwell" panose="02060603020205020403" pitchFamily="18" charset="0"/>
                <a:ea typeface="+mj-ea"/>
                <a:cs typeface="+mj-cs"/>
              </a:rPr>
              <a:t>Nhận</a:t>
            </a:r>
            <a:r>
              <a:rPr lang="en-US" sz="2600" i="1" dirty="0" smtClean="0">
                <a:solidFill>
                  <a:srgbClr val="FF00FF"/>
                </a:solidFill>
                <a:latin typeface="Rockwell" panose="02060603020205020403" pitchFamily="18" charset="0"/>
                <a:ea typeface="+mj-ea"/>
                <a:cs typeface="+mj-cs"/>
              </a:rPr>
              <a:t> </a:t>
            </a:r>
            <a:r>
              <a:rPr lang="en-US" sz="2600" i="1" dirty="0" err="1" smtClean="0">
                <a:solidFill>
                  <a:srgbClr val="FF00FF"/>
                </a:solidFill>
                <a:latin typeface="Rockwell" panose="02060603020205020403" pitchFamily="18" charset="0"/>
                <a:ea typeface="+mj-ea"/>
                <a:cs typeface="+mj-cs"/>
              </a:rPr>
              <a:t>định</a:t>
            </a:r>
            <a:endParaRPr lang="en-US" sz="2600" i="1" dirty="0">
              <a:solidFill>
                <a:srgbClr val="FF00FF"/>
              </a:solidFill>
              <a:latin typeface="Rockwell" panose="02060603020205020403" pitchFamily="18" charset="0"/>
              <a:ea typeface="+mj-ea"/>
              <a:cs typeface="+mj-cs"/>
            </a:endParaRPr>
          </a:p>
          <a:p>
            <a:pPr marL="0" indent="0" algn="just">
              <a:lnSpc>
                <a:spcPct val="90000"/>
              </a:lnSpc>
              <a:spcBef>
                <a:spcPts val="600"/>
              </a:spcBef>
              <a:spcAft>
                <a:spcPts val="600"/>
              </a:spcAft>
              <a:buNone/>
            </a:pPr>
            <a:r>
              <a:rPr lang="en-US" sz="2600" i="1" dirty="0">
                <a:solidFill>
                  <a:srgbClr val="FF00FF"/>
                </a:solidFill>
                <a:latin typeface="Rockwell" panose="02060603020205020403" pitchFamily="18" charset="0"/>
                <a:ea typeface="+mj-ea"/>
                <a:cs typeface="+mj-cs"/>
              </a:rPr>
              <a:t>Firewall </a:t>
            </a:r>
            <a:r>
              <a:rPr lang="en-US" sz="2600" i="1" dirty="0" err="1">
                <a:solidFill>
                  <a:srgbClr val="FF00FF"/>
                </a:solidFill>
                <a:latin typeface="Rockwell" panose="02060603020205020403" pitchFamily="18" charset="0"/>
                <a:ea typeface="+mj-ea"/>
                <a:cs typeface="+mj-cs"/>
              </a:rPr>
              <a:t>lọc</a:t>
            </a:r>
            <a:r>
              <a:rPr lang="en-US" sz="2600" i="1" dirty="0">
                <a:solidFill>
                  <a:srgbClr val="FF00FF"/>
                </a:solidFill>
                <a:latin typeface="Rockwell" panose="02060603020205020403" pitchFamily="18" charset="0"/>
                <a:ea typeface="+mj-ea"/>
                <a:cs typeface="+mj-cs"/>
              </a:rPr>
              <a:t> </a:t>
            </a:r>
            <a:r>
              <a:rPr lang="en-US" sz="2600" i="1" dirty="0" err="1">
                <a:solidFill>
                  <a:srgbClr val="FF00FF"/>
                </a:solidFill>
                <a:latin typeface="Rockwell" panose="02060603020205020403" pitchFamily="18" charset="0"/>
                <a:ea typeface="+mj-ea"/>
                <a:cs typeface="+mj-cs"/>
              </a:rPr>
              <a:t>gói</a:t>
            </a:r>
            <a:r>
              <a:rPr lang="en-US" sz="2600" i="1" dirty="0">
                <a:solidFill>
                  <a:srgbClr val="FF00FF"/>
                </a:solidFill>
                <a:latin typeface="Rockwell" panose="02060603020205020403" pitchFamily="18" charset="0"/>
                <a:ea typeface="+mj-ea"/>
                <a:cs typeface="+mj-cs"/>
              </a:rPr>
              <a:t> </a:t>
            </a:r>
            <a:r>
              <a:rPr lang="en-US" sz="2600" i="1" dirty="0" err="1" smtClean="0">
                <a:solidFill>
                  <a:srgbClr val="FF00FF"/>
                </a:solidFill>
                <a:latin typeface="Rockwell" panose="02060603020205020403" pitchFamily="18" charset="0"/>
                <a:ea typeface="+mj-ea"/>
                <a:cs typeface="+mj-cs"/>
              </a:rPr>
              <a:t>xem</a:t>
            </a:r>
            <a:r>
              <a:rPr lang="en-US" sz="2600" i="1" dirty="0" smtClean="0">
                <a:solidFill>
                  <a:srgbClr val="FF00FF"/>
                </a:solidFill>
                <a:latin typeface="Rockwell" panose="02060603020205020403" pitchFamily="18" charset="0"/>
                <a:ea typeface="+mj-ea"/>
                <a:cs typeface="+mj-cs"/>
              </a:rPr>
              <a:t> </a:t>
            </a:r>
            <a:r>
              <a:rPr lang="en-US" sz="2600" i="1" dirty="0" err="1" smtClean="0">
                <a:solidFill>
                  <a:srgbClr val="FF00FF"/>
                </a:solidFill>
                <a:latin typeface="Rockwell" panose="02060603020205020403" pitchFamily="18" charset="0"/>
                <a:ea typeface="+mj-ea"/>
                <a:cs typeface="+mj-cs"/>
              </a:rPr>
              <a:t>như</a:t>
            </a:r>
            <a:r>
              <a:rPr lang="en-US" sz="2600" i="1" dirty="0" smtClean="0">
                <a:solidFill>
                  <a:srgbClr val="FF00FF"/>
                </a:solidFill>
                <a:latin typeface="Rockwell" panose="02060603020205020403" pitchFamily="18" charset="0"/>
                <a:ea typeface="+mj-ea"/>
                <a:cs typeface="+mj-cs"/>
              </a:rPr>
              <a:t> </a:t>
            </a:r>
            <a:r>
              <a:rPr lang="en-US" sz="2600" i="1" dirty="0">
                <a:solidFill>
                  <a:srgbClr val="FF00FF"/>
                </a:solidFill>
                <a:latin typeface="Rockwell" panose="02060603020205020403" pitchFamily="18" charset="0"/>
                <a:ea typeface="+mj-ea"/>
                <a:cs typeface="+mj-cs"/>
              </a:rPr>
              <a:t>"</a:t>
            </a:r>
            <a:r>
              <a:rPr lang="en-US" sz="2600" i="1" dirty="0" err="1">
                <a:solidFill>
                  <a:srgbClr val="FF00FF"/>
                </a:solidFill>
                <a:latin typeface="Rockwell" panose="02060603020205020403" pitchFamily="18" charset="0"/>
                <a:ea typeface="+mj-ea"/>
                <a:cs typeface="+mj-cs"/>
              </a:rPr>
              <a:t>chốt</a:t>
            </a:r>
            <a:r>
              <a:rPr lang="en-US" sz="2600" i="1" dirty="0">
                <a:solidFill>
                  <a:srgbClr val="FF00FF"/>
                </a:solidFill>
                <a:latin typeface="Rockwell" panose="02060603020205020403" pitchFamily="18" charset="0"/>
                <a:ea typeface="+mj-ea"/>
                <a:cs typeface="+mj-cs"/>
              </a:rPr>
              <a:t> </a:t>
            </a:r>
            <a:r>
              <a:rPr lang="en-US" sz="2600" i="1" dirty="0" err="1">
                <a:solidFill>
                  <a:srgbClr val="FF00FF"/>
                </a:solidFill>
                <a:latin typeface="Rockwell" panose="02060603020205020403" pitchFamily="18" charset="0"/>
                <a:ea typeface="+mj-ea"/>
                <a:cs typeface="+mj-cs"/>
              </a:rPr>
              <a:t>chặn</a:t>
            </a:r>
            <a:r>
              <a:rPr lang="en-US" sz="2600" i="1" dirty="0">
                <a:solidFill>
                  <a:srgbClr val="FF00FF"/>
                </a:solidFill>
                <a:latin typeface="Rockwell" panose="02060603020205020403" pitchFamily="18" charset="0"/>
                <a:ea typeface="+mj-ea"/>
                <a:cs typeface="+mj-cs"/>
              </a:rPr>
              <a:t> </a:t>
            </a:r>
            <a:r>
              <a:rPr lang="en-US" sz="2600" i="1" dirty="0" err="1">
                <a:solidFill>
                  <a:srgbClr val="FF00FF"/>
                </a:solidFill>
                <a:latin typeface="Rockwell" panose="02060603020205020403" pitchFamily="18" charset="0"/>
                <a:ea typeface="+mj-ea"/>
                <a:cs typeface="+mj-cs"/>
              </a:rPr>
              <a:t>cửa</a:t>
            </a:r>
            <a:r>
              <a:rPr lang="en-US" sz="2600" i="1" dirty="0">
                <a:solidFill>
                  <a:srgbClr val="FF00FF"/>
                </a:solidFill>
                <a:latin typeface="Rockwell" panose="02060603020205020403" pitchFamily="18" charset="0"/>
                <a:ea typeface="+mj-ea"/>
                <a:cs typeface="+mj-cs"/>
              </a:rPr>
              <a:t> </a:t>
            </a:r>
            <a:r>
              <a:rPr lang="en-US" sz="2600" i="1" dirty="0" err="1">
                <a:solidFill>
                  <a:srgbClr val="FF00FF"/>
                </a:solidFill>
                <a:latin typeface="Rockwell" panose="02060603020205020403" pitchFamily="18" charset="0"/>
                <a:ea typeface="+mj-ea"/>
                <a:cs typeface="+mj-cs"/>
              </a:rPr>
              <a:t>ngoài</a:t>
            </a:r>
            <a:r>
              <a:rPr lang="en-US" sz="2600" i="1" dirty="0">
                <a:solidFill>
                  <a:srgbClr val="FF00FF"/>
                </a:solidFill>
                <a:latin typeface="Rockwell" panose="02060603020205020403" pitchFamily="18" charset="0"/>
                <a:ea typeface="+mj-ea"/>
                <a:cs typeface="+mj-cs"/>
              </a:rPr>
              <a:t>", </a:t>
            </a:r>
            <a:r>
              <a:rPr lang="en-US" sz="2600" i="1" dirty="0" err="1">
                <a:solidFill>
                  <a:srgbClr val="FF00FF"/>
                </a:solidFill>
                <a:latin typeface="Rockwell" panose="02060603020205020403" pitchFamily="18" charset="0"/>
                <a:ea typeface="+mj-ea"/>
                <a:cs typeface="+mj-cs"/>
              </a:rPr>
              <a:t>bảo</a:t>
            </a:r>
            <a:r>
              <a:rPr lang="en-US" sz="2600" i="1" dirty="0">
                <a:solidFill>
                  <a:srgbClr val="FF00FF"/>
                </a:solidFill>
                <a:latin typeface="Rockwell" panose="02060603020205020403" pitchFamily="18" charset="0"/>
                <a:ea typeface="+mj-ea"/>
                <a:cs typeface="+mj-cs"/>
              </a:rPr>
              <a:t> </a:t>
            </a:r>
            <a:r>
              <a:rPr lang="en-US" sz="2600" i="1" dirty="0" err="1">
                <a:solidFill>
                  <a:srgbClr val="FF00FF"/>
                </a:solidFill>
                <a:latin typeface="Rockwell" panose="02060603020205020403" pitchFamily="18" charset="0"/>
                <a:ea typeface="+mj-ea"/>
                <a:cs typeface="+mj-cs"/>
              </a:rPr>
              <a:t>vệ</a:t>
            </a:r>
            <a:r>
              <a:rPr lang="en-US" sz="2600" i="1" dirty="0">
                <a:solidFill>
                  <a:srgbClr val="FF00FF"/>
                </a:solidFill>
                <a:latin typeface="Rockwell" panose="02060603020205020403" pitchFamily="18" charset="0"/>
                <a:ea typeface="+mj-ea"/>
                <a:cs typeface="+mj-cs"/>
              </a:rPr>
              <a:t> </a:t>
            </a:r>
            <a:r>
              <a:rPr lang="en-US" sz="2600" i="1" dirty="0" err="1">
                <a:solidFill>
                  <a:srgbClr val="FF00FF"/>
                </a:solidFill>
                <a:latin typeface="Rockwell" panose="02060603020205020403" pitchFamily="18" charset="0"/>
                <a:ea typeface="+mj-ea"/>
                <a:cs typeface="+mj-cs"/>
              </a:rPr>
              <a:t>tầng</a:t>
            </a:r>
            <a:r>
              <a:rPr lang="en-US" sz="2600" i="1" dirty="0">
                <a:solidFill>
                  <a:srgbClr val="FF00FF"/>
                </a:solidFill>
                <a:latin typeface="Rockwell" panose="02060603020205020403" pitchFamily="18" charset="0"/>
                <a:ea typeface="+mj-ea"/>
                <a:cs typeface="+mj-cs"/>
              </a:rPr>
              <a:t> </a:t>
            </a:r>
            <a:r>
              <a:rPr lang="en-US" sz="2600" i="1" dirty="0" err="1">
                <a:solidFill>
                  <a:srgbClr val="FF00FF"/>
                </a:solidFill>
                <a:latin typeface="Rockwell" panose="02060603020205020403" pitchFamily="18" charset="0"/>
                <a:ea typeface="+mj-ea"/>
                <a:cs typeface="+mj-cs"/>
              </a:rPr>
              <a:t>mạng</a:t>
            </a:r>
            <a:r>
              <a:rPr lang="en-US" sz="2600" i="1" dirty="0">
                <a:solidFill>
                  <a:srgbClr val="FF00FF"/>
                </a:solidFill>
                <a:latin typeface="Rockwell" panose="02060603020205020403" pitchFamily="18" charset="0"/>
                <a:ea typeface="+mj-ea"/>
                <a:cs typeface="+mj-cs"/>
              </a:rPr>
              <a:t>.</a:t>
            </a:r>
          </a:p>
          <a:p>
            <a:pPr marL="0" indent="0" algn="just">
              <a:lnSpc>
                <a:spcPct val="90000"/>
              </a:lnSpc>
              <a:spcBef>
                <a:spcPts val="600"/>
              </a:spcBef>
              <a:spcAft>
                <a:spcPts val="600"/>
              </a:spcAft>
              <a:buNone/>
            </a:pPr>
            <a:r>
              <a:rPr lang="en-US" sz="2600" i="1" dirty="0">
                <a:solidFill>
                  <a:srgbClr val="FF00FF"/>
                </a:solidFill>
                <a:latin typeface="Rockwell" panose="02060603020205020403" pitchFamily="18" charset="0"/>
                <a:ea typeface="+mj-ea"/>
                <a:cs typeface="+mj-cs"/>
              </a:rPr>
              <a:t>Firewall </a:t>
            </a:r>
            <a:r>
              <a:rPr lang="en-US" sz="2600" i="1" dirty="0" err="1">
                <a:solidFill>
                  <a:srgbClr val="FF00FF"/>
                </a:solidFill>
                <a:latin typeface="Rockwell" panose="02060603020205020403" pitchFamily="18" charset="0"/>
                <a:ea typeface="+mj-ea"/>
                <a:cs typeface="+mj-cs"/>
              </a:rPr>
              <a:t>tầng</a:t>
            </a:r>
            <a:r>
              <a:rPr lang="en-US" sz="2600" i="1" dirty="0">
                <a:solidFill>
                  <a:srgbClr val="FF00FF"/>
                </a:solidFill>
                <a:latin typeface="Rockwell" panose="02060603020205020403" pitchFamily="18" charset="0"/>
                <a:ea typeface="+mj-ea"/>
                <a:cs typeface="+mj-cs"/>
              </a:rPr>
              <a:t> </a:t>
            </a:r>
            <a:r>
              <a:rPr lang="en-US" sz="2600" i="1" dirty="0" err="1">
                <a:solidFill>
                  <a:srgbClr val="FF00FF"/>
                </a:solidFill>
                <a:latin typeface="Rockwell" panose="02060603020205020403" pitchFamily="18" charset="0"/>
                <a:ea typeface="+mj-ea"/>
                <a:cs typeface="+mj-cs"/>
              </a:rPr>
              <a:t>ứng</a:t>
            </a:r>
            <a:r>
              <a:rPr lang="en-US" sz="2600" i="1" dirty="0">
                <a:solidFill>
                  <a:srgbClr val="FF00FF"/>
                </a:solidFill>
                <a:latin typeface="Rockwell" panose="02060603020205020403" pitchFamily="18" charset="0"/>
                <a:ea typeface="+mj-ea"/>
                <a:cs typeface="+mj-cs"/>
              </a:rPr>
              <a:t> </a:t>
            </a:r>
            <a:r>
              <a:rPr lang="en-US" sz="2600" i="1" dirty="0" err="1">
                <a:solidFill>
                  <a:srgbClr val="FF00FF"/>
                </a:solidFill>
                <a:latin typeface="Rockwell" panose="02060603020205020403" pitchFamily="18" charset="0"/>
                <a:ea typeface="+mj-ea"/>
                <a:cs typeface="+mj-cs"/>
              </a:rPr>
              <a:t>dụng</a:t>
            </a:r>
            <a:r>
              <a:rPr lang="en-US" sz="2600" i="1" dirty="0">
                <a:solidFill>
                  <a:srgbClr val="FF00FF"/>
                </a:solidFill>
                <a:latin typeface="Rockwell" panose="02060603020205020403" pitchFamily="18" charset="0"/>
                <a:ea typeface="+mj-ea"/>
                <a:cs typeface="+mj-cs"/>
              </a:rPr>
              <a:t> </a:t>
            </a:r>
            <a:r>
              <a:rPr lang="en-US" sz="2600" i="1" dirty="0" err="1" smtClean="0">
                <a:solidFill>
                  <a:srgbClr val="FF00FF"/>
                </a:solidFill>
                <a:latin typeface="Rockwell" panose="02060603020205020403" pitchFamily="18" charset="0"/>
                <a:ea typeface="+mj-ea"/>
                <a:cs typeface="+mj-cs"/>
              </a:rPr>
              <a:t>được</a:t>
            </a:r>
            <a:r>
              <a:rPr lang="en-US" sz="2600" i="1" dirty="0" smtClean="0">
                <a:solidFill>
                  <a:srgbClr val="FF00FF"/>
                </a:solidFill>
                <a:latin typeface="Rockwell" panose="02060603020205020403" pitchFamily="18" charset="0"/>
                <a:ea typeface="+mj-ea"/>
                <a:cs typeface="+mj-cs"/>
              </a:rPr>
              <a:t> </a:t>
            </a:r>
            <a:r>
              <a:rPr lang="en-US" sz="2600" i="1" dirty="0" err="1" smtClean="0">
                <a:solidFill>
                  <a:srgbClr val="FF00FF"/>
                </a:solidFill>
                <a:latin typeface="Rockwell" panose="02060603020205020403" pitchFamily="18" charset="0"/>
                <a:ea typeface="+mj-ea"/>
                <a:cs typeface="+mj-cs"/>
              </a:rPr>
              <a:t>xem</a:t>
            </a:r>
            <a:r>
              <a:rPr lang="en-US" sz="2600" i="1" dirty="0" smtClean="0">
                <a:solidFill>
                  <a:srgbClr val="FF00FF"/>
                </a:solidFill>
                <a:latin typeface="Rockwell" panose="02060603020205020403" pitchFamily="18" charset="0"/>
                <a:ea typeface="+mj-ea"/>
                <a:cs typeface="+mj-cs"/>
              </a:rPr>
              <a:t> </a:t>
            </a:r>
            <a:r>
              <a:rPr lang="en-US" sz="2600" i="1" dirty="0" err="1" smtClean="0">
                <a:solidFill>
                  <a:srgbClr val="FF00FF"/>
                </a:solidFill>
                <a:latin typeface="Rockwell" panose="02060603020205020403" pitchFamily="18" charset="0"/>
                <a:ea typeface="+mj-ea"/>
                <a:cs typeface="+mj-cs"/>
              </a:rPr>
              <a:t>là</a:t>
            </a:r>
            <a:r>
              <a:rPr lang="en-US" sz="2600" i="1" dirty="0" smtClean="0">
                <a:solidFill>
                  <a:srgbClr val="FF00FF"/>
                </a:solidFill>
                <a:latin typeface="Rockwell" panose="02060603020205020403" pitchFamily="18" charset="0"/>
                <a:ea typeface="+mj-ea"/>
                <a:cs typeface="+mj-cs"/>
              </a:rPr>
              <a:t> </a:t>
            </a:r>
            <a:r>
              <a:rPr lang="en-US" sz="2600" i="1" dirty="0">
                <a:solidFill>
                  <a:srgbClr val="FF00FF"/>
                </a:solidFill>
                <a:latin typeface="Rockwell" panose="02060603020205020403" pitchFamily="18" charset="0"/>
                <a:ea typeface="+mj-ea"/>
                <a:cs typeface="+mj-cs"/>
              </a:rPr>
              <a:t>"</a:t>
            </a:r>
            <a:r>
              <a:rPr lang="en-US" sz="2600" i="1" dirty="0" err="1">
                <a:solidFill>
                  <a:srgbClr val="FF00FF"/>
                </a:solidFill>
                <a:latin typeface="Rockwell" panose="02060603020205020403" pitchFamily="18" charset="0"/>
                <a:ea typeface="+mj-ea"/>
                <a:cs typeface="+mj-cs"/>
              </a:rPr>
              <a:t>bộ</a:t>
            </a:r>
            <a:r>
              <a:rPr lang="en-US" sz="2600" i="1" dirty="0">
                <a:solidFill>
                  <a:srgbClr val="FF00FF"/>
                </a:solidFill>
                <a:latin typeface="Rockwell" panose="02060603020205020403" pitchFamily="18" charset="0"/>
                <a:ea typeface="+mj-ea"/>
                <a:cs typeface="+mj-cs"/>
              </a:rPr>
              <a:t> </a:t>
            </a:r>
            <a:r>
              <a:rPr lang="en-US" sz="2600" i="1" dirty="0" err="1">
                <a:solidFill>
                  <a:srgbClr val="FF00FF"/>
                </a:solidFill>
                <a:latin typeface="Rockwell" panose="02060603020205020403" pitchFamily="18" charset="0"/>
                <a:ea typeface="+mj-ea"/>
                <a:cs typeface="+mj-cs"/>
              </a:rPr>
              <a:t>lọc</a:t>
            </a:r>
            <a:r>
              <a:rPr lang="en-US" sz="2600" i="1" dirty="0">
                <a:solidFill>
                  <a:srgbClr val="FF00FF"/>
                </a:solidFill>
                <a:latin typeface="Rockwell" panose="02060603020205020403" pitchFamily="18" charset="0"/>
                <a:ea typeface="+mj-ea"/>
                <a:cs typeface="+mj-cs"/>
              </a:rPr>
              <a:t> </a:t>
            </a:r>
            <a:r>
              <a:rPr lang="en-US" sz="2600" i="1" dirty="0" err="1">
                <a:solidFill>
                  <a:srgbClr val="FF00FF"/>
                </a:solidFill>
                <a:latin typeface="Rockwell" panose="02060603020205020403" pitchFamily="18" charset="0"/>
                <a:ea typeface="+mj-ea"/>
                <a:cs typeface="+mj-cs"/>
              </a:rPr>
              <a:t>thông</a:t>
            </a:r>
            <a:r>
              <a:rPr lang="en-US" sz="2600" i="1" dirty="0">
                <a:solidFill>
                  <a:srgbClr val="FF00FF"/>
                </a:solidFill>
                <a:latin typeface="Rockwell" panose="02060603020205020403" pitchFamily="18" charset="0"/>
                <a:ea typeface="+mj-ea"/>
                <a:cs typeface="+mj-cs"/>
              </a:rPr>
              <a:t> minh", </a:t>
            </a:r>
            <a:r>
              <a:rPr lang="en-US" sz="2600" i="1" dirty="0" err="1">
                <a:solidFill>
                  <a:srgbClr val="FF00FF"/>
                </a:solidFill>
                <a:latin typeface="Rockwell" panose="02060603020205020403" pitchFamily="18" charset="0"/>
                <a:ea typeface="+mj-ea"/>
                <a:cs typeface="+mj-cs"/>
              </a:rPr>
              <a:t>bảo</a:t>
            </a:r>
            <a:r>
              <a:rPr lang="en-US" sz="2600" i="1" dirty="0">
                <a:solidFill>
                  <a:srgbClr val="FF00FF"/>
                </a:solidFill>
                <a:latin typeface="Rockwell" panose="02060603020205020403" pitchFamily="18" charset="0"/>
                <a:ea typeface="+mj-ea"/>
                <a:cs typeface="+mj-cs"/>
              </a:rPr>
              <a:t> </a:t>
            </a:r>
            <a:r>
              <a:rPr lang="en-US" sz="2600" i="1" dirty="0" err="1">
                <a:solidFill>
                  <a:srgbClr val="FF00FF"/>
                </a:solidFill>
                <a:latin typeface="Rockwell" panose="02060603020205020403" pitchFamily="18" charset="0"/>
                <a:ea typeface="+mj-ea"/>
                <a:cs typeface="+mj-cs"/>
              </a:rPr>
              <a:t>vệ</a:t>
            </a:r>
            <a:r>
              <a:rPr lang="en-US" sz="2600" i="1" dirty="0">
                <a:solidFill>
                  <a:srgbClr val="FF00FF"/>
                </a:solidFill>
                <a:latin typeface="Rockwell" panose="02060603020205020403" pitchFamily="18" charset="0"/>
                <a:ea typeface="+mj-ea"/>
                <a:cs typeface="+mj-cs"/>
              </a:rPr>
              <a:t> </a:t>
            </a:r>
            <a:r>
              <a:rPr lang="en-US" sz="2600" i="1" dirty="0" err="1">
                <a:solidFill>
                  <a:srgbClr val="FF00FF"/>
                </a:solidFill>
                <a:latin typeface="Rockwell" panose="02060603020205020403" pitchFamily="18" charset="0"/>
                <a:ea typeface="+mj-ea"/>
                <a:cs typeface="+mj-cs"/>
              </a:rPr>
              <a:t>giao</a:t>
            </a:r>
            <a:r>
              <a:rPr lang="en-US" sz="2600" i="1" dirty="0">
                <a:solidFill>
                  <a:srgbClr val="FF00FF"/>
                </a:solidFill>
                <a:latin typeface="Rockwell" panose="02060603020205020403" pitchFamily="18" charset="0"/>
                <a:ea typeface="+mj-ea"/>
                <a:cs typeface="+mj-cs"/>
              </a:rPr>
              <a:t> </a:t>
            </a:r>
            <a:r>
              <a:rPr lang="en-US" sz="2600" i="1" dirty="0" err="1">
                <a:solidFill>
                  <a:srgbClr val="FF00FF"/>
                </a:solidFill>
                <a:latin typeface="Rockwell" panose="02060603020205020403" pitchFamily="18" charset="0"/>
                <a:ea typeface="+mj-ea"/>
                <a:cs typeface="+mj-cs"/>
              </a:rPr>
              <a:t>dịch</a:t>
            </a:r>
            <a:r>
              <a:rPr lang="en-US" sz="2600" i="1" dirty="0">
                <a:solidFill>
                  <a:srgbClr val="FF00FF"/>
                </a:solidFill>
                <a:latin typeface="Rockwell" panose="02060603020205020403" pitchFamily="18" charset="0"/>
                <a:ea typeface="+mj-ea"/>
                <a:cs typeface="+mj-cs"/>
              </a:rPr>
              <a:t> &amp; </a:t>
            </a:r>
            <a:r>
              <a:rPr lang="en-US" sz="2600" i="1" dirty="0" err="1">
                <a:solidFill>
                  <a:srgbClr val="FF00FF"/>
                </a:solidFill>
                <a:latin typeface="Rockwell" panose="02060603020205020403" pitchFamily="18" charset="0"/>
                <a:ea typeface="+mj-ea"/>
                <a:cs typeface="+mj-cs"/>
              </a:rPr>
              <a:t>dữ</a:t>
            </a:r>
            <a:r>
              <a:rPr lang="en-US" sz="2600" i="1" dirty="0">
                <a:solidFill>
                  <a:srgbClr val="FF00FF"/>
                </a:solidFill>
                <a:latin typeface="Rockwell" panose="02060603020205020403" pitchFamily="18" charset="0"/>
                <a:ea typeface="+mj-ea"/>
                <a:cs typeface="+mj-cs"/>
              </a:rPr>
              <a:t> </a:t>
            </a:r>
            <a:r>
              <a:rPr lang="en-US" sz="2600" i="1" dirty="0" err="1">
                <a:solidFill>
                  <a:srgbClr val="FF00FF"/>
                </a:solidFill>
                <a:latin typeface="Rockwell" panose="02060603020205020403" pitchFamily="18" charset="0"/>
                <a:ea typeface="+mj-ea"/>
                <a:cs typeface="+mj-cs"/>
              </a:rPr>
              <a:t>liệu</a:t>
            </a:r>
            <a:r>
              <a:rPr lang="en-US" sz="2600" i="1" dirty="0">
                <a:solidFill>
                  <a:srgbClr val="FF00FF"/>
                </a:solidFill>
                <a:latin typeface="Rockwell" panose="02060603020205020403" pitchFamily="18" charset="0"/>
                <a:ea typeface="+mj-ea"/>
                <a:cs typeface="+mj-cs"/>
              </a:rPr>
              <a:t> </a:t>
            </a:r>
            <a:r>
              <a:rPr lang="en-US" sz="2600" i="1" dirty="0" err="1">
                <a:solidFill>
                  <a:srgbClr val="FF00FF"/>
                </a:solidFill>
                <a:latin typeface="Rockwell" panose="02060603020205020403" pitchFamily="18" charset="0"/>
                <a:ea typeface="+mj-ea"/>
                <a:cs typeface="+mj-cs"/>
              </a:rPr>
              <a:t>ứng</a:t>
            </a:r>
            <a:r>
              <a:rPr lang="en-US" sz="2600" i="1" dirty="0">
                <a:solidFill>
                  <a:srgbClr val="FF00FF"/>
                </a:solidFill>
                <a:latin typeface="Rockwell" panose="02060603020205020403" pitchFamily="18" charset="0"/>
                <a:ea typeface="+mj-ea"/>
                <a:cs typeface="+mj-cs"/>
              </a:rPr>
              <a:t> </a:t>
            </a:r>
            <a:r>
              <a:rPr lang="en-US" sz="2600" i="1" dirty="0" err="1">
                <a:solidFill>
                  <a:srgbClr val="FF00FF"/>
                </a:solidFill>
                <a:latin typeface="Rockwell" panose="02060603020205020403" pitchFamily="18" charset="0"/>
                <a:ea typeface="+mj-ea"/>
                <a:cs typeface="+mj-cs"/>
              </a:rPr>
              <a:t>dụng</a:t>
            </a:r>
            <a:r>
              <a:rPr lang="en-US" sz="2600" i="1" dirty="0">
                <a:solidFill>
                  <a:srgbClr val="FF00FF"/>
                </a:solidFill>
                <a:latin typeface="Rockwell" panose="02060603020205020403" pitchFamily="18" charset="0"/>
                <a:ea typeface="+mj-ea"/>
                <a:cs typeface="+mj-cs"/>
              </a:rPr>
              <a:t>.</a:t>
            </a:r>
          </a:p>
        </p:txBody>
      </p:sp>
    </p:spTree>
    <p:extLst>
      <p:ext uri="{BB962C8B-B14F-4D97-AF65-F5344CB8AC3E}">
        <p14:creationId xmlns:p14="http://schemas.microsoft.com/office/powerpoint/2010/main" val="3712499660"/>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599" y="876869"/>
            <a:ext cx="10242645" cy="528851"/>
          </a:xfrm>
        </p:spPr>
        <p:txBody>
          <a:bodyPr/>
          <a:lstStyle/>
          <a:p>
            <a:r>
              <a:rPr lang="en-US" sz="2800" b="1" dirty="0">
                <a:solidFill>
                  <a:srgbClr val="0000CC"/>
                </a:solidFill>
                <a:latin typeface="Rockwell" panose="02060603020205020403" pitchFamily="18" charset="0"/>
              </a:rPr>
              <a:t>7</a:t>
            </a:r>
            <a:r>
              <a:rPr lang="en-US" sz="2800" b="1" dirty="0" smtClean="0">
                <a:solidFill>
                  <a:srgbClr val="0000CC"/>
                </a:solidFill>
                <a:latin typeface="Rockwell" panose="02060603020205020403" pitchFamily="18" charset="0"/>
              </a:rPr>
              <a:t>.3.</a:t>
            </a:r>
            <a:r>
              <a:rPr lang="vi-VN"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Chức</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năng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và</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mục</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đích</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sử</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dụng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của</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IDS</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600" y="1539263"/>
            <a:ext cx="10242644" cy="4382729"/>
          </a:xfrm>
        </p:spPr>
        <p:txBody>
          <a:bodyPr/>
          <a:lstStyle/>
          <a:p>
            <a:pPr marL="0" indent="0" algn="just">
              <a:buNone/>
            </a:pPr>
            <a:r>
              <a:rPr lang="vi-VN" sz="2500" dirty="0" smtClean="0">
                <a:solidFill>
                  <a:srgbClr val="0000CC"/>
                </a:solidFill>
                <a:latin typeface="Rockwell" panose="02060603020205020403" pitchFamily="18" charset="0"/>
                <a:ea typeface="+mj-ea"/>
                <a:cs typeface="+mj-cs"/>
              </a:rPr>
              <a:t>IDS </a:t>
            </a:r>
            <a:r>
              <a:rPr lang="vi-VN" sz="2500" dirty="0">
                <a:solidFill>
                  <a:srgbClr val="0000CC"/>
                </a:solidFill>
                <a:latin typeface="Rockwell" panose="02060603020205020403" pitchFamily="18" charset="0"/>
                <a:ea typeface="+mj-ea"/>
                <a:cs typeface="+mj-cs"/>
              </a:rPr>
              <a:t>(Intrusion Detection System) là hệ thống phát hiện xâm nhập, có nhiệm vụ giám sát lưu lượng mạng hoặc hoạt động hệ thống để phát hiện các hành vi bất thường, dấu hiệu tấn công hoặc vi phạm </a:t>
            </a:r>
            <a:r>
              <a:rPr lang="vi-VN" sz="2500" dirty="0" smtClean="0">
                <a:solidFill>
                  <a:srgbClr val="0000CC"/>
                </a:solidFill>
                <a:latin typeface="Rockwell" panose="02060603020205020403" pitchFamily="18" charset="0"/>
                <a:ea typeface="+mj-ea"/>
                <a:cs typeface="+mj-cs"/>
              </a:rPr>
              <a:t>c</a:t>
            </a:r>
            <a:r>
              <a:rPr lang="en-US" sz="2500" dirty="0" err="1" smtClean="0">
                <a:solidFill>
                  <a:srgbClr val="0000CC"/>
                </a:solidFill>
                <a:latin typeface="Rockwell" panose="02060603020205020403" pitchFamily="18" charset="0"/>
                <a:ea typeface="+mj-ea"/>
                <a:cs typeface="+mj-cs"/>
              </a:rPr>
              <a:t>hính</a:t>
            </a:r>
            <a:r>
              <a:rPr lang="en-US" sz="2500" dirty="0" smtClean="0">
                <a:solidFill>
                  <a:srgbClr val="0000CC"/>
                </a:solidFill>
                <a:latin typeface="Rockwell" panose="02060603020205020403" pitchFamily="18" charset="0"/>
                <a:ea typeface="+mj-ea"/>
                <a:cs typeface="+mj-cs"/>
              </a:rPr>
              <a:t> </a:t>
            </a:r>
            <a:r>
              <a:rPr lang="vi-VN" sz="2500" dirty="0" smtClean="0">
                <a:solidFill>
                  <a:srgbClr val="0000CC"/>
                </a:solidFill>
                <a:latin typeface="Rockwell" panose="02060603020205020403" pitchFamily="18" charset="0"/>
                <a:ea typeface="+mj-ea"/>
                <a:cs typeface="+mj-cs"/>
              </a:rPr>
              <a:t>sách </a:t>
            </a:r>
            <a:r>
              <a:rPr lang="vi-VN" sz="2500" dirty="0">
                <a:solidFill>
                  <a:srgbClr val="0000CC"/>
                </a:solidFill>
                <a:latin typeface="Rockwell" panose="02060603020205020403" pitchFamily="18" charset="0"/>
                <a:ea typeface="+mj-ea"/>
                <a:cs typeface="+mj-cs"/>
              </a:rPr>
              <a:t>bảo mật.</a:t>
            </a:r>
          </a:p>
          <a:p>
            <a:pPr marL="0" indent="0">
              <a:buNone/>
            </a:pPr>
            <a:r>
              <a:rPr lang="en-US" b="1" dirty="0">
                <a:solidFill>
                  <a:srgbClr val="0000CC"/>
                </a:solidFill>
                <a:latin typeface="Rockwell" panose="02060603020205020403" pitchFamily="18" charset="0"/>
                <a:ea typeface="+mj-ea"/>
                <a:cs typeface="+mj-cs"/>
              </a:rPr>
              <a:t>1</a:t>
            </a:r>
            <a:r>
              <a:rPr lang="en-US" b="1" dirty="0" smtClean="0">
                <a:solidFill>
                  <a:srgbClr val="0000CC"/>
                </a:solidFill>
                <a:latin typeface="Rockwell" panose="02060603020205020403" pitchFamily="18" charset="0"/>
                <a:ea typeface="+mj-ea"/>
                <a:cs typeface="+mj-cs"/>
              </a:rPr>
              <a:t>. </a:t>
            </a:r>
            <a:r>
              <a:rPr lang="vi-VN" b="1" dirty="0" smtClean="0">
                <a:solidFill>
                  <a:srgbClr val="0000CC"/>
                </a:solidFill>
                <a:latin typeface="Rockwell" panose="02060603020205020403" pitchFamily="18" charset="0"/>
                <a:ea typeface="+mj-ea"/>
                <a:cs typeface="+mj-cs"/>
              </a:rPr>
              <a:t>Nguyên </a:t>
            </a:r>
            <a:r>
              <a:rPr lang="vi-VN" b="1" dirty="0">
                <a:solidFill>
                  <a:srgbClr val="0000CC"/>
                </a:solidFill>
                <a:latin typeface="Rockwell" panose="02060603020205020403" pitchFamily="18" charset="0"/>
                <a:ea typeface="+mj-ea"/>
                <a:cs typeface="+mj-cs"/>
              </a:rPr>
              <a:t>lý hoạt </a:t>
            </a:r>
            <a:r>
              <a:rPr lang="vi-VN" b="1" dirty="0" smtClean="0">
                <a:solidFill>
                  <a:srgbClr val="0000CC"/>
                </a:solidFill>
                <a:latin typeface="Rockwell" panose="02060603020205020403" pitchFamily="18" charset="0"/>
                <a:ea typeface="+mj-ea"/>
                <a:cs typeface="+mj-cs"/>
              </a:rPr>
              <a:t>động</a:t>
            </a:r>
            <a:r>
              <a:rPr lang="en-US" b="1" dirty="0" smtClean="0">
                <a:solidFill>
                  <a:srgbClr val="0000CC"/>
                </a:solidFill>
                <a:latin typeface="Rockwell" panose="02060603020205020403" pitchFamily="18" charset="0"/>
                <a:ea typeface="+mj-ea"/>
                <a:cs typeface="+mj-cs"/>
              </a:rPr>
              <a:t> (</a:t>
            </a:r>
            <a:r>
              <a:rPr lang="en-US" b="1" dirty="0" err="1" smtClean="0">
                <a:solidFill>
                  <a:srgbClr val="0000CC"/>
                </a:solidFill>
                <a:latin typeface="Rockwell" panose="02060603020205020403" pitchFamily="18" charset="0"/>
                <a:ea typeface="+mj-ea"/>
                <a:cs typeface="+mj-cs"/>
              </a:rPr>
              <a:t>tổng</a:t>
            </a:r>
            <a:r>
              <a:rPr lang="en-US" b="1" dirty="0" smtClean="0">
                <a:solidFill>
                  <a:srgbClr val="0000CC"/>
                </a:solidFill>
                <a:latin typeface="Rockwell" panose="02060603020205020403" pitchFamily="18" charset="0"/>
                <a:ea typeface="+mj-ea"/>
                <a:cs typeface="+mj-cs"/>
              </a:rPr>
              <a:t> </a:t>
            </a:r>
            <a:r>
              <a:rPr lang="en-US" b="1" dirty="0" err="1" smtClean="0">
                <a:solidFill>
                  <a:srgbClr val="0000CC"/>
                </a:solidFill>
                <a:latin typeface="Rockwell" panose="02060603020205020403" pitchFamily="18" charset="0"/>
                <a:ea typeface="+mj-ea"/>
                <a:cs typeface="+mj-cs"/>
              </a:rPr>
              <a:t>quát</a:t>
            </a:r>
            <a:r>
              <a:rPr lang="en-US" b="1" dirty="0" smtClean="0">
                <a:solidFill>
                  <a:srgbClr val="0000CC"/>
                </a:solidFill>
                <a:latin typeface="Rockwell" panose="02060603020205020403" pitchFamily="18" charset="0"/>
                <a:ea typeface="+mj-ea"/>
                <a:cs typeface="+mj-cs"/>
              </a:rPr>
              <a:t>)</a:t>
            </a:r>
          </a:p>
          <a:p>
            <a:pPr marL="0" indent="0">
              <a:buNone/>
            </a:pPr>
            <a:r>
              <a:rPr lang="vi-VN" dirty="0" smtClean="0">
                <a:solidFill>
                  <a:srgbClr val="0000CC"/>
                </a:solidFill>
                <a:latin typeface="Rockwell" panose="02060603020205020403" pitchFamily="18" charset="0"/>
                <a:ea typeface="+mj-ea"/>
                <a:cs typeface="+mj-cs"/>
              </a:rPr>
              <a:t>IDS </a:t>
            </a:r>
            <a:r>
              <a:rPr lang="vi-VN" dirty="0">
                <a:solidFill>
                  <a:srgbClr val="0000CC"/>
                </a:solidFill>
                <a:latin typeface="Rockwell" panose="02060603020205020403" pitchFamily="18" charset="0"/>
                <a:ea typeface="+mj-ea"/>
                <a:cs typeface="+mj-cs"/>
              </a:rPr>
              <a:t>phân tích dữ liệu theo 2 cách chính:</a:t>
            </a:r>
          </a:p>
          <a:p>
            <a:pPr marL="342900" lvl="1"/>
            <a:r>
              <a:rPr lang="vi-VN" dirty="0">
                <a:solidFill>
                  <a:srgbClr val="0000CC"/>
                </a:solidFill>
                <a:latin typeface="Rockwell" panose="02060603020205020403" pitchFamily="18" charset="0"/>
                <a:ea typeface="+mj-ea"/>
                <a:cs typeface="+mj-cs"/>
              </a:rPr>
              <a:t>Phát hiện dựa trên chữ ký (Signature-based Detection): </a:t>
            </a:r>
            <a:r>
              <a:rPr lang="en-US" dirty="0" smtClean="0">
                <a:solidFill>
                  <a:srgbClr val="0000CC"/>
                </a:solidFill>
                <a:latin typeface="Rockwell" panose="02060603020205020403" pitchFamily="18" charset="0"/>
                <a:ea typeface="+mj-ea"/>
                <a:cs typeface="+mj-cs"/>
              </a:rPr>
              <a:t>S</a:t>
            </a:r>
            <a:r>
              <a:rPr lang="vi-VN" dirty="0" smtClean="0">
                <a:solidFill>
                  <a:srgbClr val="0000CC"/>
                </a:solidFill>
                <a:latin typeface="Rockwell" panose="02060603020205020403" pitchFamily="18" charset="0"/>
                <a:ea typeface="+mj-ea"/>
                <a:cs typeface="+mj-cs"/>
              </a:rPr>
              <a:t>o </a:t>
            </a:r>
            <a:r>
              <a:rPr lang="vi-VN" dirty="0">
                <a:solidFill>
                  <a:srgbClr val="0000CC"/>
                </a:solidFill>
                <a:latin typeface="Rockwell" panose="02060603020205020403" pitchFamily="18" charset="0"/>
                <a:ea typeface="+mj-ea"/>
                <a:cs typeface="+mj-cs"/>
              </a:rPr>
              <a:t>sánh gói tin/hoạt động với cơ sở dữ liệu mẫu tấn công đã biết.</a:t>
            </a:r>
          </a:p>
          <a:p>
            <a:pPr marL="342900" lvl="1"/>
            <a:r>
              <a:rPr lang="vi-VN" dirty="0">
                <a:solidFill>
                  <a:srgbClr val="0000CC"/>
                </a:solidFill>
                <a:latin typeface="Rockwell" panose="02060603020205020403" pitchFamily="18" charset="0"/>
                <a:ea typeface="+mj-ea"/>
                <a:cs typeface="+mj-cs"/>
              </a:rPr>
              <a:t>Phát hiện dựa trên bất thường (Anomaly-based Detection): </a:t>
            </a:r>
            <a:r>
              <a:rPr lang="en-US" dirty="0" smtClean="0">
                <a:solidFill>
                  <a:srgbClr val="0000CC"/>
                </a:solidFill>
                <a:latin typeface="Rockwell" panose="02060603020205020403" pitchFamily="18" charset="0"/>
                <a:ea typeface="+mj-ea"/>
                <a:cs typeface="+mj-cs"/>
              </a:rPr>
              <a:t>H</a:t>
            </a:r>
            <a:r>
              <a:rPr lang="vi-VN" dirty="0" smtClean="0">
                <a:solidFill>
                  <a:srgbClr val="0000CC"/>
                </a:solidFill>
                <a:latin typeface="Rockwell" panose="02060603020205020403" pitchFamily="18" charset="0"/>
                <a:ea typeface="+mj-ea"/>
                <a:cs typeface="+mj-cs"/>
              </a:rPr>
              <a:t>ọc </a:t>
            </a:r>
            <a:r>
              <a:rPr lang="vi-VN" dirty="0">
                <a:solidFill>
                  <a:srgbClr val="0000CC"/>
                </a:solidFill>
                <a:latin typeface="Rockwell" panose="02060603020205020403" pitchFamily="18" charset="0"/>
                <a:ea typeface="+mj-ea"/>
                <a:cs typeface="+mj-cs"/>
              </a:rPr>
              <a:t>mô hình hoạt động bình thường của hệ thống, từ đó cảnh báo khi phát hiện hành vi khác lạ.</a:t>
            </a:r>
          </a:p>
          <a:p>
            <a:pPr marL="0" indent="0">
              <a:buNone/>
            </a:pPr>
            <a:endParaRPr lang="vi-VN" b="1" dirty="0">
              <a:solidFill>
                <a:srgbClr val="0000CC"/>
              </a:solidFill>
              <a:latin typeface="Rockwell" panose="02060603020205020403" pitchFamily="18" charset="0"/>
              <a:ea typeface="+mj-ea"/>
              <a:cs typeface="+mj-cs"/>
            </a:endParaRPr>
          </a:p>
          <a:p>
            <a:endParaRPr lang="en-US" dirty="0"/>
          </a:p>
        </p:txBody>
      </p:sp>
    </p:spTree>
    <p:extLst>
      <p:ext uri="{BB962C8B-B14F-4D97-AF65-F5344CB8AC3E}">
        <p14:creationId xmlns:p14="http://schemas.microsoft.com/office/powerpoint/2010/main" val="3722674426"/>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98896" y="505445"/>
            <a:ext cx="10242645" cy="528851"/>
          </a:xfrm>
        </p:spPr>
        <p:txBody>
          <a:bodyPr/>
          <a:lstStyle/>
          <a:p>
            <a:r>
              <a:rPr lang="en-US" sz="2800" b="1" dirty="0">
                <a:solidFill>
                  <a:srgbClr val="0000CC"/>
                </a:solidFill>
                <a:latin typeface="Rockwell" panose="02060603020205020403" pitchFamily="18" charset="0"/>
              </a:rPr>
              <a:t>7</a:t>
            </a:r>
            <a:r>
              <a:rPr lang="en-US" sz="2800" b="1" dirty="0" smtClean="0">
                <a:solidFill>
                  <a:srgbClr val="0000CC"/>
                </a:solidFill>
                <a:latin typeface="Rockwell" panose="02060603020205020403" pitchFamily="18" charset="0"/>
              </a:rPr>
              <a:t>.3.</a:t>
            </a:r>
            <a:r>
              <a:rPr lang="vi-VN"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Chức</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năng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và</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mục</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đích</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sử</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dụng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của</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IDS</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98895" y="1034296"/>
            <a:ext cx="10420065" cy="4382729"/>
          </a:xfrm>
        </p:spPr>
        <p:txBody>
          <a:bodyPr/>
          <a:lstStyle/>
          <a:p>
            <a:pPr marL="0" indent="0">
              <a:buNone/>
            </a:pPr>
            <a:r>
              <a:rPr lang="en-US" b="1" dirty="0">
                <a:solidFill>
                  <a:srgbClr val="0000CC"/>
                </a:solidFill>
                <a:latin typeface="Rockwell" panose="02060603020205020403" pitchFamily="18" charset="0"/>
                <a:ea typeface="+mj-ea"/>
                <a:cs typeface="+mj-cs"/>
              </a:rPr>
              <a:t>2</a:t>
            </a:r>
            <a:r>
              <a:rPr lang="en-US" b="1" dirty="0" smtClean="0">
                <a:solidFill>
                  <a:srgbClr val="0000CC"/>
                </a:solidFill>
                <a:latin typeface="Rockwell" panose="02060603020205020403" pitchFamily="18" charset="0"/>
                <a:ea typeface="+mj-ea"/>
                <a:cs typeface="+mj-cs"/>
              </a:rPr>
              <a:t>. </a:t>
            </a:r>
            <a:r>
              <a:rPr lang="en-US" b="1" dirty="0" err="1" smtClean="0">
                <a:solidFill>
                  <a:srgbClr val="0000CC"/>
                </a:solidFill>
                <a:latin typeface="Rockwell" panose="02060603020205020403" pitchFamily="18" charset="0"/>
                <a:ea typeface="+mj-ea"/>
                <a:cs typeface="+mj-cs"/>
              </a:rPr>
              <a:t>Phân</a:t>
            </a:r>
            <a:r>
              <a:rPr lang="en-US" b="1" dirty="0" smtClean="0">
                <a:solidFill>
                  <a:srgbClr val="0000CC"/>
                </a:solidFill>
                <a:latin typeface="Rockwell" panose="02060603020205020403" pitchFamily="18" charset="0"/>
                <a:ea typeface="+mj-ea"/>
                <a:cs typeface="+mj-cs"/>
              </a:rPr>
              <a:t> </a:t>
            </a:r>
            <a:r>
              <a:rPr lang="en-US" b="1" dirty="0" err="1" smtClean="0">
                <a:solidFill>
                  <a:srgbClr val="0000CC"/>
                </a:solidFill>
                <a:latin typeface="Rockwell" panose="02060603020205020403" pitchFamily="18" charset="0"/>
                <a:ea typeface="+mj-ea"/>
                <a:cs typeface="+mj-cs"/>
              </a:rPr>
              <a:t>loại</a:t>
            </a:r>
            <a:r>
              <a:rPr lang="en-US" b="1" dirty="0" smtClean="0">
                <a:solidFill>
                  <a:srgbClr val="0000CC"/>
                </a:solidFill>
                <a:latin typeface="Rockwell" panose="02060603020205020403" pitchFamily="18" charset="0"/>
                <a:ea typeface="+mj-ea"/>
                <a:cs typeface="+mj-cs"/>
              </a:rPr>
              <a:t> IDS: </a:t>
            </a:r>
            <a:r>
              <a:rPr lang="en-US" dirty="0" smtClean="0">
                <a:solidFill>
                  <a:srgbClr val="0000CC"/>
                </a:solidFill>
                <a:latin typeface="Rockwell" panose="02060603020205020403" pitchFamily="18" charset="0"/>
                <a:ea typeface="+mj-ea"/>
                <a:cs typeface="+mj-cs"/>
              </a:rPr>
              <a:t>IDS đ</a:t>
            </a:r>
            <a:r>
              <a:rPr lang="vi-VN" dirty="0" smtClean="0">
                <a:solidFill>
                  <a:srgbClr val="0000CC"/>
                </a:solidFill>
                <a:latin typeface="Rockwell" panose="02060603020205020403" pitchFamily="18" charset="0"/>
                <a:ea typeface="+mj-ea"/>
                <a:cs typeface="+mj-cs"/>
              </a:rPr>
              <a:t>ược </a:t>
            </a:r>
            <a:r>
              <a:rPr lang="vi-VN" dirty="0">
                <a:solidFill>
                  <a:srgbClr val="0000CC"/>
                </a:solidFill>
                <a:latin typeface="Rockwell" panose="02060603020205020403" pitchFamily="18" charset="0"/>
                <a:ea typeface="+mj-ea"/>
                <a:cs typeface="+mj-cs"/>
              </a:rPr>
              <a:t>phân loại theo nhiều tiêu chí khác nhau:</a:t>
            </a:r>
          </a:p>
          <a:p>
            <a:pPr marL="0" indent="0">
              <a:spcBef>
                <a:spcPts val="600"/>
              </a:spcBef>
              <a:buNone/>
            </a:pPr>
            <a:r>
              <a:rPr lang="vi-VN" b="1" dirty="0">
                <a:solidFill>
                  <a:srgbClr val="0000CC"/>
                </a:solidFill>
                <a:latin typeface="Rockwell" panose="02060603020205020403" pitchFamily="18" charset="0"/>
                <a:ea typeface="+mj-ea"/>
                <a:cs typeface="+mj-cs"/>
              </a:rPr>
              <a:t>a. Theo vị trí triển khai:</a:t>
            </a:r>
          </a:p>
          <a:p>
            <a:pPr marL="0" indent="0">
              <a:spcBef>
                <a:spcPts val="600"/>
              </a:spcBef>
              <a:spcAft>
                <a:spcPts val="0"/>
              </a:spcAft>
              <a:buNone/>
            </a:pPr>
            <a:r>
              <a:rPr lang="vi-VN" b="1" dirty="0">
                <a:solidFill>
                  <a:srgbClr val="0000CC"/>
                </a:solidFill>
                <a:latin typeface="Rockwell" panose="02060603020205020403" pitchFamily="18" charset="0"/>
                <a:ea typeface="+mj-ea"/>
                <a:cs typeface="+mj-cs"/>
              </a:rPr>
              <a:t>a1. NIDS (Network-based IDS):</a:t>
            </a:r>
          </a:p>
          <a:p>
            <a:pPr>
              <a:spcBef>
                <a:spcPts val="600"/>
              </a:spcBef>
              <a:spcAft>
                <a:spcPts val="0"/>
              </a:spcAft>
            </a:pPr>
            <a:r>
              <a:rPr lang="vi-VN" dirty="0">
                <a:solidFill>
                  <a:srgbClr val="0000CC"/>
                </a:solidFill>
                <a:latin typeface="Rockwell" panose="02060603020205020403" pitchFamily="18" charset="0"/>
                <a:ea typeface="+mj-ea"/>
                <a:cs typeface="+mj-cs"/>
              </a:rPr>
              <a:t>Giám sát lưu lượng trên toàn bộ mạng hoặc một phân đoạn mạng.</a:t>
            </a:r>
          </a:p>
          <a:p>
            <a:pPr>
              <a:spcBef>
                <a:spcPts val="600"/>
              </a:spcBef>
              <a:spcAft>
                <a:spcPts val="0"/>
              </a:spcAft>
            </a:pPr>
            <a:r>
              <a:rPr lang="vi-VN" dirty="0">
                <a:solidFill>
                  <a:srgbClr val="0000CC"/>
                </a:solidFill>
                <a:latin typeface="Rockwell" panose="02060603020205020403" pitchFamily="18" charset="0"/>
                <a:ea typeface="+mj-ea"/>
                <a:cs typeface="+mj-cs"/>
              </a:rPr>
              <a:t>Phát hiện các tấn công dựa trên gói tin, luồng dữ liệu (packet/traffic).</a:t>
            </a:r>
          </a:p>
          <a:p>
            <a:pPr>
              <a:spcBef>
                <a:spcPts val="600"/>
              </a:spcBef>
              <a:spcAft>
                <a:spcPts val="0"/>
              </a:spcAft>
            </a:pPr>
            <a:r>
              <a:rPr lang="vi-VN" dirty="0">
                <a:solidFill>
                  <a:srgbClr val="0000CC"/>
                </a:solidFill>
                <a:latin typeface="Rockwell" panose="02060603020205020403" pitchFamily="18" charset="0"/>
                <a:ea typeface="+mj-ea"/>
                <a:cs typeface="+mj-cs"/>
              </a:rPr>
              <a:t>Thường đặt tại vị trí chiến lược: </a:t>
            </a:r>
            <a:r>
              <a:rPr lang="en-US" dirty="0" smtClean="0">
                <a:solidFill>
                  <a:srgbClr val="0000CC"/>
                </a:solidFill>
                <a:latin typeface="Rockwell" panose="02060603020205020403" pitchFamily="18" charset="0"/>
                <a:ea typeface="+mj-ea"/>
                <a:cs typeface="+mj-cs"/>
              </a:rPr>
              <a:t>S</a:t>
            </a:r>
            <a:r>
              <a:rPr lang="vi-VN" dirty="0" smtClean="0">
                <a:solidFill>
                  <a:srgbClr val="0000CC"/>
                </a:solidFill>
                <a:latin typeface="Rockwell" panose="02060603020205020403" pitchFamily="18" charset="0"/>
                <a:ea typeface="+mj-ea"/>
                <a:cs typeface="+mj-cs"/>
              </a:rPr>
              <a:t>au </a:t>
            </a:r>
            <a:r>
              <a:rPr lang="vi-VN" dirty="0">
                <a:solidFill>
                  <a:srgbClr val="0000CC"/>
                </a:solidFill>
                <a:latin typeface="Rockwell" panose="02060603020205020403" pitchFamily="18" charset="0"/>
                <a:ea typeface="+mj-ea"/>
                <a:cs typeface="+mj-cs"/>
              </a:rPr>
              <a:t>firewall, trước server E-commerce</a:t>
            </a:r>
            <a:r>
              <a:rPr lang="vi-VN" dirty="0" smtClean="0">
                <a:solidFill>
                  <a:srgbClr val="0000CC"/>
                </a:solidFill>
                <a:latin typeface="Rockwell" panose="02060603020205020403" pitchFamily="18" charset="0"/>
                <a:ea typeface="+mj-ea"/>
                <a:cs typeface="+mj-cs"/>
              </a:rPr>
              <a:t>.</a:t>
            </a:r>
            <a:r>
              <a:rPr lang="en-US" dirty="0" smtClean="0">
                <a:solidFill>
                  <a:srgbClr val="0000CC"/>
                </a:solidFill>
                <a:latin typeface="Rockwell" panose="02060603020205020403" pitchFamily="18" charset="0"/>
                <a:ea typeface="+mj-ea"/>
                <a:cs typeface="+mj-cs"/>
              </a:rPr>
              <a:t> </a:t>
            </a:r>
            <a:r>
              <a:rPr lang="en-US" dirty="0" err="1" smtClean="0">
                <a:solidFill>
                  <a:srgbClr val="0000CC"/>
                </a:solidFill>
                <a:latin typeface="Rockwell" panose="02060603020205020403" pitchFamily="18" charset="0"/>
                <a:ea typeface="+mj-ea"/>
                <a:cs typeface="+mj-cs"/>
              </a:rPr>
              <a:t>Cụ</a:t>
            </a:r>
            <a:r>
              <a:rPr lang="en-US" dirty="0" smtClean="0">
                <a:solidFill>
                  <a:srgbClr val="0000CC"/>
                </a:solidFill>
                <a:latin typeface="Rockwell" panose="02060603020205020403" pitchFamily="18" charset="0"/>
                <a:ea typeface="+mj-ea"/>
                <a:cs typeface="+mj-cs"/>
              </a:rPr>
              <a:t> </a:t>
            </a:r>
            <a:r>
              <a:rPr lang="en-US" dirty="0" err="1" smtClean="0">
                <a:solidFill>
                  <a:srgbClr val="0000CC"/>
                </a:solidFill>
                <a:latin typeface="Rockwell" panose="02060603020205020403" pitchFamily="18" charset="0"/>
                <a:ea typeface="+mj-ea"/>
                <a:cs typeface="+mj-cs"/>
              </a:rPr>
              <a:t>thể</a:t>
            </a:r>
            <a:r>
              <a:rPr lang="en-US" dirty="0" smtClean="0">
                <a:solidFill>
                  <a:srgbClr val="0000CC"/>
                </a:solidFill>
                <a:latin typeface="Rockwell" panose="02060603020205020403" pitchFamily="18" charset="0"/>
                <a:ea typeface="+mj-ea"/>
                <a:cs typeface="+mj-cs"/>
              </a:rPr>
              <a:t> t</a:t>
            </a:r>
            <a:r>
              <a:rPr lang="vi-VN" dirty="0" smtClean="0">
                <a:solidFill>
                  <a:srgbClr val="0000CC"/>
                </a:solidFill>
                <a:latin typeface="Rockwell" panose="02060603020205020403" pitchFamily="18" charset="0"/>
                <a:ea typeface="+mj-ea"/>
                <a:cs typeface="+mj-cs"/>
              </a:rPr>
              <a:t>hường </a:t>
            </a:r>
            <a:r>
              <a:rPr lang="vi-VN" dirty="0">
                <a:solidFill>
                  <a:srgbClr val="0000CC"/>
                </a:solidFill>
                <a:latin typeface="Rockwell" panose="02060603020205020403" pitchFamily="18" charset="0"/>
                <a:ea typeface="+mj-ea"/>
                <a:cs typeface="+mj-cs"/>
              </a:rPr>
              <a:t>triển khai ở:</a:t>
            </a:r>
          </a:p>
          <a:p>
            <a:pPr lvl="1">
              <a:spcBef>
                <a:spcPts val="600"/>
              </a:spcBef>
              <a:spcAft>
                <a:spcPts val="0"/>
              </a:spcAft>
            </a:pPr>
            <a:r>
              <a:rPr lang="vi-VN" dirty="0">
                <a:solidFill>
                  <a:srgbClr val="0000CC"/>
                </a:solidFill>
                <a:latin typeface="Rockwell" panose="02060603020205020403" pitchFamily="18" charset="0"/>
                <a:ea typeface="+mj-ea"/>
                <a:cs typeface="+mj-cs"/>
              </a:rPr>
              <a:t>Vùng DMZ (Demilitarized </a:t>
            </a:r>
            <a:r>
              <a:rPr lang="vi-VN" dirty="0" smtClean="0">
                <a:solidFill>
                  <a:srgbClr val="0000CC"/>
                </a:solidFill>
                <a:latin typeface="Rockwell" panose="02060603020205020403" pitchFamily="18" charset="0"/>
                <a:ea typeface="+mj-ea"/>
                <a:cs typeface="+mj-cs"/>
              </a:rPr>
              <a:t>Zone)</a:t>
            </a:r>
            <a:r>
              <a:rPr lang="en-US" dirty="0" smtClean="0">
                <a:solidFill>
                  <a:srgbClr val="0000CC"/>
                </a:solidFill>
                <a:latin typeface="Rockwell" panose="02060603020205020403" pitchFamily="18" charset="0"/>
                <a:ea typeface="+mj-ea"/>
                <a:cs typeface="+mj-cs"/>
              </a:rPr>
              <a:t>: N</a:t>
            </a:r>
            <a:r>
              <a:rPr lang="vi-VN" dirty="0" smtClean="0">
                <a:solidFill>
                  <a:srgbClr val="0000CC"/>
                </a:solidFill>
                <a:latin typeface="Rockwell" panose="02060603020205020403" pitchFamily="18" charset="0"/>
                <a:ea typeface="+mj-ea"/>
                <a:cs typeface="+mj-cs"/>
              </a:rPr>
              <a:t>ơi </a:t>
            </a:r>
            <a:r>
              <a:rPr lang="vi-VN" dirty="0">
                <a:solidFill>
                  <a:srgbClr val="0000CC"/>
                </a:solidFill>
                <a:latin typeface="Rockwell" panose="02060603020205020403" pitchFamily="18" charset="0"/>
                <a:ea typeface="+mj-ea"/>
                <a:cs typeface="+mj-cs"/>
              </a:rPr>
              <a:t>đặt Web server, Mail server, DNS server.</a:t>
            </a:r>
          </a:p>
          <a:p>
            <a:pPr lvl="1">
              <a:spcBef>
                <a:spcPts val="600"/>
              </a:spcBef>
              <a:spcAft>
                <a:spcPts val="0"/>
              </a:spcAft>
            </a:pPr>
            <a:r>
              <a:rPr lang="vi-VN" dirty="0">
                <a:solidFill>
                  <a:srgbClr val="0000CC"/>
                </a:solidFill>
                <a:latin typeface="Rockwell" panose="02060603020205020403" pitchFamily="18" charset="0"/>
                <a:ea typeface="+mj-ea"/>
                <a:cs typeface="+mj-cs"/>
              </a:rPr>
              <a:t>Sau </a:t>
            </a:r>
            <a:r>
              <a:rPr lang="vi-VN" dirty="0" smtClean="0">
                <a:solidFill>
                  <a:srgbClr val="0000CC"/>
                </a:solidFill>
                <a:latin typeface="Rockwell" panose="02060603020205020403" pitchFamily="18" charset="0"/>
                <a:ea typeface="+mj-ea"/>
                <a:cs typeface="+mj-cs"/>
              </a:rPr>
              <a:t>Firewall</a:t>
            </a:r>
            <a:r>
              <a:rPr lang="en-US" dirty="0" smtClean="0">
                <a:solidFill>
                  <a:srgbClr val="0000CC"/>
                </a:solidFill>
                <a:latin typeface="Rockwell" panose="02060603020205020403" pitchFamily="18" charset="0"/>
                <a:ea typeface="+mj-ea"/>
                <a:cs typeface="+mj-cs"/>
              </a:rPr>
              <a:t>: G</a:t>
            </a:r>
            <a:r>
              <a:rPr lang="vi-VN" dirty="0" smtClean="0">
                <a:solidFill>
                  <a:srgbClr val="0000CC"/>
                </a:solidFill>
                <a:latin typeface="Rockwell" panose="02060603020205020403" pitchFamily="18" charset="0"/>
                <a:ea typeface="+mj-ea"/>
                <a:cs typeface="+mj-cs"/>
              </a:rPr>
              <a:t>iám </a:t>
            </a:r>
            <a:r>
              <a:rPr lang="vi-VN" dirty="0">
                <a:solidFill>
                  <a:srgbClr val="0000CC"/>
                </a:solidFill>
                <a:latin typeface="Rockwell" panose="02060603020205020403" pitchFamily="18" charset="0"/>
                <a:ea typeface="+mj-ea"/>
                <a:cs typeface="+mj-cs"/>
              </a:rPr>
              <a:t>sát lưu lượng vào/ra hệ thống E-commerce.</a:t>
            </a:r>
          </a:p>
          <a:p>
            <a:pPr lvl="1">
              <a:spcBef>
                <a:spcPts val="600"/>
              </a:spcBef>
              <a:spcAft>
                <a:spcPts val="0"/>
              </a:spcAft>
            </a:pPr>
            <a:r>
              <a:rPr lang="vi-VN" dirty="0">
                <a:solidFill>
                  <a:srgbClr val="0000CC"/>
                </a:solidFill>
                <a:latin typeface="Rockwell" panose="02060603020205020403" pitchFamily="18" charset="0"/>
                <a:ea typeface="+mj-ea"/>
                <a:cs typeface="+mj-cs"/>
              </a:rPr>
              <a:t>Trước Database </a:t>
            </a:r>
            <a:r>
              <a:rPr lang="vi-VN" dirty="0" smtClean="0">
                <a:solidFill>
                  <a:srgbClr val="0000CC"/>
                </a:solidFill>
                <a:latin typeface="Rockwell" panose="02060603020205020403" pitchFamily="18" charset="0"/>
                <a:ea typeface="+mj-ea"/>
                <a:cs typeface="+mj-cs"/>
              </a:rPr>
              <a:t>server</a:t>
            </a:r>
            <a:r>
              <a:rPr lang="en-US" dirty="0" smtClean="0">
                <a:solidFill>
                  <a:srgbClr val="0000CC"/>
                </a:solidFill>
                <a:latin typeface="Rockwell" panose="02060603020205020403" pitchFamily="18" charset="0"/>
                <a:ea typeface="+mj-ea"/>
                <a:cs typeface="+mj-cs"/>
              </a:rPr>
              <a:t>: Đ</a:t>
            </a:r>
            <a:r>
              <a:rPr lang="vi-VN" dirty="0" smtClean="0">
                <a:solidFill>
                  <a:srgbClr val="0000CC"/>
                </a:solidFill>
                <a:latin typeface="Rockwell" panose="02060603020205020403" pitchFamily="18" charset="0"/>
                <a:ea typeface="+mj-ea"/>
                <a:cs typeface="+mj-cs"/>
              </a:rPr>
              <a:t>ể </a:t>
            </a:r>
            <a:r>
              <a:rPr lang="vi-VN" dirty="0">
                <a:solidFill>
                  <a:srgbClr val="0000CC"/>
                </a:solidFill>
                <a:latin typeface="Rockwell" panose="02060603020205020403" pitchFamily="18" charset="0"/>
                <a:ea typeface="+mj-ea"/>
                <a:cs typeface="+mj-cs"/>
              </a:rPr>
              <a:t>phát hiện truy cập bất thường vào dữ liệu giao dịch.</a:t>
            </a:r>
          </a:p>
          <a:p>
            <a:pPr marL="341313" lvl="1" indent="0">
              <a:spcBef>
                <a:spcPts val="600"/>
              </a:spcBef>
              <a:spcAft>
                <a:spcPts val="0"/>
              </a:spcAft>
              <a:buNone/>
            </a:pPr>
            <a:r>
              <a:rPr lang="vi-VN" dirty="0">
                <a:solidFill>
                  <a:srgbClr val="0000CC"/>
                </a:solidFill>
                <a:latin typeface="Rockwell" panose="02060603020205020403" pitchFamily="18" charset="0"/>
                <a:ea typeface="+mj-ea"/>
                <a:cs typeface="+mj-cs"/>
              </a:rPr>
              <a:t>Lý do: E-commerce có lượng traffic lớn từ Internet, dễ bị tấn công qua mạng (DDoS, SQL injection, scanning…).</a:t>
            </a:r>
          </a:p>
          <a:p>
            <a:pPr marL="0" indent="0">
              <a:spcBef>
                <a:spcPts val="600"/>
              </a:spcBef>
              <a:buNone/>
            </a:pPr>
            <a:endParaRPr lang="vi-VN" dirty="0">
              <a:solidFill>
                <a:srgbClr val="0000CC"/>
              </a:solidFill>
              <a:latin typeface="Rockwell" panose="02060603020205020403" pitchFamily="18" charset="0"/>
              <a:ea typeface="+mj-ea"/>
              <a:cs typeface="+mj-cs"/>
            </a:endParaRPr>
          </a:p>
          <a:p>
            <a:pPr>
              <a:spcBef>
                <a:spcPts val="600"/>
              </a:spcBef>
            </a:pPr>
            <a:endParaRPr lang="en-US" dirty="0"/>
          </a:p>
        </p:txBody>
      </p:sp>
    </p:spTree>
    <p:extLst>
      <p:ext uri="{BB962C8B-B14F-4D97-AF65-F5344CB8AC3E}">
        <p14:creationId xmlns:p14="http://schemas.microsoft.com/office/powerpoint/2010/main" val="2730295779"/>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85247" y="478149"/>
            <a:ext cx="10242645" cy="528851"/>
          </a:xfrm>
        </p:spPr>
        <p:txBody>
          <a:bodyPr/>
          <a:lstStyle/>
          <a:p>
            <a:r>
              <a:rPr lang="en-US" sz="2800" b="1" dirty="0">
                <a:solidFill>
                  <a:srgbClr val="0000CC"/>
                </a:solidFill>
                <a:latin typeface="Rockwell" panose="02060603020205020403" pitchFamily="18" charset="0"/>
              </a:rPr>
              <a:t>7</a:t>
            </a:r>
            <a:r>
              <a:rPr lang="en-US" sz="2800" b="1" dirty="0" smtClean="0">
                <a:solidFill>
                  <a:srgbClr val="0000CC"/>
                </a:solidFill>
                <a:latin typeface="Rockwell" panose="02060603020205020403" pitchFamily="18" charset="0"/>
              </a:rPr>
              <a:t>.3.</a:t>
            </a:r>
            <a:r>
              <a:rPr lang="vi-VN"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Chức</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năng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và</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mục</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đích</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sử</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dụng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của</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IDS</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85247" y="1007000"/>
            <a:ext cx="10597487" cy="4382729"/>
          </a:xfrm>
        </p:spPr>
        <p:txBody>
          <a:bodyPr/>
          <a:lstStyle/>
          <a:p>
            <a:pPr marL="0" indent="0">
              <a:buNone/>
            </a:pPr>
            <a:r>
              <a:rPr lang="en-US" b="1" dirty="0">
                <a:solidFill>
                  <a:srgbClr val="0000CC"/>
                </a:solidFill>
                <a:latin typeface="Rockwell" panose="02060603020205020403" pitchFamily="18" charset="0"/>
                <a:ea typeface="+mj-ea"/>
                <a:cs typeface="+mj-cs"/>
              </a:rPr>
              <a:t>2</a:t>
            </a:r>
            <a:r>
              <a:rPr lang="en-US" b="1" dirty="0" smtClean="0">
                <a:solidFill>
                  <a:srgbClr val="0000CC"/>
                </a:solidFill>
                <a:latin typeface="Rockwell" panose="02060603020205020403" pitchFamily="18" charset="0"/>
                <a:ea typeface="+mj-ea"/>
                <a:cs typeface="+mj-cs"/>
              </a:rPr>
              <a:t>. </a:t>
            </a:r>
            <a:r>
              <a:rPr lang="en-US" b="1" dirty="0" err="1" smtClean="0">
                <a:solidFill>
                  <a:srgbClr val="0000CC"/>
                </a:solidFill>
                <a:latin typeface="Rockwell" panose="02060603020205020403" pitchFamily="18" charset="0"/>
                <a:ea typeface="+mj-ea"/>
                <a:cs typeface="+mj-cs"/>
              </a:rPr>
              <a:t>Phân</a:t>
            </a:r>
            <a:r>
              <a:rPr lang="en-US" b="1" dirty="0" smtClean="0">
                <a:solidFill>
                  <a:srgbClr val="0000CC"/>
                </a:solidFill>
                <a:latin typeface="Rockwell" panose="02060603020205020403" pitchFamily="18" charset="0"/>
                <a:ea typeface="+mj-ea"/>
                <a:cs typeface="+mj-cs"/>
              </a:rPr>
              <a:t> </a:t>
            </a:r>
            <a:r>
              <a:rPr lang="en-US" b="1" dirty="0" err="1" smtClean="0">
                <a:solidFill>
                  <a:srgbClr val="0000CC"/>
                </a:solidFill>
                <a:latin typeface="Rockwell" panose="02060603020205020403" pitchFamily="18" charset="0"/>
                <a:ea typeface="+mj-ea"/>
                <a:cs typeface="+mj-cs"/>
              </a:rPr>
              <a:t>loại</a:t>
            </a:r>
            <a:r>
              <a:rPr lang="en-US" b="1" dirty="0" smtClean="0">
                <a:solidFill>
                  <a:srgbClr val="0000CC"/>
                </a:solidFill>
                <a:latin typeface="Rockwell" panose="02060603020205020403" pitchFamily="18" charset="0"/>
                <a:ea typeface="+mj-ea"/>
                <a:cs typeface="+mj-cs"/>
              </a:rPr>
              <a:t> IDS: </a:t>
            </a:r>
            <a:r>
              <a:rPr lang="en-US" dirty="0" smtClean="0">
                <a:solidFill>
                  <a:srgbClr val="0000CC"/>
                </a:solidFill>
                <a:latin typeface="Rockwell" panose="02060603020205020403" pitchFamily="18" charset="0"/>
                <a:ea typeface="+mj-ea"/>
                <a:cs typeface="+mj-cs"/>
              </a:rPr>
              <a:t>IDS đ</a:t>
            </a:r>
            <a:r>
              <a:rPr lang="vi-VN" dirty="0" smtClean="0">
                <a:solidFill>
                  <a:srgbClr val="0000CC"/>
                </a:solidFill>
                <a:latin typeface="Rockwell" panose="02060603020205020403" pitchFamily="18" charset="0"/>
                <a:ea typeface="+mj-ea"/>
                <a:cs typeface="+mj-cs"/>
              </a:rPr>
              <a:t>ược </a:t>
            </a:r>
            <a:r>
              <a:rPr lang="vi-VN" dirty="0">
                <a:solidFill>
                  <a:srgbClr val="0000CC"/>
                </a:solidFill>
                <a:latin typeface="Rockwell" panose="02060603020205020403" pitchFamily="18" charset="0"/>
                <a:ea typeface="+mj-ea"/>
                <a:cs typeface="+mj-cs"/>
              </a:rPr>
              <a:t>phân loại theo nhiều tiêu chí khác nhau:</a:t>
            </a:r>
          </a:p>
          <a:p>
            <a:pPr marL="0" indent="0">
              <a:spcBef>
                <a:spcPts val="600"/>
              </a:spcBef>
              <a:buNone/>
            </a:pPr>
            <a:r>
              <a:rPr lang="vi-VN" b="1" dirty="0">
                <a:solidFill>
                  <a:srgbClr val="0000CC"/>
                </a:solidFill>
                <a:latin typeface="Rockwell" panose="02060603020205020403" pitchFamily="18" charset="0"/>
                <a:ea typeface="+mj-ea"/>
                <a:cs typeface="+mj-cs"/>
              </a:rPr>
              <a:t>a. Theo vị trí triển khai:</a:t>
            </a:r>
          </a:p>
          <a:p>
            <a:pPr marL="0" indent="0">
              <a:spcBef>
                <a:spcPts val="600"/>
              </a:spcBef>
              <a:spcAft>
                <a:spcPts val="600"/>
              </a:spcAft>
              <a:buNone/>
            </a:pPr>
            <a:r>
              <a:rPr lang="vi-VN" b="1" dirty="0">
                <a:solidFill>
                  <a:srgbClr val="0000CC"/>
                </a:solidFill>
                <a:latin typeface="Rockwell" panose="02060603020205020403" pitchFamily="18" charset="0"/>
              </a:rPr>
              <a:t>a2. HIDS (Host-based IDS):</a:t>
            </a:r>
          </a:p>
          <a:p>
            <a:pPr>
              <a:spcBef>
                <a:spcPts val="600"/>
              </a:spcBef>
              <a:spcAft>
                <a:spcPts val="600"/>
              </a:spcAft>
            </a:pPr>
            <a:r>
              <a:rPr lang="vi-VN" dirty="0">
                <a:solidFill>
                  <a:srgbClr val="0000CC"/>
                </a:solidFill>
                <a:latin typeface="Rockwell" panose="02060603020205020403" pitchFamily="18" charset="0"/>
              </a:rPr>
              <a:t>Giám sát hoạt động trên một máy chủ cụ thể (process, file, log hệ thống).</a:t>
            </a:r>
          </a:p>
          <a:p>
            <a:pPr>
              <a:spcBef>
                <a:spcPts val="600"/>
              </a:spcBef>
              <a:spcAft>
                <a:spcPts val="600"/>
              </a:spcAft>
            </a:pPr>
            <a:r>
              <a:rPr lang="vi-VN" dirty="0">
                <a:solidFill>
                  <a:srgbClr val="0000CC"/>
                </a:solidFill>
                <a:latin typeface="Rockwell" panose="02060603020205020403" pitchFamily="18" charset="0"/>
              </a:rPr>
              <a:t>Phát hiện tấn công vào hệ điều hành, ứng dụng, hoặc truy cập trái phép.</a:t>
            </a:r>
          </a:p>
          <a:p>
            <a:pPr>
              <a:spcBef>
                <a:spcPts val="600"/>
              </a:spcBef>
              <a:spcAft>
                <a:spcPts val="600"/>
              </a:spcAft>
            </a:pPr>
            <a:r>
              <a:rPr lang="vi-VN" dirty="0">
                <a:solidFill>
                  <a:srgbClr val="0000CC"/>
                </a:solidFill>
                <a:latin typeface="Rockwell" panose="02060603020205020403" pitchFamily="18" charset="0"/>
              </a:rPr>
              <a:t>Thường cài đặt trực tiếp trên web server, database server của hệ thống E-commerce. </a:t>
            </a:r>
            <a:r>
              <a:rPr lang="en-US" dirty="0" err="1" smtClean="0">
                <a:solidFill>
                  <a:srgbClr val="0000CC"/>
                </a:solidFill>
                <a:latin typeface="Rockwell" panose="02060603020205020403" pitchFamily="18" charset="0"/>
              </a:rPr>
              <a:t>Cụ</a:t>
            </a:r>
            <a:r>
              <a:rPr lang="en-US" dirty="0" smtClean="0">
                <a:solidFill>
                  <a:srgbClr val="0000CC"/>
                </a:solidFill>
                <a:latin typeface="Rockwell" panose="02060603020205020403" pitchFamily="18" charset="0"/>
              </a:rPr>
              <a:t> </a:t>
            </a:r>
            <a:r>
              <a:rPr lang="en-US" dirty="0" err="1" smtClean="0">
                <a:solidFill>
                  <a:srgbClr val="0000CC"/>
                </a:solidFill>
                <a:latin typeface="Rockwell" panose="02060603020205020403" pitchFamily="18" charset="0"/>
              </a:rPr>
              <a:t>thể</a:t>
            </a:r>
            <a:r>
              <a:rPr lang="en-US" dirty="0" smtClean="0">
                <a:solidFill>
                  <a:srgbClr val="0000CC"/>
                </a:solidFill>
                <a:latin typeface="Rockwell" panose="02060603020205020403" pitchFamily="18" charset="0"/>
              </a:rPr>
              <a:t> </a:t>
            </a:r>
            <a:r>
              <a:rPr lang="vi-VN" dirty="0" smtClean="0">
                <a:solidFill>
                  <a:srgbClr val="0000CC"/>
                </a:solidFill>
                <a:latin typeface="Rockwell" panose="02060603020205020403" pitchFamily="18" charset="0"/>
              </a:rPr>
              <a:t>thường </a:t>
            </a:r>
            <a:r>
              <a:rPr lang="vi-VN" dirty="0">
                <a:solidFill>
                  <a:srgbClr val="0000CC"/>
                </a:solidFill>
                <a:latin typeface="Rockwell" panose="02060603020205020403" pitchFamily="18" charset="0"/>
              </a:rPr>
              <a:t>cài đặt ở:</a:t>
            </a:r>
          </a:p>
          <a:p>
            <a:pPr lvl="1">
              <a:spcBef>
                <a:spcPts val="600"/>
              </a:spcBef>
              <a:spcAft>
                <a:spcPts val="600"/>
              </a:spcAft>
            </a:pPr>
            <a:r>
              <a:rPr lang="vi-VN" dirty="0">
                <a:solidFill>
                  <a:srgbClr val="0000CC"/>
                </a:solidFill>
                <a:latin typeface="Rockwell" panose="02060603020205020403" pitchFamily="18" charset="0"/>
              </a:rPr>
              <a:t>Web server (ứng dụng E-commerce).</a:t>
            </a:r>
          </a:p>
          <a:p>
            <a:pPr lvl="1">
              <a:spcBef>
                <a:spcPts val="600"/>
              </a:spcBef>
              <a:spcAft>
                <a:spcPts val="600"/>
              </a:spcAft>
            </a:pPr>
            <a:r>
              <a:rPr lang="vi-VN" dirty="0">
                <a:solidFill>
                  <a:srgbClr val="0000CC"/>
                </a:solidFill>
                <a:latin typeface="Rockwell" panose="02060603020205020403" pitchFamily="18" charset="0"/>
              </a:rPr>
              <a:t>Application server (xử lý thanh toán, giỏ hàng).</a:t>
            </a:r>
          </a:p>
          <a:p>
            <a:pPr lvl="1">
              <a:spcBef>
                <a:spcPts val="600"/>
              </a:spcBef>
              <a:spcAft>
                <a:spcPts val="600"/>
              </a:spcAft>
            </a:pPr>
            <a:r>
              <a:rPr lang="vi-VN" dirty="0">
                <a:solidFill>
                  <a:srgbClr val="0000CC"/>
                </a:solidFill>
                <a:latin typeface="Rockwell" panose="02060603020205020403" pitchFamily="18" charset="0"/>
              </a:rPr>
              <a:t>Database server (chứa dữ liệu khách hàng, thông tin thẻ tín dụng).</a:t>
            </a:r>
          </a:p>
          <a:p>
            <a:pPr marL="341313" lvl="1" indent="0">
              <a:spcBef>
                <a:spcPts val="600"/>
              </a:spcBef>
              <a:spcAft>
                <a:spcPts val="600"/>
              </a:spcAft>
              <a:buNone/>
            </a:pPr>
            <a:r>
              <a:rPr lang="vi-VN" dirty="0">
                <a:solidFill>
                  <a:srgbClr val="0000CC"/>
                </a:solidFill>
                <a:latin typeface="Rockwell" panose="02060603020205020403" pitchFamily="18" charset="0"/>
              </a:rPr>
              <a:t>Lý do: HIDS giúp phát hiện thay đổi file, truy cập trái phép, malware trên chính máy chủ, tăng bảo mật cho dữ liệu nhạy cảm.</a:t>
            </a:r>
            <a:endParaRPr lang="en-US" dirty="0">
              <a:solidFill>
                <a:srgbClr val="0000CC"/>
              </a:solidFill>
              <a:latin typeface="Rockwell" panose="02060603020205020403" pitchFamily="18" charset="0"/>
            </a:endParaRPr>
          </a:p>
          <a:p>
            <a:pPr marL="0" indent="0">
              <a:spcBef>
                <a:spcPts val="600"/>
              </a:spcBef>
              <a:buNone/>
            </a:pPr>
            <a:endParaRPr lang="vi-VN" dirty="0">
              <a:solidFill>
                <a:srgbClr val="0000CC"/>
              </a:solidFill>
              <a:latin typeface="Rockwell" panose="02060603020205020403" pitchFamily="18" charset="0"/>
              <a:ea typeface="+mj-ea"/>
              <a:cs typeface="+mj-cs"/>
            </a:endParaRPr>
          </a:p>
          <a:p>
            <a:pPr>
              <a:spcBef>
                <a:spcPts val="600"/>
              </a:spcBef>
            </a:pPr>
            <a:endParaRPr lang="en-US" dirty="0"/>
          </a:p>
        </p:txBody>
      </p:sp>
    </p:spTree>
    <p:extLst>
      <p:ext uri="{BB962C8B-B14F-4D97-AF65-F5344CB8AC3E}">
        <p14:creationId xmlns:p14="http://schemas.microsoft.com/office/powerpoint/2010/main" val="1140184673"/>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599" y="532741"/>
            <a:ext cx="10242645" cy="528851"/>
          </a:xfrm>
        </p:spPr>
        <p:txBody>
          <a:bodyPr/>
          <a:lstStyle/>
          <a:p>
            <a:r>
              <a:rPr lang="en-US" sz="2800" b="1" dirty="0">
                <a:solidFill>
                  <a:srgbClr val="0000CC"/>
                </a:solidFill>
                <a:latin typeface="Rockwell" panose="02060603020205020403" pitchFamily="18" charset="0"/>
              </a:rPr>
              <a:t>7</a:t>
            </a:r>
            <a:r>
              <a:rPr lang="en-US" sz="2800" b="1" dirty="0" smtClean="0">
                <a:solidFill>
                  <a:srgbClr val="0000CC"/>
                </a:solidFill>
                <a:latin typeface="Rockwell" panose="02060603020205020403" pitchFamily="18" charset="0"/>
              </a:rPr>
              <a:t>.3.</a:t>
            </a:r>
            <a:r>
              <a:rPr lang="vi-VN"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Chức</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năng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và</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mục</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đích</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sử</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dụng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của</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IDS</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599" y="1061592"/>
            <a:ext cx="10597487" cy="4382729"/>
          </a:xfrm>
        </p:spPr>
        <p:txBody>
          <a:bodyPr/>
          <a:lstStyle/>
          <a:p>
            <a:pPr marL="0" indent="0">
              <a:buNone/>
            </a:pPr>
            <a:r>
              <a:rPr lang="en-US" b="1" dirty="0">
                <a:solidFill>
                  <a:srgbClr val="0000CC"/>
                </a:solidFill>
                <a:latin typeface="Rockwell" panose="02060603020205020403" pitchFamily="18" charset="0"/>
              </a:rPr>
              <a:t>2. </a:t>
            </a:r>
            <a:r>
              <a:rPr lang="en-US" b="1" dirty="0" err="1">
                <a:solidFill>
                  <a:srgbClr val="0000CC"/>
                </a:solidFill>
                <a:latin typeface="Rockwell" panose="02060603020205020403" pitchFamily="18" charset="0"/>
              </a:rPr>
              <a:t>Phân</a:t>
            </a:r>
            <a:r>
              <a:rPr lang="en-US" b="1" dirty="0">
                <a:solidFill>
                  <a:srgbClr val="0000CC"/>
                </a:solidFill>
                <a:latin typeface="Rockwell" panose="02060603020205020403" pitchFamily="18" charset="0"/>
              </a:rPr>
              <a:t> </a:t>
            </a:r>
            <a:r>
              <a:rPr lang="en-US" b="1" dirty="0" err="1">
                <a:solidFill>
                  <a:srgbClr val="0000CC"/>
                </a:solidFill>
                <a:latin typeface="Rockwell" panose="02060603020205020403" pitchFamily="18" charset="0"/>
              </a:rPr>
              <a:t>loại</a:t>
            </a:r>
            <a:r>
              <a:rPr lang="en-US" b="1" dirty="0">
                <a:solidFill>
                  <a:srgbClr val="0000CC"/>
                </a:solidFill>
                <a:latin typeface="Rockwell" panose="02060603020205020403" pitchFamily="18" charset="0"/>
              </a:rPr>
              <a:t> IDS: </a:t>
            </a:r>
            <a:r>
              <a:rPr lang="en-US" dirty="0">
                <a:solidFill>
                  <a:srgbClr val="0000CC"/>
                </a:solidFill>
                <a:latin typeface="Rockwell" panose="02060603020205020403" pitchFamily="18" charset="0"/>
              </a:rPr>
              <a:t>IDS đ</a:t>
            </a:r>
            <a:r>
              <a:rPr lang="vi-VN" dirty="0">
                <a:solidFill>
                  <a:srgbClr val="0000CC"/>
                </a:solidFill>
                <a:latin typeface="Rockwell" panose="02060603020205020403" pitchFamily="18" charset="0"/>
              </a:rPr>
              <a:t>ược phân loại theo nhiều tiêu chí khác nhau:</a:t>
            </a:r>
          </a:p>
          <a:p>
            <a:pPr marL="0" indent="0">
              <a:spcBef>
                <a:spcPts val="600"/>
              </a:spcBef>
              <a:buNone/>
            </a:pPr>
            <a:r>
              <a:rPr lang="vi-VN" b="1" dirty="0" smtClean="0">
                <a:solidFill>
                  <a:srgbClr val="0000CC"/>
                </a:solidFill>
                <a:latin typeface="Rockwell" panose="02060603020205020403" pitchFamily="18" charset="0"/>
                <a:ea typeface="+mj-ea"/>
                <a:cs typeface="+mj-cs"/>
              </a:rPr>
              <a:t>b</a:t>
            </a:r>
            <a:r>
              <a:rPr lang="vi-VN" b="1" dirty="0">
                <a:solidFill>
                  <a:srgbClr val="0000CC"/>
                </a:solidFill>
                <a:latin typeface="Rockwell" panose="02060603020205020403" pitchFamily="18" charset="0"/>
                <a:ea typeface="+mj-ea"/>
                <a:cs typeface="+mj-cs"/>
              </a:rPr>
              <a:t>. Theo phương pháp phát hiện:</a:t>
            </a:r>
          </a:p>
          <a:p>
            <a:pPr marL="0" indent="0">
              <a:spcBef>
                <a:spcPts val="600"/>
              </a:spcBef>
              <a:buNone/>
            </a:pPr>
            <a:r>
              <a:rPr lang="vi-VN" b="1" dirty="0" smtClean="0">
                <a:solidFill>
                  <a:srgbClr val="0000CC"/>
                </a:solidFill>
                <a:latin typeface="Rockwell" panose="02060603020205020403" pitchFamily="18" charset="0"/>
                <a:ea typeface="+mj-ea"/>
                <a:cs typeface="+mj-cs"/>
              </a:rPr>
              <a:t>b1</a:t>
            </a:r>
            <a:r>
              <a:rPr lang="en-US" b="1" dirty="0" smtClean="0">
                <a:solidFill>
                  <a:srgbClr val="0000CC"/>
                </a:solidFill>
                <a:latin typeface="Rockwell" panose="02060603020205020403" pitchFamily="18" charset="0"/>
                <a:ea typeface="+mj-ea"/>
                <a:cs typeface="+mj-cs"/>
              </a:rPr>
              <a:t>.</a:t>
            </a:r>
            <a:r>
              <a:rPr lang="vi-VN" b="1" dirty="0" smtClean="0">
                <a:solidFill>
                  <a:srgbClr val="0000CC"/>
                </a:solidFill>
                <a:latin typeface="Rockwell" panose="02060603020205020403" pitchFamily="18" charset="0"/>
                <a:ea typeface="+mj-ea"/>
                <a:cs typeface="+mj-cs"/>
              </a:rPr>
              <a:t>Signature-based </a:t>
            </a:r>
            <a:r>
              <a:rPr lang="vi-VN" b="1" dirty="0">
                <a:solidFill>
                  <a:srgbClr val="0000CC"/>
                </a:solidFill>
                <a:latin typeface="Rockwell" panose="02060603020205020403" pitchFamily="18" charset="0"/>
                <a:ea typeface="+mj-ea"/>
                <a:cs typeface="+mj-cs"/>
              </a:rPr>
              <a:t>IDS:</a:t>
            </a:r>
          </a:p>
          <a:p>
            <a:pPr>
              <a:spcBef>
                <a:spcPts val="600"/>
              </a:spcBef>
            </a:pPr>
            <a:r>
              <a:rPr lang="vi-VN" dirty="0">
                <a:solidFill>
                  <a:srgbClr val="0000CC"/>
                </a:solidFill>
                <a:latin typeface="Rockwell" panose="02060603020205020403" pitchFamily="18" charset="0"/>
                <a:ea typeface="+mj-ea"/>
                <a:cs typeface="+mj-cs"/>
              </a:rPr>
              <a:t>So khớp dữ liệu với cơ sở dữ liệu mẫu tấn công đã biết.</a:t>
            </a:r>
            <a:r>
              <a:rPr lang="en-US" dirty="0">
                <a:solidFill>
                  <a:srgbClr val="0000CC"/>
                </a:solidFill>
                <a:latin typeface="Rockwell" panose="02060603020205020403" pitchFamily="18" charset="0"/>
                <a:ea typeface="+mj-ea"/>
                <a:cs typeface="+mj-cs"/>
              </a:rPr>
              <a:t> </a:t>
            </a:r>
            <a:r>
              <a:rPr lang="en-US" dirty="0" err="1" smtClean="0">
                <a:solidFill>
                  <a:srgbClr val="0000CC"/>
                </a:solidFill>
                <a:latin typeface="Rockwell" panose="02060603020205020403" pitchFamily="18" charset="0"/>
                <a:ea typeface="+mj-ea"/>
                <a:cs typeface="+mj-cs"/>
              </a:rPr>
              <a:t>Giúp</a:t>
            </a:r>
            <a:r>
              <a:rPr lang="en-US" dirty="0" smtClean="0">
                <a:solidFill>
                  <a:srgbClr val="0000CC"/>
                </a:solidFill>
                <a:latin typeface="Rockwell" panose="02060603020205020403" pitchFamily="18" charset="0"/>
                <a:ea typeface="+mj-ea"/>
                <a:cs typeface="+mj-cs"/>
              </a:rPr>
              <a:t> </a:t>
            </a:r>
            <a:r>
              <a:rPr lang="en-US" dirty="0" err="1" smtClean="0">
                <a:solidFill>
                  <a:srgbClr val="0000CC"/>
                </a:solidFill>
                <a:latin typeface="Rockwell" panose="02060603020205020403" pitchFamily="18" charset="0"/>
                <a:ea typeface="+mj-ea"/>
                <a:cs typeface="+mj-cs"/>
              </a:rPr>
              <a:t>phát</a:t>
            </a:r>
            <a:r>
              <a:rPr lang="en-US" dirty="0" smtClean="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hiện</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nhanh</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các</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tấn</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công</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phổ</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biến</a:t>
            </a:r>
            <a:r>
              <a:rPr lang="en-US" dirty="0">
                <a:solidFill>
                  <a:srgbClr val="0000CC"/>
                </a:solidFill>
                <a:latin typeface="Rockwell" panose="02060603020205020403" pitchFamily="18" charset="0"/>
                <a:ea typeface="+mj-ea"/>
                <a:cs typeface="+mj-cs"/>
              </a:rPr>
              <a:t> (SQL Injection, </a:t>
            </a:r>
            <a:r>
              <a:rPr lang="en-US" dirty="0" err="1">
                <a:solidFill>
                  <a:srgbClr val="0000CC"/>
                </a:solidFill>
                <a:latin typeface="Rockwell" panose="02060603020205020403" pitchFamily="18" charset="0"/>
                <a:ea typeface="+mj-ea"/>
                <a:cs typeface="+mj-cs"/>
              </a:rPr>
              <a:t>XSS</a:t>
            </a:r>
            <a:r>
              <a:rPr lang="en-US" dirty="0">
                <a:solidFill>
                  <a:srgbClr val="0000CC"/>
                </a:solidFill>
                <a:latin typeface="Rockwell" panose="02060603020205020403" pitchFamily="18" charset="0"/>
                <a:ea typeface="+mj-ea"/>
                <a:cs typeface="+mj-cs"/>
              </a:rPr>
              <a:t>, brute force).</a:t>
            </a:r>
            <a:endParaRPr lang="vi-VN" dirty="0">
              <a:solidFill>
                <a:srgbClr val="0000CC"/>
              </a:solidFill>
              <a:latin typeface="Rockwell" panose="02060603020205020403" pitchFamily="18" charset="0"/>
              <a:ea typeface="+mj-ea"/>
              <a:cs typeface="+mj-cs"/>
            </a:endParaRPr>
          </a:p>
          <a:p>
            <a:pPr>
              <a:spcBef>
                <a:spcPts val="600"/>
              </a:spcBef>
            </a:pPr>
            <a:r>
              <a:rPr lang="vi-VN" dirty="0">
                <a:solidFill>
                  <a:srgbClr val="0000CC"/>
                </a:solidFill>
                <a:latin typeface="Rockwell" panose="02060603020205020403" pitchFamily="18" charset="0"/>
                <a:ea typeface="+mj-ea"/>
                <a:cs typeface="+mj-cs"/>
              </a:rPr>
              <a:t>Ưu điểm: phát hiện chính xác các tấn công đã biết.</a:t>
            </a:r>
          </a:p>
          <a:p>
            <a:pPr>
              <a:spcBef>
                <a:spcPts val="600"/>
              </a:spcBef>
            </a:pPr>
            <a:r>
              <a:rPr lang="vi-VN" dirty="0">
                <a:solidFill>
                  <a:srgbClr val="0000CC"/>
                </a:solidFill>
                <a:latin typeface="Rockwell" panose="02060603020205020403" pitchFamily="18" charset="0"/>
                <a:ea typeface="+mj-ea"/>
                <a:cs typeface="+mj-cs"/>
              </a:rPr>
              <a:t>Nhược điểm: khó phát hiện các tấn công mới (zero-day).</a:t>
            </a:r>
          </a:p>
          <a:p>
            <a:pPr marL="0" indent="0">
              <a:spcBef>
                <a:spcPts val="600"/>
              </a:spcBef>
              <a:buNone/>
            </a:pPr>
            <a:r>
              <a:rPr lang="vi-VN" b="1" dirty="0">
                <a:solidFill>
                  <a:srgbClr val="0000CC"/>
                </a:solidFill>
                <a:latin typeface="Rockwell" panose="02060603020205020403" pitchFamily="18" charset="0"/>
                <a:ea typeface="+mj-ea"/>
                <a:cs typeface="+mj-cs"/>
              </a:rPr>
              <a:t>b2. Anomaly-based IDS:</a:t>
            </a:r>
          </a:p>
          <a:p>
            <a:pPr>
              <a:spcBef>
                <a:spcPts val="600"/>
              </a:spcBef>
            </a:pPr>
            <a:r>
              <a:rPr lang="vi-VN" dirty="0">
                <a:solidFill>
                  <a:srgbClr val="0000CC"/>
                </a:solidFill>
                <a:latin typeface="Rockwell" panose="02060603020205020403" pitchFamily="18" charset="0"/>
                <a:ea typeface="+mj-ea"/>
                <a:cs typeface="+mj-cs"/>
              </a:rPr>
              <a:t>Xây dựng mô hình “bình thường” </a:t>
            </a:r>
            <a:r>
              <a:rPr lang="en-US" dirty="0" err="1" smtClean="0">
                <a:solidFill>
                  <a:srgbClr val="0000CC"/>
                </a:solidFill>
                <a:latin typeface="Rockwell" panose="02060603020205020403" pitchFamily="18" charset="0"/>
                <a:ea typeface="+mj-ea"/>
                <a:cs typeface="+mj-cs"/>
              </a:rPr>
              <a:t>để</a:t>
            </a:r>
            <a:r>
              <a:rPr lang="en-US" dirty="0" smtClean="0">
                <a:solidFill>
                  <a:srgbClr val="0000CC"/>
                </a:solidFill>
                <a:latin typeface="Rockwell" panose="02060603020205020403" pitchFamily="18" charset="0"/>
                <a:ea typeface="+mj-ea"/>
                <a:cs typeface="+mj-cs"/>
              </a:rPr>
              <a:t> </a:t>
            </a:r>
            <a:r>
              <a:rPr lang="vi-VN" dirty="0" smtClean="0">
                <a:solidFill>
                  <a:srgbClr val="0000CC"/>
                </a:solidFill>
                <a:latin typeface="Rockwell" panose="02060603020205020403" pitchFamily="18" charset="0"/>
                <a:ea typeface="+mj-ea"/>
                <a:cs typeface="+mj-cs"/>
              </a:rPr>
              <a:t>phát </a:t>
            </a:r>
            <a:r>
              <a:rPr lang="vi-VN" dirty="0">
                <a:solidFill>
                  <a:srgbClr val="0000CC"/>
                </a:solidFill>
                <a:latin typeface="Rockwell" panose="02060603020205020403" pitchFamily="18" charset="0"/>
                <a:ea typeface="+mj-ea"/>
                <a:cs typeface="+mj-cs"/>
              </a:rPr>
              <a:t>hiện sự khác biệt</a:t>
            </a:r>
            <a:r>
              <a:rPr lang="vi-VN" dirty="0" smtClean="0">
                <a:solidFill>
                  <a:srgbClr val="0000CC"/>
                </a:solidFill>
                <a:latin typeface="Rockwell" panose="02060603020205020403" pitchFamily="18" charset="0"/>
                <a:ea typeface="+mj-ea"/>
                <a:cs typeface="+mj-cs"/>
              </a:rPr>
              <a:t>.</a:t>
            </a:r>
            <a:r>
              <a:rPr lang="vi-VN" dirty="0"/>
              <a:t> </a:t>
            </a:r>
            <a:r>
              <a:rPr lang="en-US" dirty="0" err="1" smtClean="0">
                <a:solidFill>
                  <a:srgbClr val="0000CC"/>
                </a:solidFill>
                <a:latin typeface="Rockwell" panose="02060603020205020403" pitchFamily="18" charset="0"/>
                <a:ea typeface="+mj-ea"/>
                <a:cs typeface="+mj-cs"/>
              </a:rPr>
              <a:t>Giúp</a:t>
            </a:r>
            <a:r>
              <a:rPr lang="en-US" dirty="0" smtClean="0">
                <a:solidFill>
                  <a:srgbClr val="0000CC"/>
                </a:solidFill>
                <a:latin typeface="Rockwell" panose="02060603020205020403" pitchFamily="18" charset="0"/>
                <a:ea typeface="+mj-ea"/>
                <a:cs typeface="+mj-cs"/>
              </a:rPr>
              <a:t> g</a:t>
            </a:r>
            <a:r>
              <a:rPr lang="vi-VN" dirty="0" smtClean="0">
                <a:solidFill>
                  <a:srgbClr val="0000CC"/>
                </a:solidFill>
                <a:latin typeface="Rockwell" panose="02060603020205020403" pitchFamily="18" charset="0"/>
                <a:ea typeface="+mj-ea"/>
                <a:cs typeface="+mj-cs"/>
              </a:rPr>
              <a:t>iám </a:t>
            </a:r>
            <a:r>
              <a:rPr lang="vi-VN" dirty="0">
                <a:solidFill>
                  <a:srgbClr val="0000CC"/>
                </a:solidFill>
                <a:latin typeface="Rockwell" panose="02060603020205020403" pitchFamily="18" charset="0"/>
                <a:ea typeface="+mj-ea"/>
                <a:cs typeface="+mj-cs"/>
              </a:rPr>
              <a:t>sát hành vi bất thường, phát hiện tấn công mới, zero-day.</a:t>
            </a:r>
          </a:p>
          <a:p>
            <a:pPr>
              <a:spcBef>
                <a:spcPts val="600"/>
              </a:spcBef>
            </a:pPr>
            <a:r>
              <a:rPr lang="vi-VN" dirty="0">
                <a:solidFill>
                  <a:srgbClr val="0000CC"/>
                </a:solidFill>
                <a:latin typeface="Rockwell" panose="02060603020205020403" pitchFamily="18" charset="0"/>
                <a:ea typeface="+mj-ea"/>
                <a:cs typeface="+mj-cs"/>
              </a:rPr>
              <a:t>Ưu điểm: phát hiện được tấn công mới, bất thường.</a:t>
            </a:r>
          </a:p>
          <a:p>
            <a:pPr>
              <a:spcBef>
                <a:spcPts val="600"/>
              </a:spcBef>
            </a:pPr>
            <a:r>
              <a:rPr lang="vi-VN" dirty="0">
                <a:solidFill>
                  <a:srgbClr val="0000CC"/>
                </a:solidFill>
                <a:latin typeface="Rockwell" panose="02060603020205020403" pitchFamily="18" charset="0"/>
                <a:ea typeface="+mj-ea"/>
                <a:cs typeface="+mj-cs"/>
              </a:rPr>
              <a:t>Nhược điểm: dễ sinh cảnh báo sai (false positive</a:t>
            </a:r>
            <a:r>
              <a:rPr lang="vi-VN" dirty="0" smtClean="0">
                <a:solidFill>
                  <a:srgbClr val="0000CC"/>
                </a:solidFill>
                <a:latin typeface="Rockwell" panose="02060603020205020403" pitchFamily="18" charset="0"/>
                <a:ea typeface="+mj-ea"/>
                <a:cs typeface="+mj-cs"/>
              </a:rPr>
              <a:t>).</a:t>
            </a:r>
            <a:endParaRPr lang="en-US" dirty="0"/>
          </a:p>
        </p:txBody>
      </p:sp>
    </p:spTree>
    <p:extLst>
      <p:ext uri="{BB962C8B-B14F-4D97-AF65-F5344CB8AC3E}">
        <p14:creationId xmlns:p14="http://schemas.microsoft.com/office/powerpoint/2010/main" val="1869596098"/>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599" y="519093"/>
            <a:ext cx="10242645" cy="528851"/>
          </a:xfrm>
        </p:spPr>
        <p:txBody>
          <a:bodyPr/>
          <a:lstStyle/>
          <a:p>
            <a:r>
              <a:rPr lang="en-US" sz="2800" b="1" dirty="0">
                <a:solidFill>
                  <a:srgbClr val="0000CC"/>
                </a:solidFill>
                <a:latin typeface="Rockwell" panose="02060603020205020403" pitchFamily="18" charset="0"/>
              </a:rPr>
              <a:t>7</a:t>
            </a:r>
            <a:r>
              <a:rPr lang="en-US" sz="2800" b="1" dirty="0" smtClean="0">
                <a:solidFill>
                  <a:srgbClr val="0000CC"/>
                </a:solidFill>
                <a:latin typeface="Rockwell" panose="02060603020205020403" pitchFamily="18" charset="0"/>
              </a:rPr>
              <a:t>.3.</a:t>
            </a:r>
            <a:r>
              <a:rPr lang="vi-VN"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Chức</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năng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và</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mục</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đích</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sử</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dụng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của</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IDS</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599" y="1047944"/>
            <a:ext cx="10597487" cy="4382729"/>
          </a:xfrm>
        </p:spPr>
        <p:txBody>
          <a:bodyPr/>
          <a:lstStyle/>
          <a:p>
            <a:pPr marL="0" indent="0">
              <a:buNone/>
            </a:pPr>
            <a:r>
              <a:rPr lang="en-US" b="1" dirty="0">
                <a:solidFill>
                  <a:srgbClr val="0000CC"/>
                </a:solidFill>
                <a:latin typeface="Rockwell" panose="02060603020205020403" pitchFamily="18" charset="0"/>
              </a:rPr>
              <a:t>2. </a:t>
            </a:r>
            <a:r>
              <a:rPr lang="en-US" b="1" dirty="0" err="1">
                <a:solidFill>
                  <a:srgbClr val="0000CC"/>
                </a:solidFill>
                <a:latin typeface="Rockwell" panose="02060603020205020403" pitchFamily="18" charset="0"/>
              </a:rPr>
              <a:t>Phân</a:t>
            </a:r>
            <a:r>
              <a:rPr lang="en-US" b="1" dirty="0">
                <a:solidFill>
                  <a:srgbClr val="0000CC"/>
                </a:solidFill>
                <a:latin typeface="Rockwell" panose="02060603020205020403" pitchFamily="18" charset="0"/>
              </a:rPr>
              <a:t> </a:t>
            </a:r>
            <a:r>
              <a:rPr lang="en-US" b="1" dirty="0" err="1">
                <a:solidFill>
                  <a:srgbClr val="0000CC"/>
                </a:solidFill>
                <a:latin typeface="Rockwell" panose="02060603020205020403" pitchFamily="18" charset="0"/>
              </a:rPr>
              <a:t>loại</a:t>
            </a:r>
            <a:r>
              <a:rPr lang="en-US" b="1" dirty="0">
                <a:solidFill>
                  <a:srgbClr val="0000CC"/>
                </a:solidFill>
                <a:latin typeface="Rockwell" panose="02060603020205020403" pitchFamily="18" charset="0"/>
              </a:rPr>
              <a:t> IDS: </a:t>
            </a:r>
            <a:r>
              <a:rPr lang="en-US" dirty="0">
                <a:solidFill>
                  <a:srgbClr val="0000CC"/>
                </a:solidFill>
                <a:latin typeface="Rockwell" panose="02060603020205020403" pitchFamily="18" charset="0"/>
              </a:rPr>
              <a:t>IDS đ</a:t>
            </a:r>
            <a:r>
              <a:rPr lang="vi-VN" dirty="0">
                <a:solidFill>
                  <a:srgbClr val="0000CC"/>
                </a:solidFill>
                <a:latin typeface="Rockwell" panose="02060603020205020403" pitchFamily="18" charset="0"/>
              </a:rPr>
              <a:t>ược phân loại theo nhiều tiêu chí khác nhau:</a:t>
            </a:r>
          </a:p>
          <a:p>
            <a:pPr marL="0" indent="0">
              <a:buNone/>
            </a:pPr>
            <a:r>
              <a:rPr lang="vi-VN" b="1" dirty="0" smtClean="0">
                <a:solidFill>
                  <a:srgbClr val="0000CC"/>
                </a:solidFill>
                <a:latin typeface="Rockwell" panose="02060603020205020403" pitchFamily="18" charset="0"/>
                <a:ea typeface="+mj-ea"/>
                <a:cs typeface="+mj-cs"/>
              </a:rPr>
              <a:t>c</a:t>
            </a:r>
            <a:r>
              <a:rPr lang="vi-VN" b="1" dirty="0">
                <a:solidFill>
                  <a:srgbClr val="0000CC"/>
                </a:solidFill>
                <a:latin typeface="Rockwell" panose="02060603020205020403" pitchFamily="18" charset="0"/>
                <a:ea typeface="+mj-ea"/>
                <a:cs typeface="+mj-cs"/>
              </a:rPr>
              <a:t>. Theo khả năng phản ứng:</a:t>
            </a:r>
          </a:p>
          <a:p>
            <a:pPr marL="0" indent="0">
              <a:buNone/>
            </a:pPr>
            <a:r>
              <a:rPr lang="vi-VN" b="1" dirty="0">
                <a:solidFill>
                  <a:srgbClr val="0000CC"/>
                </a:solidFill>
                <a:latin typeface="Rockwell" panose="02060603020205020403" pitchFamily="18" charset="0"/>
                <a:ea typeface="+mj-ea"/>
                <a:cs typeface="+mj-cs"/>
              </a:rPr>
              <a:t>c1. Passive IDS:</a:t>
            </a:r>
          </a:p>
          <a:p>
            <a:r>
              <a:rPr lang="vi-VN" dirty="0">
                <a:solidFill>
                  <a:srgbClr val="0000CC"/>
                </a:solidFill>
                <a:latin typeface="Rockwell" panose="02060603020205020403" pitchFamily="18" charset="0"/>
                <a:ea typeface="+mj-ea"/>
                <a:cs typeface="+mj-cs"/>
              </a:rPr>
              <a:t>Chỉ phát hiện và cảnh báo, không can thiệp trực tiếp vào luồng dữ liệu.</a:t>
            </a:r>
          </a:p>
          <a:p>
            <a:pPr marL="0" indent="0">
              <a:buNone/>
            </a:pPr>
            <a:r>
              <a:rPr lang="vi-VN" b="1" dirty="0">
                <a:solidFill>
                  <a:srgbClr val="0000CC"/>
                </a:solidFill>
                <a:latin typeface="Rockwell" panose="02060603020205020403" pitchFamily="18" charset="0"/>
                <a:ea typeface="+mj-ea"/>
                <a:cs typeface="+mj-cs"/>
              </a:rPr>
              <a:t>c2. Active IDS (hay IPS – Intrusion Prevention System):</a:t>
            </a:r>
          </a:p>
          <a:p>
            <a:r>
              <a:rPr lang="vi-VN" dirty="0">
                <a:solidFill>
                  <a:srgbClr val="0000CC"/>
                </a:solidFill>
                <a:latin typeface="Rockwell" panose="02060603020205020403" pitchFamily="18" charset="0"/>
                <a:ea typeface="+mj-ea"/>
                <a:cs typeface="+mj-cs"/>
              </a:rPr>
              <a:t>Vừa phát hiện vừa chủ động ngăn chặn (drop packet, block IP).</a:t>
            </a:r>
          </a:p>
          <a:p>
            <a:r>
              <a:rPr lang="vi-VN" dirty="0">
                <a:solidFill>
                  <a:srgbClr val="0000CC"/>
                </a:solidFill>
                <a:latin typeface="Rockwell" panose="02060603020205020403" pitchFamily="18" charset="0"/>
                <a:ea typeface="+mj-ea"/>
                <a:cs typeface="+mj-cs"/>
              </a:rPr>
              <a:t>Được </a:t>
            </a:r>
            <a:r>
              <a:rPr lang="vi-VN" dirty="0" smtClean="0">
                <a:solidFill>
                  <a:srgbClr val="0000CC"/>
                </a:solidFill>
                <a:latin typeface="Rockwell" panose="02060603020205020403" pitchFamily="18" charset="0"/>
                <a:ea typeface="+mj-ea"/>
                <a:cs typeface="+mj-cs"/>
              </a:rPr>
              <a:t>xem </a:t>
            </a:r>
            <a:r>
              <a:rPr lang="vi-VN" dirty="0">
                <a:solidFill>
                  <a:srgbClr val="0000CC"/>
                </a:solidFill>
                <a:latin typeface="Rockwell" panose="02060603020205020403" pitchFamily="18" charset="0"/>
                <a:ea typeface="+mj-ea"/>
                <a:cs typeface="+mj-cs"/>
              </a:rPr>
              <a:t>là bước phát triển cao hơn của IDS</a:t>
            </a:r>
            <a:r>
              <a:rPr lang="vi-VN" dirty="0" smtClean="0">
                <a:solidFill>
                  <a:srgbClr val="0000CC"/>
                </a:solidFill>
                <a:latin typeface="Rockwell" panose="02060603020205020403" pitchFamily="18" charset="0"/>
                <a:ea typeface="+mj-ea"/>
                <a:cs typeface="+mj-cs"/>
              </a:rPr>
              <a:t>.</a:t>
            </a:r>
            <a:endParaRPr lang="en-US" dirty="0" smtClean="0">
              <a:solidFill>
                <a:srgbClr val="0000CC"/>
              </a:solidFill>
              <a:latin typeface="Rockwell" panose="02060603020205020403" pitchFamily="18" charset="0"/>
              <a:ea typeface="+mj-ea"/>
              <a:cs typeface="+mj-cs"/>
            </a:endParaRPr>
          </a:p>
          <a:p>
            <a:pPr marL="0" indent="0">
              <a:spcBef>
                <a:spcPts val="1800"/>
              </a:spcBef>
              <a:buNone/>
            </a:pPr>
            <a:r>
              <a:rPr lang="vi-VN" sz="2600" i="1" dirty="0">
                <a:solidFill>
                  <a:srgbClr val="FF00FF"/>
                </a:solidFill>
                <a:latin typeface="Rockwell" panose="02060603020205020403" pitchFamily="18" charset="0"/>
                <a:ea typeface="+mj-ea"/>
                <a:cs typeface="+mj-cs"/>
              </a:rPr>
              <a:t>Trong các mạng E-commerce, người thiết kế thường kết hợp giữa NIDS + HIDS, đồng thời sử dụng cả signature-based và anomaly-based để đạt hiệu quả cao.</a:t>
            </a:r>
            <a:endParaRPr lang="en-US" sz="2600" i="1" dirty="0">
              <a:solidFill>
                <a:srgbClr val="FF00FF"/>
              </a:solidFill>
              <a:latin typeface="Rockwell" panose="02060603020205020403" pitchFamily="18" charset="0"/>
              <a:ea typeface="+mj-ea"/>
              <a:cs typeface="+mj-cs"/>
            </a:endParaRPr>
          </a:p>
        </p:txBody>
      </p:sp>
    </p:spTree>
    <p:extLst>
      <p:ext uri="{BB962C8B-B14F-4D97-AF65-F5344CB8AC3E}">
        <p14:creationId xmlns:p14="http://schemas.microsoft.com/office/powerpoint/2010/main" val="829713163"/>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599" y="876869"/>
            <a:ext cx="10242645" cy="528851"/>
          </a:xfrm>
        </p:spPr>
        <p:txBody>
          <a:bodyPr/>
          <a:lstStyle/>
          <a:p>
            <a:r>
              <a:rPr lang="en-US" sz="2800" b="1" dirty="0">
                <a:solidFill>
                  <a:srgbClr val="0000CC"/>
                </a:solidFill>
                <a:latin typeface="Rockwell" panose="02060603020205020403" pitchFamily="18" charset="0"/>
              </a:rPr>
              <a:t>7</a:t>
            </a:r>
            <a:r>
              <a:rPr lang="en-US" sz="2800" b="1" dirty="0" smtClean="0">
                <a:solidFill>
                  <a:srgbClr val="0000CC"/>
                </a:solidFill>
                <a:latin typeface="Rockwell" panose="02060603020205020403" pitchFamily="18" charset="0"/>
              </a:rPr>
              <a:t>.3.</a:t>
            </a:r>
            <a:r>
              <a:rPr lang="vi-VN"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Chức</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năng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và</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mục</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đích</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sử</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dụng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của</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IDS</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600" y="1539263"/>
            <a:ext cx="10092520" cy="4382729"/>
          </a:xfrm>
        </p:spPr>
        <p:txBody>
          <a:bodyPr/>
          <a:lstStyle/>
          <a:p>
            <a:pPr marL="0" indent="0">
              <a:buNone/>
            </a:pPr>
            <a:r>
              <a:rPr lang="en-US" b="1" dirty="0" smtClean="0">
                <a:solidFill>
                  <a:srgbClr val="0000CC"/>
                </a:solidFill>
                <a:latin typeface="Rockwell" panose="02060603020205020403" pitchFamily="18" charset="0"/>
                <a:ea typeface="+mj-ea"/>
                <a:cs typeface="+mj-cs"/>
              </a:rPr>
              <a:t>3.</a:t>
            </a:r>
            <a:r>
              <a:rPr lang="vi-VN" b="1" dirty="0" smtClean="0">
                <a:solidFill>
                  <a:srgbClr val="0000CC"/>
                </a:solidFill>
                <a:latin typeface="Rockwell" panose="02060603020205020403" pitchFamily="18" charset="0"/>
                <a:ea typeface="+mj-ea"/>
                <a:cs typeface="+mj-cs"/>
              </a:rPr>
              <a:t> </a:t>
            </a:r>
            <a:r>
              <a:rPr lang="vi-VN" b="1" dirty="0">
                <a:solidFill>
                  <a:srgbClr val="0000CC"/>
                </a:solidFill>
                <a:latin typeface="Rockwell" panose="02060603020205020403" pitchFamily="18" charset="0"/>
                <a:ea typeface="+mj-ea"/>
                <a:cs typeface="+mj-cs"/>
              </a:rPr>
              <a:t>Các thành phần chính của </a:t>
            </a:r>
            <a:r>
              <a:rPr lang="vi-VN" b="1" dirty="0" smtClean="0">
                <a:solidFill>
                  <a:srgbClr val="0000CC"/>
                </a:solidFill>
                <a:latin typeface="Rockwell" panose="02060603020205020403" pitchFamily="18" charset="0"/>
                <a:ea typeface="+mj-ea"/>
                <a:cs typeface="+mj-cs"/>
              </a:rPr>
              <a:t>IDS</a:t>
            </a:r>
            <a:r>
              <a:rPr lang="en-US" b="1" dirty="0" smtClean="0">
                <a:solidFill>
                  <a:srgbClr val="0000CC"/>
                </a:solidFill>
                <a:latin typeface="Rockwell" panose="02060603020205020403" pitchFamily="18" charset="0"/>
                <a:ea typeface="+mj-ea"/>
                <a:cs typeface="+mj-cs"/>
              </a:rPr>
              <a:t> </a:t>
            </a:r>
            <a:r>
              <a:rPr lang="en-US" dirty="0" smtClean="0">
                <a:solidFill>
                  <a:srgbClr val="0000CC"/>
                </a:solidFill>
                <a:latin typeface="Rockwell" panose="02060603020205020403" pitchFamily="18" charset="0"/>
                <a:ea typeface="+mj-ea"/>
                <a:cs typeface="+mj-cs"/>
              </a:rPr>
              <a:t>(</a:t>
            </a:r>
            <a:r>
              <a:rPr lang="en-US" dirty="0" err="1" smtClean="0">
                <a:solidFill>
                  <a:srgbClr val="0000CC"/>
                </a:solidFill>
                <a:latin typeface="Rockwell" panose="02060603020205020403" pitchFamily="18" charset="0"/>
                <a:ea typeface="+mj-ea"/>
                <a:cs typeface="+mj-cs"/>
              </a:rPr>
              <a:t>không</a:t>
            </a:r>
            <a:r>
              <a:rPr lang="en-US" dirty="0" smtClean="0">
                <a:solidFill>
                  <a:srgbClr val="0000CC"/>
                </a:solidFill>
                <a:latin typeface="Rockwell" panose="02060603020205020403" pitchFamily="18" charset="0"/>
                <a:ea typeface="+mj-ea"/>
                <a:cs typeface="+mj-cs"/>
              </a:rPr>
              <a:t> </a:t>
            </a:r>
            <a:r>
              <a:rPr lang="en-US" dirty="0" err="1" smtClean="0">
                <a:solidFill>
                  <a:srgbClr val="0000CC"/>
                </a:solidFill>
                <a:latin typeface="Rockwell" panose="02060603020205020403" pitchFamily="18" charset="0"/>
                <a:ea typeface="+mj-ea"/>
                <a:cs typeface="+mj-cs"/>
              </a:rPr>
              <a:t>phân</a:t>
            </a:r>
            <a:r>
              <a:rPr lang="en-US" dirty="0" smtClean="0">
                <a:solidFill>
                  <a:srgbClr val="0000CC"/>
                </a:solidFill>
                <a:latin typeface="Rockwell" panose="02060603020205020403" pitchFamily="18" charset="0"/>
                <a:ea typeface="+mj-ea"/>
                <a:cs typeface="+mj-cs"/>
              </a:rPr>
              <a:t> </a:t>
            </a:r>
            <a:r>
              <a:rPr lang="en-US" dirty="0" err="1" smtClean="0">
                <a:solidFill>
                  <a:srgbClr val="0000CC"/>
                </a:solidFill>
                <a:latin typeface="Rockwell" panose="02060603020205020403" pitchFamily="18" charset="0"/>
                <a:ea typeface="+mj-ea"/>
                <a:cs typeface="+mj-cs"/>
              </a:rPr>
              <a:t>biệt</a:t>
            </a:r>
            <a:r>
              <a:rPr lang="en-US" dirty="0" smtClean="0">
                <a:solidFill>
                  <a:srgbClr val="0000CC"/>
                </a:solidFill>
                <a:latin typeface="Rockwell" panose="02060603020205020403" pitchFamily="18" charset="0"/>
                <a:ea typeface="+mj-ea"/>
                <a:cs typeface="+mj-cs"/>
              </a:rPr>
              <a:t> IDS)</a:t>
            </a:r>
            <a:endParaRPr lang="vi-VN" b="1" dirty="0">
              <a:solidFill>
                <a:srgbClr val="0000CC"/>
              </a:solidFill>
              <a:latin typeface="Rockwell" panose="02060603020205020403" pitchFamily="18" charset="0"/>
              <a:ea typeface="+mj-ea"/>
              <a:cs typeface="+mj-cs"/>
            </a:endParaRPr>
          </a:p>
          <a:p>
            <a:r>
              <a:rPr lang="vi-VN" dirty="0">
                <a:solidFill>
                  <a:srgbClr val="0000CC"/>
                </a:solidFill>
                <a:latin typeface="Rockwell" panose="02060603020205020403" pitchFamily="18" charset="0"/>
                <a:ea typeface="+mj-ea"/>
                <a:cs typeface="+mj-cs"/>
              </a:rPr>
              <a:t>Sensor/Agent: </a:t>
            </a:r>
            <a:r>
              <a:rPr lang="en-US" dirty="0" smtClean="0">
                <a:solidFill>
                  <a:srgbClr val="0000CC"/>
                </a:solidFill>
                <a:latin typeface="Rockwell" panose="02060603020205020403" pitchFamily="18" charset="0"/>
                <a:ea typeface="+mj-ea"/>
                <a:cs typeface="+mj-cs"/>
              </a:rPr>
              <a:t>T</a:t>
            </a:r>
            <a:r>
              <a:rPr lang="vi-VN" dirty="0" smtClean="0">
                <a:solidFill>
                  <a:srgbClr val="0000CC"/>
                </a:solidFill>
                <a:latin typeface="Rockwell" panose="02060603020205020403" pitchFamily="18" charset="0"/>
                <a:ea typeface="+mj-ea"/>
                <a:cs typeface="+mj-cs"/>
              </a:rPr>
              <a:t>hu </a:t>
            </a:r>
            <a:r>
              <a:rPr lang="vi-VN" dirty="0">
                <a:solidFill>
                  <a:srgbClr val="0000CC"/>
                </a:solidFill>
                <a:latin typeface="Rockwell" panose="02060603020205020403" pitchFamily="18" charset="0"/>
                <a:ea typeface="+mj-ea"/>
                <a:cs typeface="+mj-cs"/>
              </a:rPr>
              <a:t>thập dữ liệu từ mạng hoặc hệ thống.</a:t>
            </a:r>
          </a:p>
          <a:p>
            <a:r>
              <a:rPr lang="vi-VN" dirty="0">
                <a:solidFill>
                  <a:srgbClr val="0000CC"/>
                </a:solidFill>
                <a:latin typeface="Rockwell" panose="02060603020205020403" pitchFamily="18" charset="0"/>
                <a:ea typeface="+mj-ea"/>
                <a:cs typeface="+mj-cs"/>
              </a:rPr>
              <a:t>Engine phân </a:t>
            </a:r>
            <a:r>
              <a:rPr lang="vi-VN" dirty="0" smtClean="0">
                <a:solidFill>
                  <a:srgbClr val="0000CC"/>
                </a:solidFill>
                <a:latin typeface="Rockwell" panose="02060603020205020403" pitchFamily="18" charset="0"/>
                <a:ea typeface="+mj-ea"/>
                <a:cs typeface="+mj-cs"/>
              </a:rPr>
              <a:t>tích</a:t>
            </a:r>
            <a:r>
              <a:rPr lang="en-US" dirty="0" smtClean="0">
                <a:solidFill>
                  <a:srgbClr val="0000CC"/>
                </a:solidFill>
                <a:latin typeface="Rockwell" panose="02060603020205020403" pitchFamily="18" charset="0"/>
                <a:ea typeface="+mj-ea"/>
                <a:cs typeface="+mj-cs"/>
              </a:rPr>
              <a:t> </a:t>
            </a:r>
            <a:r>
              <a:rPr lang="en-US" dirty="0" err="1" smtClean="0">
                <a:solidFill>
                  <a:srgbClr val="0000CC"/>
                </a:solidFill>
                <a:latin typeface="Rockwell" panose="02060603020205020403" pitchFamily="18" charset="0"/>
                <a:ea typeface="+mj-ea"/>
                <a:cs typeface="+mj-cs"/>
              </a:rPr>
              <a:t>và</a:t>
            </a:r>
            <a:r>
              <a:rPr lang="en-US" dirty="0" smtClean="0">
                <a:solidFill>
                  <a:srgbClr val="0000CC"/>
                </a:solidFill>
                <a:latin typeface="Rockwell" panose="02060603020205020403" pitchFamily="18" charset="0"/>
                <a:ea typeface="+mj-ea"/>
                <a:cs typeface="+mj-cs"/>
              </a:rPr>
              <a:t> </a:t>
            </a:r>
            <a:r>
              <a:rPr lang="en-US" dirty="0" err="1" smtClean="0">
                <a:solidFill>
                  <a:srgbClr val="0000CC"/>
                </a:solidFill>
                <a:latin typeface="Rockwell" panose="02060603020205020403" pitchFamily="18" charset="0"/>
                <a:ea typeface="+mj-ea"/>
                <a:cs typeface="+mj-cs"/>
              </a:rPr>
              <a:t>phát</a:t>
            </a:r>
            <a:r>
              <a:rPr lang="en-US" dirty="0" smtClean="0">
                <a:solidFill>
                  <a:srgbClr val="0000CC"/>
                </a:solidFill>
                <a:latin typeface="Rockwell" panose="02060603020205020403" pitchFamily="18" charset="0"/>
                <a:ea typeface="+mj-ea"/>
                <a:cs typeface="+mj-cs"/>
              </a:rPr>
              <a:t> </a:t>
            </a:r>
            <a:r>
              <a:rPr lang="en-US" dirty="0" err="1" smtClean="0">
                <a:solidFill>
                  <a:srgbClr val="0000CC"/>
                </a:solidFill>
                <a:latin typeface="Rockwell" panose="02060603020205020403" pitchFamily="18" charset="0"/>
                <a:ea typeface="+mj-ea"/>
                <a:cs typeface="+mj-cs"/>
              </a:rPr>
              <a:t>hiện</a:t>
            </a:r>
            <a:r>
              <a:rPr lang="en-US" dirty="0" smtClean="0">
                <a:solidFill>
                  <a:srgbClr val="0000CC"/>
                </a:solidFill>
                <a:latin typeface="Rockwell" panose="02060603020205020403" pitchFamily="18" charset="0"/>
                <a:ea typeface="+mj-ea"/>
                <a:cs typeface="+mj-cs"/>
              </a:rPr>
              <a:t> </a:t>
            </a:r>
            <a:r>
              <a:rPr lang="en-US" dirty="0">
                <a:solidFill>
                  <a:srgbClr val="0000CC"/>
                </a:solidFill>
                <a:latin typeface="Rockwell" panose="02060603020205020403" pitchFamily="18" charset="0"/>
                <a:ea typeface="+mj-ea"/>
                <a:cs typeface="+mj-cs"/>
              </a:rPr>
              <a:t>(Analysis &amp; Detection Engine)</a:t>
            </a:r>
            <a:r>
              <a:rPr lang="vi-VN" dirty="0">
                <a:solidFill>
                  <a:srgbClr val="0000CC"/>
                </a:solidFill>
                <a:latin typeface="Rockwell" panose="02060603020205020403" pitchFamily="18" charset="0"/>
                <a:ea typeface="+mj-ea"/>
                <a:cs typeface="+mj-cs"/>
              </a:rPr>
              <a:t>: </a:t>
            </a:r>
            <a:r>
              <a:rPr lang="en-US" dirty="0" smtClean="0">
                <a:solidFill>
                  <a:srgbClr val="0000CC"/>
                </a:solidFill>
                <a:latin typeface="Rockwell" panose="02060603020205020403" pitchFamily="18" charset="0"/>
                <a:ea typeface="+mj-ea"/>
                <a:cs typeface="+mj-cs"/>
              </a:rPr>
              <a:t>X</a:t>
            </a:r>
            <a:r>
              <a:rPr lang="vi-VN" dirty="0" smtClean="0">
                <a:solidFill>
                  <a:srgbClr val="0000CC"/>
                </a:solidFill>
                <a:latin typeface="Rockwell" panose="02060603020205020403" pitchFamily="18" charset="0"/>
                <a:ea typeface="+mj-ea"/>
                <a:cs typeface="+mj-cs"/>
              </a:rPr>
              <a:t>ử </a:t>
            </a:r>
            <a:r>
              <a:rPr lang="vi-VN" dirty="0">
                <a:solidFill>
                  <a:srgbClr val="0000CC"/>
                </a:solidFill>
                <a:latin typeface="Rockwell" panose="02060603020205020403" pitchFamily="18" charset="0"/>
                <a:ea typeface="+mj-ea"/>
                <a:cs typeface="+mj-cs"/>
              </a:rPr>
              <a:t>lý dữ liệu, so khớp chữ ký hoặc kiểm tra hành vi bất thường.</a:t>
            </a:r>
          </a:p>
          <a:p>
            <a:r>
              <a:rPr lang="vi-VN" dirty="0">
                <a:solidFill>
                  <a:srgbClr val="0000CC"/>
                </a:solidFill>
                <a:latin typeface="Rockwell" panose="02060603020205020403" pitchFamily="18" charset="0"/>
                <a:ea typeface="+mj-ea"/>
                <a:cs typeface="+mj-cs"/>
              </a:rPr>
              <a:t>Database chữ ký và luật phát </a:t>
            </a:r>
            <a:r>
              <a:rPr lang="vi-VN" dirty="0" smtClean="0">
                <a:solidFill>
                  <a:srgbClr val="0000CC"/>
                </a:solidFill>
                <a:latin typeface="Rockwell" panose="02060603020205020403" pitchFamily="18" charset="0"/>
                <a:ea typeface="+mj-ea"/>
                <a:cs typeface="+mj-cs"/>
              </a:rPr>
              <a:t>hiện</a:t>
            </a:r>
            <a:r>
              <a:rPr lang="en-US" dirty="0" smtClean="0">
                <a:solidFill>
                  <a:srgbClr val="0000CC"/>
                </a:solidFill>
                <a:latin typeface="Rockwell" panose="02060603020205020403" pitchFamily="18" charset="0"/>
                <a:ea typeface="+mj-ea"/>
                <a:cs typeface="+mj-cs"/>
              </a:rPr>
              <a:t> </a:t>
            </a:r>
            <a:r>
              <a:rPr lang="en-US" dirty="0" smtClean="0">
                <a:solidFill>
                  <a:srgbClr val="0000CC"/>
                </a:solidFill>
                <a:latin typeface="Rockwell" panose="02060603020205020403" pitchFamily="18" charset="0"/>
              </a:rPr>
              <a:t>(</a:t>
            </a:r>
            <a:r>
              <a:rPr lang="en-US" dirty="0" err="1" smtClean="0">
                <a:solidFill>
                  <a:srgbClr val="0000CC"/>
                </a:solidFill>
                <a:latin typeface="Rockwell" panose="02060603020205020403" pitchFamily="18" charset="0"/>
              </a:rPr>
              <a:t>chứa</a:t>
            </a:r>
            <a:r>
              <a:rPr lang="en-US" dirty="0" smtClean="0">
                <a:solidFill>
                  <a:srgbClr val="0000CC"/>
                </a:solidFill>
                <a:latin typeface="Rockwell" panose="02060603020205020403" pitchFamily="18" charset="0"/>
              </a:rPr>
              <a:t> </a:t>
            </a:r>
            <a:r>
              <a:rPr lang="en-US" dirty="0" err="1" smtClean="0">
                <a:solidFill>
                  <a:srgbClr val="0000CC"/>
                </a:solidFill>
                <a:latin typeface="Rockwell" panose="02060603020205020403" pitchFamily="18" charset="0"/>
              </a:rPr>
              <a:t>trong</a:t>
            </a:r>
            <a:r>
              <a:rPr lang="en-US" dirty="0" smtClean="0">
                <a:solidFill>
                  <a:srgbClr val="0000CC"/>
                </a:solidFill>
                <a:latin typeface="Rockwell" panose="02060603020205020403" pitchFamily="18" charset="0"/>
              </a:rPr>
              <a:t> Analysis </a:t>
            </a:r>
            <a:r>
              <a:rPr lang="en-US" dirty="0">
                <a:solidFill>
                  <a:srgbClr val="0000CC"/>
                </a:solidFill>
                <a:latin typeface="Rockwell" panose="02060603020205020403" pitchFamily="18" charset="0"/>
              </a:rPr>
              <a:t>&amp; Detection Engine</a:t>
            </a:r>
            <a:r>
              <a:rPr lang="en-US" dirty="0" smtClean="0">
                <a:solidFill>
                  <a:srgbClr val="0000CC"/>
                </a:solidFill>
                <a:latin typeface="Rockwell" panose="02060603020205020403" pitchFamily="18" charset="0"/>
              </a:rPr>
              <a:t>)</a:t>
            </a:r>
            <a:r>
              <a:rPr lang="vi-VN" dirty="0" smtClean="0">
                <a:solidFill>
                  <a:srgbClr val="0000CC"/>
                </a:solidFill>
                <a:latin typeface="Rockwell" panose="02060603020205020403" pitchFamily="18" charset="0"/>
                <a:ea typeface="+mj-ea"/>
                <a:cs typeface="+mj-cs"/>
              </a:rPr>
              <a:t>: </a:t>
            </a:r>
            <a:r>
              <a:rPr lang="en-US" dirty="0" smtClean="0">
                <a:solidFill>
                  <a:srgbClr val="0000CC"/>
                </a:solidFill>
                <a:latin typeface="Rockwell" panose="02060603020205020403" pitchFamily="18" charset="0"/>
                <a:ea typeface="+mj-ea"/>
                <a:cs typeface="+mj-cs"/>
              </a:rPr>
              <a:t>C</a:t>
            </a:r>
            <a:r>
              <a:rPr lang="vi-VN" dirty="0" smtClean="0">
                <a:solidFill>
                  <a:srgbClr val="0000CC"/>
                </a:solidFill>
                <a:latin typeface="Rockwell" panose="02060603020205020403" pitchFamily="18" charset="0"/>
                <a:ea typeface="+mj-ea"/>
                <a:cs typeface="+mj-cs"/>
              </a:rPr>
              <a:t>hứa </a:t>
            </a:r>
            <a:r>
              <a:rPr lang="vi-VN" dirty="0">
                <a:solidFill>
                  <a:srgbClr val="0000CC"/>
                </a:solidFill>
                <a:latin typeface="Rockwell" panose="02060603020205020403" pitchFamily="18" charset="0"/>
                <a:ea typeface="+mj-ea"/>
                <a:cs typeface="+mj-cs"/>
              </a:rPr>
              <a:t>mẫu tấn công hoặc chính sách phân tích.</a:t>
            </a:r>
          </a:p>
          <a:p>
            <a:r>
              <a:rPr lang="vi-VN" dirty="0">
                <a:solidFill>
                  <a:srgbClr val="0000CC"/>
                </a:solidFill>
                <a:latin typeface="Rockwell" panose="02060603020205020403" pitchFamily="18" charset="0"/>
                <a:ea typeface="+mj-ea"/>
                <a:cs typeface="+mj-cs"/>
              </a:rPr>
              <a:t>Hệ thống cảnh báo (Alert/Reporting System): </a:t>
            </a:r>
            <a:r>
              <a:rPr lang="en-US" dirty="0" smtClean="0">
                <a:solidFill>
                  <a:srgbClr val="0000CC"/>
                </a:solidFill>
                <a:latin typeface="Rockwell" panose="02060603020205020403" pitchFamily="18" charset="0"/>
                <a:ea typeface="+mj-ea"/>
                <a:cs typeface="+mj-cs"/>
              </a:rPr>
              <a:t>T</a:t>
            </a:r>
            <a:r>
              <a:rPr lang="vi-VN" dirty="0" smtClean="0">
                <a:solidFill>
                  <a:srgbClr val="0000CC"/>
                </a:solidFill>
                <a:latin typeface="Rockwell" panose="02060603020205020403" pitchFamily="18" charset="0"/>
                <a:ea typeface="+mj-ea"/>
                <a:cs typeface="+mj-cs"/>
              </a:rPr>
              <a:t>hông </a:t>
            </a:r>
            <a:r>
              <a:rPr lang="vi-VN" dirty="0">
                <a:solidFill>
                  <a:srgbClr val="0000CC"/>
                </a:solidFill>
                <a:latin typeface="Rockwell" panose="02060603020205020403" pitchFamily="18" charset="0"/>
                <a:ea typeface="+mj-ea"/>
                <a:cs typeface="+mj-cs"/>
              </a:rPr>
              <a:t>báo cho quản trị viên khi có sự kiện nghi ngờ.</a:t>
            </a:r>
          </a:p>
          <a:p>
            <a:r>
              <a:rPr lang="vi-VN" dirty="0">
                <a:solidFill>
                  <a:srgbClr val="0000CC"/>
                </a:solidFill>
                <a:latin typeface="Rockwell" panose="02060603020205020403" pitchFamily="18" charset="0"/>
                <a:ea typeface="+mj-ea"/>
                <a:cs typeface="+mj-cs"/>
              </a:rPr>
              <a:t>Giao diện quản lý (Management Console): </a:t>
            </a:r>
            <a:r>
              <a:rPr lang="en-US" dirty="0" smtClean="0">
                <a:solidFill>
                  <a:srgbClr val="0000CC"/>
                </a:solidFill>
                <a:latin typeface="Rockwell" panose="02060603020205020403" pitchFamily="18" charset="0"/>
                <a:ea typeface="+mj-ea"/>
                <a:cs typeface="+mj-cs"/>
              </a:rPr>
              <a:t>N</a:t>
            </a:r>
            <a:r>
              <a:rPr lang="vi-VN" dirty="0" smtClean="0">
                <a:solidFill>
                  <a:srgbClr val="0000CC"/>
                </a:solidFill>
                <a:latin typeface="Rockwell" panose="02060603020205020403" pitchFamily="18" charset="0"/>
                <a:ea typeface="+mj-ea"/>
                <a:cs typeface="+mj-cs"/>
              </a:rPr>
              <a:t>ơi </a:t>
            </a:r>
            <a:r>
              <a:rPr lang="vi-VN" dirty="0">
                <a:solidFill>
                  <a:srgbClr val="0000CC"/>
                </a:solidFill>
                <a:latin typeface="Rockwell" panose="02060603020205020403" pitchFamily="18" charset="0"/>
                <a:ea typeface="+mj-ea"/>
                <a:cs typeface="+mj-cs"/>
              </a:rPr>
              <a:t>cấu hình, giám sát và quản trị IDS. </a:t>
            </a:r>
            <a:endParaRPr lang="en-US" sz="2600" i="1" dirty="0">
              <a:solidFill>
                <a:srgbClr val="FF00FF"/>
              </a:solidFill>
              <a:latin typeface="Rockwell" panose="02060603020205020403" pitchFamily="18" charset="0"/>
              <a:ea typeface="+mj-ea"/>
              <a:cs typeface="+mj-cs"/>
            </a:endParaRPr>
          </a:p>
        </p:txBody>
      </p:sp>
    </p:spTree>
    <p:extLst>
      <p:ext uri="{BB962C8B-B14F-4D97-AF65-F5344CB8AC3E}">
        <p14:creationId xmlns:p14="http://schemas.microsoft.com/office/powerpoint/2010/main" val="4160625192"/>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600" y="519092"/>
            <a:ext cx="10242645" cy="528851"/>
          </a:xfrm>
        </p:spPr>
        <p:txBody>
          <a:bodyPr/>
          <a:lstStyle/>
          <a:p>
            <a:r>
              <a:rPr lang="en-US" sz="2800" b="1" dirty="0">
                <a:solidFill>
                  <a:srgbClr val="0000CC"/>
                </a:solidFill>
                <a:latin typeface="Rockwell" panose="02060603020205020403" pitchFamily="18" charset="0"/>
              </a:rPr>
              <a:t>7</a:t>
            </a:r>
            <a:r>
              <a:rPr lang="en-US" sz="2800" b="1" dirty="0" smtClean="0">
                <a:solidFill>
                  <a:srgbClr val="0000CC"/>
                </a:solidFill>
                <a:latin typeface="Rockwell" panose="02060603020205020403" pitchFamily="18" charset="0"/>
              </a:rPr>
              <a:t>.3.</a:t>
            </a:r>
            <a:r>
              <a:rPr lang="vi-VN"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Chức</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năng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và</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mục</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đích</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sử</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dụng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của</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IDS</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600" y="1047943"/>
            <a:ext cx="10092520" cy="4382729"/>
          </a:xfrm>
        </p:spPr>
        <p:txBody>
          <a:bodyPr/>
          <a:lstStyle/>
          <a:p>
            <a:pPr marL="0" indent="0">
              <a:buNone/>
            </a:pPr>
            <a:r>
              <a:rPr lang="en-US" b="1" dirty="0" smtClean="0">
                <a:solidFill>
                  <a:srgbClr val="0000CC"/>
                </a:solidFill>
                <a:latin typeface="Rockwell" panose="02060603020205020403" pitchFamily="18" charset="0"/>
                <a:ea typeface="+mj-ea"/>
                <a:cs typeface="+mj-cs"/>
              </a:rPr>
              <a:t>3.</a:t>
            </a:r>
            <a:r>
              <a:rPr lang="vi-VN" b="1" dirty="0" smtClean="0">
                <a:solidFill>
                  <a:srgbClr val="0000CC"/>
                </a:solidFill>
                <a:latin typeface="Rockwell" panose="02060603020205020403" pitchFamily="18" charset="0"/>
                <a:ea typeface="+mj-ea"/>
                <a:cs typeface="+mj-cs"/>
              </a:rPr>
              <a:t> </a:t>
            </a:r>
            <a:r>
              <a:rPr lang="vi-VN" b="1" dirty="0">
                <a:solidFill>
                  <a:srgbClr val="0000CC"/>
                </a:solidFill>
                <a:latin typeface="Rockwell" panose="02060603020205020403" pitchFamily="18" charset="0"/>
                <a:ea typeface="+mj-ea"/>
                <a:cs typeface="+mj-cs"/>
              </a:rPr>
              <a:t>Các thành phần chính của </a:t>
            </a:r>
            <a:r>
              <a:rPr lang="vi-VN" b="1" dirty="0" smtClean="0">
                <a:solidFill>
                  <a:srgbClr val="0000CC"/>
                </a:solidFill>
                <a:latin typeface="Rockwell" panose="02060603020205020403" pitchFamily="18" charset="0"/>
                <a:ea typeface="+mj-ea"/>
                <a:cs typeface="+mj-cs"/>
              </a:rPr>
              <a:t>IDS</a:t>
            </a:r>
            <a:r>
              <a:rPr lang="en-US" b="1" dirty="0" smtClean="0">
                <a:solidFill>
                  <a:srgbClr val="0000CC"/>
                </a:solidFill>
                <a:latin typeface="Rockwell" panose="02060603020205020403" pitchFamily="18" charset="0"/>
                <a:ea typeface="+mj-ea"/>
                <a:cs typeface="+mj-cs"/>
              </a:rPr>
              <a:t> </a:t>
            </a:r>
            <a:r>
              <a:rPr lang="en-US" dirty="0" smtClean="0">
                <a:solidFill>
                  <a:srgbClr val="0000CC"/>
                </a:solidFill>
                <a:latin typeface="Rockwell" panose="02060603020205020403" pitchFamily="18" charset="0"/>
                <a:ea typeface="+mj-ea"/>
                <a:cs typeface="+mj-cs"/>
              </a:rPr>
              <a:t>(</a:t>
            </a:r>
            <a:r>
              <a:rPr lang="en-US" dirty="0" err="1" smtClean="0">
                <a:solidFill>
                  <a:srgbClr val="0000CC"/>
                </a:solidFill>
                <a:latin typeface="Rockwell" panose="02060603020205020403" pitchFamily="18" charset="0"/>
                <a:ea typeface="+mj-ea"/>
                <a:cs typeface="+mj-cs"/>
              </a:rPr>
              <a:t>không</a:t>
            </a:r>
            <a:r>
              <a:rPr lang="en-US" dirty="0" smtClean="0">
                <a:solidFill>
                  <a:srgbClr val="0000CC"/>
                </a:solidFill>
                <a:latin typeface="Rockwell" panose="02060603020205020403" pitchFamily="18" charset="0"/>
                <a:ea typeface="+mj-ea"/>
                <a:cs typeface="+mj-cs"/>
              </a:rPr>
              <a:t> </a:t>
            </a:r>
            <a:r>
              <a:rPr lang="en-US" dirty="0" err="1" smtClean="0">
                <a:solidFill>
                  <a:srgbClr val="0000CC"/>
                </a:solidFill>
                <a:latin typeface="Rockwell" panose="02060603020205020403" pitchFamily="18" charset="0"/>
                <a:ea typeface="+mj-ea"/>
                <a:cs typeface="+mj-cs"/>
              </a:rPr>
              <a:t>phân</a:t>
            </a:r>
            <a:r>
              <a:rPr lang="en-US" dirty="0" smtClean="0">
                <a:solidFill>
                  <a:srgbClr val="0000CC"/>
                </a:solidFill>
                <a:latin typeface="Rockwell" panose="02060603020205020403" pitchFamily="18" charset="0"/>
                <a:ea typeface="+mj-ea"/>
                <a:cs typeface="+mj-cs"/>
              </a:rPr>
              <a:t> </a:t>
            </a:r>
            <a:r>
              <a:rPr lang="en-US" dirty="0" err="1" smtClean="0">
                <a:solidFill>
                  <a:srgbClr val="0000CC"/>
                </a:solidFill>
                <a:latin typeface="Rockwell" panose="02060603020205020403" pitchFamily="18" charset="0"/>
                <a:ea typeface="+mj-ea"/>
                <a:cs typeface="+mj-cs"/>
              </a:rPr>
              <a:t>biệt</a:t>
            </a:r>
            <a:r>
              <a:rPr lang="en-US" dirty="0" smtClean="0">
                <a:solidFill>
                  <a:srgbClr val="0000CC"/>
                </a:solidFill>
                <a:latin typeface="Rockwell" panose="02060603020205020403" pitchFamily="18" charset="0"/>
                <a:ea typeface="+mj-ea"/>
                <a:cs typeface="+mj-cs"/>
              </a:rPr>
              <a:t> IDS)</a:t>
            </a:r>
            <a:endParaRPr lang="vi-VN" b="1" dirty="0">
              <a:solidFill>
                <a:srgbClr val="0000CC"/>
              </a:solidFill>
              <a:latin typeface="Rockwell" panose="02060603020205020403" pitchFamily="18" charset="0"/>
              <a:ea typeface="+mj-ea"/>
              <a:cs typeface="+mj-cs"/>
            </a:endParaRPr>
          </a:p>
          <a:p>
            <a:pPr marL="0" indent="0">
              <a:spcBef>
                <a:spcPts val="600"/>
              </a:spcBef>
              <a:buNone/>
            </a:pPr>
            <a:r>
              <a:rPr lang="en-US" dirty="0" err="1" smtClean="0">
                <a:solidFill>
                  <a:srgbClr val="0000CC"/>
                </a:solidFill>
                <a:latin typeface="Rockwell" panose="02060603020205020403" pitchFamily="18" charset="0"/>
                <a:ea typeface="+mj-ea"/>
                <a:cs typeface="+mj-cs"/>
              </a:rPr>
              <a:t>Ví</a:t>
            </a:r>
            <a:r>
              <a:rPr lang="en-US" dirty="0" smtClean="0">
                <a:solidFill>
                  <a:srgbClr val="0000CC"/>
                </a:solidFill>
                <a:latin typeface="Rockwell" panose="02060603020205020403" pitchFamily="18" charset="0"/>
                <a:ea typeface="+mj-ea"/>
                <a:cs typeface="+mj-cs"/>
              </a:rPr>
              <a:t> </a:t>
            </a:r>
            <a:r>
              <a:rPr lang="en-US" dirty="0" err="1" smtClean="0">
                <a:solidFill>
                  <a:srgbClr val="0000CC"/>
                </a:solidFill>
                <a:latin typeface="Rockwell" panose="02060603020205020403" pitchFamily="18" charset="0"/>
                <a:ea typeface="+mj-ea"/>
                <a:cs typeface="+mj-cs"/>
              </a:rPr>
              <a:t>dụ</a:t>
            </a:r>
            <a:r>
              <a:rPr lang="en-US" dirty="0" smtClean="0">
                <a:solidFill>
                  <a:srgbClr val="0000CC"/>
                </a:solidFill>
                <a:latin typeface="Rockwell" panose="02060603020205020403" pitchFamily="18" charset="0"/>
                <a:ea typeface="+mj-ea"/>
                <a:cs typeface="+mj-cs"/>
              </a:rPr>
              <a:t> </a:t>
            </a:r>
            <a:r>
              <a:rPr lang="en-US" dirty="0" err="1" smtClean="0">
                <a:solidFill>
                  <a:srgbClr val="0000CC"/>
                </a:solidFill>
                <a:latin typeface="Rockwell" panose="02060603020205020403" pitchFamily="18" charset="0"/>
                <a:ea typeface="+mj-ea"/>
                <a:cs typeface="+mj-cs"/>
              </a:rPr>
              <a:t>về</a:t>
            </a:r>
            <a:r>
              <a:rPr lang="en-US" dirty="0" smtClean="0">
                <a:solidFill>
                  <a:srgbClr val="0000CC"/>
                </a:solidFill>
                <a:latin typeface="Rockwell" panose="02060603020205020403" pitchFamily="18" charset="0"/>
                <a:ea typeface="+mj-ea"/>
                <a:cs typeface="+mj-cs"/>
              </a:rPr>
              <a:t>: </a:t>
            </a:r>
            <a:r>
              <a:rPr lang="vi-VN" dirty="0" smtClean="0">
                <a:solidFill>
                  <a:srgbClr val="0000CC"/>
                </a:solidFill>
                <a:latin typeface="Rockwell" panose="02060603020205020403" pitchFamily="18" charset="0"/>
                <a:ea typeface="+mj-ea"/>
                <a:cs typeface="+mj-cs"/>
              </a:rPr>
              <a:t>Database </a:t>
            </a:r>
            <a:r>
              <a:rPr lang="vi-VN" dirty="0">
                <a:solidFill>
                  <a:srgbClr val="0000CC"/>
                </a:solidFill>
                <a:latin typeface="Rockwell" panose="02060603020205020403" pitchFamily="18" charset="0"/>
                <a:ea typeface="+mj-ea"/>
                <a:cs typeface="+mj-cs"/>
              </a:rPr>
              <a:t>chữ ký và luật phát </a:t>
            </a:r>
            <a:r>
              <a:rPr lang="vi-VN" dirty="0" smtClean="0">
                <a:solidFill>
                  <a:srgbClr val="0000CC"/>
                </a:solidFill>
                <a:latin typeface="Rockwell" panose="02060603020205020403" pitchFamily="18" charset="0"/>
                <a:ea typeface="+mj-ea"/>
                <a:cs typeface="+mj-cs"/>
              </a:rPr>
              <a:t>hiện</a:t>
            </a:r>
            <a:r>
              <a:rPr lang="en-US" dirty="0" smtClean="0">
                <a:solidFill>
                  <a:srgbClr val="0000CC"/>
                </a:solidFill>
                <a:latin typeface="Rockwell" panose="02060603020205020403" pitchFamily="18" charset="0"/>
                <a:ea typeface="+mj-ea"/>
                <a:cs typeface="+mj-cs"/>
              </a:rPr>
              <a:t>.</a:t>
            </a:r>
          </a:p>
          <a:p>
            <a:pPr marL="0" indent="0">
              <a:spcBef>
                <a:spcPts val="600"/>
              </a:spcBef>
              <a:buNone/>
            </a:pPr>
            <a:r>
              <a:rPr lang="vi-VN" dirty="0">
                <a:solidFill>
                  <a:srgbClr val="0000CC"/>
                </a:solidFill>
                <a:latin typeface="Rockwell" panose="02060603020205020403" pitchFamily="18" charset="0"/>
                <a:ea typeface="+mj-ea"/>
                <a:cs typeface="+mj-cs"/>
              </a:rPr>
              <a:t>1. Database chữ ký (Signature Database)</a:t>
            </a:r>
          </a:p>
          <a:p>
            <a:pPr>
              <a:spcBef>
                <a:spcPts val="600"/>
              </a:spcBef>
            </a:pPr>
            <a:r>
              <a:rPr lang="vi-VN" dirty="0">
                <a:solidFill>
                  <a:srgbClr val="0000CC"/>
                </a:solidFill>
                <a:latin typeface="Rockwell" panose="02060603020205020403" pitchFamily="18" charset="0"/>
                <a:ea typeface="+mj-ea"/>
                <a:cs typeface="+mj-cs"/>
              </a:rPr>
              <a:t>IDS lưu trữ các mẫu (pattern) của tấn công đã biết để so khớp.</a:t>
            </a:r>
          </a:p>
          <a:p>
            <a:pPr>
              <a:spcBef>
                <a:spcPts val="600"/>
              </a:spcBef>
            </a:pPr>
            <a:r>
              <a:rPr lang="vi-VN" dirty="0">
                <a:solidFill>
                  <a:srgbClr val="0000CC"/>
                </a:solidFill>
                <a:latin typeface="Rockwell" panose="02060603020205020403" pitchFamily="18" charset="0"/>
                <a:ea typeface="+mj-ea"/>
                <a:cs typeface="+mj-cs"/>
              </a:rPr>
              <a:t>Ví dụ</a:t>
            </a:r>
            <a:r>
              <a:rPr lang="vi-VN" dirty="0" smtClean="0">
                <a:solidFill>
                  <a:srgbClr val="0000CC"/>
                </a:solidFill>
                <a:latin typeface="Rockwell" panose="02060603020205020403" pitchFamily="18" charset="0"/>
                <a:ea typeface="+mj-ea"/>
                <a:cs typeface="+mj-cs"/>
              </a:rPr>
              <a:t>:</a:t>
            </a:r>
            <a:r>
              <a:rPr lang="en-US" dirty="0" smtClean="0">
                <a:solidFill>
                  <a:srgbClr val="0000CC"/>
                </a:solidFill>
                <a:latin typeface="Rockwell" panose="02060603020205020403" pitchFamily="18" charset="0"/>
                <a:ea typeface="+mj-ea"/>
                <a:cs typeface="+mj-cs"/>
              </a:rPr>
              <a:t> </a:t>
            </a:r>
          </a:p>
          <a:p>
            <a:pPr lvl="1"/>
            <a:r>
              <a:rPr lang="vi-VN" dirty="0" smtClean="0">
                <a:solidFill>
                  <a:srgbClr val="0000CC"/>
                </a:solidFill>
                <a:latin typeface="Rockwell" panose="02060603020205020403" pitchFamily="18" charset="0"/>
                <a:ea typeface="+mj-ea"/>
                <a:cs typeface="+mj-cs"/>
              </a:rPr>
              <a:t>Chữ </a:t>
            </a:r>
            <a:r>
              <a:rPr lang="vi-VN" dirty="0">
                <a:solidFill>
                  <a:srgbClr val="0000CC"/>
                </a:solidFill>
                <a:latin typeface="Rockwell" panose="02060603020205020403" pitchFamily="18" charset="0"/>
                <a:ea typeface="+mj-ea"/>
                <a:cs typeface="+mj-cs"/>
              </a:rPr>
              <a:t>ký tấn công </a:t>
            </a:r>
            <a:r>
              <a:rPr lang="vi-VN" dirty="0">
                <a:solidFill>
                  <a:srgbClr val="FF00FF"/>
                </a:solidFill>
                <a:latin typeface="Rockwell" panose="02060603020205020403" pitchFamily="18" charset="0"/>
                <a:ea typeface="+mj-ea"/>
                <a:cs typeface="+mj-cs"/>
              </a:rPr>
              <a:t>SQL Injection</a:t>
            </a:r>
            <a:r>
              <a:rPr lang="vi-VN" dirty="0">
                <a:solidFill>
                  <a:srgbClr val="0000CC"/>
                </a:solidFill>
                <a:latin typeface="Rockwell" panose="02060603020205020403" pitchFamily="18" charset="0"/>
                <a:ea typeface="+mj-ea"/>
                <a:cs typeface="+mj-cs"/>
              </a:rPr>
              <a:t>: </a:t>
            </a:r>
            <a:r>
              <a:rPr lang="en-US" dirty="0" smtClean="0">
                <a:solidFill>
                  <a:srgbClr val="0000CC"/>
                </a:solidFill>
                <a:latin typeface="Rockwell" panose="02060603020205020403" pitchFamily="18" charset="0"/>
                <a:ea typeface="+mj-ea"/>
                <a:cs typeface="+mj-cs"/>
              </a:rPr>
              <a:t>C</a:t>
            </a:r>
            <a:r>
              <a:rPr lang="vi-VN" dirty="0" smtClean="0">
                <a:solidFill>
                  <a:srgbClr val="0000CC"/>
                </a:solidFill>
                <a:latin typeface="Rockwell" panose="02060603020205020403" pitchFamily="18" charset="0"/>
                <a:ea typeface="+mj-ea"/>
                <a:cs typeface="+mj-cs"/>
              </a:rPr>
              <a:t>hứa </a:t>
            </a:r>
            <a:r>
              <a:rPr lang="vi-VN" dirty="0">
                <a:solidFill>
                  <a:srgbClr val="0000CC"/>
                </a:solidFill>
                <a:latin typeface="Rockwell" panose="02060603020205020403" pitchFamily="18" charset="0"/>
                <a:ea typeface="+mj-ea"/>
                <a:cs typeface="+mj-cs"/>
              </a:rPr>
              <a:t>chuỗi mẫu </a:t>
            </a:r>
            <a:r>
              <a:rPr lang="vi-VN" dirty="0" smtClean="0">
                <a:solidFill>
                  <a:srgbClr val="0000CC"/>
                </a:solidFill>
                <a:latin typeface="Rockwell" panose="02060603020205020403" pitchFamily="18" charset="0"/>
                <a:ea typeface="+mj-ea"/>
                <a:cs typeface="+mj-cs"/>
              </a:rPr>
              <a:t>như</a:t>
            </a:r>
            <a:r>
              <a:rPr lang="en-US" dirty="0" smtClean="0">
                <a:solidFill>
                  <a:srgbClr val="0000CC"/>
                </a:solidFill>
                <a:latin typeface="Rockwell" panose="02060603020205020403" pitchFamily="18" charset="0"/>
                <a:ea typeface="+mj-ea"/>
                <a:cs typeface="+mj-cs"/>
              </a:rPr>
              <a:t>:</a:t>
            </a:r>
          </a:p>
          <a:p>
            <a:pPr marL="530352" lvl="1" indent="0">
              <a:buNone/>
            </a:pPr>
            <a:r>
              <a:rPr lang="en-US" dirty="0">
                <a:solidFill>
                  <a:srgbClr val="0000CC"/>
                </a:solidFill>
                <a:latin typeface="Rockwell" panose="02060603020205020403" pitchFamily="18" charset="0"/>
                <a:ea typeface="+mj-ea"/>
                <a:cs typeface="+mj-cs"/>
              </a:rPr>
              <a:t>	</a:t>
            </a:r>
            <a:r>
              <a:rPr lang="en-US" dirty="0" smtClean="0">
                <a:solidFill>
                  <a:srgbClr val="0000CC"/>
                </a:solidFill>
                <a:latin typeface="Rockwell" panose="02060603020205020403" pitchFamily="18" charset="0"/>
                <a:ea typeface="+mj-ea"/>
                <a:cs typeface="+mj-cs"/>
              </a:rPr>
              <a:t>		</a:t>
            </a:r>
            <a:r>
              <a:rPr lang="vi-VN" dirty="0" smtClean="0">
                <a:solidFill>
                  <a:srgbClr val="00B050"/>
                </a:solidFill>
                <a:latin typeface="Rockwell" panose="02060603020205020403" pitchFamily="18" charset="0"/>
                <a:ea typeface="+mj-ea"/>
                <a:cs typeface="+mj-cs"/>
              </a:rPr>
              <a:t>SELECT </a:t>
            </a:r>
            <a:r>
              <a:rPr lang="vi-VN" dirty="0">
                <a:solidFill>
                  <a:srgbClr val="00B050"/>
                </a:solidFill>
                <a:latin typeface="Rockwell" panose="02060603020205020403" pitchFamily="18" charset="0"/>
                <a:ea typeface="+mj-ea"/>
                <a:cs typeface="+mj-cs"/>
              </a:rPr>
              <a:t>* FROM, UNION ALL SELECT</a:t>
            </a:r>
            <a:r>
              <a:rPr lang="vi-VN" dirty="0">
                <a:solidFill>
                  <a:srgbClr val="0000CC"/>
                </a:solidFill>
                <a:latin typeface="Rockwell" panose="02060603020205020403" pitchFamily="18" charset="0"/>
                <a:ea typeface="+mj-ea"/>
                <a:cs typeface="+mj-cs"/>
              </a:rPr>
              <a:t>,</a:t>
            </a:r>
            <a:r>
              <a:rPr lang="vi-VN" dirty="0">
                <a:solidFill>
                  <a:srgbClr val="00B050"/>
                </a:solidFill>
                <a:latin typeface="Rockwell" panose="02060603020205020403" pitchFamily="18" charset="0"/>
                <a:ea typeface="+mj-ea"/>
                <a:cs typeface="+mj-cs"/>
              </a:rPr>
              <a:t> </a:t>
            </a:r>
            <a:endParaRPr lang="en-US" dirty="0" smtClean="0">
              <a:solidFill>
                <a:srgbClr val="00B050"/>
              </a:solidFill>
              <a:latin typeface="Rockwell" panose="02060603020205020403" pitchFamily="18" charset="0"/>
              <a:ea typeface="+mj-ea"/>
              <a:cs typeface="+mj-cs"/>
            </a:endParaRPr>
          </a:p>
          <a:p>
            <a:pPr marL="530352" lvl="1" indent="0">
              <a:buNone/>
            </a:pPr>
            <a:r>
              <a:rPr lang="en-US" dirty="0">
                <a:solidFill>
                  <a:srgbClr val="0000CC"/>
                </a:solidFill>
                <a:latin typeface="Rockwell" panose="02060603020205020403" pitchFamily="18" charset="0"/>
                <a:ea typeface="+mj-ea"/>
                <a:cs typeface="+mj-cs"/>
              </a:rPr>
              <a:t> </a:t>
            </a:r>
            <a:r>
              <a:rPr lang="en-US" dirty="0" smtClean="0">
                <a:solidFill>
                  <a:srgbClr val="0000CC"/>
                </a:solidFill>
                <a:latin typeface="Rockwell" panose="02060603020205020403" pitchFamily="18" charset="0"/>
                <a:ea typeface="+mj-ea"/>
                <a:cs typeface="+mj-cs"/>
              </a:rPr>
              <a:t>    </a:t>
            </a:r>
            <a:r>
              <a:rPr lang="vi-VN" dirty="0" smtClean="0">
                <a:solidFill>
                  <a:srgbClr val="0000CC"/>
                </a:solidFill>
                <a:latin typeface="Rockwell" panose="02060603020205020403" pitchFamily="18" charset="0"/>
                <a:ea typeface="+mj-ea"/>
                <a:cs typeface="+mj-cs"/>
              </a:rPr>
              <a:t>hoặc </a:t>
            </a:r>
            <a:r>
              <a:rPr lang="vi-VN" dirty="0">
                <a:solidFill>
                  <a:srgbClr val="0000CC"/>
                </a:solidFill>
                <a:latin typeface="Rockwell" panose="02060603020205020403" pitchFamily="18" charset="0"/>
                <a:ea typeface="+mj-ea"/>
                <a:cs typeface="+mj-cs"/>
              </a:rPr>
              <a:t>ký tự </a:t>
            </a:r>
            <a:r>
              <a:rPr lang="en-US" dirty="0" smtClean="0">
                <a:solidFill>
                  <a:srgbClr val="0000CC"/>
                </a:solidFill>
                <a:latin typeface="Rockwell" panose="02060603020205020403" pitchFamily="18" charset="0"/>
                <a:ea typeface="+mj-ea"/>
                <a:cs typeface="+mj-cs"/>
              </a:rPr>
              <a:t>	</a:t>
            </a:r>
            <a:r>
              <a:rPr lang="vi-VN" dirty="0" smtClean="0">
                <a:solidFill>
                  <a:srgbClr val="00B050"/>
                </a:solidFill>
                <a:latin typeface="Rockwell" panose="02060603020205020403" pitchFamily="18" charset="0"/>
                <a:ea typeface="+mj-ea"/>
                <a:cs typeface="+mj-cs"/>
              </a:rPr>
              <a:t>' </a:t>
            </a:r>
            <a:r>
              <a:rPr lang="vi-VN" dirty="0">
                <a:solidFill>
                  <a:srgbClr val="00B050"/>
                </a:solidFill>
                <a:latin typeface="Rockwell" panose="02060603020205020403" pitchFamily="18" charset="0"/>
                <a:ea typeface="+mj-ea"/>
                <a:cs typeface="+mj-cs"/>
              </a:rPr>
              <a:t>OR 1=1--</a:t>
            </a:r>
            <a:r>
              <a:rPr lang="vi-VN" dirty="0">
                <a:solidFill>
                  <a:srgbClr val="0000CC"/>
                </a:solidFill>
                <a:latin typeface="Rockwell" panose="02060603020205020403" pitchFamily="18" charset="0"/>
                <a:ea typeface="+mj-ea"/>
                <a:cs typeface="+mj-cs"/>
              </a:rPr>
              <a:t>.</a:t>
            </a:r>
          </a:p>
          <a:p>
            <a:pPr lvl="1">
              <a:spcBef>
                <a:spcPts val="600"/>
              </a:spcBef>
              <a:spcAft>
                <a:spcPts val="600"/>
              </a:spcAft>
            </a:pPr>
            <a:r>
              <a:rPr lang="vi-VN" dirty="0">
                <a:solidFill>
                  <a:srgbClr val="0000CC"/>
                </a:solidFill>
                <a:latin typeface="Rockwell" panose="02060603020205020403" pitchFamily="18" charset="0"/>
                <a:ea typeface="+mj-ea"/>
                <a:cs typeface="+mj-cs"/>
              </a:rPr>
              <a:t>Chữ ký tấn công </a:t>
            </a:r>
            <a:r>
              <a:rPr lang="vi-VN" dirty="0">
                <a:solidFill>
                  <a:srgbClr val="FF00FF"/>
                </a:solidFill>
                <a:latin typeface="Rockwell" panose="02060603020205020403" pitchFamily="18" charset="0"/>
                <a:ea typeface="+mj-ea"/>
                <a:cs typeface="+mj-cs"/>
              </a:rPr>
              <a:t>Cross-Site Scripting (XSS)</a:t>
            </a:r>
            <a:r>
              <a:rPr lang="vi-VN" dirty="0">
                <a:solidFill>
                  <a:srgbClr val="0000CC"/>
                </a:solidFill>
                <a:latin typeface="Rockwell" panose="02060603020205020403" pitchFamily="18" charset="0"/>
                <a:ea typeface="+mj-ea"/>
                <a:cs typeface="+mj-cs"/>
              </a:rPr>
              <a:t>: </a:t>
            </a:r>
            <a:r>
              <a:rPr lang="en-US" dirty="0" smtClean="0">
                <a:solidFill>
                  <a:srgbClr val="0000CC"/>
                </a:solidFill>
                <a:latin typeface="Rockwell" panose="02060603020205020403" pitchFamily="18" charset="0"/>
                <a:ea typeface="+mj-ea"/>
                <a:cs typeface="+mj-cs"/>
              </a:rPr>
              <a:t>C</a:t>
            </a:r>
            <a:r>
              <a:rPr lang="vi-VN" dirty="0" smtClean="0">
                <a:solidFill>
                  <a:srgbClr val="0000CC"/>
                </a:solidFill>
                <a:latin typeface="Rockwell" panose="02060603020205020403" pitchFamily="18" charset="0"/>
                <a:ea typeface="+mj-ea"/>
                <a:cs typeface="+mj-cs"/>
              </a:rPr>
              <a:t>hứa </a:t>
            </a:r>
            <a:endParaRPr lang="en-US" dirty="0" smtClean="0">
              <a:solidFill>
                <a:srgbClr val="0000CC"/>
              </a:solidFill>
              <a:latin typeface="Rockwell" panose="02060603020205020403" pitchFamily="18" charset="0"/>
              <a:ea typeface="+mj-ea"/>
              <a:cs typeface="+mj-cs"/>
            </a:endParaRPr>
          </a:p>
          <a:p>
            <a:pPr marL="530352" lvl="1" indent="0">
              <a:spcBef>
                <a:spcPts val="0"/>
              </a:spcBef>
              <a:spcAft>
                <a:spcPts val="600"/>
              </a:spcAft>
              <a:buNone/>
            </a:pPr>
            <a:r>
              <a:rPr lang="en-US" dirty="0" smtClean="0">
                <a:solidFill>
                  <a:srgbClr val="0000CC"/>
                </a:solidFill>
                <a:latin typeface="Rockwell" panose="02060603020205020403" pitchFamily="18" charset="0"/>
                <a:ea typeface="+mj-ea"/>
                <a:cs typeface="+mj-cs"/>
              </a:rPr>
              <a:t>		</a:t>
            </a:r>
            <a:r>
              <a:rPr lang="vi-VN" dirty="0" smtClean="0">
                <a:solidFill>
                  <a:srgbClr val="00B050"/>
                </a:solidFill>
                <a:latin typeface="Rockwell" panose="02060603020205020403" pitchFamily="18" charset="0"/>
                <a:ea typeface="+mj-ea"/>
                <a:cs typeface="+mj-cs"/>
              </a:rPr>
              <a:t>&lt;</a:t>
            </a:r>
            <a:r>
              <a:rPr lang="vi-VN" dirty="0">
                <a:solidFill>
                  <a:srgbClr val="00B050"/>
                </a:solidFill>
                <a:latin typeface="Rockwell" panose="02060603020205020403" pitchFamily="18" charset="0"/>
                <a:ea typeface="+mj-ea"/>
                <a:cs typeface="+mj-cs"/>
              </a:rPr>
              <a:t>script&gt;, onerror=, alert(</a:t>
            </a:r>
            <a:r>
              <a:rPr lang="vi-VN" dirty="0">
                <a:solidFill>
                  <a:srgbClr val="0000CC"/>
                </a:solidFill>
                <a:latin typeface="Rockwell" panose="02060603020205020403" pitchFamily="18" charset="0"/>
                <a:ea typeface="+mj-ea"/>
                <a:cs typeface="+mj-cs"/>
              </a:rPr>
              <a:t>.</a:t>
            </a:r>
          </a:p>
          <a:p>
            <a:pPr lvl="1"/>
            <a:r>
              <a:rPr lang="vi-VN" dirty="0">
                <a:solidFill>
                  <a:srgbClr val="0000CC"/>
                </a:solidFill>
                <a:latin typeface="Rockwell" panose="02060603020205020403" pitchFamily="18" charset="0"/>
                <a:ea typeface="+mj-ea"/>
                <a:cs typeface="+mj-cs"/>
              </a:rPr>
              <a:t>Chữ ký tấn công </a:t>
            </a:r>
            <a:r>
              <a:rPr lang="vi-VN" dirty="0">
                <a:solidFill>
                  <a:srgbClr val="FF00FF"/>
                </a:solidFill>
                <a:latin typeface="Rockwell" panose="02060603020205020403" pitchFamily="18" charset="0"/>
                <a:ea typeface="+mj-ea"/>
                <a:cs typeface="+mj-cs"/>
              </a:rPr>
              <a:t>Brute Force Login</a:t>
            </a:r>
            <a:r>
              <a:rPr lang="vi-VN" dirty="0">
                <a:solidFill>
                  <a:srgbClr val="0000CC"/>
                </a:solidFill>
                <a:latin typeface="Rockwell" panose="02060603020205020403" pitchFamily="18" charset="0"/>
                <a:ea typeface="+mj-ea"/>
                <a:cs typeface="+mj-cs"/>
              </a:rPr>
              <a:t>: </a:t>
            </a:r>
            <a:r>
              <a:rPr lang="en-US" dirty="0" smtClean="0">
                <a:solidFill>
                  <a:srgbClr val="0000CC"/>
                </a:solidFill>
                <a:latin typeface="Rockwell" panose="02060603020205020403" pitchFamily="18" charset="0"/>
                <a:ea typeface="+mj-ea"/>
                <a:cs typeface="+mj-cs"/>
              </a:rPr>
              <a:t>N</a:t>
            </a:r>
            <a:r>
              <a:rPr lang="vi-VN" dirty="0" smtClean="0">
                <a:solidFill>
                  <a:srgbClr val="0000CC"/>
                </a:solidFill>
                <a:latin typeface="Rockwell" panose="02060603020205020403" pitchFamily="18" charset="0"/>
                <a:ea typeface="+mj-ea"/>
                <a:cs typeface="+mj-cs"/>
              </a:rPr>
              <a:t>hiều </a:t>
            </a:r>
            <a:r>
              <a:rPr lang="vi-VN" dirty="0">
                <a:solidFill>
                  <a:srgbClr val="0000CC"/>
                </a:solidFill>
                <a:latin typeface="Rockwell" panose="02060603020205020403" pitchFamily="18" charset="0"/>
                <a:ea typeface="+mj-ea"/>
                <a:cs typeface="+mj-cs"/>
              </a:rPr>
              <a:t>lần truy cập thất bại liên tục trong thời gian ngắn.</a:t>
            </a:r>
          </a:p>
        </p:txBody>
      </p:sp>
    </p:spTree>
    <p:extLst>
      <p:ext uri="{BB962C8B-B14F-4D97-AF65-F5344CB8AC3E}">
        <p14:creationId xmlns:p14="http://schemas.microsoft.com/office/powerpoint/2010/main" val="1247606095"/>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600" y="519092"/>
            <a:ext cx="10242645" cy="528851"/>
          </a:xfrm>
        </p:spPr>
        <p:txBody>
          <a:bodyPr/>
          <a:lstStyle/>
          <a:p>
            <a:r>
              <a:rPr lang="en-US" sz="2800" b="1" dirty="0">
                <a:solidFill>
                  <a:srgbClr val="0000CC"/>
                </a:solidFill>
                <a:latin typeface="Rockwell" panose="02060603020205020403" pitchFamily="18" charset="0"/>
              </a:rPr>
              <a:t>7</a:t>
            </a:r>
            <a:r>
              <a:rPr lang="en-US" sz="2800" b="1" dirty="0" smtClean="0">
                <a:solidFill>
                  <a:srgbClr val="0000CC"/>
                </a:solidFill>
                <a:latin typeface="Rockwell" panose="02060603020205020403" pitchFamily="18" charset="0"/>
              </a:rPr>
              <a:t>.3.</a:t>
            </a:r>
            <a:r>
              <a:rPr lang="vi-VN"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Chức</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năng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và</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mục</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đích</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sử</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dụng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của</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IDS</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600" y="1047943"/>
            <a:ext cx="10529248" cy="4382729"/>
          </a:xfrm>
        </p:spPr>
        <p:txBody>
          <a:bodyPr/>
          <a:lstStyle/>
          <a:p>
            <a:pPr marL="0" indent="0">
              <a:spcBef>
                <a:spcPts val="600"/>
              </a:spcBef>
              <a:buNone/>
            </a:pPr>
            <a:r>
              <a:rPr lang="en-US" dirty="0" err="1" smtClean="0">
                <a:solidFill>
                  <a:srgbClr val="0000CC"/>
                </a:solidFill>
                <a:latin typeface="Rockwell" panose="02060603020205020403" pitchFamily="18" charset="0"/>
                <a:ea typeface="+mj-ea"/>
                <a:cs typeface="+mj-cs"/>
              </a:rPr>
              <a:t>Ví</a:t>
            </a:r>
            <a:r>
              <a:rPr lang="en-US" dirty="0" smtClean="0">
                <a:solidFill>
                  <a:srgbClr val="0000CC"/>
                </a:solidFill>
                <a:latin typeface="Rockwell" panose="02060603020205020403" pitchFamily="18" charset="0"/>
                <a:ea typeface="+mj-ea"/>
                <a:cs typeface="+mj-cs"/>
              </a:rPr>
              <a:t> </a:t>
            </a:r>
            <a:r>
              <a:rPr lang="en-US" dirty="0" err="1" smtClean="0">
                <a:solidFill>
                  <a:srgbClr val="0000CC"/>
                </a:solidFill>
                <a:latin typeface="Rockwell" panose="02060603020205020403" pitchFamily="18" charset="0"/>
                <a:ea typeface="+mj-ea"/>
                <a:cs typeface="+mj-cs"/>
              </a:rPr>
              <a:t>dụ</a:t>
            </a:r>
            <a:r>
              <a:rPr lang="en-US" dirty="0" smtClean="0">
                <a:solidFill>
                  <a:srgbClr val="0000CC"/>
                </a:solidFill>
                <a:latin typeface="Rockwell" panose="02060603020205020403" pitchFamily="18" charset="0"/>
                <a:ea typeface="+mj-ea"/>
                <a:cs typeface="+mj-cs"/>
              </a:rPr>
              <a:t> </a:t>
            </a:r>
            <a:r>
              <a:rPr lang="en-US" dirty="0" err="1" smtClean="0">
                <a:solidFill>
                  <a:srgbClr val="0000CC"/>
                </a:solidFill>
                <a:latin typeface="Rockwell" panose="02060603020205020403" pitchFamily="18" charset="0"/>
                <a:ea typeface="+mj-ea"/>
                <a:cs typeface="+mj-cs"/>
              </a:rPr>
              <a:t>về</a:t>
            </a:r>
            <a:r>
              <a:rPr lang="en-US" dirty="0" smtClean="0">
                <a:solidFill>
                  <a:srgbClr val="0000CC"/>
                </a:solidFill>
                <a:latin typeface="Rockwell" panose="02060603020205020403" pitchFamily="18" charset="0"/>
                <a:ea typeface="+mj-ea"/>
                <a:cs typeface="+mj-cs"/>
              </a:rPr>
              <a:t>: </a:t>
            </a:r>
            <a:r>
              <a:rPr lang="vi-VN" dirty="0" smtClean="0">
                <a:solidFill>
                  <a:srgbClr val="0000CC"/>
                </a:solidFill>
                <a:latin typeface="Rockwell" panose="02060603020205020403" pitchFamily="18" charset="0"/>
                <a:ea typeface="+mj-ea"/>
                <a:cs typeface="+mj-cs"/>
              </a:rPr>
              <a:t>Database </a:t>
            </a:r>
            <a:r>
              <a:rPr lang="vi-VN" dirty="0">
                <a:solidFill>
                  <a:srgbClr val="0000CC"/>
                </a:solidFill>
                <a:latin typeface="Rockwell" panose="02060603020205020403" pitchFamily="18" charset="0"/>
                <a:ea typeface="+mj-ea"/>
                <a:cs typeface="+mj-cs"/>
              </a:rPr>
              <a:t>chữ ký và luật phát </a:t>
            </a:r>
            <a:r>
              <a:rPr lang="vi-VN" dirty="0" smtClean="0">
                <a:solidFill>
                  <a:srgbClr val="0000CC"/>
                </a:solidFill>
                <a:latin typeface="Rockwell" panose="02060603020205020403" pitchFamily="18" charset="0"/>
                <a:ea typeface="+mj-ea"/>
                <a:cs typeface="+mj-cs"/>
              </a:rPr>
              <a:t>hiện</a:t>
            </a:r>
            <a:r>
              <a:rPr lang="en-US" dirty="0" smtClean="0">
                <a:solidFill>
                  <a:srgbClr val="0000CC"/>
                </a:solidFill>
                <a:latin typeface="Rockwell" panose="02060603020205020403" pitchFamily="18" charset="0"/>
                <a:ea typeface="+mj-ea"/>
                <a:cs typeface="+mj-cs"/>
              </a:rPr>
              <a:t>.</a:t>
            </a:r>
          </a:p>
          <a:p>
            <a:pPr marL="0" indent="0">
              <a:spcBef>
                <a:spcPts val="600"/>
              </a:spcBef>
              <a:buNone/>
            </a:pPr>
            <a:r>
              <a:rPr lang="vi-VN" dirty="0" smtClean="0">
                <a:solidFill>
                  <a:srgbClr val="0000CC"/>
                </a:solidFill>
                <a:latin typeface="Rockwell" panose="02060603020205020403" pitchFamily="18" charset="0"/>
                <a:ea typeface="+mj-ea"/>
                <a:cs typeface="+mj-cs"/>
              </a:rPr>
              <a:t>2</a:t>
            </a:r>
            <a:r>
              <a:rPr lang="vi-VN" dirty="0">
                <a:solidFill>
                  <a:srgbClr val="0000CC"/>
                </a:solidFill>
                <a:latin typeface="Rockwell" panose="02060603020205020403" pitchFamily="18" charset="0"/>
                <a:ea typeface="+mj-ea"/>
                <a:cs typeface="+mj-cs"/>
              </a:rPr>
              <a:t>. Luật phát hiện (Detection Rules / Policies)</a:t>
            </a:r>
          </a:p>
          <a:p>
            <a:pPr>
              <a:spcBef>
                <a:spcPts val="600"/>
              </a:spcBef>
            </a:pPr>
            <a:r>
              <a:rPr lang="vi-VN" dirty="0">
                <a:solidFill>
                  <a:srgbClr val="0000CC"/>
                </a:solidFill>
                <a:latin typeface="Rockwell" panose="02060603020205020403" pitchFamily="18" charset="0"/>
                <a:ea typeface="+mj-ea"/>
                <a:cs typeface="+mj-cs"/>
              </a:rPr>
              <a:t>IDS dùng luật để phân tích hành vi hoặc payload.</a:t>
            </a:r>
          </a:p>
          <a:p>
            <a:pPr>
              <a:spcBef>
                <a:spcPts val="600"/>
              </a:spcBef>
            </a:pPr>
            <a:r>
              <a:rPr lang="vi-VN" dirty="0">
                <a:solidFill>
                  <a:srgbClr val="0000CC"/>
                </a:solidFill>
                <a:latin typeface="Rockwell" panose="02060603020205020403" pitchFamily="18" charset="0"/>
                <a:ea typeface="+mj-ea"/>
                <a:cs typeface="+mj-cs"/>
              </a:rPr>
              <a:t>Ví dụ: (cú pháp gần giống của Snort/Suricata)</a:t>
            </a:r>
          </a:p>
          <a:p>
            <a:pPr lvl="1">
              <a:spcBef>
                <a:spcPts val="600"/>
              </a:spcBef>
            </a:pPr>
            <a:r>
              <a:rPr lang="vi-VN" dirty="0">
                <a:solidFill>
                  <a:srgbClr val="0000CC"/>
                </a:solidFill>
                <a:latin typeface="Rockwell" panose="02060603020205020403" pitchFamily="18" charset="0"/>
                <a:ea typeface="+mj-ea"/>
                <a:cs typeface="+mj-cs"/>
              </a:rPr>
              <a:t>Luật phát hiện </a:t>
            </a:r>
            <a:r>
              <a:rPr lang="vi-VN" dirty="0">
                <a:solidFill>
                  <a:srgbClr val="FF00FF"/>
                </a:solidFill>
                <a:latin typeface="Rockwell" panose="02060603020205020403" pitchFamily="18" charset="0"/>
                <a:ea typeface="+mj-ea"/>
                <a:cs typeface="+mj-cs"/>
              </a:rPr>
              <a:t>SQL Injection</a:t>
            </a:r>
            <a:r>
              <a:rPr lang="vi-VN" dirty="0">
                <a:solidFill>
                  <a:srgbClr val="0000CC"/>
                </a:solidFill>
                <a:latin typeface="Rockwell" panose="02060603020205020403" pitchFamily="18" charset="0"/>
                <a:ea typeface="+mj-ea"/>
                <a:cs typeface="+mj-cs"/>
              </a:rPr>
              <a:t>:</a:t>
            </a:r>
          </a:p>
          <a:p>
            <a:pPr marL="1023938" indent="0">
              <a:spcBef>
                <a:spcPts val="600"/>
              </a:spcBef>
              <a:buNone/>
            </a:pPr>
            <a:r>
              <a:rPr lang="vi-VN" dirty="0">
                <a:solidFill>
                  <a:srgbClr val="00B050"/>
                </a:solidFill>
                <a:latin typeface="Rockwell" panose="02060603020205020403" pitchFamily="18" charset="0"/>
                <a:ea typeface="+mj-ea"/>
                <a:cs typeface="+mj-cs"/>
              </a:rPr>
              <a:t>alert tcp any any -&gt; 192.168.1.10 80 </a:t>
            </a:r>
            <a:r>
              <a:rPr lang="vi-VN" dirty="0">
                <a:solidFill>
                  <a:srgbClr val="0000CC"/>
                </a:solidFill>
                <a:latin typeface="Rockwell" panose="02060603020205020403" pitchFamily="18" charset="0"/>
                <a:ea typeface="+mj-ea"/>
                <a:cs typeface="+mj-cs"/>
              </a:rPr>
              <a:t>(msg:"SQL Injection attempt"; content:"' OR 1=1"; nocase; sid:100001;)</a:t>
            </a:r>
          </a:p>
          <a:p>
            <a:pPr lvl="2">
              <a:spcBef>
                <a:spcPts val="600"/>
              </a:spcBef>
            </a:pPr>
            <a:r>
              <a:rPr lang="vi-VN" sz="2200" dirty="0">
                <a:solidFill>
                  <a:srgbClr val="0000CC"/>
                </a:solidFill>
                <a:latin typeface="Rockwell" panose="02060603020205020403" pitchFamily="18" charset="0"/>
                <a:ea typeface="+mj-ea"/>
                <a:cs typeface="+mj-cs"/>
              </a:rPr>
              <a:t>Nếu phát hiện chuỗi ' OR 1=1 trong truy vấn HTTP đến server web thì </a:t>
            </a:r>
            <a:r>
              <a:rPr lang="vi-VN" sz="2200" dirty="0" smtClean="0">
                <a:solidFill>
                  <a:srgbClr val="0000CC"/>
                </a:solidFill>
                <a:latin typeface="Rockwell" panose="02060603020205020403" pitchFamily="18" charset="0"/>
                <a:ea typeface="+mj-ea"/>
                <a:cs typeface="+mj-cs"/>
              </a:rPr>
              <a:t>IDS</a:t>
            </a:r>
            <a:r>
              <a:rPr lang="en-US" sz="2200" dirty="0" smtClean="0">
                <a:solidFill>
                  <a:srgbClr val="0000CC"/>
                </a:solidFill>
                <a:latin typeface="Rockwell" panose="02060603020205020403" pitchFamily="18" charset="0"/>
                <a:ea typeface="+mj-ea"/>
                <a:cs typeface="+mj-cs"/>
              </a:rPr>
              <a:t> </a:t>
            </a:r>
            <a:r>
              <a:rPr lang="en-US" sz="2200" dirty="0" err="1" smtClean="0">
                <a:solidFill>
                  <a:srgbClr val="0000CC"/>
                </a:solidFill>
                <a:latin typeface="Rockwell" panose="02060603020205020403" pitchFamily="18" charset="0"/>
                <a:ea typeface="+mj-ea"/>
                <a:cs typeface="+mj-cs"/>
              </a:rPr>
              <a:t>cảnh</a:t>
            </a:r>
            <a:r>
              <a:rPr lang="vi-VN" sz="2200" dirty="0" smtClean="0">
                <a:solidFill>
                  <a:srgbClr val="0000CC"/>
                </a:solidFill>
                <a:latin typeface="Rockwell" panose="02060603020205020403" pitchFamily="18" charset="0"/>
                <a:ea typeface="+mj-ea"/>
                <a:cs typeface="+mj-cs"/>
              </a:rPr>
              <a:t> báo</a:t>
            </a:r>
            <a:r>
              <a:rPr lang="vi-VN" sz="2200" dirty="0">
                <a:solidFill>
                  <a:srgbClr val="0000CC"/>
                </a:solidFill>
                <a:latin typeface="Rockwell" panose="02060603020205020403" pitchFamily="18" charset="0"/>
                <a:ea typeface="+mj-ea"/>
                <a:cs typeface="+mj-cs"/>
              </a:rPr>
              <a:t>.</a:t>
            </a:r>
          </a:p>
          <a:p>
            <a:pPr lvl="1">
              <a:spcBef>
                <a:spcPts val="600"/>
              </a:spcBef>
            </a:pPr>
            <a:r>
              <a:rPr lang="vi-VN" dirty="0">
                <a:solidFill>
                  <a:srgbClr val="0000CC"/>
                </a:solidFill>
                <a:latin typeface="Rockwell" panose="02060603020205020403" pitchFamily="18" charset="0"/>
                <a:ea typeface="+mj-ea"/>
                <a:cs typeface="+mj-cs"/>
              </a:rPr>
              <a:t>Luật phát hiện quét cổng (</a:t>
            </a:r>
            <a:r>
              <a:rPr lang="vi-VN" dirty="0">
                <a:solidFill>
                  <a:srgbClr val="FF00FF"/>
                </a:solidFill>
                <a:latin typeface="Rockwell" panose="02060603020205020403" pitchFamily="18" charset="0"/>
                <a:ea typeface="+mj-ea"/>
                <a:cs typeface="+mj-cs"/>
              </a:rPr>
              <a:t>Port Scanning</a:t>
            </a:r>
            <a:r>
              <a:rPr lang="vi-VN" dirty="0">
                <a:solidFill>
                  <a:srgbClr val="0000CC"/>
                </a:solidFill>
                <a:latin typeface="Rockwell" panose="02060603020205020403" pitchFamily="18" charset="0"/>
                <a:ea typeface="+mj-ea"/>
                <a:cs typeface="+mj-cs"/>
              </a:rPr>
              <a:t>):</a:t>
            </a:r>
          </a:p>
          <a:p>
            <a:pPr marL="968375" indent="0">
              <a:spcBef>
                <a:spcPts val="600"/>
              </a:spcBef>
              <a:buNone/>
            </a:pPr>
            <a:r>
              <a:rPr lang="vi-VN" dirty="0">
                <a:solidFill>
                  <a:srgbClr val="00B050"/>
                </a:solidFill>
                <a:latin typeface="Rockwell" panose="02060603020205020403" pitchFamily="18" charset="0"/>
                <a:ea typeface="+mj-ea"/>
                <a:cs typeface="+mj-cs"/>
              </a:rPr>
              <a:t>alert tcp any any -&gt; any any </a:t>
            </a:r>
            <a:r>
              <a:rPr lang="vi-VN" dirty="0">
                <a:solidFill>
                  <a:srgbClr val="0000CC"/>
                </a:solidFill>
                <a:latin typeface="Rockwell" panose="02060603020205020403" pitchFamily="18" charset="0"/>
                <a:ea typeface="+mj-ea"/>
                <a:cs typeface="+mj-cs"/>
              </a:rPr>
              <a:t>(msg:"Port scan detected"; flags:S; threshold:type both, track by_src, count 10, seconds 5; sid:100002;)</a:t>
            </a:r>
          </a:p>
          <a:p>
            <a:pPr lvl="2">
              <a:spcBef>
                <a:spcPts val="600"/>
              </a:spcBef>
            </a:pPr>
            <a:r>
              <a:rPr lang="vi-VN" sz="2200" dirty="0">
                <a:solidFill>
                  <a:srgbClr val="0000CC"/>
                </a:solidFill>
                <a:latin typeface="Rockwell" panose="02060603020205020403" pitchFamily="18" charset="0"/>
                <a:ea typeface="+mj-ea"/>
                <a:cs typeface="+mj-cs"/>
              </a:rPr>
              <a:t>Nếu một IP gửi hơn 10 gói SYN đến nhiều cổng khác nhau trong vòng 5 giây, IDS sẽ cảnh báo.</a:t>
            </a:r>
          </a:p>
        </p:txBody>
      </p:sp>
    </p:spTree>
    <p:extLst>
      <p:ext uri="{BB962C8B-B14F-4D97-AF65-F5344CB8AC3E}">
        <p14:creationId xmlns:p14="http://schemas.microsoft.com/office/powerpoint/2010/main" val="1039628437"/>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600" y="519092"/>
            <a:ext cx="10242645" cy="528851"/>
          </a:xfrm>
        </p:spPr>
        <p:txBody>
          <a:bodyPr/>
          <a:lstStyle/>
          <a:p>
            <a:r>
              <a:rPr lang="en-US" sz="2800" b="1" dirty="0">
                <a:solidFill>
                  <a:srgbClr val="0000CC"/>
                </a:solidFill>
                <a:latin typeface="Rockwell" panose="02060603020205020403" pitchFamily="18" charset="0"/>
              </a:rPr>
              <a:t>7</a:t>
            </a:r>
            <a:r>
              <a:rPr lang="en-US" sz="2800" b="1" dirty="0" smtClean="0">
                <a:solidFill>
                  <a:srgbClr val="0000CC"/>
                </a:solidFill>
                <a:latin typeface="Rockwell" panose="02060603020205020403" pitchFamily="18" charset="0"/>
              </a:rPr>
              <a:t>.3.</a:t>
            </a:r>
            <a:r>
              <a:rPr lang="vi-VN"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Chức</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năng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và</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mục</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đích</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sử</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dụng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của</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IDS</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600" y="1047943"/>
            <a:ext cx="9587552" cy="4382729"/>
          </a:xfrm>
        </p:spPr>
        <p:txBody>
          <a:bodyPr/>
          <a:lstStyle/>
          <a:p>
            <a:pPr marL="0" indent="0">
              <a:spcBef>
                <a:spcPts val="600"/>
              </a:spcBef>
              <a:buNone/>
            </a:pPr>
            <a:r>
              <a:rPr lang="vi-VN" dirty="0">
                <a:solidFill>
                  <a:srgbClr val="0000CC"/>
                </a:solidFill>
                <a:latin typeface="Rockwell" panose="02060603020205020403" pitchFamily="18" charset="0"/>
                <a:ea typeface="+mj-ea"/>
                <a:cs typeface="+mj-cs"/>
              </a:rPr>
              <a:t>Ví dụ 1: Sử dụng Signature Database</a:t>
            </a:r>
          </a:p>
          <a:p>
            <a:pPr>
              <a:spcBef>
                <a:spcPts val="600"/>
              </a:spcBef>
            </a:pPr>
            <a:r>
              <a:rPr lang="vi-VN" dirty="0">
                <a:solidFill>
                  <a:srgbClr val="0000CC"/>
                </a:solidFill>
                <a:latin typeface="Rockwell" panose="02060603020205020403" pitchFamily="18" charset="0"/>
                <a:ea typeface="+mj-ea"/>
                <a:cs typeface="+mj-cs"/>
              </a:rPr>
              <a:t>Kịch bản: Hacker thực hiện SQL Injection vào form đăng nhập của website bán hàng.</a:t>
            </a:r>
          </a:p>
          <a:p>
            <a:pPr>
              <a:spcBef>
                <a:spcPts val="600"/>
              </a:spcBef>
            </a:pPr>
            <a:r>
              <a:rPr lang="vi-VN" dirty="0">
                <a:solidFill>
                  <a:srgbClr val="0000CC"/>
                </a:solidFill>
                <a:latin typeface="Rockwell" panose="02060603020205020403" pitchFamily="18" charset="0"/>
                <a:ea typeface="+mj-ea"/>
                <a:cs typeface="+mj-cs"/>
              </a:rPr>
              <a:t>Payload:</a:t>
            </a:r>
          </a:p>
          <a:p>
            <a:pPr marL="0" indent="0">
              <a:spcBef>
                <a:spcPts val="600"/>
              </a:spcBef>
              <a:buNone/>
            </a:pPr>
            <a:r>
              <a:rPr lang="en-US" dirty="0" smtClean="0">
                <a:solidFill>
                  <a:srgbClr val="0000CC"/>
                </a:solidFill>
                <a:latin typeface="Rockwell" panose="02060603020205020403" pitchFamily="18" charset="0"/>
                <a:ea typeface="+mj-ea"/>
                <a:cs typeface="+mj-cs"/>
              </a:rPr>
              <a:t>		</a:t>
            </a:r>
            <a:r>
              <a:rPr lang="vi-VN" dirty="0" smtClean="0">
                <a:solidFill>
                  <a:srgbClr val="00B050"/>
                </a:solidFill>
                <a:latin typeface="Rockwell" panose="02060603020205020403" pitchFamily="18" charset="0"/>
                <a:ea typeface="+mj-ea"/>
                <a:cs typeface="+mj-cs"/>
              </a:rPr>
              <a:t>' </a:t>
            </a:r>
            <a:r>
              <a:rPr lang="vi-VN" dirty="0">
                <a:solidFill>
                  <a:srgbClr val="00B050"/>
                </a:solidFill>
                <a:latin typeface="Rockwell" panose="02060603020205020403" pitchFamily="18" charset="0"/>
                <a:ea typeface="+mj-ea"/>
                <a:cs typeface="+mj-cs"/>
              </a:rPr>
              <a:t>OR '1'='1' --</a:t>
            </a:r>
          </a:p>
          <a:p>
            <a:pPr>
              <a:spcBef>
                <a:spcPts val="600"/>
              </a:spcBef>
            </a:pPr>
            <a:r>
              <a:rPr lang="vi-VN" dirty="0">
                <a:solidFill>
                  <a:srgbClr val="0000CC"/>
                </a:solidFill>
                <a:latin typeface="Rockwell" panose="02060603020205020403" pitchFamily="18" charset="0"/>
                <a:ea typeface="+mj-ea"/>
                <a:cs typeface="+mj-cs"/>
              </a:rPr>
              <a:t>IDS Signature: trong Database chữ ký đã có mẫu khớp với </a:t>
            </a:r>
            <a:r>
              <a:rPr lang="vi-VN" dirty="0" smtClean="0">
                <a:solidFill>
                  <a:srgbClr val="0000CC"/>
                </a:solidFill>
                <a:latin typeface="Rockwell" panose="02060603020205020403" pitchFamily="18" charset="0"/>
                <a:ea typeface="+mj-ea"/>
                <a:cs typeface="+mj-cs"/>
              </a:rPr>
              <a:t>chuỗi</a:t>
            </a:r>
            <a:r>
              <a:rPr lang="en-US" dirty="0" smtClean="0">
                <a:solidFill>
                  <a:srgbClr val="0000CC"/>
                </a:solidFill>
                <a:latin typeface="Rockwell" panose="02060603020205020403" pitchFamily="18" charset="0"/>
                <a:ea typeface="+mj-ea"/>
                <a:cs typeface="+mj-cs"/>
              </a:rPr>
              <a:t>:</a:t>
            </a:r>
          </a:p>
          <a:p>
            <a:pPr marL="0" indent="0">
              <a:spcBef>
                <a:spcPts val="600"/>
              </a:spcBef>
              <a:buNone/>
            </a:pPr>
            <a:r>
              <a:rPr lang="en-US" dirty="0" smtClean="0">
                <a:solidFill>
                  <a:srgbClr val="0000CC"/>
                </a:solidFill>
                <a:latin typeface="Rockwell" panose="02060603020205020403" pitchFamily="18" charset="0"/>
                <a:ea typeface="+mj-ea"/>
                <a:cs typeface="+mj-cs"/>
              </a:rPr>
              <a:t>		</a:t>
            </a:r>
            <a:r>
              <a:rPr lang="vi-VN" dirty="0" smtClean="0">
                <a:solidFill>
                  <a:schemeClr val="tx1"/>
                </a:solidFill>
                <a:latin typeface="Rockwell" panose="02060603020205020403" pitchFamily="18" charset="0"/>
                <a:ea typeface="+mj-ea"/>
                <a:cs typeface="+mj-cs"/>
              </a:rPr>
              <a:t>' </a:t>
            </a:r>
            <a:r>
              <a:rPr lang="vi-VN" dirty="0">
                <a:solidFill>
                  <a:schemeClr val="tx1"/>
                </a:solidFill>
                <a:latin typeface="Rockwell" panose="02060603020205020403" pitchFamily="18" charset="0"/>
                <a:ea typeface="+mj-ea"/>
                <a:cs typeface="+mj-cs"/>
              </a:rPr>
              <a:t>OR '1'='1' --.</a:t>
            </a:r>
          </a:p>
          <a:p>
            <a:pPr>
              <a:spcBef>
                <a:spcPts val="600"/>
              </a:spcBef>
            </a:pPr>
            <a:r>
              <a:rPr lang="vi-VN" dirty="0">
                <a:solidFill>
                  <a:srgbClr val="0000CC"/>
                </a:solidFill>
                <a:latin typeface="Rockwell" panose="02060603020205020403" pitchFamily="18" charset="0"/>
                <a:ea typeface="+mj-ea"/>
                <a:cs typeface="+mj-cs"/>
              </a:rPr>
              <a:t>Hành động: IDS ngay lập tức cảnh báo rằng có một SQL Injection đã biết.</a:t>
            </a:r>
          </a:p>
          <a:p>
            <a:pPr>
              <a:spcBef>
                <a:spcPts val="600"/>
              </a:spcBef>
            </a:pPr>
            <a:r>
              <a:rPr lang="vi-VN" dirty="0">
                <a:solidFill>
                  <a:srgbClr val="0000CC"/>
                </a:solidFill>
                <a:latin typeface="Rockwell" panose="02060603020205020403" pitchFamily="18" charset="0"/>
                <a:ea typeface="+mj-ea"/>
                <a:cs typeface="+mj-cs"/>
              </a:rPr>
              <a:t>Đặc điểm: </a:t>
            </a:r>
            <a:r>
              <a:rPr lang="en-US" dirty="0" smtClean="0">
                <a:solidFill>
                  <a:srgbClr val="0000CC"/>
                </a:solidFill>
                <a:latin typeface="Rockwell" panose="02060603020205020403" pitchFamily="18" charset="0"/>
                <a:ea typeface="+mj-ea"/>
                <a:cs typeface="+mj-cs"/>
              </a:rPr>
              <a:t>P</a:t>
            </a:r>
            <a:r>
              <a:rPr lang="vi-VN" dirty="0" smtClean="0">
                <a:solidFill>
                  <a:srgbClr val="0000CC"/>
                </a:solidFill>
                <a:latin typeface="Rockwell" panose="02060603020205020403" pitchFamily="18" charset="0"/>
                <a:ea typeface="+mj-ea"/>
                <a:cs typeface="+mj-cs"/>
              </a:rPr>
              <a:t>hát </a:t>
            </a:r>
            <a:r>
              <a:rPr lang="vi-VN" dirty="0">
                <a:solidFill>
                  <a:srgbClr val="0000CC"/>
                </a:solidFill>
                <a:latin typeface="Rockwell" panose="02060603020205020403" pitchFamily="18" charset="0"/>
                <a:ea typeface="+mj-ea"/>
                <a:cs typeface="+mj-cs"/>
              </a:rPr>
              <a:t>hiện nhanh, nhưng chỉ khi payload đã nằm trong “bộ nhớ” chữ ký.</a:t>
            </a:r>
            <a:endParaRPr lang="en-US" dirty="0" smtClean="0">
              <a:solidFill>
                <a:srgbClr val="0000CC"/>
              </a:solidFill>
              <a:latin typeface="Rockwell" panose="02060603020205020403" pitchFamily="18" charset="0"/>
              <a:ea typeface="+mj-ea"/>
              <a:cs typeface="+mj-cs"/>
            </a:endParaRPr>
          </a:p>
        </p:txBody>
      </p:sp>
    </p:spTree>
    <p:extLst>
      <p:ext uri="{BB962C8B-B14F-4D97-AF65-F5344CB8AC3E}">
        <p14:creationId xmlns:p14="http://schemas.microsoft.com/office/powerpoint/2010/main" val="3365992531"/>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600" y="519092"/>
            <a:ext cx="10242645" cy="528851"/>
          </a:xfrm>
        </p:spPr>
        <p:txBody>
          <a:bodyPr/>
          <a:lstStyle/>
          <a:p>
            <a:r>
              <a:rPr lang="en-US" sz="2800" b="1" dirty="0">
                <a:solidFill>
                  <a:srgbClr val="0000CC"/>
                </a:solidFill>
                <a:latin typeface="Rockwell" panose="02060603020205020403" pitchFamily="18" charset="0"/>
              </a:rPr>
              <a:t>7</a:t>
            </a:r>
            <a:r>
              <a:rPr lang="en-US" sz="2800" b="1" dirty="0" smtClean="0">
                <a:solidFill>
                  <a:srgbClr val="0000CC"/>
                </a:solidFill>
                <a:latin typeface="Rockwell" panose="02060603020205020403" pitchFamily="18" charset="0"/>
              </a:rPr>
              <a:t>.3.</a:t>
            </a:r>
            <a:r>
              <a:rPr lang="vi-VN"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Chức</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năng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và</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mục</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đích</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sử</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dụng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của</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IDS</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600" y="1047943"/>
            <a:ext cx="9587552" cy="4382729"/>
          </a:xfrm>
        </p:spPr>
        <p:txBody>
          <a:bodyPr/>
          <a:lstStyle/>
          <a:p>
            <a:pPr marL="0" indent="0">
              <a:spcBef>
                <a:spcPts val="600"/>
              </a:spcBef>
              <a:buNone/>
            </a:pPr>
            <a:r>
              <a:rPr lang="vi-VN" dirty="0" smtClean="0">
                <a:solidFill>
                  <a:srgbClr val="0000CC"/>
                </a:solidFill>
                <a:latin typeface="Rockwell" panose="02060603020205020403" pitchFamily="18" charset="0"/>
                <a:ea typeface="+mj-ea"/>
                <a:cs typeface="+mj-cs"/>
              </a:rPr>
              <a:t>Ví </a:t>
            </a:r>
            <a:r>
              <a:rPr lang="vi-VN" dirty="0">
                <a:solidFill>
                  <a:srgbClr val="0000CC"/>
                </a:solidFill>
                <a:latin typeface="Rockwell" panose="02060603020205020403" pitchFamily="18" charset="0"/>
                <a:ea typeface="+mj-ea"/>
                <a:cs typeface="+mj-cs"/>
              </a:rPr>
              <a:t>dụ 2: Sử dụng Detection Rules/Policies</a:t>
            </a:r>
          </a:p>
          <a:p>
            <a:pPr>
              <a:spcBef>
                <a:spcPts val="600"/>
              </a:spcBef>
            </a:pPr>
            <a:r>
              <a:rPr lang="vi-VN" dirty="0" smtClean="0">
                <a:solidFill>
                  <a:srgbClr val="0000CC"/>
                </a:solidFill>
                <a:latin typeface="Rockwell" panose="02060603020205020403" pitchFamily="18" charset="0"/>
                <a:ea typeface="+mj-ea"/>
                <a:cs typeface="+mj-cs"/>
              </a:rPr>
              <a:t>Kịch </a:t>
            </a:r>
            <a:r>
              <a:rPr lang="vi-VN" dirty="0">
                <a:solidFill>
                  <a:srgbClr val="0000CC"/>
                </a:solidFill>
                <a:latin typeface="Rockwell" panose="02060603020205020403" pitchFamily="18" charset="0"/>
                <a:ea typeface="+mj-ea"/>
                <a:cs typeface="+mj-cs"/>
              </a:rPr>
              <a:t>bản: Một kẻ tấn công cố gắng brute-force mật khẩu quản trị của trang E-commerce.</a:t>
            </a:r>
          </a:p>
          <a:p>
            <a:pPr>
              <a:spcBef>
                <a:spcPts val="600"/>
              </a:spcBef>
            </a:pPr>
            <a:r>
              <a:rPr lang="vi-VN" dirty="0">
                <a:solidFill>
                  <a:srgbClr val="0000CC"/>
                </a:solidFill>
                <a:latin typeface="Rockwell" panose="02060603020205020403" pitchFamily="18" charset="0"/>
                <a:ea typeface="+mj-ea"/>
                <a:cs typeface="+mj-cs"/>
              </a:rPr>
              <a:t>Hành vi: Trong vòng 30 giây có 50 lần thử đăng nhập thất bại từ cùng một IP.</a:t>
            </a:r>
          </a:p>
          <a:p>
            <a:pPr>
              <a:spcBef>
                <a:spcPts val="600"/>
              </a:spcBef>
            </a:pPr>
            <a:r>
              <a:rPr lang="vi-VN" dirty="0">
                <a:solidFill>
                  <a:srgbClr val="0000CC"/>
                </a:solidFill>
                <a:latin typeface="Rockwell" panose="02060603020205020403" pitchFamily="18" charset="0"/>
                <a:ea typeface="+mj-ea"/>
                <a:cs typeface="+mj-cs"/>
              </a:rPr>
              <a:t>Luật phát hiện:</a:t>
            </a:r>
          </a:p>
          <a:p>
            <a:pPr marL="682625" indent="0">
              <a:spcBef>
                <a:spcPts val="600"/>
              </a:spcBef>
              <a:buNone/>
            </a:pPr>
            <a:r>
              <a:rPr lang="vi-VN" dirty="0" smtClean="0">
                <a:solidFill>
                  <a:srgbClr val="00B050"/>
                </a:solidFill>
                <a:latin typeface="Rockwell" panose="02060603020205020403" pitchFamily="18" charset="0"/>
                <a:ea typeface="+mj-ea"/>
                <a:cs typeface="+mj-cs"/>
              </a:rPr>
              <a:t>Nếu </a:t>
            </a:r>
            <a:r>
              <a:rPr lang="vi-VN" dirty="0">
                <a:solidFill>
                  <a:srgbClr val="00B050"/>
                </a:solidFill>
                <a:latin typeface="Rockwell" panose="02060603020205020403" pitchFamily="18" charset="0"/>
                <a:ea typeface="+mj-ea"/>
                <a:cs typeface="+mj-cs"/>
              </a:rPr>
              <a:t>số lần đăng nhập thất bại &gt; 20 trong 1 phút từ cùng 1 IP </a:t>
            </a:r>
            <a:r>
              <a:rPr lang="en-US" dirty="0" err="1" smtClean="0">
                <a:solidFill>
                  <a:srgbClr val="00B050"/>
                </a:solidFill>
                <a:latin typeface="Rockwell" panose="02060603020205020403" pitchFamily="18" charset="0"/>
                <a:ea typeface="+mj-ea"/>
                <a:cs typeface="+mj-cs"/>
              </a:rPr>
              <a:t>thì</a:t>
            </a:r>
            <a:r>
              <a:rPr lang="en-US" dirty="0" smtClean="0">
                <a:solidFill>
                  <a:srgbClr val="00B050"/>
                </a:solidFill>
                <a:latin typeface="Rockwell" panose="02060603020205020403" pitchFamily="18" charset="0"/>
                <a:ea typeface="+mj-ea"/>
                <a:cs typeface="+mj-cs"/>
              </a:rPr>
              <a:t> s</a:t>
            </a:r>
            <a:r>
              <a:rPr lang="vi-VN" dirty="0" smtClean="0">
                <a:solidFill>
                  <a:srgbClr val="00B050"/>
                </a:solidFill>
                <a:latin typeface="Rockwell" panose="02060603020205020403" pitchFamily="18" charset="0"/>
                <a:ea typeface="+mj-ea"/>
                <a:cs typeface="+mj-cs"/>
              </a:rPr>
              <a:t>inh </a:t>
            </a:r>
            <a:r>
              <a:rPr lang="vi-VN" dirty="0">
                <a:solidFill>
                  <a:srgbClr val="00B050"/>
                </a:solidFill>
                <a:latin typeface="Rockwell" panose="02060603020205020403" pitchFamily="18" charset="0"/>
                <a:ea typeface="+mj-ea"/>
                <a:cs typeface="+mj-cs"/>
              </a:rPr>
              <a:t>cảnh báo brute-force.</a:t>
            </a:r>
          </a:p>
          <a:p>
            <a:pPr>
              <a:spcBef>
                <a:spcPts val="600"/>
              </a:spcBef>
            </a:pPr>
            <a:r>
              <a:rPr lang="vi-VN" dirty="0">
                <a:solidFill>
                  <a:srgbClr val="0000CC"/>
                </a:solidFill>
                <a:latin typeface="Rockwell" panose="02060603020205020403" pitchFamily="18" charset="0"/>
                <a:ea typeface="+mj-ea"/>
                <a:cs typeface="+mj-cs"/>
              </a:rPr>
              <a:t>Hành động: IDS cảnh báo hành vi bất thường, mặc dù chuỗi tấn công không khớp với bất kỳ signature nào.</a:t>
            </a:r>
          </a:p>
          <a:p>
            <a:pPr>
              <a:spcBef>
                <a:spcPts val="600"/>
              </a:spcBef>
            </a:pPr>
            <a:r>
              <a:rPr lang="vi-VN" dirty="0" smtClean="0">
                <a:solidFill>
                  <a:srgbClr val="0000CC"/>
                </a:solidFill>
                <a:latin typeface="Rockwell" panose="02060603020205020403" pitchFamily="18" charset="0"/>
                <a:ea typeface="+mj-ea"/>
                <a:cs typeface="+mj-cs"/>
              </a:rPr>
              <a:t>Đặc </a:t>
            </a:r>
            <a:r>
              <a:rPr lang="vi-VN" dirty="0">
                <a:solidFill>
                  <a:srgbClr val="0000CC"/>
                </a:solidFill>
                <a:latin typeface="Rockwell" panose="02060603020205020403" pitchFamily="18" charset="0"/>
                <a:ea typeface="+mj-ea"/>
                <a:cs typeface="+mj-cs"/>
              </a:rPr>
              <a:t>điểm: Phát hiện được cả tấn công chưa có mẫu bằng cách phân tích hành vi.</a:t>
            </a:r>
          </a:p>
        </p:txBody>
      </p:sp>
    </p:spTree>
    <p:extLst>
      <p:ext uri="{BB962C8B-B14F-4D97-AF65-F5344CB8AC3E}">
        <p14:creationId xmlns:p14="http://schemas.microsoft.com/office/powerpoint/2010/main" val="4274708644"/>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600" y="519092"/>
            <a:ext cx="10242645" cy="528851"/>
          </a:xfrm>
        </p:spPr>
        <p:txBody>
          <a:bodyPr/>
          <a:lstStyle/>
          <a:p>
            <a:r>
              <a:rPr lang="en-US" sz="2800" b="1" dirty="0">
                <a:solidFill>
                  <a:srgbClr val="0000CC"/>
                </a:solidFill>
                <a:latin typeface="Rockwell" panose="02060603020205020403" pitchFamily="18" charset="0"/>
              </a:rPr>
              <a:t>7</a:t>
            </a:r>
            <a:r>
              <a:rPr lang="en-US" sz="2800" b="1" dirty="0" smtClean="0">
                <a:solidFill>
                  <a:srgbClr val="0000CC"/>
                </a:solidFill>
                <a:latin typeface="Rockwell" panose="02060603020205020403" pitchFamily="18" charset="0"/>
              </a:rPr>
              <a:t>.3.</a:t>
            </a:r>
            <a:r>
              <a:rPr lang="vi-VN"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Chức</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năng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và</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mục</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đích</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sử</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dụng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của</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IDS</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600" y="1020647"/>
            <a:ext cx="9587552" cy="4382729"/>
          </a:xfrm>
        </p:spPr>
        <p:txBody>
          <a:bodyPr/>
          <a:lstStyle/>
          <a:p>
            <a:pPr marL="0" indent="0">
              <a:spcBef>
                <a:spcPts val="600"/>
              </a:spcBef>
              <a:buNone/>
            </a:pPr>
            <a:r>
              <a:rPr lang="en-US" dirty="0" smtClean="0">
                <a:solidFill>
                  <a:srgbClr val="0000CC"/>
                </a:solidFill>
                <a:latin typeface="Rockwell" panose="02060603020205020403" pitchFamily="18" charset="0"/>
                <a:ea typeface="+mj-ea"/>
                <a:cs typeface="+mj-cs"/>
              </a:rPr>
              <a:t>So </a:t>
            </a:r>
            <a:r>
              <a:rPr lang="en-US" dirty="0" err="1" smtClean="0">
                <a:solidFill>
                  <a:srgbClr val="0000CC"/>
                </a:solidFill>
                <a:latin typeface="Rockwell" panose="02060603020205020403" pitchFamily="18" charset="0"/>
                <a:ea typeface="+mj-ea"/>
                <a:cs typeface="+mj-cs"/>
              </a:rPr>
              <a:t>sánh</a:t>
            </a:r>
            <a:r>
              <a:rPr lang="en-US" dirty="0" smtClean="0">
                <a:solidFill>
                  <a:srgbClr val="0000CC"/>
                </a:solidFill>
                <a:latin typeface="Rockwell" panose="02060603020205020403" pitchFamily="18" charset="0"/>
                <a:ea typeface="+mj-ea"/>
                <a:cs typeface="+mj-cs"/>
              </a:rPr>
              <a:t> </a:t>
            </a:r>
            <a:r>
              <a:rPr lang="en-US" dirty="0" err="1" smtClean="0">
                <a:solidFill>
                  <a:srgbClr val="0000CC"/>
                </a:solidFill>
                <a:latin typeface="Rockwell" panose="02060603020205020403" pitchFamily="18" charset="0"/>
                <a:ea typeface="+mj-ea"/>
                <a:cs typeface="+mj-cs"/>
              </a:rPr>
              <a:t>giữa</a:t>
            </a:r>
            <a:r>
              <a:rPr lang="en-US" dirty="0" smtClean="0">
                <a:solidFill>
                  <a:srgbClr val="0000CC"/>
                </a:solidFill>
                <a:latin typeface="Rockwell" panose="02060603020205020403" pitchFamily="18" charset="0"/>
                <a:ea typeface="+mj-ea"/>
                <a:cs typeface="+mj-cs"/>
              </a:rPr>
              <a:t> </a:t>
            </a:r>
            <a:r>
              <a:rPr lang="en-US" dirty="0">
                <a:solidFill>
                  <a:srgbClr val="0000CC"/>
                </a:solidFill>
                <a:latin typeface="Rockwell" panose="02060603020205020403" pitchFamily="18" charset="0"/>
                <a:ea typeface="+mj-ea"/>
                <a:cs typeface="+mj-cs"/>
              </a:rPr>
              <a:t>Database </a:t>
            </a:r>
            <a:r>
              <a:rPr lang="en-US" dirty="0" err="1">
                <a:solidFill>
                  <a:srgbClr val="0000CC"/>
                </a:solidFill>
                <a:latin typeface="Rockwell" panose="02060603020205020403" pitchFamily="18" charset="0"/>
                <a:ea typeface="+mj-ea"/>
                <a:cs typeface="+mj-cs"/>
              </a:rPr>
              <a:t>chữ</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ký</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và</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Luật</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phát</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hiện</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trong</a:t>
            </a:r>
            <a:r>
              <a:rPr lang="en-US" dirty="0">
                <a:solidFill>
                  <a:srgbClr val="0000CC"/>
                </a:solidFill>
                <a:latin typeface="Rockwell" panose="02060603020205020403" pitchFamily="18" charset="0"/>
                <a:ea typeface="+mj-ea"/>
                <a:cs typeface="+mj-cs"/>
              </a:rPr>
              <a:t> </a:t>
            </a:r>
            <a:r>
              <a:rPr lang="en-US" dirty="0" smtClean="0">
                <a:solidFill>
                  <a:srgbClr val="0000CC"/>
                </a:solidFill>
                <a:latin typeface="Rockwell" panose="02060603020205020403" pitchFamily="18" charset="0"/>
                <a:ea typeface="+mj-ea"/>
                <a:cs typeface="+mj-cs"/>
              </a:rPr>
              <a:t>IDS</a:t>
            </a:r>
          </a:p>
          <a:p>
            <a:pPr marL="0" indent="0">
              <a:spcBef>
                <a:spcPts val="600"/>
              </a:spcBef>
              <a:buNone/>
            </a:pPr>
            <a:endParaRPr lang="en-US" dirty="0" smtClean="0">
              <a:solidFill>
                <a:srgbClr val="0000CC"/>
              </a:solidFill>
              <a:latin typeface="Rockwell" panose="02060603020205020403" pitchFamily="18" charset="0"/>
              <a:ea typeface="+mj-ea"/>
              <a:cs typeface="+mj-cs"/>
            </a:endParaRPr>
          </a:p>
          <a:p>
            <a:pPr marL="0" indent="0">
              <a:spcBef>
                <a:spcPts val="600"/>
              </a:spcBef>
              <a:buNone/>
            </a:pPr>
            <a:endParaRPr lang="vi-VN" dirty="0">
              <a:solidFill>
                <a:srgbClr val="0000CC"/>
              </a:solidFill>
              <a:latin typeface="Rockwell" panose="02060603020205020403" pitchFamily="18" charset="0"/>
              <a:ea typeface="+mj-ea"/>
              <a:cs typeface="+mj-cs"/>
            </a:endParaRPr>
          </a:p>
        </p:txBody>
      </p:sp>
      <p:graphicFrame>
        <p:nvGraphicFramePr>
          <p:cNvPr id="5" name="Table 4"/>
          <p:cNvGraphicFramePr>
            <a:graphicFrameLocks noGrp="1"/>
          </p:cNvGraphicFramePr>
          <p:nvPr>
            <p:extLst>
              <p:ext uri="{D42A27DB-BD31-4B8C-83A1-F6EECF244321}">
                <p14:modId xmlns:p14="http://schemas.microsoft.com/office/powerpoint/2010/main" val="42289599"/>
              </p:ext>
            </p:extLst>
          </p:nvPr>
        </p:nvGraphicFramePr>
        <p:xfrm>
          <a:off x="1523469" y="1453962"/>
          <a:ext cx="10090775" cy="5180439"/>
        </p:xfrm>
        <a:graphic>
          <a:graphicData uri="http://schemas.openxmlformats.org/drawingml/2006/table">
            <a:tbl>
              <a:tblPr firstRow="1" firstCol="1" bandRow="1">
                <a:tableStyleId>{5C22544A-7EE6-4342-B048-85BDC9FD1C3A}</a:tableStyleId>
              </a:tblPr>
              <a:tblGrid>
                <a:gridCol w="2161391">
                  <a:extLst>
                    <a:ext uri="{9D8B030D-6E8A-4147-A177-3AD203B41FA5}">
                      <a16:colId xmlns:a16="http://schemas.microsoft.com/office/drawing/2014/main" val="128648098"/>
                    </a:ext>
                  </a:extLst>
                </a:gridCol>
                <a:gridCol w="3753170">
                  <a:extLst>
                    <a:ext uri="{9D8B030D-6E8A-4147-A177-3AD203B41FA5}">
                      <a16:colId xmlns:a16="http://schemas.microsoft.com/office/drawing/2014/main" val="3037847270"/>
                    </a:ext>
                  </a:extLst>
                </a:gridCol>
                <a:gridCol w="4176214">
                  <a:extLst>
                    <a:ext uri="{9D8B030D-6E8A-4147-A177-3AD203B41FA5}">
                      <a16:colId xmlns:a16="http://schemas.microsoft.com/office/drawing/2014/main" val="9816757"/>
                    </a:ext>
                  </a:extLst>
                </a:gridCol>
              </a:tblGrid>
              <a:tr h="544682">
                <a:tc>
                  <a:txBody>
                    <a:bodyPr/>
                    <a:lstStyle/>
                    <a:p>
                      <a:pPr algn="ctr">
                        <a:lnSpc>
                          <a:spcPct val="107000"/>
                        </a:lnSpc>
                        <a:spcAft>
                          <a:spcPts val="0"/>
                        </a:spcAft>
                      </a:pPr>
                      <a:r>
                        <a:rPr lang="en-US" sz="1800" b="0" dirty="0" err="1">
                          <a:solidFill>
                            <a:srgbClr val="0000CC"/>
                          </a:solidFill>
                          <a:effectLst/>
                        </a:rPr>
                        <a:t>Tiêu</a:t>
                      </a:r>
                      <a:r>
                        <a:rPr lang="en-US" sz="1800" b="0" dirty="0">
                          <a:solidFill>
                            <a:srgbClr val="0000CC"/>
                          </a:solidFill>
                          <a:effectLst/>
                        </a:rPr>
                        <a:t> </a:t>
                      </a:r>
                      <a:r>
                        <a:rPr lang="en-US" sz="1800" b="0" dirty="0" err="1">
                          <a:solidFill>
                            <a:srgbClr val="0000CC"/>
                          </a:solidFill>
                          <a:effectLst/>
                        </a:rPr>
                        <a:t>chí</a:t>
                      </a:r>
                      <a:endParaRPr lang="en-US" sz="1800" b="0" dirty="0">
                        <a:solidFill>
                          <a:srgbClr val="0000CC"/>
                        </a:solidFill>
                        <a:effectLst/>
                        <a:latin typeface="Calibri" panose="020F0502020204030204" pitchFamily="34" charset="0"/>
                        <a:ea typeface="Calibri" panose="020F0502020204030204" pitchFamily="34" charset="0"/>
                        <a:cs typeface="Times New Roman" panose="02020603050405020304" pitchFamily="18" charset="0"/>
                      </a:endParaRPr>
                    </a:p>
                  </a:txBody>
                  <a:tcPr marL="46492" marR="46492" marT="0" marB="0" anchor="ctr"/>
                </a:tc>
                <a:tc>
                  <a:txBody>
                    <a:bodyPr/>
                    <a:lstStyle/>
                    <a:p>
                      <a:pPr algn="ctr">
                        <a:lnSpc>
                          <a:spcPct val="107000"/>
                        </a:lnSpc>
                        <a:spcAft>
                          <a:spcPts val="0"/>
                        </a:spcAft>
                      </a:pPr>
                      <a:r>
                        <a:rPr lang="en-US" sz="1800" dirty="0">
                          <a:solidFill>
                            <a:schemeClr val="bg1"/>
                          </a:solidFill>
                          <a:effectLst/>
                        </a:rPr>
                        <a:t>Database </a:t>
                      </a:r>
                      <a:r>
                        <a:rPr lang="en-US" sz="1800" dirty="0" err="1">
                          <a:solidFill>
                            <a:schemeClr val="bg1"/>
                          </a:solidFill>
                          <a:effectLst/>
                        </a:rPr>
                        <a:t>chữ</a:t>
                      </a:r>
                      <a:r>
                        <a:rPr lang="en-US" sz="1800" dirty="0">
                          <a:solidFill>
                            <a:schemeClr val="bg1"/>
                          </a:solidFill>
                          <a:effectLst/>
                        </a:rPr>
                        <a:t> </a:t>
                      </a:r>
                      <a:r>
                        <a:rPr lang="en-US" sz="1800" dirty="0" err="1">
                          <a:solidFill>
                            <a:schemeClr val="bg1"/>
                          </a:solidFill>
                          <a:effectLst/>
                        </a:rPr>
                        <a:t>ký</a:t>
                      </a:r>
                      <a:r>
                        <a:rPr lang="en-US" sz="1800" dirty="0">
                          <a:solidFill>
                            <a:schemeClr val="bg1"/>
                          </a:solidFill>
                          <a:effectLst/>
                        </a:rPr>
                        <a:t> </a:t>
                      </a:r>
                      <a:r>
                        <a:rPr lang="en-US" sz="1800" dirty="0" smtClean="0">
                          <a:solidFill>
                            <a:schemeClr val="bg1"/>
                          </a:solidFill>
                          <a:effectLst/>
                        </a:rPr>
                        <a:t/>
                      </a:r>
                      <a:br>
                        <a:rPr lang="en-US" sz="1800" dirty="0" smtClean="0">
                          <a:solidFill>
                            <a:schemeClr val="bg1"/>
                          </a:solidFill>
                          <a:effectLst/>
                        </a:rPr>
                      </a:br>
                      <a:r>
                        <a:rPr lang="en-US" sz="1800" dirty="0" smtClean="0">
                          <a:solidFill>
                            <a:schemeClr val="bg1"/>
                          </a:solidFill>
                          <a:effectLst/>
                        </a:rPr>
                        <a:t>(</a:t>
                      </a:r>
                      <a:r>
                        <a:rPr lang="en-US" sz="1800" dirty="0">
                          <a:solidFill>
                            <a:schemeClr val="bg1"/>
                          </a:solidFill>
                          <a:effectLst/>
                        </a:rPr>
                        <a:t>Signature Database)</a:t>
                      </a:r>
                      <a:endParaRPr lang="en-US" sz="18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46492" marR="46492" marT="0" marB="0" anchor="ctr"/>
                </a:tc>
                <a:tc>
                  <a:txBody>
                    <a:bodyPr/>
                    <a:lstStyle/>
                    <a:p>
                      <a:pPr algn="ctr">
                        <a:lnSpc>
                          <a:spcPct val="107000"/>
                        </a:lnSpc>
                        <a:spcAft>
                          <a:spcPts val="0"/>
                        </a:spcAft>
                      </a:pPr>
                      <a:r>
                        <a:rPr lang="en-US" sz="1800" dirty="0" err="1">
                          <a:solidFill>
                            <a:schemeClr val="bg1"/>
                          </a:solidFill>
                          <a:effectLst/>
                        </a:rPr>
                        <a:t>Luật</a:t>
                      </a:r>
                      <a:r>
                        <a:rPr lang="en-US" sz="1800" dirty="0">
                          <a:solidFill>
                            <a:schemeClr val="bg1"/>
                          </a:solidFill>
                          <a:effectLst/>
                        </a:rPr>
                        <a:t> </a:t>
                      </a:r>
                      <a:r>
                        <a:rPr lang="en-US" sz="1800" dirty="0" err="1">
                          <a:solidFill>
                            <a:schemeClr val="bg1"/>
                          </a:solidFill>
                          <a:effectLst/>
                        </a:rPr>
                        <a:t>phát</a:t>
                      </a:r>
                      <a:r>
                        <a:rPr lang="en-US" sz="1800" dirty="0">
                          <a:solidFill>
                            <a:schemeClr val="bg1"/>
                          </a:solidFill>
                          <a:effectLst/>
                        </a:rPr>
                        <a:t> </a:t>
                      </a:r>
                      <a:r>
                        <a:rPr lang="en-US" sz="1800" dirty="0" err="1">
                          <a:solidFill>
                            <a:schemeClr val="bg1"/>
                          </a:solidFill>
                          <a:effectLst/>
                        </a:rPr>
                        <a:t>hiện</a:t>
                      </a:r>
                      <a:r>
                        <a:rPr lang="en-US" sz="1800" dirty="0">
                          <a:solidFill>
                            <a:schemeClr val="bg1"/>
                          </a:solidFill>
                          <a:effectLst/>
                        </a:rPr>
                        <a:t> </a:t>
                      </a:r>
                      <a:r>
                        <a:rPr lang="en-US" sz="1800" dirty="0" smtClean="0">
                          <a:solidFill>
                            <a:schemeClr val="bg1"/>
                          </a:solidFill>
                          <a:effectLst/>
                        </a:rPr>
                        <a:t/>
                      </a:r>
                      <a:br>
                        <a:rPr lang="en-US" sz="1800" dirty="0" smtClean="0">
                          <a:solidFill>
                            <a:schemeClr val="bg1"/>
                          </a:solidFill>
                          <a:effectLst/>
                        </a:rPr>
                      </a:br>
                      <a:r>
                        <a:rPr lang="en-US" sz="1800" dirty="0" smtClean="0">
                          <a:solidFill>
                            <a:schemeClr val="bg1"/>
                          </a:solidFill>
                          <a:effectLst/>
                        </a:rPr>
                        <a:t>(</a:t>
                      </a:r>
                      <a:r>
                        <a:rPr lang="en-US" sz="1800" dirty="0">
                          <a:solidFill>
                            <a:schemeClr val="bg1"/>
                          </a:solidFill>
                          <a:effectLst/>
                        </a:rPr>
                        <a:t>Detection Rules/Policies)</a:t>
                      </a:r>
                      <a:endParaRPr lang="en-US" sz="18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46492" marR="46492" marT="0" marB="0" anchor="ctr"/>
                </a:tc>
                <a:extLst>
                  <a:ext uri="{0D108BD9-81ED-4DB2-BD59-A6C34878D82A}">
                    <a16:rowId xmlns:a16="http://schemas.microsoft.com/office/drawing/2014/main" val="3515019066"/>
                  </a:ext>
                </a:extLst>
              </a:tr>
              <a:tr h="824065">
                <a:tc>
                  <a:txBody>
                    <a:bodyPr/>
                    <a:lstStyle/>
                    <a:p>
                      <a:pPr algn="ctr">
                        <a:lnSpc>
                          <a:spcPct val="107000"/>
                        </a:lnSpc>
                        <a:spcAft>
                          <a:spcPts val="0"/>
                        </a:spcAft>
                      </a:pPr>
                      <a:r>
                        <a:rPr lang="en-US" sz="1800" dirty="0" err="1">
                          <a:solidFill>
                            <a:schemeClr val="bg1"/>
                          </a:solidFill>
                          <a:effectLst/>
                        </a:rPr>
                        <a:t>Khái</a:t>
                      </a:r>
                      <a:r>
                        <a:rPr lang="en-US" sz="1800" dirty="0">
                          <a:solidFill>
                            <a:schemeClr val="bg1"/>
                          </a:solidFill>
                          <a:effectLst/>
                        </a:rPr>
                        <a:t> </a:t>
                      </a:r>
                      <a:r>
                        <a:rPr lang="en-US" sz="1800" dirty="0" err="1">
                          <a:solidFill>
                            <a:schemeClr val="bg1"/>
                          </a:solidFill>
                          <a:effectLst/>
                        </a:rPr>
                        <a:t>niệm</a:t>
                      </a:r>
                      <a:endParaRPr lang="en-US" sz="18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46492" marR="46492" marT="0" marB="0" anchor="ctr"/>
                </a:tc>
                <a:tc>
                  <a:txBody>
                    <a:bodyPr/>
                    <a:lstStyle/>
                    <a:p>
                      <a:pPr>
                        <a:lnSpc>
                          <a:spcPct val="107000"/>
                        </a:lnSpc>
                        <a:spcAft>
                          <a:spcPts val="0"/>
                        </a:spcAft>
                      </a:pPr>
                      <a:r>
                        <a:rPr lang="en-US" sz="1800" dirty="0" err="1">
                          <a:solidFill>
                            <a:srgbClr val="0000CC"/>
                          </a:solidFill>
                          <a:effectLst/>
                        </a:rPr>
                        <a:t>Tập</a:t>
                      </a:r>
                      <a:r>
                        <a:rPr lang="en-US" sz="1800" dirty="0">
                          <a:solidFill>
                            <a:srgbClr val="0000CC"/>
                          </a:solidFill>
                          <a:effectLst/>
                        </a:rPr>
                        <a:t> </a:t>
                      </a:r>
                      <a:r>
                        <a:rPr lang="en-US" sz="1800" dirty="0" err="1">
                          <a:solidFill>
                            <a:srgbClr val="0000CC"/>
                          </a:solidFill>
                          <a:effectLst/>
                        </a:rPr>
                        <a:t>hợp</a:t>
                      </a:r>
                      <a:r>
                        <a:rPr lang="en-US" sz="1800" dirty="0">
                          <a:solidFill>
                            <a:srgbClr val="0000CC"/>
                          </a:solidFill>
                          <a:effectLst/>
                        </a:rPr>
                        <a:t> </a:t>
                      </a:r>
                      <a:r>
                        <a:rPr lang="en-US" sz="1800" dirty="0" err="1">
                          <a:solidFill>
                            <a:srgbClr val="0000CC"/>
                          </a:solidFill>
                          <a:effectLst/>
                        </a:rPr>
                        <a:t>mẫu</a:t>
                      </a:r>
                      <a:r>
                        <a:rPr lang="en-US" sz="1800" dirty="0">
                          <a:solidFill>
                            <a:srgbClr val="0000CC"/>
                          </a:solidFill>
                          <a:effectLst/>
                        </a:rPr>
                        <a:t> </a:t>
                      </a:r>
                      <a:r>
                        <a:rPr lang="en-US" sz="1800" dirty="0" err="1">
                          <a:solidFill>
                            <a:srgbClr val="0000CC"/>
                          </a:solidFill>
                          <a:effectLst/>
                        </a:rPr>
                        <a:t>tấn</a:t>
                      </a:r>
                      <a:r>
                        <a:rPr lang="en-US" sz="1800" dirty="0">
                          <a:solidFill>
                            <a:srgbClr val="0000CC"/>
                          </a:solidFill>
                          <a:effectLst/>
                        </a:rPr>
                        <a:t> </a:t>
                      </a:r>
                      <a:r>
                        <a:rPr lang="en-US" sz="1800" dirty="0" err="1">
                          <a:solidFill>
                            <a:srgbClr val="0000CC"/>
                          </a:solidFill>
                          <a:effectLst/>
                        </a:rPr>
                        <a:t>công</a:t>
                      </a:r>
                      <a:r>
                        <a:rPr lang="en-US" sz="1800" dirty="0">
                          <a:solidFill>
                            <a:srgbClr val="0000CC"/>
                          </a:solidFill>
                          <a:effectLst/>
                        </a:rPr>
                        <a:t> </a:t>
                      </a:r>
                      <a:r>
                        <a:rPr lang="en-US" sz="1800" dirty="0" err="1">
                          <a:solidFill>
                            <a:srgbClr val="0000CC"/>
                          </a:solidFill>
                          <a:effectLst/>
                        </a:rPr>
                        <a:t>đã</a:t>
                      </a:r>
                      <a:r>
                        <a:rPr lang="en-US" sz="1800" dirty="0">
                          <a:solidFill>
                            <a:srgbClr val="0000CC"/>
                          </a:solidFill>
                          <a:effectLst/>
                        </a:rPr>
                        <a:t> </a:t>
                      </a:r>
                      <a:r>
                        <a:rPr lang="en-US" sz="1800" dirty="0" err="1">
                          <a:solidFill>
                            <a:srgbClr val="0000CC"/>
                          </a:solidFill>
                          <a:effectLst/>
                        </a:rPr>
                        <a:t>biết</a:t>
                      </a:r>
                      <a:r>
                        <a:rPr lang="en-US" sz="1800" dirty="0">
                          <a:solidFill>
                            <a:srgbClr val="0000CC"/>
                          </a:solidFill>
                          <a:effectLst/>
                        </a:rPr>
                        <a:t> (pattern, </a:t>
                      </a:r>
                      <a:r>
                        <a:rPr lang="en-US" sz="1800" dirty="0" err="1">
                          <a:solidFill>
                            <a:srgbClr val="0000CC"/>
                          </a:solidFill>
                          <a:effectLst/>
                        </a:rPr>
                        <a:t>dấu</a:t>
                      </a:r>
                      <a:r>
                        <a:rPr lang="en-US" sz="1800" dirty="0">
                          <a:solidFill>
                            <a:srgbClr val="0000CC"/>
                          </a:solidFill>
                          <a:effectLst/>
                        </a:rPr>
                        <a:t> </a:t>
                      </a:r>
                      <a:r>
                        <a:rPr lang="en-US" sz="1800" dirty="0" err="1">
                          <a:solidFill>
                            <a:srgbClr val="0000CC"/>
                          </a:solidFill>
                          <a:effectLst/>
                        </a:rPr>
                        <a:t>hiệu</a:t>
                      </a:r>
                      <a:r>
                        <a:rPr lang="en-US" sz="1800" dirty="0">
                          <a:solidFill>
                            <a:srgbClr val="0000CC"/>
                          </a:solidFill>
                          <a:effectLst/>
                        </a:rPr>
                        <a:t> </a:t>
                      </a:r>
                      <a:r>
                        <a:rPr lang="en-US" sz="1800" dirty="0" err="1">
                          <a:solidFill>
                            <a:srgbClr val="0000CC"/>
                          </a:solidFill>
                          <a:effectLst/>
                        </a:rPr>
                        <a:t>nhận</a:t>
                      </a:r>
                      <a:r>
                        <a:rPr lang="en-US" sz="1800" dirty="0">
                          <a:solidFill>
                            <a:srgbClr val="0000CC"/>
                          </a:solidFill>
                          <a:effectLst/>
                        </a:rPr>
                        <a:t> </a:t>
                      </a:r>
                      <a:r>
                        <a:rPr lang="en-US" sz="1800" dirty="0" err="1">
                          <a:solidFill>
                            <a:srgbClr val="0000CC"/>
                          </a:solidFill>
                          <a:effectLst/>
                        </a:rPr>
                        <a:t>diện</a:t>
                      </a:r>
                      <a:r>
                        <a:rPr lang="en-US" sz="1800" dirty="0">
                          <a:solidFill>
                            <a:srgbClr val="0000CC"/>
                          </a:solidFill>
                          <a:effectLst/>
                        </a:rPr>
                        <a:t>)</a:t>
                      </a:r>
                      <a:endParaRPr lang="en-US" sz="1800" dirty="0">
                        <a:solidFill>
                          <a:srgbClr val="0000CC"/>
                        </a:solidFill>
                        <a:effectLst/>
                        <a:latin typeface="Calibri" panose="020F0502020204030204" pitchFamily="34" charset="0"/>
                        <a:ea typeface="Calibri" panose="020F0502020204030204" pitchFamily="34" charset="0"/>
                        <a:cs typeface="Times New Roman" panose="02020603050405020304" pitchFamily="18" charset="0"/>
                      </a:endParaRPr>
                    </a:p>
                  </a:txBody>
                  <a:tcPr marL="46492" marR="46492" marT="0" marB="0" anchor="ctr"/>
                </a:tc>
                <a:tc>
                  <a:txBody>
                    <a:bodyPr/>
                    <a:lstStyle/>
                    <a:p>
                      <a:pPr>
                        <a:lnSpc>
                          <a:spcPct val="107000"/>
                        </a:lnSpc>
                        <a:spcAft>
                          <a:spcPts val="0"/>
                        </a:spcAft>
                      </a:pPr>
                      <a:r>
                        <a:rPr lang="en-US" sz="1800">
                          <a:solidFill>
                            <a:srgbClr val="0000CC"/>
                          </a:solidFill>
                          <a:effectLst/>
                        </a:rPr>
                        <a:t>Các quy tắc do quản trị viên định nghĩa để phân tích hành vi, payload</a:t>
                      </a:r>
                      <a:endParaRPr lang="en-US" sz="1800">
                        <a:solidFill>
                          <a:srgbClr val="0000CC"/>
                        </a:solidFill>
                        <a:effectLst/>
                        <a:latin typeface="Calibri" panose="020F0502020204030204" pitchFamily="34" charset="0"/>
                        <a:ea typeface="Calibri" panose="020F0502020204030204" pitchFamily="34" charset="0"/>
                        <a:cs typeface="Times New Roman" panose="02020603050405020304" pitchFamily="18" charset="0"/>
                      </a:endParaRPr>
                    </a:p>
                  </a:txBody>
                  <a:tcPr marL="46492" marR="46492" marT="0" marB="0" anchor="ctr"/>
                </a:tc>
                <a:extLst>
                  <a:ext uri="{0D108BD9-81ED-4DB2-BD59-A6C34878D82A}">
                    <a16:rowId xmlns:a16="http://schemas.microsoft.com/office/drawing/2014/main" val="3870671613"/>
                  </a:ext>
                </a:extLst>
              </a:tr>
              <a:tr h="824065">
                <a:tc>
                  <a:txBody>
                    <a:bodyPr/>
                    <a:lstStyle/>
                    <a:p>
                      <a:pPr algn="ctr">
                        <a:lnSpc>
                          <a:spcPct val="107000"/>
                        </a:lnSpc>
                        <a:spcAft>
                          <a:spcPts val="0"/>
                        </a:spcAft>
                      </a:pPr>
                      <a:r>
                        <a:rPr lang="en-US" sz="1800" dirty="0" err="1">
                          <a:solidFill>
                            <a:schemeClr val="bg1"/>
                          </a:solidFill>
                          <a:effectLst/>
                        </a:rPr>
                        <a:t>Ví</a:t>
                      </a:r>
                      <a:r>
                        <a:rPr lang="en-US" sz="1800" dirty="0">
                          <a:solidFill>
                            <a:schemeClr val="bg1"/>
                          </a:solidFill>
                          <a:effectLst/>
                        </a:rPr>
                        <a:t> </a:t>
                      </a:r>
                      <a:r>
                        <a:rPr lang="en-US" sz="1800" dirty="0" err="1">
                          <a:solidFill>
                            <a:schemeClr val="bg1"/>
                          </a:solidFill>
                          <a:effectLst/>
                        </a:rPr>
                        <a:t>dụ</a:t>
                      </a:r>
                      <a:endParaRPr lang="en-US" sz="18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46492" marR="46492" marT="0" marB="0" anchor="ctr"/>
                </a:tc>
                <a:tc>
                  <a:txBody>
                    <a:bodyPr/>
                    <a:lstStyle/>
                    <a:p>
                      <a:pPr>
                        <a:lnSpc>
                          <a:spcPct val="107000"/>
                        </a:lnSpc>
                        <a:spcAft>
                          <a:spcPts val="0"/>
                        </a:spcAft>
                      </a:pPr>
                      <a:r>
                        <a:rPr lang="en-US" sz="1800" dirty="0">
                          <a:solidFill>
                            <a:srgbClr val="0000CC"/>
                          </a:solidFill>
                          <a:effectLst/>
                        </a:rPr>
                        <a:t>' OR 1=1--, &lt;script&gt;, </a:t>
                      </a:r>
                      <a:r>
                        <a:rPr lang="en-US" sz="1800" dirty="0" err="1">
                          <a:solidFill>
                            <a:srgbClr val="0000CC"/>
                          </a:solidFill>
                          <a:effectLst/>
                        </a:rPr>
                        <a:t>mẫu</a:t>
                      </a:r>
                      <a:r>
                        <a:rPr lang="en-US" sz="1800" dirty="0">
                          <a:solidFill>
                            <a:srgbClr val="0000CC"/>
                          </a:solidFill>
                          <a:effectLst/>
                        </a:rPr>
                        <a:t> virus</a:t>
                      </a:r>
                      <a:endParaRPr lang="en-US" sz="1800" dirty="0">
                        <a:solidFill>
                          <a:srgbClr val="0000CC"/>
                        </a:solidFill>
                        <a:effectLst/>
                        <a:latin typeface="Calibri" panose="020F0502020204030204" pitchFamily="34" charset="0"/>
                        <a:ea typeface="Calibri" panose="020F0502020204030204" pitchFamily="34" charset="0"/>
                        <a:cs typeface="Times New Roman" panose="02020603050405020304" pitchFamily="18" charset="0"/>
                      </a:endParaRPr>
                    </a:p>
                  </a:txBody>
                  <a:tcPr marL="46492" marR="46492" marT="0" marB="0" anchor="ctr"/>
                </a:tc>
                <a:tc>
                  <a:txBody>
                    <a:bodyPr/>
                    <a:lstStyle/>
                    <a:p>
                      <a:pPr>
                        <a:lnSpc>
                          <a:spcPct val="107000"/>
                        </a:lnSpc>
                        <a:spcAft>
                          <a:spcPts val="0"/>
                        </a:spcAft>
                      </a:pPr>
                      <a:r>
                        <a:rPr lang="en-US" sz="1800">
                          <a:solidFill>
                            <a:srgbClr val="0000CC"/>
                          </a:solidFill>
                          <a:effectLst/>
                        </a:rPr>
                        <a:t>Luật kiểm tra số lần đăng nhập sai, quét cổng, chuỗi SQL injection</a:t>
                      </a:r>
                      <a:endParaRPr lang="en-US" sz="1800">
                        <a:solidFill>
                          <a:srgbClr val="0000CC"/>
                        </a:solidFill>
                        <a:effectLst/>
                        <a:latin typeface="Calibri" panose="020F0502020204030204" pitchFamily="34" charset="0"/>
                        <a:ea typeface="Calibri" panose="020F0502020204030204" pitchFamily="34" charset="0"/>
                        <a:cs typeface="Times New Roman" panose="02020603050405020304" pitchFamily="18" charset="0"/>
                      </a:endParaRPr>
                    </a:p>
                  </a:txBody>
                  <a:tcPr marL="46492" marR="46492" marT="0" marB="0" anchor="ctr"/>
                </a:tc>
                <a:extLst>
                  <a:ext uri="{0D108BD9-81ED-4DB2-BD59-A6C34878D82A}">
                    <a16:rowId xmlns:a16="http://schemas.microsoft.com/office/drawing/2014/main" val="1040698930"/>
                  </a:ext>
                </a:extLst>
              </a:tr>
              <a:tr h="824065">
                <a:tc>
                  <a:txBody>
                    <a:bodyPr/>
                    <a:lstStyle/>
                    <a:p>
                      <a:pPr algn="ctr">
                        <a:lnSpc>
                          <a:spcPct val="107000"/>
                        </a:lnSpc>
                        <a:spcAft>
                          <a:spcPts val="0"/>
                        </a:spcAft>
                      </a:pPr>
                      <a:r>
                        <a:rPr lang="en-US" sz="1800" dirty="0" err="1">
                          <a:solidFill>
                            <a:schemeClr val="bg1"/>
                          </a:solidFill>
                          <a:effectLst/>
                        </a:rPr>
                        <a:t>Cách</a:t>
                      </a:r>
                      <a:r>
                        <a:rPr lang="en-US" sz="1800" dirty="0">
                          <a:solidFill>
                            <a:schemeClr val="bg1"/>
                          </a:solidFill>
                          <a:effectLst/>
                        </a:rPr>
                        <a:t> </a:t>
                      </a:r>
                      <a:r>
                        <a:rPr lang="en-US" sz="1800" dirty="0" err="1">
                          <a:solidFill>
                            <a:schemeClr val="bg1"/>
                          </a:solidFill>
                          <a:effectLst/>
                        </a:rPr>
                        <a:t>hoạt</a:t>
                      </a:r>
                      <a:r>
                        <a:rPr lang="en-US" sz="1800" dirty="0">
                          <a:solidFill>
                            <a:schemeClr val="bg1"/>
                          </a:solidFill>
                          <a:effectLst/>
                        </a:rPr>
                        <a:t> </a:t>
                      </a:r>
                      <a:r>
                        <a:rPr lang="en-US" sz="1800" dirty="0" err="1">
                          <a:solidFill>
                            <a:schemeClr val="bg1"/>
                          </a:solidFill>
                          <a:effectLst/>
                        </a:rPr>
                        <a:t>động</a:t>
                      </a:r>
                      <a:endParaRPr lang="en-US" sz="18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46492" marR="46492" marT="0" marB="0" anchor="ctr"/>
                </a:tc>
                <a:tc>
                  <a:txBody>
                    <a:bodyPr/>
                    <a:lstStyle/>
                    <a:p>
                      <a:pPr>
                        <a:lnSpc>
                          <a:spcPct val="107000"/>
                        </a:lnSpc>
                        <a:spcAft>
                          <a:spcPts val="0"/>
                        </a:spcAft>
                      </a:pPr>
                      <a:r>
                        <a:rPr lang="en-US" sz="1800" dirty="0">
                          <a:solidFill>
                            <a:srgbClr val="0000CC"/>
                          </a:solidFill>
                          <a:effectLst/>
                        </a:rPr>
                        <a:t>So </a:t>
                      </a:r>
                      <a:r>
                        <a:rPr lang="en-US" sz="1800" dirty="0" err="1">
                          <a:solidFill>
                            <a:srgbClr val="0000CC"/>
                          </a:solidFill>
                          <a:effectLst/>
                        </a:rPr>
                        <a:t>khớp</a:t>
                      </a:r>
                      <a:r>
                        <a:rPr lang="en-US" sz="1800" dirty="0">
                          <a:solidFill>
                            <a:srgbClr val="0000CC"/>
                          </a:solidFill>
                          <a:effectLst/>
                        </a:rPr>
                        <a:t> </a:t>
                      </a:r>
                      <a:r>
                        <a:rPr lang="en-US" sz="1800" dirty="0" err="1">
                          <a:solidFill>
                            <a:srgbClr val="0000CC"/>
                          </a:solidFill>
                          <a:effectLst/>
                        </a:rPr>
                        <a:t>gói</a:t>
                      </a:r>
                      <a:r>
                        <a:rPr lang="en-US" sz="1800" dirty="0">
                          <a:solidFill>
                            <a:srgbClr val="0000CC"/>
                          </a:solidFill>
                          <a:effectLst/>
                        </a:rPr>
                        <a:t> tin </a:t>
                      </a:r>
                      <a:r>
                        <a:rPr lang="en-US" sz="1800" dirty="0" err="1">
                          <a:solidFill>
                            <a:srgbClr val="0000CC"/>
                          </a:solidFill>
                          <a:effectLst/>
                        </a:rPr>
                        <a:t>với</a:t>
                      </a:r>
                      <a:r>
                        <a:rPr lang="en-US" sz="1800" dirty="0">
                          <a:solidFill>
                            <a:srgbClr val="0000CC"/>
                          </a:solidFill>
                          <a:effectLst/>
                        </a:rPr>
                        <a:t> </a:t>
                      </a:r>
                      <a:r>
                        <a:rPr lang="en-US" sz="1800" dirty="0" err="1">
                          <a:solidFill>
                            <a:srgbClr val="0000CC"/>
                          </a:solidFill>
                          <a:effectLst/>
                        </a:rPr>
                        <a:t>mẫu</a:t>
                      </a:r>
                      <a:r>
                        <a:rPr lang="en-US" sz="1800" dirty="0">
                          <a:solidFill>
                            <a:srgbClr val="0000CC"/>
                          </a:solidFill>
                          <a:effectLst/>
                        </a:rPr>
                        <a:t> </a:t>
                      </a:r>
                      <a:r>
                        <a:rPr lang="en-US" sz="1800" dirty="0" err="1">
                          <a:solidFill>
                            <a:srgbClr val="0000CC"/>
                          </a:solidFill>
                          <a:effectLst/>
                        </a:rPr>
                        <a:t>có</a:t>
                      </a:r>
                      <a:r>
                        <a:rPr lang="en-US" sz="1800" dirty="0">
                          <a:solidFill>
                            <a:srgbClr val="0000CC"/>
                          </a:solidFill>
                          <a:effectLst/>
                        </a:rPr>
                        <a:t> </a:t>
                      </a:r>
                      <a:r>
                        <a:rPr lang="en-US" sz="1800" dirty="0" err="1">
                          <a:solidFill>
                            <a:srgbClr val="0000CC"/>
                          </a:solidFill>
                          <a:effectLst/>
                        </a:rPr>
                        <a:t>sẵn</a:t>
                      </a:r>
                      <a:r>
                        <a:rPr lang="en-US" sz="1800" dirty="0">
                          <a:solidFill>
                            <a:srgbClr val="0000CC"/>
                          </a:solidFill>
                          <a:effectLst/>
                        </a:rPr>
                        <a:t> </a:t>
                      </a:r>
                      <a:r>
                        <a:rPr lang="en-US" sz="1800" dirty="0" err="1">
                          <a:solidFill>
                            <a:srgbClr val="0000CC"/>
                          </a:solidFill>
                          <a:effectLst/>
                        </a:rPr>
                        <a:t>trong</a:t>
                      </a:r>
                      <a:r>
                        <a:rPr lang="en-US" sz="1800" dirty="0">
                          <a:solidFill>
                            <a:srgbClr val="0000CC"/>
                          </a:solidFill>
                          <a:effectLst/>
                        </a:rPr>
                        <a:t> </a:t>
                      </a:r>
                      <a:r>
                        <a:rPr lang="en-US" sz="1800" dirty="0" err="1">
                          <a:solidFill>
                            <a:srgbClr val="0000CC"/>
                          </a:solidFill>
                          <a:effectLst/>
                        </a:rPr>
                        <a:t>cơ</a:t>
                      </a:r>
                      <a:r>
                        <a:rPr lang="en-US" sz="1800" dirty="0">
                          <a:solidFill>
                            <a:srgbClr val="0000CC"/>
                          </a:solidFill>
                          <a:effectLst/>
                        </a:rPr>
                        <a:t> </a:t>
                      </a:r>
                      <a:r>
                        <a:rPr lang="en-US" sz="1800" dirty="0" err="1">
                          <a:solidFill>
                            <a:srgbClr val="0000CC"/>
                          </a:solidFill>
                          <a:effectLst/>
                        </a:rPr>
                        <a:t>sở</a:t>
                      </a:r>
                      <a:r>
                        <a:rPr lang="en-US" sz="1800" dirty="0">
                          <a:solidFill>
                            <a:srgbClr val="0000CC"/>
                          </a:solidFill>
                          <a:effectLst/>
                        </a:rPr>
                        <a:t> </a:t>
                      </a:r>
                      <a:r>
                        <a:rPr lang="en-US" sz="1800" dirty="0" err="1">
                          <a:solidFill>
                            <a:srgbClr val="0000CC"/>
                          </a:solidFill>
                          <a:effectLst/>
                        </a:rPr>
                        <a:t>dữ</a:t>
                      </a:r>
                      <a:r>
                        <a:rPr lang="en-US" sz="1800" dirty="0">
                          <a:solidFill>
                            <a:srgbClr val="0000CC"/>
                          </a:solidFill>
                          <a:effectLst/>
                        </a:rPr>
                        <a:t> </a:t>
                      </a:r>
                      <a:r>
                        <a:rPr lang="en-US" sz="1800" dirty="0" err="1">
                          <a:solidFill>
                            <a:srgbClr val="0000CC"/>
                          </a:solidFill>
                          <a:effectLst/>
                        </a:rPr>
                        <a:t>liệu</a:t>
                      </a:r>
                      <a:endParaRPr lang="en-US" sz="1800" dirty="0">
                        <a:solidFill>
                          <a:srgbClr val="0000CC"/>
                        </a:solidFill>
                        <a:effectLst/>
                        <a:latin typeface="Calibri" panose="020F0502020204030204" pitchFamily="34" charset="0"/>
                        <a:ea typeface="Calibri" panose="020F0502020204030204" pitchFamily="34" charset="0"/>
                        <a:cs typeface="Times New Roman" panose="02020603050405020304" pitchFamily="18" charset="0"/>
                      </a:endParaRPr>
                    </a:p>
                  </a:txBody>
                  <a:tcPr marL="46492" marR="46492" marT="0" marB="0" anchor="ctr"/>
                </a:tc>
                <a:tc>
                  <a:txBody>
                    <a:bodyPr/>
                    <a:lstStyle/>
                    <a:p>
                      <a:pPr>
                        <a:lnSpc>
                          <a:spcPct val="107000"/>
                        </a:lnSpc>
                        <a:spcAft>
                          <a:spcPts val="0"/>
                        </a:spcAft>
                      </a:pPr>
                      <a:r>
                        <a:rPr lang="en-US" sz="1800" dirty="0" err="1">
                          <a:solidFill>
                            <a:srgbClr val="0000CC"/>
                          </a:solidFill>
                          <a:effectLst/>
                        </a:rPr>
                        <a:t>Phân</a:t>
                      </a:r>
                      <a:r>
                        <a:rPr lang="en-US" sz="1800" dirty="0">
                          <a:solidFill>
                            <a:srgbClr val="0000CC"/>
                          </a:solidFill>
                          <a:effectLst/>
                        </a:rPr>
                        <a:t> </a:t>
                      </a:r>
                      <a:r>
                        <a:rPr lang="en-US" sz="1800" dirty="0" err="1">
                          <a:solidFill>
                            <a:srgbClr val="0000CC"/>
                          </a:solidFill>
                          <a:effectLst/>
                        </a:rPr>
                        <a:t>tích</a:t>
                      </a:r>
                      <a:r>
                        <a:rPr lang="en-US" sz="1800" dirty="0">
                          <a:solidFill>
                            <a:srgbClr val="0000CC"/>
                          </a:solidFill>
                          <a:effectLst/>
                        </a:rPr>
                        <a:t> </a:t>
                      </a:r>
                      <a:r>
                        <a:rPr lang="en-US" sz="1800" dirty="0" err="1">
                          <a:solidFill>
                            <a:srgbClr val="0000CC"/>
                          </a:solidFill>
                          <a:effectLst/>
                        </a:rPr>
                        <a:t>nội</a:t>
                      </a:r>
                      <a:r>
                        <a:rPr lang="en-US" sz="1800" dirty="0">
                          <a:solidFill>
                            <a:srgbClr val="0000CC"/>
                          </a:solidFill>
                          <a:effectLst/>
                        </a:rPr>
                        <a:t> dung </a:t>
                      </a:r>
                      <a:r>
                        <a:rPr lang="en-US" sz="1800" dirty="0" err="1">
                          <a:solidFill>
                            <a:srgbClr val="0000CC"/>
                          </a:solidFill>
                          <a:effectLst/>
                        </a:rPr>
                        <a:t>gói</a:t>
                      </a:r>
                      <a:r>
                        <a:rPr lang="en-US" sz="1800" dirty="0">
                          <a:solidFill>
                            <a:srgbClr val="0000CC"/>
                          </a:solidFill>
                          <a:effectLst/>
                        </a:rPr>
                        <a:t> tin + </a:t>
                      </a:r>
                      <a:r>
                        <a:rPr lang="en-US" sz="1800" dirty="0" err="1">
                          <a:solidFill>
                            <a:srgbClr val="0000CC"/>
                          </a:solidFill>
                          <a:effectLst/>
                        </a:rPr>
                        <a:t>ngữ</a:t>
                      </a:r>
                      <a:r>
                        <a:rPr lang="en-US" sz="1800" dirty="0">
                          <a:solidFill>
                            <a:srgbClr val="0000CC"/>
                          </a:solidFill>
                          <a:effectLst/>
                        </a:rPr>
                        <a:t> </a:t>
                      </a:r>
                      <a:r>
                        <a:rPr lang="en-US" sz="1800" dirty="0" err="1">
                          <a:solidFill>
                            <a:srgbClr val="0000CC"/>
                          </a:solidFill>
                          <a:effectLst/>
                        </a:rPr>
                        <a:t>cảnh</a:t>
                      </a:r>
                      <a:r>
                        <a:rPr lang="en-US" sz="1800" dirty="0">
                          <a:solidFill>
                            <a:srgbClr val="0000CC"/>
                          </a:solidFill>
                          <a:effectLst/>
                        </a:rPr>
                        <a:t> (</a:t>
                      </a:r>
                      <a:r>
                        <a:rPr lang="en-US" sz="1800" dirty="0" err="1">
                          <a:solidFill>
                            <a:srgbClr val="0000CC"/>
                          </a:solidFill>
                          <a:effectLst/>
                        </a:rPr>
                        <a:t>số</a:t>
                      </a:r>
                      <a:r>
                        <a:rPr lang="en-US" sz="1800" dirty="0">
                          <a:solidFill>
                            <a:srgbClr val="0000CC"/>
                          </a:solidFill>
                          <a:effectLst/>
                        </a:rPr>
                        <a:t> </a:t>
                      </a:r>
                      <a:r>
                        <a:rPr lang="en-US" sz="1800" dirty="0" err="1">
                          <a:solidFill>
                            <a:srgbClr val="0000CC"/>
                          </a:solidFill>
                          <a:effectLst/>
                        </a:rPr>
                        <a:t>lượng</a:t>
                      </a:r>
                      <a:r>
                        <a:rPr lang="en-US" sz="1800" dirty="0">
                          <a:solidFill>
                            <a:srgbClr val="0000CC"/>
                          </a:solidFill>
                          <a:effectLst/>
                        </a:rPr>
                        <a:t>, </a:t>
                      </a:r>
                      <a:r>
                        <a:rPr lang="en-US" sz="1800" dirty="0" err="1">
                          <a:solidFill>
                            <a:srgbClr val="0000CC"/>
                          </a:solidFill>
                          <a:effectLst/>
                        </a:rPr>
                        <a:t>thời</a:t>
                      </a:r>
                      <a:r>
                        <a:rPr lang="en-US" sz="1800" dirty="0">
                          <a:solidFill>
                            <a:srgbClr val="0000CC"/>
                          </a:solidFill>
                          <a:effectLst/>
                        </a:rPr>
                        <a:t> </a:t>
                      </a:r>
                      <a:r>
                        <a:rPr lang="en-US" sz="1800" dirty="0" err="1">
                          <a:solidFill>
                            <a:srgbClr val="0000CC"/>
                          </a:solidFill>
                          <a:effectLst/>
                        </a:rPr>
                        <a:t>gian</a:t>
                      </a:r>
                      <a:r>
                        <a:rPr lang="en-US" sz="1800" dirty="0">
                          <a:solidFill>
                            <a:srgbClr val="0000CC"/>
                          </a:solidFill>
                          <a:effectLst/>
                        </a:rPr>
                        <a:t>, </a:t>
                      </a:r>
                      <a:r>
                        <a:rPr lang="en-US" sz="1800" dirty="0" err="1">
                          <a:solidFill>
                            <a:srgbClr val="0000CC"/>
                          </a:solidFill>
                          <a:effectLst/>
                        </a:rPr>
                        <a:t>hành</a:t>
                      </a:r>
                      <a:r>
                        <a:rPr lang="en-US" sz="1800" dirty="0">
                          <a:solidFill>
                            <a:srgbClr val="0000CC"/>
                          </a:solidFill>
                          <a:effectLst/>
                        </a:rPr>
                        <a:t> vi)</a:t>
                      </a:r>
                      <a:endParaRPr lang="en-US" sz="1800" dirty="0">
                        <a:solidFill>
                          <a:srgbClr val="0000CC"/>
                        </a:solidFill>
                        <a:effectLst/>
                        <a:latin typeface="Calibri" panose="020F0502020204030204" pitchFamily="34" charset="0"/>
                        <a:ea typeface="Calibri" panose="020F0502020204030204" pitchFamily="34" charset="0"/>
                        <a:cs typeface="Times New Roman" panose="02020603050405020304" pitchFamily="18" charset="0"/>
                      </a:endParaRPr>
                    </a:p>
                  </a:txBody>
                  <a:tcPr marL="46492" marR="46492" marT="0" marB="0" anchor="ctr"/>
                </a:tc>
                <a:extLst>
                  <a:ext uri="{0D108BD9-81ED-4DB2-BD59-A6C34878D82A}">
                    <a16:rowId xmlns:a16="http://schemas.microsoft.com/office/drawing/2014/main" val="2924646008"/>
                  </a:ext>
                </a:extLst>
              </a:tr>
              <a:tr h="544682">
                <a:tc>
                  <a:txBody>
                    <a:bodyPr/>
                    <a:lstStyle/>
                    <a:p>
                      <a:pPr algn="ctr">
                        <a:lnSpc>
                          <a:spcPct val="107000"/>
                        </a:lnSpc>
                        <a:spcAft>
                          <a:spcPts val="0"/>
                        </a:spcAft>
                      </a:pPr>
                      <a:r>
                        <a:rPr lang="en-US" sz="1800" dirty="0" err="1">
                          <a:solidFill>
                            <a:schemeClr val="bg1"/>
                          </a:solidFill>
                          <a:effectLst/>
                        </a:rPr>
                        <a:t>Ưu</a:t>
                      </a:r>
                      <a:r>
                        <a:rPr lang="en-US" sz="1800" dirty="0">
                          <a:solidFill>
                            <a:schemeClr val="bg1"/>
                          </a:solidFill>
                          <a:effectLst/>
                        </a:rPr>
                        <a:t> </a:t>
                      </a:r>
                      <a:r>
                        <a:rPr lang="en-US" sz="1800" dirty="0" err="1">
                          <a:solidFill>
                            <a:schemeClr val="bg1"/>
                          </a:solidFill>
                          <a:effectLst/>
                        </a:rPr>
                        <a:t>điểm</a:t>
                      </a:r>
                      <a:endParaRPr lang="en-US" sz="18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46492" marR="46492" marT="0" marB="0" anchor="ctr"/>
                </a:tc>
                <a:tc>
                  <a:txBody>
                    <a:bodyPr/>
                    <a:lstStyle/>
                    <a:p>
                      <a:pPr>
                        <a:lnSpc>
                          <a:spcPct val="107000"/>
                        </a:lnSpc>
                        <a:spcAft>
                          <a:spcPts val="0"/>
                        </a:spcAft>
                      </a:pPr>
                      <a:r>
                        <a:rPr lang="en-US" sz="1800" dirty="0" err="1">
                          <a:solidFill>
                            <a:srgbClr val="0000CC"/>
                          </a:solidFill>
                          <a:effectLst/>
                        </a:rPr>
                        <a:t>Phát</a:t>
                      </a:r>
                      <a:r>
                        <a:rPr lang="en-US" sz="1800" dirty="0">
                          <a:solidFill>
                            <a:srgbClr val="0000CC"/>
                          </a:solidFill>
                          <a:effectLst/>
                        </a:rPr>
                        <a:t> </a:t>
                      </a:r>
                      <a:r>
                        <a:rPr lang="en-US" sz="1800" dirty="0" err="1">
                          <a:solidFill>
                            <a:srgbClr val="0000CC"/>
                          </a:solidFill>
                          <a:effectLst/>
                        </a:rPr>
                        <a:t>hiện</a:t>
                      </a:r>
                      <a:r>
                        <a:rPr lang="en-US" sz="1800" dirty="0">
                          <a:solidFill>
                            <a:srgbClr val="0000CC"/>
                          </a:solidFill>
                          <a:effectLst/>
                        </a:rPr>
                        <a:t> </a:t>
                      </a:r>
                      <a:r>
                        <a:rPr lang="en-US" sz="1800" dirty="0" err="1">
                          <a:solidFill>
                            <a:srgbClr val="0000CC"/>
                          </a:solidFill>
                          <a:effectLst/>
                        </a:rPr>
                        <a:t>nhanh</a:t>
                      </a:r>
                      <a:r>
                        <a:rPr lang="en-US" sz="1800" dirty="0">
                          <a:solidFill>
                            <a:srgbClr val="0000CC"/>
                          </a:solidFill>
                          <a:effectLst/>
                        </a:rPr>
                        <a:t>, </a:t>
                      </a:r>
                      <a:r>
                        <a:rPr lang="en-US" sz="1800" dirty="0" err="1">
                          <a:solidFill>
                            <a:srgbClr val="0000CC"/>
                          </a:solidFill>
                          <a:effectLst/>
                        </a:rPr>
                        <a:t>ít</a:t>
                      </a:r>
                      <a:r>
                        <a:rPr lang="en-US" sz="1800" dirty="0">
                          <a:solidFill>
                            <a:srgbClr val="0000CC"/>
                          </a:solidFill>
                          <a:effectLst/>
                        </a:rPr>
                        <a:t> </a:t>
                      </a:r>
                      <a:r>
                        <a:rPr lang="en-US" sz="1800" dirty="0" err="1">
                          <a:solidFill>
                            <a:srgbClr val="0000CC"/>
                          </a:solidFill>
                          <a:effectLst/>
                        </a:rPr>
                        <a:t>sai</a:t>
                      </a:r>
                      <a:r>
                        <a:rPr lang="en-US" sz="1800" dirty="0">
                          <a:solidFill>
                            <a:srgbClr val="0000CC"/>
                          </a:solidFill>
                          <a:effectLst/>
                        </a:rPr>
                        <a:t> </a:t>
                      </a:r>
                      <a:r>
                        <a:rPr lang="en-US" sz="1800" dirty="0" err="1">
                          <a:solidFill>
                            <a:srgbClr val="0000CC"/>
                          </a:solidFill>
                          <a:effectLst/>
                        </a:rPr>
                        <a:t>sót</a:t>
                      </a:r>
                      <a:r>
                        <a:rPr lang="en-US" sz="1800" dirty="0">
                          <a:solidFill>
                            <a:srgbClr val="0000CC"/>
                          </a:solidFill>
                          <a:effectLst/>
                        </a:rPr>
                        <a:t> </a:t>
                      </a:r>
                      <a:r>
                        <a:rPr lang="en-US" sz="1800" dirty="0" err="1">
                          <a:solidFill>
                            <a:srgbClr val="0000CC"/>
                          </a:solidFill>
                          <a:effectLst/>
                        </a:rPr>
                        <a:t>với</a:t>
                      </a:r>
                      <a:r>
                        <a:rPr lang="en-US" sz="1800" dirty="0">
                          <a:solidFill>
                            <a:srgbClr val="0000CC"/>
                          </a:solidFill>
                          <a:effectLst/>
                        </a:rPr>
                        <a:t> </a:t>
                      </a:r>
                      <a:r>
                        <a:rPr lang="en-US" sz="1800" dirty="0" err="1">
                          <a:solidFill>
                            <a:srgbClr val="0000CC"/>
                          </a:solidFill>
                          <a:effectLst/>
                        </a:rPr>
                        <a:t>tấn</a:t>
                      </a:r>
                      <a:r>
                        <a:rPr lang="en-US" sz="1800" dirty="0">
                          <a:solidFill>
                            <a:srgbClr val="0000CC"/>
                          </a:solidFill>
                          <a:effectLst/>
                        </a:rPr>
                        <a:t> </a:t>
                      </a:r>
                      <a:r>
                        <a:rPr lang="en-US" sz="1800" dirty="0" err="1">
                          <a:solidFill>
                            <a:srgbClr val="0000CC"/>
                          </a:solidFill>
                          <a:effectLst/>
                        </a:rPr>
                        <a:t>công</a:t>
                      </a:r>
                      <a:r>
                        <a:rPr lang="en-US" sz="1800" dirty="0">
                          <a:solidFill>
                            <a:srgbClr val="0000CC"/>
                          </a:solidFill>
                          <a:effectLst/>
                        </a:rPr>
                        <a:t> </a:t>
                      </a:r>
                      <a:r>
                        <a:rPr lang="en-US" sz="1800" dirty="0" err="1">
                          <a:solidFill>
                            <a:srgbClr val="0000CC"/>
                          </a:solidFill>
                          <a:effectLst/>
                        </a:rPr>
                        <a:t>đã</a:t>
                      </a:r>
                      <a:r>
                        <a:rPr lang="en-US" sz="1800" dirty="0">
                          <a:solidFill>
                            <a:srgbClr val="0000CC"/>
                          </a:solidFill>
                          <a:effectLst/>
                        </a:rPr>
                        <a:t> </a:t>
                      </a:r>
                      <a:r>
                        <a:rPr lang="en-US" sz="1800" dirty="0" err="1">
                          <a:solidFill>
                            <a:srgbClr val="0000CC"/>
                          </a:solidFill>
                          <a:effectLst/>
                        </a:rPr>
                        <a:t>biết</a:t>
                      </a:r>
                      <a:endParaRPr lang="en-US" sz="1800" dirty="0">
                        <a:solidFill>
                          <a:srgbClr val="0000CC"/>
                        </a:solidFill>
                        <a:effectLst/>
                        <a:latin typeface="Calibri" panose="020F0502020204030204" pitchFamily="34" charset="0"/>
                        <a:ea typeface="Calibri" panose="020F0502020204030204" pitchFamily="34" charset="0"/>
                        <a:cs typeface="Times New Roman" panose="02020603050405020304" pitchFamily="18" charset="0"/>
                      </a:endParaRPr>
                    </a:p>
                  </a:txBody>
                  <a:tcPr marL="46492" marR="46492" marT="0" marB="0" anchor="ctr"/>
                </a:tc>
                <a:tc>
                  <a:txBody>
                    <a:bodyPr/>
                    <a:lstStyle/>
                    <a:p>
                      <a:pPr>
                        <a:lnSpc>
                          <a:spcPct val="107000"/>
                        </a:lnSpc>
                        <a:spcAft>
                          <a:spcPts val="0"/>
                        </a:spcAft>
                      </a:pPr>
                      <a:r>
                        <a:rPr lang="en-US" sz="1800">
                          <a:solidFill>
                            <a:srgbClr val="0000CC"/>
                          </a:solidFill>
                          <a:effectLst/>
                        </a:rPr>
                        <a:t>Linh hoạt, phát hiện cả hành vi bất thường, tấn công mới</a:t>
                      </a:r>
                      <a:endParaRPr lang="en-US" sz="1800">
                        <a:solidFill>
                          <a:srgbClr val="0000CC"/>
                        </a:solidFill>
                        <a:effectLst/>
                        <a:latin typeface="Calibri" panose="020F0502020204030204" pitchFamily="34" charset="0"/>
                        <a:ea typeface="Calibri" panose="020F0502020204030204" pitchFamily="34" charset="0"/>
                        <a:cs typeface="Times New Roman" panose="02020603050405020304" pitchFamily="18" charset="0"/>
                      </a:endParaRPr>
                    </a:p>
                  </a:txBody>
                  <a:tcPr marL="46492" marR="46492" marT="0" marB="0" anchor="ctr"/>
                </a:tc>
                <a:extLst>
                  <a:ext uri="{0D108BD9-81ED-4DB2-BD59-A6C34878D82A}">
                    <a16:rowId xmlns:a16="http://schemas.microsoft.com/office/drawing/2014/main" val="3145124080"/>
                  </a:ext>
                </a:extLst>
              </a:tr>
              <a:tr h="724986">
                <a:tc>
                  <a:txBody>
                    <a:bodyPr/>
                    <a:lstStyle/>
                    <a:p>
                      <a:pPr algn="ctr">
                        <a:lnSpc>
                          <a:spcPct val="107000"/>
                        </a:lnSpc>
                        <a:spcAft>
                          <a:spcPts val="0"/>
                        </a:spcAft>
                      </a:pPr>
                      <a:r>
                        <a:rPr lang="en-US" sz="1800" dirty="0" err="1">
                          <a:solidFill>
                            <a:schemeClr val="bg1"/>
                          </a:solidFill>
                          <a:effectLst/>
                        </a:rPr>
                        <a:t>Nhược</a:t>
                      </a:r>
                      <a:r>
                        <a:rPr lang="en-US" sz="1800" dirty="0">
                          <a:solidFill>
                            <a:schemeClr val="bg1"/>
                          </a:solidFill>
                          <a:effectLst/>
                        </a:rPr>
                        <a:t> </a:t>
                      </a:r>
                      <a:r>
                        <a:rPr lang="en-US" sz="1800" dirty="0" err="1">
                          <a:solidFill>
                            <a:schemeClr val="bg1"/>
                          </a:solidFill>
                          <a:effectLst/>
                        </a:rPr>
                        <a:t>điểm</a:t>
                      </a:r>
                      <a:endParaRPr lang="en-US" sz="18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46492" marR="46492" marT="0" marB="0" anchor="ctr"/>
                </a:tc>
                <a:tc>
                  <a:txBody>
                    <a:bodyPr/>
                    <a:lstStyle/>
                    <a:p>
                      <a:pPr>
                        <a:lnSpc>
                          <a:spcPct val="107000"/>
                        </a:lnSpc>
                        <a:spcAft>
                          <a:spcPts val="0"/>
                        </a:spcAft>
                      </a:pPr>
                      <a:r>
                        <a:rPr lang="en-US" sz="1800">
                          <a:solidFill>
                            <a:srgbClr val="0000CC"/>
                          </a:solidFill>
                          <a:effectLst/>
                        </a:rPr>
                        <a:t>Không phát hiện được tấn công mới/chưa có mẫu</a:t>
                      </a:r>
                      <a:endParaRPr lang="en-US" sz="1800">
                        <a:solidFill>
                          <a:srgbClr val="0000CC"/>
                        </a:solidFill>
                        <a:effectLst/>
                        <a:latin typeface="Calibri" panose="020F0502020204030204" pitchFamily="34" charset="0"/>
                        <a:ea typeface="Calibri" panose="020F0502020204030204" pitchFamily="34" charset="0"/>
                        <a:cs typeface="Times New Roman" panose="02020603050405020304" pitchFamily="18" charset="0"/>
                      </a:endParaRPr>
                    </a:p>
                  </a:txBody>
                  <a:tcPr marL="46492" marR="46492" marT="0" marB="0" anchor="ctr"/>
                </a:tc>
                <a:tc>
                  <a:txBody>
                    <a:bodyPr/>
                    <a:lstStyle/>
                    <a:p>
                      <a:pPr>
                        <a:lnSpc>
                          <a:spcPct val="107000"/>
                        </a:lnSpc>
                        <a:spcAft>
                          <a:spcPts val="0"/>
                        </a:spcAft>
                      </a:pPr>
                      <a:r>
                        <a:rPr lang="en-US" sz="1800" dirty="0" err="1">
                          <a:solidFill>
                            <a:srgbClr val="0000CC"/>
                          </a:solidFill>
                          <a:effectLst/>
                        </a:rPr>
                        <a:t>Cấu</a:t>
                      </a:r>
                      <a:r>
                        <a:rPr lang="en-US" sz="1800" dirty="0">
                          <a:solidFill>
                            <a:srgbClr val="0000CC"/>
                          </a:solidFill>
                          <a:effectLst/>
                        </a:rPr>
                        <a:t> </a:t>
                      </a:r>
                      <a:r>
                        <a:rPr lang="en-US" sz="1800" dirty="0" err="1">
                          <a:solidFill>
                            <a:srgbClr val="0000CC"/>
                          </a:solidFill>
                          <a:effectLst/>
                        </a:rPr>
                        <a:t>hình</a:t>
                      </a:r>
                      <a:r>
                        <a:rPr lang="en-US" sz="1800" dirty="0">
                          <a:solidFill>
                            <a:srgbClr val="0000CC"/>
                          </a:solidFill>
                          <a:effectLst/>
                        </a:rPr>
                        <a:t> </a:t>
                      </a:r>
                      <a:r>
                        <a:rPr lang="en-US" sz="1800" dirty="0" err="1">
                          <a:solidFill>
                            <a:srgbClr val="0000CC"/>
                          </a:solidFill>
                          <a:effectLst/>
                        </a:rPr>
                        <a:t>phức</a:t>
                      </a:r>
                      <a:r>
                        <a:rPr lang="en-US" sz="1800" dirty="0">
                          <a:solidFill>
                            <a:srgbClr val="0000CC"/>
                          </a:solidFill>
                          <a:effectLst/>
                        </a:rPr>
                        <a:t> </a:t>
                      </a:r>
                      <a:r>
                        <a:rPr lang="en-US" sz="1800" dirty="0" err="1">
                          <a:solidFill>
                            <a:srgbClr val="0000CC"/>
                          </a:solidFill>
                          <a:effectLst/>
                        </a:rPr>
                        <a:t>tạp</a:t>
                      </a:r>
                      <a:r>
                        <a:rPr lang="en-US" sz="1800" dirty="0">
                          <a:solidFill>
                            <a:srgbClr val="0000CC"/>
                          </a:solidFill>
                          <a:effectLst/>
                        </a:rPr>
                        <a:t>, </a:t>
                      </a:r>
                      <a:r>
                        <a:rPr lang="en-US" sz="1800" dirty="0" err="1">
                          <a:solidFill>
                            <a:srgbClr val="0000CC"/>
                          </a:solidFill>
                          <a:effectLst/>
                        </a:rPr>
                        <a:t>dễ</a:t>
                      </a:r>
                      <a:r>
                        <a:rPr lang="en-US" sz="1800" dirty="0">
                          <a:solidFill>
                            <a:srgbClr val="0000CC"/>
                          </a:solidFill>
                          <a:effectLst/>
                        </a:rPr>
                        <a:t> </a:t>
                      </a:r>
                      <a:r>
                        <a:rPr lang="en-US" sz="1800" dirty="0" err="1">
                          <a:solidFill>
                            <a:srgbClr val="0000CC"/>
                          </a:solidFill>
                          <a:effectLst/>
                        </a:rPr>
                        <a:t>tạo</a:t>
                      </a:r>
                      <a:r>
                        <a:rPr lang="en-US" sz="1800" dirty="0">
                          <a:solidFill>
                            <a:srgbClr val="0000CC"/>
                          </a:solidFill>
                          <a:effectLst/>
                        </a:rPr>
                        <a:t> </a:t>
                      </a:r>
                      <a:r>
                        <a:rPr lang="en-US" sz="1800" dirty="0" err="1">
                          <a:solidFill>
                            <a:srgbClr val="0000CC"/>
                          </a:solidFill>
                          <a:effectLst/>
                        </a:rPr>
                        <a:t>cảnh</a:t>
                      </a:r>
                      <a:r>
                        <a:rPr lang="en-US" sz="1800" dirty="0">
                          <a:solidFill>
                            <a:srgbClr val="0000CC"/>
                          </a:solidFill>
                          <a:effectLst/>
                        </a:rPr>
                        <a:t> </a:t>
                      </a:r>
                      <a:r>
                        <a:rPr lang="en-US" sz="1800" dirty="0" err="1">
                          <a:solidFill>
                            <a:srgbClr val="0000CC"/>
                          </a:solidFill>
                          <a:effectLst/>
                        </a:rPr>
                        <a:t>báo</a:t>
                      </a:r>
                      <a:r>
                        <a:rPr lang="en-US" sz="1800" dirty="0">
                          <a:solidFill>
                            <a:srgbClr val="0000CC"/>
                          </a:solidFill>
                          <a:effectLst/>
                        </a:rPr>
                        <a:t> </a:t>
                      </a:r>
                      <a:r>
                        <a:rPr lang="en-US" sz="1800" dirty="0" err="1">
                          <a:solidFill>
                            <a:srgbClr val="0000CC"/>
                          </a:solidFill>
                          <a:effectLst/>
                        </a:rPr>
                        <a:t>giả</a:t>
                      </a:r>
                      <a:r>
                        <a:rPr lang="en-US" sz="1800" dirty="0">
                          <a:solidFill>
                            <a:srgbClr val="0000CC"/>
                          </a:solidFill>
                          <a:effectLst/>
                        </a:rPr>
                        <a:t> </a:t>
                      </a:r>
                      <a:r>
                        <a:rPr lang="en-US" sz="1800" dirty="0" err="1">
                          <a:solidFill>
                            <a:srgbClr val="0000CC"/>
                          </a:solidFill>
                          <a:effectLst/>
                        </a:rPr>
                        <a:t>nếu</a:t>
                      </a:r>
                      <a:r>
                        <a:rPr lang="en-US" sz="1800" dirty="0">
                          <a:solidFill>
                            <a:srgbClr val="0000CC"/>
                          </a:solidFill>
                          <a:effectLst/>
                        </a:rPr>
                        <a:t> </a:t>
                      </a:r>
                      <a:r>
                        <a:rPr lang="en-US" sz="1800" dirty="0" err="1">
                          <a:solidFill>
                            <a:srgbClr val="0000CC"/>
                          </a:solidFill>
                          <a:effectLst/>
                        </a:rPr>
                        <a:t>luật</a:t>
                      </a:r>
                      <a:r>
                        <a:rPr lang="en-US" sz="1800" dirty="0">
                          <a:solidFill>
                            <a:srgbClr val="0000CC"/>
                          </a:solidFill>
                          <a:effectLst/>
                        </a:rPr>
                        <a:t> </a:t>
                      </a:r>
                      <a:r>
                        <a:rPr lang="en-US" sz="1800" dirty="0" err="1">
                          <a:solidFill>
                            <a:srgbClr val="0000CC"/>
                          </a:solidFill>
                          <a:effectLst/>
                        </a:rPr>
                        <a:t>không</a:t>
                      </a:r>
                      <a:r>
                        <a:rPr lang="en-US" sz="1800" dirty="0">
                          <a:solidFill>
                            <a:srgbClr val="0000CC"/>
                          </a:solidFill>
                          <a:effectLst/>
                        </a:rPr>
                        <a:t> </a:t>
                      </a:r>
                      <a:r>
                        <a:rPr lang="en-US" sz="1800" dirty="0" err="1">
                          <a:solidFill>
                            <a:srgbClr val="0000CC"/>
                          </a:solidFill>
                          <a:effectLst/>
                        </a:rPr>
                        <a:t>chuẩn</a:t>
                      </a:r>
                      <a:endParaRPr lang="en-US" sz="1800" dirty="0">
                        <a:solidFill>
                          <a:srgbClr val="0000CC"/>
                        </a:solidFill>
                        <a:effectLst/>
                        <a:latin typeface="Calibri" panose="020F0502020204030204" pitchFamily="34" charset="0"/>
                        <a:ea typeface="Calibri" panose="020F0502020204030204" pitchFamily="34" charset="0"/>
                        <a:cs typeface="Times New Roman" panose="02020603050405020304" pitchFamily="18" charset="0"/>
                      </a:endParaRPr>
                    </a:p>
                  </a:txBody>
                  <a:tcPr marL="46492" marR="46492" marT="0" marB="0" anchor="ctr"/>
                </a:tc>
                <a:extLst>
                  <a:ext uri="{0D108BD9-81ED-4DB2-BD59-A6C34878D82A}">
                    <a16:rowId xmlns:a16="http://schemas.microsoft.com/office/drawing/2014/main" val="1496262068"/>
                  </a:ext>
                </a:extLst>
              </a:tr>
              <a:tr h="824065">
                <a:tc>
                  <a:txBody>
                    <a:bodyPr/>
                    <a:lstStyle/>
                    <a:p>
                      <a:pPr algn="ctr">
                        <a:lnSpc>
                          <a:spcPct val="107000"/>
                        </a:lnSpc>
                        <a:spcAft>
                          <a:spcPts val="0"/>
                        </a:spcAft>
                      </a:pPr>
                      <a:r>
                        <a:rPr lang="en-US" sz="1800" dirty="0" err="1">
                          <a:solidFill>
                            <a:schemeClr val="bg1"/>
                          </a:solidFill>
                          <a:effectLst/>
                        </a:rPr>
                        <a:t>Ứng</a:t>
                      </a:r>
                      <a:r>
                        <a:rPr lang="en-US" sz="1800" dirty="0">
                          <a:solidFill>
                            <a:schemeClr val="bg1"/>
                          </a:solidFill>
                          <a:effectLst/>
                        </a:rPr>
                        <a:t> </a:t>
                      </a:r>
                      <a:r>
                        <a:rPr lang="en-US" sz="1800" dirty="0" err="1">
                          <a:solidFill>
                            <a:schemeClr val="bg1"/>
                          </a:solidFill>
                          <a:effectLst/>
                        </a:rPr>
                        <a:t>dụng</a:t>
                      </a:r>
                      <a:r>
                        <a:rPr lang="en-US" sz="1800" dirty="0">
                          <a:solidFill>
                            <a:schemeClr val="bg1"/>
                          </a:solidFill>
                          <a:effectLst/>
                        </a:rPr>
                        <a:t> </a:t>
                      </a:r>
                      <a:r>
                        <a:rPr lang="en-US" sz="1800" dirty="0" err="1">
                          <a:solidFill>
                            <a:schemeClr val="bg1"/>
                          </a:solidFill>
                          <a:effectLst/>
                        </a:rPr>
                        <a:t>trong</a:t>
                      </a:r>
                      <a:r>
                        <a:rPr lang="en-US" sz="1800" dirty="0">
                          <a:solidFill>
                            <a:schemeClr val="bg1"/>
                          </a:solidFill>
                          <a:effectLst/>
                        </a:rPr>
                        <a:t> </a:t>
                      </a:r>
                      <a:r>
                        <a:rPr lang="en-US" sz="1800" dirty="0" smtClean="0">
                          <a:solidFill>
                            <a:schemeClr val="bg1"/>
                          </a:solidFill>
                          <a:effectLst/>
                        </a:rPr>
                        <a:t/>
                      </a:r>
                      <a:br>
                        <a:rPr lang="en-US" sz="1800" dirty="0" smtClean="0">
                          <a:solidFill>
                            <a:schemeClr val="bg1"/>
                          </a:solidFill>
                          <a:effectLst/>
                        </a:rPr>
                      </a:br>
                      <a:r>
                        <a:rPr lang="en-US" sz="1800" dirty="0" smtClean="0">
                          <a:solidFill>
                            <a:schemeClr val="bg1"/>
                          </a:solidFill>
                          <a:effectLst/>
                        </a:rPr>
                        <a:t>E-commerce</a:t>
                      </a:r>
                      <a:endParaRPr lang="en-US" sz="18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46492" marR="46492" marT="0" marB="0" anchor="ctr"/>
                </a:tc>
                <a:tc>
                  <a:txBody>
                    <a:bodyPr/>
                    <a:lstStyle/>
                    <a:p>
                      <a:pPr>
                        <a:lnSpc>
                          <a:spcPct val="107000"/>
                        </a:lnSpc>
                        <a:spcAft>
                          <a:spcPts val="0"/>
                        </a:spcAft>
                      </a:pPr>
                      <a:r>
                        <a:rPr lang="en-US" sz="1800">
                          <a:solidFill>
                            <a:srgbClr val="0000CC"/>
                          </a:solidFill>
                          <a:effectLst/>
                        </a:rPr>
                        <a:t>Bảo vệ Web Server, Database khỏi SQL Injection, XSS đã biết</a:t>
                      </a:r>
                      <a:endParaRPr lang="en-US" sz="1800">
                        <a:solidFill>
                          <a:srgbClr val="0000CC"/>
                        </a:solidFill>
                        <a:effectLst/>
                        <a:latin typeface="Calibri" panose="020F0502020204030204" pitchFamily="34" charset="0"/>
                        <a:ea typeface="Calibri" panose="020F0502020204030204" pitchFamily="34" charset="0"/>
                        <a:cs typeface="Times New Roman" panose="02020603050405020304" pitchFamily="18" charset="0"/>
                      </a:endParaRPr>
                    </a:p>
                  </a:txBody>
                  <a:tcPr marL="46492" marR="46492" marT="0" marB="0" anchor="ctr"/>
                </a:tc>
                <a:tc>
                  <a:txBody>
                    <a:bodyPr/>
                    <a:lstStyle/>
                    <a:p>
                      <a:pPr>
                        <a:lnSpc>
                          <a:spcPct val="107000"/>
                        </a:lnSpc>
                        <a:spcAft>
                          <a:spcPts val="0"/>
                        </a:spcAft>
                      </a:pPr>
                      <a:r>
                        <a:rPr lang="en-US" sz="1800" dirty="0" err="1">
                          <a:solidFill>
                            <a:srgbClr val="0000CC"/>
                          </a:solidFill>
                          <a:effectLst/>
                        </a:rPr>
                        <a:t>Giám</a:t>
                      </a:r>
                      <a:r>
                        <a:rPr lang="en-US" sz="1800" dirty="0">
                          <a:solidFill>
                            <a:srgbClr val="0000CC"/>
                          </a:solidFill>
                          <a:effectLst/>
                        </a:rPr>
                        <a:t> </a:t>
                      </a:r>
                      <a:r>
                        <a:rPr lang="en-US" sz="1800" dirty="0" err="1">
                          <a:solidFill>
                            <a:srgbClr val="0000CC"/>
                          </a:solidFill>
                          <a:effectLst/>
                        </a:rPr>
                        <a:t>sát</a:t>
                      </a:r>
                      <a:r>
                        <a:rPr lang="en-US" sz="1800" dirty="0">
                          <a:solidFill>
                            <a:srgbClr val="0000CC"/>
                          </a:solidFill>
                          <a:effectLst/>
                        </a:rPr>
                        <a:t> </a:t>
                      </a:r>
                      <a:r>
                        <a:rPr lang="en-US" sz="1800" dirty="0" err="1">
                          <a:solidFill>
                            <a:srgbClr val="0000CC"/>
                          </a:solidFill>
                          <a:effectLst/>
                        </a:rPr>
                        <a:t>hành</a:t>
                      </a:r>
                      <a:r>
                        <a:rPr lang="en-US" sz="1800" dirty="0">
                          <a:solidFill>
                            <a:srgbClr val="0000CC"/>
                          </a:solidFill>
                          <a:effectLst/>
                        </a:rPr>
                        <a:t> vi </a:t>
                      </a:r>
                      <a:r>
                        <a:rPr lang="en-US" sz="1800" dirty="0" err="1">
                          <a:solidFill>
                            <a:srgbClr val="0000CC"/>
                          </a:solidFill>
                          <a:effectLst/>
                        </a:rPr>
                        <a:t>như</a:t>
                      </a:r>
                      <a:r>
                        <a:rPr lang="en-US" sz="1800" dirty="0">
                          <a:solidFill>
                            <a:srgbClr val="0000CC"/>
                          </a:solidFill>
                          <a:effectLst/>
                        </a:rPr>
                        <a:t> brute force login, </a:t>
                      </a:r>
                      <a:r>
                        <a:rPr lang="en-US" sz="1800" dirty="0" err="1">
                          <a:solidFill>
                            <a:srgbClr val="0000CC"/>
                          </a:solidFill>
                          <a:effectLst/>
                        </a:rPr>
                        <a:t>quét</a:t>
                      </a:r>
                      <a:r>
                        <a:rPr lang="en-US" sz="1800" dirty="0">
                          <a:solidFill>
                            <a:srgbClr val="0000CC"/>
                          </a:solidFill>
                          <a:effectLst/>
                        </a:rPr>
                        <a:t> </a:t>
                      </a:r>
                      <a:r>
                        <a:rPr lang="en-US" sz="1800" dirty="0" err="1">
                          <a:solidFill>
                            <a:srgbClr val="0000CC"/>
                          </a:solidFill>
                          <a:effectLst/>
                        </a:rPr>
                        <a:t>cổng</a:t>
                      </a:r>
                      <a:r>
                        <a:rPr lang="en-US" sz="1800" dirty="0">
                          <a:solidFill>
                            <a:srgbClr val="0000CC"/>
                          </a:solidFill>
                          <a:effectLst/>
                        </a:rPr>
                        <a:t> </a:t>
                      </a:r>
                      <a:r>
                        <a:rPr lang="en-US" sz="1800" dirty="0" err="1">
                          <a:solidFill>
                            <a:srgbClr val="0000CC"/>
                          </a:solidFill>
                          <a:effectLst/>
                        </a:rPr>
                        <a:t>vào</a:t>
                      </a:r>
                      <a:r>
                        <a:rPr lang="en-US" sz="1800" dirty="0">
                          <a:solidFill>
                            <a:srgbClr val="0000CC"/>
                          </a:solidFill>
                          <a:effectLst/>
                        </a:rPr>
                        <a:t> </a:t>
                      </a:r>
                      <a:r>
                        <a:rPr lang="en-US" sz="1800" dirty="0" err="1">
                          <a:solidFill>
                            <a:srgbClr val="0000CC"/>
                          </a:solidFill>
                          <a:effectLst/>
                        </a:rPr>
                        <a:t>hệ</a:t>
                      </a:r>
                      <a:r>
                        <a:rPr lang="en-US" sz="1800" dirty="0">
                          <a:solidFill>
                            <a:srgbClr val="0000CC"/>
                          </a:solidFill>
                          <a:effectLst/>
                        </a:rPr>
                        <a:t> </a:t>
                      </a:r>
                      <a:r>
                        <a:rPr lang="en-US" sz="1800" dirty="0" err="1">
                          <a:solidFill>
                            <a:srgbClr val="0000CC"/>
                          </a:solidFill>
                          <a:effectLst/>
                        </a:rPr>
                        <a:t>thống</a:t>
                      </a:r>
                      <a:r>
                        <a:rPr lang="en-US" sz="1800" dirty="0">
                          <a:solidFill>
                            <a:srgbClr val="0000CC"/>
                          </a:solidFill>
                          <a:effectLst/>
                        </a:rPr>
                        <a:t> E-commerce</a:t>
                      </a:r>
                      <a:endParaRPr lang="en-US" sz="1800" dirty="0">
                        <a:solidFill>
                          <a:srgbClr val="0000CC"/>
                        </a:solidFill>
                        <a:effectLst/>
                        <a:latin typeface="Calibri" panose="020F0502020204030204" pitchFamily="34" charset="0"/>
                        <a:ea typeface="Calibri" panose="020F0502020204030204" pitchFamily="34" charset="0"/>
                        <a:cs typeface="Times New Roman" panose="02020603050405020304" pitchFamily="18" charset="0"/>
                      </a:endParaRPr>
                    </a:p>
                  </a:txBody>
                  <a:tcPr marL="46492" marR="46492" marT="0" marB="0" anchor="ctr"/>
                </a:tc>
                <a:extLst>
                  <a:ext uri="{0D108BD9-81ED-4DB2-BD59-A6C34878D82A}">
                    <a16:rowId xmlns:a16="http://schemas.microsoft.com/office/drawing/2014/main" val="2888959253"/>
                  </a:ext>
                </a:extLst>
              </a:tr>
            </a:tbl>
          </a:graphicData>
        </a:graphic>
      </p:graphicFrame>
    </p:spTree>
    <p:extLst>
      <p:ext uri="{BB962C8B-B14F-4D97-AF65-F5344CB8AC3E}">
        <p14:creationId xmlns:p14="http://schemas.microsoft.com/office/powerpoint/2010/main" val="1613362970"/>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600" y="519092"/>
            <a:ext cx="10242645" cy="528851"/>
          </a:xfrm>
        </p:spPr>
        <p:txBody>
          <a:bodyPr/>
          <a:lstStyle/>
          <a:p>
            <a:r>
              <a:rPr lang="en-US" sz="2800" b="1" dirty="0">
                <a:solidFill>
                  <a:srgbClr val="0000CC"/>
                </a:solidFill>
                <a:latin typeface="Rockwell" panose="02060603020205020403" pitchFamily="18" charset="0"/>
              </a:rPr>
              <a:t>7</a:t>
            </a:r>
            <a:r>
              <a:rPr lang="en-US" sz="2800" b="1" dirty="0" smtClean="0">
                <a:solidFill>
                  <a:srgbClr val="0000CC"/>
                </a:solidFill>
                <a:latin typeface="Rockwell" panose="02060603020205020403" pitchFamily="18" charset="0"/>
              </a:rPr>
              <a:t>.3.</a:t>
            </a:r>
            <a:r>
              <a:rPr lang="vi-VN"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Chức</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năng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và</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mục</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đích</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sử</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dụng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của</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IDS</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600" y="993351"/>
            <a:ext cx="9587552" cy="4382729"/>
          </a:xfrm>
        </p:spPr>
        <p:txBody>
          <a:bodyPr/>
          <a:lstStyle/>
          <a:p>
            <a:pPr marL="0" indent="0">
              <a:spcBef>
                <a:spcPts val="600"/>
              </a:spcBef>
              <a:buNone/>
            </a:pPr>
            <a:r>
              <a:rPr lang="en-US" dirty="0" err="1" smtClean="0">
                <a:solidFill>
                  <a:srgbClr val="0000CC"/>
                </a:solidFill>
                <a:latin typeface="Rockwell" panose="02060603020205020403" pitchFamily="18" charset="0"/>
                <a:ea typeface="+mj-ea"/>
                <a:cs typeface="+mj-cs"/>
              </a:rPr>
              <a:t>Ví</a:t>
            </a:r>
            <a:r>
              <a:rPr lang="en-US" dirty="0" smtClean="0">
                <a:solidFill>
                  <a:srgbClr val="0000CC"/>
                </a:solidFill>
                <a:latin typeface="Rockwell" panose="02060603020205020403" pitchFamily="18" charset="0"/>
                <a:ea typeface="+mj-ea"/>
                <a:cs typeface="+mj-cs"/>
              </a:rPr>
              <a:t> </a:t>
            </a:r>
            <a:r>
              <a:rPr lang="en-US" dirty="0" err="1" smtClean="0">
                <a:solidFill>
                  <a:srgbClr val="0000CC"/>
                </a:solidFill>
                <a:latin typeface="Rockwell" panose="02060603020205020403" pitchFamily="18" charset="0"/>
                <a:ea typeface="+mj-ea"/>
                <a:cs typeface="+mj-cs"/>
              </a:rPr>
              <a:t>dụ</a:t>
            </a:r>
            <a:r>
              <a:rPr lang="en-US" dirty="0" smtClean="0">
                <a:solidFill>
                  <a:srgbClr val="0000CC"/>
                </a:solidFill>
                <a:latin typeface="Rockwell" panose="02060603020205020403" pitchFamily="18" charset="0"/>
                <a:ea typeface="+mj-ea"/>
                <a:cs typeface="+mj-cs"/>
              </a:rPr>
              <a:t> </a:t>
            </a:r>
            <a:r>
              <a:rPr lang="en-US" dirty="0" err="1" smtClean="0">
                <a:solidFill>
                  <a:srgbClr val="0000CC"/>
                </a:solidFill>
                <a:latin typeface="Rockwell" panose="02060603020205020403" pitchFamily="18" charset="0"/>
                <a:ea typeface="+mj-ea"/>
                <a:cs typeface="+mj-cs"/>
              </a:rPr>
              <a:t>về</a:t>
            </a:r>
            <a:r>
              <a:rPr lang="en-US" dirty="0" smtClean="0">
                <a:solidFill>
                  <a:srgbClr val="0000CC"/>
                </a:solidFill>
                <a:latin typeface="Rockwell" panose="02060603020205020403" pitchFamily="18" charset="0"/>
                <a:ea typeface="+mj-ea"/>
                <a:cs typeface="+mj-cs"/>
              </a:rPr>
              <a:t> Database </a:t>
            </a:r>
            <a:r>
              <a:rPr lang="en-US" dirty="0" err="1">
                <a:solidFill>
                  <a:srgbClr val="0000CC"/>
                </a:solidFill>
                <a:latin typeface="Rockwell" panose="02060603020205020403" pitchFamily="18" charset="0"/>
                <a:ea typeface="+mj-ea"/>
                <a:cs typeface="+mj-cs"/>
              </a:rPr>
              <a:t>chữ</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ký</a:t>
            </a:r>
            <a:r>
              <a:rPr lang="en-US" dirty="0">
                <a:solidFill>
                  <a:srgbClr val="0000CC"/>
                </a:solidFill>
                <a:latin typeface="Rockwell" panose="02060603020205020403" pitchFamily="18" charset="0"/>
                <a:ea typeface="+mj-ea"/>
                <a:cs typeface="+mj-cs"/>
              </a:rPr>
              <a:t> </a:t>
            </a:r>
            <a:r>
              <a:rPr lang="en-US" dirty="0" err="1" smtClean="0">
                <a:solidFill>
                  <a:srgbClr val="0000CC"/>
                </a:solidFill>
                <a:latin typeface="Rockwell" panose="02060603020205020403" pitchFamily="18" charset="0"/>
                <a:ea typeface="+mj-ea"/>
                <a:cs typeface="+mj-cs"/>
              </a:rPr>
              <a:t>trong</a:t>
            </a:r>
            <a:r>
              <a:rPr lang="en-US" dirty="0" smtClean="0">
                <a:solidFill>
                  <a:srgbClr val="0000CC"/>
                </a:solidFill>
                <a:latin typeface="Rockwell" panose="02060603020205020403" pitchFamily="18" charset="0"/>
                <a:ea typeface="+mj-ea"/>
                <a:cs typeface="+mj-cs"/>
              </a:rPr>
              <a:t> IDS</a:t>
            </a:r>
          </a:p>
          <a:p>
            <a:pPr marL="0" indent="0">
              <a:spcBef>
                <a:spcPts val="600"/>
              </a:spcBef>
              <a:buNone/>
            </a:pPr>
            <a:endParaRPr lang="en-US" dirty="0" smtClean="0">
              <a:solidFill>
                <a:srgbClr val="0000CC"/>
              </a:solidFill>
              <a:latin typeface="Rockwell" panose="02060603020205020403" pitchFamily="18" charset="0"/>
              <a:ea typeface="+mj-ea"/>
              <a:cs typeface="+mj-cs"/>
            </a:endParaRPr>
          </a:p>
          <a:p>
            <a:pPr marL="0" indent="0">
              <a:spcBef>
                <a:spcPts val="600"/>
              </a:spcBef>
              <a:buNone/>
            </a:pPr>
            <a:endParaRPr lang="vi-VN" dirty="0">
              <a:solidFill>
                <a:srgbClr val="0000CC"/>
              </a:solidFill>
              <a:latin typeface="Rockwell" panose="02060603020205020403" pitchFamily="18" charset="0"/>
              <a:ea typeface="+mj-ea"/>
              <a:cs typeface="+mj-cs"/>
            </a:endParaRPr>
          </a:p>
        </p:txBody>
      </p:sp>
      <p:graphicFrame>
        <p:nvGraphicFramePr>
          <p:cNvPr id="4" name="Table 3"/>
          <p:cNvGraphicFramePr>
            <a:graphicFrameLocks noGrp="1"/>
          </p:cNvGraphicFramePr>
          <p:nvPr>
            <p:extLst>
              <p:ext uri="{D42A27DB-BD31-4B8C-83A1-F6EECF244321}">
                <p14:modId xmlns:p14="http://schemas.microsoft.com/office/powerpoint/2010/main" val="1961102796"/>
              </p:ext>
            </p:extLst>
          </p:nvPr>
        </p:nvGraphicFramePr>
        <p:xfrm>
          <a:off x="1371600" y="1419367"/>
          <a:ext cx="10242646" cy="5131557"/>
        </p:xfrm>
        <a:graphic>
          <a:graphicData uri="http://schemas.openxmlformats.org/drawingml/2006/table">
            <a:tbl>
              <a:tblPr>
                <a:tableStyleId>{35758FB7-9AC5-4552-8A53-C91805E547FA}</a:tableStyleId>
              </a:tblPr>
              <a:tblGrid>
                <a:gridCol w="774794">
                  <a:extLst>
                    <a:ext uri="{9D8B030D-6E8A-4147-A177-3AD203B41FA5}">
                      <a16:colId xmlns:a16="http://schemas.microsoft.com/office/drawing/2014/main" val="2449829693"/>
                    </a:ext>
                  </a:extLst>
                </a:gridCol>
                <a:gridCol w="1847379">
                  <a:extLst>
                    <a:ext uri="{9D8B030D-6E8A-4147-A177-3AD203B41FA5}">
                      <a16:colId xmlns:a16="http://schemas.microsoft.com/office/drawing/2014/main" val="3543260923"/>
                    </a:ext>
                  </a:extLst>
                </a:gridCol>
                <a:gridCol w="4822681">
                  <a:extLst>
                    <a:ext uri="{9D8B030D-6E8A-4147-A177-3AD203B41FA5}">
                      <a16:colId xmlns:a16="http://schemas.microsoft.com/office/drawing/2014/main" val="1935059330"/>
                    </a:ext>
                  </a:extLst>
                </a:gridCol>
                <a:gridCol w="2797792">
                  <a:extLst>
                    <a:ext uri="{9D8B030D-6E8A-4147-A177-3AD203B41FA5}">
                      <a16:colId xmlns:a16="http://schemas.microsoft.com/office/drawing/2014/main" val="2709133503"/>
                    </a:ext>
                  </a:extLst>
                </a:gridCol>
              </a:tblGrid>
              <a:tr h="331643">
                <a:tc>
                  <a:txBody>
                    <a:bodyPr/>
                    <a:lstStyle/>
                    <a:p>
                      <a:pPr algn="ctr">
                        <a:spcBef>
                          <a:spcPts val="600"/>
                        </a:spcBef>
                        <a:spcAft>
                          <a:spcPts val="600"/>
                        </a:spcAft>
                      </a:pPr>
                      <a:r>
                        <a:rPr lang="en-US" sz="1800" b="1" dirty="0" err="1">
                          <a:solidFill>
                            <a:srgbClr val="0000CC"/>
                          </a:solidFill>
                        </a:rPr>
                        <a:t>STT</a:t>
                      </a:r>
                      <a:endParaRPr lang="en-US" sz="1800" b="1" dirty="0">
                        <a:solidFill>
                          <a:srgbClr val="0000CC"/>
                        </a:solidFill>
                      </a:endParaRPr>
                    </a:p>
                  </a:txBody>
                  <a:tcPr marL="44215" marR="44215" marT="22107" marB="22107" anchor="ctr"/>
                </a:tc>
                <a:tc>
                  <a:txBody>
                    <a:bodyPr/>
                    <a:lstStyle/>
                    <a:p>
                      <a:pPr algn="ctr">
                        <a:spcBef>
                          <a:spcPts val="600"/>
                        </a:spcBef>
                        <a:spcAft>
                          <a:spcPts val="600"/>
                        </a:spcAft>
                      </a:pPr>
                      <a:r>
                        <a:rPr lang="en-US" sz="1800" b="1" dirty="0" err="1">
                          <a:solidFill>
                            <a:srgbClr val="0000CC"/>
                          </a:solidFill>
                        </a:rPr>
                        <a:t>Loại</a:t>
                      </a:r>
                      <a:r>
                        <a:rPr lang="en-US" sz="1800" b="1" dirty="0">
                          <a:solidFill>
                            <a:srgbClr val="0000CC"/>
                          </a:solidFill>
                        </a:rPr>
                        <a:t> </a:t>
                      </a:r>
                      <a:r>
                        <a:rPr lang="en-US" sz="1800" b="1" dirty="0" err="1">
                          <a:solidFill>
                            <a:srgbClr val="0000CC"/>
                          </a:solidFill>
                        </a:rPr>
                        <a:t>tấn</a:t>
                      </a:r>
                      <a:r>
                        <a:rPr lang="en-US" sz="1800" b="1" dirty="0">
                          <a:solidFill>
                            <a:srgbClr val="0000CC"/>
                          </a:solidFill>
                        </a:rPr>
                        <a:t> </a:t>
                      </a:r>
                      <a:r>
                        <a:rPr lang="en-US" sz="1800" b="1" dirty="0" err="1">
                          <a:solidFill>
                            <a:srgbClr val="0000CC"/>
                          </a:solidFill>
                        </a:rPr>
                        <a:t>công</a:t>
                      </a:r>
                      <a:endParaRPr lang="en-US" sz="1800" b="1" dirty="0">
                        <a:solidFill>
                          <a:srgbClr val="0000CC"/>
                        </a:solidFill>
                      </a:endParaRPr>
                    </a:p>
                  </a:txBody>
                  <a:tcPr marL="44215" marR="44215" marT="22107" marB="22107" anchor="ctr"/>
                </a:tc>
                <a:tc>
                  <a:txBody>
                    <a:bodyPr/>
                    <a:lstStyle/>
                    <a:p>
                      <a:pPr algn="ctr">
                        <a:spcBef>
                          <a:spcPts val="600"/>
                        </a:spcBef>
                        <a:spcAft>
                          <a:spcPts val="600"/>
                        </a:spcAft>
                      </a:pPr>
                      <a:r>
                        <a:rPr lang="en-US" sz="1800" b="1" dirty="0" err="1">
                          <a:solidFill>
                            <a:srgbClr val="0000CC"/>
                          </a:solidFill>
                        </a:rPr>
                        <a:t>Mẫu</a:t>
                      </a:r>
                      <a:r>
                        <a:rPr lang="en-US" sz="1800" b="1" dirty="0">
                          <a:solidFill>
                            <a:srgbClr val="0000CC"/>
                          </a:solidFill>
                        </a:rPr>
                        <a:t> </a:t>
                      </a:r>
                      <a:r>
                        <a:rPr lang="en-US" sz="1800" b="1" dirty="0" err="1">
                          <a:solidFill>
                            <a:srgbClr val="0000CC"/>
                          </a:solidFill>
                        </a:rPr>
                        <a:t>chữ</a:t>
                      </a:r>
                      <a:r>
                        <a:rPr lang="en-US" sz="1800" b="1" dirty="0">
                          <a:solidFill>
                            <a:srgbClr val="0000CC"/>
                          </a:solidFill>
                        </a:rPr>
                        <a:t> </a:t>
                      </a:r>
                      <a:r>
                        <a:rPr lang="en-US" sz="1800" b="1" dirty="0" err="1">
                          <a:solidFill>
                            <a:srgbClr val="0000CC"/>
                          </a:solidFill>
                        </a:rPr>
                        <a:t>ký</a:t>
                      </a:r>
                      <a:r>
                        <a:rPr lang="en-US" sz="1800" b="1" dirty="0">
                          <a:solidFill>
                            <a:srgbClr val="0000CC"/>
                          </a:solidFill>
                        </a:rPr>
                        <a:t> (Signature Rule)</a:t>
                      </a:r>
                    </a:p>
                  </a:txBody>
                  <a:tcPr marL="44215" marR="44215" marT="22107" marB="22107" anchor="ctr"/>
                </a:tc>
                <a:tc>
                  <a:txBody>
                    <a:bodyPr/>
                    <a:lstStyle/>
                    <a:p>
                      <a:pPr algn="ctr">
                        <a:spcBef>
                          <a:spcPts val="600"/>
                        </a:spcBef>
                        <a:spcAft>
                          <a:spcPts val="600"/>
                        </a:spcAft>
                      </a:pPr>
                      <a:r>
                        <a:rPr lang="en-US" sz="1800" b="1" dirty="0">
                          <a:solidFill>
                            <a:srgbClr val="0000CC"/>
                          </a:solidFill>
                        </a:rPr>
                        <a:t>Ý </a:t>
                      </a:r>
                      <a:r>
                        <a:rPr lang="en-US" sz="1800" b="1" dirty="0" err="1">
                          <a:solidFill>
                            <a:srgbClr val="0000CC"/>
                          </a:solidFill>
                        </a:rPr>
                        <a:t>nghĩa</a:t>
                      </a:r>
                      <a:endParaRPr lang="en-US" sz="1800" b="1" dirty="0">
                        <a:solidFill>
                          <a:srgbClr val="0000CC"/>
                        </a:solidFill>
                      </a:endParaRPr>
                    </a:p>
                  </a:txBody>
                  <a:tcPr marL="44215" marR="44215" marT="22107" marB="22107" anchor="ctr"/>
                </a:tc>
                <a:extLst>
                  <a:ext uri="{0D108BD9-81ED-4DB2-BD59-A6C34878D82A}">
                    <a16:rowId xmlns:a16="http://schemas.microsoft.com/office/drawing/2014/main" val="4126491643"/>
                  </a:ext>
                </a:extLst>
              </a:tr>
              <a:tr h="902861">
                <a:tc>
                  <a:txBody>
                    <a:bodyPr/>
                    <a:lstStyle/>
                    <a:p>
                      <a:pPr algn="ctr">
                        <a:spcBef>
                          <a:spcPts val="600"/>
                        </a:spcBef>
                        <a:spcAft>
                          <a:spcPts val="600"/>
                        </a:spcAft>
                      </a:pPr>
                      <a:r>
                        <a:rPr lang="en-US" sz="1800" dirty="0">
                          <a:solidFill>
                            <a:srgbClr val="0000CC"/>
                          </a:solidFill>
                        </a:rPr>
                        <a:t>1</a:t>
                      </a:r>
                    </a:p>
                  </a:txBody>
                  <a:tcPr marL="44215" marR="44215" marT="22107" marB="22107" anchor="ctr"/>
                </a:tc>
                <a:tc>
                  <a:txBody>
                    <a:bodyPr/>
                    <a:lstStyle/>
                    <a:p>
                      <a:pPr algn="ctr">
                        <a:spcBef>
                          <a:spcPts val="600"/>
                        </a:spcBef>
                        <a:spcAft>
                          <a:spcPts val="600"/>
                        </a:spcAft>
                      </a:pPr>
                      <a:r>
                        <a:rPr lang="en-US" sz="1800" dirty="0">
                          <a:solidFill>
                            <a:srgbClr val="0000CC"/>
                          </a:solidFill>
                        </a:rPr>
                        <a:t>Port Scan (</a:t>
                      </a:r>
                      <a:r>
                        <a:rPr lang="en-US" sz="1800" dirty="0" err="1">
                          <a:solidFill>
                            <a:srgbClr val="0000CC"/>
                          </a:solidFill>
                        </a:rPr>
                        <a:t>Nmap</a:t>
                      </a:r>
                      <a:r>
                        <a:rPr lang="en-US" sz="1800" dirty="0">
                          <a:solidFill>
                            <a:srgbClr val="0000CC"/>
                          </a:solidFill>
                        </a:rPr>
                        <a:t>)</a:t>
                      </a:r>
                    </a:p>
                  </a:txBody>
                  <a:tcPr marL="44215" marR="44215" marT="22107" marB="22107" anchor="ctr"/>
                </a:tc>
                <a:tc>
                  <a:txBody>
                    <a:bodyPr/>
                    <a:lstStyle/>
                    <a:p>
                      <a:pPr>
                        <a:spcBef>
                          <a:spcPts val="600"/>
                        </a:spcBef>
                        <a:spcAft>
                          <a:spcPts val="600"/>
                        </a:spcAft>
                      </a:pPr>
                      <a:r>
                        <a:rPr lang="en-US" sz="1800" dirty="0">
                          <a:solidFill>
                            <a:srgbClr val="FF00FF"/>
                          </a:solidFill>
                        </a:rPr>
                        <a:t>alert </a:t>
                      </a:r>
                      <a:r>
                        <a:rPr lang="en-US" sz="1800" dirty="0" err="1">
                          <a:solidFill>
                            <a:srgbClr val="FF00FF"/>
                          </a:solidFill>
                        </a:rPr>
                        <a:t>tcp</a:t>
                      </a:r>
                      <a:r>
                        <a:rPr lang="en-US" sz="1800" dirty="0">
                          <a:solidFill>
                            <a:srgbClr val="FF00FF"/>
                          </a:solidFill>
                        </a:rPr>
                        <a:t> any any -&gt; any 80 (</a:t>
                      </a:r>
                      <a:r>
                        <a:rPr lang="en-US" sz="1800" dirty="0" err="1">
                          <a:solidFill>
                            <a:srgbClr val="FF00FF"/>
                          </a:solidFill>
                        </a:rPr>
                        <a:t>flags:S</a:t>
                      </a:r>
                      <a:r>
                        <a:rPr lang="en-US" sz="1800" dirty="0">
                          <a:solidFill>
                            <a:srgbClr val="FF00FF"/>
                          </a:solidFill>
                        </a:rPr>
                        <a:t>; </a:t>
                      </a:r>
                      <a:r>
                        <a:rPr lang="en-US" sz="1800" dirty="0" err="1">
                          <a:solidFill>
                            <a:srgbClr val="FF00FF"/>
                          </a:solidFill>
                        </a:rPr>
                        <a:t>msg</a:t>
                      </a:r>
                      <a:r>
                        <a:rPr lang="en-US" sz="1800" dirty="0">
                          <a:solidFill>
                            <a:srgbClr val="FF00FF"/>
                          </a:solidFill>
                        </a:rPr>
                        <a:t>:"</a:t>
                      </a:r>
                      <a:r>
                        <a:rPr lang="en-US" sz="1800" dirty="0" err="1">
                          <a:solidFill>
                            <a:srgbClr val="FF00FF"/>
                          </a:solidFill>
                        </a:rPr>
                        <a:t>Nmap</a:t>
                      </a:r>
                      <a:r>
                        <a:rPr lang="en-US" sz="1800" dirty="0">
                          <a:solidFill>
                            <a:srgbClr val="FF00FF"/>
                          </a:solidFill>
                        </a:rPr>
                        <a:t> TCP </a:t>
                      </a:r>
                      <a:r>
                        <a:rPr lang="en-US" sz="1800" dirty="0" err="1">
                          <a:solidFill>
                            <a:srgbClr val="FF00FF"/>
                          </a:solidFill>
                        </a:rPr>
                        <a:t>SYN</a:t>
                      </a:r>
                      <a:r>
                        <a:rPr lang="en-US" sz="1800" dirty="0">
                          <a:solidFill>
                            <a:srgbClr val="FF00FF"/>
                          </a:solidFill>
                        </a:rPr>
                        <a:t> scan detected";)</a:t>
                      </a:r>
                    </a:p>
                  </a:txBody>
                  <a:tcPr marL="44215" marR="44215" marT="22107" marB="22107" anchor="ctr"/>
                </a:tc>
                <a:tc>
                  <a:txBody>
                    <a:bodyPr/>
                    <a:lstStyle/>
                    <a:p>
                      <a:pPr>
                        <a:spcBef>
                          <a:spcPts val="600"/>
                        </a:spcBef>
                        <a:spcAft>
                          <a:spcPts val="600"/>
                        </a:spcAft>
                      </a:pPr>
                      <a:r>
                        <a:rPr lang="vi-VN" sz="1800" dirty="0">
                          <a:solidFill>
                            <a:srgbClr val="0000CC"/>
                          </a:solidFill>
                        </a:rPr>
                        <a:t>Nếu có nhiều gói SYN bất thường đến cổng </a:t>
                      </a:r>
                      <a:r>
                        <a:rPr lang="vi-VN" sz="1800" dirty="0" smtClean="0">
                          <a:solidFill>
                            <a:srgbClr val="0000CC"/>
                          </a:solidFill>
                        </a:rPr>
                        <a:t>80</a:t>
                      </a:r>
                      <a:r>
                        <a:rPr lang="en-US" sz="1800" dirty="0" smtClean="0">
                          <a:solidFill>
                            <a:srgbClr val="0000CC"/>
                          </a:solidFill>
                        </a:rPr>
                        <a:t>:</a:t>
                      </a:r>
                      <a:r>
                        <a:rPr lang="en-US" sz="1800" baseline="0" dirty="0" smtClean="0">
                          <a:solidFill>
                            <a:srgbClr val="0000CC"/>
                          </a:solidFill>
                        </a:rPr>
                        <a:t> N</a:t>
                      </a:r>
                      <a:r>
                        <a:rPr lang="vi-VN" sz="1800" dirty="0" smtClean="0">
                          <a:solidFill>
                            <a:srgbClr val="0000CC"/>
                          </a:solidFill>
                        </a:rPr>
                        <a:t>ghi </a:t>
                      </a:r>
                      <a:r>
                        <a:rPr lang="vi-VN" sz="1800" dirty="0">
                          <a:solidFill>
                            <a:srgbClr val="0000CC"/>
                          </a:solidFill>
                        </a:rPr>
                        <a:t>ngờ scan.</a:t>
                      </a:r>
                    </a:p>
                  </a:txBody>
                  <a:tcPr marL="44215" marR="44215" marT="22107" marB="22107" anchor="ctr"/>
                </a:tc>
                <a:extLst>
                  <a:ext uri="{0D108BD9-81ED-4DB2-BD59-A6C34878D82A}">
                    <a16:rowId xmlns:a16="http://schemas.microsoft.com/office/drawing/2014/main" val="3295250214"/>
                  </a:ext>
                </a:extLst>
              </a:tr>
              <a:tr h="902861">
                <a:tc>
                  <a:txBody>
                    <a:bodyPr/>
                    <a:lstStyle/>
                    <a:p>
                      <a:pPr algn="ctr">
                        <a:spcBef>
                          <a:spcPts val="600"/>
                        </a:spcBef>
                        <a:spcAft>
                          <a:spcPts val="600"/>
                        </a:spcAft>
                      </a:pPr>
                      <a:r>
                        <a:rPr lang="en-US" sz="1800" dirty="0">
                          <a:solidFill>
                            <a:srgbClr val="0000CC"/>
                          </a:solidFill>
                        </a:rPr>
                        <a:t>2</a:t>
                      </a:r>
                    </a:p>
                  </a:txBody>
                  <a:tcPr marL="44215" marR="44215" marT="22107" marB="22107" anchor="ctr"/>
                </a:tc>
                <a:tc>
                  <a:txBody>
                    <a:bodyPr/>
                    <a:lstStyle/>
                    <a:p>
                      <a:pPr algn="ctr">
                        <a:spcBef>
                          <a:spcPts val="600"/>
                        </a:spcBef>
                        <a:spcAft>
                          <a:spcPts val="600"/>
                        </a:spcAft>
                      </a:pPr>
                      <a:r>
                        <a:rPr lang="en-US" sz="1800" dirty="0">
                          <a:solidFill>
                            <a:srgbClr val="0000CC"/>
                          </a:solidFill>
                        </a:rPr>
                        <a:t>SQL Injection</a:t>
                      </a:r>
                    </a:p>
                  </a:txBody>
                  <a:tcPr marL="44215" marR="44215" marT="22107" marB="22107" anchor="ctr"/>
                </a:tc>
                <a:tc>
                  <a:txBody>
                    <a:bodyPr/>
                    <a:lstStyle/>
                    <a:p>
                      <a:pPr>
                        <a:spcBef>
                          <a:spcPts val="600"/>
                        </a:spcBef>
                        <a:spcAft>
                          <a:spcPts val="600"/>
                        </a:spcAft>
                      </a:pPr>
                      <a:r>
                        <a:rPr lang="en-US" sz="1800" dirty="0">
                          <a:solidFill>
                            <a:srgbClr val="FF00FF"/>
                          </a:solidFill>
                        </a:rPr>
                        <a:t>alert </a:t>
                      </a:r>
                      <a:r>
                        <a:rPr lang="en-US" sz="1800" dirty="0" err="1">
                          <a:solidFill>
                            <a:srgbClr val="FF00FF"/>
                          </a:solidFill>
                        </a:rPr>
                        <a:t>tcp</a:t>
                      </a:r>
                      <a:r>
                        <a:rPr lang="en-US" sz="1800" dirty="0">
                          <a:solidFill>
                            <a:srgbClr val="FF00FF"/>
                          </a:solidFill>
                        </a:rPr>
                        <a:t> any any -&gt; any 80 (content:"' OR '1'='1"; </a:t>
                      </a:r>
                      <a:r>
                        <a:rPr lang="en-US" sz="1800" dirty="0" err="1">
                          <a:solidFill>
                            <a:srgbClr val="FF00FF"/>
                          </a:solidFill>
                        </a:rPr>
                        <a:t>msg</a:t>
                      </a:r>
                      <a:r>
                        <a:rPr lang="en-US" sz="1800" dirty="0">
                          <a:solidFill>
                            <a:srgbClr val="FF00FF"/>
                          </a:solidFill>
                        </a:rPr>
                        <a:t>:"SQL Injection attempt";)</a:t>
                      </a:r>
                    </a:p>
                  </a:txBody>
                  <a:tcPr marL="44215" marR="44215" marT="22107" marB="22107" anchor="ctr"/>
                </a:tc>
                <a:tc>
                  <a:txBody>
                    <a:bodyPr/>
                    <a:lstStyle/>
                    <a:p>
                      <a:pPr>
                        <a:spcBef>
                          <a:spcPts val="600"/>
                        </a:spcBef>
                        <a:spcAft>
                          <a:spcPts val="600"/>
                        </a:spcAft>
                      </a:pPr>
                      <a:r>
                        <a:rPr lang="en-US" sz="1800">
                          <a:solidFill>
                            <a:srgbClr val="0000CC"/>
                          </a:solidFill>
                        </a:rPr>
                        <a:t>Phát hiện payload chứa chuỗi ' OR '1'='1 trong HTTP request.</a:t>
                      </a:r>
                    </a:p>
                  </a:txBody>
                  <a:tcPr marL="44215" marR="44215" marT="22107" marB="22107" anchor="ctr"/>
                </a:tc>
                <a:extLst>
                  <a:ext uri="{0D108BD9-81ED-4DB2-BD59-A6C34878D82A}">
                    <a16:rowId xmlns:a16="http://schemas.microsoft.com/office/drawing/2014/main" val="177613120"/>
                  </a:ext>
                </a:extLst>
              </a:tr>
              <a:tr h="1188470">
                <a:tc>
                  <a:txBody>
                    <a:bodyPr/>
                    <a:lstStyle/>
                    <a:p>
                      <a:pPr algn="ctr">
                        <a:spcBef>
                          <a:spcPts val="600"/>
                        </a:spcBef>
                        <a:spcAft>
                          <a:spcPts val="600"/>
                        </a:spcAft>
                      </a:pPr>
                      <a:r>
                        <a:rPr lang="en-US" sz="1800" dirty="0">
                          <a:solidFill>
                            <a:srgbClr val="0000CC"/>
                          </a:solidFill>
                        </a:rPr>
                        <a:t>3</a:t>
                      </a:r>
                    </a:p>
                  </a:txBody>
                  <a:tcPr marL="44215" marR="44215" marT="22107" marB="22107" anchor="ctr"/>
                </a:tc>
                <a:tc>
                  <a:txBody>
                    <a:bodyPr/>
                    <a:lstStyle/>
                    <a:p>
                      <a:pPr algn="ctr">
                        <a:spcBef>
                          <a:spcPts val="600"/>
                        </a:spcBef>
                        <a:spcAft>
                          <a:spcPts val="600"/>
                        </a:spcAft>
                      </a:pPr>
                      <a:r>
                        <a:rPr lang="en-US" sz="1800" dirty="0">
                          <a:solidFill>
                            <a:srgbClr val="0000CC"/>
                          </a:solidFill>
                        </a:rPr>
                        <a:t>Buffer Overflow</a:t>
                      </a:r>
                    </a:p>
                  </a:txBody>
                  <a:tcPr marL="44215" marR="44215" marT="22107" marB="22107" anchor="ctr"/>
                </a:tc>
                <a:tc>
                  <a:txBody>
                    <a:bodyPr/>
                    <a:lstStyle/>
                    <a:p>
                      <a:pPr>
                        <a:spcBef>
                          <a:spcPts val="600"/>
                        </a:spcBef>
                        <a:spcAft>
                          <a:spcPts val="600"/>
                        </a:spcAft>
                      </a:pPr>
                      <a:r>
                        <a:rPr lang="en-US" sz="1800" dirty="0">
                          <a:solidFill>
                            <a:srgbClr val="FF00FF"/>
                          </a:solidFill>
                        </a:rPr>
                        <a:t>alert </a:t>
                      </a:r>
                      <a:r>
                        <a:rPr lang="en-US" sz="1800" dirty="0" err="1">
                          <a:solidFill>
                            <a:srgbClr val="FF00FF"/>
                          </a:solidFill>
                        </a:rPr>
                        <a:t>tcp</a:t>
                      </a:r>
                      <a:r>
                        <a:rPr lang="en-US" sz="1800" dirty="0">
                          <a:solidFill>
                            <a:srgbClr val="FF00FF"/>
                          </a:solidFill>
                        </a:rPr>
                        <a:t> any any -&gt; any 21 (content:"</a:t>
                      </a:r>
                      <a:r>
                        <a:rPr lang="en-US" sz="1800" dirty="0" err="1">
                          <a:solidFill>
                            <a:srgbClr val="FF00FF"/>
                          </a:solidFill>
                        </a:rPr>
                        <a:t>AAAAAAA</a:t>
                      </a:r>
                      <a:r>
                        <a:rPr lang="en-US" sz="1800" dirty="0">
                          <a:solidFill>
                            <a:srgbClr val="FF00FF"/>
                          </a:solidFill>
                        </a:rPr>
                        <a:t>"; </a:t>
                      </a:r>
                      <a:r>
                        <a:rPr lang="en-US" sz="1800" dirty="0" err="1">
                          <a:solidFill>
                            <a:srgbClr val="FF00FF"/>
                          </a:solidFill>
                        </a:rPr>
                        <a:t>msg</a:t>
                      </a:r>
                      <a:r>
                        <a:rPr lang="en-US" sz="1800" dirty="0">
                          <a:solidFill>
                            <a:srgbClr val="FF00FF"/>
                          </a:solidFill>
                        </a:rPr>
                        <a:t>:"FTP buffer overflow attempt";)</a:t>
                      </a:r>
                    </a:p>
                  </a:txBody>
                  <a:tcPr marL="44215" marR="44215" marT="22107" marB="22107" anchor="ctr"/>
                </a:tc>
                <a:tc>
                  <a:txBody>
                    <a:bodyPr/>
                    <a:lstStyle/>
                    <a:p>
                      <a:pPr>
                        <a:spcBef>
                          <a:spcPts val="600"/>
                        </a:spcBef>
                        <a:spcAft>
                          <a:spcPts val="600"/>
                        </a:spcAft>
                      </a:pPr>
                      <a:r>
                        <a:rPr lang="vi-VN" sz="1800" dirty="0">
                          <a:solidFill>
                            <a:srgbClr val="0000CC"/>
                          </a:solidFill>
                        </a:rPr>
                        <a:t>Nếu request FTP chứa chuỗi dài bất thường (AAAAA</a:t>
                      </a:r>
                      <a:r>
                        <a:rPr lang="vi-VN" sz="1800" dirty="0" smtClean="0">
                          <a:solidFill>
                            <a:srgbClr val="0000CC"/>
                          </a:solidFill>
                        </a:rPr>
                        <a:t>…)</a:t>
                      </a:r>
                      <a:r>
                        <a:rPr lang="en-US" sz="1800" dirty="0" smtClean="0">
                          <a:solidFill>
                            <a:srgbClr val="0000CC"/>
                          </a:solidFill>
                        </a:rPr>
                        <a:t>:</a:t>
                      </a:r>
                      <a:r>
                        <a:rPr lang="en-US" sz="1800" baseline="0" dirty="0" smtClean="0">
                          <a:solidFill>
                            <a:srgbClr val="0000CC"/>
                          </a:solidFill>
                        </a:rPr>
                        <a:t> B</a:t>
                      </a:r>
                      <a:r>
                        <a:rPr lang="vi-VN" sz="1800" dirty="0" smtClean="0">
                          <a:solidFill>
                            <a:srgbClr val="0000CC"/>
                          </a:solidFill>
                        </a:rPr>
                        <a:t>áo </a:t>
                      </a:r>
                      <a:r>
                        <a:rPr lang="vi-VN" sz="1800" dirty="0">
                          <a:solidFill>
                            <a:srgbClr val="0000CC"/>
                          </a:solidFill>
                        </a:rPr>
                        <a:t>động.</a:t>
                      </a:r>
                    </a:p>
                  </a:txBody>
                  <a:tcPr marL="44215" marR="44215" marT="22107" marB="22107" anchor="ctr"/>
                </a:tc>
                <a:extLst>
                  <a:ext uri="{0D108BD9-81ED-4DB2-BD59-A6C34878D82A}">
                    <a16:rowId xmlns:a16="http://schemas.microsoft.com/office/drawing/2014/main" val="1986761744"/>
                  </a:ext>
                </a:extLst>
              </a:tr>
              <a:tr h="902861">
                <a:tc>
                  <a:txBody>
                    <a:bodyPr/>
                    <a:lstStyle/>
                    <a:p>
                      <a:pPr algn="ctr">
                        <a:spcBef>
                          <a:spcPts val="600"/>
                        </a:spcBef>
                        <a:spcAft>
                          <a:spcPts val="600"/>
                        </a:spcAft>
                      </a:pPr>
                      <a:r>
                        <a:rPr lang="en-US" sz="1800" dirty="0">
                          <a:solidFill>
                            <a:srgbClr val="0000CC"/>
                          </a:solidFill>
                        </a:rPr>
                        <a:t>4</a:t>
                      </a:r>
                    </a:p>
                  </a:txBody>
                  <a:tcPr marL="44215" marR="44215" marT="22107" marB="22107" anchor="ctr"/>
                </a:tc>
                <a:tc>
                  <a:txBody>
                    <a:bodyPr/>
                    <a:lstStyle/>
                    <a:p>
                      <a:pPr algn="ctr">
                        <a:spcBef>
                          <a:spcPts val="600"/>
                        </a:spcBef>
                        <a:spcAft>
                          <a:spcPts val="600"/>
                        </a:spcAft>
                      </a:pPr>
                      <a:r>
                        <a:rPr lang="en-US" sz="1800" dirty="0">
                          <a:solidFill>
                            <a:srgbClr val="0000CC"/>
                          </a:solidFill>
                        </a:rPr>
                        <a:t>Malware Download</a:t>
                      </a:r>
                    </a:p>
                  </a:txBody>
                  <a:tcPr marL="44215" marR="44215" marT="22107" marB="22107" anchor="ctr"/>
                </a:tc>
                <a:tc>
                  <a:txBody>
                    <a:bodyPr/>
                    <a:lstStyle/>
                    <a:p>
                      <a:pPr>
                        <a:spcBef>
                          <a:spcPts val="600"/>
                        </a:spcBef>
                        <a:spcAft>
                          <a:spcPts val="600"/>
                        </a:spcAft>
                      </a:pPr>
                      <a:r>
                        <a:rPr lang="en-US" sz="1800" dirty="0">
                          <a:solidFill>
                            <a:srgbClr val="FF00FF"/>
                          </a:solidFill>
                        </a:rPr>
                        <a:t>alert </a:t>
                      </a:r>
                      <a:r>
                        <a:rPr lang="en-US" sz="1800" dirty="0" err="1">
                          <a:solidFill>
                            <a:srgbClr val="FF00FF"/>
                          </a:solidFill>
                        </a:rPr>
                        <a:t>tcp</a:t>
                      </a:r>
                      <a:r>
                        <a:rPr lang="en-US" sz="1800" dirty="0">
                          <a:solidFill>
                            <a:srgbClr val="FF00FF"/>
                          </a:solidFill>
                        </a:rPr>
                        <a:t> any any -&gt; any 80 (content:"</a:t>
                      </a:r>
                      <a:r>
                        <a:rPr lang="en-US" sz="1800" dirty="0" err="1">
                          <a:solidFill>
                            <a:srgbClr val="FF00FF"/>
                          </a:solidFill>
                        </a:rPr>
                        <a:t>malware.exe</a:t>
                      </a:r>
                      <a:r>
                        <a:rPr lang="en-US" sz="1800" dirty="0">
                          <a:solidFill>
                            <a:srgbClr val="FF00FF"/>
                          </a:solidFill>
                        </a:rPr>
                        <a:t>"; </a:t>
                      </a:r>
                      <a:r>
                        <a:rPr lang="en-US" sz="1800" dirty="0" err="1">
                          <a:solidFill>
                            <a:srgbClr val="FF00FF"/>
                          </a:solidFill>
                        </a:rPr>
                        <a:t>msg</a:t>
                      </a:r>
                      <a:r>
                        <a:rPr lang="en-US" sz="1800" dirty="0">
                          <a:solidFill>
                            <a:srgbClr val="FF00FF"/>
                          </a:solidFill>
                        </a:rPr>
                        <a:t>:"Malware download attempt";)</a:t>
                      </a:r>
                    </a:p>
                  </a:txBody>
                  <a:tcPr marL="44215" marR="44215" marT="22107" marB="22107" anchor="ctr"/>
                </a:tc>
                <a:tc>
                  <a:txBody>
                    <a:bodyPr/>
                    <a:lstStyle/>
                    <a:p>
                      <a:pPr>
                        <a:spcBef>
                          <a:spcPts val="600"/>
                        </a:spcBef>
                        <a:spcAft>
                          <a:spcPts val="600"/>
                        </a:spcAft>
                      </a:pPr>
                      <a:r>
                        <a:rPr lang="en-US" sz="1800" dirty="0" err="1">
                          <a:solidFill>
                            <a:srgbClr val="0000CC"/>
                          </a:solidFill>
                        </a:rPr>
                        <a:t>Phát</a:t>
                      </a:r>
                      <a:r>
                        <a:rPr lang="en-US" sz="1800" dirty="0">
                          <a:solidFill>
                            <a:srgbClr val="0000CC"/>
                          </a:solidFill>
                        </a:rPr>
                        <a:t> </a:t>
                      </a:r>
                      <a:r>
                        <a:rPr lang="en-US" sz="1800" dirty="0" err="1">
                          <a:solidFill>
                            <a:srgbClr val="0000CC"/>
                          </a:solidFill>
                        </a:rPr>
                        <a:t>hiện</a:t>
                      </a:r>
                      <a:r>
                        <a:rPr lang="en-US" sz="1800" dirty="0">
                          <a:solidFill>
                            <a:srgbClr val="0000CC"/>
                          </a:solidFill>
                        </a:rPr>
                        <a:t> </a:t>
                      </a:r>
                      <a:r>
                        <a:rPr lang="en-US" sz="1800" dirty="0" err="1">
                          <a:solidFill>
                            <a:srgbClr val="0000CC"/>
                          </a:solidFill>
                        </a:rPr>
                        <a:t>tải</a:t>
                      </a:r>
                      <a:r>
                        <a:rPr lang="en-US" sz="1800" dirty="0">
                          <a:solidFill>
                            <a:srgbClr val="0000CC"/>
                          </a:solidFill>
                        </a:rPr>
                        <a:t> file </a:t>
                      </a:r>
                      <a:r>
                        <a:rPr lang="en-US" sz="1800" dirty="0" err="1">
                          <a:solidFill>
                            <a:srgbClr val="0000CC"/>
                          </a:solidFill>
                        </a:rPr>
                        <a:t>có</a:t>
                      </a:r>
                      <a:r>
                        <a:rPr lang="en-US" sz="1800" dirty="0">
                          <a:solidFill>
                            <a:srgbClr val="0000CC"/>
                          </a:solidFill>
                        </a:rPr>
                        <a:t> </a:t>
                      </a:r>
                      <a:r>
                        <a:rPr lang="en-US" sz="1800" dirty="0" err="1">
                          <a:solidFill>
                            <a:srgbClr val="0000CC"/>
                          </a:solidFill>
                        </a:rPr>
                        <a:t>tên</a:t>
                      </a:r>
                      <a:r>
                        <a:rPr lang="en-US" sz="1800" dirty="0">
                          <a:solidFill>
                            <a:srgbClr val="0000CC"/>
                          </a:solidFill>
                        </a:rPr>
                        <a:t> </a:t>
                      </a:r>
                      <a:r>
                        <a:rPr lang="en-US" sz="1800" dirty="0" err="1">
                          <a:solidFill>
                            <a:srgbClr val="0000CC"/>
                          </a:solidFill>
                        </a:rPr>
                        <a:t>malware.exe</a:t>
                      </a:r>
                      <a:r>
                        <a:rPr lang="en-US" sz="1800" dirty="0">
                          <a:solidFill>
                            <a:srgbClr val="0000CC"/>
                          </a:solidFill>
                        </a:rPr>
                        <a:t>.</a:t>
                      </a:r>
                    </a:p>
                  </a:txBody>
                  <a:tcPr marL="44215" marR="44215" marT="22107" marB="22107" anchor="ctr"/>
                </a:tc>
                <a:extLst>
                  <a:ext uri="{0D108BD9-81ED-4DB2-BD59-A6C34878D82A}">
                    <a16:rowId xmlns:a16="http://schemas.microsoft.com/office/drawing/2014/main" val="4273992949"/>
                  </a:ext>
                </a:extLst>
              </a:tr>
              <a:tr h="902861">
                <a:tc>
                  <a:txBody>
                    <a:bodyPr/>
                    <a:lstStyle/>
                    <a:p>
                      <a:pPr algn="ctr">
                        <a:spcBef>
                          <a:spcPts val="600"/>
                        </a:spcBef>
                        <a:spcAft>
                          <a:spcPts val="600"/>
                        </a:spcAft>
                      </a:pPr>
                      <a:r>
                        <a:rPr lang="en-US" sz="1800" dirty="0">
                          <a:solidFill>
                            <a:srgbClr val="0000CC"/>
                          </a:solidFill>
                        </a:rPr>
                        <a:t>5</a:t>
                      </a:r>
                    </a:p>
                  </a:txBody>
                  <a:tcPr marL="44215" marR="44215" marT="22107" marB="22107" anchor="ctr"/>
                </a:tc>
                <a:tc>
                  <a:txBody>
                    <a:bodyPr/>
                    <a:lstStyle/>
                    <a:p>
                      <a:pPr algn="ctr">
                        <a:spcBef>
                          <a:spcPts val="600"/>
                        </a:spcBef>
                        <a:spcAft>
                          <a:spcPts val="600"/>
                        </a:spcAft>
                      </a:pPr>
                      <a:r>
                        <a:rPr lang="en-US" sz="1800" dirty="0" err="1">
                          <a:solidFill>
                            <a:srgbClr val="0000CC"/>
                          </a:solidFill>
                        </a:rPr>
                        <a:t>XSS</a:t>
                      </a:r>
                      <a:r>
                        <a:rPr lang="en-US" sz="1800" dirty="0">
                          <a:solidFill>
                            <a:srgbClr val="0000CC"/>
                          </a:solidFill>
                        </a:rPr>
                        <a:t> Attack</a:t>
                      </a:r>
                    </a:p>
                  </a:txBody>
                  <a:tcPr marL="44215" marR="44215" marT="22107" marB="22107" anchor="ctr"/>
                </a:tc>
                <a:tc>
                  <a:txBody>
                    <a:bodyPr/>
                    <a:lstStyle/>
                    <a:p>
                      <a:pPr>
                        <a:spcBef>
                          <a:spcPts val="600"/>
                        </a:spcBef>
                        <a:spcAft>
                          <a:spcPts val="600"/>
                        </a:spcAft>
                      </a:pPr>
                      <a:r>
                        <a:rPr lang="en-US" sz="1800" dirty="0">
                          <a:solidFill>
                            <a:srgbClr val="FF00FF"/>
                          </a:solidFill>
                        </a:rPr>
                        <a:t>alert </a:t>
                      </a:r>
                      <a:r>
                        <a:rPr lang="en-US" sz="1800" dirty="0" err="1">
                          <a:solidFill>
                            <a:srgbClr val="FF00FF"/>
                          </a:solidFill>
                        </a:rPr>
                        <a:t>tcp</a:t>
                      </a:r>
                      <a:r>
                        <a:rPr lang="en-US" sz="1800" dirty="0">
                          <a:solidFill>
                            <a:srgbClr val="FF00FF"/>
                          </a:solidFill>
                        </a:rPr>
                        <a:t> any any -&gt; any 80 (content:"&lt;script&gt;"; </a:t>
                      </a:r>
                      <a:r>
                        <a:rPr lang="en-US" sz="1800" dirty="0" err="1">
                          <a:solidFill>
                            <a:srgbClr val="FF00FF"/>
                          </a:solidFill>
                        </a:rPr>
                        <a:t>msg</a:t>
                      </a:r>
                      <a:r>
                        <a:rPr lang="en-US" sz="1800" dirty="0">
                          <a:solidFill>
                            <a:srgbClr val="FF00FF"/>
                          </a:solidFill>
                        </a:rPr>
                        <a:t>:"</a:t>
                      </a:r>
                      <a:r>
                        <a:rPr lang="en-US" sz="1800" dirty="0" err="1">
                          <a:solidFill>
                            <a:srgbClr val="FF00FF"/>
                          </a:solidFill>
                        </a:rPr>
                        <a:t>XSS</a:t>
                      </a:r>
                      <a:r>
                        <a:rPr lang="en-US" sz="1800" dirty="0">
                          <a:solidFill>
                            <a:srgbClr val="FF00FF"/>
                          </a:solidFill>
                        </a:rPr>
                        <a:t> attack attempt";)</a:t>
                      </a:r>
                    </a:p>
                  </a:txBody>
                  <a:tcPr marL="44215" marR="44215" marT="22107" marB="22107" anchor="ctr"/>
                </a:tc>
                <a:tc>
                  <a:txBody>
                    <a:bodyPr/>
                    <a:lstStyle/>
                    <a:p>
                      <a:pPr>
                        <a:spcBef>
                          <a:spcPts val="600"/>
                        </a:spcBef>
                        <a:spcAft>
                          <a:spcPts val="600"/>
                        </a:spcAft>
                      </a:pPr>
                      <a:r>
                        <a:rPr lang="en-US" sz="1800" dirty="0" err="1">
                          <a:solidFill>
                            <a:srgbClr val="0000CC"/>
                          </a:solidFill>
                        </a:rPr>
                        <a:t>Phát</a:t>
                      </a:r>
                      <a:r>
                        <a:rPr lang="en-US" sz="1800" dirty="0">
                          <a:solidFill>
                            <a:srgbClr val="0000CC"/>
                          </a:solidFill>
                        </a:rPr>
                        <a:t> </a:t>
                      </a:r>
                      <a:r>
                        <a:rPr lang="en-US" sz="1800" dirty="0" err="1">
                          <a:solidFill>
                            <a:srgbClr val="0000CC"/>
                          </a:solidFill>
                        </a:rPr>
                        <a:t>hiện</a:t>
                      </a:r>
                      <a:r>
                        <a:rPr lang="en-US" sz="1800" dirty="0">
                          <a:solidFill>
                            <a:srgbClr val="0000CC"/>
                          </a:solidFill>
                        </a:rPr>
                        <a:t> payload HTML </a:t>
                      </a:r>
                      <a:r>
                        <a:rPr lang="en-US" sz="1800" dirty="0" err="1">
                          <a:solidFill>
                            <a:srgbClr val="0000CC"/>
                          </a:solidFill>
                        </a:rPr>
                        <a:t>chứa</a:t>
                      </a:r>
                      <a:r>
                        <a:rPr lang="en-US" sz="1800" dirty="0">
                          <a:solidFill>
                            <a:srgbClr val="0000CC"/>
                          </a:solidFill>
                        </a:rPr>
                        <a:t> </a:t>
                      </a:r>
                      <a:r>
                        <a:rPr lang="en-US" sz="1800" dirty="0" err="1">
                          <a:solidFill>
                            <a:srgbClr val="0000CC"/>
                          </a:solidFill>
                        </a:rPr>
                        <a:t>thẻ</a:t>
                      </a:r>
                      <a:r>
                        <a:rPr lang="en-US" sz="1800" dirty="0">
                          <a:solidFill>
                            <a:srgbClr val="0000CC"/>
                          </a:solidFill>
                        </a:rPr>
                        <a:t> &lt;</a:t>
                      </a:r>
                      <a:r>
                        <a:rPr lang="en-US" sz="1800" dirty="0" smtClean="0">
                          <a:solidFill>
                            <a:srgbClr val="0000CC"/>
                          </a:solidFill>
                        </a:rPr>
                        <a:t>script&gt;:</a:t>
                      </a:r>
                      <a:r>
                        <a:rPr lang="en-US" sz="1800" baseline="0" dirty="0" smtClean="0">
                          <a:solidFill>
                            <a:srgbClr val="0000CC"/>
                          </a:solidFill>
                        </a:rPr>
                        <a:t> </a:t>
                      </a:r>
                      <a:r>
                        <a:rPr lang="en-US" sz="1800" dirty="0" err="1" smtClean="0">
                          <a:solidFill>
                            <a:srgbClr val="0000CC"/>
                          </a:solidFill>
                        </a:rPr>
                        <a:t>XSS</a:t>
                      </a:r>
                      <a:r>
                        <a:rPr lang="en-US" sz="1800" dirty="0" smtClean="0">
                          <a:solidFill>
                            <a:srgbClr val="0000CC"/>
                          </a:solidFill>
                        </a:rPr>
                        <a:t> (!).</a:t>
                      </a:r>
                      <a:endParaRPr lang="en-US" sz="1800" dirty="0">
                        <a:solidFill>
                          <a:srgbClr val="0000CC"/>
                        </a:solidFill>
                      </a:endParaRPr>
                    </a:p>
                  </a:txBody>
                  <a:tcPr marL="44215" marR="44215" marT="22107" marB="22107" anchor="ctr"/>
                </a:tc>
                <a:extLst>
                  <a:ext uri="{0D108BD9-81ED-4DB2-BD59-A6C34878D82A}">
                    <a16:rowId xmlns:a16="http://schemas.microsoft.com/office/drawing/2014/main" val="2519779900"/>
                  </a:ext>
                </a:extLst>
              </a:tr>
            </a:tbl>
          </a:graphicData>
        </a:graphic>
      </p:graphicFrame>
    </p:spTree>
    <p:extLst>
      <p:ext uri="{BB962C8B-B14F-4D97-AF65-F5344CB8AC3E}">
        <p14:creationId xmlns:p14="http://schemas.microsoft.com/office/powerpoint/2010/main" val="906926501"/>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600" y="368964"/>
            <a:ext cx="10242645" cy="528851"/>
          </a:xfrm>
        </p:spPr>
        <p:txBody>
          <a:bodyPr/>
          <a:lstStyle/>
          <a:p>
            <a:r>
              <a:rPr lang="en-US" sz="2800" b="1" dirty="0">
                <a:solidFill>
                  <a:srgbClr val="0000CC"/>
                </a:solidFill>
                <a:latin typeface="Rockwell" panose="02060603020205020403" pitchFamily="18" charset="0"/>
              </a:rPr>
              <a:t>7</a:t>
            </a:r>
            <a:r>
              <a:rPr lang="en-US" sz="2800" b="1" dirty="0" smtClean="0">
                <a:solidFill>
                  <a:srgbClr val="0000CC"/>
                </a:solidFill>
                <a:latin typeface="Rockwell" panose="02060603020205020403" pitchFamily="18" charset="0"/>
              </a:rPr>
              <a:t>.3.</a:t>
            </a:r>
            <a:r>
              <a:rPr lang="vi-VN"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Chức</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năng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và</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mục</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đích</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sử</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dụng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của</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IDS</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600" y="843223"/>
            <a:ext cx="9587552" cy="4382729"/>
          </a:xfrm>
        </p:spPr>
        <p:txBody>
          <a:bodyPr/>
          <a:lstStyle/>
          <a:p>
            <a:pPr marL="0" indent="0">
              <a:spcBef>
                <a:spcPts val="600"/>
              </a:spcBef>
              <a:buNone/>
            </a:pPr>
            <a:r>
              <a:rPr lang="en-US" dirty="0" err="1" smtClean="0">
                <a:solidFill>
                  <a:srgbClr val="0000CC"/>
                </a:solidFill>
                <a:latin typeface="Rockwell" panose="02060603020205020403" pitchFamily="18" charset="0"/>
                <a:ea typeface="+mj-ea"/>
                <a:cs typeface="+mj-cs"/>
              </a:rPr>
              <a:t>Ví</a:t>
            </a:r>
            <a:r>
              <a:rPr lang="en-US" dirty="0" smtClean="0">
                <a:solidFill>
                  <a:srgbClr val="0000CC"/>
                </a:solidFill>
                <a:latin typeface="Rockwell" panose="02060603020205020403" pitchFamily="18" charset="0"/>
                <a:ea typeface="+mj-ea"/>
                <a:cs typeface="+mj-cs"/>
              </a:rPr>
              <a:t> </a:t>
            </a:r>
            <a:r>
              <a:rPr lang="en-US" dirty="0" err="1" smtClean="0">
                <a:solidFill>
                  <a:srgbClr val="0000CC"/>
                </a:solidFill>
                <a:latin typeface="Rockwell" panose="02060603020205020403" pitchFamily="18" charset="0"/>
                <a:ea typeface="+mj-ea"/>
                <a:cs typeface="+mj-cs"/>
              </a:rPr>
              <a:t>dụ</a:t>
            </a:r>
            <a:r>
              <a:rPr lang="en-US" dirty="0" smtClean="0">
                <a:solidFill>
                  <a:srgbClr val="0000CC"/>
                </a:solidFill>
                <a:latin typeface="Rockwell" panose="02060603020205020403" pitchFamily="18" charset="0"/>
                <a:ea typeface="+mj-ea"/>
                <a:cs typeface="+mj-cs"/>
              </a:rPr>
              <a:t> </a:t>
            </a:r>
            <a:r>
              <a:rPr lang="en-US" dirty="0" err="1" smtClean="0">
                <a:solidFill>
                  <a:srgbClr val="0000CC"/>
                </a:solidFill>
                <a:latin typeface="Rockwell" panose="02060603020205020403" pitchFamily="18" charset="0"/>
                <a:ea typeface="+mj-ea"/>
                <a:cs typeface="+mj-cs"/>
              </a:rPr>
              <a:t>về</a:t>
            </a:r>
            <a:r>
              <a:rPr lang="en-US" dirty="0" smtClean="0">
                <a:solidFill>
                  <a:srgbClr val="0000CC"/>
                </a:solidFill>
                <a:latin typeface="Rockwell" panose="02060603020205020403" pitchFamily="18" charset="0"/>
                <a:ea typeface="+mj-ea"/>
                <a:cs typeface="+mj-cs"/>
              </a:rPr>
              <a:t> </a:t>
            </a:r>
            <a:r>
              <a:rPr lang="en-US" dirty="0" err="1" smtClean="0">
                <a:solidFill>
                  <a:srgbClr val="0000CC"/>
                </a:solidFill>
                <a:latin typeface="Rockwell" panose="02060603020205020403" pitchFamily="18" charset="0"/>
                <a:ea typeface="+mj-ea"/>
                <a:cs typeface="+mj-cs"/>
              </a:rPr>
              <a:t>Luật</a:t>
            </a:r>
            <a:r>
              <a:rPr lang="en-US" dirty="0" smtClean="0">
                <a:solidFill>
                  <a:srgbClr val="0000CC"/>
                </a:solidFill>
                <a:latin typeface="Rockwell" panose="02060603020205020403" pitchFamily="18" charset="0"/>
                <a:ea typeface="+mj-ea"/>
                <a:cs typeface="+mj-cs"/>
              </a:rPr>
              <a:t> </a:t>
            </a:r>
            <a:r>
              <a:rPr lang="en-US" dirty="0" err="1" smtClean="0">
                <a:solidFill>
                  <a:srgbClr val="0000CC"/>
                </a:solidFill>
                <a:latin typeface="Rockwell" panose="02060603020205020403" pitchFamily="18" charset="0"/>
                <a:ea typeface="+mj-ea"/>
                <a:cs typeface="+mj-cs"/>
              </a:rPr>
              <a:t>phát</a:t>
            </a:r>
            <a:r>
              <a:rPr lang="en-US" dirty="0" smtClean="0">
                <a:solidFill>
                  <a:srgbClr val="0000CC"/>
                </a:solidFill>
                <a:latin typeface="Rockwell" panose="02060603020205020403" pitchFamily="18" charset="0"/>
                <a:ea typeface="+mj-ea"/>
                <a:cs typeface="+mj-cs"/>
              </a:rPr>
              <a:t> </a:t>
            </a:r>
            <a:r>
              <a:rPr lang="en-US" dirty="0" err="1" smtClean="0">
                <a:solidFill>
                  <a:srgbClr val="0000CC"/>
                </a:solidFill>
                <a:latin typeface="Rockwell" panose="02060603020205020403" pitchFamily="18" charset="0"/>
                <a:ea typeface="+mj-ea"/>
                <a:cs typeface="+mj-cs"/>
              </a:rPr>
              <a:t>hiện</a:t>
            </a:r>
            <a:r>
              <a:rPr lang="en-US" dirty="0" smtClean="0">
                <a:solidFill>
                  <a:srgbClr val="0000CC"/>
                </a:solidFill>
                <a:latin typeface="Rockwell" panose="02060603020205020403" pitchFamily="18" charset="0"/>
                <a:ea typeface="+mj-ea"/>
                <a:cs typeface="+mj-cs"/>
              </a:rPr>
              <a:t> </a:t>
            </a:r>
            <a:r>
              <a:rPr lang="en-US" dirty="0" err="1" smtClean="0">
                <a:solidFill>
                  <a:srgbClr val="0000CC"/>
                </a:solidFill>
                <a:latin typeface="Rockwell" panose="02060603020205020403" pitchFamily="18" charset="0"/>
                <a:ea typeface="+mj-ea"/>
                <a:cs typeface="+mj-cs"/>
              </a:rPr>
              <a:t>trong</a:t>
            </a:r>
            <a:r>
              <a:rPr lang="en-US" dirty="0" smtClean="0">
                <a:solidFill>
                  <a:srgbClr val="0000CC"/>
                </a:solidFill>
                <a:latin typeface="Rockwell" panose="02060603020205020403" pitchFamily="18" charset="0"/>
                <a:ea typeface="+mj-ea"/>
                <a:cs typeface="+mj-cs"/>
              </a:rPr>
              <a:t> IDS</a:t>
            </a:r>
          </a:p>
          <a:p>
            <a:pPr marL="0" indent="0">
              <a:spcBef>
                <a:spcPts val="600"/>
              </a:spcBef>
              <a:buNone/>
            </a:pPr>
            <a:endParaRPr lang="en-US" dirty="0" smtClean="0">
              <a:solidFill>
                <a:srgbClr val="0000CC"/>
              </a:solidFill>
              <a:latin typeface="Rockwell" panose="02060603020205020403" pitchFamily="18" charset="0"/>
              <a:ea typeface="+mj-ea"/>
              <a:cs typeface="+mj-cs"/>
            </a:endParaRPr>
          </a:p>
          <a:p>
            <a:pPr marL="0" indent="0">
              <a:spcBef>
                <a:spcPts val="600"/>
              </a:spcBef>
              <a:buNone/>
            </a:pPr>
            <a:endParaRPr lang="vi-VN" dirty="0">
              <a:solidFill>
                <a:srgbClr val="0000CC"/>
              </a:solidFill>
              <a:latin typeface="Rockwell" panose="02060603020205020403" pitchFamily="18" charset="0"/>
              <a:ea typeface="+mj-ea"/>
              <a:cs typeface="+mj-cs"/>
            </a:endParaRPr>
          </a:p>
        </p:txBody>
      </p:sp>
      <p:graphicFrame>
        <p:nvGraphicFramePr>
          <p:cNvPr id="6" name="Table 5"/>
          <p:cNvGraphicFramePr>
            <a:graphicFrameLocks noGrp="1"/>
          </p:cNvGraphicFramePr>
          <p:nvPr>
            <p:extLst>
              <p:ext uri="{D42A27DB-BD31-4B8C-83A1-F6EECF244321}">
                <p14:modId xmlns:p14="http://schemas.microsoft.com/office/powerpoint/2010/main" val="1046415270"/>
              </p:ext>
            </p:extLst>
          </p:nvPr>
        </p:nvGraphicFramePr>
        <p:xfrm>
          <a:off x="1478962" y="1344777"/>
          <a:ext cx="9835032" cy="5247091"/>
        </p:xfrm>
        <a:graphic>
          <a:graphicData uri="http://schemas.openxmlformats.org/drawingml/2006/table">
            <a:tbl>
              <a:tblPr>
                <a:tableStyleId>{35758FB7-9AC5-4552-8A53-C91805E547FA}</a:tableStyleId>
              </a:tblPr>
              <a:tblGrid>
                <a:gridCol w="813862">
                  <a:extLst>
                    <a:ext uri="{9D8B030D-6E8A-4147-A177-3AD203B41FA5}">
                      <a16:colId xmlns:a16="http://schemas.microsoft.com/office/drawing/2014/main" val="4172069146"/>
                    </a:ext>
                  </a:extLst>
                </a:gridCol>
                <a:gridCol w="2101755">
                  <a:extLst>
                    <a:ext uri="{9D8B030D-6E8A-4147-A177-3AD203B41FA5}">
                      <a16:colId xmlns:a16="http://schemas.microsoft.com/office/drawing/2014/main" val="3969125314"/>
                    </a:ext>
                  </a:extLst>
                </a:gridCol>
                <a:gridCol w="3234520">
                  <a:extLst>
                    <a:ext uri="{9D8B030D-6E8A-4147-A177-3AD203B41FA5}">
                      <a16:colId xmlns:a16="http://schemas.microsoft.com/office/drawing/2014/main" val="2268743773"/>
                    </a:ext>
                  </a:extLst>
                </a:gridCol>
                <a:gridCol w="3684895">
                  <a:extLst>
                    <a:ext uri="{9D8B030D-6E8A-4147-A177-3AD203B41FA5}">
                      <a16:colId xmlns:a16="http://schemas.microsoft.com/office/drawing/2014/main" val="1062893579"/>
                    </a:ext>
                  </a:extLst>
                </a:gridCol>
              </a:tblGrid>
              <a:tr h="608246">
                <a:tc>
                  <a:txBody>
                    <a:bodyPr/>
                    <a:lstStyle/>
                    <a:p>
                      <a:pPr algn="ctr"/>
                      <a:r>
                        <a:rPr lang="en-US" sz="1800" b="1" dirty="0" err="1">
                          <a:solidFill>
                            <a:srgbClr val="0000CC"/>
                          </a:solidFill>
                        </a:rPr>
                        <a:t>STT</a:t>
                      </a:r>
                      <a:endParaRPr lang="en-US" sz="1800" b="1" dirty="0">
                        <a:solidFill>
                          <a:srgbClr val="0000CC"/>
                        </a:solidFill>
                      </a:endParaRPr>
                    </a:p>
                  </a:txBody>
                  <a:tcPr marL="47752" marR="47752" marT="23876" marB="23876" anchor="ctr"/>
                </a:tc>
                <a:tc>
                  <a:txBody>
                    <a:bodyPr/>
                    <a:lstStyle/>
                    <a:p>
                      <a:pPr algn="ctr"/>
                      <a:r>
                        <a:rPr lang="en-US" sz="1800" b="1" dirty="0" err="1">
                          <a:solidFill>
                            <a:srgbClr val="0000CC"/>
                          </a:solidFill>
                        </a:rPr>
                        <a:t>Loại</a:t>
                      </a:r>
                      <a:r>
                        <a:rPr lang="en-US" sz="1800" b="1" dirty="0">
                          <a:solidFill>
                            <a:srgbClr val="0000CC"/>
                          </a:solidFill>
                        </a:rPr>
                        <a:t> </a:t>
                      </a:r>
                      <a:r>
                        <a:rPr lang="en-US" sz="1800" b="1" dirty="0" err="1">
                          <a:solidFill>
                            <a:srgbClr val="0000CC"/>
                          </a:solidFill>
                        </a:rPr>
                        <a:t>tấn</a:t>
                      </a:r>
                      <a:r>
                        <a:rPr lang="en-US" sz="1800" b="1" dirty="0">
                          <a:solidFill>
                            <a:srgbClr val="0000CC"/>
                          </a:solidFill>
                        </a:rPr>
                        <a:t> </a:t>
                      </a:r>
                      <a:r>
                        <a:rPr lang="en-US" sz="1800" b="1" dirty="0" err="1">
                          <a:solidFill>
                            <a:srgbClr val="0000CC"/>
                          </a:solidFill>
                        </a:rPr>
                        <a:t>công</a:t>
                      </a:r>
                      <a:endParaRPr lang="en-US" sz="1800" b="1" dirty="0">
                        <a:solidFill>
                          <a:srgbClr val="0000CC"/>
                        </a:solidFill>
                      </a:endParaRPr>
                    </a:p>
                  </a:txBody>
                  <a:tcPr marL="47752" marR="47752" marT="23876" marB="23876" anchor="ctr"/>
                </a:tc>
                <a:tc>
                  <a:txBody>
                    <a:bodyPr/>
                    <a:lstStyle/>
                    <a:p>
                      <a:pPr algn="ctr"/>
                      <a:r>
                        <a:rPr lang="en-US" sz="1800" b="1" dirty="0" err="1">
                          <a:solidFill>
                            <a:srgbClr val="0000CC"/>
                          </a:solidFill>
                        </a:rPr>
                        <a:t>Luật</a:t>
                      </a:r>
                      <a:r>
                        <a:rPr lang="en-US" sz="1800" b="1" dirty="0">
                          <a:solidFill>
                            <a:srgbClr val="0000CC"/>
                          </a:solidFill>
                        </a:rPr>
                        <a:t> </a:t>
                      </a:r>
                      <a:r>
                        <a:rPr lang="en-US" sz="1800" b="1" dirty="0" err="1">
                          <a:solidFill>
                            <a:srgbClr val="0000CC"/>
                          </a:solidFill>
                        </a:rPr>
                        <a:t>phát</a:t>
                      </a:r>
                      <a:r>
                        <a:rPr lang="en-US" sz="1800" b="1" dirty="0">
                          <a:solidFill>
                            <a:srgbClr val="0000CC"/>
                          </a:solidFill>
                        </a:rPr>
                        <a:t> </a:t>
                      </a:r>
                      <a:r>
                        <a:rPr lang="en-US" sz="1800" b="1" dirty="0" err="1">
                          <a:solidFill>
                            <a:srgbClr val="0000CC"/>
                          </a:solidFill>
                        </a:rPr>
                        <a:t>hiện</a:t>
                      </a:r>
                      <a:r>
                        <a:rPr lang="en-US" sz="1800" b="1" dirty="0">
                          <a:solidFill>
                            <a:srgbClr val="0000CC"/>
                          </a:solidFill>
                        </a:rPr>
                        <a:t> </a:t>
                      </a:r>
                      <a:r>
                        <a:rPr lang="en-US" sz="1800" b="1" dirty="0" smtClean="0">
                          <a:solidFill>
                            <a:srgbClr val="0000CC"/>
                          </a:solidFill>
                        </a:rPr>
                        <a:t/>
                      </a:r>
                      <a:br>
                        <a:rPr lang="en-US" sz="1800" b="1" dirty="0" smtClean="0">
                          <a:solidFill>
                            <a:srgbClr val="0000CC"/>
                          </a:solidFill>
                        </a:rPr>
                      </a:br>
                      <a:r>
                        <a:rPr lang="en-US" sz="1800" b="1" dirty="0" smtClean="0">
                          <a:solidFill>
                            <a:srgbClr val="0000CC"/>
                          </a:solidFill>
                        </a:rPr>
                        <a:t>(</a:t>
                      </a:r>
                      <a:r>
                        <a:rPr lang="en-US" sz="1800" b="1" dirty="0">
                          <a:solidFill>
                            <a:srgbClr val="0000CC"/>
                          </a:solidFill>
                        </a:rPr>
                        <a:t>Detection Rule)</a:t>
                      </a:r>
                    </a:p>
                  </a:txBody>
                  <a:tcPr marL="47752" marR="47752" marT="23876" marB="23876" anchor="ctr"/>
                </a:tc>
                <a:tc>
                  <a:txBody>
                    <a:bodyPr/>
                    <a:lstStyle/>
                    <a:p>
                      <a:pPr algn="ctr"/>
                      <a:r>
                        <a:rPr lang="en-US" sz="1800" b="1" dirty="0">
                          <a:solidFill>
                            <a:srgbClr val="0000CC"/>
                          </a:solidFill>
                        </a:rPr>
                        <a:t>Ý </a:t>
                      </a:r>
                      <a:r>
                        <a:rPr lang="en-US" sz="1800" b="1" dirty="0" err="1">
                          <a:solidFill>
                            <a:srgbClr val="0000CC"/>
                          </a:solidFill>
                        </a:rPr>
                        <a:t>nghĩa</a:t>
                      </a:r>
                      <a:endParaRPr lang="en-US" sz="1800" b="1" dirty="0">
                        <a:solidFill>
                          <a:srgbClr val="0000CC"/>
                        </a:solidFill>
                      </a:endParaRPr>
                    </a:p>
                  </a:txBody>
                  <a:tcPr marL="47752" marR="47752" marT="23876" marB="23876" anchor="ctr"/>
                </a:tc>
                <a:extLst>
                  <a:ext uri="{0D108BD9-81ED-4DB2-BD59-A6C34878D82A}">
                    <a16:rowId xmlns:a16="http://schemas.microsoft.com/office/drawing/2014/main" val="3013844547"/>
                  </a:ext>
                </a:extLst>
              </a:tr>
              <a:tr h="888019">
                <a:tc>
                  <a:txBody>
                    <a:bodyPr/>
                    <a:lstStyle/>
                    <a:p>
                      <a:pPr algn="ctr"/>
                      <a:r>
                        <a:rPr lang="en-US" sz="1800" dirty="0">
                          <a:solidFill>
                            <a:srgbClr val="0000CC"/>
                          </a:solidFill>
                        </a:rPr>
                        <a:t>1</a:t>
                      </a:r>
                    </a:p>
                  </a:txBody>
                  <a:tcPr marL="47752" marR="47752" marT="23876" marB="23876" anchor="ctr"/>
                </a:tc>
                <a:tc>
                  <a:txBody>
                    <a:bodyPr/>
                    <a:lstStyle/>
                    <a:p>
                      <a:pPr algn="ctr"/>
                      <a:r>
                        <a:rPr lang="en-US" sz="1800" dirty="0" err="1">
                          <a:solidFill>
                            <a:srgbClr val="0000CC"/>
                          </a:solidFill>
                        </a:rPr>
                        <a:t>DoS</a:t>
                      </a:r>
                      <a:r>
                        <a:rPr lang="en-US" sz="1800" dirty="0">
                          <a:solidFill>
                            <a:srgbClr val="0000CC"/>
                          </a:solidFill>
                        </a:rPr>
                        <a:t> – Flooding</a:t>
                      </a:r>
                    </a:p>
                  </a:txBody>
                  <a:tcPr marL="47752" marR="47752" marT="23876" marB="23876" anchor="ctr"/>
                </a:tc>
                <a:tc>
                  <a:txBody>
                    <a:bodyPr/>
                    <a:lstStyle/>
                    <a:p>
                      <a:pPr algn="l"/>
                      <a:r>
                        <a:rPr lang="en-US" sz="1800" dirty="0">
                          <a:solidFill>
                            <a:srgbClr val="FF00FF"/>
                          </a:solidFill>
                        </a:rPr>
                        <a:t>alert if </a:t>
                      </a:r>
                      <a:r>
                        <a:rPr lang="en-US" sz="1800" dirty="0" err="1">
                          <a:solidFill>
                            <a:srgbClr val="FF00FF"/>
                          </a:solidFill>
                        </a:rPr>
                        <a:t>SYN</a:t>
                      </a:r>
                      <a:r>
                        <a:rPr lang="en-US" sz="1800" dirty="0">
                          <a:solidFill>
                            <a:srgbClr val="FF00FF"/>
                          </a:solidFill>
                        </a:rPr>
                        <a:t> packets &gt; 1000/second from same source</a:t>
                      </a:r>
                    </a:p>
                  </a:txBody>
                  <a:tcPr marL="47752" marR="47752" marT="23876" marB="23876" anchor="ctr"/>
                </a:tc>
                <a:tc>
                  <a:txBody>
                    <a:bodyPr/>
                    <a:lstStyle/>
                    <a:p>
                      <a:r>
                        <a:rPr lang="en-US" sz="1800" dirty="0" err="1">
                          <a:solidFill>
                            <a:srgbClr val="0000CC"/>
                          </a:solidFill>
                        </a:rPr>
                        <a:t>Nếu</a:t>
                      </a:r>
                      <a:r>
                        <a:rPr lang="en-US" sz="1800" dirty="0">
                          <a:solidFill>
                            <a:srgbClr val="0000CC"/>
                          </a:solidFill>
                        </a:rPr>
                        <a:t> 1 </a:t>
                      </a:r>
                      <a:r>
                        <a:rPr lang="en-US" sz="1800" dirty="0" err="1">
                          <a:solidFill>
                            <a:srgbClr val="0000CC"/>
                          </a:solidFill>
                        </a:rPr>
                        <a:t>nguồn</a:t>
                      </a:r>
                      <a:r>
                        <a:rPr lang="en-US" sz="1800" dirty="0">
                          <a:solidFill>
                            <a:srgbClr val="0000CC"/>
                          </a:solidFill>
                        </a:rPr>
                        <a:t> </a:t>
                      </a:r>
                      <a:r>
                        <a:rPr lang="en-US" sz="1800" dirty="0" err="1">
                          <a:solidFill>
                            <a:srgbClr val="0000CC"/>
                          </a:solidFill>
                        </a:rPr>
                        <a:t>gửi</a:t>
                      </a:r>
                      <a:r>
                        <a:rPr lang="en-US" sz="1800" dirty="0">
                          <a:solidFill>
                            <a:srgbClr val="0000CC"/>
                          </a:solidFill>
                        </a:rPr>
                        <a:t> &gt;1000 </a:t>
                      </a:r>
                      <a:r>
                        <a:rPr lang="en-US" sz="1800" dirty="0" err="1">
                          <a:solidFill>
                            <a:srgbClr val="0000CC"/>
                          </a:solidFill>
                        </a:rPr>
                        <a:t>gói</a:t>
                      </a:r>
                      <a:r>
                        <a:rPr lang="en-US" sz="1800" dirty="0">
                          <a:solidFill>
                            <a:srgbClr val="0000CC"/>
                          </a:solidFill>
                        </a:rPr>
                        <a:t> </a:t>
                      </a:r>
                      <a:r>
                        <a:rPr lang="en-US" sz="1800" dirty="0" err="1" smtClean="0">
                          <a:solidFill>
                            <a:srgbClr val="0000CC"/>
                          </a:solidFill>
                        </a:rPr>
                        <a:t>SYN</a:t>
                      </a:r>
                      <a:r>
                        <a:rPr lang="en-US" sz="1800" dirty="0" smtClean="0">
                          <a:solidFill>
                            <a:srgbClr val="0000CC"/>
                          </a:solidFill>
                        </a:rPr>
                        <a:t>/</a:t>
                      </a:r>
                      <a:r>
                        <a:rPr lang="en-US" sz="1800" dirty="0" err="1" smtClean="0">
                          <a:solidFill>
                            <a:srgbClr val="0000CC"/>
                          </a:solidFill>
                        </a:rPr>
                        <a:t>giây</a:t>
                      </a:r>
                      <a:r>
                        <a:rPr lang="en-US" sz="1800" dirty="0" smtClean="0">
                          <a:solidFill>
                            <a:srgbClr val="0000CC"/>
                          </a:solidFill>
                        </a:rPr>
                        <a:t>: </a:t>
                      </a:r>
                      <a:r>
                        <a:rPr lang="en-US" sz="1800" dirty="0" err="1" smtClean="0">
                          <a:solidFill>
                            <a:srgbClr val="0000CC"/>
                          </a:solidFill>
                        </a:rPr>
                        <a:t>Nghi</a:t>
                      </a:r>
                      <a:r>
                        <a:rPr lang="en-US" sz="1800" dirty="0" smtClean="0">
                          <a:solidFill>
                            <a:srgbClr val="0000CC"/>
                          </a:solidFill>
                        </a:rPr>
                        <a:t> </a:t>
                      </a:r>
                      <a:r>
                        <a:rPr lang="en-US" sz="1800" dirty="0" err="1">
                          <a:solidFill>
                            <a:srgbClr val="0000CC"/>
                          </a:solidFill>
                        </a:rPr>
                        <a:t>ngờ</a:t>
                      </a:r>
                      <a:r>
                        <a:rPr lang="en-US" sz="1800" dirty="0">
                          <a:solidFill>
                            <a:srgbClr val="0000CC"/>
                          </a:solidFill>
                        </a:rPr>
                        <a:t> </a:t>
                      </a:r>
                      <a:r>
                        <a:rPr lang="en-US" sz="1800" dirty="0" err="1">
                          <a:solidFill>
                            <a:srgbClr val="0000CC"/>
                          </a:solidFill>
                        </a:rPr>
                        <a:t>tấn</a:t>
                      </a:r>
                      <a:r>
                        <a:rPr lang="en-US" sz="1800" dirty="0">
                          <a:solidFill>
                            <a:srgbClr val="0000CC"/>
                          </a:solidFill>
                        </a:rPr>
                        <a:t> </a:t>
                      </a:r>
                      <a:r>
                        <a:rPr lang="en-US" sz="1800" dirty="0" err="1">
                          <a:solidFill>
                            <a:srgbClr val="0000CC"/>
                          </a:solidFill>
                        </a:rPr>
                        <a:t>công</a:t>
                      </a:r>
                      <a:r>
                        <a:rPr lang="en-US" sz="1800" dirty="0">
                          <a:solidFill>
                            <a:srgbClr val="0000CC"/>
                          </a:solidFill>
                        </a:rPr>
                        <a:t> </a:t>
                      </a:r>
                      <a:r>
                        <a:rPr lang="en-US" sz="1800" dirty="0" err="1">
                          <a:solidFill>
                            <a:srgbClr val="0000CC"/>
                          </a:solidFill>
                        </a:rPr>
                        <a:t>DoS</a:t>
                      </a:r>
                      <a:r>
                        <a:rPr lang="en-US" sz="1800" dirty="0">
                          <a:solidFill>
                            <a:srgbClr val="0000CC"/>
                          </a:solidFill>
                        </a:rPr>
                        <a:t>.</a:t>
                      </a:r>
                    </a:p>
                  </a:txBody>
                  <a:tcPr marL="47752" marR="47752" marT="23876" marB="23876" anchor="ctr"/>
                </a:tc>
                <a:extLst>
                  <a:ext uri="{0D108BD9-81ED-4DB2-BD59-A6C34878D82A}">
                    <a16:rowId xmlns:a16="http://schemas.microsoft.com/office/drawing/2014/main" val="989371886"/>
                  </a:ext>
                </a:extLst>
              </a:tr>
              <a:tr h="886559">
                <a:tc>
                  <a:txBody>
                    <a:bodyPr/>
                    <a:lstStyle/>
                    <a:p>
                      <a:pPr algn="ctr"/>
                      <a:r>
                        <a:rPr lang="en-US" sz="1800" dirty="0">
                          <a:solidFill>
                            <a:srgbClr val="0000CC"/>
                          </a:solidFill>
                        </a:rPr>
                        <a:t>2</a:t>
                      </a:r>
                    </a:p>
                  </a:txBody>
                  <a:tcPr marL="47752" marR="47752" marT="23876" marB="23876" anchor="ctr"/>
                </a:tc>
                <a:tc>
                  <a:txBody>
                    <a:bodyPr/>
                    <a:lstStyle/>
                    <a:p>
                      <a:pPr algn="ctr"/>
                      <a:r>
                        <a:rPr lang="en-US" sz="1800" dirty="0">
                          <a:solidFill>
                            <a:srgbClr val="0000CC"/>
                          </a:solidFill>
                        </a:rPr>
                        <a:t>Brute Force Login</a:t>
                      </a:r>
                    </a:p>
                  </a:txBody>
                  <a:tcPr marL="47752" marR="47752" marT="23876" marB="23876" anchor="ctr"/>
                </a:tc>
                <a:tc>
                  <a:txBody>
                    <a:bodyPr/>
                    <a:lstStyle/>
                    <a:p>
                      <a:pPr algn="l"/>
                      <a:r>
                        <a:rPr lang="en-US" sz="1800" dirty="0">
                          <a:solidFill>
                            <a:srgbClr val="FF00FF"/>
                          </a:solidFill>
                        </a:rPr>
                        <a:t>alert if failed login attempts &gt; 5/minute from same IP</a:t>
                      </a:r>
                    </a:p>
                  </a:txBody>
                  <a:tcPr marL="47752" marR="47752" marT="23876" marB="23876" anchor="ctr"/>
                </a:tc>
                <a:tc>
                  <a:txBody>
                    <a:bodyPr/>
                    <a:lstStyle/>
                    <a:p>
                      <a:r>
                        <a:rPr lang="en-US" sz="1800" dirty="0" err="1">
                          <a:solidFill>
                            <a:srgbClr val="0000CC"/>
                          </a:solidFill>
                        </a:rPr>
                        <a:t>Phát</a:t>
                      </a:r>
                      <a:r>
                        <a:rPr lang="en-US" sz="1800" dirty="0">
                          <a:solidFill>
                            <a:srgbClr val="0000CC"/>
                          </a:solidFill>
                        </a:rPr>
                        <a:t> </a:t>
                      </a:r>
                      <a:r>
                        <a:rPr lang="en-US" sz="1800" dirty="0" err="1">
                          <a:solidFill>
                            <a:srgbClr val="0000CC"/>
                          </a:solidFill>
                        </a:rPr>
                        <a:t>hiện</a:t>
                      </a:r>
                      <a:r>
                        <a:rPr lang="en-US" sz="1800" dirty="0">
                          <a:solidFill>
                            <a:srgbClr val="0000CC"/>
                          </a:solidFill>
                        </a:rPr>
                        <a:t> IP </a:t>
                      </a:r>
                      <a:r>
                        <a:rPr lang="en-US" sz="1800" dirty="0" err="1">
                          <a:solidFill>
                            <a:srgbClr val="0000CC"/>
                          </a:solidFill>
                        </a:rPr>
                        <a:t>thử</a:t>
                      </a:r>
                      <a:r>
                        <a:rPr lang="en-US" sz="1800" dirty="0">
                          <a:solidFill>
                            <a:srgbClr val="0000CC"/>
                          </a:solidFill>
                        </a:rPr>
                        <a:t> </a:t>
                      </a:r>
                      <a:r>
                        <a:rPr lang="en-US" sz="1800" dirty="0" err="1">
                          <a:solidFill>
                            <a:srgbClr val="0000CC"/>
                          </a:solidFill>
                        </a:rPr>
                        <a:t>đăng</a:t>
                      </a:r>
                      <a:r>
                        <a:rPr lang="en-US" sz="1800" dirty="0">
                          <a:solidFill>
                            <a:srgbClr val="0000CC"/>
                          </a:solidFill>
                        </a:rPr>
                        <a:t> </a:t>
                      </a:r>
                      <a:r>
                        <a:rPr lang="en-US" sz="1800" dirty="0" err="1">
                          <a:solidFill>
                            <a:srgbClr val="0000CC"/>
                          </a:solidFill>
                        </a:rPr>
                        <a:t>nhập</a:t>
                      </a:r>
                      <a:r>
                        <a:rPr lang="en-US" sz="1800" dirty="0">
                          <a:solidFill>
                            <a:srgbClr val="0000CC"/>
                          </a:solidFill>
                        </a:rPr>
                        <a:t> </a:t>
                      </a:r>
                      <a:r>
                        <a:rPr lang="en-US" sz="1800" dirty="0" err="1">
                          <a:solidFill>
                            <a:srgbClr val="0000CC"/>
                          </a:solidFill>
                        </a:rPr>
                        <a:t>thất</a:t>
                      </a:r>
                      <a:r>
                        <a:rPr lang="en-US" sz="1800" dirty="0">
                          <a:solidFill>
                            <a:srgbClr val="0000CC"/>
                          </a:solidFill>
                        </a:rPr>
                        <a:t> </a:t>
                      </a:r>
                      <a:r>
                        <a:rPr lang="en-US" sz="1800" dirty="0" err="1">
                          <a:solidFill>
                            <a:srgbClr val="0000CC"/>
                          </a:solidFill>
                        </a:rPr>
                        <a:t>bại</a:t>
                      </a:r>
                      <a:r>
                        <a:rPr lang="en-US" sz="1800" dirty="0">
                          <a:solidFill>
                            <a:srgbClr val="0000CC"/>
                          </a:solidFill>
                        </a:rPr>
                        <a:t> </a:t>
                      </a:r>
                      <a:r>
                        <a:rPr lang="en-US" sz="1800" dirty="0" err="1">
                          <a:solidFill>
                            <a:srgbClr val="0000CC"/>
                          </a:solidFill>
                        </a:rPr>
                        <a:t>quá</a:t>
                      </a:r>
                      <a:r>
                        <a:rPr lang="en-US" sz="1800" dirty="0">
                          <a:solidFill>
                            <a:srgbClr val="0000CC"/>
                          </a:solidFill>
                        </a:rPr>
                        <a:t> 5 </a:t>
                      </a:r>
                      <a:r>
                        <a:rPr lang="en-US" sz="1800" dirty="0" err="1">
                          <a:solidFill>
                            <a:srgbClr val="0000CC"/>
                          </a:solidFill>
                        </a:rPr>
                        <a:t>lần</a:t>
                      </a:r>
                      <a:r>
                        <a:rPr lang="en-US" sz="1800" dirty="0">
                          <a:solidFill>
                            <a:srgbClr val="0000CC"/>
                          </a:solidFill>
                        </a:rPr>
                        <a:t> </a:t>
                      </a:r>
                      <a:r>
                        <a:rPr lang="en-US" sz="1800" dirty="0" err="1">
                          <a:solidFill>
                            <a:srgbClr val="0000CC"/>
                          </a:solidFill>
                        </a:rPr>
                        <a:t>trong</a:t>
                      </a:r>
                      <a:r>
                        <a:rPr lang="en-US" sz="1800" dirty="0">
                          <a:solidFill>
                            <a:srgbClr val="0000CC"/>
                          </a:solidFill>
                        </a:rPr>
                        <a:t> 1 </a:t>
                      </a:r>
                      <a:r>
                        <a:rPr lang="en-US" sz="1800" dirty="0" err="1">
                          <a:solidFill>
                            <a:srgbClr val="0000CC"/>
                          </a:solidFill>
                        </a:rPr>
                        <a:t>phút</a:t>
                      </a:r>
                      <a:r>
                        <a:rPr lang="en-US" sz="1800" dirty="0">
                          <a:solidFill>
                            <a:srgbClr val="0000CC"/>
                          </a:solidFill>
                        </a:rPr>
                        <a:t>.</a:t>
                      </a:r>
                    </a:p>
                  </a:txBody>
                  <a:tcPr marL="47752" marR="47752" marT="23876" marB="23876" anchor="ctr"/>
                </a:tc>
                <a:extLst>
                  <a:ext uri="{0D108BD9-81ED-4DB2-BD59-A6C34878D82A}">
                    <a16:rowId xmlns:a16="http://schemas.microsoft.com/office/drawing/2014/main" val="1097137122"/>
                  </a:ext>
                </a:extLst>
              </a:tr>
              <a:tr h="886559">
                <a:tc>
                  <a:txBody>
                    <a:bodyPr/>
                    <a:lstStyle/>
                    <a:p>
                      <a:pPr algn="ctr"/>
                      <a:r>
                        <a:rPr lang="en-US" sz="1800" dirty="0">
                          <a:solidFill>
                            <a:srgbClr val="0000CC"/>
                          </a:solidFill>
                        </a:rPr>
                        <a:t>3</a:t>
                      </a:r>
                    </a:p>
                  </a:txBody>
                  <a:tcPr marL="47752" marR="47752" marT="23876" marB="23876" anchor="ctr"/>
                </a:tc>
                <a:tc>
                  <a:txBody>
                    <a:bodyPr/>
                    <a:lstStyle/>
                    <a:p>
                      <a:pPr algn="ctr"/>
                      <a:r>
                        <a:rPr lang="en-US" sz="1800" dirty="0">
                          <a:solidFill>
                            <a:srgbClr val="0000CC"/>
                          </a:solidFill>
                        </a:rPr>
                        <a:t>DNS Tunneling</a:t>
                      </a:r>
                    </a:p>
                  </a:txBody>
                  <a:tcPr marL="47752" marR="47752" marT="23876" marB="23876" anchor="ctr"/>
                </a:tc>
                <a:tc>
                  <a:txBody>
                    <a:bodyPr/>
                    <a:lstStyle/>
                    <a:p>
                      <a:pPr algn="l"/>
                      <a:r>
                        <a:rPr lang="en-US" sz="1800" dirty="0">
                          <a:solidFill>
                            <a:srgbClr val="FF00FF"/>
                          </a:solidFill>
                        </a:rPr>
                        <a:t>alert if </a:t>
                      </a:r>
                      <a:r>
                        <a:rPr lang="en-US" sz="1800" dirty="0" err="1">
                          <a:solidFill>
                            <a:srgbClr val="FF00FF"/>
                          </a:solidFill>
                        </a:rPr>
                        <a:t>avg</a:t>
                      </a:r>
                      <a:r>
                        <a:rPr lang="en-US" sz="1800" dirty="0">
                          <a:solidFill>
                            <a:srgbClr val="FF00FF"/>
                          </a:solidFill>
                        </a:rPr>
                        <a:t> DNS query length &gt; 100 bytes</a:t>
                      </a:r>
                    </a:p>
                  </a:txBody>
                  <a:tcPr marL="47752" marR="47752" marT="23876" marB="23876" anchor="ctr"/>
                </a:tc>
                <a:tc>
                  <a:txBody>
                    <a:bodyPr/>
                    <a:lstStyle/>
                    <a:p>
                      <a:r>
                        <a:rPr lang="vi-VN" sz="1800" dirty="0">
                          <a:solidFill>
                            <a:srgbClr val="0000CC"/>
                          </a:solidFill>
                        </a:rPr>
                        <a:t>Nếu gói DNS có độ dài bất thường (&gt;100 </a:t>
                      </a:r>
                      <a:r>
                        <a:rPr lang="vi-VN" sz="1800" dirty="0" smtClean="0">
                          <a:solidFill>
                            <a:srgbClr val="0000CC"/>
                          </a:solidFill>
                        </a:rPr>
                        <a:t>bytes)</a:t>
                      </a:r>
                      <a:r>
                        <a:rPr lang="en-US" sz="1800" dirty="0" smtClean="0">
                          <a:solidFill>
                            <a:srgbClr val="0000CC"/>
                          </a:solidFill>
                        </a:rPr>
                        <a:t>:</a:t>
                      </a:r>
                      <a:r>
                        <a:rPr lang="en-US" sz="1800" baseline="0" dirty="0" smtClean="0">
                          <a:solidFill>
                            <a:srgbClr val="0000CC"/>
                          </a:solidFill>
                        </a:rPr>
                        <a:t> N</a:t>
                      </a:r>
                      <a:r>
                        <a:rPr lang="vi-VN" sz="1800" dirty="0" smtClean="0">
                          <a:solidFill>
                            <a:srgbClr val="0000CC"/>
                          </a:solidFill>
                        </a:rPr>
                        <a:t>ghi </a:t>
                      </a:r>
                      <a:r>
                        <a:rPr lang="vi-VN" sz="1800" dirty="0">
                          <a:solidFill>
                            <a:srgbClr val="0000CC"/>
                          </a:solidFill>
                        </a:rPr>
                        <a:t>tunneling.</a:t>
                      </a:r>
                    </a:p>
                  </a:txBody>
                  <a:tcPr marL="47752" marR="47752" marT="23876" marB="23876" anchor="ctr"/>
                </a:tc>
                <a:extLst>
                  <a:ext uri="{0D108BD9-81ED-4DB2-BD59-A6C34878D82A}">
                    <a16:rowId xmlns:a16="http://schemas.microsoft.com/office/drawing/2014/main" val="2051844913"/>
                  </a:ext>
                </a:extLst>
              </a:tr>
              <a:tr h="886559">
                <a:tc>
                  <a:txBody>
                    <a:bodyPr/>
                    <a:lstStyle/>
                    <a:p>
                      <a:pPr algn="ctr"/>
                      <a:r>
                        <a:rPr lang="en-US" sz="1800" dirty="0">
                          <a:solidFill>
                            <a:srgbClr val="0000CC"/>
                          </a:solidFill>
                        </a:rPr>
                        <a:t>4</a:t>
                      </a:r>
                    </a:p>
                  </a:txBody>
                  <a:tcPr marL="47752" marR="47752" marT="23876" marB="23876" anchor="ctr"/>
                </a:tc>
                <a:tc>
                  <a:txBody>
                    <a:bodyPr/>
                    <a:lstStyle/>
                    <a:p>
                      <a:pPr algn="ctr"/>
                      <a:r>
                        <a:rPr lang="en-US" sz="1800" dirty="0">
                          <a:solidFill>
                            <a:srgbClr val="0000CC"/>
                          </a:solidFill>
                        </a:rPr>
                        <a:t>Data Exfiltration</a:t>
                      </a:r>
                    </a:p>
                  </a:txBody>
                  <a:tcPr marL="47752" marR="47752" marT="23876" marB="23876" anchor="ctr"/>
                </a:tc>
                <a:tc>
                  <a:txBody>
                    <a:bodyPr/>
                    <a:lstStyle/>
                    <a:p>
                      <a:pPr algn="l"/>
                      <a:r>
                        <a:rPr lang="en-US" sz="1800" dirty="0">
                          <a:solidFill>
                            <a:srgbClr val="FF00FF"/>
                          </a:solidFill>
                        </a:rPr>
                        <a:t>alert if outbound traffic &gt; </a:t>
                      </a:r>
                      <a:r>
                        <a:rPr lang="en-US" sz="1800" dirty="0" err="1">
                          <a:solidFill>
                            <a:srgbClr val="FF00FF"/>
                          </a:solidFill>
                        </a:rPr>
                        <a:t>500MB</a:t>
                      </a:r>
                      <a:r>
                        <a:rPr lang="en-US" sz="1800" dirty="0">
                          <a:solidFill>
                            <a:srgbClr val="FF00FF"/>
                          </a:solidFill>
                        </a:rPr>
                        <a:t>/hour from single host</a:t>
                      </a:r>
                    </a:p>
                  </a:txBody>
                  <a:tcPr marL="47752" marR="47752" marT="23876" marB="23876" anchor="ctr"/>
                </a:tc>
                <a:tc>
                  <a:txBody>
                    <a:bodyPr/>
                    <a:lstStyle/>
                    <a:p>
                      <a:r>
                        <a:rPr lang="vi-VN" sz="1800" dirty="0">
                          <a:solidFill>
                            <a:srgbClr val="0000CC"/>
                          </a:solidFill>
                        </a:rPr>
                        <a:t>Máy trạm gửi dữ liệu ra ngoài vượt </a:t>
                      </a:r>
                      <a:r>
                        <a:rPr lang="vi-VN" sz="1800" dirty="0" smtClean="0">
                          <a:solidFill>
                            <a:srgbClr val="0000CC"/>
                          </a:solidFill>
                        </a:rPr>
                        <a:t>ngưỡng</a:t>
                      </a:r>
                      <a:r>
                        <a:rPr lang="en-US" sz="1800" dirty="0" smtClean="0">
                          <a:solidFill>
                            <a:srgbClr val="0000CC"/>
                          </a:solidFill>
                        </a:rPr>
                        <a:t>:</a:t>
                      </a:r>
                      <a:r>
                        <a:rPr lang="en-US" sz="1800" baseline="0" dirty="0" smtClean="0">
                          <a:solidFill>
                            <a:srgbClr val="0000CC"/>
                          </a:solidFill>
                        </a:rPr>
                        <a:t> </a:t>
                      </a:r>
                      <a:r>
                        <a:rPr lang="vi-VN" sz="1800" dirty="0" smtClean="0">
                          <a:solidFill>
                            <a:srgbClr val="0000CC"/>
                          </a:solidFill>
                        </a:rPr>
                        <a:t>ghi </a:t>
                      </a:r>
                      <a:r>
                        <a:rPr lang="vi-VN" sz="1800" dirty="0">
                          <a:solidFill>
                            <a:srgbClr val="0000CC"/>
                          </a:solidFill>
                        </a:rPr>
                        <a:t>rò rỉ dữ liệu.</a:t>
                      </a:r>
                    </a:p>
                  </a:txBody>
                  <a:tcPr marL="47752" marR="47752" marT="23876" marB="23876" anchor="ctr"/>
                </a:tc>
                <a:extLst>
                  <a:ext uri="{0D108BD9-81ED-4DB2-BD59-A6C34878D82A}">
                    <a16:rowId xmlns:a16="http://schemas.microsoft.com/office/drawing/2014/main" val="363868068"/>
                  </a:ext>
                </a:extLst>
              </a:tr>
              <a:tr h="1091149">
                <a:tc>
                  <a:txBody>
                    <a:bodyPr/>
                    <a:lstStyle/>
                    <a:p>
                      <a:pPr algn="ctr"/>
                      <a:r>
                        <a:rPr lang="en-US" sz="1800" dirty="0">
                          <a:solidFill>
                            <a:srgbClr val="0000CC"/>
                          </a:solidFill>
                        </a:rPr>
                        <a:t>5</a:t>
                      </a:r>
                    </a:p>
                  </a:txBody>
                  <a:tcPr marL="47752" marR="47752" marT="23876" marB="23876" anchor="ctr"/>
                </a:tc>
                <a:tc>
                  <a:txBody>
                    <a:bodyPr/>
                    <a:lstStyle/>
                    <a:p>
                      <a:pPr algn="ctr"/>
                      <a:r>
                        <a:rPr lang="en-US" sz="1800" dirty="0">
                          <a:solidFill>
                            <a:srgbClr val="0000CC"/>
                          </a:solidFill>
                        </a:rPr>
                        <a:t>Suspicious HTTP Behavior</a:t>
                      </a:r>
                    </a:p>
                  </a:txBody>
                  <a:tcPr marL="47752" marR="47752" marT="23876" marB="23876" anchor="ctr"/>
                </a:tc>
                <a:tc>
                  <a:txBody>
                    <a:bodyPr/>
                    <a:lstStyle/>
                    <a:p>
                      <a:pPr algn="l"/>
                      <a:r>
                        <a:rPr lang="en-US" sz="1800" dirty="0">
                          <a:solidFill>
                            <a:srgbClr val="FF00FF"/>
                          </a:solidFill>
                        </a:rPr>
                        <a:t>alert if </a:t>
                      </a:r>
                      <a:r>
                        <a:rPr lang="en-US" sz="1800" dirty="0" err="1">
                          <a:solidFill>
                            <a:srgbClr val="FF00FF"/>
                          </a:solidFill>
                        </a:rPr>
                        <a:t>user_agent</a:t>
                      </a:r>
                      <a:r>
                        <a:rPr lang="en-US" sz="1800" dirty="0">
                          <a:solidFill>
                            <a:srgbClr val="FF00FF"/>
                          </a:solidFill>
                        </a:rPr>
                        <a:t> not in whitelist</a:t>
                      </a:r>
                    </a:p>
                  </a:txBody>
                  <a:tcPr marL="47752" marR="47752" marT="23876" marB="23876" anchor="ctr"/>
                </a:tc>
                <a:tc>
                  <a:txBody>
                    <a:bodyPr/>
                    <a:lstStyle/>
                    <a:p>
                      <a:r>
                        <a:rPr lang="en-US" sz="1800" dirty="0" err="1">
                          <a:solidFill>
                            <a:srgbClr val="0000CC"/>
                          </a:solidFill>
                        </a:rPr>
                        <a:t>Nếu</a:t>
                      </a:r>
                      <a:r>
                        <a:rPr lang="en-US" sz="1800" dirty="0">
                          <a:solidFill>
                            <a:srgbClr val="0000CC"/>
                          </a:solidFill>
                        </a:rPr>
                        <a:t> </a:t>
                      </a:r>
                      <a:r>
                        <a:rPr lang="en-US" sz="1800" dirty="0" err="1">
                          <a:solidFill>
                            <a:srgbClr val="0000CC"/>
                          </a:solidFill>
                        </a:rPr>
                        <a:t>trình</a:t>
                      </a:r>
                      <a:r>
                        <a:rPr lang="en-US" sz="1800" dirty="0">
                          <a:solidFill>
                            <a:srgbClr val="0000CC"/>
                          </a:solidFill>
                        </a:rPr>
                        <a:t> </a:t>
                      </a:r>
                      <a:r>
                        <a:rPr lang="en-US" sz="1800" dirty="0" err="1">
                          <a:solidFill>
                            <a:srgbClr val="0000CC"/>
                          </a:solidFill>
                        </a:rPr>
                        <a:t>duyệt</a:t>
                      </a:r>
                      <a:r>
                        <a:rPr lang="en-US" sz="1800" dirty="0">
                          <a:solidFill>
                            <a:srgbClr val="0000CC"/>
                          </a:solidFill>
                        </a:rPr>
                        <a:t> </a:t>
                      </a:r>
                      <a:r>
                        <a:rPr lang="en-US" sz="1800" dirty="0" err="1">
                          <a:solidFill>
                            <a:srgbClr val="0000CC"/>
                          </a:solidFill>
                        </a:rPr>
                        <a:t>gửi</a:t>
                      </a:r>
                      <a:r>
                        <a:rPr lang="en-US" sz="1800" dirty="0">
                          <a:solidFill>
                            <a:srgbClr val="0000CC"/>
                          </a:solidFill>
                        </a:rPr>
                        <a:t> request </a:t>
                      </a:r>
                      <a:r>
                        <a:rPr lang="en-US" sz="1800" dirty="0" err="1">
                          <a:solidFill>
                            <a:srgbClr val="0000CC"/>
                          </a:solidFill>
                        </a:rPr>
                        <a:t>với</a:t>
                      </a:r>
                      <a:r>
                        <a:rPr lang="en-US" sz="1800" dirty="0">
                          <a:solidFill>
                            <a:srgbClr val="0000CC"/>
                          </a:solidFill>
                        </a:rPr>
                        <a:t> User-Agent </a:t>
                      </a:r>
                      <a:r>
                        <a:rPr lang="en-US" sz="1800" dirty="0" err="1">
                          <a:solidFill>
                            <a:srgbClr val="0000CC"/>
                          </a:solidFill>
                        </a:rPr>
                        <a:t>lạ</a:t>
                      </a:r>
                      <a:r>
                        <a:rPr lang="en-US" sz="1800" dirty="0">
                          <a:solidFill>
                            <a:srgbClr val="0000CC"/>
                          </a:solidFill>
                        </a:rPr>
                        <a:t> (</a:t>
                      </a:r>
                      <a:r>
                        <a:rPr lang="en-US" sz="1800" dirty="0" err="1">
                          <a:solidFill>
                            <a:srgbClr val="0000CC"/>
                          </a:solidFill>
                        </a:rPr>
                        <a:t>không</a:t>
                      </a:r>
                      <a:r>
                        <a:rPr lang="en-US" sz="1800" dirty="0">
                          <a:solidFill>
                            <a:srgbClr val="0000CC"/>
                          </a:solidFill>
                        </a:rPr>
                        <a:t> </a:t>
                      </a:r>
                      <a:r>
                        <a:rPr lang="en-US" sz="1800" dirty="0" err="1">
                          <a:solidFill>
                            <a:srgbClr val="0000CC"/>
                          </a:solidFill>
                        </a:rPr>
                        <a:t>nằm</a:t>
                      </a:r>
                      <a:r>
                        <a:rPr lang="en-US" sz="1800" dirty="0">
                          <a:solidFill>
                            <a:srgbClr val="0000CC"/>
                          </a:solidFill>
                        </a:rPr>
                        <a:t> </a:t>
                      </a:r>
                      <a:r>
                        <a:rPr lang="en-US" sz="1800" dirty="0" err="1">
                          <a:solidFill>
                            <a:srgbClr val="0000CC"/>
                          </a:solidFill>
                        </a:rPr>
                        <a:t>trong</a:t>
                      </a:r>
                      <a:r>
                        <a:rPr lang="en-US" sz="1800" dirty="0">
                          <a:solidFill>
                            <a:srgbClr val="0000CC"/>
                          </a:solidFill>
                        </a:rPr>
                        <a:t> </a:t>
                      </a:r>
                      <a:r>
                        <a:rPr lang="en-US" sz="1800" dirty="0" smtClean="0">
                          <a:solidFill>
                            <a:srgbClr val="0000CC"/>
                          </a:solidFill>
                        </a:rPr>
                        <a:t>whitelist):</a:t>
                      </a:r>
                      <a:r>
                        <a:rPr lang="en-US" sz="1800" baseline="0" dirty="0" smtClean="0">
                          <a:solidFill>
                            <a:srgbClr val="0000CC"/>
                          </a:solidFill>
                        </a:rPr>
                        <a:t> </a:t>
                      </a:r>
                      <a:r>
                        <a:rPr lang="en-US" sz="1800" baseline="0" dirty="0" err="1" smtClean="0">
                          <a:solidFill>
                            <a:srgbClr val="0000CC"/>
                          </a:solidFill>
                        </a:rPr>
                        <a:t>C</a:t>
                      </a:r>
                      <a:r>
                        <a:rPr lang="en-US" sz="1800" dirty="0" err="1" smtClean="0">
                          <a:solidFill>
                            <a:srgbClr val="0000CC"/>
                          </a:solidFill>
                        </a:rPr>
                        <a:t>ảnh</a:t>
                      </a:r>
                      <a:r>
                        <a:rPr lang="en-US" sz="1800" dirty="0" smtClean="0">
                          <a:solidFill>
                            <a:srgbClr val="0000CC"/>
                          </a:solidFill>
                        </a:rPr>
                        <a:t> </a:t>
                      </a:r>
                      <a:r>
                        <a:rPr lang="en-US" sz="1800" dirty="0" err="1">
                          <a:solidFill>
                            <a:srgbClr val="0000CC"/>
                          </a:solidFill>
                        </a:rPr>
                        <a:t>báo</a:t>
                      </a:r>
                      <a:r>
                        <a:rPr lang="en-US" sz="1800" dirty="0">
                          <a:solidFill>
                            <a:srgbClr val="0000CC"/>
                          </a:solidFill>
                        </a:rPr>
                        <a:t>.</a:t>
                      </a:r>
                    </a:p>
                  </a:txBody>
                  <a:tcPr marL="47752" marR="47752" marT="23876" marB="23876" anchor="ctr"/>
                </a:tc>
                <a:extLst>
                  <a:ext uri="{0D108BD9-81ED-4DB2-BD59-A6C34878D82A}">
                    <a16:rowId xmlns:a16="http://schemas.microsoft.com/office/drawing/2014/main" val="3272846588"/>
                  </a:ext>
                </a:extLst>
              </a:tr>
            </a:tbl>
          </a:graphicData>
        </a:graphic>
      </p:graphicFrame>
    </p:spTree>
    <p:extLst>
      <p:ext uri="{BB962C8B-B14F-4D97-AF65-F5344CB8AC3E}">
        <p14:creationId xmlns:p14="http://schemas.microsoft.com/office/powerpoint/2010/main" val="2729879636"/>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600" y="723805"/>
            <a:ext cx="10242645" cy="528851"/>
          </a:xfrm>
        </p:spPr>
        <p:txBody>
          <a:bodyPr/>
          <a:lstStyle/>
          <a:p>
            <a:r>
              <a:rPr lang="en-US" sz="2800" b="1" dirty="0">
                <a:solidFill>
                  <a:srgbClr val="0000CC"/>
                </a:solidFill>
                <a:latin typeface="Rockwell" panose="02060603020205020403" pitchFamily="18" charset="0"/>
              </a:rPr>
              <a:t>7</a:t>
            </a:r>
            <a:r>
              <a:rPr lang="en-US" sz="2800" b="1" dirty="0" smtClean="0">
                <a:solidFill>
                  <a:srgbClr val="0000CC"/>
                </a:solidFill>
                <a:latin typeface="Rockwell" panose="02060603020205020403" pitchFamily="18" charset="0"/>
              </a:rPr>
              <a:t>.3.</a:t>
            </a:r>
            <a:r>
              <a:rPr lang="vi-VN"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Chức</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năng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và</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mục</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đích</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sử</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dụng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của</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IDS</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600" y="843223"/>
            <a:ext cx="9587552" cy="4382729"/>
          </a:xfrm>
        </p:spPr>
        <p:txBody>
          <a:bodyPr/>
          <a:lstStyle/>
          <a:p>
            <a:pPr marL="0" indent="0">
              <a:spcBef>
                <a:spcPts val="600"/>
              </a:spcBef>
              <a:buNone/>
            </a:pPr>
            <a:endParaRPr lang="en-US" dirty="0" smtClean="0">
              <a:solidFill>
                <a:srgbClr val="0000CC"/>
              </a:solidFill>
              <a:latin typeface="Rockwell" panose="02060603020205020403" pitchFamily="18" charset="0"/>
              <a:ea typeface="+mj-ea"/>
              <a:cs typeface="+mj-cs"/>
            </a:endParaRPr>
          </a:p>
          <a:p>
            <a:pPr marL="0" indent="0">
              <a:spcBef>
                <a:spcPts val="600"/>
              </a:spcBef>
              <a:buNone/>
            </a:pPr>
            <a:endParaRPr lang="vi-VN" dirty="0">
              <a:solidFill>
                <a:srgbClr val="0000CC"/>
              </a:solidFill>
              <a:latin typeface="Rockwell" panose="02060603020205020403" pitchFamily="18" charset="0"/>
              <a:ea typeface="+mj-ea"/>
              <a:cs typeface="+mj-cs"/>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73958" y="1372074"/>
            <a:ext cx="9485194" cy="5233537"/>
          </a:xfrm>
          <a:prstGeom prst="rect">
            <a:avLst/>
          </a:prstGeom>
        </p:spPr>
      </p:pic>
    </p:spTree>
    <p:extLst>
      <p:ext uri="{BB962C8B-B14F-4D97-AF65-F5344CB8AC3E}">
        <p14:creationId xmlns:p14="http://schemas.microsoft.com/office/powerpoint/2010/main" val="1442684385"/>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599" y="876869"/>
            <a:ext cx="10242645" cy="528851"/>
          </a:xfrm>
        </p:spPr>
        <p:txBody>
          <a:bodyPr/>
          <a:lstStyle/>
          <a:p>
            <a:r>
              <a:rPr lang="en-US" sz="2800" b="1" dirty="0">
                <a:solidFill>
                  <a:srgbClr val="0000CC"/>
                </a:solidFill>
                <a:latin typeface="Rockwell" panose="02060603020205020403" pitchFamily="18" charset="0"/>
              </a:rPr>
              <a:t>7</a:t>
            </a:r>
            <a:r>
              <a:rPr lang="en-US" sz="2800" b="1" dirty="0" smtClean="0">
                <a:solidFill>
                  <a:srgbClr val="0000CC"/>
                </a:solidFill>
                <a:latin typeface="Rockwell" panose="02060603020205020403" pitchFamily="18" charset="0"/>
              </a:rPr>
              <a:t>.3.</a:t>
            </a:r>
            <a:r>
              <a:rPr lang="vi-VN"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Chức</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năng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và</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mục</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đích</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sử</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dụng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của</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IDS</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600" y="1539263"/>
            <a:ext cx="10092520" cy="4382729"/>
          </a:xfrm>
        </p:spPr>
        <p:txBody>
          <a:bodyPr/>
          <a:lstStyle/>
          <a:p>
            <a:pPr marL="0" indent="0">
              <a:buNone/>
            </a:pPr>
            <a:r>
              <a:rPr lang="en-US" b="1" dirty="0" smtClean="0">
                <a:solidFill>
                  <a:srgbClr val="0000CC"/>
                </a:solidFill>
                <a:latin typeface="Rockwell" panose="02060603020205020403" pitchFamily="18" charset="0"/>
                <a:ea typeface="+mj-ea"/>
                <a:cs typeface="+mj-cs"/>
              </a:rPr>
              <a:t>4.</a:t>
            </a:r>
            <a:r>
              <a:rPr lang="vi-VN" b="1" dirty="0" smtClean="0">
                <a:solidFill>
                  <a:srgbClr val="0000CC"/>
                </a:solidFill>
                <a:latin typeface="Rockwell" panose="02060603020205020403" pitchFamily="18" charset="0"/>
                <a:ea typeface="+mj-ea"/>
                <a:cs typeface="+mj-cs"/>
              </a:rPr>
              <a:t> </a:t>
            </a:r>
            <a:r>
              <a:rPr lang="vi-VN" b="1" dirty="0">
                <a:solidFill>
                  <a:srgbClr val="0000CC"/>
                </a:solidFill>
                <a:latin typeface="Rockwell" panose="02060603020205020403" pitchFamily="18" charset="0"/>
                <a:ea typeface="+mj-ea"/>
                <a:cs typeface="+mj-cs"/>
              </a:rPr>
              <a:t>Chức năng chính của </a:t>
            </a:r>
            <a:r>
              <a:rPr lang="vi-VN" b="1" dirty="0" smtClean="0">
                <a:solidFill>
                  <a:srgbClr val="0000CC"/>
                </a:solidFill>
                <a:latin typeface="Rockwell" panose="02060603020205020403" pitchFamily="18" charset="0"/>
                <a:ea typeface="+mj-ea"/>
                <a:cs typeface="+mj-cs"/>
              </a:rPr>
              <a:t>IDS</a:t>
            </a:r>
            <a:r>
              <a:rPr lang="en-US" b="1" dirty="0" smtClean="0">
                <a:solidFill>
                  <a:srgbClr val="0000CC"/>
                </a:solidFill>
                <a:latin typeface="Rockwell" panose="02060603020205020403" pitchFamily="18" charset="0"/>
                <a:ea typeface="+mj-ea"/>
                <a:cs typeface="+mj-cs"/>
              </a:rPr>
              <a:t> </a:t>
            </a:r>
            <a:r>
              <a:rPr lang="en-US" dirty="0">
                <a:solidFill>
                  <a:srgbClr val="0000CC"/>
                </a:solidFill>
                <a:latin typeface="Rockwell" panose="02060603020205020403" pitchFamily="18" charset="0"/>
              </a:rPr>
              <a:t>(</a:t>
            </a:r>
            <a:r>
              <a:rPr lang="en-US" dirty="0" err="1">
                <a:solidFill>
                  <a:srgbClr val="0000CC"/>
                </a:solidFill>
                <a:latin typeface="Rockwell" panose="02060603020205020403" pitchFamily="18" charset="0"/>
              </a:rPr>
              <a:t>không</a:t>
            </a:r>
            <a:r>
              <a:rPr lang="en-US" dirty="0">
                <a:solidFill>
                  <a:srgbClr val="0000CC"/>
                </a:solidFill>
                <a:latin typeface="Rockwell" panose="02060603020205020403" pitchFamily="18" charset="0"/>
              </a:rPr>
              <a:t> </a:t>
            </a:r>
            <a:r>
              <a:rPr lang="en-US" dirty="0" err="1">
                <a:solidFill>
                  <a:srgbClr val="0000CC"/>
                </a:solidFill>
                <a:latin typeface="Rockwell" panose="02060603020205020403" pitchFamily="18" charset="0"/>
              </a:rPr>
              <a:t>phân</a:t>
            </a:r>
            <a:r>
              <a:rPr lang="en-US" dirty="0">
                <a:solidFill>
                  <a:srgbClr val="0000CC"/>
                </a:solidFill>
                <a:latin typeface="Rockwell" panose="02060603020205020403" pitchFamily="18" charset="0"/>
              </a:rPr>
              <a:t> </a:t>
            </a:r>
            <a:r>
              <a:rPr lang="en-US" dirty="0" err="1">
                <a:solidFill>
                  <a:srgbClr val="0000CC"/>
                </a:solidFill>
                <a:latin typeface="Rockwell" panose="02060603020205020403" pitchFamily="18" charset="0"/>
              </a:rPr>
              <a:t>biệt</a:t>
            </a:r>
            <a:r>
              <a:rPr lang="en-US" dirty="0">
                <a:solidFill>
                  <a:srgbClr val="0000CC"/>
                </a:solidFill>
                <a:latin typeface="Rockwell" panose="02060603020205020403" pitchFamily="18" charset="0"/>
              </a:rPr>
              <a:t> IDS)</a:t>
            </a:r>
            <a:endParaRPr lang="vi-VN" b="1" dirty="0">
              <a:solidFill>
                <a:srgbClr val="0000CC"/>
              </a:solidFill>
              <a:latin typeface="Rockwell" panose="02060603020205020403" pitchFamily="18" charset="0"/>
              <a:ea typeface="+mj-ea"/>
              <a:cs typeface="+mj-cs"/>
            </a:endParaRPr>
          </a:p>
          <a:p>
            <a:r>
              <a:rPr lang="vi-VN" dirty="0">
                <a:solidFill>
                  <a:srgbClr val="0000CC"/>
                </a:solidFill>
                <a:latin typeface="Rockwell" panose="02060603020205020403" pitchFamily="18" charset="0"/>
                <a:ea typeface="+mj-ea"/>
                <a:cs typeface="+mj-cs"/>
              </a:rPr>
              <a:t>Giám sát và phân tích lưu lượng mạng và hoạt động hệ thống.</a:t>
            </a:r>
          </a:p>
          <a:p>
            <a:r>
              <a:rPr lang="vi-VN" dirty="0">
                <a:solidFill>
                  <a:srgbClr val="0000CC"/>
                </a:solidFill>
                <a:latin typeface="Rockwell" panose="02060603020205020403" pitchFamily="18" charset="0"/>
                <a:ea typeface="+mj-ea"/>
                <a:cs typeface="+mj-cs"/>
              </a:rPr>
              <a:t>Phát hiện các tấn công phổ biến: port scanning, brute-force login, malware, SQL injection, DDoS.</a:t>
            </a:r>
          </a:p>
          <a:p>
            <a:r>
              <a:rPr lang="vi-VN" dirty="0">
                <a:solidFill>
                  <a:srgbClr val="0000CC"/>
                </a:solidFill>
                <a:latin typeface="Rockwell" panose="02060603020205020403" pitchFamily="18" charset="0"/>
                <a:ea typeface="+mj-ea"/>
                <a:cs typeface="+mj-cs"/>
              </a:rPr>
              <a:t>Ghi log chi tiết phục vụ điều tra sự cố bảo mật.</a:t>
            </a:r>
          </a:p>
          <a:p>
            <a:r>
              <a:rPr lang="vi-VN" dirty="0">
                <a:solidFill>
                  <a:srgbClr val="0000CC"/>
                </a:solidFill>
                <a:latin typeface="Rockwell" panose="02060603020205020403" pitchFamily="18" charset="0"/>
                <a:ea typeface="+mj-ea"/>
                <a:cs typeface="+mj-cs"/>
              </a:rPr>
              <a:t>Cảnh báo kịp thời để quản trị viên có biện pháp xử lý.</a:t>
            </a:r>
          </a:p>
          <a:p>
            <a:r>
              <a:rPr lang="vi-VN" dirty="0">
                <a:solidFill>
                  <a:srgbClr val="0000CC"/>
                </a:solidFill>
                <a:latin typeface="Rockwell" panose="02060603020205020403" pitchFamily="18" charset="0"/>
                <a:ea typeface="+mj-ea"/>
                <a:cs typeface="+mj-cs"/>
              </a:rPr>
              <a:t>Tích hợp với SIEM hoặc hệ thống bảo mật khác để nâng cao hiệu quả phòng thủ.</a:t>
            </a:r>
            <a:endParaRPr lang="en-US" sz="2600" i="1" dirty="0">
              <a:solidFill>
                <a:srgbClr val="FF00FF"/>
              </a:solidFill>
              <a:latin typeface="Rockwell" panose="02060603020205020403" pitchFamily="18" charset="0"/>
              <a:ea typeface="+mj-ea"/>
              <a:cs typeface="+mj-cs"/>
            </a:endParaRPr>
          </a:p>
        </p:txBody>
      </p:sp>
    </p:spTree>
    <p:extLst>
      <p:ext uri="{BB962C8B-B14F-4D97-AF65-F5344CB8AC3E}">
        <p14:creationId xmlns:p14="http://schemas.microsoft.com/office/powerpoint/2010/main" val="966048919"/>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599" y="876869"/>
            <a:ext cx="10242645" cy="528851"/>
          </a:xfrm>
        </p:spPr>
        <p:txBody>
          <a:bodyPr/>
          <a:lstStyle/>
          <a:p>
            <a:r>
              <a:rPr lang="en-US" sz="2800" b="1" dirty="0">
                <a:solidFill>
                  <a:srgbClr val="0000CC"/>
                </a:solidFill>
                <a:latin typeface="Rockwell" panose="02060603020205020403" pitchFamily="18" charset="0"/>
              </a:rPr>
              <a:t>7</a:t>
            </a:r>
            <a:r>
              <a:rPr lang="en-US" sz="2800" b="1" dirty="0" smtClean="0">
                <a:solidFill>
                  <a:srgbClr val="0000CC"/>
                </a:solidFill>
                <a:latin typeface="Rockwell" panose="02060603020205020403" pitchFamily="18" charset="0"/>
              </a:rPr>
              <a:t>.3.</a:t>
            </a:r>
            <a:r>
              <a:rPr lang="vi-VN"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Chức</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năng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và</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mục</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đích</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sử</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dụng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của</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IDS</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600" y="1539263"/>
            <a:ext cx="10092520" cy="4382729"/>
          </a:xfrm>
        </p:spPr>
        <p:txBody>
          <a:bodyPr/>
          <a:lstStyle/>
          <a:p>
            <a:pPr marL="0" indent="0">
              <a:spcBef>
                <a:spcPts val="600"/>
              </a:spcBef>
              <a:buNone/>
            </a:pPr>
            <a:r>
              <a:rPr lang="en-US" b="1" dirty="0" smtClean="0">
                <a:solidFill>
                  <a:srgbClr val="0000CC"/>
                </a:solidFill>
                <a:latin typeface="Rockwell" panose="02060603020205020403" pitchFamily="18" charset="0"/>
                <a:ea typeface="+mj-ea"/>
                <a:cs typeface="+mj-cs"/>
              </a:rPr>
              <a:t>5. </a:t>
            </a:r>
            <a:r>
              <a:rPr lang="vi-VN" b="1" dirty="0" smtClean="0">
                <a:solidFill>
                  <a:srgbClr val="0000CC"/>
                </a:solidFill>
                <a:latin typeface="Rockwell" panose="02060603020205020403" pitchFamily="18" charset="0"/>
                <a:ea typeface="+mj-ea"/>
                <a:cs typeface="+mj-cs"/>
              </a:rPr>
              <a:t>Mục </a:t>
            </a:r>
            <a:r>
              <a:rPr lang="vi-VN" b="1" dirty="0">
                <a:solidFill>
                  <a:srgbClr val="0000CC"/>
                </a:solidFill>
                <a:latin typeface="Rockwell" panose="02060603020205020403" pitchFamily="18" charset="0"/>
                <a:ea typeface="+mj-ea"/>
                <a:cs typeface="+mj-cs"/>
              </a:rPr>
              <a:t>đích sử dụng IDS trong mạng </a:t>
            </a:r>
            <a:r>
              <a:rPr lang="vi-VN" b="1" dirty="0" smtClean="0">
                <a:solidFill>
                  <a:srgbClr val="0000CC"/>
                </a:solidFill>
                <a:latin typeface="Rockwell" panose="02060603020205020403" pitchFamily="18" charset="0"/>
                <a:ea typeface="+mj-ea"/>
                <a:cs typeface="+mj-cs"/>
              </a:rPr>
              <a:t>E-commerce</a:t>
            </a:r>
            <a:r>
              <a:rPr lang="en-US" b="1" dirty="0" smtClean="0">
                <a:solidFill>
                  <a:srgbClr val="0000CC"/>
                </a:solidFill>
                <a:latin typeface="Rockwell" panose="02060603020205020403" pitchFamily="18" charset="0"/>
                <a:ea typeface="+mj-ea"/>
                <a:cs typeface="+mj-cs"/>
              </a:rPr>
              <a:t> </a:t>
            </a:r>
          </a:p>
          <a:p>
            <a:pPr marL="0" indent="0">
              <a:spcBef>
                <a:spcPts val="0"/>
              </a:spcBef>
              <a:buNone/>
            </a:pPr>
            <a:r>
              <a:rPr lang="en-US" dirty="0" smtClean="0">
                <a:solidFill>
                  <a:srgbClr val="0000CC"/>
                </a:solidFill>
                <a:latin typeface="Rockwell" panose="02060603020205020403" pitchFamily="18" charset="0"/>
              </a:rPr>
              <a:t>(</a:t>
            </a:r>
            <a:r>
              <a:rPr lang="en-US" dirty="0" err="1">
                <a:solidFill>
                  <a:srgbClr val="0000CC"/>
                </a:solidFill>
                <a:latin typeface="Rockwell" panose="02060603020205020403" pitchFamily="18" charset="0"/>
              </a:rPr>
              <a:t>không</a:t>
            </a:r>
            <a:r>
              <a:rPr lang="en-US" dirty="0">
                <a:solidFill>
                  <a:srgbClr val="0000CC"/>
                </a:solidFill>
                <a:latin typeface="Rockwell" panose="02060603020205020403" pitchFamily="18" charset="0"/>
              </a:rPr>
              <a:t> </a:t>
            </a:r>
            <a:r>
              <a:rPr lang="en-US" dirty="0" err="1">
                <a:solidFill>
                  <a:srgbClr val="0000CC"/>
                </a:solidFill>
                <a:latin typeface="Rockwell" panose="02060603020205020403" pitchFamily="18" charset="0"/>
              </a:rPr>
              <a:t>phân</a:t>
            </a:r>
            <a:r>
              <a:rPr lang="en-US" dirty="0">
                <a:solidFill>
                  <a:srgbClr val="0000CC"/>
                </a:solidFill>
                <a:latin typeface="Rockwell" panose="02060603020205020403" pitchFamily="18" charset="0"/>
              </a:rPr>
              <a:t> </a:t>
            </a:r>
            <a:r>
              <a:rPr lang="en-US" dirty="0" err="1">
                <a:solidFill>
                  <a:srgbClr val="0000CC"/>
                </a:solidFill>
                <a:latin typeface="Rockwell" panose="02060603020205020403" pitchFamily="18" charset="0"/>
              </a:rPr>
              <a:t>biệt</a:t>
            </a:r>
            <a:r>
              <a:rPr lang="en-US" dirty="0">
                <a:solidFill>
                  <a:srgbClr val="0000CC"/>
                </a:solidFill>
                <a:latin typeface="Rockwell" panose="02060603020205020403" pitchFamily="18" charset="0"/>
              </a:rPr>
              <a:t> IDS)</a:t>
            </a:r>
            <a:endParaRPr lang="vi-VN" b="1" dirty="0">
              <a:solidFill>
                <a:srgbClr val="0000CC"/>
              </a:solidFill>
              <a:latin typeface="Rockwell" panose="02060603020205020403" pitchFamily="18" charset="0"/>
              <a:ea typeface="+mj-ea"/>
              <a:cs typeface="+mj-cs"/>
            </a:endParaRPr>
          </a:p>
          <a:p>
            <a:r>
              <a:rPr lang="vi-VN" dirty="0">
                <a:solidFill>
                  <a:srgbClr val="0000CC"/>
                </a:solidFill>
                <a:latin typeface="Rockwell" panose="02060603020205020403" pitchFamily="18" charset="0"/>
                <a:ea typeface="+mj-ea"/>
                <a:cs typeface="+mj-cs"/>
              </a:rPr>
              <a:t>Bảo vệ giao dịch thương mại điện tử khỏi các cuộc tấn công mạng nhắm vào web server, database.</a:t>
            </a:r>
          </a:p>
          <a:p>
            <a:r>
              <a:rPr lang="vi-VN" dirty="0">
                <a:solidFill>
                  <a:srgbClr val="0000CC"/>
                </a:solidFill>
                <a:latin typeface="Rockwell" panose="02060603020205020403" pitchFamily="18" charset="0"/>
                <a:ea typeface="+mj-ea"/>
                <a:cs typeface="+mj-cs"/>
              </a:rPr>
              <a:t>Phát hiện sớm dấu hiệu tấn công mà Firewall không chặn được (ví dụ: tấn công ứng dụng web).</a:t>
            </a:r>
          </a:p>
          <a:p>
            <a:r>
              <a:rPr lang="vi-VN" dirty="0">
                <a:solidFill>
                  <a:srgbClr val="0000CC"/>
                </a:solidFill>
                <a:latin typeface="Rockwell" panose="02060603020205020403" pitchFamily="18" charset="0"/>
                <a:ea typeface="+mj-ea"/>
                <a:cs typeface="+mj-cs"/>
              </a:rPr>
              <a:t>Ngăn chặn thất thoát dữ liệu khách hàng (thông tin cá nhân, tài khoản ngân hàng).</a:t>
            </a:r>
          </a:p>
          <a:p>
            <a:r>
              <a:rPr lang="vi-VN" dirty="0">
                <a:solidFill>
                  <a:srgbClr val="0000CC"/>
                </a:solidFill>
                <a:latin typeface="Rockwell" panose="02060603020205020403" pitchFamily="18" charset="0"/>
                <a:ea typeface="+mj-ea"/>
                <a:cs typeface="+mj-cs"/>
              </a:rPr>
              <a:t>Hỗ trợ tuân thủ các tiêu chuẩn bảo mật trong E-commerce như PCI DSS.</a:t>
            </a:r>
          </a:p>
          <a:p>
            <a:r>
              <a:rPr lang="vi-VN" dirty="0">
                <a:solidFill>
                  <a:srgbClr val="0000CC"/>
                </a:solidFill>
                <a:latin typeface="Rockwell" panose="02060603020205020403" pitchFamily="18" charset="0"/>
                <a:ea typeface="+mj-ea"/>
                <a:cs typeface="+mj-cs"/>
              </a:rPr>
              <a:t>Tạo lớp giám sát an ninh bổ sung giúp hệ thống E-commerce duy trì tính sẵn sàng, an toàn và tin cậy.</a:t>
            </a:r>
            <a:endParaRPr lang="en-US" sz="2600" i="1" dirty="0">
              <a:solidFill>
                <a:srgbClr val="FF00FF"/>
              </a:solidFill>
              <a:latin typeface="Rockwell" panose="02060603020205020403" pitchFamily="18" charset="0"/>
              <a:ea typeface="+mj-ea"/>
              <a:cs typeface="+mj-cs"/>
            </a:endParaRPr>
          </a:p>
        </p:txBody>
      </p:sp>
    </p:spTree>
    <p:extLst>
      <p:ext uri="{BB962C8B-B14F-4D97-AF65-F5344CB8AC3E}">
        <p14:creationId xmlns:p14="http://schemas.microsoft.com/office/powerpoint/2010/main" val="1482657210"/>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599" y="876869"/>
            <a:ext cx="10242645" cy="528851"/>
          </a:xfrm>
        </p:spPr>
        <p:txBody>
          <a:bodyPr/>
          <a:lstStyle/>
          <a:p>
            <a:r>
              <a:rPr lang="en-US" sz="2800" b="1" dirty="0" smtClean="0">
                <a:solidFill>
                  <a:srgbClr val="0000CC"/>
                </a:solidFill>
                <a:latin typeface="Rockwell" panose="02060603020205020403" pitchFamily="18" charset="0"/>
              </a:rPr>
              <a:t>7.4.</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Yêu</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cầu</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bảo</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mật</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đối</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với</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hạ</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tầng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mạng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E-Commerce</a:t>
            </a:r>
            <a:r>
              <a:rPr lang="en-US" sz="2800" b="1" dirty="0" smtClean="0">
                <a:solidFill>
                  <a:srgbClr val="0000CC"/>
                </a:solidFill>
                <a:latin typeface="Rockwell" panose="02060603020205020403" pitchFamily="18" charset="0"/>
              </a:rPr>
              <a:t> </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600" y="1539263"/>
            <a:ext cx="10242644" cy="4382729"/>
          </a:xfrm>
        </p:spPr>
        <p:txBody>
          <a:bodyPr/>
          <a:lstStyle/>
          <a:p>
            <a:pPr marL="0" indent="0">
              <a:buNone/>
            </a:pPr>
            <a:r>
              <a:rPr lang="vi-VN" dirty="0" smtClean="0">
                <a:solidFill>
                  <a:srgbClr val="0000CC"/>
                </a:solidFill>
                <a:latin typeface="Rockwell" panose="02060603020205020403" pitchFamily="18" charset="0"/>
                <a:ea typeface="+mj-ea"/>
                <a:cs typeface="+mj-cs"/>
              </a:rPr>
              <a:t>Để </a:t>
            </a:r>
            <a:r>
              <a:rPr lang="vi-VN" dirty="0">
                <a:solidFill>
                  <a:srgbClr val="0000CC"/>
                </a:solidFill>
                <a:latin typeface="Rockwell" panose="02060603020205020403" pitchFamily="18" charset="0"/>
                <a:ea typeface="+mj-ea"/>
                <a:cs typeface="+mj-cs"/>
              </a:rPr>
              <a:t>đảm bảo hệ thống thương mại điện tử vận hành ổn định, an toàn và hiệu quả, hạ tầng mạng cần đáp ứng những yêu cầu bảo mật (BM) sau:</a:t>
            </a:r>
          </a:p>
          <a:p>
            <a:pPr marL="0" indent="0">
              <a:buNone/>
            </a:pPr>
            <a:r>
              <a:rPr lang="vi-VN" b="1" dirty="0">
                <a:solidFill>
                  <a:srgbClr val="0000CC"/>
                </a:solidFill>
                <a:latin typeface="Rockwell" panose="02060603020205020403" pitchFamily="18" charset="0"/>
                <a:ea typeface="+mj-ea"/>
                <a:cs typeface="+mj-cs"/>
              </a:rPr>
              <a:t>1. Bảo mật dữ liệu (Data Security)</a:t>
            </a:r>
          </a:p>
          <a:p>
            <a:r>
              <a:rPr lang="vi-VN" dirty="0">
                <a:solidFill>
                  <a:srgbClr val="0000CC"/>
                </a:solidFill>
                <a:latin typeface="Rockwell" panose="02060603020205020403" pitchFamily="18" charset="0"/>
                <a:ea typeface="+mj-ea"/>
                <a:cs typeface="+mj-cs"/>
              </a:rPr>
              <a:t>Mã hóa dữ liệu khi truyền tải qua Internet (SSL/TLS, VPN).</a:t>
            </a:r>
          </a:p>
          <a:p>
            <a:r>
              <a:rPr lang="vi-VN" dirty="0">
                <a:solidFill>
                  <a:srgbClr val="0000CC"/>
                </a:solidFill>
                <a:latin typeface="Rockwell" panose="02060603020205020403" pitchFamily="18" charset="0"/>
                <a:ea typeface="+mj-ea"/>
                <a:cs typeface="+mj-cs"/>
              </a:rPr>
              <a:t>Bảo vệ cơ sở dữ liệu chứa thông tin khách hàng, đơn hàng, thanh toán.</a:t>
            </a:r>
          </a:p>
          <a:p>
            <a:r>
              <a:rPr lang="vi-VN" dirty="0">
                <a:solidFill>
                  <a:srgbClr val="0000CC"/>
                </a:solidFill>
                <a:latin typeface="Rockwell" panose="02060603020205020403" pitchFamily="18" charset="0"/>
                <a:ea typeface="+mj-ea"/>
                <a:cs typeface="+mj-cs"/>
              </a:rPr>
              <a:t>Kiểm soát truy cập nhằm ngăn chặn truy vấn trái phép vào dữ liệu quan trọng.</a:t>
            </a:r>
            <a:r>
              <a:rPr lang="en-US" dirty="0" smtClean="0">
                <a:solidFill>
                  <a:srgbClr val="0000CC"/>
                </a:solidFill>
                <a:latin typeface="Rockwell" panose="02060603020205020403" pitchFamily="18" charset="0"/>
                <a:ea typeface="+mj-ea"/>
                <a:cs typeface="+mj-cs"/>
              </a:rPr>
              <a:t> </a:t>
            </a:r>
            <a:endParaRPr lang="vi-VN" dirty="0">
              <a:solidFill>
                <a:srgbClr val="0000CC"/>
              </a:solidFill>
              <a:latin typeface="Rockwell" panose="02060603020205020403" pitchFamily="18" charset="0"/>
              <a:ea typeface="+mj-ea"/>
              <a:cs typeface="+mj-cs"/>
            </a:endParaRPr>
          </a:p>
          <a:p>
            <a:endParaRPr lang="en-US" dirty="0"/>
          </a:p>
        </p:txBody>
      </p:sp>
    </p:spTree>
    <p:extLst>
      <p:ext uri="{BB962C8B-B14F-4D97-AF65-F5344CB8AC3E}">
        <p14:creationId xmlns:p14="http://schemas.microsoft.com/office/powerpoint/2010/main" val="3009006640"/>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599" y="876869"/>
            <a:ext cx="10242645" cy="528851"/>
          </a:xfrm>
        </p:spPr>
        <p:txBody>
          <a:bodyPr/>
          <a:lstStyle/>
          <a:p>
            <a:r>
              <a:rPr lang="en-US" sz="2800" b="1" dirty="0" smtClean="0">
                <a:solidFill>
                  <a:srgbClr val="0000CC"/>
                </a:solidFill>
                <a:latin typeface="Rockwell" panose="02060603020205020403" pitchFamily="18" charset="0"/>
              </a:rPr>
              <a:t>7.4.</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Yêu</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cầu</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bảo</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mật</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đối</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với</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hạ</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tầng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mạng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E-Commerce</a:t>
            </a:r>
            <a:r>
              <a:rPr lang="en-US" sz="2800" b="1" dirty="0">
                <a:solidFill>
                  <a:srgbClr val="0000CC"/>
                </a:solidFill>
                <a:latin typeface="Rockwell" panose="02060603020205020403" pitchFamily="18" charset="0"/>
              </a:rPr>
              <a:t> </a:t>
            </a: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599" y="1539263"/>
            <a:ext cx="10242645" cy="4382729"/>
          </a:xfrm>
        </p:spPr>
        <p:txBody>
          <a:bodyPr/>
          <a:lstStyle/>
          <a:p>
            <a:pPr marL="0" indent="0">
              <a:buNone/>
            </a:pPr>
            <a:r>
              <a:rPr lang="vi-VN" b="1" dirty="0" smtClean="0">
                <a:solidFill>
                  <a:srgbClr val="0000CC"/>
                </a:solidFill>
                <a:latin typeface="Rockwell" panose="02060603020205020403" pitchFamily="18" charset="0"/>
                <a:ea typeface="+mj-ea"/>
                <a:cs typeface="+mj-cs"/>
              </a:rPr>
              <a:t>2</a:t>
            </a:r>
            <a:r>
              <a:rPr lang="vi-VN" b="1" dirty="0">
                <a:solidFill>
                  <a:srgbClr val="0000CC"/>
                </a:solidFill>
                <a:latin typeface="Rockwell" panose="02060603020205020403" pitchFamily="18" charset="0"/>
                <a:ea typeface="+mj-ea"/>
                <a:cs typeface="+mj-cs"/>
              </a:rPr>
              <a:t>. Xác thực và kiểm soát truy cập (Authentication &amp; Access Control)</a:t>
            </a:r>
          </a:p>
          <a:p>
            <a:r>
              <a:rPr lang="vi-VN" dirty="0">
                <a:solidFill>
                  <a:srgbClr val="0000CC"/>
                </a:solidFill>
                <a:latin typeface="Rockwell" panose="02060603020205020403" pitchFamily="18" charset="0"/>
                <a:ea typeface="+mj-ea"/>
                <a:cs typeface="+mj-cs"/>
              </a:rPr>
              <a:t>Sử dụng cơ chế xác thực mạnh: </a:t>
            </a:r>
            <a:r>
              <a:rPr lang="en-US" dirty="0" smtClean="0">
                <a:solidFill>
                  <a:srgbClr val="0000CC"/>
                </a:solidFill>
                <a:latin typeface="Rockwell" panose="02060603020205020403" pitchFamily="18" charset="0"/>
                <a:ea typeface="+mj-ea"/>
                <a:cs typeface="+mj-cs"/>
              </a:rPr>
              <a:t>M</a:t>
            </a:r>
            <a:r>
              <a:rPr lang="vi-VN" dirty="0" smtClean="0">
                <a:solidFill>
                  <a:srgbClr val="0000CC"/>
                </a:solidFill>
                <a:latin typeface="Rockwell" panose="02060603020205020403" pitchFamily="18" charset="0"/>
                <a:ea typeface="+mj-ea"/>
                <a:cs typeface="+mj-cs"/>
              </a:rPr>
              <a:t>ật </a:t>
            </a:r>
            <a:r>
              <a:rPr lang="vi-VN" dirty="0">
                <a:solidFill>
                  <a:srgbClr val="0000CC"/>
                </a:solidFill>
                <a:latin typeface="Rockwell" panose="02060603020205020403" pitchFamily="18" charset="0"/>
                <a:ea typeface="+mj-ea"/>
                <a:cs typeface="+mj-cs"/>
              </a:rPr>
              <a:t>khẩu phức tạp, OTP, xác </a:t>
            </a:r>
            <a:r>
              <a:rPr lang="vi-VN" dirty="0" smtClean="0">
                <a:solidFill>
                  <a:srgbClr val="0000CC"/>
                </a:solidFill>
                <a:latin typeface="Rockwell" panose="02060603020205020403" pitchFamily="18" charset="0"/>
                <a:ea typeface="+mj-ea"/>
                <a:cs typeface="+mj-cs"/>
              </a:rPr>
              <a:t>thực</a:t>
            </a:r>
            <a:r>
              <a:rPr lang="en-US" dirty="0" smtClean="0">
                <a:solidFill>
                  <a:srgbClr val="0000CC"/>
                </a:solidFill>
                <a:latin typeface="Rockwell" panose="02060603020205020403" pitchFamily="18" charset="0"/>
                <a:ea typeface="+mj-ea"/>
                <a:cs typeface="+mj-cs"/>
              </a:rPr>
              <a:t> </a:t>
            </a:r>
            <a:r>
              <a:rPr lang="vi-VN" dirty="0" smtClean="0">
                <a:solidFill>
                  <a:srgbClr val="0000CC"/>
                </a:solidFill>
                <a:latin typeface="Rockwell" panose="02060603020205020403" pitchFamily="18" charset="0"/>
                <a:ea typeface="+mj-ea"/>
                <a:cs typeface="+mj-cs"/>
              </a:rPr>
              <a:t>MFA.</a:t>
            </a:r>
            <a:endParaRPr lang="vi-VN" dirty="0">
              <a:solidFill>
                <a:srgbClr val="0000CC"/>
              </a:solidFill>
              <a:latin typeface="Rockwell" panose="02060603020205020403" pitchFamily="18" charset="0"/>
              <a:ea typeface="+mj-ea"/>
              <a:cs typeface="+mj-cs"/>
            </a:endParaRPr>
          </a:p>
          <a:p>
            <a:r>
              <a:rPr lang="vi-VN" dirty="0">
                <a:solidFill>
                  <a:srgbClr val="0000CC"/>
                </a:solidFill>
                <a:latin typeface="Rockwell" panose="02060603020205020403" pitchFamily="18" charset="0"/>
                <a:ea typeface="+mj-ea"/>
                <a:cs typeface="+mj-cs"/>
              </a:rPr>
              <a:t>Phân quyền theo vai trò (RBAC): </a:t>
            </a:r>
            <a:r>
              <a:rPr lang="en-US" dirty="0" smtClean="0">
                <a:solidFill>
                  <a:srgbClr val="0000CC"/>
                </a:solidFill>
                <a:latin typeface="Rockwell" panose="02060603020205020403" pitchFamily="18" charset="0"/>
                <a:ea typeface="+mj-ea"/>
                <a:cs typeface="+mj-cs"/>
              </a:rPr>
              <a:t>K</a:t>
            </a:r>
            <a:r>
              <a:rPr lang="en-US" dirty="0">
                <a:solidFill>
                  <a:srgbClr val="0000CC"/>
                </a:solidFill>
                <a:latin typeface="Rockwell" panose="02060603020205020403" pitchFamily="18" charset="0"/>
                <a:ea typeface="+mj-ea"/>
                <a:cs typeface="+mj-cs"/>
              </a:rPr>
              <a:t>/</a:t>
            </a:r>
            <a:r>
              <a:rPr lang="vi-VN" dirty="0" smtClean="0">
                <a:solidFill>
                  <a:srgbClr val="0000CC"/>
                </a:solidFill>
                <a:latin typeface="Rockwell" panose="02060603020205020403" pitchFamily="18" charset="0"/>
                <a:ea typeface="+mj-ea"/>
                <a:cs typeface="+mj-cs"/>
              </a:rPr>
              <a:t>hàng</a:t>
            </a:r>
            <a:r>
              <a:rPr lang="vi-VN" dirty="0">
                <a:solidFill>
                  <a:srgbClr val="0000CC"/>
                </a:solidFill>
                <a:latin typeface="Rockwell" panose="02060603020205020403" pitchFamily="18" charset="0"/>
                <a:ea typeface="+mj-ea"/>
                <a:cs typeface="+mj-cs"/>
              </a:rPr>
              <a:t>, nhân viên, quản trị </a:t>
            </a:r>
            <a:r>
              <a:rPr lang="vi-VN" dirty="0" smtClean="0">
                <a:solidFill>
                  <a:srgbClr val="0000CC"/>
                </a:solidFill>
                <a:latin typeface="Rockwell" panose="02060603020205020403" pitchFamily="18" charset="0"/>
                <a:ea typeface="+mj-ea"/>
                <a:cs typeface="+mj-cs"/>
              </a:rPr>
              <a:t>h</a:t>
            </a:r>
            <a:r>
              <a:rPr lang="en-US" dirty="0" smtClean="0">
                <a:solidFill>
                  <a:srgbClr val="0000CC"/>
                </a:solidFill>
                <a:latin typeface="Rockwell" panose="02060603020205020403" pitchFamily="18" charset="0"/>
                <a:ea typeface="+mj-ea"/>
                <a:cs typeface="+mj-cs"/>
              </a:rPr>
              <a:t>ệ </a:t>
            </a:r>
            <a:r>
              <a:rPr lang="vi-VN" dirty="0" smtClean="0">
                <a:solidFill>
                  <a:srgbClr val="0000CC"/>
                </a:solidFill>
                <a:latin typeface="Rockwell" panose="02060603020205020403" pitchFamily="18" charset="0"/>
                <a:ea typeface="+mj-ea"/>
                <a:cs typeface="+mj-cs"/>
              </a:rPr>
              <a:t>thống</a:t>
            </a:r>
            <a:r>
              <a:rPr lang="vi-VN" dirty="0">
                <a:solidFill>
                  <a:srgbClr val="0000CC"/>
                </a:solidFill>
                <a:latin typeface="Rockwell" panose="02060603020205020403" pitchFamily="18" charset="0"/>
                <a:ea typeface="+mj-ea"/>
                <a:cs typeface="+mj-cs"/>
              </a:rPr>
              <a:t>.</a:t>
            </a:r>
          </a:p>
          <a:p>
            <a:r>
              <a:rPr lang="vi-VN" dirty="0">
                <a:solidFill>
                  <a:srgbClr val="0000CC"/>
                </a:solidFill>
                <a:latin typeface="Rockwell" panose="02060603020205020403" pitchFamily="18" charset="0"/>
                <a:ea typeface="+mj-ea"/>
                <a:cs typeface="+mj-cs"/>
              </a:rPr>
              <a:t>Ghi nhật </a:t>
            </a:r>
            <a:r>
              <a:rPr lang="vi-VN" dirty="0" smtClean="0">
                <a:solidFill>
                  <a:srgbClr val="0000CC"/>
                </a:solidFill>
                <a:latin typeface="Rockwell" panose="02060603020205020403" pitchFamily="18" charset="0"/>
                <a:ea typeface="+mj-ea"/>
                <a:cs typeface="+mj-cs"/>
              </a:rPr>
              <a:t>ký </a:t>
            </a:r>
            <a:r>
              <a:rPr lang="vi-VN" dirty="0">
                <a:solidFill>
                  <a:srgbClr val="0000CC"/>
                </a:solidFill>
                <a:latin typeface="Rockwell" panose="02060603020205020403" pitchFamily="18" charset="0"/>
                <a:ea typeface="+mj-ea"/>
                <a:cs typeface="+mj-cs"/>
              </a:rPr>
              <a:t>và giám sát truy cập để phát hiện hành vi bất thường</a:t>
            </a:r>
            <a:r>
              <a:rPr lang="vi-VN" dirty="0" smtClean="0">
                <a:solidFill>
                  <a:srgbClr val="0000CC"/>
                </a:solidFill>
                <a:latin typeface="Rockwell" panose="02060603020205020403" pitchFamily="18" charset="0"/>
                <a:ea typeface="+mj-ea"/>
                <a:cs typeface="+mj-cs"/>
              </a:rPr>
              <a:t>.</a:t>
            </a:r>
            <a:endParaRPr lang="vi-VN" dirty="0">
              <a:solidFill>
                <a:srgbClr val="0000CC"/>
              </a:solidFill>
              <a:latin typeface="Rockwell" panose="02060603020205020403" pitchFamily="18" charset="0"/>
              <a:ea typeface="+mj-ea"/>
              <a:cs typeface="+mj-cs"/>
            </a:endParaRPr>
          </a:p>
          <a:p>
            <a:pPr marL="0" indent="0">
              <a:buNone/>
            </a:pPr>
            <a:r>
              <a:rPr lang="vi-VN" b="1" dirty="0">
                <a:solidFill>
                  <a:srgbClr val="0000CC"/>
                </a:solidFill>
                <a:latin typeface="Rockwell" panose="02060603020205020403" pitchFamily="18" charset="0"/>
                <a:ea typeface="+mj-ea"/>
                <a:cs typeface="+mj-cs"/>
              </a:rPr>
              <a:t>3. Bảo mật truyền thông (Communication Security)</a:t>
            </a:r>
          </a:p>
          <a:p>
            <a:r>
              <a:rPr lang="vi-VN" dirty="0">
                <a:solidFill>
                  <a:srgbClr val="0000CC"/>
                </a:solidFill>
                <a:latin typeface="Rockwell" panose="02060603020205020403" pitchFamily="18" charset="0"/>
                <a:ea typeface="+mj-ea"/>
                <a:cs typeface="+mj-cs"/>
              </a:rPr>
              <a:t>VPN cho truy cập từ xa an toàn.</a:t>
            </a:r>
          </a:p>
          <a:p>
            <a:r>
              <a:rPr lang="vi-VN" dirty="0">
                <a:solidFill>
                  <a:srgbClr val="0000CC"/>
                </a:solidFill>
                <a:latin typeface="Rockwell" panose="02060603020205020403" pitchFamily="18" charset="0"/>
                <a:ea typeface="+mj-ea"/>
                <a:cs typeface="+mj-cs"/>
              </a:rPr>
              <a:t>Firewall để kiểm soát luồng dữ liệu ra/vào mạng</a:t>
            </a:r>
            <a:r>
              <a:rPr lang="vi-VN" dirty="0" smtClean="0">
                <a:solidFill>
                  <a:srgbClr val="0000CC"/>
                </a:solidFill>
                <a:latin typeface="Rockwell" panose="02060603020205020403" pitchFamily="18" charset="0"/>
                <a:ea typeface="+mj-ea"/>
                <a:cs typeface="+mj-cs"/>
              </a:rPr>
              <a:t>.</a:t>
            </a:r>
            <a:r>
              <a:rPr lang="en-US" dirty="0" smtClean="0">
                <a:solidFill>
                  <a:srgbClr val="0000CC"/>
                </a:solidFill>
                <a:latin typeface="Rockwell" panose="02060603020205020403" pitchFamily="18" charset="0"/>
                <a:ea typeface="+mj-ea"/>
                <a:cs typeface="+mj-cs"/>
              </a:rPr>
              <a:t> Server </a:t>
            </a:r>
            <a:r>
              <a:rPr lang="en-US" dirty="0" err="1" smtClean="0">
                <a:solidFill>
                  <a:srgbClr val="0000CC"/>
                </a:solidFill>
                <a:latin typeface="Rockwell" panose="02060603020205020403" pitchFamily="18" charset="0"/>
                <a:ea typeface="+mj-ea"/>
                <a:cs typeface="+mj-cs"/>
              </a:rPr>
              <a:t>chứa</a:t>
            </a:r>
            <a:r>
              <a:rPr lang="en-US" dirty="0" smtClean="0">
                <a:solidFill>
                  <a:srgbClr val="0000CC"/>
                </a:solidFill>
                <a:latin typeface="Rockwell" panose="02060603020205020403" pitchFamily="18" charset="0"/>
                <a:ea typeface="+mj-ea"/>
                <a:cs typeface="+mj-cs"/>
              </a:rPr>
              <a:t> database </a:t>
            </a:r>
            <a:r>
              <a:rPr lang="en-US" dirty="0" err="1" smtClean="0">
                <a:solidFill>
                  <a:srgbClr val="0000CC"/>
                </a:solidFill>
                <a:latin typeface="Rockwell" panose="02060603020205020403" pitchFamily="18" charset="0"/>
                <a:ea typeface="+mj-ea"/>
                <a:cs typeface="+mj-cs"/>
              </a:rPr>
              <a:t>phải</a:t>
            </a:r>
            <a:r>
              <a:rPr lang="en-US" dirty="0" smtClean="0">
                <a:solidFill>
                  <a:srgbClr val="0000CC"/>
                </a:solidFill>
                <a:latin typeface="Rockwell" panose="02060603020205020403" pitchFamily="18" charset="0"/>
                <a:ea typeface="+mj-ea"/>
                <a:cs typeface="+mj-cs"/>
              </a:rPr>
              <a:t> </a:t>
            </a:r>
            <a:r>
              <a:rPr lang="en-US" dirty="0" err="1" smtClean="0">
                <a:solidFill>
                  <a:srgbClr val="0000CC"/>
                </a:solidFill>
                <a:latin typeface="Rockwell" panose="02060603020205020403" pitchFamily="18" charset="0"/>
                <a:ea typeface="+mj-ea"/>
                <a:cs typeface="+mj-cs"/>
              </a:rPr>
              <a:t>đặt</a:t>
            </a:r>
            <a:r>
              <a:rPr lang="en-US" dirty="0" smtClean="0">
                <a:solidFill>
                  <a:srgbClr val="0000CC"/>
                </a:solidFill>
                <a:latin typeface="Rockwell" panose="02060603020205020403" pitchFamily="18" charset="0"/>
                <a:ea typeface="+mj-ea"/>
                <a:cs typeface="+mj-cs"/>
              </a:rPr>
              <a:t> </a:t>
            </a:r>
            <a:r>
              <a:rPr lang="en-US" dirty="0" err="1" smtClean="0">
                <a:solidFill>
                  <a:srgbClr val="0000CC"/>
                </a:solidFill>
                <a:latin typeface="Rockwell" panose="02060603020205020403" pitchFamily="18" charset="0"/>
                <a:ea typeface="+mj-ea"/>
                <a:cs typeface="+mj-cs"/>
              </a:rPr>
              <a:t>trong</a:t>
            </a:r>
            <a:r>
              <a:rPr lang="en-US" dirty="0" smtClean="0">
                <a:solidFill>
                  <a:srgbClr val="0000CC"/>
                </a:solidFill>
                <a:latin typeface="Rockwell" panose="02060603020205020403" pitchFamily="18" charset="0"/>
                <a:ea typeface="+mj-ea"/>
                <a:cs typeface="+mj-cs"/>
              </a:rPr>
              <a:t> </a:t>
            </a:r>
            <a:r>
              <a:rPr lang="en-US" dirty="0" err="1" smtClean="0">
                <a:solidFill>
                  <a:srgbClr val="0000CC"/>
                </a:solidFill>
                <a:latin typeface="Rockwell" panose="02060603020205020403" pitchFamily="18" charset="0"/>
                <a:ea typeface="+mj-ea"/>
                <a:cs typeface="+mj-cs"/>
              </a:rPr>
              <a:t>một</a:t>
            </a:r>
            <a:r>
              <a:rPr lang="en-US" dirty="0" smtClean="0">
                <a:solidFill>
                  <a:srgbClr val="0000CC"/>
                </a:solidFill>
                <a:latin typeface="Rockwell" panose="02060603020205020403" pitchFamily="18" charset="0"/>
                <a:ea typeface="+mj-ea"/>
                <a:cs typeface="+mj-cs"/>
              </a:rPr>
              <a:t> DMZ </a:t>
            </a:r>
            <a:r>
              <a:rPr lang="en-US" dirty="0" err="1" smtClean="0">
                <a:solidFill>
                  <a:srgbClr val="0000CC"/>
                </a:solidFill>
                <a:latin typeface="Rockwell" panose="02060603020205020403" pitchFamily="18" charset="0"/>
                <a:ea typeface="+mj-ea"/>
                <a:cs typeface="+mj-cs"/>
              </a:rPr>
              <a:t>tách</a:t>
            </a:r>
            <a:r>
              <a:rPr lang="en-US" dirty="0" smtClean="0">
                <a:solidFill>
                  <a:srgbClr val="0000CC"/>
                </a:solidFill>
                <a:latin typeface="Rockwell" panose="02060603020205020403" pitchFamily="18" charset="0"/>
                <a:ea typeface="+mj-ea"/>
                <a:cs typeface="+mj-cs"/>
              </a:rPr>
              <a:t> </a:t>
            </a:r>
            <a:r>
              <a:rPr lang="en-US" dirty="0" err="1" smtClean="0">
                <a:solidFill>
                  <a:srgbClr val="0000CC"/>
                </a:solidFill>
                <a:latin typeface="Rockwell" panose="02060603020205020403" pitchFamily="18" charset="0"/>
                <a:ea typeface="+mj-ea"/>
                <a:cs typeface="+mj-cs"/>
              </a:rPr>
              <a:t>biệt</a:t>
            </a:r>
            <a:r>
              <a:rPr lang="en-US" dirty="0" smtClean="0">
                <a:solidFill>
                  <a:srgbClr val="0000CC"/>
                </a:solidFill>
                <a:latin typeface="Rockwell" panose="02060603020205020403" pitchFamily="18" charset="0"/>
                <a:ea typeface="+mj-ea"/>
                <a:cs typeface="+mj-cs"/>
              </a:rPr>
              <a:t>.</a:t>
            </a:r>
            <a:endParaRPr lang="vi-VN" dirty="0">
              <a:solidFill>
                <a:srgbClr val="0000CC"/>
              </a:solidFill>
              <a:latin typeface="Rockwell" panose="02060603020205020403" pitchFamily="18" charset="0"/>
              <a:ea typeface="+mj-ea"/>
              <a:cs typeface="+mj-cs"/>
            </a:endParaRPr>
          </a:p>
          <a:p>
            <a:r>
              <a:rPr lang="vi-VN" dirty="0">
                <a:solidFill>
                  <a:srgbClr val="0000CC"/>
                </a:solidFill>
                <a:latin typeface="Rockwell" panose="02060603020205020403" pitchFamily="18" charset="0"/>
                <a:ea typeface="+mj-ea"/>
                <a:cs typeface="+mj-cs"/>
              </a:rPr>
              <a:t>IDS/IPS để phát hiện và ngăn chặn tấn công mạng</a:t>
            </a:r>
            <a:r>
              <a:rPr lang="vi-VN" dirty="0" smtClean="0">
                <a:solidFill>
                  <a:srgbClr val="0000CC"/>
                </a:solidFill>
                <a:latin typeface="Rockwell" panose="02060603020205020403" pitchFamily="18" charset="0"/>
                <a:ea typeface="+mj-ea"/>
                <a:cs typeface="+mj-cs"/>
              </a:rPr>
              <a:t>.</a:t>
            </a:r>
            <a:r>
              <a:rPr lang="en-US" dirty="0">
                <a:solidFill>
                  <a:srgbClr val="0000CC"/>
                </a:solidFill>
                <a:latin typeface="Rockwell" panose="02060603020205020403" pitchFamily="18" charset="0"/>
              </a:rPr>
              <a:t> Server </a:t>
            </a:r>
            <a:r>
              <a:rPr lang="en-US" dirty="0" err="1">
                <a:solidFill>
                  <a:srgbClr val="0000CC"/>
                </a:solidFill>
                <a:latin typeface="Rockwell" panose="02060603020205020403" pitchFamily="18" charset="0"/>
              </a:rPr>
              <a:t>chứa</a:t>
            </a:r>
            <a:r>
              <a:rPr lang="en-US" dirty="0">
                <a:solidFill>
                  <a:srgbClr val="0000CC"/>
                </a:solidFill>
                <a:latin typeface="Rockwell" panose="02060603020205020403" pitchFamily="18" charset="0"/>
              </a:rPr>
              <a:t> database </a:t>
            </a:r>
            <a:r>
              <a:rPr lang="en-US" dirty="0" err="1" smtClean="0">
                <a:solidFill>
                  <a:srgbClr val="0000CC"/>
                </a:solidFill>
                <a:latin typeface="Rockwell" panose="02060603020205020403" pitchFamily="18" charset="0"/>
              </a:rPr>
              <a:t>phải</a:t>
            </a:r>
            <a:r>
              <a:rPr lang="en-US" dirty="0" smtClean="0">
                <a:solidFill>
                  <a:srgbClr val="0000CC"/>
                </a:solidFill>
                <a:latin typeface="Rockwell" panose="02060603020205020403" pitchFamily="18" charset="0"/>
              </a:rPr>
              <a:t> </a:t>
            </a:r>
            <a:r>
              <a:rPr lang="en-US" dirty="0" err="1" smtClean="0">
                <a:solidFill>
                  <a:srgbClr val="0000CC"/>
                </a:solidFill>
                <a:latin typeface="Rockwell" panose="02060603020205020403" pitchFamily="18" charset="0"/>
              </a:rPr>
              <a:t>triển</a:t>
            </a:r>
            <a:r>
              <a:rPr lang="en-US" dirty="0" smtClean="0">
                <a:solidFill>
                  <a:srgbClr val="0000CC"/>
                </a:solidFill>
                <a:latin typeface="Rockwell" panose="02060603020205020403" pitchFamily="18" charset="0"/>
              </a:rPr>
              <a:t> </a:t>
            </a:r>
            <a:r>
              <a:rPr lang="en-US" dirty="0" err="1" smtClean="0">
                <a:solidFill>
                  <a:srgbClr val="0000CC"/>
                </a:solidFill>
                <a:latin typeface="Rockwell" panose="02060603020205020403" pitchFamily="18" charset="0"/>
              </a:rPr>
              <a:t>khai</a:t>
            </a:r>
            <a:r>
              <a:rPr lang="en-US" dirty="0" smtClean="0">
                <a:solidFill>
                  <a:srgbClr val="0000CC"/>
                </a:solidFill>
                <a:latin typeface="Rockwell" panose="02060603020205020403" pitchFamily="18" charset="0"/>
              </a:rPr>
              <a:t> </a:t>
            </a:r>
            <a:r>
              <a:rPr lang="en-US" dirty="0" err="1" smtClean="0">
                <a:solidFill>
                  <a:srgbClr val="0000CC"/>
                </a:solidFill>
                <a:latin typeface="Rockwell" panose="02060603020205020403" pitchFamily="18" charset="0"/>
              </a:rPr>
              <a:t>cả</a:t>
            </a:r>
            <a:r>
              <a:rPr lang="vi-VN" dirty="0">
                <a:solidFill>
                  <a:srgbClr val="0000CC"/>
                </a:solidFill>
                <a:latin typeface="Rockwell" panose="02060603020205020403" pitchFamily="18" charset="0"/>
              </a:rPr>
              <a:t> Signature-based </a:t>
            </a:r>
            <a:r>
              <a:rPr lang="en-US" dirty="0" err="1" smtClean="0">
                <a:solidFill>
                  <a:srgbClr val="0000CC"/>
                </a:solidFill>
                <a:latin typeface="Rockwell" panose="02060603020205020403" pitchFamily="18" charset="0"/>
              </a:rPr>
              <a:t>và</a:t>
            </a:r>
            <a:r>
              <a:rPr lang="en-US" dirty="0" smtClean="0">
                <a:solidFill>
                  <a:srgbClr val="0000CC"/>
                </a:solidFill>
                <a:latin typeface="Rockwell" panose="02060603020205020403" pitchFamily="18" charset="0"/>
              </a:rPr>
              <a:t> </a:t>
            </a:r>
            <a:r>
              <a:rPr lang="vi-VN" dirty="0" smtClean="0">
                <a:solidFill>
                  <a:srgbClr val="0000CC"/>
                </a:solidFill>
                <a:latin typeface="Rockwell" panose="02060603020205020403" pitchFamily="18" charset="0"/>
              </a:rPr>
              <a:t>Anomaly-based.</a:t>
            </a:r>
            <a:r>
              <a:rPr lang="en-US" dirty="0" smtClean="0">
                <a:solidFill>
                  <a:srgbClr val="0000CC"/>
                </a:solidFill>
                <a:latin typeface="Rockwell" panose="02060603020205020403" pitchFamily="18" charset="0"/>
                <a:ea typeface="+mj-ea"/>
                <a:cs typeface="+mj-cs"/>
              </a:rPr>
              <a:t> </a:t>
            </a:r>
            <a:endParaRPr lang="vi-VN" dirty="0">
              <a:solidFill>
                <a:srgbClr val="0000CC"/>
              </a:solidFill>
              <a:latin typeface="Rockwell" panose="02060603020205020403" pitchFamily="18" charset="0"/>
              <a:ea typeface="+mj-ea"/>
              <a:cs typeface="+mj-cs"/>
            </a:endParaRPr>
          </a:p>
          <a:p>
            <a:pPr marL="0" indent="0">
              <a:buNone/>
            </a:pPr>
            <a:endParaRPr lang="en-US" dirty="0"/>
          </a:p>
        </p:txBody>
      </p:sp>
    </p:spTree>
    <p:extLst>
      <p:ext uri="{BB962C8B-B14F-4D97-AF65-F5344CB8AC3E}">
        <p14:creationId xmlns:p14="http://schemas.microsoft.com/office/powerpoint/2010/main" val="1067760544"/>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599" y="876869"/>
            <a:ext cx="10242645" cy="528851"/>
          </a:xfrm>
        </p:spPr>
        <p:txBody>
          <a:bodyPr/>
          <a:lstStyle/>
          <a:p>
            <a:r>
              <a:rPr lang="en-US" sz="2800" b="1" dirty="0" smtClean="0">
                <a:solidFill>
                  <a:srgbClr val="0000CC"/>
                </a:solidFill>
                <a:latin typeface="Rockwell" panose="02060603020205020403" pitchFamily="18" charset="0"/>
              </a:rPr>
              <a:t>7.4.</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Yêu</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cầu</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bảo</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mật</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đối</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với</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hạ</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tầng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mạng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E-Commerce</a:t>
            </a:r>
            <a:r>
              <a:rPr lang="en-US" sz="2800" b="1" dirty="0">
                <a:solidFill>
                  <a:srgbClr val="0000CC"/>
                </a:solidFill>
                <a:latin typeface="Rockwell" panose="02060603020205020403" pitchFamily="18" charset="0"/>
              </a:rPr>
              <a:t> </a:t>
            </a: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599" y="1539263"/>
            <a:ext cx="10624783" cy="4382729"/>
          </a:xfrm>
        </p:spPr>
        <p:txBody>
          <a:bodyPr/>
          <a:lstStyle/>
          <a:p>
            <a:pPr marL="0" indent="0">
              <a:spcBef>
                <a:spcPts val="600"/>
              </a:spcBef>
              <a:buNone/>
            </a:pPr>
            <a:r>
              <a:rPr lang="vi-VN" b="1" dirty="0" smtClean="0">
                <a:solidFill>
                  <a:srgbClr val="0000CC"/>
                </a:solidFill>
                <a:latin typeface="Rockwell" panose="02060603020205020403" pitchFamily="18" charset="0"/>
                <a:ea typeface="+mj-ea"/>
                <a:cs typeface="+mj-cs"/>
              </a:rPr>
              <a:t>4</a:t>
            </a:r>
            <a:r>
              <a:rPr lang="vi-VN" b="1" dirty="0">
                <a:solidFill>
                  <a:srgbClr val="0000CC"/>
                </a:solidFill>
                <a:latin typeface="Rockwell" panose="02060603020205020403" pitchFamily="18" charset="0"/>
                <a:ea typeface="+mj-ea"/>
                <a:cs typeface="+mj-cs"/>
              </a:rPr>
              <a:t>. Tính sẵn sàng và khả năng chịu lỗi (Availability &amp; Fault Tolerance)</a:t>
            </a:r>
          </a:p>
          <a:p>
            <a:pPr>
              <a:spcBef>
                <a:spcPts val="600"/>
              </a:spcBef>
            </a:pPr>
            <a:r>
              <a:rPr lang="vi-VN" dirty="0">
                <a:solidFill>
                  <a:srgbClr val="0000CC"/>
                </a:solidFill>
                <a:latin typeface="Rockwell" panose="02060603020205020403" pitchFamily="18" charset="0"/>
                <a:ea typeface="+mj-ea"/>
                <a:cs typeface="+mj-cs"/>
              </a:rPr>
              <a:t>Hệ thống phải có khả năng dự phòng (redundancy): </a:t>
            </a:r>
            <a:r>
              <a:rPr lang="en-US" dirty="0" smtClean="0">
                <a:solidFill>
                  <a:srgbClr val="0000CC"/>
                </a:solidFill>
                <a:latin typeface="Rockwell" panose="02060603020205020403" pitchFamily="18" charset="0"/>
                <a:ea typeface="+mj-ea"/>
                <a:cs typeface="+mj-cs"/>
              </a:rPr>
              <a:t>M</a:t>
            </a:r>
            <a:r>
              <a:rPr lang="vi-VN" dirty="0" smtClean="0">
                <a:solidFill>
                  <a:srgbClr val="0000CC"/>
                </a:solidFill>
                <a:latin typeface="Rockwell" panose="02060603020205020403" pitchFamily="18" charset="0"/>
                <a:ea typeface="+mj-ea"/>
                <a:cs typeface="+mj-cs"/>
              </a:rPr>
              <a:t>áy </a:t>
            </a:r>
            <a:r>
              <a:rPr lang="vi-VN" dirty="0">
                <a:solidFill>
                  <a:srgbClr val="0000CC"/>
                </a:solidFill>
                <a:latin typeface="Rockwell" panose="02060603020205020403" pitchFamily="18" charset="0"/>
                <a:ea typeface="+mj-ea"/>
                <a:cs typeface="+mj-cs"/>
              </a:rPr>
              <a:t>chủ, đường truyền Internet, thiết bị mạng.</a:t>
            </a:r>
          </a:p>
          <a:p>
            <a:pPr>
              <a:spcBef>
                <a:spcPts val="600"/>
              </a:spcBef>
            </a:pPr>
            <a:r>
              <a:rPr lang="vi-VN" dirty="0">
                <a:solidFill>
                  <a:srgbClr val="0000CC"/>
                </a:solidFill>
                <a:latin typeface="Rockwell" panose="02060603020205020403" pitchFamily="18" charset="0"/>
                <a:ea typeface="+mj-ea"/>
                <a:cs typeface="+mj-cs"/>
              </a:rPr>
              <a:t>Cân bằng tải (load balancing) để tránh nghẽn mạng khi nhiều người dùng truy cập cùng lúc.</a:t>
            </a:r>
          </a:p>
          <a:p>
            <a:pPr>
              <a:spcBef>
                <a:spcPts val="600"/>
              </a:spcBef>
            </a:pPr>
            <a:r>
              <a:rPr lang="vi-VN" dirty="0">
                <a:solidFill>
                  <a:srgbClr val="0000CC"/>
                </a:solidFill>
                <a:latin typeface="Rockwell" panose="02060603020205020403" pitchFamily="18" charset="0"/>
                <a:ea typeface="+mj-ea"/>
                <a:cs typeface="+mj-cs"/>
              </a:rPr>
              <a:t>Cơ chế sao lưu và khôi phục (backup &amp; recovery) khi có sự cố.</a:t>
            </a:r>
          </a:p>
          <a:p>
            <a:pPr marL="0" indent="0">
              <a:spcBef>
                <a:spcPts val="600"/>
              </a:spcBef>
              <a:buNone/>
            </a:pPr>
            <a:r>
              <a:rPr lang="vi-VN" b="1" dirty="0">
                <a:solidFill>
                  <a:srgbClr val="0000CC"/>
                </a:solidFill>
                <a:latin typeface="Rockwell" panose="02060603020205020403" pitchFamily="18" charset="0"/>
                <a:ea typeface="+mj-ea"/>
                <a:cs typeface="+mj-cs"/>
              </a:rPr>
              <a:t>5. Giám sát và phản ứng sự cố (Monitoring &amp; Incident Response)</a:t>
            </a:r>
          </a:p>
          <a:p>
            <a:pPr>
              <a:spcBef>
                <a:spcPts val="600"/>
              </a:spcBef>
            </a:pPr>
            <a:r>
              <a:rPr lang="vi-VN" dirty="0">
                <a:solidFill>
                  <a:srgbClr val="0000CC"/>
                </a:solidFill>
                <a:latin typeface="Rockwell" panose="02060603020205020403" pitchFamily="18" charset="0"/>
                <a:ea typeface="+mj-ea"/>
                <a:cs typeface="+mj-cs"/>
              </a:rPr>
              <a:t>Hệ thống giám sát an ninh (SIEM, IDS, log server) theo thời gian thực.</a:t>
            </a:r>
          </a:p>
          <a:p>
            <a:pPr>
              <a:spcBef>
                <a:spcPts val="600"/>
              </a:spcBef>
            </a:pPr>
            <a:r>
              <a:rPr lang="vi-VN" dirty="0">
                <a:solidFill>
                  <a:srgbClr val="0000CC"/>
                </a:solidFill>
                <a:latin typeface="Rockwell" panose="02060603020205020403" pitchFamily="18" charset="0"/>
                <a:ea typeface="+mj-ea"/>
                <a:cs typeface="+mj-cs"/>
              </a:rPr>
              <a:t>Xây dựng kịch bản phản ứng sự cố: </a:t>
            </a:r>
            <a:r>
              <a:rPr lang="en-US" dirty="0" smtClean="0">
                <a:solidFill>
                  <a:srgbClr val="0000CC"/>
                </a:solidFill>
                <a:latin typeface="Rockwell" panose="02060603020205020403" pitchFamily="18" charset="0"/>
                <a:ea typeface="+mj-ea"/>
                <a:cs typeface="+mj-cs"/>
              </a:rPr>
              <a:t>K</a:t>
            </a:r>
            <a:r>
              <a:rPr lang="vi-VN" dirty="0" smtClean="0">
                <a:solidFill>
                  <a:srgbClr val="0000CC"/>
                </a:solidFill>
                <a:latin typeface="Rockwell" panose="02060603020205020403" pitchFamily="18" charset="0"/>
                <a:ea typeface="+mj-ea"/>
                <a:cs typeface="+mj-cs"/>
              </a:rPr>
              <a:t>hi </a:t>
            </a:r>
            <a:r>
              <a:rPr lang="vi-VN" dirty="0">
                <a:solidFill>
                  <a:srgbClr val="0000CC"/>
                </a:solidFill>
                <a:latin typeface="Rockwell" panose="02060603020205020403" pitchFamily="18" charset="0"/>
                <a:ea typeface="+mj-ea"/>
                <a:cs typeface="+mj-cs"/>
              </a:rPr>
              <a:t>bị tấn công DDoS, SQL Injection, </a:t>
            </a:r>
            <a:r>
              <a:rPr lang="vi-VN" dirty="0" smtClean="0">
                <a:solidFill>
                  <a:srgbClr val="0000CC"/>
                </a:solidFill>
                <a:latin typeface="Rockwell" panose="02060603020205020403" pitchFamily="18" charset="0"/>
                <a:ea typeface="+mj-ea"/>
                <a:cs typeface="+mj-cs"/>
              </a:rPr>
              <a:t>ransomware</a:t>
            </a:r>
            <a:r>
              <a:rPr lang="en-US" dirty="0" smtClean="0">
                <a:solidFill>
                  <a:srgbClr val="0000CC"/>
                </a:solidFill>
                <a:latin typeface="Rockwell" panose="02060603020205020403" pitchFamily="18" charset="0"/>
                <a:ea typeface="+mj-ea"/>
                <a:cs typeface="+mj-cs"/>
              </a:rPr>
              <a:t>, v.v..</a:t>
            </a:r>
            <a:endParaRPr lang="vi-VN" dirty="0">
              <a:solidFill>
                <a:srgbClr val="0000CC"/>
              </a:solidFill>
              <a:latin typeface="Rockwell" panose="02060603020205020403" pitchFamily="18" charset="0"/>
              <a:ea typeface="+mj-ea"/>
              <a:cs typeface="+mj-cs"/>
            </a:endParaRPr>
          </a:p>
          <a:p>
            <a:pPr>
              <a:spcBef>
                <a:spcPts val="600"/>
              </a:spcBef>
            </a:pPr>
            <a:r>
              <a:rPr lang="vi-VN" dirty="0">
                <a:solidFill>
                  <a:srgbClr val="0000CC"/>
                </a:solidFill>
                <a:latin typeface="Rockwell" panose="02060603020205020403" pitchFamily="18" charset="0"/>
                <a:ea typeface="+mj-ea"/>
                <a:cs typeface="+mj-cs"/>
              </a:rPr>
              <a:t>Có đội ngũ CERT/CSIRT hoặc bộ phận an ninh mạng để ứng </a:t>
            </a:r>
            <a:r>
              <a:rPr lang="vi-VN" dirty="0" smtClean="0">
                <a:solidFill>
                  <a:srgbClr val="0000CC"/>
                </a:solidFill>
                <a:latin typeface="Rockwell" panose="02060603020205020403" pitchFamily="18" charset="0"/>
                <a:ea typeface="+mj-ea"/>
                <a:cs typeface="+mj-cs"/>
              </a:rPr>
              <a:t>cứu</a:t>
            </a:r>
            <a:r>
              <a:rPr lang="en-US" dirty="0" smtClean="0">
                <a:solidFill>
                  <a:srgbClr val="0000CC"/>
                </a:solidFill>
                <a:latin typeface="Rockwell" panose="02060603020205020403" pitchFamily="18" charset="0"/>
                <a:ea typeface="+mj-ea"/>
                <a:cs typeface="+mj-cs"/>
              </a:rPr>
              <a:t> </a:t>
            </a:r>
            <a:r>
              <a:rPr lang="en-US" dirty="0" err="1" smtClean="0">
                <a:solidFill>
                  <a:srgbClr val="0000CC"/>
                </a:solidFill>
                <a:latin typeface="Rockwell" panose="02060603020205020403" pitchFamily="18" charset="0"/>
                <a:ea typeface="+mj-ea"/>
                <a:cs typeface="+mj-cs"/>
              </a:rPr>
              <a:t>nhanh</a:t>
            </a:r>
            <a:r>
              <a:rPr lang="en-US" dirty="0" smtClean="0">
                <a:solidFill>
                  <a:srgbClr val="0000CC"/>
                </a:solidFill>
                <a:latin typeface="Rockwell" panose="02060603020205020403" pitchFamily="18" charset="0"/>
                <a:ea typeface="+mj-ea"/>
                <a:cs typeface="+mj-cs"/>
              </a:rPr>
              <a:t>.</a:t>
            </a:r>
            <a:endParaRPr lang="en-US" dirty="0"/>
          </a:p>
        </p:txBody>
      </p:sp>
    </p:spTree>
    <p:extLst>
      <p:ext uri="{BB962C8B-B14F-4D97-AF65-F5344CB8AC3E}">
        <p14:creationId xmlns:p14="http://schemas.microsoft.com/office/powerpoint/2010/main" val="3477063123"/>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599" y="876869"/>
            <a:ext cx="10242645" cy="528851"/>
          </a:xfrm>
        </p:spPr>
        <p:txBody>
          <a:bodyPr/>
          <a:lstStyle/>
          <a:p>
            <a:r>
              <a:rPr lang="en-US" sz="2800" b="1" dirty="0" smtClean="0">
                <a:solidFill>
                  <a:srgbClr val="0000CC"/>
                </a:solidFill>
                <a:latin typeface="Rockwell" panose="02060603020205020403" pitchFamily="18" charset="0"/>
              </a:rPr>
              <a:t>7.4.</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Yêu</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cầu</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bảo</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mật</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đối</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với</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hạ</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tầng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mạng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E-Commerce</a:t>
            </a:r>
            <a:r>
              <a:rPr lang="en-US" sz="2800" b="1" dirty="0">
                <a:solidFill>
                  <a:srgbClr val="0000CC"/>
                </a:solidFill>
                <a:latin typeface="Rockwell" panose="02060603020205020403" pitchFamily="18" charset="0"/>
              </a:rPr>
              <a:t> </a:t>
            </a: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599" y="1539263"/>
            <a:ext cx="10624783" cy="4382729"/>
          </a:xfrm>
        </p:spPr>
        <p:txBody>
          <a:bodyPr/>
          <a:lstStyle/>
          <a:p>
            <a:pPr marL="0" indent="0">
              <a:spcBef>
                <a:spcPts val="600"/>
              </a:spcBef>
              <a:buNone/>
            </a:pPr>
            <a:r>
              <a:rPr lang="vi-VN" b="1" dirty="0" smtClean="0">
                <a:solidFill>
                  <a:srgbClr val="0000CC"/>
                </a:solidFill>
                <a:latin typeface="Rockwell" panose="02060603020205020403" pitchFamily="18" charset="0"/>
                <a:ea typeface="+mj-ea"/>
                <a:cs typeface="+mj-cs"/>
              </a:rPr>
              <a:t>6</a:t>
            </a:r>
            <a:r>
              <a:rPr lang="vi-VN" b="1" dirty="0">
                <a:solidFill>
                  <a:srgbClr val="0000CC"/>
                </a:solidFill>
                <a:latin typeface="Rockwell" panose="02060603020205020403" pitchFamily="18" charset="0"/>
                <a:ea typeface="+mj-ea"/>
                <a:cs typeface="+mj-cs"/>
              </a:rPr>
              <a:t>. Tuân thủ pháp luật và tiêu chuẩn (Compliance)</a:t>
            </a:r>
          </a:p>
          <a:p>
            <a:pPr>
              <a:spcBef>
                <a:spcPts val="600"/>
              </a:spcBef>
            </a:pPr>
            <a:r>
              <a:rPr lang="vi-VN" dirty="0">
                <a:solidFill>
                  <a:srgbClr val="0000CC"/>
                </a:solidFill>
                <a:latin typeface="Rockwell" panose="02060603020205020403" pitchFamily="18" charset="0"/>
                <a:ea typeface="+mj-ea"/>
                <a:cs typeface="+mj-cs"/>
              </a:rPr>
              <a:t>Đáp ứng các tiêu chuẩn PCI DSS (Payment Card Industry Data Security Standard) cho thanh toán online.</a:t>
            </a:r>
          </a:p>
          <a:p>
            <a:pPr>
              <a:spcBef>
                <a:spcPts val="600"/>
              </a:spcBef>
            </a:pPr>
            <a:r>
              <a:rPr lang="vi-VN" dirty="0">
                <a:solidFill>
                  <a:srgbClr val="0000CC"/>
                </a:solidFill>
                <a:latin typeface="Rockwell" panose="02060603020205020403" pitchFamily="18" charset="0"/>
                <a:ea typeface="+mj-ea"/>
                <a:cs typeface="+mj-cs"/>
              </a:rPr>
              <a:t>Tuân thủ quy định về bảo vệ dữ liệu cá nhân (GDPR, Nghị định 13/2023 tại Việt Nam).</a:t>
            </a:r>
          </a:p>
          <a:p>
            <a:pPr>
              <a:spcBef>
                <a:spcPts val="600"/>
              </a:spcBef>
            </a:pPr>
            <a:r>
              <a:rPr lang="vi-VN" dirty="0">
                <a:solidFill>
                  <a:srgbClr val="0000CC"/>
                </a:solidFill>
                <a:latin typeface="Rockwell" panose="02060603020205020403" pitchFamily="18" charset="0"/>
                <a:ea typeface="+mj-ea"/>
                <a:cs typeface="+mj-cs"/>
              </a:rPr>
              <a:t>Kiểm toán định kỳ để đánh giá mức độ an toàn hệ thống.</a:t>
            </a:r>
          </a:p>
          <a:p>
            <a:pPr marL="0" indent="0">
              <a:spcBef>
                <a:spcPts val="600"/>
              </a:spcBef>
              <a:buNone/>
            </a:pPr>
            <a:endParaRPr lang="vi-VN" b="1" dirty="0">
              <a:solidFill>
                <a:srgbClr val="0000CC"/>
              </a:solidFill>
              <a:latin typeface="Rockwell" panose="02060603020205020403" pitchFamily="18" charset="0"/>
              <a:ea typeface="+mj-ea"/>
              <a:cs typeface="+mj-cs"/>
            </a:endParaRPr>
          </a:p>
          <a:p>
            <a:pPr marL="0" indent="0" algn="just">
              <a:spcBef>
                <a:spcPts val="600"/>
              </a:spcBef>
              <a:buNone/>
            </a:pPr>
            <a:r>
              <a:rPr lang="vi-VN" sz="2600" dirty="0" smtClean="0">
                <a:solidFill>
                  <a:srgbClr val="FF00FF"/>
                </a:solidFill>
                <a:latin typeface="Rockwell" panose="02060603020205020403" pitchFamily="18" charset="0"/>
                <a:ea typeface="+mj-ea"/>
                <a:cs typeface="+mj-cs"/>
              </a:rPr>
              <a:t>Hạ </a:t>
            </a:r>
            <a:r>
              <a:rPr lang="vi-VN" sz="2600" dirty="0">
                <a:solidFill>
                  <a:srgbClr val="FF00FF"/>
                </a:solidFill>
                <a:latin typeface="Rockwell" panose="02060603020205020403" pitchFamily="18" charset="0"/>
                <a:ea typeface="+mj-ea"/>
                <a:cs typeface="+mj-cs"/>
              </a:rPr>
              <a:t>tầng mạng E-Commerce phải được thiết kế trên nguyên tắc Bảo mật – Toàn vẹn – Sẵn sàng – Tuân thủ, trong đó VPN, Firewall và IDS là các công cụ nòng cốt giúp bảo vệ hệ thống trước các mối đe dọa </a:t>
            </a:r>
            <a:r>
              <a:rPr lang="vi-VN" sz="2600" dirty="0" smtClean="0">
                <a:solidFill>
                  <a:srgbClr val="FF00FF"/>
                </a:solidFill>
                <a:latin typeface="Rockwell" panose="02060603020205020403" pitchFamily="18" charset="0"/>
                <a:ea typeface="+mj-ea"/>
                <a:cs typeface="+mj-cs"/>
              </a:rPr>
              <a:t>mạng</a:t>
            </a:r>
            <a:r>
              <a:rPr lang="en-US" sz="2600" dirty="0" smtClean="0">
                <a:solidFill>
                  <a:srgbClr val="FF00FF"/>
                </a:solidFill>
                <a:latin typeface="Rockwell" panose="02060603020205020403" pitchFamily="18" charset="0"/>
                <a:ea typeface="+mj-ea"/>
                <a:cs typeface="+mj-cs"/>
              </a:rPr>
              <a:t> </a:t>
            </a:r>
            <a:r>
              <a:rPr lang="en-US" sz="2600" dirty="0" err="1" smtClean="0">
                <a:solidFill>
                  <a:srgbClr val="FF00FF"/>
                </a:solidFill>
                <a:latin typeface="Rockwell" panose="02060603020205020403" pitchFamily="18" charset="0"/>
                <a:ea typeface="+mj-ea"/>
                <a:cs typeface="+mj-cs"/>
              </a:rPr>
              <a:t>ngày</a:t>
            </a:r>
            <a:r>
              <a:rPr lang="en-US" sz="2600" dirty="0" smtClean="0">
                <a:solidFill>
                  <a:srgbClr val="FF00FF"/>
                </a:solidFill>
                <a:latin typeface="Rockwell" panose="02060603020205020403" pitchFamily="18" charset="0"/>
                <a:ea typeface="+mj-ea"/>
                <a:cs typeface="+mj-cs"/>
              </a:rPr>
              <a:t> </a:t>
            </a:r>
            <a:r>
              <a:rPr lang="en-US" sz="2600" dirty="0" err="1" smtClean="0">
                <a:solidFill>
                  <a:srgbClr val="FF00FF"/>
                </a:solidFill>
                <a:latin typeface="Rockwell" panose="02060603020205020403" pitchFamily="18" charset="0"/>
                <a:ea typeface="+mj-ea"/>
                <a:cs typeface="+mj-cs"/>
              </a:rPr>
              <a:t>càng</a:t>
            </a:r>
            <a:r>
              <a:rPr lang="en-US" sz="2600" dirty="0" smtClean="0">
                <a:solidFill>
                  <a:srgbClr val="FF00FF"/>
                </a:solidFill>
                <a:latin typeface="Rockwell" panose="02060603020205020403" pitchFamily="18" charset="0"/>
                <a:ea typeface="+mj-ea"/>
                <a:cs typeface="+mj-cs"/>
              </a:rPr>
              <a:t> </a:t>
            </a:r>
            <a:r>
              <a:rPr lang="en-US" sz="2600" dirty="0" err="1" smtClean="0">
                <a:solidFill>
                  <a:srgbClr val="FF00FF"/>
                </a:solidFill>
                <a:latin typeface="Rockwell" panose="02060603020205020403" pitchFamily="18" charset="0"/>
                <a:ea typeface="+mj-ea"/>
                <a:cs typeface="+mj-cs"/>
              </a:rPr>
              <a:t>đa</a:t>
            </a:r>
            <a:r>
              <a:rPr lang="en-US" sz="2600" dirty="0" smtClean="0">
                <a:solidFill>
                  <a:srgbClr val="FF00FF"/>
                </a:solidFill>
                <a:latin typeface="Rockwell" panose="02060603020205020403" pitchFamily="18" charset="0"/>
                <a:ea typeface="+mj-ea"/>
                <a:cs typeface="+mj-cs"/>
              </a:rPr>
              <a:t> </a:t>
            </a:r>
            <a:r>
              <a:rPr lang="en-US" sz="2600" dirty="0" err="1" smtClean="0">
                <a:solidFill>
                  <a:srgbClr val="FF00FF"/>
                </a:solidFill>
                <a:latin typeface="Rockwell" panose="02060603020205020403" pitchFamily="18" charset="0"/>
                <a:ea typeface="+mj-ea"/>
                <a:cs typeface="+mj-cs"/>
              </a:rPr>
              <a:t>dạng</a:t>
            </a:r>
            <a:r>
              <a:rPr lang="en-US" sz="2600" dirty="0" smtClean="0">
                <a:solidFill>
                  <a:srgbClr val="FF00FF"/>
                </a:solidFill>
                <a:latin typeface="Rockwell" panose="02060603020205020403" pitchFamily="18" charset="0"/>
                <a:ea typeface="+mj-ea"/>
                <a:cs typeface="+mj-cs"/>
              </a:rPr>
              <a:t> </a:t>
            </a:r>
            <a:r>
              <a:rPr lang="en-US" sz="2600" dirty="0" err="1" smtClean="0">
                <a:solidFill>
                  <a:srgbClr val="FF00FF"/>
                </a:solidFill>
                <a:latin typeface="Rockwell" panose="02060603020205020403" pitchFamily="18" charset="0"/>
                <a:ea typeface="+mj-ea"/>
                <a:cs typeface="+mj-cs"/>
              </a:rPr>
              <a:t>và</a:t>
            </a:r>
            <a:r>
              <a:rPr lang="en-US" sz="2600" dirty="0" smtClean="0">
                <a:solidFill>
                  <a:srgbClr val="FF00FF"/>
                </a:solidFill>
                <a:latin typeface="Rockwell" panose="02060603020205020403" pitchFamily="18" charset="0"/>
                <a:ea typeface="+mj-ea"/>
                <a:cs typeface="+mj-cs"/>
              </a:rPr>
              <a:t> </a:t>
            </a:r>
            <a:r>
              <a:rPr lang="en-US" sz="2600" dirty="0" err="1" smtClean="0">
                <a:solidFill>
                  <a:srgbClr val="FF00FF"/>
                </a:solidFill>
                <a:latin typeface="Rockwell" panose="02060603020205020403" pitchFamily="18" charset="0"/>
                <a:ea typeface="+mj-ea"/>
                <a:cs typeface="+mj-cs"/>
              </a:rPr>
              <a:t>tinh</a:t>
            </a:r>
            <a:r>
              <a:rPr lang="en-US" sz="2600" dirty="0" smtClean="0">
                <a:solidFill>
                  <a:srgbClr val="FF00FF"/>
                </a:solidFill>
                <a:latin typeface="Rockwell" panose="02060603020205020403" pitchFamily="18" charset="0"/>
                <a:ea typeface="+mj-ea"/>
                <a:cs typeface="+mj-cs"/>
              </a:rPr>
              <a:t> vi</a:t>
            </a:r>
            <a:r>
              <a:rPr lang="vi-VN" sz="2600" dirty="0" smtClean="0">
                <a:solidFill>
                  <a:srgbClr val="FF00FF"/>
                </a:solidFill>
                <a:latin typeface="Rockwell" panose="02060603020205020403" pitchFamily="18" charset="0"/>
                <a:ea typeface="+mj-ea"/>
                <a:cs typeface="+mj-cs"/>
              </a:rPr>
              <a:t>.</a:t>
            </a:r>
            <a:endParaRPr lang="vi-VN" sz="2600" dirty="0">
              <a:solidFill>
                <a:srgbClr val="FF00FF"/>
              </a:solidFill>
              <a:latin typeface="Rockwell" panose="02060603020205020403" pitchFamily="18" charset="0"/>
              <a:ea typeface="+mj-ea"/>
              <a:cs typeface="+mj-cs"/>
            </a:endParaRPr>
          </a:p>
          <a:p>
            <a:pPr marL="0" indent="0">
              <a:spcBef>
                <a:spcPts val="600"/>
              </a:spcBef>
              <a:buNone/>
            </a:pPr>
            <a:endParaRPr lang="en-US" dirty="0"/>
          </a:p>
        </p:txBody>
      </p:sp>
    </p:spTree>
    <p:extLst>
      <p:ext uri="{BB962C8B-B14F-4D97-AF65-F5344CB8AC3E}">
        <p14:creationId xmlns:p14="http://schemas.microsoft.com/office/powerpoint/2010/main" val="272738259"/>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599" y="876869"/>
            <a:ext cx="10242645" cy="528851"/>
          </a:xfrm>
        </p:spPr>
        <p:txBody>
          <a:bodyPr/>
          <a:lstStyle/>
          <a:p>
            <a:r>
              <a:rPr lang="en-US" sz="2800" b="1" dirty="0">
                <a:solidFill>
                  <a:srgbClr val="0000CC"/>
                </a:solidFill>
                <a:latin typeface="Rockwell" panose="02060603020205020403" pitchFamily="18" charset="0"/>
              </a:rPr>
              <a:t>7</a:t>
            </a:r>
            <a:r>
              <a:rPr lang="en-US" sz="2800" b="1" dirty="0" smtClean="0">
                <a:solidFill>
                  <a:srgbClr val="0000CC"/>
                </a:solidFill>
                <a:latin typeface="Rockwell" panose="02060603020205020403" pitchFamily="18" charset="0"/>
              </a:rPr>
              <a:t>.5.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Tích</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hợp</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VPN – FW – IDS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trong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mạng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E-Commerce</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600" y="1539263"/>
            <a:ext cx="10529248" cy="4382729"/>
          </a:xfrm>
        </p:spPr>
        <p:txBody>
          <a:bodyPr/>
          <a:lstStyle/>
          <a:p>
            <a:pPr marL="0" indent="0">
              <a:buNone/>
            </a:pPr>
            <a:r>
              <a:rPr lang="vi-VN" dirty="0" smtClean="0">
                <a:solidFill>
                  <a:srgbClr val="0000CC"/>
                </a:solidFill>
                <a:latin typeface="Rockwell" panose="02060603020205020403" pitchFamily="18" charset="0"/>
                <a:ea typeface="+mj-ea"/>
                <a:cs typeface="+mj-cs"/>
              </a:rPr>
              <a:t>Trong </a:t>
            </a:r>
            <a:r>
              <a:rPr lang="vi-VN" dirty="0">
                <a:solidFill>
                  <a:srgbClr val="0000CC"/>
                </a:solidFill>
                <a:latin typeface="Rockwell" panose="02060603020205020403" pitchFamily="18" charset="0"/>
                <a:ea typeface="+mj-ea"/>
                <a:cs typeface="+mj-cs"/>
              </a:rPr>
              <a:t>hệ thống thương mại điện tử, việc chỉ sử dụng riêng lẻ từng công cụ bảo mật là chưa đủ. Cần tích hợp VPN, Firewall và IDS để tạo ra một kiến trúc an ninh tổng thể, bảo đảm các yêu cầu </a:t>
            </a:r>
            <a:r>
              <a:rPr lang="vi-VN" dirty="0">
                <a:solidFill>
                  <a:srgbClr val="FF00FF"/>
                </a:solidFill>
                <a:latin typeface="Rockwell" panose="02060603020205020403" pitchFamily="18" charset="0"/>
                <a:ea typeface="+mj-ea"/>
                <a:cs typeface="+mj-cs"/>
              </a:rPr>
              <a:t>bí mật – toàn vẹn – sẵn sàng</a:t>
            </a:r>
            <a:r>
              <a:rPr lang="vi-VN" dirty="0">
                <a:solidFill>
                  <a:srgbClr val="0000CC"/>
                </a:solidFill>
                <a:latin typeface="Rockwell" panose="02060603020205020403" pitchFamily="18" charset="0"/>
                <a:ea typeface="+mj-ea"/>
                <a:cs typeface="+mj-cs"/>
              </a:rPr>
              <a:t>.</a:t>
            </a:r>
          </a:p>
          <a:p>
            <a:pPr marL="0" indent="0">
              <a:spcBef>
                <a:spcPts val="600"/>
              </a:spcBef>
              <a:buNone/>
            </a:pPr>
            <a:r>
              <a:rPr lang="vi-VN" b="1" dirty="0">
                <a:solidFill>
                  <a:srgbClr val="0000CC"/>
                </a:solidFill>
                <a:latin typeface="Rockwell" panose="02060603020205020403" pitchFamily="18" charset="0"/>
                <a:ea typeface="+mj-ea"/>
                <a:cs typeface="+mj-cs"/>
              </a:rPr>
              <a:t>1. Nguyên tắc tích hợp</a:t>
            </a:r>
          </a:p>
          <a:p>
            <a:pPr>
              <a:spcBef>
                <a:spcPts val="600"/>
              </a:spcBef>
            </a:pPr>
            <a:r>
              <a:rPr lang="vi-VN" dirty="0">
                <a:solidFill>
                  <a:srgbClr val="0000CC"/>
                </a:solidFill>
                <a:latin typeface="Rockwell" panose="02060603020205020403" pitchFamily="18" charset="0"/>
                <a:ea typeface="+mj-ea"/>
                <a:cs typeface="+mj-cs"/>
              </a:rPr>
              <a:t>VPN: </a:t>
            </a:r>
            <a:r>
              <a:rPr lang="en-US" dirty="0">
                <a:solidFill>
                  <a:srgbClr val="0000CC"/>
                </a:solidFill>
                <a:latin typeface="Rockwell" panose="02060603020205020403" pitchFamily="18" charset="0"/>
                <a:ea typeface="+mj-ea"/>
                <a:cs typeface="+mj-cs"/>
              </a:rPr>
              <a:t>Đ</a:t>
            </a:r>
            <a:r>
              <a:rPr lang="vi-VN" dirty="0" smtClean="0">
                <a:solidFill>
                  <a:srgbClr val="0000CC"/>
                </a:solidFill>
                <a:latin typeface="Rockwell" panose="02060603020205020403" pitchFamily="18" charset="0"/>
                <a:ea typeface="+mj-ea"/>
                <a:cs typeface="+mj-cs"/>
              </a:rPr>
              <a:t>ảm </a:t>
            </a:r>
            <a:r>
              <a:rPr lang="vi-VN" dirty="0">
                <a:solidFill>
                  <a:srgbClr val="0000CC"/>
                </a:solidFill>
                <a:latin typeface="Rockwell" panose="02060603020205020403" pitchFamily="18" charset="0"/>
                <a:ea typeface="+mj-ea"/>
                <a:cs typeface="+mj-cs"/>
              </a:rPr>
              <a:t>bảo bảo mật kênh truyền thông giữa khách hàng, đối tác và nhân viên truy cập từ xa.</a:t>
            </a:r>
          </a:p>
          <a:p>
            <a:pPr>
              <a:spcBef>
                <a:spcPts val="600"/>
              </a:spcBef>
            </a:pPr>
            <a:r>
              <a:rPr lang="vi-VN" dirty="0">
                <a:solidFill>
                  <a:srgbClr val="0000CC"/>
                </a:solidFill>
                <a:latin typeface="Rockwell" panose="02060603020205020403" pitchFamily="18" charset="0"/>
                <a:ea typeface="+mj-ea"/>
                <a:cs typeface="+mj-cs"/>
              </a:rPr>
              <a:t>Firewall (FW): </a:t>
            </a:r>
            <a:r>
              <a:rPr lang="en-US" dirty="0">
                <a:solidFill>
                  <a:srgbClr val="0000CC"/>
                </a:solidFill>
                <a:latin typeface="Rockwell" panose="02060603020205020403" pitchFamily="18" charset="0"/>
                <a:ea typeface="+mj-ea"/>
                <a:cs typeface="+mj-cs"/>
              </a:rPr>
              <a:t>Đ</a:t>
            </a:r>
            <a:r>
              <a:rPr lang="vi-VN" dirty="0" smtClean="0">
                <a:solidFill>
                  <a:srgbClr val="0000CC"/>
                </a:solidFill>
                <a:latin typeface="Rockwell" panose="02060603020205020403" pitchFamily="18" charset="0"/>
                <a:ea typeface="+mj-ea"/>
                <a:cs typeface="+mj-cs"/>
              </a:rPr>
              <a:t>óng </a:t>
            </a:r>
            <a:r>
              <a:rPr lang="vi-VN" dirty="0">
                <a:solidFill>
                  <a:srgbClr val="0000CC"/>
                </a:solidFill>
                <a:latin typeface="Rockwell" panose="02060603020205020403" pitchFamily="18" charset="0"/>
                <a:ea typeface="+mj-ea"/>
                <a:cs typeface="+mj-cs"/>
              </a:rPr>
              <a:t>vai trò chốt kiểm soát truy cập, lọc lưu lượng dựa trên địa chỉ, cổng, giao thức hoặc ứng dụng.</a:t>
            </a:r>
          </a:p>
          <a:p>
            <a:pPr>
              <a:spcBef>
                <a:spcPts val="600"/>
              </a:spcBef>
            </a:pPr>
            <a:r>
              <a:rPr lang="vi-VN" dirty="0">
                <a:solidFill>
                  <a:srgbClr val="0000CC"/>
                </a:solidFill>
                <a:latin typeface="Rockwell" panose="02060603020205020403" pitchFamily="18" charset="0"/>
                <a:ea typeface="+mj-ea"/>
                <a:cs typeface="+mj-cs"/>
              </a:rPr>
              <a:t>IDS: </a:t>
            </a:r>
            <a:r>
              <a:rPr lang="en-US" dirty="0" smtClean="0">
                <a:solidFill>
                  <a:srgbClr val="0000CC"/>
                </a:solidFill>
                <a:latin typeface="Rockwell" panose="02060603020205020403" pitchFamily="18" charset="0"/>
                <a:ea typeface="+mj-ea"/>
                <a:cs typeface="+mj-cs"/>
              </a:rPr>
              <a:t>G</a:t>
            </a:r>
            <a:r>
              <a:rPr lang="vi-VN" dirty="0" smtClean="0">
                <a:solidFill>
                  <a:srgbClr val="0000CC"/>
                </a:solidFill>
                <a:latin typeface="Rockwell" panose="02060603020205020403" pitchFamily="18" charset="0"/>
                <a:ea typeface="+mj-ea"/>
                <a:cs typeface="+mj-cs"/>
              </a:rPr>
              <a:t>iám </a:t>
            </a:r>
            <a:r>
              <a:rPr lang="vi-VN" dirty="0">
                <a:solidFill>
                  <a:srgbClr val="0000CC"/>
                </a:solidFill>
                <a:latin typeface="Rockwell" panose="02060603020205020403" pitchFamily="18" charset="0"/>
                <a:ea typeface="+mj-ea"/>
                <a:cs typeface="+mj-cs"/>
              </a:rPr>
              <a:t>sát, phát hiện xâm nhập và cảnh báo khi có hành vi bất thường hoặc tấn công vượt qua Firewall.</a:t>
            </a:r>
          </a:p>
          <a:p>
            <a:pPr>
              <a:spcBef>
                <a:spcPts val="600"/>
              </a:spcBef>
            </a:pPr>
            <a:r>
              <a:rPr lang="vi-VN" dirty="0">
                <a:solidFill>
                  <a:srgbClr val="0000CC"/>
                </a:solidFill>
                <a:latin typeface="Rockwell" panose="02060603020205020403" pitchFamily="18" charset="0"/>
                <a:ea typeface="+mj-ea"/>
                <a:cs typeface="+mj-cs"/>
              </a:rPr>
              <a:t>Kết hợp 3 công cụ này giúp tạo thành đa lớp phòng thủ (defense in depth).</a:t>
            </a:r>
          </a:p>
          <a:p>
            <a:endParaRPr lang="en-US" dirty="0"/>
          </a:p>
        </p:txBody>
      </p:sp>
    </p:spTree>
    <p:extLst>
      <p:ext uri="{BB962C8B-B14F-4D97-AF65-F5344CB8AC3E}">
        <p14:creationId xmlns:p14="http://schemas.microsoft.com/office/powerpoint/2010/main" val="1515752435"/>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57953" y="478150"/>
            <a:ext cx="10242645" cy="528851"/>
          </a:xfrm>
        </p:spPr>
        <p:txBody>
          <a:bodyPr/>
          <a:lstStyle/>
          <a:p>
            <a:r>
              <a:rPr lang="en-US" sz="2800" b="1" dirty="0">
                <a:solidFill>
                  <a:srgbClr val="0000CC"/>
                </a:solidFill>
                <a:latin typeface="Rockwell" panose="02060603020205020403" pitchFamily="18" charset="0"/>
              </a:rPr>
              <a:t>7</a:t>
            </a:r>
            <a:r>
              <a:rPr lang="en-US" sz="2800" b="1" dirty="0" smtClean="0">
                <a:solidFill>
                  <a:srgbClr val="0000CC"/>
                </a:solidFill>
                <a:latin typeface="Rockwell" panose="02060603020205020403" pitchFamily="18" charset="0"/>
              </a:rPr>
              <a:t>.5.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Tích</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hợp</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VPN – FW – IDS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trong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mạng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E-Commerce</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57953" y="1007001"/>
            <a:ext cx="10242645" cy="4382729"/>
          </a:xfrm>
        </p:spPr>
        <p:txBody>
          <a:bodyPr/>
          <a:lstStyle/>
          <a:p>
            <a:pPr marL="0" indent="0">
              <a:spcBef>
                <a:spcPts val="600"/>
              </a:spcBef>
              <a:buNone/>
            </a:pPr>
            <a:r>
              <a:rPr lang="vi-VN" b="1" dirty="0">
                <a:solidFill>
                  <a:srgbClr val="0000CC"/>
                </a:solidFill>
                <a:latin typeface="Rockwell" panose="02060603020205020403" pitchFamily="18" charset="0"/>
                <a:ea typeface="+mj-ea"/>
                <a:cs typeface="+mj-cs"/>
              </a:rPr>
              <a:t>2. Kiến trúc tích hợp điển hình</a:t>
            </a:r>
          </a:p>
          <a:p>
            <a:pPr marL="0" indent="0">
              <a:spcBef>
                <a:spcPts val="600"/>
              </a:spcBef>
              <a:buNone/>
            </a:pPr>
            <a:r>
              <a:rPr lang="vi-VN" b="1" dirty="0">
                <a:solidFill>
                  <a:srgbClr val="0000CC"/>
                </a:solidFill>
                <a:latin typeface="Rockwell" panose="02060603020205020403" pitchFamily="18" charset="0"/>
                <a:ea typeface="+mj-ea"/>
                <a:cs typeface="+mj-cs"/>
              </a:rPr>
              <a:t>a. Lớp ngoài (Perimeter):</a:t>
            </a:r>
          </a:p>
          <a:p>
            <a:pPr>
              <a:spcBef>
                <a:spcPts val="600"/>
              </a:spcBef>
            </a:pPr>
            <a:r>
              <a:rPr lang="vi-VN" dirty="0">
                <a:solidFill>
                  <a:srgbClr val="0000CC"/>
                </a:solidFill>
                <a:latin typeface="Rockwell" panose="02060603020205020403" pitchFamily="18" charset="0"/>
                <a:ea typeface="+mj-ea"/>
                <a:cs typeface="+mj-cs"/>
              </a:rPr>
              <a:t>Firewall đặt ở biên mạng </a:t>
            </a:r>
            <a:r>
              <a:rPr lang="vi-VN" dirty="0" smtClean="0">
                <a:solidFill>
                  <a:srgbClr val="0000CC"/>
                </a:solidFill>
                <a:latin typeface="Rockwell" panose="02060603020205020403" pitchFamily="18" charset="0"/>
                <a:ea typeface="+mj-ea"/>
                <a:cs typeface="+mj-cs"/>
              </a:rPr>
              <a:t>để </a:t>
            </a:r>
            <a:r>
              <a:rPr lang="vi-VN" dirty="0">
                <a:solidFill>
                  <a:srgbClr val="0000CC"/>
                </a:solidFill>
                <a:latin typeface="Rockwell" panose="02060603020205020403" pitchFamily="18" charset="0"/>
                <a:ea typeface="+mj-ea"/>
                <a:cs typeface="+mj-cs"/>
              </a:rPr>
              <a:t>lọc gói tin, chặn truy cập trái phép.</a:t>
            </a:r>
          </a:p>
          <a:p>
            <a:pPr>
              <a:spcBef>
                <a:spcPts val="600"/>
              </a:spcBef>
            </a:pPr>
            <a:r>
              <a:rPr lang="vi-VN" dirty="0">
                <a:solidFill>
                  <a:srgbClr val="0000CC"/>
                </a:solidFill>
                <a:latin typeface="Rockwell" panose="02060603020205020403" pitchFamily="18" charset="0"/>
                <a:ea typeface="+mj-ea"/>
                <a:cs typeface="+mj-cs"/>
              </a:rPr>
              <a:t>VPN Gateway tích hợp cùng </a:t>
            </a:r>
            <a:r>
              <a:rPr lang="vi-VN" dirty="0" smtClean="0">
                <a:solidFill>
                  <a:srgbClr val="0000CC"/>
                </a:solidFill>
                <a:latin typeface="Rockwell" panose="02060603020205020403" pitchFamily="18" charset="0"/>
                <a:ea typeface="+mj-ea"/>
                <a:cs typeface="+mj-cs"/>
              </a:rPr>
              <a:t>F</a:t>
            </a:r>
            <a:r>
              <a:rPr lang="en-US" dirty="0">
                <a:solidFill>
                  <a:srgbClr val="0000CC"/>
                </a:solidFill>
                <a:latin typeface="Rockwell" panose="02060603020205020403" pitchFamily="18" charset="0"/>
                <a:ea typeface="+mj-ea"/>
                <a:cs typeface="+mj-cs"/>
              </a:rPr>
              <a:t>W</a:t>
            </a:r>
            <a:r>
              <a:rPr lang="vi-VN" dirty="0" smtClean="0">
                <a:solidFill>
                  <a:srgbClr val="0000CC"/>
                </a:solidFill>
                <a:latin typeface="Rockwell" panose="02060603020205020403" pitchFamily="18" charset="0"/>
                <a:ea typeface="+mj-ea"/>
                <a:cs typeface="+mj-cs"/>
              </a:rPr>
              <a:t> </a:t>
            </a:r>
            <a:r>
              <a:rPr lang="vi-VN" dirty="0">
                <a:solidFill>
                  <a:srgbClr val="0000CC"/>
                </a:solidFill>
                <a:latin typeface="Rockwell" panose="02060603020205020403" pitchFamily="18" charset="0"/>
                <a:ea typeface="+mj-ea"/>
                <a:cs typeface="+mj-cs"/>
              </a:rPr>
              <a:t>để mã hóa lưu lượng từ xa vào </a:t>
            </a:r>
            <a:r>
              <a:rPr lang="vi-VN" dirty="0" smtClean="0">
                <a:solidFill>
                  <a:srgbClr val="0000CC"/>
                </a:solidFill>
                <a:latin typeface="Rockwell" panose="02060603020205020403" pitchFamily="18" charset="0"/>
                <a:ea typeface="+mj-ea"/>
                <a:cs typeface="+mj-cs"/>
              </a:rPr>
              <a:t>h</a:t>
            </a:r>
            <a:r>
              <a:rPr lang="en-US" dirty="0" smtClean="0">
                <a:solidFill>
                  <a:srgbClr val="0000CC"/>
                </a:solidFill>
                <a:latin typeface="Rockwell" panose="02060603020205020403" pitchFamily="18" charset="0"/>
                <a:ea typeface="+mj-ea"/>
                <a:cs typeface="+mj-cs"/>
              </a:rPr>
              <a:t>ệ </a:t>
            </a:r>
            <a:r>
              <a:rPr lang="vi-VN" dirty="0" smtClean="0">
                <a:solidFill>
                  <a:srgbClr val="0000CC"/>
                </a:solidFill>
                <a:latin typeface="Rockwell" panose="02060603020205020403" pitchFamily="18" charset="0"/>
                <a:ea typeface="+mj-ea"/>
                <a:cs typeface="+mj-cs"/>
              </a:rPr>
              <a:t>thống</a:t>
            </a:r>
            <a:r>
              <a:rPr lang="vi-VN" dirty="0">
                <a:solidFill>
                  <a:srgbClr val="0000CC"/>
                </a:solidFill>
                <a:latin typeface="Rockwell" panose="02060603020205020403" pitchFamily="18" charset="0"/>
                <a:ea typeface="+mj-ea"/>
                <a:cs typeface="+mj-cs"/>
              </a:rPr>
              <a:t>.</a:t>
            </a:r>
          </a:p>
          <a:p>
            <a:pPr marL="0" indent="0">
              <a:spcBef>
                <a:spcPts val="600"/>
              </a:spcBef>
              <a:buNone/>
            </a:pPr>
            <a:r>
              <a:rPr lang="vi-VN" b="1" dirty="0">
                <a:solidFill>
                  <a:srgbClr val="0000CC"/>
                </a:solidFill>
                <a:latin typeface="Rockwell" panose="02060603020205020403" pitchFamily="18" charset="0"/>
                <a:ea typeface="+mj-ea"/>
                <a:cs typeface="+mj-cs"/>
              </a:rPr>
              <a:t>b. Lớp trung gian (DMZ – Demilitarized Zone):</a:t>
            </a:r>
          </a:p>
          <a:p>
            <a:pPr>
              <a:spcBef>
                <a:spcPts val="600"/>
              </a:spcBef>
            </a:pPr>
            <a:r>
              <a:rPr lang="vi-VN" dirty="0">
                <a:solidFill>
                  <a:srgbClr val="0000CC"/>
                </a:solidFill>
                <a:latin typeface="Rockwell" panose="02060603020205020403" pitchFamily="18" charset="0"/>
                <a:ea typeface="+mj-ea"/>
                <a:cs typeface="+mj-cs"/>
              </a:rPr>
              <a:t>Đặt các server Web, Mail, Application để phục vụ khách hàng nhưng vẫn tách biệt với hệ thống nội bộ.</a:t>
            </a:r>
          </a:p>
          <a:p>
            <a:pPr>
              <a:spcBef>
                <a:spcPts val="600"/>
              </a:spcBef>
            </a:pPr>
            <a:r>
              <a:rPr lang="vi-VN" dirty="0">
                <a:solidFill>
                  <a:srgbClr val="0000CC"/>
                </a:solidFill>
                <a:latin typeface="Rockwell" panose="02060603020205020403" pitchFamily="18" charset="0"/>
                <a:ea typeface="+mj-ea"/>
                <a:cs typeface="+mj-cs"/>
              </a:rPr>
              <a:t>IDS triển khai song song để giám sát lưu lượng ra/vào DMZ.</a:t>
            </a:r>
          </a:p>
          <a:p>
            <a:pPr marL="0" indent="0">
              <a:spcBef>
                <a:spcPts val="600"/>
              </a:spcBef>
              <a:buNone/>
            </a:pPr>
            <a:r>
              <a:rPr lang="vi-VN" b="1" dirty="0">
                <a:solidFill>
                  <a:srgbClr val="0000CC"/>
                </a:solidFill>
                <a:latin typeface="Rockwell" panose="02060603020205020403" pitchFamily="18" charset="0"/>
                <a:ea typeface="+mj-ea"/>
                <a:cs typeface="+mj-cs"/>
              </a:rPr>
              <a:t>c. Lớp trong (Internal Network):</a:t>
            </a:r>
          </a:p>
          <a:p>
            <a:pPr>
              <a:spcBef>
                <a:spcPts val="600"/>
              </a:spcBef>
            </a:pPr>
            <a:r>
              <a:rPr lang="vi-VN" dirty="0">
                <a:solidFill>
                  <a:srgbClr val="0000CC"/>
                </a:solidFill>
                <a:latin typeface="Rockwell" panose="02060603020205020403" pitchFamily="18" charset="0"/>
                <a:ea typeface="+mj-ea"/>
                <a:cs typeface="+mj-cs"/>
              </a:rPr>
              <a:t>IDS/IPS giám sát hoạt động nội bộ, phát hiện bất thường từ người dùng hợp pháp.</a:t>
            </a:r>
          </a:p>
          <a:p>
            <a:pPr>
              <a:spcBef>
                <a:spcPts val="600"/>
              </a:spcBef>
            </a:pPr>
            <a:r>
              <a:rPr lang="vi-VN" dirty="0" smtClean="0">
                <a:solidFill>
                  <a:srgbClr val="0000CC"/>
                </a:solidFill>
                <a:latin typeface="Rockwell" panose="02060603020205020403" pitchFamily="18" charset="0"/>
                <a:ea typeface="+mj-ea"/>
                <a:cs typeface="+mj-cs"/>
              </a:rPr>
              <a:t>F</a:t>
            </a:r>
            <a:r>
              <a:rPr lang="en-US" dirty="0" smtClean="0">
                <a:solidFill>
                  <a:srgbClr val="0000CC"/>
                </a:solidFill>
                <a:latin typeface="Rockwell" panose="02060603020205020403" pitchFamily="18" charset="0"/>
                <a:ea typeface="+mj-ea"/>
                <a:cs typeface="+mj-cs"/>
              </a:rPr>
              <a:t>W </a:t>
            </a:r>
            <a:r>
              <a:rPr lang="vi-VN" dirty="0" smtClean="0">
                <a:solidFill>
                  <a:srgbClr val="0000CC"/>
                </a:solidFill>
                <a:latin typeface="Rockwell" panose="02060603020205020403" pitchFamily="18" charset="0"/>
                <a:ea typeface="+mj-ea"/>
                <a:cs typeface="+mj-cs"/>
              </a:rPr>
              <a:t>nội </a:t>
            </a:r>
            <a:r>
              <a:rPr lang="vi-VN" dirty="0">
                <a:solidFill>
                  <a:srgbClr val="0000CC"/>
                </a:solidFill>
                <a:latin typeface="Rockwell" panose="02060603020205020403" pitchFamily="18" charset="0"/>
                <a:ea typeface="+mj-ea"/>
                <a:cs typeface="+mj-cs"/>
              </a:rPr>
              <a:t>bộ phân chia vùng mạng (LAN, Database, Payment Gateway).</a:t>
            </a:r>
            <a:endParaRPr lang="en-US" dirty="0">
              <a:solidFill>
                <a:srgbClr val="0000CC"/>
              </a:solidFill>
              <a:latin typeface="Rockwell" panose="02060603020205020403" pitchFamily="18" charset="0"/>
              <a:ea typeface="+mj-ea"/>
              <a:cs typeface="+mj-cs"/>
            </a:endParaRPr>
          </a:p>
        </p:txBody>
      </p:sp>
    </p:spTree>
    <p:extLst>
      <p:ext uri="{BB962C8B-B14F-4D97-AF65-F5344CB8AC3E}">
        <p14:creationId xmlns:p14="http://schemas.microsoft.com/office/powerpoint/2010/main" val="590051695"/>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412544" y="969470"/>
            <a:ext cx="10242645" cy="528851"/>
          </a:xfrm>
        </p:spPr>
        <p:txBody>
          <a:bodyPr/>
          <a:lstStyle/>
          <a:p>
            <a:r>
              <a:rPr lang="en-US" sz="2800" b="1" dirty="0">
                <a:solidFill>
                  <a:srgbClr val="0000CC"/>
                </a:solidFill>
                <a:latin typeface="Rockwell" panose="02060603020205020403" pitchFamily="18" charset="0"/>
              </a:rPr>
              <a:t>7</a:t>
            </a:r>
            <a:r>
              <a:rPr lang="en-US" sz="2800" b="1" dirty="0" smtClean="0">
                <a:solidFill>
                  <a:srgbClr val="0000CC"/>
                </a:solidFill>
                <a:latin typeface="Rockwell" panose="02060603020205020403" pitchFamily="18" charset="0"/>
              </a:rPr>
              <a:t>.5.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Tích</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hợp</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VPN – FW – IDS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trong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mạng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E-Commerce</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412544" y="1498321"/>
            <a:ext cx="10242645" cy="4382729"/>
          </a:xfrm>
        </p:spPr>
        <p:txBody>
          <a:bodyPr/>
          <a:lstStyle/>
          <a:p>
            <a:pPr marL="0" indent="0">
              <a:spcBef>
                <a:spcPts val="600"/>
              </a:spcBef>
              <a:buNone/>
            </a:pPr>
            <a:r>
              <a:rPr lang="vi-VN" b="1" dirty="0" smtClean="0">
                <a:solidFill>
                  <a:srgbClr val="0000CC"/>
                </a:solidFill>
                <a:latin typeface="Rockwell" panose="02060603020205020403" pitchFamily="18" charset="0"/>
                <a:ea typeface="+mj-ea"/>
                <a:cs typeface="+mj-cs"/>
              </a:rPr>
              <a:t>3</a:t>
            </a:r>
            <a:r>
              <a:rPr lang="vi-VN" b="1" dirty="0">
                <a:solidFill>
                  <a:srgbClr val="0000CC"/>
                </a:solidFill>
                <a:latin typeface="Rockwell" panose="02060603020205020403" pitchFamily="18" charset="0"/>
                <a:ea typeface="+mj-ea"/>
                <a:cs typeface="+mj-cs"/>
              </a:rPr>
              <a:t>. Lợi ích khi tích hợp VPN – FW – IDS</a:t>
            </a:r>
          </a:p>
          <a:p>
            <a:pPr>
              <a:spcBef>
                <a:spcPts val="600"/>
              </a:spcBef>
            </a:pPr>
            <a:r>
              <a:rPr lang="vi-VN" dirty="0">
                <a:solidFill>
                  <a:srgbClr val="0000CC"/>
                </a:solidFill>
                <a:latin typeface="Rockwell" panose="02060603020205020403" pitchFamily="18" charset="0"/>
                <a:ea typeface="+mj-ea"/>
                <a:cs typeface="+mj-cs"/>
              </a:rPr>
              <a:t>Bảo mật toàn diện: VPN mã hóa, FW kiểm soát, IDS phát hiện → giảm thiểu nguy cơ rò rỉ dữ liệu.</a:t>
            </a:r>
          </a:p>
          <a:p>
            <a:pPr>
              <a:spcBef>
                <a:spcPts val="600"/>
              </a:spcBef>
            </a:pPr>
            <a:r>
              <a:rPr lang="vi-VN" dirty="0">
                <a:solidFill>
                  <a:srgbClr val="0000CC"/>
                </a:solidFill>
                <a:latin typeface="Rockwell" panose="02060603020205020403" pitchFamily="18" charset="0"/>
                <a:ea typeface="+mj-ea"/>
                <a:cs typeface="+mj-cs"/>
              </a:rPr>
              <a:t>Giảm thiểu tấn công: Hạn chế các hình thức DDoS, SQL Injection, Brute Force…</a:t>
            </a:r>
          </a:p>
          <a:p>
            <a:pPr>
              <a:spcBef>
                <a:spcPts val="600"/>
              </a:spcBef>
            </a:pPr>
            <a:r>
              <a:rPr lang="vi-VN" dirty="0">
                <a:solidFill>
                  <a:srgbClr val="0000CC"/>
                </a:solidFill>
                <a:latin typeface="Rockwell" panose="02060603020205020403" pitchFamily="18" charset="0"/>
                <a:ea typeface="+mj-ea"/>
                <a:cs typeface="+mj-cs"/>
              </a:rPr>
              <a:t>Tối ưu vận hành: Dễ dàng quản trị nhờ phân tầng rõ ràng.</a:t>
            </a:r>
          </a:p>
          <a:p>
            <a:pPr>
              <a:spcBef>
                <a:spcPts val="600"/>
              </a:spcBef>
            </a:pPr>
            <a:r>
              <a:rPr lang="vi-VN" dirty="0">
                <a:solidFill>
                  <a:srgbClr val="0000CC"/>
                </a:solidFill>
                <a:latin typeface="Rockwell" panose="02060603020205020403" pitchFamily="18" charset="0"/>
                <a:ea typeface="+mj-ea"/>
                <a:cs typeface="+mj-cs"/>
              </a:rPr>
              <a:t>Tăng độ tin cậy: Đảm bảo dịch vụ E-commerce hoạt động an toàn, ổn định 24/7.</a:t>
            </a:r>
            <a:endParaRPr lang="en-US" dirty="0">
              <a:solidFill>
                <a:srgbClr val="0000CC"/>
              </a:solidFill>
              <a:latin typeface="Rockwell" panose="02060603020205020403" pitchFamily="18" charset="0"/>
              <a:ea typeface="+mj-ea"/>
              <a:cs typeface="+mj-cs"/>
            </a:endParaRPr>
          </a:p>
        </p:txBody>
      </p:sp>
    </p:spTree>
    <p:extLst>
      <p:ext uri="{BB962C8B-B14F-4D97-AF65-F5344CB8AC3E}">
        <p14:creationId xmlns:p14="http://schemas.microsoft.com/office/powerpoint/2010/main" val="4051990554"/>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412544" y="969470"/>
            <a:ext cx="10242645" cy="528851"/>
          </a:xfrm>
        </p:spPr>
        <p:txBody>
          <a:bodyPr/>
          <a:lstStyle/>
          <a:p>
            <a:r>
              <a:rPr lang="en-US" sz="2800" b="1" dirty="0">
                <a:solidFill>
                  <a:srgbClr val="0000CC"/>
                </a:solidFill>
                <a:latin typeface="Rockwell" panose="02060603020205020403" pitchFamily="18" charset="0"/>
              </a:rPr>
              <a:t>7</a:t>
            </a:r>
            <a:r>
              <a:rPr lang="en-US" sz="2800" b="1" dirty="0" smtClean="0">
                <a:solidFill>
                  <a:srgbClr val="0000CC"/>
                </a:solidFill>
                <a:latin typeface="Rockwell" panose="02060603020205020403" pitchFamily="18" charset="0"/>
              </a:rPr>
              <a:t>.5.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Tích</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hợp</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VPN – FW – IDS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trong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mạng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E-Commerce</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412544" y="1498321"/>
            <a:ext cx="10242645" cy="4382729"/>
          </a:xfrm>
        </p:spPr>
        <p:txBody>
          <a:bodyPr/>
          <a:lstStyle/>
          <a:p>
            <a:pPr marL="0" indent="0">
              <a:spcBef>
                <a:spcPts val="600"/>
              </a:spcBef>
              <a:buNone/>
            </a:pPr>
            <a:r>
              <a:rPr lang="en-US" b="1" dirty="0" smtClean="0">
                <a:solidFill>
                  <a:srgbClr val="0000CC"/>
                </a:solidFill>
                <a:latin typeface="Rockwell" panose="02060603020205020403" pitchFamily="18" charset="0"/>
                <a:ea typeface="+mj-ea"/>
                <a:cs typeface="+mj-cs"/>
              </a:rPr>
              <a:t>4</a:t>
            </a:r>
            <a:r>
              <a:rPr lang="vi-VN" b="1" dirty="0" smtClean="0">
                <a:solidFill>
                  <a:srgbClr val="0000CC"/>
                </a:solidFill>
                <a:latin typeface="Rockwell" panose="02060603020205020403" pitchFamily="18" charset="0"/>
                <a:ea typeface="+mj-ea"/>
                <a:cs typeface="+mj-cs"/>
              </a:rPr>
              <a:t>. </a:t>
            </a:r>
            <a:r>
              <a:rPr lang="vi-VN" b="1" dirty="0">
                <a:solidFill>
                  <a:srgbClr val="0000CC"/>
                </a:solidFill>
                <a:latin typeface="Rockwell" panose="02060603020205020403" pitchFamily="18" charset="0"/>
                <a:ea typeface="+mj-ea"/>
                <a:cs typeface="+mj-cs"/>
              </a:rPr>
              <a:t>Tình huống minh họa</a:t>
            </a:r>
          </a:p>
          <a:p>
            <a:pPr>
              <a:spcBef>
                <a:spcPts val="600"/>
              </a:spcBef>
            </a:pPr>
            <a:r>
              <a:rPr lang="vi-VN" dirty="0">
                <a:solidFill>
                  <a:srgbClr val="0000CC"/>
                </a:solidFill>
                <a:latin typeface="Rockwell" panose="02060603020205020403" pitchFamily="18" charset="0"/>
                <a:ea typeface="+mj-ea"/>
                <a:cs typeface="+mj-cs"/>
              </a:rPr>
              <a:t>Người dùng truy cập từ xa: Kết nối vào mạng trung tâm qua VPN: Lưu lượng đi qua Firewall, IDS: Được giám sát.</a:t>
            </a:r>
          </a:p>
          <a:p>
            <a:pPr>
              <a:spcBef>
                <a:spcPts val="600"/>
              </a:spcBef>
            </a:pPr>
            <a:r>
              <a:rPr lang="vi-VN" dirty="0">
                <a:solidFill>
                  <a:srgbClr val="0000CC"/>
                </a:solidFill>
                <a:latin typeface="Rockwell" panose="02060603020205020403" pitchFamily="18" charset="0"/>
                <a:ea typeface="+mj-ea"/>
                <a:cs typeface="+mj-cs"/>
              </a:rPr>
              <a:t>Khách hàng mua sắm online: Truy cập Website trong DMZ: Firewall sẽ kiểm soát lưu lương; IDS phát hiện tấn công SQL Injection: Quản trị viên nhận được cảnh báo và xử lý kịp thời</a:t>
            </a:r>
            <a:r>
              <a:rPr lang="vi-VN" dirty="0" smtClean="0">
                <a:solidFill>
                  <a:srgbClr val="0000CC"/>
                </a:solidFill>
                <a:latin typeface="Rockwell" panose="02060603020205020403" pitchFamily="18" charset="0"/>
                <a:ea typeface="+mj-ea"/>
                <a:cs typeface="+mj-cs"/>
              </a:rPr>
              <a:t>.</a:t>
            </a:r>
            <a:endParaRPr lang="en-US" dirty="0" smtClean="0">
              <a:solidFill>
                <a:srgbClr val="0000CC"/>
              </a:solidFill>
              <a:latin typeface="Rockwell" panose="02060603020205020403" pitchFamily="18" charset="0"/>
              <a:ea typeface="+mj-ea"/>
              <a:cs typeface="+mj-cs"/>
            </a:endParaRPr>
          </a:p>
          <a:p>
            <a:pPr>
              <a:spcBef>
                <a:spcPts val="600"/>
              </a:spcBef>
            </a:pPr>
            <a:endParaRPr lang="en-US" dirty="0">
              <a:solidFill>
                <a:srgbClr val="0000CC"/>
              </a:solidFill>
              <a:latin typeface="Rockwell" panose="02060603020205020403" pitchFamily="18" charset="0"/>
              <a:ea typeface="+mj-ea"/>
              <a:cs typeface="+mj-cs"/>
            </a:endParaRPr>
          </a:p>
          <a:p>
            <a:pPr marL="0" indent="0" algn="just">
              <a:spcBef>
                <a:spcPts val="600"/>
              </a:spcBef>
              <a:buNone/>
            </a:pPr>
            <a:r>
              <a:rPr lang="vi-VN" sz="2600" i="1" dirty="0">
                <a:solidFill>
                  <a:srgbClr val="FF00FF"/>
                </a:solidFill>
                <a:latin typeface="Rockwell" panose="02060603020205020403" pitchFamily="18" charset="0"/>
                <a:ea typeface="+mj-ea"/>
                <a:cs typeface="+mj-cs"/>
              </a:rPr>
              <a:t>Trong mạng E-Commerce, sự tích hợp VPN – Firewall – IDS là mô hình bảo mật chuẩn, giúp doanh nghiệp vừa bảo mật dữ liệu, vừa giám sát an </a:t>
            </a:r>
            <a:r>
              <a:rPr lang="vi-VN" sz="2600" i="1" dirty="0" smtClean="0">
                <a:solidFill>
                  <a:srgbClr val="FF00FF"/>
                </a:solidFill>
                <a:latin typeface="Rockwell" panose="02060603020205020403" pitchFamily="18" charset="0"/>
                <a:ea typeface="+mj-ea"/>
                <a:cs typeface="+mj-cs"/>
              </a:rPr>
              <a:t>toàn</a:t>
            </a:r>
            <a:r>
              <a:rPr lang="en-US" sz="2600" i="1" dirty="0" smtClean="0">
                <a:solidFill>
                  <a:srgbClr val="FF00FF"/>
                </a:solidFill>
                <a:latin typeface="Rockwell" panose="02060603020205020403" pitchFamily="18" charset="0"/>
                <a:ea typeface="+mj-ea"/>
                <a:cs typeface="+mj-cs"/>
              </a:rPr>
              <a:t> </a:t>
            </a:r>
            <a:r>
              <a:rPr lang="en-US" sz="2600" i="1" dirty="0" err="1" smtClean="0">
                <a:solidFill>
                  <a:srgbClr val="FF00FF"/>
                </a:solidFill>
                <a:latin typeface="Rockwell" panose="02060603020205020403" pitchFamily="18" charset="0"/>
                <a:ea typeface="+mj-ea"/>
                <a:cs typeface="+mj-cs"/>
              </a:rPr>
              <a:t>mạng</a:t>
            </a:r>
            <a:r>
              <a:rPr lang="vi-VN" sz="2600" i="1" dirty="0" smtClean="0">
                <a:solidFill>
                  <a:srgbClr val="FF00FF"/>
                </a:solidFill>
                <a:latin typeface="Rockwell" panose="02060603020205020403" pitchFamily="18" charset="0"/>
                <a:ea typeface="+mj-ea"/>
                <a:cs typeface="+mj-cs"/>
              </a:rPr>
              <a:t>, </a:t>
            </a:r>
            <a:r>
              <a:rPr lang="vi-VN" sz="2600" i="1" dirty="0">
                <a:solidFill>
                  <a:srgbClr val="FF00FF"/>
                </a:solidFill>
                <a:latin typeface="Rockwell" panose="02060603020205020403" pitchFamily="18" charset="0"/>
                <a:ea typeface="+mj-ea"/>
                <a:cs typeface="+mj-cs"/>
              </a:rPr>
              <a:t>đồng thời vẫn đảm bảo hiệu năng và trải nghiệm người dùng.</a:t>
            </a:r>
            <a:endParaRPr lang="en-US" sz="2600" i="1" dirty="0">
              <a:solidFill>
                <a:srgbClr val="FF00FF"/>
              </a:solidFill>
              <a:latin typeface="Rockwell" panose="02060603020205020403" pitchFamily="18" charset="0"/>
              <a:ea typeface="+mj-ea"/>
              <a:cs typeface="+mj-cs"/>
            </a:endParaRPr>
          </a:p>
        </p:txBody>
      </p:sp>
    </p:spTree>
    <p:extLst>
      <p:ext uri="{BB962C8B-B14F-4D97-AF65-F5344CB8AC3E}">
        <p14:creationId xmlns:p14="http://schemas.microsoft.com/office/powerpoint/2010/main" val="3806818264"/>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599" y="876869"/>
            <a:ext cx="10242645" cy="528851"/>
          </a:xfrm>
        </p:spPr>
        <p:txBody>
          <a:bodyPr/>
          <a:lstStyle/>
          <a:p>
            <a:r>
              <a:rPr lang="en-US" sz="2800" b="1" dirty="0" smtClean="0">
                <a:solidFill>
                  <a:srgbClr val="0000CC"/>
                </a:solidFill>
                <a:latin typeface="Rockwell" panose="02060603020205020403" pitchFamily="18" charset="0"/>
              </a:rPr>
              <a:t>7.6.</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Chính</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sách</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bảo</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mật</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hạ</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tầng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mạng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E-Commerce</a:t>
            </a:r>
            <a:b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br>
            <a:r>
              <a:rPr lang="en-US" sz="2800" b="1" dirty="0" smtClean="0">
                <a:solidFill>
                  <a:srgbClr val="0000CC"/>
                </a:solidFill>
                <a:latin typeface="Rockwell" panose="02060603020205020403" pitchFamily="18" charset="0"/>
              </a:rPr>
              <a:t> </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599" y="1539263"/>
            <a:ext cx="10092519" cy="4382729"/>
          </a:xfrm>
        </p:spPr>
        <p:txBody>
          <a:bodyPr/>
          <a:lstStyle/>
          <a:p>
            <a:pPr marL="0" indent="0" algn="just">
              <a:buNone/>
            </a:pPr>
            <a:r>
              <a:rPr lang="vi-VN" dirty="0" smtClean="0">
                <a:solidFill>
                  <a:srgbClr val="0000CC"/>
                </a:solidFill>
                <a:latin typeface="Rockwell" panose="02060603020205020403" pitchFamily="18" charset="0"/>
                <a:ea typeface="+mj-ea"/>
                <a:cs typeface="+mj-cs"/>
              </a:rPr>
              <a:t>Trong </a:t>
            </a:r>
            <a:r>
              <a:rPr lang="vi-VN" dirty="0">
                <a:solidFill>
                  <a:srgbClr val="0000CC"/>
                </a:solidFill>
                <a:latin typeface="Rockwell" panose="02060603020205020403" pitchFamily="18" charset="0"/>
                <a:ea typeface="+mj-ea"/>
                <a:cs typeface="+mj-cs"/>
              </a:rPr>
              <a:t>thương mại điện tử, hạ tầng mạng là nền tảng quan trọng để cung cấp dịch vụ liên tục, an toàn và tin cậy cho khách hàng. Để đạt được điều đó, cần xây dựng chính sách bảo mật toàn diện bao gồm các nguyên tắc, biện pháp và quy trình vận hành.</a:t>
            </a:r>
          </a:p>
          <a:p>
            <a:pPr marL="0" indent="0">
              <a:buNone/>
            </a:pPr>
            <a:r>
              <a:rPr lang="vi-VN" b="1" dirty="0">
                <a:solidFill>
                  <a:srgbClr val="0000CC"/>
                </a:solidFill>
                <a:latin typeface="Rockwell" panose="02060603020205020403" pitchFamily="18" charset="0"/>
                <a:ea typeface="+mj-ea"/>
                <a:cs typeface="+mj-cs"/>
              </a:rPr>
              <a:t>1. Nguyên tắc chung</a:t>
            </a:r>
          </a:p>
          <a:p>
            <a:r>
              <a:rPr lang="vi-VN" dirty="0">
                <a:solidFill>
                  <a:srgbClr val="0000CC"/>
                </a:solidFill>
                <a:latin typeface="Rockwell" panose="02060603020205020403" pitchFamily="18" charset="0"/>
                <a:ea typeface="+mj-ea"/>
                <a:cs typeface="+mj-cs"/>
              </a:rPr>
              <a:t>Đảm bảo tính CIA (Confidentiality – Integrity – Availability): </a:t>
            </a:r>
            <a:r>
              <a:rPr lang="en-US" dirty="0" smtClean="0">
                <a:solidFill>
                  <a:srgbClr val="0000CC"/>
                </a:solidFill>
                <a:latin typeface="Rockwell" panose="02060603020205020403" pitchFamily="18" charset="0"/>
                <a:ea typeface="+mj-ea"/>
                <a:cs typeface="+mj-cs"/>
              </a:rPr>
              <a:t>B</a:t>
            </a:r>
            <a:r>
              <a:rPr lang="vi-VN" dirty="0" smtClean="0">
                <a:solidFill>
                  <a:srgbClr val="0000CC"/>
                </a:solidFill>
                <a:latin typeface="Rockwell" panose="02060603020205020403" pitchFamily="18" charset="0"/>
                <a:ea typeface="+mj-ea"/>
                <a:cs typeface="+mj-cs"/>
              </a:rPr>
              <a:t>ảo </a:t>
            </a:r>
            <a:r>
              <a:rPr lang="vi-VN" dirty="0">
                <a:solidFill>
                  <a:srgbClr val="0000CC"/>
                </a:solidFill>
                <a:latin typeface="Rockwell" panose="02060603020205020403" pitchFamily="18" charset="0"/>
                <a:ea typeface="+mj-ea"/>
                <a:cs typeface="+mj-cs"/>
              </a:rPr>
              <a:t>mật thông tin, toàn vẹn dữ liệu và sẵn sàng hệ thống.</a:t>
            </a:r>
          </a:p>
          <a:p>
            <a:r>
              <a:rPr lang="vi-VN" dirty="0">
                <a:solidFill>
                  <a:srgbClr val="0000CC"/>
                </a:solidFill>
                <a:latin typeface="Rockwell" panose="02060603020205020403" pitchFamily="18" charset="0"/>
                <a:ea typeface="+mj-ea"/>
                <a:cs typeface="+mj-cs"/>
              </a:rPr>
              <a:t>Phòng ngừa là chính: </a:t>
            </a:r>
            <a:r>
              <a:rPr lang="en-US" dirty="0" smtClean="0">
                <a:solidFill>
                  <a:srgbClr val="0000CC"/>
                </a:solidFill>
                <a:latin typeface="Rockwell" panose="02060603020205020403" pitchFamily="18" charset="0"/>
                <a:ea typeface="+mj-ea"/>
                <a:cs typeface="+mj-cs"/>
              </a:rPr>
              <a:t>K</a:t>
            </a:r>
            <a:r>
              <a:rPr lang="vi-VN" dirty="0" smtClean="0">
                <a:solidFill>
                  <a:srgbClr val="0000CC"/>
                </a:solidFill>
                <a:latin typeface="Rockwell" panose="02060603020205020403" pitchFamily="18" charset="0"/>
                <a:ea typeface="+mj-ea"/>
                <a:cs typeface="+mj-cs"/>
              </a:rPr>
              <a:t>ết </a:t>
            </a:r>
            <a:r>
              <a:rPr lang="vi-VN" dirty="0">
                <a:solidFill>
                  <a:srgbClr val="0000CC"/>
                </a:solidFill>
                <a:latin typeface="Rockwell" panose="02060603020205020403" pitchFamily="18" charset="0"/>
                <a:ea typeface="+mj-ea"/>
                <a:cs typeface="+mj-cs"/>
              </a:rPr>
              <a:t>hợp ngăn chặn – phát hiện – phản ứng.</a:t>
            </a:r>
          </a:p>
          <a:p>
            <a:r>
              <a:rPr lang="en-US" dirty="0" err="1" smtClean="0">
                <a:solidFill>
                  <a:srgbClr val="0000CC"/>
                </a:solidFill>
                <a:latin typeface="Rockwell" panose="02060603020205020403" pitchFamily="18" charset="0"/>
                <a:ea typeface="+mj-ea"/>
                <a:cs typeface="+mj-cs"/>
              </a:rPr>
              <a:t>Thực</a:t>
            </a:r>
            <a:r>
              <a:rPr lang="en-US" dirty="0" smtClean="0">
                <a:solidFill>
                  <a:srgbClr val="0000CC"/>
                </a:solidFill>
                <a:latin typeface="Rockwell" panose="02060603020205020403" pitchFamily="18" charset="0"/>
                <a:ea typeface="+mj-ea"/>
                <a:cs typeface="+mj-cs"/>
              </a:rPr>
              <a:t> </a:t>
            </a:r>
            <a:r>
              <a:rPr lang="en-US" dirty="0" err="1" smtClean="0">
                <a:solidFill>
                  <a:srgbClr val="0000CC"/>
                </a:solidFill>
                <a:latin typeface="Rockwell" panose="02060603020205020403" pitchFamily="18" charset="0"/>
                <a:ea typeface="+mj-ea"/>
                <a:cs typeface="+mj-cs"/>
              </a:rPr>
              <a:t>hiện</a:t>
            </a:r>
            <a:r>
              <a:rPr lang="en-US" dirty="0" smtClean="0">
                <a:solidFill>
                  <a:srgbClr val="0000CC"/>
                </a:solidFill>
                <a:latin typeface="Rockwell" panose="02060603020205020403" pitchFamily="18" charset="0"/>
                <a:ea typeface="+mj-ea"/>
                <a:cs typeface="+mj-cs"/>
              </a:rPr>
              <a:t> </a:t>
            </a:r>
            <a:r>
              <a:rPr lang="vi-VN" dirty="0" smtClean="0">
                <a:solidFill>
                  <a:srgbClr val="0000CC"/>
                </a:solidFill>
                <a:latin typeface="Rockwell" panose="02060603020205020403" pitchFamily="18" charset="0"/>
                <a:ea typeface="+mj-ea"/>
                <a:cs typeface="+mj-cs"/>
              </a:rPr>
              <a:t>Defense </a:t>
            </a:r>
            <a:r>
              <a:rPr lang="vi-VN" dirty="0">
                <a:solidFill>
                  <a:srgbClr val="0000CC"/>
                </a:solidFill>
                <a:latin typeface="Rockwell" panose="02060603020205020403" pitchFamily="18" charset="0"/>
                <a:ea typeface="+mj-ea"/>
                <a:cs typeface="+mj-cs"/>
              </a:rPr>
              <a:t>in </a:t>
            </a:r>
            <a:r>
              <a:rPr lang="vi-VN" dirty="0" smtClean="0">
                <a:solidFill>
                  <a:srgbClr val="0000CC"/>
                </a:solidFill>
                <a:latin typeface="Rockwell" panose="02060603020205020403" pitchFamily="18" charset="0"/>
                <a:ea typeface="+mj-ea"/>
                <a:cs typeface="+mj-cs"/>
              </a:rPr>
              <a:t>Depth: </a:t>
            </a:r>
            <a:r>
              <a:rPr lang="en-US" dirty="0">
                <a:solidFill>
                  <a:srgbClr val="0000CC"/>
                </a:solidFill>
                <a:latin typeface="Rockwell" panose="02060603020205020403" pitchFamily="18" charset="0"/>
                <a:ea typeface="+mj-ea"/>
                <a:cs typeface="+mj-cs"/>
              </a:rPr>
              <a:t>Á</a:t>
            </a:r>
            <a:r>
              <a:rPr lang="vi-VN" dirty="0" smtClean="0">
                <a:solidFill>
                  <a:srgbClr val="0000CC"/>
                </a:solidFill>
                <a:latin typeface="Rockwell" panose="02060603020205020403" pitchFamily="18" charset="0"/>
                <a:ea typeface="+mj-ea"/>
                <a:cs typeface="+mj-cs"/>
              </a:rPr>
              <a:t>p </a:t>
            </a:r>
            <a:r>
              <a:rPr lang="vi-VN" dirty="0">
                <a:solidFill>
                  <a:srgbClr val="0000CC"/>
                </a:solidFill>
                <a:latin typeface="Rockwell" panose="02060603020205020403" pitchFamily="18" charset="0"/>
                <a:ea typeface="+mj-ea"/>
                <a:cs typeface="+mj-cs"/>
              </a:rPr>
              <a:t>dụng nhiều lớp bảo mật từ biên mạng, máy chủ đến ứng dụng và cơ sở dữ liệu.</a:t>
            </a:r>
          </a:p>
          <a:p>
            <a:r>
              <a:rPr lang="vi-VN" dirty="0">
                <a:solidFill>
                  <a:srgbClr val="0000CC"/>
                </a:solidFill>
                <a:latin typeface="Rockwell" panose="02060603020205020403" pitchFamily="18" charset="0"/>
                <a:ea typeface="+mj-ea"/>
                <a:cs typeface="+mj-cs"/>
              </a:rPr>
              <a:t>Tuân thủ pháp luật </a:t>
            </a:r>
            <a:r>
              <a:rPr lang="vi-VN" dirty="0" smtClean="0">
                <a:solidFill>
                  <a:srgbClr val="0000CC"/>
                </a:solidFill>
                <a:latin typeface="Rockwell" panose="02060603020205020403" pitchFamily="18" charset="0"/>
                <a:ea typeface="+mj-ea"/>
                <a:cs typeface="+mj-cs"/>
              </a:rPr>
              <a:t>và </a:t>
            </a:r>
            <a:r>
              <a:rPr lang="vi-VN" dirty="0">
                <a:solidFill>
                  <a:srgbClr val="0000CC"/>
                </a:solidFill>
                <a:latin typeface="Rockwell" panose="02060603020205020403" pitchFamily="18" charset="0"/>
                <a:ea typeface="+mj-ea"/>
                <a:cs typeface="+mj-cs"/>
              </a:rPr>
              <a:t>chuẩn: ví dụ PCI DSS, ISO/IEC 27001, GDPR.</a:t>
            </a:r>
          </a:p>
          <a:p>
            <a:endParaRPr lang="en-US" dirty="0"/>
          </a:p>
        </p:txBody>
      </p:sp>
    </p:spTree>
    <p:extLst>
      <p:ext uri="{BB962C8B-B14F-4D97-AF65-F5344CB8AC3E}">
        <p14:creationId xmlns:p14="http://schemas.microsoft.com/office/powerpoint/2010/main" val="20205971"/>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85247" y="519093"/>
            <a:ext cx="10242645" cy="528851"/>
          </a:xfrm>
        </p:spPr>
        <p:txBody>
          <a:bodyPr/>
          <a:lstStyle/>
          <a:p>
            <a:r>
              <a:rPr lang="en-US" sz="2800" b="1" dirty="0" smtClean="0">
                <a:solidFill>
                  <a:srgbClr val="0000CC"/>
                </a:solidFill>
                <a:latin typeface="Rockwell" panose="02060603020205020403" pitchFamily="18" charset="0"/>
              </a:rPr>
              <a:t>7.6.</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Chính</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sách</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bảo</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mật</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hạ</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tầng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mạng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E-Commerce</a:t>
            </a:r>
            <a:b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br>
            <a:r>
              <a:rPr lang="en-US" sz="2800" b="1" dirty="0" smtClean="0">
                <a:solidFill>
                  <a:srgbClr val="0000CC"/>
                </a:solidFill>
                <a:latin typeface="Rockwell" panose="02060603020205020403" pitchFamily="18" charset="0"/>
              </a:rPr>
              <a:t> </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85247" y="1047944"/>
            <a:ext cx="10092519" cy="4382729"/>
          </a:xfrm>
        </p:spPr>
        <p:txBody>
          <a:bodyPr/>
          <a:lstStyle/>
          <a:p>
            <a:pPr marL="0" indent="0" algn="just">
              <a:buNone/>
            </a:pPr>
            <a:r>
              <a:rPr lang="vi-VN" b="1" dirty="0" smtClean="0">
                <a:solidFill>
                  <a:srgbClr val="0000CC"/>
                </a:solidFill>
                <a:latin typeface="Rockwell" panose="02060603020205020403" pitchFamily="18" charset="0"/>
                <a:ea typeface="+mj-ea"/>
                <a:cs typeface="+mj-cs"/>
              </a:rPr>
              <a:t>2</a:t>
            </a:r>
            <a:r>
              <a:rPr lang="vi-VN" b="1" dirty="0">
                <a:solidFill>
                  <a:srgbClr val="0000CC"/>
                </a:solidFill>
                <a:latin typeface="Rockwell" panose="02060603020205020403" pitchFamily="18" charset="0"/>
                <a:ea typeface="+mj-ea"/>
                <a:cs typeface="+mj-cs"/>
              </a:rPr>
              <a:t>. Chính sách bảo mật mạng</a:t>
            </a:r>
          </a:p>
          <a:p>
            <a:pPr algn="just"/>
            <a:r>
              <a:rPr lang="vi-VN" dirty="0">
                <a:solidFill>
                  <a:srgbClr val="0000CC"/>
                </a:solidFill>
                <a:latin typeface="Rockwell" panose="02060603020205020403" pitchFamily="18" charset="0"/>
                <a:ea typeface="+mj-ea"/>
                <a:cs typeface="+mj-cs"/>
              </a:rPr>
              <a:t>Phân vùng mạng (Network Segmentation):</a:t>
            </a:r>
          </a:p>
          <a:p>
            <a:pPr lvl="1" algn="just"/>
            <a:r>
              <a:rPr lang="vi-VN" dirty="0">
                <a:solidFill>
                  <a:srgbClr val="0000CC"/>
                </a:solidFill>
                <a:latin typeface="Rockwell" panose="02060603020205020403" pitchFamily="18" charset="0"/>
                <a:ea typeface="+mj-ea"/>
                <a:cs typeface="+mj-cs"/>
              </a:rPr>
              <a:t>DMZ cho Web/Mail/Application server.</a:t>
            </a:r>
          </a:p>
          <a:p>
            <a:pPr lvl="1" algn="just"/>
            <a:r>
              <a:rPr lang="vi-VN" dirty="0">
                <a:solidFill>
                  <a:srgbClr val="0000CC"/>
                </a:solidFill>
                <a:latin typeface="Rockwell" panose="02060603020205020403" pitchFamily="18" charset="0"/>
                <a:ea typeface="+mj-ea"/>
                <a:cs typeface="+mj-cs"/>
              </a:rPr>
              <a:t>Vùng riêng cho Database và Payment Gateway.</a:t>
            </a:r>
          </a:p>
          <a:p>
            <a:pPr lvl="1" algn="just"/>
            <a:r>
              <a:rPr lang="vi-VN" dirty="0">
                <a:solidFill>
                  <a:srgbClr val="0000CC"/>
                </a:solidFill>
                <a:latin typeface="Rockwell" panose="02060603020205020403" pitchFamily="18" charset="0"/>
                <a:ea typeface="+mj-ea"/>
                <a:cs typeface="+mj-cs"/>
              </a:rPr>
              <a:t>Mạng nội bộ cách ly với hệ thống dịch vụ công cộng.</a:t>
            </a:r>
          </a:p>
          <a:p>
            <a:pPr algn="just"/>
            <a:r>
              <a:rPr lang="vi-VN" dirty="0">
                <a:solidFill>
                  <a:srgbClr val="0000CC"/>
                </a:solidFill>
                <a:latin typeface="Rockwell" panose="02060603020205020403" pitchFamily="18" charset="0"/>
                <a:ea typeface="+mj-ea"/>
                <a:cs typeface="+mj-cs"/>
              </a:rPr>
              <a:t>Kiểm soát truy cập:</a:t>
            </a:r>
          </a:p>
          <a:p>
            <a:pPr lvl="1" algn="just"/>
            <a:r>
              <a:rPr lang="vi-VN" dirty="0">
                <a:solidFill>
                  <a:srgbClr val="0000CC"/>
                </a:solidFill>
                <a:latin typeface="Rockwell" panose="02060603020205020403" pitchFamily="18" charset="0"/>
                <a:ea typeface="+mj-ea"/>
                <a:cs typeface="+mj-cs"/>
              </a:rPr>
              <a:t>Firewall lọc lưu lượng theo IP, port, giao thức.</a:t>
            </a:r>
          </a:p>
          <a:p>
            <a:pPr lvl="1" algn="just"/>
            <a:r>
              <a:rPr lang="vi-VN" dirty="0">
                <a:solidFill>
                  <a:srgbClr val="0000CC"/>
                </a:solidFill>
                <a:latin typeface="Rockwell" panose="02060603020205020403" pitchFamily="18" charset="0"/>
                <a:ea typeface="+mj-ea"/>
                <a:cs typeface="+mj-cs"/>
              </a:rPr>
              <a:t>IDS/IPS giám sát, phát hiện tấn công.</a:t>
            </a:r>
          </a:p>
          <a:p>
            <a:pPr lvl="1" algn="just"/>
            <a:r>
              <a:rPr lang="vi-VN" dirty="0">
                <a:solidFill>
                  <a:srgbClr val="0000CC"/>
                </a:solidFill>
                <a:latin typeface="Rockwell" panose="02060603020205020403" pitchFamily="18" charset="0"/>
                <a:ea typeface="+mj-ea"/>
                <a:cs typeface="+mj-cs"/>
              </a:rPr>
              <a:t>VPN bắt buộc cho nhân viên truy cập từ xa.</a:t>
            </a:r>
          </a:p>
          <a:p>
            <a:pPr algn="just"/>
            <a:r>
              <a:rPr lang="vi-VN" dirty="0">
                <a:solidFill>
                  <a:srgbClr val="0000CC"/>
                </a:solidFill>
                <a:latin typeface="Rockwell" panose="02060603020205020403" pitchFamily="18" charset="0"/>
                <a:ea typeface="+mj-ea"/>
                <a:cs typeface="+mj-cs"/>
              </a:rPr>
              <a:t>Bảo mật truyền thông:</a:t>
            </a:r>
          </a:p>
          <a:p>
            <a:pPr lvl="1" algn="just"/>
            <a:r>
              <a:rPr lang="vi-VN" dirty="0">
                <a:solidFill>
                  <a:srgbClr val="0000CC"/>
                </a:solidFill>
                <a:latin typeface="Rockwell" panose="02060603020205020403" pitchFamily="18" charset="0"/>
                <a:ea typeface="+mj-ea"/>
                <a:cs typeface="+mj-cs"/>
              </a:rPr>
              <a:t>Mã hóa SSL/TLS cho giao dịch E-Commerce.</a:t>
            </a:r>
          </a:p>
          <a:p>
            <a:pPr lvl="1" algn="just"/>
            <a:r>
              <a:rPr lang="vi-VN" dirty="0">
                <a:solidFill>
                  <a:srgbClr val="0000CC"/>
                </a:solidFill>
                <a:latin typeface="Rockwell" panose="02060603020205020403" pitchFamily="18" charset="0"/>
                <a:ea typeface="+mj-ea"/>
                <a:cs typeface="+mj-cs"/>
              </a:rPr>
              <a:t>Sử dụng VPN IPSec/SSL để kết nối an toàn. </a:t>
            </a:r>
            <a:endParaRPr lang="en-US" dirty="0"/>
          </a:p>
        </p:txBody>
      </p:sp>
    </p:spTree>
    <p:extLst>
      <p:ext uri="{BB962C8B-B14F-4D97-AF65-F5344CB8AC3E}">
        <p14:creationId xmlns:p14="http://schemas.microsoft.com/office/powerpoint/2010/main" val="1098319484"/>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85247" y="519093"/>
            <a:ext cx="10242645" cy="528851"/>
          </a:xfrm>
        </p:spPr>
        <p:txBody>
          <a:bodyPr/>
          <a:lstStyle/>
          <a:p>
            <a:r>
              <a:rPr lang="en-US" sz="2800" b="1" dirty="0" smtClean="0">
                <a:solidFill>
                  <a:srgbClr val="0000CC"/>
                </a:solidFill>
                <a:latin typeface="Rockwell" panose="02060603020205020403" pitchFamily="18" charset="0"/>
              </a:rPr>
              <a:t>7.6.</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Chính</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sách</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bảo</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mật</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hạ</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tầng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mạng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E-Commerce</a:t>
            </a:r>
            <a:b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br>
            <a:r>
              <a:rPr lang="en-US" sz="2800" b="1" dirty="0" smtClean="0">
                <a:solidFill>
                  <a:srgbClr val="0000CC"/>
                </a:solidFill>
                <a:latin typeface="Rockwell" panose="02060603020205020403" pitchFamily="18" charset="0"/>
              </a:rPr>
              <a:t> </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85247" y="1047944"/>
            <a:ext cx="10092519" cy="4382729"/>
          </a:xfrm>
        </p:spPr>
        <p:txBody>
          <a:bodyPr/>
          <a:lstStyle/>
          <a:p>
            <a:pPr marL="0" indent="0" algn="just">
              <a:buNone/>
            </a:pPr>
            <a:r>
              <a:rPr lang="vi-VN" b="1" dirty="0" smtClean="0">
                <a:solidFill>
                  <a:srgbClr val="0000CC"/>
                </a:solidFill>
                <a:latin typeface="Rockwell" panose="02060603020205020403" pitchFamily="18" charset="0"/>
                <a:ea typeface="+mj-ea"/>
                <a:cs typeface="+mj-cs"/>
              </a:rPr>
              <a:t>3</a:t>
            </a:r>
            <a:r>
              <a:rPr lang="vi-VN" b="1" dirty="0">
                <a:solidFill>
                  <a:srgbClr val="0000CC"/>
                </a:solidFill>
                <a:latin typeface="Rockwell" panose="02060603020205020403" pitchFamily="18" charset="0"/>
                <a:ea typeface="+mj-ea"/>
                <a:cs typeface="+mj-cs"/>
              </a:rPr>
              <a:t>. Chính sách bảo mật hệ thống &amp; dữ liệu</a:t>
            </a:r>
          </a:p>
          <a:p>
            <a:pPr algn="just"/>
            <a:r>
              <a:rPr lang="vi-VN" dirty="0">
                <a:solidFill>
                  <a:srgbClr val="0000CC"/>
                </a:solidFill>
                <a:latin typeface="Rockwell" panose="02060603020205020403" pitchFamily="18" charset="0"/>
                <a:ea typeface="+mj-ea"/>
                <a:cs typeface="+mj-cs"/>
              </a:rPr>
              <a:t>Xác thực &amp; phân quyền:</a:t>
            </a:r>
          </a:p>
          <a:p>
            <a:pPr lvl="1" algn="just"/>
            <a:r>
              <a:rPr lang="vi-VN" dirty="0">
                <a:solidFill>
                  <a:srgbClr val="0000CC"/>
                </a:solidFill>
                <a:latin typeface="Rockwell" panose="02060603020205020403" pitchFamily="18" charset="0"/>
                <a:ea typeface="+mj-ea"/>
                <a:cs typeface="+mj-cs"/>
              </a:rPr>
              <a:t>Sử dụng xác thực đa yếu tố (MFA).</a:t>
            </a:r>
          </a:p>
          <a:p>
            <a:pPr lvl="1" algn="just"/>
            <a:r>
              <a:rPr lang="vi-VN" dirty="0">
                <a:solidFill>
                  <a:srgbClr val="0000CC"/>
                </a:solidFill>
                <a:latin typeface="Rockwell" panose="02060603020205020403" pitchFamily="18" charset="0"/>
                <a:ea typeface="+mj-ea"/>
                <a:cs typeface="+mj-cs"/>
              </a:rPr>
              <a:t>Cấp quyền theo nguyên tắc “tối thiểu cần thiết” (Least Privilege).</a:t>
            </a:r>
          </a:p>
          <a:p>
            <a:pPr algn="just"/>
            <a:r>
              <a:rPr lang="vi-VN" dirty="0">
                <a:solidFill>
                  <a:srgbClr val="0000CC"/>
                </a:solidFill>
                <a:latin typeface="Rockwell" panose="02060603020205020403" pitchFamily="18" charset="0"/>
                <a:ea typeface="+mj-ea"/>
                <a:cs typeface="+mj-cs"/>
              </a:rPr>
              <a:t>Bảo mật dữ liệu:</a:t>
            </a:r>
          </a:p>
          <a:p>
            <a:pPr lvl="1" algn="just"/>
            <a:r>
              <a:rPr lang="vi-VN" dirty="0">
                <a:solidFill>
                  <a:srgbClr val="0000CC"/>
                </a:solidFill>
                <a:latin typeface="Rockwell" panose="02060603020205020403" pitchFamily="18" charset="0"/>
                <a:ea typeface="+mj-ea"/>
                <a:cs typeface="+mj-cs"/>
              </a:rPr>
              <a:t>Mã hóa dữ liệu nhạy cảm (thông tin thẻ tín dụng, dữ liệu cá nhân).</a:t>
            </a:r>
          </a:p>
          <a:p>
            <a:pPr lvl="1" algn="just"/>
            <a:r>
              <a:rPr lang="vi-VN" dirty="0">
                <a:solidFill>
                  <a:srgbClr val="0000CC"/>
                </a:solidFill>
                <a:latin typeface="Rockwell" panose="02060603020205020403" pitchFamily="18" charset="0"/>
                <a:ea typeface="+mj-ea"/>
                <a:cs typeface="+mj-cs"/>
              </a:rPr>
              <a:t>Sao lưu định kỳ và lưu trữ an toàn.</a:t>
            </a:r>
          </a:p>
          <a:p>
            <a:pPr algn="just"/>
            <a:r>
              <a:rPr lang="vi-VN" dirty="0">
                <a:solidFill>
                  <a:srgbClr val="0000CC"/>
                </a:solidFill>
                <a:latin typeface="Rockwell" panose="02060603020205020403" pitchFamily="18" charset="0"/>
                <a:ea typeface="+mj-ea"/>
                <a:cs typeface="+mj-cs"/>
              </a:rPr>
              <a:t>Cập nhật &amp; vá lỗi:</a:t>
            </a:r>
          </a:p>
          <a:p>
            <a:pPr lvl="1" algn="just"/>
            <a:r>
              <a:rPr lang="vi-VN" dirty="0">
                <a:solidFill>
                  <a:srgbClr val="0000CC"/>
                </a:solidFill>
                <a:latin typeface="Rockwell" panose="02060603020205020403" pitchFamily="18" charset="0"/>
                <a:ea typeface="+mj-ea"/>
                <a:cs typeface="+mj-cs"/>
              </a:rPr>
              <a:t>Đảm bảo hệ điều hành, ứng dụng và </a:t>
            </a:r>
            <a:r>
              <a:rPr lang="en-US" dirty="0" smtClean="0">
                <a:solidFill>
                  <a:srgbClr val="0000CC"/>
                </a:solidFill>
                <a:latin typeface="Rockwell" panose="02060603020205020403" pitchFamily="18" charset="0"/>
                <a:ea typeface="+mj-ea"/>
                <a:cs typeface="+mj-cs"/>
              </a:rPr>
              <a:t>Database</a:t>
            </a:r>
            <a:r>
              <a:rPr lang="vi-VN" dirty="0" smtClean="0">
                <a:solidFill>
                  <a:srgbClr val="0000CC"/>
                </a:solidFill>
                <a:latin typeface="Rockwell" panose="02060603020205020403" pitchFamily="18" charset="0"/>
                <a:ea typeface="+mj-ea"/>
                <a:cs typeface="+mj-cs"/>
              </a:rPr>
              <a:t> </a:t>
            </a:r>
            <a:r>
              <a:rPr lang="vi-VN" dirty="0">
                <a:solidFill>
                  <a:srgbClr val="0000CC"/>
                </a:solidFill>
                <a:latin typeface="Rockwell" panose="02060603020205020403" pitchFamily="18" charset="0"/>
                <a:ea typeface="+mj-ea"/>
                <a:cs typeface="+mj-cs"/>
              </a:rPr>
              <a:t>được vá lỗi kịp thời.</a:t>
            </a:r>
          </a:p>
          <a:p>
            <a:pPr lvl="1" algn="just"/>
            <a:r>
              <a:rPr lang="vi-VN" dirty="0">
                <a:solidFill>
                  <a:srgbClr val="0000CC"/>
                </a:solidFill>
                <a:latin typeface="Rockwell" panose="02060603020205020403" pitchFamily="18" charset="0"/>
                <a:ea typeface="+mj-ea"/>
                <a:cs typeface="+mj-cs"/>
              </a:rPr>
              <a:t>Triển khai </a:t>
            </a:r>
            <a:r>
              <a:rPr lang="vi-VN" dirty="0" smtClean="0">
                <a:solidFill>
                  <a:srgbClr val="0000CC"/>
                </a:solidFill>
                <a:latin typeface="Rockwell" panose="02060603020205020403" pitchFamily="18" charset="0"/>
                <a:ea typeface="+mj-ea"/>
                <a:cs typeface="+mj-cs"/>
              </a:rPr>
              <a:t>Web </a:t>
            </a:r>
            <a:r>
              <a:rPr lang="vi-VN" dirty="0">
                <a:solidFill>
                  <a:srgbClr val="0000CC"/>
                </a:solidFill>
                <a:latin typeface="Rockwell" panose="02060603020205020403" pitchFamily="18" charset="0"/>
                <a:ea typeface="+mj-ea"/>
                <a:cs typeface="+mj-cs"/>
              </a:rPr>
              <a:t>Application </a:t>
            </a:r>
            <a:r>
              <a:rPr lang="vi-VN" dirty="0" smtClean="0">
                <a:solidFill>
                  <a:srgbClr val="0000CC"/>
                </a:solidFill>
                <a:latin typeface="Rockwell" panose="02060603020205020403" pitchFamily="18" charset="0"/>
                <a:ea typeface="+mj-ea"/>
                <a:cs typeface="+mj-cs"/>
              </a:rPr>
              <a:t>Firewall </a:t>
            </a:r>
            <a:r>
              <a:rPr lang="vi-VN" dirty="0">
                <a:solidFill>
                  <a:srgbClr val="0000CC"/>
                </a:solidFill>
                <a:latin typeface="Rockwell" panose="02060603020205020403" pitchFamily="18" charset="0"/>
                <a:ea typeface="+mj-ea"/>
                <a:cs typeface="+mj-cs"/>
              </a:rPr>
              <a:t>để giảm thiểu lỗ hổng Web.</a:t>
            </a:r>
          </a:p>
        </p:txBody>
      </p:sp>
    </p:spTree>
    <p:extLst>
      <p:ext uri="{BB962C8B-B14F-4D97-AF65-F5344CB8AC3E}">
        <p14:creationId xmlns:p14="http://schemas.microsoft.com/office/powerpoint/2010/main" val="2624216758"/>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85247" y="519093"/>
            <a:ext cx="10242645" cy="528851"/>
          </a:xfrm>
        </p:spPr>
        <p:txBody>
          <a:bodyPr/>
          <a:lstStyle/>
          <a:p>
            <a:r>
              <a:rPr lang="en-US" sz="2800" b="1" dirty="0" smtClean="0">
                <a:solidFill>
                  <a:srgbClr val="0000CC"/>
                </a:solidFill>
                <a:latin typeface="Rockwell" panose="02060603020205020403" pitchFamily="18" charset="0"/>
              </a:rPr>
              <a:t>7.6.</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Chính</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sách</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bảo</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mật</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hạ</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tầng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mạng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E-Commerce</a:t>
            </a:r>
            <a:b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br>
            <a:r>
              <a:rPr lang="en-US" sz="2800" b="1" dirty="0" smtClean="0">
                <a:solidFill>
                  <a:srgbClr val="0000CC"/>
                </a:solidFill>
                <a:latin typeface="Rockwell" panose="02060603020205020403" pitchFamily="18" charset="0"/>
              </a:rPr>
              <a:t> </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85247" y="1047944"/>
            <a:ext cx="10092519" cy="4382729"/>
          </a:xfrm>
        </p:spPr>
        <p:txBody>
          <a:bodyPr/>
          <a:lstStyle/>
          <a:p>
            <a:pPr marL="0" indent="0" algn="just">
              <a:buNone/>
            </a:pPr>
            <a:r>
              <a:rPr lang="vi-VN" b="1" dirty="0" smtClean="0">
                <a:solidFill>
                  <a:srgbClr val="0000CC"/>
                </a:solidFill>
                <a:latin typeface="Rockwell" panose="02060603020205020403" pitchFamily="18" charset="0"/>
                <a:ea typeface="+mj-ea"/>
                <a:cs typeface="+mj-cs"/>
              </a:rPr>
              <a:t>4</a:t>
            </a:r>
            <a:r>
              <a:rPr lang="vi-VN" b="1" dirty="0">
                <a:solidFill>
                  <a:srgbClr val="0000CC"/>
                </a:solidFill>
                <a:latin typeface="Rockwell" panose="02060603020205020403" pitchFamily="18" charset="0"/>
                <a:ea typeface="+mj-ea"/>
                <a:cs typeface="+mj-cs"/>
              </a:rPr>
              <a:t>. Chính sách giám sát &amp; phản ứng sự cố</a:t>
            </a:r>
          </a:p>
          <a:p>
            <a:pPr algn="just"/>
            <a:r>
              <a:rPr lang="vi-VN" dirty="0">
                <a:solidFill>
                  <a:srgbClr val="0000CC"/>
                </a:solidFill>
                <a:latin typeface="Rockwell" panose="02060603020205020403" pitchFamily="18" charset="0"/>
                <a:ea typeface="+mj-ea"/>
                <a:cs typeface="+mj-cs"/>
              </a:rPr>
              <a:t>Giám sát an ninh 24/7: </a:t>
            </a:r>
            <a:endParaRPr lang="en-US" dirty="0" smtClean="0">
              <a:solidFill>
                <a:srgbClr val="0000CC"/>
              </a:solidFill>
              <a:latin typeface="Rockwell" panose="02060603020205020403" pitchFamily="18" charset="0"/>
              <a:ea typeface="+mj-ea"/>
              <a:cs typeface="+mj-cs"/>
            </a:endParaRPr>
          </a:p>
          <a:p>
            <a:pPr lvl="1" algn="just"/>
            <a:r>
              <a:rPr lang="en-US" dirty="0" smtClean="0">
                <a:solidFill>
                  <a:srgbClr val="0000CC"/>
                </a:solidFill>
                <a:latin typeface="Rockwell" panose="02060603020205020403" pitchFamily="18" charset="0"/>
                <a:ea typeface="+mj-ea"/>
                <a:cs typeface="+mj-cs"/>
              </a:rPr>
              <a:t>S</a:t>
            </a:r>
            <a:r>
              <a:rPr lang="vi-VN" dirty="0" smtClean="0">
                <a:solidFill>
                  <a:srgbClr val="0000CC"/>
                </a:solidFill>
                <a:latin typeface="Rockwell" panose="02060603020205020403" pitchFamily="18" charset="0"/>
                <a:ea typeface="+mj-ea"/>
                <a:cs typeface="+mj-cs"/>
              </a:rPr>
              <a:t>ử </a:t>
            </a:r>
            <a:r>
              <a:rPr lang="vi-VN" dirty="0">
                <a:solidFill>
                  <a:srgbClr val="0000CC"/>
                </a:solidFill>
                <a:latin typeface="Rockwell" panose="02060603020205020403" pitchFamily="18" charset="0"/>
                <a:ea typeface="+mj-ea"/>
                <a:cs typeface="+mj-cs"/>
              </a:rPr>
              <a:t>dụng IDS/IPS, SIEM để thu thập và phân tích log.</a:t>
            </a:r>
          </a:p>
          <a:p>
            <a:pPr algn="just"/>
            <a:r>
              <a:rPr lang="vi-VN" dirty="0">
                <a:solidFill>
                  <a:srgbClr val="0000CC"/>
                </a:solidFill>
                <a:latin typeface="Rockwell" panose="02060603020205020403" pitchFamily="18" charset="0"/>
                <a:ea typeface="+mj-ea"/>
                <a:cs typeface="+mj-cs"/>
              </a:rPr>
              <a:t>Cảnh báo sớm: </a:t>
            </a:r>
            <a:endParaRPr lang="en-US" dirty="0" smtClean="0">
              <a:solidFill>
                <a:srgbClr val="0000CC"/>
              </a:solidFill>
              <a:latin typeface="Rockwell" panose="02060603020205020403" pitchFamily="18" charset="0"/>
              <a:ea typeface="+mj-ea"/>
              <a:cs typeface="+mj-cs"/>
            </a:endParaRPr>
          </a:p>
          <a:p>
            <a:pPr lvl="1" algn="just"/>
            <a:r>
              <a:rPr lang="en-US" dirty="0" smtClean="0">
                <a:solidFill>
                  <a:srgbClr val="0000CC"/>
                </a:solidFill>
                <a:latin typeface="Rockwell" panose="02060603020205020403" pitchFamily="18" charset="0"/>
                <a:ea typeface="+mj-ea"/>
                <a:cs typeface="+mj-cs"/>
              </a:rPr>
              <a:t>H</a:t>
            </a:r>
            <a:r>
              <a:rPr lang="vi-VN" dirty="0" smtClean="0">
                <a:solidFill>
                  <a:srgbClr val="0000CC"/>
                </a:solidFill>
                <a:latin typeface="Rockwell" panose="02060603020205020403" pitchFamily="18" charset="0"/>
                <a:ea typeface="+mj-ea"/>
                <a:cs typeface="+mj-cs"/>
              </a:rPr>
              <a:t>ệ </a:t>
            </a:r>
            <a:r>
              <a:rPr lang="vi-VN" dirty="0">
                <a:solidFill>
                  <a:srgbClr val="0000CC"/>
                </a:solidFill>
                <a:latin typeface="Rockwell" panose="02060603020205020403" pitchFamily="18" charset="0"/>
                <a:ea typeface="+mj-ea"/>
                <a:cs typeface="+mj-cs"/>
              </a:rPr>
              <a:t>thống cảnh báo khi có hành vi bất thường.</a:t>
            </a:r>
          </a:p>
          <a:p>
            <a:pPr algn="just"/>
            <a:r>
              <a:rPr lang="vi-VN" dirty="0">
                <a:solidFill>
                  <a:srgbClr val="0000CC"/>
                </a:solidFill>
                <a:latin typeface="Rockwell" panose="02060603020205020403" pitchFamily="18" charset="0"/>
                <a:ea typeface="+mj-ea"/>
                <a:cs typeface="+mj-cs"/>
              </a:rPr>
              <a:t>Quy trình phản ứng sự cố:</a:t>
            </a:r>
          </a:p>
          <a:p>
            <a:pPr lvl="1" algn="just"/>
            <a:r>
              <a:rPr lang="vi-VN" dirty="0">
                <a:solidFill>
                  <a:srgbClr val="0000CC"/>
                </a:solidFill>
                <a:latin typeface="Rockwell" panose="02060603020205020403" pitchFamily="18" charset="0"/>
                <a:ea typeface="+mj-ea"/>
                <a:cs typeface="+mj-cs"/>
              </a:rPr>
              <a:t>Xác định sự cố </a:t>
            </a:r>
            <a:r>
              <a:rPr lang="en-US" dirty="0" smtClean="0">
                <a:solidFill>
                  <a:srgbClr val="0000CC"/>
                </a:solidFill>
                <a:latin typeface="Rockwell" panose="02060603020205020403" pitchFamily="18" charset="0"/>
                <a:ea typeface="+mj-ea"/>
                <a:cs typeface="+mj-cs"/>
              </a:rPr>
              <a:t>-</a:t>
            </a:r>
            <a:r>
              <a:rPr lang="vi-VN" dirty="0" smtClean="0">
                <a:solidFill>
                  <a:srgbClr val="0000CC"/>
                </a:solidFill>
                <a:latin typeface="Rockwell" panose="02060603020205020403" pitchFamily="18" charset="0"/>
                <a:ea typeface="+mj-ea"/>
                <a:cs typeface="+mj-cs"/>
              </a:rPr>
              <a:t> </a:t>
            </a:r>
            <a:r>
              <a:rPr lang="vi-VN" dirty="0">
                <a:solidFill>
                  <a:srgbClr val="0000CC"/>
                </a:solidFill>
                <a:latin typeface="Rockwell" panose="02060603020205020403" pitchFamily="18" charset="0"/>
                <a:ea typeface="+mj-ea"/>
                <a:cs typeface="+mj-cs"/>
              </a:rPr>
              <a:t>Cô lập </a:t>
            </a:r>
            <a:r>
              <a:rPr lang="en-US" dirty="0" smtClean="0">
                <a:solidFill>
                  <a:srgbClr val="0000CC"/>
                </a:solidFill>
                <a:latin typeface="Rockwell" panose="02060603020205020403" pitchFamily="18" charset="0"/>
                <a:ea typeface="+mj-ea"/>
                <a:cs typeface="+mj-cs"/>
              </a:rPr>
              <a:t>-</a:t>
            </a:r>
            <a:r>
              <a:rPr lang="vi-VN" dirty="0" smtClean="0">
                <a:solidFill>
                  <a:srgbClr val="0000CC"/>
                </a:solidFill>
                <a:latin typeface="Rockwell" panose="02060603020205020403" pitchFamily="18" charset="0"/>
                <a:ea typeface="+mj-ea"/>
                <a:cs typeface="+mj-cs"/>
              </a:rPr>
              <a:t> </a:t>
            </a:r>
            <a:r>
              <a:rPr lang="vi-VN" dirty="0">
                <a:solidFill>
                  <a:srgbClr val="0000CC"/>
                </a:solidFill>
                <a:latin typeface="Rockwell" panose="02060603020205020403" pitchFamily="18" charset="0"/>
                <a:ea typeface="+mj-ea"/>
                <a:cs typeface="+mj-cs"/>
              </a:rPr>
              <a:t>Xử lý </a:t>
            </a:r>
            <a:r>
              <a:rPr lang="en-US" dirty="0" smtClean="0">
                <a:solidFill>
                  <a:srgbClr val="0000CC"/>
                </a:solidFill>
                <a:latin typeface="Rockwell" panose="02060603020205020403" pitchFamily="18" charset="0"/>
                <a:ea typeface="+mj-ea"/>
                <a:cs typeface="+mj-cs"/>
              </a:rPr>
              <a:t>-</a:t>
            </a:r>
            <a:r>
              <a:rPr lang="vi-VN" dirty="0" smtClean="0">
                <a:solidFill>
                  <a:srgbClr val="0000CC"/>
                </a:solidFill>
                <a:latin typeface="Rockwell" panose="02060603020205020403" pitchFamily="18" charset="0"/>
                <a:ea typeface="+mj-ea"/>
                <a:cs typeface="+mj-cs"/>
              </a:rPr>
              <a:t> </a:t>
            </a:r>
            <a:r>
              <a:rPr lang="vi-VN" dirty="0">
                <a:solidFill>
                  <a:srgbClr val="0000CC"/>
                </a:solidFill>
                <a:latin typeface="Rockwell" panose="02060603020205020403" pitchFamily="18" charset="0"/>
                <a:ea typeface="+mj-ea"/>
                <a:cs typeface="+mj-cs"/>
              </a:rPr>
              <a:t>Phục hồi </a:t>
            </a:r>
            <a:r>
              <a:rPr lang="en-US" dirty="0" smtClean="0">
                <a:solidFill>
                  <a:srgbClr val="0000CC"/>
                </a:solidFill>
                <a:latin typeface="Rockwell" panose="02060603020205020403" pitchFamily="18" charset="0"/>
                <a:ea typeface="+mj-ea"/>
                <a:cs typeface="+mj-cs"/>
              </a:rPr>
              <a:t>-</a:t>
            </a:r>
            <a:r>
              <a:rPr lang="vi-VN" dirty="0" smtClean="0">
                <a:solidFill>
                  <a:srgbClr val="0000CC"/>
                </a:solidFill>
                <a:latin typeface="Rockwell" panose="02060603020205020403" pitchFamily="18" charset="0"/>
                <a:ea typeface="+mj-ea"/>
                <a:cs typeface="+mj-cs"/>
              </a:rPr>
              <a:t> </a:t>
            </a:r>
            <a:r>
              <a:rPr lang="vi-VN" dirty="0">
                <a:solidFill>
                  <a:srgbClr val="0000CC"/>
                </a:solidFill>
                <a:latin typeface="Rockwell" panose="02060603020205020403" pitchFamily="18" charset="0"/>
                <a:ea typeface="+mj-ea"/>
                <a:cs typeface="+mj-cs"/>
              </a:rPr>
              <a:t>Rút kinh nghiệm.</a:t>
            </a:r>
          </a:p>
          <a:p>
            <a:pPr algn="just"/>
            <a:r>
              <a:rPr lang="vi-VN" dirty="0">
                <a:solidFill>
                  <a:srgbClr val="0000CC"/>
                </a:solidFill>
                <a:latin typeface="Rockwell" panose="02060603020205020403" pitchFamily="18" charset="0"/>
                <a:ea typeface="+mj-ea"/>
                <a:cs typeface="+mj-cs"/>
              </a:rPr>
              <a:t>Kiểm tra &amp; đánh giá định kỳ:</a:t>
            </a:r>
          </a:p>
          <a:p>
            <a:pPr lvl="1" algn="just"/>
            <a:r>
              <a:rPr lang="vi-VN" dirty="0">
                <a:solidFill>
                  <a:srgbClr val="0000CC"/>
                </a:solidFill>
                <a:latin typeface="Rockwell" panose="02060603020205020403" pitchFamily="18" charset="0"/>
                <a:ea typeface="+mj-ea"/>
                <a:cs typeface="+mj-cs"/>
              </a:rPr>
              <a:t>Kiểm thử thâm nhập (Penetration Test).</a:t>
            </a:r>
          </a:p>
          <a:p>
            <a:pPr lvl="1" algn="just"/>
            <a:r>
              <a:rPr lang="vi-VN" dirty="0">
                <a:solidFill>
                  <a:srgbClr val="0000CC"/>
                </a:solidFill>
                <a:latin typeface="Rockwell" panose="02060603020205020403" pitchFamily="18" charset="0"/>
                <a:ea typeface="+mj-ea"/>
                <a:cs typeface="+mj-cs"/>
              </a:rPr>
              <a:t>Đánh giá lỗ hổng (Vulnerability Assessment).</a:t>
            </a:r>
          </a:p>
        </p:txBody>
      </p:sp>
    </p:spTree>
    <p:extLst>
      <p:ext uri="{BB962C8B-B14F-4D97-AF65-F5344CB8AC3E}">
        <p14:creationId xmlns:p14="http://schemas.microsoft.com/office/powerpoint/2010/main" val="3483888063"/>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85247" y="519093"/>
            <a:ext cx="10242645" cy="528851"/>
          </a:xfrm>
        </p:spPr>
        <p:txBody>
          <a:bodyPr/>
          <a:lstStyle/>
          <a:p>
            <a:r>
              <a:rPr lang="en-US" sz="2800" b="1" dirty="0" smtClean="0">
                <a:solidFill>
                  <a:srgbClr val="0000CC"/>
                </a:solidFill>
                <a:latin typeface="Rockwell" panose="02060603020205020403" pitchFamily="18" charset="0"/>
              </a:rPr>
              <a:t>7.6.</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Chính</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sách</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bảo</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mật</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hạ</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tầng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mạng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E-Commerce</a:t>
            </a:r>
            <a:b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br>
            <a:r>
              <a:rPr lang="en-US" sz="2800" b="1" dirty="0" smtClean="0">
                <a:solidFill>
                  <a:srgbClr val="0000CC"/>
                </a:solidFill>
                <a:latin typeface="Rockwell" panose="02060603020205020403" pitchFamily="18" charset="0"/>
              </a:rPr>
              <a:t> </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85247" y="1047944"/>
            <a:ext cx="10092519" cy="4382729"/>
          </a:xfrm>
        </p:spPr>
        <p:txBody>
          <a:bodyPr/>
          <a:lstStyle/>
          <a:p>
            <a:pPr marL="0" indent="0" algn="just">
              <a:buNone/>
            </a:pPr>
            <a:r>
              <a:rPr lang="vi-VN" b="1" dirty="0" smtClean="0">
                <a:solidFill>
                  <a:srgbClr val="0000CC"/>
                </a:solidFill>
                <a:latin typeface="Rockwell" panose="02060603020205020403" pitchFamily="18" charset="0"/>
                <a:ea typeface="+mj-ea"/>
                <a:cs typeface="+mj-cs"/>
              </a:rPr>
              <a:t>5</a:t>
            </a:r>
            <a:r>
              <a:rPr lang="vi-VN" b="1" dirty="0">
                <a:solidFill>
                  <a:srgbClr val="0000CC"/>
                </a:solidFill>
                <a:latin typeface="Rockwell" panose="02060603020205020403" pitchFamily="18" charset="0"/>
                <a:ea typeface="+mj-ea"/>
                <a:cs typeface="+mj-cs"/>
              </a:rPr>
              <a:t>. Chính sách đào tạo &amp; quản trị</a:t>
            </a:r>
          </a:p>
          <a:p>
            <a:pPr algn="just"/>
            <a:r>
              <a:rPr lang="vi-VN" dirty="0">
                <a:solidFill>
                  <a:srgbClr val="0000CC"/>
                </a:solidFill>
                <a:latin typeface="Rockwell" panose="02060603020205020403" pitchFamily="18" charset="0"/>
                <a:ea typeface="+mj-ea"/>
                <a:cs typeface="+mj-cs"/>
              </a:rPr>
              <a:t>Đào tạo nhân viên: </a:t>
            </a:r>
            <a:r>
              <a:rPr lang="en-US" dirty="0" smtClean="0">
                <a:solidFill>
                  <a:srgbClr val="0000CC"/>
                </a:solidFill>
                <a:latin typeface="Rockwell" panose="02060603020205020403" pitchFamily="18" charset="0"/>
                <a:ea typeface="+mj-ea"/>
                <a:cs typeface="+mj-cs"/>
              </a:rPr>
              <a:t>N</a:t>
            </a:r>
            <a:r>
              <a:rPr lang="vi-VN" dirty="0" smtClean="0">
                <a:solidFill>
                  <a:srgbClr val="0000CC"/>
                </a:solidFill>
                <a:latin typeface="Rockwell" panose="02060603020205020403" pitchFamily="18" charset="0"/>
                <a:ea typeface="+mj-ea"/>
                <a:cs typeface="+mj-cs"/>
              </a:rPr>
              <a:t>âng </a:t>
            </a:r>
            <a:r>
              <a:rPr lang="vi-VN" dirty="0">
                <a:solidFill>
                  <a:srgbClr val="0000CC"/>
                </a:solidFill>
                <a:latin typeface="Rockwell" panose="02060603020205020403" pitchFamily="18" charset="0"/>
                <a:ea typeface="+mj-ea"/>
                <a:cs typeface="+mj-cs"/>
              </a:rPr>
              <a:t>cao nhận thức an toàn thông tin, tránh lừa đảo (phishing, social engineering).</a:t>
            </a:r>
          </a:p>
          <a:p>
            <a:pPr algn="just"/>
            <a:r>
              <a:rPr lang="vi-VN" dirty="0">
                <a:solidFill>
                  <a:srgbClr val="0000CC"/>
                </a:solidFill>
                <a:latin typeface="Rockwell" panose="02060603020205020403" pitchFamily="18" charset="0"/>
                <a:ea typeface="+mj-ea"/>
                <a:cs typeface="+mj-cs"/>
              </a:rPr>
              <a:t>Quản trị tài khoản &amp; mật khẩu:</a:t>
            </a:r>
          </a:p>
          <a:p>
            <a:pPr lvl="1" algn="just"/>
            <a:r>
              <a:rPr lang="vi-VN" dirty="0">
                <a:solidFill>
                  <a:srgbClr val="0000CC"/>
                </a:solidFill>
                <a:latin typeface="Rockwell" panose="02060603020205020403" pitchFamily="18" charset="0"/>
                <a:ea typeface="+mj-ea"/>
                <a:cs typeface="+mj-cs"/>
              </a:rPr>
              <a:t>Mật khẩu mạnh, thay đổi định kỳ.</a:t>
            </a:r>
          </a:p>
          <a:p>
            <a:pPr lvl="1" algn="just"/>
            <a:r>
              <a:rPr lang="vi-VN" dirty="0">
                <a:solidFill>
                  <a:srgbClr val="0000CC"/>
                </a:solidFill>
                <a:latin typeface="Rockwell" panose="02060603020205020403" pitchFamily="18" charset="0"/>
                <a:ea typeface="+mj-ea"/>
                <a:cs typeface="+mj-cs"/>
              </a:rPr>
              <a:t>Vô hiệu hóa tài khoản không dùng.</a:t>
            </a:r>
          </a:p>
          <a:p>
            <a:pPr algn="just"/>
            <a:r>
              <a:rPr lang="vi-VN" dirty="0">
                <a:solidFill>
                  <a:srgbClr val="0000CC"/>
                </a:solidFill>
                <a:latin typeface="Rockwell" panose="02060603020205020403" pitchFamily="18" charset="0"/>
                <a:ea typeface="+mj-ea"/>
                <a:cs typeface="+mj-cs"/>
              </a:rPr>
              <a:t>Kiểm tra tuân thủ: </a:t>
            </a:r>
            <a:r>
              <a:rPr lang="en-US" dirty="0">
                <a:solidFill>
                  <a:srgbClr val="0000CC"/>
                </a:solidFill>
                <a:latin typeface="Rockwell" panose="02060603020205020403" pitchFamily="18" charset="0"/>
                <a:ea typeface="+mj-ea"/>
                <a:cs typeface="+mj-cs"/>
              </a:rPr>
              <a:t>Đ</a:t>
            </a:r>
            <a:r>
              <a:rPr lang="vi-VN" dirty="0" smtClean="0">
                <a:solidFill>
                  <a:srgbClr val="0000CC"/>
                </a:solidFill>
                <a:latin typeface="Rockwell" panose="02060603020205020403" pitchFamily="18" charset="0"/>
                <a:ea typeface="+mj-ea"/>
                <a:cs typeface="+mj-cs"/>
              </a:rPr>
              <a:t>ịnh </a:t>
            </a:r>
            <a:r>
              <a:rPr lang="vi-VN" dirty="0">
                <a:solidFill>
                  <a:srgbClr val="0000CC"/>
                </a:solidFill>
                <a:latin typeface="Rockwell" panose="02060603020205020403" pitchFamily="18" charset="0"/>
                <a:ea typeface="+mj-ea"/>
                <a:cs typeface="+mj-cs"/>
              </a:rPr>
              <a:t>kỳ đánh giá việc thực hiện </a:t>
            </a:r>
            <a:r>
              <a:rPr lang="vi-VN" dirty="0" smtClean="0">
                <a:solidFill>
                  <a:srgbClr val="0000CC"/>
                </a:solidFill>
                <a:latin typeface="Rockwell" panose="02060603020205020403" pitchFamily="18" charset="0"/>
                <a:ea typeface="+mj-ea"/>
                <a:cs typeface="+mj-cs"/>
              </a:rPr>
              <a:t>c</a:t>
            </a:r>
            <a:r>
              <a:rPr lang="en-US" dirty="0" smtClean="0">
                <a:solidFill>
                  <a:srgbClr val="0000CC"/>
                </a:solidFill>
                <a:latin typeface="Rockwell" panose="02060603020205020403" pitchFamily="18" charset="0"/>
                <a:ea typeface="+mj-ea"/>
                <a:cs typeface="+mj-cs"/>
              </a:rPr>
              <a:t>h/</a:t>
            </a:r>
            <a:r>
              <a:rPr lang="vi-VN" dirty="0" smtClean="0">
                <a:solidFill>
                  <a:srgbClr val="0000CC"/>
                </a:solidFill>
                <a:latin typeface="Rockwell" panose="02060603020205020403" pitchFamily="18" charset="0"/>
                <a:ea typeface="+mj-ea"/>
                <a:cs typeface="+mj-cs"/>
              </a:rPr>
              <a:t>sách </a:t>
            </a:r>
            <a:r>
              <a:rPr lang="vi-VN" dirty="0">
                <a:solidFill>
                  <a:srgbClr val="0000CC"/>
                </a:solidFill>
                <a:latin typeface="Rockwell" panose="02060603020205020403" pitchFamily="18" charset="0"/>
                <a:ea typeface="+mj-ea"/>
                <a:cs typeface="+mj-cs"/>
              </a:rPr>
              <a:t>bảo mật</a:t>
            </a:r>
            <a:r>
              <a:rPr lang="vi-VN" dirty="0" smtClean="0">
                <a:solidFill>
                  <a:srgbClr val="0000CC"/>
                </a:solidFill>
                <a:latin typeface="Rockwell" panose="02060603020205020403" pitchFamily="18" charset="0"/>
                <a:ea typeface="+mj-ea"/>
                <a:cs typeface="+mj-cs"/>
              </a:rPr>
              <a:t>.</a:t>
            </a:r>
            <a:endParaRPr lang="en-US" dirty="0" smtClean="0">
              <a:solidFill>
                <a:srgbClr val="0000CC"/>
              </a:solidFill>
              <a:latin typeface="Rockwell" panose="02060603020205020403" pitchFamily="18" charset="0"/>
              <a:ea typeface="+mj-ea"/>
              <a:cs typeface="+mj-cs"/>
            </a:endParaRPr>
          </a:p>
          <a:p>
            <a:pPr algn="just"/>
            <a:endParaRPr lang="en-US" dirty="0">
              <a:solidFill>
                <a:srgbClr val="0000CC"/>
              </a:solidFill>
              <a:latin typeface="Rockwell" panose="02060603020205020403" pitchFamily="18" charset="0"/>
              <a:ea typeface="+mj-ea"/>
              <a:cs typeface="+mj-cs"/>
            </a:endParaRPr>
          </a:p>
          <a:p>
            <a:pPr marL="0" indent="0" algn="just">
              <a:buNone/>
            </a:pPr>
            <a:r>
              <a:rPr lang="vi-VN" sz="2600" i="1" dirty="0">
                <a:solidFill>
                  <a:srgbClr val="FF00FF"/>
                </a:solidFill>
                <a:latin typeface="Rockwell" panose="02060603020205020403" pitchFamily="18" charset="0"/>
                <a:ea typeface="+mj-ea"/>
                <a:cs typeface="+mj-cs"/>
              </a:rPr>
              <a:t>Chính sách bảo mật hạ tầng mạng E-Commerce phải toàn diện, bao quát cả mạng, hệ thống, dữ liệu, người dùng và quy trình quản trị. Đây là nền tảng để đảm bảo an toàn cho giao dịch trực tuyến, bảo vệ uy tín doanh nghiệp và niềm tin khách hàng.</a:t>
            </a:r>
          </a:p>
        </p:txBody>
      </p:sp>
    </p:spTree>
    <p:extLst>
      <p:ext uri="{BB962C8B-B14F-4D97-AF65-F5344CB8AC3E}">
        <p14:creationId xmlns:p14="http://schemas.microsoft.com/office/powerpoint/2010/main" val="2319468904"/>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599" y="876869"/>
            <a:ext cx="10242645" cy="528851"/>
          </a:xfrm>
        </p:spPr>
        <p:txBody>
          <a:bodyPr/>
          <a:lstStyle/>
          <a:p>
            <a:r>
              <a:rPr lang="en-US" sz="2800" b="1" dirty="0">
                <a:solidFill>
                  <a:srgbClr val="0000CC"/>
                </a:solidFill>
                <a:latin typeface="Rockwell" panose="02060603020205020403" pitchFamily="18" charset="0"/>
              </a:rPr>
              <a:t>7</a:t>
            </a:r>
            <a:r>
              <a:rPr lang="en-US" sz="2800" b="1" dirty="0" smtClean="0">
                <a:solidFill>
                  <a:srgbClr val="0000CC"/>
                </a:solidFill>
                <a:latin typeface="Rockwell" panose="02060603020205020403" pitchFamily="18" charset="0"/>
              </a:rPr>
              <a:t>.7. </a:t>
            </a:r>
            <a:r>
              <a:rPr lang="en-US" sz="2800" b="1" dirty="0" err="1" smtClean="0">
                <a:solidFill>
                  <a:srgbClr val="0000CC"/>
                </a:solidFill>
                <a:latin typeface="Rockwell" panose="02060603020205020403" pitchFamily="18" charset="0"/>
              </a:rPr>
              <a:t>Thảo</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luận</a:t>
            </a:r>
            <a:r>
              <a:rPr lang="vi-VN"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600" y="1539263"/>
            <a:ext cx="9901452" cy="4382729"/>
          </a:xfrm>
        </p:spPr>
        <p:txBody>
          <a:bodyPr/>
          <a:lstStyle/>
          <a:p>
            <a:pPr marL="0" indent="0">
              <a:buNone/>
            </a:pPr>
            <a:r>
              <a:rPr lang="en-US" b="1" dirty="0" err="1" smtClean="0">
                <a:solidFill>
                  <a:srgbClr val="0000CC"/>
                </a:solidFill>
                <a:latin typeface="Rockwell" panose="02060603020205020403" pitchFamily="18" charset="0"/>
                <a:ea typeface="+mj-ea"/>
                <a:cs typeface="+mj-cs"/>
              </a:rPr>
              <a:t>Câu</a:t>
            </a:r>
            <a:r>
              <a:rPr lang="en-US" b="1" dirty="0" smtClean="0">
                <a:solidFill>
                  <a:srgbClr val="0000CC"/>
                </a:solidFill>
                <a:latin typeface="Rockwell" panose="02060603020205020403" pitchFamily="18" charset="0"/>
                <a:ea typeface="+mj-ea"/>
                <a:cs typeface="+mj-cs"/>
              </a:rPr>
              <a:t> </a:t>
            </a:r>
            <a:r>
              <a:rPr lang="en-US" b="1" dirty="0" err="1" smtClean="0">
                <a:solidFill>
                  <a:srgbClr val="0000CC"/>
                </a:solidFill>
                <a:latin typeface="Rockwell" panose="02060603020205020403" pitchFamily="18" charset="0"/>
                <a:ea typeface="+mj-ea"/>
                <a:cs typeface="+mj-cs"/>
              </a:rPr>
              <a:t>hỏi</a:t>
            </a:r>
            <a:r>
              <a:rPr lang="en-US" b="1" dirty="0" smtClean="0">
                <a:solidFill>
                  <a:srgbClr val="0000CC"/>
                </a:solidFill>
                <a:latin typeface="Rockwell" panose="02060603020205020403" pitchFamily="18" charset="0"/>
                <a:ea typeface="+mj-ea"/>
                <a:cs typeface="+mj-cs"/>
              </a:rPr>
              <a:t> </a:t>
            </a:r>
            <a:r>
              <a:rPr lang="en-US" b="1" dirty="0" err="1" smtClean="0">
                <a:solidFill>
                  <a:srgbClr val="0000CC"/>
                </a:solidFill>
                <a:latin typeface="Rockwell" panose="02060603020205020403" pitchFamily="18" charset="0"/>
                <a:ea typeface="+mj-ea"/>
                <a:cs typeface="+mj-cs"/>
              </a:rPr>
              <a:t>thảo</a:t>
            </a:r>
            <a:r>
              <a:rPr lang="en-US" b="1" dirty="0" smtClean="0">
                <a:solidFill>
                  <a:srgbClr val="0000CC"/>
                </a:solidFill>
                <a:latin typeface="Rockwell" panose="02060603020205020403" pitchFamily="18" charset="0"/>
                <a:ea typeface="+mj-ea"/>
                <a:cs typeface="+mj-cs"/>
              </a:rPr>
              <a:t> </a:t>
            </a:r>
            <a:r>
              <a:rPr lang="en-US" b="1" dirty="0" err="1" smtClean="0">
                <a:solidFill>
                  <a:srgbClr val="0000CC"/>
                </a:solidFill>
                <a:latin typeface="Rockwell" panose="02060603020205020403" pitchFamily="18" charset="0"/>
                <a:ea typeface="+mj-ea"/>
                <a:cs typeface="+mj-cs"/>
              </a:rPr>
              <a:t>luận</a:t>
            </a:r>
            <a:r>
              <a:rPr lang="en-US" b="1" dirty="0" smtClean="0">
                <a:solidFill>
                  <a:srgbClr val="0000CC"/>
                </a:solidFill>
                <a:latin typeface="Rockwell" panose="02060603020205020403" pitchFamily="18" charset="0"/>
                <a:ea typeface="+mj-ea"/>
                <a:cs typeface="+mj-cs"/>
              </a:rPr>
              <a:t>:</a:t>
            </a:r>
          </a:p>
          <a:p>
            <a:pPr marL="457200" indent="-457200">
              <a:buFont typeface="+mj-lt"/>
              <a:buAutoNum type="arabicPeriod"/>
            </a:pPr>
            <a:r>
              <a:rPr lang="vi-VN" dirty="0">
                <a:solidFill>
                  <a:srgbClr val="0000CC"/>
                </a:solidFill>
                <a:latin typeface="Rockwell" panose="02060603020205020403" pitchFamily="18" charset="0"/>
                <a:ea typeface="+mj-ea"/>
                <a:cs typeface="+mj-cs"/>
              </a:rPr>
              <a:t>Theo SV, trong hạ tầng </a:t>
            </a:r>
            <a:r>
              <a:rPr lang="en-US" dirty="0" err="1" smtClean="0">
                <a:solidFill>
                  <a:srgbClr val="0000CC"/>
                </a:solidFill>
                <a:latin typeface="Rockwell" panose="02060603020205020403" pitchFamily="18" charset="0"/>
                <a:ea typeface="+mj-ea"/>
                <a:cs typeface="+mj-cs"/>
              </a:rPr>
              <a:t>mạng</a:t>
            </a:r>
            <a:r>
              <a:rPr lang="en-US" dirty="0" smtClean="0">
                <a:solidFill>
                  <a:srgbClr val="0000CC"/>
                </a:solidFill>
                <a:latin typeface="Rockwell" panose="02060603020205020403" pitchFamily="18" charset="0"/>
                <a:ea typeface="+mj-ea"/>
                <a:cs typeface="+mj-cs"/>
              </a:rPr>
              <a:t> </a:t>
            </a:r>
            <a:r>
              <a:rPr lang="vi-VN" dirty="0" smtClean="0">
                <a:solidFill>
                  <a:srgbClr val="0000CC"/>
                </a:solidFill>
                <a:latin typeface="Rockwell" panose="02060603020205020403" pitchFamily="18" charset="0"/>
                <a:ea typeface="+mj-ea"/>
                <a:cs typeface="+mj-cs"/>
              </a:rPr>
              <a:t>E-</a:t>
            </a:r>
            <a:r>
              <a:rPr lang="en-US" dirty="0" smtClean="0">
                <a:solidFill>
                  <a:srgbClr val="0000CC"/>
                </a:solidFill>
                <a:latin typeface="Rockwell" panose="02060603020205020403" pitchFamily="18" charset="0"/>
                <a:ea typeface="+mj-ea"/>
                <a:cs typeface="+mj-cs"/>
              </a:rPr>
              <a:t>c</a:t>
            </a:r>
            <a:r>
              <a:rPr lang="vi-VN" dirty="0" smtClean="0">
                <a:solidFill>
                  <a:srgbClr val="0000CC"/>
                </a:solidFill>
                <a:latin typeface="Rockwell" panose="02060603020205020403" pitchFamily="18" charset="0"/>
                <a:ea typeface="+mj-ea"/>
                <a:cs typeface="+mj-cs"/>
              </a:rPr>
              <a:t>ommerce</a:t>
            </a:r>
            <a:r>
              <a:rPr lang="vi-VN" dirty="0">
                <a:solidFill>
                  <a:srgbClr val="0000CC"/>
                </a:solidFill>
                <a:latin typeface="Rockwell" panose="02060603020205020403" pitchFamily="18" charset="0"/>
                <a:ea typeface="+mj-ea"/>
                <a:cs typeface="+mj-cs"/>
              </a:rPr>
              <a:t>, Firewall hay IDS quan trọng hơn? Vì sao?</a:t>
            </a:r>
          </a:p>
          <a:p>
            <a:pPr marL="457200" indent="-457200">
              <a:buFont typeface="+mj-lt"/>
              <a:buAutoNum type="arabicPeriod"/>
            </a:pPr>
            <a:r>
              <a:rPr lang="vi-VN" dirty="0">
                <a:solidFill>
                  <a:srgbClr val="0000CC"/>
                </a:solidFill>
                <a:latin typeface="Rockwell" panose="02060603020205020403" pitchFamily="18" charset="0"/>
                <a:ea typeface="+mj-ea"/>
                <a:cs typeface="+mj-cs"/>
              </a:rPr>
              <a:t>Nếu chỉ triển khai một lớp bảo mật (chỉ dùng FW hoặc IDS), thì hệ thống có rủi ro gì?</a:t>
            </a:r>
          </a:p>
          <a:p>
            <a:pPr marL="457200" indent="-457200">
              <a:buFont typeface="+mj-lt"/>
              <a:buAutoNum type="arabicPeriod"/>
            </a:pPr>
            <a:r>
              <a:rPr lang="vi-VN" dirty="0">
                <a:solidFill>
                  <a:srgbClr val="0000CC"/>
                </a:solidFill>
                <a:latin typeface="Rockwell" panose="02060603020205020403" pitchFamily="18" charset="0"/>
                <a:ea typeface="+mj-ea"/>
                <a:cs typeface="+mj-cs"/>
              </a:rPr>
              <a:t>SV hãy phân tích tình huống tấn công SQL Injection: FW có ngăn chặn được không? IDS có vai trò gì trong tình huống này?</a:t>
            </a:r>
          </a:p>
          <a:p>
            <a:pPr marL="457200" indent="-457200">
              <a:buFont typeface="+mj-lt"/>
              <a:buAutoNum type="arabicPeriod"/>
            </a:pPr>
            <a:r>
              <a:rPr lang="vi-VN" dirty="0">
                <a:solidFill>
                  <a:srgbClr val="0000CC"/>
                </a:solidFill>
                <a:latin typeface="Rockwell" panose="02060603020205020403" pitchFamily="18" charset="0"/>
                <a:ea typeface="+mj-ea"/>
                <a:cs typeface="+mj-cs"/>
              </a:rPr>
              <a:t>Trong thực tế, VPN có thể bị khai thác hoặc tấn công. Theo SV, làm thế nào để tăng cường bảo mật cho VPN trong </a:t>
            </a:r>
            <a:r>
              <a:rPr lang="vi-VN" dirty="0" smtClean="0">
                <a:solidFill>
                  <a:srgbClr val="0000CC"/>
                </a:solidFill>
                <a:latin typeface="Rockwell" panose="02060603020205020403" pitchFamily="18" charset="0"/>
                <a:ea typeface="+mj-ea"/>
                <a:cs typeface="+mj-cs"/>
              </a:rPr>
              <a:t>E-</a:t>
            </a:r>
            <a:r>
              <a:rPr lang="en-US" dirty="0" smtClean="0">
                <a:solidFill>
                  <a:srgbClr val="0000CC"/>
                </a:solidFill>
                <a:latin typeface="Rockwell" panose="02060603020205020403" pitchFamily="18" charset="0"/>
                <a:ea typeface="+mj-ea"/>
                <a:cs typeface="+mj-cs"/>
              </a:rPr>
              <a:t>c</a:t>
            </a:r>
            <a:r>
              <a:rPr lang="vi-VN" dirty="0" smtClean="0">
                <a:solidFill>
                  <a:srgbClr val="0000CC"/>
                </a:solidFill>
                <a:latin typeface="Rockwell" panose="02060603020205020403" pitchFamily="18" charset="0"/>
                <a:ea typeface="+mj-ea"/>
                <a:cs typeface="+mj-cs"/>
              </a:rPr>
              <a:t>ommerce</a:t>
            </a:r>
            <a:r>
              <a:rPr lang="vi-VN" dirty="0">
                <a:solidFill>
                  <a:srgbClr val="0000CC"/>
                </a:solidFill>
                <a:latin typeface="Rockwell" panose="02060603020205020403" pitchFamily="18" charset="0"/>
                <a:ea typeface="+mj-ea"/>
                <a:cs typeface="+mj-cs"/>
              </a:rPr>
              <a:t>?</a:t>
            </a:r>
          </a:p>
          <a:p>
            <a:pPr marL="457200" indent="-457200">
              <a:buFont typeface="+mj-lt"/>
              <a:buAutoNum type="arabicPeriod"/>
            </a:pPr>
            <a:r>
              <a:rPr lang="vi-VN" dirty="0" smtClean="0">
                <a:solidFill>
                  <a:srgbClr val="0000CC"/>
                </a:solidFill>
                <a:latin typeface="Rockwell" panose="02060603020205020403" pitchFamily="18" charset="0"/>
                <a:ea typeface="+mj-ea"/>
                <a:cs typeface="+mj-cs"/>
              </a:rPr>
              <a:t>Trong </a:t>
            </a:r>
            <a:r>
              <a:rPr lang="vi-VN" dirty="0">
                <a:solidFill>
                  <a:srgbClr val="0000CC"/>
                </a:solidFill>
                <a:latin typeface="Rockwell" panose="02060603020205020403" pitchFamily="18" charset="0"/>
                <a:ea typeface="+mj-ea"/>
                <a:cs typeface="+mj-cs"/>
              </a:rPr>
              <a:t>chiến lược Defense in Depth, theo SV lớp nào thường bị bỏ qua trong doanh nghiệp vừa và nhỏ?</a:t>
            </a:r>
          </a:p>
          <a:p>
            <a:pPr marL="0" indent="0">
              <a:buNone/>
            </a:pPr>
            <a:r>
              <a:rPr lang="en-US" b="1" dirty="0" smtClean="0">
                <a:solidFill>
                  <a:srgbClr val="0000CC"/>
                </a:solidFill>
                <a:latin typeface="Rockwell" panose="02060603020205020403" pitchFamily="18" charset="0"/>
                <a:ea typeface="+mj-ea"/>
                <a:cs typeface="+mj-cs"/>
              </a:rPr>
              <a:t> </a:t>
            </a:r>
            <a:endParaRPr lang="vi-VN" b="1" dirty="0">
              <a:solidFill>
                <a:srgbClr val="0000CC"/>
              </a:solidFill>
              <a:latin typeface="Rockwell" panose="02060603020205020403" pitchFamily="18" charset="0"/>
              <a:ea typeface="+mj-ea"/>
              <a:cs typeface="+mj-cs"/>
            </a:endParaRPr>
          </a:p>
          <a:p>
            <a:endParaRPr lang="en-US" dirty="0"/>
          </a:p>
        </p:txBody>
      </p:sp>
    </p:spTree>
    <p:extLst>
      <p:ext uri="{BB962C8B-B14F-4D97-AF65-F5344CB8AC3E}">
        <p14:creationId xmlns:p14="http://schemas.microsoft.com/office/powerpoint/2010/main" val="2423416985"/>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599" y="876869"/>
            <a:ext cx="10242645" cy="528851"/>
          </a:xfrm>
        </p:spPr>
        <p:txBody>
          <a:bodyPr/>
          <a:lstStyle/>
          <a:p>
            <a:r>
              <a:rPr lang="en-US" sz="2800" b="1" dirty="0">
                <a:solidFill>
                  <a:srgbClr val="0000CC"/>
                </a:solidFill>
                <a:latin typeface="Rockwell" panose="02060603020205020403" pitchFamily="18" charset="0"/>
              </a:rPr>
              <a:t>7</a:t>
            </a:r>
            <a:r>
              <a:rPr lang="en-US" sz="2800" b="1" dirty="0" smtClean="0">
                <a:solidFill>
                  <a:srgbClr val="0000CC"/>
                </a:solidFill>
                <a:latin typeface="Rockwell" panose="02060603020205020403" pitchFamily="18" charset="0"/>
              </a:rPr>
              <a:t>.7. </a:t>
            </a:r>
            <a:r>
              <a:rPr lang="en-US" sz="2800" b="1" dirty="0" err="1" smtClean="0">
                <a:solidFill>
                  <a:srgbClr val="0000CC"/>
                </a:solidFill>
                <a:latin typeface="Rockwell" panose="02060603020205020403" pitchFamily="18" charset="0"/>
              </a:rPr>
              <a:t>Thảo</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luận</a:t>
            </a:r>
            <a:r>
              <a:rPr lang="vi-VN"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600" y="1539263"/>
            <a:ext cx="9901452" cy="4382729"/>
          </a:xfrm>
        </p:spPr>
        <p:txBody>
          <a:bodyPr/>
          <a:lstStyle/>
          <a:p>
            <a:pPr marL="0" indent="0">
              <a:buNone/>
            </a:pPr>
            <a:r>
              <a:rPr lang="en-US" b="1" dirty="0" err="1" smtClean="0">
                <a:solidFill>
                  <a:srgbClr val="0000CC"/>
                </a:solidFill>
                <a:latin typeface="Rockwell" panose="02060603020205020403" pitchFamily="18" charset="0"/>
                <a:ea typeface="+mj-ea"/>
                <a:cs typeface="+mj-cs"/>
              </a:rPr>
              <a:t>Câu</a:t>
            </a:r>
            <a:r>
              <a:rPr lang="en-US" b="1" dirty="0" smtClean="0">
                <a:solidFill>
                  <a:srgbClr val="0000CC"/>
                </a:solidFill>
                <a:latin typeface="Rockwell" panose="02060603020205020403" pitchFamily="18" charset="0"/>
                <a:ea typeface="+mj-ea"/>
                <a:cs typeface="+mj-cs"/>
              </a:rPr>
              <a:t> </a:t>
            </a:r>
            <a:r>
              <a:rPr lang="en-US" b="1" dirty="0" err="1" smtClean="0">
                <a:solidFill>
                  <a:srgbClr val="0000CC"/>
                </a:solidFill>
                <a:latin typeface="Rockwell" panose="02060603020205020403" pitchFamily="18" charset="0"/>
                <a:ea typeface="+mj-ea"/>
                <a:cs typeface="+mj-cs"/>
              </a:rPr>
              <a:t>hỏi</a:t>
            </a:r>
            <a:r>
              <a:rPr lang="en-US" b="1" dirty="0" smtClean="0">
                <a:solidFill>
                  <a:srgbClr val="0000CC"/>
                </a:solidFill>
                <a:latin typeface="Rockwell" panose="02060603020205020403" pitchFamily="18" charset="0"/>
                <a:ea typeface="+mj-ea"/>
                <a:cs typeface="+mj-cs"/>
              </a:rPr>
              <a:t> </a:t>
            </a:r>
            <a:r>
              <a:rPr lang="en-US" b="1" dirty="0" err="1" smtClean="0">
                <a:solidFill>
                  <a:srgbClr val="0000CC"/>
                </a:solidFill>
                <a:latin typeface="Rockwell" panose="02060603020205020403" pitchFamily="18" charset="0"/>
                <a:ea typeface="+mj-ea"/>
                <a:cs typeface="+mj-cs"/>
              </a:rPr>
              <a:t>thảo</a:t>
            </a:r>
            <a:r>
              <a:rPr lang="en-US" b="1" dirty="0" smtClean="0">
                <a:solidFill>
                  <a:srgbClr val="0000CC"/>
                </a:solidFill>
                <a:latin typeface="Rockwell" panose="02060603020205020403" pitchFamily="18" charset="0"/>
                <a:ea typeface="+mj-ea"/>
                <a:cs typeface="+mj-cs"/>
              </a:rPr>
              <a:t> </a:t>
            </a:r>
            <a:r>
              <a:rPr lang="en-US" b="1" dirty="0" err="1" smtClean="0">
                <a:solidFill>
                  <a:srgbClr val="0000CC"/>
                </a:solidFill>
                <a:latin typeface="Rockwell" panose="02060603020205020403" pitchFamily="18" charset="0"/>
                <a:ea typeface="+mj-ea"/>
                <a:cs typeface="+mj-cs"/>
              </a:rPr>
              <a:t>luận</a:t>
            </a:r>
            <a:r>
              <a:rPr lang="en-US" b="1" dirty="0" smtClean="0">
                <a:solidFill>
                  <a:srgbClr val="0000CC"/>
                </a:solidFill>
                <a:latin typeface="Rockwell" panose="02060603020205020403" pitchFamily="18" charset="0"/>
                <a:ea typeface="+mj-ea"/>
                <a:cs typeface="+mj-cs"/>
              </a:rPr>
              <a:t>:</a:t>
            </a:r>
          </a:p>
          <a:p>
            <a:pPr marL="457200" indent="-457200">
              <a:buFont typeface="+mj-lt"/>
              <a:buAutoNum type="arabicPeriod" startAt="6"/>
            </a:pPr>
            <a:r>
              <a:rPr lang="vi-VN" dirty="0">
                <a:solidFill>
                  <a:srgbClr val="0000CC"/>
                </a:solidFill>
                <a:latin typeface="Rockwell" panose="02060603020205020403" pitchFamily="18" charset="0"/>
              </a:rPr>
              <a:t>Hãy so sánh ưu điểm và hạn chế của việc sử dụng Database chữ ký trong IDS so với Luật phát hiện bất thường.</a:t>
            </a:r>
          </a:p>
          <a:p>
            <a:pPr marL="457200" indent="-457200">
              <a:buFont typeface="+mj-lt"/>
              <a:buAutoNum type="arabicPeriod" startAt="6"/>
            </a:pPr>
            <a:r>
              <a:rPr lang="vi-VN" dirty="0">
                <a:solidFill>
                  <a:srgbClr val="0000CC"/>
                </a:solidFill>
                <a:latin typeface="Rockwell" panose="02060603020205020403" pitchFamily="18" charset="0"/>
              </a:rPr>
              <a:t>Theo SV, chính sách bảo mật nội bộ (người dùng, nhân viên) quan trọng như thế nào so với các giải pháp kỹ thuật (FW, IDS, VPN)?</a:t>
            </a:r>
          </a:p>
          <a:p>
            <a:pPr marL="457200" indent="-457200">
              <a:buFont typeface="+mj-lt"/>
              <a:buAutoNum type="arabicPeriod" startAt="6"/>
            </a:pPr>
            <a:r>
              <a:rPr lang="vi-VN" dirty="0">
                <a:solidFill>
                  <a:srgbClr val="0000CC"/>
                </a:solidFill>
                <a:latin typeface="Rockwell" panose="02060603020205020403" pitchFamily="18" charset="0"/>
              </a:rPr>
              <a:t>Nếu SV là quản trị viên mạng của một website </a:t>
            </a:r>
            <a:r>
              <a:rPr lang="vi-VN" dirty="0" smtClean="0">
                <a:solidFill>
                  <a:srgbClr val="0000CC"/>
                </a:solidFill>
                <a:latin typeface="Rockwell" panose="02060603020205020403" pitchFamily="18" charset="0"/>
              </a:rPr>
              <a:t>E-</a:t>
            </a:r>
            <a:r>
              <a:rPr lang="en-US" dirty="0" smtClean="0">
                <a:solidFill>
                  <a:srgbClr val="0000CC"/>
                </a:solidFill>
                <a:latin typeface="Rockwell" panose="02060603020205020403" pitchFamily="18" charset="0"/>
              </a:rPr>
              <a:t>c</a:t>
            </a:r>
            <a:r>
              <a:rPr lang="vi-VN" dirty="0" smtClean="0">
                <a:solidFill>
                  <a:srgbClr val="0000CC"/>
                </a:solidFill>
                <a:latin typeface="Rockwell" panose="02060603020205020403" pitchFamily="18" charset="0"/>
              </a:rPr>
              <a:t>ommerce</a:t>
            </a:r>
            <a:r>
              <a:rPr lang="vi-VN" dirty="0">
                <a:solidFill>
                  <a:srgbClr val="0000CC"/>
                </a:solidFill>
                <a:latin typeface="Rockwell" panose="02060603020205020403" pitchFamily="18" charset="0"/>
              </a:rPr>
              <a:t>, SV sẽ ưu tiên đầu tư vào thiết bị/bảo mật nào trước? Vì sao?</a:t>
            </a:r>
          </a:p>
          <a:p>
            <a:pPr marL="0" indent="0">
              <a:buNone/>
            </a:pPr>
            <a:r>
              <a:rPr lang="en-US" b="1" dirty="0" smtClean="0">
                <a:solidFill>
                  <a:srgbClr val="0000CC"/>
                </a:solidFill>
                <a:latin typeface="Rockwell" panose="02060603020205020403" pitchFamily="18" charset="0"/>
                <a:ea typeface="+mj-ea"/>
                <a:cs typeface="+mj-cs"/>
              </a:rPr>
              <a:t> </a:t>
            </a:r>
            <a:endParaRPr lang="vi-VN" b="1" dirty="0">
              <a:solidFill>
                <a:srgbClr val="0000CC"/>
              </a:solidFill>
              <a:latin typeface="Rockwell" panose="02060603020205020403" pitchFamily="18" charset="0"/>
              <a:ea typeface="+mj-ea"/>
              <a:cs typeface="+mj-cs"/>
            </a:endParaRPr>
          </a:p>
          <a:p>
            <a:endParaRPr lang="en-US" dirty="0"/>
          </a:p>
        </p:txBody>
      </p:sp>
    </p:spTree>
    <p:extLst>
      <p:ext uri="{BB962C8B-B14F-4D97-AF65-F5344CB8AC3E}">
        <p14:creationId xmlns:p14="http://schemas.microsoft.com/office/powerpoint/2010/main" val="2558419992"/>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85248" y="478149"/>
            <a:ext cx="10242645" cy="528851"/>
          </a:xfrm>
        </p:spPr>
        <p:txBody>
          <a:bodyPr/>
          <a:lstStyle/>
          <a:p>
            <a:r>
              <a:rPr lang="en-US" sz="2800" b="1" dirty="0">
                <a:solidFill>
                  <a:srgbClr val="0000CC"/>
                </a:solidFill>
                <a:latin typeface="Rockwell" panose="02060603020205020403" pitchFamily="18" charset="0"/>
              </a:rPr>
              <a:t>7</a:t>
            </a:r>
            <a:r>
              <a:rPr lang="en-US" sz="2800" b="1" dirty="0" smtClean="0">
                <a:solidFill>
                  <a:srgbClr val="0000CC"/>
                </a:solidFill>
                <a:latin typeface="Rockwell" panose="02060603020205020403" pitchFamily="18" charset="0"/>
              </a:rPr>
              <a:t>.7. </a:t>
            </a:r>
            <a:r>
              <a:rPr lang="en-US" sz="2800" b="1" dirty="0" err="1" smtClean="0">
                <a:solidFill>
                  <a:srgbClr val="0000CC"/>
                </a:solidFill>
                <a:latin typeface="Rockwell" panose="02060603020205020403" pitchFamily="18" charset="0"/>
              </a:rPr>
              <a:t>Thảo</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luận</a:t>
            </a:r>
            <a:r>
              <a:rPr lang="vi-VN"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85248" y="1007000"/>
            <a:ext cx="9901452" cy="4382729"/>
          </a:xfrm>
        </p:spPr>
        <p:txBody>
          <a:bodyPr/>
          <a:lstStyle/>
          <a:p>
            <a:pPr marL="0" indent="0">
              <a:buNone/>
            </a:pPr>
            <a:r>
              <a:rPr lang="en-US" b="1" dirty="0" err="1" smtClean="0">
                <a:solidFill>
                  <a:srgbClr val="0000CC"/>
                </a:solidFill>
                <a:latin typeface="Rockwell" panose="02060603020205020403" pitchFamily="18" charset="0"/>
                <a:ea typeface="+mj-ea"/>
                <a:cs typeface="+mj-cs"/>
              </a:rPr>
              <a:t>Tình</a:t>
            </a:r>
            <a:r>
              <a:rPr lang="en-US" b="1" dirty="0" smtClean="0">
                <a:solidFill>
                  <a:srgbClr val="0000CC"/>
                </a:solidFill>
                <a:latin typeface="Rockwell" panose="02060603020205020403" pitchFamily="18" charset="0"/>
                <a:ea typeface="+mj-ea"/>
                <a:cs typeface="+mj-cs"/>
              </a:rPr>
              <a:t> </a:t>
            </a:r>
            <a:r>
              <a:rPr lang="en-US" b="1" dirty="0" err="1" smtClean="0">
                <a:solidFill>
                  <a:srgbClr val="0000CC"/>
                </a:solidFill>
                <a:latin typeface="Rockwell" panose="02060603020205020403" pitchFamily="18" charset="0"/>
                <a:ea typeface="+mj-ea"/>
                <a:cs typeface="+mj-cs"/>
              </a:rPr>
              <a:t>huống</a:t>
            </a:r>
            <a:r>
              <a:rPr lang="en-US" b="1" dirty="0" smtClean="0">
                <a:solidFill>
                  <a:srgbClr val="0000CC"/>
                </a:solidFill>
                <a:latin typeface="Rockwell" panose="02060603020205020403" pitchFamily="18" charset="0"/>
                <a:ea typeface="+mj-ea"/>
                <a:cs typeface="+mj-cs"/>
              </a:rPr>
              <a:t> </a:t>
            </a:r>
            <a:r>
              <a:rPr lang="en-US" b="1" dirty="0" err="1" smtClean="0">
                <a:solidFill>
                  <a:srgbClr val="0000CC"/>
                </a:solidFill>
                <a:latin typeface="Rockwell" panose="02060603020205020403" pitchFamily="18" charset="0"/>
                <a:ea typeface="+mj-ea"/>
                <a:cs typeface="+mj-cs"/>
              </a:rPr>
              <a:t>thảo</a:t>
            </a:r>
            <a:r>
              <a:rPr lang="en-US" b="1" dirty="0" smtClean="0">
                <a:solidFill>
                  <a:srgbClr val="0000CC"/>
                </a:solidFill>
                <a:latin typeface="Rockwell" panose="02060603020205020403" pitchFamily="18" charset="0"/>
                <a:ea typeface="+mj-ea"/>
                <a:cs typeface="+mj-cs"/>
              </a:rPr>
              <a:t> </a:t>
            </a:r>
            <a:r>
              <a:rPr lang="en-US" b="1" dirty="0" err="1" smtClean="0">
                <a:solidFill>
                  <a:srgbClr val="0000CC"/>
                </a:solidFill>
                <a:latin typeface="Rockwell" panose="02060603020205020403" pitchFamily="18" charset="0"/>
                <a:ea typeface="+mj-ea"/>
                <a:cs typeface="+mj-cs"/>
              </a:rPr>
              <a:t>luận</a:t>
            </a:r>
            <a:r>
              <a:rPr lang="en-US" b="1" dirty="0" smtClean="0">
                <a:solidFill>
                  <a:srgbClr val="0000CC"/>
                </a:solidFill>
                <a:latin typeface="Rockwell" panose="02060603020205020403" pitchFamily="18" charset="0"/>
                <a:ea typeface="+mj-ea"/>
                <a:cs typeface="+mj-cs"/>
              </a:rPr>
              <a:t>:</a:t>
            </a:r>
          </a:p>
          <a:p>
            <a:pPr marL="0" indent="0">
              <a:buNone/>
            </a:pPr>
            <a:r>
              <a:rPr lang="en-US" b="1" dirty="0" smtClean="0">
                <a:solidFill>
                  <a:srgbClr val="0000CC"/>
                </a:solidFill>
                <a:latin typeface="Rockwell" panose="02060603020205020403" pitchFamily="18" charset="0"/>
                <a:ea typeface="+mj-ea"/>
                <a:cs typeface="+mj-cs"/>
              </a:rPr>
              <a:t> </a:t>
            </a:r>
            <a:r>
              <a:rPr lang="vi-VN" b="1" dirty="0">
                <a:solidFill>
                  <a:srgbClr val="0000CC"/>
                </a:solidFill>
                <a:latin typeface="Rockwell" panose="02060603020205020403" pitchFamily="18" charset="0"/>
                <a:ea typeface="+mj-ea"/>
                <a:cs typeface="+mj-cs"/>
              </a:rPr>
              <a:t>Tình huống 1: Tấn công từ chối dịch vụ (DDoS)</a:t>
            </a:r>
          </a:p>
          <a:p>
            <a:r>
              <a:rPr lang="vi-VN" dirty="0">
                <a:solidFill>
                  <a:srgbClr val="0000CC"/>
                </a:solidFill>
                <a:latin typeface="Rockwell" panose="02060603020205020403" pitchFamily="18" charset="0"/>
                <a:ea typeface="+mj-ea"/>
                <a:cs typeface="+mj-cs"/>
              </a:rPr>
              <a:t>Website </a:t>
            </a:r>
            <a:r>
              <a:rPr lang="vi-VN" dirty="0" smtClean="0">
                <a:solidFill>
                  <a:srgbClr val="0000CC"/>
                </a:solidFill>
                <a:latin typeface="Rockwell" panose="02060603020205020403" pitchFamily="18" charset="0"/>
                <a:ea typeface="+mj-ea"/>
                <a:cs typeface="+mj-cs"/>
              </a:rPr>
              <a:t>E-</a:t>
            </a:r>
            <a:r>
              <a:rPr lang="en-US" dirty="0" smtClean="0">
                <a:solidFill>
                  <a:srgbClr val="0000CC"/>
                </a:solidFill>
                <a:latin typeface="Rockwell" panose="02060603020205020403" pitchFamily="18" charset="0"/>
                <a:ea typeface="+mj-ea"/>
                <a:cs typeface="+mj-cs"/>
              </a:rPr>
              <a:t>c</a:t>
            </a:r>
            <a:r>
              <a:rPr lang="vi-VN" dirty="0" smtClean="0">
                <a:solidFill>
                  <a:srgbClr val="0000CC"/>
                </a:solidFill>
                <a:latin typeface="Rockwell" panose="02060603020205020403" pitchFamily="18" charset="0"/>
                <a:ea typeface="+mj-ea"/>
                <a:cs typeface="+mj-cs"/>
              </a:rPr>
              <a:t>ommerce </a:t>
            </a:r>
            <a:r>
              <a:rPr lang="vi-VN" dirty="0">
                <a:solidFill>
                  <a:srgbClr val="0000CC"/>
                </a:solidFill>
                <a:latin typeface="Rockwell" panose="02060603020205020403" pitchFamily="18" charset="0"/>
                <a:ea typeface="+mj-ea"/>
                <a:cs typeface="+mj-cs"/>
              </a:rPr>
              <a:t>đang chạy chương trình khuyến mãi lớn, đột nhiên lượng truy cập tăng đột biến và hệ thống bị treo.</a:t>
            </a:r>
          </a:p>
          <a:p>
            <a:r>
              <a:rPr lang="vi-VN" dirty="0">
                <a:solidFill>
                  <a:srgbClr val="0000CC"/>
                </a:solidFill>
                <a:latin typeface="Rockwell" panose="02060603020205020403" pitchFamily="18" charset="0"/>
                <a:ea typeface="+mj-ea"/>
                <a:cs typeface="+mj-cs"/>
              </a:rPr>
              <a:t>Câu hỏi: Làm thế nào để xác định đây là khách hàng thật hay là một cuộc tấn công DDoS? IDS và FW có thể hỗ trợ gì</a:t>
            </a:r>
            <a:r>
              <a:rPr lang="vi-VN" dirty="0" smtClean="0">
                <a:solidFill>
                  <a:srgbClr val="0000CC"/>
                </a:solidFill>
                <a:latin typeface="Rockwell" panose="02060603020205020403" pitchFamily="18" charset="0"/>
                <a:ea typeface="+mj-ea"/>
                <a:cs typeface="+mj-cs"/>
              </a:rPr>
              <a:t>?</a:t>
            </a:r>
            <a:endParaRPr lang="en-US" dirty="0" smtClean="0">
              <a:solidFill>
                <a:srgbClr val="0000CC"/>
              </a:solidFill>
              <a:latin typeface="Rockwell" panose="02060603020205020403" pitchFamily="18" charset="0"/>
              <a:ea typeface="+mj-ea"/>
              <a:cs typeface="+mj-cs"/>
            </a:endParaRPr>
          </a:p>
          <a:p>
            <a:pPr marL="0" indent="0">
              <a:buNone/>
            </a:pPr>
            <a:r>
              <a:rPr lang="vi-VN" b="1" dirty="0">
                <a:solidFill>
                  <a:srgbClr val="0000CC"/>
                </a:solidFill>
                <a:latin typeface="Rockwell" panose="02060603020205020403" pitchFamily="18" charset="0"/>
                <a:ea typeface="+mj-ea"/>
                <a:cs typeface="+mj-cs"/>
              </a:rPr>
              <a:t>Tình huống 2: SQL Injection</a:t>
            </a:r>
          </a:p>
          <a:p>
            <a:r>
              <a:rPr lang="vi-VN" dirty="0">
                <a:solidFill>
                  <a:srgbClr val="0000CC"/>
                </a:solidFill>
                <a:latin typeface="Rockwell" panose="02060603020205020403" pitchFamily="18" charset="0"/>
                <a:ea typeface="+mj-ea"/>
                <a:cs typeface="+mj-cs"/>
              </a:rPr>
              <a:t>Một hacker nhập chuỗi lệnh SQL độc hại vào form đăng nhập của website và lấy được danh sách khách hàng cùng mật khẩu.</a:t>
            </a:r>
          </a:p>
          <a:p>
            <a:r>
              <a:rPr lang="vi-VN" dirty="0">
                <a:solidFill>
                  <a:srgbClr val="0000CC"/>
                </a:solidFill>
                <a:latin typeface="Rockwell" panose="02060603020205020403" pitchFamily="18" charset="0"/>
                <a:ea typeface="+mj-ea"/>
                <a:cs typeface="+mj-cs"/>
              </a:rPr>
              <a:t>Câu hỏi: FW gói (packet filtering) có ngăn được kiểu tấn công này không? IDS có phát hiện được không? Chính sách bảo mật nào cần bổ sung?</a:t>
            </a:r>
          </a:p>
          <a:p>
            <a:endParaRPr lang="en-US" dirty="0"/>
          </a:p>
        </p:txBody>
      </p:sp>
    </p:spTree>
    <p:extLst>
      <p:ext uri="{BB962C8B-B14F-4D97-AF65-F5344CB8AC3E}">
        <p14:creationId xmlns:p14="http://schemas.microsoft.com/office/powerpoint/2010/main" val="696374276"/>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85248" y="478149"/>
            <a:ext cx="10242645" cy="528851"/>
          </a:xfrm>
        </p:spPr>
        <p:txBody>
          <a:bodyPr/>
          <a:lstStyle/>
          <a:p>
            <a:r>
              <a:rPr lang="en-US" sz="2800" b="1" dirty="0">
                <a:solidFill>
                  <a:srgbClr val="0000CC"/>
                </a:solidFill>
                <a:latin typeface="Rockwell" panose="02060603020205020403" pitchFamily="18" charset="0"/>
              </a:rPr>
              <a:t>7</a:t>
            </a:r>
            <a:r>
              <a:rPr lang="en-US" sz="2800" b="1" dirty="0" smtClean="0">
                <a:solidFill>
                  <a:srgbClr val="0000CC"/>
                </a:solidFill>
                <a:latin typeface="Rockwell" panose="02060603020205020403" pitchFamily="18" charset="0"/>
              </a:rPr>
              <a:t>.7. </a:t>
            </a:r>
            <a:r>
              <a:rPr lang="en-US" sz="2800" b="1" dirty="0" err="1" smtClean="0">
                <a:solidFill>
                  <a:srgbClr val="0000CC"/>
                </a:solidFill>
                <a:latin typeface="Rockwell" panose="02060603020205020403" pitchFamily="18" charset="0"/>
              </a:rPr>
              <a:t>Thảo</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luận</a:t>
            </a:r>
            <a:r>
              <a:rPr lang="vi-VN"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85248" y="1007000"/>
            <a:ext cx="9901452" cy="4382729"/>
          </a:xfrm>
        </p:spPr>
        <p:txBody>
          <a:bodyPr/>
          <a:lstStyle/>
          <a:p>
            <a:pPr marL="0" indent="0">
              <a:buNone/>
            </a:pPr>
            <a:r>
              <a:rPr lang="en-US" b="1" dirty="0" err="1" smtClean="0">
                <a:solidFill>
                  <a:srgbClr val="0000CC"/>
                </a:solidFill>
                <a:latin typeface="Rockwell" panose="02060603020205020403" pitchFamily="18" charset="0"/>
                <a:ea typeface="+mj-ea"/>
                <a:cs typeface="+mj-cs"/>
              </a:rPr>
              <a:t>Tình</a:t>
            </a:r>
            <a:r>
              <a:rPr lang="en-US" b="1" dirty="0" smtClean="0">
                <a:solidFill>
                  <a:srgbClr val="0000CC"/>
                </a:solidFill>
                <a:latin typeface="Rockwell" panose="02060603020205020403" pitchFamily="18" charset="0"/>
                <a:ea typeface="+mj-ea"/>
                <a:cs typeface="+mj-cs"/>
              </a:rPr>
              <a:t> </a:t>
            </a:r>
            <a:r>
              <a:rPr lang="en-US" b="1" dirty="0" err="1" smtClean="0">
                <a:solidFill>
                  <a:srgbClr val="0000CC"/>
                </a:solidFill>
                <a:latin typeface="Rockwell" panose="02060603020205020403" pitchFamily="18" charset="0"/>
                <a:ea typeface="+mj-ea"/>
                <a:cs typeface="+mj-cs"/>
              </a:rPr>
              <a:t>huống</a:t>
            </a:r>
            <a:r>
              <a:rPr lang="en-US" b="1" dirty="0" smtClean="0">
                <a:solidFill>
                  <a:srgbClr val="0000CC"/>
                </a:solidFill>
                <a:latin typeface="Rockwell" panose="02060603020205020403" pitchFamily="18" charset="0"/>
                <a:ea typeface="+mj-ea"/>
                <a:cs typeface="+mj-cs"/>
              </a:rPr>
              <a:t> </a:t>
            </a:r>
            <a:r>
              <a:rPr lang="en-US" b="1" dirty="0" err="1" smtClean="0">
                <a:solidFill>
                  <a:srgbClr val="0000CC"/>
                </a:solidFill>
                <a:latin typeface="Rockwell" panose="02060603020205020403" pitchFamily="18" charset="0"/>
                <a:ea typeface="+mj-ea"/>
                <a:cs typeface="+mj-cs"/>
              </a:rPr>
              <a:t>thảo</a:t>
            </a:r>
            <a:r>
              <a:rPr lang="en-US" b="1" dirty="0" smtClean="0">
                <a:solidFill>
                  <a:srgbClr val="0000CC"/>
                </a:solidFill>
                <a:latin typeface="Rockwell" panose="02060603020205020403" pitchFamily="18" charset="0"/>
                <a:ea typeface="+mj-ea"/>
                <a:cs typeface="+mj-cs"/>
              </a:rPr>
              <a:t> </a:t>
            </a:r>
            <a:r>
              <a:rPr lang="en-US" b="1" dirty="0" err="1" smtClean="0">
                <a:solidFill>
                  <a:srgbClr val="0000CC"/>
                </a:solidFill>
                <a:latin typeface="Rockwell" panose="02060603020205020403" pitchFamily="18" charset="0"/>
                <a:ea typeface="+mj-ea"/>
                <a:cs typeface="+mj-cs"/>
              </a:rPr>
              <a:t>luận</a:t>
            </a:r>
            <a:r>
              <a:rPr lang="en-US" b="1" dirty="0" smtClean="0">
                <a:solidFill>
                  <a:srgbClr val="0000CC"/>
                </a:solidFill>
                <a:latin typeface="Rockwell" panose="02060603020205020403" pitchFamily="18" charset="0"/>
                <a:ea typeface="+mj-ea"/>
                <a:cs typeface="+mj-cs"/>
              </a:rPr>
              <a:t>:</a:t>
            </a:r>
          </a:p>
          <a:p>
            <a:pPr marL="0" indent="0">
              <a:buNone/>
            </a:pPr>
            <a:r>
              <a:rPr lang="vi-VN" b="1" dirty="0" smtClean="0">
                <a:solidFill>
                  <a:srgbClr val="0000CC"/>
                </a:solidFill>
                <a:latin typeface="Rockwell" panose="02060603020205020403" pitchFamily="18" charset="0"/>
                <a:ea typeface="+mj-ea"/>
                <a:cs typeface="+mj-cs"/>
              </a:rPr>
              <a:t>Tình </a:t>
            </a:r>
            <a:r>
              <a:rPr lang="vi-VN" b="1" dirty="0">
                <a:solidFill>
                  <a:srgbClr val="0000CC"/>
                </a:solidFill>
                <a:latin typeface="Rockwell" panose="02060603020205020403" pitchFamily="18" charset="0"/>
                <a:ea typeface="+mj-ea"/>
                <a:cs typeface="+mj-cs"/>
              </a:rPr>
              <a:t>huống 3: Nhân viên nội bộ rò rỉ dữ liệu</a:t>
            </a:r>
          </a:p>
          <a:p>
            <a:r>
              <a:rPr lang="vi-VN" dirty="0">
                <a:solidFill>
                  <a:srgbClr val="0000CC"/>
                </a:solidFill>
                <a:latin typeface="Rockwell" panose="02060603020205020403" pitchFamily="18" charset="0"/>
                <a:ea typeface="+mj-ea"/>
                <a:cs typeface="+mj-cs"/>
              </a:rPr>
              <a:t>Một nhân viên công ty dùng VPN để truy cập hệ thống quản trị nhưng lại tải về danh sách khách hàng rồi gửi ra ngoài qua email cá nhân.</a:t>
            </a:r>
          </a:p>
          <a:p>
            <a:r>
              <a:rPr lang="vi-VN" dirty="0">
                <a:solidFill>
                  <a:srgbClr val="0000CC"/>
                </a:solidFill>
                <a:latin typeface="Rockwell" panose="02060603020205020403" pitchFamily="18" charset="0"/>
                <a:ea typeface="+mj-ea"/>
                <a:cs typeface="+mj-cs"/>
              </a:rPr>
              <a:t>Câu hỏi: Làm thế nào để phát hiện và ngăn chặn hành vi này? IDS có vai trò gì trong tình huống này?</a:t>
            </a:r>
          </a:p>
          <a:p>
            <a:pPr marL="0" indent="0">
              <a:buNone/>
            </a:pPr>
            <a:r>
              <a:rPr lang="vi-VN" b="1" dirty="0">
                <a:solidFill>
                  <a:srgbClr val="0000CC"/>
                </a:solidFill>
                <a:latin typeface="Rockwell" panose="02060603020205020403" pitchFamily="18" charset="0"/>
                <a:ea typeface="+mj-ea"/>
                <a:cs typeface="+mj-cs"/>
              </a:rPr>
              <a:t>Tình huống 4: Website bị deface (thay đổi giao diện)</a:t>
            </a:r>
          </a:p>
          <a:p>
            <a:r>
              <a:rPr lang="vi-VN" dirty="0">
                <a:solidFill>
                  <a:srgbClr val="0000CC"/>
                </a:solidFill>
                <a:latin typeface="Rockwell" panose="02060603020205020403" pitchFamily="18" charset="0"/>
                <a:ea typeface="+mj-ea"/>
                <a:cs typeface="+mj-cs"/>
              </a:rPr>
              <a:t>Khách hàng truy cập vào website nhưng thấy giao diện bị thay đổi, hiển thị nội dung không mong muốn.</a:t>
            </a:r>
          </a:p>
          <a:p>
            <a:r>
              <a:rPr lang="vi-VN" dirty="0">
                <a:solidFill>
                  <a:srgbClr val="0000CC"/>
                </a:solidFill>
                <a:latin typeface="Rockwell" panose="02060603020205020403" pitchFamily="18" charset="0"/>
                <a:ea typeface="+mj-ea"/>
                <a:cs typeface="+mj-cs"/>
              </a:rPr>
              <a:t>Câu hỏi: Đây là lỗi ở tầng nào (ứng dụng, hệ điều hành, hay mạng)? Làm sao kết hợp FW – IDS – Chính sách quản trị để phòng tránh?</a:t>
            </a:r>
          </a:p>
          <a:p>
            <a:pPr marL="0" indent="0">
              <a:buNone/>
            </a:pPr>
            <a:endParaRPr lang="en-US" dirty="0"/>
          </a:p>
        </p:txBody>
      </p:sp>
    </p:spTree>
    <p:extLst>
      <p:ext uri="{BB962C8B-B14F-4D97-AF65-F5344CB8AC3E}">
        <p14:creationId xmlns:p14="http://schemas.microsoft.com/office/powerpoint/2010/main" val="900786338"/>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85248" y="478149"/>
            <a:ext cx="10242645" cy="528851"/>
          </a:xfrm>
        </p:spPr>
        <p:txBody>
          <a:bodyPr/>
          <a:lstStyle/>
          <a:p>
            <a:r>
              <a:rPr lang="en-US" sz="2800" b="1" dirty="0">
                <a:solidFill>
                  <a:srgbClr val="0000CC"/>
                </a:solidFill>
                <a:latin typeface="Rockwell" panose="02060603020205020403" pitchFamily="18" charset="0"/>
              </a:rPr>
              <a:t>7</a:t>
            </a:r>
            <a:r>
              <a:rPr lang="en-US" sz="2800" b="1" dirty="0" smtClean="0">
                <a:solidFill>
                  <a:srgbClr val="0000CC"/>
                </a:solidFill>
                <a:latin typeface="Rockwell" panose="02060603020205020403" pitchFamily="18" charset="0"/>
              </a:rPr>
              <a:t>.7. </a:t>
            </a:r>
            <a:r>
              <a:rPr lang="en-US" sz="2800" b="1" dirty="0" err="1" smtClean="0">
                <a:solidFill>
                  <a:srgbClr val="0000CC"/>
                </a:solidFill>
                <a:latin typeface="Rockwell" panose="02060603020205020403" pitchFamily="18" charset="0"/>
              </a:rPr>
              <a:t>Thảo</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luận</a:t>
            </a:r>
            <a:r>
              <a:rPr lang="vi-VN"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85248" y="1007000"/>
            <a:ext cx="9901452" cy="4382729"/>
          </a:xfrm>
        </p:spPr>
        <p:txBody>
          <a:bodyPr/>
          <a:lstStyle/>
          <a:p>
            <a:pPr marL="0" indent="0">
              <a:buNone/>
            </a:pPr>
            <a:r>
              <a:rPr lang="en-US" b="1" dirty="0" err="1" smtClean="0">
                <a:solidFill>
                  <a:srgbClr val="0000CC"/>
                </a:solidFill>
                <a:latin typeface="Rockwell" panose="02060603020205020403" pitchFamily="18" charset="0"/>
                <a:ea typeface="+mj-ea"/>
                <a:cs typeface="+mj-cs"/>
              </a:rPr>
              <a:t>Tình</a:t>
            </a:r>
            <a:r>
              <a:rPr lang="en-US" b="1" dirty="0" smtClean="0">
                <a:solidFill>
                  <a:srgbClr val="0000CC"/>
                </a:solidFill>
                <a:latin typeface="Rockwell" panose="02060603020205020403" pitchFamily="18" charset="0"/>
                <a:ea typeface="+mj-ea"/>
                <a:cs typeface="+mj-cs"/>
              </a:rPr>
              <a:t> </a:t>
            </a:r>
            <a:r>
              <a:rPr lang="en-US" b="1" dirty="0" err="1" smtClean="0">
                <a:solidFill>
                  <a:srgbClr val="0000CC"/>
                </a:solidFill>
                <a:latin typeface="Rockwell" panose="02060603020205020403" pitchFamily="18" charset="0"/>
                <a:ea typeface="+mj-ea"/>
                <a:cs typeface="+mj-cs"/>
              </a:rPr>
              <a:t>huống</a:t>
            </a:r>
            <a:r>
              <a:rPr lang="en-US" b="1" dirty="0" smtClean="0">
                <a:solidFill>
                  <a:srgbClr val="0000CC"/>
                </a:solidFill>
                <a:latin typeface="Rockwell" panose="02060603020205020403" pitchFamily="18" charset="0"/>
                <a:ea typeface="+mj-ea"/>
                <a:cs typeface="+mj-cs"/>
              </a:rPr>
              <a:t> </a:t>
            </a:r>
            <a:r>
              <a:rPr lang="en-US" b="1" dirty="0" err="1" smtClean="0">
                <a:solidFill>
                  <a:srgbClr val="0000CC"/>
                </a:solidFill>
                <a:latin typeface="Rockwell" panose="02060603020205020403" pitchFamily="18" charset="0"/>
                <a:ea typeface="+mj-ea"/>
                <a:cs typeface="+mj-cs"/>
              </a:rPr>
              <a:t>thảo</a:t>
            </a:r>
            <a:r>
              <a:rPr lang="en-US" b="1" dirty="0" smtClean="0">
                <a:solidFill>
                  <a:srgbClr val="0000CC"/>
                </a:solidFill>
                <a:latin typeface="Rockwell" panose="02060603020205020403" pitchFamily="18" charset="0"/>
                <a:ea typeface="+mj-ea"/>
                <a:cs typeface="+mj-cs"/>
              </a:rPr>
              <a:t> </a:t>
            </a:r>
            <a:r>
              <a:rPr lang="en-US" b="1" dirty="0" err="1" smtClean="0">
                <a:solidFill>
                  <a:srgbClr val="0000CC"/>
                </a:solidFill>
                <a:latin typeface="Rockwell" panose="02060603020205020403" pitchFamily="18" charset="0"/>
                <a:ea typeface="+mj-ea"/>
                <a:cs typeface="+mj-cs"/>
              </a:rPr>
              <a:t>luận</a:t>
            </a:r>
            <a:r>
              <a:rPr lang="en-US" b="1" dirty="0" smtClean="0">
                <a:solidFill>
                  <a:srgbClr val="0000CC"/>
                </a:solidFill>
                <a:latin typeface="Rockwell" panose="02060603020205020403" pitchFamily="18" charset="0"/>
                <a:ea typeface="+mj-ea"/>
                <a:cs typeface="+mj-cs"/>
              </a:rPr>
              <a:t>:</a:t>
            </a:r>
          </a:p>
          <a:p>
            <a:pPr marL="0" indent="0">
              <a:buNone/>
            </a:pPr>
            <a:r>
              <a:rPr lang="vi-VN" b="1" dirty="0" smtClean="0">
                <a:solidFill>
                  <a:srgbClr val="0000CC"/>
                </a:solidFill>
                <a:latin typeface="Rockwell" panose="02060603020205020403" pitchFamily="18" charset="0"/>
                <a:ea typeface="+mj-ea"/>
                <a:cs typeface="+mj-cs"/>
              </a:rPr>
              <a:t>Tình </a:t>
            </a:r>
            <a:r>
              <a:rPr lang="vi-VN" b="1" dirty="0">
                <a:solidFill>
                  <a:srgbClr val="0000CC"/>
                </a:solidFill>
                <a:latin typeface="Rockwell" panose="02060603020205020403" pitchFamily="18" charset="0"/>
                <a:ea typeface="+mj-ea"/>
                <a:cs typeface="+mj-cs"/>
              </a:rPr>
              <a:t>huống 5: VPN bị khai thác</a:t>
            </a:r>
          </a:p>
          <a:p>
            <a:r>
              <a:rPr lang="vi-VN" dirty="0">
                <a:solidFill>
                  <a:srgbClr val="0000CC"/>
                </a:solidFill>
                <a:latin typeface="Rockwell" panose="02060603020205020403" pitchFamily="18" charset="0"/>
                <a:ea typeface="+mj-ea"/>
                <a:cs typeface="+mj-cs"/>
              </a:rPr>
              <a:t>Một hacker tìm cách đánh cắp thông tin chứng thực VPN của nhân viên bán hàng để truy cập vào hệ thống quản lý đơn hàng.</a:t>
            </a:r>
          </a:p>
          <a:p>
            <a:r>
              <a:rPr lang="vi-VN" dirty="0">
                <a:solidFill>
                  <a:srgbClr val="0000CC"/>
                </a:solidFill>
                <a:latin typeface="Rockwell" panose="02060603020205020403" pitchFamily="18" charset="0"/>
                <a:ea typeface="+mj-ea"/>
                <a:cs typeface="+mj-cs"/>
              </a:rPr>
              <a:t>Câu hỏi: Làm thế nào để tăng cường bảo mật cho VPN? Ngoài mật khẩu, có giải pháp xác thực nào nên triển khai thêm</a:t>
            </a:r>
            <a:r>
              <a:rPr lang="vi-VN" dirty="0" smtClean="0">
                <a:solidFill>
                  <a:srgbClr val="0000CC"/>
                </a:solidFill>
                <a:latin typeface="Rockwell" panose="02060603020205020403" pitchFamily="18" charset="0"/>
                <a:ea typeface="+mj-ea"/>
                <a:cs typeface="+mj-cs"/>
              </a:rPr>
              <a:t>?</a:t>
            </a:r>
            <a:endParaRPr lang="en-US" dirty="0" smtClean="0">
              <a:solidFill>
                <a:srgbClr val="0000CC"/>
              </a:solidFill>
              <a:latin typeface="Rockwell" panose="02060603020205020403" pitchFamily="18" charset="0"/>
              <a:ea typeface="+mj-ea"/>
              <a:cs typeface="+mj-cs"/>
            </a:endParaRPr>
          </a:p>
          <a:p>
            <a:pPr marL="0" indent="0">
              <a:spcBef>
                <a:spcPts val="1800"/>
              </a:spcBef>
              <a:buNone/>
            </a:pPr>
            <a:r>
              <a:rPr lang="en-US" sz="2600" dirty="0" smtClean="0">
                <a:solidFill>
                  <a:srgbClr val="FF00FF"/>
                </a:solidFill>
                <a:latin typeface="Rockwell" panose="02060603020205020403" pitchFamily="18" charset="0"/>
                <a:ea typeface="+mj-ea"/>
                <a:cs typeface="+mj-cs"/>
              </a:rPr>
              <a:t>	</a:t>
            </a:r>
            <a:r>
              <a:rPr lang="en-US" sz="2600" dirty="0" err="1" smtClean="0">
                <a:solidFill>
                  <a:srgbClr val="FF00FF"/>
                </a:solidFill>
                <a:latin typeface="Rockwell" panose="02060603020205020403" pitchFamily="18" charset="0"/>
                <a:ea typeface="+mj-ea"/>
                <a:cs typeface="+mj-cs"/>
              </a:rPr>
              <a:t>Nhận</a:t>
            </a:r>
            <a:r>
              <a:rPr lang="en-US" sz="2600" dirty="0" smtClean="0">
                <a:solidFill>
                  <a:srgbClr val="FF00FF"/>
                </a:solidFill>
                <a:latin typeface="Rockwell" panose="02060603020205020403" pitchFamily="18" charset="0"/>
                <a:ea typeface="+mj-ea"/>
                <a:cs typeface="+mj-cs"/>
              </a:rPr>
              <a:t> </a:t>
            </a:r>
            <a:r>
              <a:rPr lang="en-US" sz="2600" dirty="0" err="1">
                <a:solidFill>
                  <a:srgbClr val="FF00FF"/>
                </a:solidFill>
                <a:latin typeface="Rockwell" panose="02060603020205020403" pitchFamily="18" charset="0"/>
                <a:ea typeface="+mj-ea"/>
                <a:cs typeface="+mj-cs"/>
              </a:rPr>
              <a:t>định</a:t>
            </a:r>
            <a:r>
              <a:rPr lang="en-US" sz="2600" dirty="0">
                <a:solidFill>
                  <a:srgbClr val="FF00FF"/>
                </a:solidFill>
                <a:latin typeface="Rockwell" panose="02060603020205020403" pitchFamily="18" charset="0"/>
                <a:ea typeface="+mj-ea"/>
                <a:cs typeface="+mj-cs"/>
              </a:rPr>
              <a:t>:</a:t>
            </a:r>
          </a:p>
          <a:p>
            <a:pPr lvl="3"/>
            <a:r>
              <a:rPr lang="en-US" sz="2600" dirty="0" smtClean="0">
                <a:solidFill>
                  <a:srgbClr val="FF00FF"/>
                </a:solidFill>
                <a:latin typeface="Rockwell" panose="02060603020205020403" pitchFamily="18" charset="0"/>
                <a:ea typeface="+mj-ea"/>
                <a:cs typeface="+mj-cs"/>
              </a:rPr>
              <a:t>IDS: </a:t>
            </a:r>
            <a:r>
              <a:rPr lang="en-US" sz="2600" dirty="0" err="1" smtClean="0">
                <a:solidFill>
                  <a:srgbClr val="FF00FF"/>
                </a:solidFill>
                <a:latin typeface="Rockwell" panose="02060603020205020403" pitchFamily="18" charset="0"/>
                <a:ea typeface="+mj-ea"/>
                <a:cs typeface="+mj-cs"/>
              </a:rPr>
              <a:t>Phát</a:t>
            </a:r>
            <a:r>
              <a:rPr lang="en-US" sz="2600" dirty="0" smtClean="0">
                <a:solidFill>
                  <a:srgbClr val="FF00FF"/>
                </a:solidFill>
                <a:latin typeface="Rockwell" panose="02060603020205020403" pitchFamily="18" charset="0"/>
                <a:ea typeface="+mj-ea"/>
                <a:cs typeface="+mj-cs"/>
              </a:rPr>
              <a:t> </a:t>
            </a:r>
            <a:r>
              <a:rPr lang="en-US" sz="2600" dirty="0" err="1">
                <a:solidFill>
                  <a:srgbClr val="FF00FF"/>
                </a:solidFill>
                <a:latin typeface="Rockwell" panose="02060603020205020403" pitchFamily="18" charset="0"/>
                <a:ea typeface="+mj-ea"/>
                <a:cs typeface="+mj-cs"/>
              </a:rPr>
              <a:t>hiện</a:t>
            </a:r>
            <a:r>
              <a:rPr lang="en-US" sz="2600" dirty="0">
                <a:solidFill>
                  <a:srgbClr val="FF00FF"/>
                </a:solidFill>
                <a:latin typeface="Rockwell" panose="02060603020205020403" pitchFamily="18" charset="0"/>
                <a:ea typeface="+mj-ea"/>
                <a:cs typeface="+mj-cs"/>
              </a:rPr>
              <a:t> + </a:t>
            </a:r>
            <a:r>
              <a:rPr lang="en-US" sz="2600" dirty="0" err="1">
                <a:solidFill>
                  <a:srgbClr val="FF00FF"/>
                </a:solidFill>
                <a:latin typeface="Rockwell" panose="02060603020205020403" pitchFamily="18" charset="0"/>
                <a:ea typeface="+mj-ea"/>
                <a:cs typeface="+mj-cs"/>
              </a:rPr>
              <a:t>cảnh</a:t>
            </a:r>
            <a:r>
              <a:rPr lang="en-US" sz="2600" dirty="0">
                <a:solidFill>
                  <a:srgbClr val="FF00FF"/>
                </a:solidFill>
                <a:latin typeface="Rockwell" panose="02060603020205020403" pitchFamily="18" charset="0"/>
                <a:ea typeface="+mj-ea"/>
                <a:cs typeface="+mj-cs"/>
              </a:rPr>
              <a:t> </a:t>
            </a:r>
            <a:r>
              <a:rPr lang="en-US" sz="2600" dirty="0" err="1">
                <a:solidFill>
                  <a:srgbClr val="FF00FF"/>
                </a:solidFill>
                <a:latin typeface="Rockwell" panose="02060603020205020403" pitchFamily="18" charset="0"/>
                <a:ea typeface="+mj-ea"/>
                <a:cs typeface="+mj-cs"/>
              </a:rPr>
              <a:t>báo</a:t>
            </a:r>
            <a:endParaRPr lang="en-US" sz="2600" dirty="0">
              <a:solidFill>
                <a:srgbClr val="FF00FF"/>
              </a:solidFill>
              <a:latin typeface="Rockwell" panose="02060603020205020403" pitchFamily="18" charset="0"/>
              <a:ea typeface="+mj-ea"/>
              <a:cs typeface="+mj-cs"/>
            </a:endParaRPr>
          </a:p>
          <a:p>
            <a:pPr lvl="3"/>
            <a:r>
              <a:rPr lang="en-US" sz="2600" dirty="0" smtClean="0">
                <a:solidFill>
                  <a:srgbClr val="FF00FF"/>
                </a:solidFill>
                <a:latin typeface="Rockwell" panose="02060603020205020403" pitchFamily="18" charset="0"/>
                <a:ea typeface="+mj-ea"/>
                <a:cs typeface="+mj-cs"/>
              </a:rPr>
              <a:t>FW: </a:t>
            </a:r>
            <a:r>
              <a:rPr lang="en-US" sz="2600" dirty="0" err="1" smtClean="0">
                <a:solidFill>
                  <a:srgbClr val="FF00FF"/>
                </a:solidFill>
                <a:latin typeface="Rockwell" panose="02060603020205020403" pitchFamily="18" charset="0"/>
                <a:ea typeface="+mj-ea"/>
                <a:cs typeface="+mj-cs"/>
              </a:rPr>
              <a:t>Ngăn</a:t>
            </a:r>
            <a:r>
              <a:rPr lang="en-US" sz="2600" dirty="0" smtClean="0">
                <a:solidFill>
                  <a:srgbClr val="FF00FF"/>
                </a:solidFill>
                <a:latin typeface="Rockwell" panose="02060603020205020403" pitchFamily="18" charset="0"/>
                <a:ea typeface="+mj-ea"/>
                <a:cs typeface="+mj-cs"/>
              </a:rPr>
              <a:t> </a:t>
            </a:r>
            <a:r>
              <a:rPr lang="en-US" sz="2600" dirty="0" err="1">
                <a:solidFill>
                  <a:srgbClr val="FF00FF"/>
                </a:solidFill>
                <a:latin typeface="Rockwell" panose="02060603020205020403" pitchFamily="18" charset="0"/>
                <a:ea typeface="+mj-ea"/>
                <a:cs typeface="+mj-cs"/>
              </a:rPr>
              <a:t>chặn</a:t>
            </a:r>
            <a:r>
              <a:rPr lang="en-US" sz="2600" dirty="0">
                <a:solidFill>
                  <a:srgbClr val="FF00FF"/>
                </a:solidFill>
                <a:latin typeface="Rockwell" panose="02060603020205020403" pitchFamily="18" charset="0"/>
                <a:ea typeface="+mj-ea"/>
                <a:cs typeface="+mj-cs"/>
              </a:rPr>
              <a:t> </a:t>
            </a:r>
            <a:r>
              <a:rPr lang="en-US" sz="2600" dirty="0" err="1">
                <a:solidFill>
                  <a:srgbClr val="FF00FF"/>
                </a:solidFill>
                <a:latin typeface="Rockwell" panose="02060603020205020403" pitchFamily="18" charset="0"/>
                <a:ea typeface="+mj-ea"/>
                <a:cs typeface="+mj-cs"/>
              </a:rPr>
              <a:t>theo</a:t>
            </a:r>
            <a:r>
              <a:rPr lang="en-US" sz="2600" dirty="0">
                <a:solidFill>
                  <a:srgbClr val="FF00FF"/>
                </a:solidFill>
                <a:latin typeface="Rockwell" panose="02060603020205020403" pitchFamily="18" charset="0"/>
                <a:ea typeface="+mj-ea"/>
                <a:cs typeface="+mj-cs"/>
              </a:rPr>
              <a:t> </a:t>
            </a:r>
            <a:r>
              <a:rPr lang="en-US" sz="2600" dirty="0" err="1">
                <a:solidFill>
                  <a:srgbClr val="FF00FF"/>
                </a:solidFill>
                <a:latin typeface="Rockwell" panose="02060603020205020403" pitchFamily="18" charset="0"/>
                <a:ea typeface="+mj-ea"/>
                <a:cs typeface="+mj-cs"/>
              </a:rPr>
              <a:t>luật</a:t>
            </a:r>
            <a:endParaRPr lang="en-US" sz="2600" dirty="0">
              <a:solidFill>
                <a:srgbClr val="FF00FF"/>
              </a:solidFill>
              <a:latin typeface="Rockwell" panose="02060603020205020403" pitchFamily="18" charset="0"/>
              <a:ea typeface="+mj-ea"/>
              <a:cs typeface="+mj-cs"/>
            </a:endParaRPr>
          </a:p>
          <a:p>
            <a:pPr lvl="3"/>
            <a:r>
              <a:rPr lang="en-US" sz="2600" dirty="0" smtClean="0">
                <a:solidFill>
                  <a:srgbClr val="FF00FF"/>
                </a:solidFill>
                <a:latin typeface="Rockwell" panose="02060603020205020403" pitchFamily="18" charset="0"/>
                <a:ea typeface="+mj-ea"/>
                <a:cs typeface="+mj-cs"/>
              </a:rPr>
              <a:t>VPN: </a:t>
            </a:r>
            <a:r>
              <a:rPr lang="en-US" sz="2600" dirty="0" err="1" smtClean="0">
                <a:solidFill>
                  <a:srgbClr val="FF00FF"/>
                </a:solidFill>
                <a:latin typeface="Rockwell" panose="02060603020205020403" pitchFamily="18" charset="0"/>
                <a:ea typeface="+mj-ea"/>
                <a:cs typeface="+mj-cs"/>
              </a:rPr>
              <a:t>Kênh</a:t>
            </a:r>
            <a:r>
              <a:rPr lang="en-US" sz="2600" dirty="0" smtClean="0">
                <a:solidFill>
                  <a:srgbClr val="FF00FF"/>
                </a:solidFill>
                <a:latin typeface="Rockwell" panose="02060603020205020403" pitchFamily="18" charset="0"/>
                <a:ea typeface="+mj-ea"/>
                <a:cs typeface="+mj-cs"/>
              </a:rPr>
              <a:t> </a:t>
            </a:r>
            <a:r>
              <a:rPr lang="en-US" sz="2600" dirty="0" err="1">
                <a:solidFill>
                  <a:srgbClr val="FF00FF"/>
                </a:solidFill>
                <a:latin typeface="Rockwell" panose="02060603020205020403" pitchFamily="18" charset="0"/>
                <a:ea typeface="+mj-ea"/>
                <a:cs typeface="+mj-cs"/>
              </a:rPr>
              <a:t>truyền</a:t>
            </a:r>
            <a:r>
              <a:rPr lang="en-US" sz="2600" dirty="0">
                <a:solidFill>
                  <a:srgbClr val="FF00FF"/>
                </a:solidFill>
                <a:latin typeface="Rockwell" panose="02060603020205020403" pitchFamily="18" charset="0"/>
                <a:ea typeface="+mj-ea"/>
                <a:cs typeface="+mj-cs"/>
              </a:rPr>
              <a:t> </a:t>
            </a:r>
            <a:r>
              <a:rPr lang="en-US" sz="2600" dirty="0" err="1">
                <a:solidFill>
                  <a:srgbClr val="FF00FF"/>
                </a:solidFill>
                <a:latin typeface="Rockwell" panose="02060603020205020403" pitchFamily="18" charset="0"/>
                <a:ea typeface="+mj-ea"/>
                <a:cs typeface="+mj-cs"/>
              </a:rPr>
              <a:t>bảo</a:t>
            </a:r>
            <a:r>
              <a:rPr lang="en-US" sz="2600" dirty="0">
                <a:solidFill>
                  <a:srgbClr val="FF00FF"/>
                </a:solidFill>
                <a:latin typeface="Rockwell" panose="02060603020205020403" pitchFamily="18" charset="0"/>
                <a:ea typeface="+mj-ea"/>
                <a:cs typeface="+mj-cs"/>
              </a:rPr>
              <a:t> </a:t>
            </a:r>
            <a:r>
              <a:rPr lang="en-US" sz="2600" dirty="0" err="1">
                <a:solidFill>
                  <a:srgbClr val="FF00FF"/>
                </a:solidFill>
                <a:latin typeface="Rockwell" panose="02060603020205020403" pitchFamily="18" charset="0"/>
                <a:ea typeface="+mj-ea"/>
                <a:cs typeface="+mj-cs"/>
              </a:rPr>
              <a:t>mật</a:t>
            </a:r>
            <a:endParaRPr lang="en-US" sz="2600" dirty="0">
              <a:solidFill>
                <a:srgbClr val="FF00FF"/>
              </a:solidFill>
              <a:latin typeface="Rockwell" panose="02060603020205020403" pitchFamily="18" charset="0"/>
              <a:ea typeface="+mj-ea"/>
              <a:cs typeface="+mj-cs"/>
            </a:endParaRPr>
          </a:p>
          <a:p>
            <a:pPr lvl="3"/>
            <a:r>
              <a:rPr lang="en-US" sz="2600" dirty="0" err="1">
                <a:solidFill>
                  <a:srgbClr val="FF00FF"/>
                </a:solidFill>
                <a:latin typeface="Rockwell" panose="02060603020205020403" pitchFamily="18" charset="0"/>
                <a:ea typeface="+mj-ea"/>
                <a:cs typeface="+mj-cs"/>
              </a:rPr>
              <a:t>Chính</a:t>
            </a:r>
            <a:r>
              <a:rPr lang="en-US" sz="2600" dirty="0">
                <a:solidFill>
                  <a:srgbClr val="FF00FF"/>
                </a:solidFill>
                <a:latin typeface="Rockwell" panose="02060603020205020403" pitchFamily="18" charset="0"/>
                <a:ea typeface="+mj-ea"/>
                <a:cs typeface="+mj-cs"/>
              </a:rPr>
              <a:t> </a:t>
            </a:r>
            <a:r>
              <a:rPr lang="en-US" sz="2600" dirty="0" err="1" smtClean="0">
                <a:solidFill>
                  <a:srgbClr val="FF00FF"/>
                </a:solidFill>
                <a:latin typeface="Rockwell" panose="02060603020205020403" pitchFamily="18" charset="0"/>
                <a:ea typeface="+mj-ea"/>
                <a:cs typeface="+mj-cs"/>
              </a:rPr>
              <a:t>sách</a:t>
            </a:r>
            <a:r>
              <a:rPr lang="en-US" sz="2600" dirty="0" smtClean="0">
                <a:solidFill>
                  <a:srgbClr val="FF00FF"/>
                </a:solidFill>
                <a:latin typeface="Rockwell" panose="02060603020205020403" pitchFamily="18" charset="0"/>
                <a:ea typeface="+mj-ea"/>
                <a:cs typeface="+mj-cs"/>
              </a:rPr>
              <a:t>: </a:t>
            </a:r>
            <a:r>
              <a:rPr lang="en-US" sz="2600" dirty="0" err="1" smtClean="0">
                <a:solidFill>
                  <a:srgbClr val="FF00FF"/>
                </a:solidFill>
                <a:latin typeface="Rockwell" panose="02060603020205020403" pitchFamily="18" charset="0"/>
                <a:ea typeface="+mj-ea"/>
                <a:cs typeface="+mj-cs"/>
              </a:rPr>
              <a:t>Nền</a:t>
            </a:r>
            <a:r>
              <a:rPr lang="en-US" sz="2600" dirty="0" smtClean="0">
                <a:solidFill>
                  <a:srgbClr val="FF00FF"/>
                </a:solidFill>
                <a:latin typeface="Rockwell" panose="02060603020205020403" pitchFamily="18" charset="0"/>
                <a:ea typeface="+mj-ea"/>
                <a:cs typeface="+mj-cs"/>
              </a:rPr>
              <a:t> </a:t>
            </a:r>
            <a:r>
              <a:rPr lang="en-US" sz="2600" dirty="0" err="1">
                <a:solidFill>
                  <a:srgbClr val="FF00FF"/>
                </a:solidFill>
                <a:latin typeface="Rockwell" panose="02060603020205020403" pitchFamily="18" charset="0"/>
                <a:ea typeface="+mj-ea"/>
                <a:cs typeface="+mj-cs"/>
              </a:rPr>
              <a:t>tảng</a:t>
            </a:r>
            <a:r>
              <a:rPr lang="en-US" sz="2600" dirty="0">
                <a:solidFill>
                  <a:srgbClr val="FF00FF"/>
                </a:solidFill>
                <a:latin typeface="Rockwell" panose="02060603020205020403" pitchFamily="18" charset="0"/>
                <a:ea typeface="+mj-ea"/>
                <a:cs typeface="+mj-cs"/>
              </a:rPr>
              <a:t> </a:t>
            </a:r>
            <a:r>
              <a:rPr lang="en-US" sz="2600" dirty="0" err="1">
                <a:solidFill>
                  <a:srgbClr val="FF00FF"/>
                </a:solidFill>
                <a:latin typeface="Rockwell" panose="02060603020205020403" pitchFamily="18" charset="0"/>
                <a:ea typeface="+mj-ea"/>
                <a:cs typeface="+mj-cs"/>
              </a:rPr>
              <a:t>quản</a:t>
            </a:r>
            <a:r>
              <a:rPr lang="en-US" sz="2600" dirty="0">
                <a:solidFill>
                  <a:srgbClr val="FF00FF"/>
                </a:solidFill>
                <a:latin typeface="Rockwell" panose="02060603020205020403" pitchFamily="18" charset="0"/>
                <a:ea typeface="+mj-ea"/>
                <a:cs typeface="+mj-cs"/>
              </a:rPr>
              <a:t> </a:t>
            </a:r>
            <a:r>
              <a:rPr lang="en-US" sz="2600" dirty="0" err="1">
                <a:solidFill>
                  <a:srgbClr val="FF00FF"/>
                </a:solidFill>
                <a:latin typeface="Rockwell" panose="02060603020205020403" pitchFamily="18" charset="0"/>
                <a:ea typeface="+mj-ea"/>
                <a:cs typeface="+mj-cs"/>
              </a:rPr>
              <a:t>trị</a:t>
            </a:r>
            <a:endParaRPr lang="en-US" sz="2600" dirty="0">
              <a:solidFill>
                <a:srgbClr val="FF00FF"/>
              </a:solidFill>
              <a:latin typeface="Rockwell" panose="02060603020205020403" pitchFamily="18" charset="0"/>
              <a:ea typeface="+mj-ea"/>
              <a:cs typeface="+mj-cs"/>
            </a:endParaRPr>
          </a:p>
        </p:txBody>
      </p:sp>
    </p:spTree>
    <p:extLst>
      <p:ext uri="{BB962C8B-B14F-4D97-AF65-F5344CB8AC3E}">
        <p14:creationId xmlns:p14="http://schemas.microsoft.com/office/powerpoint/2010/main" val="3680751062"/>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85248" y="478149"/>
            <a:ext cx="10242645" cy="528851"/>
          </a:xfrm>
        </p:spPr>
        <p:txBody>
          <a:bodyPr/>
          <a:lstStyle/>
          <a:p>
            <a:r>
              <a:rPr lang="en-US" sz="2800" b="1" dirty="0">
                <a:solidFill>
                  <a:srgbClr val="0000CC"/>
                </a:solidFill>
                <a:latin typeface="Rockwell" panose="02060603020205020403" pitchFamily="18" charset="0"/>
              </a:rPr>
              <a:t>7</a:t>
            </a:r>
            <a:r>
              <a:rPr lang="en-US" sz="2800" b="1" dirty="0" smtClean="0">
                <a:solidFill>
                  <a:srgbClr val="0000CC"/>
                </a:solidFill>
                <a:latin typeface="Rockwell" panose="02060603020205020403" pitchFamily="18" charset="0"/>
              </a:rPr>
              <a:t>.7. </a:t>
            </a:r>
            <a:r>
              <a:rPr lang="en-US" sz="2800" b="1" dirty="0" err="1" smtClean="0">
                <a:solidFill>
                  <a:srgbClr val="0000CC"/>
                </a:solidFill>
                <a:latin typeface="Rockwell" panose="02060603020205020403" pitchFamily="18" charset="0"/>
              </a:rPr>
              <a:t>Thảo</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luận</a:t>
            </a:r>
            <a:r>
              <a:rPr lang="vi-VN"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85248" y="1007000"/>
            <a:ext cx="9901452" cy="4382729"/>
          </a:xfrm>
        </p:spPr>
        <p:txBody>
          <a:bodyPr/>
          <a:lstStyle/>
          <a:p>
            <a:pPr marL="0" indent="0">
              <a:buNone/>
            </a:pPr>
            <a:r>
              <a:rPr lang="en-US" b="1" dirty="0" err="1" smtClean="0">
                <a:solidFill>
                  <a:srgbClr val="0000CC"/>
                </a:solidFill>
                <a:latin typeface="Rockwell" panose="02060603020205020403" pitchFamily="18" charset="0"/>
                <a:ea typeface="+mj-ea"/>
                <a:cs typeface="+mj-cs"/>
              </a:rPr>
              <a:t>Gợi</a:t>
            </a:r>
            <a:r>
              <a:rPr lang="en-US" b="1" dirty="0" smtClean="0">
                <a:solidFill>
                  <a:srgbClr val="0000CC"/>
                </a:solidFill>
                <a:latin typeface="Rockwell" panose="02060603020205020403" pitchFamily="18" charset="0"/>
                <a:ea typeface="+mj-ea"/>
                <a:cs typeface="+mj-cs"/>
              </a:rPr>
              <a:t> ý </a:t>
            </a:r>
            <a:r>
              <a:rPr lang="en-US" b="1" dirty="0" err="1" smtClean="0">
                <a:solidFill>
                  <a:srgbClr val="0000CC"/>
                </a:solidFill>
                <a:latin typeface="Rockwell" panose="02060603020205020403" pitchFamily="18" charset="0"/>
                <a:ea typeface="+mj-ea"/>
                <a:cs typeface="+mj-cs"/>
              </a:rPr>
              <a:t>trả</a:t>
            </a:r>
            <a:r>
              <a:rPr lang="en-US" b="1" dirty="0" smtClean="0">
                <a:solidFill>
                  <a:srgbClr val="0000CC"/>
                </a:solidFill>
                <a:latin typeface="Rockwell" panose="02060603020205020403" pitchFamily="18" charset="0"/>
                <a:ea typeface="+mj-ea"/>
                <a:cs typeface="+mj-cs"/>
              </a:rPr>
              <a:t> </a:t>
            </a:r>
            <a:r>
              <a:rPr lang="en-US" b="1" dirty="0" err="1" smtClean="0">
                <a:solidFill>
                  <a:srgbClr val="0000CC"/>
                </a:solidFill>
                <a:latin typeface="Rockwell" panose="02060603020205020403" pitchFamily="18" charset="0"/>
                <a:ea typeface="+mj-ea"/>
                <a:cs typeface="+mj-cs"/>
              </a:rPr>
              <a:t>lời</a:t>
            </a:r>
            <a:r>
              <a:rPr lang="en-US" b="1" dirty="0" smtClean="0">
                <a:solidFill>
                  <a:srgbClr val="0000CC"/>
                </a:solidFill>
                <a:latin typeface="Rockwell" panose="02060603020205020403" pitchFamily="18" charset="0"/>
                <a:ea typeface="+mj-ea"/>
                <a:cs typeface="+mj-cs"/>
              </a:rPr>
              <a:t> </a:t>
            </a:r>
            <a:r>
              <a:rPr lang="en-US" b="1" dirty="0" err="1" smtClean="0">
                <a:solidFill>
                  <a:srgbClr val="0000CC"/>
                </a:solidFill>
                <a:latin typeface="Rockwell" panose="02060603020205020403" pitchFamily="18" charset="0"/>
                <a:ea typeface="+mj-ea"/>
                <a:cs typeface="+mj-cs"/>
              </a:rPr>
              <a:t>thảo</a:t>
            </a:r>
            <a:r>
              <a:rPr lang="en-US" b="1" dirty="0" smtClean="0">
                <a:solidFill>
                  <a:srgbClr val="0000CC"/>
                </a:solidFill>
                <a:latin typeface="Rockwell" panose="02060603020205020403" pitchFamily="18" charset="0"/>
                <a:ea typeface="+mj-ea"/>
                <a:cs typeface="+mj-cs"/>
              </a:rPr>
              <a:t> </a:t>
            </a:r>
            <a:r>
              <a:rPr lang="en-US" b="1" dirty="0" err="1" smtClean="0">
                <a:solidFill>
                  <a:srgbClr val="0000CC"/>
                </a:solidFill>
                <a:latin typeface="Rockwell" panose="02060603020205020403" pitchFamily="18" charset="0"/>
                <a:ea typeface="+mj-ea"/>
                <a:cs typeface="+mj-cs"/>
              </a:rPr>
              <a:t>luận</a:t>
            </a:r>
            <a:r>
              <a:rPr lang="en-US" b="1" dirty="0" smtClean="0">
                <a:solidFill>
                  <a:srgbClr val="0000CC"/>
                </a:solidFill>
                <a:latin typeface="Rockwell" panose="02060603020205020403" pitchFamily="18" charset="0"/>
                <a:ea typeface="+mj-ea"/>
                <a:cs typeface="+mj-cs"/>
              </a:rPr>
              <a:t>:</a:t>
            </a:r>
          </a:p>
          <a:p>
            <a:pPr marL="0" indent="0">
              <a:buNone/>
            </a:pPr>
            <a:r>
              <a:rPr lang="vi-VN" b="1" dirty="0">
                <a:solidFill>
                  <a:srgbClr val="0000CC"/>
                </a:solidFill>
                <a:latin typeface="Rockwell" panose="02060603020205020403" pitchFamily="18" charset="0"/>
                <a:ea typeface="+mj-ea"/>
                <a:cs typeface="+mj-cs"/>
              </a:rPr>
              <a:t>Tình huống 1: DDoS vào website khuyến mãi</a:t>
            </a:r>
          </a:p>
          <a:p>
            <a:r>
              <a:rPr lang="vi-VN" dirty="0">
                <a:solidFill>
                  <a:srgbClr val="0000CC"/>
                </a:solidFill>
                <a:latin typeface="Rockwell" panose="02060603020205020403" pitchFamily="18" charset="0"/>
                <a:ea typeface="+mj-ea"/>
                <a:cs typeface="+mj-cs"/>
              </a:rPr>
              <a:t>IDS có thể phát hiện bất thường trong lưu lượng (traffic tăng đột biến từ nhiều địa chỉ IP).</a:t>
            </a:r>
          </a:p>
          <a:p>
            <a:r>
              <a:rPr lang="vi-VN" dirty="0">
                <a:solidFill>
                  <a:srgbClr val="0000CC"/>
                </a:solidFill>
                <a:latin typeface="Rockwell" panose="02060603020205020403" pitchFamily="18" charset="0"/>
                <a:ea typeface="+mj-ea"/>
                <a:cs typeface="+mj-cs"/>
              </a:rPr>
              <a:t>Firewall có thể chặn các gói đến từ IP bất thường hoặc giới hạn số kết nối từ một địa chỉ.</a:t>
            </a:r>
          </a:p>
          <a:p>
            <a:r>
              <a:rPr lang="vi-VN" dirty="0">
                <a:solidFill>
                  <a:srgbClr val="0000CC"/>
                </a:solidFill>
                <a:latin typeface="Rockwell" panose="02060603020205020403" pitchFamily="18" charset="0"/>
                <a:ea typeface="+mj-ea"/>
                <a:cs typeface="+mj-cs"/>
              </a:rPr>
              <a:t>Kết hợp giải pháp chống DDoS chuyên dụng (load balancing, CDN, scrubbing center).</a:t>
            </a:r>
          </a:p>
          <a:p>
            <a:r>
              <a:rPr lang="vi-VN" dirty="0">
                <a:solidFill>
                  <a:srgbClr val="0000CC"/>
                </a:solidFill>
                <a:latin typeface="Rockwell" panose="02060603020205020403" pitchFamily="18" charset="0"/>
                <a:ea typeface="+mj-ea"/>
                <a:cs typeface="+mj-cs"/>
              </a:rPr>
              <a:t>Kết luận: IDS cảnh báo – FW giảm tải – cần thêm giải pháp ngoài.</a:t>
            </a:r>
            <a:endParaRPr lang="en-US" dirty="0" smtClean="0">
              <a:solidFill>
                <a:srgbClr val="0000CC"/>
              </a:solidFill>
              <a:latin typeface="Rockwell" panose="02060603020205020403" pitchFamily="18" charset="0"/>
              <a:ea typeface="+mj-ea"/>
              <a:cs typeface="+mj-cs"/>
            </a:endParaRPr>
          </a:p>
        </p:txBody>
      </p:sp>
    </p:spTree>
    <p:extLst>
      <p:ext uri="{BB962C8B-B14F-4D97-AF65-F5344CB8AC3E}">
        <p14:creationId xmlns:p14="http://schemas.microsoft.com/office/powerpoint/2010/main" val="1387105300"/>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85248" y="478149"/>
            <a:ext cx="10242645" cy="528851"/>
          </a:xfrm>
        </p:spPr>
        <p:txBody>
          <a:bodyPr/>
          <a:lstStyle/>
          <a:p>
            <a:r>
              <a:rPr lang="en-US" sz="2800" b="1" dirty="0">
                <a:solidFill>
                  <a:srgbClr val="0000CC"/>
                </a:solidFill>
                <a:latin typeface="Rockwell" panose="02060603020205020403" pitchFamily="18" charset="0"/>
              </a:rPr>
              <a:t>7</a:t>
            </a:r>
            <a:r>
              <a:rPr lang="en-US" sz="2800" b="1" dirty="0" smtClean="0">
                <a:solidFill>
                  <a:srgbClr val="0000CC"/>
                </a:solidFill>
                <a:latin typeface="Rockwell" panose="02060603020205020403" pitchFamily="18" charset="0"/>
              </a:rPr>
              <a:t>.7. </a:t>
            </a:r>
            <a:r>
              <a:rPr lang="en-US" sz="2800" b="1" dirty="0" err="1" smtClean="0">
                <a:solidFill>
                  <a:srgbClr val="0000CC"/>
                </a:solidFill>
                <a:latin typeface="Rockwell" panose="02060603020205020403" pitchFamily="18" charset="0"/>
              </a:rPr>
              <a:t>Thảo</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luận</a:t>
            </a:r>
            <a:r>
              <a:rPr lang="vi-VN"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85248" y="1007000"/>
            <a:ext cx="9901452" cy="4382729"/>
          </a:xfrm>
        </p:spPr>
        <p:txBody>
          <a:bodyPr/>
          <a:lstStyle/>
          <a:p>
            <a:pPr marL="0" indent="0">
              <a:buNone/>
            </a:pPr>
            <a:r>
              <a:rPr lang="en-US" b="1" dirty="0" err="1" smtClean="0">
                <a:solidFill>
                  <a:srgbClr val="0000CC"/>
                </a:solidFill>
                <a:latin typeface="Rockwell" panose="02060603020205020403" pitchFamily="18" charset="0"/>
                <a:ea typeface="+mj-ea"/>
                <a:cs typeface="+mj-cs"/>
              </a:rPr>
              <a:t>Gợi</a:t>
            </a:r>
            <a:r>
              <a:rPr lang="en-US" b="1" dirty="0" smtClean="0">
                <a:solidFill>
                  <a:srgbClr val="0000CC"/>
                </a:solidFill>
                <a:latin typeface="Rockwell" panose="02060603020205020403" pitchFamily="18" charset="0"/>
                <a:ea typeface="+mj-ea"/>
                <a:cs typeface="+mj-cs"/>
              </a:rPr>
              <a:t> ý </a:t>
            </a:r>
            <a:r>
              <a:rPr lang="en-US" b="1" dirty="0" err="1" smtClean="0">
                <a:solidFill>
                  <a:srgbClr val="0000CC"/>
                </a:solidFill>
                <a:latin typeface="Rockwell" panose="02060603020205020403" pitchFamily="18" charset="0"/>
                <a:ea typeface="+mj-ea"/>
                <a:cs typeface="+mj-cs"/>
              </a:rPr>
              <a:t>trả</a:t>
            </a:r>
            <a:r>
              <a:rPr lang="en-US" b="1" dirty="0" smtClean="0">
                <a:solidFill>
                  <a:srgbClr val="0000CC"/>
                </a:solidFill>
                <a:latin typeface="Rockwell" panose="02060603020205020403" pitchFamily="18" charset="0"/>
                <a:ea typeface="+mj-ea"/>
                <a:cs typeface="+mj-cs"/>
              </a:rPr>
              <a:t> </a:t>
            </a:r>
            <a:r>
              <a:rPr lang="en-US" b="1" dirty="0" err="1" smtClean="0">
                <a:solidFill>
                  <a:srgbClr val="0000CC"/>
                </a:solidFill>
                <a:latin typeface="Rockwell" panose="02060603020205020403" pitchFamily="18" charset="0"/>
                <a:ea typeface="+mj-ea"/>
                <a:cs typeface="+mj-cs"/>
              </a:rPr>
              <a:t>lời</a:t>
            </a:r>
            <a:r>
              <a:rPr lang="en-US" b="1" dirty="0" smtClean="0">
                <a:solidFill>
                  <a:srgbClr val="0000CC"/>
                </a:solidFill>
                <a:latin typeface="Rockwell" panose="02060603020205020403" pitchFamily="18" charset="0"/>
                <a:ea typeface="+mj-ea"/>
                <a:cs typeface="+mj-cs"/>
              </a:rPr>
              <a:t> </a:t>
            </a:r>
            <a:r>
              <a:rPr lang="en-US" b="1" dirty="0" err="1" smtClean="0">
                <a:solidFill>
                  <a:srgbClr val="0000CC"/>
                </a:solidFill>
                <a:latin typeface="Rockwell" panose="02060603020205020403" pitchFamily="18" charset="0"/>
                <a:ea typeface="+mj-ea"/>
                <a:cs typeface="+mj-cs"/>
              </a:rPr>
              <a:t>thảo</a:t>
            </a:r>
            <a:r>
              <a:rPr lang="en-US" b="1" dirty="0" smtClean="0">
                <a:solidFill>
                  <a:srgbClr val="0000CC"/>
                </a:solidFill>
                <a:latin typeface="Rockwell" panose="02060603020205020403" pitchFamily="18" charset="0"/>
                <a:ea typeface="+mj-ea"/>
                <a:cs typeface="+mj-cs"/>
              </a:rPr>
              <a:t> </a:t>
            </a:r>
            <a:r>
              <a:rPr lang="en-US" b="1" dirty="0" err="1" smtClean="0">
                <a:solidFill>
                  <a:srgbClr val="0000CC"/>
                </a:solidFill>
                <a:latin typeface="Rockwell" panose="02060603020205020403" pitchFamily="18" charset="0"/>
                <a:ea typeface="+mj-ea"/>
                <a:cs typeface="+mj-cs"/>
              </a:rPr>
              <a:t>luận</a:t>
            </a:r>
            <a:r>
              <a:rPr lang="en-US" b="1" dirty="0" smtClean="0">
                <a:solidFill>
                  <a:srgbClr val="0000CC"/>
                </a:solidFill>
                <a:latin typeface="Rockwell" panose="02060603020205020403" pitchFamily="18" charset="0"/>
                <a:ea typeface="+mj-ea"/>
                <a:cs typeface="+mj-cs"/>
              </a:rPr>
              <a:t>:</a:t>
            </a:r>
          </a:p>
          <a:p>
            <a:pPr marL="0" indent="0">
              <a:buNone/>
            </a:pPr>
            <a:r>
              <a:rPr lang="vi-VN" b="1" dirty="0">
                <a:solidFill>
                  <a:srgbClr val="0000CC"/>
                </a:solidFill>
                <a:latin typeface="Rockwell" panose="02060603020205020403" pitchFamily="18" charset="0"/>
                <a:ea typeface="+mj-ea"/>
                <a:cs typeface="+mj-cs"/>
              </a:rPr>
              <a:t>Tình huống 2: SQL Injection</a:t>
            </a:r>
          </a:p>
          <a:p>
            <a:r>
              <a:rPr lang="vi-VN" dirty="0">
                <a:solidFill>
                  <a:srgbClr val="0000CC"/>
                </a:solidFill>
                <a:latin typeface="Rockwell" panose="02060603020205020403" pitchFamily="18" charset="0"/>
                <a:ea typeface="+mj-ea"/>
                <a:cs typeface="+mj-cs"/>
              </a:rPr>
              <a:t>Firewall lọc gói không ngăn được vì SQL Injection diễn ra ở tầng ứng dụng.</a:t>
            </a:r>
          </a:p>
          <a:p>
            <a:r>
              <a:rPr lang="vi-VN" dirty="0">
                <a:solidFill>
                  <a:srgbClr val="0000CC"/>
                </a:solidFill>
                <a:latin typeface="Rockwell" panose="02060603020205020403" pitchFamily="18" charset="0"/>
                <a:ea typeface="+mj-ea"/>
                <a:cs typeface="+mj-cs"/>
              </a:rPr>
              <a:t>IDS (nhất là Application IDS/WAF) có thể phát hiện chuỗi SQL bất thường trong payload.</a:t>
            </a:r>
          </a:p>
          <a:p>
            <a:r>
              <a:rPr lang="vi-VN" dirty="0">
                <a:solidFill>
                  <a:srgbClr val="0000CC"/>
                </a:solidFill>
                <a:latin typeface="Rockwell" panose="02060603020205020403" pitchFamily="18" charset="0"/>
                <a:ea typeface="+mj-ea"/>
                <a:cs typeface="+mj-cs"/>
              </a:rPr>
              <a:t>Chính sách: kiểm tra đầu vào (input validation), mã hóa tham số (prepared statement).</a:t>
            </a:r>
          </a:p>
          <a:p>
            <a:r>
              <a:rPr lang="vi-VN" dirty="0">
                <a:solidFill>
                  <a:srgbClr val="0000CC"/>
                </a:solidFill>
                <a:latin typeface="Rockwell" panose="02060603020205020403" pitchFamily="18" charset="0"/>
                <a:ea typeface="+mj-ea"/>
                <a:cs typeface="+mj-cs"/>
              </a:rPr>
              <a:t>Kết luận: Cần Application Firewall hoặc IDS ở tầng ứng dụng + lập trình an toàn.</a:t>
            </a:r>
            <a:endParaRPr lang="en-US" dirty="0" smtClean="0">
              <a:solidFill>
                <a:srgbClr val="0000CC"/>
              </a:solidFill>
              <a:latin typeface="Rockwell" panose="02060603020205020403" pitchFamily="18" charset="0"/>
              <a:ea typeface="+mj-ea"/>
              <a:cs typeface="+mj-cs"/>
            </a:endParaRPr>
          </a:p>
        </p:txBody>
      </p:sp>
    </p:spTree>
    <p:extLst>
      <p:ext uri="{BB962C8B-B14F-4D97-AF65-F5344CB8AC3E}">
        <p14:creationId xmlns:p14="http://schemas.microsoft.com/office/powerpoint/2010/main" val="3161461719"/>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85248" y="478149"/>
            <a:ext cx="10242645" cy="528851"/>
          </a:xfrm>
        </p:spPr>
        <p:txBody>
          <a:bodyPr/>
          <a:lstStyle/>
          <a:p>
            <a:r>
              <a:rPr lang="en-US" sz="2800" b="1" dirty="0">
                <a:solidFill>
                  <a:srgbClr val="0000CC"/>
                </a:solidFill>
                <a:latin typeface="Rockwell" panose="02060603020205020403" pitchFamily="18" charset="0"/>
              </a:rPr>
              <a:t>7</a:t>
            </a:r>
            <a:r>
              <a:rPr lang="en-US" sz="2800" b="1" dirty="0" smtClean="0">
                <a:solidFill>
                  <a:srgbClr val="0000CC"/>
                </a:solidFill>
                <a:latin typeface="Rockwell" panose="02060603020205020403" pitchFamily="18" charset="0"/>
              </a:rPr>
              <a:t>.7. </a:t>
            </a:r>
            <a:r>
              <a:rPr lang="en-US" sz="2800" b="1" dirty="0" err="1" smtClean="0">
                <a:solidFill>
                  <a:srgbClr val="0000CC"/>
                </a:solidFill>
                <a:latin typeface="Rockwell" panose="02060603020205020403" pitchFamily="18" charset="0"/>
              </a:rPr>
              <a:t>Thảo</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luận</a:t>
            </a:r>
            <a:r>
              <a:rPr lang="vi-VN"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85248" y="1007000"/>
            <a:ext cx="9901452" cy="4382729"/>
          </a:xfrm>
        </p:spPr>
        <p:txBody>
          <a:bodyPr/>
          <a:lstStyle/>
          <a:p>
            <a:pPr marL="0" indent="0">
              <a:buNone/>
            </a:pPr>
            <a:r>
              <a:rPr lang="en-US" b="1" dirty="0" err="1" smtClean="0">
                <a:solidFill>
                  <a:srgbClr val="0000CC"/>
                </a:solidFill>
                <a:latin typeface="Rockwell" panose="02060603020205020403" pitchFamily="18" charset="0"/>
                <a:ea typeface="+mj-ea"/>
                <a:cs typeface="+mj-cs"/>
              </a:rPr>
              <a:t>Gợi</a:t>
            </a:r>
            <a:r>
              <a:rPr lang="en-US" b="1" dirty="0" smtClean="0">
                <a:solidFill>
                  <a:srgbClr val="0000CC"/>
                </a:solidFill>
                <a:latin typeface="Rockwell" panose="02060603020205020403" pitchFamily="18" charset="0"/>
                <a:ea typeface="+mj-ea"/>
                <a:cs typeface="+mj-cs"/>
              </a:rPr>
              <a:t> ý </a:t>
            </a:r>
            <a:r>
              <a:rPr lang="en-US" b="1" dirty="0" err="1" smtClean="0">
                <a:solidFill>
                  <a:srgbClr val="0000CC"/>
                </a:solidFill>
                <a:latin typeface="Rockwell" panose="02060603020205020403" pitchFamily="18" charset="0"/>
                <a:ea typeface="+mj-ea"/>
                <a:cs typeface="+mj-cs"/>
              </a:rPr>
              <a:t>trả</a:t>
            </a:r>
            <a:r>
              <a:rPr lang="en-US" b="1" dirty="0" smtClean="0">
                <a:solidFill>
                  <a:srgbClr val="0000CC"/>
                </a:solidFill>
                <a:latin typeface="Rockwell" panose="02060603020205020403" pitchFamily="18" charset="0"/>
                <a:ea typeface="+mj-ea"/>
                <a:cs typeface="+mj-cs"/>
              </a:rPr>
              <a:t> </a:t>
            </a:r>
            <a:r>
              <a:rPr lang="en-US" b="1" dirty="0" err="1" smtClean="0">
                <a:solidFill>
                  <a:srgbClr val="0000CC"/>
                </a:solidFill>
                <a:latin typeface="Rockwell" panose="02060603020205020403" pitchFamily="18" charset="0"/>
                <a:ea typeface="+mj-ea"/>
                <a:cs typeface="+mj-cs"/>
              </a:rPr>
              <a:t>lời</a:t>
            </a:r>
            <a:r>
              <a:rPr lang="en-US" b="1" dirty="0" smtClean="0">
                <a:solidFill>
                  <a:srgbClr val="0000CC"/>
                </a:solidFill>
                <a:latin typeface="Rockwell" panose="02060603020205020403" pitchFamily="18" charset="0"/>
                <a:ea typeface="+mj-ea"/>
                <a:cs typeface="+mj-cs"/>
              </a:rPr>
              <a:t> </a:t>
            </a:r>
            <a:r>
              <a:rPr lang="en-US" b="1" dirty="0" err="1" smtClean="0">
                <a:solidFill>
                  <a:srgbClr val="0000CC"/>
                </a:solidFill>
                <a:latin typeface="Rockwell" panose="02060603020205020403" pitchFamily="18" charset="0"/>
                <a:ea typeface="+mj-ea"/>
                <a:cs typeface="+mj-cs"/>
              </a:rPr>
              <a:t>thảo</a:t>
            </a:r>
            <a:r>
              <a:rPr lang="en-US" b="1" dirty="0" smtClean="0">
                <a:solidFill>
                  <a:srgbClr val="0000CC"/>
                </a:solidFill>
                <a:latin typeface="Rockwell" panose="02060603020205020403" pitchFamily="18" charset="0"/>
                <a:ea typeface="+mj-ea"/>
                <a:cs typeface="+mj-cs"/>
              </a:rPr>
              <a:t> </a:t>
            </a:r>
            <a:r>
              <a:rPr lang="en-US" b="1" dirty="0" err="1" smtClean="0">
                <a:solidFill>
                  <a:srgbClr val="0000CC"/>
                </a:solidFill>
                <a:latin typeface="Rockwell" panose="02060603020205020403" pitchFamily="18" charset="0"/>
                <a:ea typeface="+mj-ea"/>
                <a:cs typeface="+mj-cs"/>
              </a:rPr>
              <a:t>luận</a:t>
            </a:r>
            <a:r>
              <a:rPr lang="en-US" b="1" dirty="0" smtClean="0">
                <a:solidFill>
                  <a:srgbClr val="0000CC"/>
                </a:solidFill>
                <a:latin typeface="Rockwell" panose="02060603020205020403" pitchFamily="18" charset="0"/>
                <a:ea typeface="+mj-ea"/>
                <a:cs typeface="+mj-cs"/>
              </a:rPr>
              <a:t>:</a:t>
            </a:r>
          </a:p>
          <a:p>
            <a:pPr marL="0" indent="0">
              <a:buNone/>
            </a:pPr>
            <a:r>
              <a:rPr lang="vi-VN" b="1" dirty="0" smtClean="0">
                <a:solidFill>
                  <a:srgbClr val="0000CC"/>
                </a:solidFill>
                <a:latin typeface="Rockwell" panose="02060603020205020403" pitchFamily="18" charset="0"/>
                <a:ea typeface="+mj-ea"/>
                <a:cs typeface="+mj-cs"/>
              </a:rPr>
              <a:t>Tình </a:t>
            </a:r>
            <a:r>
              <a:rPr lang="vi-VN" b="1" dirty="0">
                <a:solidFill>
                  <a:srgbClr val="0000CC"/>
                </a:solidFill>
                <a:latin typeface="Rockwell" panose="02060603020205020403" pitchFamily="18" charset="0"/>
                <a:ea typeface="+mj-ea"/>
                <a:cs typeface="+mj-cs"/>
              </a:rPr>
              <a:t>huống 3: Nhân viên rò rỉ dữ liệu qua VPN</a:t>
            </a:r>
          </a:p>
          <a:p>
            <a:r>
              <a:rPr lang="vi-VN" dirty="0">
                <a:solidFill>
                  <a:srgbClr val="0000CC"/>
                </a:solidFill>
                <a:latin typeface="Rockwell" panose="02060603020205020403" pitchFamily="18" charset="0"/>
                <a:ea typeface="+mj-ea"/>
                <a:cs typeface="+mj-cs"/>
              </a:rPr>
              <a:t>IDS có thể phát hiện lưu lượng gửi ra ngoài bất thường (exfiltration detection).</a:t>
            </a:r>
          </a:p>
          <a:p>
            <a:r>
              <a:rPr lang="vi-VN" dirty="0">
                <a:solidFill>
                  <a:srgbClr val="0000CC"/>
                </a:solidFill>
                <a:latin typeface="Rockwell" panose="02060603020205020403" pitchFamily="18" charset="0"/>
                <a:ea typeface="+mj-ea"/>
                <a:cs typeface="+mj-cs"/>
              </a:rPr>
              <a:t>Giải pháp: triển khai DLP (Data Loss Prevention), giám sát hành vi người dùng.</a:t>
            </a:r>
          </a:p>
          <a:p>
            <a:r>
              <a:rPr lang="vi-VN" dirty="0">
                <a:solidFill>
                  <a:srgbClr val="0000CC"/>
                </a:solidFill>
                <a:latin typeface="Rockwell" panose="02060603020205020403" pitchFamily="18" charset="0"/>
                <a:ea typeface="+mj-ea"/>
                <a:cs typeface="+mj-cs"/>
              </a:rPr>
              <a:t>Chính sách: phân quyền, giới hạn chỉ tải dữ liệu cần thiết, log truy cập.</a:t>
            </a:r>
          </a:p>
          <a:p>
            <a:r>
              <a:rPr lang="vi-VN" dirty="0">
                <a:solidFill>
                  <a:srgbClr val="0000CC"/>
                </a:solidFill>
                <a:latin typeface="Rockwell" panose="02060603020205020403" pitchFamily="18" charset="0"/>
                <a:ea typeface="+mj-ea"/>
                <a:cs typeface="+mj-cs"/>
              </a:rPr>
              <a:t>Kết luận: IDS phát hiện, VPN chỉ đảm bảo kênh an toàn chứ không kiểm soát hành vi.</a:t>
            </a:r>
            <a:endParaRPr lang="en-US" dirty="0" smtClean="0">
              <a:solidFill>
                <a:srgbClr val="0000CC"/>
              </a:solidFill>
              <a:latin typeface="Rockwell" panose="02060603020205020403" pitchFamily="18" charset="0"/>
              <a:ea typeface="+mj-ea"/>
              <a:cs typeface="+mj-cs"/>
            </a:endParaRPr>
          </a:p>
        </p:txBody>
      </p:sp>
    </p:spTree>
    <p:extLst>
      <p:ext uri="{BB962C8B-B14F-4D97-AF65-F5344CB8AC3E}">
        <p14:creationId xmlns:p14="http://schemas.microsoft.com/office/powerpoint/2010/main" val="534197683"/>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85248" y="478149"/>
            <a:ext cx="10242645" cy="528851"/>
          </a:xfrm>
        </p:spPr>
        <p:txBody>
          <a:bodyPr/>
          <a:lstStyle/>
          <a:p>
            <a:r>
              <a:rPr lang="en-US" sz="2800" b="1" dirty="0">
                <a:solidFill>
                  <a:srgbClr val="0000CC"/>
                </a:solidFill>
                <a:latin typeface="Rockwell" panose="02060603020205020403" pitchFamily="18" charset="0"/>
              </a:rPr>
              <a:t>7</a:t>
            </a:r>
            <a:r>
              <a:rPr lang="en-US" sz="2800" b="1" dirty="0" smtClean="0">
                <a:solidFill>
                  <a:srgbClr val="0000CC"/>
                </a:solidFill>
                <a:latin typeface="Rockwell" panose="02060603020205020403" pitchFamily="18" charset="0"/>
              </a:rPr>
              <a:t>.7. </a:t>
            </a:r>
            <a:r>
              <a:rPr lang="en-US" sz="2800" b="1" dirty="0" err="1" smtClean="0">
                <a:solidFill>
                  <a:srgbClr val="0000CC"/>
                </a:solidFill>
                <a:latin typeface="Rockwell" panose="02060603020205020403" pitchFamily="18" charset="0"/>
              </a:rPr>
              <a:t>Thảo</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luận</a:t>
            </a:r>
            <a:r>
              <a:rPr lang="vi-VN"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85248" y="1007000"/>
            <a:ext cx="9901452" cy="4382729"/>
          </a:xfrm>
        </p:spPr>
        <p:txBody>
          <a:bodyPr/>
          <a:lstStyle/>
          <a:p>
            <a:pPr marL="0" indent="0">
              <a:buNone/>
            </a:pPr>
            <a:r>
              <a:rPr lang="en-US" b="1" dirty="0" err="1" smtClean="0">
                <a:solidFill>
                  <a:srgbClr val="0000CC"/>
                </a:solidFill>
                <a:latin typeface="Rockwell" panose="02060603020205020403" pitchFamily="18" charset="0"/>
                <a:ea typeface="+mj-ea"/>
                <a:cs typeface="+mj-cs"/>
              </a:rPr>
              <a:t>Gợi</a:t>
            </a:r>
            <a:r>
              <a:rPr lang="en-US" b="1" dirty="0" smtClean="0">
                <a:solidFill>
                  <a:srgbClr val="0000CC"/>
                </a:solidFill>
                <a:latin typeface="Rockwell" panose="02060603020205020403" pitchFamily="18" charset="0"/>
                <a:ea typeface="+mj-ea"/>
                <a:cs typeface="+mj-cs"/>
              </a:rPr>
              <a:t> ý </a:t>
            </a:r>
            <a:r>
              <a:rPr lang="en-US" b="1" dirty="0" err="1" smtClean="0">
                <a:solidFill>
                  <a:srgbClr val="0000CC"/>
                </a:solidFill>
                <a:latin typeface="Rockwell" panose="02060603020205020403" pitchFamily="18" charset="0"/>
                <a:ea typeface="+mj-ea"/>
                <a:cs typeface="+mj-cs"/>
              </a:rPr>
              <a:t>trả</a:t>
            </a:r>
            <a:r>
              <a:rPr lang="en-US" b="1" dirty="0" smtClean="0">
                <a:solidFill>
                  <a:srgbClr val="0000CC"/>
                </a:solidFill>
                <a:latin typeface="Rockwell" panose="02060603020205020403" pitchFamily="18" charset="0"/>
                <a:ea typeface="+mj-ea"/>
                <a:cs typeface="+mj-cs"/>
              </a:rPr>
              <a:t> </a:t>
            </a:r>
            <a:r>
              <a:rPr lang="en-US" b="1" dirty="0" err="1" smtClean="0">
                <a:solidFill>
                  <a:srgbClr val="0000CC"/>
                </a:solidFill>
                <a:latin typeface="Rockwell" panose="02060603020205020403" pitchFamily="18" charset="0"/>
                <a:ea typeface="+mj-ea"/>
                <a:cs typeface="+mj-cs"/>
              </a:rPr>
              <a:t>lời</a:t>
            </a:r>
            <a:r>
              <a:rPr lang="en-US" b="1" dirty="0" smtClean="0">
                <a:solidFill>
                  <a:srgbClr val="0000CC"/>
                </a:solidFill>
                <a:latin typeface="Rockwell" panose="02060603020205020403" pitchFamily="18" charset="0"/>
                <a:ea typeface="+mj-ea"/>
                <a:cs typeface="+mj-cs"/>
              </a:rPr>
              <a:t> </a:t>
            </a:r>
            <a:r>
              <a:rPr lang="en-US" b="1" dirty="0" err="1" smtClean="0">
                <a:solidFill>
                  <a:srgbClr val="0000CC"/>
                </a:solidFill>
                <a:latin typeface="Rockwell" panose="02060603020205020403" pitchFamily="18" charset="0"/>
                <a:ea typeface="+mj-ea"/>
                <a:cs typeface="+mj-cs"/>
              </a:rPr>
              <a:t>thảo</a:t>
            </a:r>
            <a:r>
              <a:rPr lang="en-US" b="1" dirty="0" smtClean="0">
                <a:solidFill>
                  <a:srgbClr val="0000CC"/>
                </a:solidFill>
                <a:latin typeface="Rockwell" panose="02060603020205020403" pitchFamily="18" charset="0"/>
                <a:ea typeface="+mj-ea"/>
                <a:cs typeface="+mj-cs"/>
              </a:rPr>
              <a:t> </a:t>
            </a:r>
            <a:r>
              <a:rPr lang="en-US" b="1" dirty="0" err="1" smtClean="0">
                <a:solidFill>
                  <a:srgbClr val="0000CC"/>
                </a:solidFill>
                <a:latin typeface="Rockwell" panose="02060603020205020403" pitchFamily="18" charset="0"/>
                <a:ea typeface="+mj-ea"/>
                <a:cs typeface="+mj-cs"/>
              </a:rPr>
              <a:t>luận</a:t>
            </a:r>
            <a:r>
              <a:rPr lang="en-US" b="1" dirty="0" smtClean="0">
                <a:solidFill>
                  <a:srgbClr val="0000CC"/>
                </a:solidFill>
                <a:latin typeface="Rockwell" panose="02060603020205020403" pitchFamily="18" charset="0"/>
                <a:ea typeface="+mj-ea"/>
                <a:cs typeface="+mj-cs"/>
              </a:rPr>
              <a:t>:</a:t>
            </a:r>
          </a:p>
          <a:p>
            <a:pPr marL="0" indent="0">
              <a:buNone/>
            </a:pPr>
            <a:r>
              <a:rPr lang="vi-VN" b="1" dirty="0" smtClean="0">
                <a:solidFill>
                  <a:srgbClr val="0000CC"/>
                </a:solidFill>
                <a:latin typeface="Rockwell" panose="02060603020205020403" pitchFamily="18" charset="0"/>
                <a:ea typeface="+mj-ea"/>
                <a:cs typeface="+mj-cs"/>
              </a:rPr>
              <a:t>Tình </a:t>
            </a:r>
            <a:r>
              <a:rPr lang="vi-VN" b="1" dirty="0">
                <a:solidFill>
                  <a:srgbClr val="0000CC"/>
                </a:solidFill>
                <a:latin typeface="Rockwell" panose="02060603020205020403" pitchFamily="18" charset="0"/>
                <a:ea typeface="+mj-ea"/>
                <a:cs typeface="+mj-cs"/>
              </a:rPr>
              <a:t>huống 4: Website bị deface</a:t>
            </a:r>
          </a:p>
          <a:p>
            <a:r>
              <a:rPr lang="vi-VN" dirty="0">
                <a:solidFill>
                  <a:srgbClr val="0000CC"/>
                </a:solidFill>
                <a:latin typeface="Rockwell" panose="02060603020205020403" pitchFamily="18" charset="0"/>
                <a:ea typeface="+mj-ea"/>
                <a:cs typeface="+mj-cs"/>
              </a:rPr>
              <a:t>Nguyên nhân có thể: </a:t>
            </a:r>
            <a:r>
              <a:rPr lang="en-US" dirty="0" smtClean="0">
                <a:solidFill>
                  <a:srgbClr val="0000CC"/>
                </a:solidFill>
                <a:latin typeface="Rockwell" panose="02060603020205020403" pitchFamily="18" charset="0"/>
                <a:ea typeface="+mj-ea"/>
                <a:cs typeface="+mj-cs"/>
              </a:rPr>
              <a:t>L</a:t>
            </a:r>
            <a:r>
              <a:rPr lang="vi-VN" dirty="0" smtClean="0">
                <a:solidFill>
                  <a:srgbClr val="0000CC"/>
                </a:solidFill>
                <a:latin typeface="Rockwell" panose="02060603020205020403" pitchFamily="18" charset="0"/>
                <a:ea typeface="+mj-ea"/>
                <a:cs typeface="+mj-cs"/>
              </a:rPr>
              <a:t>ỗ </a:t>
            </a:r>
            <a:r>
              <a:rPr lang="vi-VN" dirty="0">
                <a:solidFill>
                  <a:srgbClr val="0000CC"/>
                </a:solidFill>
                <a:latin typeface="Rockwell" panose="02060603020205020403" pitchFamily="18" charset="0"/>
                <a:ea typeface="+mj-ea"/>
                <a:cs typeface="+mj-cs"/>
              </a:rPr>
              <a:t>hổng ứng dụng web hoặc server bị xâm nhập.</a:t>
            </a:r>
          </a:p>
          <a:p>
            <a:r>
              <a:rPr lang="vi-VN" dirty="0">
                <a:solidFill>
                  <a:srgbClr val="0000CC"/>
                </a:solidFill>
                <a:latin typeface="Rockwell" panose="02060603020205020403" pitchFamily="18" charset="0"/>
                <a:ea typeface="+mj-ea"/>
                <a:cs typeface="+mj-cs"/>
              </a:rPr>
              <a:t>Firewall tầng ứng dụng có thể chặn tấn công khai thác web (XSS, SQLi).</a:t>
            </a:r>
          </a:p>
          <a:p>
            <a:r>
              <a:rPr lang="vi-VN" dirty="0">
                <a:solidFill>
                  <a:srgbClr val="0000CC"/>
                </a:solidFill>
                <a:latin typeface="Rockwell" panose="02060603020205020403" pitchFamily="18" charset="0"/>
                <a:ea typeface="+mj-ea"/>
                <a:cs typeface="+mj-cs"/>
              </a:rPr>
              <a:t>IDS giúp phát hiện hành vi tấn công và cảnh báo sớm.</a:t>
            </a:r>
          </a:p>
          <a:p>
            <a:r>
              <a:rPr lang="vi-VN" dirty="0">
                <a:solidFill>
                  <a:srgbClr val="0000CC"/>
                </a:solidFill>
                <a:latin typeface="Rockwell" panose="02060603020205020403" pitchFamily="18" charset="0"/>
                <a:ea typeface="+mj-ea"/>
                <a:cs typeface="+mj-cs"/>
              </a:rPr>
              <a:t>Chính sách: </a:t>
            </a:r>
            <a:r>
              <a:rPr lang="en-US" dirty="0" smtClean="0">
                <a:solidFill>
                  <a:srgbClr val="0000CC"/>
                </a:solidFill>
                <a:latin typeface="Rockwell" panose="02060603020205020403" pitchFamily="18" charset="0"/>
                <a:ea typeface="+mj-ea"/>
                <a:cs typeface="+mj-cs"/>
              </a:rPr>
              <a:t>V</a:t>
            </a:r>
            <a:r>
              <a:rPr lang="vi-VN" dirty="0" smtClean="0">
                <a:solidFill>
                  <a:srgbClr val="0000CC"/>
                </a:solidFill>
                <a:latin typeface="Rockwell" panose="02060603020205020403" pitchFamily="18" charset="0"/>
                <a:ea typeface="+mj-ea"/>
                <a:cs typeface="+mj-cs"/>
              </a:rPr>
              <a:t>á </a:t>
            </a:r>
            <a:r>
              <a:rPr lang="vi-VN" dirty="0">
                <a:solidFill>
                  <a:srgbClr val="0000CC"/>
                </a:solidFill>
                <a:latin typeface="Rockwell" panose="02060603020205020403" pitchFamily="18" charset="0"/>
                <a:ea typeface="+mj-ea"/>
                <a:cs typeface="+mj-cs"/>
              </a:rPr>
              <a:t>lỗi định kỳ, phân quyền truy cập webserver, backup dữ liệu.</a:t>
            </a:r>
          </a:p>
          <a:p>
            <a:r>
              <a:rPr lang="vi-VN" dirty="0">
                <a:solidFill>
                  <a:srgbClr val="0000CC"/>
                </a:solidFill>
                <a:latin typeface="Rockwell" panose="02060603020205020403" pitchFamily="18" charset="0"/>
                <a:ea typeface="+mj-ea"/>
                <a:cs typeface="+mj-cs"/>
              </a:rPr>
              <a:t>Kết luận: </a:t>
            </a:r>
            <a:r>
              <a:rPr lang="en-US" dirty="0" smtClean="0">
                <a:solidFill>
                  <a:srgbClr val="0000CC"/>
                </a:solidFill>
                <a:latin typeface="Rockwell" panose="02060603020205020403" pitchFamily="18" charset="0"/>
                <a:ea typeface="+mj-ea"/>
                <a:cs typeface="+mj-cs"/>
              </a:rPr>
              <a:t>C</a:t>
            </a:r>
            <a:r>
              <a:rPr lang="vi-VN" dirty="0" smtClean="0">
                <a:solidFill>
                  <a:srgbClr val="0000CC"/>
                </a:solidFill>
                <a:latin typeface="Rockwell" panose="02060603020205020403" pitchFamily="18" charset="0"/>
                <a:ea typeface="+mj-ea"/>
                <a:cs typeface="+mj-cs"/>
              </a:rPr>
              <a:t>ần </a:t>
            </a:r>
            <a:r>
              <a:rPr lang="vi-VN" dirty="0">
                <a:solidFill>
                  <a:srgbClr val="0000CC"/>
                </a:solidFill>
                <a:latin typeface="Rockwell" panose="02060603020205020403" pitchFamily="18" charset="0"/>
                <a:ea typeface="+mj-ea"/>
                <a:cs typeface="+mj-cs"/>
              </a:rPr>
              <a:t>FW ứng dụng + IDS + quản trị hệ thống tốt.</a:t>
            </a:r>
            <a:endParaRPr lang="en-US" dirty="0" smtClean="0">
              <a:solidFill>
                <a:srgbClr val="0000CC"/>
              </a:solidFill>
              <a:latin typeface="Rockwell" panose="02060603020205020403" pitchFamily="18" charset="0"/>
              <a:ea typeface="+mj-ea"/>
              <a:cs typeface="+mj-cs"/>
            </a:endParaRPr>
          </a:p>
        </p:txBody>
      </p:sp>
    </p:spTree>
    <p:extLst>
      <p:ext uri="{BB962C8B-B14F-4D97-AF65-F5344CB8AC3E}">
        <p14:creationId xmlns:p14="http://schemas.microsoft.com/office/powerpoint/2010/main" val="878155248"/>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85248" y="478149"/>
            <a:ext cx="10242645" cy="528851"/>
          </a:xfrm>
        </p:spPr>
        <p:txBody>
          <a:bodyPr/>
          <a:lstStyle/>
          <a:p>
            <a:r>
              <a:rPr lang="en-US" sz="2800" b="1" dirty="0">
                <a:solidFill>
                  <a:srgbClr val="0000CC"/>
                </a:solidFill>
                <a:latin typeface="Rockwell" panose="02060603020205020403" pitchFamily="18" charset="0"/>
              </a:rPr>
              <a:t>7</a:t>
            </a:r>
            <a:r>
              <a:rPr lang="en-US" sz="2800" b="1" dirty="0" smtClean="0">
                <a:solidFill>
                  <a:srgbClr val="0000CC"/>
                </a:solidFill>
                <a:latin typeface="Rockwell" panose="02060603020205020403" pitchFamily="18" charset="0"/>
              </a:rPr>
              <a:t>.7. </a:t>
            </a:r>
            <a:r>
              <a:rPr lang="en-US" sz="2800" b="1" dirty="0" err="1" smtClean="0">
                <a:solidFill>
                  <a:srgbClr val="0000CC"/>
                </a:solidFill>
                <a:latin typeface="Rockwell" panose="02060603020205020403" pitchFamily="18" charset="0"/>
              </a:rPr>
              <a:t>Thảo</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luận</a:t>
            </a:r>
            <a:r>
              <a:rPr lang="vi-VN"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85248" y="1007000"/>
            <a:ext cx="10037928" cy="4382729"/>
          </a:xfrm>
        </p:spPr>
        <p:txBody>
          <a:bodyPr/>
          <a:lstStyle/>
          <a:p>
            <a:pPr marL="0" indent="0">
              <a:buNone/>
            </a:pPr>
            <a:r>
              <a:rPr lang="en-US" b="1" dirty="0" err="1" smtClean="0">
                <a:solidFill>
                  <a:srgbClr val="0000CC"/>
                </a:solidFill>
                <a:latin typeface="Rockwell" panose="02060603020205020403" pitchFamily="18" charset="0"/>
                <a:ea typeface="+mj-ea"/>
                <a:cs typeface="+mj-cs"/>
              </a:rPr>
              <a:t>Gợi</a:t>
            </a:r>
            <a:r>
              <a:rPr lang="en-US" b="1" dirty="0" smtClean="0">
                <a:solidFill>
                  <a:srgbClr val="0000CC"/>
                </a:solidFill>
                <a:latin typeface="Rockwell" panose="02060603020205020403" pitchFamily="18" charset="0"/>
                <a:ea typeface="+mj-ea"/>
                <a:cs typeface="+mj-cs"/>
              </a:rPr>
              <a:t> ý </a:t>
            </a:r>
            <a:r>
              <a:rPr lang="en-US" b="1" dirty="0" err="1" smtClean="0">
                <a:solidFill>
                  <a:srgbClr val="0000CC"/>
                </a:solidFill>
                <a:latin typeface="Rockwell" panose="02060603020205020403" pitchFamily="18" charset="0"/>
                <a:ea typeface="+mj-ea"/>
                <a:cs typeface="+mj-cs"/>
              </a:rPr>
              <a:t>trả</a:t>
            </a:r>
            <a:r>
              <a:rPr lang="en-US" b="1" dirty="0" smtClean="0">
                <a:solidFill>
                  <a:srgbClr val="0000CC"/>
                </a:solidFill>
                <a:latin typeface="Rockwell" panose="02060603020205020403" pitchFamily="18" charset="0"/>
                <a:ea typeface="+mj-ea"/>
                <a:cs typeface="+mj-cs"/>
              </a:rPr>
              <a:t> </a:t>
            </a:r>
            <a:r>
              <a:rPr lang="en-US" b="1" dirty="0" err="1" smtClean="0">
                <a:solidFill>
                  <a:srgbClr val="0000CC"/>
                </a:solidFill>
                <a:latin typeface="Rockwell" panose="02060603020205020403" pitchFamily="18" charset="0"/>
                <a:ea typeface="+mj-ea"/>
                <a:cs typeface="+mj-cs"/>
              </a:rPr>
              <a:t>lời</a:t>
            </a:r>
            <a:r>
              <a:rPr lang="en-US" b="1" dirty="0" smtClean="0">
                <a:solidFill>
                  <a:srgbClr val="0000CC"/>
                </a:solidFill>
                <a:latin typeface="Rockwell" panose="02060603020205020403" pitchFamily="18" charset="0"/>
                <a:ea typeface="+mj-ea"/>
                <a:cs typeface="+mj-cs"/>
              </a:rPr>
              <a:t> </a:t>
            </a:r>
            <a:r>
              <a:rPr lang="en-US" b="1" dirty="0" err="1" smtClean="0">
                <a:solidFill>
                  <a:srgbClr val="0000CC"/>
                </a:solidFill>
                <a:latin typeface="Rockwell" panose="02060603020205020403" pitchFamily="18" charset="0"/>
                <a:ea typeface="+mj-ea"/>
                <a:cs typeface="+mj-cs"/>
              </a:rPr>
              <a:t>thảo</a:t>
            </a:r>
            <a:r>
              <a:rPr lang="en-US" b="1" dirty="0" smtClean="0">
                <a:solidFill>
                  <a:srgbClr val="0000CC"/>
                </a:solidFill>
                <a:latin typeface="Rockwell" panose="02060603020205020403" pitchFamily="18" charset="0"/>
                <a:ea typeface="+mj-ea"/>
                <a:cs typeface="+mj-cs"/>
              </a:rPr>
              <a:t> </a:t>
            </a:r>
            <a:r>
              <a:rPr lang="en-US" b="1" dirty="0" err="1" smtClean="0">
                <a:solidFill>
                  <a:srgbClr val="0000CC"/>
                </a:solidFill>
                <a:latin typeface="Rockwell" panose="02060603020205020403" pitchFamily="18" charset="0"/>
                <a:ea typeface="+mj-ea"/>
                <a:cs typeface="+mj-cs"/>
              </a:rPr>
              <a:t>luận</a:t>
            </a:r>
            <a:r>
              <a:rPr lang="en-US" b="1" dirty="0" smtClean="0">
                <a:solidFill>
                  <a:srgbClr val="0000CC"/>
                </a:solidFill>
                <a:latin typeface="Rockwell" panose="02060603020205020403" pitchFamily="18" charset="0"/>
                <a:ea typeface="+mj-ea"/>
                <a:cs typeface="+mj-cs"/>
              </a:rPr>
              <a:t>:</a:t>
            </a:r>
          </a:p>
          <a:p>
            <a:pPr marL="0" indent="0">
              <a:buNone/>
            </a:pPr>
            <a:r>
              <a:rPr lang="vi-VN" b="1" dirty="0">
                <a:solidFill>
                  <a:srgbClr val="0000CC"/>
                </a:solidFill>
                <a:latin typeface="Rockwell" panose="02060603020205020403" pitchFamily="18" charset="0"/>
                <a:ea typeface="+mj-ea"/>
                <a:cs typeface="+mj-cs"/>
              </a:rPr>
              <a:t>Tình huống 5: VPN bị khai thác</a:t>
            </a:r>
          </a:p>
          <a:p>
            <a:r>
              <a:rPr lang="vi-VN" dirty="0">
                <a:solidFill>
                  <a:srgbClr val="0000CC"/>
                </a:solidFill>
                <a:latin typeface="Rockwell" panose="02060603020205020403" pitchFamily="18" charset="0"/>
                <a:ea typeface="+mj-ea"/>
                <a:cs typeface="+mj-cs"/>
              </a:rPr>
              <a:t>Hacker có thể đánh cắp mật khẩu </a:t>
            </a:r>
            <a:r>
              <a:rPr lang="vi-VN" dirty="0" smtClean="0">
                <a:solidFill>
                  <a:srgbClr val="0000CC"/>
                </a:solidFill>
                <a:latin typeface="Rockwell" panose="02060603020205020403" pitchFamily="18" charset="0"/>
                <a:ea typeface="+mj-ea"/>
                <a:cs typeface="+mj-cs"/>
              </a:rPr>
              <a:t>VPN</a:t>
            </a:r>
            <a:r>
              <a:rPr lang="en-US" dirty="0" smtClean="0">
                <a:solidFill>
                  <a:srgbClr val="0000CC"/>
                </a:solidFill>
                <a:latin typeface="Rockwell" panose="02060603020205020403" pitchFamily="18" charset="0"/>
                <a:ea typeface="+mj-ea"/>
                <a:cs typeface="+mj-cs"/>
              </a:rPr>
              <a:t>, </a:t>
            </a:r>
            <a:r>
              <a:rPr lang="en-US" dirty="0" err="1" smtClean="0">
                <a:solidFill>
                  <a:srgbClr val="0000CC"/>
                </a:solidFill>
                <a:latin typeface="Rockwell" panose="02060603020205020403" pitchFamily="18" charset="0"/>
                <a:ea typeface="+mj-ea"/>
                <a:cs typeface="+mj-cs"/>
              </a:rPr>
              <a:t>và</a:t>
            </a:r>
            <a:r>
              <a:rPr lang="en-US" dirty="0" smtClean="0">
                <a:solidFill>
                  <a:srgbClr val="0000CC"/>
                </a:solidFill>
                <a:latin typeface="Rockwell" panose="02060603020205020403" pitchFamily="18" charset="0"/>
                <a:ea typeface="+mj-ea"/>
                <a:cs typeface="+mj-cs"/>
              </a:rPr>
              <a:t> </a:t>
            </a:r>
            <a:r>
              <a:rPr lang="vi-VN" dirty="0" smtClean="0">
                <a:solidFill>
                  <a:srgbClr val="0000CC"/>
                </a:solidFill>
                <a:latin typeface="Rockwell" panose="02060603020205020403" pitchFamily="18" charset="0"/>
                <a:ea typeface="+mj-ea"/>
                <a:cs typeface="+mj-cs"/>
              </a:rPr>
              <a:t>truy </a:t>
            </a:r>
            <a:r>
              <a:rPr lang="vi-VN" dirty="0">
                <a:solidFill>
                  <a:srgbClr val="0000CC"/>
                </a:solidFill>
                <a:latin typeface="Rockwell" panose="02060603020205020403" pitchFamily="18" charset="0"/>
                <a:ea typeface="+mj-ea"/>
                <a:cs typeface="+mj-cs"/>
              </a:rPr>
              <a:t>cập trái phép.</a:t>
            </a:r>
          </a:p>
          <a:p>
            <a:r>
              <a:rPr lang="vi-VN" dirty="0">
                <a:solidFill>
                  <a:srgbClr val="0000CC"/>
                </a:solidFill>
                <a:latin typeface="Rockwell" panose="02060603020205020403" pitchFamily="18" charset="0"/>
                <a:ea typeface="+mj-ea"/>
                <a:cs typeface="+mj-cs"/>
              </a:rPr>
              <a:t>Giải pháp: </a:t>
            </a:r>
            <a:r>
              <a:rPr lang="en-US" dirty="0" smtClean="0">
                <a:solidFill>
                  <a:srgbClr val="0000CC"/>
                </a:solidFill>
                <a:latin typeface="Rockwell" panose="02060603020205020403" pitchFamily="18" charset="0"/>
                <a:ea typeface="+mj-ea"/>
                <a:cs typeface="+mj-cs"/>
              </a:rPr>
              <a:t>S</a:t>
            </a:r>
            <a:r>
              <a:rPr lang="vi-VN" dirty="0" smtClean="0">
                <a:solidFill>
                  <a:srgbClr val="0000CC"/>
                </a:solidFill>
                <a:latin typeface="Rockwell" panose="02060603020205020403" pitchFamily="18" charset="0"/>
                <a:ea typeface="+mj-ea"/>
                <a:cs typeface="+mj-cs"/>
              </a:rPr>
              <a:t>ử </a:t>
            </a:r>
            <a:r>
              <a:rPr lang="vi-VN" dirty="0">
                <a:solidFill>
                  <a:srgbClr val="0000CC"/>
                </a:solidFill>
                <a:latin typeface="Rockwell" panose="02060603020205020403" pitchFamily="18" charset="0"/>
                <a:ea typeface="+mj-ea"/>
                <a:cs typeface="+mj-cs"/>
              </a:rPr>
              <a:t>dụng đa yếu tố (MFA), chứng chỉ số thay vì mật khẩu.</a:t>
            </a:r>
          </a:p>
          <a:p>
            <a:r>
              <a:rPr lang="vi-VN" dirty="0">
                <a:solidFill>
                  <a:srgbClr val="0000CC"/>
                </a:solidFill>
                <a:latin typeface="Rockwell" panose="02060603020205020403" pitchFamily="18" charset="0"/>
                <a:ea typeface="+mj-ea"/>
                <a:cs typeface="+mj-cs"/>
              </a:rPr>
              <a:t>IDS giám sát lưu lượng VPN: </a:t>
            </a:r>
            <a:r>
              <a:rPr lang="en-US" dirty="0" smtClean="0">
                <a:solidFill>
                  <a:srgbClr val="0000CC"/>
                </a:solidFill>
                <a:latin typeface="Rockwell" panose="02060603020205020403" pitchFamily="18" charset="0"/>
                <a:ea typeface="+mj-ea"/>
                <a:cs typeface="+mj-cs"/>
              </a:rPr>
              <a:t>N</a:t>
            </a:r>
            <a:r>
              <a:rPr lang="vi-VN" dirty="0" smtClean="0">
                <a:solidFill>
                  <a:srgbClr val="0000CC"/>
                </a:solidFill>
                <a:latin typeface="Rockwell" panose="02060603020205020403" pitchFamily="18" charset="0"/>
                <a:ea typeface="+mj-ea"/>
                <a:cs typeface="+mj-cs"/>
              </a:rPr>
              <a:t>ếu </a:t>
            </a:r>
            <a:r>
              <a:rPr lang="vi-VN" dirty="0">
                <a:solidFill>
                  <a:srgbClr val="0000CC"/>
                </a:solidFill>
                <a:latin typeface="Rockwell" panose="02060603020205020403" pitchFamily="18" charset="0"/>
                <a:ea typeface="+mj-ea"/>
                <a:cs typeface="+mj-cs"/>
              </a:rPr>
              <a:t>có đăng nhập từ IP </a:t>
            </a:r>
            <a:r>
              <a:rPr lang="vi-VN" dirty="0" smtClean="0">
                <a:solidFill>
                  <a:srgbClr val="0000CC"/>
                </a:solidFill>
                <a:latin typeface="Rockwell" panose="02060603020205020403" pitchFamily="18" charset="0"/>
                <a:ea typeface="+mj-ea"/>
                <a:cs typeface="+mj-cs"/>
              </a:rPr>
              <a:t>lạ</a:t>
            </a:r>
            <a:r>
              <a:rPr lang="en-US" dirty="0" smtClean="0">
                <a:solidFill>
                  <a:srgbClr val="0000CC"/>
                </a:solidFill>
                <a:latin typeface="Rockwell" panose="02060603020205020403" pitchFamily="18" charset="0"/>
                <a:ea typeface="+mj-ea"/>
                <a:cs typeface="+mj-cs"/>
              </a:rPr>
              <a:t>: </a:t>
            </a:r>
            <a:r>
              <a:rPr lang="en-US" dirty="0">
                <a:solidFill>
                  <a:srgbClr val="0000CC"/>
                </a:solidFill>
                <a:latin typeface="Rockwell" panose="02060603020205020403" pitchFamily="18" charset="0"/>
                <a:ea typeface="+mj-ea"/>
                <a:cs typeface="+mj-cs"/>
              </a:rPr>
              <a:t>C</a:t>
            </a:r>
            <a:r>
              <a:rPr lang="vi-VN" dirty="0" smtClean="0">
                <a:solidFill>
                  <a:srgbClr val="0000CC"/>
                </a:solidFill>
                <a:latin typeface="Rockwell" panose="02060603020205020403" pitchFamily="18" charset="0"/>
                <a:ea typeface="+mj-ea"/>
                <a:cs typeface="+mj-cs"/>
              </a:rPr>
              <a:t>ảnh </a:t>
            </a:r>
            <a:r>
              <a:rPr lang="vi-VN" dirty="0">
                <a:solidFill>
                  <a:srgbClr val="0000CC"/>
                </a:solidFill>
                <a:latin typeface="Rockwell" panose="02060603020205020403" pitchFamily="18" charset="0"/>
                <a:ea typeface="+mj-ea"/>
                <a:cs typeface="+mj-cs"/>
              </a:rPr>
              <a:t>báo.</a:t>
            </a:r>
          </a:p>
          <a:p>
            <a:r>
              <a:rPr lang="vi-VN" dirty="0">
                <a:solidFill>
                  <a:srgbClr val="0000CC"/>
                </a:solidFill>
                <a:latin typeface="Rockwell" panose="02060603020205020403" pitchFamily="18" charset="0"/>
                <a:ea typeface="+mj-ea"/>
                <a:cs typeface="+mj-cs"/>
              </a:rPr>
              <a:t>Chính sách: thay đổi mật khẩu định kỳ, log và giám sát truy cập VPN.</a:t>
            </a:r>
          </a:p>
          <a:p>
            <a:r>
              <a:rPr lang="vi-VN" dirty="0">
                <a:solidFill>
                  <a:srgbClr val="0000CC"/>
                </a:solidFill>
                <a:latin typeface="Rockwell" panose="02060603020205020403" pitchFamily="18" charset="0"/>
                <a:ea typeface="+mj-ea"/>
                <a:cs typeface="+mj-cs"/>
              </a:rPr>
              <a:t>Kết luận: VPN cần tăng cường xác thực + IDS giám sát + chính sách kiểm soát.</a:t>
            </a:r>
            <a:endParaRPr lang="en-US" dirty="0" smtClean="0">
              <a:solidFill>
                <a:srgbClr val="0000CC"/>
              </a:solidFill>
              <a:latin typeface="Rockwell" panose="02060603020205020403" pitchFamily="18" charset="0"/>
              <a:ea typeface="+mj-ea"/>
              <a:cs typeface="+mj-cs"/>
            </a:endParaRPr>
          </a:p>
        </p:txBody>
      </p:sp>
    </p:spTree>
    <p:extLst>
      <p:ext uri="{BB962C8B-B14F-4D97-AF65-F5344CB8AC3E}">
        <p14:creationId xmlns:p14="http://schemas.microsoft.com/office/powerpoint/2010/main" val="3686458589"/>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bg>
      <p:bgPr>
        <a:solidFill>
          <a:schemeClr val="accent5">
            <a:lumMod val="5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B5F415-7490-4054-85B4-10F7AE6D3385}"/>
              </a:ext>
            </a:extLst>
          </p:cNvPr>
          <p:cNvSpPr>
            <a:spLocks noGrp="1"/>
          </p:cNvSpPr>
          <p:nvPr>
            <p:ph type="ctrTitle"/>
          </p:nvPr>
        </p:nvSpPr>
        <p:spPr>
          <a:xfrm>
            <a:off x="1624084" y="-134337"/>
            <a:ext cx="9403307" cy="944020"/>
          </a:xfrm>
        </p:spPr>
        <p:txBody>
          <a:bodyPr>
            <a:normAutofit/>
          </a:bodyPr>
          <a:lstStyle/>
          <a:p>
            <a:pPr algn="l"/>
            <a:r>
              <a:rPr lang="en-US" sz="3000" dirty="0" err="1" smtClean="0">
                <a:solidFill>
                  <a:schemeClr val="bg1"/>
                </a:solidFill>
                <a:latin typeface="Rockwell" panose="02060603020205020403" pitchFamily="18" charset="0"/>
              </a:rPr>
              <a:t>Những</a:t>
            </a:r>
            <a:r>
              <a:rPr lang="en-US" sz="3000" dirty="0" smtClean="0">
                <a:solidFill>
                  <a:schemeClr val="bg1"/>
                </a:solidFill>
                <a:latin typeface="Rockwell" panose="02060603020205020403" pitchFamily="18" charset="0"/>
              </a:rPr>
              <a:t> </a:t>
            </a:r>
            <a:r>
              <a:rPr lang="en-US" sz="3000" dirty="0" err="1" smtClean="0">
                <a:solidFill>
                  <a:schemeClr val="bg1"/>
                </a:solidFill>
                <a:latin typeface="Rockwell" panose="02060603020205020403" pitchFamily="18" charset="0"/>
              </a:rPr>
              <a:t>nội</a:t>
            </a:r>
            <a:r>
              <a:rPr lang="en-US" sz="3000" dirty="0" smtClean="0">
                <a:solidFill>
                  <a:schemeClr val="bg1"/>
                </a:solidFill>
                <a:latin typeface="Rockwell" panose="02060603020205020403" pitchFamily="18" charset="0"/>
              </a:rPr>
              <a:t> dung </a:t>
            </a:r>
            <a:r>
              <a:rPr lang="en-US" sz="3000" dirty="0" err="1" smtClean="0">
                <a:solidFill>
                  <a:schemeClr val="bg1"/>
                </a:solidFill>
                <a:latin typeface="Rockwell" panose="02060603020205020403" pitchFamily="18" charset="0"/>
              </a:rPr>
              <a:t>cần</a:t>
            </a:r>
            <a:r>
              <a:rPr lang="en-US" sz="3000" dirty="0" smtClean="0">
                <a:solidFill>
                  <a:schemeClr val="bg1"/>
                </a:solidFill>
                <a:latin typeface="Rockwell" panose="02060603020205020403" pitchFamily="18" charset="0"/>
              </a:rPr>
              <a:t> </a:t>
            </a:r>
            <a:r>
              <a:rPr lang="en-US" sz="3000" dirty="0" err="1" smtClean="0">
                <a:solidFill>
                  <a:schemeClr val="bg1"/>
                </a:solidFill>
                <a:latin typeface="Rockwell" panose="02060603020205020403" pitchFamily="18" charset="0"/>
              </a:rPr>
              <a:t>lưu</a:t>
            </a:r>
            <a:r>
              <a:rPr lang="en-US" sz="3000" smtClean="0">
                <a:solidFill>
                  <a:schemeClr val="bg1"/>
                </a:solidFill>
                <a:latin typeface="Rockwell" panose="02060603020205020403" pitchFamily="18" charset="0"/>
              </a:rPr>
              <a:t> </a:t>
            </a:r>
            <a:r>
              <a:rPr lang="en-US" sz="3000" smtClean="0">
                <a:solidFill>
                  <a:schemeClr val="bg1"/>
                </a:solidFill>
                <a:latin typeface="Rockwell" panose="02060603020205020403" pitchFamily="18" charset="0"/>
              </a:rPr>
              <a:t>ý:</a:t>
            </a:r>
            <a:endParaRPr lang="en-US" sz="3000" dirty="0">
              <a:solidFill>
                <a:schemeClr val="bg1"/>
              </a:solidFill>
              <a:latin typeface="Rockwell" panose="02060603020205020403" pitchFamily="18" charset="0"/>
            </a:endParaRPr>
          </a:p>
        </p:txBody>
      </p:sp>
      <p:sp>
        <p:nvSpPr>
          <p:cNvPr id="3" name="Subtitle 2">
            <a:extLst>
              <a:ext uri="{FF2B5EF4-FFF2-40B4-BE49-F238E27FC236}">
                <a16:creationId xmlns:a16="http://schemas.microsoft.com/office/drawing/2014/main" id="{D05F6415-1E7C-453D-B6B7-DBF76BDA691B}"/>
              </a:ext>
            </a:extLst>
          </p:cNvPr>
          <p:cNvSpPr>
            <a:spLocks noGrp="1"/>
          </p:cNvSpPr>
          <p:nvPr>
            <p:ph type="subTitle" idx="1"/>
          </p:nvPr>
        </p:nvSpPr>
        <p:spPr>
          <a:xfrm>
            <a:off x="1514902" y="809683"/>
            <a:ext cx="10331356" cy="4372169"/>
          </a:xfrm>
        </p:spPr>
        <p:txBody>
          <a:bodyPr>
            <a:noAutofit/>
          </a:bodyPr>
          <a:lstStyle/>
          <a:p>
            <a:pPr algn="l">
              <a:spcBef>
                <a:spcPts val="600"/>
              </a:spcBef>
              <a:spcAft>
                <a:spcPts val="600"/>
              </a:spcAft>
            </a:pPr>
            <a:r>
              <a:rPr lang="vi-VN" sz="2600" dirty="0" smtClean="0">
                <a:solidFill>
                  <a:schemeClr val="bg1"/>
                </a:solidFill>
                <a:latin typeface="Rockwell" panose="02060603020205020403" pitchFamily="18" charset="0"/>
                <a:ea typeface="+mj-ea"/>
                <a:cs typeface="+mj-cs"/>
              </a:rPr>
              <a:t>1</a:t>
            </a:r>
            <a:r>
              <a:rPr lang="vi-VN" sz="2600" dirty="0">
                <a:solidFill>
                  <a:schemeClr val="bg1"/>
                </a:solidFill>
                <a:latin typeface="Rockwell" panose="02060603020205020403" pitchFamily="18" charset="0"/>
                <a:ea typeface="+mj-ea"/>
                <a:cs typeface="+mj-cs"/>
              </a:rPr>
              <a:t>. Bảo mật hạ tầng mạng là yếu tố sống còn trong thương mại điện tử nhằm đảm bảo an toàn, tin cậy và duy trì niềm tin của khách hàng.</a:t>
            </a:r>
          </a:p>
          <a:p>
            <a:pPr algn="l">
              <a:spcBef>
                <a:spcPts val="600"/>
              </a:spcBef>
            </a:pPr>
            <a:r>
              <a:rPr lang="vi-VN" sz="2600" dirty="0">
                <a:solidFill>
                  <a:schemeClr val="bg1"/>
                </a:solidFill>
                <a:latin typeface="Rockwell" panose="02060603020205020403" pitchFamily="18" charset="0"/>
                <a:ea typeface="+mj-ea"/>
                <a:cs typeface="+mj-cs"/>
              </a:rPr>
              <a:t>2. Các thành phần bảo mật quan trọng gồm:</a:t>
            </a:r>
          </a:p>
          <a:p>
            <a:pPr marL="457200" indent="-457200" algn="l">
              <a:spcBef>
                <a:spcPts val="600"/>
              </a:spcBef>
              <a:buFont typeface="Arial" panose="020B0604020202020204" pitchFamily="34" charset="0"/>
              <a:buChar char="•"/>
            </a:pPr>
            <a:r>
              <a:rPr lang="vi-VN" sz="2600" dirty="0">
                <a:solidFill>
                  <a:schemeClr val="bg1"/>
                </a:solidFill>
                <a:latin typeface="Rockwell" panose="02060603020205020403" pitchFamily="18" charset="0"/>
                <a:ea typeface="+mj-ea"/>
                <a:cs typeface="+mj-cs"/>
              </a:rPr>
              <a:t>Firewall (FW): lớp phòng thủ đầu tiên, kiểm soát truy cập.</a:t>
            </a:r>
          </a:p>
          <a:p>
            <a:pPr marL="457200" indent="-457200" algn="l">
              <a:spcBef>
                <a:spcPts val="600"/>
              </a:spcBef>
              <a:buFont typeface="Arial" panose="020B0604020202020204" pitchFamily="34" charset="0"/>
              <a:buChar char="•"/>
            </a:pPr>
            <a:r>
              <a:rPr lang="vi-VN" sz="2600" dirty="0">
                <a:solidFill>
                  <a:schemeClr val="bg1"/>
                </a:solidFill>
                <a:latin typeface="Rockwell" panose="02060603020205020403" pitchFamily="18" charset="0"/>
                <a:ea typeface="+mj-ea"/>
                <a:cs typeface="+mj-cs"/>
              </a:rPr>
              <a:t>IDS/IPS: giám sát, phát hiện và phản ứng với các hành vi bất thường.</a:t>
            </a:r>
          </a:p>
          <a:p>
            <a:pPr marL="457200" indent="-457200" algn="l">
              <a:spcBef>
                <a:spcPts val="600"/>
              </a:spcBef>
              <a:spcAft>
                <a:spcPts val="600"/>
              </a:spcAft>
              <a:buFont typeface="Arial" panose="020B0604020202020204" pitchFamily="34" charset="0"/>
              <a:buChar char="•"/>
            </a:pPr>
            <a:r>
              <a:rPr lang="vi-VN" sz="2600" dirty="0">
                <a:solidFill>
                  <a:schemeClr val="bg1"/>
                </a:solidFill>
                <a:latin typeface="Rockwell" panose="02060603020205020403" pitchFamily="18" charset="0"/>
                <a:ea typeface="+mj-ea"/>
                <a:cs typeface="+mj-cs"/>
              </a:rPr>
              <a:t>VPN: bảo mật kết nối từ xa, đảm bảo tính riêng tư và toàn vẹn </a:t>
            </a:r>
            <a:r>
              <a:rPr lang="en-US" sz="2600" dirty="0" smtClean="0">
                <a:solidFill>
                  <a:schemeClr val="bg1"/>
                </a:solidFill>
                <a:latin typeface="Rockwell" panose="02060603020205020403" pitchFamily="18" charset="0"/>
                <a:ea typeface="+mj-ea"/>
                <a:cs typeface="+mj-cs"/>
              </a:rPr>
              <a:t>DL.</a:t>
            </a:r>
            <a:endParaRPr lang="vi-VN" sz="2600" dirty="0">
              <a:solidFill>
                <a:schemeClr val="bg1"/>
              </a:solidFill>
              <a:latin typeface="Rockwell" panose="02060603020205020403" pitchFamily="18" charset="0"/>
              <a:ea typeface="+mj-ea"/>
              <a:cs typeface="+mj-cs"/>
            </a:endParaRPr>
          </a:p>
          <a:p>
            <a:pPr algn="l">
              <a:spcBef>
                <a:spcPts val="600"/>
              </a:spcBef>
            </a:pPr>
            <a:r>
              <a:rPr lang="vi-VN" sz="2600" dirty="0">
                <a:solidFill>
                  <a:schemeClr val="bg1"/>
                </a:solidFill>
                <a:latin typeface="Rockwell" panose="02060603020205020403" pitchFamily="18" charset="0"/>
                <a:ea typeface="+mj-ea"/>
                <a:cs typeface="+mj-cs"/>
              </a:rPr>
              <a:t>3. Cơ chế </a:t>
            </a:r>
            <a:r>
              <a:rPr lang="vi-VN" sz="2600" dirty="0" smtClean="0">
                <a:solidFill>
                  <a:schemeClr val="bg1"/>
                </a:solidFill>
                <a:latin typeface="Rockwell" panose="02060603020205020403" pitchFamily="18" charset="0"/>
                <a:ea typeface="+mj-ea"/>
                <a:cs typeface="+mj-cs"/>
              </a:rPr>
              <a:t>Defense </a:t>
            </a:r>
            <a:r>
              <a:rPr lang="vi-VN" sz="2600" dirty="0">
                <a:solidFill>
                  <a:schemeClr val="bg1"/>
                </a:solidFill>
                <a:latin typeface="Rockwell" panose="02060603020205020403" pitchFamily="18" charset="0"/>
                <a:ea typeface="+mj-ea"/>
                <a:cs typeface="+mj-cs"/>
              </a:rPr>
              <a:t>in </a:t>
            </a:r>
            <a:r>
              <a:rPr lang="vi-VN" sz="2600" dirty="0" smtClean="0">
                <a:solidFill>
                  <a:schemeClr val="bg1"/>
                </a:solidFill>
                <a:latin typeface="Rockwell" panose="02060603020205020403" pitchFamily="18" charset="0"/>
                <a:ea typeface="+mj-ea"/>
                <a:cs typeface="+mj-cs"/>
              </a:rPr>
              <a:t>Depth </a:t>
            </a:r>
            <a:r>
              <a:rPr lang="vi-VN" sz="2600" dirty="0">
                <a:solidFill>
                  <a:schemeClr val="bg1"/>
                </a:solidFill>
                <a:latin typeface="Rockwell" panose="02060603020205020403" pitchFamily="18" charset="0"/>
                <a:ea typeface="+mj-ea"/>
                <a:cs typeface="+mj-cs"/>
              </a:rPr>
              <a:t>giúp giảm thiểu rủi ro từ cả bên ngoài lẫn bên trong hệ thống.</a:t>
            </a:r>
            <a:endParaRPr lang="en-US" sz="2600" dirty="0">
              <a:solidFill>
                <a:schemeClr val="bg1"/>
              </a:solidFill>
              <a:latin typeface="Rockwell" panose="02060603020205020403" pitchFamily="18" charset="0"/>
              <a:ea typeface="+mj-ea"/>
              <a:cs typeface="+mj-cs"/>
            </a:endParaRPr>
          </a:p>
        </p:txBody>
      </p:sp>
      <p:pic>
        <p:nvPicPr>
          <p:cNvPr id="15" name="Graphic 14" descr="Clipboard">
            <a:extLst>
              <a:ext uri="{FF2B5EF4-FFF2-40B4-BE49-F238E27FC236}">
                <a16:creationId xmlns:a16="http://schemas.microsoft.com/office/drawing/2014/main" id="{2A123BD8-A09C-49C0-98E8-54B55610A92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xmlns="" r:embed="rId3"/>
              </a:ext>
            </a:extLst>
          </a:blip>
          <a:stretch>
            <a:fillRect/>
          </a:stretch>
        </p:blipFill>
        <p:spPr>
          <a:xfrm rot="20625611">
            <a:off x="7854217" y="4251463"/>
            <a:ext cx="2678761" cy="2678761"/>
          </a:xfrm>
          <a:prstGeom prst="rect">
            <a:avLst/>
          </a:prstGeom>
        </p:spPr>
      </p:pic>
      <p:pic>
        <p:nvPicPr>
          <p:cNvPr id="11" name="Graphic 10" descr="Microscope">
            <a:extLst>
              <a:ext uri="{FF2B5EF4-FFF2-40B4-BE49-F238E27FC236}">
                <a16:creationId xmlns:a16="http://schemas.microsoft.com/office/drawing/2014/main" id="{3CB00449-E308-4DF3-9CFD-9A7D30B672DE}"/>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xmlns="" r:embed="rId5"/>
              </a:ext>
            </a:extLst>
          </a:blip>
          <a:stretch>
            <a:fillRect/>
          </a:stretch>
        </p:blipFill>
        <p:spPr>
          <a:xfrm rot="1338607" flipH="1">
            <a:off x="-148800" y="161130"/>
            <a:ext cx="2684499" cy="2684499"/>
          </a:xfrm>
          <a:prstGeom prst="rect">
            <a:avLst/>
          </a:prstGeom>
        </p:spPr>
      </p:pic>
      <p:pic>
        <p:nvPicPr>
          <p:cNvPr id="7" name="Graphic 6" descr="Beaker">
            <a:extLst>
              <a:ext uri="{FF2B5EF4-FFF2-40B4-BE49-F238E27FC236}">
                <a16:creationId xmlns:a16="http://schemas.microsoft.com/office/drawing/2014/main" id="{88D22565-F42F-439B-A6A4-CF161165E6B6}"/>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xmlns="" r:embed="rId9"/>
              </a:ext>
            </a:extLst>
          </a:blip>
          <a:stretch>
            <a:fillRect/>
          </a:stretch>
        </p:blipFill>
        <p:spPr>
          <a:xfrm rot="1213697">
            <a:off x="-187116" y="4214343"/>
            <a:ext cx="2610148" cy="2610148"/>
          </a:xfrm>
          <a:prstGeom prst="rect">
            <a:avLst/>
          </a:prstGeom>
        </p:spPr>
      </p:pic>
      <p:pic>
        <p:nvPicPr>
          <p:cNvPr id="9" name="Graphic 8" descr="Flask">
            <a:extLst>
              <a:ext uri="{FF2B5EF4-FFF2-40B4-BE49-F238E27FC236}">
                <a16:creationId xmlns:a16="http://schemas.microsoft.com/office/drawing/2014/main" id="{B46E3E84-D1E6-4422-AA93-3EE98A821B98}"/>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xmlns="" r:embed="rId11"/>
              </a:ext>
            </a:extLst>
          </a:blip>
          <a:stretch>
            <a:fillRect/>
          </a:stretch>
        </p:blipFill>
        <p:spPr>
          <a:xfrm rot="20451125">
            <a:off x="3057223" y="4330202"/>
            <a:ext cx="2521285" cy="2521285"/>
          </a:xfrm>
          <a:prstGeom prst="rect">
            <a:avLst/>
          </a:prstGeom>
        </p:spPr>
      </p:pic>
      <p:pic>
        <p:nvPicPr>
          <p:cNvPr id="19" name="Graphic 18" descr="Ruler">
            <a:extLst>
              <a:ext uri="{FF2B5EF4-FFF2-40B4-BE49-F238E27FC236}">
                <a16:creationId xmlns:a16="http://schemas.microsoft.com/office/drawing/2014/main" id="{39130E3C-1E93-4315-AE76-13C55147DCF2}"/>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xmlns="" r:embed="rId13"/>
              </a:ext>
            </a:extLst>
          </a:blip>
          <a:stretch>
            <a:fillRect/>
          </a:stretch>
        </p:blipFill>
        <p:spPr>
          <a:xfrm rot="19608170">
            <a:off x="5853168" y="5075331"/>
            <a:ext cx="1676539" cy="1676539"/>
          </a:xfrm>
          <a:prstGeom prst="rect">
            <a:avLst/>
          </a:prstGeom>
        </p:spPr>
      </p:pic>
      <p:pic>
        <p:nvPicPr>
          <p:cNvPr id="21" name="Graphic 20" descr="Pencil">
            <a:extLst>
              <a:ext uri="{FF2B5EF4-FFF2-40B4-BE49-F238E27FC236}">
                <a16:creationId xmlns:a16="http://schemas.microsoft.com/office/drawing/2014/main" id="{FFEC1660-205F-490E-800A-0D57D250BAE4}"/>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xmlns="" r:embed="rId15"/>
              </a:ext>
            </a:extLst>
          </a:blip>
          <a:stretch>
            <a:fillRect/>
          </a:stretch>
        </p:blipFill>
        <p:spPr>
          <a:xfrm rot="20520790">
            <a:off x="9354537" y="4603500"/>
            <a:ext cx="1156703" cy="1156703"/>
          </a:xfrm>
          <a:prstGeom prst="rect">
            <a:avLst/>
          </a:prstGeom>
        </p:spPr>
      </p:pic>
    </p:spTree>
    <p:extLst>
      <p:ext uri="{BB962C8B-B14F-4D97-AF65-F5344CB8AC3E}">
        <p14:creationId xmlns:p14="http://schemas.microsoft.com/office/powerpoint/2010/main" val="2037187212"/>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bg>
      <p:bgPr>
        <a:solidFill>
          <a:schemeClr val="accent5">
            <a:lumMod val="5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B5F415-7490-4054-85B4-10F7AE6D3385}"/>
              </a:ext>
            </a:extLst>
          </p:cNvPr>
          <p:cNvSpPr>
            <a:spLocks noGrp="1"/>
          </p:cNvSpPr>
          <p:nvPr>
            <p:ph type="ctrTitle"/>
          </p:nvPr>
        </p:nvSpPr>
        <p:spPr>
          <a:xfrm>
            <a:off x="1624084" y="-134337"/>
            <a:ext cx="9403307" cy="944020"/>
          </a:xfrm>
        </p:spPr>
        <p:txBody>
          <a:bodyPr>
            <a:normAutofit/>
          </a:bodyPr>
          <a:lstStyle/>
          <a:p>
            <a:pPr algn="l"/>
            <a:r>
              <a:rPr lang="en-US" sz="3000" dirty="0" err="1" smtClean="0">
                <a:solidFill>
                  <a:schemeClr val="bg1"/>
                </a:solidFill>
                <a:latin typeface="Rockwell" panose="02060603020205020403" pitchFamily="18" charset="0"/>
              </a:rPr>
              <a:t>Những</a:t>
            </a:r>
            <a:r>
              <a:rPr lang="en-US" sz="3000" dirty="0" smtClean="0">
                <a:solidFill>
                  <a:schemeClr val="bg1"/>
                </a:solidFill>
                <a:latin typeface="Rockwell" panose="02060603020205020403" pitchFamily="18" charset="0"/>
              </a:rPr>
              <a:t> </a:t>
            </a:r>
            <a:r>
              <a:rPr lang="en-US" sz="3000" dirty="0" err="1" smtClean="0">
                <a:solidFill>
                  <a:schemeClr val="bg1"/>
                </a:solidFill>
                <a:latin typeface="Rockwell" panose="02060603020205020403" pitchFamily="18" charset="0"/>
              </a:rPr>
              <a:t>nội</a:t>
            </a:r>
            <a:r>
              <a:rPr lang="en-US" sz="3000" dirty="0" smtClean="0">
                <a:solidFill>
                  <a:schemeClr val="bg1"/>
                </a:solidFill>
                <a:latin typeface="Rockwell" panose="02060603020205020403" pitchFamily="18" charset="0"/>
              </a:rPr>
              <a:t> dung </a:t>
            </a:r>
            <a:r>
              <a:rPr lang="en-US" sz="3000" dirty="0" err="1" smtClean="0">
                <a:solidFill>
                  <a:schemeClr val="bg1"/>
                </a:solidFill>
                <a:latin typeface="Rockwell" panose="02060603020205020403" pitchFamily="18" charset="0"/>
              </a:rPr>
              <a:t>cần</a:t>
            </a:r>
            <a:r>
              <a:rPr lang="en-US" sz="3000" dirty="0" smtClean="0">
                <a:solidFill>
                  <a:schemeClr val="bg1"/>
                </a:solidFill>
                <a:latin typeface="Rockwell" panose="02060603020205020403" pitchFamily="18" charset="0"/>
              </a:rPr>
              <a:t> </a:t>
            </a:r>
            <a:r>
              <a:rPr lang="en-US" sz="3000" dirty="0" err="1" smtClean="0">
                <a:solidFill>
                  <a:schemeClr val="bg1"/>
                </a:solidFill>
                <a:latin typeface="Rockwell" panose="02060603020205020403" pitchFamily="18" charset="0"/>
              </a:rPr>
              <a:t>lưu</a:t>
            </a:r>
            <a:r>
              <a:rPr lang="en-US" sz="3000" dirty="0" smtClean="0">
                <a:solidFill>
                  <a:schemeClr val="bg1"/>
                </a:solidFill>
                <a:latin typeface="Rockwell" panose="02060603020205020403" pitchFamily="18" charset="0"/>
              </a:rPr>
              <a:t> </a:t>
            </a:r>
            <a:r>
              <a:rPr lang="en-US" sz="3000" dirty="0" smtClean="0">
                <a:solidFill>
                  <a:schemeClr val="bg1"/>
                </a:solidFill>
                <a:latin typeface="Rockwell" panose="02060603020205020403" pitchFamily="18" charset="0"/>
              </a:rPr>
              <a:t>ý:</a:t>
            </a:r>
            <a:endParaRPr lang="en-US" sz="3000" dirty="0">
              <a:solidFill>
                <a:schemeClr val="bg1"/>
              </a:solidFill>
              <a:latin typeface="Rockwell" panose="02060603020205020403" pitchFamily="18" charset="0"/>
            </a:endParaRPr>
          </a:p>
        </p:txBody>
      </p:sp>
      <p:sp>
        <p:nvSpPr>
          <p:cNvPr id="3" name="Subtitle 2">
            <a:extLst>
              <a:ext uri="{FF2B5EF4-FFF2-40B4-BE49-F238E27FC236}">
                <a16:creationId xmlns:a16="http://schemas.microsoft.com/office/drawing/2014/main" id="{D05F6415-1E7C-453D-B6B7-DBF76BDA691B}"/>
              </a:ext>
            </a:extLst>
          </p:cNvPr>
          <p:cNvSpPr>
            <a:spLocks noGrp="1"/>
          </p:cNvSpPr>
          <p:nvPr>
            <p:ph type="subTitle" idx="1"/>
          </p:nvPr>
        </p:nvSpPr>
        <p:spPr>
          <a:xfrm>
            <a:off x="1514902" y="809683"/>
            <a:ext cx="10126638" cy="4372169"/>
          </a:xfrm>
        </p:spPr>
        <p:txBody>
          <a:bodyPr>
            <a:noAutofit/>
          </a:bodyPr>
          <a:lstStyle/>
          <a:p>
            <a:pPr algn="l">
              <a:spcBef>
                <a:spcPts val="600"/>
              </a:spcBef>
              <a:spcAft>
                <a:spcPts val="600"/>
              </a:spcAft>
            </a:pPr>
            <a:r>
              <a:rPr lang="vi-VN" sz="2600" dirty="0" smtClean="0">
                <a:solidFill>
                  <a:schemeClr val="bg1"/>
                </a:solidFill>
                <a:latin typeface="Rockwell" panose="02060603020205020403" pitchFamily="18" charset="0"/>
                <a:ea typeface="+mj-ea"/>
                <a:cs typeface="+mj-cs"/>
              </a:rPr>
              <a:t>4</a:t>
            </a:r>
            <a:r>
              <a:rPr lang="vi-VN" sz="2600" dirty="0">
                <a:solidFill>
                  <a:schemeClr val="bg1"/>
                </a:solidFill>
                <a:latin typeface="Rockwell" panose="02060603020205020403" pitchFamily="18" charset="0"/>
                <a:ea typeface="+mj-ea"/>
                <a:cs typeface="+mj-cs"/>
              </a:rPr>
              <a:t>. Chính sách bảo mật toàn diện (mạng, hệ thống, dữ liệu, người dùng) phải được xây dựng và tuân thủ chặt chẽ.</a:t>
            </a:r>
          </a:p>
          <a:p>
            <a:pPr algn="l">
              <a:spcBef>
                <a:spcPts val="600"/>
              </a:spcBef>
              <a:spcAft>
                <a:spcPts val="600"/>
              </a:spcAft>
            </a:pPr>
            <a:r>
              <a:rPr lang="vi-VN" sz="2600" dirty="0">
                <a:solidFill>
                  <a:schemeClr val="bg1"/>
                </a:solidFill>
                <a:latin typeface="Rockwell" panose="02060603020205020403" pitchFamily="18" charset="0"/>
                <a:ea typeface="+mj-ea"/>
                <a:cs typeface="+mj-cs"/>
              </a:rPr>
              <a:t>5. Giám sát, kiểm tra và đào tạo định kỳ là điều kiện bắt buộc để duy trì an ninh mạng bền vững.</a:t>
            </a:r>
          </a:p>
          <a:p>
            <a:pPr algn="l">
              <a:spcBef>
                <a:spcPts val="600"/>
              </a:spcBef>
              <a:spcAft>
                <a:spcPts val="600"/>
              </a:spcAft>
            </a:pPr>
            <a:r>
              <a:rPr lang="vi-VN" sz="2600" dirty="0">
                <a:solidFill>
                  <a:schemeClr val="bg1"/>
                </a:solidFill>
                <a:latin typeface="Rockwell" panose="02060603020205020403" pitchFamily="18" charset="0"/>
                <a:ea typeface="+mj-ea"/>
                <a:cs typeface="+mj-cs"/>
              </a:rPr>
              <a:t>6. Việc tích hợp VPN – FW – IDS cùng với chính sách bảo mật rõ ràng là nền tảng cho một hạ tầng E-Commerce an toàn, đáp ứng yêu cầu kinh doanh và pháp lý</a:t>
            </a:r>
            <a:r>
              <a:rPr lang="vi-VN" sz="2600" dirty="0" smtClean="0">
                <a:solidFill>
                  <a:schemeClr val="bg1"/>
                </a:solidFill>
                <a:latin typeface="Rockwell" panose="02060603020205020403" pitchFamily="18" charset="0"/>
                <a:ea typeface="+mj-ea"/>
                <a:cs typeface="+mj-cs"/>
              </a:rPr>
              <a:t>.</a:t>
            </a:r>
            <a:endParaRPr lang="en-US" sz="2600" dirty="0" smtClean="0">
              <a:solidFill>
                <a:schemeClr val="bg1"/>
              </a:solidFill>
              <a:latin typeface="Rockwell" panose="02060603020205020403" pitchFamily="18" charset="0"/>
              <a:ea typeface="+mj-ea"/>
              <a:cs typeface="+mj-cs"/>
            </a:endParaRPr>
          </a:p>
          <a:p>
            <a:pPr algn="l">
              <a:spcBef>
                <a:spcPts val="600"/>
              </a:spcBef>
            </a:pPr>
            <a:endParaRPr lang="en-US" sz="2600" dirty="0" smtClean="0">
              <a:solidFill>
                <a:schemeClr val="bg1"/>
              </a:solidFill>
              <a:latin typeface="Rockwell" panose="02060603020205020403" pitchFamily="18" charset="0"/>
              <a:ea typeface="+mj-ea"/>
              <a:cs typeface="+mj-cs"/>
            </a:endParaRPr>
          </a:p>
          <a:p>
            <a:pPr algn="just">
              <a:spcBef>
                <a:spcPts val="600"/>
              </a:spcBef>
            </a:pPr>
            <a:r>
              <a:rPr lang="vi-VN" sz="2600" dirty="0">
                <a:solidFill>
                  <a:srgbClr val="FFC000"/>
                </a:solidFill>
                <a:latin typeface="Rockwell" panose="02060603020205020403" pitchFamily="18" charset="0"/>
                <a:ea typeface="+mj-ea"/>
                <a:cs typeface="+mj-cs"/>
              </a:rPr>
              <a:t>“Một hạ tầng </a:t>
            </a:r>
            <a:r>
              <a:rPr lang="vi-VN" sz="2600" dirty="0" smtClean="0">
                <a:solidFill>
                  <a:srgbClr val="FFC000"/>
                </a:solidFill>
                <a:latin typeface="Rockwell" panose="02060603020205020403" pitchFamily="18" charset="0"/>
                <a:ea typeface="+mj-ea"/>
                <a:cs typeface="+mj-cs"/>
              </a:rPr>
              <a:t>E-</a:t>
            </a:r>
            <a:r>
              <a:rPr lang="en-US" sz="2600" dirty="0" smtClean="0">
                <a:solidFill>
                  <a:srgbClr val="FFC000"/>
                </a:solidFill>
                <a:latin typeface="Rockwell" panose="02060603020205020403" pitchFamily="18" charset="0"/>
                <a:ea typeface="+mj-ea"/>
                <a:cs typeface="+mj-cs"/>
              </a:rPr>
              <a:t>c</a:t>
            </a:r>
            <a:r>
              <a:rPr lang="vi-VN" sz="2600" dirty="0" smtClean="0">
                <a:solidFill>
                  <a:srgbClr val="FFC000"/>
                </a:solidFill>
                <a:latin typeface="Rockwell" panose="02060603020205020403" pitchFamily="18" charset="0"/>
                <a:ea typeface="+mj-ea"/>
                <a:cs typeface="+mj-cs"/>
              </a:rPr>
              <a:t>ommerce </a:t>
            </a:r>
            <a:r>
              <a:rPr lang="vi-VN" sz="2600" dirty="0">
                <a:solidFill>
                  <a:srgbClr val="FFC000"/>
                </a:solidFill>
                <a:latin typeface="Rockwell" panose="02060603020205020403" pitchFamily="18" charset="0"/>
                <a:ea typeface="+mj-ea"/>
                <a:cs typeface="+mj-cs"/>
              </a:rPr>
              <a:t>chỉ thực sự </a:t>
            </a:r>
            <a:r>
              <a:rPr lang="en-US" sz="2600" dirty="0" smtClean="0">
                <a:solidFill>
                  <a:srgbClr val="FFC000"/>
                </a:solidFill>
                <a:latin typeface="Rockwell" panose="02060603020205020403" pitchFamily="18" charset="0"/>
                <a:ea typeface="+mj-ea"/>
                <a:cs typeface="+mj-cs"/>
              </a:rPr>
              <a:t>“</a:t>
            </a:r>
            <a:r>
              <a:rPr lang="en-US" sz="2600" dirty="0" err="1" smtClean="0">
                <a:solidFill>
                  <a:srgbClr val="FFC000"/>
                </a:solidFill>
                <a:latin typeface="Rockwell" panose="02060603020205020403" pitchFamily="18" charset="0"/>
                <a:ea typeface="+mj-ea"/>
                <a:cs typeface="+mj-cs"/>
              </a:rPr>
              <a:t>yên</a:t>
            </a:r>
            <a:r>
              <a:rPr lang="en-US" sz="2600" dirty="0" smtClean="0">
                <a:solidFill>
                  <a:srgbClr val="FFC000"/>
                </a:solidFill>
                <a:latin typeface="Rockwell" panose="02060603020205020403" pitchFamily="18" charset="0"/>
                <a:ea typeface="+mj-ea"/>
                <a:cs typeface="+mj-cs"/>
              </a:rPr>
              <a:t> </a:t>
            </a:r>
            <a:r>
              <a:rPr lang="en-US" sz="2600" dirty="0" err="1">
                <a:solidFill>
                  <a:srgbClr val="FFC000"/>
                </a:solidFill>
                <a:latin typeface="Rockwell" panose="02060603020205020403" pitchFamily="18" charset="0"/>
                <a:ea typeface="+mj-ea"/>
                <a:cs typeface="+mj-cs"/>
              </a:rPr>
              <a:t>t</a:t>
            </a:r>
            <a:r>
              <a:rPr lang="en-US" sz="2600" dirty="0" err="1" smtClean="0">
                <a:solidFill>
                  <a:srgbClr val="FFC000"/>
                </a:solidFill>
                <a:latin typeface="Rockwell" panose="02060603020205020403" pitchFamily="18" charset="0"/>
                <a:ea typeface="+mj-ea"/>
                <a:cs typeface="+mj-cs"/>
              </a:rPr>
              <a:t>âm</a:t>
            </a:r>
            <a:r>
              <a:rPr lang="en-US" sz="2600" dirty="0" smtClean="0">
                <a:solidFill>
                  <a:srgbClr val="FFC000"/>
                </a:solidFill>
                <a:latin typeface="Rockwell" panose="02060603020205020403" pitchFamily="18" charset="0"/>
                <a:ea typeface="+mj-ea"/>
                <a:cs typeface="+mj-cs"/>
              </a:rPr>
              <a:t>”</a:t>
            </a:r>
            <a:r>
              <a:rPr lang="vi-VN" sz="2600" dirty="0" smtClean="0">
                <a:solidFill>
                  <a:srgbClr val="FFC000"/>
                </a:solidFill>
                <a:latin typeface="Rockwell" panose="02060603020205020403" pitchFamily="18" charset="0"/>
                <a:ea typeface="+mj-ea"/>
                <a:cs typeface="+mj-cs"/>
              </a:rPr>
              <a:t> </a:t>
            </a:r>
            <a:r>
              <a:rPr lang="vi-VN" sz="2600" dirty="0">
                <a:solidFill>
                  <a:srgbClr val="FFC000"/>
                </a:solidFill>
                <a:latin typeface="Rockwell" panose="02060603020205020403" pitchFamily="18" charset="0"/>
                <a:ea typeface="+mj-ea"/>
                <a:cs typeface="+mj-cs"/>
              </a:rPr>
              <a:t>khi </a:t>
            </a:r>
            <a:r>
              <a:rPr lang="en-US" sz="2600" dirty="0" err="1" smtClean="0">
                <a:solidFill>
                  <a:srgbClr val="FFC000"/>
                </a:solidFill>
                <a:latin typeface="Rockwell" panose="02060603020205020403" pitchFamily="18" charset="0"/>
                <a:ea typeface="+mj-ea"/>
                <a:cs typeface="+mj-cs"/>
              </a:rPr>
              <a:t>vấn</a:t>
            </a:r>
            <a:r>
              <a:rPr lang="en-US" sz="2600" dirty="0" smtClean="0">
                <a:solidFill>
                  <a:srgbClr val="FFC000"/>
                </a:solidFill>
                <a:latin typeface="Rockwell" panose="02060603020205020403" pitchFamily="18" charset="0"/>
                <a:ea typeface="+mj-ea"/>
                <a:cs typeface="+mj-cs"/>
              </a:rPr>
              <a:t> </a:t>
            </a:r>
            <a:r>
              <a:rPr lang="en-US" sz="2600" dirty="0" err="1" smtClean="0">
                <a:solidFill>
                  <a:srgbClr val="FFC000"/>
                </a:solidFill>
                <a:latin typeface="Rockwell" panose="02060603020205020403" pitchFamily="18" charset="0"/>
                <a:ea typeface="+mj-ea"/>
                <a:cs typeface="+mj-cs"/>
              </a:rPr>
              <a:t>đề</a:t>
            </a:r>
            <a:r>
              <a:rPr lang="en-US" sz="2600" dirty="0" smtClean="0">
                <a:solidFill>
                  <a:srgbClr val="FFC000"/>
                </a:solidFill>
                <a:latin typeface="Rockwell" panose="02060603020205020403" pitchFamily="18" charset="0"/>
                <a:ea typeface="+mj-ea"/>
                <a:cs typeface="+mj-cs"/>
              </a:rPr>
              <a:t> </a:t>
            </a:r>
            <a:r>
              <a:rPr lang="vi-VN" sz="2600" dirty="0" smtClean="0">
                <a:solidFill>
                  <a:srgbClr val="FFC000"/>
                </a:solidFill>
                <a:latin typeface="Rockwell" panose="02060603020205020403" pitchFamily="18" charset="0"/>
                <a:ea typeface="+mj-ea"/>
                <a:cs typeface="+mj-cs"/>
              </a:rPr>
              <a:t>bảo </a:t>
            </a:r>
            <a:r>
              <a:rPr lang="vi-VN" sz="2600" dirty="0">
                <a:solidFill>
                  <a:srgbClr val="FFC000"/>
                </a:solidFill>
                <a:latin typeface="Rockwell" panose="02060603020205020403" pitchFamily="18" charset="0"/>
                <a:ea typeface="+mj-ea"/>
                <a:cs typeface="+mj-cs"/>
              </a:rPr>
              <a:t>mật được đặt lên hàng đầu, kết hợp công nghệ – chính sách – con người trong một thể thống nhất.”</a:t>
            </a:r>
          </a:p>
          <a:p>
            <a:pPr algn="l">
              <a:spcBef>
                <a:spcPts val="600"/>
              </a:spcBef>
            </a:pPr>
            <a:endParaRPr lang="en-US" sz="2600" dirty="0">
              <a:solidFill>
                <a:schemeClr val="bg1"/>
              </a:solidFill>
              <a:latin typeface="Rockwell" panose="02060603020205020403" pitchFamily="18" charset="0"/>
              <a:ea typeface="+mj-ea"/>
              <a:cs typeface="+mj-cs"/>
            </a:endParaRPr>
          </a:p>
        </p:txBody>
      </p:sp>
      <p:pic>
        <p:nvPicPr>
          <p:cNvPr id="15" name="Graphic 14" descr="Clipboard">
            <a:extLst>
              <a:ext uri="{FF2B5EF4-FFF2-40B4-BE49-F238E27FC236}">
                <a16:creationId xmlns:a16="http://schemas.microsoft.com/office/drawing/2014/main" id="{2A123BD8-A09C-49C0-98E8-54B55610A92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xmlns="" r:embed="rId3"/>
              </a:ext>
            </a:extLst>
          </a:blip>
          <a:stretch>
            <a:fillRect/>
          </a:stretch>
        </p:blipFill>
        <p:spPr>
          <a:xfrm rot="20625611">
            <a:off x="8369619" y="4382953"/>
            <a:ext cx="2435237" cy="2435237"/>
          </a:xfrm>
          <a:prstGeom prst="rect">
            <a:avLst/>
          </a:prstGeom>
        </p:spPr>
      </p:pic>
      <p:pic>
        <p:nvPicPr>
          <p:cNvPr id="11" name="Graphic 10" descr="Microscope">
            <a:extLst>
              <a:ext uri="{FF2B5EF4-FFF2-40B4-BE49-F238E27FC236}">
                <a16:creationId xmlns:a16="http://schemas.microsoft.com/office/drawing/2014/main" id="{3CB00449-E308-4DF3-9CFD-9A7D30B672DE}"/>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xmlns="" r:embed="rId5"/>
              </a:ext>
            </a:extLst>
          </a:blip>
          <a:stretch>
            <a:fillRect/>
          </a:stretch>
        </p:blipFill>
        <p:spPr>
          <a:xfrm rot="1338607" flipH="1">
            <a:off x="-148800" y="161130"/>
            <a:ext cx="2684499" cy="2684499"/>
          </a:xfrm>
          <a:prstGeom prst="rect">
            <a:avLst/>
          </a:prstGeom>
        </p:spPr>
      </p:pic>
      <p:pic>
        <p:nvPicPr>
          <p:cNvPr id="7" name="Graphic 6" descr="Beaker">
            <a:extLst>
              <a:ext uri="{FF2B5EF4-FFF2-40B4-BE49-F238E27FC236}">
                <a16:creationId xmlns:a16="http://schemas.microsoft.com/office/drawing/2014/main" id="{88D22565-F42F-439B-A6A4-CF161165E6B6}"/>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xmlns="" r:embed="rId9"/>
              </a:ext>
            </a:extLst>
          </a:blip>
          <a:stretch>
            <a:fillRect/>
          </a:stretch>
        </p:blipFill>
        <p:spPr>
          <a:xfrm rot="1213697">
            <a:off x="-187116" y="4214343"/>
            <a:ext cx="2610148" cy="2610148"/>
          </a:xfrm>
          <a:prstGeom prst="rect">
            <a:avLst/>
          </a:prstGeom>
        </p:spPr>
      </p:pic>
      <p:pic>
        <p:nvPicPr>
          <p:cNvPr id="9" name="Graphic 8" descr="Flask">
            <a:extLst>
              <a:ext uri="{FF2B5EF4-FFF2-40B4-BE49-F238E27FC236}">
                <a16:creationId xmlns:a16="http://schemas.microsoft.com/office/drawing/2014/main" id="{B46E3E84-D1E6-4422-AA93-3EE98A821B98}"/>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xmlns="" r:embed="rId11"/>
              </a:ext>
            </a:extLst>
          </a:blip>
          <a:stretch>
            <a:fillRect/>
          </a:stretch>
        </p:blipFill>
        <p:spPr>
          <a:xfrm rot="20451125">
            <a:off x="3057223" y="4330202"/>
            <a:ext cx="2521285" cy="2521285"/>
          </a:xfrm>
          <a:prstGeom prst="rect">
            <a:avLst/>
          </a:prstGeom>
        </p:spPr>
      </p:pic>
      <p:pic>
        <p:nvPicPr>
          <p:cNvPr id="19" name="Graphic 18" descr="Ruler">
            <a:extLst>
              <a:ext uri="{FF2B5EF4-FFF2-40B4-BE49-F238E27FC236}">
                <a16:creationId xmlns:a16="http://schemas.microsoft.com/office/drawing/2014/main" id="{39130E3C-1E93-4315-AE76-13C55147DCF2}"/>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xmlns="" r:embed="rId13"/>
              </a:ext>
            </a:extLst>
          </a:blip>
          <a:stretch>
            <a:fillRect/>
          </a:stretch>
        </p:blipFill>
        <p:spPr>
          <a:xfrm rot="19608170">
            <a:off x="5853168" y="5075331"/>
            <a:ext cx="1676539" cy="1676539"/>
          </a:xfrm>
          <a:prstGeom prst="rect">
            <a:avLst/>
          </a:prstGeom>
        </p:spPr>
      </p:pic>
      <p:pic>
        <p:nvPicPr>
          <p:cNvPr id="21" name="Graphic 20" descr="Pencil">
            <a:extLst>
              <a:ext uri="{FF2B5EF4-FFF2-40B4-BE49-F238E27FC236}">
                <a16:creationId xmlns:a16="http://schemas.microsoft.com/office/drawing/2014/main" id="{FFEC1660-205F-490E-800A-0D57D250BAE4}"/>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xmlns="" r:embed="rId15"/>
              </a:ext>
            </a:extLst>
          </a:blip>
          <a:stretch>
            <a:fillRect/>
          </a:stretch>
        </p:blipFill>
        <p:spPr>
          <a:xfrm rot="20520790">
            <a:off x="9878204" y="4827750"/>
            <a:ext cx="1156703" cy="1156703"/>
          </a:xfrm>
          <a:prstGeom prst="rect">
            <a:avLst/>
          </a:prstGeom>
        </p:spPr>
      </p:pic>
    </p:spTree>
    <p:extLst>
      <p:ext uri="{BB962C8B-B14F-4D97-AF65-F5344CB8AC3E}">
        <p14:creationId xmlns:p14="http://schemas.microsoft.com/office/powerpoint/2010/main" val="504898368"/>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F33787325_Lab safety_AAS_v3" id="{898BC5E2-691B-4B41-A97D-F35AD4FFF20D}" vid="{295F60D3-032D-43CA-A300-E4752067AD50}"/>
    </a:ext>
  </a:extLst>
</a:theme>
</file>

<file path=ppt/theme/theme2.xml><?xml version="1.0" encoding="utf-8"?>
<a:theme xmlns:a="http://schemas.openxmlformats.org/drawingml/2006/main" name="Crop">
  <a:themeElements>
    <a:clrScheme name="Custom 27">
      <a:dk1>
        <a:sysClr val="windowText" lastClr="000000"/>
      </a:dk1>
      <a:lt1>
        <a:sysClr val="window" lastClr="FFFFFF"/>
      </a:lt1>
      <a:dk2>
        <a:srgbClr val="1F497D"/>
      </a:dk2>
      <a:lt2>
        <a:srgbClr val="EEECE1"/>
      </a:lt2>
      <a:accent1>
        <a:srgbClr val="4F81BD"/>
      </a:accent1>
      <a:accent2>
        <a:srgbClr val="C0504D"/>
      </a:accent2>
      <a:accent3>
        <a:srgbClr val="76923C"/>
      </a:accent3>
      <a:accent4>
        <a:srgbClr val="8064A2"/>
      </a:accent4>
      <a:accent5>
        <a:srgbClr val="4BACC6"/>
      </a:accent5>
      <a:accent6>
        <a:srgbClr val="F79646"/>
      </a:accent6>
      <a:hlink>
        <a:srgbClr val="0000FF"/>
      </a:hlink>
      <a:folHlink>
        <a:srgbClr val="800080"/>
      </a:folHlink>
    </a:clrScheme>
    <a:fontScheme name="Custom 9">
      <a:majorFont>
        <a:latin typeface="Impact"/>
        <a:ea typeface=""/>
        <a:cs typeface=""/>
      </a:majorFont>
      <a:minorFont>
        <a:latin typeface="Arial"/>
        <a:ea typeface=""/>
        <a:cs typeface=""/>
      </a:minorFont>
    </a:fontScheme>
    <a:fmtScheme name="Crop">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34925" cap="flat" cmpd="sng" algn="in">
          <a:solidFill>
            <a:schemeClr val="phClr"/>
          </a:solidFill>
          <a:prstDash val="solid"/>
        </a:ln>
        <a:ln w="19050" cap="flat" cmpd="sng" algn="in">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3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spDef>
      <a:spPr/>
      <a:bodyPr rtlCol="0" anchor="ctr"/>
      <a:lstStyle>
        <a:defPPr algn="ctr">
          <a:defRPr/>
        </a:defPPr>
      </a:lstStyle>
      <a:style>
        <a:lnRef idx="2">
          <a:schemeClr val="dk1">
            <a:shade val="50000"/>
          </a:schemeClr>
        </a:lnRef>
        <a:fillRef idx="1">
          <a:schemeClr val="dk1"/>
        </a:fillRef>
        <a:effectRef idx="0">
          <a:schemeClr val="dk1"/>
        </a:effectRef>
        <a:fontRef idx="minor">
          <a:schemeClr val="lt1"/>
        </a:fontRef>
      </a:style>
    </a:spDef>
  </a:objectDefaults>
  <a:extraClrSchemeLst/>
  <a:extLst>
    <a:ext uri="{05A4C25C-085E-4340-85A3-A5531E510DB2}">
      <thm15:themeFamily xmlns:thm15="http://schemas.microsoft.com/office/thememl/2012/main" name="TF22874644_Trading cards_AAS_v3" id="{4E496154-558D-4612-A753-0794614ED79B}" vid="{A8FAAD10-755F-4F52-9B7F-8A15476B6C2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1" ma:contentTypeDescription="Create a new document." ma:contentTypeScope="" ma:versionID="96291512c1ee715ab617f4c07df79fc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8256c27c40ca5c40ce1cf6c44f0205df"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04BA817-A03C-4EA3-86C4-6E42BD37F523}">
  <ds:schemaRefs>
    <ds:schemaRef ds:uri="http://schemas.microsoft.com/sharepoint/v3/contenttype/forms"/>
  </ds:schemaRefs>
</ds:datastoreItem>
</file>

<file path=customXml/itemProps2.xml><?xml version="1.0" encoding="utf-8"?>
<ds:datastoreItem xmlns:ds="http://schemas.openxmlformats.org/officeDocument/2006/customXml" ds:itemID="{D0096A91-93C8-4C7A-BF68-944591874A6D}">
  <ds:schemaRefs>
    <ds:schemaRef ds:uri="http://schemas.microsoft.com/office/2006/metadata/properties"/>
    <ds:schemaRef ds:uri="http://purl.org/dc/terms/"/>
    <ds:schemaRef ds:uri="http://purl.org/dc/elements/1.1/"/>
    <ds:schemaRef ds:uri="http://www.w3.org/XML/1998/namespace"/>
    <ds:schemaRef ds:uri="http://schemas.openxmlformats.org/package/2006/metadata/core-properties"/>
    <ds:schemaRef ds:uri="http://purl.org/dc/dcmitype/"/>
    <ds:schemaRef ds:uri="http://schemas.microsoft.com/office/infopath/2007/PartnerControls"/>
    <ds:schemaRef ds:uri="http://schemas.microsoft.com/office/2006/documentManagement/types"/>
    <ds:schemaRef ds:uri="16c05727-aa75-4e4a-9b5f-8a80a1165891"/>
    <ds:schemaRef ds:uri="71af3243-3dd4-4a8d-8c0d-dd76da1f02a5"/>
  </ds:schemaRefs>
</ds:datastoreItem>
</file>

<file path=customXml/itemProps3.xml><?xml version="1.0" encoding="utf-8"?>
<ds:datastoreItem xmlns:ds="http://schemas.openxmlformats.org/officeDocument/2006/customXml" ds:itemID="{19E59094-1E6F-42D5-A62B-D0344AFFFAC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Lab safety</Template>
  <TotalTime>0</TotalTime>
  <Words>8509</Words>
  <Application>Microsoft Office PowerPoint</Application>
  <PresentationFormat>Widescreen</PresentationFormat>
  <Paragraphs>783</Paragraphs>
  <Slides>72</Slides>
  <Notes>0</Notes>
  <HiddenSlides>0</HiddenSlides>
  <MMClips>0</MMClips>
  <ScaleCrop>false</ScaleCrop>
  <HeadingPairs>
    <vt:vector size="6" baseType="variant">
      <vt:variant>
        <vt:lpstr>Fonts Used</vt:lpstr>
      </vt:variant>
      <vt:variant>
        <vt:i4>9</vt:i4>
      </vt:variant>
      <vt:variant>
        <vt:lpstr>Theme</vt:lpstr>
      </vt:variant>
      <vt:variant>
        <vt:i4>2</vt:i4>
      </vt:variant>
      <vt:variant>
        <vt:lpstr>Slide Titles</vt:lpstr>
      </vt:variant>
      <vt:variant>
        <vt:i4>72</vt:i4>
      </vt:variant>
    </vt:vector>
  </HeadingPairs>
  <TitlesOfParts>
    <vt:vector size="83" baseType="lpstr">
      <vt:lpstr>Arial</vt:lpstr>
      <vt:lpstr>Calibri</vt:lpstr>
      <vt:lpstr>Calibri Light</vt:lpstr>
      <vt:lpstr>Franklin Gothic Book</vt:lpstr>
      <vt:lpstr>Impact</vt:lpstr>
      <vt:lpstr>Rockwell</vt:lpstr>
      <vt:lpstr>Segoe UI Emoji</vt:lpstr>
      <vt:lpstr>Tahoma</vt:lpstr>
      <vt:lpstr>Times New Roman</vt:lpstr>
      <vt:lpstr>Office Theme</vt:lpstr>
      <vt:lpstr>Crop</vt:lpstr>
      <vt:lpstr> Bảo mật  Ứng dụng và Hệ thống</vt:lpstr>
      <vt:lpstr>BẢO MẬT ỨNG DỤNG VÀ HỆ THỐNG   CSE702005-1-1-25 (N03)</vt:lpstr>
      <vt:lpstr>BÀI 7: BM HẠ TẦNG MẠNG E-COMMERCE:              VPN - FW - IDS</vt:lpstr>
      <vt:lpstr>7.1. Chức năng và mục đích sử dụng của VPN</vt:lpstr>
      <vt:lpstr>7.1. Chức năng và mục đích sử dụng của VPN</vt:lpstr>
      <vt:lpstr>7.1. Chức năng và mục đích sử dụng của VPN</vt:lpstr>
      <vt:lpstr>7.1. Chức năng và mục đích sử dụng của VPN</vt:lpstr>
      <vt:lpstr>7.1. Chức năng và mục đích sử dụng của VPN</vt:lpstr>
      <vt:lpstr>7.1. Chức năng và mục đích sử dụng của VPN</vt:lpstr>
      <vt:lpstr>7.1. Chức năng và mục đích sử dụng của VPN</vt:lpstr>
      <vt:lpstr>7.1. Chức năng và mục đích sử dụng của VPN</vt:lpstr>
      <vt:lpstr>7.1. Chức năng và mục đích sử dụng của VPN</vt:lpstr>
      <vt:lpstr>7.1. Chức năng và mục đích sử dụng của VPN</vt:lpstr>
      <vt:lpstr>7.2. Chức năng và mục đích sử dụng của FIREWALL</vt:lpstr>
      <vt:lpstr>7.2. Chức năng và mục đích sử dụng của FIREWALL</vt:lpstr>
      <vt:lpstr>7.2. Chức năng và mục đích sử dụng của FIREWALL</vt:lpstr>
      <vt:lpstr>7.2. Chức năng và mục đích sử dụng của FIREWALL</vt:lpstr>
      <vt:lpstr>7.2. Chức năng và mục đích sử dụng của FIREWALL</vt:lpstr>
      <vt:lpstr>7.2. Chức năng và mục đích sử dụng của FIREWALL</vt:lpstr>
      <vt:lpstr>7.2. Chức năng và mục đích sử dụng của FIREWALL</vt:lpstr>
      <vt:lpstr>7.2. Chức năng và mục đích sử dụng của FIREWALL</vt:lpstr>
      <vt:lpstr>7.2. Chức năng và mục đích sử dụng của FIREWALL</vt:lpstr>
      <vt:lpstr>7.2. Chức năng và mục đích sử dụng của FIREWALL</vt:lpstr>
      <vt:lpstr>7.2. Chức năng và mục đích sử dụng của FIREWALL</vt:lpstr>
      <vt:lpstr>7.2. Chức năng và mục đích sử dụng của FIREWALL</vt:lpstr>
      <vt:lpstr>7.2. Chức năng và mục đích sử dụng của FIREWALL</vt:lpstr>
      <vt:lpstr>7.2. Chức năng và mục đích sử dụng của FIREWALL</vt:lpstr>
      <vt:lpstr>7.2. Chức năng và mục đích sử dụng của FIREWALL</vt:lpstr>
      <vt:lpstr>7.2. Chức năng và mục đích sử dụng của FIREWALL</vt:lpstr>
      <vt:lpstr>7.2. Chức năng và mục đích sử dụng của FIREWALL</vt:lpstr>
      <vt:lpstr>7.2. Chức năng và mục đích sử dụng của FIREWALL</vt:lpstr>
      <vt:lpstr>7.3. Chức năng và mục đích sử dụng của IDS</vt:lpstr>
      <vt:lpstr>7.3. Chức năng và mục đích sử dụng của IDS</vt:lpstr>
      <vt:lpstr>7.3. Chức năng và mục đích sử dụng của IDS</vt:lpstr>
      <vt:lpstr>7.3. Chức năng và mục đích sử dụng của IDS</vt:lpstr>
      <vt:lpstr>7.3. Chức năng và mục đích sử dụng của IDS</vt:lpstr>
      <vt:lpstr>7.3. Chức năng và mục đích sử dụng của IDS</vt:lpstr>
      <vt:lpstr>7.3. Chức năng và mục đích sử dụng của IDS</vt:lpstr>
      <vt:lpstr>7.3. Chức năng và mục đích sử dụng của IDS</vt:lpstr>
      <vt:lpstr>7.3. Chức năng và mục đích sử dụng của IDS</vt:lpstr>
      <vt:lpstr>7.3. Chức năng và mục đích sử dụng của IDS</vt:lpstr>
      <vt:lpstr>7.3. Chức năng và mục đích sử dụng của IDS</vt:lpstr>
      <vt:lpstr>7.3. Chức năng và mục đích sử dụng của IDS</vt:lpstr>
      <vt:lpstr>7.3. Chức năng và mục đích sử dụng của IDS</vt:lpstr>
      <vt:lpstr>7.3. Chức năng và mục đích sử dụng của IDS</vt:lpstr>
      <vt:lpstr>7.3. Chức năng và mục đích sử dụng của IDS</vt:lpstr>
      <vt:lpstr>7.3. Chức năng và mục đích sử dụng của IDS</vt:lpstr>
      <vt:lpstr>7.4. Yêu cầu bảo mật đối với hạ tầng mạng E-Commerce </vt:lpstr>
      <vt:lpstr>7.4. Yêu cầu bảo mật đối với hạ tầng mạng E-Commerce </vt:lpstr>
      <vt:lpstr>7.4. Yêu cầu bảo mật đối với hạ tầng mạng E-Commerce </vt:lpstr>
      <vt:lpstr>7.4. Yêu cầu bảo mật đối với hạ tầng mạng E-Commerce </vt:lpstr>
      <vt:lpstr>7.5. Tích hợp VPN – FW – IDS trong mạng E-Commerce</vt:lpstr>
      <vt:lpstr>7.5. Tích hợp VPN – FW – IDS trong mạng E-Commerce</vt:lpstr>
      <vt:lpstr>7.5. Tích hợp VPN – FW – IDS trong mạng E-Commerce</vt:lpstr>
      <vt:lpstr>7.5. Tích hợp VPN – FW – IDS trong mạng E-Commerce</vt:lpstr>
      <vt:lpstr>7.6. Chính sách bảo mật hạ tầng mạng E-Commerce  </vt:lpstr>
      <vt:lpstr>7.6. Chính sách bảo mật hạ tầng mạng E-Commerce  </vt:lpstr>
      <vt:lpstr>7.6. Chính sách bảo mật hạ tầng mạng E-Commerce  </vt:lpstr>
      <vt:lpstr>7.6. Chính sách bảo mật hạ tầng mạng E-Commerce  </vt:lpstr>
      <vt:lpstr>7.6. Chính sách bảo mật hạ tầng mạng E-Commerce  </vt:lpstr>
      <vt:lpstr>7.7. Thảo luận </vt:lpstr>
      <vt:lpstr>7.7. Thảo luận </vt:lpstr>
      <vt:lpstr>7.7. Thảo luận </vt:lpstr>
      <vt:lpstr>7.7. Thảo luận </vt:lpstr>
      <vt:lpstr>7.7. Thảo luận </vt:lpstr>
      <vt:lpstr>7.7. Thảo luận </vt:lpstr>
      <vt:lpstr>7.7. Thảo luận </vt:lpstr>
      <vt:lpstr>7.7. Thảo luận </vt:lpstr>
      <vt:lpstr>7.7. Thảo luận </vt:lpstr>
      <vt:lpstr>7.7. Thảo luận </vt:lpstr>
      <vt:lpstr>Những nội dung cần lưu ý:</vt:lpstr>
      <vt:lpstr>Những nội dung cần lưu ý:</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2025-08-05T15:12:50Z</dcterms:created>
  <dcterms:modified xsi:type="dcterms:W3CDTF">2025-09-06T15:16:07Z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