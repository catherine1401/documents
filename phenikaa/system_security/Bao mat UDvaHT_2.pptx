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 id="2147483658" r:id="rId5"/>
  </p:sldMasterIdLst>
  <p:notesMasterIdLst>
    <p:notesMasterId r:id="rId58"/>
  </p:notesMasterIdLst>
  <p:sldIdLst>
    <p:sldId id="256" r:id="rId6"/>
    <p:sldId id="257" r:id="rId7"/>
    <p:sldId id="261" r:id="rId8"/>
    <p:sldId id="264" r:id="rId9"/>
    <p:sldId id="265" r:id="rId10"/>
    <p:sldId id="266" r:id="rId11"/>
    <p:sldId id="267" r:id="rId12"/>
    <p:sldId id="308" r:id="rId13"/>
    <p:sldId id="268" r:id="rId14"/>
    <p:sldId id="269" r:id="rId15"/>
    <p:sldId id="309" r:id="rId16"/>
    <p:sldId id="273" r:id="rId17"/>
    <p:sldId id="310" r:id="rId18"/>
    <p:sldId id="274" r:id="rId19"/>
    <p:sldId id="275" r:id="rId20"/>
    <p:sldId id="276" r:id="rId21"/>
    <p:sldId id="277" r:id="rId22"/>
    <p:sldId id="278" r:id="rId23"/>
    <p:sldId id="279" r:id="rId24"/>
    <p:sldId id="280" r:id="rId25"/>
    <p:sldId id="281" r:id="rId26"/>
    <p:sldId id="282" r:id="rId27"/>
    <p:sldId id="311" r:id="rId28"/>
    <p:sldId id="283" r:id="rId29"/>
    <p:sldId id="284" r:id="rId30"/>
    <p:sldId id="270" r:id="rId31"/>
    <p:sldId id="285" r:id="rId32"/>
    <p:sldId id="286" r:id="rId33"/>
    <p:sldId id="287" r:id="rId34"/>
    <p:sldId id="288" r:id="rId35"/>
    <p:sldId id="271" r:id="rId36"/>
    <p:sldId id="289" r:id="rId37"/>
    <p:sldId id="290" r:id="rId38"/>
    <p:sldId id="291" r:id="rId39"/>
    <p:sldId id="292" r:id="rId40"/>
    <p:sldId id="293" r:id="rId41"/>
    <p:sldId id="294" r:id="rId42"/>
    <p:sldId id="295" r:id="rId43"/>
    <p:sldId id="296" r:id="rId44"/>
    <p:sldId id="297" r:id="rId45"/>
    <p:sldId id="272" r:id="rId46"/>
    <p:sldId id="298" r:id="rId47"/>
    <p:sldId id="299" r:id="rId48"/>
    <p:sldId id="300" r:id="rId49"/>
    <p:sldId id="301" r:id="rId50"/>
    <p:sldId id="302" r:id="rId51"/>
    <p:sldId id="303" r:id="rId52"/>
    <p:sldId id="304" r:id="rId53"/>
    <p:sldId id="305" r:id="rId54"/>
    <p:sldId id="306" r:id="rId55"/>
    <p:sldId id="307" r:id="rId56"/>
    <p:sldId id="263"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CC"/>
    <a:srgbClr val="260A8E"/>
    <a:srgbClr val="FFD3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3184" autoAdjust="0"/>
  </p:normalViewPr>
  <p:slideViewPr>
    <p:cSldViewPr snapToGrid="0">
      <p:cViewPr varScale="1">
        <p:scale>
          <a:sx n="70" d="100"/>
          <a:sy n="70" d="100"/>
        </p:scale>
        <p:origin x="66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theme" Target="theme/theme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9B0E6-B9BF-4E2D-AE08-8C7EBB196A2E}" type="datetimeFigureOut">
              <a:rPr lang="en-US" smtClean="0"/>
              <a:t>9/1/2025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53816F-A1CF-4485-B308-1B9F14B36EAD}" type="slidenum">
              <a:rPr lang="en-US" smtClean="0"/>
              <a:t>‹#›</a:t>
            </a:fld>
            <a:endParaRPr lang="en-US"/>
          </a:p>
        </p:txBody>
      </p:sp>
    </p:spTree>
    <p:extLst>
      <p:ext uri="{BB962C8B-B14F-4D97-AF65-F5344CB8AC3E}">
        <p14:creationId xmlns:p14="http://schemas.microsoft.com/office/powerpoint/2010/main" val="1726839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0C5E7-B1A1-4648-89D2-17B0F1E7F5B3}"/>
              </a:ext>
            </a:extLst>
          </p:cNvPr>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a:extLst>
              <a:ext uri="{FF2B5EF4-FFF2-40B4-BE49-F238E27FC236}">
                <a16:creationId xmlns:a16="http://schemas.microsoft.com/office/drawing/2014/main" id="{5D140298-3E00-4E73-B947-697E692828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a:extLst>
              <a:ext uri="{FF2B5EF4-FFF2-40B4-BE49-F238E27FC236}">
                <a16:creationId xmlns:a16="http://schemas.microsoft.com/office/drawing/2014/main" id="{A6BB99EB-0E86-4FEA-A9C4-501D4E755A2B}"/>
              </a:ext>
            </a:extLst>
          </p:cNvPr>
          <p:cNvSpPr>
            <a:spLocks noGrp="1"/>
          </p:cNvSpPr>
          <p:nvPr>
            <p:ph type="dt" sz="half" idx="10"/>
          </p:nvPr>
        </p:nvSpPr>
        <p:spPr/>
        <p:txBody>
          <a:bodyPr/>
          <a:lstStyle/>
          <a:p>
            <a:fld id="{3133F5E9-5DAC-4C4A-9DF5-C2B87276BCC8}" type="datetimeFigureOut">
              <a:rPr lang="en-US" smtClean="0"/>
              <a:t>9/1/2025</a:t>
            </a:fld>
            <a:endParaRPr lang="en-US" dirty="0"/>
          </a:p>
        </p:txBody>
      </p:sp>
      <p:sp>
        <p:nvSpPr>
          <p:cNvPr id="5" name="Footer Placeholder 4">
            <a:extLst>
              <a:ext uri="{FF2B5EF4-FFF2-40B4-BE49-F238E27FC236}">
                <a16:creationId xmlns:a16="http://schemas.microsoft.com/office/drawing/2014/main" id="{6731F536-58DF-4935-AE3B-7A08C03124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995127-BE30-42B7-9BE5-B83CC6A2E685}"/>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009751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AE108-9C7F-4CDC-AD71-B576580A199F}"/>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5A103746-779A-435F-995A-5BF82C86C297}"/>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5984E866-B322-455F-AC32-8C164B8CD9C7}"/>
              </a:ext>
            </a:extLst>
          </p:cNvPr>
          <p:cNvSpPr>
            <a:spLocks noGrp="1"/>
          </p:cNvSpPr>
          <p:nvPr>
            <p:ph type="dt" sz="half" idx="10"/>
          </p:nvPr>
        </p:nvSpPr>
        <p:spPr/>
        <p:txBody>
          <a:bodyPr/>
          <a:lstStyle/>
          <a:p>
            <a:fld id="{3133F5E9-5DAC-4C4A-9DF5-C2B87276BCC8}" type="datetimeFigureOut">
              <a:rPr lang="en-US" smtClean="0"/>
              <a:t>9/1/2025</a:t>
            </a:fld>
            <a:endParaRPr lang="en-US" dirty="0"/>
          </a:p>
        </p:txBody>
      </p:sp>
      <p:sp>
        <p:nvSpPr>
          <p:cNvPr id="5" name="Footer Placeholder 4">
            <a:extLst>
              <a:ext uri="{FF2B5EF4-FFF2-40B4-BE49-F238E27FC236}">
                <a16:creationId xmlns:a16="http://schemas.microsoft.com/office/drawing/2014/main" id="{AC0D61E0-F80F-48E7-A817-F1CECBEE9A3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BF34AFC-4299-43F1-A312-79EF0102CEFF}"/>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552746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E1D3E-E4B6-4EAA-BFB4-25A0557A6CB8}"/>
              </a:ext>
            </a:extLst>
          </p:cNvPr>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6F7E0856-45A8-4EAD-A9D6-8A993968A1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a:extLst>
              <a:ext uri="{FF2B5EF4-FFF2-40B4-BE49-F238E27FC236}">
                <a16:creationId xmlns:a16="http://schemas.microsoft.com/office/drawing/2014/main" id="{E90EEBE1-2BAF-4C94-8403-6E8454F9BC46}"/>
              </a:ext>
            </a:extLst>
          </p:cNvPr>
          <p:cNvSpPr>
            <a:spLocks noGrp="1"/>
          </p:cNvSpPr>
          <p:nvPr>
            <p:ph type="dt" sz="half" idx="10"/>
          </p:nvPr>
        </p:nvSpPr>
        <p:spPr/>
        <p:txBody>
          <a:bodyPr/>
          <a:lstStyle/>
          <a:p>
            <a:fld id="{3133F5E9-5DAC-4C4A-9DF5-C2B87276BCC8}" type="datetimeFigureOut">
              <a:rPr lang="en-US" smtClean="0"/>
              <a:t>9/1/2025</a:t>
            </a:fld>
            <a:endParaRPr lang="en-US" dirty="0"/>
          </a:p>
        </p:txBody>
      </p:sp>
      <p:sp>
        <p:nvSpPr>
          <p:cNvPr id="5" name="Footer Placeholder 4">
            <a:extLst>
              <a:ext uri="{FF2B5EF4-FFF2-40B4-BE49-F238E27FC236}">
                <a16:creationId xmlns:a16="http://schemas.microsoft.com/office/drawing/2014/main" id="{F3358F46-E931-4D79-94A5-037AFD07333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5130D95-EF5F-4A0A-93BD-73AEE2C2FF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601256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ABEC0-6253-4360-B586-B9D20933DE37}"/>
              </a:ext>
            </a:extLst>
          </p:cNvPr>
          <p:cNvSpPr>
            <a:spLocks noGrp="1"/>
          </p:cNvSpPr>
          <p:nvPr>
            <p:ph type="title"/>
          </p:nvPr>
        </p:nvSpPr>
        <p:spPr/>
        <p:txBody>
          <a:body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A946E20B-8661-4C60-84FB-4892E8B48608}"/>
              </a:ext>
            </a:extLst>
          </p:cNvPr>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a:extLst>
              <a:ext uri="{FF2B5EF4-FFF2-40B4-BE49-F238E27FC236}">
                <a16:creationId xmlns:a16="http://schemas.microsoft.com/office/drawing/2014/main" id="{5132BE45-79E4-479B-BD2F-46CCB0BEE628}"/>
              </a:ext>
            </a:extLst>
          </p:cNvPr>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a:extLst>
              <a:ext uri="{FF2B5EF4-FFF2-40B4-BE49-F238E27FC236}">
                <a16:creationId xmlns:a16="http://schemas.microsoft.com/office/drawing/2014/main" id="{0589105E-DF25-4F38-BDE2-9B00C2C44FC6}"/>
              </a:ext>
            </a:extLst>
          </p:cNvPr>
          <p:cNvSpPr>
            <a:spLocks noGrp="1"/>
          </p:cNvSpPr>
          <p:nvPr>
            <p:ph type="dt" sz="half" idx="10"/>
          </p:nvPr>
        </p:nvSpPr>
        <p:spPr/>
        <p:txBody>
          <a:bodyPr/>
          <a:lstStyle/>
          <a:p>
            <a:fld id="{3133F5E9-5DAC-4C4A-9DF5-C2B87276BCC8}" type="datetimeFigureOut">
              <a:rPr lang="en-US" smtClean="0"/>
              <a:t>9/1/2025</a:t>
            </a:fld>
            <a:endParaRPr lang="en-US" dirty="0"/>
          </a:p>
        </p:txBody>
      </p:sp>
      <p:sp>
        <p:nvSpPr>
          <p:cNvPr id="6" name="Footer Placeholder 5">
            <a:extLst>
              <a:ext uri="{FF2B5EF4-FFF2-40B4-BE49-F238E27FC236}">
                <a16:creationId xmlns:a16="http://schemas.microsoft.com/office/drawing/2014/main" id="{B1D9C4A8-7467-4BAD-98A2-0B63CAC19B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BC5C5C0-08E4-4F7B-9E80-8925539D221B}"/>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2438407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FF641-A5CC-4263-A394-2112D623A8AD}"/>
              </a:ext>
            </a:extLst>
          </p:cNvPr>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B24D6865-C632-473C-AEC8-8D3F71562B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a:extLst>
              <a:ext uri="{FF2B5EF4-FFF2-40B4-BE49-F238E27FC236}">
                <a16:creationId xmlns:a16="http://schemas.microsoft.com/office/drawing/2014/main" id="{D9FDBD19-4D33-4F6A-9938-6A04B3888ECC}"/>
              </a:ext>
            </a:extLst>
          </p:cNvPr>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a:extLst>
              <a:ext uri="{FF2B5EF4-FFF2-40B4-BE49-F238E27FC236}">
                <a16:creationId xmlns:a16="http://schemas.microsoft.com/office/drawing/2014/main" id="{51697E46-CE4D-480E-A997-2B53B2DF55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a:extLst>
              <a:ext uri="{FF2B5EF4-FFF2-40B4-BE49-F238E27FC236}">
                <a16:creationId xmlns:a16="http://schemas.microsoft.com/office/drawing/2014/main" id="{8B8B7E36-823F-4FD4-B826-E450A1248008}"/>
              </a:ext>
            </a:extLst>
          </p:cNvPr>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a:extLst>
              <a:ext uri="{FF2B5EF4-FFF2-40B4-BE49-F238E27FC236}">
                <a16:creationId xmlns:a16="http://schemas.microsoft.com/office/drawing/2014/main" id="{8DBB3B14-C886-4F84-9FD5-11C8320E1FED}"/>
              </a:ext>
            </a:extLst>
          </p:cNvPr>
          <p:cNvSpPr>
            <a:spLocks noGrp="1"/>
          </p:cNvSpPr>
          <p:nvPr>
            <p:ph type="dt" sz="half" idx="10"/>
          </p:nvPr>
        </p:nvSpPr>
        <p:spPr/>
        <p:txBody>
          <a:bodyPr/>
          <a:lstStyle/>
          <a:p>
            <a:fld id="{3133F5E9-5DAC-4C4A-9DF5-C2B87276BCC8}" type="datetimeFigureOut">
              <a:rPr lang="en-US" smtClean="0"/>
              <a:t>9/1/2025</a:t>
            </a:fld>
            <a:endParaRPr lang="en-US" dirty="0"/>
          </a:p>
        </p:txBody>
      </p:sp>
      <p:sp>
        <p:nvSpPr>
          <p:cNvPr id="8" name="Footer Placeholder 7">
            <a:extLst>
              <a:ext uri="{FF2B5EF4-FFF2-40B4-BE49-F238E27FC236}">
                <a16:creationId xmlns:a16="http://schemas.microsoft.com/office/drawing/2014/main" id="{DF9AF591-4BBF-4BF2-9EF7-F8B114DFA16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352B1A04-B244-4AE3-8997-9B075B10597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1104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408F1-BB29-4C6F-91C9-653A730BECC6}"/>
              </a:ext>
            </a:extLst>
          </p:cNvPr>
          <p:cNvSpPr>
            <a:spLocks noGrp="1"/>
          </p:cNvSpPr>
          <p:nvPr>
            <p:ph type="title"/>
          </p:nvPr>
        </p:nvSpPr>
        <p:spPr/>
        <p:txBody>
          <a:bodyPr/>
          <a:lstStyle/>
          <a:p>
            <a:r>
              <a:rPr lang="en-US" smtClean="0"/>
              <a:t>Click to edit Master title style</a:t>
            </a:r>
            <a:endParaRPr lang="en-US"/>
          </a:p>
        </p:txBody>
      </p:sp>
      <p:sp>
        <p:nvSpPr>
          <p:cNvPr id="3" name="Date Placeholder 2">
            <a:extLst>
              <a:ext uri="{FF2B5EF4-FFF2-40B4-BE49-F238E27FC236}">
                <a16:creationId xmlns:a16="http://schemas.microsoft.com/office/drawing/2014/main" id="{2F54FEF9-8D09-4091-BE99-B6264EBD34B3}"/>
              </a:ext>
            </a:extLst>
          </p:cNvPr>
          <p:cNvSpPr>
            <a:spLocks noGrp="1"/>
          </p:cNvSpPr>
          <p:nvPr>
            <p:ph type="dt" sz="half" idx="10"/>
          </p:nvPr>
        </p:nvSpPr>
        <p:spPr/>
        <p:txBody>
          <a:bodyPr/>
          <a:lstStyle/>
          <a:p>
            <a:fld id="{3133F5E9-5DAC-4C4A-9DF5-C2B87276BCC8}" type="datetimeFigureOut">
              <a:rPr lang="en-US" smtClean="0"/>
              <a:t>9/1/2025</a:t>
            </a:fld>
            <a:endParaRPr lang="en-US" dirty="0"/>
          </a:p>
        </p:txBody>
      </p:sp>
      <p:sp>
        <p:nvSpPr>
          <p:cNvPr id="4" name="Footer Placeholder 3">
            <a:extLst>
              <a:ext uri="{FF2B5EF4-FFF2-40B4-BE49-F238E27FC236}">
                <a16:creationId xmlns:a16="http://schemas.microsoft.com/office/drawing/2014/main" id="{0B5F49AA-83D5-4063-9CDE-AA7763048B6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B2A2B27C-3C99-4208-B425-775413C53651}"/>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6140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2A62B2-A6D1-4A6F-8B20-80606F478544}"/>
              </a:ext>
            </a:extLst>
          </p:cNvPr>
          <p:cNvSpPr>
            <a:spLocks noGrp="1"/>
          </p:cNvSpPr>
          <p:nvPr>
            <p:ph type="dt" sz="half" idx="10"/>
          </p:nvPr>
        </p:nvSpPr>
        <p:spPr/>
        <p:txBody>
          <a:bodyPr/>
          <a:lstStyle/>
          <a:p>
            <a:fld id="{3133F5E9-5DAC-4C4A-9DF5-C2B87276BCC8}" type="datetimeFigureOut">
              <a:rPr lang="en-US" smtClean="0"/>
              <a:t>9/1/2025</a:t>
            </a:fld>
            <a:endParaRPr lang="en-US" dirty="0"/>
          </a:p>
        </p:txBody>
      </p:sp>
      <p:sp>
        <p:nvSpPr>
          <p:cNvPr id="3" name="Footer Placeholder 2">
            <a:extLst>
              <a:ext uri="{FF2B5EF4-FFF2-40B4-BE49-F238E27FC236}">
                <a16:creationId xmlns:a16="http://schemas.microsoft.com/office/drawing/2014/main" id="{C02E4958-7A46-4331-B2D8-2C31D8FCBD7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45C8548B-339B-46B2-BF01-1EE3DDC72AA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914661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F408F-8083-4F07-9628-074C7AFE41C0}"/>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a:extLst>
              <a:ext uri="{FF2B5EF4-FFF2-40B4-BE49-F238E27FC236}">
                <a16:creationId xmlns:a16="http://schemas.microsoft.com/office/drawing/2014/main" id="{B70477E0-A333-439D-A531-30B39A8134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a:extLst>
              <a:ext uri="{FF2B5EF4-FFF2-40B4-BE49-F238E27FC236}">
                <a16:creationId xmlns:a16="http://schemas.microsoft.com/office/drawing/2014/main" id="{D5D59501-D187-414C-AACE-F838720036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1235F890-BB8A-49E1-880A-924FD6FE4026}"/>
              </a:ext>
            </a:extLst>
          </p:cNvPr>
          <p:cNvSpPr>
            <a:spLocks noGrp="1"/>
          </p:cNvSpPr>
          <p:nvPr>
            <p:ph type="dt" sz="half" idx="10"/>
          </p:nvPr>
        </p:nvSpPr>
        <p:spPr/>
        <p:txBody>
          <a:bodyPr/>
          <a:lstStyle/>
          <a:p>
            <a:fld id="{3133F5E9-5DAC-4C4A-9DF5-C2B87276BCC8}" type="datetimeFigureOut">
              <a:rPr lang="en-US" smtClean="0"/>
              <a:t>9/1/2025</a:t>
            </a:fld>
            <a:endParaRPr lang="en-US" dirty="0"/>
          </a:p>
        </p:txBody>
      </p:sp>
      <p:sp>
        <p:nvSpPr>
          <p:cNvPr id="6" name="Footer Placeholder 5">
            <a:extLst>
              <a:ext uri="{FF2B5EF4-FFF2-40B4-BE49-F238E27FC236}">
                <a16:creationId xmlns:a16="http://schemas.microsoft.com/office/drawing/2014/main" id="{51CA38FE-429A-41E7-942D-ECCE639D3CA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401D9BC-0038-4041-AE2C-657BF99D41E9}"/>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128756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56CFD-7F35-482C-A50F-B3D43ACB0AE3}"/>
              </a:ext>
            </a:extLst>
          </p:cNvPr>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a:extLst>
              <a:ext uri="{FF2B5EF4-FFF2-40B4-BE49-F238E27FC236}">
                <a16:creationId xmlns:a16="http://schemas.microsoft.com/office/drawing/2014/main" id="{7FD7F3EF-0FE9-46C4-A116-5DA6E26B0D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a:extLst>
              <a:ext uri="{FF2B5EF4-FFF2-40B4-BE49-F238E27FC236}">
                <a16:creationId xmlns:a16="http://schemas.microsoft.com/office/drawing/2014/main" id="{D10B4041-0F17-42D8-AF16-AB099A39FF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a:extLst>
              <a:ext uri="{FF2B5EF4-FFF2-40B4-BE49-F238E27FC236}">
                <a16:creationId xmlns:a16="http://schemas.microsoft.com/office/drawing/2014/main" id="{8BAF67FF-F8F1-4B22-A471-9317ED3A25F0}"/>
              </a:ext>
            </a:extLst>
          </p:cNvPr>
          <p:cNvSpPr>
            <a:spLocks noGrp="1"/>
          </p:cNvSpPr>
          <p:nvPr>
            <p:ph type="dt" sz="half" idx="10"/>
          </p:nvPr>
        </p:nvSpPr>
        <p:spPr/>
        <p:txBody>
          <a:bodyPr/>
          <a:lstStyle/>
          <a:p>
            <a:fld id="{3133F5E9-5DAC-4C4A-9DF5-C2B87276BCC8}" type="datetimeFigureOut">
              <a:rPr lang="en-US" smtClean="0"/>
              <a:t>9/1/2025</a:t>
            </a:fld>
            <a:endParaRPr lang="en-US" dirty="0"/>
          </a:p>
        </p:txBody>
      </p:sp>
      <p:sp>
        <p:nvSpPr>
          <p:cNvPr id="6" name="Footer Placeholder 5">
            <a:extLst>
              <a:ext uri="{FF2B5EF4-FFF2-40B4-BE49-F238E27FC236}">
                <a16:creationId xmlns:a16="http://schemas.microsoft.com/office/drawing/2014/main" id="{A73D6993-98F8-4234-B24A-02D4DB41CE9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2A34037-0E7D-4379-ACA0-98611B2F76ED}"/>
              </a:ext>
            </a:extLst>
          </p:cNvPr>
          <p:cNvSpPr>
            <a:spLocks noGrp="1"/>
          </p:cNvSpPr>
          <p:nvPr>
            <p:ph type="sldNum" sz="quarter" idx="12"/>
          </p:nvPr>
        </p:nvSpPr>
        <p:spPr/>
        <p:txBody>
          <a:bodyPr/>
          <a:lstStyle/>
          <a:p>
            <a:fld id="{ACEC5C30-0B3A-4B13-ADDD-7C63C8AA921B}" type="slidenum">
              <a:rPr lang="en-US" smtClean="0"/>
              <a:t>‹#›</a:t>
            </a:fld>
            <a:endParaRPr lang="en-US" dirty="0"/>
          </a:p>
        </p:txBody>
      </p:sp>
    </p:spTree>
    <p:extLst>
      <p:ext uri="{BB962C8B-B14F-4D97-AF65-F5344CB8AC3E}">
        <p14:creationId xmlns:p14="http://schemas.microsoft.com/office/powerpoint/2010/main" val="3939197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915128" y="1397977"/>
            <a:ext cx="8361229" cy="3007447"/>
          </a:xfrm>
        </p:spPr>
        <p:txBody>
          <a:bodyPr anchor="ctr" anchorCtr="0">
            <a:noAutofit/>
          </a:bodyPr>
          <a:lstStyle>
            <a:lvl1pPr algn="ctr">
              <a:defRPr sz="6600" cap="none" baseline="0">
                <a:solidFill>
                  <a:schemeClr val="tx2"/>
                </a:solidFill>
              </a:defRPr>
            </a:lvl1pPr>
          </a:lstStyle>
          <a:p>
            <a:r>
              <a:rPr lang="en-US" noProof="0"/>
              <a:t>Click To Edit Master Title Style</a:t>
            </a:r>
          </a:p>
        </p:txBody>
      </p:sp>
      <p:sp>
        <p:nvSpPr>
          <p:cNvPr id="3" name="Subtitle 2"/>
          <p:cNvSpPr>
            <a:spLocks noGrp="1"/>
          </p:cNvSpPr>
          <p:nvPr>
            <p:ph type="subTitle" idx="1"/>
          </p:nvPr>
        </p:nvSpPr>
        <p:spPr>
          <a:xfrm>
            <a:off x="2679906" y="4475023"/>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9/1/2025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79965FD7-DA9A-4AFB-B8C8-34AC1FEE9F72}"/>
              </a:ext>
            </a:extLst>
          </p:cNvPr>
          <p:cNvSpPr/>
          <p:nvPr userDrawn="1"/>
        </p:nvSpPr>
        <p:spPr>
          <a:xfrm flipV="1">
            <a:off x="887674" y="726883"/>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5" name="L-Shape 14">
            <a:extLst>
              <a:ext uri="{FF2B5EF4-FFF2-40B4-BE49-F238E27FC236}">
                <a16:creationId xmlns:a16="http://schemas.microsoft.com/office/drawing/2014/main" id="{92465177-72B9-4DCF-8F98-0C79F3EE32EC}"/>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4408489"/>
          </a:xfrm>
          <a:prstGeom prst="corner">
            <a:avLst>
              <a:gd name="adj1" fmla="val 6149"/>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8" y="1685652"/>
            <a:ext cx="3152309" cy="4408489"/>
          </a:xfrm>
          <a:prstGeom prst="corner">
            <a:avLst>
              <a:gd name="adj1" fmla="val 6773"/>
              <a:gd name="adj2" fmla="val 6814"/>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23397854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Title Slide Second Option">
    <p:bg bwMode="grayWhite">
      <p:bgPr>
        <a:gradFill flip="none" rotWithShape="1">
          <a:gsLst>
            <a:gs pos="0">
              <a:schemeClr val="tx2">
                <a:lumMod val="50000"/>
              </a:schemeClr>
            </a:gs>
            <a:gs pos="34000">
              <a:schemeClr val="tx2"/>
            </a:gs>
            <a:gs pos="66000">
              <a:schemeClr val="tx2">
                <a:lumMod val="75000"/>
              </a:schemeClr>
            </a:gs>
            <a:gs pos="97000">
              <a:schemeClr val="tx2">
                <a:lumMod val="50000"/>
              </a:schemeClr>
            </a:gs>
          </a:gsLst>
          <a:lin ang="2700000" scaled="1"/>
          <a:tileRect/>
        </a:gradFill>
        <a:effectLst/>
      </p:bgPr>
    </p:bg>
    <p:spTree>
      <p:nvGrpSpPr>
        <p:cNvPr id="1" name=""/>
        <p:cNvGrpSpPr/>
        <p:nvPr/>
      </p:nvGrpSpPr>
      <p:grpSpPr>
        <a:xfrm>
          <a:off x="0" y="0"/>
          <a:ext cx="0" cy="0"/>
          <a:chOff x="0" y="0"/>
          <a:chExt cx="0" cy="0"/>
        </a:xfrm>
      </p:grpSpPr>
      <p:sp>
        <p:nvSpPr>
          <p:cNvPr id="10" name="L-Shape 9">
            <a:extLst>
              <a:ext uri="{FF2B5EF4-FFF2-40B4-BE49-F238E27FC236}">
                <a16:creationId xmlns:a16="http://schemas.microsoft.com/office/drawing/2014/main" id="{13412040-642F-40C5-8AB5-C0E8D41B481B}"/>
              </a:ext>
            </a:extLst>
          </p:cNvPr>
          <p:cNvSpPr/>
          <p:nvPr userDrawn="1"/>
        </p:nvSpPr>
        <p:spPr>
          <a:xfrm flipV="1">
            <a:off x="870090" y="709300"/>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9" name="Rectangle 8" title="Side bar">
            <a:extLst>
              <a:ext uri="{FF2B5EF4-FFF2-40B4-BE49-F238E27FC236}">
                <a16:creationId xmlns:a16="http://schemas.microsoft.com/office/drawing/2014/main" id="{BADD331D-DA8D-4D47-A2BB-F4875FDB16A4}"/>
              </a:ext>
            </a:extLst>
          </p:cNvPr>
          <p:cNvSpPr/>
          <p:nvPr userDrawn="1"/>
        </p:nvSpPr>
        <p:spPr>
          <a:xfrm rot="5400000">
            <a:off x="5791174" y="457175"/>
            <a:ext cx="609651" cy="1219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hasCustomPrompt="1"/>
          </p:nvPr>
        </p:nvSpPr>
        <p:spPr>
          <a:xfrm>
            <a:off x="1397977" y="1151796"/>
            <a:ext cx="9504485" cy="3007447"/>
          </a:xfrm>
        </p:spPr>
        <p:txBody>
          <a:bodyPr anchor="ctr" anchorCtr="0">
            <a:noAutofit/>
          </a:bodyPr>
          <a:lstStyle>
            <a:lvl1pPr algn="ctr">
              <a:defRPr sz="6600" cap="none" baseline="0">
                <a:solidFill>
                  <a:schemeClr val="bg1"/>
                </a:solidFill>
              </a:defRPr>
            </a:lvl1pPr>
          </a:lstStyle>
          <a:p>
            <a:r>
              <a:rPr lang="en-US" noProof="0"/>
              <a:t>Click To Edit Master Title Style</a:t>
            </a:r>
          </a:p>
        </p:txBody>
      </p:sp>
      <p:sp>
        <p:nvSpPr>
          <p:cNvPr id="3" name="Subtitle 2"/>
          <p:cNvSpPr>
            <a:spLocks noGrp="1"/>
          </p:cNvSpPr>
          <p:nvPr>
            <p:ph type="subTitle" idx="1"/>
          </p:nvPr>
        </p:nvSpPr>
        <p:spPr>
          <a:xfrm>
            <a:off x="1397977" y="4897053"/>
            <a:ext cx="9504485" cy="1086237"/>
          </a:xfrm>
        </p:spPr>
        <p:txBody>
          <a:bodyPr>
            <a:normAutofit/>
          </a:bodyPr>
          <a:lstStyle>
            <a:lvl1pPr marL="0" indent="0" algn="ctr">
              <a:lnSpc>
                <a:spcPct val="112000"/>
              </a:lnSpc>
              <a:spcBef>
                <a:spcPts val="0"/>
              </a:spcBef>
              <a:spcAft>
                <a:spcPts val="0"/>
              </a:spcAft>
              <a:buNone/>
              <a:defRPr sz="23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9/1/2025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bg1"/>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bg1"/>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11" name="L-Shape 10">
            <a:extLst>
              <a:ext uri="{FF2B5EF4-FFF2-40B4-BE49-F238E27FC236}">
                <a16:creationId xmlns:a16="http://schemas.microsoft.com/office/drawing/2014/main" id="{68D376A1-CC76-4C90-B2CF-F89EA13E7942}"/>
              </a:ext>
            </a:extLst>
          </p:cNvPr>
          <p:cNvSpPr/>
          <p:nvPr userDrawn="1"/>
        </p:nvSpPr>
        <p:spPr>
          <a:xfrm rot="10800000" flipV="1">
            <a:off x="8549910" y="1820273"/>
            <a:ext cx="2772000" cy="2772000"/>
          </a:xfrm>
          <a:prstGeom prst="corner">
            <a:avLst>
              <a:gd name="adj1" fmla="val 7397"/>
              <a:gd name="adj2" fmla="val 7750"/>
            </a:avLst>
          </a:prstGeom>
          <a:solidFill>
            <a:schemeClr val="bg2"/>
          </a:solidFill>
          <a:ln>
            <a:solidFill>
              <a:schemeClr val="bg2"/>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B5516E7A-AEB0-4772-8098-8B0F8B5F1126}"/>
              </a:ext>
            </a:extLst>
          </p:cNvPr>
          <p:cNvSpPr/>
          <p:nvPr userDrawn="1"/>
        </p:nvSpPr>
        <p:spPr>
          <a:xfrm flipV="1">
            <a:off x="752858" y="609652"/>
            <a:ext cx="3152309" cy="3007448"/>
          </a:xfrm>
          <a:prstGeom prst="corner">
            <a:avLst>
              <a:gd name="adj1" fmla="val 6089"/>
              <a:gd name="adj2" fmla="val 6769"/>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2" name="L-Shape 11">
            <a:extLst>
              <a:ext uri="{FF2B5EF4-FFF2-40B4-BE49-F238E27FC236}">
                <a16:creationId xmlns:a16="http://schemas.microsoft.com/office/drawing/2014/main" id="{E864F603-D3F0-4241-9005-3F6C3BD62BEF}"/>
              </a:ext>
            </a:extLst>
          </p:cNvPr>
          <p:cNvSpPr/>
          <p:nvPr userDrawn="1"/>
        </p:nvSpPr>
        <p:spPr>
          <a:xfrm flipH="1">
            <a:off x="8286317" y="1685653"/>
            <a:ext cx="3152309" cy="3007448"/>
          </a:xfrm>
          <a:prstGeom prst="corner">
            <a:avLst>
              <a:gd name="adj1" fmla="val 6089"/>
              <a:gd name="adj2" fmla="val 6442"/>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315900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720213"/>
          </a:xfrm>
        </p:spPr>
        <p:txBody>
          <a:bodyPr>
            <a:noAutofit/>
          </a:bodyPr>
          <a:lstStyle>
            <a:lvl1pPr>
              <a:defRPr sz="4800"/>
            </a:lvl1pPr>
          </a:lstStyle>
          <a:p>
            <a:r>
              <a:rPr lang="en-US" noProof="0"/>
              <a:t>Click To Edit Master Title Style</a:t>
            </a:r>
          </a:p>
        </p:txBody>
      </p:sp>
      <p:sp>
        <p:nvSpPr>
          <p:cNvPr id="3" name="Content Placeholder 2"/>
          <p:cNvSpPr>
            <a:spLocks noGrp="1"/>
          </p:cNvSpPr>
          <p:nvPr>
            <p:ph idx="1"/>
          </p:nvPr>
        </p:nvSpPr>
        <p:spPr>
          <a:xfrm>
            <a:off x="1371600" y="1484671"/>
            <a:ext cx="9601200" cy="4382729"/>
          </a:xfrm>
        </p:spPr>
        <p:txBody>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9/1/2025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7" name="Straight Connector 6">
            <a:extLst>
              <a:ext uri="{FF2B5EF4-FFF2-40B4-BE49-F238E27FC236}">
                <a16:creationId xmlns:a16="http://schemas.microsoft.com/office/drawing/2014/main" id="{CBEFB83C-E1EC-41AC-BFF6-9D094E2D43C6}"/>
              </a:ext>
            </a:extLst>
          </p:cNvPr>
          <p:cNvCxnSpPr/>
          <p:nvPr userDrawn="1"/>
        </p:nvCxnSpPr>
        <p:spPr>
          <a:xfrm>
            <a:off x="1465008" y="1445344"/>
            <a:ext cx="9468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67544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and Picture">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7" name="Oval 26">
            <a:extLst>
              <a:ext uri="{FF2B5EF4-FFF2-40B4-BE49-F238E27FC236}">
                <a16:creationId xmlns:a16="http://schemas.microsoft.com/office/drawing/2014/main" id="{C222C1B9-FA56-4CEA-AD98-25A595D942F8}"/>
              </a:ext>
            </a:extLst>
          </p:cNvPr>
          <p:cNvSpPr/>
          <p:nvPr userDrawn="1"/>
        </p:nvSpPr>
        <p:spPr bwMode="white">
          <a:xfrm>
            <a:off x="7040199" y="564425"/>
            <a:ext cx="4356000" cy="4464000"/>
          </a:xfrm>
          <a:prstGeom prst="ellipse">
            <a:avLst/>
          </a:prstGeom>
          <a:noFill/>
          <a:ln w="123825">
            <a:solidFill>
              <a:schemeClr val="accent3"/>
            </a:solid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9/1/2025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Picture Placeholder 12">
            <a:extLst>
              <a:ext uri="{FF2B5EF4-FFF2-40B4-BE49-F238E27FC236}">
                <a16:creationId xmlns:a16="http://schemas.microsoft.com/office/drawing/2014/main" id="{9786B981-6A78-425B-97A2-BA24E40DB7AD}"/>
              </a:ext>
            </a:extLst>
          </p:cNvPr>
          <p:cNvSpPr>
            <a:spLocks noGrp="1"/>
          </p:cNvSpPr>
          <p:nvPr>
            <p:ph type="pic" sz="quarter" idx="13"/>
          </p:nvPr>
        </p:nvSpPr>
        <p:spPr>
          <a:xfrm>
            <a:off x="7145761" y="670570"/>
            <a:ext cx="4151312" cy="4248000"/>
          </a:xfrm>
          <a:prstGeom prst="ellipse">
            <a:avLst/>
          </a:prstGeom>
          <a:ln w="38100">
            <a:solidFill>
              <a:schemeClr val="bg2"/>
            </a:solidFill>
          </a:ln>
          <a:effectLst>
            <a:innerShdw blurRad="114300">
              <a:prstClr val="black"/>
            </a:innerShdw>
          </a:effectLst>
        </p:spPr>
        <p:txBody>
          <a:bodyPr anchor="ctr" anchorCtr="0"/>
          <a:lstStyle>
            <a:lvl1pPr>
              <a:defRPr>
                <a:solidFill>
                  <a:schemeClr val="bg1"/>
                </a:solidFill>
              </a:defRPr>
            </a:lvl1pPr>
          </a:lstStyle>
          <a:p>
            <a:r>
              <a:rPr lang="en-US" noProof="0" smtClean="0"/>
              <a:t>Click icon to add picture</a:t>
            </a:r>
            <a:endParaRPr lang="en-US" noProof="0" dirty="0"/>
          </a:p>
        </p:txBody>
      </p:sp>
      <p:sp>
        <p:nvSpPr>
          <p:cNvPr id="17" name="Content Placeholder 15">
            <a:extLst>
              <a:ext uri="{FF2B5EF4-FFF2-40B4-BE49-F238E27FC236}">
                <a16:creationId xmlns:a16="http://schemas.microsoft.com/office/drawing/2014/main" id="{A21C7D74-31FD-4638-819B-6F7351A1770B}"/>
              </a:ext>
            </a:extLst>
          </p:cNvPr>
          <p:cNvSpPr>
            <a:spLocks noGrp="1"/>
          </p:cNvSpPr>
          <p:nvPr>
            <p:ph sz="quarter" idx="15"/>
          </p:nvPr>
        </p:nvSpPr>
        <p:spPr>
          <a:xfrm>
            <a:off x="6747294" y="5188236"/>
            <a:ext cx="4858459" cy="1126906"/>
          </a:xfrm>
          <a:solidFill>
            <a:schemeClr val="bg2"/>
          </a:solidFill>
          <a:ln>
            <a:noFill/>
          </a:ln>
          <a:effectLst>
            <a:innerShdw blurRad="114300">
              <a:prstClr val="black"/>
            </a:innerShdw>
          </a:effectLst>
        </p:spPr>
        <p:txBody>
          <a:bodyPr anchor="ctr" anchorCtr="0"/>
          <a:lstStyle>
            <a:lvl1pPr marL="0" indent="0" algn="ctr">
              <a:buNone/>
              <a:defRPr sz="1800">
                <a:solidFill>
                  <a:schemeClr val="tx2">
                    <a:lumMod val="50000"/>
                  </a:schemeClr>
                </a:solidFill>
              </a:defRPr>
            </a:lvl1pPr>
            <a:lvl2pPr marL="530352" indent="0" algn="ctr">
              <a:buNone/>
              <a:defRPr sz="1800">
                <a:solidFill>
                  <a:schemeClr val="tx2">
                    <a:lumMod val="50000"/>
                  </a:schemeClr>
                </a:solidFill>
              </a:defRPr>
            </a:lvl2pPr>
            <a:lvl3pPr marL="987552" indent="0" algn="ctr">
              <a:buNone/>
              <a:defRPr sz="1600">
                <a:solidFill>
                  <a:schemeClr val="tx2">
                    <a:lumMod val="50000"/>
                  </a:schemeClr>
                </a:solidFill>
              </a:defRPr>
            </a:lvl3pPr>
            <a:lvl4pPr marL="1444752" indent="0" algn="ctr">
              <a:buNone/>
              <a:defRPr sz="1600">
                <a:solidFill>
                  <a:schemeClr val="tx2">
                    <a:lumMod val="50000"/>
                  </a:schemeClr>
                </a:solidFill>
              </a:defRPr>
            </a:lvl4pPr>
            <a:lvl5pPr marL="1901952" indent="0" algn="ctr">
              <a:buNone/>
              <a:defRPr sz="1400">
                <a:solidFill>
                  <a:schemeClr val="tx2">
                    <a:lumMod val="50000"/>
                  </a:schemeClr>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4736394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bg bwMode="ltGray">
      <p:bgPr>
        <a:solidFill>
          <a:schemeClr val="bg2"/>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0A2BD38-4A6C-44EB-900D-A3E3AE37854F}"/>
              </a:ext>
            </a:extLst>
          </p:cNvPr>
          <p:cNvSpPr/>
          <p:nvPr userDrawn="1"/>
        </p:nvSpPr>
        <p:spPr>
          <a:xfrm>
            <a:off x="6581723" y="404614"/>
            <a:ext cx="5191176" cy="6048772"/>
          </a:xfrm>
          <a:prstGeom prst="rect">
            <a:avLst/>
          </a:prstGeom>
          <a:gradFill flip="none" rotWithShape="1">
            <a:gsLst>
              <a:gs pos="0">
                <a:schemeClr val="tx2">
                  <a:lumMod val="50000"/>
                </a:schemeClr>
              </a:gs>
              <a:gs pos="36000">
                <a:schemeClr val="tx2"/>
              </a:gs>
              <a:gs pos="69000">
                <a:schemeClr val="tx2">
                  <a:lumMod val="75000"/>
                </a:schemeClr>
              </a:gs>
              <a:gs pos="97000">
                <a:schemeClr val="tx2">
                  <a:lumMod val="50000"/>
                </a:schemeClr>
              </a:gs>
            </a:gsLst>
            <a:lin ang="2700000" scaled="1"/>
            <a:tileRect/>
          </a:gradFill>
          <a:ln>
            <a:noFill/>
          </a:ln>
          <a:effectLst>
            <a:outerShdw blurRad="63500" sx="102000" sy="102000" algn="ctr" rotWithShape="0">
              <a:prstClr val="black">
                <a:alpha val="2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Rectangle 7" title="Background Shape"/>
          <p:cNvSpPr/>
          <p:nvPr/>
        </p:nvSpPr>
        <p:spPr>
          <a:xfrm>
            <a:off x="0" y="376"/>
            <a:ext cx="6096000" cy="68576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hasCustomPrompt="1"/>
          </p:nvPr>
        </p:nvSpPr>
        <p:spPr bwMode="white">
          <a:xfrm>
            <a:off x="586246" y="400665"/>
            <a:ext cx="4858460" cy="1428136"/>
          </a:xfrm>
        </p:spPr>
        <p:txBody>
          <a:bodyPr anchor="ctr" anchorCtr="0">
            <a:noAutofit/>
          </a:bodyPr>
          <a:lstStyle>
            <a:lvl1pPr algn="ctr">
              <a:lnSpc>
                <a:spcPct val="84000"/>
              </a:lnSpc>
              <a:defRPr sz="4800" baseline="0">
                <a:solidFill>
                  <a:schemeClr val="bg1"/>
                </a:solidFill>
              </a:defRPr>
            </a:lvl1pPr>
          </a:lstStyle>
          <a:p>
            <a:r>
              <a:rPr lang="en-US" noProof="0"/>
              <a:t>Click To Edit Master Title Style</a:t>
            </a:r>
          </a:p>
        </p:txBody>
      </p:sp>
      <p:sp>
        <p:nvSpPr>
          <p:cNvPr id="4" name="Text Placeholder 3"/>
          <p:cNvSpPr>
            <a:spLocks noGrp="1"/>
          </p:cNvSpPr>
          <p:nvPr>
            <p:ph type="body" sz="half" idx="2"/>
          </p:nvPr>
        </p:nvSpPr>
        <p:spPr>
          <a:xfrm>
            <a:off x="586246" y="2113935"/>
            <a:ext cx="4858460" cy="4247186"/>
          </a:xfrm>
        </p:spPr>
        <p:txBody>
          <a:bodyPr/>
          <a:lstStyle>
            <a:lvl1pPr marL="285750" indent="-285750">
              <a:lnSpc>
                <a:spcPct val="100000"/>
              </a:lnSpc>
              <a:spcBef>
                <a:spcPts val="0"/>
              </a:spcBef>
              <a:spcAft>
                <a:spcPts val="100"/>
              </a:spcAft>
              <a:buFont typeface="Arial" panose="020B0604020202020204" pitchFamily="34" charset="0"/>
              <a:buChar char="•"/>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86246" y="6443554"/>
            <a:ext cx="132432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9/1/2025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2825377" y="6453386"/>
            <a:ext cx="2619329"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10187939"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024000" y="0"/>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L-Shape 20">
            <a:extLst>
              <a:ext uri="{FF2B5EF4-FFF2-40B4-BE49-F238E27FC236}">
                <a16:creationId xmlns:a16="http://schemas.microsoft.com/office/drawing/2014/main" id="{CB430D22-8AAF-444F-A6CE-7C02859083DF}"/>
              </a:ext>
            </a:extLst>
          </p:cNvPr>
          <p:cNvSpPr>
            <a:spLocks noChangeAspect="1"/>
          </p:cNvSpPr>
          <p:nvPr userDrawn="1"/>
        </p:nvSpPr>
        <p:spPr>
          <a:xfrm flipV="1">
            <a:off x="516927" y="335049"/>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3" name="L-Shape 22">
            <a:extLst>
              <a:ext uri="{FF2B5EF4-FFF2-40B4-BE49-F238E27FC236}">
                <a16:creationId xmlns:a16="http://schemas.microsoft.com/office/drawing/2014/main" id="{0D8BA010-8544-4718-9EA3-B0248C963FD4}"/>
              </a:ext>
            </a:extLst>
          </p:cNvPr>
          <p:cNvSpPr>
            <a:spLocks noChangeAspect="1"/>
          </p:cNvSpPr>
          <p:nvPr userDrawn="1"/>
        </p:nvSpPr>
        <p:spPr>
          <a:xfrm flipH="1" flipV="1">
            <a:off x="5085711" y="33029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4" name="L-Shape 23">
            <a:extLst>
              <a:ext uri="{FF2B5EF4-FFF2-40B4-BE49-F238E27FC236}">
                <a16:creationId xmlns:a16="http://schemas.microsoft.com/office/drawing/2014/main" id="{C0FFB550-21A6-456B-BA1A-EF145674866C}"/>
              </a:ext>
            </a:extLst>
          </p:cNvPr>
          <p:cNvSpPr>
            <a:spLocks noChangeAspect="1"/>
          </p:cNvSpPr>
          <p:nvPr userDrawn="1"/>
        </p:nvSpPr>
        <p:spPr>
          <a:xfrm>
            <a:off x="522817" y="1476927"/>
            <a:ext cx="403201" cy="395617"/>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5" name="L-Shape 24">
            <a:extLst>
              <a:ext uri="{FF2B5EF4-FFF2-40B4-BE49-F238E27FC236}">
                <a16:creationId xmlns:a16="http://schemas.microsoft.com/office/drawing/2014/main" id="{70EF88E9-8CAC-422B-A9A6-D9FD1F17DAE2}"/>
              </a:ext>
            </a:extLst>
          </p:cNvPr>
          <p:cNvSpPr>
            <a:spLocks noChangeAspect="1"/>
          </p:cNvSpPr>
          <p:nvPr userDrawn="1"/>
        </p:nvSpPr>
        <p:spPr>
          <a:xfrm flipH="1">
            <a:off x="5081769" y="1482001"/>
            <a:ext cx="410929" cy="403201"/>
          </a:xfrm>
          <a:prstGeom prst="corner">
            <a:avLst>
              <a:gd name="adj1" fmla="val 4470"/>
              <a:gd name="adj2" fmla="val 4823"/>
            </a:avLst>
          </a:prstGeom>
          <a:solidFill>
            <a:schemeClr val="bg2"/>
          </a:solidFill>
          <a:ln w="12700">
            <a:solidFill>
              <a:schemeClr val="bg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8" name="Content Placeholder 2">
            <a:extLst>
              <a:ext uri="{FF2B5EF4-FFF2-40B4-BE49-F238E27FC236}">
                <a16:creationId xmlns:a16="http://schemas.microsoft.com/office/drawing/2014/main" id="{ED439475-E625-4449-B42E-8F291D64A3C7}"/>
              </a:ext>
            </a:extLst>
          </p:cNvPr>
          <p:cNvSpPr>
            <a:spLocks noGrp="1"/>
          </p:cNvSpPr>
          <p:nvPr>
            <p:ph idx="1"/>
          </p:nvPr>
        </p:nvSpPr>
        <p:spPr>
          <a:xfrm>
            <a:off x="6695360" y="518474"/>
            <a:ext cx="4910394" cy="5759777"/>
          </a:xfrm>
          <a:solidFill>
            <a:schemeClr val="bg2"/>
          </a:solidFill>
          <a:ln>
            <a:noFill/>
          </a:ln>
          <a:effectLst>
            <a:innerShdw blurRad="114300">
              <a:prstClr val="black"/>
            </a:innerShdw>
          </a:effectLst>
        </p:spPr>
        <p:txBody>
          <a:bodyPr vert="horz" lIns="91440" tIns="45720" rIns="91440" bIns="45720" rtlCol="0" anchor="ctr" anchorCtr="0">
            <a:noAutofit/>
          </a:bodyPr>
          <a:lstStyle>
            <a:lvl1pPr>
              <a:defRPr lang="en-US" sz="1800">
                <a:solidFill>
                  <a:schemeClr val="tx2">
                    <a:lumMod val="50000"/>
                  </a:schemeClr>
                </a:solidFill>
              </a:defRPr>
            </a:lvl1pPr>
            <a:lvl2pPr>
              <a:defRPr lang="en-US" sz="1800">
                <a:solidFill>
                  <a:schemeClr val="tx2">
                    <a:lumMod val="50000"/>
                  </a:schemeClr>
                </a:solidFill>
              </a:defRPr>
            </a:lvl2pPr>
            <a:lvl3pPr>
              <a:defRPr lang="en-US" sz="1600">
                <a:solidFill>
                  <a:schemeClr val="tx2">
                    <a:lumMod val="50000"/>
                  </a:schemeClr>
                </a:solidFill>
              </a:defRPr>
            </a:lvl3pPr>
            <a:lvl4pPr>
              <a:defRPr lang="en-US" sz="1600">
                <a:solidFill>
                  <a:schemeClr val="tx2">
                    <a:lumMod val="50000"/>
                  </a:schemeClr>
                </a:solidFill>
              </a:defRPr>
            </a:lvl4pPr>
            <a:lvl5pPr>
              <a:defRPr lang="en-US" sz="1400">
                <a:solidFill>
                  <a:schemeClr val="tx2">
                    <a:lumMod val="50000"/>
                  </a:schemeClr>
                </a:solidFill>
              </a:defRPr>
            </a:lvl5pPr>
          </a:lstStyle>
          <a:p>
            <a:pPr marL="0" lvl="0" indent="0" algn="ctr">
              <a:buNone/>
            </a:pPr>
            <a:r>
              <a:rPr lang="en-US" noProof="0" smtClean="0"/>
              <a:t>Edit Master text styles</a:t>
            </a:r>
          </a:p>
          <a:p>
            <a:pPr marL="0" lvl="1" indent="0" algn="ctr">
              <a:buNone/>
            </a:pPr>
            <a:r>
              <a:rPr lang="en-US" noProof="0" smtClean="0"/>
              <a:t>Second level</a:t>
            </a:r>
          </a:p>
          <a:p>
            <a:pPr marL="0" lvl="2" indent="0" algn="ctr">
              <a:buNone/>
            </a:pPr>
            <a:r>
              <a:rPr lang="en-US" noProof="0" smtClean="0"/>
              <a:t>Third level</a:t>
            </a:r>
          </a:p>
          <a:p>
            <a:pPr marL="0" lvl="3" indent="0" algn="ctr">
              <a:buNone/>
            </a:pPr>
            <a:r>
              <a:rPr lang="en-US" noProof="0" smtClean="0"/>
              <a:t>Fourth level</a:t>
            </a:r>
          </a:p>
          <a:p>
            <a:pPr marL="0" lvl="4" indent="0" algn="ctr">
              <a:buNone/>
            </a:pPr>
            <a:r>
              <a:rPr lang="en-US" noProof="0" smtClean="0"/>
              <a:t>Fifth level</a:t>
            </a:r>
            <a:endParaRPr lang="en-US" noProof="0"/>
          </a:p>
        </p:txBody>
      </p:sp>
    </p:spTree>
    <p:extLst>
      <p:ext uri="{BB962C8B-B14F-4D97-AF65-F5344CB8AC3E}">
        <p14:creationId xmlns:p14="http://schemas.microsoft.com/office/powerpoint/2010/main" val="13505088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Picture, TItle, and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a:extLst>
              <a:ext uri="{FF2B5EF4-FFF2-40B4-BE49-F238E27FC236}">
                <a16:creationId xmlns:a16="http://schemas.microsoft.com/office/drawing/2014/main" id="{1F430D42-50DC-4502-A3E8-251FE7F0809D}"/>
              </a:ext>
            </a:extLst>
          </p:cNvPr>
          <p:cNvSpPr/>
          <p:nvPr userDrawn="1"/>
        </p:nvSpPr>
        <p:spPr>
          <a:xfrm>
            <a:off x="507591" y="5289755"/>
            <a:ext cx="5270049" cy="101272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76923C"/>
              </a:solidFill>
              <a:effectLst/>
              <a:uLnTx/>
              <a:uFillTx/>
              <a:latin typeface="Arial"/>
              <a:ea typeface="+mn-ea"/>
              <a:cs typeface="+mn-cs"/>
            </a:endParaRPr>
          </a:p>
        </p:txBody>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4732985"/>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9/1/2025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0" name="Picture Placeholder 9">
            <a:extLst>
              <a:ext uri="{FF2B5EF4-FFF2-40B4-BE49-F238E27FC236}">
                <a16:creationId xmlns:a16="http://schemas.microsoft.com/office/drawing/2014/main" id="{3BDA3A4D-2561-4EEB-8787-E1A652565755}"/>
              </a:ext>
            </a:extLst>
          </p:cNvPr>
          <p:cNvSpPr>
            <a:spLocks noGrp="1"/>
          </p:cNvSpPr>
          <p:nvPr>
            <p:ph type="pic" sz="quarter" idx="13"/>
          </p:nvPr>
        </p:nvSpPr>
        <p:spPr>
          <a:xfrm>
            <a:off x="806245" y="668595"/>
            <a:ext cx="4646651" cy="4198373"/>
          </a:xfrm>
          <a:prstGeom prst="snip2DiagRect">
            <a:avLst>
              <a:gd name="adj1" fmla="val 0"/>
              <a:gd name="adj2" fmla="val 10300"/>
            </a:avLst>
          </a:prstGeom>
          <a:ln w="38100">
            <a:solidFill>
              <a:schemeClr val="bg1"/>
            </a:solidFill>
          </a:ln>
          <a:effectLst>
            <a:innerShdw blurRad="114300">
              <a:prstClr val="black"/>
            </a:innerShdw>
          </a:effectLst>
        </p:spPr>
        <p:txBody>
          <a:bodyPr/>
          <a:lstStyle>
            <a:lvl1pPr>
              <a:defRPr>
                <a:solidFill>
                  <a:schemeClr val="bg1"/>
                </a:solidFill>
              </a:defRPr>
            </a:lvl1pPr>
          </a:lstStyle>
          <a:p>
            <a:r>
              <a:rPr lang="en-US" noProof="0" smtClean="0"/>
              <a:t>Click icon to add picture</a:t>
            </a:r>
            <a:endParaRPr lang="en-US" noProof="0" dirty="0"/>
          </a:p>
        </p:txBody>
      </p:sp>
      <p:sp>
        <p:nvSpPr>
          <p:cNvPr id="16" name="Text Placeholder 15">
            <a:extLst>
              <a:ext uri="{FF2B5EF4-FFF2-40B4-BE49-F238E27FC236}">
                <a16:creationId xmlns:a16="http://schemas.microsoft.com/office/drawing/2014/main" id="{FBB32A6B-92AA-4208-9120-FFC166CE751C}"/>
              </a:ext>
            </a:extLst>
          </p:cNvPr>
          <p:cNvSpPr>
            <a:spLocks noGrp="1"/>
          </p:cNvSpPr>
          <p:nvPr>
            <p:ph type="body" sz="quarter" idx="14"/>
          </p:nvPr>
        </p:nvSpPr>
        <p:spPr>
          <a:xfrm>
            <a:off x="570275" y="5352418"/>
            <a:ext cx="5148000" cy="900000"/>
          </a:xfrm>
          <a:solidFill>
            <a:schemeClr val="bg2"/>
          </a:solidFill>
          <a:effectLst>
            <a:innerShdw blurRad="114300">
              <a:prstClr val="black">
                <a:alpha val="34000"/>
              </a:prstClr>
            </a:innerShdw>
          </a:effectLst>
        </p:spPr>
        <p:txBody>
          <a:bodyPr anchor="ctr" anchorCtr="0"/>
          <a:lstStyle>
            <a:lvl1pPr marL="0" indent="0" algn="ctr">
              <a:buFont typeface="Arial" panose="020B0604020202020204" pitchFamily="34" charset="0"/>
              <a:buNone/>
              <a:defRPr sz="1800">
                <a:solidFill>
                  <a:schemeClr val="accent3"/>
                </a:solidFill>
              </a:defRPr>
            </a:lvl1pPr>
            <a:lvl2pPr marL="530352" indent="0" algn="ctr">
              <a:buFont typeface="Arial" panose="020B0604020202020204" pitchFamily="34" charset="0"/>
              <a:buNone/>
              <a:defRPr sz="1800">
                <a:solidFill>
                  <a:schemeClr val="accent3"/>
                </a:solidFill>
              </a:defRPr>
            </a:lvl2pPr>
            <a:lvl3pPr marL="987552" indent="0" algn="ctr">
              <a:buFont typeface="Arial" panose="020B0604020202020204" pitchFamily="34" charset="0"/>
              <a:buNone/>
              <a:defRPr sz="1600">
                <a:solidFill>
                  <a:schemeClr val="accent3"/>
                </a:solidFill>
              </a:defRPr>
            </a:lvl3pPr>
            <a:lvl4pPr marL="1444752" indent="0" algn="ctr">
              <a:buFont typeface="Arial" panose="020B0604020202020204" pitchFamily="34" charset="0"/>
              <a:buNone/>
              <a:defRPr sz="1600">
                <a:solidFill>
                  <a:schemeClr val="accent3"/>
                </a:solidFill>
              </a:defRPr>
            </a:lvl4pPr>
            <a:lvl5pPr marL="1901952" indent="0" algn="ctr">
              <a:buFont typeface="Arial" panose="020B0604020202020204" pitchFamily="34" charset="0"/>
              <a:buNone/>
              <a:defRPr sz="1400">
                <a:solidFill>
                  <a:schemeClr val="accent3"/>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0103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1" y="376"/>
            <a:ext cx="6234898" cy="685762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Diagonal Corners Snipped 10">
            <a:extLst>
              <a:ext uri="{FF2B5EF4-FFF2-40B4-BE49-F238E27FC236}">
                <a16:creationId xmlns:a16="http://schemas.microsoft.com/office/drawing/2014/main" id="{836AFDEB-3C72-49E0-9B45-DC9EFBA6587F}"/>
              </a:ext>
            </a:extLst>
          </p:cNvPr>
          <p:cNvSpPr/>
          <p:nvPr userDrawn="1"/>
        </p:nvSpPr>
        <p:spPr bwMode="white">
          <a:xfrm>
            <a:off x="507591" y="409286"/>
            <a:ext cx="5270049" cy="5945780"/>
          </a:xfrm>
          <a:prstGeom prst="snip2DiagRect">
            <a:avLst>
              <a:gd name="adj1" fmla="val 0"/>
              <a:gd name="adj2" fmla="val 10697"/>
            </a:avLst>
          </a:prstGeom>
          <a:solidFill>
            <a:schemeClr val="accent3"/>
          </a:solidFill>
          <a:ln>
            <a:noFill/>
          </a:ln>
          <a:effectLst>
            <a:outerShdw blurRad="63500" sx="102000" sy="102000" algn="ctr" rotWithShape="0">
              <a:prstClr val="black">
                <a:alpha val="40000"/>
              </a:prstClr>
            </a:outerShdw>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2" name="Title 1"/>
          <p:cNvSpPr>
            <a:spLocks noGrp="1"/>
          </p:cNvSpPr>
          <p:nvPr>
            <p:ph type="title" hasCustomPrompt="1"/>
          </p:nvPr>
        </p:nvSpPr>
        <p:spPr>
          <a:xfrm>
            <a:off x="6930776" y="477366"/>
            <a:ext cx="4644000" cy="1341602"/>
          </a:xfrm>
        </p:spPr>
        <p:txBody>
          <a:bodyPr anchor="ctr" anchorCtr="0">
            <a:normAutofit/>
          </a:bodyPr>
          <a:lstStyle>
            <a:lvl1pPr algn="ctr">
              <a:lnSpc>
                <a:spcPct val="84000"/>
              </a:lnSpc>
              <a:defRPr sz="4800" baseline="0">
                <a:solidFill>
                  <a:schemeClr val="tx2"/>
                </a:solidFill>
              </a:defRPr>
            </a:lvl1pPr>
          </a:lstStyle>
          <a:p>
            <a:r>
              <a:rPr lang="en-US" noProof="0"/>
              <a:t>Click To Edit Master Title Style</a:t>
            </a:r>
          </a:p>
        </p:txBody>
      </p:sp>
      <p:sp>
        <p:nvSpPr>
          <p:cNvPr id="4" name="Text Placeholder 3"/>
          <p:cNvSpPr>
            <a:spLocks noGrp="1"/>
          </p:cNvSpPr>
          <p:nvPr>
            <p:ph type="body" sz="half" idx="2"/>
          </p:nvPr>
        </p:nvSpPr>
        <p:spPr>
          <a:xfrm>
            <a:off x="6930775" y="1966451"/>
            <a:ext cx="4644001" cy="4388615"/>
          </a:xfrm>
        </p:spPr>
        <p:txBody>
          <a:bodyPr/>
          <a:lstStyle>
            <a:lvl1pPr marL="285750" indent="-285750">
              <a:lnSpc>
                <a:spcPct val="100000"/>
              </a:lnSpc>
              <a:spcBef>
                <a:spcPts val="0"/>
              </a:spcBef>
              <a:spcAft>
                <a:spcPts val="0"/>
              </a:spcAft>
              <a:buFont typeface="Arial" panose="020B0604020202020204" pitchFamily="34" charset="0"/>
              <a:buChar char="•"/>
              <a:defRPr sz="1800">
                <a:solidFill>
                  <a:schemeClr val="tx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5" name="Date Placeholder 4"/>
          <p:cNvSpPr>
            <a:spLocks noGrp="1"/>
          </p:cNvSpPr>
          <p:nvPr>
            <p:ph type="dt" sz="half" idx="10"/>
          </p:nvPr>
        </p:nvSpPr>
        <p:spPr>
          <a:xfrm>
            <a:off x="507591" y="6453386"/>
            <a:ext cx="1204572"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prstClr val="white"/>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9/1/2025</a:t>
            </a:fld>
            <a:endParaRPr kumimoji="0" lang="en-US" sz="1200" b="0" i="0" u="none" strike="noStrike" kern="1200" cap="none" spc="0" normalizeH="0" baseline="0" noProof="0" dirty="0">
              <a:ln>
                <a:noFill/>
              </a:ln>
              <a:solidFill>
                <a:prstClr val="white"/>
              </a:solidFill>
              <a:effectLst/>
              <a:uLnTx/>
              <a:uFillTx/>
              <a:latin typeface="Arial"/>
              <a:ea typeface="+mn-ea"/>
              <a:cs typeface="+mn-cs"/>
            </a:endParaRPr>
          </a:p>
        </p:txBody>
      </p:sp>
      <p:sp>
        <p:nvSpPr>
          <p:cNvPr id="6" name="Footer Placeholder 5"/>
          <p:cNvSpPr>
            <a:spLocks noGrp="1"/>
          </p:cNvSpPr>
          <p:nvPr>
            <p:ph type="ftr" sz="quarter" idx="11"/>
          </p:nvPr>
        </p:nvSpPr>
        <p:spPr>
          <a:xfrm>
            <a:off x="3403965" y="6453386"/>
            <a:ext cx="2373675" cy="404614"/>
          </a:xfrm>
        </p:spPr>
        <p:txBody>
          <a:bodyPr/>
          <a:lstStyle>
            <a:lvl1pPr>
              <a:defRPr>
                <a:solidFill>
                  <a:schemeClr val="bg1"/>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Divider Bar"/>
          <p:cNvSpPr/>
          <p:nvPr/>
        </p:nvSpPr>
        <p:spPr>
          <a:xfrm>
            <a:off x="6234897" y="-376"/>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L-Shape 11">
            <a:extLst>
              <a:ext uri="{FF2B5EF4-FFF2-40B4-BE49-F238E27FC236}">
                <a16:creationId xmlns:a16="http://schemas.microsoft.com/office/drawing/2014/main" id="{26A5AA85-E28D-4647-B000-742C83A8047D}"/>
              </a:ext>
            </a:extLst>
          </p:cNvPr>
          <p:cNvSpPr>
            <a:spLocks noChangeAspect="1"/>
          </p:cNvSpPr>
          <p:nvPr userDrawn="1"/>
        </p:nvSpPr>
        <p:spPr>
          <a:xfrm flipV="1">
            <a:off x="6845770" y="372071"/>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3" name="L-Shape 12">
            <a:extLst>
              <a:ext uri="{FF2B5EF4-FFF2-40B4-BE49-F238E27FC236}">
                <a16:creationId xmlns:a16="http://schemas.microsoft.com/office/drawing/2014/main" id="{C3CD9875-0A2E-4F4D-ACB7-87DD98EED9D0}"/>
              </a:ext>
            </a:extLst>
          </p:cNvPr>
          <p:cNvSpPr>
            <a:spLocks noChangeAspect="1"/>
          </p:cNvSpPr>
          <p:nvPr userDrawn="1"/>
        </p:nvSpPr>
        <p:spPr>
          <a:xfrm flipH="1">
            <a:off x="11058438" y="5819525"/>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19" name="Picture Placeholder 18">
            <a:extLst>
              <a:ext uri="{FF2B5EF4-FFF2-40B4-BE49-F238E27FC236}">
                <a16:creationId xmlns:a16="http://schemas.microsoft.com/office/drawing/2014/main" id="{D57F3340-8A42-40F0-BF5B-EEF6E3E88E6E}"/>
              </a:ext>
            </a:extLst>
          </p:cNvPr>
          <p:cNvSpPr>
            <a:spLocks noGrp="1"/>
          </p:cNvSpPr>
          <p:nvPr>
            <p:ph type="pic" idx="1"/>
          </p:nvPr>
        </p:nvSpPr>
        <p:spPr>
          <a:xfrm>
            <a:off x="806246" y="668595"/>
            <a:ext cx="4646651" cy="5383413"/>
          </a:xfrm>
          <a:custGeom>
            <a:avLst/>
            <a:gdLst>
              <a:gd name="connsiteX0" fmla="*/ 0 w 4646651"/>
              <a:gd name="connsiteY0" fmla="*/ 0 h 5383413"/>
              <a:gd name="connsiteX1" fmla="*/ 4168046 w 4646651"/>
              <a:gd name="connsiteY1" fmla="*/ 0 h 5383413"/>
              <a:gd name="connsiteX2" fmla="*/ 4646651 w 4646651"/>
              <a:gd name="connsiteY2" fmla="*/ 478605 h 5383413"/>
              <a:gd name="connsiteX3" fmla="*/ 4646651 w 4646651"/>
              <a:gd name="connsiteY3" fmla="*/ 5383413 h 5383413"/>
              <a:gd name="connsiteX4" fmla="*/ 478605 w 4646651"/>
              <a:gd name="connsiteY4" fmla="*/ 5383413 h 5383413"/>
              <a:gd name="connsiteX5" fmla="*/ 0 w 4646651"/>
              <a:gd name="connsiteY5" fmla="*/ 4904808 h 538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6651" h="5383413">
                <a:moveTo>
                  <a:pt x="0" y="0"/>
                </a:moveTo>
                <a:lnTo>
                  <a:pt x="4168046" y="0"/>
                </a:lnTo>
                <a:lnTo>
                  <a:pt x="4646651" y="478605"/>
                </a:lnTo>
                <a:lnTo>
                  <a:pt x="4646651" y="5383413"/>
                </a:lnTo>
                <a:lnTo>
                  <a:pt x="478605" y="5383413"/>
                </a:lnTo>
                <a:lnTo>
                  <a:pt x="0" y="4904808"/>
                </a:lnTo>
                <a:close/>
              </a:path>
            </a:pathLst>
          </a:custGeom>
          <a:ln w="57150">
            <a:solidFill>
              <a:schemeClr val="bg1"/>
            </a:solidFill>
          </a:ln>
        </p:spPr>
        <p:txBody>
          <a:bodyPr wrap="square"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0" name="L-Shape 19">
            <a:extLst>
              <a:ext uri="{FF2B5EF4-FFF2-40B4-BE49-F238E27FC236}">
                <a16:creationId xmlns:a16="http://schemas.microsoft.com/office/drawing/2014/main" id="{CC096F9F-3AD4-4FC8-823F-DBD962E2E1C6}"/>
              </a:ext>
            </a:extLst>
          </p:cNvPr>
          <p:cNvSpPr>
            <a:spLocks noChangeAspect="1"/>
          </p:cNvSpPr>
          <p:nvPr userDrawn="1"/>
        </p:nvSpPr>
        <p:spPr>
          <a:xfrm flipH="1" flipV="1">
            <a:off x="11021316" y="361496"/>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sp>
        <p:nvSpPr>
          <p:cNvPr id="21" name="L-Shape 20">
            <a:extLst>
              <a:ext uri="{FF2B5EF4-FFF2-40B4-BE49-F238E27FC236}">
                <a16:creationId xmlns:a16="http://schemas.microsoft.com/office/drawing/2014/main" id="{9CFFEAD0-9992-49A8-A068-3357E08CD7C0}"/>
              </a:ext>
            </a:extLst>
          </p:cNvPr>
          <p:cNvSpPr>
            <a:spLocks noChangeAspect="1"/>
          </p:cNvSpPr>
          <p:nvPr userDrawn="1"/>
        </p:nvSpPr>
        <p:spPr>
          <a:xfrm>
            <a:off x="6865431" y="5819524"/>
            <a:ext cx="625971" cy="614197"/>
          </a:xfrm>
          <a:prstGeom prst="corner">
            <a:avLst>
              <a:gd name="adj1" fmla="val 4470"/>
              <a:gd name="adj2" fmla="val 4823"/>
            </a:avLst>
          </a:prstGeom>
          <a:solidFill>
            <a:schemeClr val="tx2"/>
          </a:solidFill>
          <a:ln w="28575">
            <a:solidFill>
              <a:schemeClr val="tx2"/>
            </a:solidFill>
          </a:ln>
          <a:effectLst/>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1F497D"/>
              </a:solidFill>
              <a:effectLst/>
              <a:uLnTx/>
              <a:uFillTx/>
              <a:latin typeface="Arial"/>
              <a:ea typeface="+mn-ea"/>
              <a:cs typeface="+mn-cs"/>
            </a:endParaRPr>
          </a:p>
        </p:txBody>
      </p:sp>
      <p:cxnSp>
        <p:nvCxnSpPr>
          <p:cNvPr id="23" name="Straight Connector 22">
            <a:extLst>
              <a:ext uri="{FF2B5EF4-FFF2-40B4-BE49-F238E27FC236}">
                <a16:creationId xmlns:a16="http://schemas.microsoft.com/office/drawing/2014/main" id="{D470145D-417E-4648-AB08-0A7974A629E0}"/>
              </a:ext>
            </a:extLst>
          </p:cNvPr>
          <p:cNvCxnSpPr/>
          <p:nvPr userDrawn="1"/>
        </p:nvCxnSpPr>
        <p:spPr>
          <a:xfrm>
            <a:off x="7118556" y="1789472"/>
            <a:ext cx="428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03114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blackWhite">
      <p:bgPr>
        <a:gradFill flip="none" rotWithShape="1">
          <a:gsLst>
            <a:gs pos="0">
              <a:schemeClr val="bg2">
                <a:lumMod val="50000"/>
              </a:schemeClr>
            </a:gs>
            <a:gs pos="33000">
              <a:schemeClr val="bg2"/>
            </a:gs>
            <a:gs pos="66000">
              <a:schemeClr val="bg2">
                <a:lumMod val="75000"/>
              </a:schemeClr>
            </a:gs>
            <a:gs pos="97000">
              <a:schemeClr val="bg2">
                <a:lumMod val="50000"/>
              </a:schemeClr>
            </a:gs>
          </a:gsLst>
          <a:lin ang="27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65025" y="1301360"/>
            <a:ext cx="9612971" cy="2852737"/>
          </a:xfrm>
        </p:spPr>
        <p:txBody>
          <a:bodyPr anchor="b">
            <a:normAutofit/>
          </a:bodyPr>
          <a:lstStyle>
            <a:lvl1pPr algn="r">
              <a:defRPr sz="7200" cap="none" baseline="0">
                <a:solidFill>
                  <a:schemeClr val="tx1"/>
                </a:solidFill>
              </a:defRPr>
            </a:lvl1pPr>
          </a:lstStyle>
          <a:p>
            <a:r>
              <a:rPr lang="en-US" noProof="0"/>
              <a:t>Click To Edit Master Title Style</a:t>
            </a:r>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9/1/2025</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EECE1"/>
                </a:solidFill>
                <a:effectLst/>
                <a:uLnTx/>
                <a:uFillTx/>
                <a:latin typeface="Arial"/>
                <a:ea typeface="+mn-ea"/>
                <a:cs typeface="+mn-cs"/>
              </a:rPr>
              <a:t>Add a footer </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EEECE1"/>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EEECE1"/>
              </a:solidFill>
              <a:effectLst/>
              <a:uLnTx/>
              <a:uFillTx/>
              <a:latin typeface="Arial"/>
              <a:ea typeface="+mn-ea"/>
              <a:cs typeface="+mn-cs"/>
            </a:endParaRPr>
          </a:p>
        </p:txBody>
      </p:sp>
      <p:sp>
        <p:nvSpPr>
          <p:cNvPr id="9" name="L-Shape 8">
            <a:extLst>
              <a:ext uri="{FF2B5EF4-FFF2-40B4-BE49-F238E27FC236}">
                <a16:creationId xmlns:a16="http://schemas.microsoft.com/office/drawing/2014/main" id="{BF5B4C6D-2825-4690-8D32-39CBF5E0F7E6}"/>
              </a:ext>
            </a:extLst>
          </p:cNvPr>
          <p:cNvSpPr/>
          <p:nvPr userDrawn="1"/>
        </p:nvSpPr>
        <p:spPr>
          <a:xfrm rot="10800000" flipV="1">
            <a:off x="8532326" y="1820272"/>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8" name="L-Shape 7">
            <a:extLst>
              <a:ext uri="{FF2B5EF4-FFF2-40B4-BE49-F238E27FC236}">
                <a16:creationId xmlns:a16="http://schemas.microsoft.com/office/drawing/2014/main" id="{DFD43940-6D78-4E75-BDB6-8792768BB894}"/>
              </a:ext>
            </a:extLst>
          </p:cNvPr>
          <p:cNvSpPr/>
          <p:nvPr userDrawn="1"/>
        </p:nvSpPr>
        <p:spPr>
          <a:xfrm flipH="1">
            <a:off x="8286318" y="1685652"/>
            <a:ext cx="3152309" cy="4408489"/>
          </a:xfrm>
          <a:prstGeom prst="corner">
            <a:avLst>
              <a:gd name="adj1" fmla="val 5837"/>
              <a:gd name="adj2" fmla="val 6502"/>
            </a:avLst>
          </a:prstGeom>
          <a:solidFill>
            <a:srgbClr val="EFEDE3"/>
          </a:solidFill>
          <a:ln>
            <a:solidFill>
              <a:srgbClr val="EFEDE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1772556420"/>
      </p:ext>
    </p:extLst>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solidFill>
                  <a:schemeClr val="tx2"/>
                </a:solidFill>
              </a:defRPr>
            </a:lvl1pPr>
          </a:lstStyle>
          <a:p>
            <a:r>
              <a:rPr lang="en-US" noProof="0"/>
              <a:t>Click To Edit Master Title Style</a:t>
            </a:r>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9/1/2025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6" name="Footer Placeholder 5"/>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6056586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371600" y="685800"/>
            <a:ext cx="9601200" cy="1485900"/>
          </a:xfrm>
        </p:spPr>
        <p:txBody>
          <a:bodyPr>
            <a:normAutofit/>
          </a:bodyPr>
          <a:lstStyle>
            <a:lvl1pPr>
              <a:defRPr sz="4800">
                <a:solidFill>
                  <a:schemeClr val="tx2"/>
                </a:solidFill>
              </a:defRPr>
            </a:lvl1pPr>
          </a:lstStyle>
          <a:p>
            <a:r>
              <a:rPr lang="en-US" noProof="0"/>
              <a:t>Click To Edit Master Title Style</a:t>
            </a:r>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9/1/2025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8" name="Footer Placeholder 7"/>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9" name="Slide Number Placeholder 8"/>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11" name="L-Shape 10">
            <a:extLst>
              <a:ext uri="{FF2B5EF4-FFF2-40B4-BE49-F238E27FC236}">
                <a16:creationId xmlns:a16="http://schemas.microsoft.com/office/drawing/2014/main" id="{91236E78-C797-4C31-BA0C-DB193BAF6D2D}"/>
              </a:ext>
            </a:extLst>
          </p:cNvPr>
          <p:cNvSpPr/>
          <p:nvPr userDrawn="1"/>
        </p:nvSpPr>
        <p:spPr>
          <a:xfrm rot="10800000" flipV="1">
            <a:off x="8391654" y="1873024"/>
            <a:ext cx="2772000" cy="4158497"/>
          </a:xfrm>
          <a:prstGeom prst="corner">
            <a:avLst>
              <a:gd name="adj1" fmla="val 7397"/>
              <a:gd name="adj2" fmla="val 7750"/>
            </a:avLst>
          </a:prstGeom>
          <a:solidFill>
            <a:schemeClr val="accent3"/>
          </a:solidFill>
          <a:ln>
            <a:solidFill>
              <a:schemeClr val="accent3"/>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
        <p:nvSpPr>
          <p:cNvPr id="10" name="L-Shape 9">
            <a:extLst>
              <a:ext uri="{FF2B5EF4-FFF2-40B4-BE49-F238E27FC236}">
                <a16:creationId xmlns:a16="http://schemas.microsoft.com/office/drawing/2014/main" id="{BFA658F0-F295-40A9-8BA8-1F6CBDFBBE09}"/>
              </a:ext>
            </a:extLst>
          </p:cNvPr>
          <p:cNvSpPr/>
          <p:nvPr userDrawn="1"/>
        </p:nvSpPr>
        <p:spPr>
          <a:xfrm flipH="1">
            <a:off x="8152968" y="1752327"/>
            <a:ext cx="3152309" cy="4408489"/>
          </a:xfrm>
          <a:prstGeom prst="corner">
            <a:avLst>
              <a:gd name="adj1" fmla="val 7085"/>
              <a:gd name="adj2" fmla="val 7750"/>
            </a:avLst>
          </a:prstGeom>
          <a:solidFill>
            <a:schemeClr val="tx2"/>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mn-cs"/>
            </a:endParaRPr>
          </a:p>
        </p:txBody>
      </p:sp>
    </p:spTree>
    <p:extLst>
      <p:ext uri="{BB962C8B-B14F-4D97-AF65-F5344CB8AC3E}">
        <p14:creationId xmlns:p14="http://schemas.microsoft.com/office/powerpoint/2010/main" val="38332367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9/1/2025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31082870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800"/>
            </a:lvl1pPr>
          </a:lstStyle>
          <a:p>
            <a:r>
              <a:rPr lang="en-US" noProof="0"/>
              <a:t>Click To Edit Master Title Style</a:t>
            </a: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9/1/2025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4" name="Footer Placeholder 3"/>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7" name="Text Placeholder 6">
            <a:extLst>
              <a:ext uri="{FF2B5EF4-FFF2-40B4-BE49-F238E27FC236}">
                <a16:creationId xmlns:a16="http://schemas.microsoft.com/office/drawing/2014/main" id="{CAFD1631-6749-4027-9415-B72D163BBD58}"/>
              </a:ext>
            </a:extLst>
          </p:cNvPr>
          <p:cNvSpPr>
            <a:spLocks noGrp="1"/>
          </p:cNvSpPr>
          <p:nvPr>
            <p:ph type="body" sz="quarter" idx="13"/>
          </p:nvPr>
        </p:nvSpPr>
        <p:spPr>
          <a:xfrm>
            <a:off x="1560471" y="2297695"/>
            <a:ext cx="9071059" cy="2767600"/>
          </a:xfrm>
        </p:spPr>
        <p:txBody>
          <a:bodyPr anchor="ctr"/>
          <a:lstStyle>
            <a:lvl1pPr marL="0" indent="0" algn="ctr">
              <a:buNone/>
              <a:defRPr sz="6000"/>
            </a:lvl1pPr>
          </a:lstStyle>
          <a:p>
            <a:pPr lvl="0"/>
            <a:r>
              <a:rPr lang="en-US" noProof="0" smtClean="0"/>
              <a:t>Edit Master text styles</a:t>
            </a:r>
          </a:p>
        </p:txBody>
      </p:sp>
    </p:spTree>
    <p:extLst>
      <p:ext uri="{BB962C8B-B14F-4D97-AF65-F5344CB8AC3E}">
        <p14:creationId xmlns:p14="http://schemas.microsoft.com/office/powerpoint/2010/main" val="20885593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9/1/2025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3" name="Footer Placeholder 2"/>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Tree>
    <p:extLst>
      <p:ext uri="{BB962C8B-B14F-4D97-AF65-F5344CB8AC3E}">
        <p14:creationId xmlns:p14="http://schemas.microsoft.com/office/powerpoint/2010/main" val="169565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45B175-C851-453B-B2A0-9A5CFCADC0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a:extLst>
              <a:ext uri="{FF2B5EF4-FFF2-40B4-BE49-F238E27FC236}">
                <a16:creationId xmlns:a16="http://schemas.microsoft.com/office/drawing/2014/main" id="{2E65F4A2-0E4F-4E49-A0BF-BEEC722033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9328AA27-3F13-4BFD-B949-21CF319108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33F5E9-5DAC-4C4A-9DF5-C2B87276BCC8}" type="datetimeFigureOut">
              <a:rPr lang="en-US" smtClean="0"/>
              <a:t>9/1/2025</a:t>
            </a:fld>
            <a:endParaRPr lang="en-US" dirty="0"/>
          </a:p>
        </p:txBody>
      </p:sp>
      <p:sp>
        <p:nvSpPr>
          <p:cNvPr id="5" name="Footer Placeholder 4">
            <a:extLst>
              <a:ext uri="{FF2B5EF4-FFF2-40B4-BE49-F238E27FC236}">
                <a16:creationId xmlns:a16="http://schemas.microsoft.com/office/drawing/2014/main" id="{EEEE99A2-0FED-42D4-9FBD-08CC1C3F81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F2468D4-5440-4CE2-BAB3-61D83F628C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EC5C30-0B3A-4B13-ADDD-7C63C8AA921B}" type="slidenum">
              <a:rPr lang="en-US" smtClean="0"/>
              <a:t>‹#›</a:t>
            </a:fld>
            <a:endParaRPr lang="en-US" dirty="0"/>
          </a:p>
        </p:txBody>
      </p:sp>
    </p:spTree>
    <p:extLst>
      <p:ext uri="{BB962C8B-B14F-4D97-AF65-F5344CB8AC3E}">
        <p14:creationId xmlns:p14="http://schemas.microsoft.com/office/powerpoint/2010/main" val="4122039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blackGray">
      <p:bgPr>
        <a:solidFill>
          <a:schemeClr val="bg2"/>
        </a:solidFill>
        <a:effectLst/>
      </p:bgPr>
    </p:bg>
    <p:spTree>
      <p:nvGrpSpPr>
        <p:cNvPr id="1" name=""/>
        <p:cNvGrpSpPr/>
        <p:nvPr/>
      </p:nvGrpSpPr>
      <p:grpSpPr>
        <a:xfrm>
          <a:off x="0" y="0"/>
          <a:ext cx="0" cy="0"/>
          <a:chOff x="0" y="0"/>
          <a:chExt cx="0" cy="0"/>
        </a:xfrm>
      </p:grpSpPr>
      <p:sp>
        <p:nvSpPr>
          <p:cNvPr id="8" name="Rectangle 7" title="Side bar">
            <a:extLst>
              <a:ext uri="{FF2B5EF4-FFF2-40B4-BE49-F238E27FC236}">
                <a16:creationId xmlns:a16="http://schemas.microsoft.com/office/drawing/2014/main" id="{FFA7AFEF-D97A-4A94-A884-7F95E91332B7}"/>
              </a:ext>
            </a:extLst>
          </p:cNvPr>
          <p:cNvSpPr/>
          <p:nvPr userDrawn="1"/>
        </p:nvSpPr>
        <p:spPr>
          <a:xfrm>
            <a:off x="622095" y="0"/>
            <a:ext cx="144000" cy="687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3B77EF04-6424-4B70-94D1-FC932CBBDD9B}" type="datetimeFigureOut">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9/1/2025</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F497D"/>
                </a:solidFill>
                <a:effectLst/>
                <a:uLnTx/>
                <a:uFillTx/>
                <a:latin typeface="Arial"/>
                <a:ea typeface="+mn-ea"/>
                <a:cs typeface="+mn-cs"/>
              </a:rPr>
              <a:t>Add a footer </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fld id="{B38049E5-7B53-4E85-8972-7D6C4BCE5BB9}" type="slidenum">
              <a:rPr kumimoji="0" lang="en-US" sz="1200" b="0" i="0" u="none" strike="noStrike" kern="1200" cap="none" spc="0" normalizeH="0" baseline="0" noProof="0" smtClean="0">
                <a:ln>
                  <a:noFill/>
                </a:ln>
                <a:solidFill>
                  <a:srgbClr val="1F497D"/>
                </a:solidFill>
                <a:effectLst/>
                <a:uLnTx/>
                <a:uFillTx/>
                <a:latin typeface="Arial"/>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1F497D"/>
              </a:solidFill>
              <a:effectLst/>
              <a:uLnTx/>
              <a:uFillTx/>
              <a:latin typeface="Arial"/>
              <a:ea typeface="+mn-ea"/>
              <a:cs typeface="+mn-cs"/>
            </a:endParaRPr>
          </a:p>
        </p:txBody>
      </p:sp>
      <p:sp>
        <p:nvSpPr>
          <p:cNvPr id="9" name="Rectangle 8" title="Side bar"/>
          <p:cNvSpPr/>
          <p:nvPr/>
        </p:nvSpPr>
        <p:spPr>
          <a:xfrm>
            <a:off x="478095" y="376"/>
            <a:ext cx="144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25347954"/>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42900" indent="-342900" algn="l" defTabSz="914400" rtl="0" eaLnBrk="1" latinLnBrk="0" hangingPunct="1">
        <a:lnSpc>
          <a:spcPct val="94000"/>
        </a:lnSpc>
        <a:spcBef>
          <a:spcPts val="1000"/>
        </a:spcBef>
        <a:spcAft>
          <a:spcPts val="200"/>
        </a:spcAft>
        <a:buFont typeface="Arial" panose="020B0604020202020204" pitchFamily="34" charset="0"/>
        <a:buChar char="•"/>
        <a:defRPr sz="2400" kern="1200" baseline="0">
          <a:solidFill>
            <a:schemeClr val="tx2"/>
          </a:solidFill>
          <a:latin typeface="+mn-lt"/>
          <a:ea typeface="+mn-ea"/>
          <a:cs typeface="+mn-cs"/>
        </a:defRPr>
      </a:lvl1pPr>
      <a:lvl2pPr marL="873252" indent="-342900" algn="l" defTabSz="914400" rtl="0" eaLnBrk="1" latinLnBrk="0" hangingPunct="1">
        <a:lnSpc>
          <a:spcPct val="94000"/>
        </a:lnSpc>
        <a:spcBef>
          <a:spcPts val="500"/>
        </a:spcBef>
        <a:spcAft>
          <a:spcPts val="200"/>
        </a:spcAft>
        <a:buFont typeface="Arial" panose="020B0604020202020204" pitchFamily="34" charset="0"/>
        <a:buChar char="•"/>
        <a:defRPr sz="2400" i="1" kern="1200" baseline="0">
          <a:solidFill>
            <a:schemeClr val="tx2"/>
          </a:solidFill>
          <a:latin typeface="+mn-lt"/>
          <a:ea typeface="+mn-ea"/>
          <a:cs typeface="+mn-cs"/>
        </a:defRPr>
      </a:lvl2pPr>
      <a:lvl3pPr marL="1330452" indent="-342900" algn="l" defTabSz="914400" rtl="0" eaLnBrk="1" latinLnBrk="0" hangingPunct="1">
        <a:lnSpc>
          <a:spcPct val="94000"/>
        </a:lnSpc>
        <a:spcBef>
          <a:spcPts val="500"/>
        </a:spcBef>
        <a:spcAft>
          <a:spcPts val="200"/>
        </a:spcAft>
        <a:buFont typeface="Arial" panose="020B0604020202020204" pitchFamily="34" charset="0"/>
        <a:buChar char="•"/>
        <a:defRPr sz="2000" kern="1200" baseline="0">
          <a:solidFill>
            <a:schemeClr val="tx2"/>
          </a:solidFill>
          <a:latin typeface="+mn-lt"/>
          <a:ea typeface="+mn-ea"/>
          <a:cs typeface="+mn-cs"/>
        </a:defRPr>
      </a:lvl3pPr>
      <a:lvl4pPr marL="1787652" indent="-342900" algn="l" defTabSz="914400" rtl="0" eaLnBrk="1" latinLnBrk="0" hangingPunct="1">
        <a:lnSpc>
          <a:spcPct val="94000"/>
        </a:lnSpc>
        <a:spcBef>
          <a:spcPts val="500"/>
        </a:spcBef>
        <a:spcAft>
          <a:spcPts val="200"/>
        </a:spcAft>
        <a:buFont typeface="Arial" panose="020B0604020202020204" pitchFamily="34" charset="0"/>
        <a:buChar char="•"/>
        <a:defRPr sz="2000" i="1" kern="1200" baseline="0">
          <a:solidFill>
            <a:schemeClr val="tx2"/>
          </a:solidFill>
          <a:latin typeface="+mn-lt"/>
          <a:ea typeface="+mn-ea"/>
          <a:cs typeface="+mn-cs"/>
        </a:defRPr>
      </a:lvl4pPr>
      <a:lvl5pPr marL="2187702" indent="-285750" algn="l" defTabSz="914400" rtl="0" eaLnBrk="1" latinLnBrk="0" hangingPunct="1">
        <a:lnSpc>
          <a:spcPct val="94000"/>
        </a:lnSpc>
        <a:spcBef>
          <a:spcPts val="500"/>
        </a:spcBef>
        <a:spcAft>
          <a:spcPts val="200"/>
        </a:spcAft>
        <a:buFont typeface="Arial" panose="020B0604020202020204" pitchFamily="34" charset="0"/>
        <a:buChar char="•"/>
        <a:defRPr sz="18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_rels/slide52.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5" Type="http://schemas.openxmlformats.org/officeDocument/2006/relationships/image" Target="../media/image1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 Id="rId1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557253" y="68033"/>
            <a:ext cx="9144000" cy="2126512"/>
          </a:xfrm>
        </p:spPr>
        <p:txBody>
          <a:bodyPr>
            <a:normAutofit fontScale="90000"/>
          </a:bodyPr>
          <a:lstStyle/>
          <a:p>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Bảo</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mật</a:t>
            </a:r>
            <a:r>
              <a:rPr lang="en-US" sz="7200" dirty="0" smtClean="0">
                <a:solidFill>
                  <a:schemeClr val="bg1"/>
                </a:solidFill>
                <a:latin typeface="Rockwell" panose="02060603020205020403" pitchFamily="18" charset="0"/>
              </a:rPr>
              <a:t> </a:t>
            </a:r>
            <a:br>
              <a:rPr lang="en-US" sz="7200" dirty="0" smtClean="0">
                <a:solidFill>
                  <a:schemeClr val="bg1"/>
                </a:solidFill>
                <a:latin typeface="Rockwell" panose="02060603020205020403" pitchFamily="18" charset="0"/>
              </a:rPr>
            </a:br>
            <a:r>
              <a:rPr lang="en-US" sz="7200" dirty="0" err="1" smtClean="0">
                <a:solidFill>
                  <a:schemeClr val="bg1"/>
                </a:solidFill>
                <a:latin typeface="Rockwell" panose="02060603020205020403" pitchFamily="18" charset="0"/>
              </a:rPr>
              <a:t>Ứng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dụng</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và</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Hệ</a:t>
            </a:r>
            <a:r>
              <a:rPr lang="en-US" sz="7200" dirty="0" smtClean="0">
                <a:solidFill>
                  <a:schemeClr val="bg1"/>
                </a:solidFill>
                <a:latin typeface="Rockwell" panose="02060603020205020403" pitchFamily="18" charset="0"/>
              </a:rPr>
              <a:t> </a:t>
            </a:r>
            <a:r>
              <a:rPr lang="en-US" sz="7200" dirty="0" err="1" smtClean="0">
                <a:solidFill>
                  <a:schemeClr val="bg1"/>
                </a:solidFill>
                <a:latin typeface="Rockwell" panose="02060603020205020403" pitchFamily="18" charset="0"/>
              </a:rPr>
              <a:t>thống</a:t>
            </a:r>
            <a:endParaRPr lang="en-US" sz="7200" dirty="0">
              <a:solidFill>
                <a:schemeClr val="bg1"/>
              </a:solidFill>
              <a:latin typeface="Rockwell" panose="02060603020205020403" pitchFamily="18" charset="0"/>
            </a:endParaRPr>
          </a:p>
        </p:txBody>
      </p:sp>
      <p:cxnSp>
        <p:nvCxnSpPr>
          <p:cNvPr id="5" name="Straight Connector 4">
            <a:extLst>
              <a:ext uri="{FF2B5EF4-FFF2-40B4-BE49-F238E27FC236}">
                <a16:creationId xmlns:a16="http://schemas.microsoft.com/office/drawing/2014/main" id="{AA65E432-C1E6-4C36-BF8E-2DA25E65DC32}"/>
              </a:ext>
              <a:ext uri="{C183D7F6-B498-43B3-948B-1728B52AA6E4}">
                <adec:decorative xmlns="" xmlns:adec="http://schemas.microsoft.com/office/drawing/2017/decorative" val="1"/>
              </a:ext>
            </a:extLst>
          </p:cNvPr>
          <p:cNvCxnSpPr/>
          <p:nvPr/>
        </p:nvCxnSpPr>
        <p:spPr>
          <a:xfrm>
            <a:off x="3579677" y="2200147"/>
            <a:ext cx="491490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557253" y="2313117"/>
            <a:ext cx="9144000" cy="1655762"/>
          </a:xfrm>
        </p:spPr>
        <p:txBody>
          <a:bodyPr>
            <a:normAutofit/>
          </a:bodyPr>
          <a:lstStyle/>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Giảng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viên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Nguyễn</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Kim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Tuấn</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Khoa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Hệ</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thống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thông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tin</a:t>
            </a:r>
          </a:p>
          <a:p>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Trường</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CNTT</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Đại</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học</a:t>
            </a:r>
            <a:r>
              <a:rPr lang="en-US" sz="2800" dirty="0" smtClean="0">
                <a:solidFill>
                  <a:schemeClr val="bg1"/>
                </a:solidFill>
                <a:latin typeface="Tahoma" panose="020B0604030504040204" pitchFamily="34" charset="0"/>
                <a:ea typeface="Tahoma" panose="020B0604030504040204" pitchFamily="34" charset="0"/>
                <a:cs typeface="Tahoma" panose="020B0604030504040204" pitchFamily="34" charset="0"/>
              </a:rPr>
              <a:t> </a:t>
            </a:r>
            <a:r>
              <a:rPr lang="en-US" sz="2800" dirty="0" err="1" smtClean="0">
                <a:solidFill>
                  <a:schemeClr val="bg1"/>
                </a:solidFill>
                <a:latin typeface="Tahoma" panose="020B0604030504040204" pitchFamily="34" charset="0"/>
                <a:ea typeface="Tahoma" panose="020B0604030504040204" pitchFamily="34" charset="0"/>
                <a:cs typeface="Tahoma" panose="020B0604030504040204" pitchFamily="34" charset="0"/>
              </a:rPr>
              <a:t>Phenikaa</a:t>
            </a:r>
            <a:endParaRPr lang="en-US" sz="28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631394">
            <a:off x="4662065" y="3581995"/>
            <a:ext cx="3194131" cy="319413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70759" y="489541"/>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rot="21078969">
            <a:off x="2532347" y="3896449"/>
            <a:ext cx="2453456" cy="2453456"/>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24665" y="2787872"/>
            <a:ext cx="3245427" cy="3245427"/>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8283867" y="2036637"/>
            <a:ext cx="3005286" cy="3005286"/>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8889495">
            <a:off x="9914052" y="2300565"/>
            <a:ext cx="1574403" cy="1574403"/>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660011" y="2938737"/>
            <a:ext cx="1488402" cy="1488402"/>
          </a:xfrm>
          <a:prstGeom prst="rect">
            <a:avLst/>
          </a:prstGeom>
        </p:spPr>
      </p:pic>
      <p:grpSp>
        <p:nvGrpSpPr>
          <p:cNvPr id="12" name="Group 11"/>
          <p:cNvGrpSpPr/>
          <p:nvPr/>
        </p:nvGrpSpPr>
        <p:grpSpPr>
          <a:xfrm>
            <a:off x="7193007" y="5769269"/>
            <a:ext cx="4857966" cy="985602"/>
            <a:chOff x="360535" y="271204"/>
            <a:chExt cx="5047501" cy="985602"/>
          </a:xfrm>
        </p:grpSpPr>
        <p:sp>
          <p:nvSpPr>
            <p:cNvPr id="14" name="Rounded Rectangle 13"/>
            <p:cNvSpPr/>
            <p:nvPr/>
          </p:nvSpPr>
          <p:spPr>
            <a:xfrm>
              <a:off x="360535" y="425063"/>
              <a:ext cx="5047501" cy="721286"/>
            </a:xfrm>
            <a:prstGeom prst="roundRect">
              <a:avLst/>
            </a:prstGeom>
            <a:solidFill>
              <a:schemeClr val="accent5">
                <a:lumMod val="5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16" name="Rounded Rectangle 4"/>
            <p:cNvSpPr txBox="1"/>
            <p:nvPr/>
          </p:nvSpPr>
          <p:spPr>
            <a:xfrm>
              <a:off x="413854" y="271204"/>
              <a:ext cx="4940863" cy="98560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90784" tIns="0" rIns="190784" bIns="0" numCol="1" spcCol="1270" anchor="ctr" anchorCtr="0">
              <a:noAutofit/>
            </a:bodyPr>
            <a:lstStyle/>
            <a:p>
              <a:pPr lvl="0" algn="r" defTabSz="1644650">
                <a:spcBef>
                  <a:spcPct val="0"/>
                </a:spcBef>
              </a:pPr>
              <a:r>
                <a:rPr lang="en-US" sz="2000" dirty="0" smtClean="0">
                  <a:latin typeface="Tahoma" panose="020B0604030504040204" pitchFamily="34" charset="0"/>
                  <a:ea typeface="Tahoma" panose="020B0604030504040204" pitchFamily="34" charset="0"/>
                  <a:cs typeface="Tahoma" panose="020B0604030504040204" pitchFamily="34" charset="0"/>
                </a:rPr>
                <a:t>0906.566.665 – 0932.401.907 (</a:t>
              </a:r>
              <a:r>
                <a:rPr lang="en-US" sz="2000" dirty="0" err="1" smtClean="0">
                  <a:latin typeface="Tahoma" panose="020B0604030504040204" pitchFamily="34" charset="0"/>
                  <a:ea typeface="Tahoma" panose="020B0604030504040204" pitchFamily="34" charset="0"/>
                  <a:cs typeface="Tahoma" panose="020B0604030504040204" pitchFamily="34" charset="0"/>
                </a:rPr>
                <a:t>Zalo</a:t>
              </a:r>
              <a:r>
                <a:rPr lang="en-US" sz="2000" dirty="0" smtClean="0">
                  <a:latin typeface="Tahoma" panose="020B0604030504040204" pitchFamily="34" charset="0"/>
                  <a:ea typeface="Tahoma" panose="020B0604030504040204" pitchFamily="34" charset="0"/>
                  <a:cs typeface="Tahoma" panose="020B0604030504040204" pitchFamily="34" charset="0"/>
                </a:rPr>
                <a:t>)</a:t>
              </a:r>
            </a:p>
            <a:p>
              <a:pPr lvl="0" algn="r" defTabSz="1644650">
                <a:spcBef>
                  <a:spcPct val="0"/>
                </a:spcBef>
              </a:pPr>
              <a:r>
                <a:rPr lang="en-US" sz="2000" kern="1200" dirty="0" err="1" smtClean="0">
                  <a:latin typeface="Tahoma" panose="020B0604030504040204" pitchFamily="34" charset="0"/>
                  <a:ea typeface="Tahoma" panose="020B0604030504040204" pitchFamily="34" charset="0"/>
                  <a:cs typeface="Tahoma" panose="020B0604030504040204" pitchFamily="34" charset="0"/>
                </a:rPr>
                <a:t>tuan.nguyenkim@phenikaa-uni.edu.vn</a:t>
              </a:r>
              <a:endParaRPr lang="en-US" sz="2000" kern="1200" dirty="0">
                <a:latin typeface="Tahoma" panose="020B0604030504040204" pitchFamily="34"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290639705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521284" y="64869"/>
            <a:ext cx="8048289" cy="1325563"/>
          </a:xfrm>
        </p:spPr>
        <p:txBody>
          <a:bodyPr>
            <a:normAutofit/>
          </a:bodyPr>
          <a:lstStyle/>
          <a:p>
            <a:pPr algn="ctr">
              <a:lnSpc>
                <a:spcPct val="100000"/>
              </a:lnSpc>
            </a:pPr>
            <a:r>
              <a:rPr lang="en-US" sz="3600" dirty="0" err="1" smtClean="0">
                <a:solidFill>
                  <a:srgbClr val="0000CC"/>
                </a:solidFill>
                <a:latin typeface="Rockwell" panose="02060603020205020403" pitchFamily="18" charset="0"/>
              </a:rPr>
              <a:t>BẢO</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MẬT</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ỨNG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DỤNG</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VÀ</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HỆ</a:t>
            </a:r>
            <a:r>
              <a:rPr lang="en-US" sz="3600" dirty="0" smtClean="0">
                <a:solidFill>
                  <a:srgbClr val="0000CC"/>
                </a:solidFill>
                <a:latin typeface="Rockwell" panose="02060603020205020403" pitchFamily="18" charset="0"/>
              </a:rPr>
              <a:t> </a:t>
            </a:r>
            <a:r>
              <a:rPr lang="en-US" sz="3600" dirty="0" err="1" smtClean="0">
                <a:solidFill>
                  <a:srgbClr val="0000CC"/>
                </a:solidFill>
                <a:latin typeface="Rockwell" panose="02060603020205020403" pitchFamily="18" charset="0"/>
              </a:rPr>
              <a:t>THỐNG</a:t>
            </a:r>
            <a:r>
              <a:rPr lang="en-US" sz="3600" dirty="0" smtClean="0">
                <a:solidFill>
                  <a:srgbClr val="0000CC"/>
                </a:solidFill>
                <a:latin typeface="Rockwell" panose="02060603020205020403" pitchFamily="18" charset="0"/>
              </a:rPr>
              <a:t>  </a:t>
            </a:r>
            <a:br>
              <a:rPr lang="en-US" sz="3600" dirty="0" smtClean="0">
                <a:solidFill>
                  <a:srgbClr val="0000CC"/>
                </a:solidFill>
                <a:latin typeface="Rockwell" panose="02060603020205020403" pitchFamily="18" charset="0"/>
              </a:rPr>
            </a:br>
            <a:r>
              <a:rPr lang="en-US" sz="3600" dirty="0" err="1" smtClean="0">
                <a:solidFill>
                  <a:srgbClr val="0000CC"/>
                </a:solidFill>
                <a:latin typeface="Rockwell" panose="02060603020205020403" pitchFamily="18" charset="0"/>
              </a:rPr>
              <a:t>CSE702005</a:t>
            </a:r>
            <a:r>
              <a:rPr lang="en-US" sz="3600" dirty="0" smtClean="0">
                <a:solidFill>
                  <a:srgbClr val="0000CC"/>
                </a:solidFill>
                <a:latin typeface="Rockwell" panose="02060603020205020403" pitchFamily="18" charset="0"/>
              </a:rPr>
              <a:t>-1-1-25 (</a:t>
            </a:r>
            <a:r>
              <a:rPr lang="en-US" sz="3600" dirty="0" err="1" smtClean="0">
                <a:solidFill>
                  <a:srgbClr val="0000CC"/>
                </a:solidFill>
                <a:latin typeface="Rockwell" panose="02060603020205020403" pitchFamily="18" charset="0"/>
              </a:rPr>
              <a:t>N03</a:t>
            </a:r>
            <a:r>
              <a:rPr lang="en-US" sz="3600" dirty="0" smtClean="0">
                <a:solidFill>
                  <a:srgbClr val="0000CC"/>
                </a:solidFill>
                <a:latin typeface="Rockwell" panose="02060603020205020403" pitchFamily="18" charset="0"/>
              </a:rPr>
              <a:t>)</a:t>
            </a:r>
            <a:endParaRPr lang="en-US" sz="3600" dirty="0">
              <a:solidFill>
                <a:srgbClr val="0000CC"/>
              </a:solidFill>
              <a:latin typeface="Rockwell" panose="02060603020205020403" pitchFamily="18" charset="0"/>
            </a:endParaRPr>
          </a:p>
        </p:txBody>
      </p:sp>
      <p:grpSp>
        <p:nvGrpSpPr>
          <p:cNvPr id="9" name="Group 8">
            <a:extLst>
              <a:ext uri="{FF2B5EF4-FFF2-40B4-BE49-F238E27FC236}">
                <a16:creationId xmlns:a16="http://schemas.microsoft.com/office/drawing/2014/main" id="{798EA88B-C439-4F17-9585-820972CE0BA5}"/>
              </a:ext>
              <a:ext uri="{C183D7F6-B498-43B3-948B-1728B52AA6E4}">
                <adec:decorative xmlns="" xmlns:adec="http://schemas.microsoft.com/office/drawing/2017/decorative" val="1"/>
              </a:ext>
            </a:extLst>
          </p:cNvPr>
          <p:cNvGrpSpPr/>
          <p:nvPr/>
        </p:nvGrpSpPr>
        <p:grpSpPr>
          <a:xfrm>
            <a:off x="9009186" y="0"/>
            <a:ext cx="3668917" cy="6941127"/>
            <a:chOff x="9009186" y="0"/>
            <a:chExt cx="3668917" cy="6941127"/>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1" name="Graphic 10" descr="Clipboard">
              <a:extLst>
                <a:ext uri="{FF2B5EF4-FFF2-40B4-BE49-F238E27FC236}">
                  <a16:creationId xmlns:a16="http://schemas.microsoft.com/office/drawing/2014/main" id="{4F58D0C9-D25F-4044-8F1B-4190E5A1BD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9009186" y="3272210"/>
              <a:ext cx="3668917" cy="3668917"/>
            </a:xfrm>
            <a:prstGeom prst="rect">
              <a:avLst/>
            </a:prstGeom>
          </p:spPr>
        </p:pic>
      </p:gr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180084" y="1511720"/>
            <a:ext cx="9496177" cy="4807187"/>
          </a:xfrm>
        </p:spPr>
        <p:txBody>
          <a:bodyPr vert="horz" lIns="91440" tIns="45720" rIns="91440" bIns="45720" rtlCol="0" anchor="t">
            <a:noAutofit/>
          </a:bodyPr>
          <a:lstStyle/>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1: </a:t>
            </a:r>
            <a:r>
              <a:rPr lang="en-US" dirty="0" err="1" smtClean="0">
                <a:solidFill>
                  <a:srgbClr val="0000CC"/>
                </a:solidFill>
                <a:latin typeface="Rockwell" panose="02060603020205020403" pitchFamily="18" charset="0"/>
                <a:ea typeface="Tahoma"/>
                <a:cs typeface="Tahoma"/>
              </a:rPr>
              <a:t>Tổng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quan</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về</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thống</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FF00FF"/>
                </a:solidFill>
                <a:latin typeface="Rockwell" panose="02060603020205020403" pitchFamily="18" charset="0"/>
                <a:ea typeface="Tahoma"/>
                <a:cs typeface="Tahoma"/>
              </a:rPr>
              <a:t>Bài</a:t>
            </a:r>
            <a:r>
              <a:rPr lang="en-US" dirty="0" smtClean="0">
                <a:solidFill>
                  <a:srgbClr val="FF00FF"/>
                </a:solidFill>
                <a:latin typeface="Rockwell" panose="02060603020205020403" pitchFamily="18" charset="0"/>
                <a:ea typeface="Tahoma"/>
                <a:cs typeface="Tahoma"/>
              </a:rPr>
              <a:t> 2: </a:t>
            </a:r>
            <a:r>
              <a:rPr lang="en-US" dirty="0" err="1" smtClean="0">
                <a:solidFill>
                  <a:srgbClr val="FF00FF"/>
                </a:solidFill>
                <a:latin typeface="Rockwell" panose="02060603020205020403" pitchFamily="18" charset="0"/>
                <a:ea typeface="Tahoma"/>
                <a:cs typeface="Tahoma"/>
              </a:rPr>
              <a:t>Tấn</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công</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và</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Phòng</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thủ</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trên</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không</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gian</a:t>
            </a:r>
            <a:r>
              <a:rPr lang="en-US" dirty="0" smtClean="0">
                <a:solidFill>
                  <a:srgbClr val="FF00FF"/>
                </a:solidFill>
                <a:latin typeface="Rockwell" panose="02060603020205020403" pitchFamily="18" charset="0"/>
                <a:ea typeface="Tahoma"/>
                <a:cs typeface="Tahoma"/>
              </a:rPr>
              <a:t> </a:t>
            </a:r>
            <a:r>
              <a:rPr lang="en-US" dirty="0" err="1" smtClean="0">
                <a:solidFill>
                  <a:srgbClr val="FF00FF"/>
                </a:solidFill>
                <a:latin typeface="Rockwell" panose="02060603020205020403" pitchFamily="18" charset="0"/>
                <a:ea typeface="Tahoma"/>
                <a:cs typeface="Tahoma"/>
              </a:rPr>
              <a:t>mạng</a:t>
            </a:r>
            <a:endParaRPr lang="en-US" dirty="0" smtClean="0">
              <a:solidFill>
                <a:srgbClr val="FF00FF"/>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3.1: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1)</a:t>
            </a:r>
          </a:p>
          <a:p>
            <a:pPr>
              <a:lnSpc>
                <a:spcPct val="100000"/>
              </a:lnSpc>
              <a:spcBef>
                <a:spcPts val="600"/>
              </a:spcBef>
              <a:spcAft>
                <a:spcPts val="600"/>
              </a:spcAft>
            </a:pPr>
            <a:r>
              <a:rPr lang="en-US" dirty="0" err="1" smtClean="0">
                <a:solidFill>
                  <a:schemeClr val="bg1"/>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3.2: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ứng</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dụng</a:t>
            </a:r>
            <a:r>
              <a:rPr lang="en-US" dirty="0" smtClean="0">
                <a:solidFill>
                  <a:srgbClr val="0000CC"/>
                </a:solidFill>
                <a:latin typeface="Rockwell" panose="02060603020205020403" pitchFamily="18" charset="0"/>
                <a:ea typeface="Tahoma"/>
                <a:cs typeface="Tahoma"/>
              </a:rPr>
              <a:t> Web (</a:t>
            </a:r>
            <a:r>
              <a:rPr lang="en-US" dirty="0" err="1" smtClean="0">
                <a:solidFill>
                  <a:srgbClr val="0000CC"/>
                </a:solidFill>
                <a:latin typeface="Rockwell" panose="02060603020205020403" pitchFamily="18" charset="0"/>
                <a:ea typeface="Tahoma"/>
                <a:cs typeface="Tahoma"/>
              </a:rPr>
              <a:t>Phần</a:t>
            </a:r>
            <a:r>
              <a:rPr lang="en-US" dirty="0" smtClean="0">
                <a:solidFill>
                  <a:srgbClr val="0000CC"/>
                </a:solidFill>
                <a:latin typeface="Rockwell" panose="02060603020205020403" pitchFamily="18" charset="0"/>
                <a:ea typeface="Tahoma"/>
                <a:cs typeface="Tahoma"/>
              </a:rPr>
              <a:t> 2)</a:t>
            </a:r>
            <a:endParaRPr lang="en-US" dirty="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4: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Cơ</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sở</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dữ</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liệu</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5: </a:t>
            </a:r>
            <a:r>
              <a:rPr lang="en-US" dirty="0" err="1" smtClean="0">
                <a:solidFill>
                  <a:srgbClr val="0000CC"/>
                </a:solidFill>
                <a:latin typeface="Rockwell" panose="02060603020205020403" pitchFamily="18" charset="0"/>
                <a:ea typeface="Tahoma"/>
                <a:cs typeface="Tahoma"/>
              </a:rPr>
              <a:t>Bảo</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mật</a:t>
            </a:r>
            <a:r>
              <a:rPr lang="en-US" dirty="0" smtClean="0">
                <a:solidFill>
                  <a:srgbClr val="0000CC"/>
                </a:solidFill>
                <a:latin typeface="Rockwell" panose="02060603020205020403" pitchFamily="18" charset="0"/>
                <a:ea typeface="Tahoma"/>
                <a:cs typeface="Tahoma"/>
              </a:rPr>
              <a:t> API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Hệ</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điều</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hành</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6: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độc</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và</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Mã</a:t>
            </a:r>
            <a:r>
              <a:rPr lang="en-US" dirty="0" smtClean="0">
                <a:solidFill>
                  <a:srgbClr val="0000CC"/>
                </a:solidFill>
                <a:latin typeface="Rockwell" panose="02060603020205020403" pitchFamily="18" charset="0"/>
                <a:ea typeface="Tahoma"/>
                <a:cs typeface="Tahoma"/>
              </a:rPr>
              <a:t> </a:t>
            </a:r>
            <a:r>
              <a:rPr lang="en-US" dirty="0" err="1" smtClean="0">
                <a:solidFill>
                  <a:srgbClr val="0000CC"/>
                </a:solidFill>
                <a:latin typeface="Rockwell" panose="02060603020205020403" pitchFamily="18" charset="0"/>
                <a:ea typeface="Tahoma"/>
                <a:cs typeface="Tahoma"/>
              </a:rPr>
              <a:t>khai</a:t>
            </a:r>
            <a:r>
              <a:rPr lang="en-US" dirty="0" smtClean="0">
                <a:solidFill>
                  <a:srgbClr val="0000CC"/>
                </a:solidFill>
                <a:latin typeface="Rockwell" panose="02060603020205020403" pitchFamily="18" charset="0"/>
                <a:ea typeface="Tahoma"/>
                <a:cs typeface="Tahoma"/>
              </a:rPr>
              <a:t> </a:t>
            </a:r>
            <a:r>
              <a:rPr lang="en-US" smtClean="0">
                <a:solidFill>
                  <a:srgbClr val="0000CC"/>
                </a:solidFill>
                <a:latin typeface="Rockwell" panose="02060603020205020403" pitchFamily="18" charset="0"/>
                <a:ea typeface="Tahoma"/>
                <a:cs typeface="Tahoma"/>
              </a:rPr>
              <a:t>thác</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a:t>
            </a:r>
            <a:r>
              <a:rPr lang="en-US" dirty="0">
                <a:solidFill>
                  <a:srgbClr val="0000CC"/>
                </a:solidFill>
                <a:latin typeface="Rockwell" panose="02060603020205020403" pitchFamily="18" charset="0"/>
                <a:ea typeface="Tahoma"/>
                <a:cs typeface="Tahoma"/>
              </a:rPr>
              <a:t>7: BM </a:t>
            </a:r>
            <a:r>
              <a:rPr lang="en-US" dirty="0" err="1">
                <a:solidFill>
                  <a:srgbClr val="0000CC"/>
                </a:solidFill>
                <a:latin typeface="Rockwell" panose="02060603020205020403" pitchFamily="18" charset="0"/>
                <a:ea typeface="Tahoma"/>
                <a:cs typeface="Tahoma"/>
              </a:rPr>
              <a:t>hạ</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tầng</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mạng</a:t>
            </a:r>
            <a:r>
              <a:rPr lang="en-US" dirty="0">
                <a:solidFill>
                  <a:srgbClr val="0000CC"/>
                </a:solidFill>
                <a:latin typeface="Rockwell" panose="02060603020205020403" pitchFamily="18" charset="0"/>
                <a:ea typeface="Tahoma"/>
                <a:cs typeface="Tahoma"/>
              </a:rPr>
              <a:t> E-Commerce: VPN - FW - IDS</a:t>
            </a:r>
            <a:endParaRPr lang="en-US" dirty="0" smtClean="0">
              <a:solidFill>
                <a:srgbClr val="0000CC"/>
              </a:solidFill>
              <a:latin typeface="Rockwell" panose="02060603020205020403" pitchFamily="18" charset="0"/>
              <a:ea typeface="Tahoma"/>
              <a:cs typeface="Tahoma"/>
            </a:endParaRPr>
          </a:p>
          <a:p>
            <a:pPr>
              <a:lnSpc>
                <a:spcPct val="100000"/>
              </a:lnSpc>
              <a:spcBef>
                <a:spcPts val="600"/>
              </a:spcBef>
              <a:spcAft>
                <a:spcPts val="600"/>
              </a:spcAft>
            </a:pPr>
            <a:r>
              <a:rPr lang="en-US" dirty="0" err="1" smtClean="0">
                <a:solidFill>
                  <a:srgbClr val="0000CC"/>
                </a:solidFill>
                <a:latin typeface="Rockwell" panose="02060603020205020403" pitchFamily="18" charset="0"/>
                <a:ea typeface="Tahoma"/>
                <a:cs typeface="Tahoma"/>
              </a:rPr>
              <a:t>Bài</a:t>
            </a:r>
            <a:r>
              <a:rPr lang="en-US" dirty="0" smtClean="0">
                <a:solidFill>
                  <a:srgbClr val="0000CC"/>
                </a:solidFill>
                <a:latin typeface="Rockwell" panose="02060603020205020403" pitchFamily="18" charset="0"/>
                <a:ea typeface="Tahoma"/>
                <a:cs typeface="Tahoma"/>
              </a:rPr>
              <a:t> 8: </a:t>
            </a:r>
            <a:r>
              <a:rPr lang="en-US" dirty="0" err="1">
                <a:solidFill>
                  <a:srgbClr val="0000CC"/>
                </a:solidFill>
                <a:latin typeface="Rockwell" panose="02060603020205020403" pitchFamily="18" charset="0"/>
                <a:ea typeface="Tahoma"/>
                <a:cs typeface="Tahoma"/>
              </a:rPr>
              <a:t>Quy</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trình</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phát</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triển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phần</a:t>
            </a:r>
            <a:r>
              <a:rPr lang="en-US" dirty="0">
                <a:solidFill>
                  <a:srgbClr val="0000CC"/>
                </a:solidFill>
                <a:latin typeface="Rockwell" panose="02060603020205020403" pitchFamily="18" charset="0"/>
                <a:ea typeface="Tahoma"/>
                <a:cs typeface="Tahoma"/>
              </a:rPr>
              <a:t> </a:t>
            </a:r>
            <a:r>
              <a:rPr lang="en-US" dirty="0" err="1">
                <a:solidFill>
                  <a:srgbClr val="0000CC"/>
                </a:solidFill>
                <a:latin typeface="Rockwell" panose="02060603020205020403" pitchFamily="18" charset="0"/>
                <a:ea typeface="Tahoma"/>
                <a:cs typeface="Tahoma"/>
              </a:rPr>
              <a:t>mềm</a:t>
            </a:r>
            <a:r>
              <a:rPr lang="en-US" dirty="0">
                <a:solidFill>
                  <a:srgbClr val="0000CC"/>
                </a:solidFill>
                <a:latin typeface="Rockwell" panose="02060603020205020403" pitchFamily="18" charset="0"/>
                <a:ea typeface="Tahoma"/>
                <a:cs typeface="Tahoma"/>
              </a:rPr>
              <a:t> an </a:t>
            </a:r>
            <a:r>
              <a:rPr lang="en-US" dirty="0" err="1">
                <a:solidFill>
                  <a:srgbClr val="0000CC"/>
                </a:solidFill>
                <a:latin typeface="Rockwell" panose="02060603020205020403" pitchFamily="18" charset="0"/>
                <a:ea typeface="Tahoma"/>
                <a:cs typeface="Tahoma"/>
              </a:rPr>
              <a:t>toàn</a:t>
            </a:r>
            <a:r>
              <a:rPr lang="en-US" dirty="0" smtClean="0">
                <a:solidFill>
                  <a:srgbClr val="0000CC"/>
                </a:solidFill>
                <a:latin typeface="Rockwell" panose="02060603020205020403" pitchFamily="18" charset="0"/>
                <a:ea typeface="Tahoma"/>
                <a:cs typeface="Tahoma"/>
              </a:rPr>
              <a:t> </a:t>
            </a:r>
            <a:endParaRPr lang="en-US" dirty="0">
              <a:solidFill>
                <a:srgbClr val="0000CC"/>
              </a:solidFill>
              <a:latin typeface="Rockwell" panose="02060603020205020403" pitchFamily="18" charset="0"/>
              <a:ea typeface="Tahoma"/>
              <a:cs typeface="Tahoma"/>
            </a:endParaRPr>
          </a:p>
        </p:txBody>
      </p:sp>
      <p:cxnSp>
        <p:nvCxnSpPr>
          <p:cNvPr id="13" name="Straight Connector 12"/>
          <p:cNvCxnSpPr/>
          <p:nvPr/>
        </p:nvCxnSpPr>
        <p:spPr>
          <a:xfrm>
            <a:off x="0" y="136313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4991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2257-3980-4551-868A-26DC3CB821EE}"/>
              </a:ext>
            </a:extLst>
          </p:cNvPr>
          <p:cNvSpPr>
            <a:spLocks noGrp="1"/>
          </p:cNvSpPr>
          <p:nvPr>
            <p:ph type="title"/>
          </p:nvPr>
        </p:nvSpPr>
        <p:spPr>
          <a:xfrm>
            <a:off x="237599" y="571259"/>
            <a:ext cx="9155784" cy="737285"/>
          </a:xfrm>
        </p:spPr>
        <p:txBody>
          <a:bodyPr>
            <a:noAutofit/>
          </a:bodyPr>
          <a:lstStyle/>
          <a:p>
            <a:r>
              <a:rPr lang="en-US" sz="2800" dirty="0" err="1" smtClean="0">
                <a:solidFill>
                  <a:srgbClr val="0000CC"/>
                </a:solidFill>
                <a:latin typeface="Rockwell" panose="02060603020205020403" pitchFamily="18" charset="0"/>
              </a:rPr>
              <a:t>BÀI</a:t>
            </a:r>
            <a:r>
              <a:rPr lang="en-US" sz="2800" dirty="0" smtClean="0">
                <a:solidFill>
                  <a:srgbClr val="0000CC"/>
                </a:solidFill>
                <a:latin typeface="Rockwell" panose="02060603020205020403" pitchFamily="18" charset="0"/>
              </a:rPr>
              <a:t> 2: </a:t>
            </a:r>
            <a:r>
              <a:rPr lang="en-US" sz="2800" dirty="0" err="1" smtClean="0">
                <a:solidFill>
                  <a:srgbClr val="0000CC"/>
                </a:solidFill>
                <a:latin typeface="Rockwell" panose="02060603020205020403" pitchFamily="18" charset="0"/>
              </a:rPr>
              <a:t>TẤN</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CÔNG</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VÀ</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PHÒNG</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THỦ</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TRÊN</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KHÔNG</a:t>
            </a:r>
            <a:r>
              <a:rPr lang="en-US" sz="2800" dirty="0" smtClean="0">
                <a:solidFill>
                  <a:srgbClr val="0000CC"/>
                </a:solidFill>
                <a:latin typeface="Rockwell" panose="02060603020205020403" pitchFamily="18" charset="0"/>
              </a:rPr>
              <a:t> </a:t>
            </a:r>
            <a:br>
              <a:rPr lang="en-US" sz="2800" dirty="0" smtClean="0">
                <a:solidFill>
                  <a:srgbClr val="0000CC"/>
                </a:solidFill>
                <a:latin typeface="Rockwell" panose="02060603020205020403" pitchFamily="18" charset="0"/>
              </a:rPr>
            </a:b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GIAN</a:t>
            </a:r>
            <a:r>
              <a:rPr lang="en-US" sz="2800" dirty="0" smtClean="0">
                <a:solidFill>
                  <a:srgbClr val="0000CC"/>
                </a:solidFill>
                <a:latin typeface="Rockwell" panose="02060603020205020403" pitchFamily="18" charset="0"/>
              </a:rPr>
              <a:t> </a:t>
            </a:r>
            <a:r>
              <a:rPr lang="en-US" sz="2800" dirty="0" err="1" smtClean="0">
                <a:solidFill>
                  <a:srgbClr val="0000CC"/>
                </a:solidFill>
                <a:latin typeface="Rockwell" panose="02060603020205020403" pitchFamily="18" charset="0"/>
              </a:rPr>
              <a:t>MẠNG</a:t>
            </a:r>
            <a:endParaRPr lang="en-US" sz="2800"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B57E0B0F-4D29-4786-B2AB-B84D9F8B5429}"/>
              </a:ext>
            </a:extLst>
          </p:cNvPr>
          <p:cNvSpPr>
            <a:spLocks noGrp="1"/>
          </p:cNvSpPr>
          <p:nvPr>
            <p:ph idx="1"/>
          </p:nvPr>
        </p:nvSpPr>
        <p:spPr>
          <a:xfrm>
            <a:off x="354842" y="1577213"/>
            <a:ext cx="9038541" cy="4228811"/>
          </a:xfrm>
        </p:spPr>
        <p:txBody>
          <a:bodyPr>
            <a:noAutofit/>
          </a:bodyPr>
          <a:lstStyle/>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ngữ</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liên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quan</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tiêu</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chung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cuộc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Phương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gian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600"/>
              </a:spcBef>
              <a:spcAft>
                <a:spcPts val="600"/>
              </a:spcAft>
              <a:buFont typeface="+mj-lt"/>
              <a:buAutoNum type="arabicPeriod"/>
            </a:pP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Xu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hướng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chiến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lược</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6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đại</a:t>
            </a:r>
            <a:endParaRPr lang="en-US" sz="26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lnSpc>
                <a:spcPct val="100000"/>
              </a:lnSpc>
              <a:spcBef>
                <a:spcPts val="1200"/>
              </a:spcBef>
              <a:spcAft>
                <a:spcPts val="1200"/>
              </a:spcAft>
              <a:buFont typeface="+mj-lt"/>
              <a:buAutoNum type="arabicPeriod"/>
            </a:pPr>
            <a:endParaRPr lang="en-US" sz="24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grpSp>
        <p:nvGrpSpPr>
          <p:cNvPr id="13" name="Group 12">
            <a:extLst>
              <a:ext uri="{FF2B5EF4-FFF2-40B4-BE49-F238E27FC236}">
                <a16:creationId xmlns:a16="http://schemas.microsoft.com/office/drawing/2014/main" id="{9C15E21A-C111-4D39-BB47-E83988E5A05E}"/>
              </a:ext>
              <a:ext uri="{C183D7F6-B498-43B3-948B-1728B52AA6E4}">
                <adec:decorative xmlns="" xmlns:adec="http://schemas.microsoft.com/office/drawing/2017/decorative" val="1"/>
              </a:ext>
            </a:extLst>
          </p:cNvPr>
          <p:cNvGrpSpPr/>
          <p:nvPr/>
        </p:nvGrpSpPr>
        <p:grpSpPr>
          <a:xfrm>
            <a:off x="9055676" y="0"/>
            <a:ext cx="3193475" cy="6954260"/>
            <a:chOff x="9055676" y="0"/>
            <a:chExt cx="3193475" cy="6954260"/>
          </a:xfrm>
        </p:grpSpPr>
        <p:grpSp>
          <p:nvGrpSpPr>
            <p:cNvPr id="10" name="Group 9">
              <a:extLst>
                <a:ext uri="{FF2B5EF4-FFF2-40B4-BE49-F238E27FC236}">
                  <a16:creationId xmlns:a16="http://schemas.microsoft.com/office/drawing/2014/main" id="{D4EF09CF-3362-453A-9463-F6669A9D3E01}"/>
                </a:ext>
              </a:extLst>
            </p:cNvPr>
            <p:cNvGrpSpPr/>
            <p:nvPr/>
          </p:nvGrpSpPr>
          <p:grpSpPr>
            <a:xfrm>
              <a:off x="9055676" y="0"/>
              <a:ext cx="3136324" cy="6858000"/>
              <a:chOff x="9055676" y="0"/>
              <a:chExt cx="3136324" cy="6858000"/>
            </a:xfrm>
          </p:grpSpPr>
          <p:sp>
            <p:nvSpPr>
              <p:cNvPr id="4" name="Rectangle 3">
                <a:extLst>
                  <a:ext uri="{FF2B5EF4-FFF2-40B4-BE49-F238E27FC236}">
                    <a16:creationId xmlns:a16="http://schemas.microsoft.com/office/drawing/2014/main" id="{403AE892-EBD6-40F1-851B-FEADBD59429F}"/>
                  </a:ext>
                </a:extLst>
              </p:cNvPr>
              <p:cNvSpPr/>
              <p:nvPr/>
            </p:nvSpPr>
            <p:spPr>
              <a:xfrm>
                <a:off x="9221932" y="0"/>
                <a:ext cx="2970068" cy="6858000"/>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4318653-1A38-442C-BA0F-F2C51149BCFF}"/>
                  </a:ext>
                </a:extLst>
              </p:cNvPr>
              <p:cNvSpPr/>
              <p:nvPr/>
            </p:nvSpPr>
            <p:spPr>
              <a:xfrm>
                <a:off x="9055676" y="0"/>
                <a:ext cx="16625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25D63D1-E9CE-42BF-BD4D-374FD0293155}"/>
                  </a:ext>
                </a:extLst>
              </p:cNvPr>
              <p:cNvSpPr/>
              <p:nvPr/>
            </p:nvSpPr>
            <p:spPr>
              <a:xfrm>
                <a:off x="9221932" y="0"/>
                <a:ext cx="114301" cy="6858000"/>
              </a:xfrm>
              <a:prstGeom prst="rect">
                <a:avLst/>
              </a:prstGeom>
              <a:solidFill>
                <a:srgbClr val="FFD34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BA4EE865-9F0D-4531-A737-E13A557C0277}"/>
                  </a:ext>
                </a:extLst>
              </p:cNvPr>
              <p:cNvSpPr/>
              <p:nvPr/>
            </p:nvSpPr>
            <p:spPr>
              <a:xfrm>
                <a:off x="9336233" y="0"/>
                <a:ext cx="150667"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A1183CB-C5B0-498A-A49C-4180134C74B0}"/>
                  </a:ext>
                </a:extLst>
              </p:cNvPr>
              <p:cNvSpPr/>
              <p:nvPr/>
            </p:nvSpPr>
            <p:spPr>
              <a:xfrm>
                <a:off x="9336233" y="0"/>
                <a:ext cx="571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12" name="Graphic 11" descr="Test tubes">
              <a:extLst>
                <a:ext uri="{FF2B5EF4-FFF2-40B4-BE49-F238E27FC236}">
                  <a16:creationId xmlns:a16="http://schemas.microsoft.com/office/drawing/2014/main" id="{57BD2CFA-105C-4606-859E-A8413C62B3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9450534" y="4155643"/>
              <a:ext cx="2798617" cy="2798617"/>
            </a:xfrm>
            <a:prstGeom prst="rect">
              <a:avLst/>
            </a:prstGeom>
          </p:spPr>
        </p:pic>
      </p:grpSp>
      <p:pic>
        <p:nvPicPr>
          <p:cNvPr id="1026" name="Picture 2" descr="What is cyber security? | Wizard Cyb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0534" y="0"/>
            <a:ext cx="2676256" cy="2200855"/>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Connector 13"/>
          <p:cNvCxnSpPr/>
          <p:nvPr/>
        </p:nvCxnSpPr>
        <p:spPr>
          <a:xfrm>
            <a:off x="0" y="1363136"/>
            <a:ext cx="9055676" cy="0"/>
          </a:xfrm>
          <a:prstGeom prst="line">
            <a:avLst/>
          </a:prstGeom>
          <a:ln w="44450">
            <a:solidFill>
              <a:srgbClr val="0000C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10020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599" y="1024060"/>
            <a:ext cx="10242645" cy="515203"/>
          </a:xfrm>
        </p:spPr>
        <p:txBody>
          <a:bodyPr/>
          <a:lstStyle/>
          <a:p>
            <a:r>
              <a:rPr lang="en-US" sz="2800" b="1" dirty="0" smtClean="0">
                <a:solidFill>
                  <a:srgbClr val="0000CC"/>
                </a:solidFill>
                <a:latin typeface="Rockwell" panose="02060603020205020403" pitchFamily="18" charset="0"/>
              </a:rPr>
              <a:t>2.1.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599" y="1539263"/>
            <a:ext cx="10242645" cy="4382729"/>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mj-ea"/>
                <a:cs typeface="+mj-cs"/>
              </a:rPr>
              <a:t>1.1. Không gian mạng (Cyberspace)</a:t>
            </a:r>
          </a:p>
          <a:p>
            <a:pPr>
              <a:spcBef>
                <a:spcPts val="600"/>
              </a:spcBef>
              <a:spcAft>
                <a:spcPts val="600"/>
              </a:spcAft>
            </a:pPr>
            <a:r>
              <a:rPr lang="vi-VN" dirty="0" smtClean="0">
                <a:solidFill>
                  <a:srgbClr val="0000CC"/>
                </a:solidFill>
                <a:latin typeface="Rockwell" panose="02060603020205020403" pitchFamily="18" charset="0"/>
                <a:ea typeface="+mj-ea"/>
                <a:cs typeface="+mj-cs"/>
              </a:rPr>
              <a:t>Không </a:t>
            </a:r>
            <a:r>
              <a:rPr lang="vi-VN" dirty="0">
                <a:solidFill>
                  <a:srgbClr val="0000CC"/>
                </a:solidFill>
                <a:latin typeface="Rockwell" panose="02060603020205020403" pitchFamily="18" charset="0"/>
                <a:ea typeface="+mj-ea"/>
                <a:cs typeface="+mj-cs"/>
              </a:rPr>
              <a:t>gian mạng là môi trường ảo được hình thành từ sự kết nối của hệ thống thông tin, mạng máy tính, Internet và các thiết bị thông minh.</a:t>
            </a:r>
          </a:p>
          <a:p>
            <a:pPr>
              <a:spcBef>
                <a:spcPts val="600"/>
              </a:spcBef>
              <a:spcAft>
                <a:spcPts val="600"/>
              </a:spcAft>
            </a:pPr>
            <a:r>
              <a:rPr lang="vi-VN" dirty="0">
                <a:solidFill>
                  <a:srgbClr val="0000CC"/>
                </a:solidFill>
                <a:latin typeface="Rockwell" panose="02060603020205020403" pitchFamily="18" charset="0"/>
                <a:ea typeface="+mj-ea"/>
                <a:cs typeface="+mj-cs"/>
              </a:rPr>
              <a:t>Đặc điểm:</a:t>
            </a:r>
          </a:p>
          <a:p>
            <a:pPr lvl="1">
              <a:spcBef>
                <a:spcPts val="600"/>
              </a:spcBef>
              <a:spcAft>
                <a:spcPts val="600"/>
              </a:spcAft>
            </a:pPr>
            <a:r>
              <a:rPr lang="vi-VN" dirty="0">
                <a:solidFill>
                  <a:srgbClr val="0000CC"/>
                </a:solidFill>
                <a:latin typeface="Rockwell" panose="02060603020205020403" pitchFamily="18" charset="0"/>
                <a:ea typeface="+mj-ea"/>
                <a:cs typeface="+mj-cs"/>
              </a:rPr>
              <a:t>Phi biên giới: vượt qua ranh giới quốc gia, lãnh thổ.</a:t>
            </a:r>
          </a:p>
          <a:p>
            <a:pPr lvl="1">
              <a:spcBef>
                <a:spcPts val="600"/>
              </a:spcBef>
              <a:spcAft>
                <a:spcPts val="600"/>
              </a:spcAft>
            </a:pPr>
            <a:r>
              <a:rPr lang="vi-VN" dirty="0">
                <a:solidFill>
                  <a:srgbClr val="0000CC"/>
                </a:solidFill>
                <a:latin typeface="Rockwell" panose="02060603020205020403" pitchFamily="18" charset="0"/>
                <a:ea typeface="+mj-ea"/>
                <a:cs typeface="+mj-cs"/>
              </a:rPr>
              <a:t>Kết nối toàn cầu: hàng tỷ thiết bị và người dùng.</a:t>
            </a:r>
          </a:p>
          <a:p>
            <a:pPr lvl="1">
              <a:spcBef>
                <a:spcPts val="600"/>
              </a:spcBef>
              <a:spcAft>
                <a:spcPts val="600"/>
              </a:spcAft>
            </a:pPr>
            <a:r>
              <a:rPr lang="vi-VN" dirty="0">
                <a:solidFill>
                  <a:srgbClr val="0000CC"/>
                </a:solidFill>
                <a:latin typeface="Rockwell" panose="02060603020205020403" pitchFamily="18" charset="0"/>
                <a:ea typeface="+mj-ea"/>
                <a:cs typeface="+mj-cs"/>
              </a:rPr>
              <a:t>Ẩn danh: kẻ tấn công có thể che giấu danh tính.</a:t>
            </a:r>
          </a:p>
          <a:p>
            <a:pPr>
              <a:spcBef>
                <a:spcPts val="600"/>
              </a:spcBef>
              <a:spcAft>
                <a:spcPts val="600"/>
              </a:spcAft>
            </a:pPr>
            <a:r>
              <a:rPr lang="vi-VN" dirty="0">
                <a:solidFill>
                  <a:srgbClr val="0000CC"/>
                </a:solidFill>
                <a:latin typeface="Rockwell" panose="02060603020205020403" pitchFamily="18" charset="0"/>
                <a:ea typeface="+mj-ea"/>
                <a:cs typeface="+mj-cs"/>
              </a:rPr>
              <a:t>Vai trò: </a:t>
            </a:r>
            <a:r>
              <a:rPr lang="en-US" dirty="0" smtClean="0">
                <a:solidFill>
                  <a:srgbClr val="0000CC"/>
                </a:solidFill>
                <a:latin typeface="Rockwell" panose="02060603020205020403" pitchFamily="18" charset="0"/>
                <a:ea typeface="+mj-ea"/>
                <a:cs typeface="+mj-cs"/>
              </a:rPr>
              <a:t>L</a:t>
            </a:r>
            <a:r>
              <a:rPr lang="vi-VN" dirty="0" smtClean="0">
                <a:solidFill>
                  <a:srgbClr val="0000CC"/>
                </a:solidFill>
                <a:latin typeface="Rockwell" panose="02060603020205020403" pitchFamily="18" charset="0"/>
                <a:ea typeface="+mj-ea"/>
                <a:cs typeface="+mj-cs"/>
              </a:rPr>
              <a:t>à </a:t>
            </a:r>
            <a:r>
              <a:rPr lang="vi-VN" dirty="0">
                <a:solidFill>
                  <a:srgbClr val="0000CC"/>
                </a:solidFill>
                <a:latin typeface="Rockwell" panose="02060603020205020403" pitchFamily="18" charset="0"/>
                <a:ea typeface="+mj-ea"/>
                <a:cs typeface="+mj-cs"/>
              </a:rPr>
              <a:t>hạ tầng của kinh tế số, chính phủ điện tử, xã hội số, đồng thời cũng là “chiến trường” cho các hoạt động tấn công và phòng thủ.</a:t>
            </a:r>
          </a:p>
          <a:p>
            <a:endParaRPr lang="en-US" dirty="0"/>
          </a:p>
        </p:txBody>
      </p:sp>
    </p:spTree>
    <p:extLst>
      <p:ext uri="{BB962C8B-B14F-4D97-AF65-F5344CB8AC3E}">
        <p14:creationId xmlns:p14="http://schemas.microsoft.com/office/powerpoint/2010/main" val="30259610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71600" y="996766"/>
            <a:ext cx="10242645" cy="419668"/>
          </a:xfrm>
        </p:spPr>
        <p:txBody>
          <a:bodyPr/>
          <a:lstStyle/>
          <a:p>
            <a:r>
              <a:rPr lang="en-US" sz="2800" b="1" dirty="0" smtClean="0">
                <a:solidFill>
                  <a:srgbClr val="0000CC"/>
                </a:solidFill>
                <a:latin typeface="Rockwell" panose="02060603020205020403" pitchFamily="18" charset="0"/>
              </a:rPr>
              <a:t>2.1.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71600" y="1539263"/>
            <a:ext cx="10024282" cy="4382729"/>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mj-ea"/>
                <a:cs typeface="+mj-cs"/>
              </a:rPr>
              <a:t>1.2. Tấn công mạng (Cyber Attack)</a:t>
            </a:r>
          </a:p>
          <a:p>
            <a:pPr>
              <a:spcBef>
                <a:spcPts val="600"/>
              </a:spcBef>
              <a:spcAft>
                <a:spcPts val="600"/>
              </a:spcAft>
            </a:pPr>
            <a:r>
              <a:rPr lang="vi-VN" dirty="0" smtClean="0">
                <a:solidFill>
                  <a:srgbClr val="0000CC"/>
                </a:solidFill>
                <a:latin typeface="Rockwell" panose="02060603020205020403" pitchFamily="18" charset="0"/>
                <a:ea typeface="+mj-ea"/>
                <a:cs typeface="+mj-cs"/>
              </a:rPr>
              <a:t>Hành </a:t>
            </a:r>
            <a:r>
              <a:rPr lang="vi-VN" dirty="0">
                <a:solidFill>
                  <a:srgbClr val="0000CC"/>
                </a:solidFill>
                <a:latin typeface="Rockwell" panose="02060603020205020403" pitchFamily="18" charset="0"/>
                <a:ea typeface="+mj-ea"/>
                <a:cs typeface="+mj-cs"/>
              </a:rPr>
              <a:t>vi sử dụng kỹ thuật công nghệ thông tin nhằm xâm nhập, chiếm quyền, phá hoại hoặc đánh cắp thông tin từ hệ thống máy tính, ứng dụng, dịch vụ hoặc hạ tầng mạng.</a:t>
            </a:r>
          </a:p>
          <a:p>
            <a:pPr>
              <a:spcBef>
                <a:spcPts val="600"/>
              </a:spcBef>
              <a:spcAft>
                <a:spcPts val="600"/>
              </a:spcAft>
            </a:pPr>
            <a:r>
              <a:rPr lang="vi-VN" dirty="0">
                <a:solidFill>
                  <a:srgbClr val="0000CC"/>
                </a:solidFill>
                <a:latin typeface="Rockwell" panose="02060603020205020403" pitchFamily="18" charset="0"/>
                <a:ea typeface="+mj-ea"/>
                <a:cs typeface="+mj-cs"/>
              </a:rPr>
              <a:t>Đặc trưng:</a:t>
            </a:r>
          </a:p>
          <a:p>
            <a:pPr lvl="1">
              <a:spcBef>
                <a:spcPts val="600"/>
              </a:spcBef>
              <a:spcAft>
                <a:spcPts val="600"/>
              </a:spcAft>
            </a:pPr>
            <a:r>
              <a:rPr lang="vi-VN" dirty="0">
                <a:solidFill>
                  <a:srgbClr val="0000CC"/>
                </a:solidFill>
                <a:latin typeface="Rockwell" panose="02060603020205020403" pitchFamily="18" charset="0"/>
                <a:ea typeface="+mj-ea"/>
                <a:cs typeface="+mj-cs"/>
              </a:rPr>
              <a:t>Xuất phát từ nhiều nguồn (cá nhân, tổ chức, quốc gia).</a:t>
            </a:r>
          </a:p>
          <a:p>
            <a:pPr lvl="1">
              <a:spcBef>
                <a:spcPts val="600"/>
              </a:spcBef>
              <a:spcAft>
                <a:spcPts val="600"/>
              </a:spcAft>
            </a:pPr>
            <a:r>
              <a:rPr lang="vi-VN" dirty="0">
                <a:solidFill>
                  <a:srgbClr val="0000CC"/>
                </a:solidFill>
                <a:latin typeface="Rockwell" panose="02060603020205020403" pitchFamily="18" charset="0"/>
                <a:ea typeface="+mj-ea"/>
                <a:cs typeface="+mj-cs"/>
              </a:rPr>
              <a:t>Có thể được thực hiện từ xa, thông qua Internet.</a:t>
            </a:r>
          </a:p>
          <a:p>
            <a:pPr lvl="1">
              <a:spcBef>
                <a:spcPts val="600"/>
              </a:spcBef>
              <a:spcAft>
                <a:spcPts val="600"/>
              </a:spcAft>
            </a:pPr>
            <a:r>
              <a:rPr lang="vi-VN" dirty="0">
                <a:solidFill>
                  <a:srgbClr val="0000CC"/>
                </a:solidFill>
                <a:latin typeface="Rockwell" panose="02060603020205020403" pitchFamily="18" charset="0"/>
                <a:ea typeface="+mj-ea"/>
                <a:cs typeface="+mj-cs"/>
              </a:rPr>
              <a:t>Mục tiêu đa dạng: cá nhân, doanh nghiệp, chính phủ, hạ tầng trọng yếu.</a:t>
            </a:r>
          </a:p>
          <a:p>
            <a:endParaRPr lang="en-US" dirty="0"/>
          </a:p>
        </p:txBody>
      </p:sp>
    </p:spTree>
    <p:extLst>
      <p:ext uri="{BB962C8B-B14F-4D97-AF65-F5344CB8AC3E}">
        <p14:creationId xmlns:p14="http://schemas.microsoft.com/office/powerpoint/2010/main" val="34916782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85244" y="1010412"/>
            <a:ext cx="10242645" cy="528851"/>
          </a:xfrm>
        </p:spPr>
        <p:txBody>
          <a:bodyPr/>
          <a:lstStyle/>
          <a:p>
            <a:r>
              <a:rPr lang="en-US" sz="2800" b="1" dirty="0" smtClean="0">
                <a:solidFill>
                  <a:srgbClr val="0000CC"/>
                </a:solidFill>
                <a:latin typeface="Rockwell" panose="02060603020205020403" pitchFamily="18" charset="0"/>
              </a:rPr>
              <a:t>2.1.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85244" y="1539263"/>
            <a:ext cx="10420069" cy="4382729"/>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mj-ea"/>
                <a:cs typeface="+mj-cs"/>
              </a:rPr>
              <a:t>1.3. Phòng thủ mạng (Cyber Defense)</a:t>
            </a:r>
          </a:p>
          <a:p>
            <a:pPr>
              <a:spcBef>
                <a:spcPts val="600"/>
              </a:spcBef>
              <a:spcAft>
                <a:spcPts val="600"/>
              </a:spcAft>
            </a:pPr>
            <a:r>
              <a:rPr lang="vi-VN" dirty="0" smtClean="0">
                <a:solidFill>
                  <a:srgbClr val="0000CC"/>
                </a:solidFill>
                <a:latin typeface="Rockwell" panose="02060603020205020403" pitchFamily="18" charset="0"/>
                <a:ea typeface="+mj-ea"/>
                <a:cs typeface="+mj-cs"/>
              </a:rPr>
              <a:t>Tập </a:t>
            </a:r>
            <a:r>
              <a:rPr lang="vi-VN" dirty="0">
                <a:solidFill>
                  <a:srgbClr val="0000CC"/>
                </a:solidFill>
                <a:latin typeface="Rockwell" panose="02060603020205020403" pitchFamily="18" charset="0"/>
                <a:ea typeface="+mj-ea"/>
                <a:cs typeface="+mj-cs"/>
              </a:rPr>
              <a:t>hợp các biện pháp, giải pháp kỹ thuật và tổ chức nhằm bảo vệ hệ thống trước tấn công mạng, bao gồm phòng ngừa, phát hiện, ứng phó và khôi phục.</a:t>
            </a:r>
          </a:p>
          <a:p>
            <a:pPr>
              <a:spcBef>
                <a:spcPts val="600"/>
              </a:spcBef>
              <a:spcAft>
                <a:spcPts val="600"/>
              </a:spcAft>
            </a:pPr>
            <a:r>
              <a:rPr lang="vi-VN" dirty="0">
                <a:solidFill>
                  <a:srgbClr val="0000CC"/>
                </a:solidFill>
                <a:latin typeface="Rockwell" panose="02060603020205020403" pitchFamily="18" charset="0"/>
                <a:ea typeface="+mj-ea"/>
                <a:cs typeface="+mj-cs"/>
              </a:rPr>
              <a:t>Các lớp phòng thủ:</a:t>
            </a:r>
          </a:p>
          <a:p>
            <a:pPr marL="627063" lvl="1">
              <a:spcBef>
                <a:spcPts val="600"/>
              </a:spcBef>
              <a:spcAft>
                <a:spcPts val="600"/>
              </a:spcAft>
            </a:pPr>
            <a:r>
              <a:rPr lang="vi-VN" dirty="0">
                <a:solidFill>
                  <a:srgbClr val="0000CC"/>
                </a:solidFill>
                <a:latin typeface="Rockwell" panose="02060603020205020403" pitchFamily="18" charset="0"/>
                <a:ea typeface="+mj-ea"/>
                <a:cs typeface="+mj-cs"/>
              </a:rPr>
              <a:t>Phòng ngừa (Prevention): </a:t>
            </a:r>
            <a:r>
              <a:rPr lang="en-US" dirty="0" smtClean="0">
                <a:solidFill>
                  <a:srgbClr val="0000CC"/>
                </a:solidFill>
                <a:latin typeface="Rockwell" panose="02060603020205020403" pitchFamily="18" charset="0"/>
                <a:ea typeface="+mj-ea"/>
                <a:cs typeface="+mj-cs"/>
              </a:rPr>
              <a:t>C</a:t>
            </a:r>
            <a:r>
              <a:rPr lang="vi-VN" dirty="0" smtClean="0">
                <a:solidFill>
                  <a:srgbClr val="0000CC"/>
                </a:solidFill>
                <a:latin typeface="Rockwell" panose="02060603020205020403" pitchFamily="18" charset="0"/>
                <a:ea typeface="+mj-ea"/>
                <a:cs typeface="+mj-cs"/>
              </a:rPr>
              <a:t>ấu </a:t>
            </a:r>
            <a:r>
              <a:rPr lang="vi-VN" dirty="0">
                <a:solidFill>
                  <a:srgbClr val="0000CC"/>
                </a:solidFill>
                <a:latin typeface="Rockwell" panose="02060603020205020403" pitchFamily="18" charset="0"/>
                <a:ea typeface="+mj-ea"/>
                <a:cs typeface="+mj-cs"/>
              </a:rPr>
              <a:t>hình an toàn, firewall, mã hóa, chính sách bảo mật.</a:t>
            </a:r>
          </a:p>
          <a:p>
            <a:pPr marL="627063" lvl="1">
              <a:spcBef>
                <a:spcPts val="600"/>
              </a:spcBef>
              <a:spcAft>
                <a:spcPts val="600"/>
              </a:spcAft>
            </a:pPr>
            <a:r>
              <a:rPr lang="vi-VN" dirty="0">
                <a:solidFill>
                  <a:srgbClr val="0000CC"/>
                </a:solidFill>
                <a:latin typeface="Rockwell" panose="02060603020205020403" pitchFamily="18" charset="0"/>
                <a:ea typeface="+mj-ea"/>
                <a:cs typeface="+mj-cs"/>
              </a:rPr>
              <a:t>Phát hiện (Detection): IDS/IPS, SIEM, giám sát lưu lượng.</a:t>
            </a:r>
          </a:p>
          <a:p>
            <a:pPr marL="627063" lvl="1">
              <a:spcBef>
                <a:spcPts val="600"/>
              </a:spcBef>
              <a:spcAft>
                <a:spcPts val="600"/>
              </a:spcAft>
            </a:pPr>
            <a:r>
              <a:rPr lang="vi-VN" dirty="0">
                <a:solidFill>
                  <a:srgbClr val="0000CC"/>
                </a:solidFill>
                <a:latin typeface="Rockwell" panose="02060603020205020403" pitchFamily="18" charset="0"/>
                <a:ea typeface="+mj-ea"/>
                <a:cs typeface="+mj-cs"/>
              </a:rPr>
              <a:t>Ứng phó (Response): </a:t>
            </a:r>
            <a:r>
              <a:rPr lang="en-US" dirty="0" smtClean="0">
                <a:solidFill>
                  <a:srgbClr val="0000CC"/>
                </a:solidFill>
                <a:latin typeface="Rockwell" panose="02060603020205020403" pitchFamily="18" charset="0"/>
                <a:ea typeface="+mj-ea"/>
                <a:cs typeface="+mj-cs"/>
              </a:rPr>
              <a:t>X</a:t>
            </a:r>
            <a:r>
              <a:rPr lang="vi-VN" dirty="0" smtClean="0">
                <a:solidFill>
                  <a:srgbClr val="0000CC"/>
                </a:solidFill>
                <a:latin typeface="Rockwell" panose="02060603020205020403" pitchFamily="18" charset="0"/>
                <a:ea typeface="+mj-ea"/>
                <a:cs typeface="+mj-cs"/>
              </a:rPr>
              <a:t>ử </a:t>
            </a:r>
            <a:r>
              <a:rPr lang="vi-VN" dirty="0">
                <a:solidFill>
                  <a:srgbClr val="0000CC"/>
                </a:solidFill>
                <a:latin typeface="Rockwell" panose="02060603020205020403" pitchFamily="18" charset="0"/>
                <a:ea typeface="+mj-ea"/>
                <a:cs typeface="+mj-cs"/>
              </a:rPr>
              <a:t>lý sự cố, cô lập tấn công, phân tích forensics.</a:t>
            </a:r>
          </a:p>
          <a:p>
            <a:pPr marL="627063" lvl="1">
              <a:spcBef>
                <a:spcPts val="600"/>
              </a:spcBef>
              <a:spcAft>
                <a:spcPts val="600"/>
              </a:spcAft>
            </a:pPr>
            <a:r>
              <a:rPr lang="vi-VN" dirty="0">
                <a:solidFill>
                  <a:srgbClr val="0000CC"/>
                </a:solidFill>
                <a:latin typeface="Rockwell" panose="02060603020205020403" pitchFamily="18" charset="0"/>
                <a:ea typeface="+mj-ea"/>
                <a:cs typeface="+mj-cs"/>
              </a:rPr>
              <a:t>Khôi phục (Recovery): </a:t>
            </a:r>
            <a:r>
              <a:rPr lang="en-US" dirty="0" smtClean="0">
                <a:solidFill>
                  <a:srgbClr val="0000CC"/>
                </a:solidFill>
                <a:latin typeface="Rockwell" panose="02060603020205020403" pitchFamily="18" charset="0"/>
                <a:ea typeface="+mj-ea"/>
                <a:cs typeface="+mj-cs"/>
              </a:rPr>
              <a:t>B</a:t>
            </a:r>
            <a:r>
              <a:rPr lang="vi-VN" dirty="0" smtClean="0">
                <a:solidFill>
                  <a:srgbClr val="0000CC"/>
                </a:solidFill>
                <a:latin typeface="Rockwell" panose="02060603020205020403" pitchFamily="18" charset="0"/>
                <a:ea typeface="+mj-ea"/>
                <a:cs typeface="+mj-cs"/>
              </a:rPr>
              <a:t>ackup</a:t>
            </a:r>
            <a:r>
              <a:rPr lang="vi-VN" dirty="0">
                <a:solidFill>
                  <a:srgbClr val="0000CC"/>
                </a:solidFill>
                <a:latin typeface="Rockwell" panose="02060603020205020403" pitchFamily="18" charset="0"/>
                <a:ea typeface="+mj-ea"/>
                <a:cs typeface="+mj-cs"/>
              </a:rPr>
              <a:t>, phục hồi hệ thống, tăng cường phòng thủ.</a:t>
            </a:r>
          </a:p>
          <a:p>
            <a:endParaRPr lang="en-US" dirty="0"/>
          </a:p>
        </p:txBody>
      </p:sp>
    </p:spTree>
    <p:extLst>
      <p:ext uri="{BB962C8B-B14F-4D97-AF65-F5344CB8AC3E}">
        <p14:creationId xmlns:p14="http://schemas.microsoft.com/office/powerpoint/2010/main" val="14713660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52870"/>
            <a:ext cx="10242645" cy="528851"/>
          </a:xfrm>
        </p:spPr>
        <p:txBody>
          <a:bodyPr/>
          <a:lstStyle/>
          <a:p>
            <a:r>
              <a:rPr lang="en-US" sz="2800" b="1" dirty="0" smtClean="0">
                <a:solidFill>
                  <a:srgbClr val="0000CC"/>
                </a:solidFill>
                <a:latin typeface="Rockwell" panose="02060603020205020403" pitchFamily="18" charset="0"/>
              </a:rPr>
              <a:t>2.1.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3" y="1443720"/>
            <a:ext cx="9792270" cy="4382729"/>
          </a:xfrm>
        </p:spPr>
        <p:txBody>
          <a:bodyPr/>
          <a:lstStyle/>
          <a:p>
            <a:pPr marL="0" indent="0">
              <a:spcBef>
                <a:spcPts val="0"/>
              </a:spcBef>
              <a:spcAft>
                <a:spcPts val="600"/>
              </a:spcAft>
              <a:buNone/>
            </a:pPr>
            <a:r>
              <a:rPr lang="vi-VN" b="1" dirty="0">
                <a:solidFill>
                  <a:srgbClr val="0000CC"/>
                </a:solidFill>
                <a:latin typeface="Rockwell" panose="02060603020205020403" pitchFamily="18" charset="0"/>
                <a:ea typeface="+mj-ea"/>
                <a:cs typeface="+mj-cs"/>
              </a:rPr>
              <a:t>Một số thuật ngữ </a:t>
            </a:r>
            <a:r>
              <a:rPr lang="en-US" b="1" dirty="0" err="1" smtClean="0">
                <a:solidFill>
                  <a:srgbClr val="0000CC"/>
                </a:solidFill>
                <a:latin typeface="Rockwell" panose="02060603020205020403" pitchFamily="18" charset="0"/>
                <a:ea typeface="+mj-ea"/>
                <a:cs typeface="+mj-cs"/>
              </a:rPr>
              <a:t>khác</a:t>
            </a:r>
            <a:r>
              <a:rPr lang="en-US" b="1" dirty="0" smtClean="0">
                <a:solidFill>
                  <a:srgbClr val="0000CC"/>
                </a:solidFill>
                <a:latin typeface="Rockwell" panose="02060603020205020403" pitchFamily="18" charset="0"/>
                <a:ea typeface="+mj-ea"/>
                <a:cs typeface="+mj-cs"/>
              </a:rPr>
              <a:t>:</a:t>
            </a:r>
            <a:endParaRPr lang="vi-VN" b="1" dirty="0">
              <a:solidFill>
                <a:srgbClr val="0000CC"/>
              </a:solidFill>
              <a:latin typeface="Rockwell" panose="02060603020205020403" pitchFamily="18" charset="0"/>
              <a:ea typeface="+mj-ea"/>
              <a:cs typeface="+mj-cs"/>
            </a:endParaRPr>
          </a:p>
          <a:p>
            <a:pPr>
              <a:spcBef>
                <a:spcPts val="600"/>
              </a:spcBef>
              <a:spcAft>
                <a:spcPts val="600"/>
              </a:spcAft>
            </a:pPr>
            <a:r>
              <a:rPr lang="vi-VN" b="1" dirty="0">
                <a:solidFill>
                  <a:srgbClr val="0000CC"/>
                </a:solidFill>
                <a:latin typeface="Rockwell" panose="02060603020205020403" pitchFamily="18" charset="0"/>
                <a:ea typeface="+mj-ea"/>
                <a:cs typeface="+mj-cs"/>
              </a:rPr>
              <a:t>Threat</a:t>
            </a:r>
            <a:r>
              <a:rPr lang="vi-VN" dirty="0">
                <a:solidFill>
                  <a:srgbClr val="0000CC"/>
                </a:solidFill>
                <a:latin typeface="Rockwell" panose="02060603020205020403" pitchFamily="18" charset="0"/>
                <a:ea typeface="+mj-ea"/>
                <a:cs typeface="+mj-cs"/>
              </a:rPr>
              <a:t> (Mối đe </a:t>
            </a:r>
            <a:r>
              <a:rPr lang="vi-VN" dirty="0" smtClean="0">
                <a:solidFill>
                  <a:srgbClr val="0000CC"/>
                </a:solidFill>
                <a:latin typeface="Rockwell" panose="02060603020205020403" pitchFamily="18" charset="0"/>
                <a:ea typeface="+mj-ea"/>
                <a:cs typeface="+mj-cs"/>
              </a:rPr>
              <a:t>dọa</a:t>
            </a:r>
            <a:r>
              <a:rPr lang="en-US" dirty="0" smtClean="0">
                <a:solidFill>
                  <a:srgbClr val="0000CC"/>
                </a:solidFill>
                <a:latin typeface="Rockwell" panose="02060603020205020403" pitchFamily="18" charset="0"/>
                <a:ea typeface="+mj-ea"/>
                <a:cs typeface="+mj-cs"/>
              </a:rPr>
              <a:t>);</a:t>
            </a:r>
          </a:p>
          <a:p>
            <a:pPr>
              <a:spcBef>
                <a:spcPts val="600"/>
              </a:spcBef>
              <a:spcAft>
                <a:spcPts val="600"/>
              </a:spcAft>
            </a:pPr>
            <a:r>
              <a:rPr lang="vi-VN" b="1" dirty="0" smtClean="0">
                <a:solidFill>
                  <a:srgbClr val="0000CC"/>
                </a:solidFill>
                <a:latin typeface="Rockwell" panose="02060603020205020403" pitchFamily="18" charset="0"/>
                <a:ea typeface="+mj-ea"/>
                <a:cs typeface="+mj-cs"/>
              </a:rPr>
              <a:t>Vulnerability</a:t>
            </a:r>
            <a:r>
              <a:rPr lang="vi-VN" dirty="0" smtClean="0">
                <a:solidFill>
                  <a:srgbClr val="0000CC"/>
                </a:solidFill>
                <a:latin typeface="Rockwell" panose="02060603020205020403" pitchFamily="18" charset="0"/>
                <a:ea typeface="+mj-ea"/>
                <a:cs typeface="+mj-cs"/>
              </a:rPr>
              <a:t> </a:t>
            </a:r>
            <a:r>
              <a:rPr lang="vi-VN" dirty="0">
                <a:solidFill>
                  <a:srgbClr val="0000CC"/>
                </a:solidFill>
                <a:latin typeface="Rockwell" panose="02060603020205020403" pitchFamily="18" charset="0"/>
                <a:ea typeface="+mj-ea"/>
                <a:cs typeface="+mj-cs"/>
              </a:rPr>
              <a:t>(Lỗ </a:t>
            </a:r>
            <a:r>
              <a:rPr lang="vi-VN" dirty="0" smtClean="0">
                <a:solidFill>
                  <a:srgbClr val="0000CC"/>
                </a:solidFill>
                <a:latin typeface="Rockwell" panose="02060603020205020403" pitchFamily="18" charset="0"/>
                <a:ea typeface="+mj-ea"/>
                <a:cs typeface="+mj-cs"/>
              </a:rPr>
              <a:t>hổng</a:t>
            </a:r>
            <a:r>
              <a:rPr lang="en-US" dirty="0" smtClean="0">
                <a:solidFill>
                  <a:srgbClr val="0000CC"/>
                </a:solidFill>
                <a:latin typeface="Rockwell" panose="02060603020205020403" pitchFamily="18" charset="0"/>
                <a:ea typeface="+mj-ea"/>
                <a:cs typeface="+mj-cs"/>
              </a:rPr>
              <a:t>;</a:t>
            </a:r>
            <a:endParaRPr lang="vi-VN" dirty="0">
              <a:solidFill>
                <a:srgbClr val="0000CC"/>
              </a:solidFill>
              <a:latin typeface="Rockwell" panose="02060603020205020403" pitchFamily="18" charset="0"/>
              <a:ea typeface="+mj-ea"/>
              <a:cs typeface="+mj-cs"/>
            </a:endParaRPr>
          </a:p>
          <a:p>
            <a:pPr>
              <a:spcBef>
                <a:spcPts val="600"/>
              </a:spcBef>
              <a:spcAft>
                <a:spcPts val="600"/>
              </a:spcAft>
            </a:pPr>
            <a:r>
              <a:rPr lang="vi-VN" b="1" dirty="0">
                <a:solidFill>
                  <a:srgbClr val="0000CC"/>
                </a:solidFill>
                <a:latin typeface="Rockwell" panose="02060603020205020403" pitchFamily="18" charset="0"/>
                <a:ea typeface="+mj-ea"/>
                <a:cs typeface="+mj-cs"/>
              </a:rPr>
              <a:t>Exploit</a:t>
            </a:r>
            <a:r>
              <a:rPr lang="vi-VN" dirty="0">
                <a:solidFill>
                  <a:srgbClr val="0000CC"/>
                </a:solidFill>
                <a:latin typeface="Rockwell" panose="02060603020205020403" pitchFamily="18" charset="0"/>
                <a:ea typeface="+mj-ea"/>
                <a:cs typeface="+mj-cs"/>
              </a:rPr>
              <a:t> (Khai thác): </a:t>
            </a:r>
            <a:r>
              <a:rPr lang="en-US" dirty="0" smtClean="0">
                <a:solidFill>
                  <a:srgbClr val="0000CC"/>
                </a:solidFill>
                <a:latin typeface="Rockwell" panose="02060603020205020403" pitchFamily="18" charset="0"/>
                <a:ea typeface="+mj-ea"/>
                <a:cs typeface="+mj-cs"/>
              </a:rPr>
              <a:t>P</a:t>
            </a:r>
            <a:r>
              <a:rPr lang="vi-VN" dirty="0" smtClean="0">
                <a:solidFill>
                  <a:srgbClr val="0000CC"/>
                </a:solidFill>
                <a:latin typeface="Rockwell" panose="02060603020205020403" pitchFamily="18" charset="0"/>
                <a:ea typeface="+mj-ea"/>
                <a:cs typeface="+mj-cs"/>
              </a:rPr>
              <a:t>h</a:t>
            </a:r>
            <a:r>
              <a:rPr lang="en-US" dirty="0" err="1" smtClean="0">
                <a:solidFill>
                  <a:srgbClr val="0000CC"/>
                </a:solidFill>
                <a:latin typeface="Rockwell" panose="02060603020205020403" pitchFamily="18" charset="0"/>
                <a:ea typeface="+mj-ea"/>
                <a:cs typeface="+mj-cs"/>
              </a:rPr>
              <a:t>ương</a:t>
            </a:r>
            <a:r>
              <a:rPr lang="en-US" dirty="0" smtClean="0">
                <a:solidFill>
                  <a:srgbClr val="0000CC"/>
                </a:solidFill>
                <a:latin typeface="Rockwell" panose="02060603020205020403" pitchFamily="18" charset="0"/>
                <a:ea typeface="+mj-ea"/>
                <a:cs typeface="+mj-cs"/>
              </a:rPr>
              <a:t> </a:t>
            </a:r>
            <a:r>
              <a:rPr lang="vi-VN" dirty="0" smtClean="0">
                <a:solidFill>
                  <a:srgbClr val="0000CC"/>
                </a:solidFill>
                <a:latin typeface="Rockwell" panose="02060603020205020403" pitchFamily="18" charset="0"/>
                <a:ea typeface="+mj-ea"/>
                <a:cs typeface="+mj-cs"/>
              </a:rPr>
              <a:t>pháp </a:t>
            </a:r>
            <a:r>
              <a:rPr lang="vi-VN" dirty="0">
                <a:solidFill>
                  <a:srgbClr val="0000CC"/>
                </a:solidFill>
                <a:latin typeface="Rockwell" panose="02060603020205020403" pitchFamily="18" charset="0"/>
                <a:ea typeface="+mj-ea"/>
                <a:cs typeface="+mj-cs"/>
              </a:rPr>
              <a:t>hoặc đoạn mã lợi dụng lỗ hổng để tấn công.</a:t>
            </a:r>
          </a:p>
          <a:p>
            <a:pPr>
              <a:spcBef>
                <a:spcPts val="600"/>
              </a:spcBef>
              <a:spcAft>
                <a:spcPts val="600"/>
              </a:spcAft>
            </a:pPr>
            <a:r>
              <a:rPr lang="vi-VN" b="1" dirty="0">
                <a:solidFill>
                  <a:srgbClr val="0000CC"/>
                </a:solidFill>
                <a:latin typeface="Rockwell" panose="02060603020205020403" pitchFamily="18" charset="0"/>
                <a:ea typeface="+mj-ea"/>
                <a:cs typeface="+mj-cs"/>
              </a:rPr>
              <a:t>Malware</a:t>
            </a:r>
            <a:r>
              <a:rPr lang="vi-VN" dirty="0">
                <a:solidFill>
                  <a:srgbClr val="0000CC"/>
                </a:solidFill>
                <a:latin typeface="Rockwell" panose="02060603020205020403" pitchFamily="18" charset="0"/>
                <a:ea typeface="+mj-ea"/>
                <a:cs typeface="+mj-cs"/>
              </a:rPr>
              <a:t> (Mã độc): </a:t>
            </a:r>
            <a:r>
              <a:rPr lang="en-US" dirty="0" smtClean="0">
                <a:solidFill>
                  <a:srgbClr val="0000CC"/>
                </a:solidFill>
                <a:latin typeface="Rockwell" panose="02060603020205020403" pitchFamily="18" charset="0"/>
                <a:ea typeface="+mj-ea"/>
                <a:cs typeface="+mj-cs"/>
              </a:rPr>
              <a:t>P</a:t>
            </a:r>
            <a:r>
              <a:rPr lang="vi-VN" dirty="0" smtClean="0">
                <a:solidFill>
                  <a:srgbClr val="0000CC"/>
                </a:solidFill>
                <a:latin typeface="Rockwell" panose="02060603020205020403" pitchFamily="18" charset="0"/>
                <a:ea typeface="+mj-ea"/>
                <a:cs typeface="+mj-cs"/>
              </a:rPr>
              <a:t>hần </a:t>
            </a:r>
            <a:r>
              <a:rPr lang="vi-VN" dirty="0">
                <a:solidFill>
                  <a:srgbClr val="0000CC"/>
                </a:solidFill>
                <a:latin typeface="Rockwell" panose="02060603020205020403" pitchFamily="18" charset="0"/>
                <a:ea typeface="+mj-ea"/>
                <a:cs typeface="+mj-cs"/>
              </a:rPr>
              <a:t>mềm độc hại (virus, trojan, worm, ransomware).</a:t>
            </a:r>
          </a:p>
          <a:p>
            <a:endParaRPr lang="en-US" dirty="0"/>
          </a:p>
        </p:txBody>
      </p:sp>
    </p:spTree>
    <p:extLst>
      <p:ext uri="{BB962C8B-B14F-4D97-AF65-F5344CB8AC3E}">
        <p14:creationId xmlns:p14="http://schemas.microsoft.com/office/powerpoint/2010/main" val="95874775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52870"/>
            <a:ext cx="10242645" cy="528851"/>
          </a:xfrm>
        </p:spPr>
        <p:txBody>
          <a:bodyPr/>
          <a:lstStyle/>
          <a:p>
            <a:r>
              <a:rPr lang="en-US" sz="2800" b="1" dirty="0" smtClean="0">
                <a:solidFill>
                  <a:srgbClr val="0000CC"/>
                </a:solidFill>
                <a:latin typeface="Rockwell" panose="02060603020205020403" pitchFamily="18" charset="0"/>
              </a:rPr>
              <a:t>2.1. </a:t>
            </a:r>
            <a:r>
              <a:rPr lang="en-US" sz="2800" b="1" dirty="0" err="1" smtClean="0">
                <a:solidFill>
                  <a:srgbClr val="0000CC"/>
                </a:solidFill>
                <a:latin typeface="Rockwell" panose="02060603020205020403" pitchFamily="18" charset="0"/>
              </a:rPr>
              <a:t>Một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số</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Thuật</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ngữ</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liên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quan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443720"/>
            <a:ext cx="10051577" cy="4382729"/>
          </a:xfrm>
        </p:spPr>
        <p:txBody>
          <a:bodyPr/>
          <a:lstStyle/>
          <a:p>
            <a:pPr marL="0" indent="0">
              <a:spcBef>
                <a:spcPts val="0"/>
              </a:spcBef>
              <a:spcAft>
                <a:spcPts val="600"/>
              </a:spcAft>
              <a:buNone/>
            </a:pPr>
            <a:r>
              <a:rPr lang="vi-VN" b="1" dirty="0">
                <a:solidFill>
                  <a:srgbClr val="0000CC"/>
                </a:solidFill>
                <a:latin typeface="Rockwell" panose="02060603020205020403" pitchFamily="18" charset="0"/>
                <a:ea typeface="+mj-ea"/>
                <a:cs typeface="+mj-cs"/>
              </a:rPr>
              <a:t>Một số thuật ngữ </a:t>
            </a:r>
            <a:r>
              <a:rPr lang="en-US" b="1" dirty="0" err="1" smtClean="0">
                <a:solidFill>
                  <a:srgbClr val="0000CC"/>
                </a:solidFill>
                <a:latin typeface="Rockwell" panose="02060603020205020403" pitchFamily="18" charset="0"/>
                <a:ea typeface="+mj-ea"/>
                <a:cs typeface="+mj-cs"/>
              </a:rPr>
              <a:t>khác</a:t>
            </a:r>
            <a:r>
              <a:rPr lang="en-US" b="1" dirty="0" smtClean="0">
                <a:solidFill>
                  <a:srgbClr val="0000CC"/>
                </a:solidFill>
                <a:latin typeface="Rockwell" panose="02060603020205020403" pitchFamily="18" charset="0"/>
                <a:ea typeface="+mj-ea"/>
                <a:cs typeface="+mj-cs"/>
              </a:rPr>
              <a:t> (</a:t>
            </a:r>
            <a:r>
              <a:rPr lang="en-US" b="1" dirty="0" err="1" smtClean="0">
                <a:solidFill>
                  <a:srgbClr val="0000CC"/>
                </a:solidFill>
                <a:latin typeface="Rockwell" panose="02060603020205020403" pitchFamily="18" charset="0"/>
                <a:ea typeface="+mj-ea"/>
                <a:cs typeface="+mj-cs"/>
              </a:rPr>
              <a:t>tt</a:t>
            </a:r>
            <a:r>
              <a:rPr lang="en-US" b="1" dirty="0" smtClean="0">
                <a:solidFill>
                  <a:srgbClr val="0000CC"/>
                </a:solidFill>
                <a:latin typeface="Rockwell" panose="02060603020205020403" pitchFamily="18" charset="0"/>
                <a:ea typeface="+mj-ea"/>
                <a:cs typeface="+mj-cs"/>
              </a:rPr>
              <a:t>):</a:t>
            </a:r>
            <a:endParaRPr lang="vi-VN" b="1" dirty="0">
              <a:solidFill>
                <a:srgbClr val="0000CC"/>
              </a:solidFill>
              <a:latin typeface="Rockwell" panose="02060603020205020403" pitchFamily="18" charset="0"/>
              <a:ea typeface="+mj-ea"/>
              <a:cs typeface="+mj-cs"/>
            </a:endParaRPr>
          </a:p>
          <a:p>
            <a:pPr algn="just">
              <a:spcBef>
                <a:spcPts val="600"/>
              </a:spcBef>
              <a:spcAft>
                <a:spcPts val="600"/>
              </a:spcAft>
            </a:pPr>
            <a:r>
              <a:rPr lang="vi-VN" b="1" dirty="0">
                <a:solidFill>
                  <a:srgbClr val="0000CC"/>
                </a:solidFill>
                <a:latin typeface="Rockwell" panose="02060603020205020403" pitchFamily="18" charset="0"/>
              </a:rPr>
              <a:t>Phishing</a:t>
            </a:r>
            <a:r>
              <a:rPr lang="vi-VN" dirty="0">
                <a:solidFill>
                  <a:srgbClr val="0000CC"/>
                </a:solidFill>
                <a:latin typeface="Rockwell" panose="02060603020205020403" pitchFamily="18" charset="0"/>
              </a:rPr>
              <a:t>: </a:t>
            </a:r>
            <a:r>
              <a:rPr lang="en-US" dirty="0" smtClean="0">
                <a:solidFill>
                  <a:srgbClr val="0000CC"/>
                </a:solidFill>
                <a:latin typeface="Rockwell" panose="02060603020205020403" pitchFamily="18" charset="0"/>
              </a:rPr>
              <a:t>H</a:t>
            </a:r>
            <a:r>
              <a:rPr lang="vi-VN" dirty="0" smtClean="0">
                <a:solidFill>
                  <a:srgbClr val="0000CC"/>
                </a:solidFill>
                <a:latin typeface="Rockwell" panose="02060603020205020403" pitchFamily="18" charset="0"/>
              </a:rPr>
              <a:t>ình </a:t>
            </a:r>
            <a:r>
              <a:rPr lang="vi-VN" dirty="0">
                <a:solidFill>
                  <a:srgbClr val="0000CC"/>
                </a:solidFill>
                <a:latin typeface="Rockwell" panose="02060603020205020403" pitchFamily="18" charset="0"/>
              </a:rPr>
              <a:t>thức lừa đảo trực tuyến nhằm đánh cắp thông tin (giả mạo email, website).</a:t>
            </a:r>
          </a:p>
          <a:p>
            <a:pPr algn="just">
              <a:spcBef>
                <a:spcPts val="600"/>
              </a:spcBef>
              <a:spcAft>
                <a:spcPts val="600"/>
              </a:spcAft>
            </a:pPr>
            <a:r>
              <a:rPr lang="vi-VN" b="1" dirty="0">
                <a:solidFill>
                  <a:srgbClr val="0000CC"/>
                </a:solidFill>
                <a:latin typeface="Rockwell" panose="02060603020205020403" pitchFamily="18" charset="0"/>
              </a:rPr>
              <a:t>Botnet</a:t>
            </a:r>
            <a:r>
              <a:rPr lang="vi-VN" dirty="0">
                <a:solidFill>
                  <a:srgbClr val="0000CC"/>
                </a:solidFill>
                <a:latin typeface="Rockwell" panose="02060603020205020403" pitchFamily="18" charset="0"/>
              </a:rPr>
              <a:t>: </a:t>
            </a:r>
            <a:r>
              <a:rPr lang="en-US" dirty="0">
                <a:solidFill>
                  <a:srgbClr val="0000CC"/>
                </a:solidFill>
                <a:latin typeface="Rockwell" panose="02060603020205020403" pitchFamily="18" charset="0"/>
              </a:rPr>
              <a:t>M</a:t>
            </a:r>
            <a:r>
              <a:rPr lang="vi-VN" dirty="0">
                <a:solidFill>
                  <a:srgbClr val="0000CC"/>
                </a:solidFill>
                <a:latin typeface="Rockwell" panose="02060603020205020403" pitchFamily="18" charset="0"/>
              </a:rPr>
              <a:t>ạng lưới m</a:t>
            </a:r>
            <a:r>
              <a:rPr lang="en-US" dirty="0">
                <a:solidFill>
                  <a:srgbClr val="0000CC"/>
                </a:solidFill>
                <a:latin typeface="Rockwell" panose="02060603020205020403" pitchFamily="18" charset="0"/>
              </a:rPr>
              <a:t>/</a:t>
            </a:r>
            <a:r>
              <a:rPr lang="vi-VN" dirty="0">
                <a:solidFill>
                  <a:srgbClr val="0000CC"/>
                </a:solidFill>
                <a:latin typeface="Rockwell" panose="02060603020205020403" pitchFamily="18" charset="0"/>
              </a:rPr>
              <a:t>tính bị kiểm soát từ xa (zombie) để thực hiện tấn công.</a:t>
            </a:r>
          </a:p>
          <a:p>
            <a:pPr algn="just">
              <a:spcBef>
                <a:spcPts val="600"/>
              </a:spcBef>
              <a:spcAft>
                <a:spcPts val="600"/>
              </a:spcAft>
            </a:pPr>
            <a:r>
              <a:rPr lang="vi-VN" b="1" dirty="0">
                <a:solidFill>
                  <a:srgbClr val="0000CC"/>
                </a:solidFill>
                <a:latin typeface="Rockwell" panose="02060603020205020403" pitchFamily="18" charset="0"/>
              </a:rPr>
              <a:t>DDoS</a:t>
            </a:r>
            <a:r>
              <a:rPr lang="vi-VN" dirty="0">
                <a:solidFill>
                  <a:srgbClr val="0000CC"/>
                </a:solidFill>
                <a:latin typeface="Rockwell" panose="02060603020205020403" pitchFamily="18" charset="0"/>
              </a:rPr>
              <a:t> (Distributed Denial of Service): </a:t>
            </a:r>
            <a:r>
              <a:rPr lang="en-US" dirty="0">
                <a:solidFill>
                  <a:srgbClr val="0000CC"/>
                </a:solidFill>
                <a:latin typeface="Rockwell" panose="02060603020205020403" pitchFamily="18" charset="0"/>
              </a:rPr>
              <a:t>T</a:t>
            </a:r>
            <a:r>
              <a:rPr lang="vi-VN" dirty="0">
                <a:solidFill>
                  <a:srgbClr val="0000CC"/>
                </a:solidFill>
                <a:latin typeface="Rockwell" panose="02060603020205020403" pitchFamily="18" charset="0"/>
              </a:rPr>
              <a:t>ấn công từ chối dịch vụ phân tán, làm hệ thống quá tải.</a:t>
            </a:r>
          </a:p>
          <a:p>
            <a:pPr algn="just">
              <a:spcBef>
                <a:spcPts val="600"/>
              </a:spcBef>
              <a:spcAft>
                <a:spcPts val="600"/>
              </a:spcAft>
            </a:pPr>
            <a:r>
              <a:rPr lang="vi-VN" b="1" dirty="0">
                <a:solidFill>
                  <a:srgbClr val="0000CC"/>
                </a:solidFill>
                <a:latin typeface="Rockwell" panose="02060603020205020403" pitchFamily="18" charset="0"/>
              </a:rPr>
              <a:t>APT</a:t>
            </a:r>
            <a:r>
              <a:rPr lang="vi-VN" dirty="0">
                <a:solidFill>
                  <a:srgbClr val="0000CC"/>
                </a:solidFill>
                <a:latin typeface="Rockwell" panose="02060603020205020403" pitchFamily="18" charset="0"/>
              </a:rPr>
              <a:t> (Advanced Persistent Threat): </a:t>
            </a:r>
            <a:r>
              <a:rPr lang="en-US" dirty="0">
                <a:solidFill>
                  <a:srgbClr val="0000CC"/>
                </a:solidFill>
                <a:latin typeface="Rockwell" panose="02060603020205020403" pitchFamily="18" charset="0"/>
              </a:rPr>
              <a:t>T</a:t>
            </a:r>
            <a:r>
              <a:rPr lang="vi-VN" dirty="0">
                <a:solidFill>
                  <a:srgbClr val="0000CC"/>
                </a:solidFill>
                <a:latin typeface="Rockwell" panose="02060603020205020403" pitchFamily="18" charset="0"/>
              </a:rPr>
              <a:t>ấn công có chủ đích, kéo dài, tinh vi, thường do tổ chức hoặc quốc gia tiến hành</a:t>
            </a:r>
            <a:r>
              <a:rPr lang="vi-VN" dirty="0" smtClean="0">
                <a:solidFill>
                  <a:srgbClr val="0000CC"/>
                </a:solidFill>
                <a:latin typeface="Rockwell" panose="02060603020205020403" pitchFamily="18" charset="0"/>
              </a:rPr>
              <a:t>.</a:t>
            </a:r>
            <a:endParaRPr lang="vi-VN" dirty="0">
              <a:solidFill>
                <a:srgbClr val="0000CC"/>
              </a:solidFill>
              <a:latin typeface="Rockwell" panose="02060603020205020403" pitchFamily="18" charset="0"/>
            </a:endParaRPr>
          </a:p>
        </p:txBody>
      </p:sp>
    </p:spTree>
    <p:extLst>
      <p:ext uri="{BB962C8B-B14F-4D97-AF65-F5344CB8AC3E}">
        <p14:creationId xmlns:p14="http://schemas.microsoft.com/office/powerpoint/2010/main" val="94913408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42172"/>
            <a:ext cx="10242645" cy="528851"/>
          </a:xfrm>
        </p:spPr>
        <p:txBody>
          <a:bodyPr/>
          <a:lstStyle/>
          <a:p>
            <a:r>
              <a:rPr lang="en-US" sz="2800" b="1" dirty="0" smtClean="0">
                <a:solidFill>
                  <a:srgbClr val="0000CC"/>
                </a:solidFill>
                <a:latin typeface="Rockwell" panose="02060603020205020403" pitchFamily="18" charset="0"/>
              </a:rPr>
              <a:t>2.2. </a:t>
            </a:r>
            <a:r>
              <a:rPr lang="en-US" sz="2800" b="1" dirty="0" err="1" smtClean="0">
                <a:solidFill>
                  <a:srgbClr val="0000CC"/>
                </a:solidFill>
                <a:latin typeface="Rockwell" panose="02060603020205020403" pitchFamily="18" charset="0"/>
              </a:rPr>
              <a:t>Mục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tiêu</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chung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của</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các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cuộc</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tấn</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công</a:t>
            </a:r>
            <a:r>
              <a:rPr lang="en-US" sz="2800" b="1" dirty="0" smtClean="0">
                <a:solidFill>
                  <a:srgbClr val="0000CC"/>
                </a:solidFill>
                <a:latin typeface="Rockwell" panose="02060603020205020403" pitchFamily="18" charset="0"/>
              </a:rPr>
              <a:t> </a:t>
            </a:r>
            <a:r>
              <a:rPr lang="en-US" sz="2800" b="1" dirty="0" err="1" smtClean="0">
                <a:solidFill>
                  <a:srgbClr val="0000CC"/>
                </a:solidFill>
                <a:latin typeface="Rockwell" panose="02060603020205020403" pitchFamily="18" charset="0"/>
              </a:rPr>
              <a:t>mạng</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26189" y="1514901"/>
            <a:ext cx="10242645" cy="4011305"/>
          </a:xfrm>
        </p:spPr>
        <p:txBody>
          <a:bodyPr/>
          <a:lstStyle/>
          <a:p>
            <a:pPr>
              <a:spcBef>
                <a:spcPts val="600"/>
              </a:spcBef>
              <a:spcAft>
                <a:spcPts val="600"/>
              </a:spcAft>
            </a:pPr>
            <a:r>
              <a:rPr lang="en-US" b="1" dirty="0" err="1">
                <a:solidFill>
                  <a:srgbClr val="0000CC"/>
                </a:solidFill>
                <a:latin typeface="Rockwell" panose="02060603020205020403" pitchFamily="18" charset="0"/>
                <a:ea typeface="+mj-ea"/>
                <a:cs typeface="+mj-cs"/>
              </a:rPr>
              <a:t>Đánh</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cắp</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thông</a:t>
            </a:r>
            <a:r>
              <a:rPr lang="en-US" b="1" dirty="0">
                <a:solidFill>
                  <a:srgbClr val="0000CC"/>
                </a:solidFill>
                <a:latin typeface="Rockwell" panose="02060603020205020403" pitchFamily="18" charset="0"/>
                <a:ea typeface="+mj-ea"/>
                <a:cs typeface="+mj-cs"/>
              </a:rPr>
              <a:t> tin </a:t>
            </a:r>
            <a:r>
              <a:rPr lang="en-US" b="1" dirty="0" err="1">
                <a:solidFill>
                  <a:srgbClr val="0000CC"/>
                </a:solidFill>
                <a:latin typeface="Rockwell" panose="02060603020205020403" pitchFamily="18" charset="0"/>
                <a:ea typeface="+mj-ea"/>
                <a:cs typeface="+mj-cs"/>
              </a:rPr>
              <a:t>nhạy</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cảm</a:t>
            </a:r>
            <a:r>
              <a:rPr lang="en-US" b="1"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a:t>
            </a:r>
            <a:r>
              <a:rPr lang="en-US" dirty="0" err="1" smtClean="0">
                <a:solidFill>
                  <a:srgbClr val="0000CC"/>
                </a:solidFill>
                <a:latin typeface="Rockwell" panose="02060603020205020403" pitchFamily="18" charset="0"/>
                <a:ea typeface="+mj-ea"/>
                <a:cs typeface="+mj-cs"/>
              </a:rPr>
              <a:t>ữ</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liệu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cá</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nhân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tài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khoản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ngân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hàng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bí</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mật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doanh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nghiệp</a:t>
            </a:r>
            <a:r>
              <a:rPr lang="en-US" dirty="0">
                <a:solidFill>
                  <a:srgbClr val="0000CC"/>
                </a:solidFill>
                <a:latin typeface="Rockwell" panose="02060603020205020403" pitchFamily="18" charset="0"/>
                <a:ea typeface="+mj-ea"/>
                <a:cs typeface="+mj-cs"/>
              </a:rPr>
              <a:t>.</a:t>
            </a:r>
          </a:p>
          <a:p>
            <a:pPr>
              <a:spcBef>
                <a:spcPts val="600"/>
              </a:spcBef>
              <a:spcAft>
                <a:spcPts val="600"/>
              </a:spcAft>
            </a:pPr>
            <a:r>
              <a:rPr lang="en-US" b="1" dirty="0" err="1">
                <a:solidFill>
                  <a:srgbClr val="0000CC"/>
                </a:solidFill>
                <a:latin typeface="Rockwell" panose="02060603020205020403" pitchFamily="18" charset="0"/>
                <a:ea typeface="+mj-ea"/>
                <a:cs typeface="+mj-cs"/>
              </a:rPr>
              <a:t>Chiếm</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quyền</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kiểm</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soát</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hệ</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thống</a:t>
            </a:r>
            <a:r>
              <a:rPr lang="en-US" b="1"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a:t>
            </a:r>
            <a:r>
              <a:rPr lang="en-US" dirty="0" err="1" smtClean="0">
                <a:solidFill>
                  <a:srgbClr val="0000CC"/>
                </a:solidFill>
                <a:latin typeface="Rockwell" panose="02060603020205020403" pitchFamily="18" charset="0"/>
                <a:ea typeface="+mj-ea"/>
                <a:cs typeface="+mj-cs"/>
              </a:rPr>
              <a:t>ể</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điều</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khiển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hoặc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sử</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dụng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vào</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mục</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đích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bất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hợp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pháp</a:t>
            </a:r>
            <a:r>
              <a:rPr lang="en-US" dirty="0">
                <a:solidFill>
                  <a:srgbClr val="0000CC"/>
                </a:solidFill>
                <a:latin typeface="Rockwell" panose="02060603020205020403" pitchFamily="18" charset="0"/>
                <a:ea typeface="+mj-ea"/>
                <a:cs typeface="+mj-cs"/>
              </a:rPr>
              <a:t>.</a:t>
            </a:r>
          </a:p>
          <a:p>
            <a:pPr>
              <a:spcBef>
                <a:spcPts val="600"/>
              </a:spcBef>
              <a:spcAft>
                <a:spcPts val="600"/>
              </a:spcAft>
            </a:pPr>
            <a:r>
              <a:rPr lang="en-US" b="1" dirty="0" err="1">
                <a:solidFill>
                  <a:srgbClr val="0000CC"/>
                </a:solidFill>
                <a:latin typeface="Rockwell" panose="02060603020205020403" pitchFamily="18" charset="0"/>
                <a:ea typeface="+mj-ea"/>
                <a:cs typeface="+mj-cs"/>
              </a:rPr>
              <a:t>Gây</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gián</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đoạn</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dịch</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vụ</a:t>
            </a:r>
            <a:r>
              <a:rPr lang="en-US" b="1"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a:t>
            </a:r>
            <a:r>
              <a:rPr lang="en-US" dirty="0" err="1" smtClean="0">
                <a:solidFill>
                  <a:srgbClr val="0000CC"/>
                </a:solidFill>
                <a:latin typeface="Rockwell" panose="02060603020205020403" pitchFamily="18" charset="0"/>
                <a:ea typeface="+mj-ea"/>
                <a:cs typeface="+mj-cs"/>
              </a:rPr>
              <a:t>àm</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tê</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liệt</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hệ</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thống</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DoS</a:t>
            </a:r>
            <a:r>
              <a:rPr lang="en-US" dirty="0">
                <a:solidFill>
                  <a:srgbClr val="0000CC"/>
                </a:solidFill>
                <a:latin typeface="Rockwell" panose="02060603020205020403" pitchFamily="18" charset="0"/>
                <a:ea typeface="+mj-ea"/>
                <a:cs typeface="+mj-cs"/>
              </a:rPr>
              <a:t>/</a:t>
            </a:r>
            <a:r>
              <a:rPr lang="en-US" dirty="0" err="1">
                <a:solidFill>
                  <a:srgbClr val="0000CC"/>
                </a:solidFill>
                <a:latin typeface="Rockwell" panose="02060603020205020403" pitchFamily="18" charset="0"/>
                <a:ea typeface="+mj-ea"/>
                <a:cs typeface="+mj-cs"/>
              </a:rPr>
              <a:t>DDoS</a:t>
            </a:r>
            <a:r>
              <a:rPr lang="en-US" dirty="0">
                <a:solidFill>
                  <a:srgbClr val="0000CC"/>
                </a:solidFill>
                <a:latin typeface="Rockwell" panose="02060603020205020403" pitchFamily="18" charset="0"/>
                <a:ea typeface="+mj-ea"/>
                <a:cs typeface="+mj-cs"/>
              </a:rPr>
              <a:t>).</a:t>
            </a:r>
          </a:p>
          <a:p>
            <a:pPr>
              <a:spcBef>
                <a:spcPts val="600"/>
              </a:spcBef>
              <a:spcAft>
                <a:spcPts val="600"/>
              </a:spcAft>
            </a:pPr>
            <a:r>
              <a:rPr lang="en-US" b="1" dirty="0" err="1">
                <a:solidFill>
                  <a:srgbClr val="0000CC"/>
                </a:solidFill>
                <a:latin typeface="Rockwell" panose="02060603020205020403" pitchFamily="18" charset="0"/>
                <a:ea typeface="+mj-ea"/>
                <a:cs typeface="+mj-cs"/>
              </a:rPr>
              <a:t>Phá</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hoại</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và</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làm</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mất</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uy</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tín</a:t>
            </a:r>
            <a:r>
              <a:rPr lang="en-US" b="1" dirty="0">
                <a:solidFill>
                  <a:srgbClr val="0000CC"/>
                </a:solidFill>
                <a:latin typeface="Rockwell" panose="02060603020205020403" pitchFamily="18" charset="0"/>
                <a:ea typeface="+mj-ea"/>
                <a:cs typeface="+mj-cs"/>
              </a:rPr>
              <a:t>: </a:t>
            </a:r>
            <a:r>
              <a:rPr lang="en-US" dirty="0" err="1" smtClean="0">
                <a:solidFill>
                  <a:srgbClr val="0000CC"/>
                </a:solidFill>
                <a:latin typeface="Rockwell" panose="02060603020205020403" pitchFamily="18" charset="0"/>
                <a:ea typeface="+mj-ea"/>
                <a:cs typeface="+mj-cs"/>
              </a:rPr>
              <a:t>Làm</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sai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lệch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thông</a:t>
            </a:r>
            <a:r>
              <a:rPr lang="en-US" dirty="0">
                <a:solidFill>
                  <a:srgbClr val="0000CC"/>
                </a:solidFill>
                <a:latin typeface="Rockwell" panose="02060603020205020403" pitchFamily="18" charset="0"/>
                <a:ea typeface="+mj-ea"/>
                <a:cs typeface="+mj-cs"/>
              </a:rPr>
              <a:t> tin, </a:t>
            </a:r>
            <a:r>
              <a:rPr lang="en-US" dirty="0" err="1">
                <a:solidFill>
                  <a:srgbClr val="0000CC"/>
                </a:solidFill>
                <a:latin typeface="Rockwell" panose="02060603020205020403" pitchFamily="18" charset="0"/>
                <a:ea typeface="+mj-ea"/>
                <a:cs typeface="+mj-cs"/>
              </a:rPr>
              <a:t>tấn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công</a:t>
            </a:r>
            <a:r>
              <a:rPr lang="en-US" dirty="0">
                <a:solidFill>
                  <a:srgbClr val="0000CC"/>
                </a:solidFill>
                <a:latin typeface="Rockwell" panose="02060603020205020403" pitchFamily="18" charset="0"/>
                <a:ea typeface="+mj-ea"/>
                <a:cs typeface="+mj-cs"/>
              </a:rPr>
              <a:t> website, </a:t>
            </a:r>
            <a:r>
              <a:rPr lang="en-US" dirty="0" err="1">
                <a:solidFill>
                  <a:srgbClr val="0000CC"/>
                </a:solidFill>
                <a:latin typeface="Rockwell" panose="02060603020205020403" pitchFamily="18" charset="0"/>
                <a:ea typeface="+mj-ea"/>
                <a:cs typeface="+mj-cs"/>
              </a:rPr>
              <a:t>phá</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hoại</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dữ</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liệu</a:t>
            </a:r>
            <a:r>
              <a:rPr lang="en-US" dirty="0">
                <a:solidFill>
                  <a:srgbClr val="0000CC"/>
                </a:solidFill>
                <a:latin typeface="Rockwell" panose="02060603020205020403" pitchFamily="18" charset="0"/>
                <a:ea typeface="+mj-ea"/>
                <a:cs typeface="+mj-cs"/>
              </a:rPr>
              <a:t>.</a:t>
            </a:r>
          </a:p>
          <a:p>
            <a:pPr>
              <a:spcBef>
                <a:spcPts val="600"/>
              </a:spcBef>
              <a:spcAft>
                <a:spcPts val="600"/>
              </a:spcAft>
            </a:pPr>
            <a:r>
              <a:rPr lang="en-US" b="1" dirty="0" err="1">
                <a:solidFill>
                  <a:srgbClr val="0000CC"/>
                </a:solidFill>
                <a:latin typeface="Rockwell" panose="02060603020205020403" pitchFamily="18" charset="0"/>
                <a:ea typeface="+mj-ea"/>
                <a:cs typeface="+mj-cs"/>
              </a:rPr>
              <a:t>Phục</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vụ</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mục</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đích</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chính</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trị</a:t>
            </a:r>
            <a:r>
              <a:rPr lang="en-US" b="1" dirty="0">
                <a:solidFill>
                  <a:srgbClr val="0000CC"/>
                </a:solidFill>
                <a:latin typeface="Rockwell" panose="02060603020205020403" pitchFamily="18" charset="0"/>
                <a:ea typeface="+mj-ea"/>
                <a:cs typeface="+mj-cs"/>
              </a:rPr>
              <a:t>/</a:t>
            </a:r>
            <a:r>
              <a:rPr lang="en-US" b="1" dirty="0" err="1">
                <a:solidFill>
                  <a:srgbClr val="0000CC"/>
                </a:solidFill>
                <a:latin typeface="Rockwell" panose="02060603020205020403" pitchFamily="18" charset="0"/>
                <a:ea typeface="+mj-ea"/>
                <a:cs typeface="+mj-cs"/>
              </a:rPr>
              <a:t>quân</a:t>
            </a:r>
            <a:r>
              <a:rPr lang="en-US" b="1" dirty="0">
                <a:solidFill>
                  <a:srgbClr val="0000CC"/>
                </a:solidFill>
                <a:latin typeface="Rockwell" panose="02060603020205020403" pitchFamily="18" charset="0"/>
                <a:ea typeface="+mj-ea"/>
                <a:cs typeface="+mj-cs"/>
              </a:rPr>
              <a:t> </a:t>
            </a:r>
            <a:r>
              <a:rPr lang="en-US" b="1" dirty="0" err="1">
                <a:solidFill>
                  <a:srgbClr val="0000CC"/>
                </a:solidFill>
                <a:latin typeface="Rockwell" panose="02060603020205020403" pitchFamily="18" charset="0"/>
                <a:ea typeface="+mj-ea"/>
                <a:cs typeface="+mj-cs"/>
              </a:rPr>
              <a:t>sự</a:t>
            </a:r>
            <a:r>
              <a:rPr lang="en-US" b="1"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G</a:t>
            </a:r>
            <a:r>
              <a:rPr lang="en-US" dirty="0" err="1" smtClean="0">
                <a:solidFill>
                  <a:srgbClr val="0000CC"/>
                </a:solidFill>
                <a:latin typeface="Rockwell" panose="02060603020205020403" pitchFamily="18" charset="0"/>
                <a:ea typeface="+mj-ea"/>
                <a:cs typeface="+mj-cs"/>
              </a:rPr>
              <a:t>ián</a:t>
            </a:r>
            <a:r>
              <a:rPr lang="en-US" dirty="0" smtClean="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điệp</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chiến</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tranh</a:t>
            </a:r>
            <a:r>
              <a:rPr lang="en-US" dirty="0">
                <a:solidFill>
                  <a:srgbClr val="0000CC"/>
                </a:solidFill>
                <a:latin typeface="Rockwell" panose="02060603020205020403" pitchFamily="18" charset="0"/>
                <a:ea typeface="+mj-ea"/>
                <a:cs typeface="+mj-cs"/>
              </a:rPr>
              <a:t> </a:t>
            </a:r>
            <a:r>
              <a:rPr lang="en-US" dirty="0" err="1">
                <a:solidFill>
                  <a:srgbClr val="0000CC"/>
                </a:solidFill>
                <a:latin typeface="Rockwell" panose="02060603020205020403" pitchFamily="18" charset="0"/>
                <a:ea typeface="+mj-ea"/>
                <a:cs typeface="+mj-cs"/>
              </a:rPr>
              <a:t>mạng</a:t>
            </a:r>
            <a:r>
              <a:rPr lang="en-US" dirty="0">
                <a:solidFill>
                  <a:srgbClr val="0000CC"/>
                </a:solidFill>
                <a:latin typeface="Rockwell" panose="02060603020205020403" pitchFamily="18" charset="0"/>
                <a:ea typeface="+mj-ea"/>
                <a:cs typeface="+mj-cs"/>
              </a:rPr>
              <a:t>.</a:t>
            </a:r>
          </a:p>
          <a:p>
            <a:endParaRPr lang="en-US" dirty="0"/>
          </a:p>
        </p:txBody>
      </p:sp>
    </p:spTree>
    <p:extLst>
      <p:ext uri="{BB962C8B-B14F-4D97-AF65-F5344CB8AC3E}">
        <p14:creationId xmlns:p14="http://schemas.microsoft.com/office/powerpoint/2010/main" val="26747493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29932"/>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432246"/>
            <a:ext cx="10392771" cy="3646641"/>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 Tấn công ứng dụng web</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a1. SQL Injection (SQLi):</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Kẻ tấn công chèn mã SQL độc hại vào câu lệnh truy vấn của ứng dụng.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R</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ò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rỉ dữ liệu, chiếm quyền quản trị, chỉnh sửa hoặc xóa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Đ</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ăng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nhập bằng ‘ OR ‘1’=‘1.</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a2. Cross-Site Scripting (XSS):</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Chèn mã JavaScript độc hại vào website.</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ánh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cắp cookie, session,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uyển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hướng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người dùng đến trang giả mạo.</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Dạng: Stored XSS, Reflected XSS, DOM-based XSS</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8172634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398894" y="943581"/>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398894" y="1486839"/>
            <a:ext cx="10392771" cy="3646641"/>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 Tấn công ứng dụng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web</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a3. Cross-Site Request Forgery (CSRF):</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Kẻ tấn công lợi dụng phiên đăng nhập hợp lệ của người dùng để thực hiện hành động trái phép (ví dụ: chuyển tiền, đổi mật khẩu).</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hao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túng tài khoản hợp pháp.</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5555055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26189" y="957229"/>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39837" y="1527783"/>
            <a:ext cx="10242645" cy="3646641"/>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 Tấn công mạng</a:t>
            </a:r>
          </a:p>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1</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DoS/DDoS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(Denial of Service / Distributed DoS):</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Làm quá tải tài nguyên hệ thống (server, băng thông).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DDoS nguy hiểm hơn vì sử dụng nhiều máy tính (botnet) cùng lúc.</a:t>
            </a:r>
          </a:p>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b2</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Man-in-the-Middle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(MITM):</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Kẻ tấn công chèn vào giữa kết nối để nghe lén, sửa đổi hoặc đánh cắp thông tin.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ghe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lén giao dịch ngân hàng, giả mạo chứng chỉ HTTPS.</a:t>
            </a:r>
          </a:p>
          <a:p>
            <a:pPr marL="457200" indent="-457200">
              <a:spcBef>
                <a:spcPts val="600"/>
              </a:spcBef>
              <a:buAutoNum type="alphaLcParenBoth"/>
            </a:pPr>
            <a:endParaRPr lang="en-US" sz="22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spcBef>
                <a:spcPts val="600"/>
              </a:spcBef>
              <a:buAutoNum type="alphaLcParenBoth"/>
            </a:pPr>
            <a:endParaRPr lang="vi-VN" sz="22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950717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39838" y="970876"/>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39838" y="1514134"/>
            <a:ext cx="10242645" cy="3646641"/>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 Tấn công mạng</a:t>
            </a:r>
          </a:p>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b3</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ARP/DNS Spoofing: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ARP Spoofing: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G</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ửi bản tin ARP giả mạo để điều khiển lưu lượng mạng.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DNS Spoofing: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hay đổi kết quả phân giải tên miền, chuyển hướng người dùng đến website giả mạo.</a:t>
            </a:r>
          </a:p>
          <a:p>
            <a:pPr marL="457200" indent="-457200">
              <a:spcBef>
                <a:spcPts val="600"/>
              </a:spcBef>
              <a:buAutoNum type="alphaLcParenBoth"/>
            </a:pPr>
            <a:endParaRPr lang="en-US" sz="22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spcBef>
                <a:spcPts val="600"/>
              </a:spcBef>
              <a:buAutoNum type="alphaLcParenBoth"/>
            </a:pPr>
            <a:endParaRPr lang="vi-VN" sz="22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41566803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84531"/>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473197"/>
            <a:ext cx="10242645" cy="3646641"/>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 Tấn công hệ thống</a:t>
            </a:r>
          </a:p>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c1</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Buffer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Overflow:</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Lỗi tràn bộ đệm do nhập dữ liệu vượt quá kích thước bộ nhớ.</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Kẻ tấn công có thể ghi đè mã lệnh và thực thi mã độc.</a:t>
            </a:r>
          </a:p>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c2</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Privilege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Escalation: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Khai thác lỗ hổng để nâng quyền từ user thường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admin/root</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Có thể xuất phát từ misconfiguration, lỗi phần mềm hoặc backdoor.</a:t>
            </a:r>
          </a:p>
          <a:p>
            <a:pPr marL="457200" indent="-457200">
              <a:spcBef>
                <a:spcPts val="600"/>
              </a:spcBef>
              <a:buAutoNum type="alphaLcParenBoth"/>
            </a:pPr>
            <a:endParaRPr lang="en-US" sz="22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spcBef>
                <a:spcPts val="600"/>
              </a:spcBef>
              <a:buAutoNum type="alphaLcParenBoth"/>
            </a:pPr>
            <a:endParaRPr lang="vi-VN" sz="22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723374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57235"/>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514141"/>
            <a:ext cx="10242645" cy="3646641"/>
          </a:xfrm>
        </p:spPr>
        <p:txBody>
          <a:bodyPr/>
          <a:lstStyle/>
          <a:p>
            <a:pPr marL="0" indent="0">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d</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Malware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Mã</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spcBef>
                <a:spcPts val="1200"/>
              </a:spcBef>
              <a:spcAft>
                <a:spcPts val="600"/>
              </a:spcAft>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Virus</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ắn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file,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lây</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lan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spcBef>
                <a:spcPts val="1200"/>
              </a:spcBef>
              <a:spcAft>
                <a:spcPts val="600"/>
              </a:spcAft>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Worm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ự</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lây</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lan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qua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mà</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cần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file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chủ</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spcBef>
                <a:spcPts val="1200"/>
              </a:spcBef>
              <a:spcAft>
                <a:spcPts val="600"/>
              </a:spcAft>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Trojan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iả</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phần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mềm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hợp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để</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quyền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kiểm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soát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spcBef>
                <a:spcPts val="1200"/>
              </a:spcBef>
              <a:spcAft>
                <a:spcPts val="600"/>
              </a:spcAft>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Ransomware</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ã</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hóa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dữ</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liệu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đòi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tiền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chuộc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457200" indent="-457200">
              <a:spcBef>
                <a:spcPts val="600"/>
              </a:spcBef>
              <a:buAutoNum type="alphaLcParenBoth"/>
            </a:pPr>
            <a:endParaRPr lang="en-US" sz="22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spcBef>
                <a:spcPts val="600"/>
              </a:spcBef>
              <a:buAutoNum type="alphaLcParenBoth"/>
            </a:pPr>
            <a:endParaRPr lang="vi-VN" sz="22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11714450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57235"/>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67132" y="1527788"/>
            <a:ext cx="9628497" cy="3646641"/>
          </a:xfrm>
        </p:spPr>
        <p:txBody>
          <a:bodyPr/>
          <a:lstStyle/>
          <a:p>
            <a:pPr marL="0" indent="0">
              <a:spcBef>
                <a:spcPts val="600"/>
              </a:spcBef>
              <a:spcAft>
                <a:spcPts val="600"/>
              </a:spcAft>
              <a:buNone/>
            </a:pPr>
            <a:r>
              <a:rPr lang="vi-VN" sz="22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sử</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Social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Engineering (Kỹ nghệ xã hội)</a:t>
            </a:r>
          </a:p>
          <a:p>
            <a:pPr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Phishing: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ửi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email hoặc tạo website giả để đánh cắp thông tin nhạy cảm.</a:t>
            </a:r>
          </a:p>
          <a:p>
            <a:pPr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Spear Phishing: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ấn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có mục tiêu rõ ràng, được cá nhân hóa (ví dụ nhắm vào một lãnh đạo doanh nghiệp).</a:t>
            </a:r>
          </a:p>
          <a:p>
            <a:pPr marL="457200" indent="-457200">
              <a:spcBef>
                <a:spcPts val="600"/>
              </a:spcBef>
              <a:buAutoNum type="alphaLcParenBoth"/>
            </a:pPr>
            <a:endParaRPr lang="en-US" sz="22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spcBef>
                <a:spcPts val="600"/>
              </a:spcBef>
              <a:buAutoNum type="alphaLcParenBoth"/>
            </a:pPr>
            <a:endParaRPr lang="vi-VN" sz="2200"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61016315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57235"/>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26190" y="1527788"/>
            <a:ext cx="9696736" cy="3646641"/>
          </a:xfrm>
        </p:spPr>
        <p:txBody>
          <a:bodyPr/>
          <a:lstStyle/>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f</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theo</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phương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thức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APT (Advanced Persistent Threat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Đặc trưng: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Có tổ chức, kéo dài trong nhiều giai đoạn (Reconnaissance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Xâm nhập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Duy trì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Mở rộng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Đánh cắp dữ liệu).</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Thường do nhóm hacker chuyên nghiệp hoặc thậm chí quốc gia thực hiện.</a:t>
            </a:r>
          </a:p>
          <a:p>
            <a:pPr>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ệ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thống trọng yếu (ngân hàng, chính phủ, hạ tầng điện – nước – viễn thông).</a:t>
            </a:r>
          </a:p>
          <a:p>
            <a:pPr>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Chiến dịch Stuxnet, APT28, APT29.</a:t>
            </a:r>
          </a:p>
          <a:p>
            <a:pPr marL="0" indent="0">
              <a:spcBef>
                <a:spcPts val="600"/>
              </a:spcBef>
              <a:buNone/>
            </a:pPr>
            <a:endParaRPr lang="en-US" sz="22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8695296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75091"/>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63757"/>
            <a:ext cx="10242645" cy="4490882"/>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Social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Engineering</a:t>
            </a: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dụ 1: Phishing (lừa đảo qua email)</a:t>
            </a:r>
          </a:p>
          <a:p>
            <a:pPr marL="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Một nhân viên nhận được email có vẻ như đến từ phòng IT nội bộ với nội dung:</a:t>
            </a:r>
          </a:p>
          <a:p>
            <a:pPr marL="46355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“Do hệ thống đang nâng cấp, vui lòng đăng nhập lại tài khoản công ty tại liên kết sau để xác thực.”</a:t>
            </a:r>
          </a:p>
          <a:p>
            <a:pPr marL="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Liên kết trong email trỏ đến một trang web giả mạo giống hệt cổng đăng nhập công ty.</a:t>
            </a:r>
          </a:p>
          <a:p>
            <a:pPr marL="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Khi nhân viên nhập username/password → thông tin bị gửi về server của hacker.</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ẻ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 dùng thông tin này để truy cập vào hệ thống thật.</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spcBef>
                <a:spcPts val="600"/>
              </a:spcBef>
              <a:buAutoNum type="alphaLcParenBoth"/>
            </a:pPr>
            <a:endParaRPr lang="vi-VN" sz="2200"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7815339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75091"/>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63757"/>
            <a:ext cx="10242645" cy="4941258"/>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Social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Engineering</a:t>
            </a: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dụ 2: Spear Phishing (có mục tiêu cụ thể)</a:t>
            </a:r>
          </a:p>
          <a:p>
            <a:pPr marL="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Hacker nghiên cứu trên LinkedIn thấy ông A là giám đốc tài chính (CFO) của công ty</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acker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này</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gửi email giả mạo từ CEO yêu cầu:</a:t>
            </a:r>
          </a:p>
          <a:p>
            <a:pPr marL="395288"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“Khẩn cấp: chuyển 200.000 USD cho đối tác X, hợp đồng số #123, trước 17h hôm nay.”</a:t>
            </a:r>
          </a:p>
          <a:p>
            <a:pPr marL="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Vì email được soạn cá nhân hóa, có thông tin thật (hợp đồng, tên đối tác)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CFO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dễ tin tưởng và thực hiện giao dịch.</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ông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ty bị mất tiền.</a:t>
            </a:r>
          </a:p>
        </p:txBody>
      </p:sp>
    </p:spTree>
    <p:extLst>
      <p:ext uri="{BB962C8B-B14F-4D97-AF65-F5344CB8AC3E}">
        <p14:creationId xmlns:p14="http://schemas.microsoft.com/office/powerpoint/2010/main" val="83494121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75091"/>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63757"/>
            <a:ext cx="10242645" cy="4941258"/>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Social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Engineering</a:t>
            </a: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dụ 3: Pretexting (giả mạo vai trò)</a:t>
            </a:r>
          </a:p>
          <a:p>
            <a:pPr marL="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Kẻ tấn công gọi điện cho nhân viên lễ tân và nói:</a:t>
            </a:r>
          </a:p>
          <a:p>
            <a:pPr marL="46355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“Tôi là nhân viên kỹ thuật của nhà mạng, cần kiểm tra modem của công ty. Vui lòng cho tôi tên Wi-Fi và mật khẩu để thực hiện test.”</a:t>
            </a:r>
          </a:p>
          <a:p>
            <a:pPr marL="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Nhân viên cả tin cung cấp thông tin.</a:t>
            </a:r>
          </a:p>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Hậu</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quả</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Hacker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Wi-Fi để truy cập vào hệ thống nội bộ.</a:t>
            </a:r>
          </a:p>
        </p:txBody>
      </p:sp>
    </p:spTree>
    <p:extLst>
      <p:ext uri="{BB962C8B-B14F-4D97-AF65-F5344CB8AC3E}">
        <p14:creationId xmlns:p14="http://schemas.microsoft.com/office/powerpoint/2010/main" val="16131107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75091"/>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63757"/>
            <a:ext cx="9396485" cy="4941258"/>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Social </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Engineering</a:t>
            </a: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dụ 4: Baiting (dụ dỗ bằng mồi nhử)</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Hacker để lại một USB có nhãn “Lương nhân viên 2025” trong bãi xe công ty.</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Một nhân viên tò mò cắm vào máy tính để xem.</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USB chứa malware tự động cài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đặt</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vào</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máy</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tính</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nhân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viên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đó</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acker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có quyền điều khiển từ xa.</a:t>
            </a:r>
          </a:p>
        </p:txBody>
      </p:sp>
    </p:spTree>
    <p:extLst>
      <p:ext uri="{BB962C8B-B14F-4D97-AF65-F5344CB8AC3E}">
        <p14:creationId xmlns:p14="http://schemas.microsoft.com/office/powerpoint/2010/main" val="41729319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75091"/>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63757"/>
            <a:ext cx="9396485" cy="4941258"/>
          </a:xfrm>
        </p:spPr>
        <p:txBody>
          <a:bodyPr/>
          <a:lstStyle/>
          <a:p>
            <a:pPr marL="0" indent="0">
              <a:spcBef>
                <a:spcPts val="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APT</a:t>
            </a:r>
          </a:p>
          <a:p>
            <a:pPr marL="0" indent="0">
              <a:spcBef>
                <a:spcPts val="600"/>
              </a:spcBef>
              <a:spcAft>
                <a:spcPts val="600"/>
              </a:spcAft>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VD</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1</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Stuxnet (2010 – Iran)</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ệ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thống điều khiển công nghiệp (SCADA) của các nhà máy hạt nhân Iran.</a:t>
            </a:r>
          </a:p>
          <a:p>
            <a:pPr>
              <a:spcBef>
                <a:spcPts val="600"/>
              </a:spcBef>
              <a:spcAft>
                <a:spcPts val="600"/>
              </a:spcAft>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Tính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chất APT:</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Có tổ chức (bị cho là do Mỹ &amp; Israel phát triển).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Kéo dài nhiều năm, bí mật và tinh vi.</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Hậu quả: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àm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chậm đáng kể chương trình hạt nhân Iran.</a:t>
            </a:r>
          </a:p>
          <a:p>
            <a:pPr marL="0" indent="0">
              <a:spcBef>
                <a:spcPts val="0"/>
              </a:spcBef>
              <a:spcAft>
                <a:spcPts val="600"/>
              </a:spcAft>
              <a:buNone/>
            </a:pPr>
            <a:endPar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41974172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75091"/>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63757"/>
            <a:ext cx="10024282" cy="4941258"/>
          </a:xfrm>
        </p:spPr>
        <p:txBody>
          <a:bodyPr/>
          <a:lstStyle/>
          <a:p>
            <a:pPr marL="0" indent="0">
              <a:spcBef>
                <a:spcPts val="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APT</a:t>
            </a:r>
          </a:p>
          <a:p>
            <a:pPr marL="0" indent="0">
              <a:spcBef>
                <a:spcPts val="600"/>
              </a:spcBef>
              <a:spcAft>
                <a:spcPts val="600"/>
              </a:spcAft>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VD</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1</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Stuxnet (2010 – Iran)</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Phương thức tấn công: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Phát tán qua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USB</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X</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âm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nhập vào hệ thống không nối mạng Internet.</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Khai thác nhiều zero-day vulnerabilities của Windows.</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Chèn mã độc vào bộ điều khiển công nghiệp Siemens, làm máy ly tâm hạt nhân quay quá tốc độ và hỏng hóc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0460342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75091"/>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1" y="1063757"/>
            <a:ext cx="10433715" cy="4941258"/>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APT</a:t>
            </a:r>
          </a:p>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VD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2</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APT28 (Fancy Bear – Nga)</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ơ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quan chính phủ, quốc phòng, truyền thông phương Tây.</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Kỹ thuật: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pear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phishing, malware, backdoor.</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Hoạt động: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ị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nghi đứng sau các vụ tấn công vào Ủy ban Quốc gia Đảng Dân chủ Mỹ (DNC) năm 2016.</a:t>
            </a:r>
          </a:p>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VD 3: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APT29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(Cozy Bear – Nga)</a:t>
            </a:r>
          </a:p>
          <a:p>
            <a:pPr lvl="1">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 </a:t>
            </a:r>
            <a:r>
              <a:rPr lang="en-US"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ác </a:t>
            </a: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tổ chức chính phủ và nghiên cứu y tế.</a:t>
            </a:r>
          </a:p>
          <a:p>
            <a:pPr lvl="1">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Hoạt động nổi bật: </a:t>
            </a:r>
            <a:r>
              <a:rPr lang="en-US"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ấn </a:t>
            </a: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vào các viện nghiên cứu vắc-xin COVID-19 năm 2020 để đánh cắp dữ liệu nghiên cứu.</a:t>
            </a:r>
          </a:p>
          <a:p>
            <a:pPr lvl="1">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Kỹ thuật: </a:t>
            </a:r>
            <a:r>
              <a:rPr lang="en-US"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a:t>
            </a:r>
            <a:r>
              <a:rPr lang="vi-VN"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hishing</a:t>
            </a: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malware, duy trì quyền truy cập lâu dài bằng backdoor.</a:t>
            </a:r>
            <a:endPar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4960489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75091"/>
            <a:ext cx="10242645" cy="139263"/>
          </a:xfrm>
        </p:spPr>
        <p:txBody>
          <a:bodyPr/>
          <a:lstStyle/>
          <a:p>
            <a:r>
              <a:rPr lang="en-US" sz="2800" b="1" dirty="0" smtClean="0">
                <a:solidFill>
                  <a:srgbClr val="0000CC"/>
                </a:solidFill>
                <a:latin typeface="Rockwell" panose="02060603020205020403" pitchFamily="18" charset="0"/>
              </a:rPr>
              <a:t>2.3.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63757"/>
            <a:ext cx="9764974" cy="4941258"/>
          </a:xfrm>
        </p:spPr>
        <p:txBody>
          <a:bodyPr/>
          <a:lstStyle/>
          <a:p>
            <a:pPr marL="0" indent="0">
              <a:spcBef>
                <a:spcPts val="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Đặc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trưng của một cuộc tấn công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APT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627063"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Xâm nhập ban đầu: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pear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phishing, zero-day, social engineering.</a:t>
            </a:r>
          </a:p>
          <a:p>
            <a:pPr marL="627063"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Thiết lập chỗ đứng: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ài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backdoor, trojan để duy trì truy cập.</a:t>
            </a:r>
          </a:p>
          <a:p>
            <a:pPr marL="627063"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Leo thang quyền hạn: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hiếm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quyền admin/root.</a:t>
            </a:r>
          </a:p>
          <a:p>
            <a:pPr marL="627063"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Di chuyển ngang (Lateral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Movement):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M</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ở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rộng ra nhiều hệ thống trong mạng nội bộ</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627063"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Duy trì sự hiện diện: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Ẩ</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mình, che giấu dấu vết.</a:t>
            </a:r>
          </a:p>
          <a:p>
            <a:pPr marL="627063"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Đánh cắp hoặc phá hoại: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ấy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dữ liệu mật, phá hủy hệ thống, gián điệp mạng.</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0814200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1" y="560036"/>
            <a:ext cx="10242645" cy="528851"/>
          </a:xfrm>
        </p:spPr>
        <p:txBody>
          <a:bodyPr/>
          <a:lstStyle/>
          <a:p>
            <a:r>
              <a:rPr lang="en-US" sz="2800" b="1" dirty="0" smtClean="0">
                <a:solidFill>
                  <a:srgbClr val="0000CC"/>
                </a:solidFill>
                <a:latin typeface="Rockwell" panose="02060603020205020403" pitchFamily="18" charset="0"/>
              </a:rPr>
              <a:t>2.4.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ỹ</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09924"/>
            <a:ext cx="10242645" cy="4011305"/>
          </a:xfrm>
        </p:spPr>
        <p:txBody>
          <a:bodyPr/>
          <a:lstStyle/>
          <a:p>
            <a:pPr marL="457200" indent="-457200">
              <a:spcBef>
                <a:spcPts val="600"/>
              </a:spcBef>
              <a:spcAft>
                <a:spcPts val="600"/>
              </a:spcAft>
              <a:buAutoNum type="alphaLcParenR"/>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1</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Reconnaissance (Do thám – thu thập thông tin)</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 thu thập thông tin về hệ thống, dịch vụ, cổng mở trước khi tấn công.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cụ tiêu biểu:</a:t>
            </a:r>
          </a:p>
          <a:p>
            <a:pPr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Nmap (Network Mapper</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Dùng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để quét mạng, phát hiện host đang hoạt động, cổng mở, dịch vụ chạy trên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đó</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p>
          <a:p>
            <a:pPr marL="860425" lvl="1" indent="0">
              <a:spcBef>
                <a:spcPts val="600"/>
              </a:spcBef>
              <a:spcAft>
                <a:spcPts val="600"/>
              </a:spcAft>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dụ: nmap -sV 192.168.1.1/24.</a:t>
            </a:r>
          </a:p>
          <a:p>
            <a:pPr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Shodan</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cụ tìm kiếm thiết bị IoT, camera, router, server đang công khai trên Internet.</a:t>
            </a:r>
          </a:p>
          <a:p>
            <a:pPr marL="0" indent="0">
              <a:spcBef>
                <a:spcPts val="600"/>
              </a:spcBef>
              <a:spcAft>
                <a:spcPts val="600"/>
              </a:spcAft>
              <a:buNone/>
            </a:pP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Được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gọi là “Google cho hacker”.</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413150223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1" y="560036"/>
            <a:ext cx="10242645" cy="528851"/>
          </a:xfrm>
        </p:spPr>
        <p:txBody>
          <a:bodyPr/>
          <a:lstStyle/>
          <a:p>
            <a:r>
              <a:rPr lang="en-US" sz="2800" b="1" dirty="0" smtClean="0">
                <a:solidFill>
                  <a:srgbClr val="0000CC"/>
                </a:solidFill>
                <a:latin typeface="Rockwell" panose="02060603020205020403" pitchFamily="18" charset="0"/>
              </a:rPr>
              <a:t>2.4.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ỹ</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09924"/>
            <a:ext cx="10242645" cy="4011305"/>
          </a:xfrm>
        </p:spPr>
        <p:txBody>
          <a:bodyPr/>
          <a:lstStyle/>
          <a:p>
            <a:pPr marL="457200" indent="-457200">
              <a:spcBef>
                <a:spcPts val="600"/>
              </a:spcBef>
              <a:spcAft>
                <a:spcPts val="600"/>
              </a:spcAft>
              <a:buAutoNum type="alphaLcParenR"/>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a2</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Phân</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tích</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(Exploitation)</a:t>
            </a:r>
          </a:p>
          <a:p>
            <a:pPr>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Mục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tiêu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phần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mềm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hoặc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682625" lvl="1">
              <a:spcBef>
                <a:spcPts val="600"/>
              </a:spcBef>
              <a:spcAft>
                <a:spcPts val="600"/>
              </a:spcAft>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Metasploit</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Framework:</a:t>
            </a:r>
          </a:p>
          <a:p>
            <a:pPr marL="1023938" lvl="2">
              <a:spcBef>
                <a:spcPts val="600"/>
              </a:spcBef>
              <a:spcAft>
                <a:spcPts val="600"/>
              </a:spcAft>
            </a:pP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Nền</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tảng</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hỗ</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trợ</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kiểm</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thử</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1023938" lvl="2">
              <a:spcBef>
                <a:spcPts val="600"/>
              </a:spcBef>
              <a:spcAft>
                <a:spcPts val="600"/>
              </a:spcAft>
            </a:pP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Cung</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cấp</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nhiều</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module exploit, payload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scanner.</a:t>
            </a:r>
          </a:p>
          <a:p>
            <a:pPr marL="1023938" lvl="2">
              <a:spcBef>
                <a:spcPts val="600"/>
              </a:spcBef>
              <a:spcAft>
                <a:spcPts val="600"/>
              </a:spcAft>
            </a:pP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SMB</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để</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chiếm</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quyền</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máy</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Windows.</a:t>
            </a:r>
          </a:p>
          <a:p>
            <a:pPr marL="682625" lvl="1">
              <a:spcBef>
                <a:spcPts val="600"/>
              </a:spcBef>
              <a:spcAft>
                <a:spcPts val="600"/>
              </a:spcAft>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SQLmap</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968375" lvl="2">
              <a:spcBef>
                <a:spcPts val="600"/>
              </a:spcBef>
              <a:spcAft>
                <a:spcPts val="600"/>
              </a:spcAft>
            </a:pP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tự</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động</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khai</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thác</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lỗ</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hổng</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SQL Injection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web.</a:t>
            </a:r>
          </a:p>
          <a:p>
            <a:pPr marL="968375" lvl="2">
              <a:spcBef>
                <a:spcPts val="600"/>
              </a:spcBef>
              <a:spcAft>
                <a:spcPts val="600"/>
              </a:spcAft>
            </a:pP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Có</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thể</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dump database, bypass login,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thậm</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chí</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thi</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lệnh</a:t>
            </a:r>
            <a:r>
              <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400"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HĐH</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sz="2400"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457200" indent="-457200">
              <a:buAutoNum type="alphaLcParenR"/>
            </a:pPr>
            <a:endPar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0416622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1" y="560036"/>
            <a:ext cx="10242645" cy="528851"/>
          </a:xfrm>
        </p:spPr>
        <p:txBody>
          <a:bodyPr/>
          <a:lstStyle/>
          <a:p>
            <a:r>
              <a:rPr lang="en-US" sz="2800" b="1" dirty="0" smtClean="0">
                <a:solidFill>
                  <a:srgbClr val="0000CC"/>
                </a:solidFill>
                <a:latin typeface="Rockwell" panose="02060603020205020403" pitchFamily="18" charset="0"/>
              </a:rPr>
              <a:t>2.4.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ỹ</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09924"/>
            <a:ext cx="10447362" cy="4011305"/>
          </a:xfrm>
        </p:spPr>
        <p:txBody>
          <a:bodyPr/>
          <a:lstStyle/>
          <a:p>
            <a:pPr marL="457200" indent="-457200">
              <a:spcBef>
                <a:spcPts val="600"/>
              </a:spcBef>
              <a:spcAft>
                <a:spcPts val="600"/>
              </a:spcAft>
              <a:buAutoNum type="alphaLcParenR"/>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a3</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Tấn công từ chối dịch vụ (DoS/DDoS)</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 làm gián đoạn hoặc ngừng hoạt động dịch vụ.</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cụ:</a:t>
            </a:r>
          </a:p>
          <a:p>
            <a:pPr marL="682625"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LOIC (Low Orbit Ion Cannon</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Cho </a:t>
            </a:r>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phép người dùng gửi lượng lớn request để làm quá tải </a:t>
            </a: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server</a:t>
            </a:r>
            <a:r>
              <a:rPr lang="en-US"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Thường </a:t>
            </a:r>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dùng trong các chiến dịch của nhóm Anonymous.</a:t>
            </a:r>
          </a:p>
          <a:p>
            <a:pPr marL="627063" lvl="1">
              <a:spcBef>
                <a:spcPts val="600"/>
              </a:spcBef>
              <a:spcAft>
                <a:spcPts val="600"/>
              </a:spcAft>
              <a:tabLst>
                <a:tab pos="627063" algn="l"/>
              </a:tabLs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HOIC (High Orbit Ion Cannon</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Phiên </a:t>
            </a:r>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bản nâng cấp của LOIC, có thể thực hiện tấn công mạnh hơn và khó bị phát hiện hơn.</a:t>
            </a:r>
          </a:p>
          <a:p>
            <a:pPr marL="682625"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Botnet</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Mạng </a:t>
            </a:r>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lưới hàng nghìn, hàng triệu máy tính bị điều khiển từ xa để phát động </a:t>
            </a: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DDoS.Ví </a:t>
            </a:r>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dụ: botnet Mirai tấn công làm sập Twitter, Netflix, Reddit (2016).</a:t>
            </a:r>
          </a:p>
          <a:p>
            <a:pPr marL="457200" indent="-457200">
              <a:buAutoNum type="alphaLcParenR"/>
            </a:pPr>
            <a:endPar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07901664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1" y="560036"/>
            <a:ext cx="10242645" cy="528851"/>
          </a:xfrm>
        </p:spPr>
        <p:txBody>
          <a:bodyPr/>
          <a:lstStyle/>
          <a:p>
            <a:r>
              <a:rPr lang="en-US" sz="2800" b="1" dirty="0" smtClean="0">
                <a:solidFill>
                  <a:srgbClr val="0000CC"/>
                </a:solidFill>
                <a:latin typeface="Rockwell" panose="02060603020205020403" pitchFamily="18" charset="0"/>
              </a:rPr>
              <a:t>2.4.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ỹ</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09924"/>
            <a:ext cx="9764974" cy="4011305"/>
          </a:xfrm>
        </p:spPr>
        <p:txBody>
          <a:bodyPr/>
          <a:lstStyle/>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b1</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Kỹ thuật Social Engineering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 khai thác tâm lý con người thay vì lỗ hổng kỹ thuật.</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Kỹ thuật phổ biến:</a:t>
            </a:r>
          </a:p>
          <a:p>
            <a:pPr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Email phishing: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ửi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email giả mạo ngân hàng, công ty, yêu cầu đăng nhập hoặc tải file độc hại.</a:t>
            </a:r>
          </a:p>
          <a:p>
            <a:pPr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Giả mạo website: </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ạo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trang đăng nhập giống hệt Facebook, Gmail, ngân hàng để đánh cắp thông tin.</a:t>
            </a:r>
          </a:p>
          <a:p>
            <a:pPr lvl="1">
              <a:spcBef>
                <a:spcPts val="600"/>
              </a:spcBef>
              <a:spcAft>
                <a:spcPts val="600"/>
              </a:spcAft>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Pretexting/Baiting: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iả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danh nhân viên IT, để USB “mồi nhử” chứa mã độc.</a:t>
            </a:r>
          </a:p>
          <a:p>
            <a:pPr marL="457200" indent="-457200">
              <a:buAutoNum type="alphaLcParenR"/>
            </a:pPr>
            <a:endPar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68339656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1" y="560036"/>
            <a:ext cx="10242645" cy="528851"/>
          </a:xfrm>
        </p:spPr>
        <p:txBody>
          <a:bodyPr/>
          <a:lstStyle/>
          <a:p>
            <a:r>
              <a:rPr lang="en-US" sz="2800" b="1" dirty="0" smtClean="0">
                <a:solidFill>
                  <a:srgbClr val="0000CC"/>
                </a:solidFill>
                <a:latin typeface="Rockwell" panose="02060603020205020403" pitchFamily="18" charset="0"/>
              </a:rPr>
              <a:t>2.4.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cụ</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ỹ</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phổ</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biến</a:t>
            </a: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09924"/>
            <a:ext cx="9764974" cy="4011305"/>
          </a:xfrm>
        </p:spPr>
        <p:txBody>
          <a:bodyPr/>
          <a:lstStyle/>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Kỹ</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thuật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b2</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Sniffing &amp; Spoofing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Sniffing (nghe lén):</a:t>
            </a:r>
          </a:p>
          <a:p>
            <a:pPr lvl="1">
              <a:spcBef>
                <a:spcPts val="600"/>
              </a:spcBef>
              <a:spcAft>
                <a:spcPts val="600"/>
              </a:spcAft>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Wireshark:</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 </a:t>
            </a:r>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cụ phân tích gói tin mạng, giúp kẻ tấn công thu thập thông tin (username, password) nếu dữ liệu truyền chưa mã hóa.</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Spoofing (giả mạo):</a:t>
            </a:r>
          </a:p>
          <a:p>
            <a:pPr lvl="1">
              <a:spcBef>
                <a:spcPts val="600"/>
              </a:spcBef>
              <a:spcAft>
                <a:spcPts val="600"/>
              </a:spcAft>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Ettercap:</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400"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Công </a:t>
            </a:r>
            <a:r>
              <a:rPr lang="vi-VN" sz="2400" dirty="0">
                <a:solidFill>
                  <a:srgbClr val="0000CC"/>
                </a:solidFill>
                <a:latin typeface="Rockwell" panose="02060603020205020403" pitchFamily="18" charset="0"/>
                <a:ea typeface="Segoe UI Emoji" panose="020B0502040204020203" pitchFamily="34" charset="0"/>
                <a:cs typeface="Tahoma" panose="020B0604030504040204" pitchFamily="34" charset="0"/>
              </a:rPr>
              <a:t>cụ tấn công Man-in-the-Middle (MITM), hỗ trợ ARP spoofing, DNS spoofing, cho phép chèn hoặc thay đổi dữ liệu trong luồng giao tiếp.</a:t>
            </a:r>
          </a:p>
          <a:p>
            <a:pPr marL="457200" indent="-457200">
              <a:buAutoNum type="alphaLcParenR"/>
            </a:pPr>
            <a:endPar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19267252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14876"/>
            <a:ext cx="10242645" cy="528851"/>
          </a:xfrm>
        </p:spPr>
        <p:txBody>
          <a:bodyPr/>
          <a:lstStyle/>
          <a:p>
            <a:r>
              <a:rPr lang="en-US" sz="2800" b="1" dirty="0" smtClean="0">
                <a:solidFill>
                  <a:srgbClr val="0000CC"/>
                </a:solidFill>
                <a:latin typeface="Rockwell" panose="02060603020205020403" pitchFamily="18" charset="0"/>
              </a:rPr>
              <a:t>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Phương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gian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583140"/>
            <a:ext cx="10024281" cy="3956713"/>
          </a:xfrm>
        </p:spPr>
        <p:txBody>
          <a:bodyPr/>
          <a:lstStyle/>
          <a:p>
            <a:pPr marL="0" indent="0" algn="just">
              <a:spcBef>
                <a:spcPts val="1200"/>
              </a:spcBef>
              <a:spcAft>
                <a:spcPts val="1200"/>
              </a:spcAft>
              <a:buNone/>
            </a:pPr>
            <a:r>
              <a:rPr lang="vi-VN" sz="2800" i="1" dirty="0">
                <a:solidFill>
                  <a:srgbClr val="0000CC"/>
                </a:solidFill>
                <a:latin typeface="Rockwell" panose="02060603020205020403" pitchFamily="18" charset="0"/>
                <a:ea typeface="Segoe UI Emoji" panose="020B0502040204020203" pitchFamily="34" charset="0"/>
                <a:cs typeface="Tahoma" panose="020B0604030504040204" pitchFamily="34" charset="0"/>
              </a:rPr>
              <a:t>Phòng thủ mạng là tập hợp các biện pháp </a:t>
            </a:r>
            <a:r>
              <a:rPr lang="vi-VN"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nhằm</a:t>
            </a:r>
            <a:r>
              <a:rPr lang="en-US"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i="1" dirty="0">
                <a:solidFill>
                  <a:srgbClr val="0000CC"/>
                </a:solidFill>
                <a:latin typeface="Rockwell" panose="02060603020205020403" pitchFamily="18" charset="0"/>
                <a:ea typeface="Segoe UI Emoji" panose="020B0502040204020203" pitchFamily="34" charset="0"/>
                <a:cs typeface="Tahoma" panose="020B0604030504040204" pitchFamily="34" charset="0"/>
              </a:rPr>
              <a:t>N</a:t>
            </a:r>
            <a:r>
              <a:rPr lang="vi-VN"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găn </a:t>
            </a:r>
            <a:r>
              <a:rPr lang="vi-VN" sz="2800" i="1" dirty="0">
                <a:solidFill>
                  <a:srgbClr val="0000CC"/>
                </a:solidFill>
                <a:latin typeface="Rockwell" panose="02060603020205020403" pitchFamily="18" charset="0"/>
                <a:ea typeface="Segoe UI Emoji" panose="020B0502040204020203" pitchFamily="34" charset="0"/>
                <a:cs typeface="Tahoma" panose="020B0604030504040204" pitchFamily="34" charset="0"/>
              </a:rPr>
              <a:t>chặn </a:t>
            </a:r>
            <a:r>
              <a:rPr lang="en-US"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i="1" dirty="0">
                <a:solidFill>
                  <a:srgbClr val="0000CC"/>
                </a:solidFill>
                <a:latin typeface="Rockwell" panose="02060603020205020403" pitchFamily="18" charset="0"/>
                <a:ea typeface="Segoe UI Emoji" panose="020B0502040204020203" pitchFamily="34" charset="0"/>
                <a:cs typeface="Tahoma" panose="020B0604030504040204" pitchFamily="34" charset="0"/>
              </a:rPr>
              <a:t>phát hiện </a:t>
            </a:r>
            <a:r>
              <a:rPr lang="en-US"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i="1" dirty="0">
                <a:solidFill>
                  <a:srgbClr val="0000CC"/>
                </a:solidFill>
                <a:latin typeface="Rockwell" panose="02060603020205020403" pitchFamily="18" charset="0"/>
                <a:ea typeface="Segoe UI Emoji" panose="020B0502040204020203" pitchFamily="34" charset="0"/>
                <a:cs typeface="Tahoma" panose="020B0604030504040204" pitchFamily="34" charset="0"/>
              </a:rPr>
              <a:t>ứng phó </a:t>
            </a:r>
            <a:r>
              <a:rPr lang="en-US"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i="1"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khôi phục trước các mối đe dọa. Có thể chia thành ba nhóm chính: Phòng ngừa, Phát hiện, Ứng phó &amp; Khôi phục</a:t>
            </a:r>
            <a:r>
              <a:rPr lang="vi-VN"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lgn="just">
              <a:spcBef>
                <a:spcPts val="1200"/>
              </a:spcBef>
              <a:spcAft>
                <a:spcPts val="1200"/>
              </a:spcAft>
              <a:buNone/>
            </a:pPr>
            <a:r>
              <a:rPr lang="vi-VN" sz="2800" i="1" dirty="0">
                <a:solidFill>
                  <a:srgbClr val="0000CC"/>
                </a:solidFill>
                <a:latin typeface="Rockwell" panose="02060603020205020403" pitchFamily="18" charset="0"/>
                <a:ea typeface="Segoe UI Emoji" panose="020B0502040204020203" pitchFamily="34" charset="0"/>
                <a:cs typeface="Tahoma" panose="020B0604030504040204" pitchFamily="34" charset="0"/>
              </a:rPr>
              <a:t>Phòng thủ mạng hiệu quả cần sự kết hợp kỹ thuật </a:t>
            </a:r>
            <a:r>
              <a:rPr lang="vi-VN"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en-US"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F</a:t>
            </a:r>
            <a:r>
              <a:rPr lang="vi-VN"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irewall</a:t>
            </a:r>
            <a:r>
              <a:rPr lang="vi-VN" sz="2800" i="1" dirty="0">
                <a:solidFill>
                  <a:srgbClr val="0000CC"/>
                </a:solidFill>
                <a:latin typeface="Rockwell" panose="02060603020205020403" pitchFamily="18" charset="0"/>
                <a:ea typeface="Segoe UI Emoji" panose="020B0502040204020203" pitchFamily="34" charset="0"/>
                <a:cs typeface="Tahoma" panose="020B0604030504040204" pitchFamily="34" charset="0"/>
              </a:rPr>
              <a:t>, SIEM, mã hóa) và con người (đào tạo, quy trình IRP/DRP), nhằm đảm bảo an toàn toàn diện </a:t>
            </a:r>
            <a:r>
              <a:rPr lang="en-US"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i="1" dirty="0">
                <a:solidFill>
                  <a:srgbClr val="0000CC"/>
                </a:solidFill>
                <a:latin typeface="Rockwell" panose="02060603020205020403" pitchFamily="18" charset="0"/>
                <a:ea typeface="Segoe UI Emoji" panose="020B0502040204020203" pitchFamily="34" charset="0"/>
                <a:cs typeface="Tahoma" panose="020B0604030504040204" pitchFamily="34" charset="0"/>
              </a:rPr>
              <a:t>nhiều lớp </a:t>
            </a:r>
            <a:r>
              <a:rPr lang="en-US"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sz="2800"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sz="2800" i="1" dirty="0">
                <a:solidFill>
                  <a:srgbClr val="0000CC"/>
                </a:solidFill>
                <a:latin typeface="Rockwell" panose="02060603020205020403" pitchFamily="18" charset="0"/>
                <a:ea typeface="Segoe UI Emoji" panose="020B0502040204020203" pitchFamily="34" charset="0"/>
                <a:cs typeface="Tahoma" panose="020B0604030504040204" pitchFamily="34" charset="0"/>
              </a:rPr>
              <a:t>liên tục.</a:t>
            </a:r>
            <a:endParaRPr lang="en-US" sz="2800" i="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00261965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35654"/>
            <a:ext cx="10242645" cy="528851"/>
          </a:xfrm>
        </p:spPr>
        <p:txBody>
          <a:bodyPr/>
          <a:lstStyle/>
          <a:p>
            <a:r>
              <a:rPr lang="en-US" sz="2800" b="1" dirty="0" smtClean="0">
                <a:solidFill>
                  <a:srgbClr val="0000CC"/>
                </a:solidFill>
                <a:latin typeface="Rockwell" panose="02060603020205020403" pitchFamily="18" charset="0"/>
              </a:rPr>
              <a:t>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Phương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gian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23572"/>
            <a:ext cx="10024281" cy="3956713"/>
          </a:xfrm>
        </p:spPr>
        <p:txBody>
          <a:bodyPr/>
          <a:lstStyle/>
          <a:p>
            <a:pPr marL="0" indent="0" algn="just">
              <a:spcBef>
                <a:spcPts val="600"/>
              </a:spcBef>
              <a:spcAft>
                <a:spcPts val="600"/>
              </a:spcAft>
              <a:buNone/>
            </a:pP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 Phòng ngừa (Prevention)</a:t>
            </a:r>
          </a:p>
          <a:p>
            <a:pPr marL="0" indent="0" algn="just">
              <a:spcBef>
                <a:spcPts val="600"/>
              </a:spcBef>
              <a:spcAft>
                <a:spcPts val="600"/>
              </a:spcAft>
              <a:buNone/>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 giảm thiểu khả năng bị tấn công ngay từ đầu.</a:t>
            </a:r>
          </a:p>
          <a:p>
            <a:pPr marL="0" indent="0" algn="just">
              <a:spcBef>
                <a:spcPts val="600"/>
              </a:spcBef>
              <a:spcAft>
                <a:spcPts val="600"/>
              </a:spcAft>
              <a:buNone/>
            </a:pP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a1. Firewall (Tường </a:t>
            </a:r>
            <a:r>
              <a:rPr lang="vi-VN" b="1"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lửa</a:t>
            </a:r>
            <a:r>
              <a:rPr lang="en-US" b="1"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i="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vi-VN" b="1"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lgn="just">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soát lưu lượng ra/vào hệ thống dựa trên chính sách.</a:t>
            </a:r>
          </a:p>
          <a:p>
            <a:pPr lvl="1" algn="just">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Có thể là firewall truyền thống (network firewall) hoặc firewall thế hệ mới (NGFW) tích hợp thêm IDS/IPS.</a:t>
            </a:r>
          </a:p>
          <a:p>
            <a:pPr marL="0" indent="0" algn="just">
              <a:spcBef>
                <a:spcPts val="600"/>
              </a:spcBef>
              <a:spcAft>
                <a:spcPts val="600"/>
              </a:spcAft>
              <a:buNone/>
            </a:pP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a2. IDS/IPS (Intrusion Detection/Prevention System):</a:t>
            </a:r>
          </a:p>
          <a:p>
            <a:pPr lvl="1" algn="just">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IDS: phát hiện hành vi bất thường hoặc gói tin tấn công.</a:t>
            </a:r>
          </a:p>
          <a:p>
            <a:pPr lvl="1" algn="just">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IPS: không chỉ phát hiện mà còn chặn ngay các gói tin nguy hại.</a:t>
            </a:r>
            <a:endParaRPr lang="en-US" i="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409833008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22006"/>
            <a:ext cx="10242645" cy="528851"/>
          </a:xfrm>
        </p:spPr>
        <p:txBody>
          <a:bodyPr/>
          <a:lstStyle/>
          <a:p>
            <a:r>
              <a:rPr lang="en-US" sz="2800" b="1" dirty="0" smtClean="0">
                <a:solidFill>
                  <a:srgbClr val="0000CC"/>
                </a:solidFill>
                <a:latin typeface="Rockwell" panose="02060603020205020403" pitchFamily="18" charset="0"/>
              </a:rPr>
              <a:t>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Phương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gian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23572"/>
            <a:ext cx="10597488" cy="3956713"/>
          </a:xfrm>
        </p:spPr>
        <p:txBody>
          <a:bodyPr/>
          <a:lstStyle/>
          <a:p>
            <a:pPr marL="0" indent="0" algn="just">
              <a:spcBef>
                <a:spcPts val="600"/>
              </a:spcBef>
              <a:spcAft>
                <a:spcPts val="600"/>
              </a:spcAft>
              <a:buNone/>
            </a:pPr>
            <a:r>
              <a:rPr lang="en-US" b="1"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 </a:t>
            </a:r>
            <a:r>
              <a:rPr lang="vi-VN" b="1"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Phòng </a:t>
            </a: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ngừa (Prevention</a:t>
            </a:r>
            <a:r>
              <a:rPr lang="vi-VN" b="1"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b="1"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lgn="just">
              <a:spcBef>
                <a:spcPts val="600"/>
              </a:spcBef>
              <a:spcAft>
                <a:spcPts val="600"/>
              </a:spcAft>
              <a:buNone/>
            </a:pP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a3. WAF (Web Application Firewall):</a:t>
            </a:r>
          </a:p>
          <a:p>
            <a:pPr lvl="1" algn="just">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vệ ứng dụng web khỏi các tấn công như SQL Injection, XSS, CSRF.</a:t>
            </a:r>
          </a:p>
          <a:p>
            <a:pPr lvl="1" algn="just">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Thường được triển khai trước máy chủ web.</a:t>
            </a:r>
          </a:p>
          <a:p>
            <a:pPr marL="0" indent="0" algn="just">
              <a:spcBef>
                <a:spcPts val="600"/>
              </a:spcBef>
              <a:spcAft>
                <a:spcPts val="600"/>
              </a:spcAft>
              <a:buNone/>
            </a:pP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a4. Cập nhật bản vá, quản lý cấu hình an toàn:</a:t>
            </a:r>
          </a:p>
          <a:p>
            <a:pPr lvl="1" algn="just">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Vá lỗ hổng hệ điều hành, phần mềm, firmware thiết bị mạng.</a:t>
            </a:r>
          </a:p>
          <a:p>
            <a:pPr lvl="1" algn="just">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Giảm thiểu nguy cơ bị khai thác do cấu hình mặc định (default credentials, open ports).</a:t>
            </a:r>
          </a:p>
          <a:p>
            <a:pPr marL="0" indent="0" algn="just">
              <a:spcBef>
                <a:spcPts val="600"/>
              </a:spcBef>
              <a:spcAft>
                <a:spcPts val="600"/>
              </a:spcAft>
              <a:buNone/>
            </a:pP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a5. Mã hóa dữ liệu, quản lý khóa:</a:t>
            </a:r>
          </a:p>
          <a:p>
            <a:pPr lvl="1" algn="just">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Dùng HTTPS, VPN, TLS để bảo vệ dữ liệu khi truyền tải.</a:t>
            </a:r>
          </a:p>
          <a:p>
            <a:pPr lvl="1" algn="just">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Mã hóa ổ cứng, database, backup.</a:t>
            </a:r>
          </a:p>
          <a:p>
            <a:pPr lvl="1" algn="just">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Quản lý vòng đời khóa (key lifecycle management).</a:t>
            </a:r>
          </a:p>
        </p:txBody>
      </p:sp>
    </p:spTree>
    <p:extLst>
      <p:ext uri="{BB962C8B-B14F-4D97-AF65-F5344CB8AC3E}">
        <p14:creationId xmlns:p14="http://schemas.microsoft.com/office/powerpoint/2010/main" val="26159468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494721"/>
            <a:ext cx="10242645" cy="528851"/>
          </a:xfrm>
        </p:spPr>
        <p:txBody>
          <a:bodyPr/>
          <a:lstStyle/>
          <a:p>
            <a:r>
              <a:rPr lang="en-US" sz="2800" b="1" dirty="0" smtClean="0">
                <a:solidFill>
                  <a:srgbClr val="0000CC"/>
                </a:solidFill>
                <a:latin typeface="Rockwell" panose="02060603020205020403" pitchFamily="18" charset="0"/>
              </a:rPr>
              <a:t>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Phương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gian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23572"/>
            <a:ext cx="10542897" cy="3956713"/>
          </a:xfrm>
        </p:spPr>
        <p:txBody>
          <a:bodyPr/>
          <a:lstStyle/>
          <a:p>
            <a:pPr marL="0" indent="0">
              <a:spcBef>
                <a:spcPts val="600"/>
              </a:spcBef>
              <a:spcAft>
                <a:spcPts val="600"/>
              </a:spcAft>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b)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Phát hiện (Detection)</a:t>
            </a:r>
          </a:p>
          <a:p>
            <a:pPr marL="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hanh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chóng nhận diện tấn công để kịp thời ứng phó.</a:t>
            </a:r>
          </a:p>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b1</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SIEM (Security Information &amp; Event Management):</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Thu thập, phân tích log từ nhiều nguồn (firewall, server, ứng dụng).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Tích hợp cảnh báo theo thời gian thực.</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Hỗ trợ tuân thủ các tiêu chuẩn (ISO 27001, PCI-DSS).</a:t>
            </a:r>
          </a:p>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b2</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Phát hiện bất thường (Anomaly Detection):</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Sử dụng Machine Learning hoặc baseline để phát hiện hành vi bất thường (ví dụ: đăng nhập trái giờ, tải dữ liệu lớn bất thường).</a:t>
            </a:r>
          </a:p>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b3</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Log monitoring (giám sát nhật ký):</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Kiểm tra log hệ thống, ứng dụng, cơ sở dữ liệu để phát hiện dấu hiệu xâm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nhập</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Kết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hợp với cảnh báo tự động (alerting system).</a:t>
            </a:r>
          </a:p>
        </p:txBody>
      </p:sp>
    </p:spTree>
    <p:extLst>
      <p:ext uri="{BB962C8B-B14F-4D97-AF65-F5344CB8AC3E}">
        <p14:creationId xmlns:p14="http://schemas.microsoft.com/office/powerpoint/2010/main" val="397407745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494711"/>
            <a:ext cx="10242645" cy="528851"/>
          </a:xfrm>
        </p:spPr>
        <p:txBody>
          <a:bodyPr/>
          <a:lstStyle/>
          <a:p>
            <a:r>
              <a:rPr lang="en-US" sz="2800" b="1" dirty="0" smtClean="0">
                <a:solidFill>
                  <a:srgbClr val="0000CC"/>
                </a:solidFill>
                <a:latin typeface="Rockwell" panose="02060603020205020403" pitchFamily="18" charset="0"/>
              </a:rPr>
              <a:t>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Phương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gian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23572"/>
            <a:ext cx="9819565" cy="3956713"/>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 Ứng phó và khôi phục (Response &amp; Recovery)</a:t>
            </a:r>
          </a:p>
          <a:p>
            <a:pPr marL="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iảm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thiểu thiệt hại, nhanh chóng khôi phục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HT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sau sự cố.</a:t>
            </a:r>
          </a:p>
          <a:p>
            <a:pPr marL="0" indent="0">
              <a:spcBef>
                <a:spcPts val="600"/>
              </a:spcBef>
              <a:spcAft>
                <a:spcPts val="600"/>
              </a:spcAft>
              <a:buNone/>
            </a:pP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c1</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Kế hoạch ứng cứu sự cố (Incident Response Plan – IRP):</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Các bước xử lý: </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1255713" lvl="1">
              <a:spcBef>
                <a:spcPts val="600"/>
              </a:spcBef>
              <a:spcAft>
                <a:spcPts val="600"/>
              </a:spcAft>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Phát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hiện → Khoanh vùng → Phân tích → </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Xử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lý → Khôi phục → Báo cáo.</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Đội ứng cứu (CSIRT – Computer Security Incident Response Team) cần được phân công rõ vai trò.</a:t>
            </a:r>
          </a:p>
        </p:txBody>
      </p:sp>
    </p:spTree>
    <p:extLst>
      <p:ext uri="{BB962C8B-B14F-4D97-AF65-F5344CB8AC3E}">
        <p14:creationId xmlns:p14="http://schemas.microsoft.com/office/powerpoint/2010/main" val="248735592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08359"/>
            <a:ext cx="10242645" cy="528851"/>
          </a:xfrm>
        </p:spPr>
        <p:txBody>
          <a:bodyPr/>
          <a:lstStyle/>
          <a:p>
            <a:r>
              <a:rPr lang="en-US" sz="2800" b="1" dirty="0" smtClean="0">
                <a:solidFill>
                  <a:srgbClr val="0000CC"/>
                </a:solidFill>
                <a:latin typeface="Rockwell" panose="02060603020205020403" pitchFamily="18" charset="0"/>
              </a:rPr>
              <a:t>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Phương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gian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23572"/>
            <a:ext cx="10542897" cy="3956713"/>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 Ứng phó và khôi phục (Response &amp; Recovery)</a:t>
            </a:r>
          </a:p>
          <a:p>
            <a:pPr marL="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Mục tiêu: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iảm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thiểu thiệt hại, nhanh chóng khôi phục hệ thống sau sự cố.</a:t>
            </a:r>
          </a:p>
          <a:p>
            <a:pPr marL="0" indent="0">
              <a:spcBef>
                <a:spcPts val="600"/>
              </a:spcBef>
              <a:spcAft>
                <a:spcPts val="600"/>
              </a:spcAft>
              <a:buNone/>
            </a:pP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c2</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Backup &amp; Disaster Recovery:</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Backup định kỳ dữ liệu, lưu trữ tại nhiều nơi (on-premise + cloud).</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Kế hoạch khôi phục sau thảm họa (Disaster Recovery Plan – DRP) đảm bảo hệ thống hoạt động trở lại trong thời gian ngắn.</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c3. Yếu tố con người (Human Factor):</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Đào tạo nhân viên nhận biết phishing, social engineering.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Xây dựng văn hóa bảo mật (security awareness).</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Chính sách least privilege (quyền tối thiểu cần thiết).</a:t>
            </a:r>
          </a:p>
        </p:txBody>
      </p:sp>
    </p:spTree>
    <p:extLst>
      <p:ext uri="{BB962C8B-B14F-4D97-AF65-F5344CB8AC3E}">
        <p14:creationId xmlns:p14="http://schemas.microsoft.com/office/powerpoint/2010/main" val="123304581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08359"/>
            <a:ext cx="10242645" cy="528851"/>
          </a:xfrm>
        </p:spPr>
        <p:txBody>
          <a:bodyPr/>
          <a:lstStyle/>
          <a:p>
            <a:r>
              <a:rPr lang="en-US" sz="2800" b="1" dirty="0" smtClean="0">
                <a:solidFill>
                  <a:srgbClr val="0000CC"/>
                </a:solidFill>
                <a:latin typeface="Rockwell" panose="02060603020205020403" pitchFamily="18" charset="0"/>
              </a:rPr>
              <a:t>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Phương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gian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23572"/>
            <a:ext cx="10242645" cy="3956713"/>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hình Defense-in-Depth (Phòng thủ nhiều lớp)</a:t>
            </a:r>
          </a:p>
          <a:p>
            <a:pPr marL="0" indent="0">
              <a:spcBef>
                <a:spcPts val="600"/>
              </a:spcBef>
              <a:spcAft>
                <a:spcPts val="600"/>
              </a:spcAft>
              <a:buNone/>
            </a:pPr>
            <a:r>
              <a:rPr lang="vi-VN" b="1"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Ý </a:t>
            </a: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tưởng: </a:t>
            </a: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Không có biện pháp nào hoàn hảo → cần nhiều lớp bảo vệ chồng lên nhau để tăng khả năng phòng </a:t>
            </a:r>
            <a:r>
              <a:rPr lang="vi-VN"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Các </a:t>
            </a: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lớp phòng thủ </a:t>
            </a:r>
            <a:r>
              <a:rPr lang="vi-VN"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chính</a:t>
            </a:r>
            <a:r>
              <a:rPr lang="en-US"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1. Perimeter (Chu vi – Biên mạng)</a:t>
            </a:r>
          </a:p>
          <a:p>
            <a:pPr lvl="1">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Tường lửa (Firewall, NGFW).</a:t>
            </a:r>
          </a:p>
          <a:p>
            <a:pPr lvl="1">
              <a:spcBef>
                <a:spcPts val="600"/>
              </a:spcBef>
              <a:spcAft>
                <a:spcPts val="600"/>
              </a:spcAft>
            </a:pPr>
            <a:r>
              <a:rPr lang="vi-VN"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IDS/IPS</a:t>
            </a:r>
            <a:r>
              <a:rPr lang="en-US"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VPN Gateway</a:t>
            </a:r>
            <a:r>
              <a:rPr lang="en-US"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i="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Anti-DDoS</a:t>
            </a: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vi-VN" b="1" i="1" dirty="0">
                <a:solidFill>
                  <a:srgbClr val="0000CC"/>
                </a:solidFill>
                <a:latin typeface="Rockwell" panose="02060603020205020403" pitchFamily="18" charset="0"/>
                <a:ea typeface="Segoe UI Emoji" panose="020B0502040204020203" pitchFamily="34" charset="0"/>
                <a:cs typeface="Tahoma" panose="020B0604030504040204" pitchFamily="34" charset="0"/>
              </a:rPr>
              <a:t>2. Network (Mạng nội bộ)</a:t>
            </a:r>
          </a:p>
          <a:p>
            <a:pPr lvl="1">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Phân đoạn mạng (Network Segmentation, VLAN).</a:t>
            </a:r>
          </a:p>
          <a:p>
            <a:pPr lvl="1">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ACL (Access Control List).</a:t>
            </a:r>
          </a:p>
          <a:p>
            <a:pPr lvl="1">
              <a:spcBef>
                <a:spcPts val="600"/>
              </a:spcBef>
              <a:spcAft>
                <a:spcPts val="600"/>
              </a:spcAft>
            </a:pPr>
            <a:r>
              <a:rPr lang="vi-VN" i="1" dirty="0">
                <a:solidFill>
                  <a:srgbClr val="0000CC"/>
                </a:solidFill>
                <a:latin typeface="Rockwell" panose="02060603020205020403" pitchFamily="18" charset="0"/>
                <a:ea typeface="Segoe UI Emoji" panose="020B0502040204020203" pitchFamily="34" charset="0"/>
                <a:cs typeface="Tahoma" panose="020B0604030504040204" pitchFamily="34" charset="0"/>
              </a:rPr>
              <a:t>Phát hiện bất thường lưu lượng (NDR – Network Detection &amp; Response).</a:t>
            </a:r>
          </a:p>
        </p:txBody>
      </p:sp>
    </p:spTree>
    <p:extLst>
      <p:ext uri="{BB962C8B-B14F-4D97-AF65-F5344CB8AC3E}">
        <p14:creationId xmlns:p14="http://schemas.microsoft.com/office/powerpoint/2010/main" val="71967708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494721"/>
            <a:ext cx="10242645" cy="528851"/>
          </a:xfrm>
        </p:spPr>
        <p:txBody>
          <a:bodyPr/>
          <a:lstStyle/>
          <a:p>
            <a:r>
              <a:rPr lang="en-US" sz="2800" b="1" dirty="0" smtClean="0">
                <a:solidFill>
                  <a:srgbClr val="0000CC"/>
                </a:solidFill>
                <a:latin typeface="Rockwell" panose="02060603020205020403" pitchFamily="18" charset="0"/>
              </a:rPr>
              <a:t>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Phương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gian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23572"/>
            <a:ext cx="10542897" cy="3956713"/>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hình Defense-in-Depth (Phòng thủ nhiều lớp</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3. Application (Ứng dụng)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WAF (Web Application Firewall).</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Secure coding (OWASP).</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Quét lỗ hổng định kỳ.</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MFA (Multi-Factor Authentication).</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4. Data (Dữ liệu)</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Mã hóa (Encryption at rest &amp; in transit).</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Backup định kỳ.</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DLP (Data Loss Prevention).</a:t>
            </a:r>
          </a:p>
        </p:txBody>
      </p:sp>
    </p:spTree>
    <p:extLst>
      <p:ext uri="{BB962C8B-B14F-4D97-AF65-F5344CB8AC3E}">
        <p14:creationId xmlns:p14="http://schemas.microsoft.com/office/powerpoint/2010/main" val="233747762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494721"/>
            <a:ext cx="10242645" cy="528851"/>
          </a:xfrm>
        </p:spPr>
        <p:txBody>
          <a:bodyPr/>
          <a:lstStyle/>
          <a:p>
            <a:r>
              <a:rPr lang="en-US" sz="2800" b="1" dirty="0" smtClean="0">
                <a:solidFill>
                  <a:srgbClr val="0000CC"/>
                </a:solidFill>
                <a:latin typeface="Rockwell" panose="02060603020205020403" pitchFamily="18" charset="0"/>
              </a:rPr>
              <a:t>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Phương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gian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23572"/>
            <a:ext cx="10542897" cy="3956713"/>
          </a:xfrm>
        </p:spPr>
        <p:txBody>
          <a:bodyPr/>
          <a:lstStyle/>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hình Defense-in-Depth (Phòng thủ nhiều lớp</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5. Endpoint (Thiết bị đầu cuối)</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Antivirus/EDR (Endpoint Detection &amp; Response).</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Cập nhật bản vá hệ điều hành &amp; phần mềm.</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Quản lý thiết bị di động (MDM).</a:t>
            </a:r>
          </a:p>
          <a:p>
            <a:pPr marL="0" indent="0">
              <a:spcBef>
                <a:spcPts val="600"/>
              </a:spcBef>
              <a:spcAft>
                <a:spcPts val="600"/>
              </a:spcAft>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6. User (Người dùng)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Đào tạo nhận thức an ninh (Security Awareness Training).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Chính sách mật khẩu mạnh, quản lý định danh (IAM).</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Chính sách quyền truy cập tối thiểu (Least Privilege).</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40105417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464492"/>
            <a:ext cx="10242645" cy="528851"/>
          </a:xfrm>
        </p:spPr>
        <p:txBody>
          <a:bodyPr/>
          <a:lstStyle/>
          <a:p>
            <a:r>
              <a:rPr lang="en-US" sz="2800" b="1" dirty="0" smtClean="0">
                <a:solidFill>
                  <a:srgbClr val="0000CC"/>
                </a:solidFill>
                <a:latin typeface="Rockwell" panose="02060603020205020403" pitchFamily="18" charset="0"/>
              </a:rPr>
              <a:t>2.5.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Phương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pháp</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gian</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23572"/>
            <a:ext cx="10542897" cy="3956713"/>
          </a:xfrm>
        </p:spPr>
        <p:txBody>
          <a:bodyPr/>
          <a:lstStyle/>
          <a:p>
            <a:pPr marL="0" indent="0">
              <a:buNone/>
            </a:pP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Mô hình Defense-in-Depth (Phòng thủ nhiều lớp</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buNone/>
            </a:pPr>
            <a:endPar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13532"/>
          <a:stretch/>
        </p:blipFill>
        <p:spPr>
          <a:xfrm>
            <a:off x="4394579" y="873456"/>
            <a:ext cx="6779523" cy="5984543"/>
          </a:xfrm>
          <a:prstGeom prst="rect">
            <a:avLst/>
          </a:prstGeom>
        </p:spPr>
      </p:pic>
    </p:spTree>
    <p:extLst>
      <p:ext uri="{BB962C8B-B14F-4D97-AF65-F5344CB8AC3E}">
        <p14:creationId xmlns:p14="http://schemas.microsoft.com/office/powerpoint/2010/main" val="72406371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99697"/>
            <a:ext cx="10242645" cy="528851"/>
          </a:xfrm>
        </p:spPr>
        <p:txBody>
          <a:bodyPr/>
          <a:lstStyle/>
          <a:p>
            <a:r>
              <a:rPr lang="en-US" sz="2800" b="1" dirty="0" smtClean="0">
                <a:solidFill>
                  <a:srgbClr val="0000CC"/>
                </a:solidFill>
                <a:latin typeface="Rockwell" panose="02060603020205020403" pitchFamily="18" charset="0"/>
              </a:rPr>
              <a:t>2.6.</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Xu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hướng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lược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đại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528548"/>
            <a:ext cx="10242645" cy="4011305"/>
          </a:xfrm>
        </p:spPr>
        <p:txBody>
          <a:bodyPr/>
          <a:lstStyle/>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 Zero Trust Security</a:t>
            </a:r>
          </a:p>
          <a:p>
            <a:pPr>
              <a:spcBef>
                <a:spcPts val="600"/>
              </a:spcBef>
              <a:spcAft>
                <a:spcPts val="600"/>
              </a:spcAft>
            </a:pP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Nguyên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tắc</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Không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tin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cậy</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mặc</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định</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Luôn</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xác</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(Never Trust, Always Verify).</a:t>
            </a:r>
          </a:p>
          <a:p>
            <a:pPr>
              <a:spcBef>
                <a:spcPts val="600"/>
              </a:spcBef>
              <a:spcAft>
                <a:spcPts val="600"/>
              </a:spcAft>
            </a:pP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Đặc</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điểm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Xác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thực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yếu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tố</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(MFA</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Kiểm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soát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truy</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cập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dựa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trên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vai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trò</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RBAC</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lvl="1">
              <a:spcBef>
                <a:spcPts val="600"/>
              </a:spcBef>
              <a:spcAft>
                <a:spcPts val="600"/>
              </a:spcAft>
            </a:pP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Micro-segmentation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phân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đoạn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nhỏ</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trong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hệ</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thống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Lợi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ích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Giảm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thiểu</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rủi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ro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từ</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tấn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nội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bộ</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hoặc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tài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khoản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bị</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quyền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p:txBody>
      </p:sp>
    </p:spTree>
    <p:extLst>
      <p:ext uri="{BB962C8B-B14F-4D97-AF65-F5344CB8AC3E}">
        <p14:creationId xmlns:p14="http://schemas.microsoft.com/office/powerpoint/2010/main" val="318799955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99697"/>
            <a:ext cx="10242645" cy="528851"/>
          </a:xfrm>
        </p:spPr>
        <p:txBody>
          <a:bodyPr/>
          <a:lstStyle/>
          <a:p>
            <a:r>
              <a:rPr lang="en-US" sz="2800" b="1" dirty="0" smtClean="0">
                <a:solidFill>
                  <a:srgbClr val="0000CC"/>
                </a:solidFill>
                <a:latin typeface="Rockwell" panose="02060603020205020403" pitchFamily="18" charset="0"/>
              </a:rPr>
              <a:t>2.6.</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Xu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hướng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lược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đại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528548"/>
            <a:ext cx="10051577" cy="4011305"/>
          </a:xfrm>
        </p:spPr>
        <p:txBody>
          <a:bodyPr/>
          <a:lstStyle/>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b) </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Threat Intelligence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Tình</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báo</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mối</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đe</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dọa</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342900" lvl="1">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Khái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niệm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Thu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thập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phân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tích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chia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sẻ</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thông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tin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về</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mối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đe</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dọa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342900" lvl="1">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Danh</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sách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IP/URL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hại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chữ</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ký</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malware,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TTPs</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(Techniques, Tactics, Procedures)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của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hacker.</a:t>
            </a:r>
          </a:p>
          <a:p>
            <a:pPr marL="342900" lvl="1">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dụng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Giúp</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các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tổ</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dự</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báo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sớm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chuẩn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bị</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chủ</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p:txBody>
      </p:sp>
    </p:spTree>
    <p:extLst>
      <p:ext uri="{BB962C8B-B14F-4D97-AF65-F5344CB8AC3E}">
        <p14:creationId xmlns:p14="http://schemas.microsoft.com/office/powerpoint/2010/main" val="51439653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99697"/>
            <a:ext cx="10242645" cy="528851"/>
          </a:xfrm>
        </p:spPr>
        <p:txBody>
          <a:bodyPr/>
          <a:lstStyle/>
          <a:p>
            <a:r>
              <a:rPr lang="en-US" sz="2800" b="1" dirty="0" smtClean="0">
                <a:solidFill>
                  <a:srgbClr val="0000CC"/>
                </a:solidFill>
                <a:latin typeface="Rockwell" panose="02060603020205020403" pitchFamily="18" charset="0"/>
              </a:rPr>
              <a:t>2.6.</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Xu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hướng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lược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đại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528548"/>
            <a:ext cx="10051577" cy="4011305"/>
          </a:xfrm>
        </p:spPr>
        <p:txBody>
          <a:bodyPr/>
          <a:lstStyle/>
          <a:p>
            <a:pPr marL="0" indent="0">
              <a:spcBef>
                <a:spcPts val="600"/>
              </a:spcBef>
              <a:spcAft>
                <a:spcPts val="600"/>
              </a:spcAft>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AI/ML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trong an ninh mạng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Ứng dụng: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Phát hiện bất thường hành vi (User &amp; Entity Behavior Analytics – UEBA).</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Phân tích log tự động, phát hiện sớm tấn công.</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Hỗ trợ điều tra sự cố (Incident Analysis).</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Lợi ích: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âng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cao khả năng xử lý dữ liệu khổng lồ, giảm sai sót con người.</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60774562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99697"/>
            <a:ext cx="10242645" cy="528851"/>
          </a:xfrm>
        </p:spPr>
        <p:txBody>
          <a:bodyPr/>
          <a:lstStyle/>
          <a:p>
            <a:r>
              <a:rPr lang="en-US" sz="2800" b="1" dirty="0" smtClean="0">
                <a:solidFill>
                  <a:srgbClr val="0000CC"/>
                </a:solidFill>
                <a:latin typeface="Rockwell" panose="02060603020205020403" pitchFamily="18" charset="0"/>
              </a:rPr>
              <a:t>2.6.</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Xu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hướng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lược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đại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528548"/>
            <a:ext cx="10051577" cy="4011305"/>
          </a:xfrm>
        </p:spPr>
        <p:txBody>
          <a:bodyPr/>
          <a:lstStyle/>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Cloud Security &amp; Container Security</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Thách thức: môi trường đám mây và container (Docker, Kubernetes) có tính linh hoạt cao nhưng cũng nhiều lỗ hổng.</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Biện pháp:</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Mã hóa dữ liệu trên cloud.</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Quản lý danh tính và quyền truy cập (IAM).</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Container scanning (quét lỗ hổng trong container image).</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Chính sách bảo mật theo chuẩn CSPM (Cloud Security Posture Management).</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37629088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99697"/>
            <a:ext cx="10242645" cy="528851"/>
          </a:xfrm>
        </p:spPr>
        <p:txBody>
          <a:bodyPr/>
          <a:lstStyle/>
          <a:p>
            <a:r>
              <a:rPr lang="en-US" sz="2800" b="1" dirty="0" smtClean="0">
                <a:solidFill>
                  <a:srgbClr val="0000CC"/>
                </a:solidFill>
                <a:latin typeface="Rockwell" panose="02060603020205020403" pitchFamily="18" charset="0"/>
              </a:rPr>
              <a:t>2.6.</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Xu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hướng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lược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đại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528548"/>
            <a:ext cx="10051577" cy="4011305"/>
          </a:xfrm>
        </p:spPr>
        <p:txBody>
          <a:bodyPr/>
          <a:lstStyle/>
          <a:p>
            <a:pPr marL="0" indent="0">
              <a:spcBef>
                <a:spcPts val="600"/>
              </a:spcBef>
              <a:spcAft>
                <a:spcPts val="600"/>
              </a:spcAft>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 </a:t>
            </a:r>
            <a:r>
              <a:rPr lang="en-US"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SOC</a:t>
            </a: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(Security Operations Center)</a:t>
            </a:r>
          </a:p>
          <a:p>
            <a:pPr>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Chức</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năng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en-US"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rung</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tâm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giám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sát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ninh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tập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trung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Nhiệm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vụ</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spcBef>
                <a:spcPts val="600"/>
              </a:spcBef>
              <a:spcAft>
                <a:spcPts val="600"/>
              </a:spcAft>
            </a:pP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Theo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dõi</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cảnh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báo</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an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ninh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24/7.</a:t>
            </a:r>
          </a:p>
          <a:p>
            <a:pPr lvl="1">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Phát</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phân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tích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phản</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sự</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cố</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nhanh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lvl="1">
              <a:spcBef>
                <a:spcPts val="600"/>
              </a:spcBef>
              <a:spcAft>
                <a:spcPts val="600"/>
              </a:spcAft>
            </a:pP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Tích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hợp</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SIEM</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SOAR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để</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tự</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động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hóa</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quy</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trình</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ứng</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phó</a:t>
            </a:r>
            <a:r>
              <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rPr>
              <a:t>.</a:t>
            </a:r>
          </a:p>
        </p:txBody>
      </p:sp>
    </p:spTree>
    <p:extLst>
      <p:ext uri="{BB962C8B-B14F-4D97-AF65-F5344CB8AC3E}">
        <p14:creationId xmlns:p14="http://schemas.microsoft.com/office/powerpoint/2010/main" val="392611007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999697"/>
            <a:ext cx="10242645" cy="528851"/>
          </a:xfrm>
        </p:spPr>
        <p:txBody>
          <a:bodyPr/>
          <a:lstStyle/>
          <a:p>
            <a:r>
              <a:rPr lang="en-US" sz="2800" b="1" dirty="0" smtClean="0">
                <a:solidFill>
                  <a:srgbClr val="0000CC"/>
                </a:solidFill>
                <a:latin typeface="Rockwell" panose="02060603020205020403" pitchFamily="18" charset="0"/>
              </a:rPr>
              <a:t>2.6.</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Xu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hướng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lược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đại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528548"/>
            <a:ext cx="10051577" cy="4011305"/>
          </a:xfrm>
        </p:spPr>
        <p:txBody>
          <a:bodyPr/>
          <a:lstStyle/>
          <a:p>
            <a:pPr marL="0" indent="0">
              <a:spcBef>
                <a:spcPts val="600"/>
              </a:spcBef>
              <a:spcAft>
                <a:spcPts val="600"/>
              </a:spcAft>
              <a:buNone/>
            </a:pPr>
            <a:r>
              <a:rPr lang="en-US" b="1" dirty="0">
                <a:solidFill>
                  <a:srgbClr val="0000CC"/>
                </a:solidFill>
                <a:latin typeface="Rockwell" panose="02060603020205020403" pitchFamily="18" charset="0"/>
                <a:ea typeface="Segoe UI Emoji" panose="020B0502040204020203" pitchFamily="34" charset="0"/>
                <a:cs typeface="Tahoma" panose="020B0604030504040204" pitchFamily="34" charset="0"/>
              </a:rPr>
              <a:t>e</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Chiến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tranh mạng &amp; Phòng thủ quốc gia</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Thực trạng: </a:t>
            </a:r>
            <a:r>
              <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a:t>
            </a: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ấn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công mạng đã trở thành vũ khí trong xung đột giữa các quốc gia.</a:t>
            </a:r>
          </a:p>
          <a:p>
            <a:pPr>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Chiến lược phòng thủ:</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Bảo vệ hạ tầng trọng yếu (điện, nước, viễn thông, y tế…).</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Hợp tác quốc tế, chia sẻ thông tin an ninh.</a:t>
            </a:r>
          </a:p>
          <a:p>
            <a:pPr lvl="1">
              <a:spcBef>
                <a:spcPts val="600"/>
              </a:spcBef>
              <a:spcAft>
                <a:spcPts val="600"/>
              </a:spcAft>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Phát triển năng lực Cyber Army và trung tâm phòng thủ quốc gia.</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276830268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491788"/>
            <a:ext cx="10242645" cy="528851"/>
          </a:xfrm>
        </p:spPr>
        <p:txBody>
          <a:bodyPr/>
          <a:lstStyle/>
          <a:p>
            <a:r>
              <a:rPr lang="en-US" sz="2800" b="1" dirty="0" smtClean="0">
                <a:solidFill>
                  <a:srgbClr val="0000CC"/>
                </a:solidFill>
                <a:latin typeface="Rockwell" panose="02060603020205020403" pitchFamily="18" charset="0"/>
              </a:rPr>
              <a:t>2.6.</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Xu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hướng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lược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đại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2796" t="7951" r="4587" b="14205"/>
          <a:stretch/>
        </p:blipFill>
        <p:spPr>
          <a:xfrm>
            <a:off x="1412542" y="1020638"/>
            <a:ext cx="9887804" cy="5721356"/>
          </a:xfrm>
        </p:spPr>
      </p:pic>
    </p:spTree>
    <p:extLst>
      <p:ext uri="{BB962C8B-B14F-4D97-AF65-F5344CB8AC3E}">
        <p14:creationId xmlns:p14="http://schemas.microsoft.com/office/powerpoint/2010/main" val="255123501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05442"/>
            <a:ext cx="10242645" cy="528851"/>
          </a:xfrm>
        </p:spPr>
        <p:txBody>
          <a:bodyPr/>
          <a:lstStyle/>
          <a:p>
            <a:r>
              <a:rPr lang="en-US" sz="2800" b="1" dirty="0" smtClean="0">
                <a:solidFill>
                  <a:srgbClr val="0000CC"/>
                </a:solidFill>
                <a:latin typeface="Rockwell" panose="02060603020205020403" pitchFamily="18" charset="0"/>
              </a:rPr>
              <a:t>2.6.</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Xu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hướng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lược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đại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34293"/>
            <a:ext cx="10051577" cy="4011305"/>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VD 1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Zero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Trust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Security</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Google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triển khai mô hình BeyondCorp, cho phép nhân viên truy cập hệ thống từ bất kỳ đâu nhưng luôn phải xác thực đa yếu tố và chỉ được cấp quyền đúng nhu cầu công việc.</a:t>
            </a:r>
          </a:p>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VD 2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Threat Intelligence</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Các tổ chức tài chính lớn thường dùng Threat Intelligence Feeds như từ IBM X-Force, FireEye, hoặc MISP (Malware Information Sharing Platform) để cập nhật nhanh IP/URL độc hại, dấu hiệu tấn công.</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368259115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05442"/>
            <a:ext cx="10242645" cy="528851"/>
          </a:xfrm>
        </p:spPr>
        <p:txBody>
          <a:bodyPr/>
          <a:lstStyle/>
          <a:p>
            <a:r>
              <a:rPr lang="en-US" sz="2800" b="1" dirty="0" smtClean="0">
                <a:solidFill>
                  <a:srgbClr val="0000CC"/>
                </a:solidFill>
                <a:latin typeface="Rockwell" panose="02060603020205020403" pitchFamily="18" charset="0"/>
              </a:rPr>
              <a:t>2.6.</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Xu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hướng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lược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đại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2" y="1034293"/>
            <a:ext cx="10051577" cy="4011305"/>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VD 3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AI/ML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trong an ninh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Microsoft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Defender for Endpoint dùng Machine Learning để phân tích hàng tỷ tín hiệu mỗi ngày, phát hiện hành vi bất thường như ransomware trước khi gây thiệt hại.</a:t>
            </a:r>
          </a:p>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VD 4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Cloud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Security &amp; Container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Security</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Netflix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áp dụng chaos engineering để kiểm thử bảo mật hạ tầng cloud; đồng thời dùng Kubernetes security policies và container scanning (Aqua Security, Twistlock) để ngăn lỗ hổng trong Docker images.</a:t>
            </a:r>
            <a:endParaRPr lang="en-US"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57394376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F258-FBDF-4B27-9629-7EDE5A44E595}"/>
              </a:ext>
            </a:extLst>
          </p:cNvPr>
          <p:cNvSpPr>
            <a:spLocks noGrp="1"/>
          </p:cNvSpPr>
          <p:nvPr>
            <p:ph type="title"/>
          </p:nvPr>
        </p:nvSpPr>
        <p:spPr>
          <a:xfrm>
            <a:off x="1412542" y="505442"/>
            <a:ext cx="10242645" cy="528851"/>
          </a:xfrm>
        </p:spPr>
        <p:txBody>
          <a:bodyPr/>
          <a:lstStyle/>
          <a:p>
            <a:r>
              <a:rPr lang="en-US" sz="2800" b="1" dirty="0" smtClean="0">
                <a:solidFill>
                  <a:srgbClr val="0000CC"/>
                </a:solidFill>
                <a:latin typeface="Rockwell" panose="02060603020205020403" pitchFamily="18" charset="0"/>
              </a:rPr>
              <a:t>2.6.</a:t>
            </a:r>
            <a:r>
              <a:rPr lang="en-US" sz="2800"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Xu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hướng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và</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chiến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lược</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phòng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thủ</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mạng</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hiện</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sz="2800" b="1" dirty="0" err="1">
                <a:solidFill>
                  <a:srgbClr val="0000CC"/>
                </a:solidFill>
                <a:latin typeface="Rockwell" panose="02060603020205020403" pitchFamily="18" charset="0"/>
                <a:ea typeface="Segoe UI Emoji" panose="020B0502040204020203" pitchFamily="34" charset="0"/>
                <a:cs typeface="Tahoma" panose="020B0604030504040204" pitchFamily="34" charset="0"/>
              </a:rPr>
              <a:t>đại</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r>
              <a:rPr lang="en-US" sz="2800" b="1" dirty="0" smtClean="0">
                <a:solidFill>
                  <a:srgbClr val="0000CC"/>
                </a:solidFill>
                <a:latin typeface="Rockwell" panose="02060603020205020403" pitchFamily="18" charset="0"/>
              </a:rPr>
              <a:t> </a:t>
            </a:r>
            <a: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t/>
            </a:r>
            <a:br>
              <a:rPr lang="en-US" sz="2800" b="1" dirty="0">
                <a:solidFill>
                  <a:srgbClr val="0000CC"/>
                </a:solidFill>
                <a:latin typeface="Rockwell" panose="02060603020205020403" pitchFamily="18" charset="0"/>
                <a:ea typeface="Segoe UI Emoji" panose="020B0502040204020203" pitchFamily="34" charset="0"/>
                <a:cs typeface="Tahoma" panose="020B0604030504040204" pitchFamily="34" charset="0"/>
              </a:rPr>
            </a:br>
            <a:endParaRPr lang="en-US" sz="2800" b="1" dirty="0">
              <a:solidFill>
                <a:srgbClr val="0000CC"/>
              </a:solidFill>
              <a:latin typeface="Rockwell" panose="02060603020205020403" pitchFamily="18" charset="0"/>
            </a:endParaRPr>
          </a:p>
        </p:txBody>
      </p:sp>
      <p:sp>
        <p:nvSpPr>
          <p:cNvPr id="3" name="Content Placeholder 2">
            <a:extLst>
              <a:ext uri="{FF2B5EF4-FFF2-40B4-BE49-F238E27FC236}">
                <a16:creationId xmlns:a16="http://schemas.microsoft.com/office/drawing/2014/main" id="{9276B044-A495-4FDE-B341-D8F787F3BAD4}"/>
              </a:ext>
            </a:extLst>
          </p:cNvPr>
          <p:cNvSpPr>
            <a:spLocks noGrp="1"/>
          </p:cNvSpPr>
          <p:nvPr>
            <p:ph idx="1"/>
          </p:nvPr>
        </p:nvSpPr>
        <p:spPr>
          <a:xfrm>
            <a:off x="1412543" y="1034293"/>
            <a:ext cx="9669440" cy="4011305"/>
          </a:xfrm>
        </p:spPr>
        <p:txBody>
          <a:bodyPr/>
          <a:lstStyle/>
          <a:p>
            <a:pPr marL="0" indent="0">
              <a:spcBef>
                <a:spcPts val="600"/>
              </a:spcBef>
              <a:spcAft>
                <a:spcPts val="600"/>
              </a:spcAft>
              <a:buNone/>
            </a:pP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số</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ví</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a:t>
            </a:r>
            <a:r>
              <a:rPr lang="en-US" b="1" dirty="0" err="1" smtClean="0">
                <a:solidFill>
                  <a:srgbClr val="0000CC"/>
                </a:solidFill>
                <a:latin typeface="Rockwell" panose="02060603020205020403" pitchFamily="18" charset="0"/>
                <a:ea typeface="Segoe UI Emoji" panose="020B0502040204020203" pitchFamily="34" charset="0"/>
                <a:cs typeface="Tahoma" panose="020B0604030504040204" pitchFamily="34" charset="0"/>
              </a:rPr>
              <a:t>dụ</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p>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VD 5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SOC</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 Security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Operations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Center</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Một </a:t>
            </a: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SOC của ngân hàng có thể sử dụng SIEM (Splunk, QRadar) để giám sát log 24/7, khi phát hiện tấn công DDoS thì tự động kích hoạt SOAR playbook để chặn IP độc hại.</a:t>
            </a:r>
          </a:p>
          <a:p>
            <a:pPr marL="0" indent="0">
              <a:spcBef>
                <a:spcPts val="600"/>
              </a:spcBef>
              <a:spcAft>
                <a:spcPts val="600"/>
              </a:spcAft>
              <a:buNone/>
            </a:pP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VD 6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Chiến </a:t>
            </a:r>
            <a:r>
              <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rPr>
              <a:t>tranh mạng &amp; Phòng thủ quốc </a:t>
            </a:r>
            <a:r>
              <a:rPr lang="vi-VN"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gia</a:t>
            </a:r>
            <a:r>
              <a:rPr lang="en-US" b="1"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rPr>
              <a:t>)</a:t>
            </a:r>
            <a:endParaRPr lang="vi-VN" b="1" dirty="0">
              <a:solidFill>
                <a:srgbClr val="0000CC"/>
              </a:solidFill>
              <a:latin typeface="Rockwell" panose="02060603020205020403" pitchFamily="18" charset="0"/>
              <a:ea typeface="Segoe UI Emoji" panose="020B0502040204020203" pitchFamily="34" charset="0"/>
              <a:cs typeface="Tahoma" panose="020B0604030504040204" pitchFamily="34" charset="0"/>
            </a:endParaRPr>
          </a:p>
          <a:p>
            <a:pPr marL="0" indent="0">
              <a:spcBef>
                <a:spcPts val="600"/>
              </a:spcBef>
              <a:spcAft>
                <a:spcPts val="600"/>
              </a:spcAft>
              <a:buNone/>
            </a:pPr>
            <a:r>
              <a:rPr lang="vi-VN" dirty="0">
                <a:solidFill>
                  <a:srgbClr val="0000CC"/>
                </a:solidFill>
                <a:latin typeface="Rockwell" panose="02060603020205020403" pitchFamily="18" charset="0"/>
                <a:ea typeface="Segoe UI Emoji" panose="020B0502040204020203" pitchFamily="34" charset="0"/>
                <a:cs typeface="Tahoma" panose="020B0604030504040204" pitchFamily="34" charset="0"/>
              </a:rPr>
              <a:t>Ví dụ: Estonia xây dựng Cyber Defense League (đội quân mạng tình nguyện), sau khi từng bị tấn công DDoS quy mô lớn năm 2007; hiện nay nhiều nước cũng thành lập lực lượng chuyên trách “Cyber Command”.</a:t>
            </a:r>
            <a:endParaRPr lang="en-US" dirty="0" smtClean="0">
              <a:solidFill>
                <a:srgbClr val="0000CC"/>
              </a:solidFill>
              <a:latin typeface="Rockwell" panose="02060603020205020403" pitchFamily="18" charset="0"/>
              <a:ea typeface="Segoe UI Emoji" panose="020B0502040204020203" pitchFamily="34" charset="0"/>
              <a:cs typeface="Tahoma" panose="020B0604030504040204" pitchFamily="34" charset="0"/>
            </a:endParaRPr>
          </a:p>
        </p:txBody>
      </p:sp>
    </p:spTree>
    <p:extLst>
      <p:ext uri="{BB962C8B-B14F-4D97-AF65-F5344CB8AC3E}">
        <p14:creationId xmlns:p14="http://schemas.microsoft.com/office/powerpoint/2010/main" val="92758757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5F415-7490-4054-85B4-10F7AE6D3385}"/>
              </a:ext>
            </a:extLst>
          </p:cNvPr>
          <p:cNvSpPr>
            <a:spLocks noGrp="1"/>
          </p:cNvSpPr>
          <p:nvPr>
            <p:ph type="ctrTitle"/>
          </p:nvPr>
        </p:nvSpPr>
        <p:spPr>
          <a:xfrm>
            <a:off x="1798358" y="-75450"/>
            <a:ext cx="9403307" cy="944020"/>
          </a:xfrm>
        </p:spPr>
        <p:txBody>
          <a:bodyPr>
            <a:normAutofit/>
          </a:bodyPr>
          <a:lstStyle/>
          <a:p>
            <a:pPr algn="l"/>
            <a:r>
              <a:rPr lang="en-US" sz="3000" dirty="0" err="1" smtClean="0">
                <a:solidFill>
                  <a:schemeClr val="bg1"/>
                </a:solidFill>
                <a:latin typeface="Rockwell" panose="02060603020205020403" pitchFamily="18" charset="0"/>
              </a:rPr>
              <a:t>Những</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nội</a:t>
            </a:r>
            <a:r>
              <a:rPr lang="en-US" sz="3000" dirty="0" smtClean="0">
                <a:solidFill>
                  <a:schemeClr val="bg1"/>
                </a:solidFill>
                <a:latin typeface="Rockwell" panose="02060603020205020403" pitchFamily="18" charset="0"/>
              </a:rPr>
              <a:t> dung </a:t>
            </a:r>
            <a:r>
              <a:rPr lang="en-US" sz="3000" dirty="0" err="1" smtClean="0">
                <a:solidFill>
                  <a:schemeClr val="bg1"/>
                </a:solidFill>
                <a:latin typeface="Rockwell" panose="02060603020205020403" pitchFamily="18" charset="0"/>
              </a:rPr>
              <a:t>cần</a:t>
            </a:r>
            <a:r>
              <a:rPr lang="en-US" sz="3000" dirty="0" smtClean="0">
                <a:solidFill>
                  <a:schemeClr val="bg1"/>
                </a:solidFill>
                <a:latin typeface="Rockwell" panose="02060603020205020403" pitchFamily="18" charset="0"/>
              </a:rPr>
              <a:t> </a:t>
            </a:r>
            <a:r>
              <a:rPr lang="en-US" sz="3000" dirty="0" err="1" smtClean="0">
                <a:solidFill>
                  <a:schemeClr val="bg1"/>
                </a:solidFill>
                <a:latin typeface="Rockwell" panose="02060603020205020403" pitchFamily="18" charset="0"/>
              </a:rPr>
              <a:t>lưu</a:t>
            </a:r>
            <a:r>
              <a:rPr lang="en-US" sz="3000" dirty="0" smtClean="0">
                <a:solidFill>
                  <a:schemeClr val="bg1"/>
                </a:solidFill>
                <a:latin typeface="Rockwell" panose="02060603020205020403" pitchFamily="18" charset="0"/>
              </a:rPr>
              <a:t> </a:t>
            </a:r>
            <a:r>
              <a:rPr lang="en-US" sz="3000" dirty="0" smtClean="0">
                <a:solidFill>
                  <a:schemeClr val="bg1"/>
                </a:solidFill>
                <a:latin typeface="Rockwell" panose="02060603020205020403" pitchFamily="18" charset="0"/>
              </a:rPr>
              <a:t>ý:</a:t>
            </a:r>
            <a:endParaRPr lang="en-US" sz="3000" dirty="0">
              <a:solidFill>
                <a:schemeClr val="bg1"/>
              </a:solidFill>
              <a:latin typeface="Rockwell" panose="02060603020205020403" pitchFamily="18" charset="0"/>
            </a:endParaRPr>
          </a:p>
        </p:txBody>
      </p:sp>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1910692" y="868570"/>
            <a:ext cx="9902236" cy="4372169"/>
          </a:xfrm>
        </p:spPr>
        <p:txBody>
          <a:bodyPr>
            <a:noAutofit/>
          </a:bodyPr>
          <a:lstStyle/>
          <a:p>
            <a:pPr algn="l"/>
            <a:r>
              <a:rPr lang="vi-VN" dirty="0" smtClean="0">
                <a:solidFill>
                  <a:schemeClr val="bg1"/>
                </a:solidFill>
                <a:latin typeface="Rockwell" panose="02060603020205020403" pitchFamily="18" charset="0"/>
                <a:ea typeface="+mj-ea"/>
                <a:cs typeface="+mj-cs"/>
              </a:rPr>
              <a:t>- Không </a:t>
            </a:r>
            <a:r>
              <a:rPr lang="vi-VN" dirty="0">
                <a:solidFill>
                  <a:schemeClr val="bg1"/>
                </a:solidFill>
                <a:latin typeface="Rockwell" panose="02060603020205020403" pitchFamily="18" charset="0"/>
                <a:ea typeface="+mj-ea"/>
                <a:cs typeface="+mj-cs"/>
              </a:rPr>
              <a:t>gian mạng vừa mang lại lợi ích, vừa tiềm ẩn nhiều nguy cơ.</a:t>
            </a:r>
          </a:p>
          <a:p>
            <a:pPr algn="l"/>
            <a:r>
              <a:rPr lang="vi-VN" dirty="0">
                <a:solidFill>
                  <a:schemeClr val="bg1"/>
                </a:solidFill>
                <a:latin typeface="Rockwell" panose="02060603020205020403" pitchFamily="18" charset="0"/>
                <a:ea typeface="+mj-ea"/>
                <a:cs typeface="+mj-cs"/>
              </a:rPr>
              <a:t>- Tấn công mạng ngày càng đa dạng: </a:t>
            </a:r>
            <a:r>
              <a:rPr lang="en-US" dirty="0" smtClean="0">
                <a:solidFill>
                  <a:schemeClr val="bg1"/>
                </a:solidFill>
                <a:latin typeface="Rockwell" panose="02060603020205020403" pitchFamily="18" charset="0"/>
                <a:ea typeface="+mj-ea"/>
                <a:cs typeface="+mj-cs"/>
              </a:rPr>
              <a:t>T</a:t>
            </a:r>
            <a:r>
              <a:rPr lang="vi-VN" dirty="0" smtClean="0">
                <a:solidFill>
                  <a:schemeClr val="bg1"/>
                </a:solidFill>
                <a:latin typeface="Rockwell" panose="02060603020205020403" pitchFamily="18" charset="0"/>
                <a:ea typeface="+mj-ea"/>
                <a:cs typeface="+mj-cs"/>
              </a:rPr>
              <a:t>ừ </a:t>
            </a:r>
            <a:r>
              <a:rPr lang="vi-VN" dirty="0">
                <a:solidFill>
                  <a:schemeClr val="bg1"/>
                </a:solidFill>
                <a:latin typeface="Rockwell" panose="02060603020205020403" pitchFamily="18" charset="0"/>
                <a:ea typeface="+mj-ea"/>
                <a:cs typeface="+mj-cs"/>
              </a:rPr>
              <a:t>kỹ thuật (SQL Injection, DDoS) đến con người (phishing, social engineering).</a:t>
            </a:r>
          </a:p>
          <a:p>
            <a:pPr algn="l"/>
            <a:r>
              <a:rPr lang="vi-VN" dirty="0">
                <a:solidFill>
                  <a:schemeClr val="bg1"/>
                </a:solidFill>
                <a:latin typeface="Rockwell" panose="02060603020205020403" pitchFamily="18" charset="0"/>
                <a:ea typeface="+mj-ea"/>
                <a:cs typeface="+mj-cs"/>
              </a:rPr>
              <a:t>- Phòng thủ mạng cần triển khai nhiều lớp: </a:t>
            </a:r>
            <a:r>
              <a:rPr lang="en-US" dirty="0" smtClean="0">
                <a:solidFill>
                  <a:schemeClr val="bg1"/>
                </a:solidFill>
                <a:latin typeface="Rockwell" panose="02060603020205020403" pitchFamily="18" charset="0"/>
                <a:ea typeface="+mj-ea"/>
                <a:cs typeface="+mj-cs"/>
              </a:rPr>
              <a:t>P</a:t>
            </a:r>
            <a:r>
              <a:rPr lang="vi-VN" dirty="0" smtClean="0">
                <a:solidFill>
                  <a:schemeClr val="bg1"/>
                </a:solidFill>
                <a:latin typeface="Rockwell" panose="02060603020205020403" pitchFamily="18" charset="0"/>
                <a:ea typeface="+mj-ea"/>
                <a:cs typeface="+mj-cs"/>
              </a:rPr>
              <a:t>hòng </a:t>
            </a:r>
            <a:r>
              <a:rPr lang="vi-VN" dirty="0">
                <a:solidFill>
                  <a:schemeClr val="bg1"/>
                </a:solidFill>
                <a:latin typeface="Rockwell" panose="02060603020205020403" pitchFamily="18" charset="0"/>
                <a:ea typeface="+mj-ea"/>
                <a:cs typeface="+mj-cs"/>
              </a:rPr>
              <a:t>ngừa </a:t>
            </a:r>
            <a:r>
              <a:rPr lang="en-US" dirty="0" smtClean="0">
                <a:solidFill>
                  <a:schemeClr val="bg1"/>
                </a:solidFill>
                <a:latin typeface="Rockwell" panose="02060603020205020403" pitchFamily="18" charset="0"/>
                <a:ea typeface="+mj-ea"/>
                <a:cs typeface="+mj-cs"/>
              </a:rPr>
              <a:t>-</a:t>
            </a:r>
            <a:r>
              <a:rPr lang="vi-VN" dirty="0" smtClean="0">
                <a:solidFill>
                  <a:schemeClr val="bg1"/>
                </a:solidFill>
                <a:latin typeface="Rockwell" panose="02060603020205020403" pitchFamily="18" charset="0"/>
                <a:ea typeface="+mj-ea"/>
                <a:cs typeface="+mj-cs"/>
              </a:rPr>
              <a:t> </a:t>
            </a:r>
            <a:r>
              <a:rPr lang="vi-VN" dirty="0">
                <a:solidFill>
                  <a:schemeClr val="bg1"/>
                </a:solidFill>
                <a:latin typeface="Rockwell" panose="02060603020205020403" pitchFamily="18" charset="0"/>
                <a:ea typeface="+mj-ea"/>
                <a:cs typeface="+mj-cs"/>
              </a:rPr>
              <a:t>phát hiện </a:t>
            </a:r>
            <a:r>
              <a:rPr lang="en-US" dirty="0" smtClean="0">
                <a:solidFill>
                  <a:schemeClr val="bg1"/>
                </a:solidFill>
                <a:latin typeface="Rockwell" panose="02060603020205020403" pitchFamily="18" charset="0"/>
                <a:ea typeface="+mj-ea"/>
                <a:cs typeface="+mj-cs"/>
              </a:rPr>
              <a:t>-</a:t>
            </a:r>
            <a:r>
              <a:rPr lang="vi-VN" dirty="0" smtClean="0">
                <a:solidFill>
                  <a:schemeClr val="bg1"/>
                </a:solidFill>
                <a:latin typeface="Rockwell" panose="02060603020205020403" pitchFamily="18" charset="0"/>
                <a:ea typeface="+mj-ea"/>
                <a:cs typeface="+mj-cs"/>
              </a:rPr>
              <a:t> </a:t>
            </a:r>
            <a:r>
              <a:rPr lang="vi-VN" dirty="0">
                <a:solidFill>
                  <a:schemeClr val="bg1"/>
                </a:solidFill>
                <a:latin typeface="Rockwell" panose="02060603020205020403" pitchFamily="18" charset="0"/>
                <a:ea typeface="+mj-ea"/>
                <a:cs typeface="+mj-cs"/>
              </a:rPr>
              <a:t>ứng phó – khôi phục.</a:t>
            </a:r>
          </a:p>
          <a:p>
            <a:pPr algn="l"/>
            <a:r>
              <a:rPr lang="vi-VN" dirty="0">
                <a:solidFill>
                  <a:schemeClr val="bg1"/>
                </a:solidFill>
                <a:latin typeface="Rockwell" panose="02060603020205020403" pitchFamily="18" charset="0"/>
                <a:ea typeface="+mj-ea"/>
                <a:cs typeface="+mj-cs"/>
              </a:rPr>
              <a:t>- Xu hướng hiện đại: Zero Trust, AI/ML, Cloud Security, SOC, Threat Intelligence.</a:t>
            </a:r>
          </a:p>
          <a:p>
            <a:pPr algn="l"/>
            <a:r>
              <a:rPr lang="vi-VN" dirty="0">
                <a:solidFill>
                  <a:schemeClr val="bg1"/>
                </a:solidFill>
                <a:latin typeface="Rockwell" panose="02060603020205020403" pitchFamily="18" charset="0"/>
                <a:ea typeface="+mj-ea"/>
                <a:cs typeface="+mj-cs"/>
              </a:rPr>
              <a:t>- Yếu tố con người vẫn là tuyến phòng thủ quan trọng nhất → đào tạo, nâng cao nhận thức an ninh</a:t>
            </a:r>
            <a:r>
              <a:rPr lang="vi-VN" dirty="0" smtClean="0">
                <a:solidFill>
                  <a:schemeClr val="bg1"/>
                </a:solidFill>
                <a:latin typeface="Rockwell" panose="02060603020205020403" pitchFamily="18" charset="0"/>
                <a:ea typeface="+mj-ea"/>
                <a:cs typeface="+mj-cs"/>
              </a:rPr>
              <a:t>.</a:t>
            </a:r>
            <a:endParaRPr lang="en-US" dirty="0">
              <a:solidFill>
                <a:schemeClr val="bg1"/>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20625611">
            <a:off x="9158743" y="3804329"/>
            <a:ext cx="3068244" cy="3068244"/>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178752" y="161130"/>
            <a:ext cx="2684499" cy="2684499"/>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rot="21078969">
            <a:off x="2845508" y="4247745"/>
            <a:ext cx="2609837" cy="2609837"/>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8622" y="3682815"/>
            <a:ext cx="2989655" cy="2989655"/>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5018091" y="3913634"/>
            <a:ext cx="2887871" cy="2887871"/>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9608170">
            <a:off x="7533681" y="4437027"/>
            <a:ext cx="1920302" cy="1920302"/>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807084" y="4055592"/>
            <a:ext cx="1324884" cy="1324884"/>
          </a:xfrm>
          <a:prstGeom prst="rect">
            <a:avLst/>
          </a:prstGeom>
        </p:spPr>
      </p:pic>
    </p:spTree>
    <p:extLst>
      <p:ext uri="{BB962C8B-B14F-4D97-AF65-F5344CB8AC3E}">
        <p14:creationId xmlns:p14="http://schemas.microsoft.com/office/powerpoint/2010/main" val="24328151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05F6415-1E7C-453D-B6B7-DBF76BDA691B}"/>
              </a:ext>
            </a:extLst>
          </p:cNvPr>
          <p:cNvSpPr>
            <a:spLocks noGrp="1"/>
          </p:cNvSpPr>
          <p:nvPr>
            <p:ph type="subTitle" idx="1"/>
          </p:nvPr>
        </p:nvSpPr>
        <p:spPr>
          <a:xfrm>
            <a:off x="2413824" y="1801504"/>
            <a:ext cx="8777340" cy="2047165"/>
          </a:xfrm>
        </p:spPr>
        <p:txBody>
          <a:bodyPr>
            <a:noAutofit/>
          </a:bodyPr>
          <a:lstStyle/>
          <a:p>
            <a:pPr algn="just"/>
            <a:endParaRPr lang="vi-VN" dirty="0">
              <a:solidFill>
                <a:schemeClr val="bg1"/>
              </a:solidFill>
              <a:latin typeface="Rockwell" panose="02060603020205020403" pitchFamily="18" charset="0"/>
              <a:ea typeface="+mj-ea"/>
              <a:cs typeface="+mj-cs"/>
            </a:endParaRPr>
          </a:p>
          <a:p>
            <a:pPr algn="just"/>
            <a:r>
              <a:rPr lang="vi-VN" sz="2800" i="1" dirty="0" smtClean="0">
                <a:solidFill>
                  <a:srgbClr val="FFC000"/>
                </a:solidFill>
                <a:latin typeface="Rockwell" panose="02060603020205020403" pitchFamily="18" charset="0"/>
                <a:ea typeface="+mj-ea"/>
                <a:cs typeface="+mj-cs"/>
              </a:rPr>
              <a:t>“</a:t>
            </a:r>
            <a:r>
              <a:rPr lang="vi-VN" sz="2800" i="1" dirty="0">
                <a:solidFill>
                  <a:srgbClr val="FFC000"/>
                </a:solidFill>
                <a:latin typeface="Rockwell" panose="02060603020205020403" pitchFamily="18" charset="0"/>
                <a:ea typeface="+mj-ea"/>
                <a:cs typeface="+mj-cs"/>
              </a:rPr>
              <a:t>Trong an ninh mạng, không có an toàn tuyệt đối – chỉ có an toàn tương đối và phòng thủ nhiều lớp.”</a:t>
            </a:r>
            <a:endParaRPr lang="en-US" sz="2800" i="1" dirty="0">
              <a:solidFill>
                <a:srgbClr val="FFC000"/>
              </a:solidFill>
              <a:latin typeface="Rockwell" panose="02060603020205020403" pitchFamily="18" charset="0"/>
              <a:ea typeface="+mj-ea"/>
              <a:cs typeface="+mj-cs"/>
            </a:endParaRPr>
          </a:p>
        </p:txBody>
      </p:sp>
      <p:pic>
        <p:nvPicPr>
          <p:cNvPr id="15" name="Graphic 14" descr="Clipboard">
            <a:extLst>
              <a:ext uri="{FF2B5EF4-FFF2-40B4-BE49-F238E27FC236}">
                <a16:creationId xmlns:a16="http://schemas.microsoft.com/office/drawing/2014/main" id="{2A123BD8-A09C-49C0-98E8-54B55610A92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20625611">
            <a:off x="9135179" y="3639169"/>
            <a:ext cx="2573936" cy="3307291"/>
          </a:xfrm>
          <a:prstGeom prst="rect">
            <a:avLst/>
          </a:prstGeom>
        </p:spPr>
      </p:pic>
      <p:pic>
        <p:nvPicPr>
          <p:cNvPr id="11" name="Graphic 10" descr="Microscope">
            <a:extLst>
              <a:ext uri="{FF2B5EF4-FFF2-40B4-BE49-F238E27FC236}">
                <a16:creationId xmlns:a16="http://schemas.microsoft.com/office/drawing/2014/main" id="{3CB00449-E308-4DF3-9CFD-9A7D30B672D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rot="1338607" flipH="1">
            <a:off x="88009" y="342446"/>
            <a:ext cx="3684290" cy="3684290"/>
          </a:xfrm>
          <a:prstGeom prst="rect">
            <a:avLst/>
          </a:prstGeom>
        </p:spPr>
      </p:pic>
      <p:pic>
        <p:nvPicPr>
          <p:cNvPr id="13" name="Graphic 12" descr="Test tubes">
            <a:extLst>
              <a:ext uri="{FF2B5EF4-FFF2-40B4-BE49-F238E27FC236}">
                <a16:creationId xmlns:a16="http://schemas.microsoft.com/office/drawing/2014/main" id="{6A56DF0C-1331-406E-AEE6-06E0E59FB9A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rot="21078969">
            <a:off x="2973108" y="3843985"/>
            <a:ext cx="2721216" cy="2721216"/>
          </a:xfrm>
          <a:prstGeom prst="rect">
            <a:avLst/>
          </a:prstGeom>
        </p:spPr>
      </p:pic>
      <p:pic>
        <p:nvPicPr>
          <p:cNvPr id="7" name="Graphic 6" descr="Beaker">
            <a:extLst>
              <a:ext uri="{FF2B5EF4-FFF2-40B4-BE49-F238E27FC236}">
                <a16:creationId xmlns:a16="http://schemas.microsoft.com/office/drawing/2014/main" id="{88D22565-F42F-439B-A6A4-CF161165E6B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rot="1213697">
            <a:off x="-217495" y="3267196"/>
            <a:ext cx="3511606" cy="3511606"/>
          </a:xfrm>
          <a:prstGeom prst="rect">
            <a:avLst/>
          </a:prstGeom>
        </p:spPr>
      </p:pic>
      <p:pic>
        <p:nvPicPr>
          <p:cNvPr id="9" name="Graphic 8" descr="Flask">
            <a:extLst>
              <a:ext uri="{FF2B5EF4-FFF2-40B4-BE49-F238E27FC236}">
                <a16:creationId xmlns:a16="http://schemas.microsoft.com/office/drawing/2014/main" id="{B46E3E84-D1E6-4422-AA93-3EE98A821B98}"/>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 xmlns:asvg="http://schemas.microsoft.com/office/drawing/2016/SVG/main" r:embed="rId11"/>
              </a:ext>
            </a:extLst>
          </a:blip>
          <a:stretch>
            <a:fillRect/>
          </a:stretch>
        </p:blipFill>
        <p:spPr>
          <a:xfrm rot="20451125">
            <a:off x="5469360" y="3836039"/>
            <a:ext cx="2737108" cy="2737108"/>
          </a:xfrm>
          <a:prstGeom prst="rect">
            <a:avLst/>
          </a:prstGeom>
        </p:spPr>
      </p:pic>
      <p:pic>
        <p:nvPicPr>
          <p:cNvPr id="19" name="Graphic 18" descr="Ruler">
            <a:extLst>
              <a:ext uri="{FF2B5EF4-FFF2-40B4-BE49-F238E27FC236}">
                <a16:creationId xmlns:a16="http://schemas.microsoft.com/office/drawing/2014/main" id="{39130E3C-1E93-4315-AE76-13C55147DCF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 xmlns:asvg="http://schemas.microsoft.com/office/drawing/2016/SVG/main" r:embed="rId13"/>
              </a:ext>
            </a:extLst>
          </a:blip>
          <a:stretch>
            <a:fillRect/>
          </a:stretch>
        </p:blipFill>
        <p:spPr>
          <a:xfrm rot="18889495">
            <a:off x="7332027" y="3952288"/>
            <a:ext cx="2321874" cy="2321874"/>
          </a:xfrm>
          <a:prstGeom prst="rect">
            <a:avLst/>
          </a:prstGeom>
        </p:spPr>
      </p:pic>
      <p:pic>
        <p:nvPicPr>
          <p:cNvPr id="21" name="Graphic 20" descr="Pencil">
            <a:extLst>
              <a:ext uri="{FF2B5EF4-FFF2-40B4-BE49-F238E27FC236}">
                <a16:creationId xmlns:a16="http://schemas.microsoft.com/office/drawing/2014/main" id="{FFEC1660-205F-490E-800A-0D57D250BAE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 xmlns:asvg="http://schemas.microsoft.com/office/drawing/2016/SVG/main" r:embed="rId15"/>
              </a:ext>
            </a:extLst>
          </a:blip>
          <a:stretch>
            <a:fillRect/>
          </a:stretch>
        </p:blipFill>
        <p:spPr>
          <a:xfrm rot="20520790">
            <a:off x="10620516" y="3325563"/>
            <a:ext cx="1324884" cy="1806843"/>
          </a:xfrm>
          <a:prstGeom prst="rect">
            <a:avLst/>
          </a:prstGeom>
        </p:spPr>
      </p:pic>
    </p:spTree>
    <p:extLst>
      <p:ext uri="{BB962C8B-B14F-4D97-AF65-F5344CB8AC3E}">
        <p14:creationId xmlns:p14="http://schemas.microsoft.com/office/powerpoint/2010/main" val="388931359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787325_Lab safety_AAS_v3" id="{898BC5E2-691B-4B41-A97D-F35AD4FFF20D}" vid="{295F60D3-032D-43CA-A300-E4752067AD50}"/>
    </a:ext>
  </a:extLst>
</a:theme>
</file>

<file path=ppt/theme/theme2.xml><?xml version="1.0" encoding="utf-8"?>
<a:theme xmlns:a="http://schemas.openxmlformats.org/drawingml/2006/main" name="Crop">
  <a:themeElements>
    <a:clrScheme name="Custom 27">
      <a:dk1>
        <a:sysClr val="windowText" lastClr="000000"/>
      </a:dk1>
      <a:lt1>
        <a:sysClr val="window" lastClr="FFFFFF"/>
      </a:lt1>
      <a:dk2>
        <a:srgbClr val="1F497D"/>
      </a:dk2>
      <a:lt2>
        <a:srgbClr val="EEECE1"/>
      </a:lt2>
      <a:accent1>
        <a:srgbClr val="4F81BD"/>
      </a:accent1>
      <a:accent2>
        <a:srgbClr val="C0504D"/>
      </a:accent2>
      <a:accent3>
        <a:srgbClr val="76923C"/>
      </a:accent3>
      <a:accent4>
        <a:srgbClr val="8064A2"/>
      </a:accent4>
      <a:accent5>
        <a:srgbClr val="4BACC6"/>
      </a:accent5>
      <a:accent6>
        <a:srgbClr val="F79646"/>
      </a:accent6>
      <a:hlink>
        <a:srgbClr val="0000FF"/>
      </a:hlink>
      <a:folHlink>
        <a:srgbClr val="800080"/>
      </a:folHlink>
    </a:clrScheme>
    <a:fontScheme name="Custom 9">
      <a:majorFont>
        <a:latin typeface="Impact"/>
        <a:ea typeface=""/>
        <a:cs typeface=""/>
      </a:majorFont>
      <a:minorFont>
        <a:latin typeface="Arial"/>
        <a:ea typeface=""/>
        <a:cs typeface=""/>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TF22874644_Trading cards_AAS_v3" id="{4E496154-558D-4612-A753-0794614ED79B}" vid="{A8FAAD10-755F-4F52-9B7F-8A15476B6C2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9E59094-1E6F-42D5-A62B-D0344AFFFA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0096A91-93C8-4C7A-BF68-944591874A6D}">
  <ds:schemaRefs>
    <ds:schemaRef ds:uri="16c05727-aa75-4e4a-9b5f-8a80a1165891"/>
    <ds:schemaRef ds:uri="http://schemas.microsoft.com/office/2006/documentManagement/types"/>
    <ds:schemaRef ds:uri="http://purl.org/dc/terms/"/>
    <ds:schemaRef ds:uri="http://schemas.microsoft.com/office/2006/metadata/properties"/>
    <ds:schemaRef ds:uri="http://www.w3.org/XML/1998/namespace"/>
    <ds:schemaRef ds:uri="71af3243-3dd4-4a8d-8c0d-dd76da1f02a5"/>
    <ds:schemaRef ds:uri="http://purl.org/dc/elements/1.1/"/>
    <ds:schemaRef ds:uri="http://schemas.openxmlformats.org/package/2006/metadata/core-properties"/>
    <ds:schemaRef ds:uri="http://schemas.microsoft.com/office/infopath/2007/PartnerControls"/>
    <ds:schemaRef ds:uri="http://purl.org/dc/dcmitype/"/>
  </ds:schemaRefs>
</ds:datastoreItem>
</file>

<file path=customXml/itemProps3.xml><?xml version="1.0" encoding="utf-8"?>
<ds:datastoreItem xmlns:ds="http://schemas.openxmlformats.org/officeDocument/2006/customXml" ds:itemID="{604BA817-A03C-4EA3-86C4-6E42BD37F52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Lab safety</Template>
  <TotalTime>0</TotalTime>
  <Words>5005</Words>
  <Application>Microsoft Office PowerPoint</Application>
  <PresentationFormat>Widescreen</PresentationFormat>
  <Paragraphs>376</Paragraphs>
  <Slides>52</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52</vt:i4>
      </vt:variant>
    </vt:vector>
  </HeadingPairs>
  <TitlesOfParts>
    <vt:vector size="62" baseType="lpstr">
      <vt:lpstr>Arial</vt:lpstr>
      <vt:lpstr>Calibri</vt:lpstr>
      <vt:lpstr>Calibri Light</vt:lpstr>
      <vt:lpstr>Franklin Gothic Book</vt:lpstr>
      <vt:lpstr>Impact</vt:lpstr>
      <vt:lpstr>Rockwell</vt:lpstr>
      <vt:lpstr>Segoe UI Emoji</vt:lpstr>
      <vt:lpstr>Tahoma</vt:lpstr>
      <vt:lpstr>Office Theme</vt:lpstr>
      <vt:lpstr>Crop</vt:lpstr>
      <vt:lpstr> Bảo mật  Ứng dụng và Hệ thống</vt:lpstr>
      <vt:lpstr>BẢO MẬT ỨNG DỤNG VÀ HỆ THỐNG   CSE702005-1-1-25 (N03)</vt:lpstr>
      <vt:lpstr>BÀI 2: TẤN CÔNG VÀ PHÒNG THỦ TRÊN KHÔNG             GIAN MẠNG</vt:lpstr>
      <vt:lpstr>2.1. Một số Thuật ngữ liên quan</vt:lpstr>
      <vt:lpstr>2.1. Một số Thuật ngữ liên quan</vt:lpstr>
      <vt:lpstr>2.1. Một số Thuật ngữ liên quan</vt:lpstr>
      <vt:lpstr>2.1. Một số Thuật ngữ liên quan</vt:lpstr>
      <vt:lpstr>2.1. Một số Thuật ngữ liên quan</vt:lpstr>
      <vt:lpstr>2.2. Mục tiêu chung của các cuộc tấn công mạng</vt:lpstr>
      <vt:lpstr>2.3. Các dạng tấn công mạng phổ biến</vt:lpstr>
      <vt:lpstr>2.3. Các dạng tấn công mạng phổ biến</vt:lpstr>
      <vt:lpstr>2.3. Các dạng tấn công mạng phổ biến</vt:lpstr>
      <vt:lpstr>2.3. Các dạng tấn công mạng phổ biến</vt:lpstr>
      <vt:lpstr>2.3. Các dạng tấn công mạng phổ biến</vt:lpstr>
      <vt:lpstr>2.3. Các dạng tấn công mạng phổ biến</vt:lpstr>
      <vt:lpstr>2.3. Các dạng tấn công mạng phổ biến</vt:lpstr>
      <vt:lpstr>2.3. Các dạng tấn công mạng phổ biến</vt:lpstr>
      <vt:lpstr>2.3. Các dạng tấn công mạng phổ biến</vt:lpstr>
      <vt:lpstr>2.3. Các dạng tấn công mạng phổ biến</vt:lpstr>
      <vt:lpstr>2.3. Các dạng tấn công mạng phổ biến</vt:lpstr>
      <vt:lpstr>2.3. Các dạng tấn công mạng phổ biến</vt:lpstr>
      <vt:lpstr>2.3. Các dạng tấn công mạng phổ biến</vt:lpstr>
      <vt:lpstr>2.3. Các dạng tấn công mạng phổ biến</vt:lpstr>
      <vt:lpstr>2.3. Các dạng tấn công mạng phổ biến</vt:lpstr>
      <vt:lpstr>2.3. Các dạng tấn công mạng phổ biến</vt:lpstr>
      <vt:lpstr>2.4. Công cụ và Kỹ thuật tấn công mạng phổ biến</vt:lpstr>
      <vt:lpstr>2.4. Công cụ và Kỹ thuật tấn công mạng phổ biến</vt:lpstr>
      <vt:lpstr>2.4. Công cụ và Kỹ thuật tấn công mạng phổ biến</vt:lpstr>
      <vt:lpstr>2.4. Công cụ và Kỹ thuật tấn công mạng phổ biến</vt:lpstr>
      <vt:lpstr>2.4. Công cụ và Kỹ thuật tấn công mạng phổ biến</vt:lpstr>
      <vt:lpstr>2.5. Phương pháp phòng thủ trên không gian mạng </vt:lpstr>
      <vt:lpstr>2.5. Phương pháp phòng thủ trên không gian mạng </vt:lpstr>
      <vt:lpstr>2.5. Phương pháp phòng thủ trên không gian mạng </vt:lpstr>
      <vt:lpstr>2.5. Phương pháp phòng thủ trên không gian mạng </vt:lpstr>
      <vt:lpstr>2.5. Phương pháp phòng thủ trên không gian mạng </vt:lpstr>
      <vt:lpstr>2.5. Phương pháp phòng thủ trên không gian mạng </vt:lpstr>
      <vt:lpstr>2.5. Phương pháp phòng thủ trên không gian mạng </vt:lpstr>
      <vt:lpstr>2.5. Phương pháp phòng thủ trên không gian mạng </vt:lpstr>
      <vt:lpstr>2.5. Phương pháp phòng thủ trên không gian mạng </vt:lpstr>
      <vt:lpstr>2.5. Phương pháp phòng thủ trên không gian mạng </vt:lpstr>
      <vt:lpstr>2.6. Xu hướng và chiến lược phòng thủ mạng hiện đại   </vt:lpstr>
      <vt:lpstr>2.6. Xu hướng và chiến lược phòng thủ mạng hiện đại   </vt:lpstr>
      <vt:lpstr>2.6. Xu hướng và chiến lược phòng thủ mạng hiện đại   </vt:lpstr>
      <vt:lpstr>2.6. Xu hướng và chiến lược phòng thủ mạng hiện đại   </vt:lpstr>
      <vt:lpstr>2.6. Xu hướng và chiến lược phòng thủ mạng hiện đại   </vt:lpstr>
      <vt:lpstr>2.6. Xu hướng và chiến lược phòng thủ mạng hiện đại   </vt:lpstr>
      <vt:lpstr>2.6. Xu hướng và chiến lược phòng thủ mạng hiện đại   </vt:lpstr>
      <vt:lpstr>2.6. Xu hướng và chiến lược phòng thủ mạng hiện đại   </vt:lpstr>
      <vt:lpstr>2.6. Xu hướng và chiến lược phòng thủ mạng hiện đại   </vt:lpstr>
      <vt:lpstr>2.6. Xu hướng và chiến lược phòng thủ mạng hiện đại   </vt:lpstr>
      <vt:lpstr>Những nội dung cần lưu ý:</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2025-08-05T15:12:50Z</dcterms:created>
  <dcterms:modified xsi:type="dcterms:W3CDTF">2025-09-01T16:34:36Z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