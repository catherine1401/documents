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69"/>
  </p:notesMasterIdLst>
  <p:sldIdLst>
    <p:sldId id="256" r:id="rId6"/>
    <p:sldId id="257" r:id="rId7"/>
    <p:sldId id="261" r:id="rId8"/>
    <p:sldId id="264" r:id="rId9"/>
    <p:sldId id="306" r:id="rId10"/>
    <p:sldId id="302" r:id="rId11"/>
    <p:sldId id="304" r:id="rId12"/>
    <p:sldId id="303" r:id="rId13"/>
    <p:sldId id="305" r:id="rId14"/>
    <p:sldId id="307" r:id="rId15"/>
    <p:sldId id="310" r:id="rId16"/>
    <p:sldId id="308" r:id="rId17"/>
    <p:sldId id="311" r:id="rId18"/>
    <p:sldId id="312" r:id="rId19"/>
    <p:sldId id="309" r:id="rId20"/>
    <p:sldId id="316" r:id="rId21"/>
    <p:sldId id="317" r:id="rId22"/>
    <p:sldId id="318" r:id="rId23"/>
    <p:sldId id="319" r:id="rId24"/>
    <p:sldId id="320" r:id="rId25"/>
    <p:sldId id="321" r:id="rId26"/>
    <p:sldId id="322" r:id="rId27"/>
    <p:sldId id="313" r:id="rId28"/>
    <p:sldId id="314" r:id="rId29"/>
    <p:sldId id="315" r:id="rId30"/>
    <p:sldId id="265" r:id="rId31"/>
    <p:sldId id="266" r:id="rId32"/>
    <p:sldId id="267" r:id="rId33"/>
    <p:sldId id="268" r:id="rId34"/>
    <p:sldId id="269" r:id="rId35"/>
    <p:sldId id="270" r:id="rId36"/>
    <p:sldId id="271" r:id="rId37"/>
    <p:sldId id="272" r:id="rId38"/>
    <p:sldId id="273" r:id="rId39"/>
    <p:sldId id="274" r:id="rId40"/>
    <p:sldId id="276" r:id="rId41"/>
    <p:sldId id="275" r:id="rId42"/>
    <p:sldId id="277" r:id="rId43"/>
    <p:sldId id="278" r:id="rId44"/>
    <p:sldId id="279" r:id="rId45"/>
    <p:sldId id="280" r:id="rId46"/>
    <p:sldId id="283" r:id="rId47"/>
    <p:sldId id="284" r:id="rId48"/>
    <p:sldId id="285" r:id="rId49"/>
    <p:sldId id="286" r:id="rId50"/>
    <p:sldId id="281" r:id="rId51"/>
    <p:sldId id="287" r:id="rId52"/>
    <p:sldId id="289" r:id="rId53"/>
    <p:sldId id="288" r:id="rId54"/>
    <p:sldId id="290" r:id="rId55"/>
    <p:sldId id="301" r:id="rId56"/>
    <p:sldId id="291" r:id="rId57"/>
    <p:sldId id="292" r:id="rId58"/>
    <p:sldId id="293" r:id="rId59"/>
    <p:sldId id="294" r:id="rId60"/>
    <p:sldId id="295" r:id="rId61"/>
    <p:sldId id="282" r:id="rId62"/>
    <p:sldId id="296" r:id="rId63"/>
    <p:sldId id="297" r:id="rId64"/>
    <p:sldId id="298" r:id="rId65"/>
    <p:sldId id="299" r:id="rId66"/>
    <p:sldId id="300" r:id="rId67"/>
    <p:sldId id="263"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CC00FF"/>
    <a:srgbClr val="0000CC"/>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184" autoAdjust="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9/5/2025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9/5/2025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9/5/2025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 xmlns:adec="http://schemas.microsoft.com/office/drawing/2017/decorative"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 xmlns:adec="http://schemas.microsoft.com/office/drawing/2017/decorative"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1: </a:t>
            </a:r>
            <a:r>
              <a:rPr lang="en-US" dirty="0" err="1" smtClean="0">
                <a:solidFill>
                  <a:srgbClr val="FF00FF"/>
                </a:solidFill>
                <a:latin typeface="Rockwell" panose="02060603020205020403" pitchFamily="18" charset="0"/>
                <a:ea typeface="Tahoma"/>
                <a:cs typeface="Tahoma"/>
              </a:rPr>
              <a:t>Tổng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quan</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về</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Bảo</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mật</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Ứng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dụng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và</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Hệ</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thống</a:t>
            </a:r>
            <a:endParaRPr lang="en-US" dirty="0" smtClean="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2: </a:t>
            </a:r>
            <a:r>
              <a:rPr lang="en-US" dirty="0" err="1" smtClean="0">
                <a:solidFill>
                  <a:srgbClr val="0000CC"/>
                </a:solidFill>
                <a:latin typeface="Rockwell" panose="02060603020205020403" pitchFamily="18" charset="0"/>
                <a:ea typeface="Tahoma"/>
                <a:cs typeface="Tahoma"/>
              </a:rPr>
              <a:t>Tấn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công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Phòng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thủ</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trên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không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gian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mạng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BM </a:t>
            </a:r>
            <a:r>
              <a:rPr lang="en-US" dirty="0" err="1">
                <a:solidFill>
                  <a:srgbClr val="0000CC"/>
                </a:solidFill>
                <a:latin typeface="Rockwell" panose="02060603020205020403" pitchFamily="18" charset="0"/>
                <a:ea typeface="Tahoma"/>
                <a:cs typeface="Tahoma"/>
              </a:rPr>
              <a:t>hạ</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tầng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r>
              <a:rPr lang="en-US" dirty="0">
                <a:solidFill>
                  <a:srgbClr val="0000CC"/>
                </a:solidFill>
                <a:latin typeface="Rockwell" panose="02060603020205020403" pitchFamily="18" charset="0"/>
                <a:ea typeface="Tahoma"/>
                <a:cs typeface="Tahoma"/>
              </a:rPr>
              <a:t> E-Commerce: VPN - 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237599" y="625851"/>
            <a:ext cx="8984331" cy="737285"/>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1: </a:t>
            </a:r>
            <a:r>
              <a:rPr lang="en-US" sz="2800" dirty="0" err="1" smtClean="0">
                <a:solidFill>
                  <a:srgbClr val="0000CC"/>
                </a:solidFill>
                <a:latin typeface="Rockwell" panose="02060603020205020403" pitchFamily="18" charset="0"/>
              </a:rPr>
              <a:t>TỔNG</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QUAN</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VỀ</a:t>
            </a:r>
            <a:r>
              <a:rPr lang="en-US" sz="2800" dirty="0" smtClean="0">
                <a:solidFill>
                  <a:srgbClr val="0000CC"/>
                </a:solidFill>
                <a:latin typeface="Rockwell" panose="02060603020205020403" pitchFamily="18" charset="0"/>
              </a:rPr>
              <a:t> BM </a:t>
            </a:r>
            <a:r>
              <a:rPr lang="en-US" sz="2800" dirty="0" err="1" smtClean="0">
                <a:solidFill>
                  <a:srgbClr val="0000CC"/>
                </a:solidFill>
                <a:latin typeface="Rockwell" panose="02060603020205020403" pitchFamily="18" charset="0"/>
              </a:rPr>
              <a:t>ỨNG</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DỤNG</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VÀ</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HỆ</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THỐNG</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354842" y="1577213"/>
            <a:ext cx="9580728" cy="4228811"/>
          </a:xfrm>
        </p:spPr>
        <p:txBody>
          <a:bodyPr>
            <a:noAutofit/>
          </a:bodyPr>
          <a:lstStyle/>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ngữ</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liên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Depth </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cơ</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mất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kiểu</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 xmlns:adec="http://schemas.microsoft.com/office/drawing/2017/decorative"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38431" cy="4382729"/>
          </a:xfrm>
        </p:spPr>
        <p:txBody>
          <a:bodyPr/>
          <a:lstStyle/>
          <a:p>
            <a:r>
              <a:rPr lang="en-US" dirty="0" err="1" smtClean="0">
                <a:solidFill>
                  <a:srgbClr val="0000CC"/>
                </a:solidFill>
                <a:latin typeface="Rockwell" panose="02060603020205020403" pitchFamily="18" charset="0"/>
              </a:rPr>
              <a:t>C.I.A</a:t>
            </a:r>
            <a:r>
              <a:rPr lang="en-US" dirty="0" smtClean="0">
                <a:solidFill>
                  <a:srgbClr val="0000CC"/>
                </a:solidFill>
                <a:latin typeface="Rockwell" panose="02060603020205020403" pitchFamily="18" charset="0"/>
              </a:rPr>
              <a:t> (</a:t>
            </a:r>
            <a:r>
              <a:rPr lang="en-US" dirty="0">
                <a:latin typeface="Rockwell" panose="02060603020205020403" pitchFamily="18" charset="0"/>
              </a:rPr>
              <a:t>Confidentiality – Integrity – Availability</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và</a:t>
            </a:r>
            <a:r>
              <a:rPr lang="en-US" dirty="0" smtClean="0">
                <a:solidFill>
                  <a:srgbClr val="0000CC"/>
                </a:solidFill>
                <a:latin typeface="Rockwell" panose="02060603020205020403" pitchFamily="18" charset="0"/>
              </a:rPr>
              <a:t> </a:t>
            </a:r>
          </a:p>
          <a:p>
            <a:pPr marL="0" indent="0">
              <a:buNone/>
            </a:pPr>
            <a:r>
              <a:rPr lang="en-US" dirty="0">
                <a:solidFill>
                  <a:srgbClr val="0000CC"/>
                </a:solidFill>
                <a:latin typeface="Rockwell" panose="02060603020205020403" pitchFamily="18" charset="0"/>
              </a:rPr>
              <a:t> </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A.A.A</a:t>
            </a:r>
            <a:r>
              <a:rPr lang="en-US" dirty="0" smtClean="0">
                <a:solidFill>
                  <a:srgbClr val="0000CC"/>
                </a:solidFill>
                <a:latin typeface="Rockwell" panose="02060603020205020403" pitchFamily="18" charset="0"/>
              </a:rPr>
              <a:t> (</a:t>
            </a:r>
            <a:r>
              <a:rPr lang="en-US" dirty="0">
                <a:latin typeface="Rockwell" panose="02060603020205020403" pitchFamily="18" charset="0"/>
              </a:rPr>
              <a:t>Authentication – Authorization – Accounting</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ứng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dụng</a:t>
            </a:r>
            <a:r>
              <a:rPr lang="en-US" dirty="0" smtClean="0">
                <a:solidFill>
                  <a:srgbClr val="0000CC"/>
                </a:solidFill>
                <a:latin typeface="Rockwell" panose="02060603020205020403" pitchFamily="18" charset="0"/>
              </a:rPr>
              <a:t> (</a:t>
            </a:r>
            <a:r>
              <a:rPr lang="en-US" dirty="0">
                <a:latin typeface="Rockwell" panose="02060603020205020403" pitchFamily="18" charset="0"/>
              </a:rPr>
              <a:t>Application Security</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hệ</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thống</a:t>
            </a:r>
            <a:r>
              <a:rPr lang="en-US" dirty="0" smtClean="0">
                <a:solidFill>
                  <a:srgbClr val="0000CC"/>
                </a:solidFill>
                <a:latin typeface="Rockwell" panose="02060603020205020403" pitchFamily="18" charset="0"/>
              </a:rPr>
              <a:t> (</a:t>
            </a:r>
            <a:r>
              <a:rPr lang="en-US" dirty="0" smtClean="0">
                <a:latin typeface="Rockwell" panose="02060603020205020403" pitchFamily="18" charset="0"/>
              </a:rPr>
              <a:t>System </a:t>
            </a:r>
            <a:r>
              <a:rPr lang="en-US" dirty="0">
                <a:latin typeface="Rockwell" panose="02060603020205020403" pitchFamily="18" charset="0"/>
              </a:rPr>
              <a:t>Security</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Mối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quan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hệ</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giữa</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ứng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dụng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và</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hệ</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thống</a:t>
            </a:r>
            <a:endParaRPr lang="en-US" dirty="0" smtClean="0">
              <a:solidFill>
                <a:srgbClr val="0000CC"/>
              </a:solidFill>
              <a:latin typeface="Rockwell" panose="02060603020205020403" pitchFamily="18" charset="0"/>
            </a:endParaRPr>
          </a:p>
          <a:p>
            <a:r>
              <a:rPr lang="en-US" dirty="0" err="1" smtClean="0">
                <a:solidFill>
                  <a:srgbClr val="0000CC"/>
                </a:solidFill>
                <a:latin typeface="Rockwell" panose="02060603020205020403" pitchFamily="18" charset="0"/>
              </a:rPr>
              <a:t>Mối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đe</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doạ</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nội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bộ</a:t>
            </a:r>
            <a:r>
              <a:rPr lang="en-US" dirty="0" smtClean="0">
                <a:solidFill>
                  <a:srgbClr val="0000CC"/>
                </a:solidFill>
                <a:latin typeface="Rockwell" panose="02060603020205020403" pitchFamily="18" charset="0"/>
              </a:rPr>
              <a:t> (</a:t>
            </a:r>
            <a:r>
              <a:rPr lang="en-US" dirty="0">
                <a:latin typeface="Rockwell" panose="02060603020205020403" pitchFamily="18" charset="0"/>
              </a:rPr>
              <a:t>I</a:t>
            </a:r>
            <a:r>
              <a:rPr lang="en-US" dirty="0" smtClean="0">
                <a:latin typeface="Rockwell" panose="02060603020205020403" pitchFamily="18" charset="0"/>
              </a:rPr>
              <a:t>nsider </a:t>
            </a:r>
            <a:r>
              <a:rPr lang="en-US" dirty="0">
                <a:latin typeface="Rockwell" panose="02060603020205020403" pitchFamily="18" charset="0"/>
              </a:rPr>
              <a:t>T</a:t>
            </a:r>
            <a:r>
              <a:rPr lang="en-US" dirty="0" smtClean="0">
                <a:latin typeface="Rockwell" panose="02060603020205020403" pitchFamily="18" charset="0"/>
              </a:rPr>
              <a:t>hreats</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Mối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đe</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doạ</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ngoại</a:t>
            </a:r>
            <a:r>
              <a:rPr lang="en-US" dirty="0">
                <a:solidFill>
                  <a:srgbClr val="0000CC"/>
                </a:solidFill>
                <a:latin typeface="Rockwell" panose="02060603020205020403" pitchFamily="18" charset="0"/>
              </a:rPr>
              <a:t> vi </a:t>
            </a:r>
            <a:r>
              <a:rPr lang="en-US" dirty="0" smtClean="0">
                <a:solidFill>
                  <a:srgbClr val="0000CC"/>
                </a:solidFill>
                <a:latin typeface="Rockwell" panose="02060603020205020403" pitchFamily="18" charset="0"/>
              </a:rPr>
              <a:t>(</a:t>
            </a:r>
            <a:r>
              <a:rPr lang="en-US" dirty="0">
                <a:latin typeface="Rockwell" panose="02060603020205020403" pitchFamily="18" charset="0"/>
              </a:rPr>
              <a:t>Out</a:t>
            </a:r>
            <a:r>
              <a:rPr lang="en-US" dirty="0" smtClean="0">
                <a:latin typeface="Rockwell" panose="02060603020205020403" pitchFamily="18" charset="0"/>
              </a:rPr>
              <a:t>sider </a:t>
            </a:r>
            <a:r>
              <a:rPr lang="en-US" dirty="0">
                <a:latin typeface="Rockwell" panose="02060603020205020403" pitchFamily="18" charset="0"/>
              </a:rPr>
              <a:t>Threats</a:t>
            </a:r>
            <a:r>
              <a:rPr lang="en-US" dirty="0">
                <a:solidFill>
                  <a:srgbClr val="0000CC"/>
                </a:solidFill>
                <a:latin typeface="Rockwell" panose="02060603020205020403" pitchFamily="18" charset="0"/>
              </a:rPr>
              <a:t>)</a:t>
            </a:r>
            <a:endParaRPr lang="en-US" dirty="0" smtClean="0">
              <a:solidFill>
                <a:srgbClr val="0000CC"/>
              </a:solidFill>
              <a:latin typeface="Rockwell" panose="02060603020205020403" pitchFamily="18" charset="0"/>
            </a:endParaRPr>
          </a:p>
          <a:p>
            <a:r>
              <a:rPr lang="en-US" dirty="0" err="1" smtClean="0">
                <a:solidFill>
                  <a:srgbClr val="0000CC"/>
                </a:solidFill>
                <a:latin typeface="Rockwell" panose="02060603020205020403" pitchFamily="18" charset="0"/>
              </a:rPr>
              <a:t>Tấn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công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có</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chủ</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đích</a:t>
            </a:r>
            <a:r>
              <a:rPr lang="en-US" dirty="0" smtClean="0">
                <a:solidFill>
                  <a:srgbClr val="0000CC"/>
                </a:solidFill>
                <a:latin typeface="Rockwell" panose="02060603020205020403" pitchFamily="18" charset="0"/>
              </a:rPr>
              <a:t>” (</a:t>
            </a:r>
            <a:r>
              <a:rPr lang="en-US" dirty="0">
                <a:latin typeface="Rockwell" panose="02060603020205020403" pitchFamily="18" charset="0"/>
              </a:rPr>
              <a:t>APT: Advanced Persistent Threat</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Tấn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công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leo</a:t>
            </a:r>
            <a:r>
              <a:rPr lang="en-US" dirty="0" smtClean="0">
                <a:solidFill>
                  <a:srgbClr val="0000CC"/>
                </a:solidFill>
                <a:latin typeface="Rockwell" panose="02060603020205020403" pitchFamily="18" charset="0"/>
              </a:rPr>
              <a:t> thang </a:t>
            </a:r>
            <a:r>
              <a:rPr lang="en-US" dirty="0" err="1" smtClean="0">
                <a:solidFill>
                  <a:srgbClr val="0000CC"/>
                </a:solidFill>
                <a:latin typeface="Rockwell" panose="02060603020205020403" pitchFamily="18" charset="0"/>
              </a:rPr>
              <a:t>đặc</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quyền</a:t>
            </a:r>
            <a:r>
              <a:rPr lang="en-US" dirty="0" smtClean="0">
                <a:solidFill>
                  <a:srgbClr val="0000CC"/>
                </a:solidFill>
                <a:latin typeface="Rockwell" panose="02060603020205020403" pitchFamily="18" charset="0"/>
              </a:rPr>
              <a:t>” (</a:t>
            </a:r>
            <a:r>
              <a:rPr lang="en-US" dirty="0">
                <a:latin typeface="Rockwell" panose="02060603020205020403" pitchFamily="18" charset="0"/>
              </a:rPr>
              <a:t>Privilege Escalation</a:t>
            </a:r>
            <a:r>
              <a:rPr lang="en-US" dirty="0" smtClean="0">
                <a:solidFill>
                  <a:srgbClr val="0000CC"/>
                </a:solidFill>
                <a:latin typeface="Rockwell" panose="02060603020205020403" pitchFamily="18" charset="0"/>
              </a:rPr>
              <a:t>) </a:t>
            </a:r>
          </a:p>
          <a:p>
            <a:endParaRPr lang="en-US" dirty="0">
              <a:latin typeface="Rockwell" panose="02060603020205020403" pitchFamily="18" charset="0"/>
            </a:endParaRPr>
          </a:p>
        </p:txBody>
      </p:sp>
    </p:spTree>
    <p:extLst>
      <p:ext uri="{BB962C8B-B14F-4D97-AF65-F5344CB8AC3E}">
        <p14:creationId xmlns:p14="http://schemas.microsoft.com/office/powerpoint/2010/main" val="30259610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38431" cy="4382729"/>
          </a:xfrm>
        </p:spPr>
        <p:txBody>
          <a:bodyPr/>
          <a:lstStyle/>
          <a:p>
            <a:r>
              <a:rPr lang="en-US" dirty="0" err="1" smtClean="0">
                <a:solidFill>
                  <a:srgbClr val="0000CC"/>
                </a:solidFill>
                <a:latin typeface="Rockwell" panose="02060603020205020403" pitchFamily="18" charset="0"/>
              </a:rPr>
              <a:t>C.I.A</a:t>
            </a:r>
            <a:r>
              <a:rPr lang="en-US" dirty="0" smtClean="0">
                <a:solidFill>
                  <a:srgbClr val="0000CC"/>
                </a:solidFill>
                <a:latin typeface="Rockwell" panose="02060603020205020403" pitchFamily="18" charset="0"/>
              </a:rPr>
              <a:t> (</a:t>
            </a:r>
            <a:r>
              <a:rPr lang="en-US" dirty="0">
                <a:latin typeface="Rockwell" panose="02060603020205020403" pitchFamily="18" charset="0"/>
              </a:rPr>
              <a:t>Confidentiality – Integrity – Availability</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và</a:t>
            </a:r>
            <a:r>
              <a:rPr lang="en-US" dirty="0" smtClean="0">
                <a:solidFill>
                  <a:srgbClr val="0000CC"/>
                </a:solidFill>
                <a:latin typeface="Rockwell" panose="02060603020205020403" pitchFamily="18" charset="0"/>
              </a:rPr>
              <a:t> </a:t>
            </a:r>
          </a:p>
          <a:p>
            <a:pPr marL="0" indent="0">
              <a:buNone/>
            </a:pPr>
            <a:r>
              <a:rPr lang="en-US" dirty="0">
                <a:solidFill>
                  <a:srgbClr val="0000CC"/>
                </a:solidFill>
                <a:latin typeface="Rockwell" panose="02060603020205020403" pitchFamily="18" charset="0"/>
              </a:rPr>
              <a:t> </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A.A.A</a:t>
            </a:r>
            <a:r>
              <a:rPr lang="en-US" dirty="0" smtClean="0">
                <a:solidFill>
                  <a:srgbClr val="0000CC"/>
                </a:solidFill>
                <a:latin typeface="Rockwell" panose="02060603020205020403" pitchFamily="18" charset="0"/>
              </a:rPr>
              <a:t> (</a:t>
            </a:r>
            <a:r>
              <a:rPr lang="en-US" dirty="0">
                <a:latin typeface="Rockwell" panose="02060603020205020403" pitchFamily="18" charset="0"/>
              </a:rPr>
              <a:t>Authentication – Authorization – Accounting</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ứng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dụng</a:t>
            </a:r>
            <a:r>
              <a:rPr lang="en-US" dirty="0" smtClean="0">
                <a:solidFill>
                  <a:srgbClr val="0000CC"/>
                </a:solidFill>
                <a:latin typeface="Rockwell" panose="02060603020205020403" pitchFamily="18" charset="0"/>
              </a:rPr>
              <a:t> (</a:t>
            </a:r>
            <a:r>
              <a:rPr lang="en-US" dirty="0">
                <a:latin typeface="Rockwell" panose="02060603020205020403" pitchFamily="18" charset="0"/>
              </a:rPr>
              <a:t>Application Security</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hệ</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thống</a:t>
            </a:r>
            <a:r>
              <a:rPr lang="en-US" dirty="0" smtClean="0">
                <a:solidFill>
                  <a:srgbClr val="0000CC"/>
                </a:solidFill>
                <a:latin typeface="Rockwell" panose="02060603020205020403" pitchFamily="18" charset="0"/>
              </a:rPr>
              <a:t> (</a:t>
            </a:r>
            <a:r>
              <a:rPr lang="en-US" dirty="0" smtClean="0">
                <a:latin typeface="Rockwell" panose="02060603020205020403" pitchFamily="18" charset="0"/>
              </a:rPr>
              <a:t>System </a:t>
            </a:r>
            <a:r>
              <a:rPr lang="en-US" dirty="0">
                <a:latin typeface="Rockwell" panose="02060603020205020403" pitchFamily="18" charset="0"/>
              </a:rPr>
              <a:t>Security</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Mối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quan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hệ</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giữa</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ứng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dụng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và</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Bảo</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mật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hệ</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thống</a:t>
            </a:r>
            <a:endParaRPr lang="en-US" dirty="0" smtClean="0">
              <a:solidFill>
                <a:srgbClr val="0000CC"/>
              </a:solidFill>
              <a:latin typeface="Rockwell" panose="02060603020205020403" pitchFamily="18" charset="0"/>
            </a:endParaRPr>
          </a:p>
          <a:p>
            <a:r>
              <a:rPr lang="en-US" dirty="0" err="1" smtClean="0">
                <a:solidFill>
                  <a:srgbClr val="0000CC"/>
                </a:solidFill>
                <a:latin typeface="Rockwell" panose="02060603020205020403" pitchFamily="18" charset="0"/>
              </a:rPr>
              <a:t>Mối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đe</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doạ</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nội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bộ</a:t>
            </a:r>
            <a:r>
              <a:rPr lang="en-US" dirty="0" smtClean="0">
                <a:solidFill>
                  <a:srgbClr val="0000CC"/>
                </a:solidFill>
                <a:latin typeface="Rockwell" panose="02060603020205020403" pitchFamily="18" charset="0"/>
              </a:rPr>
              <a:t> (</a:t>
            </a:r>
            <a:r>
              <a:rPr lang="en-US" dirty="0">
                <a:latin typeface="Rockwell" panose="02060603020205020403" pitchFamily="18" charset="0"/>
              </a:rPr>
              <a:t>I</a:t>
            </a:r>
            <a:r>
              <a:rPr lang="en-US" dirty="0" smtClean="0">
                <a:latin typeface="Rockwell" panose="02060603020205020403" pitchFamily="18" charset="0"/>
              </a:rPr>
              <a:t>nsider </a:t>
            </a:r>
            <a:r>
              <a:rPr lang="en-US" dirty="0">
                <a:latin typeface="Rockwell" panose="02060603020205020403" pitchFamily="18" charset="0"/>
              </a:rPr>
              <a:t>T</a:t>
            </a:r>
            <a:r>
              <a:rPr lang="en-US" dirty="0" smtClean="0">
                <a:latin typeface="Rockwell" panose="02060603020205020403" pitchFamily="18" charset="0"/>
              </a:rPr>
              <a:t>hreats</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Mối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đe</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doạ</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ngoại</a:t>
            </a:r>
            <a:r>
              <a:rPr lang="en-US" dirty="0">
                <a:solidFill>
                  <a:srgbClr val="0000CC"/>
                </a:solidFill>
                <a:latin typeface="Rockwell" panose="02060603020205020403" pitchFamily="18" charset="0"/>
              </a:rPr>
              <a:t> vi </a:t>
            </a:r>
            <a:r>
              <a:rPr lang="en-US" dirty="0" smtClean="0">
                <a:solidFill>
                  <a:srgbClr val="0000CC"/>
                </a:solidFill>
                <a:latin typeface="Rockwell" panose="02060603020205020403" pitchFamily="18" charset="0"/>
              </a:rPr>
              <a:t>(</a:t>
            </a:r>
            <a:r>
              <a:rPr lang="en-US" dirty="0">
                <a:latin typeface="Rockwell" panose="02060603020205020403" pitchFamily="18" charset="0"/>
              </a:rPr>
              <a:t>Out</a:t>
            </a:r>
            <a:r>
              <a:rPr lang="en-US" dirty="0" smtClean="0">
                <a:latin typeface="Rockwell" panose="02060603020205020403" pitchFamily="18" charset="0"/>
              </a:rPr>
              <a:t>sider </a:t>
            </a:r>
            <a:r>
              <a:rPr lang="en-US" dirty="0">
                <a:latin typeface="Rockwell" panose="02060603020205020403" pitchFamily="18" charset="0"/>
              </a:rPr>
              <a:t>Threats</a:t>
            </a:r>
            <a:r>
              <a:rPr lang="en-US" dirty="0">
                <a:solidFill>
                  <a:srgbClr val="0000CC"/>
                </a:solidFill>
                <a:latin typeface="Rockwell" panose="02060603020205020403" pitchFamily="18" charset="0"/>
              </a:rPr>
              <a:t>)</a:t>
            </a:r>
            <a:endParaRPr lang="en-US" dirty="0" smtClean="0">
              <a:solidFill>
                <a:srgbClr val="0000CC"/>
              </a:solidFill>
              <a:latin typeface="Rockwell" panose="02060603020205020403" pitchFamily="18" charset="0"/>
            </a:endParaRPr>
          </a:p>
          <a:p>
            <a:r>
              <a:rPr lang="en-US" dirty="0" err="1" smtClean="0">
                <a:solidFill>
                  <a:srgbClr val="0000CC"/>
                </a:solidFill>
                <a:latin typeface="Rockwell" panose="02060603020205020403" pitchFamily="18" charset="0"/>
              </a:rPr>
              <a:t>Tấn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công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có</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chủ</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đích</a:t>
            </a:r>
            <a:r>
              <a:rPr lang="en-US" dirty="0" smtClean="0">
                <a:solidFill>
                  <a:srgbClr val="0000CC"/>
                </a:solidFill>
                <a:latin typeface="Rockwell" panose="02060603020205020403" pitchFamily="18" charset="0"/>
              </a:rPr>
              <a:t>” (</a:t>
            </a:r>
            <a:r>
              <a:rPr lang="en-US" dirty="0">
                <a:latin typeface="Rockwell" panose="02060603020205020403" pitchFamily="18" charset="0"/>
              </a:rPr>
              <a:t>APT: Advanced Persistent Threat</a:t>
            </a:r>
            <a:r>
              <a:rPr lang="en-US" dirty="0" smtClean="0">
                <a:solidFill>
                  <a:srgbClr val="0000CC"/>
                </a:solidFill>
                <a:latin typeface="Rockwell" panose="02060603020205020403" pitchFamily="18" charset="0"/>
              </a:rPr>
              <a:t>)</a:t>
            </a:r>
          </a:p>
          <a:p>
            <a:r>
              <a:rPr lang="en-US" dirty="0" err="1" smtClean="0">
                <a:solidFill>
                  <a:srgbClr val="0000CC"/>
                </a:solidFill>
                <a:latin typeface="Rockwell" panose="02060603020205020403" pitchFamily="18" charset="0"/>
              </a:rPr>
              <a:t>Tấn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công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leo</a:t>
            </a:r>
            <a:r>
              <a:rPr lang="en-US" dirty="0" smtClean="0">
                <a:solidFill>
                  <a:srgbClr val="0000CC"/>
                </a:solidFill>
                <a:latin typeface="Rockwell" panose="02060603020205020403" pitchFamily="18" charset="0"/>
              </a:rPr>
              <a:t> thang </a:t>
            </a:r>
            <a:r>
              <a:rPr lang="en-US" dirty="0" err="1" smtClean="0">
                <a:solidFill>
                  <a:srgbClr val="0000CC"/>
                </a:solidFill>
                <a:latin typeface="Rockwell" panose="02060603020205020403" pitchFamily="18" charset="0"/>
              </a:rPr>
              <a:t>đặc</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quyền</a:t>
            </a:r>
            <a:r>
              <a:rPr lang="en-US" dirty="0" smtClean="0">
                <a:solidFill>
                  <a:srgbClr val="0000CC"/>
                </a:solidFill>
                <a:latin typeface="Rockwell" panose="02060603020205020403" pitchFamily="18" charset="0"/>
              </a:rPr>
              <a:t>” (</a:t>
            </a:r>
            <a:r>
              <a:rPr lang="en-US" dirty="0">
                <a:latin typeface="Rockwell" panose="02060603020205020403" pitchFamily="18" charset="0"/>
              </a:rPr>
              <a:t>Privilege Escalation</a:t>
            </a:r>
            <a:r>
              <a:rPr lang="en-US" dirty="0" smtClean="0">
                <a:solidFill>
                  <a:srgbClr val="0000CC"/>
                </a:solidFill>
                <a:latin typeface="Rockwell" panose="02060603020205020403" pitchFamily="18" charset="0"/>
              </a:rPr>
              <a:t>) </a:t>
            </a:r>
          </a:p>
          <a:p>
            <a:endParaRPr lang="en-US" dirty="0">
              <a:latin typeface="Rockwell" panose="02060603020205020403" pitchFamily="18" charset="0"/>
            </a:endParaRPr>
          </a:p>
        </p:txBody>
      </p:sp>
    </p:spTree>
    <p:extLst>
      <p:ext uri="{BB962C8B-B14F-4D97-AF65-F5344CB8AC3E}">
        <p14:creationId xmlns:p14="http://schemas.microsoft.com/office/powerpoint/2010/main" val="12640656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92520" cy="4382729"/>
          </a:xfrm>
        </p:spPr>
        <p:txBody>
          <a:bodyPr/>
          <a:lstStyle/>
          <a:p>
            <a:pPr marL="0" indent="0">
              <a:buNone/>
            </a:pPr>
            <a:r>
              <a:rPr lang="en-US" b="1" dirty="0" smtClean="0">
                <a:solidFill>
                  <a:srgbClr val="0000CC"/>
                </a:solidFill>
                <a:latin typeface="Rockwell" panose="02060603020205020403" pitchFamily="18" charset="0"/>
              </a:rPr>
              <a:t>a. </a:t>
            </a:r>
            <a:r>
              <a:rPr lang="en-US" b="1" dirty="0" err="1" smtClean="0">
                <a:solidFill>
                  <a:srgbClr val="0000CC"/>
                </a:solidFill>
                <a:latin typeface="Rockwell" panose="02060603020205020403" pitchFamily="18" charset="0"/>
              </a:rPr>
              <a:t>C.I.A</a:t>
            </a:r>
            <a:r>
              <a:rPr lang="en-US" b="1" dirty="0" smtClean="0">
                <a:solidFill>
                  <a:srgbClr val="0000CC"/>
                </a:solidFill>
                <a:latin typeface="Rockwell" panose="02060603020205020403" pitchFamily="18" charset="0"/>
              </a:rPr>
              <a:t> (</a:t>
            </a:r>
            <a:r>
              <a:rPr lang="en-US" b="1" dirty="0">
                <a:latin typeface="Rockwell" panose="02060603020205020403" pitchFamily="18" charset="0"/>
              </a:rPr>
              <a:t>Confidentiality – Integrity – Availability</a:t>
            </a:r>
            <a:r>
              <a:rPr lang="en-US" b="1" dirty="0" smtClean="0">
                <a:solidFill>
                  <a:srgbClr val="0000CC"/>
                </a:solidFill>
                <a:latin typeface="Rockwell" panose="02060603020205020403" pitchFamily="18" charset="0"/>
              </a:rPr>
              <a:t>)</a:t>
            </a:r>
          </a:p>
          <a:p>
            <a:r>
              <a:rPr lang="vi-VN" b="1" dirty="0">
                <a:solidFill>
                  <a:srgbClr val="0000CC"/>
                </a:solidFill>
                <a:latin typeface="Rockwell" panose="02060603020205020403" pitchFamily="18" charset="0"/>
              </a:rPr>
              <a:t>Confidentiality (Tính bảo mật)</a:t>
            </a:r>
          </a:p>
          <a:p>
            <a:pPr lvl="1"/>
            <a:r>
              <a:rPr lang="vi-VN" dirty="0">
                <a:solidFill>
                  <a:srgbClr val="0000CC"/>
                </a:solidFill>
                <a:latin typeface="Rockwell" panose="02060603020205020403" pitchFamily="18" charset="0"/>
              </a:rPr>
              <a:t>Đảm bảo dữ liệu chỉ những người được phép mới có thể truy cập.</a:t>
            </a:r>
          </a:p>
          <a:p>
            <a:pPr lvl="1"/>
            <a:r>
              <a:rPr lang="vi-VN" dirty="0">
                <a:solidFill>
                  <a:srgbClr val="0000CC"/>
                </a:solidFill>
                <a:latin typeface="Rockwell" panose="02060603020205020403" pitchFamily="18" charset="0"/>
              </a:rPr>
              <a:t>Biện pháp: Mã hóa dữ liệu, phân quyền truy cập, VPN, TLS/SSL.</a:t>
            </a:r>
          </a:p>
          <a:p>
            <a:pPr lvl="1"/>
            <a:r>
              <a:rPr lang="vi-VN" dirty="0">
                <a:solidFill>
                  <a:srgbClr val="0000CC"/>
                </a:solidFill>
                <a:latin typeface="Rockwell" panose="02060603020205020403" pitchFamily="18" charset="0"/>
              </a:rPr>
              <a:t>Ví dụ: Thông tin thẻ tín dụng của khách hàng phải được mã hóa khi lưu trữ.</a:t>
            </a:r>
          </a:p>
          <a:p>
            <a:pPr marL="0" indent="0">
              <a:buNone/>
            </a:pPr>
            <a:endParaRPr lang="en-US" dirty="0" smtClean="0">
              <a:solidFill>
                <a:srgbClr val="0000CC"/>
              </a:solidFill>
              <a:latin typeface="Rockwell" panose="02060603020205020403" pitchFamily="18" charset="0"/>
            </a:endParaRPr>
          </a:p>
          <a:p>
            <a:pPr marL="0" indent="0">
              <a:buNone/>
            </a:pPr>
            <a:endParaRPr lang="en-US" dirty="0" smtClean="0">
              <a:solidFill>
                <a:srgbClr val="0000CC"/>
              </a:solidFill>
              <a:latin typeface="Rockwell" panose="02060603020205020403" pitchFamily="18" charset="0"/>
            </a:endParaRPr>
          </a:p>
          <a:p>
            <a:pPr marL="0" indent="0">
              <a:buNone/>
            </a:pPr>
            <a:endParaRPr lang="en-US" dirty="0">
              <a:latin typeface="Rockwell" panose="02060603020205020403" pitchFamily="18" charset="0"/>
            </a:endParaRPr>
          </a:p>
        </p:txBody>
      </p:sp>
    </p:spTree>
    <p:extLst>
      <p:ext uri="{BB962C8B-B14F-4D97-AF65-F5344CB8AC3E}">
        <p14:creationId xmlns:p14="http://schemas.microsoft.com/office/powerpoint/2010/main" val="32295256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051577" cy="4382729"/>
          </a:xfrm>
        </p:spPr>
        <p:txBody>
          <a:bodyPr/>
          <a:lstStyle/>
          <a:p>
            <a:r>
              <a:rPr lang="vi-VN" b="1" dirty="0">
                <a:solidFill>
                  <a:srgbClr val="0000CC"/>
                </a:solidFill>
                <a:latin typeface="Rockwell" panose="02060603020205020403" pitchFamily="18" charset="0"/>
              </a:rPr>
              <a:t>Integrity (Tính toàn vẹn)</a:t>
            </a:r>
          </a:p>
          <a:p>
            <a:pPr lvl="1"/>
            <a:r>
              <a:rPr lang="vi-VN" dirty="0">
                <a:solidFill>
                  <a:srgbClr val="0000CC"/>
                </a:solidFill>
                <a:latin typeface="Rockwell" panose="02060603020205020403" pitchFamily="18" charset="0"/>
              </a:rPr>
              <a:t>Đảm bảo dữ liệu không bị thay đổi trái phép, đúng như trạng thái ban đầu.</a:t>
            </a:r>
          </a:p>
          <a:p>
            <a:pPr lvl="1"/>
            <a:r>
              <a:rPr lang="vi-VN" dirty="0">
                <a:solidFill>
                  <a:srgbClr val="0000CC"/>
                </a:solidFill>
                <a:latin typeface="Rockwell" panose="02060603020205020403" pitchFamily="18" charset="0"/>
              </a:rPr>
              <a:t>Biện pháp: Hashing (SHA-256, MD5 kèm salt), chữ ký số, kiểm tra checksum.</a:t>
            </a:r>
          </a:p>
          <a:p>
            <a:pPr lvl="1"/>
            <a:r>
              <a:rPr lang="vi-VN" dirty="0">
                <a:solidFill>
                  <a:srgbClr val="0000CC"/>
                </a:solidFill>
                <a:latin typeface="Rockwell" panose="02060603020205020403" pitchFamily="18" charset="0"/>
              </a:rPr>
              <a:t>Ví dụ: Một hóa đơn điện tử không thể bị hacker chỉnh sửa số tiền.</a:t>
            </a:r>
          </a:p>
          <a:p>
            <a:r>
              <a:rPr lang="vi-VN" b="1" dirty="0">
                <a:solidFill>
                  <a:srgbClr val="0000CC"/>
                </a:solidFill>
                <a:latin typeface="Rockwell" panose="02060603020205020403" pitchFamily="18" charset="0"/>
              </a:rPr>
              <a:t>Availability (Tính sẵn sàng)</a:t>
            </a:r>
          </a:p>
          <a:p>
            <a:pPr lvl="1"/>
            <a:r>
              <a:rPr lang="vi-VN" dirty="0">
                <a:solidFill>
                  <a:srgbClr val="0000CC"/>
                </a:solidFill>
                <a:latin typeface="Rockwell" panose="02060603020205020403" pitchFamily="18" charset="0"/>
              </a:rPr>
              <a:t>Đảm bảo hệ thống, dịch vụ luôn sẵn sàng cho người dùng hợp lệ.</a:t>
            </a:r>
          </a:p>
          <a:p>
            <a:pPr lvl="1"/>
            <a:r>
              <a:rPr lang="vi-VN" dirty="0">
                <a:solidFill>
                  <a:srgbClr val="0000CC"/>
                </a:solidFill>
                <a:latin typeface="Rockwell" panose="02060603020205020403" pitchFamily="18" charset="0"/>
              </a:rPr>
              <a:t>Biện pháp: Cân bằng tải, chống DDoS, backup, hệ thống dự phòng.</a:t>
            </a:r>
          </a:p>
          <a:p>
            <a:pPr lvl="1"/>
            <a:r>
              <a:rPr lang="vi-VN" dirty="0">
                <a:solidFill>
                  <a:srgbClr val="0000CC"/>
                </a:solidFill>
                <a:latin typeface="Rockwell" panose="02060603020205020403" pitchFamily="18" charset="0"/>
              </a:rPr>
              <a:t>Ví dụ: Website ngân hàng vẫn hoạt động ổn định dù bị tấn công từ chối dịch vụ.</a:t>
            </a:r>
          </a:p>
          <a:p>
            <a:pPr marL="0" indent="0">
              <a:buNone/>
            </a:pPr>
            <a:endParaRPr lang="en-US" dirty="0" smtClean="0">
              <a:solidFill>
                <a:srgbClr val="0000CC"/>
              </a:solidFill>
              <a:latin typeface="Rockwell" panose="02060603020205020403" pitchFamily="18" charset="0"/>
            </a:endParaRPr>
          </a:p>
          <a:p>
            <a:pPr marL="0" indent="0">
              <a:buNone/>
            </a:pPr>
            <a:endParaRPr lang="en-US" dirty="0" smtClean="0">
              <a:solidFill>
                <a:srgbClr val="0000CC"/>
              </a:solidFill>
              <a:latin typeface="Rockwell" panose="02060603020205020403" pitchFamily="18" charset="0"/>
            </a:endParaRPr>
          </a:p>
          <a:p>
            <a:pPr marL="0" indent="0">
              <a:buNone/>
            </a:pPr>
            <a:endParaRPr lang="en-US" dirty="0">
              <a:latin typeface="Rockwell" panose="02060603020205020403" pitchFamily="18" charset="0"/>
            </a:endParaRPr>
          </a:p>
        </p:txBody>
      </p:sp>
    </p:spTree>
    <p:extLst>
      <p:ext uri="{BB962C8B-B14F-4D97-AF65-F5344CB8AC3E}">
        <p14:creationId xmlns:p14="http://schemas.microsoft.com/office/powerpoint/2010/main" val="36010643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38431" cy="4382729"/>
          </a:xfrm>
        </p:spPr>
        <p:txBody>
          <a:bodyPr/>
          <a:lstStyle/>
          <a:p>
            <a:pPr marL="0" indent="0">
              <a:buNone/>
            </a:pPr>
            <a:r>
              <a:rPr lang="en-US" b="1" dirty="0" smtClean="0">
                <a:solidFill>
                  <a:srgbClr val="0000CC"/>
                </a:solidFill>
                <a:latin typeface="Rockwell" panose="02060603020205020403" pitchFamily="18" charset="0"/>
              </a:rPr>
              <a:t>b. </a:t>
            </a:r>
            <a:r>
              <a:rPr lang="en-US" b="1" dirty="0" err="1" smtClean="0">
                <a:solidFill>
                  <a:srgbClr val="0000CC"/>
                </a:solidFill>
                <a:latin typeface="Rockwell" panose="02060603020205020403" pitchFamily="18" charset="0"/>
              </a:rPr>
              <a:t>A.A.A</a:t>
            </a:r>
            <a:r>
              <a:rPr lang="en-US" b="1" dirty="0" smtClean="0">
                <a:solidFill>
                  <a:srgbClr val="0000CC"/>
                </a:solidFill>
                <a:latin typeface="Rockwell" panose="02060603020205020403" pitchFamily="18" charset="0"/>
              </a:rPr>
              <a:t> (</a:t>
            </a:r>
            <a:r>
              <a:rPr lang="en-US" b="1" dirty="0">
                <a:latin typeface="Rockwell" panose="02060603020205020403" pitchFamily="18" charset="0"/>
              </a:rPr>
              <a:t>Authentication – Authorization – Accounting</a:t>
            </a:r>
            <a:r>
              <a:rPr lang="en-US" b="1" dirty="0" smtClean="0">
                <a:solidFill>
                  <a:srgbClr val="0000CC"/>
                </a:solidFill>
                <a:latin typeface="Rockwell" panose="02060603020205020403" pitchFamily="18" charset="0"/>
              </a:rPr>
              <a:t>)</a:t>
            </a:r>
          </a:p>
          <a:p>
            <a:pPr marL="0" indent="0">
              <a:buNone/>
            </a:pPr>
            <a:r>
              <a:rPr lang="vi-VN" dirty="0">
                <a:solidFill>
                  <a:srgbClr val="0000CC"/>
                </a:solidFill>
                <a:latin typeface="Rockwell" panose="02060603020205020403" pitchFamily="18" charset="0"/>
              </a:rPr>
              <a:t>Đây là 3 chức năng quan trọng trong kiểm soát truy cập:</a:t>
            </a:r>
          </a:p>
          <a:p>
            <a:r>
              <a:rPr lang="vi-VN" dirty="0" smtClean="0">
                <a:solidFill>
                  <a:srgbClr val="0000CC"/>
                </a:solidFill>
                <a:latin typeface="Rockwell" panose="02060603020205020403" pitchFamily="18" charset="0"/>
              </a:rPr>
              <a:t>Authentication </a:t>
            </a:r>
            <a:r>
              <a:rPr lang="vi-VN" dirty="0">
                <a:solidFill>
                  <a:srgbClr val="0000CC"/>
                </a:solidFill>
                <a:latin typeface="Rockwell" panose="02060603020205020403" pitchFamily="18" charset="0"/>
              </a:rPr>
              <a:t>(Xác thực)</a:t>
            </a:r>
          </a:p>
          <a:p>
            <a:pPr lvl="1"/>
            <a:r>
              <a:rPr lang="vi-VN" dirty="0">
                <a:solidFill>
                  <a:srgbClr val="0000CC"/>
                </a:solidFill>
                <a:latin typeface="Rockwell" panose="02060603020205020403" pitchFamily="18" charset="0"/>
              </a:rPr>
              <a:t>Kiểm tra người dùng có đúng danh tính hay không.</a:t>
            </a:r>
          </a:p>
          <a:p>
            <a:pPr lvl="1"/>
            <a:r>
              <a:rPr lang="vi-VN" dirty="0">
                <a:solidFill>
                  <a:srgbClr val="0000CC"/>
                </a:solidFill>
                <a:latin typeface="Rockwell" panose="02060603020205020403" pitchFamily="18" charset="0"/>
              </a:rPr>
              <a:t>Phương pháp: Mật khẩu, OTP, vân tay, chứng chỉ số.</a:t>
            </a:r>
          </a:p>
          <a:p>
            <a:pPr lvl="1"/>
            <a:r>
              <a:rPr lang="vi-VN" dirty="0">
                <a:solidFill>
                  <a:srgbClr val="0000CC"/>
                </a:solidFill>
                <a:latin typeface="Rockwell" panose="02060603020205020403" pitchFamily="18" charset="0"/>
              </a:rPr>
              <a:t>Ví dụ: Người dùng nhập mật khẩu và OTP khi đăng nhập internet banking.</a:t>
            </a:r>
          </a:p>
          <a:p>
            <a:r>
              <a:rPr lang="vi-VN" dirty="0">
                <a:solidFill>
                  <a:srgbClr val="0000CC"/>
                </a:solidFill>
                <a:latin typeface="Rockwell" panose="02060603020205020403" pitchFamily="18" charset="0"/>
              </a:rPr>
              <a:t>Authorization (Phân quyền)</a:t>
            </a:r>
          </a:p>
          <a:p>
            <a:pPr lvl="1"/>
            <a:r>
              <a:rPr lang="vi-VN" dirty="0">
                <a:solidFill>
                  <a:srgbClr val="0000CC"/>
                </a:solidFill>
                <a:latin typeface="Rockwell" panose="02060603020205020403" pitchFamily="18" charset="0"/>
              </a:rPr>
              <a:t>Xác định người dùng được phép làm gì sau khi xác thực.</a:t>
            </a:r>
          </a:p>
          <a:p>
            <a:pPr lvl="1"/>
            <a:r>
              <a:rPr lang="vi-VN" dirty="0">
                <a:solidFill>
                  <a:srgbClr val="0000CC"/>
                </a:solidFill>
                <a:latin typeface="Rockwell" panose="02060603020205020403" pitchFamily="18" charset="0"/>
              </a:rPr>
              <a:t>Ví dụ: Nhân viên chỉ được xem dữ liệu khách hàng, nhưng quản trị viên có thể xóa hoặc chỉnh sửa.</a:t>
            </a:r>
            <a:endParaRPr lang="en-US" dirty="0" smtClean="0">
              <a:solidFill>
                <a:srgbClr val="0000CC"/>
              </a:solidFill>
              <a:latin typeface="Rockwell" panose="02060603020205020403" pitchFamily="18" charset="0"/>
            </a:endParaRPr>
          </a:p>
          <a:p>
            <a:pPr lvl="1"/>
            <a:endParaRPr lang="en-US" dirty="0">
              <a:latin typeface="Rockwell" panose="02060603020205020403" pitchFamily="18" charset="0"/>
            </a:endParaRPr>
          </a:p>
        </p:txBody>
      </p:sp>
    </p:spTree>
    <p:extLst>
      <p:ext uri="{BB962C8B-B14F-4D97-AF65-F5344CB8AC3E}">
        <p14:creationId xmlns:p14="http://schemas.microsoft.com/office/powerpoint/2010/main" val="4097302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38431" cy="4382729"/>
          </a:xfrm>
        </p:spPr>
        <p:txBody>
          <a:bodyPr/>
          <a:lstStyle/>
          <a:p>
            <a:pPr marL="0" indent="0">
              <a:buNone/>
            </a:pPr>
            <a:r>
              <a:rPr lang="en-US" b="1" dirty="0" smtClean="0">
                <a:solidFill>
                  <a:srgbClr val="0000CC"/>
                </a:solidFill>
                <a:latin typeface="Rockwell" panose="02060603020205020403" pitchFamily="18" charset="0"/>
              </a:rPr>
              <a:t>b. </a:t>
            </a:r>
            <a:r>
              <a:rPr lang="en-US" b="1" dirty="0" err="1" smtClean="0">
                <a:solidFill>
                  <a:srgbClr val="0000CC"/>
                </a:solidFill>
                <a:latin typeface="Rockwell" panose="02060603020205020403" pitchFamily="18" charset="0"/>
              </a:rPr>
              <a:t>A.A.A</a:t>
            </a:r>
            <a:r>
              <a:rPr lang="en-US" b="1" dirty="0" smtClean="0">
                <a:solidFill>
                  <a:srgbClr val="0000CC"/>
                </a:solidFill>
                <a:latin typeface="Rockwell" panose="02060603020205020403" pitchFamily="18" charset="0"/>
              </a:rPr>
              <a:t> (</a:t>
            </a:r>
            <a:r>
              <a:rPr lang="en-US" b="1" dirty="0">
                <a:latin typeface="Rockwell" panose="02060603020205020403" pitchFamily="18" charset="0"/>
              </a:rPr>
              <a:t>Authentication – Authorization – Accounting</a:t>
            </a:r>
            <a:r>
              <a:rPr lang="en-US" b="1" dirty="0" smtClean="0">
                <a:solidFill>
                  <a:srgbClr val="0000CC"/>
                </a:solidFill>
                <a:latin typeface="Rockwell" panose="02060603020205020403" pitchFamily="18" charset="0"/>
              </a:rPr>
              <a:t>)</a:t>
            </a:r>
          </a:p>
          <a:p>
            <a:pPr marL="342900" lvl="1"/>
            <a:r>
              <a:rPr lang="vi-VN" b="1" dirty="0">
                <a:solidFill>
                  <a:srgbClr val="0000CC"/>
                </a:solidFill>
                <a:latin typeface="Rockwell" panose="02060603020205020403" pitchFamily="18" charset="0"/>
              </a:rPr>
              <a:t>Accounting (Ghi nhận/kiểm toán)</a:t>
            </a:r>
          </a:p>
          <a:p>
            <a:pPr lvl="1"/>
            <a:r>
              <a:rPr lang="vi-VN" dirty="0">
                <a:solidFill>
                  <a:srgbClr val="0000CC"/>
                </a:solidFill>
                <a:latin typeface="Rockwell" panose="02060603020205020403" pitchFamily="18" charset="0"/>
              </a:rPr>
              <a:t>Theo dõi, ghi lại hành động của người dùng để phục vụ giám sát và điều tra.</a:t>
            </a:r>
          </a:p>
          <a:p>
            <a:pPr lvl="1"/>
            <a:r>
              <a:rPr lang="vi-VN" dirty="0">
                <a:solidFill>
                  <a:srgbClr val="0000CC"/>
                </a:solidFill>
                <a:latin typeface="Rockwell" panose="02060603020205020403" pitchFamily="18" charset="0"/>
              </a:rPr>
              <a:t>Ví dụ: Hệ thống lưu log: User A tải về 10 file lúc 10:15AM.</a:t>
            </a:r>
          </a:p>
          <a:p>
            <a:pPr lvl="1"/>
            <a:endParaRPr lang="en-US" b="1" dirty="0" smtClean="0">
              <a:solidFill>
                <a:srgbClr val="0000CC"/>
              </a:solidFill>
              <a:latin typeface="Rockwell" panose="02060603020205020403" pitchFamily="18" charset="0"/>
            </a:endParaRPr>
          </a:p>
          <a:p>
            <a:pPr lvl="1"/>
            <a:endParaRPr lang="vi-VN" b="1" dirty="0">
              <a:solidFill>
                <a:srgbClr val="0000CC"/>
              </a:solidFill>
              <a:latin typeface="Rockwell" panose="02060603020205020403" pitchFamily="18" charset="0"/>
            </a:endParaRPr>
          </a:p>
          <a:p>
            <a:pPr marL="0" lvl="1" indent="0" algn="just">
              <a:buNone/>
            </a:pPr>
            <a:r>
              <a:rPr lang="vi-VN" b="1" dirty="0">
                <a:solidFill>
                  <a:srgbClr val="CC00FF"/>
                </a:solidFill>
                <a:latin typeface="Rockwell" panose="02060603020205020403" pitchFamily="18" charset="0"/>
              </a:rPr>
              <a:t>C.I.A tập trung vào bảo vệ dữ liệu (bí mật – toàn vẹn – sẵn sàng).</a:t>
            </a:r>
          </a:p>
          <a:p>
            <a:pPr marL="0" lvl="1" indent="0" algn="just">
              <a:buNone/>
            </a:pPr>
            <a:r>
              <a:rPr lang="vi-VN" b="1" dirty="0">
                <a:solidFill>
                  <a:srgbClr val="CC00FF"/>
                </a:solidFill>
                <a:latin typeface="Rockwell" panose="02060603020205020403" pitchFamily="18" charset="0"/>
              </a:rPr>
              <a:t>A.A.A tập trung vào quản lý người dùng (ai – được làm gì – đã làm gì).</a:t>
            </a:r>
            <a:endParaRPr lang="en-US" b="1" dirty="0">
              <a:solidFill>
                <a:srgbClr val="CC00FF"/>
              </a:solidFill>
              <a:latin typeface="Rockwell" panose="02060603020205020403" pitchFamily="18" charset="0"/>
            </a:endParaRPr>
          </a:p>
        </p:txBody>
      </p:sp>
    </p:spTree>
    <p:extLst>
      <p:ext uri="{BB962C8B-B14F-4D97-AF65-F5344CB8AC3E}">
        <p14:creationId xmlns:p14="http://schemas.microsoft.com/office/powerpoint/2010/main" val="4246441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rPr>
              <a:t>c.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a:latin typeface="Rockwell" panose="02060603020205020403" pitchFamily="18" charset="0"/>
              </a:rPr>
              <a:t>Application Security</a:t>
            </a:r>
            <a:r>
              <a:rPr lang="en-US" b="1" dirty="0" smtClean="0">
                <a:solidFill>
                  <a:srgbClr val="0000CC"/>
                </a:solidFill>
                <a:latin typeface="Rockwell" panose="02060603020205020403" pitchFamily="18" charset="0"/>
              </a:rPr>
              <a:t>)</a:t>
            </a:r>
          </a:p>
          <a:p>
            <a:pPr marL="0" indent="0">
              <a:buNone/>
            </a:pPr>
            <a:r>
              <a:rPr lang="vi-VN" dirty="0">
                <a:solidFill>
                  <a:srgbClr val="0000CC"/>
                </a:solidFill>
                <a:latin typeface="Rockwell" panose="02060603020205020403" pitchFamily="18" charset="0"/>
              </a:rPr>
              <a:t>Tập trung vào việc bảo vệ phần mềm/ứng dụng khỏi các lỗ hổng trong thiết kế, lập trình hoặc cấu hình, đảm bảo dữ liệu xử lý trong ứng dụng không bị khai thác trái phép.</a:t>
            </a:r>
          </a:p>
          <a:p>
            <a:pPr marL="0" indent="0">
              <a:buNone/>
            </a:pPr>
            <a:r>
              <a:rPr lang="vi-VN" dirty="0" smtClean="0">
                <a:solidFill>
                  <a:srgbClr val="0000CC"/>
                </a:solidFill>
                <a:latin typeface="Rockwell" panose="02060603020205020403" pitchFamily="18" charset="0"/>
              </a:rPr>
              <a:t>Đối </a:t>
            </a:r>
            <a:r>
              <a:rPr lang="vi-VN" dirty="0">
                <a:solidFill>
                  <a:srgbClr val="0000CC"/>
                </a:solidFill>
                <a:latin typeface="Rockwell" panose="02060603020205020403" pitchFamily="18" charset="0"/>
              </a:rPr>
              <a:t>tượng chính:</a:t>
            </a:r>
          </a:p>
          <a:p>
            <a:pPr marL="627063" lvl="1"/>
            <a:r>
              <a:rPr lang="vi-VN" dirty="0">
                <a:solidFill>
                  <a:srgbClr val="0000CC"/>
                </a:solidFill>
                <a:latin typeface="Rockwell" panose="02060603020205020403" pitchFamily="18" charset="0"/>
              </a:rPr>
              <a:t>Ứng dụng web, mobile app, phần mềm desktop, dịch vụ API, cơ sở dữ liệu gắn với ứng dụng.</a:t>
            </a:r>
          </a:p>
          <a:p>
            <a:pPr marL="0" indent="0">
              <a:buNone/>
            </a:pPr>
            <a:r>
              <a:rPr lang="vi-VN" dirty="0" smtClean="0">
                <a:solidFill>
                  <a:srgbClr val="0000CC"/>
                </a:solidFill>
                <a:latin typeface="Rockwell" panose="02060603020205020403" pitchFamily="18" charset="0"/>
              </a:rPr>
              <a:t>Mối </a:t>
            </a:r>
            <a:r>
              <a:rPr lang="vi-VN" dirty="0">
                <a:solidFill>
                  <a:srgbClr val="0000CC"/>
                </a:solidFill>
                <a:latin typeface="Rockwell" panose="02060603020205020403" pitchFamily="18" charset="0"/>
              </a:rPr>
              <a:t>đe dọa thường gặp:</a:t>
            </a:r>
          </a:p>
          <a:p>
            <a:pPr marL="627063" lvl="1"/>
            <a:r>
              <a:rPr lang="vi-VN" dirty="0" smtClean="0">
                <a:solidFill>
                  <a:srgbClr val="0000CC"/>
                </a:solidFill>
                <a:latin typeface="Rockwell" panose="02060603020205020403" pitchFamily="18" charset="0"/>
              </a:rPr>
              <a:t>SQL </a:t>
            </a:r>
            <a:r>
              <a:rPr lang="vi-VN" dirty="0">
                <a:solidFill>
                  <a:srgbClr val="0000CC"/>
                </a:solidFill>
                <a:latin typeface="Rockwell" panose="02060603020205020403" pitchFamily="18" charset="0"/>
              </a:rPr>
              <a:t>Injection; Cross-Site Scripting (XSS);</a:t>
            </a:r>
          </a:p>
          <a:p>
            <a:pPr marL="627063" lvl="1"/>
            <a:r>
              <a:rPr lang="vi-VN" dirty="0">
                <a:solidFill>
                  <a:srgbClr val="0000CC"/>
                </a:solidFill>
                <a:latin typeface="Rockwell" panose="02060603020205020403" pitchFamily="18" charset="0"/>
              </a:rPr>
              <a:t>Cross-Site Request Forgery (CSRF); Lỗ hổng trong API</a:t>
            </a:r>
          </a:p>
          <a:p>
            <a:pPr marL="627063" lvl="1"/>
            <a:r>
              <a:rPr lang="vi-VN" dirty="0">
                <a:solidFill>
                  <a:srgbClr val="0000CC"/>
                </a:solidFill>
                <a:latin typeface="Rockwell" panose="02060603020205020403" pitchFamily="18" charset="0"/>
              </a:rPr>
              <a:t>Sử dụng thư viện bên thứ ba có mã độc</a:t>
            </a:r>
          </a:p>
          <a:p>
            <a:pPr marL="457200" indent="-457200">
              <a:buAutoNum type="alphaLcPeriod"/>
            </a:pPr>
            <a:endParaRPr lang="en-US" b="1" dirty="0" smtClean="0">
              <a:solidFill>
                <a:srgbClr val="0000CC"/>
              </a:solidFill>
              <a:latin typeface="Rockwell" panose="02060603020205020403" pitchFamily="18" charset="0"/>
            </a:endParaRPr>
          </a:p>
        </p:txBody>
      </p:sp>
    </p:spTree>
    <p:extLst>
      <p:ext uri="{BB962C8B-B14F-4D97-AF65-F5344CB8AC3E}">
        <p14:creationId xmlns:p14="http://schemas.microsoft.com/office/powerpoint/2010/main" val="30800519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rPr>
              <a:t>c.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a:latin typeface="Rockwell" panose="02060603020205020403" pitchFamily="18" charset="0"/>
              </a:rPr>
              <a:t>Application Security</a:t>
            </a:r>
            <a:r>
              <a:rPr lang="en-US" b="1" dirty="0" smtClean="0">
                <a:solidFill>
                  <a:srgbClr val="0000CC"/>
                </a:solidFill>
                <a:latin typeface="Rockwell" panose="02060603020205020403" pitchFamily="18" charset="0"/>
              </a:rPr>
              <a:t>)</a:t>
            </a:r>
          </a:p>
          <a:p>
            <a:r>
              <a:rPr lang="vi-VN" dirty="0">
                <a:solidFill>
                  <a:srgbClr val="0000CC"/>
                </a:solidFill>
                <a:latin typeface="Rockwell" panose="02060603020205020403" pitchFamily="18" charset="0"/>
              </a:rPr>
              <a:t>Biện pháp:</a:t>
            </a:r>
          </a:p>
          <a:p>
            <a:pPr lvl="1"/>
            <a:r>
              <a:rPr lang="vi-VN" dirty="0">
                <a:solidFill>
                  <a:srgbClr val="0000CC"/>
                </a:solidFill>
                <a:latin typeface="Rockwell" panose="02060603020205020403" pitchFamily="18" charset="0"/>
              </a:rPr>
              <a:t>Lập trình an toàn (input validation, secure coding)</a:t>
            </a:r>
          </a:p>
          <a:p>
            <a:pPr lvl="1"/>
            <a:r>
              <a:rPr lang="vi-VN" dirty="0">
                <a:solidFill>
                  <a:srgbClr val="0000CC"/>
                </a:solidFill>
                <a:latin typeface="Rockwell" panose="02060603020205020403" pitchFamily="18" charset="0"/>
              </a:rPr>
              <a:t>Cập nhật bản vá thường xuyên</a:t>
            </a:r>
          </a:p>
          <a:p>
            <a:pPr lvl="1"/>
            <a:r>
              <a:rPr lang="vi-VN" dirty="0">
                <a:solidFill>
                  <a:srgbClr val="0000CC"/>
                </a:solidFill>
                <a:latin typeface="Rockwell" panose="02060603020205020403" pitchFamily="18" charset="0"/>
              </a:rPr>
              <a:t>Quét lỗ hổng (OWASP ZAP, Burp Suite)</a:t>
            </a:r>
          </a:p>
          <a:p>
            <a:pPr lvl="1"/>
            <a:r>
              <a:rPr lang="vi-VN" dirty="0">
                <a:solidFill>
                  <a:srgbClr val="0000CC"/>
                </a:solidFill>
                <a:latin typeface="Rockwell" panose="02060603020205020403" pitchFamily="18" charset="0"/>
              </a:rPr>
              <a:t>Kiểm thử bảo mật ứng dụng (Penetration Testing)</a:t>
            </a:r>
          </a:p>
          <a:p>
            <a:r>
              <a:rPr lang="vi-VN" dirty="0" smtClean="0">
                <a:solidFill>
                  <a:srgbClr val="0000CC"/>
                </a:solidFill>
                <a:latin typeface="Rockwell" panose="02060603020205020403" pitchFamily="18" charset="0"/>
              </a:rPr>
              <a:t>Ví </a:t>
            </a:r>
            <a:r>
              <a:rPr lang="vi-VN" dirty="0">
                <a:solidFill>
                  <a:srgbClr val="0000CC"/>
                </a:solidFill>
                <a:latin typeface="Rockwell" panose="02060603020205020403" pitchFamily="18" charset="0"/>
              </a:rPr>
              <a:t>dụ:</a:t>
            </a:r>
          </a:p>
          <a:p>
            <a:pPr lvl="1"/>
            <a:r>
              <a:rPr lang="vi-VN" dirty="0">
                <a:solidFill>
                  <a:srgbClr val="0000CC"/>
                </a:solidFill>
                <a:latin typeface="Rockwell" panose="02060603020205020403" pitchFamily="18" charset="0"/>
              </a:rPr>
              <a:t>Một ứng dụng thương mại điện tử phải ngăn chặn kẻ tấn công chèn SQL để lấy thông tin thẻ tín dụng.</a:t>
            </a:r>
            <a:endParaRPr lang="en-US" dirty="0" smtClean="0">
              <a:solidFill>
                <a:srgbClr val="0000CC"/>
              </a:solidFill>
              <a:latin typeface="Rockwell" panose="02060603020205020403" pitchFamily="18" charset="0"/>
            </a:endParaRPr>
          </a:p>
        </p:txBody>
      </p:sp>
    </p:spTree>
    <p:extLst>
      <p:ext uri="{BB962C8B-B14F-4D97-AF65-F5344CB8AC3E}">
        <p14:creationId xmlns:p14="http://schemas.microsoft.com/office/powerpoint/2010/main" val="27139239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38431" cy="4382729"/>
          </a:xfrm>
        </p:spPr>
        <p:txBody>
          <a:bodyPr/>
          <a:lstStyle/>
          <a:p>
            <a:pPr marL="0" indent="0">
              <a:buNone/>
            </a:pPr>
            <a:r>
              <a:rPr lang="en-US" b="1" dirty="0">
                <a:solidFill>
                  <a:srgbClr val="0000CC"/>
                </a:solidFill>
                <a:latin typeface="Rockwell" panose="02060603020205020403" pitchFamily="18" charset="0"/>
              </a:rPr>
              <a:t>d</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r>
              <a:rPr lang="en-US" b="1" dirty="0" smtClean="0">
                <a:solidFill>
                  <a:srgbClr val="0000CC"/>
                </a:solidFill>
                <a:latin typeface="Rockwell" panose="02060603020205020403" pitchFamily="18" charset="0"/>
              </a:rPr>
              <a:t> (</a:t>
            </a:r>
            <a:r>
              <a:rPr lang="en-US" b="1" dirty="0" smtClean="0">
                <a:latin typeface="Rockwell" panose="02060603020205020403" pitchFamily="18" charset="0"/>
              </a:rPr>
              <a:t>System </a:t>
            </a:r>
            <a:r>
              <a:rPr lang="en-US" b="1" dirty="0">
                <a:latin typeface="Rockwell" panose="02060603020205020403" pitchFamily="18" charset="0"/>
              </a:rPr>
              <a:t>Security</a:t>
            </a:r>
            <a:r>
              <a:rPr lang="en-US" b="1" dirty="0" smtClean="0">
                <a:solidFill>
                  <a:srgbClr val="0000CC"/>
                </a:solidFill>
                <a:latin typeface="Rockwell" panose="02060603020205020403" pitchFamily="18" charset="0"/>
              </a:rPr>
              <a:t>)</a:t>
            </a:r>
          </a:p>
          <a:p>
            <a:pPr marL="0" indent="0">
              <a:buNone/>
            </a:pPr>
            <a:r>
              <a:rPr lang="vi-VN" dirty="0">
                <a:solidFill>
                  <a:srgbClr val="0000CC"/>
                </a:solidFill>
                <a:latin typeface="Rockwell" panose="02060603020205020403" pitchFamily="18" charset="0"/>
              </a:rPr>
              <a:t>Tập trung vào việc bảo vệ toàn bộ hệ thống máy tính, máy chủ, mạng và thiết bị hạ tầng để ngăn chặn truy cập trái phép hoặc tấn công.</a:t>
            </a:r>
          </a:p>
          <a:p>
            <a:pPr marL="0" indent="0">
              <a:buNone/>
            </a:pPr>
            <a:r>
              <a:rPr lang="vi-VN" dirty="0" smtClean="0">
                <a:solidFill>
                  <a:srgbClr val="0000CC"/>
                </a:solidFill>
                <a:latin typeface="Rockwell" panose="02060603020205020403" pitchFamily="18" charset="0"/>
              </a:rPr>
              <a:t>Đối </a:t>
            </a:r>
            <a:r>
              <a:rPr lang="vi-VN" dirty="0">
                <a:solidFill>
                  <a:srgbClr val="0000CC"/>
                </a:solidFill>
                <a:latin typeface="Rockwell" panose="02060603020205020403" pitchFamily="18" charset="0"/>
              </a:rPr>
              <a:t>tượng chính:</a:t>
            </a:r>
          </a:p>
          <a:p>
            <a:pPr lvl="1"/>
            <a:r>
              <a:rPr lang="vi-VN" dirty="0">
                <a:solidFill>
                  <a:srgbClr val="0000CC"/>
                </a:solidFill>
                <a:latin typeface="Rockwell" panose="02060603020205020403" pitchFamily="18" charset="0"/>
              </a:rPr>
              <a:t>Hệ điều hành, máy chủ, thiết bị mạng (router, firewall), phần cứng, dịch vụ chạy nền.</a:t>
            </a:r>
          </a:p>
          <a:p>
            <a:pPr marL="0" indent="0">
              <a:buNone/>
            </a:pPr>
            <a:r>
              <a:rPr lang="vi-VN" dirty="0" smtClean="0">
                <a:solidFill>
                  <a:srgbClr val="0000CC"/>
                </a:solidFill>
                <a:latin typeface="Rockwell" panose="02060603020205020403" pitchFamily="18" charset="0"/>
              </a:rPr>
              <a:t>Mối </a:t>
            </a:r>
            <a:r>
              <a:rPr lang="vi-VN" dirty="0">
                <a:solidFill>
                  <a:srgbClr val="0000CC"/>
                </a:solidFill>
                <a:latin typeface="Rockwell" panose="02060603020205020403" pitchFamily="18" charset="0"/>
              </a:rPr>
              <a:t>đe dọa thường gặp:</a:t>
            </a:r>
          </a:p>
          <a:p>
            <a:pPr lvl="1"/>
            <a:r>
              <a:rPr lang="vi-VN" dirty="0">
                <a:solidFill>
                  <a:srgbClr val="0000CC"/>
                </a:solidFill>
                <a:latin typeface="Rockwell" panose="02060603020205020403" pitchFamily="18" charset="0"/>
              </a:rPr>
              <a:t>Tấn công DDoS; </a:t>
            </a:r>
            <a:endParaRPr lang="en-US" dirty="0" smtClean="0">
              <a:solidFill>
                <a:srgbClr val="0000CC"/>
              </a:solidFill>
              <a:latin typeface="Rockwell" panose="02060603020205020403" pitchFamily="18" charset="0"/>
            </a:endParaRPr>
          </a:p>
          <a:p>
            <a:pPr lvl="1"/>
            <a:r>
              <a:rPr lang="vi-VN" dirty="0" smtClean="0">
                <a:solidFill>
                  <a:srgbClr val="0000CC"/>
                </a:solidFill>
                <a:latin typeface="Rockwell" panose="02060603020205020403" pitchFamily="18" charset="0"/>
              </a:rPr>
              <a:t>Malware</a:t>
            </a:r>
            <a:r>
              <a:rPr lang="vi-VN" dirty="0">
                <a:solidFill>
                  <a:srgbClr val="0000CC"/>
                </a:solidFill>
                <a:latin typeface="Rockwell" panose="02060603020205020403" pitchFamily="18" charset="0"/>
              </a:rPr>
              <a:t>, Ransomware; </a:t>
            </a:r>
            <a:r>
              <a:rPr lang="vi-VN" dirty="0" smtClean="0">
                <a:solidFill>
                  <a:srgbClr val="0000CC"/>
                </a:solidFill>
                <a:latin typeface="Rockwell" panose="02060603020205020403" pitchFamily="18" charset="0"/>
              </a:rPr>
              <a:t>Rootkit</a:t>
            </a:r>
            <a:r>
              <a:rPr lang="vi-VN" dirty="0">
                <a:solidFill>
                  <a:srgbClr val="0000CC"/>
                </a:solidFill>
                <a:latin typeface="Rockwell" panose="02060603020205020403" pitchFamily="18" charset="0"/>
              </a:rPr>
              <a:t>, Trojan</a:t>
            </a:r>
          </a:p>
          <a:p>
            <a:pPr lvl="1"/>
            <a:r>
              <a:rPr lang="vi-VN" dirty="0">
                <a:solidFill>
                  <a:srgbClr val="0000CC"/>
                </a:solidFill>
                <a:latin typeface="Rockwell" panose="02060603020205020403" pitchFamily="18" charset="0"/>
              </a:rPr>
              <a:t>Truy cập trái phép vào máy chủ</a:t>
            </a:r>
          </a:p>
          <a:p>
            <a:pPr lvl="1"/>
            <a:r>
              <a:rPr lang="vi-VN" dirty="0">
                <a:solidFill>
                  <a:srgbClr val="0000CC"/>
                </a:solidFill>
                <a:latin typeface="Rockwell" panose="02060603020205020403" pitchFamily="18" charset="0"/>
              </a:rPr>
              <a:t>Lỗi cấu hình hệ điều </a:t>
            </a:r>
            <a:r>
              <a:rPr lang="vi-VN" dirty="0" smtClean="0">
                <a:solidFill>
                  <a:srgbClr val="0000CC"/>
                </a:solidFill>
                <a:latin typeface="Rockwell" panose="02060603020205020403" pitchFamily="18" charset="0"/>
              </a:rPr>
              <a:t>hành</a:t>
            </a:r>
            <a:r>
              <a:rPr lang="en-US"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a:p>
            <a:pPr marL="0" indent="0">
              <a:buNone/>
            </a:pPr>
            <a:endParaRPr lang="en-US" b="1" dirty="0" smtClean="0">
              <a:solidFill>
                <a:srgbClr val="0000CC"/>
              </a:solidFill>
              <a:latin typeface="Rockwell" panose="02060603020205020403" pitchFamily="18" charset="0"/>
            </a:endParaRPr>
          </a:p>
        </p:txBody>
      </p:sp>
    </p:spTree>
    <p:extLst>
      <p:ext uri="{BB962C8B-B14F-4D97-AF65-F5344CB8AC3E}">
        <p14:creationId xmlns:p14="http://schemas.microsoft.com/office/powerpoint/2010/main" val="31199972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461010" cy="4382729"/>
          </a:xfrm>
        </p:spPr>
        <p:txBody>
          <a:bodyPr/>
          <a:lstStyle/>
          <a:p>
            <a:pPr marL="0" indent="0">
              <a:buNone/>
            </a:pPr>
            <a:r>
              <a:rPr lang="en-US" b="1" dirty="0">
                <a:solidFill>
                  <a:srgbClr val="0000CC"/>
                </a:solidFill>
                <a:latin typeface="Rockwell" panose="02060603020205020403" pitchFamily="18" charset="0"/>
              </a:rPr>
              <a:t>d</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r>
              <a:rPr lang="en-US" b="1" dirty="0" smtClean="0">
                <a:solidFill>
                  <a:srgbClr val="0000CC"/>
                </a:solidFill>
                <a:latin typeface="Rockwell" panose="02060603020205020403" pitchFamily="18" charset="0"/>
              </a:rPr>
              <a:t> (</a:t>
            </a:r>
            <a:r>
              <a:rPr lang="en-US" b="1" dirty="0" smtClean="0">
                <a:latin typeface="Rockwell" panose="02060603020205020403" pitchFamily="18" charset="0"/>
              </a:rPr>
              <a:t>System </a:t>
            </a:r>
            <a:r>
              <a:rPr lang="en-US" b="1" dirty="0">
                <a:latin typeface="Rockwell" panose="02060603020205020403" pitchFamily="18" charset="0"/>
              </a:rPr>
              <a:t>Security</a:t>
            </a:r>
            <a:r>
              <a:rPr lang="en-US" b="1" dirty="0" smtClean="0">
                <a:solidFill>
                  <a:srgbClr val="0000CC"/>
                </a:solidFill>
                <a:latin typeface="Rockwell" panose="02060603020205020403" pitchFamily="18" charset="0"/>
              </a:rPr>
              <a:t>)</a:t>
            </a:r>
          </a:p>
          <a:p>
            <a:pPr marL="0" indent="0">
              <a:buNone/>
            </a:pPr>
            <a:r>
              <a:rPr lang="vi-VN" dirty="0">
                <a:solidFill>
                  <a:srgbClr val="0000CC"/>
                </a:solidFill>
                <a:latin typeface="Rockwell" panose="02060603020205020403" pitchFamily="18" charset="0"/>
              </a:rPr>
              <a:t>Biện pháp:</a:t>
            </a:r>
          </a:p>
          <a:p>
            <a:pPr lvl="1"/>
            <a:r>
              <a:rPr lang="vi-VN" dirty="0">
                <a:solidFill>
                  <a:srgbClr val="0000CC"/>
                </a:solidFill>
                <a:latin typeface="Rockwell" panose="02060603020205020403" pitchFamily="18" charset="0"/>
              </a:rPr>
              <a:t>Cấu hình an toàn cho hệ điều hành</a:t>
            </a:r>
          </a:p>
          <a:p>
            <a:pPr lvl="1"/>
            <a:r>
              <a:rPr lang="vi-VN" dirty="0">
                <a:solidFill>
                  <a:srgbClr val="0000CC"/>
                </a:solidFill>
                <a:latin typeface="Rockwell" panose="02060603020205020403" pitchFamily="18" charset="0"/>
              </a:rPr>
              <a:t>Tường lửa (Firewall), IDS/IPS; Cập nhật bản vá hệ thống</a:t>
            </a:r>
          </a:p>
          <a:p>
            <a:pPr lvl="1"/>
            <a:r>
              <a:rPr lang="vi-VN" dirty="0">
                <a:solidFill>
                  <a:srgbClr val="0000CC"/>
                </a:solidFill>
                <a:latin typeface="Rockwell" panose="02060603020205020403" pitchFamily="18" charset="0"/>
              </a:rPr>
              <a:t>Phân quyền người dùng, chính sách mật khẩu</a:t>
            </a:r>
          </a:p>
          <a:p>
            <a:pPr lvl="1"/>
            <a:r>
              <a:rPr lang="vi-VN" dirty="0">
                <a:solidFill>
                  <a:srgbClr val="0000CC"/>
                </a:solidFill>
                <a:latin typeface="Rockwell" panose="02060603020205020403" pitchFamily="18" charset="0"/>
              </a:rPr>
              <a:t>Sao lưu và phục hồi dữ liệu (Backup &amp; Recovery)</a:t>
            </a:r>
          </a:p>
          <a:p>
            <a:pPr marL="0" indent="0">
              <a:buNone/>
            </a:pPr>
            <a:r>
              <a:rPr lang="vi-VN" dirty="0" smtClean="0">
                <a:solidFill>
                  <a:srgbClr val="0000CC"/>
                </a:solidFill>
                <a:latin typeface="Rockwell" panose="02060603020205020403" pitchFamily="18" charset="0"/>
              </a:rPr>
              <a:t>Ví </a:t>
            </a:r>
            <a:r>
              <a:rPr lang="vi-VN" dirty="0">
                <a:solidFill>
                  <a:srgbClr val="0000CC"/>
                </a:solidFill>
                <a:latin typeface="Rockwell" panose="02060603020205020403" pitchFamily="18" charset="0"/>
              </a:rPr>
              <a:t>dụ:</a:t>
            </a:r>
          </a:p>
          <a:p>
            <a:pPr lvl="1"/>
            <a:r>
              <a:rPr lang="vi-VN" dirty="0">
                <a:solidFill>
                  <a:srgbClr val="0000CC"/>
                </a:solidFill>
                <a:latin typeface="Rockwell" panose="02060603020205020403" pitchFamily="18" charset="0"/>
              </a:rPr>
              <a:t>Một máy chủ web phải được bảo vệ bằng firewall, IDS/IPS, cập nhật hệ điều hành và phân quyền truy cập hợp lý</a:t>
            </a:r>
            <a:r>
              <a:rPr lang="vi-VN" dirty="0" smtClean="0">
                <a:solidFill>
                  <a:srgbClr val="0000CC"/>
                </a:solidFill>
                <a:latin typeface="Rockwell" panose="02060603020205020403" pitchFamily="18" charset="0"/>
              </a:rPr>
              <a:t>.</a:t>
            </a:r>
            <a:endParaRPr lang="en-US" dirty="0" smtClean="0">
              <a:solidFill>
                <a:srgbClr val="0000CC"/>
              </a:solidFill>
              <a:latin typeface="Rockwell" panose="02060603020205020403" pitchFamily="18" charset="0"/>
            </a:endParaRPr>
          </a:p>
        </p:txBody>
      </p:sp>
    </p:spTree>
    <p:extLst>
      <p:ext uri="{BB962C8B-B14F-4D97-AF65-F5344CB8AC3E}">
        <p14:creationId xmlns:p14="http://schemas.microsoft.com/office/powerpoint/2010/main" val="2453702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0556597"/>
              </p:ext>
            </p:extLst>
          </p:nvPr>
        </p:nvGraphicFramePr>
        <p:xfrm>
          <a:off x="1371598" y="1419366"/>
          <a:ext cx="10242645" cy="3084394"/>
        </p:xfrm>
        <a:graphic>
          <a:graphicData uri="http://schemas.openxmlformats.org/drawingml/2006/table">
            <a:tbl>
              <a:tblPr>
                <a:tableStyleId>{35758FB7-9AC5-4552-8A53-C91805E547FA}</a:tableStyleId>
              </a:tblPr>
              <a:tblGrid>
                <a:gridCol w="2490718">
                  <a:extLst>
                    <a:ext uri="{9D8B030D-6E8A-4147-A177-3AD203B41FA5}">
                      <a16:colId xmlns:a16="http://schemas.microsoft.com/office/drawing/2014/main" val="388433516"/>
                    </a:ext>
                  </a:extLst>
                </a:gridCol>
                <a:gridCol w="4337712">
                  <a:extLst>
                    <a:ext uri="{9D8B030D-6E8A-4147-A177-3AD203B41FA5}">
                      <a16:colId xmlns:a16="http://schemas.microsoft.com/office/drawing/2014/main" val="686406161"/>
                    </a:ext>
                  </a:extLst>
                </a:gridCol>
                <a:gridCol w="3414215">
                  <a:extLst>
                    <a:ext uri="{9D8B030D-6E8A-4147-A177-3AD203B41FA5}">
                      <a16:colId xmlns:a16="http://schemas.microsoft.com/office/drawing/2014/main" val="236917009"/>
                    </a:ext>
                  </a:extLst>
                </a:gridCol>
              </a:tblGrid>
              <a:tr h="744262">
                <a:tc>
                  <a:txBody>
                    <a:bodyPr/>
                    <a:lstStyle/>
                    <a:p>
                      <a:pPr algn="ctr" defTabSz="914400" rtl="0" eaLnBrk="1" latinLnBrk="0" hangingPunct="1">
                        <a:lnSpc>
                          <a:spcPct val="89000"/>
                        </a:lnSpc>
                        <a:spcBef>
                          <a:spcPct val="0"/>
                        </a:spcBef>
                        <a:buNone/>
                      </a:pPr>
                      <a:r>
                        <a:rPr lang="en-US" sz="2000" b="1" kern="1200" baseline="0" dirty="0" err="1">
                          <a:solidFill>
                            <a:srgbClr val="0000CC"/>
                          </a:solidFill>
                          <a:latin typeface="Rockwell" panose="02060603020205020403" pitchFamily="18" charset="0"/>
                          <a:ea typeface="+mj-ea"/>
                          <a:cs typeface="+mj-cs"/>
                        </a:rPr>
                        <a:t>Tiêu</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chí</a:t>
                      </a:r>
                      <a:endParaRPr lang="en-US" sz="2000" b="1" kern="1200" baseline="0" dirty="0">
                        <a:solidFill>
                          <a:srgbClr val="0000CC"/>
                        </a:solidFill>
                        <a:latin typeface="Rockwell" panose="02060603020205020403" pitchFamily="18" charset="0"/>
                        <a:ea typeface="+mj-ea"/>
                        <a:cs typeface="+mj-cs"/>
                      </a:endParaRPr>
                    </a:p>
                  </a:txBody>
                  <a:tcPr anchor="ctr"/>
                </a:tc>
                <a:tc>
                  <a:txBody>
                    <a:bodyPr/>
                    <a:lstStyle/>
                    <a:p>
                      <a:pPr algn="ctr" defTabSz="914400" rtl="0" eaLnBrk="1" latinLnBrk="0" hangingPunct="1">
                        <a:lnSpc>
                          <a:spcPct val="89000"/>
                        </a:lnSpc>
                        <a:spcBef>
                          <a:spcPct val="0"/>
                        </a:spcBef>
                        <a:buNone/>
                      </a:pPr>
                      <a:r>
                        <a:rPr lang="en-US" sz="2000" b="1" kern="1200" baseline="0" dirty="0" err="1">
                          <a:solidFill>
                            <a:srgbClr val="0000CC"/>
                          </a:solidFill>
                          <a:latin typeface="Rockwell" panose="02060603020205020403" pitchFamily="18" charset="0"/>
                          <a:ea typeface="+mj-ea"/>
                          <a:cs typeface="+mj-cs"/>
                        </a:rPr>
                        <a:t>Bảo</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mật</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ứng</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dụng</a:t>
                      </a:r>
                      <a:r>
                        <a:rPr lang="en-US" sz="2000" b="1" kern="1200" baseline="0" dirty="0">
                          <a:solidFill>
                            <a:srgbClr val="0000CC"/>
                          </a:solidFill>
                          <a:latin typeface="Rockwell" panose="02060603020205020403" pitchFamily="18" charset="0"/>
                          <a:ea typeface="+mj-ea"/>
                          <a:cs typeface="+mj-cs"/>
                        </a:rPr>
                        <a:t> </a:t>
                      </a:r>
                      <a:r>
                        <a:rPr lang="en-US" sz="2000" b="1" kern="1200" baseline="0" dirty="0" smtClean="0">
                          <a:solidFill>
                            <a:srgbClr val="0000CC"/>
                          </a:solidFill>
                          <a:latin typeface="Rockwell" panose="02060603020205020403" pitchFamily="18" charset="0"/>
                          <a:ea typeface="+mj-ea"/>
                          <a:cs typeface="+mj-cs"/>
                        </a:rPr>
                        <a:t/>
                      </a:r>
                      <a:br>
                        <a:rPr lang="en-US" sz="2000" b="1" kern="1200" baseline="0" dirty="0" smtClean="0">
                          <a:solidFill>
                            <a:srgbClr val="0000CC"/>
                          </a:solidFill>
                          <a:latin typeface="Rockwell" panose="02060603020205020403" pitchFamily="18" charset="0"/>
                          <a:ea typeface="+mj-ea"/>
                          <a:cs typeface="+mj-cs"/>
                        </a:rPr>
                      </a:br>
                      <a:r>
                        <a:rPr lang="en-US" sz="2000" b="1" kern="1200" baseline="0" dirty="0" smtClean="0">
                          <a:solidFill>
                            <a:srgbClr val="0000CC"/>
                          </a:solidFill>
                          <a:latin typeface="Rockwell" panose="02060603020205020403" pitchFamily="18" charset="0"/>
                          <a:ea typeface="+mj-ea"/>
                          <a:cs typeface="+mj-cs"/>
                        </a:rPr>
                        <a:t>(</a:t>
                      </a:r>
                      <a:r>
                        <a:rPr lang="en-US" sz="2000" b="1" kern="1200" baseline="0" dirty="0">
                          <a:solidFill>
                            <a:srgbClr val="0000CC"/>
                          </a:solidFill>
                          <a:latin typeface="Rockwell" panose="02060603020205020403" pitchFamily="18" charset="0"/>
                          <a:ea typeface="+mj-ea"/>
                          <a:cs typeface="+mj-cs"/>
                        </a:rPr>
                        <a:t>Application Security)</a:t>
                      </a:r>
                    </a:p>
                  </a:txBody>
                  <a:tcPr anchor="ctr"/>
                </a:tc>
                <a:tc>
                  <a:txBody>
                    <a:bodyPr/>
                    <a:lstStyle/>
                    <a:p>
                      <a:pPr algn="ctr" defTabSz="914400" rtl="0" eaLnBrk="1" latinLnBrk="0" hangingPunct="1">
                        <a:lnSpc>
                          <a:spcPct val="89000"/>
                        </a:lnSpc>
                        <a:spcBef>
                          <a:spcPct val="0"/>
                        </a:spcBef>
                        <a:buNone/>
                      </a:pPr>
                      <a:r>
                        <a:rPr lang="en-US" sz="2000" b="1" kern="1200" baseline="0" dirty="0" err="1">
                          <a:solidFill>
                            <a:srgbClr val="0000CC"/>
                          </a:solidFill>
                          <a:latin typeface="Rockwell" panose="02060603020205020403" pitchFamily="18" charset="0"/>
                          <a:ea typeface="+mj-ea"/>
                          <a:cs typeface="+mj-cs"/>
                        </a:rPr>
                        <a:t>Bảo</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mật</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hệ</a:t>
                      </a:r>
                      <a:r>
                        <a:rPr lang="en-US" sz="2000" b="1" kern="1200" baseline="0" dirty="0">
                          <a:solidFill>
                            <a:srgbClr val="0000CC"/>
                          </a:solidFill>
                          <a:latin typeface="Rockwell" panose="02060603020205020403" pitchFamily="18" charset="0"/>
                          <a:ea typeface="+mj-ea"/>
                          <a:cs typeface="+mj-cs"/>
                        </a:rPr>
                        <a:t> </a:t>
                      </a:r>
                      <a:r>
                        <a:rPr lang="en-US" sz="2000" b="1" kern="1200" baseline="0" dirty="0" err="1">
                          <a:solidFill>
                            <a:srgbClr val="0000CC"/>
                          </a:solidFill>
                          <a:latin typeface="Rockwell" panose="02060603020205020403" pitchFamily="18" charset="0"/>
                          <a:ea typeface="+mj-ea"/>
                          <a:cs typeface="+mj-cs"/>
                        </a:rPr>
                        <a:t>thống</a:t>
                      </a:r>
                      <a:r>
                        <a:rPr lang="en-US" sz="2000" b="1" kern="1200" baseline="0" dirty="0">
                          <a:solidFill>
                            <a:srgbClr val="0000CC"/>
                          </a:solidFill>
                          <a:latin typeface="Rockwell" panose="02060603020205020403" pitchFamily="18" charset="0"/>
                          <a:ea typeface="+mj-ea"/>
                          <a:cs typeface="+mj-cs"/>
                        </a:rPr>
                        <a:t> </a:t>
                      </a:r>
                      <a:r>
                        <a:rPr lang="en-US" sz="2000" b="1" kern="1200" baseline="0" dirty="0" smtClean="0">
                          <a:solidFill>
                            <a:srgbClr val="0000CC"/>
                          </a:solidFill>
                          <a:latin typeface="Rockwell" panose="02060603020205020403" pitchFamily="18" charset="0"/>
                          <a:ea typeface="+mj-ea"/>
                          <a:cs typeface="+mj-cs"/>
                        </a:rPr>
                        <a:t/>
                      </a:r>
                      <a:br>
                        <a:rPr lang="en-US" sz="2000" b="1" kern="1200" baseline="0" dirty="0" smtClean="0">
                          <a:solidFill>
                            <a:srgbClr val="0000CC"/>
                          </a:solidFill>
                          <a:latin typeface="Rockwell" panose="02060603020205020403" pitchFamily="18" charset="0"/>
                          <a:ea typeface="+mj-ea"/>
                          <a:cs typeface="+mj-cs"/>
                        </a:rPr>
                      </a:br>
                      <a:r>
                        <a:rPr lang="en-US" sz="2000" b="1" kern="1200" baseline="0" dirty="0" smtClean="0">
                          <a:solidFill>
                            <a:srgbClr val="0000CC"/>
                          </a:solidFill>
                          <a:latin typeface="Rockwell" panose="02060603020205020403" pitchFamily="18" charset="0"/>
                          <a:ea typeface="+mj-ea"/>
                          <a:cs typeface="+mj-cs"/>
                        </a:rPr>
                        <a:t>(</a:t>
                      </a:r>
                      <a:r>
                        <a:rPr lang="en-US" sz="2000" b="1" kern="1200" baseline="0" dirty="0">
                          <a:solidFill>
                            <a:srgbClr val="0000CC"/>
                          </a:solidFill>
                          <a:latin typeface="Rockwell" panose="02060603020205020403" pitchFamily="18" charset="0"/>
                          <a:ea typeface="+mj-ea"/>
                          <a:cs typeface="+mj-cs"/>
                        </a:rPr>
                        <a:t>System Security)</a:t>
                      </a:r>
                    </a:p>
                  </a:txBody>
                  <a:tcPr anchor="ctr"/>
                </a:tc>
                <a:extLst>
                  <a:ext uri="{0D108BD9-81ED-4DB2-BD59-A6C34878D82A}">
                    <a16:rowId xmlns:a16="http://schemas.microsoft.com/office/drawing/2014/main" val="147392851"/>
                  </a:ext>
                </a:extLst>
              </a:tr>
              <a:tr h="744262">
                <a:tc>
                  <a:txBody>
                    <a:bodyPr/>
                    <a:lstStyle/>
                    <a:p>
                      <a:pPr algn="ctr"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Mức</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độ</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Ứng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dụng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phần</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mềm</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dịch</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vụ</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cụ</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thể</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a:solidFill>
                            <a:srgbClr val="0000CC"/>
                          </a:solidFill>
                          <a:latin typeface="Rockwell" panose="02060603020205020403" pitchFamily="18" charset="0"/>
                          <a:ea typeface="+mj-ea"/>
                          <a:cs typeface="+mj-cs"/>
                        </a:rPr>
                        <a:t>Toàn bộ hệ điều hành, hạ tầng</a:t>
                      </a:r>
                    </a:p>
                  </a:txBody>
                  <a:tcPr anchor="ctr"/>
                </a:tc>
                <a:extLst>
                  <a:ext uri="{0D108BD9-81ED-4DB2-BD59-A6C34878D82A}">
                    <a16:rowId xmlns:a16="http://schemas.microsoft.com/office/drawing/2014/main" val="14181544"/>
                  </a:ext>
                </a:extLst>
              </a:tr>
              <a:tr h="744262">
                <a:tc>
                  <a:txBody>
                    <a:bodyPr/>
                    <a:lstStyle/>
                    <a:p>
                      <a:pPr algn="ctr"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Mục</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tiêu</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chính</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Chống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khai</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thác</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lỗ</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hổng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ứng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dụng</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Ngăn</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truy</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cập</a:t>
                      </a:r>
                      <a:r>
                        <a:rPr lang="en-US" sz="2000" b="0" kern="1200" baseline="0" dirty="0">
                          <a:solidFill>
                            <a:srgbClr val="0000CC"/>
                          </a:solidFill>
                          <a:latin typeface="Rockwell" panose="02060603020205020403" pitchFamily="18" charset="0"/>
                          <a:ea typeface="+mj-ea"/>
                          <a:cs typeface="+mj-cs"/>
                        </a:rPr>
                        <a:t> &amp; </a:t>
                      </a:r>
                      <a:r>
                        <a:rPr lang="en-US" sz="2000" b="0" kern="1200" baseline="0" dirty="0" err="1">
                          <a:solidFill>
                            <a:srgbClr val="0000CC"/>
                          </a:solidFill>
                          <a:latin typeface="Rockwell" panose="02060603020205020403" pitchFamily="18" charset="0"/>
                          <a:ea typeface="+mj-ea"/>
                          <a:cs typeface="+mj-cs"/>
                        </a:rPr>
                        <a:t>tấn</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công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hệ</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thống</a:t>
                      </a:r>
                      <a:endParaRPr lang="en-US" sz="2000" b="0"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1727126615"/>
                  </a:ext>
                </a:extLst>
              </a:tr>
              <a:tr h="425804">
                <a:tc>
                  <a:txBody>
                    <a:bodyPr/>
                    <a:lstStyle/>
                    <a:p>
                      <a:pPr algn="ctr"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Ví</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dụ</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tấn</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công</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a:solidFill>
                            <a:srgbClr val="0000CC"/>
                          </a:solidFill>
                          <a:latin typeface="Rockwell" panose="02060603020205020403" pitchFamily="18" charset="0"/>
                          <a:ea typeface="+mj-ea"/>
                          <a:cs typeface="+mj-cs"/>
                        </a:rPr>
                        <a:t>SQL Injection, </a:t>
                      </a:r>
                      <a:r>
                        <a:rPr lang="en-US" sz="2000" b="0" kern="1200" baseline="0" dirty="0" err="1">
                          <a:solidFill>
                            <a:srgbClr val="0000CC"/>
                          </a:solidFill>
                          <a:latin typeface="Rockwell" panose="02060603020205020403" pitchFamily="18" charset="0"/>
                          <a:ea typeface="+mj-ea"/>
                          <a:cs typeface="+mj-cs"/>
                        </a:rPr>
                        <a:t>XSS</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CSRF</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a:solidFill>
                            <a:srgbClr val="0000CC"/>
                          </a:solidFill>
                          <a:latin typeface="Rockwell" panose="02060603020205020403" pitchFamily="18" charset="0"/>
                          <a:ea typeface="+mj-ea"/>
                          <a:cs typeface="+mj-cs"/>
                        </a:rPr>
                        <a:t>Malware, </a:t>
                      </a:r>
                      <a:r>
                        <a:rPr lang="en-US" sz="2000" b="0" kern="1200" baseline="0" dirty="0" err="1">
                          <a:solidFill>
                            <a:srgbClr val="0000CC"/>
                          </a:solidFill>
                          <a:latin typeface="Rockwell" panose="02060603020205020403" pitchFamily="18" charset="0"/>
                          <a:ea typeface="+mj-ea"/>
                          <a:cs typeface="+mj-cs"/>
                        </a:rPr>
                        <a:t>DDoS</a:t>
                      </a:r>
                      <a:r>
                        <a:rPr lang="en-US" sz="2000" b="0" kern="1200" baseline="0" dirty="0">
                          <a:solidFill>
                            <a:srgbClr val="0000CC"/>
                          </a:solidFill>
                          <a:latin typeface="Rockwell" panose="02060603020205020403" pitchFamily="18" charset="0"/>
                          <a:ea typeface="+mj-ea"/>
                          <a:cs typeface="+mj-cs"/>
                        </a:rPr>
                        <a:t>, rootkit</a:t>
                      </a:r>
                    </a:p>
                  </a:txBody>
                  <a:tcPr anchor="ctr"/>
                </a:tc>
                <a:extLst>
                  <a:ext uri="{0D108BD9-81ED-4DB2-BD59-A6C34878D82A}">
                    <a16:rowId xmlns:a16="http://schemas.microsoft.com/office/drawing/2014/main" val="2712142383"/>
                  </a:ext>
                </a:extLst>
              </a:tr>
              <a:tr h="425804">
                <a:tc>
                  <a:txBody>
                    <a:bodyPr/>
                    <a:lstStyle/>
                    <a:p>
                      <a:pPr algn="ctr"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Công</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cụ</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điển</a:t>
                      </a:r>
                      <a:r>
                        <a:rPr lang="en-US" sz="2000" b="0" kern="1200" baseline="0" dirty="0">
                          <a:solidFill>
                            <a:srgbClr val="0000CC"/>
                          </a:solidFill>
                          <a:latin typeface="Rockwell" panose="02060603020205020403" pitchFamily="18" charset="0"/>
                          <a:ea typeface="+mj-ea"/>
                          <a:cs typeface="+mj-cs"/>
                        </a:rPr>
                        <a:t> </a:t>
                      </a:r>
                      <a:r>
                        <a:rPr lang="en-US" sz="2000" b="0" kern="1200" baseline="0" dirty="0" err="1">
                          <a:solidFill>
                            <a:srgbClr val="0000CC"/>
                          </a:solidFill>
                          <a:latin typeface="Rockwell" panose="02060603020205020403" pitchFamily="18" charset="0"/>
                          <a:ea typeface="+mj-ea"/>
                          <a:cs typeface="+mj-cs"/>
                        </a:rPr>
                        <a:t>hình</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err="1">
                          <a:solidFill>
                            <a:srgbClr val="0000CC"/>
                          </a:solidFill>
                          <a:latin typeface="Rockwell" panose="02060603020205020403" pitchFamily="18" charset="0"/>
                          <a:ea typeface="+mj-ea"/>
                          <a:cs typeface="+mj-cs"/>
                        </a:rPr>
                        <a:t>OWASP</a:t>
                      </a:r>
                      <a:r>
                        <a:rPr lang="en-US" sz="2000" b="0" kern="1200" baseline="0" dirty="0">
                          <a:solidFill>
                            <a:srgbClr val="0000CC"/>
                          </a:solidFill>
                          <a:latin typeface="Rockwell" panose="02060603020205020403" pitchFamily="18" charset="0"/>
                          <a:ea typeface="+mj-ea"/>
                          <a:cs typeface="+mj-cs"/>
                        </a:rPr>
                        <a:t> ZAP, Burp Suite, </a:t>
                      </a:r>
                      <a:r>
                        <a:rPr lang="en-US" sz="2000" b="0" kern="1200" baseline="0" dirty="0" err="1">
                          <a:solidFill>
                            <a:srgbClr val="0000CC"/>
                          </a:solidFill>
                          <a:latin typeface="Rockwell" panose="02060603020205020403" pitchFamily="18" charset="0"/>
                          <a:ea typeface="+mj-ea"/>
                          <a:cs typeface="+mj-cs"/>
                        </a:rPr>
                        <a:t>SonarQube</a:t>
                      </a:r>
                      <a:endParaRPr lang="en-US" sz="2000" b="0" kern="1200" baseline="0" dirty="0">
                        <a:solidFill>
                          <a:srgbClr val="0000CC"/>
                        </a:solidFill>
                        <a:latin typeface="Rockwell" panose="02060603020205020403" pitchFamily="18" charset="0"/>
                        <a:ea typeface="+mj-ea"/>
                        <a:cs typeface="+mj-cs"/>
                      </a:endParaRPr>
                    </a:p>
                  </a:txBody>
                  <a:tcPr anchor="ctr"/>
                </a:tc>
                <a:tc>
                  <a:txBody>
                    <a:bodyPr/>
                    <a:lstStyle/>
                    <a:p>
                      <a:pPr algn="l" defTabSz="914400" rtl="0" eaLnBrk="1" latinLnBrk="0" hangingPunct="1">
                        <a:lnSpc>
                          <a:spcPct val="89000"/>
                        </a:lnSpc>
                        <a:spcBef>
                          <a:spcPct val="0"/>
                        </a:spcBef>
                        <a:buNone/>
                      </a:pPr>
                      <a:r>
                        <a:rPr lang="en-US" sz="2000" b="0" kern="1200" baseline="0" dirty="0">
                          <a:solidFill>
                            <a:srgbClr val="0000CC"/>
                          </a:solidFill>
                          <a:latin typeface="Rockwell" panose="02060603020205020403" pitchFamily="18" charset="0"/>
                          <a:ea typeface="+mj-ea"/>
                          <a:cs typeface="+mj-cs"/>
                        </a:rPr>
                        <a:t>Firewall, IDS/IPS, </a:t>
                      </a:r>
                      <a:r>
                        <a:rPr lang="en-US" sz="2000" b="0" kern="1200" baseline="0" dirty="0" err="1">
                          <a:solidFill>
                            <a:srgbClr val="0000CC"/>
                          </a:solidFill>
                          <a:latin typeface="Rockwell" panose="02060603020205020403" pitchFamily="18" charset="0"/>
                          <a:ea typeface="+mj-ea"/>
                          <a:cs typeface="+mj-cs"/>
                        </a:rPr>
                        <a:t>SIEM</a:t>
                      </a:r>
                      <a:endParaRPr lang="en-US" sz="2000" b="0"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3477142272"/>
                  </a:ext>
                </a:extLst>
              </a:tr>
            </a:tbl>
          </a:graphicData>
        </a:graphic>
      </p:graphicFrame>
      <p:sp>
        <p:nvSpPr>
          <p:cNvPr id="5" name="Rectangle 4"/>
          <p:cNvSpPr/>
          <p:nvPr/>
        </p:nvSpPr>
        <p:spPr>
          <a:xfrm>
            <a:off x="1978925" y="4782487"/>
            <a:ext cx="9034818" cy="1292662"/>
          </a:xfrm>
          <a:prstGeom prst="rect">
            <a:avLst/>
          </a:prstGeom>
        </p:spPr>
        <p:txBody>
          <a:bodyPr wrap="square">
            <a:spAutoFit/>
          </a:bodyPr>
          <a:lstStyle/>
          <a:p>
            <a:pPr marL="0" lvl="1" indent="0" algn="just">
              <a:spcBef>
                <a:spcPts val="1200"/>
              </a:spcBef>
              <a:buNone/>
            </a:pPr>
            <a:r>
              <a:rPr lang="en-US" sz="2600" i="1" dirty="0" err="1" smtClean="0">
                <a:solidFill>
                  <a:srgbClr val="CC00FF"/>
                </a:solidFill>
                <a:latin typeface="Rockwell" panose="02060603020205020403" pitchFamily="18" charset="0"/>
              </a:rPr>
              <a:t>Dễ</a:t>
            </a:r>
            <a:r>
              <a:rPr lang="en-US" sz="2600" i="1" dirty="0" smtClean="0">
                <a:solidFill>
                  <a:srgbClr val="CC00FF"/>
                </a:solidFill>
                <a:latin typeface="Rockwell" panose="02060603020205020403" pitchFamily="18" charset="0"/>
              </a:rPr>
              <a:t> </a:t>
            </a:r>
            <a:r>
              <a:rPr lang="en-US" sz="2600" i="1" dirty="0" err="1" smtClean="0">
                <a:solidFill>
                  <a:srgbClr val="CC00FF"/>
                </a:solidFill>
                <a:latin typeface="Rockwell" panose="02060603020205020403" pitchFamily="18" charset="0"/>
              </a:rPr>
              <a:t>thấy</a:t>
            </a:r>
            <a:r>
              <a:rPr lang="en-US" sz="2600" i="1" dirty="0" smtClean="0">
                <a:solidFill>
                  <a:srgbClr val="CC00FF"/>
                </a:solidFill>
                <a:latin typeface="Rockwell" panose="02060603020205020403" pitchFamily="18" charset="0"/>
              </a:rPr>
              <a:t>, </a:t>
            </a:r>
            <a:r>
              <a:rPr lang="en-US" sz="2600" i="1" dirty="0" err="1" smtClean="0">
                <a:solidFill>
                  <a:srgbClr val="CC00FF"/>
                </a:solidFill>
                <a:latin typeface="Rockwell" panose="02060603020205020403" pitchFamily="18" charset="0"/>
              </a:rPr>
              <a:t>bảo</a:t>
            </a:r>
            <a:r>
              <a:rPr lang="en-US" sz="2600" i="1" dirty="0" smtClean="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mật</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ứng</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dụng</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là</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bảo</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vệ</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phần</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mềm</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khỏi</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lỗ</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hổng</a:t>
            </a:r>
            <a:r>
              <a:rPr lang="en-US" sz="2600" i="1" dirty="0">
                <a:solidFill>
                  <a:srgbClr val="CC00FF"/>
                </a:solidFill>
                <a:latin typeface="Rockwell" panose="02060603020205020403" pitchFamily="18" charset="0"/>
              </a:rPr>
              <a:t> logic &amp; </a:t>
            </a:r>
            <a:r>
              <a:rPr lang="en-US" sz="2600" i="1" dirty="0" err="1">
                <a:solidFill>
                  <a:srgbClr val="CC00FF"/>
                </a:solidFill>
                <a:latin typeface="Rockwell" panose="02060603020205020403" pitchFamily="18" charset="0"/>
              </a:rPr>
              <a:t>lập</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trình</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Trong</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khi</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đó</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Bảo</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mật</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hệ</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thống</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là</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bảo</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vệ</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máy</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chủ</a:t>
            </a:r>
            <a:r>
              <a:rPr lang="en-US" sz="2600" i="1" dirty="0">
                <a:solidFill>
                  <a:srgbClr val="CC00FF"/>
                </a:solidFill>
                <a:latin typeface="Rockwell" panose="02060603020205020403" pitchFamily="18" charset="0"/>
              </a:rPr>
              <a:t>, OS, </a:t>
            </a:r>
            <a:r>
              <a:rPr lang="en-US" sz="2600" i="1" dirty="0" err="1">
                <a:solidFill>
                  <a:srgbClr val="CC00FF"/>
                </a:solidFill>
                <a:latin typeface="Rockwell" panose="02060603020205020403" pitchFamily="18" charset="0"/>
              </a:rPr>
              <a:t>mạng</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hạ</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tầng</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vật</a:t>
            </a:r>
            <a:r>
              <a:rPr lang="en-US" sz="2600" i="1" dirty="0">
                <a:solidFill>
                  <a:srgbClr val="CC00FF"/>
                </a:solidFill>
                <a:latin typeface="Rockwell" panose="02060603020205020403" pitchFamily="18" charset="0"/>
              </a:rPr>
              <a:t> </a:t>
            </a:r>
            <a:r>
              <a:rPr lang="en-US" sz="2600" i="1" dirty="0" err="1">
                <a:solidFill>
                  <a:srgbClr val="CC00FF"/>
                </a:solidFill>
                <a:latin typeface="Rockwell" panose="02060603020205020403" pitchFamily="18" charset="0"/>
              </a:rPr>
              <a:t>lý</a:t>
            </a:r>
            <a:r>
              <a:rPr lang="en-US" sz="2600" i="1" dirty="0">
                <a:solidFill>
                  <a:srgbClr val="CC00FF"/>
                </a:solidFill>
                <a:latin typeface="Rockwell" panose="02060603020205020403" pitchFamily="18" charset="0"/>
              </a:rPr>
              <a:t>.</a:t>
            </a:r>
          </a:p>
        </p:txBody>
      </p:sp>
    </p:spTree>
    <p:extLst>
      <p:ext uri="{BB962C8B-B14F-4D97-AF65-F5344CB8AC3E}">
        <p14:creationId xmlns:p14="http://schemas.microsoft.com/office/powerpoint/2010/main" val="42857242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19816" cy="4382729"/>
          </a:xfrm>
        </p:spPr>
        <p:txBody>
          <a:bodyPr/>
          <a:lstStyle/>
          <a:p>
            <a:pPr marL="0" indent="0">
              <a:buNone/>
            </a:pPr>
            <a:r>
              <a:rPr lang="en-US" b="1" dirty="0" smtClean="0">
                <a:solidFill>
                  <a:srgbClr val="0000CC"/>
                </a:solidFill>
                <a:latin typeface="Rockwell" panose="02060603020205020403" pitchFamily="18" charset="0"/>
              </a:rPr>
              <a:t>e</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Quan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giữa</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và</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endParaRPr lang="en-US" b="1" dirty="0" smtClean="0">
              <a:solidFill>
                <a:srgbClr val="0000CC"/>
              </a:solidFill>
              <a:latin typeface="Rockwell" panose="02060603020205020403" pitchFamily="18" charset="0"/>
            </a:endParaRPr>
          </a:p>
          <a:p>
            <a:pPr marL="0" indent="0">
              <a:buNone/>
            </a:pPr>
            <a:r>
              <a:rPr lang="en-US" b="1" dirty="0" err="1" smtClean="0">
                <a:solidFill>
                  <a:srgbClr val="0000CC"/>
                </a:solidFill>
                <a:latin typeface="Rockwell" panose="02060603020205020403" pitchFamily="18" charset="0"/>
              </a:rPr>
              <a:t>e1</a:t>
            </a:r>
            <a:r>
              <a:rPr lang="vi-VN" b="1" dirty="0" smtClean="0">
                <a:solidFill>
                  <a:srgbClr val="0000CC"/>
                </a:solidFill>
                <a:latin typeface="Rockwell" panose="02060603020205020403" pitchFamily="18" charset="0"/>
              </a:rPr>
              <a:t>. </a:t>
            </a:r>
            <a:r>
              <a:rPr lang="vi-VN" b="1" dirty="0">
                <a:solidFill>
                  <a:srgbClr val="0000CC"/>
                </a:solidFill>
                <a:latin typeface="Rockwell" panose="02060603020205020403" pitchFamily="18" charset="0"/>
              </a:rPr>
              <a:t>Tính phụ thuộc lẫn nhau</a:t>
            </a:r>
          </a:p>
          <a:p>
            <a:r>
              <a:rPr lang="vi-VN" dirty="0">
                <a:solidFill>
                  <a:srgbClr val="0000CC"/>
                </a:solidFill>
                <a:latin typeface="Rockwell" panose="02060603020205020403" pitchFamily="18" charset="0"/>
              </a:rPr>
              <a:t>Ứng dụng chạy trên nền tảng hệ thống (OS, server, mạng).</a:t>
            </a:r>
          </a:p>
          <a:p>
            <a:r>
              <a:rPr lang="vi-VN" dirty="0">
                <a:solidFill>
                  <a:srgbClr val="0000CC"/>
                </a:solidFill>
                <a:latin typeface="Rockwell" panose="02060603020205020403" pitchFamily="18" charset="0"/>
              </a:rPr>
              <a:t>Nếu hệ thống bị xâm nhập, hacker có thể kiểm soát hoặc làm tê liệt ứng dụng.</a:t>
            </a:r>
          </a:p>
          <a:p>
            <a:r>
              <a:rPr lang="vi-VN" dirty="0">
                <a:solidFill>
                  <a:srgbClr val="0000CC"/>
                </a:solidFill>
                <a:latin typeface="Rockwell" panose="02060603020205020403" pitchFamily="18" charset="0"/>
              </a:rPr>
              <a:t>Ngược lại, nếu ứng dụng có lỗ hổng, hacker có thể dùng nó làm bàn đạp để xâm nhập hệ thống.</a:t>
            </a:r>
          </a:p>
          <a:p>
            <a:pPr marL="0" indent="0">
              <a:buNone/>
            </a:pPr>
            <a:r>
              <a:rPr lang="vi-VN" dirty="0">
                <a:solidFill>
                  <a:srgbClr val="0000CC"/>
                </a:solidFill>
                <a:latin typeface="Rockwell" panose="02060603020205020403" pitchFamily="18" charset="0"/>
              </a:rPr>
              <a:t>Ví dụ: SQL Injection trong ứng dụng web - truy cập database - leo thang đặc quyền - chiếm quyền root server.</a:t>
            </a:r>
            <a:endParaRPr lang="en-US" dirty="0" smtClean="0">
              <a:solidFill>
                <a:srgbClr val="0000CC"/>
              </a:solidFill>
              <a:latin typeface="Rockwell" panose="02060603020205020403" pitchFamily="18" charset="0"/>
            </a:endParaRPr>
          </a:p>
        </p:txBody>
      </p:sp>
    </p:spTree>
    <p:extLst>
      <p:ext uri="{BB962C8B-B14F-4D97-AF65-F5344CB8AC3E}">
        <p14:creationId xmlns:p14="http://schemas.microsoft.com/office/powerpoint/2010/main" val="27831178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19816" cy="4382729"/>
          </a:xfrm>
        </p:spPr>
        <p:txBody>
          <a:bodyPr/>
          <a:lstStyle/>
          <a:p>
            <a:pPr marL="0" indent="0">
              <a:buNone/>
            </a:pPr>
            <a:r>
              <a:rPr lang="en-US" b="1" dirty="0">
                <a:solidFill>
                  <a:srgbClr val="0000CC"/>
                </a:solidFill>
                <a:latin typeface="Rockwell" panose="02060603020205020403" pitchFamily="18" charset="0"/>
              </a:rPr>
              <a:t>e</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Quan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giữa</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và</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endParaRPr lang="en-US" b="1" dirty="0" smtClean="0">
              <a:solidFill>
                <a:srgbClr val="0000CC"/>
              </a:solidFill>
              <a:latin typeface="Rockwell" panose="02060603020205020403" pitchFamily="18" charset="0"/>
            </a:endParaRPr>
          </a:p>
          <a:p>
            <a:pPr marL="0" indent="0">
              <a:buNone/>
            </a:pPr>
            <a:r>
              <a:rPr lang="en-US" b="1" dirty="0" smtClean="0">
                <a:solidFill>
                  <a:srgbClr val="0000CC"/>
                </a:solidFill>
                <a:latin typeface="Rockwell" panose="02060603020205020403" pitchFamily="18" charset="0"/>
              </a:rPr>
              <a:t>e</a:t>
            </a:r>
            <a:r>
              <a:rPr lang="vi-VN" b="1" dirty="0" smtClean="0">
                <a:solidFill>
                  <a:srgbClr val="0000CC"/>
                </a:solidFill>
                <a:latin typeface="Rockwell" panose="02060603020205020403" pitchFamily="18" charset="0"/>
              </a:rPr>
              <a:t>2</a:t>
            </a:r>
            <a:r>
              <a:rPr lang="vi-VN" b="1" dirty="0">
                <a:solidFill>
                  <a:srgbClr val="0000CC"/>
                </a:solidFill>
                <a:latin typeface="Rockwell" panose="02060603020205020403" pitchFamily="18" charset="0"/>
              </a:rPr>
              <a:t>. Phạm vi bảo vệ khác nhau nhưng bổ sung cho nhau</a:t>
            </a:r>
          </a:p>
          <a:p>
            <a:r>
              <a:rPr lang="vi-VN" dirty="0">
                <a:solidFill>
                  <a:srgbClr val="0000CC"/>
                </a:solidFill>
                <a:latin typeface="Rockwell" panose="02060603020205020403" pitchFamily="18" charset="0"/>
              </a:rPr>
              <a:t>Bảo mật ứng dụng: </a:t>
            </a:r>
            <a:r>
              <a:rPr lang="en-US" dirty="0" smtClean="0">
                <a:solidFill>
                  <a:srgbClr val="0000CC"/>
                </a:solidFill>
                <a:latin typeface="Rockwell" panose="02060603020205020403" pitchFamily="18" charset="0"/>
              </a:rPr>
              <a:t>T</a:t>
            </a:r>
            <a:r>
              <a:rPr lang="vi-VN" dirty="0" smtClean="0">
                <a:solidFill>
                  <a:srgbClr val="0000CC"/>
                </a:solidFill>
                <a:latin typeface="Rockwell" panose="02060603020205020403" pitchFamily="18" charset="0"/>
              </a:rPr>
              <a:t>ập </a:t>
            </a:r>
            <a:r>
              <a:rPr lang="vi-VN" dirty="0">
                <a:solidFill>
                  <a:srgbClr val="0000CC"/>
                </a:solidFill>
                <a:latin typeface="Rockwell" panose="02060603020205020403" pitchFamily="18" charset="0"/>
              </a:rPr>
              <a:t>trung vào logic, mã nguồn, API, cơ sở dữ liệu, tương tác với người dùng.</a:t>
            </a:r>
          </a:p>
          <a:p>
            <a:r>
              <a:rPr lang="vi-VN" dirty="0">
                <a:solidFill>
                  <a:srgbClr val="0000CC"/>
                </a:solidFill>
                <a:latin typeface="Rockwell" panose="02060603020205020403" pitchFamily="18" charset="0"/>
              </a:rPr>
              <a:t>Bảo mật hệ thống: </a:t>
            </a:r>
            <a:r>
              <a:rPr lang="en-US" dirty="0" smtClean="0">
                <a:solidFill>
                  <a:srgbClr val="0000CC"/>
                </a:solidFill>
                <a:latin typeface="Rockwell" panose="02060603020205020403" pitchFamily="18" charset="0"/>
              </a:rPr>
              <a:t>T</a:t>
            </a:r>
            <a:r>
              <a:rPr lang="vi-VN" dirty="0" smtClean="0">
                <a:solidFill>
                  <a:srgbClr val="0000CC"/>
                </a:solidFill>
                <a:latin typeface="Rockwell" panose="02060603020205020403" pitchFamily="18" charset="0"/>
              </a:rPr>
              <a:t>ập </a:t>
            </a:r>
            <a:r>
              <a:rPr lang="vi-VN" dirty="0">
                <a:solidFill>
                  <a:srgbClr val="0000CC"/>
                </a:solidFill>
                <a:latin typeface="Rockwell" panose="02060603020205020403" pitchFamily="18" charset="0"/>
              </a:rPr>
              <a:t>trung vào OS, cấu hình mạng, phân quyền tài nguyên, giám sát hoạt động.</a:t>
            </a:r>
          </a:p>
          <a:p>
            <a:pPr marL="0" indent="0">
              <a:buNone/>
            </a:pPr>
            <a:r>
              <a:rPr lang="vi-VN" dirty="0">
                <a:solidFill>
                  <a:srgbClr val="0000CC"/>
                </a:solidFill>
                <a:latin typeface="Rockwell" panose="02060603020205020403" pitchFamily="18" charset="0"/>
              </a:rPr>
              <a:t>Xử lý 2 lớp khác nhau nhưng cùng hướng đến mục tiêu: Giữ an toàn cho dữ liệu và dịch vụ.</a:t>
            </a:r>
          </a:p>
        </p:txBody>
      </p:sp>
    </p:spTree>
    <p:extLst>
      <p:ext uri="{BB962C8B-B14F-4D97-AF65-F5344CB8AC3E}">
        <p14:creationId xmlns:p14="http://schemas.microsoft.com/office/powerpoint/2010/main" val="31011782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19816" cy="4382729"/>
          </a:xfrm>
        </p:spPr>
        <p:txBody>
          <a:bodyPr/>
          <a:lstStyle/>
          <a:p>
            <a:pPr marL="0" indent="0">
              <a:buNone/>
            </a:pPr>
            <a:r>
              <a:rPr lang="en-US" b="1" dirty="0">
                <a:solidFill>
                  <a:srgbClr val="0000CC"/>
                </a:solidFill>
                <a:latin typeface="Rockwell" panose="02060603020205020403" pitchFamily="18" charset="0"/>
              </a:rPr>
              <a:t>e</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Quan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giữa</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và</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endParaRPr lang="en-US" b="1" dirty="0" smtClean="0">
              <a:solidFill>
                <a:srgbClr val="0000CC"/>
              </a:solidFill>
              <a:latin typeface="Rockwell" panose="02060603020205020403" pitchFamily="18" charset="0"/>
            </a:endParaRPr>
          </a:p>
          <a:p>
            <a:pPr marL="0" indent="0">
              <a:buNone/>
            </a:pPr>
            <a:r>
              <a:rPr lang="en-US" b="1" dirty="0" err="1" smtClean="0">
                <a:solidFill>
                  <a:srgbClr val="0000CC"/>
                </a:solidFill>
                <a:latin typeface="Rockwell" panose="02060603020205020403" pitchFamily="18" charset="0"/>
              </a:rPr>
              <a:t>e3</a:t>
            </a:r>
            <a:r>
              <a:rPr lang="vi-VN" b="1" dirty="0">
                <a:solidFill>
                  <a:srgbClr val="0000CC"/>
                </a:solidFill>
                <a:latin typeface="Rockwell" panose="02060603020205020403" pitchFamily="18" charset="0"/>
              </a:rPr>
              <a:t>. </a:t>
            </a:r>
            <a:r>
              <a:rPr lang="vi-VN" b="1" dirty="0" smtClean="0">
                <a:solidFill>
                  <a:srgbClr val="0000CC"/>
                </a:solidFill>
                <a:latin typeface="Rockwell" panose="02060603020205020403" pitchFamily="18" charset="0"/>
              </a:rPr>
              <a:t>Nguyên </a:t>
            </a:r>
            <a:r>
              <a:rPr lang="vi-VN" b="1" dirty="0">
                <a:solidFill>
                  <a:srgbClr val="0000CC"/>
                </a:solidFill>
                <a:latin typeface="Rockwell" panose="02060603020205020403" pitchFamily="18" charset="0"/>
              </a:rPr>
              <a:t>tắc Defense in Depth (phòng thủ nhiều lớp)</a:t>
            </a:r>
          </a:p>
          <a:p>
            <a:r>
              <a:rPr lang="vi-VN" dirty="0">
                <a:solidFill>
                  <a:srgbClr val="0000CC"/>
                </a:solidFill>
                <a:latin typeface="Rockwell" panose="02060603020205020403" pitchFamily="18" charset="0"/>
              </a:rPr>
              <a:t>Nếu ứng dụng có lỗi nhưng hệ thống được giám sát tốt thì có thể phát hiện sớm hành vi tấn công.</a:t>
            </a:r>
          </a:p>
          <a:p>
            <a:r>
              <a:rPr lang="vi-VN" dirty="0">
                <a:solidFill>
                  <a:srgbClr val="0000CC"/>
                </a:solidFill>
                <a:latin typeface="Rockwell" panose="02060603020205020403" pitchFamily="18" charset="0"/>
              </a:rPr>
              <a:t>Nếu hệ thống bị khai thác nhưng ứng dụng có kiểm soát truy cập chặt thì hacker khó leo thang.</a:t>
            </a:r>
          </a:p>
          <a:p>
            <a:pPr marL="0" indent="0">
              <a:buNone/>
            </a:pPr>
            <a:r>
              <a:rPr lang="vi-VN" dirty="0">
                <a:solidFill>
                  <a:srgbClr val="0000CC"/>
                </a:solidFill>
                <a:latin typeface="Rockwell" panose="02060603020205020403" pitchFamily="18" charset="0"/>
              </a:rPr>
              <a:t>Hai lớp này không thay thế mà hỗ trợ lẫn nhau để tạo thành kiến trúc phòng thủ vững chắc.</a:t>
            </a:r>
          </a:p>
        </p:txBody>
      </p:sp>
    </p:spTree>
    <p:extLst>
      <p:ext uri="{BB962C8B-B14F-4D97-AF65-F5344CB8AC3E}">
        <p14:creationId xmlns:p14="http://schemas.microsoft.com/office/powerpoint/2010/main" val="17770042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19816" cy="4382729"/>
          </a:xfrm>
        </p:spPr>
        <p:txBody>
          <a:bodyPr/>
          <a:lstStyle/>
          <a:p>
            <a:pPr marL="0" indent="0">
              <a:buNone/>
            </a:pPr>
            <a:r>
              <a:rPr lang="en-US" b="1" dirty="0">
                <a:solidFill>
                  <a:srgbClr val="0000CC"/>
                </a:solidFill>
                <a:latin typeface="Rockwell" panose="02060603020205020403" pitchFamily="18" charset="0"/>
              </a:rPr>
              <a:t>e</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Quan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giữa</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và</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endParaRPr lang="en-US" b="1" dirty="0" smtClean="0">
              <a:solidFill>
                <a:srgbClr val="0000CC"/>
              </a:solidFill>
              <a:latin typeface="Rockwell" panose="02060603020205020403" pitchFamily="18" charset="0"/>
            </a:endParaRPr>
          </a:p>
          <a:p>
            <a:pPr marL="0" indent="0">
              <a:buNone/>
            </a:pPr>
            <a:r>
              <a:rPr lang="en-US" b="1" dirty="0" err="1" smtClean="0">
                <a:solidFill>
                  <a:srgbClr val="0000CC"/>
                </a:solidFill>
                <a:latin typeface="Rockwell" panose="02060603020205020403" pitchFamily="18" charset="0"/>
              </a:rPr>
              <a:t>e4</a:t>
            </a:r>
            <a:r>
              <a:rPr lang="vi-VN" b="1" dirty="0">
                <a:solidFill>
                  <a:srgbClr val="0000CC"/>
                </a:solidFill>
                <a:latin typeface="Rockwell" panose="02060603020205020403" pitchFamily="18" charset="0"/>
              </a:rPr>
              <a:t>. </a:t>
            </a:r>
            <a:r>
              <a:rPr lang="vi-VN" b="1" dirty="0" smtClean="0">
                <a:solidFill>
                  <a:srgbClr val="0000CC"/>
                </a:solidFill>
                <a:latin typeface="Rockwell" panose="02060603020205020403" pitchFamily="18" charset="0"/>
              </a:rPr>
              <a:t>Cùng </a:t>
            </a:r>
            <a:r>
              <a:rPr lang="vi-VN" b="1" dirty="0">
                <a:solidFill>
                  <a:srgbClr val="0000CC"/>
                </a:solidFill>
                <a:latin typeface="Rockwell" panose="02060603020205020403" pitchFamily="18" charset="0"/>
              </a:rPr>
              <a:t>phục vụ mục tiêu chung</a:t>
            </a:r>
          </a:p>
          <a:p>
            <a:pPr marL="0" indent="0">
              <a:buNone/>
            </a:pPr>
            <a:r>
              <a:rPr lang="vi-VN" dirty="0">
                <a:solidFill>
                  <a:srgbClr val="0000CC"/>
                </a:solidFill>
                <a:latin typeface="Rockwell" panose="02060603020205020403" pitchFamily="18" charset="0"/>
              </a:rPr>
              <a:t>Cả hai đều nhằm bảo vệ CIA (Confidentiality – Integrity – Availability):</a:t>
            </a:r>
          </a:p>
          <a:p>
            <a:r>
              <a:rPr lang="vi-VN" dirty="0">
                <a:solidFill>
                  <a:srgbClr val="0000CC"/>
                </a:solidFill>
                <a:latin typeface="Rockwell" panose="02060603020205020403" pitchFamily="18" charset="0"/>
              </a:rPr>
              <a:t>Ứng dụng: Bảo vệ tính toàn vẹn dữ liệu, quyền truy cập người dùng.</a:t>
            </a:r>
          </a:p>
          <a:p>
            <a:r>
              <a:rPr lang="vi-VN" dirty="0">
                <a:solidFill>
                  <a:srgbClr val="0000CC"/>
                </a:solidFill>
                <a:latin typeface="Rockwell" panose="02060603020205020403" pitchFamily="18" charset="0"/>
              </a:rPr>
              <a:t>Hệ thống: Bảo vệ tính sẵn sàng, ngăn mất kiểm soát máy chủ.</a:t>
            </a:r>
          </a:p>
          <a:p>
            <a:pPr marL="0" indent="0">
              <a:buNone/>
            </a:pPr>
            <a:endParaRPr lang="vi-VN" b="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6881033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buNone/>
            </a:pPr>
            <a:r>
              <a:rPr lang="en-US" b="1" dirty="0" smtClean="0">
                <a:solidFill>
                  <a:srgbClr val="0000CC"/>
                </a:solidFill>
                <a:latin typeface="Rockwell" panose="02060603020205020403" pitchFamily="18" charset="0"/>
              </a:rPr>
              <a:t>e</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Quan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giữa</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ứng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và</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Bảo</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mật</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hệ</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thống</a:t>
            </a:r>
            <a:endParaRPr lang="en-US" b="1" dirty="0" smtClean="0">
              <a:solidFill>
                <a:srgbClr val="0000CC"/>
              </a:solidFill>
              <a:latin typeface="Rockwell" panose="02060603020205020403" pitchFamily="18" charset="0"/>
            </a:endParaRPr>
          </a:p>
          <a:p>
            <a:pPr marL="0" indent="0">
              <a:buNone/>
            </a:pPr>
            <a:endParaRPr lang="en-US" b="1" dirty="0" smtClean="0">
              <a:solidFill>
                <a:srgbClr val="0000CC"/>
              </a:solidFill>
              <a:latin typeface="Rockwell" panose="02060603020205020403" pitchFamily="18" charset="0"/>
            </a:endParaRPr>
          </a:p>
          <a:p>
            <a:pPr marL="0" indent="0">
              <a:buNone/>
            </a:pPr>
            <a:r>
              <a:rPr lang="vi-VN" sz="2600" dirty="0">
                <a:solidFill>
                  <a:srgbClr val="FF00FF"/>
                </a:solidFill>
                <a:latin typeface="Rockwell" panose="02060603020205020403" pitchFamily="18" charset="0"/>
              </a:rPr>
              <a:t>Ghi nhận:</a:t>
            </a:r>
          </a:p>
          <a:p>
            <a:r>
              <a:rPr lang="vi-VN" sz="2600" dirty="0">
                <a:solidFill>
                  <a:srgbClr val="FF00FF"/>
                </a:solidFill>
                <a:latin typeface="Rockwell" panose="02060603020205020403" pitchFamily="18" charset="0"/>
              </a:rPr>
              <a:t>Bảo mật ứng dụng và bảo mật hệ thống giống như hai mắt xích trong chuỗi bảo mật tổng thể.</a:t>
            </a:r>
          </a:p>
          <a:p>
            <a:r>
              <a:rPr lang="vi-VN" sz="2600" dirty="0">
                <a:solidFill>
                  <a:srgbClr val="FF00FF"/>
                </a:solidFill>
                <a:latin typeface="Rockwell" panose="02060603020205020403" pitchFamily="18" charset="0"/>
              </a:rPr>
              <a:t>Một hệ thống an toàn phải đảm bảo đồng thời cả ứng dụng và hạ tầng hệ thống.</a:t>
            </a:r>
          </a:p>
          <a:p>
            <a:r>
              <a:rPr lang="vi-VN" sz="2600" dirty="0">
                <a:solidFill>
                  <a:srgbClr val="FF00FF"/>
                </a:solidFill>
                <a:latin typeface="Rockwell" panose="02060603020205020403" pitchFamily="18" charset="0"/>
              </a:rPr>
              <a:t>Bỏ qua một trong hai sẽ tạo ra “điểm yếu </a:t>
            </a:r>
            <a:r>
              <a:rPr lang="en-US" sz="2600" dirty="0" err="1" smtClean="0">
                <a:solidFill>
                  <a:srgbClr val="FF00FF"/>
                </a:solidFill>
                <a:latin typeface="Rockwell" panose="02060603020205020403" pitchFamily="18" charset="0"/>
              </a:rPr>
              <a:t>nghiêm</a:t>
            </a:r>
            <a:r>
              <a:rPr lang="en-US" sz="2600" dirty="0" smtClean="0">
                <a:solidFill>
                  <a:srgbClr val="FF00FF"/>
                </a:solidFill>
                <a:latin typeface="Rockwell" panose="02060603020205020403" pitchFamily="18" charset="0"/>
              </a:rPr>
              <a:t> </a:t>
            </a:r>
            <a:r>
              <a:rPr lang="en-US" sz="2600" dirty="0" err="1" smtClean="0">
                <a:solidFill>
                  <a:srgbClr val="FF00FF"/>
                </a:solidFill>
                <a:latin typeface="Rockwell" panose="02060603020205020403" pitchFamily="18" charset="0"/>
              </a:rPr>
              <a:t>trọng</a:t>
            </a:r>
            <a:r>
              <a:rPr lang="vi-VN" sz="2600" dirty="0" smtClean="0">
                <a:solidFill>
                  <a:srgbClr val="FF00FF"/>
                </a:solidFill>
                <a:latin typeface="Rockwell" panose="02060603020205020403" pitchFamily="18" charset="0"/>
              </a:rPr>
              <a:t>” </a:t>
            </a:r>
            <a:r>
              <a:rPr lang="vi-VN" sz="2600" dirty="0">
                <a:solidFill>
                  <a:srgbClr val="FF00FF"/>
                </a:solidFill>
                <a:latin typeface="Rockwell" panose="02060603020205020403" pitchFamily="18" charset="0"/>
              </a:rPr>
              <a:t>cho toàn bộ môi trường </a:t>
            </a:r>
            <a:r>
              <a:rPr lang="vi-VN" sz="2600" dirty="0" smtClean="0">
                <a:solidFill>
                  <a:srgbClr val="FF00FF"/>
                </a:solidFill>
                <a:latin typeface="Rockwell" panose="02060603020205020403" pitchFamily="18" charset="0"/>
              </a:rPr>
              <a:t>CNTT</a:t>
            </a:r>
            <a:r>
              <a:rPr lang="en-US" sz="2600" dirty="0" smtClean="0">
                <a:solidFill>
                  <a:srgbClr val="FF00FF"/>
                </a:solidFill>
                <a:latin typeface="Rockwell" panose="02060603020205020403" pitchFamily="18" charset="0"/>
              </a:rPr>
              <a:t> </a:t>
            </a:r>
            <a:r>
              <a:rPr lang="en-US" sz="2600" dirty="0" err="1" smtClean="0">
                <a:solidFill>
                  <a:srgbClr val="FF00FF"/>
                </a:solidFill>
                <a:latin typeface="Rockwell" panose="02060603020205020403" pitchFamily="18" charset="0"/>
              </a:rPr>
              <a:t>của</a:t>
            </a:r>
            <a:r>
              <a:rPr lang="en-US" sz="2600" dirty="0" smtClean="0">
                <a:solidFill>
                  <a:srgbClr val="FF00FF"/>
                </a:solidFill>
                <a:latin typeface="Rockwell" panose="02060603020205020403" pitchFamily="18" charset="0"/>
              </a:rPr>
              <a:t> </a:t>
            </a:r>
            <a:r>
              <a:rPr lang="en-US" sz="2600" dirty="0" err="1" smtClean="0">
                <a:solidFill>
                  <a:srgbClr val="FF00FF"/>
                </a:solidFill>
                <a:latin typeface="Rockwell" panose="02060603020205020403" pitchFamily="18" charset="0"/>
              </a:rPr>
              <a:t>doanh</a:t>
            </a:r>
            <a:r>
              <a:rPr lang="en-US" sz="2600" dirty="0" smtClean="0">
                <a:solidFill>
                  <a:srgbClr val="FF00FF"/>
                </a:solidFill>
                <a:latin typeface="Rockwell" panose="02060603020205020403" pitchFamily="18" charset="0"/>
              </a:rPr>
              <a:t> </a:t>
            </a:r>
            <a:r>
              <a:rPr lang="en-US" sz="2600" dirty="0" err="1" smtClean="0">
                <a:solidFill>
                  <a:srgbClr val="FF00FF"/>
                </a:solidFill>
                <a:latin typeface="Rockwell" panose="02060603020205020403" pitchFamily="18" charset="0"/>
              </a:rPr>
              <a:t>nghiệp</a:t>
            </a:r>
            <a:r>
              <a:rPr lang="vi-VN" sz="2600" dirty="0" smtClean="0">
                <a:solidFill>
                  <a:srgbClr val="FF00FF"/>
                </a:solidFill>
                <a:latin typeface="Rockwell" panose="02060603020205020403" pitchFamily="18" charset="0"/>
              </a:rPr>
              <a:t>.</a:t>
            </a:r>
            <a:endParaRPr lang="vi-VN" sz="2600" dirty="0">
              <a:solidFill>
                <a:srgbClr val="FF00FF"/>
              </a:solidFill>
              <a:latin typeface="Rockwell" panose="02060603020205020403" pitchFamily="18" charset="0"/>
            </a:endParaRPr>
          </a:p>
          <a:p>
            <a:pPr marL="0" indent="0">
              <a:buNone/>
            </a:pPr>
            <a:endParaRPr lang="vi-VN" b="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13780981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buNone/>
            </a:pPr>
            <a:r>
              <a:rPr lang="en-US" b="1" dirty="0">
                <a:solidFill>
                  <a:srgbClr val="0000CC"/>
                </a:solidFill>
                <a:latin typeface="Rockwell" panose="02060603020205020403" pitchFamily="18" charset="0"/>
              </a:rPr>
              <a:t>f</a:t>
            </a:r>
            <a:r>
              <a:rPr lang="en-US" b="1" dirty="0" smtClean="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Mối</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đe</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doạ</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nội</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bộ</a:t>
            </a:r>
            <a:r>
              <a:rPr lang="en-US" b="1" dirty="0">
                <a:solidFill>
                  <a:srgbClr val="0000CC"/>
                </a:solidFill>
                <a:latin typeface="Rockwell" panose="02060603020205020403" pitchFamily="18" charset="0"/>
              </a:rPr>
              <a:t> (Insider Threats</a:t>
            </a:r>
            <a:r>
              <a:rPr lang="en-US" b="1" dirty="0" smtClean="0">
                <a:solidFill>
                  <a:srgbClr val="0000CC"/>
                </a:solidFill>
                <a:latin typeface="Rockwell" panose="02060603020205020403" pitchFamily="18" charset="0"/>
              </a:rPr>
              <a:t>)</a:t>
            </a:r>
          </a:p>
          <a:p>
            <a:pPr marL="0" indent="0">
              <a:buNone/>
            </a:pPr>
            <a:r>
              <a:rPr lang="vi-VN" dirty="0" smtClean="0">
                <a:solidFill>
                  <a:srgbClr val="0000CC"/>
                </a:solidFill>
                <a:latin typeface="Rockwell" panose="02060603020205020403" pitchFamily="18" charset="0"/>
              </a:rPr>
              <a:t>Nguy </a:t>
            </a:r>
            <a:r>
              <a:rPr lang="vi-VN" dirty="0">
                <a:solidFill>
                  <a:srgbClr val="0000CC"/>
                </a:solidFill>
                <a:latin typeface="Rockwell" panose="02060603020205020403" pitchFamily="18" charset="0"/>
              </a:rPr>
              <a:t>cơ xuất phát từ người bên trong tổ chức (nhân viên, quản trị hệ thống, cộng tác viên, nhà </a:t>
            </a:r>
            <a:r>
              <a:rPr lang="vi-VN" dirty="0" smtClean="0">
                <a:solidFill>
                  <a:srgbClr val="0000CC"/>
                </a:solidFill>
                <a:latin typeface="Rockwell" panose="02060603020205020403" pitchFamily="18" charset="0"/>
              </a:rPr>
              <a:t>thầu</a:t>
            </a:r>
            <a:r>
              <a:rPr lang="en-US" dirty="0" smtClean="0">
                <a:solidFill>
                  <a:srgbClr val="0000CC"/>
                </a:solidFill>
                <a:latin typeface="Rockwell" panose="02060603020205020403" pitchFamily="18" charset="0"/>
              </a:rPr>
              <a:t>, v.v.</a:t>
            </a:r>
            <a:r>
              <a:rPr lang="vi-VN"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a:p>
            <a:pPr marL="0" indent="0">
              <a:buNone/>
            </a:pPr>
            <a:r>
              <a:rPr lang="vi-VN" dirty="0">
                <a:solidFill>
                  <a:srgbClr val="0000CC"/>
                </a:solidFill>
                <a:latin typeface="Rockwell" panose="02060603020205020403" pitchFamily="18" charset="0"/>
              </a:rPr>
              <a:t>Đặc điểm:</a:t>
            </a:r>
          </a:p>
          <a:p>
            <a:r>
              <a:rPr lang="vi-VN" dirty="0">
                <a:solidFill>
                  <a:srgbClr val="0000CC"/>
                </a:solidFill>
                <a:latin typeface="Rockwell" panose="02060603020205020403" pitchFamily="18" charset="0"/>
              </a:rPr>
              <a:t>Có quyền truy cập hợp pháp vào hệ thống.</a:t>
            </a:r>
          </a:p>
          <a:p>
            <a:r>
              <a:rPr lang="vi-VN" dirty="0">
                <a:solidFill>
                  <a:srgbClr val="0000CC"/>
                </a:solidFill>
                <a:latin typeface="Rockwell" panose="02060603020205020403" pitchFamily="18" charset="0"/>
              </a:rPr>
              <a:t>Khó phát hiện hơn vì hoạt động hợp pháp trộn lẫn với hành vi xấu.</a:t>
            </a:r>
          </a:p>
          <a:p>
            <a:pPr marL="0" indent="0">
              <a:buNone/>
            </a:pPr>
            <a:r>
              <a:rPr lang="vi-VN" dirty="0">
                <a:solidFill>
                  <a:srgbClr val="0000CC"/>
                </a:solidFill>
                <a:latin typeface="Rockwell" panose="02060603020205020403" pitchFamily="18" charset="0"/>
              </a:rPr>
              <a:t>Ví dụ:</a:t>
            </a:r>
          </a:p>
          <a:p>
            <a:r>
              <a:rPr lang="vi-VN" dirty="0">
                <a:solidFill>
                  <a:srgbClr val="0000CC"/>
                </a:solidFill>
                <a:latin typeface="Rockwell" panose="02060603020205020403" pitchFamily="18" charset="0"/>
              </a:rPr>
              <a:t>Nhân viên rò rỉ dữ liệu khách hàng.</a:t>
            </a:r>
          </a:p>
          <a:p>
            <a:r>
              <a:rPr lang="vi-VN" dirty="0">
                <a:solidFill>
                  <a:srgbClr val="0000CC"/>
                </a:solidFill>
                <a:latin typeface="Rockwell" panose="02060603020205020403" pitchFamily="18" charset="0"/>
              </a:rPr>
              <a:t>Quản trị viên cài backdoor để truy cập sau khi nghỉ việc.</a:t>
            </a:r>
            <a:endParaRPr lang="en-US" dirty="0">
              <a:solidFill>
                <a:srgbClr val="0000CC"/>
              </a:solidFill>
              <a:latin typeface="Rockwell" panose="02060603020205020403" pitchFamily="18" charset="0"/>
            </a:endParaRPr>
          </a:p>
          <a:p>
            <a:pPr marL="0" indent="0">
              <a:buNone/>
            </a:pPr>
            <a:endParaRPr lang="vi-VN" b="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32548868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buNone/>
            </a:pPr>
            <a:r>
              <a:rPr lang="vi-VN" b="1" dirty="0" smtClean="0">
                <a:solidFill>
                  <a:srgbClr val="0000CC"/>
                </a:solidFill>
                <a:latin typeface="Rockwell" panose="02060603020205020403" pitchFamily="18" charset="0"/>
              </a:rPr>
              <a:t>2</a:t>
            </a:r>
            <a:r>
              <a:rPr lang="vi-VN" b="1" dirty="0">
                <a:solidFill>
                  <a:srgbClr val="0000CC"/>
                </a:solidFill>
                <a:latin typeface="Rockwell" panose="02060603020205020403" pitchFamily="18" charset="0"/>
              </a:rPr>
              <a:t>. Mối đe dọa ngoại vi (Outsider Threats)</a:t>
            </a:r>
          </a:p>
          <a:p>
            <a:pPr marL="0" indent="0">
              <a:buNone/>
            </a:pPr>
            <a:r>
              <a:rPr lang="vi-VN" dirty="0">
                <a:solidFill>
                  <a:srgbClr val="0000CC"/>
                </a:solidFill>
                <a:latin typeface="Rockwell" panose="02060603020205020403" pitchFamily="18" charset="0"/>
              </a:rPr>
              <a:t>Nguy cơ từ tác nhân bên ngoài tổ chức (hacker, tội phạm mạng, tổ chức đối </a:t>
            </a:r>
            <a:r>
              <a:rPr lang="vi-VN" dirty="0" smtClean="0">
                <a:solidFill>
                  <a:srgbClr val="0000CC"/>
                </a:solidFill>
                <a:latin typeface="Rockwell" panose="02060603020205020403" pitchFamily="18" charset="0"/>
              </a:rPr>
              <a:t>thủ</a:t>
            </a:r>
            <a:r>
              <a:rPr lang="en-US" dirty="0" smtClean="0">
                <a:solidFill>
                  <a:srgbClr val="0000CC"/>
                </a:solidFill>
                <a:latin typeface="Rockwell" panose="02060603020205020403" pitchFamily="18" charset="0"/>
              </a:rPr>
              <a:t>, v.v.</a:t>
            </a:r>
            <a:r>
              <a:rPr lang="vi-VN"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a:p>
            <a:pPr marL="0" indent="0">
              <a:buNone/>
            </a:pPr>
            <a:r>
              <a:rPr lang="vi-VN" dirty="0">
                <a:solidFill>
                  <a:srgbClr val="0000CC"/>
                </a:solidFill>
                <a:latin typeface="Rockwell" panose="02060603020205020403" pitchFamily="18" charset="0"/>
              </a:rPr>
              <a:t>Đặc điểm:</a:t>
            </a:r>
          </a:p>
          <a:p>
            <a:r>
              <a:rPr lang="vi-VN" dirty="0">
                <a:solidFill>
                  <a:srgbClr val="0000CC"/>
                </a:solidFill>
                <a:latin typeface="Rockwell" panose="02060603020205020403" pitchFamily="18" charset="0"/>
              </a:rPr>
              <a:t>Không có quyền truy cập hợp pháp.</a:t>
            </a:r>
          </a:p>
          <a:p>
            <a:r>
              <a:rPr lang="vi-VN" dirty="0">
                <a:solidFill>
                  <a:srgbClr val="0000CC"/>
                </a:solidFill>
                <a:latin typeface="Rockwell" panose="02060603020205020403" pitchFamily="18" charset="0"/>
              </a:rPr>
              <a:t>Thường tấn công qua internet, mạng công cộng hoặc kỹ thuật xã hội.</a:t>
            </a:r>
          </a:p>
          <a:p>
            <a:pPr marL="0" indent="0">
              <a:buNone/>
            </a:pPr>
            <a:r>
              <a:rPr lang="vi-VN" dirty="0">
                <a:solidFill>
                  <a:srgbClr val="0000CC"/>
                </a:solidFill>
                <a:latin typeface="Rockwell" panose="02060603020205020403" pitchFamily="18" charset="0"/>
              </a:rPr>
              <a:t>Ví dụ:</a:t>
            </a:r>
          </a:p>
          <a:p>
            <a:r>
              <a:rPr lang="vi-VN" dirty="0">
                <a:solidFill>
                  <a:srgbClr val="0000CC"/>
                </a:solidFill>
                <a:latin typeface="Rockwell" panose="02060603020205020403" pitchFamily="18" charset="0"/>
              </a:rPr>
              <a:t>Hacker tấn công SQL Injection vào website.</a:t>
            </a:r>
          </a:p>
          <a:p>
            <a:r>
              <a:rPr lang="vi-VN" dirty="0">
                <a:solidFill>
                  <a:srgbClr val="0000CC"/>
                </a:solidFill>
                <a:latin typeface="Rockwell" panose="02060603020205020403" pitchFamily="18" charset="0"/>
              </a:rPr>
              <a:t>Nhóm APT (Advanced Persistent Threat) khai thác lỗ hổng zero-day.</a:t>
            </a:r>
            <a:endParaRPr lang="en-US" dirty="0">
              <a:solidFill>
                <a:srgbClr val="0000CC"/>
              </a:solidFill>
              <a:latin typeface="Rockwell" panose="02060603020205020403" pitchFamily="18" charset="0"/>
            </a:endParaRPr>
          </a:p>
          <a:p>
            <a:pPr marL="0" indent="0">
              <a:buNone/>
            </a:pPr>
            <a:endParaRPr lang="vi-VN" b="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16814253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buNone/>
            </a:pPr>
            <a:r>
              <a:rPr lang="en-US" b="1" dirty="0" smtClean="0">
                <a:solidFill>
                  <a:srgbClr val="0000CC"/>
                </a:solidFill>
                <a:latin typeface="Rockwell" panose="02060603020205020403" pitchFamily="18" charset="0"/>
              </a:rPr>
              <a:t>Outsider Threats vs Outsider Threats:</a:t>
            </a:r>
          </a:p>
          <a:p>
            <a:pPr marL="0" indent="0">
              <a:buNone/>
            </a:pPr>
            <a:endParaRPr lang="en-US" b="1" dirty="0">
              <a:solidFill>
                <a:srgbClr val="0000CC"/>
              </a:solidFill>
              <a:latin typeface="Rockwell" panose="02060603020205020403" pitchFamily="18" charset="0"/>
            </a:endParaRPr>
          </a:p>
          <a:p>
            <a:pPr marL="0" indent="0">
              <a:buNone/>
            </a:pPr>
            <a:endParaRPr lang="vi-VN" b="1" dirty="0">
              <a:solidFill>
                <a:srgbClr val="0000CC"/>
              </a:solidFill>
              <a:latin typeface="Rockwell" panose="02060603020205020403"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488997038"/>
              </p:ext>
            </p:extLst>
          </p:nvPr>
        </p:nvGraphicFramePr>
        <p:xfrm>
          <a:off x="1371598" y="1932637"/>
          <a:ext cx="10065225" cy="2895600"/>
        </p:xfrm>
        <a:graphic>
          <a:graphicData uri="http://schemas.openxmlformats.org/drawingml/2006/table">
            <a:tbl>
              <a:tblPr>
                <a:tableStyleId>{35758FB7-9AC5-4552-8A53-C91805E547FA}</a:tableStyleId>
              </a:tblPr>
              <a:tblGrid>
                <a:gridCol w="2367889">
                  <a:extLst>
                    <a:ext uri="{9D8B030D-6E8A-4147-A177-3AD203B41FA5}">
                      <a16:colId xmlns:a16="http://schemas.microsoft.com/office/drawing/2014/main" val="1880182486"/>
                    </a:ext>
                  </a:extLst>
                </a:gridCol>
                <a:gridCol w="4026089">
                  <a:extLst>
                    <a:ext uri="{9D8B030D-6E8A-4147-A177-3AD203B41FA5}">
                      <a16:colId xmlns:a16="http://schemas.microsoft.com/office/drawing/2014/main" val="3833800489"/>
                    </a:ext>
                  </a:extLst>
                </a:gridCol>
                <a:gridCol w="3671247">
                  <a:extLst>
                    <a:ext uri="{9D8B030D-6E8A-4147-A177-3AD203B41FA5}">
                      <a16:colId xmlns:a16="http://schemas.microsoft.com/office/drawing/2014/main" val="96372212"/>
                    </a:ext>
                  </a:extLst>
                </a:gridCol>
              </a:tblGrid>
              <a:tr h="0">
                <a:tc>
                  <a:txBody>
                    <a:bodyPr/>
                    <a:lstStyle/>
                    <a:p>
                      <a:pPr algn="ctr"/>
                      <a:r>
                        <a:rPr lang="en-US" sz="2000" b="1" kern="1200" baseline="0" dirty="0" err="1">
                          <a:solidFill>
                            <a:srgbClr val="0000CC"/>
                          </a:solidFill>
                          <a:latin typeface="Rockwell" panose="02060603020205020403" pitchFamily="18" charset="0"/>
                          <a:ea typeface="+mn-ea"/>
                          <a:cs typeface="+mn-cs"/>
                        </a:rPr>
                        <a:t>Tiêu</a:t>
                      </a:r>
                      <a:r>
                        <a:rPr lang="en-US" sz="2000" b="1" kern="1200" baseline="0" dirty="0">
                          <a:solidFill>
                            <a:srgbClr val="0000CC"/>
                          </a:solidFill>
                          <a:latin typeface="Rockwell" panose="02060603020205020403" pitchFamily="18" charset="0"/>
                          <a:ea typeface="+mn-ea"/>
                          <a:cs typeface="+mn-cs"/>
                        </a:rPr>
                        <a:t> </a:t>
                      </a:r>
                      <a:r>
                        <a:rPr lang="en-US" sz="2000" b="1" kern="1200" baseline="0" dirty="0" err="1">
                          <a:solidFill>
                            <a:srgbClr val="0000CC"/>
                          </a:solidFill>
                          <a:latin typeface="Rockwell" panose="02060603020205020403" pitchFamily="18" charset="0"/>
                          <a:ea typeface="+mn-ea"/>
                          <a:cs typeface="+mn-cs"/>
                        </a:rPr>
                        <a:t>chí</a:t>
                      </a:r>
                      <a:endParaRPr lang="en-US" sz="2000" b="1" kern="1200" baseline="0" dirty="0">
                        <a:solidFill>
                          <a:srgbClr val="0000CC"/>
                        </a:solidFill>
                        <a:latin typeface="Rockwell" panose="02060603020205020403" pitchFamily="18" charset="0"/>
                        <a:ea typeface="+mn-ea"/>
                        <a:cs typeface="+mn-cs"/>
                      </a:endParaRPr>
                    </a:p>
                  </a:txBody>
                  <a:tcPr anchor="ctr"/>
                </a:tc>
                <a:tc>
                  <a:txBody>
                    <a:bodyPr/>
                    <a:lstStyle/>
                    <a:p>
                      <a:pPr algn="ctr"/>
                      <a:r>
                        <a:rPr lang="en-US" sz="2000" b="1" kern="1200" baseline="0" dirty="0">
                          <a:solidFill>
                            <a:srgbClr val="0000CC"/>
                          </a:solidFill>
                          <a:latin typeface="Rockwell" panose="02060603020205020403" pitchFamily="18" charset="0"/>
                          <a:ea typeface="+mn-ea"/>
                          <a:cs typeface="+mn-cs"/>
                        </a:rPr>
                        <a:t>Insider Threats</a:t>
                      </a:r>
                    </a:p>
                  </a:txBody>
                  <a:tcPr anchor="ctr"/>
                </a:tc>
                <a:tc>
                  <a:txBody>
                    <a:bodyPr/>
                    <a:lstStyle/>
                    <a:p>
                      <a:pPr algn="ctr"/>
                      <a:r>
                        <a:rPr lang="en-US" sz="2000" b="1" kern="1200" baseline="0" dirty="0">
                          <a:solidFill>
                            <a:srgbClr val="0000CC"/>
                          </a:solidFill>
                          <a:latin typeface="Rockwell" panose="02060603020205020403" pitchFamily="18" charset="0"/>
                          <a:ea typeface="+mn-ea"/>
                          <a:cs typeface="+mn-cs"/>
                        </a:rPr>
                        <a:t>Outsider Threats</a:t>
                      </a:r>
                    </a:p>
                  </a:txBody>
                  <a:tcPr anchor="ctr"/>
                </a:tc>
                <a:extLst>
                  <a:ext uri="{0D108BD9-81ED-4DB2-BD59-A6C34878D82A}">
                    <a16:rowId xmlns:a16="http://schemas.microsoft.com/office/drawing/2014/main" val="3217820890"/>
                  </a:ext>
                </a:extLst>
              </a:tr>
              <a:tr h="0">
                <a:tc>
                  <a:txBody>
                    <a:bodyPr/>
                    <a:lstStyle/>
                    <a:p>
                      <a:pPr algn="ctr"/>
                      <a:r>
                        <a:rPr lang="en-US" sz="2000" b="0" kern="1200" baseline="0" dirty="0" err="1">
                          <a:solidFill>
                            <a:srgbClr val="0000CC"/>
                          </a:solidFill>
                          <a:latin typeface="Rockwell" panose="02060603020205020403" pitchFamily="18" charset="0"/>
                          <a:ea typeface="+mn-ea"/>
                          <a:cs typeface="+mn-cs"/>
                        </a:rPr>
                        <a:t>Nguồn</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gốc</a:t>
                      </a:r>
                      <a:endParaRPr lang="en-US" sz="2000" b="0" kern="1200" baseline="0" dirty="0">
                        <a:solidFill>
                          <a:srgbClr val="0000CC"/>
                        </a:solidFill>
                        <a:latin typeface="Rockwell" panose="02060603020205020403" pitchFamily="18" charset="0"/>
                        <a:ea typeface="+mn-ea"/>
                        <a:cs typeface="+mn-cs"/>
                      </a:endParaRPr>
                    </a:p>
                  </a:txBody>
                  <a:tcPr anchor="ctr"/>
                </a:tc>
                <a:tc>
                  <a:txBody>
                    <a:bodyPr/>
                    <a:lstStyle/>
                    <a:p>
                      <a:pPr algn="ctr"/>
                      <a:r>
                        <a:rPr lang="vi-VN" sz="2000" b="0" kern="1200" baseline="0" dirty="0">
                          <a:solidFill>
                            <a:srgbClr val="0000CC"/>
                          </a:solidFill>
                          <a:latin typeface="Rockwell" panose="02060603020205020403" pitchFamily="18" charset="0"/>
                          <a:ea typeface="+mn-ea"/>
                          <a:cs typeface="+mn-cs"/>
                        </a:rPr>
                        <a:t>Người trong tổ chức</a:t>
                      </a:r>
                    </a:p>
                  </a:txBody>
                  <a:tcPr anchor="ctr"/>
                </a:tc>
                <a:tc>
                  <a:txBody>
                    <a:bodyPr/>
                    <a:lstStyle/>
                    <a:p>
                      <a:pPr algn="ctr"/>
                      <a:r>
                        <a:rPr lang="en-US" sz="2000" b="0" kern="1200" baseline="0" dirty="0">
                          <a:solidFill>
                            <a:srgbClr val="0000CC"/>
                          </a:solidFill>
                          <a:latin typeface="Rockwell" panose="02060603020205020403" pitchFamily="18" charset="0"/>
                          <a:ea typeface="+mn-ea"/>
                          <a:cs typeface="+mn-cs"/>
                        </a:rPr>
                        <a:t>Hacker, </a:t>
                      </a:r>
                      <a:r>
                        <a:rPr lang="en-US" sz="2000" b="0" kern="1200" baseline="0" dirty="0" err="1">
                          <a:solidFill>
                            <a:srgbClr val="0000CC"/>
                          </a:solidFill>
                          <a:latin typeface="Rockwell" panose="02060603020205020403" pitchFamily="18" charset="0"/>
                          <a:ea typeface="+mn-ea"/>
                          <a:cs typeface="+mn-cs"/>
                        </a:rPr>
                        <a:t>đối</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thủ</a:t>
                      </a:r>
                      <a:r>
                        <a:rPr lang="en-US" sz="2000" b="0" kern="1200" baseline="0" dirty="0">
                          <a:solidFill>
                            <a:srgbClr val="0000CC"/>
                          </a:solidFill>
                          <a:latin typeface="Rockwell" panose="02060603020205020403" pitchFamily="18" charset="0"/>
                          <a:ea typeface="+mn-ea"/>
                          <a:cs typeface="+mn-cs"/>
                        </a:rPr>
                        <a:t>, </a:t>
                      </a:r>
                      <a:endParaRPr lang="en-US" sz="2000" b="0" kern="1200" baseline="0" dirty="0" smtClean="0">
                        <a:solidFill>
                          <a:srgbClr val="0000CC"/>
                        </a:solidFill>
                        <a:latin typeface="Rockwell" panose="02060603020205020403" pitchFamily="18" charset="0"/>
                        <a:ea typeface="+mn-ea"/>
                        <a:cs typeface="+mn-cs"/>
                      </a:endParaRPr>
                    </a:p>
                    <a:p>
                      <a:pPr algn="ctr"/>
                      <a:r>
                        <a:rPr lang="en-US" sz="2000" b="0" kern="1200" baseline="0" dirty="0" err="1" smtClean="0">
                          <a:solidFill>
                            <a:srgbClr val="0000CC"/>
                          </a:solidFill>
                          <a:latin typeface="Rockwell" panose="02060603020205020403" pitchFamily="18" charset="0"/>
                          <a:ea typeface="+mn-ea"/>
                          <a:cs typeface="+mn-cs"/>
                        </a:rPr>
                        <a:t>tội</a:t>
                      </a:r>
                      <a:r>
                        <a:rPr lang="en-US" sz="2000" b="0" kern="1200" baseline="0" dirty="0" smtClean="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phạm</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mạng</a:t>
                      </a:r>
                      <a:endParaRPr lang="en-US" sz="2000" b="0" kern="1200" baseline="0" dirty="0">
                        <a:solidFill>
                          <a:srgbClr val="0000CC"/>
                        </a:solidFill>
                        <a:latin typeface="Rockwell" panose="02060603020205020403" pitchFamily="18" charset="0"/>
                        <a:ea typeface="+mn-ea"/>
                        <a:cs typeface="+mn-cs"/>
                      </a:endParaRPr>
                    </a:p>
                  </a:txBody>
                  <a:tcPr anchor="ctr"/>
                </a:tc>
                <a:extLst>
                  <a:ext uri="{0D108BD9-81ED-4DB2-BD59-A6C34878D82A}">
                    <a16:rowId xmlns:a16="http://schemas.microsoft.com/office/drawing/2014/main" val="2341476485"/>
                  </a:ext>
                </a:extLst>
              </a:tr>
              <a:tr h="0">
                <a:tc>
                  <a:txBody>
                    <a:bodyPr/>
                    <a:lstStyle/>
                    <a:p>
                      <a:pPr algn="ctr"/>
                      <a:r>
                        <a:rPr lang="en-US" sz="2000" b="0" kern="1200" baseline="0" dirty="0" err="1">
                          <a:solidFill>
                            <a:srgbClr val="0000CC"/>
                          </a:solidFill>
                          <a:latin typeface="Rockwell" panose="02060603020205020403" pitchFamily="18" charset="0"/>
                          <a:ea typeface="+mn-ea"/>
                          <a:cs typeface="+mn-cs"/>
                        </a:rPr>
                        <a:t>Quyền</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truy</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cập</a:t>
                      </a:r>
                      <a:endParaRPr lang="en-US" sz="2000" b="0" kern="1200" baseline="0" dirty="0">
                        <a:solidFill>
                          <a:srgbClr val="0000CC"/>
                        </a:solidFill>
                        <a:latin typeface="Rockwell" panose="02060603020205020403" pitchFamily="18" charset="0"/>
                        <a:ea typeface="+mn-ea"/>
                        <a:cs typeface="+mn-cs"/>
                      </a:endParaRPr>
                    </a:p>
                  </a:txBody>
                  <a:tcPr anchor="ctr"/>
                </a:tc>
                <a:tc>
                  <a:txBody>
                    <a:bodyPr/>
                    <a:lstStyle/>
                    <a:p>
                      <a:pPr algn="ctr"/>
                      <a:r>
                        <a:rPr lang="vi-VN" sz="2000" b="0" kern="1200" baseline="0" dirty="0">
                          <a:solidFill>
                            <a:srgbClr val="0000CC"/>
                          </a:solidFill>
                          <a:latin typeface="Rockwell" panose="02060603020205020403" pitchFamily="18" charset="0"/>
                          <a:ea typeface="+mn-ea"/>
                          <a:cs typeface="+mn-cs"/>
                        </a:rPr>
                        <a:t>Hợp pháp </a:t>
                      </a:r>
                      <a:endParaRPr lang="en-US" sz="2000" b="0" kern="1200" baseline="0" dirty="0" smtClean="0">
                        <a:solidFill>
                          <a:srgbClr val="0000CC"/>
                        </a:solidFill>
                        <a:latin typeface="Rockwell" panose="02060603020205020403" pitchFamily="18" charset="0"/>
                        <a:ea typeface="+mn-ea"/>
                        <a:cs typeface="+mn-cs"/>
                      </a:endParaRPr>
                    </a:p>
                    <a:p>
                      <a:pPr algn="ctr"/>
                      <a:r>
                        <a:rPr lang="vi-VN" sz="2000" b="0" kern="1200" baseline="0" dirty="0" smtClean="0">
                          <a:solidFill>
                            <a:srgbClr val="0000CC"/>
                          </a:solidFill>
                          <a:latin typeface="Rockwell" panose="02060603020205020403" pitchFamily="18" charset="0"/>
                          <a:ea typeface="+mn-ea"/>
                          <a:cs typeface="+mn-cs"/>
                        </a:rPr>
                        <a:t>(</a:t>
                      </a:r>
                      <a:r>
                        <a:rPr lang="vi-VN" sz="2000" b="0" kern="1200" baseline="0" dirty="0">
                          <a:solidFill>
                            <a:srgbClr val="0000CC"/>
                          </a:solidFill>
                          <a:latin typeface="Rockwell" panose="02060603020205020403" pitchFamily="18" charset="0"/>
                          <a:ea typeface="+mn-ea"/>
                          <a:cs typeface="+mn-cs"/>
                        </a:rPr>
                        <a:t>trước/sau khi bị lạm dụng)</a:t>
                      </a:r>
                    </a:p>
                  </a:txBody>
                  <a:tcPr anchor="ctr"/>
                </a:tc>
                <a:tc>
                  <a:txBody>
                    <a:bodyPr/>
                    <a:lstStyle/>
                    <a:p>
                      <a:pPr algn="ctr"/>
                      <a:r>
                        <a:rPr lang="en-US" sz="2000" b="0" kern="1200" baseline="0" dirty="0" err="1">
                          <a:solidFill>
                            <a:srgbClr val="0000CC"/>
                          </a:solidFill>
                          <a:latin typeface="Rockwell" panose="02060603020205020403" pitchFamily="18" charset="0"/>
                          <a:ea typeface="+mn-ea"/>
                          <a:cs typeface="+mn-cs"/>
                        </a:rPr>
                        <a:t>Không</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hợp</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pháp</a:t>
                      </a:r>
                      <a:endParaRPr lang="en-US" sz="2000" b="0" kern="1200" baseline="0" dirty="0">
                        <a:solidFill>
                          <a:srgbClr val="0000CC"/>
                        </a:solidFill>
                        <a:latin typeface="Rockwell" panose="02060603020205020403" pitchFamily="18" charset="0"/>
                        <a:ea typeface="+mn-ea"/>
                        <a:cs typeface="+mn-cs"/>
                      </a:endParaRPr>
                    </a:p>
                  </a:txBody>
                  <a:tcPr anchor="ctr"/>
                </a:tc>
                <a:extLst>
                  <a:ext uri="{0D108BD9-81ED-4DB2-BD59-A6C34878D82A}">
                    <a16:rowId xmlns:a16="http://schemas.microsoft.com/office/drawing/2014/main" val="3874238548"/>
                  </a:ext>
                </a:extLst>
              </a:tr>
              <a:tr h="0">
                <a:tc>
                  <a:txBody>
                    <a:bodyPr/>
                    <a:lstStyle/>
                    <a:p>
                      <a:pPr algn="ctr"/>
                      <a:r>
                        <a:rPr lang="vi-VN" sz="2000" b="0" kern="1200" baseline="0" dirty="0">
                          <a:solidFill>
                            <a:srgbClr val="0000CC"/>
                          </a:solidFill>
                          <a:latin typeface="Rockwell" panose="02060603020205020403" pitchFamily="18" charset="0"/>
                          <a:ea typeface="+mn-ea"/>
                          <a:cs typeface="+mn-cs"/>
                        </a:rPr>
                        <a:t>Khó phát hiện hơn</a:t>
                      </a:r>
                    </a:p>
                  </a:txBody>
                  <a:tcPr anchor="ctr"/>
                </a:tc>
                <a:tc>
                  <a:txBody>
                    <a:bodyPr/>
                    <a:lstStyle/>
                    <a:p>
                      <a:pPr algn="ctr"/>
                      <a:r>
                        <a:rPr lang="en-US" sz="2000" b="0" kern="1200" baseline="0" dirty="0" err="1" smtClean="0">
                          <a:solidFill>
                            <a:srgbClr val="0000CC"/>
                          </a:solidFill>
                          <a:latin typeface="Rockwell" panose="02060603020205020403" pitchFamily="18" charset="0"/>
                          <a:ea typeface="+mn-ea"/>
                          <a:cs typeface="+mn-cs"/>
                        </a:rPr>
                        <a:t>Có</a:t>
                      </a:r>
                      <a:endParaRPr lang="en-US" sz="2000" b="0" kern="1200" baseline="0" dirty="0">
                        <a:solidFill>
                          <a:srgbClr val="0000CC"/>
                        </a:solidFill>
                        <a:latin typeface="Rockwell" panose="02060603020205020403" pitchFamily="18" charset="0"/>
                        <a:ea typeface="+mn-ea"/>
                        <a:cs typeface="+mn-cs"/>
                      </a:endParaRPr>
                    </a:p>
                  </a:txBody>
                  <a:tcPr anchor="ctr"/>
                </a:tc>
                <a:tc>
                  <a:txBody>
                    <a:bodyPr/>
                    <a:lstStyle/>
                    <a:p>
                      <a:pPr algn="ctr"/>
                      <a:r>
                        <a:rPr lang="vi-VN" sz="2000" b="0" kern="1200" baseline="0" dirty="0" smtClean="0">
                          <a:solidFill>
                            <a:srgbClr val="0000CC"/>
                          </a:solidFill>
                          <a:latin typeface="Rockwell" panose="02060603020205020403" pitchFamily="18" charset="0"/>
                          <a:ea typeface="+mn-ea"/>
                          <a:cs typeface="+mn-cs"/>
                        </a:rPr>
                        <a:t>Ít </a:t>
                      </a:r>
                      <a:r>
                        <a:rPr lang="vi-VN" sz="2000" b="0" kern="1200" baseline="0" dirty="0">
                          <a:solidFill>
                            <a:srgbClr val="0000CC"/>
                          </a:solidFill>
                          <a:latin typeface="Rockwell" panose="02060603020205020403" pitchFamily="18" charset="0"/>
                          <a:ea typeface="+mn-ea"/>
                          <a:cs typeface="+mn-cs"/>
                        </a:rPr>
                        <a:t>hơn</a:t>
                      </a:r>
                    </a:p>
                  </a:txBody>
                  <a:tcPr anchor="ctr"/>
                </a:tc>
                <a:extLst>
                  <a:ext uri="{0D108BD9-81ED-4DB2-BD59-A6C34878D82A}">
                    <a16:rowId xmlns:a16="http://schemas.microsoft.com/office/drawing/2014/main" val="4024695351"/>
                  </a:ext>
                </a:extLst>
              </a:tr>
              <a:tr h="0">
                <a:tc>
                  <a:txBody>
                    <a:bodyPr/>
                    <a:lstStyle/>
                    <a:p>
                      <a:pPr algn="ctr"/>
                      <a:r>
                        <a:rPr lang="en-US" sz="2000" b="0" kern="1200" baseline="0" dirty="0" err="1">
                          <a:solidFill>
                            <a:srgbClr val="0000CC"/>
                          </a:solidFill>
                          <a:latin typeface="Rockwell" panose="02060603020205020403" pitchFamily="18" charset="0"/>
                          <a:ea typeface="+mn-ea"/>
                          <a:cs typeface="+mn-cs"/>
                        </a:rPr>
                        <a:t>Ví</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dụ</a:t>
                      </a:r>
                      <a:endParaRPr lang="en-US" sz="2000" b="0" kern="1200" baseline="0" dirty="0">
                        <a:solidFill>
                          <a:srgbClr val="0000CC"/>
                        </a:solidFill>
                        <a:latin typeface="Rockwell" panose="02060603020205020403" pitchFamily="18" charset="0"/>
                        <a:ea typeface="+mn-ea"/>
                        <a:cs typeface="+mn-cs"/>
                      </a:endParaRPr>
                    </a:p>
                  </a:txBody>
                  <a:tcPr anchor="ctr"/>
                </a:tc>
                <a:tc>
                  <a:txBody>
                    <a:bodyPr/>
                    <a:lstStyle/>
                    <a:p>
                      <a:pPr algn="ctr"/>
                      <a:r>
                        <a:rPr lang="en-US" sz="2000" b="0" kern="1200" baseline="0" dirty="0" err="1">
                          <a:solidFill>
                            <a:srgbClr val="0000CC"/>
                          </a:solidFill>
                          <a:latin typeface="Rockwell" panose="02060603020205020403" pitchFamily="18" charset="0"/>
                          <a:ea typeface="+mn-ea"/>
                          <a:cs typeface="+mn-cs"/>
                        </a:rPr>
                        <a:t>Nhân</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viên</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rò</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rỉ</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dữ</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liệu</a:t>
                      </a:r>
                      <a:endParaRPr lang="en-US" sz="2000" b="0" kern="1200" baseline="0" dirty="0">
                        <a:solidFill>
                          <a:srgbClr val="0000CC"/>
                        </a:solidFill>
                        <a:latin typeface="Rockwell" panose="02060603020205020403" pitchFamily="18" charset="0"/>
                        <a:ea typeface="+mn-ea"/>
                        <a:cs typeface="+mn-cs"/>
                      </a:endParaRPr>
                    </a:p>
                  </a:txBody>
                  <a:tcPr anchor="ctr"/>
                </a:tc>
                <a:tc>
                  <a:txBody>
                    <a:bodyPr/>
                    <a:lstStyle/>
                    <a:p>
                      <a:pPr algn="ctr"/>
                      <a:r>
                        <a:rPr lang="en-US" sz="2000" b="0" kern="1200" baseline="0" dirty="0">
                          <a:solidFill>
                            <a:srgbClr val="0000CC"/>
                          </a:solidFill>
                          <a:latin typeface="Rockwell" panose="02060603020205020403" pitchFamily="18" charset="0"/>
                          <a:ea typeface="+mn-ea"/>
                          <a:cs typeface="+mn-cs"/>
                        </a:rPr>
                        <a:t>Hacker </a:t>
                      </a:r>
                      <a:r>
                        <a:rPr lang="en-US" sz="2000" b="0" kern="1200" baseline="0" dirty="0" err="1">
                          <a:solidFill>
                            <a:srgbClr val="0000CC"/>
                          </a:solidFill>
                          <a:latin typeface="Rockwell" panose="02060603020205020403" pitchFamily="18" charset="0"/>
                          <a:ea typeface="+mn-ea"/>
                          <a:cs typeface="+mn-cs"/>
                        </a:rPr>
                        <a:t>tấn</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công</a:t>
                      </a:r>
                      <a:r>
                        <a:rPr lang="en-US" sz="2000" b="0" kern="1200" baseline="0" dirty="0">
                          <a:solidFill>
                            <a:srgbClr val="0000CC"/>
                          </a:solidFill>
                          <a:latin typeface="Rockwell" panose="02060603020205020403" pitchFamily="18" charset="0"/>
                          <a:ea typeface="+mn-ea"/>
                          <a:cs typeface="+mn-cs"/>
                        </a:rPr>
                        <a:t> </a:t>
                      </a:r>
                      <a:r>
                        <a:rPr lang="en-US" sz="2000" b="0" kern="1200" baseline="0" dirty="0" err="1">
                          <a:solidFill>
                            <a:srgbClr val="0000CC"/>
                          </a:solidFill>
                          <a:latin typeface="Rockwell" panose="02060603020205020403" pitchFamily="18" charset="0"/>
                          <a:ea typeface="+mn-ea"/>
                          <a:cs typeface="+mn-cs"/>
                        </a:rPr>
                        <a:t>SQLi</a:t>
                      </a:r>
                      <a:r>
                        <a:rPr lang="en-US" sz="2000" b="0" kern="1200" baseline="0" dirty="0">
                          <a:solidFill>
                            <a:srgbClr val="0000CC"/>
                          </a:solidFill>
                          <a:latin typeface="Rockwell" panose="02060603020205020403" pitchFamily="18" charset="0"/>
                          <a:ea typeface="+mn-ea"/>
                          <a:cs typeface="+mn-cs"/>
                        </a:rPr>
                        <a:t>, </a:t>
                      </a:r>
                      <a:endParaRPr lang="en-US" sz="2000" b="0" kern="1200" baseline="0" dirty="0" smtClean="0">
                        <a:solidFill>
                          <a:srgbClr val="0000CC"/>
                        </a:solidFill>
                        <a:latin typeface="Rockwell" panose="02060603020205020403" pitchFamily="18" charset="0"/>
                        <a:ea typeface="+mn-ea"/>
                        <a:cs typeface="+mn-cs"/>
                      </a:endParaRPr>
                    </a:p>
                    <a:p>
                      <a:pPr algn="ctr"/>
                      <a:r>
                        <a:rPr lang="en-US" sz="2000" b="0" kern="1200" baseline="0" dirty="0" err="1" smtClean="0">
                          <a:solidFill>
                            <a:srgbClr val="0000CC"/>
                          </a:solidFill>
                          <a:latin typeface="Rockwell" panose="02060603020205020403" pitchFamily="18" charset="0"/>
                          <a:ea typeface="+mn-ea"/>
                          <a:cs typeface="+mn-cs"/>
                        </a:rPr>
                        <a:t>DDoS</a:t>
                      </a:r>
                      <a:endParaRPr lang="en-US" sz="2000" b="0" kern="1200" baseline="0" dirty="0">
                        <a:solidFill>
                          <a:srgbClr val="0000CC"/>
                        </a:solidFill>
                        <a:latin typeface="Rockwell" panose="02060603020205020403" pitchFamily="18" charset="0"/>
                        <a:ea typeface="+mn-ea"/>
                        <a:cs typeface="+mn-cs"/>
                      </a:endParaRPr>
                    </a:p>
                  </a:txBody>
                  <a:tcPr anchor="ctr"/>
                </a:tc>
                <a:extLst>
                  <a:ext uri="{0D108BD9-81ED-4DB2-BD59-A6C34878D82A}">
                    <a16:rowId xmlns:a16="http://schemas.microsoft.com/office/drawing/2014/main" val="443409527"/>
                  </a:ext>
                </a:extLst>
              </a:tr>
            </a:tbl>
          </a:graphicData>
        </a:graphic>
      </p:graphicFrame>
    </p:spTree>
    <p:extLst>
      <p:ext uri="{BB962C8B-B14F-4D97-AF65-F5344CB8AC3E}">
        <p14:creationId xmlns:p14="http://schemas.microsoft.com/office/powerpoint/2010/main" val="33865958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rPr>
              <a:t>Ví dụ: Website thương mại điện tử bị tấn công</a:t>
            </a:r>
          </a:p>
          <a:p>
            <a:pPr marL="0" indent="0">
              <a:buNone/>
            </a:pPr>
            <a:r>
              <a:rPr lang="vi-VN" dirty="0">
                <a:solidFill>
                  <a:srgbClr val="0000CC"/>
                </a:solidFill>
                <a:latin typeface="Rockwell" panose="02060603020205020403" pitchFamily="18" charset="0"/>
              </a:rPr>
              <a:t>Một công ty có website bán hàng online. Website này chạy trên máy chủ Linux, sử dụng ứng dụng web viết bằng PHP + MySQL.</a:t>
            </a:r>
          </a:p>
          <a:p>
            <a:pPr marL="0" indent="0">
              <a:buNone/>
            </a:pPr>
            <a:r>
              <a:rPr lang="vi-VN" b="1" dirty="0" smtClean="0">
                <a:solidFill>
                  <a:srgbClr val="0000CC"/>
                </a:solidFill>
                <a:latin typeface="Rockwell" panose="02060603020205020403" pitchFamily="18" charset="0"/>
              </a:rPr>
              <a:t>Tấn </a:t>
            </a:r>
            <a:r>
              <a:rPr lang="vi-VN" b="1" dirty="0">
                <a:solidFill>
                  <a:srgbClr val="0000CC"/>
                </a:solidFill>
                <a:latin typeface="Rockwell" panose="02060603020205020403" pitchFamily="18" charset="0"/>
              </a:rPr>
              <a:t>công xảy </a:t>
            </a:r>
            <a:r>
              <a:rPr lang="vi-VN" b="1" dirty="0" smtClean="0">
                <a:solidFill>
                  <a:srgbClr val="0000CC"/>
                </a:solidFill>
                <a:latin typeface="Rockwell" panose="02060603020205020403" pitchFamily="18" charset="0"/>
              </a:rPr>
              <a:t>ra</a:t>
            </a:r>
            <a:r>
              <a:rPr lang="en-US" b="1" dirty="0" smtClean="0">
                <a:solidFill>
                  <a:srgbClr val="0000CC"/>
                </a:solidFill>
                <a:latin typeface="Rockwell" panose="02060603020205020403" pitchFamily="18" charset="0"/>
              </a:rPr>
              <a:t>:</a:t>
            </a:r>
            <a:endParaRPr lang="vi-VN" b="1" dirty="0">
              <a:solidFill>
                <a:srgbClr val="0000CC"/>
              </a:solidFill>
              <a:latin typeface="Rockwell" panose="02060603020205020403" pitchFamily="18" charset="0"/>
            </a:endParaRPr>
          </a:p>
          <a:p>
            <a:pPr lvl="1"/>
            <a:r>
              <a:rPr lang="vi-VN" dirty="0">
                <a:solidFill>
                  <a:srgbClr val="0000CC"/>
                </a:solidFill>
                <a:latin typeface="Rockwell" panose="02060603020205020403" pitchFamily="18" charset="0"/>
              </a:rPr>
              <a:t>Hacker khai thác lỗ hổng SQL Injection trong ứng dụng web để truy vấn vào cơ sở dữ liệu, lấy thông tin khách hàng (bao gồm email và số thẻ tín dụng).</a:t>
            </a:r>
          </a:p>
          <a:p>
            <a:pPr lvl="1"/>
            <a:r>
              <a:rPr lang="vi-VN" dirty="0">
                <a:solidFill>
                  <a:srgbClr val="0000CC"/>
                </a:solidFill>
                <a:latin typeface="Rockwell" panose="02060603020205020403" pitchFamily="18" charset="0"/>
              </a:rPr>
              <a:t>Sau khi xâm nhập, hacker cài backdoor vào hệ thống, từ đó chiếm quyền điều khiển máy chủ và phát tán malware sang các dịch vụ khác trong cùng mạng nội bộ.</a:t>
            </a:r>
            <a:endParaRPr lang="en-US" dirty="0" smtClean="0">
              <a:solidFill>
                <a:srgbClr val="0000CC"/>
              </a:solidFill>
              <a:latin typeface="Rockwell" panose="02060603020205020403" pitchFamily="18" charset="0"/>
            </a:endParaRPr>
          </a:p>
        </p:txBody>
      </p:sp>
    </p:spTree>
    <p:extLst>
      <p:ext uri="{BB962C8B-B14F-4D97-AF65-F5344CB8AC3E}">
        <p14:creationId xmlns:p14="http://schemas.microsoft.com/office/powerpoint/2010/main" val="24880147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rPr>
              <a:t>Ví dụ: Website thương mại điện tử bị tấn </a:t>
            </a:r>
            <a:r>
              <a:rPr lang="vi-VN" b="1" dirty="0" smtClean="0">
                <a:solidFill>
                  <a:srgbClr val="0000CC"/>
                </a:solidFill>
                <a:latin typeface="Rockwell" panose="02060603020205020403" pitchFamily="18" charset="0"/>
              </a:rPr>
              <a:t>công</a:t>
            </a:r>
            <a:endParaRPr lang="en-US" b="1" dirty="0" smtClean="0">
              <a:solidFill>
                <a:srgbClr val="0000CC"/>
              </a:solidFill>
              <a:latin typeface="Rockwell" panose="02060603020205020403" pitchFamily="18" charset="0"/>
            </a:endParaRPr>
          </a:p>
          <a:p>
            <a:pPr marL="0" indent="0">
              <a:buNone/>
            </a:pPr>
            <a:r>
              <a:rPr lang="vi-VN" b="1" dirty="0">
                <a:solidFill>
                  <a:srgbClr val="0000CC"/>
                </a:solidFill>
                <a:latin typeface="Rockwell" panose="02060603020205020403" pitchFamily="18" charset="0"/>
              </a:rPr>
              <a:t>Góc nhìn bảo mật ứng </a:t>
            </a:r>
            <a:r>
              <a:rPr lang="vi-VN" b="1" dirty="0" smtClean="0">
                <a:solidFill>
                  <a:srgbClr val="0000CC"/>
                </a:solidFill>
                <a:latin typeface="Rockwell" panose="02060603020205020403" pitchFamily="18" charset="0"/>
              </a:rPr>
              <a:t>dụng</a:t>
            </a:r>
            <a:r>
              <a:rPr lang="en-US" b="1" dirty="0" smtClean="0">
                <a:solidFill>
                  <a:srgbClr val="0000CC"/>
                </a:solidFill>
                <a:latin typeface="Rockwell" panose="02060603020205020403" pitchFamily="18" charset="0"/>
              </a:rPr>
              <a:t>:</a:t>
            </a:r>
            <a:endParaRPr lang="vi-VN" b="1" dirty="0">
              <a:solidFill>
                <a:srgbClr val="0000CC"/>
              </a:solidFill>
              <a:latin typeface="Rockwell" panose="02060603020205020403" pitchFamily="18" charset="0"/>
            </a:endParaRPr>
          </a:p>
          <a:p>
            <a:pPr lvl="1"/>
            <a:r>
              <a:rPr lang="vi-VN" dirty="0">
                <a:solidFill>
                  <a:srgbClr val="0000CC"/>
                </a:solidFill>
                <a:latin typeface="Rockwell" panose="02060603020205020403" pitchFamily="18" charset="0"/>
              </a:rPr>
              <a:t>Lỗi SQL Injection chứng tỏ ứng dụng web không kiểm tra dữ liệu đầu vào.</a:t>
            </a:r>
          </a:p>
          <a:p>
            <a:pPr lvl="1"/>
            <a:r>
              <a:rPr lang="vi-VN" dirty="0">
                <a:solidFill>
                  <a:srgbClr val="0000CC"/>
                </a:solidFill>
                <a:latin typeface="Rockwell" panose="02060603020205020403" pitchFamily="18" charset="0"/>
              </a:rPr>
              <a:t>Giải pháp: Lập trình an toàn (Prepared Statements), kiểm thử bảo mật định kỳ theo OWASP Top 10.</a:t>
            </a:r>
          </a:p>
          <a:p>
            <a:pPr marL="0" indent="0">
              <a:buNone/>
            </a:pPr>
            <a:r>
              <a:rPr lang="vi-VN" b="1" dirty="0" smtClean="0">
                <a:solidFill>
                  <a:srgbClr val="0000CC"/>
                </a:solidFill>
                <a:latin typeface="Rockwell" panose="02060603020205020403" pitchFamily="18" charset="0"/>
              </a:rPr>
              <a:t>Góc </a:t>
            </a:r>
            <a:r>
              <a:rPr lang="vi-VN" b="1" dirty="0">
                <a:solidFill>
                  <a:srgbClr val="0000CC"/>
                </a:solidFill>
                <a:latin typeface="Rockwell" panose="02060603020205020403" pitchFamily="18" charset="0"/>
              </a:rPr>
              <a:t>nhìn bảo mật hệ </a:t>
            </a:r>
            <a:r>
              <a:rPr lang="vi-VN" b="1" dirty="0" smtClean="0">
                <a:solidFill>
                  <a:srgbClr val="0000CC"/>
                </a:solidFill>
                <a:latin typeface="Rockwell" panose="02060603020205020403" pitchFamily="18" charset="0"/>
              </a:rPr>
              <a:t>thống</a:t>
            </a:r>
            <a:r>
              <a:rPr lang="en-US" b="1" dirty="0" smtClean="0">
                <a:solidFill>
                  <a:srgbClr val="0000CC"/>
                </a:solidFill>
                <a:latin typeface="Rockwell" panose="02060603020205020403" pitchFamily="18" charset="0"/>
              </a:rPr>
              <a:t>:</a:t>
            </a:r>
            <a:endParaRPr lang="vi-VN" b="1" dirty="0">
              <a:solidFill>
                <a:srgbClr val="0000CC"/>
              </a:solidFill>
              <a:latin typeface="Rockwell" panose="02060603020205020403" pitchFamily="18" charset="0"/>
            </a:endParaRPr>
          </a:p>
          <a:p>
            <a:pPr lvl="1"/>
            <a:r>
              <a:rPr lang="vi-VN" dirty="0">
                <a:solidFill>
                  <a:srgbClr val="0000CC"/>
                </a:solidFill>
                <a:latin typeface="Rockwell" panose="02060603020205020403" pitchFamily="18" charset="0"/>
              </a:rPr>
              <a:t>Hacker có thể cài backdoor là do máy chủ không được giám sát và vá lỗi kịp thời.</a:t>
            </a:r>
          </a:p>
          <a:p>
            <a:pPr lvl="1"/>
            <a:r>
              <a:rPr lang="vi-VN" dirty="0">
                <a:solidFill>
                  <a:srgbClr val="0000CC"/>
                </a:solidFill>
                <a:latin typeface="Rockwell" panose="02060603020205020403" pitchFamily="18" charset="0"/>
              </a:rPr>
              <a:t>Giải pháp: Cập nhật bản vá hệ điều hành, dùng IDS/IPS để phát hiện hành vi bất thường, giới hạn quyền truy cập của user hệ thống.</a:t>
            </a:r>
          </a:p>
        </p:txBody>
      </p:sp>
    </p:spTree>
    <p:extLst>
      <p:ext uri="{BB962C8B-B14F-4D97-AF65-F5344CB8AC3E}">
        <p14:creationId xmlns:p14="http://schemas.microsoft.com/office/powerpoint/2010/main" val="7884456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00936"/>
            <a:ext cx="10242645" cy="518431"/>
          </a:xfrm>
        </p:spPr>
        <p:txBody>
          <a:bodyPr/>
          <a:lstStyle/>
          <a:p>
            <a:r>
              <a:rPr lang="en-US" sz="2800" b="1" dirty="0" smtClean="0">
                <a:solidFill>
                  <a:srgbClr val="0000CC"/>
                </a:solidFill>
                <a:latin typeface="Rockwell" panose="02060603020205020403" pitchFamily="18" charset="0"/>
              </a:rPr>
              <a:t>1.1.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rPr>
              <a:t>Ví dụ: Website thương mại điện tử bị tấn </a:t>
            </a:r>
            <a:r>
              <a:rPr lang="vi-VN" b="1" dirty="0" smtClean="0">
                <a:solidFill>
                  <a:srgbClr val="0000CC"/>
                </a:solidFill>
                <a:latin typeface="Rockwell" panose="02060603020205020403" pitchFamily="18" charset="0"/>
              </a:rPr>
              <a:t>công</a:t>
            </a:r>
            <a:endParaRPr lang="en-US" b="1" dirty="0" smtClean="0">
              <a:solidFill>
                <a:srgbClr val="0000CC"/>
              </a:solidFill>
              <a:latin typeface="Rockwell" panose="02060603020205020403" pitchFamily="18" charset="0"/>
            </a:endParaRPr>
          </a:p>
          <a:p>
            <a:pPr marL="0" indent="0">
              <a:buNone/>
            </a:pPr>
            <a:r>
              <a:rPr lang="vi-VN" b="1" dirty="0">
                <a:solidFill>
                  <a:srgbClr val="0000CC"/>
                </a:solidFill>
                <a:latin typeface="Rockwell" panose="02060603020205020403" pitchFamily="18" charset="0"/>
              </a:rPr>
              <a:t>Như vậy:</a:t>
            </a:r>
          </a:p>
          <a:p>
            <a:pPr lvl="1"/>
            <a:r>
              <a:rPr lang="vi-VN" dirty="0">
                <a:solidFill>
                  <a:srgbClr val="0000CC"/>
                </a:solidFill>
                <a:latin typeface="Rockwell" panose="02060603020205020403" pitchFamily="18" charset="0"/>
              </a:rPr>
              <a:t>Nếu chỉ làm bảo mật ứng dụng mà quên bảo mật hệ thống thì hacker vẫn chiếm quyền điều khiển.</a:t>
            </a:r>
          </a:p>
          <a:p>
            <a:pPr lvl="1"/>
            <a:r>
              <a:rPr lang="vi-VN" dirty="0">
                <a:solidFill>
                  <a:srgbClr val="0000CC"/>
                </a:solidFill>
                <a:latin typeface="Rockwell" panose="02060603020205020403" pitchFamily="18" charset="0"/>
              </a:rPr>
              <a:t>Nếu chỉ bảo mật hệ thống mà bỏ qua ứng dụng thì hacker vẫn có thể khai thác lỗ hổng web.</a:t>
            </a:r>
          </a:p>
          <a:p>
            <a:pPr marL="0" indent="0">
              <a:buNone/>
            </a:pPr>
            <a:endParaRPr lang="vi-VN" b="1" dirty="0">
              <a:solidFill>
                <a:srgbClr val="0000CC"/>
              </a:solidFill>
              <a:latin typeface="Rockwell" panose="02060603020205020403" pitchFamily="18" charset="0"/>
            </a:endParaRPr>
          </a:p>
          <a:p>
            <a:pPr marL="0" indent="0" algn="ctr">
              <a:buNone/>
            </a:pPr>
            <a:r>
              <a:rPr lang="vi-VN" b="1" dirty="0">
                <a:solidFill>
                  <a:srgbClr val="CC00FF"/>
                </a:solidFill>
                <a:latin typeface="Rockwell" panose="02060603020205020403" pitchFamily="18" charset="0"/>
              </a:rPr>
              <a:t>Nên cần phối hợp cả hai lớp bảo vệ để xây dựng hệ thống an toàn.</a:t>
            </a:r>
            <a:endParaRPr lang="en-US" b="1" dirty="0" smtClean="0">
              <a:solidFill>
                <a:srgbClr val="CC00FF"/>
              </a:solidFill>
              <a:latin typeface="Rockwell" panose="02060603020205020403" pitchFamily="18" charset="0"/>
            </a:endParaRPr>
          </a:p>
        </p:txBody>
      </p:sp>
    </p:spTree>
    <p:extLst>
      <p:ext uri="{BB962C8B-B14F-4D97-AF65-F5344CB8AC3E}">
        <p14:creationId xmlns:p14="http://schemas.microsoft.com/office/powerpoint/2010/main" val="133166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5198"/>
            <a:ext cx="10820401" cy="474264"/>
          </a:xfrm>
        </p:spPr>
        <p:txBody>
          <a:bodyPr/>
          <a:lstStyle/>
          <a:p>
            <a:r>
              <a:rPr lang="en-US" sz="2800" b="1" dirty="0" smtClean="0">
                <a:solidFill>
                  <a:srgbClr val="0000CC"/>
                </a:solidFill>
                <a:latin typeface="Rockwell" panose="02060603020205020403" pitchFamily="18" charset="0"/>
              </a:rPr>
              <a:t>1.2.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174406" cy="4382729"/>
          </a:xfrm>
        </p:spPr>
        <p:txBody>
          <a:bodyPr/>
          <a:lstStyle/>
          <a:p>
            <a:pPr marL="0" indent="0">
              <a:spcAft>
                <a:spcPts val="12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Least Privilege (Ít quyền nhất)</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Chỉ cấp cho người dùng, tiến trình hoặc dịch vụ mức quyền tối thiểu cần thiết để thực hiện công việc.</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iảm nguy cơ lạm dụng quyền, hạn chế phạm vi ảnh hưởng nếu bị tấn công.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viên kế toán chỉ có quyền truy cập dữ liệu tài chính, không được truy cập mã nguồn.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Tài khoản dịch vụ web chỉ có quyền đọc CSDL, không có quyền ghi/xóa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12578841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19082"/>
            <a:ext cx="10820401" cy="474264"/>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106167"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Defense in Depth (Phòng thủ nhiều lớp)</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Xây dựng nhiều lớp bảo vệ để nếu một lớp bị phá vỡ thì các lớp khác vẫn đảm bảo an toàn cho hệ thống.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lớp phòng thủ có thể gồm:</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Firewall, IDS/IPS,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điều hành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C</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ập nhật bản vá, phân quyền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file</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X</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ác thực, mã hóa dữ liệu, kiểm tra đầu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Người dùng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Đ</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ào tạo nhận thức bảo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Ngay cả khi hacker vượt qua firewall, họ vẫn phải đối mặt với xác thực hai lớp (MFA) và cơ chế giới hạn quyền truy cập.</a:t>
            </a:r>
          </a:p>
          <a:p>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7754202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3439"/>
            <a:ext cx="10820401" cy="449907"/>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228998" cy="4382729"/>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Sự</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phối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giữa</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i="1" dirty="0" smtClean="0">
              <a:solidFill>
                <a:srgbClr val="0000CC"/>
              </a:solidFill>
              <a:latin typeface="Rockwell" panose="02060603020205020403" pitchFamily="18" charset="0"/>
            </a:endParaRPr>
          </a:p>
          <a:p>
            <a:pPr marL="0" indent="0">
              <a:spcBef>
                <a:spcPts val="600"/>
              </a:spcBef>
              <a:spcAft>
                <a:spcPts val="600"/>
              </a:spcAft>
              <a:buNone/>
            </a:pPr>
            <a:r>
              <a:rPr lang="vi-VN" b="1" i="1" dirty="0" smtClean="0">
                <a:solidFill>
                  <a:srgbClr val="0000CC"/>
                </a:solidFill>
                <a:latin typeface="Rockwell" panose="02060603020205020403" pitchFamily="18" charset="0"/>
              </a:rPr>
              <a:t>1</a:t>
            </a:r>
            <a:r>
              <a:rPr lang="vi-VN" b="1" i="1" dirty="0">
                <a:solidFill>
                  <a:srgbClr val="0000CC"/>
                </a:solidFill>
                <a:latin typeface="Rockwell" panose="02060603020205020403" pitchFamily="18" charset="0"/>
              </a:rPr>
              <a:t>. Defense in Depth (Phòng thủ nhiều lớp) – "Chiều rộng":</a:t>
            </a:r>
          </a:p>
          <a:p>
            <a:pPr>
              <a:spcBef>
                <a:spcPts val="600"/>
              </a:spcBef>
              <a:spcAft>
                <a:spcPts val="600"/>
              </a:spcAft>
            </a:pPr>
            <a:r>
              <a:rPr lang="vi-VN" i="1" dirty="0" smtClean="0">
                <a:solidFill>
                  <a:srgbClr val="0000CC"/>
                </a:solidFill>
                <a:latin typeface="Rockwell" panose="02060603020205020403" pitchFamily="18" charset="0"/>
              </a:rPr>
              <a:t>Triển </a:t>
            </a:r>
            <a:r>
              <a:rPr lang="vi-VN" i="1" dirty="0">
                <a:solidFill>
                  <a:srgbClr val="0000CC"/>
                </a:solidFill>
                <a:latin typeface="Rockwell" panose="02060603020205020403" pitchFamily="18" charset="0"/>
              </a:rPr>
              <a:t>khai nhiều lớp bảo vệ từ ngoài vào trong (mạng </a:t>
            </a:r>
            <a:r>
              <a:rPr lang="en-US" i="1" dirty="0" smtClean="0">
                <a:solidFill>
                  <a:srgbClr val="0000CC"/>
                </a:solidFill>
                <a:latin typeface="Rockwell" panose="02060603020205020403" pitchFamily="18" charset="0"/>
              </a:rPr>
              <a:t>-</a:t>
            </a:r>
            <a:r>
              <a:rPr lang="vi-VN" i="1" dirty="0" smtClean="0">
                <a:solidFill>
                  <a:srgbClr val="0000CC"/>
                </a:solidFill>
                <a:latin typeface="Rockwell" panose="02060603020205020403" pitchFamily="18" charset="0"/>
              </a:rPr>
              <a:t> </a:t>
            </a:r>
            <a:r>
              <a:rPr lang="vi-VN" i="1" dirty="0">
                <a:solidFill>
                  <a:srgbClr val="0000CC"/>
                </a:solidFill>
                <a:latin typeface="Rockwell" panose="02060603020205020403" pitchFamily="18" charset="0"/>
              </a:rPr>
              <a:t>hệ điều hành </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ứng </a:t>
            </a:r>
            <a:r>
              <a:rPr lang="vi-VN" i="1" dirty="0">
                <a:solidFill>
                  <a:srgbClr val="0000CC"/>
                </a:solidFill>
                <a:latin typeface="Rockwell" panose="02060603020205020403" pitchFamily="18" charset="0"/>
              </a:rPr>
              <a:t>dụng </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dữ </a:t>
            </a:r>
            <a:r>
              <a:rPr lang="vi-VN" i="1" dirty="0">
                <a:solidFill>
                  <a:srgbClr val="0000CC"/>
                </a:solidFill>
                <a:latin typeface="Rockwell" panose="02060603020205020403" pitchFamily="18" charset="0"/>
              </a:rPr>
              <a:t>liệu </a:t>
            </a:r>
            <a:r>
              <a:rPr lang="en-US" i="1" dirty="0" smtClean="0">
                <a:solidFill>
                  <a:srgbClr val="0000CC"/>
                </a:solidFill>
                <a:latin typeface="Rockwell" panose="02060603020205020403" pitchFamily="18" charset="0"/>
              </a:rPr>
              <a:t>-</a:t>
            </a:r>
            <a:r>
              <a:rPr lang="vi-VN" i="1" dirty="0" smtClean="0">
                <a:solidFill>
                  <a:srgbClr val="0000CC"/>
                </a:solidFill>
                <a:latin typeface="Rockwell" panose="02060603020205020403" pitchFamily="18" charset="0"/>
              </a:rPr>
              <a:t> </a:t>
            </a:r>
            <a:r>
              <a:rPr lang="vi-VN" i="1" dirty="0">
                <a:solidFill>
                  <a:srgbClr val="0000CC"/>
                </a:solidFill>
                <a:latin typeface="Rockwell" panose="02060603020205020403" pitchFamily="18" charset="0"/>
              </a:rPr>
              <a:t>người dùng</a:t>
            </a:r>
            <a:r>
              <a:rPr lang="vi-VN" i="1" dirty="0" smtClean="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a:t>
            </a:r>
            <a:endParaRPr lang="vi-VN" i="1" dirty="0">
              <a:solidFill>
                <a:srgbClr val="0000CC"/>
              </a:solidFill>
              <a:latin typeface="Rockwell" panose="02060603020205020403" pitchFamily="18" charset="0"/>
            </a:endParaRPr>
          </a:p>
          <a:p>
            <a:pPr>
              <a:spcBef>
                <a:spcPts val="600"/>
              </a:spcBef>
              <a:spcAft>
                <a:spcPts val="600"/>
              </a:spcAft>
            </a:pPr>
            <a:r>
              <a:rPr lang="vi-VN" i="1" dirty="0" smtClean="0">
                <a:solidFill>
                  <a:srgbClr val="0000CC"/>
                </a:solidFill>
                <a:latin typeface="Rockwell" panose="02060603020205020403" pitchFamily="18" charset="0"/>
              </a:rPr>
              <a:t>Nếu </a:t>
            </a:r>
            <a:r>
              <a:rPr lang="vi-VN" i="1" dirty="0">
                <a:solidFill>
                  <a:srgbClr val="0000CC"/>
                </a:solidFill>
                <a:latin typeface="Rockwell" panose="02060603020205020403" pitchFamily="18" charset="0"/>
              </a:rPr>
              <a:t>một lớp bị phá vỡ, các lớp khác vẫn đứng vững để giảm thiểu thiệt </a:t>
            </a:r>
            <a:r>
              <a:rPr lang="vi-VN" i="1" dirty="0" smtClean="0">
                <a:solidFill>
                  <a:srgbClr val="0000CC"/>
                </a:solidFill>
                <a:latin typeface="Rockwell" panose="02060603020205020403" pitchFamily="18" charset="0"/>
              </a:rPr>
              <a:t>hại</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Tập </a:t>
            </a:r>
            <a:r>
              <a:rPr lang="vi-VN" i="1" dirty="0">
                <a:solidFill>
                  <a:srgbClr val="0000CC"/>
                </a:solidFill>
                <a:latin typeface="Rockwell" panose="02060603020205020403" pitchFamily="18" charset="0"/>
              </a:rPr>
              <a:t>trung vào đa tầng phòng thủ.</a:t>
            </a:r>
          </a:p>
          <a:p>
            <a:pPr marL="0" indent="0">
              <a:spcBef>
                <a:spcPts val="600"/>
              </a:spcBef>
              <a:spcAft>
                <a:spcPts val="600"/>
              </a:spcAft>
              <a:buNone/>
            </a:pPr>
            <a:r>
              <a:rPr lang="vi-VN" b="1" i="1" dirty="0" smtClean="0">
                <a:solidFill>
                  <a:srgbClr val="0000CC"/>
                </a:solidFill>
                <a:latin typeface="Rockwell" panose="02060603020205020403" pitchFamily="18" charset="0"/>
              </a:rPr>
              <a:t>2</a:t>
            </a:r>
            <a:r>
              <a:rPr lang="vi-VN" b="1" i="1" dirty="0">
                <a:solidFill>
                  <a:srgbClr val="0000CC"/>
                </a:solidFill>
                <a:latin typeface="Rockwell" panose="02060603020205020403" pitchFamily="18" charset="0"/>
              </a:rPr>
              <a:t>. Least Privilege (Ít quyền nhất) – "Chiều sâu":</a:t>
            </a:r>
          </a:p>
          <a:p>
            <a:pPr>
              <a:spcBef>
                <a:spcPts val="600"/>
              </a:spcBef>
              <a:spcAft>
                <a:spcPts val="600"/>
              </a:spcAft>
            </a:pPr>
            <a:r>
              <a:rPr lang="vi-VN" i="1" dirty="0" smtClean="0">
                <a:solidFill>
                  <a:srgbClr val="0000CC"/>
                </a:solidFill>
                <a:latin typeface="Rockwell" panose="02060603020205020403" pitchFamily="18" charset="0"/>
              </a:rPr>
              <a:t>Áp </a:t>
            </a:r>
            <a:r>
              <a:rPr lang="vi-VN" i="1" dirty="0">
                <a:solidFill>
                  <a:srgbClr val="0000CC"/>
                </a:solidFill>
                <a:latin typeface="Rockwell" panose="02060603020205020403" pitchFamily="18" charset="0"/>
              </a:rPr>
              <a:t>dụng bên trong từng lớp của Defense in Depth.</a:t>
            </a:r>
          </a:p>
          <a:p>
            <a:pPr>
              <a:spcBef>
                <a:spcPts val="600"/>
              </a:spcBef>
              <a:spcAft>
                <a:spcPts val="600"/>
              </a:spcAft>
            </a:pPr>
            <a:r>
              <a:rPr lang="vi-VN" i="1" dirty="0" smtClean="0">
                <a:solidFill>
                  <a:srgbClr val="0000CC"/>
                </a:solidFill>
                <a:latin typeface="Rockwell" panose="02060603020205020403" pitchFamily="18" charset="0"/>
              </a:rPr>
              <a:t>Mỗi </a:t>
            </a:r>
            <a:r>
              <a:rPr lang="vi-VN" i="1" dirty="0">
                <a:solidFill>
                  <a:srgbClr val="0000CC"/>
                </a:solidFill>
                <a:latin typeface="Rockwell" panose="02060603020205020403" pitchFamily="18" charset="0"/>
              </a:rPr>
              <a:t>người dùng, dịch vụ, tiến trình chỉ được cấp đúng quyền cần thiết để làm việc, không hơn.</a:t>
            </a:r>
          </a:p>
          <a:p>
            <a:pPr>
              <a:spcBef>
                <a:spcPts val="600"/>
              </a:spcBef>
              <a:spcAft>
                <a:spcPts val="600"/>
              </a:spcAft>
            </a:pPr>
            <a:r>
              <a:rPr lang="vi-VN" i="1" dirty="0" smtClean="0">
                <a:solidFill>
                  <a:srgbClr val="0000CC"/>
                </a:solidFill>
                <a:latin typeface="Rockwell" panose="02060603020205020403" pitchFamily="18" charset="0"/>
              </a:rPr>
              <a:t>Hạn </a:t>
            </a:r>
            <a:r>
              <a:rPr lang="vi-VN" i="1" dirty="0">
                <a:solidFill>
                  <a:srgbClr val="0000CC"/>
                </a:solidFill>
                <a:latin typeface="Rockwell" panose="02060603020205020403" pitchFamily="18" charset="0"/>
              </a:rPr>
              <a:t>chế tối đa tác động nếu một tài khoản hoặc tiến trình bị xâm nhập.</a:t>
            </a:r>
          </a:p>
          <a:p>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42382358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16142"/>
            <a:ext cx="10820401" cy="477204"/>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256294" cy="4382729"/>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Sự</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phối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giữa</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Depth (Cont.)</a:t>
            </a:r>
            <a:endParaRPr lang="en-US" i="1" dirty="0" smtClean="0">
              <a:solidFill>
                <a:srgbClr val="0000CC"/>
              </a:solidFill>
              <a:latin typeface="Rockwell" panose="02060603020205020403" pitchFamily="18" charset="0"/>
            </a:endParaRPr>
          </a:p>
          <a:p>
            <a:pPr marL="0" indent="0">
              <a:spcBef>
                <a:spcPts val="600"/>
              </a:spcBef>
              <a:spcAft>
                <a:spcPts val="600"/>
              </a:spcAft>
              <a:buNone/>
            </a:pPr>
            <a:r>
              <a:rPr lang="vi-VN" b="1" i="1" dirty="0">
                <a:solidFill>
                  <a:srgbClr val="0000CC"/>
                </a:solidFill>
                <a:latin typeface="Rockwell" panose="02060603020205020403" pitchFamily="18" charset="0"/>
              </a:rPr>
              <a:t>3. Sự phối hợp</a:t>
            </a:r>
          </a:p>
          <a:p>
            <a:pPr>
              <a:spcBef>
                <a:spcPts val="600"/>
              </a:spcBef>
              <a:spcAft>
                <a:spcPts val="600"/>
              </a:spcAft>
            </a:pPr>
            <a:r>
              <a:rPr lang="vi-VN" i="1" dirty="0">
                <a:solidFill>
                  <a:srgbClr val="0000CC"/>
                </a:solidFill>
                <a:latin typeface="Rockwell" panose="02060603020205020403" pitchFamily="18" charset="0"/>
              </a:rPr>
              <a:t>Defense in Depth là bản thiết kế tổng thể nhiều lớp bảo vệ.</a:t>
            </a:r>
          </a:p>
          <a:p>
            <a:pPr>
              <a:spcBef>
                <a:spcPts val="600"/>
              </a:spcBef>
              <a:spcAft>
                <a:spcPts val="600"/>
              </a:spcAft>
            </a:pPr>
            <a:r>
              <a:rPr lang="vi-VN" i="1" dirty="0">
                <a:solidFill>
                  <a:srgbClr val="0000CC"/>
                </a:solidFill>
                <a:latin typeface="Rockwell" panose="02060603020205020403" pitchFamily="18" charset="0"/>
              </a:rPr>
              <a:t>Least Privilege là chiến lược cụ thể bên trong từng lớp để giảm quyền truy cập không cần thiết.</a:t>
            </a:r>
          </a:p>
          <a:p>
            <a:pPr>
              <a:spcBef>
                <a:spcPts val="600"/>
              </a:spcBef>
              <a:spcAft>
                <a:spcPts val="600"/>
              </a:spcAft>
            </a:pPr>
            <a:r>
              <a:rPr lang="vi-VN" i="1" dirty="0">
                <a:solidFill>
                  <a:srgbClr val="0000CC"/>
                </a:solidFill>
                <a:latin typeface="Rockwell" panose="02060603020205020403" pitchFamily="18" charset="0"/>
              </a:rPr>
              <a:t>Khi </a:t>
            </a:r>
            <a:r>
              <a:rPr lang="en-US" i="1" dirty="0" err="1" smtClean="0">
                <a:solidFill>
                  <a:srgbClr val="0000CC"/>
                </a:solidFill>
                <a:latin typeface="Rockwell" panose="02060603020205020403" pitchFamily="18" charset="0"/>
              </a:rPr>
              <a:t>phối</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hợp:</a:t>
            </a:r>
            <a:endParaRPr lang="en-US" i="1" dirty="0" smtClean="0">
              <a:solidFill>
                <a:srgbClr val="0000CC"/>
              </a:solidFill>
              <a:latin typeface="Rockwell" panose="02060603020205020403" pitchFamily="18" charset="0"/>
            </a:endParaRPr>
          </a:p>
          <a:p>
            <a:pPr lvl="1">
              <a:spcBef>
                <a:spcPts val="600"/>
              </a:spcBef>
              <a:spcAft>
                <a:spcPts val="600"/>
              </a:spcAft>
            </a:pPr>
            <a:r>
              <a:rPr lang="vi-VN" i="1" dirty="0" smtClean="0">
                <a:solidFill>
                  <a:srgbClr val="0000CC"/>
                </a:solidFill>
                <a:latin typeface="Rockwell" panose="02060603020205020403" pitchFamily="18" charset="0"/>
              </a:rPr>
              <a:t>Mỗi </a:t>
            </a:r>
            <a:r>
              <a:rPr lang="vi-VN" i="1" dirty="0">
                <a:solidFill>
                  <a:srgbClr val="0000CC"/>
                </a:solidFill>
                <a:latin typeface="Rockwell" panose="02060603020205020403" pitchFamily="18" charset="0"/>
              </a:rPr>
              <a:t>lớp bảo mật được thiết kế không chỉ để ngăn chặn mà còn để giảm hậu quả khi bị vượt </a:t>
            </a:r>
            <a:r>
              <a:rPr lang="vi-VN" i="1" dirty="0" smtClean="0">
                <a:solidFill>
                  <a:srgbClr val="0000CC"/>
                </a:solidFill>
                <a:latin typeface="Rockwell" panose="02060603020205020403" pitchFamily="18" charset="0"/>
              </a:rPr>
              <a:t>qua</a:t>
            </a:r>
            <a:r>
              <a:rPr lang="en-US" i="1" dirty="0" smtClean="0">
                <a:solidFill>
                  <a:srgbClr val="0000CC"/>
                </a:solidFill>
                <a:latin typeface="Rockwell" panose="02060603020205020403" pitchFamily="18" charset="0"/>
              </a:rPr>
              <a:t>;</a:t>
            </a:r>
          </a:p>
          <a:p>
            <a:pPr lvl="1">
              <a:spcBef>
                <a:spcPts val="600"/>
              </a:spcBef>
              <a:spcAft>
                <a:spcPts val="600"/>
              </a:spcAft>
            </a:pPr>
            <a:r>
              <a:rPr lang="vi-VN" i="1" dirty="0" smtClean="0">
                <a:solidFill>
                  <a:srgbClr val="0000CC"/>
                </a:solidFill>
                <a:latin typeface="Rockwell" panose="02060603020205020403" pitchFamily="18" charset="0"/>
              </a:rPr>
              <a:t>Hacker </a:t>
            </a:r>
            <a:r>
              <a:rPr lang="vi-VN" i="1" dirty="0">
                <a:solidFill>
                  <a:srgbClr val="0000CC"/>
                </a:solidFill>
                <a:latin typeface="Rockwell" panose="02060603020205020403" pitchFamily="18" charset="0"/>
              </a:rPr>
              <a:t>dù vượt được một lớp vẫn không thể dễ dàng leo thang đặc quyền, nhờ nguyên tắc Least </a:t>
            </a:r>
            <a:r>
              <a:rPr lang="vi-VN" i="1" dirty="0" smtClean="0">
                <a:solidFill>
                  <a:srgbClr val="0000CC"/>
                </a:solidFill>
                <a:latin typeface="Rockwell" panose="02060603020205020403" pitchFamily="18" charset="0"/>
              </a:rPr>
              <a:t>Privilege.</a:t>
            </a:r>
            <a:endParaRPr lang="en-US" dirty="0">
              <a:solidFill>
                <a:srgbClr val="0000CC"/>
              </a:solidFill>
              <a:latin typeface="Rockwell" panose="02060603020205020403" pitchFamily="18" charset="0"/>
            </a:endParaRPr>
          </a:p>
          <a:p>
            <a:pPr marL="0" lvl="1" indent="0" algn="just">
              <a:spcBef>
                <a:spcPts val="600"/>
              </a:spcBef>
              <a:spcAft>
                <a:spcPts val="600"/>
              </a:spcAft>
              <a:buNone/>
            </a:pPr>
            <a:r>
              <a:rPr lang="vi-VN" sz="2600" dirty="0">
                <a:solidFill>
                  <a:srgbClr val="FF00FF"/>
                </a:solidFill>
                <a:latin typeface="Rockwell" panose="02060603020205020403" pitchFamily="18" charset="0"/>
              </a:rPr>
              <a:t>Hai nguyên tắc này không tách biệt, mà bổ trợ và tăng cường hiệu quả cho nhau</a:t>
            </a:r>
            <a:r>
              <a:rPr lang="en-US" sz="2600" dirty="0">
                <a:solidFill>
                  <a:srgbClr val="FF00FF"/>
                </a:solidFill>
                <a:latin typeface="Rockwell" panose="02060603020205020403" pitchFamily="18" charset="0"/>
              </a:rPr>
              <a:t>.</a:t>
            </a:r>
            <a:endParaRPr lang="vi-VN" sz="2600" dirty="0">
              <a:solidFill>
                <a:srgbClr val="FF00FF"/>
              </a:solidFill>
              <a:latin typeface="Rockwell" panose="02060603020205020403" pitchFamily="18" charset="0"/>
            </a:endParaRP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3721687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88846"/>
            <a:ext cx="10820401" cy="515207"/>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9915100" cy="4382729"/>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Tình huống: Hệ thống quản lý bán hàng online</a:t>
            </a: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Mạng (Firewall + IDS/IPS)</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Chặn mọi kết nối đến các cổng không cần thiết.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Giám sát lưu lượng mạng để phát hiện truy cập bất thường.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hacker vượt được tường lửa, họ sẽ đến lớp tiếp theo.</a:t>
            </a: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2</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điều hành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điều hành được cập nhật bản vá mới nhất.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Tài khoản dịch vụ web chạy với quyền non-root.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hacker chiếm được server, họ không có quyền root để phá toàn bộ hệ thống.</a:t>
            </a: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7245606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29790"/>
            <a:ext cx="10820401" cy="463556"/>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283589" cy="4382729"/>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Tình huống: Hệ thống quản lý bán hàng online</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3</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 web</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Xác thực người dùng qua MFA.</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và lọc dữ liệu đầu vào để chống SQL Injection.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hacker tìm thấy lỗ hổng SQLi, họ chỉ truy vấn được một bảng dữ liệu giới hạn vì quyền DB chỉ là “read-only” (Least Privilege).</a:t>
            </a: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4</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sở dữ liệu</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CSDL phân quyền chi tiết: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ài khoản ứng dụng chỉ được đọc dữ liệu khách hàng, không được truy cập bảng nhân sự hay chỉnh sửa cấu trúc bảng.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Ngay cả khi truy cập được DB, hacker không thể lấy hoặc sửa thông tin ngoài phạm vi được cấp quyền.</a:t>
            </a: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9335552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3437"/>
            <a:ext cx="10820401" cy="449909"/>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556544"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Bài tập tình huống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Đề</a:t>
            </a: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bài</a:t>
            </a: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ty ShopOnline vận hành một hệ thống thương mại điện tử, bao gồm:</a:t>
            </a:r>
          </a:p>
          <a:p>
            <a:pPr marL="806450">
              <a:spcBef>
                <a:spcPts val="600"/>
              </a:spcBef>
              <a:spcAft>
                <a:spcPts val="600"/>
              </a:spcAft>
              <a:tabLst>
                <a:tab pos="804863" algn="l"/>
              </a:tabLst>
            </a:pP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Website bán hàng chạy trên máy chủ web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Linux</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806450">
              <a:spcBef>
                <a:spcPts val="600"/>
              </a:spcBef>
              <a:spcAft>
                <a:spcPts val="600"/>
              </a:spcAft>
              <a:tabLst>
                <a:tab pos="804863" algn="l"/>
              </a:tabLst>
            </a:pP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sở dữ liệu MySQL chứa thông tin khách hàng và đơn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hang</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806450">
              <a:spcBef>
                <a:spcPts val="600"/>
              </a:spcBef>
              <a:spcAft>
                <a:spcPts val="600"/>
              </a:spcAft>
              <a:tabLst>
                <a:tab pos="804863" algn="l"/>
              </a:tabLst>
            </a:pP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Mạng nội bộ kết nối văn phòng với trung tâm dữ liệu qua VPN.</a:t>
            </a:r>
          </a:p>
          <a:p>
            <a:pPr marL="0" indent="0">
              <a:spcBef>
                <a:spcPts val="600"/>
              </a:spcBef>
              <a:spcAft>
                <a:spcPts val="600"/>
              </a:spcAft>
              <a:buNone/>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ngày, bộ phận IT phát hiện hacker đã khai thác một lỗ hổng trong ứng dụng web để tải lên một file độc hại (web shell).</a:t>
            </a:r>
            <a:b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Sau đó, hacker cố gắng: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Truy cập hệ điều hành để xem file cấu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Đọc dữ liệu khách hàng trong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MySQL</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Chiếm toàn quyền điều khiển hệ thống.</a:t>
            </a: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12400863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60026"/>
            <a:ext cx="10820401" cy="528855"/>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215350" cy="4382729"/>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Bài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tập</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Yêu cầu sinh viên:</a:t>
            </a:r>
          </a:p>
          <a:p>
            <a:pPr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tích xem nếu công ty chỉ áp dụng Defense in Depth nhưng không áp dụng Least Privilege, thì hacker có thể làm được gì.</a:t>
            </a:r>
          </a:p>
          <a:p>
            <a:pPr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Đề xuất cách áp dụng kết hợp Defense in Depth + Least Privilege để giảm thiểu thiệt hại.</a:t>
            </a:r>
          </a:p>
          <a:p>
            <a:pPr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Xác định tại mỗi lớp phòng thủ, bạn sẽ áp dụng biện pháp gì để:</a:t>
            </a: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Ngăn chặn hacker từ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đầu</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Hạn chế quyền nếu lớp đó bị vượt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qua</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41883677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70733"/>
            <a:ext cx="10820401" cy="528855"/>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078873" cy="4382729"/>
          </a:xfrm>
        </p:spPr>
        <p:txBody>
          <a:bodyPr/>
          <a:lstStyle/>
          <a:p>
            <a:pPr marL="0" indent="0">
              <a:lnSpc>
                <a:spcPct val="100000"/>
              </a:lnSpc>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Bài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tập</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lnSpc>
                <a:spcPct val="100000"/>
              </a:lnSpc>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Gợi ý trả lời </a:t>
            </a: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mẫu</a:t>
            </a: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nSpc>
                <a:spcPct val="100000"/>
              </a:lnSpc>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không có Least Privilege, tài khoản ứng dụng web có quyền root hoặc DB full access</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dẫn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đến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hacker có thể đọc toàn bộ dữ liệu và phá hủy hệ thống.</a:t>
            </a:r>
          </a:p>
          <a:p>
            <a:pPr>
              <a:lnSpc>
                <a:spcPct val="100000"/>
              </a:lnSpc>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hợp cả hai nguyên tắc:</a:t>
            </a: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Mạng: Firewall chỉ mở cổng 80/443, IDS cảnh báo truy cập bất thường.</a:t>
            </a: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điều hành: Tài khoản web không chạy bằng quyền root.</a:t>
            </a: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 Tài khoản DB chỉ có quyền đọc, không chỉnh sửa.</a:t>
            </a: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CSDL: Mã hóa thông tin nhạy cảm, phân quyền bảng dữ liệu.</a:t>
            </a: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41660966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87"/>
            <a:ext cx="10820401" cy="501559"/>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570192"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Lời giải chi tiết</a:t>
            </a:r>
          </a:p>
          <a:p>
            <a:pPr marL="0" indent="0">
              <a:spcBef>
                <a:spcPts val="600"/>
              </a:spcBef>
              <a:spcAft>
                <a:spcPts val="600"/>
              </a:spcAft>
              <a:buNone/>
            </a:pP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1. </a:t>
            </a: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Trường hợp chỉ có Defense in Depth, không có Least Privilege</a:t>
            </a:r>
          </a:p>
          <a:p>
            <a:pPr>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mạng: Firewall chặn một số truy cập, nhưng hacker đã vượt qua bằng cách tấn công trực tiếp vào ứng dụng web.</a:t>
            </a:r>
          </a:p>
          <a:p>
            <a:pPr>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ứng dụng: Lỗ hổng cho phép tải lên web shell ⇒ hacker truy cập hệ điều hành.</a:t>
            </a:r>
          </a:p>
          <a:p>
            <a:pPr>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hệ điều hành: Nếu tài khoản chạy web có quyền root, hacker có toàn quyền điều khiển server.</a:t>
            </a:r>
          </a:p>
          <a:p>
            <a:pPr>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cơ sở dữ liệu: Nếu ứng dụng dùng tài khoản DB full access, hacker có thể đọc và ghi toàn bộ dữ liệu khách hàng, đơn hàng, thậm chí xóa dữ liệu.</a:t>
            </a:r>
          </a:p>
          <a:p>
            <a:pPr>
              <a:spcBef>
                <a:spcPts val="600"/>
              </a:spcBef>
              <a:spcAft>
                <a:spcPts val="600"/>
              </a:spcAft>
            </a:pP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Hậu</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bị chiếm quyền hoàn toàn, dữ liệu bị đánh cắp và phá hủy.</a:t>
            </a:r>
          </a:p>
          <a:p>
            <a:pPr lvl="1">
              <a:spcBef>
                <a:spcPts val="600"/>
              </a:spcBef>
              <a:spcAft>
                <a:spcPts val="600"/>
              </a:spcAft>
            </a:pPr>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5581137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4381"/>
            <a:ext cx="10820401" cy="528855"/>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706670" cy="4382729"/>
          </a:xfrm>
        </p:spPr>
        <p:txBody>
          <a:bodyPr/>
          <a:lstStyle/>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Lời giải chi tiết</a:t>
            </a:r>
          </a:p>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Trường hợp kết hợp Defense in Depth + Least Privilege</a:t>
            </a:r>
          </a:p>
          <a:p>
            <a:pPr marL="0" indent="0">
              <a:lnSpc>
                <a:spcPct val="100000"/>
              </a:lnSpc>
              <a:spcBef>
                <a:spcPts val="600"/>
              </a:spcBef>
              <a:spcAft>
                <a:spcPts val="600"/>
              </a:spcAft>
              <a:buNone/>
            </a:pP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mạng (Defense in Depth)</a:t>
            </a: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Firewall chỉ mở port 80/443, VPN cho quản trị từ xa.</a:t>
            </a: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IDS/IPS giám sát và chặn lưu lượng nghi ngờ.</a:t>
            </a:r>
          </a:p>
          <a:p>
            <a:pPr marL="530352" lvl="1" indent="0">
              <a:lnSpc>
                <a:spcPct val="100000"/>
              </a:lnSpc>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Hacker khó tiếp cận được ứng dụng trực tiếp.</a:t>
            </a:r>
          </a:p>
          <a:p>
            <a:pPr marL="0" indent="0">
              <a:lnSpc>
                <a:spcPct val="100000"/>
              </a:lnSpc>
              <a:spcBef>
                <a:spcPts val="600"/>
              </a:spcBef>
              <a:spcAft>
                <a:spcPts val="600"/>
              </a:spcAft>
              <a:buNone/>
            </a:pP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b) </a:t>
            </a: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ứng dụng (Defense in Depth)</a:t>
            </a:r>
            <a:r>
              <a:rPr lang="en-US"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dữ liệu đầu vào để chặn upload file độc hại.</a:t>
            </a:r>
          </a:p>
          <a:p>
            <a:pPr lvl="1">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Web server cấu hình chroot jail ⇒ giới hạn thư mục truy cập.</a:t>
            </a:r>
          </a:p>
          <a:p>
            <a:pPr marL="530352" lvl="1" indent="0">
              <a:lnSpc>
                <a:spcPct val="100000"/>
              </a:lnSpc>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Giảm khả năng thực thi lệnh nguy hiểm.</a:t>
            </a:r>
          </a:p>
          <a:p>
            <a:pPr lvl="1"/>
            <a:endParaRPr lang="vi-VN"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33425192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00970"/>
            <a:ext cx="10820401" cy="501558"/>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706670" cy="4382729"/>
          </a:xfrm>
        </p:spPr>
        <p:txBody>
          <a:bodyPr/>
          <a:lstStyle/>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Lời giải chi tiết</a:t>
            </a:r>
          </a:p>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Trường hợp kết hợp Defense in Depth + Least Privilege</a:t>
            </a:r>
          </a:p>
          <a:p>
            <a:pPr marL="0" indent="0">
              <a:lnSpc>
                <a:spcPct val="100000"/>
              </a:lnSpc>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c) Lớp hệ điều hành (Least Privilege)</a:t>
            </a:r>
          </a:p>
          <a:p>
            <a:pPr>
              <a:lnSpc>
                <a:spcPct val="100000"/>
              </a:lnSpc>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Tài khoản web (www-data) không phải root, chỉ có quyền đọc file tĩnh.</a:t>
            </a:r>
          </a:p>
          <a:p>
            <a:pPr>
              <a:lnSpc>
                <a:spcPct val="100000"/>
              </a:lnSpc>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SELinux/AppArmor hạn chế tiến trình web truy cập ngoài phạm vi cần thiết.</a:t>
            </a:r>
          </a:p>
          <a:p>
            <a:pPr marL="0" indent="0">
              <a:lnSpc>
                <a:spcPct val="100000"/>
              </a:lnSpc>
              <a:spcBef>
                <a:spcPts val="600"/>
              </a:spcBef>
              <a:spcAft>
                <a:spcPts val="600"/>
              </a:spcAft>
              <a:buNone/>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Hacker không thể chỉnh sửa hệ thống hoặc truy cập file nhạy cảm.</a:t>
            </a:r>
          </a:p>
          <a:p>
            <a:pPr marL="0" indent="0">
              <a:lnSpc>
                <a:spcPct val="100000"/>
              </a:lnSpc>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d) Lớp cơ sở dữ liệu (Least Privilege)</a:t>
            </a:r>
          </a:p>
          <a:p>
            <a:pPr>
              <a:lnSpc>
                <a:spcPct val="100000"/>
              </a:lnSpc>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Tài khoản DB của ứng dụng chỉ có quyền SELECT trên một số bảng.</a:t>
            </a:r>
          </a:p>
          <a:p>
            <a:pPr>
              <a:lnSpc>
                <a:spcPct val="100000"/>
              </a:lnSpc>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nhạy cảm (số thẻ, mật khẩu) được mã hóa.</a:t>
            </a:r>
          </a:p>
          <a:p>
            <a:pPr marL="0" indent="0">
              <a:lnSpc>
                <a:spcPct val="100000"/>
              </a:lnSpc>
              <a:spcBef>
                <a:spcPts val="600"/>
              </a:spcBef>
              <a:spcAft>
                <a:spcPts val="600"/>
              </a:spcAft>
              <a:buNone/>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Ngay cả khi SQL Injection thành công, hacker cũng không lấy được dữ liệu quan trọng.</a:t>
            </a:r>
          </a:p>
        </p:txBody>
      </p:sp>
    </p:spTree>
    <p:extLst>
      <p:ext uri="{BB962C8B-B14F-4D97-AF65-F5344CB8AC3E}">
        <p14:creationId xmlns:p14="http://schemas.microsoft.com/office/powerpoint/2010/main" val="23861176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16143"/>
            <a:ext cx="10820401" cy="501558"/>
          </a:xfrm>
        </p:spPr>
        <p:txBody>
          <a:bodyPr/>
          <a:lstStyle/>
          <a:p>
            <a:r>
              <a:rPr lang="en-US" sz="2800" b="1" dirty="0" smtClean="0">
                <a:solidFill>
                  <a:srgbClr val="0000CC"/>
                </a:solidFill>
                <a:latin typeface="Rockwell" panose="02060603020205020403" pitchFamily="18" charset="0"/>
              </a:rPr>
              <a:t>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Least Privilege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Defense in Depth</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242646"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Lời giải chi tiết</a:t>
            </a:r>
          </a:p>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Defense in Depth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giúp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chặn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làm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khó</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hacker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từ</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bên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ngoài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Least Privilege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đảm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rằng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nếu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lớp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vỡ</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thiệt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vẫn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giới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ở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phạm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vi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thiểu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có</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nhiều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lớp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thiểu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sự</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cố</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26048149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8516"/>
            <a:ext cx="10820401" cy="511559"/>
          </a:xfrm>
        </p:spPr>
        <p:txBody>
          <a:bodyPr/>
          <a:lstStyle/>
          <a:p>
            <a:r>
              <a:rPr lang="en-US" sz="2800" b="1" dirty="0" smtClean="0">
                <a:solidFill>
                  <a:srgbClr val="0000CC"/>
                </a:solidFill>
                <a:latin typeface="Rockwell" panose="02060603020205020403" pitchFamily="18" charset="0"/>
              </a:rPr>
              <a:t>1.3.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mất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30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30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30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30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80781" y="1539257"/>
            <a:ext cx="10406418" cy="3340631"/>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Nguy cơ từ bên ngoài</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mạng (Cyber Attacks): DDoS, tấn công khai thác lỗ hổng (SQL Injection, XSS,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RCE</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v.v.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Phần mềm độc hại (Malware): Virus, Trojan, Ransomware.</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Khai thác cấu hình sai (Misconfiguration): Máy chủ hoặc ứng dụng cấu hình không an toàn.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Advanced Persistent Threat: Tấn công tinh vi, kéo dài, có mục tiêu.</a:t>
            </a:r>
          </a:p>
          <a:p>
            <a:pPr>
              <a:spcBef>
                <a:spcPts val="600"/>
              </a:spcBef>
              <a:spcAft>
                <a:spcPts val="600"/>
              </a:spcAft>
            </a:pPr>
            <a:endParaRPr lang="en-US" i="1" dirty="0">
              <a:solidFill>
                <a:srgbClr val="0000CC"/>
              </a:solidFill>
              <a:latin typeface="Rockwell" panose="02060603020205020403" pitchFamily="18" charset="0"/>
            </a:endParaRPr>
          </a:p>
        </p:txBody>
      </p:sp>
      <p:sp>
        <p:nvSpPr>
          <p:cNvPr id="4" name="Rectangle 3"/>
          <p:cNvSpPr/>
          <p:nvPr/>
        </p:nvSpPr>
        <p:spPr>
          <a:xfrm>
            <a:off x="1412543" y="4647874"/>
            <a:ext cx="10256294" cy="1508105"/>
          </a:xfrm>
          <a:prstGeom prst="rect">
            <a:avLst/>
          </a:prstGeom>
        </p:spPr>
        <p:txBody>
          <a:bodyPr wrap="square">
            <a:spAutoFit/>
          </a:bodyPr>
          <a:lstStyle/>
          <a:p>
            <a:pPr>
              <a:spcBef>
                <a:spcPts val="600"/>
              </a:spcBef>
              <a:spcAft>
                <a:spcPts val="600"/>
              </a:spcAft>
            </a:pPr>
            <a:r>
              <a:rPr lang="en-US" sz="24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sz="24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Nguy cơ về tính sẵn sàng</a:t>
            </a:r>
          </a:p>
          <a:p>
            <a:pPr marL="342900" indent="-342900">
              <a:spcBef>
                <a:spcPts val="600"/>
              </a:spcBef>
              <a:spcAft>
                <a:spcPts val="600"/>
              </a:spcAft>
              <a:buFont typeface="Arial" panose="020B0604020202020204" pitchFamily="34" charset="0"/>
              <a:buChar char="•"/>
            </a:pP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ệ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bị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gián đoạn dịch vụ do lỗi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cứng</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mềm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hoặc tấn công.</a:t>
            </a:r>
          </a:p>
          <a:p>
            <a:pPr marL="342900" indent="-342900">
              <a:spcBef>
                <a:spcPts val="600"/>
              </a:spcBef>
              <a:spcAft>
                <a:spcPts val="600"/>
              </a:spcAft>
              <a:buFont typeface="Arial" panose="020B0604020202020204" pitchFamily="34" charset="0"/>
              <a:buChar char="•"/>
            </a:pP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có kế hoạch khôi phục sau thảm họa (DRP).</a:t>
            </a:r>
          </a:p>
        </p:txBody>
      </p:sp>
    </p:spTree>
    <p:extLst>
      <p:ext uri="{BB962C8B-B14F-4D97-AF65-F5344CB8AC3E}">
        <p14:creationId xmlns:p14="http://schemas.microsoft.com/office/powerpoint/2010/main" val="5593143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62635"/>
            <a:ext cx="10820401" cy="501559"/>
          </a:xfrm>
        </p:spPr>
        <p:txBody>
          <a:bodyPr/>
          <a:lstStyle/>
          <a:p>
            <a:r>
              <a:rPr lang="en-US" sz="2800" b="1" dirty="0" smtClean="0">
                <a:solidFill>
                  <a:srgbClr val="0000CC"/>
                </a:solidFill>
                <a:latin typeface="Rockwell" panose="02060603020205020403" pitchFamily="18" charset="0"/>
              </a:rPr>
              <a:t>1.3.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mất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64194"/>
            <a:ext cx="10406418"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Nguy cơ từ bên trong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Người dùng nội bộ cố ý hoặc vô ý gây rò rỉ dữ liệu (Insider Threat).</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mật khẩu yếu hoặc chia sẻ thông tin đăng nhập.</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Gắn thiết bị ngoại vi chứa mã độc vào hệ thống nội bộ.</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Nguy cơ về dữ liệu</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Rò rỉ dữ liệu cá nhân hoặc bí mật kinh doanh.</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Mất dữ liệu do xóa nhầm hoặc hỏng thiết bị lưu trữ.</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mã hóa dữ liệu khi truyền hoặc lưu trữ.</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77285329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67133" y="948987"/>
            <a:ext cx="10820401" cy="515207"/>
          </a:xfrm>
        </p:spPr>
        <p:txBody>
          <a:bodyPr/>
          <a:lstStyle/>
          <a:p>
            <a:r>
              <a:rPr lang="en-US" sz="2800" b="1" dirty="0" smtClean="0">
                <a:solidFill>
                  <a:srgbClr val="0000CC"/>
                </a:solidFill>
                <a:latin typeface="Rockwell" panose="02060603020205020403" pitchFamily="18" charset="0"/>
              </a:rPr>
              <a:t>1.4.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67134" y="1464194"/>
            <a:ext cx="10051576" cy="5393806"/>
          </a:xfrm>
        </p:spPr>
        <p:txBody>
          <a:bodyPr/>
          <a:lstStyle/>
          <a:p>
            <a:pPr marL="0" indent="0" algn="just">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Tấn công vào ứng dụng</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SQL Injection: Chèn mã SQL để truy xuất hoặc thay đổi dữ liệu trái phép.</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Cross-Site Scripting (XSS): Chèn mã JavaScript độc hại để đánh cắp thông tin phiên hoặc lừa người dùng.</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Cross-Site Request Forgery (CSRF): Lợi dụng phiên đăng nhập để thực hiện hành động trái phép.</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File Inclusion: Tải và thực thi file độc hại qua ứng dụng web.</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Command Injection: Chèn và thực thi lệnh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trên máy chủ.</a:t>
            </a:r>
          </a:p>
          <a:p>
            <a:pPr marL="0" indent="0" algn="just">
              <a:spcBef>
                <a:spcPts val="600"/>
              </a:spcBef>
              <a:spcAft>
                <a:spcPts val="600"/>
              </a:spcAft>
              <a:buNone/>
            </a:pP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9746526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62635"/>
            <a:ext cx="10820401" cy="501559"/>
          </a:xfrm>
        </p:spPr>
        <p:txBody>
          <a:bodyPr/>
          <a:lstStyle/>
          <a:p>
            <a:r>
              <a:rPr lang="en-US" sz="2800" b="1" dirty="0" smtClean="0">
                <a:solidFill>
                  <a:srgbClr val="0000CC"/>
                </a:solidFill>
                <a:latin typeface="Rockwell" panose="02060603020205020403" pitchFamily="18" charset="0"/>
              </a:rPr>
              <a:t>1.4.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64194"/>
            <a:ext cx="10051576" cy="5393806"/>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Tấn công vào hệ thống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Brute Force/Credential Stuffing: Thử mật khẩu hàng loạt hoặc dùng dữ liệu rò rỉ để đăng nhập.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Privilege Escalation: Leo thang đặc quyền để có quyền cao hơn.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Buffer Overflow: Lỗi tràn bộ đệm để thực thi mã độc.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Man-in-the-Middle (MITM): Chặn và thay đổi dữ liệu truyền giữa hai bên.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Denial of Service (DoS/DDoS): Làm nghẽn dịch vụ bằng lưu lượng truy cập lớn.</a:t>
            </a:r>
          </a:p>
          <a:p>
            <a:pPr marL="0" indent="0" algn="just">
              <a:spcBef>
                <a:spcPts val="1200"/>
              </a:spcBef>
              <a:spcAft>
                <a:spcPts val="1200"/>
              </a:spcAft>
              <a:buNone/>
            </a:pP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7568218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4380"/>
            <a:ext cx="10820401" cy="528855"/>
          </a:xfrm>
        </p:spPr>
        <p:txBody>
          <a:bodyPr/>
          <a:lstStyle/>
          <a:p>
            <a:r>
              <a:rPr lang="en-US" sz="2800" b="1" dirty="0" smtClean="0">
                <a:solidFill>
                  <a:srgbClr val="0000CC"/>
                </a:solidFill>
                <a:latin typeface="Rockwell" panose="02060603020205020403" pitchFamily="18" charset="0"/>
              </a:rPr>
              <a:t>1.4.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051576"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p>
          <a:p>
            <a:pPr marL="0" indent="0" algn="just">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website thương mại điện tử có chức năng đăng nhập và tìm kiếm sản phẩm.</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Lỗ hổng: Lập trình viên không kiểm tra dữ liệu nhập từ người dùng.</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Kịch bản:</a:t>
            </a: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nhập các ký tự đặc biệt vào ô tìm kiếm để chèn câu lệnh SQL (SQL Injection) và lấy toàn bộ cơ sở dữ liệu khách hàng.</a:t>
            </a: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Hoặc chèn đoạn mã JavaScript (XSS) vào phần bình luận sản phẩm, khiến khi người khác xem trang, mã độc chạy và gửi cookie phiên đăng nhập về cho kẻ tấn công.</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Lộ thông tin cá nhân, tài khoản, mật khẩu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Thay đổi hoặc phá hoại dữ 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Mất uy tín doanh nghiệp.</a:t>
            </a:r>
          </a:p>
          <a:p>
            <a:pPr marL="0" indent="0" algn="just">
              <a:spcBef>
                <a:spcPts val="1200"/>
              </a:spcBef>
              <a:spcAft>
                <a:spcPts val="1200"/>
              </a:spcAft>
              <a:buNone/>
            </a:pP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34731146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60025"/>
            <a:ext cx="10820401" cy="528855"/>
          </a:xfrm>
        </p:spPr>
        <p:txBody>
          <a:bodyPr/>
          <a:lstStyle/>
          <a:p>
            <a:r>
              <a:rPr lang="en-US" sz="2800" b="1" dirty="0" smtClean="0">
                <a:solidFill>
                  <a:srgbClr val="0000CC"/>
                </a:solidFill>
                <a:latin typeface="Rockwell" panose="02060603020205020403" pitchFamily="18" charset="0"/>
              </a:rPr>
              <a:t>1.4.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46"/>
            <a:ext cx="10365475"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công ty có hệ thống máy chủ nội bộ chứa dữ liệu quan trọng.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Lỗ hổng: Máy chủ chạy phiên bản hệ điều hành cũ chưa được vá lỗ hổng bảo mật.</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Kịch bản tấn công: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quét mạng và phát hiện máy chủ sử dụng dịch vụ RDP với một lỗ hổng đã biết (VD: BlueKeep</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Khai thác lỗ hổng này để truy cập trái phép vào máy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chủ</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Thực hiện Privilege Escalation (leo thang đặc quyền) để trở thành quản trị viên hệ thống (Administrator/root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Cài đặt backdoor và đánh cắp toàn bộ dữ liệu.</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Toàn bộ dữ liệu nội bộ bị rò rỉ</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thống bị kiểm soát từ xa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Dịch vụ bị gián đoạn hoặc bị mã hóa (ransomware).</a:t>
            </a:r>
          </a:p>
          <a:p>
            <a:pPr marL="0" indent="0" algn="just">
              <a:spcBef>
                <a:spcPts val="1200"/>
              </a:spcBef>
              <a:spcAft>
                <a:spcPts val="1200"/>
              </a:spcAft>
              <a:buNone/>
            </a:pP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393623415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039503" y="617849"/>
            <a:ext cx="10820401" cy="515207"/>
          </a:xfrm>
        </p:spPr>
        <p:txBody>
          <a:bodyPr/>
          <a:lstStyle/>
          <a:p>
            <a:r>
              <a:rPr lang="en-US" sz="2800" b="1" dirty="0" smtClean="0">
                <a:solidFill>
                  <a:srgbClr val="0000CC"/>
                </a:solidFill>
                <a:latin typeface="Rockwell" panose="02060603020205020403" pitchFamily="18" charset="0"/>
              </a:rPr>
              <a:t>1.4.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24203259"/>
              </p:ext>
            </p:extLst>
          </p:nvPr>
        </p:nvGraphicFramePr>
        <p:xfrm>
          <a:off x="1039503" y="1133056"/>
          <a:ext cx="10820401" cy="5278684"/>
        </p:xfrm>
        <a:graphic>
          <a:graphicData uri="http://schemas.openxmlformats.org/drawingml/2006/table">
            <a:tbl>
              <a:tblPr>
                <a:tableStyleId>{22838BEF-8BB2-4498-84A7-C5851F593DF1}</a:tableStyleId>
              </a:tblPr>
              <a:tblGrid>
                <a:gridCol w="1730132">
                  <a:extLst>
                    <a:ext uri="{9D8B030D-6E8A-4147-A177-3AD203B41FA5}">
                      <a16:colId xmlns:a16="http://schemas.microsoft.com/office/drawing/2014/main" val="2939586483"/>
                    </a:ext>
                  </a:extLst>
                </a:gridCol>
                <a:gridCol w="4367868">
                  <a:extLst>
                    <a:ext uri="{9D8B030D-6E8A-4147-A177-3AD203B41FA5}">
                      <a16:colId xmlns:a16="http://schemas.microsoft.com/office/drawing/2014/main" val="1353789331"/>
                    </a:ext>
                  </a:extLst>
                </a:gridCol>
                <a:gridCol w="4722401">
                  <a:extLst>
                    <a:ext uri="{9D8B030D-6E8A-4147-A177-3AD203B41FA5}">
                      <a16:colId xmlns:a16="http://schemas.microsoft.com/office/drawing/2014/main" val="3467233658"/>
                    </a:ext>
                  </a:extLst>
                </a:gridCol>
              </a:tblGrid>
              <a:tr h="224774">
                <a:tc>
                  <a:txBody>
                    <a:bodyPr/>
                    <a:lstStyle/>
                    <a:p>
                      <a:pPr algn="ctr">
                        <a:spcBef>
                          <a:spcPts val="600"/>
                        </a:spcBef>
                        <a:spcAft>
                          <a:spcPts val="600"/>
                        </a:spcAft>
                      </a:pPr>
                      <a:r>
                        <a:rPr lang="en-US" sz="2000" b="1" dirty="0" err="1">
                          <a:latin typeface="Rockwell" panose="02060603020205020403" pitchFamily="18" charset="0"/>
                        </a:rPr>
                        <a:t>Tiêu</a:t>
                      </a:r>
                      <a:r>
                        <a:rPr lang="en-US" sz="2000" b="1" dirty="0">
                          <a:latin typeface="Rockwell" panose="02060603020205020403" pitchFamily="18" charset="0"/>
                        </a:rPr>
                        <a:t> </a:t>
                      </a:r>
                      <a:r>
                        <a:rPr lang="en-US" sz="2000" b="1" dirty="0" err="1">
                          <a:latin typeface="Rockwell" panose="02060603020205020403" pitchFamily="18" charset="0"/>
                        </a:rPr>
                        <a:t>chí</a:t>
                      </a:r>
                      <a:endParaRPr lang="en-US" sz="2000" b="1" dirty="0">
                        <a:solidFill>
                          <a:srgbClr val="0000CC"/>
                        </a:solidFill>
                        <a:latin typeface="Rockwell" panose="02060603020205020403" pitchFamily="18" charset="0"/>
                      </a:endParaRPr>
                    </a:p>
                  </a:txBody>
                  <a:tcPr marL="56193" marR="56193" marT="28097" marB="28097" anchor="ctr"/>
                </a:tc>
                <a:tc>
                  <a:txBody>
                    <a:bodyPr/>
                    <a:lstStyle/>
                    <a:p>
                      <a:pPr algn="ctr">
                        <a:spcBef>
                          <a:spcPts val="600"/>
                        </a:spcBef>
                        <a:spcAft>
                          <a:spcPts val="600"/>
                        </a:spcAft>
                      </a:pPr>
                      <a:r>
                        <a:rPr lang="en-US" sz="2000" b="1" dirty="0" err="1">
                          <a:latin typeface="Rockwell" panose="02060603020205020403" pitchFamily="18" charset="0"/>
                        </a:rPr>
                        <a:t>Tấn</a:t>
                      </a:r>
                      <a:r>
                        <a:rPr lang="en-US" sz="2000" b="1" dirty="0">
                          <a:latin typeface="Rockwell" panose="02060603020205020403" pitchFamily="18" charset="0"/>
                        </a:rPr>
                        <a:t> </a:t>
                      </a:r>
                      <a:r>
                        <a:rPr lang="en-US" sz="2000" b="1" dirty="0" err="1">
                          <a:latin typeface="Rockwell" panose="02060603020205020403" pitchFamily="18" charset="0"/>
                        </a:rPr>
                        <a:t>công</a:t>
                      </a:r>
                      <a:r>
                        <a:rPr lang="en-US" sz="2000" b="1" dirty="0">
                          <a:latin typeface="Rockwell" panose="02060603020205020403" pitchFamily="18" charset="0"/>
                        </a:rPr>
                        <a:t> </a:t>
                      </a:r>
                      <a:r>
                        <a:rPr lang="en-US" sz="2000" b="1" dirty="0" err="1">
                          <a:latin typeface="Rockwell" panose="02060603020205020403" pitchFamily="18" charset="0"/>
                        </a:rPr>
                        <a:t>vào</a:t>
                      </a:r>
                      <a:r>
                        <a:rPr lang="en-US" sz="2000" b="1" dirty="0">
                          <a:latin typeface="Rockwell" panose="02060603020205020403" pitchFamily="18" charset="0"/>
                        </a:rPr>
                        <a:t> </a:t>
                      </a:r>
                      <a:r>
                        <a:rPr lang="en-US" sz="2000" b="1" dirty="0" err="1">
                          <a:latin typeface="Rockwell" panose="02060603020205020403" pitchFamily="18" charset="0"/>
                        </a:rPr>
                        <a:t>Ứng</a:t>
                      </a:r>
                      <a:r>
                        <a:rPr lang="en-US" sz="2000" b="1" dirty="0">
                          <a:latin typeface="Rockwell" panose="02060603020205020403" pitchFamily="18" charset="0"/>
                        </a:rPr>
                        <a:t> </a:t>
                      </a:r>
                      <a:r>
                        <a:rPr lang="en-US" sz="2000" b="1" dirty="0" err="1">
                          <a:latin typeface="Rockwell" panose="02060603020205020403" pitchFamily="18" charset="0"/>
                        </a:rPr>
                        <a:t>dụng</a:t>
                      </a:r>
                      <a:endParaRPr lang="en-US" sz="2000" b="1" dirty="0">
                        <a:solidFill>
                          <a:srgbClr val="0000CC"/>
                        </a:solidFill>
                        <a:latin typeface="Rockwell" panose="02060603020205020403" pitchFamily="18" charset="0"/>
                      </a:endParaRPr>
                    </a:p>
                  </a:txBody>
                  <a:tcPr marL="56193" marR="56193" marT="28097" marB="28097" anchor="ctr"/>
                </a:tc>
                <a:tc>
                  <a:txBody>
                    <a:bodyPr/>
                    <a:lstStyle/>
                    <a:p>
                      <a:pPr algn="ctr">
                        <a:spcBef>
                          <a:spcPts val="600"/>
                        </a:spcBef>
                        <a:spcAft>
                          <a:spcPts val="600"/>
                        </a:spcAft>
                      </a:pPr>
                      <a:r>
                        <a:rPr lang="en-US" sz="2000" b="1" dirty="0" err="1">
                          <a:latin typeface="Rockwell" panose="02060603020205020403" pitchFamily="18" charset="0"/>
                        </a:rPr>
                        <a:t>Tấn</a:t>
                      </a:r>
                      <a:r>
                        <a:rPr lang="en-US" sz="2000" b="1" dirty="0">
                          <a:latin typeface="Rockwell" panose="02060603020205020403" pitchFamily="18" charset="0"/>
                        </a:rPr>
                        <a:t> </a:t>
                      </a:r>
                      <a:r>
                        <a:rPr lang="en-US" sz="2000" b="1" dirty="0" err="1">
                          <a:latin typeface="Rockwell" panose="02060603020205020403" pitchFamily="18" charset="0"/>
                        </a:rPr>
                        <a:t>công</a:t>
                      </a:r>
                      <a:r>
                        <a:rPr lang="en-US" sz="2000" b="1" dirty="0">
                          <a:latin typeface="Rockwell" panose="02060603020205020403" pitchFamily="18" charset="0"/>
                        </a:rPr>
                        <a:t> </a:t>
                      </a:r>
                      <a:r>
                        <a:rPr lang="en-US" sz="2000" b="1" dirty="0" err="1">
                          <a:latin typeface="Rockwell" panose="02060603020205020403" pitchFamily="18" charset="0"/>
                        </a:rPr>
                        <a:t>vào</a:t>
                      </a:r>
                      <a:r>
                        <a:rPr lang="en-US" sz="2000" b="1" dirty="0">
                          <a:latin typeface="Rockwell" panose="02060603020205020403" pitchFamily="18" charset="0"/>
                        </a:rPr>
                        <a:t> </a:t>
                      </a:r>
                      <a:r>
                        <a:rPr lang="en-US" sz="2000" b="1" dirty="0" err="1">
                          <a:latin typeface="Rockwell" panose="02060603020205020403" pitchFamily="18" charset="0"/>
                        </a:rPr>
                        <a:t>Hệ</a:t>
                      </a:r>
                      <a:r>
                        <a:rPr lang="en-US" sz="2000" b="1" dirty="0">
                          <a:latin typeface="Rockwell" panose="02060603020205020403" pitchFamily="18" charset="0"/>
                        </a:rPr>
                        <a:t> </a:t>
                      </a:r>
                      <a:r>
                        <a:rPr lang="en-US" sz="2000" b="1" dirty="0" err="1">
                          <a:latin typeface="Rockwell" panose="02060603020205020403" pitchFamily="18" charset="0"/>
                        </a:rPr>
                        <a:t>thống</a:t>
                      </a:r>
                      <a:endParaRPr lang="en-US" sz="2000" b="1" dirty="0">
                        <a:solidFill>
                          <a:srgbClr val="0000CC"/>
                        </a:solidFill>
                        <a:latin typeface="Rockwell" panose="02060603020205020403" pitchFamily="18" charset="0"/>
                      </a:endParaRPr>
                    </a:p>
                  </a:txBody>
                  <a:tcPr marL="56193" marR="56193" marT="28097" marB="28097" anchor="ctr"/>
                </a:tc>
                <a:extLst>
                  <a:ext uri="{0D108BD9-81ED-4DB2-BD59-A6C34878D82A}">
                    <a16:rowId xmlns:a16="http://schemas.microsoft.com/office/drawing/2014/main" val="3649189405"/>
                  </a:ext>
                </a:extLst>
              </a:tr>
              <a:tr h="899095">
                <a:tc>
                  <a:txBody>
                    <a:bodyPr/>
                    <a:lstStyle/>
                    <a:p>
                      <a:pPr>
                        <a:spcBef>
                          <a:spcPts val="600"/>
                        </a:spcBef>
                        <a:spcAft>
                          <a:spcPts val="600"/>
                        </a:spcAft>
                      </a:pPr>
                      <a:r>
                        <a:rPr lang="en-US" sz="2000" dirty="0" err="1">
                          <a:latin typeface="Rockwell" panose="02060603020205020403" pitchFamily="18" charset="0"/>
                        </a:rPr>
                        <a:t>Mục</a:t>
                      </a:r>
                      <a:r>
                        <a:rPr lang="en-US" sz="2000" dirty="0">
                          <a:latin typeface="Rockwell" panose="02060603020205020403" pitchFamily="18" charset="0"/>
                        </a:rPr>
                        <a:t> </a:t>
                      </a:r>
                      <a:r>
                        <a:rPr lang="en-US" sz="2000" dirty="0" err="1">
                          <a:latin typeface="Rockwell" panose="02060603020205020403" pitchFamily="18" charset="0"/>
                        </a:rPr>
                        <a:t>tiêu</a:t>
                      </a:r>
                      <a:endParaRPr lang="en-US" sz="2000" dirty="0">
                        <a:solidFill>
                          <a:srgbClr val="0000CC"/>
                        </a:solidFill>
                        <a:latin typeface="Rockwell" panose="02060603020205020403" pitchFamily="18" charset="0"/>
                      </a:endParaRPr>
                    </a:p>
                  </a:txBody>
                  <a:tcPr marL="56193" marR="56193" marT="28097" marB="28097" anchor="ctr"/>
                </a:tc>
                <a:tc>
                  <a:txBody>
                    <a:bodyPr/>
                    <a:lstStyle/>
                    <a:p>
                      <a:pPr marL="0" indent="0">
                        <a:spcBef>
                          <a:spcPts val="1200"/>
                        </a:spcBef>
                        <a:spcAft>
                          <a:spcPts val="1200"/>
                        </a:spcAft>
                      </a:pPr>
                      <a:r>
                        <a:rPr lang="en-US" sz="2000" kern="1200" dirty="0" err="1">
                          <a:solidFill>
                            <a:schemeClr val="dk1"/>
                          </a:solidFill>
                          <a:latin typeface="Rockwell" panose="02060603020205020403" pitchFamily="18" charset="0"/>
                          <a:ea typeface="+mn-ea"/>
                          <a:cs typeface="+mn-cs"/>
                        </a:rPr>
                        <a:t>Lợi</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dụng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lỗ</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hổng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trong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phần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mềm</a:t>
                      </a:r>
                      <a:r>
                        <a:rPr lang="en-US" sz="2000" kern="1200" dirty="0">
                          <a:solidFill>
                            <a:schemeClr val="dk1"/>
                          </a:solidFill>
                          <a:latin typeface="Rockwell" panose="02060603020205020403" pitchFamily="18" charset="0"/>
                          <a:ea typeface="+mn-ea"/>
                          <a:cs typeface="+mn-cs"/>
                        </a:rPr>
                        <a:t>, website, </a:t>
                      </a:r>
                      <a:r>
                        <a:rPr lang="en-US" sz="2000" kern="1200" dirty="0" err="1">
                          <a:solidFill>
                            <a:schemeClr val="dk1"/>
                          </a:solidFill>
                          <a:latin typeface="Rockwell" panose="02060603020205020403" pitchFamily="18" charset="0"/>
                          <a:ea typeface="+mn-ea"/>
                          <a:cs typeface="+mn-cs"/>
                        </a:rPr>
                        <a:t>hoặc</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ứng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dụng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để</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truy</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cập</a:t>
                      </a:r>
                      <a:r>
                        <a:rPr lang="en-US" sz="2000" kern="1200" dirty="0">
                          <a:solidFill>
                            <a:schemeClr val="dk1"/>
                          </a:solidFill>
                          <a:latin typeface="Rockwell" panose="02060603020205020403" pitchFamily="18" charset="0"/>
                          <a:ea typeface="+mn-ea"/>
                          <a:cs typeface="+mn-cs"/>
                        </a:rPr>
                        <a:t>/</a:t>
                      </a:r>
                      <a:r>
                        <a:rPr lang="en-US" sz="2000" kern="1200" dirty="0" err="1">
                          <a:solidFill>
                            <a:schemeClr val="dk1"/>
                          </a:solidFill>
                          <a:latin typeface="Rockwell" panose="02060603020205020403" pitchFamily="18" charset="0"/>
                          <a:ea typeface="+mn-ea"/>
                          <a:cs typeface="+mn-cs"/>
                        </a:rPr>
                        <a:t>trích</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xuất</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dữ</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liệu</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hoặc</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thực</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hiện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hành</a:t>
                      </a:r>
                      <a:r>
                        <a:rPr lang="en-US" sz="2000" kern="1200" dirty="0">
                          <a:solidFill>
                            <a:schemeClr val="dk1"/>
                          </a:solidFill>
                          <a:latin typeface="Rockwell" panose="02060603020205020403" pitchFamily="18" charset="0"/>
                          <a:ea typeface="+mn-ea"/>
                          <a:cs typeface="+mn-cs"/>
                        </a:rPr>
                        <a:t> vi </a:t>
                      </a:r>
                      <a:r>
                        <a:rPr lang="en-US" sz="2000" kern="1200" dirty="0" err="1">
                          <a:solidFill>
                            <a:schemeClr val="dk1"/>
                          </a:solidFill>
                          <a:latin typeface="Rockwell" panose="02060603020205020403" pitchFamily="18" charset="0"/>
                          <a:ea typeface="+mn-ea"/>
                          <a:cs typeface="+mn-cs"/>
                        </a:rPr>
                        <a:t>trái</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phép</a:t>
                      </a:r>
                      <a:r>
                        <a:rPr lang="en-US" sz="2000" kern="1200" dirty="0">
                          <a:solidFill>
                            <a:schemeClr val="dk1"/>
                          </a:solidFill>
                          <a:latin typeface="Rockwell" panose="02060603020205020403" pitchFamily="18" charset="0"/>
                          <a:ea typeface="+mn-ea"/>
                          <a:cs typeface="+mn-cs"/>
                        </a:rPr>
                        <a:t>.</a:t>
                      </a:r>
                    </a:p>
                  </a:txBody>
                  <a:tcPr marL="56193" marR="56193" marT="28097" marB="28097" anchor="ctr"/>
                </a:tc>
                <a:tc>
                  <a:txBody>
                    <a:bodyPr/>
                    <a:lstStyle/>
                    <a:p>
                      <a:pPr>
                        <a:spcBef>
                          <a:spcPts val="600"/>
                        </a:spcBef>
                        <a:spcAft>
                          <a:spcPts val="600"/>
                        </a:spcAft>
                      </a:pPr>
                      <a:r>
                        <a:rPr lang="en-US" sz="2000" kern="1200">
                          <a:solidFill>
                            <a:schemeClr val="dk1"/>
                          </a:solidFill>
                          <a:latin typeface="Rockwell" panose="02060603020205020403" pitchFamily="18" charset="0"/>
                          <a:ea typeface="+mn-ea"/>
                          <a:cs typeface="+mn-cs"/>
                        </a:rPr>
                        <a:t>Lợi dụng lỗ hổng trong hệ điều hành, dịch vụ hệ thống hoặc phần cứng để chiếm quyền kiểm soát toàn bộ hệ thống.</a:t>
                      </a:r>
                    </a:p>
                  </a:txBody>
                  <a:tcPr marL="56193" marR="56193" marT="28097" marB="28097" anchor="ctr"/>
                </a:tc>
                <a:extLst>
                  <a:ext uri="{0D108BD9-81ED-4DB2-BD59-A6C34878D82A}">
                    <a16:rowId xmlns:a16="http://schemas.microsoft.com/office/drawing/2014/main" val="4200140246"/>
                  </a:ext>
                </a:extLst>
              </a:tr>
              <a:tr h="730514">
                <a:tc>
                  <a:txBody>
                    <a:bodyPr/>
                    <a:lstStyle/>
                    <a:p>
                      <a:pPr>
                        <a:spcBef>
                          <a:spcPts val="600"/>
                        </a:spcBef>
                        <a:spcAft>
                          <a:spcPts val="600"/>
                        </a:spcAft>
                      </a:pPr>
                      <a:r>
                        <a:rPr lang="en-US" sz="2000" dirty="0" err="1">
                          <a:latin typeface="Rockwell" panose="02060603020205020403" pitchFamily="18" charset="0"/>
                        </a:rPr>
                        <a:t>Ví</a:t>
                      </a:r>
                      <a:r>
                        <a:rPr lang="en-US" sz="2000" dirty="0">
                          <a:latin typeface="Rockwell" panose="02060603020205020403" pitchFamily="18" charset="0"/>
                        </a:rPr>
                        <a:t> </a:t>
                      </a:r>
                      <a:r>
                        <a:rPr lang="en-US" sz="2000" dirty="0" err="1">
                          <a:latin typeface="Rockwell" panose="02060603020205020403" pitchFamily="18" charset="0"/>
                        </a:rPr>
                        <a:t>dụ</a:t>
                      </a:r>
                      <a:endParaRPr lang="en-US" sz="2000" dirty="0">
                        <a:solidFill>
                          <a:srgbClr val="0000CC"/>
                        </a:solidFill>
                        <a:latin typeface="Rockwell" panose="02060603020205020403" pitchFamily="18" charset="0"/>
                      </a:endParaRPr>
                    </a:p>
                  </a:txBody>
                  <a:tcPr marL="56193" marR="56193" marT="28097" marB="28097" anchor="ctr"/>
                </a:tc>
                <a:tc>
                  <a:txBody>
                    <a:bodyPr/>
                    <a:lstStyle/>
                    <a:p>
                      <a:pPr>
                        <a:spcBef>
                          <a:spcPts val="600"/>
                        </a:spcBef>
                        <a:spcAft>
                          <a:spcPts val="600"/>
                        </a:spcAft>
                      </a:pPr>
                      <a:r>
                        <a:rPr lang="en-US" sz="2000" kern="1200" dirty="0">
                          <a:solidFill>
                            <a:schemeClr val="dk1"/>
                          </a:solidFill>
                          <a:latin typeface="Rockwell" panose="02060603020205020403" pitchFamily="18" charset="0"/>
                          <a:ea typeface="+mn-ea"/>
                          <a:cs typeface="+mn-cs"/>
                        </a:rPr>
                        <a:t>SQL Injection, </a:t>
                      </a:r>
                      <a:r>
                        <a:rPr lang="en-US" sz="2000" kern="1200" dirty="0" err="1">
                          <a:solidFill>
                            <a:schemeClr val="dk1"/>
                          </a:solidFill>
                          <a:latin typeface="Rockwell" panose="02060603020205020403" pitchFamily="18" charset="0"/>
                          <a:ea typeface="+mn-ea"/>
                          <a:cs typeface="+mn-cs"/>
                        </a:rPr>
                        <a:t>XSS</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CSRF</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tấn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công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vào</a:t>
                      </a:r>
                      <a:r>
                        <a:rPr lang="en-US" sz="2000" kern="1200" dirty="0">
                          <a:solidFill>
                            <a:schemeClr val="dk1"/>
                          </a:solidFill>
                          <a:latin typeface="Rockwell" panose="02060603020205020403" pitchFamily="18" charset="0"/>
                          <a:ea typeface="+mn-ea"/>
                          <a:cs typeface="+mn-cs"/>
                        </a:rPr>
                        <a:t> API.</a:t>
                      </a:r>
                    </a:p>
                  </a:txBody>
                  <a:tcPr marL="56193" marR="56193" marT="28097" marB="28097" anchor="ctr"/>
                </a:tc>
                <a:tc>
                  <a:txBody>
                    <a:bodyPr/>
                    <a:lstStyle/>
                    <a:p>
                      <a:pPr>
                        <a:spcBef>
                          <a:spcPts val="600"/>
                        </a:spcBef>
                        <a:spcAft>
                          <a:spcPts val="600"/>
                        </a:spcAft>
                      </a:pPr>
                      <a:r>
                        <a:rPr lang="en-US" sz="2000" kern="1200" dirty="0" err="1">
                          <a:solidFill>
                            <a:schemeClr val="dk1"/>
                          </a:solidFill>
                          <a:latin typeface="Rockwell" panose="02060603020205020403" pitchFamily="18" charset="0"/>
                          <a:ea typeface="+mn-ea"/>
                          <a:cs typeface="+mn-cs"/>
                        </a:rPr>
                        <a:t>Khai</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thác</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lỗ</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hổng</a:t>
                      </a:r>
                      <a:r>
                        <a:rPr lang="en-US" sz="2000" kern="1200" dirty="0">
                          <a:solidFill>
                            <a:schemeClr val="dk1"/>
                          </a:solidFill>
                          <a:latin typeface="Rockwell" panose="02060603020205020403" pitchFamily="18" charset="0"/>
                          <a:ea typeface="+mn-ea"/>
                          <a:cs typeface="+mn-cs"/>
                        </a:rPr>
                        <a:t> RDP (</a:t>
                      </a:r>
                      <a:r>
                        <a:rPr lang="en-US" sz="2000" kern="1200" dirty="0" err="1">
                          <a:solidFill>
                            <a:schemeClr val="dk1"/>
                          </a:solidFill>
                          <a:latin typeface="Rockwell" panose="02060603020205020403" pitchFamily="18" charset="0"/>
                          <a:ea typeface="+mn-ea"/>
                          <a:cs typeface="+mn-cs"/>
                        </a:rPr>
                        <a:t>BlueKeep</a:t>
                      </a:r>
                      <a:r>
                        <a:rPr lang="en-US" sz="2000" kern="1200" dirty="0" smtClean="0">
                          <a:solidFill>
                            <a:schemeClr val="dk1"/>
                          </a:solidFill>
                          <a:latin typeface="Rockwell" panose="02060603020205020403" pitchFamily="18" charset="0"/>
                          <a:ea typeface="+mn-ea"/>
                          <a:cs typeface="+mn-cs"/>
                        </a:rPr>
                        <a:t>), </a:t>
                      </a:r>
                      <a:r>
                        <a:rPr lang="en-US" sz="2000" kern="1200" dirty="0">
                          <a:solidFill>
                            <a:schemeClr val="dk1"/>
                          </a:solidFill>
                          <a:latin typeface="Rockwell" panose="02060603020205020403" pitchFamily="18" charset="0"/>
                          <a:ea typeface="+mn-ea"/>
                          <a:cs typeface="+mn-cs"/>
                        </a:rPr>
                        <a:t>brute-force </a:t>
                      </a:r>
                      <a:r>
                        <a:rPr lang="en-US" sz="2000" kern="1200" dirty="0" err="1">
                          <a:solidFill>
                            <a:schemeClr val="dk1"/>
                          </a:solidFill>
                          <a:latin typeface="Rockwell" panose="02060603020205020403" pitchFamily="18" charset="0"/>
                          <a:ea typeface="+mn-ea"/>
                          <a:cs typeface="+mn-cs"/>
                        </a:rPr>
                        <a:t>SSH</a:t>
                      </a:r>
                      <a:r>
                        <a:rPr lang="en-US" sz="2000" kern="1200" dirty="0">
                          <a:solidFill>
                            <a:schemeClr val="dk1"/>
                          </a:solidFill>
                          <a:latin typeface="Rockwell" panose="02060603020205020403" pitchFamily="18" charset="0"/>
                          <a:ea typeface="+mn-ea"/>
                          <a:cs typeface="+mn-cs"/>
                        </a:rPr>
                        <a:t>, privilege escalation.</a:t>
                      </a:r>
                    </a:p>
                  </a:txBody>
                  <a:tcPr marL="56193" marR="56193" marT="28097" marB="28097" anchor="ctr"/>
                </a:tc>
                <a:extLst>
                  <a:ext uri="{0D108BD9-81ED-4DB2-BD59-A6C34878D82A}">
                    <a16:rowId xmlns:a16="http://schemas.microsoft.com/office/drawing/2014/main" val="3341236755"/>
                  </a:ext>
                </a:extLst>
              </a:tr>
              <a:tr h="899095">
                <a:tc>
                  <a:txBody>
                    <a:bodyPr/>
                    <a:lstStyle/>
                    <a:p>
                      <a:pPr>
                        <a:spcBef>
                          <a:spcPts val="600"/>
                        </a:spcBef>
                        <a:spcAft>
                          <a:spcPts val="600"/>
                        </a:spcAft>
                      </a:pPr>
                      <a:r>
                        <a:rPr lang="en-US" sz="2000" dirty="0" err="1">
                          <a:latin typeface="Rockwell" panose="02060603020205020403" pitchFamily="18" charset="0"/>
                        </a:rPr>
                        <a:t>Kịch</a:t>
                      </a:r>
                      <a:r>
                        <a:rPr lang="en-US" sz="2000" dirty="0">
                          <a:latin typeface="Rockwell" panose="02060603020205020403" pitchFamily="18" charset="0"/>
                        </a:rPr>
                        <a:t> </a:t>
                      </a:r>
                      <a:r>
                        <a:rPr lang="en-US" sz="2000" dirty="0" err="1">
                          <a:latin typeface="Rockwell" panose="02060603020205020403" pitchFamily="18" charset="0"/>
                        </a:rPr>
                        <a:t>bản</a:t>
                      </a:r>
                      <a:r>
                        <a:rPr lang="en-US" sz="2000" dirty="0">
                          <a:latin typeface="Rockwell" panose="02060603020205020403" pitchFamily="18" charset="0"/>
                        </a:rPr>
                        <a:t> </a:t>
                      </a:r>
                      <a:r>
                        <a:rPr lang="en-US" sz="2000" dirty="0" smtClean="0">
                          <a:latin typeface="Rockwell" panose="02060603020205020403" pitchFamily="18" charset="0"/>
                        </a:rPr>
                        <a:t/>
                      </a:r>
                      <a:br>
                        <a:rPr lang="en-US" sz="2000" dirty="0" smtClean="0">
                          <a:latin typeface="Rockwell" panose="02060603020205020403" pitchFamily="18" charset="0"/>
                        </a:rPr>
                      </a:br>
                      <a:r>
                        <a:rPr lang="en-US" sz="2000" dirty="0" smtClean="0">
                          <a:latin typeface="Rockwell" panose="02060603020205020403" pitchFamily="18" charset="0"/>
                        </a:rPr>
                        <a:t>minh </a:t>
                      </a:r>
                      <a:r>
                        <a:rPr lang="en-US" sz="2000" dirty="0" err="1">
                          <a:latin typeface="Rockwell" panose="02060603020205020403" pitchFamily="18" charset="0"/>
                        </a:rPr>
                        <a:t>họa</a:t>
                      </a:r>
                      <a:endParaRPr lang="en-US" sz="2000" dirty="0">
                        <a:solidFill>
                          <a:srgbClr val="0000CC"/>
                        </a:solidFill>
                        <a:latin typeface="Rockwell" panose="02060603020205020403" pitchFamily="18" charset="0"/>
                      </a:endParaRPr>
                    </a:p>
                  </a:txBody>
                  <a:tcPr marL="56193" marR="56193" marT="28097" marB="28097" anchor="ctr"/>
                </a:tc>
                <a:tc>
                  <a:txBody>
                    <a:bodyPr/>
                    <a:lstStyle/>
                    <a:p>
                      <a:pPr>
                        <a:spcBef>
                          <a:spcPts val="600"/>
                        </a:spcBef>
                        <a:spcAft>
                          <a:spcPts val="600"/>
                        </a:spcAft>
                      </a:pPr>
                      <a:r>
                        <a:rPr lang="vi-VN" sz="2000" kern="1200" dirty="0">
                          <a:solidFill>
                            <a:schemeClr val="dk1"/>
                          </a:solidFill>
                          <a:latin typeface="Rockwell" panose="02060603020205020403" pitchFamily="18" charset="0"/>
                          <a:ea typeface="+mn-ea"/>
                          <a:cs typeface="+mn-cs"/>
                        </a:rPr>
                        <a:t>Kẻ tấn công nhập mã độc vào ô tìm kiếm của website thương mại điện tử để đánh cắp </a:t>
                      </a:r>
                      <a:r>
                        <a:rPr lang="en-US" sz="2000" kern="1200" dirty="0" err="1" smtClean="0">
                          <a:solidFill>
                            <a:schemeClr val="dk1"/>
                          </a:solidFill>
                          <a:latin typeface="Rockwell" panose="02060603020205020403" pitchFamily="18" charset="0"/>
                          <a:ea typeface="+mn-ea"/>
                          <a:cs typeface="+mn-cs"/>
                        </a:rPr>
                        <a:t>CSDL</a:t>
                      </a:r>
                      <a:r>
                        <a:rPr lang="vi-VN" sz="2000" kern="1200" dirty="0" smtClean="0">
                          <a:solidFill>
                            <a:schemeClr val="dk1"/>
                          </a:solidFill>
                          <a:latin typeface="Rockwell" panose="02060603020205020403" pitchFamily="18" charset="0"/>
                          <a:ea typeface="+mn-ea"/>
                          <a:cs typeface="+mn-cs"/>
                        </a:rPr>
                        <a:t> </a:t>
                      </a:r>
                      <a:r>
                        <a:rPr lang="vi-VN" sz="2000" kern="1200" dirty="0">
                          <a:solidFill>
                            <a:schemeClr val="dk1"/>
                          </a:solidFill>
                          <a:latin typeface="Rockwell" panose="02060603020205020403" pitchFamily="18" charset="0"/>
                          <a:ea typeface="+mn-ea"/>
                          <a:cs typeface="+mn-cs"/>
                        </a:rPr>
                        <a:t>khách hàng.</a:t>
                      </a:r>
                    </a:p>
                  </a:txBody>
                  <a:tcPr marL="56193" marR="56193" marT="28097" marB="28097" anchor="ctr"/>
                </a:tc>
                <a:tc>
                  <a:txBody>
                    <a:bodyPr/>
                    <a:lstStyle/>
                    <a:p>
                      <a:pPr>
                        <a:spcBef>
                          <a:spcPts val="600"/>
                        </a:spcBef>
                        <a:spcAft>
                          <a:spcPts val="600"/>
                        </a:spcAft>
                      </a:pPr>
                      <a:r>
                        <a:rPr lang="vi-VN" sz="2000" kern="1200" dirty="0">
                          <a:solidFill>
                            <a:schemeClr val="dk1"/>
                          </a:solidFill>
                          <a:latin typeface="Rockwell" panose="02060603020205020403" pitchFamily="18" charset="0"/>
                          <a:ea typeface="+mn-ea"/>
                          <a:cs typeface="+mn-cs"/>
                        </a:rPr>
                        <a:t>Kẻ tấn công quét mạng, tìm thấy máy chủ chưa vá lỗi bảo mật, khai thác để truy cập và cài backdoor.</a:t>
                      </a:r>
                    </a:p>
                  </a:txBody>
                  <a:tcPr marL="56193" marR="56193" marT="28097" marB="28097" anchor="ctr"/>
                </a:tc>
                <a:extLst>
                  <a:ext uri="{0D108BD9-81ED-4DB2-BD59-A6C34878D82A}">
                    <a16:rowId xmlns:a16="http://schemas.microsoft.com/office/drawing/2014/main" val="3201583699"/>
                  </a:ext>
                </a:extLst>
              </a:tr>
              <a:tr h="730514">
                <a:tc>
                  <a:txBody>
                    <a:bodyPr/>
                    <a:lstStyle/>
                    <a:p>
                      <a:pPr>
                        <a:spcBef>
                          <a:spcPts val="600"/>
                        </a:spcBef>
                        <a:spcAft>
                          <a:spcPts val="600"/>
                        </a:spcAft>
                      </a:pPr>
                      <a:r>
                        <a:rPr lang="en-US" sz="2000">
                          <a:latin typeface="Rockwell" panose="02060603020205020403" pitchFamily="18" charset="0"/>
                        </a:rPr>
                        <a:t>Hậu quả</a:t>
                      </a:r>
                      <a:endParaRPr lang="en-US" sz="2000">
                        <a:solidFill>
                          <a:srgbClr val="0000CC"/>
                        </a:solidFill>
                        <a:latin typeface="Rockwell" panose="02060603020205020403" pitchFamily="18" charset="0"/>
                      </a:endParaRPr>
                    </a:p>
                  </a:txBody>
                  <a:tcPr marL="56193" marR="56193" marT="28097" marB="28097" anchor="ctr"/>
                </a:tc>
                <a:tc>
                  <a:txBody>
                    <a:bodyPr/>
                    <a:lstStyle/>
                    <a:p>
                      <a:pPr>
                        <a:spcBef>
                          <a:spcPts val="600"/>
                        </a:spcBef>
                        <a:spcAft>
                          <a:spcPts val="600"/>
                        </a:spcAft>
                      </a:pPr>
                      <a:r>
                        <a:rPr lang="vi-VN" sz="2000" kern="1200">
                          <a:solidFill>
                            <a:schemeClr val="dk1"/>
                          </a:solidFill>
                          <a:latin typeface="Rockwell" panose="02060603020205020403" pitchFamily="18" charset="0"/>
                          <a:ea typeface="+mn-ea"/>
                          <a:cs typeface="+mn-cs"/>
                        </a:rPr>
                        <a:t>Lộ dữ liệu người dùng, thay đổi nội dung ứng dụng, gián đoạn dịch vụ.</a:t>
                      </a:r>
                    </a:p>
                  </a:txBody>
                  <a:tcPr marL="56193" marR="56193" marT="28097" marB="28097" anchor="ctr"/>
                </a:tc>
                <a:tc>
                  <a:txBody>
                    <a:bodyPr/>
                    <a:lstStyle/>
                    <a:p>
                      <a:pPr>
                        <a:spcBef>
                          <a:spcPts val="600"/>
                        </a:spcBef>
                        <a:spcAft>
                          <a:spcPts val="600"/>
                        </a:spcAft>
                      </a:pPr>
                      <a:r>
                        <a:rPr lang="en-US" sz="2000" kern="1200" dirty="0" err="1">
                          <a:solidFill>
                            <a:schemeClr val="dk1"/>
                          </a:solidFill>
                          <a:latin typeface="Rockwell" panose="02060603020205020403" pitchFamily="18" charset="0"/>
                          <a:ea typeface="+mn-ea"/>
                          <a:cs typeface="+mn-cs"/>
                        </a:rPr>
                        <a:t>Toàn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bộ</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hệ</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thống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bị</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chiếm</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quyền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dữ</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liệu</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bị</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đánh</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cắp</a:t>
                      </a:r>
                      <a:r>
                        <a:rPr lang="en-US" sz="2000" kern="1200" dirty="0">
                          <a:solidFill>
                            <a:schemeClr val="dk1"/>
                          </a:solidFill>
                          <a:latin typeface="Rockwell" panose="02060603020205020403" pitchFamily="18" charset="0"/>
                          <a:ea typeface="+mn-ea"/>
                          <a:cs typeface="+mn-cs"/>
                        </a:rPr>
                        <a:t>/</a:t>
                      </a:r>
                      <a:r>
                        <a:rPr lang="en-US" sz="2000" kern="1200" dirty="0" err="1">
                          <a:solidFill>
                            <a:schemeClr val="dk1"/>
                          </a:solidFill>
                          <a:latin typeface="Rockwell" panose="02060603020205020403" pitchFamily="18" charset="0"/>
                          <a:ea typeface="+mn-ea"/>
                          <a:cs typeface="+mn-cs"/>
                        </a:rPr>
                        <a:t>mã</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hóa</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gián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đoạn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toàn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bộ</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hoạt</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động</a:t>
                      </a:r>
                      <a:r>
                        <a:rPr lang="en-US" sz="2000" kern="1200" dirty="0">
                          <a:solidFill>
                            <a:schemeClr val="dk1"/>
                          </a:solidFill>
                          <a:latin typeface="Rockwell" panose="02060603020205020403" pitchFamily="18" charset="0"/>
                          <a:ea typeface="+mn-ea"/>
                          <a:cs typeface="+mn-cs"/>
                        </a:rPr>
                        <a:t>.</a:t>
                      </a:r>
                    </a:p>
                  </a:txBody>
                  <a:tcPr marL="56193" marR="56193" marT="28097" marB="28097" anchor="ctr"/>
                </a:tc>
                <a:extLst>
                  <a:ext uri="{0D108BD9-81ED-4DB2-BD59-A6C34878D82A}">
                    <a16:rowId xmlns:a16="http://schemas.microsoft.com/office/drawing/2014/main" val="4026283213"/>
                  </a:ext>
                </a:extLst>
              </a:tr>
              <a:tr h="899095">
                <a:tc>
                  <a:txBody>
                    <a:bodyPr/>
                    <a:lstStyle/>
                    <a:p>
                      <a:pPr>
                        <a:spcBef>
                          <a:spcPts val="600"/>
                        </a:spcBef>
                        <a:spcAft>
                          <a:spcPts val="600"/>
                        </a:spcAft>
                      </a:pPr>
                      <a:r>
                        <a:rPr lang="en-US" sz="2000">
                          <a:latin typeface="Rockwell" panose="02060603020205020403" pitchFamily="18" charset="0"/>
                        </a:rPr>
                        <a:t>Biện pháp phòng chống</a:t>
                      </a:r>
                      <a:endParaRPr lang="en-US" sz="2000">
                        <a:solidFill>
                          <a:srgbClr val="0000CC"/>
                        </a:solidFill>
                        <a:latin typeface="Rockwell" panose="02060603020205020403" pitchFamily="18" charset="0"/>
                      </a:endParaRPr>
                    </a:p>
                  </a:txBody>
                  <a:tcPr marL="56193" marR="56193" marT="28097" marB="28097" anchor="ctr"/>
                </a:tc>
                <a:tc>
                  <a:txBody>
                    <a:bodyPr/>
                    <a:lstStyle/>
                    <a:p>
                      <a:pPr>
                        <a:spcBef>
                          <a:spcPts val="600"/>
                        </a:spcBef>
                        <a:spcAft>
                          <a:spcPts val="600"/>
                        </a:spcAft>
                      </a:pPr>
                      <a:r>
                        <a:rPr lang="vi-VN" sz="2000" kern="1200" dirty="0">
                          <a:solidFill>
                            <a:schemeClr val="dk1"/>
                          </a:solidFill>
                          <a:latin typeface="Rockwell" panose="02060603020205020403" pitchFamily="18" charset="0"/>
                          <a:ea typeface="+mn-ea"/>
                          <a:cs typeface="+mn-cs"/>
                        </a:rPr>
                        <a:t>Kiểm tra dữ liệu đầu vào, cập nhật framework, áp dụng cơ chế xác thực và phân quyền chặt chẽ.</a:t>
                      </a:r>
                    </a:p>
                  </a:txBody>
                  <a:tcPr marL="56193" marR="56193" marT="28097" marB="28097" anchor="ctr"/>
                </a:tc>
                <a:tc>
                  <a:txBody>
                    <a:bodyPr/>
                    <a:lstStyle/>
                    <a:p>
                      <a:pPr>
                        <a:spcBef>
                          <a:spcPts val="600"/>
                        </a:spcBef>
                        <a:spcAft>
                          <a:spcPts val="600"/>
                        </a:spcAft>
                      </a:pPr>
                      <a:r>
                        <a:rPr lang="en-US" sz="2000" kern="1200" dirty="0" err="1">
                          <a:solidFill>
                            <a:schemeClr val="dk1"/>
                          </a:solidFill>
                          <a:latin typeface="Rockwell" panose="02060603020205020403" pitchFamily="18" charset="0"/>
                          <a:ea typeface="+mn-ea"/>
                          <a:cs typeface="+mn-cs"/>
                        </a:rPr>
                        <a:t>Cập</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nhật</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bản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vá</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hệ</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điều</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hành</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tắt</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dịch</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vụ</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không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cần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thiết</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áp</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dụng</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nguyên</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tắc</a:t>
                      </a:r>
                      <a:r>
                        <a:rPr lang="en-US" sz="2000" kern="1200" dirty="0">
                          <a:solidFill>
                            <a:schemeClr val="dk1"/>
                          </a:solidFill>
                          <a:latin typeface="Rockwell" panose="02060603020205020403" pitchFamily="18" charset="0"/>
                          <a:ea typeface="+mn-ea"/>
                          <a:cs typeface="+mn-cs"/>
                        </a:rPr>
                        <a:t> Least Privilege, </a:t>
                      </a:r>
                      <a:r>
                        <a:rPr lang="en-US" sz="2000" kern="1200" dirty="0" err="1">
                          <a:solidFill>
                            <a:schemeClr val="dk1"/>
                          </a:solidFill>
                          <a:latin typeface="Rockwell" panose="02060603020205020403" pitchFamily="18" charset="0"/>
                          <a:ea typeface="+mn-ea"/>
                          <a:cs typeface="+mn-cs"/>
                        </a:rPr>
                        <a:t>giám</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sát</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hệ</a:t>
                      </a:r>
                      <a:r>
                        <a:rPr lang="en-US" sz="2000" kern="1200" dirty="0">
                          <a:solidFill>
                            <a:schemeClr val="dk1"/>
                          </a:solidFill>
                          <a:latin typeface="Rockwell" panose="02060603020205020403" pitchFamily="18" charset="0"/>
                          <a:ea typeface="+mn-ea"/>
                          <a:cs typeface="+mn-cs"/>
                        </a:rPr>
                        <a:t> </a:t>
                      </a:r>
                      <a:r>
                        <a:rPr lang="en-US" sz="2000" kern="1200" dirty="0" err="1">
                          <a:solidFill>
                            <a:schemeClr val="dk1"/>
                          </a:solidFill>
                          <a:latin typeface="Rockwell" panose="02060603020205020403" pitchFamily="18" charset="0"/>
                          <a:ea typeface="+mn-ea"/>
                          <a:cs typeface="+mn-cs"/>
                        </a:rPr>
                        <a:t>thống</a:t>
                      </a:r>
                      <a:r>
                        <a:rPr lang="en-US" sz="2000" kern="1200" dirty="0">
                          <a:solidFill>
                            <a:schemeClr val="dk1"/>
                          </a:solidFill>
                          <a:latin typeface="Rockwell" panose="02060603020205020403" pitchFamily="18" charset="0"/>
                          <a:ea typeface="+mn-ea"/>
                          <a:cs typeface="+mn-cs"/>
                        </a:rPr>
                        <a:t>.</a:t>
                      </a:r>
                    </a:p>
                  </a:txBody>
                  <a:tcPr marL="56193" marR="56193" marT="28097" marB="28097" anchor="ctr"/>
                </a:tc>
                <a:extLst>
                  <a:ext uri="{0D108BD9-81ED-4DB2-BD59-A6C34878D82A}">
                    <a16:rowId xmlns:a16="http://schemas.microsoft.com/office/drawing/2014/main" val="4232514311"/>
                  </a:ext>
                </a:extLst>
              </a:tr>
            </a:tbl>
          </a:graphicData>
        </a:graphic>
      </p:graphicFrame>
    </p:spTree>
    <p:extLst>
      <p:ext uri="{BB962C8B-B14F-4D97-AF65-F5344CB8AC3E}">
        <p14:creationId xmlns:p14="http://schemas.microsoft.com/office/powerpoint/2010/main" val="1819047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7321"/>
            <a:ext cx="10820401" cy="501559"/>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242645"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 ứng dụng: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CIA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(Confidentiality; Integrity; Availability)</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SDLC an toàn (Secure Software Development Lifecycle)</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Tích hợp bảo mật ngay từ giai đoạn phân tích, thiết kế, lập trình, kiểm thử đến triển khai và bảo trì.</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Zero Trust cho ứng dụng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Defense in Depth trong ứng dụng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Kiểm soát truy cập ứng dụng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RBAC – Theo vai trò.</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ABAC – Theo thuộc tính.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MAC/DAC – Bắt buộc hoặc tùy ý.</a:t>
            </a:r>
          </a:p>
          <a:p>
            <a:pPr marL="0" indent="0">
              <a:spcBef>
                <a:spcPts val="1200"/>
              </a:spcBef>
              <a:spcAft>
                <a:spcPts val="1200"/>
              </a:spcAft>
              <a:buNone/>
            </a:pP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0524845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87320"/>
            <a:ext cx="10820401" cy="528855"/>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242645" cy="5393806"/>
          </a:xfrm>
        </p:spPr>
        <p:txBody>
          <a:bodyPr/>
          <a:lstStyle/>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 ứng dụng:</a:t>
            </a:r>
          </a:p>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RBAC (Role-Based Access Control):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soát truy cập theo vai trò</a:t>
            </a:r>
          </a:p>
          <a:p>
            <a:pPr>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gười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được gán vào vai trò (role), và vai trò quyết định quyền hạn.</a:t>
            </a:r>
          </a:p>
          <a:p>
            <a:pPr>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Ưu điểm: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Quản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lý dễ dàng, phù hợp tổ chức có phân cấp rõ ràng.</a:t>
            </a:r>
          </a:p>
          <a:p>
            <a:pPr>
              <a:lnSpc>
                <a:spcPct val="100000"/>
              </a:lnSpc>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lnSpc>
                <a:spcPct val="100000"/>
              </a:lnSpc>
              <a:spcBef>
                <a:spcPts val="600"/>
              </a:spcBef>
              <a:spcAft>
                <a:spcPts val="600"/>
              </a:spcAft>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Vai trò Quản trị viên có quyền xem/sửa/xóa mọi dữ liệu.</a:t>
            </a:r>
          </a:p>
          <a:p>
            <a:pPr lvl="1">
              <a:lnSpc>
                <a:spcPct val="100000"/>
              </a:lnSpc>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Vai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trò Nhân viên chỉ được xem và chỉnh sửa dữ liệu của mình.</a:t>
            </a:r>
          </a:p>
          <a:p>
            <a:pPr marL="0" indent="0">
              <a:lnSpc>
                <a:spcPct val="100000"/>
              </a:lnSpc>
              <a:spcBef>
                <a:spcPts val="600"/>
              </a:spcBef>
              <a:spcAft>
                <a:spcPts val="600"/>
              </a:spcAft>
              <a:buNone/>
            </a:pP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35712725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600969"/>
            <a:ext cx="10820401" cy="515207"/>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9874155" cy="5393806"/>
          </a:xfrm>
        </p:spPr>
        <p:txBody>
          <a:bodyPr/>
          <a:lstStyle/>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 ứng dụng:</a:t>
            </a:r>
          </a:p>
          <a:p>
            <a:pPr marL="0" indent="0">
              <a:lnSpc>
                <a:spcPct val="100000"/>
              </a:lnSpc>
              <a:spcBef>
                <a:spcPts val="600"/>
              </a:spcBef>
              <a:spcAft>
                <a:spcPts val="600"/>
              </a:spcAft>
              <a:buNone/>
            </a:pPr>
            <a:r>
              <a:rPr lang="vi-VN" b="1" i="1" dirty="0" smtClean="0">
                <a:solidFill>
                  <a:srgbClr val="0000CC"/>
                </a:solidFill>
                <a:latin typeface="Rockwell" panose="02060603020205020403" pitchFamily="18" charset="0"/>
              </a:rPr>
              <a:t>2</a:t>
            </a:r>
            <a:r>
              <a:rPr lang="vi-VN" b="1" i="1" dirty="0">
                <a:solidFill>
                  <a:srgbClr val="0000CC"/>
                </a:solidFill>
                <a:latin typeface="Rockwell" panose="02060603020205020403" pitchFamily="18" charset="0"/>
              </a:rPr>
              <a:t>. ABAC (Attribute-Based Access Control): </a:t>
            </a:r>
            <a:r>
              <a:rPr lang="vi-VN" i="1" dirty="0">
                <a:solidFill>
                  <a:srgbClr val="0000CC"/>
                </a:solidFill>
                <a:latin typeface="Rockwell" panose="02060603020205020403" pitchFamily="18" charset="0"/>
              </a:rPr>
              <a:t>Kiểm soát </a:t>
            </a:r>
            <a:r>
              <a:rPr lang="vi-VN" i="1" dirty="0" smtClean="0">
                <a:solidFill>
                  <a:srgbClr val="0000CC"/>
                </a:solidFill>
                <a:latin typeface="Rockwell" panose="02060603020205020403" pitchFamily="18" charset="0"/>
              </a:rPr>
              <a:t>t</a:t>
            </a:r>
            <a:r>
              <a:rPr lang="en-US" i="1" dirty="0" err="1" smtClean="0">
                <a:solidFill>
                  <a:srgbClr val="0000CC"/>
                </a:solidFill>
                <a:latin typeface="Rockwell" panose="02060603020205020403" pitchFamily="18" charset="0"/>
              </a:rPr>
              <a:t>ruy</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cập </a:t>
            </a:r>
            <a:r>
              <a:rPr lang="vi-VN" i="1" dirty="0">
                <a:solidFill>
                  <a:srgbClr val="0000CC"/>
                </a:solidFill>
                <a:latin typeface="Rockwell" panose="02060603020205020403" pitchFamily="18" charset="0"/>
              </a:rPr>
              <a:t>theo thuộc tính</a:t>
            </a:r>
          </a:p>
          <a:p>
            <a:pPr>
              <a:lnSpc>
                <a:spcPct val="100000"/>
              </a:lnSpc>
              <a:spcBef>
                <a:spcPts val="600"/>
              </a:spcBef>
              <a:spcAft>
                <a:spcPts val="600"/>
              </a:spcAft>
            </a:pPr>
            <a:r>
              <a:rPr lang="vi-VN" i="1" dirty="0">
                <a:solidFill>
                  <a:srgbClr val="0000CC"/>
                </a:solidFill>
                <a:latin typeface="Rockwell" panose="02060603020205020403" pitchFamily="18" charset="0"/>
              </a:rPr>
              <a:t>Nguyên tắc: </a:t>
            </a:r>
            <a:r>
              <a:rPr lang="vi-VN" i="1" dirty="0" smtClean="0">
                <a:solidFill>
                  <a:srgbClr val="0000CC"/>
                </a:solidFill>
                <a:latin typeface="Rockwell" panose="02060603020205020403" pitchFamily="18" charset="0"/>
              </a:rPr>
              <a:t>Quyền </a:t>
            </a:r>
            <a:r>
              <a:rPr lang="vi-VN" i="1" dirty="0">
                <a:solidFill>
                  <a:srgbClr val="0000CC"/>
                </a:solidFill>
                <a:latin typeface="Rockwell" panose="02060603020205020403" pitchFamily="18" charset="0"/>
              </a:rPr>
              <a:t>truy cập được quyết định dựa trên thuộc tính của:</a:t>
            </a:r>
          </a:p>
          <a:p>
            <a:pPr lvl="1">
              <a:lnSpc>
                <a:spcPct val="100000"/>
              </a:lnSpc>
              <a:spcBef>
                <a:spcPts val="600"/>
              </a:spcBef>
              <a:spcAft>
                <a:spcPts val="600"/>
              </a:spcAft>
            </a:pPr>
            <a:r>
              <a:rPr lang="vi-VN" i="1" dirty="0" smtClean="0">
                <a:solidFill>
                  <a:srgbClr val="0000CC"/>
                </a:solidFill>
                <a:latin typeface="Rockwell" panose="02060603020205020403" pitchFamily="18" charset="0"/>
              </a:rPr>
              <a:t>Người </a:t>
            </a:r>
            <a:r>
              <a:rPr lang="vi-VN" i="1" dirty="0">
                <a:solidFill>
                  <a:srgbClr val="0000CC"/>
                </a:solidFill>
                <a:latin typeface="Rockwell" panose="02060603020205020403" pitchFamily="18" charset="0"/>
              </a:rPr>
              <a:t>dùng (role, bộ phận, vị trí địa lý, thời gian truy </a:t>
            </a:r>
            <a:r>
              <a:rPr lang="vi-VN" i="1" dirty="0" smtClean="0">
                <a:solidFill>
                  <a:srgbClr val="0000CC"/>
                </a:solidFill>
                <a:latin typeface="Rockwell" panose="02060603020205020403" pitchFamily="18" charset="0"/>
              </a:rPr>
              <a:t>cập</a:t>
            </a:r>
            <a:r>
              <a:rPr lang="en-US" dirty="0" smtClean="0">
                <a:solidFill>
                  <a:srgbClr val="0000CC"/>
                </a:solidFill>
                <a:latin typeface="Rockwell" panose="02060603020205020403" pitchFamily="18" charset="0"/>
              </a:rPr>
              <a:t>, v.v.</a:t>
            </a:r>
            <a:r>
              <a:rPr lang="vi-VN" i="1" dirty="0" smtClean="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a:t>
            </a:r>
            <a:endParaRPr lang="vi-VN" i="1" dirty="0">
              <a:solidFill>
                <a:srgbClr val="0000CC"/>
              </a:solidFill>
              <a:latin typeface="Rockwell" panose="02060603020205020403" pitchFamily="18" charset="0"/>
            </a:endParaRPr>
          </a:p>
          <a:p>
            <a:pPr lvl="1">
              <a:lnSpc>
                <a:spcPct val="100000"/>
              </a:lnSpc>
              <a:spcBef>
                <a:spcPts val="600"/>
              </a:spcBef>
              <a:spcAft>
                <a:spcPts val="600"/>
              </a:spcAft>
            </a:pPr>
            <a:r>
              <a:rPr lang="vi-VN" i="1" dirty="0" smtClean="0">
                <a:solidFill>
                  <a:srgbClr val="0000CC"/>
                </a:solidFill>
                <a:latin typeface="Rockwell" panose="02060603020205020403" pitchFamily="18" charset="0"/>
              </a:rPr>
              <a:t>Tài </a:t>
            </a:r>
            <a:r>
              <a:rPr lang="vi-VN" i="1" dirty="0">
                <a:solidFill>
                  <a:srgbClr val="0000CC"/>
                </a:solidFill>
                <a:latin typeface="Rockwell" panose="02060603020205020403" pitchFamily="18" charset="0"/>
              </a:rPr>
              <a:t>nguyên (mức độ nhạy cảm, trạng </a:t>
            </a:r>
            <a:r>
              <a:rPr lang="vi-VN" i="1" dirty="0" smtClean="0">
                <a:solidFill>
                  <a:srgbClr val="0000CC"/>
                </a:solidFill>
                <a:latin typeface="Rockwell" panose="02060603020205020403" pitchFamily="18" charset="0"/>
              </a:rPr>
              <a:t>thái</a:t>
            </a:r>
            <a:r>
              <a:rPr lang="en-US" dirty="0" smtClean="0">
                <a:solidFill>
                  <a:srgbClr val="0000CC"/>
                </a:solidFill>
                <a:latin typeface="Rockwell" panose="02060603020205020403" pitchFamily="18" charset="0"/>
              </a:rPr>
              <a:t>, v.v.</a:t>
            </a:r>
            <a:r>
              <a:rPr lang="vi-VN" i="1" dirty="0" smtClean="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a:t>
            </a:r>
            <a:endParaRPr lang="vi-VN" i="1" dirty="0">
              <a:solidFill>
                <a:srgbClr val="0000CC"/>
              </a:solidFill>
              <a:latin typeface="Rockwell" panose="02060603020205020403" pitchFamily="18" charset="0"/>
            </a:endParaRPr>
          </a:p>
          <a:p>
            <a:pPr lvl="1">
              <a:lnSpc>
                <a:spcPct val="100000"/>
              </a:lnSpc>
              <a:spcBef>
                <a:spcPts val="600"/>
              </a:spcBef>
              <a:spcAft>
                <a:spcPts val="600"/>
              </a:spcAft>
            </a:pP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Môi </a:t>
            </a:r>
            <a:r>
              <a:rPr lang="vi-VN" i="1" dirty="0">
                <a:solidFill>
                  <a:srgbClr val="0000CC"/>
                </a:solidFill>
                <a:latin typeface="Rockwell" panose="02060603020205020403" pitchFamily="18" charset="0"/>
              </a:rPr>
              <a:t>trường (IP, thiết bị, thời </a:t>
            </a:r>
            <a:r>
              <a:rPr lang="vi-VN" i="1" dirty="0" smtClean="0">
                <a:solidFill>
                  <a:srgbClr val="0000CC"/>
                </a:solidFill>
                <a:latin typeface="Rockwell" panose="02060603020205020403" pitchFamily="18" charset="0"/>
              </a:rPr>
              <a:t>gian</a:t>
            </a:r>
            <a:r>
              <a:rPr lang="en-US" dirty="0" smtClean="0">
                <a:solidFill>
                  <a:srgbClr val="0000CC"/>
                </a:solidFill>
                <a:latin typeface="Rockwell" panose="02060603020205020403" pitchFamily="18" charset="0"/>
              </a:rPr>
              <a:t>,v.v.</a:t>
            </a:r>
            <a:r>
              <a:rPr lang="vi-VN" i="1" dirty="0" smtClean="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a:t>
            </a:r>
            <a:endParaRPr lang="vi-VN" i="1" dirty="0">
              <a:solidFill>
                <a:srgbClr val="0000CC"/>
              </a:solidFill>
              <a:latin typeface="Rockwell" panose="02060603020205020403" pitchFamily="18" charset="0"/>
            </a:endParaRPr>
          </a:p>
          <a:p>
            <a:pPr>
              <a:lnSpc>
                <a:spcPct val="100000"/>
              </a:lnSpc>
              <a:spcBef>
                <a:spcPts val="600"/>
              </a:spcBef>
              <a:spcAft>
                <a:spcPts val="600"/>
              </a:spcAft>
            </a:pPr>
            <a:r>
              <a:rPr lang="vi-VN" i="1" dirty="0">
                <a:solidFill>
                  <a:srgbClr val="0000CC"/>
                </a:solidFill>
                <a:latin typeface="Rockwell" panose="02060603020205020403" pitchFamily="18" charset="0"/>
              </a:rPr>
              <a:t>Ưu điểm: </a:t>
            </a:r>
            <a:r>
              <a:rPr lang="vi-VN" i="1" dirty="0" smtClean="0">
                <a:solidFill>
                  <a:srgbClr val="0000CC"/>
                </a:solidFill>
                <a:latin typeface="Rockwell" panose="02060603020205020403" pitchFamily="18" charset="0"/>
              </a:rPr>
              <a:t>Linh </a:t>
            </a:r>
            <a:r>
              <a:rPr lang="vi-VN" i="1" dirty="0">
                <a:solidFill>
                  <a:srgbClr val="0000CC"/>
                </a:solidFill>
                <a:latin typeface="Rockwell" panose="02060603020205020403" pitchFamily="18" charset="0"/>
              </a:rPr>
              <a:t>hoạt, phù hợp môi trường phức tạp.</a:t>
            </a:r>
          </a:p>
          <a:p>
            <a:pPr>
              <a:lnSpc>
                <a:spcPct val="100000"/>
              </a:lnSpc>
              <a:spcBef>
                <a:spcPts val="600"/>
              </a:spcBef>
              <a:spcAft>
                <a:spcPts val="600"/>
              </a:spcAft>
            </a:pPr>
            <a:r>
              <a:rPr lang="vi-VN" i="1" dirty="0">
                <a:solidFill>
                  <a:srgbClr val="0000CC"/>
                </a:solidFill>
                <a:latin typeface="Rockwell" panose="02060603020205020403" pitchFamily="18" charset="0"/>
              </a:rPr>
              <a:t>Ví dụ:</a:t>
            </a:r>
          </a:p>
          <a:p>
            <a:pPr marL="738188">
              <a:lnSpc>
                <a:spcPct val="100000"/>
              </a:lnSpc>
              <a:spcBef>
                <a:spcPts val="600"/>
              </a:spcBef>
              <a:spcAft>
                <a:spcPts val="600"/>
              </a:spcAft>
            </a:pPr>
            <a:r>
              <a:rPr lang="vi-VN" i="1" dirty="0" smtClean="0">
                <a:solidFill>
                  <a:srgbClr val="0000CC"/>
                </a:solidFill>
                <a:latin typeface="Rockwell" panose="02060603020205020403" pitchFamily="18" charset="0"/>
              </a:rPr>
              <a:t>Người </a:t>
            </a:r>
            <a:r>
              <a:rPr lang="vi-VN" i="1" dirty="0">
                <a:solidFill>
                  <a:srgbClr val="0000CC"/>
                </a:solidFill>
                <a:latin typeface="Rockwell" panose="02060603020205020403" pitchFamily="18" charset="0"/>
              </a:rPr>
              <a:t>dùng chỉ có thể truy cập tài liệu “Mật” nếu: thuộc bộ phận bảo mật và truy cập từ mạng nội bộ trong giờ làm việc.</a:t>
            </a:r>
            <a:endParaRPr lang="en-US" i="1"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8166896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600969"/>
            <a:ext cx="10820401" cy="501559"/>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160758"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rPr>
              <a:t>Các mô hình bảo mật ứng dụng:</a:t>
            </a:r>
            <a:endParaRPr lang="en-US" b="1" dirty="0">
              <a:solidFill>
                <a:srgbClr val="0000CC"/>
              </a:solidFill>
              <a:latin typeface="Rockwell" panose="02060603020205020403" pitchFamily="18" charset="0"/>
            </a:endParaRPr>
          </a:p>
          <a:p>
            <a:pPr marL="0" indent="0">
              <a:spcBef>
                <a:spcPts val="600"/>
              </a:spcBef>
              <a:spcAft>
                <a:spcPts val="600"/>
              </a:spcAft>
              <a:buNone/>
            </a:pPr>
            <a:r>
              <a:rPr lang="vi-VN" b="1" i="1" dirty="0">
                <a:solidFill>
                  <a:srgbClr val="0000CC"/>
                </a:solidFill>
                <a:latin typeface="Rockwell" panose="02060603020205020403" pitchFamily="18" charset="0"/>
              </a:rPr>
              <a:t>3. MAC/DAC</a:t>
            </a:r>
          </a:p>
          <a:p>
            <a:pPr>
              <a:spcBef>
                <a:spcPts val="600"/>
              </a:spcBef>
              <a:spcAft>
                <a:spcPts val="600"/>
              </a:spcAft>
            </a:pPr>
            <a:r>
              <a:rPr lang="vi-VN" b="1" i="1" dirty="0">
                <a:solidFill>
                  <a:srgbClr val="0000CC"/>
                </a:solidFill>
                <a:latin typeface="Rockwell" panose="02060603020205020403" pitchFamily="18" charset="0"/>
              </a:rPr>
              <a:t>MAC (Mandatory Access </a:t>
            </a:r>
            <a:r>
              <a:rPr lang="vi-VN" b="1" i="1" dirty="0" smtClean="0">
                <a:solidFill>
                  <a:srgbClr val="0000CC"/>
                </a:solidFill>
                <a:latin typeface="Rockwell" panose="02060603020205020403" pitchFamily="18" charset="0"/>
              </a:rPr>
              <a:t>Control)</a:t>
            </a:r>
            <a:r>
              <a:rPr lang="en-US" b="1"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Kiểm </a:t>
            </a:r>
            <a:r>
              <a:rPr lang="vi-VN" i="1" dirty="0">
                <a:solidFill>
                  <a:srgbClr val="0000CC"/>
                </a:solidFill>
                <a:latin typeface="Rockwell" panose="02060603020205020403" pitchFamily="18" charset="0"/>
              </a:rPr>
              <a:t>soát bắt buộc</a:t>
            </a:r>
          </a:p>
          <a:p>
            <a:pPr marL="463550" indent="0">
              <a:spcBef>
                <a:spcPts val="600"/>
              </a:spcBef>
              <a:spcAft>
                <a:spcPts val="600"/>
              </a:spcAft>
              <a:buNone/>
            </a:pPr>
            <a:r>
              <a:rPr lang="vi-VN" i="1" dirty="0">
                <a:solidFill>
                  <a:srgbClr val="0000CC"/>
                </a:solidFill>
                <a:latin typeface="Rockwell" panose="02060603020205020403" pitchFamily="18" charset="0"/>
              </a:rPr>
              <a:t>Nguyên tắc: Quyền truy cập được định nghĩa và áp đặt bởi hệ thống theo nhãn bảo mật (Security Label).</a:t>
            </a:r>
          </a:p>
          <a:p>
            <a:pPr marL="463550" indent="0">
              <a:spcBef>
                <a:spcPts val="600"/>
              </a:spcBef>
              <a:spcAft>
                <a:spcPts val="600"/>
              </a:spcAft>
              <a:buNone/>
            </a:pPr>
            <a:r>
              <a:rPr lang="vi-VN" i="1" dirty="0">
                <a:solidFill>
                  <a:srgbClr val="0000CC"/>
                </a:solidFill>
                <a:latin typeface="Rockwell" panose="02060603020205020403" pitchFamily="18" charset="0"/>
              </a:rPr>
              <a:t>Ví dụ: Trong quân đội, chỉ người có cấp độ “Tuyệt mật” mới xem được tài liệu “Tuyệt mật”.</a:t>
            </a:r>
          </a:p>
          <a:p>
            <a:pPr>
              <a:spcBef>
                <a:spcPts val="600"/>
              </a:spcBef>
              <a:spcAft>
                <a:spcPts val="600"/>
              </a:spcAft>
            </a:pPr>
            <a:r>
              <a:rPr lang="vi-VN" b="1" i="1" dirty="0">
                <a:solidFill>
                  <a:srgbClr val="0000CC"/>
                </a:solidFill>
                <a:latin typeface="Rockwell" panose="02060603020205020403" pitchFamily="18" charset="0"/>
              </a:rPr>
              <a:t>DAC (Discretionary Access </a:t>
            </a:r>
            <a:r>
              <a:rPr lang="vi-VN" b="1" i="1" dirty="0" smtClean="0">
                <a:solidFill>
                  <a:srgbClr val="0000CC"/>
                </a:solidFill>
                <a:latin typeface="Rockwell" panose="02060603020205020403" pitchFamily="18" charset="0"/>
              </a:rPr>
              <a:t>Control)</a:t>
            </a:r>
            <a:r>
              <a:rPr lang="en-US" b="1" i="1" dirty="0" smtClean="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Kiểm </a:t>
            </a:r>
            <a:r>
              <a:rPr lang="vi-VN" i="1" dirty="0">
                <a:solidFill>
                  <a:srgbClr val="0000CC"/>
                </a:solidFill>
                <a:latin typeface="Rockwell" panose="02060603020205020403" pitchFamily="18" charset="0"/>
              </a:rPr>
              <a:t>soát tùy ý</a:t>
            </a:r>
          </a:p>
          <a:p>
            <a:pPr marL="519113" indent="0">
              <a:spcBef>
                <a:spcPts val="600"/>
              </a:spcBef>
              <a:spcAft>
                <a:spcPts val="600"/>
              </a:spcAft>
              <a:buNone/>
            </a:pPr>
            <a:r>
              <a:rPr lang="vi-VN" i="1" dirty="0">
                <a:solidFill>
                  <a:srgbClr val="0000CC"/>
                </a:solidFill>
                <a:latin typeface="Rockwell" panose="02060603020205020403" pitchFamily="18" charset="0"/>
              </a:rPr>
              <a:t>Nguyên tắc: Chủ sở hữu tài nguyên quyết định ai được quyền truy cập.</a:t>
            </a:r>
          </a:p>
          <a:p>
            <a:pPr marL="519113" indent="0">
              <a:spcBef>
                <a:spcPts val="600"/>
              </a:spcBef>
              <a:spcAft>
                <a:spcPts val="600"/>
              </a:spcAft>
              <a:buNone/>
            </a:pPr>
            <a:r>
              <a:rPr lang="vi-VN" i="1" dirty="0">
                <a:solidFill>
                  <a:srgbClr val="0000CC"/>
                </a:solidFill>
                <a:latin typeface="Rockwell" panose="02060603020205020403" pitchFamily="18" charset="0"/>
              </a:rPr>
              <a:t>Ví dụ: Chủ file Excel trên Google Drive cấp quyền “Chỉ đọc” hoặc “Chỉnh sửa” cho người khác.</a:t>
            </a: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241621116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48987"/>
            <a:ext cx="10820401" cy="515207"/>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64194"/>
            <a:ext cx="9935570" cy="5393806"/>
          </a:xfrm>
        </p:spPr>
        <p:txBody>
          <a:bodyPr/>
          <a:lstStyle/>
          <a:p>
            <a:pPr marL="0" indent="0" algn="jus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Zero Trust cho ứng dụng:</a:t>
            </a:r>
          </a:p>
          <a:p>
            <a:pPr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tin tưởng mặc định: Dù yêu cầu đến từ bên trong hay bên ngoài mạng, đều bị coi là không an toàn cho đến khi được xác minh.</a:t>
            </a:r>
          </a:p>
          <a:p>
            <a:pPr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Luôn xác thực và ủy quyền: Mọi truy cập phải trải qua xác thực (authentication) và kiểm tra quyền (authorization) liên tục, không chỉ một lần khi đăng nhập.</a:t>
            </a:r>
          </a:p>
          <a:p>
            <a:pPr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Giám sát và ghi log: Mọi hành động, luồng dữ liệu, và truy cập được theo dõi để phát hiện bất thường.</a:t>
            </a: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163641362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48987"/>
            <a:ext cx="10820401" cy="515207"/>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64194"/>
            <a:ext cx="9942392" cy="5393806"/>
          </a:xfrm>
        </p:spPr>
        <p:txBody>
          <a:bodyPr/>
          <a:lstStyle/>
          <a:p>
            <a:pPr marL="0" indent="0" algn="jus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Zero Trust cho ứng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gn="just"/>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tắc Least Privilege: Người dùng và dịch vụ chỉ được cấp quyền tối thiểu cần thiết cho nhiệm vụ.</a:t>
            </a:r>
          </a:p>
          <a:p>
            <a:pPr algn="just"/>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ứng dụng ngân hàng yêu cầu xác thực đa yếu tố (MFA) cho mỗi lần giao dịch lớn, kiểm tra thiết bị và vị trí IP, đồng thời ghi lại nhật ký hoạt động để phát hiện hành vi bất thường ngay cả khi người dùng đã đăng nhập.</a:t>
            </a: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372689876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39"/>
            <a:ext cx="10820401" cy="515207"/>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365475"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en-US" b="1" i="1" dirty="0" smtClean="0">
                <a:solidFill>
                  <a:srgbClr val="0000CC"/>
                </a:solidFill>
                <a:latin typeface="Rockwell" panose="02060603020205020403" pitchFamily="18" charset="0"/>
              </a:rPr>
              <a:t>1. </a:t>
            </a:r>
            <a:r>
              <a:rPr lang="vi-VN" b="1" i="1" dirty="0" smtClean="0">
                <a:solidFill>
                  <a:srgbClr val="0000CC"/>
                </a:solidFill>
                <a:latin typeface="Rockwell" panose="02060603020205020403" pitchFamily="18" charset="0"/>
              </a:rPr>
              <a:t>Mô hình Kiểm soát truy cập hệ thống</a:t>
            </a:r>
          </a:p>
          <a:p>
            <a:pPr>
              <a:spcBef>
                <a:spcPts val="600"/>
              </a:spcBef>
              <a:spcAft>
                <a:spcPts val="600"/>
              </a:spcAft>
            </a:pPr>
            <a:r>
              <a:rPr lang="vi-VN" b="1" i="1" dirty="0" smtClean="0">
                <a:solidFill>
                  <a:srgbClr val="0000CC"/>
                </a:solidFill>
                <a:latin typeface="Rockwell" panose="02060603020205020403" pitchFamily="18" charset="0"/>
              </a:rPr>
              <a:t>MAC</a:t>
            </a:r>
            <a:r>
              <a:rPr lang="vi-VN" i="1" dirty="0" smtClean="0">
                <a:solidFill>
                  <a:srgbClr val="0000CC"/>
                </a:solidFill>
                <a:latin typeface="Rockwell" panose="02060603020205020403" pitchFamily="18" charset="0"/>
              </a:rPr>
              <a:t> </a:t>
            </a:r>
            <a:r>
              <a:rPr lang="vi-VN" i="1" dirty="0">
                <a:solidFill>
                  <a:srgbClr val="0000CC"/>
                </a:solidFill>
                <a:latin typeface="Rockwell" panose="02060603020205020403" pitchFamily="18" charset="0"/>
              </a:rPr>
              <a:t>(Mandatory Access Control</a:t>
            </a:r>
            <a:r>
              <a:rPr lang="vi-VN" i="1" dirty="0" smtClean="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a:t>
            </a:r>
            <a:r>
              <a:rPr lang="vi-VN" i="1" dirty="0" smtClean="0">
                <a:solidFill>
                  <a:srgbClr val="0000CC"/>
                </a:solidFill>
                <a:latin typeface="Rockwell" panose="02060603020205020403" pitchFamily="18" charset="0"/>
              </a:rPr>
              <a:t> </a:t>
            </a:r>
            <a:r>
              <a:rPr lang="vi-VN" i="1" dirty="0">
                <a:solidFill>
                  <a:srgbClr val="0000CC"/>
                </a:solidFill>
                <a:latin typeface="Rockwell" panose="02060603020205020403" pitchFamily="18" charset="0"/>
              </a:rPr>
              <a:t>Kiểm soát bắt buộc: Quyền truy cập được xác định bởi chính sách hệ thống, người dùng không thể tự thay đổi. Ví dụ: </a:t>
            </a:r>
            <a:r>
              <a:rPr lang="en-US" i="1" dirty="0" err="1" smtClean="0">
                <a:solidFill>
                  <a:srgbClr val="0000CC"/>
                </a:solidFill>
                <a:latin typeface="Rockwell" panose="02060603020205020403" pitchFamily="18" charset="0"/>
              </a:rPr>
              <a:t>HĐH</a:t>
            </a:r>
            <a:r>
              <a:rPr lang="vi-VN" i="1" dirty="0" smtClean="0">
                <a:solidFill>
                  <a:srgbClr val="0000CC"/>
                </a:solidFill>
                <a:latin typeface="Rockwell" panose="02060603020205020403" pitchFamily="18" charset="0"/>
              </a:rPr>
              <a:t> </a:t>
            </a:r>
            <a:r>
              <a:rPr lang="vi-VN" i="1" dirty="0">
                <a:solidFill>
                  <a:srgbClr val="0000CC"/>
                </a:solidFill>
                <a:latin typeface="Rockwell" panose="02060603020205020403" pitchFamily="18" charset="0"/>
              </a:rPr>
              <a:t>quân sự phân loại dữ liệu Confidential, Secret, Top Secret.</a:t>
            </a:r>
          </a:p>
          <a:p>
            <a:pPr>
              <a:spcBef>
                <a:spcPts val="600"/>
              </a:spcBef>
              <a:spcAft>
                <a:spcPts val="600"/>
              </a:spcAft>
            </a:pPr>
            <a:r>
              <a:rPr lang="vi-VN" b="1" i="1" dirty="0">
                <a:solidFill>
                  <a:srgbClr val="0000CC"/>
                </a:solidFill>
                <a:latin typeface="Rockwell" panose="02060603020205020403" pitchFamily="18" charset="0"/>
              </a:rPr>
              <a:t>DAC</a:t>
            </a:r>
            <a:r>
              <a:rPr lang="vi-VN" i="1" dirty="0">
                <a:solidFill>
                  <a:srgbClr val="0000CC"/>
                </a:solidFill>
                <a:latin typeface="Rockwell" panose="02060603020205020403" pitchFamily="18" charset="0"/>
              </a:rPr>
              <a:t> (Discretionary Access </a:t>
            </a:r>
            <a:r>
              <a:rPr lang="vi-VN" i="1" dirty="0" smtClean="0">
                <a:solidFill>
                  <a:srgbClr val="0000CC"/>
                </a:solidFill>
                <a:latin typeface="Rockwell" panose="02060603020205020403" pitchFamily="18" charset="0"/>
              </a:rPr>
              <a:t>Control)</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Kiểm </a:t>
            </a:r>
            <a:r>
              <a:rPr lang="vi-VN" i="1" dirty="0">
                <a:solidFill>
                  <a:srgbClr val="0000CC"/>
                </a:solidFill>
                <a:latin typeface="Rockwell" panose="02060603020205020403" pitchFamily="18" charset="0"/>
              </a:rPr>
              <a:t>soát tùy ý: Chủ sở hữu tài nguyên quyết định ai được truy cập và quyền mức nào. </a:t>
            </a:r>
            <a:r>
              <a:rPr lang="en-US" i="1" dirty="0" smtClean="0">
                <a:solidFill>
                  <a:srgbClr val="0000CC"/>
                </a:solidFill>
                <a:latin typeface="Rockwell" panose="02060603020205020403" pitchFamily="18" charset="0"/>
              </a:rPr>
              <a:t/>
            </a:r>
            <a:br>
              <a:rPr lang="en-US" i="1" dirty="0" smtClean="0">
                <a:solidFill>
                  <a:srgbClr val="0000CC"/>
                </a:solidFill>
                <a:latin typeface="Rockwell" panose="02060603020205020403" pitchFamily="18" charset="0"/>
              </a:rPr>
            </a:br>
            <a:r>
              <a:rPr lang="vi-VN" i="1" dirty="0" smtClean="0">
                <a:solidFill>
                  <a:srgbClr val="0000CC"/>
                </a:solidFill>
                <a:latin typeface="Rockwell" panose="02060603020205020403" pitchFamily="18" charset="0"/>
              </a:rPr>
              <a:t>Ví </a:t>
            </a:r>
            <a:r>
              <a:rPr lang="vi-VN" i="1" dirty="0">
                <a:solidFill>
                  <a:srgbClr val="0000CC"/>
                </a:solidFill>
                <a:latin typeface="Rockwell" panose="02060603020205020403" pitchFamily="18" charset="0"/>
              </a:rPr>
              <a:t>dụ: quyền chmod trên Linux.</a:t>
            </a:r>
          </a:p>
          <a:p>
            <a:pPr>
              <a:spcBef>
                <a:spcPts val="600"/>
              </a:spcBef>
              <a:spcAft>
                <a:spcPts val="600"/>
              </a:spcAft>
            </a:pPr>
            <a:r>
              <a:rPr lang="vi-VN" b="1" i="1" dirty="0">
                <a:solidFill>
                  <a:srgbClr val="0000CC"/>
                </a:solidFill>
                <a:latin typeface="Rockwell" panose="02060603020205020403" pitchFamily="18" charset="0"/>
              </a:rPr>
              <a:t>RBAC</a:t>
            </a:r>
            <a:r>
              <a:rPr lang="vi-VN" i="1" dirty="0">
                <a:solidFill>
                  <a:srgbClr val="0000CC"/>
                </a:solidFill>
                <a:latin typeface="Rockwell" panose="02060603020205020403" pitchFamily="18" charset="0"/>
              </a:rPr>
              <a:t> (Role-Based Access </a:t>
            </a:r>
            <a:r>
              <a:rPr lang="vi-VN" i="1" dirty="0" smtClean="0">
                <a:solidFill>
                  <a:srgbClr val="0000CC"/>
                </a:solidFill>
                <a:latin typeface="Rockwell" panose="02060603020205020403" pitchFamily="18" charset="0"/>
              </a:rPr>
              <a:t>Control)</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Theo </a:t>
            </a:r>
            <a:r>
              <a:rPr lang="vi-VN" i="1" dirty="0">
                <a:solidFill>
                  <a:srgbClr val="0000CC"/>
                </a:solidFill>
                <a:latin typeface="Rockwell" panose="02060603020205020403" pitchFamily="18" charset="0"/>
              </a:rPr>
              <a:t>vai trò: Quyền được gán dựa trên vai trò công việc (Admin, User, </a:t>
            </a:r>
            <a:r>
              <a:rPr lang="vi-VN" i="1" dirty="0" smtClean="0">
                <a:solidFill>
                  <a:srgbClr val="0000CC"/>
                </a:solidFill>
                <a:latin typeface="Rockwell" panose="02060603020205020403" pitchFamily="18" charset="0"/>
              </a:rPr>
              <a:t>Guest</a:t>
            </a:r>
            <a:r>
              <a:rPr lang="en-US" i="1" dirty="0" smtClean="0">
                <a:solidFill>
                  <a:srgbClr val="0000CC"/>
                </a:solidFill>
                <a:latin typeface="Rockwell" panose="02060603020205020403" pitchFamily="18" charset="0"/>
              </a:rPr>
              <a:t>,v.v.</a:t>
            </a:r>
            <a:r>
              <a:rPr lang="vi-VN" i="1" dirty="0" smtClean="0">
                <a:solidFill>
                  <a:srgbClr val="0000CC"/>
                </a:solidFill>
                <a:latin typeface="Rockwell" panose="02060603020205020403" pitchFamily="18" charset="0"/>
              </a:rPr>
              <a:t>).</a:t>
            </a:r>
            <a:endParaRPr lang="vi-VN" i="1" dirty="0">
              <a:solidFill>
                <a:srgbClr val="0000CC"/>
              </a:solidFill>
              <a:latin typeface="Rockwell" panose="02060603020205020403" pitchFamily="18" charset="0"/>
            </a:endParaRPr>
          </a:p>
          <a:p>
            <a:pPr>
              <a:spcBef>
                <a:spcPts val="600"/>
              </a:spcBef>
              <a:spcAft>
                <a:spcPts val="600"/>
              </a:spcAft>
            </a:pPr>
            <a:r>
              <a:rPr lang="vi-VN" b="1" i="1" dirty="0">
                <a:solidFill>
                  <a:srgbClr val="0000CC"/>
                </a:solidFill>
                <a:latin typeface="Rockwell" panose="02060603020205020403" pitchFamily="18" charset="0"/>
              </a:rPr>
              <a:t>ABAC</a:t>
            </a:r>
            <a:r>
              <a:rPr lang="vi-VN" i="1" dirty="0">
                <a:solidFill>
                  <a:srgbClr val="0000CC"/>
                </a:solidFill>
                <a:latin typeface="Rockwell" panose="02060603020205020403" pitchFamily="18" charset="0"/>
              </a:rPr>
              <a:t> (Attribute-Based Access </a:t>
            </a:r>
            <a:r>
              <a:rPr lang="vi-VN" i="1" dirty="0" smtClean="0">
                <a:solidFill>
                  <a:srgbClr val="0000CC"/>
                </a:solidFill>
                <a:latin typeface="Rockwell" panose="02060603020205020403" pitchFamily="18" charset="0"/>
              </a:rPr>
              <a:t>Control)</a:t>
            </a:r>
            <a:r>
              <a:rPr lang="en-US" i="1" dirty="0" smtClean="0">
                <a:solidFill>
                  <a:srgbClr val="0000CC"/>
                </a:solidFill>
                <a:latin typeface="Rockwell" panose="02060603020205020403" pitchFamily="18" charset="0"/>
              </a:rPr>
              <a:t>: </a:t>
            </a:r>
            <a:r>
              <a:rPr lang="vi-VN" i="1" dirty="0" smtClean="0">
                <a:solidFill>
                  <a:srgbClr val="0000CC"/>
                </a:solidFill>
                <a:latin typeface="Rockwell" panose="02060603020205020403" pitchFamily="18" charset="0"/>
              </a:rPr>
              <a:t>Theo </a:t>
            </a:r>
            <a:r>
              <a:rPr lang="vi-VN" i="1" dirty="0">
                <a:solidFill>
                  <a:srgbClr val="0000CC"/>
                </a:solidFill>
                <a:latin typeface="Rockwell" panose="02060603020205020403" pitchFamily="18" charset="0"/>
              </a:rPr>
              <a:t>thuộc tính: Quyền dựa trên thuộc tính của người dùng, tài nguyên và môi trường (ví dụ: vị trí, thời gian truy cập, loại thiết </a:t>
            </a:r>
            <a:r>
              <a:rPr lang="vi-VN" i="1" dirty="0" smtClean="0">
                <a:solidFill>
                  <a:srgbClr val="0000CC"/>
                </a:solidFill>
                <a:latin typeface="Rockwell" panose="02060603020205020403" pitchFamily="18" charset="0"/>
              </a:rPr>
              <a:t>bị</a:t>
            </a:r>
            <a:r>
              <a:rPr lang="en-US" i="1" dirty="0">
                <a:solidFill>
                  <a:srgbClr val="0000CC"/>
                </a:solidFill>
                <a:latin typeface="Rockwell" panose="02060603020205020403" pitchFamily="18" charset="0"/>
              </a:rPr>
              <a:t>,</a:t>
            </a:r>
            <a:r>
              <a:rPr lang="en-US" i="1" dirty="0" smtClean="0">
                <a:solidFill>
                  <a:srgbClr val="0000CC"/>
                </a:solidFill>
                <a:latin typeface="Rockwell" panose="02060603020205020403" pitchFamily="18" charset="0"/>
              </a:rPr>
              <a:t> v.v.</a:t>
            </a:r>
            <a:r>
              <a:rPr lang="vi-VN" i="1" dirty="0" smtClean="0">
                <a:solidFill>
                  <a:srgbClr val="0000CC"/>
                </a:solidFill>
                <a:latin typeface="Rockwell" panose="02060603020205020403" pitchFamily="18" charset="0"/>
              </a:rPr>
              <a:t>).</a:t>
            </a:r>
            <a:endParaRPr lang="vi-VN" i="1" dirty="0">
              <a:solidFill>
                <a:srgbClr val="0000CC"/>
              </a:solidFill>
              <a:latin typeface="Rockwell" panose="02060603020205020403" pitchFamily="18" charset="0"/>
            </a:endParaRPr>
          </a:p>
          <a:p>
            <a:pPr marL="0" indent="0">
              <a:buNone/>
            </a:pPr>
            <a:endParaRPr lang="vi-VN" i="1" dirty="0">
              <a:solidFill>
                <a:srgbClr val="0000CC"/>
              </a:solidFill>
              <a:latin typeface="Rockwell" panose="02060603020205020403" pitchFamily="18" charset="0"/>
            </a:endParaRP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119641945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05434"/>
            <a:ext cx="10820401" cy="487912"/>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106167" cy="5393806"/>
          </a:xfrm>
        </p:spPr>
        <p:txBody>
          <a:bodyPr/>
          <a:lstStyle/>
          <a:p>
            <a:pPr marL="0" indent="0">
              <a:lnSpc>
                <a:spcPct val="100000"/>
              </a:lnSpc>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nSpc>
                <a:spcPct val="100000"/>
              </a:lnSpc>
              <a:spcBef>
                <a:spcPts val="600"/>
              </a:spcBef>
              <a:spcAft>
                <a:spcPts val="600"/>
              </a:spcAft>
              <a:buNone/>
            </a:pPr>
            <a:r>
              <a:rPr lang="en-US" b="1" i="1" dirty="0" smtClean="0">
                <a:solidFill>
                  <a:srgbClr val="0000CC"/>
                </a:solidFill>
                <a:latin typeface="Rockwell" panose="02060603020205020403" pitchFamily="18" charset="0"/>
              </a:rPr>
              <a:t>2</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Mô</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hình</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Bảo</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vệ</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hệ</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thống</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nhiều</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lớp</a:t>
            </a:r>
            <a:r>
              <a:rPr lang="en-US" b="1" i="1" dirty="0">
                <a:solidFill>
                  <a:srgbClr val="0000CC"/>
                </a:solidFill>
                <a:latin typeface="Rockwell" panose="02060603020205020403" pitchFamily="18" charset="0"/>
              </a:rPr>
              <a:t> (Defense in Depth</a:t>
            </a:r>
            <a:r>
              <a:rPr lang="en-US" b="1" i="1" dirty="0" smtClean="0">
                <a:solidFill>
                  <a:srgbClr val="0000CC"/>
                </a:solidFill>
                <a:latin typeface="Rockwell" panose="02060603020205020403" pitchFamily="18" charset="0"/>
              </a:rPr>
              <a:t>)</a:t>
            </a:r>
            <a:endParaRPr lang="en-US" b="1" i="1" dirty="0">
              <a:solidFill>
                <a:srgbClr val="0000CC"/>
              </a:solidFill>
              <a:latin typeface="Rockwell" panose="02060603020205020403" pitchFamily="18" charset="0"/>
            </a:endParaRPr>
          </a:p>
          <a:p>
            <a:pPr>
              <a:lnSpc>
                <a:spcPct val="100000"/>
              </a:lnSpc>
              <a:spcBef>
                <a:spcPts val="600"/>
              </a:spcBef>
              <a:spcAft>
                <a:spcPts val="600"/>
              </a:spcAft>
            </a:pPr>
            <a:r>
              <a:rPr lang="en-US" i="1" dirty="0" err="1">
                <a:solidFill>
                  <a:srgbClr val="0000CC"/>
                </a:solidFill>
                <a:latin typeface="Rockwell" panose="02060603020205020403" pitchFamily="18" charset="0"/>
              </a:rPr>
              <a:t>Tầng</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vật</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lý</a:t>
            </a:r>
            <a:r>
              <a:rPr lang="en-US" i="1" dirty="0">
                <a:solidFill>
                  <a:srgbClr val="0000CC"/>
                </a:solidFill>
                <a:latin typeface="Rockwell" panose="02060603020205020403" pitchFamily="18" charset="0"/>
              </a:rPr>
              <a:t> (Physical Security) </a:t>
            </a:r>
            <a:r>
              <a:rPr lang="en-US" i="1" dirty="0" smtClean="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tầng</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mạng</a:t>
            </a:r>
            <a:r>
              <a:rPr lang="en-US" i="1" dirty="0">
                <a:solidFill>
                  <a:srgbClr val="0000CC"/>
                </a:solidFill>
                <a:latin typeface="Rockwell" panose="02060603020205020403" pitchFamily="18" charset="0"/>
              </a:rPr>
              <a:t> (Network Security) </a:t>
            </a:r>
            <a:r>
              <a:rPr lang="en-US" i="1" dirty="0" smtClean="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tầng</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hệ</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điều</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hành</a:t>
            </a:r>
            <a:r>
              <a:rPr lang="en-US" i="1" dirty="0">
                <a:solidFill>
                  <a:srgbClr val="0000CC"/>
                </a:solidFill>
                <a:latin typeface="Rockwell" panose="02060603020205020403" pitchFamily="18" charset="0"/>
              </a:rPr>
              <a:t> </a:t>
            </a:r>
            <a:r>
              <a:rPr lang="en-US" i="1" dirty="0" smtClean="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tầng</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ứng</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dụng</a:t>
            </a:r>
            <a:r>
              <a:rPr lang="en-US" i="1" dirty="0">
                <a:solidFill>
                  <a:srgbClr val="0000CC"/>
                </a:solidFill>
                <a:latin typeface="Rockwell" panose="02060603020205020403" pitchFamily="18" charset="0"/>
              </a:rPr>
              <a:t>.</a:t>
            </a:r>
          </a:p>
          <a:p>
            <a:pPr>
              <a:lnSpc>
                <a:spcPct val="100000"/>
              </a:lnSpc>
              <a:spcBef>
                <a:spcPts val="600"/>
              </a:spcBef>
              <a:spcAft>
                <a:spcPts val="600"/>
              </a:spcAft>
            </a:pPr>
            <a:r>
              <a:rPr lang="en-US" i="1" dirty="0" err="1">
                <a:solidFill>
                  <a:srgbClr val="0000CC"/>
                </a:solidFill>
                <a:latin typeface="Rockwell" panose="02060603020205020403" pitchFamily="18" charset="0"/>
              </a:rPr>
              <a:t>Mỗi</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lớp</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triển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khai</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các</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biện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pháp</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riêng</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để</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nếu</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một</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lớp</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bị</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phá</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vỡ</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lớp</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khác</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vẫn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bảo</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vệ</a:t>
            </a:r>
            <a:r>
              <a:rPr lang="en-US" i="1" dirty="0" smtClean="0">
                <a:solidFill>
                  <a:srgbClr val="0000CC"/>
                </a:solidFill>
                <a:latin typeface="Rockwell" panose="02060603020205020403" pitchFamily="18" charset="0"/>
              </a:rPr>
              <a:t>.</a:t>
            </a:r>
          </a:p>
          <a:p>
            <a:pPr marL="0" indent="0">
              <a:lnSpc>
                <a:spcPct val="100000"/>
              </a:lnSpc>
              <a:spcBef>
                <a:spcPts val="600"/>
              </a:spcBef>
              <a:spcAft>
                <a:spcPts val="600"/>
              </a:spcAft>
              <a:buNone/>
            </a:pPr>
            <a:r>
              <a:rPr lang="vi-VN" b="1" i="1" dirty="0" smtClean="0">
                <a:solidFill>
                  <a:srgbClr val="0000CC"/>
                </a:solidFill>
                <a:latin typeface="Rockwell" panose="02060603020205020403" pitchFamily="18" charset="0"/>
              </a:rPr>
              <a:t>3</a:t>
            </a:r>
            <a:r>
              <a:rPr lang="vi-VN" b="1" i="1" dirty="0">
                <a:solidFill>
                  <a:srgbClr val="0000CC"/>
                </a:solidFill>
                <a:latin typeface="Rockwell" panose="02060603020205020403" pitchFamily="18" charset="0"/>
              </a:rPr>
              <a:t>. Mô hình Zero Trust cho hệ </a:t>
            </a:r>
            <a:r>
              <a:rPr lang="vi-VN" b="1" i="1" dirty="0" smtClean="0">
                <a:solidFill>
                  <a:srgbClr val="0000CC"/>
                </a:solidFill>
                <a:latin typeface="Rockwell" panose="02060603020205020403" pitchFamily="18" charset="0"/>
              </a:rPr>
              <a:t>thống</a:t>
            </a:r>
            <a:endParaRPr lang="vi-VN" b="1" i="1" dirty="0">
              <a:solidFill>
                <a:srgbClr val="0000CC"/>
              </a:solidFill>
              <a:latin typeface="Rockwell" panose="02060603020205020403" pitchFamily="18" charset="0"/>
            </a:endParaRPr>
          </a:p>
          <a:p>
            <a:pPr>
              <a:lnSpc>
                <a:spcPct val="100000"/>
              </a:lnSpc>
              <a:spcBef>
                <a:spcPts val="600"/>
              </a:spcBef>
              <a:spcAft>
                <a:spcPts val="600"/>
              </a:spcAft>
            </a:pPr>
            <a:r>
              <a:rPr lang="vi-VN" i="1" dirty="0">
                <a:solidFill>
                  <a:srgbClr val="0000CC"/>
                </a:solidFill>
                <a:latin typeface="Rockwell" panose="02060603020205020403" pitchFamily="18" charset="0"/>
              </a:rPr>
              <a:t>Không tin tưởng mặc định bất kỳ kết nối nào, dù đến từ bên trong mạng nội bộ.</a:t>
            </a:r>
          </a:p>
          <a:p>
            <a:pPr>
              <a:lnSpc>
                <a:spcPct val="100000"/>
              </a:lnSpc>
              <a:spcBef>
                <a:spcPts val="600"/>
              </a:spcBef>
              <a:spcAft>
                <a:spcPts val="600"/>
              </a:spcAft>
            </a:pPr>
            <a:r>
              <a:rPr lang="vi-VN" i="1" dirty="0">
                <a:solidFill>
                  <a:srgbClr val="0000CC"/>
                </a:solidFill>
                <a:latin typeface="Rockwell" panose="02060603020205020403" pitchFamily="18" charset="0"/>
              </a:rPr>
              <a:t>Mỗi truy cập hệ thống đều yêu cầu xác thực, ủy quyền và được giám sát liên tục.</a:t>
            </a:r>
          </a:p>
          <a:p>
            <a:endParaRPr lang="en-US" i="1" dirty="0">
              <a:solidFill>
                <a:srgbClr val="0000CC"/>
              </a:solidFill>
              <a:latin typeface="Rockwell" panose="02060603020205020403" pitchFamily="18" charset="0"/>
            </a:endParaRPr>
          </a:p>
          <a:p>
            <a:pPr marL="0" indent="0">
              <a:buNone/>
            </a:pPr>
            <a:endParaRPr lang="vi-VN" i="1" dirty="0">
              <a:solidFill>
                <a:srgbClr val="0000CC"/>
              </a:solidFill>
              <a:latin typeface="Rockwell" panose="02060603020205020403" pitchFamily="18" charset="0"/>
            </a:endParaRP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317714532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8139"/>
            <a:ext cx="10820401" cy="515207"/>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365475"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rPr>
              <a:t>Các mô hình bảo mật</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Hệ</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thống</a:t>
            </a:r>
            <a:r>
              <a:rPr lang="vi-VN" b="1" dirty="0">
                <a:solidFill>
                  <a:srgbClr val="0000CC"/>
                </a:solidFill>
                <a:latin typeface="Rockwell" panose="02060603020205020403" pitchFamily="18" charset="0"/>
              </a:rPr>
              <a:t>:</a:t>
            </a:r>
            <a:endParaRPr lang="en-US" b="1" dirty="0">
              <a:solidFill>
                <a:srgbClr val="0000CC"/>
              </a:solidFill>
              <a:latin typeface="Rockwell" panose="02060603020205020403" pitchFamily="18" charset="0"/>
            </a:endParaRPr>
          </a:p>
          <a:p>
            <a:pPr marL="0" indent="0">
              <a:spcBef>
                <a:spcPts val="600"/>
              </a:spcBef>
              <a:spcAft>
                <a:spcPts val="600"/>
              </a:spcAft>
              <a:buNone/>
            </a:pPr>
            <a:r>
              <a:rPr lang="vi-VN" b="1" i="1" dirty="0" smtClean="0">
                <a:solidFill>
                  <a:srgbClr val="0000CC"/>
                </a:solidFill>
                <a:latin typeface="Rockwell" panose="02060603020205020403" pitchFamily="18" charset="0"/>
              </a:rPr>
              <a:t>4</a:t>
            </a:r>
            <a:r>
              <a:rPr lang="vi-VN" b="1" i="1" dirty="0">
                <a:solidFill>
                  <a:srgbClr val="0000CC"/>
                </a:solidFill>
                <a:latin typeface="Rockwell" panose="02060603020205020403" pitchFamily="18" charset="0"/>
              </a:rPr>
              <a:t>. Mô hình Bảo mật dựa trên phân vùng (Segmentation &amp; Isolation)</a:t>
            </a:r>
          </a:p>
          <a:p>
            <a:pPr>
              <a:spcBef>
                <a:spcPts val="600"/>
              </a:spcBef>
              <a:spcAft>
                <a:spcPts val="600"/>
              </a:spcAft>
            </a:pPr>
            <a:r>
              <a:rPr lang="vi-VN" dirty="0">
                <a:solidFill>
                  <a:srgbClr val="0000CC"/>
                </a:solidFill>
                <a:latin typeface="Rockwell" panose="02060603020205020403" pitchFamily="18" charset="0"/>
              </a:rPr>
              <a:t>Network Segmentation: Chia mạng thành nhiều vùng bảo mật nhỏ (DMZ, mạng nội bộ, mạng quản </a:t>
            </a:r>
            <a:r>
              <a:rPr lang="vi-VN" dirty="0" smtClean="0">
                <a:solidFill>
                  <a:srgbClr val="0000CC"/>
                </a:solidFill>
                <a:latin typeface="Rockwell" panose="02060603020205020403" pitchFamily="18" charset="0"/>
              </a:rPr>
              <a:t>trị</a:t>
            </a:r>
            <a:r>
              <a:rPr lang="en-US" dirty="0" smtClean="0">
                <a:solidFill>
                  <a:srgbClr val="0000CC"/>
                </a:solidFill>
                <a:latin typeface="Rockwell" panose="02060603020205020403" pitchFamily="18" charset="0"/>
              </a:rPr>
              <a:t>, v.v.</a:t>
            </a:r>
            <a:r>
              <a:rPr lang="vi-VN"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a:p>
            <a:pPr>
              <a:spcBef>
                <a:spcPts val="600"/>
              </a:spcBef>
              <a:spcAft>
                <a:spcPts val="600"/>
              </a:spcAft>
            </a:pPr>
            <a:r>
              <a:rPr lang="vi-VN" dirty="0" smtClean="0">
                <a:solidFill>
                  <a:srgbClr val="0000CC"/>
                </a:solidFill>
                <a:latin typeface="Rockwell" panose="02060603020205020403" pitchFamily="18" charset="0"/>
              </a:rPr>
              <a:t>Sandboxing/Virtualization</a:t>
            </a:r>
            <a:r>
              <a:rPr lang="vi-VN" dirty="0">
                <a:solidFill>
                  <a:srgbClr val="0000CC"/>
                </a:solidFill>
                <a:latin typeface="Rockwell" panose="02060603020205020403" pitchFamily="18" charset="0"/>
              </a:rPr>
              <a:t>: Cô lập tiến trình hoặc môi trường để hạn chế tác động khi bị tấn công.</a:t>
            </a:r>
          </a:p>
          <a:p>
            <a:pPr marL="0" indent="0">
              <a:spcBef>
                <a:spcPts val="600"/>
              </a:spcBef>
              <a:spcAft>
                <a:spcPts val="600"/>
              </a:spcAft>
              <a:buNone/>
            </a:pPr>
            <a:r>
              <a:rPr lang="en-US" b="1" i="1" dirty="0">
                <a:solidFill>
                  <a:srgbClr val="0000CC"/>
                </a:solidFill>
                <a:latin typeface="Rockwell" panose="02060603020205020403" pitchFamily="18" charset="0"/>
              </a:rPr>
              <a:t>5. </a:t>
            </a:r>
            <a:r>
              <a:rPr lang="en-US" b="1" i="1" dirty="0" err="1">
                <a:solidFill>
                  <a:srgbClr val="0000CC"/>
                </a:solidFill>
                <a:latin typeface="Rockwell" panose="02060603020205020403" pitchFamily="18" charset="0"/>
              </a:rPr>
              <a:t>Mô</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hình</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Bảo</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mật</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dựa</a:t>
            </a:r>
            <a:r>
              <a:rPr lang="en-US" b="1" i="1" dirty="0">
                <a:solidFill>
                  <a:srgbClr val="0000CC"/>
                </a:solidFill>
                <a:latin typeface="Rockwell" panose="02060603020205020403" pitchFamily="18" charset="0"/>
              </a:rPr>
              <a:t> </a:t>
            </a:r>
            <a:r>
              <a:rPr lang="en-US" b="1" i="1" dirty="0" err="1">
                <a:solidFill>
                  <a:srgbClr val="0000CC"/>
                </a:solidFill>
                <a:latin typeface="Rockwell" panose="02060603020205020403" pitchFamily="18" charset="0"/>
              </a:rPr>
              <a:t>trên</a:t>
            </a:r>
            <a:r>
              <a:rPr lang="en-US" b="1" i="1" dirty="0">
                <a:solidFill>
                  <a:srgbClr val="0000CC"/>
                </a:solidFill>
                <a:latin typeface="Rockwell" panose="02060603020205020403" pitchFamily="18" charset="0"/>
              </a:rPr>
              <a:t> </a:t>
            </a:r>
            <a:r>
              <a:rPr lang="en-US" b="1" i="1" dirty="0" err="1" smtClean="0">
                <a:solidFill>
                  <a:srgbClr val="0000CC"/>
                </a:solidFill>
                <a:latin typeface="Rockwell" panose="02060603020205020403" pitchFamily="18" charset="0"/>
              </a:rPr>
              <a:t>chuẩn</a:t>
            </a:r>
            <a:endParaRPr lang="en-US" b="1" i="1" dirty="0">
              <a:solidFill>
                <a:srgbClr val="0000CC"/>
              </a:solidFill>
              <a:latin typeface="Rockwell" panose="02060603020205020403" pitchFamily="18" charset="0"/>
            </a:endParaRPr>
          </a:p>
          <a:p>
            <a:pPr>
              <a:spcBef>
                <a:spcPts val="600"/>
              </a:spcBef>
              <a:spcAft>
                <a:spcPts val="600"/>
              </a:spcAft>
            </a:pPr>
            <a:r>
              <a:rPr lang="en-US" i="1" dirty="0">
                <a:solidFill>
                  <a:srgbClr val="0000CC"/>
                </a:solidFill>
                <a:latin typeface="Rockwell" panose="02060603020205020403" pitchFamily="18" charset="0"/>
              </a:rPr>
              <a:t>Bell-</a:t>
            </a:r>
            <a:r>
              <a:rPr lang="en-US" i="1" dirty="0" err="1">
                <a:solidFill>
                  <a:srgbClr val="0000CC"/>
                </a:solidFill>
                <a:latin typeface="Rockwell" panose="02060603020205020403" pitchFamily="18" charset="0"/>
              </a:rPr>
              <a:t>LaPadula</a:t>
            </a:r>
            <a:r>
              <a:rPr lang="en-US" i="1" dirty="0">
                <a:solidFill>
                  <a:srgbClr val="0000CC"/>
                </a:solidFill>
                <a:latin typeface="Rockwell" panose="02060603020205020403" pitchFamily="18" charset="0"/>
              </a:rPr>
              <a:t> </a:t>
            </a:r>
            <a:r>
              <a:rPr lang="en-US" i="1" dirty="0" smtClean="0">
                <a:solidFill>
                  <a:srgbClr val="0000CC"/>
                </a:solidFill>
                <a:latin typeface="Rockwell" panose="02060603020205020403" pitchFamily="18" charset="0"/>
              </a:rPr>
              <a:t>Model: </a:t>
            </a:r>
            <a:r>
              <a:rPr lang="en-US" i="1" dirty="0" err="1" smtClean="0">
                <a:solidFill>
                  <a:srgbClr val="0000CC"/>
                </a:solidFill>
                <a:latin typeface="Rockwell" panose="02060603020205020403" pitchFamily="18" charset="0"/>
              </a:rPr>
              <a:t>Bảo</a:t>
            </a:r>
            <a:r>
              <a:rPr lang="en-US" i="1" dirty="0" smtClean="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mật</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thông</a:t>
            </a:r>
            <a:r>
              <a:rPr lang="en-US" i="1" dirty="0">
                <a:solidFill>
                  <a:srgbClr val="0000CC"/>
                </a:solidFill>
                <a:latin typeface="Rockwell" panose="02060603020205020403" pitchFamily="18" charset="0"/>
              </a:rPr>
              <a:t> tin </a:t>
            </a:r>
            <a:r>
              <a:rPr lang="en-US" i="1" dirty="0" err="1">
                <a:solidFill>
                  <a:srgbClr val="0000CC"/>
                </a:solidFill>
                <a:latin typeface="Rockwell" panose="02060603020205020403" pitchFamily="18" charset="0"/>
              </a:rPr>
              <a:t>mật</a:t>
            </a:r>
            <a:r>
              <a:rPr lang="en-US" i="1" dirty="0">
                <a:solidFill>
                  <a:srgbClr val="0000CC"/>
                </a:solidFill>
                <a:latin typeface="Rockwell" panose="02060603020205020403" pitchFamily="18" charset="0"/>
              </a:rPr>
              <a:t> (focus on confidentiality).</a:t>
            </a:r>
          </a:p>
          <a:p>
            <a:pPr>
              <a:spcBef>
                <a:spcPts val="600"/>
              </a:spcBef>
              <a:spcAft>
                <a:spcPts val="600"/>
              </a:spcAft>
            </a:pPr>
            <a:r>
              <a:rPr lang="en-US" i="1" dirty="0" err="1">
                <a:solidFill>
                  <a:srgbClr val="0000CC"/>
                </a:solidFill>
                <a:latin typeface="Rockwell" panose="02060603020205020403" pitchFamily="18" charset="0"/>
              </a:rPr>
              <a:t>Biba</a:t>
            </a:r>
            <a:r>
              <a:rPr lang="en-US" i="1" dirty="0">
                <a:solidFill>
                  <a:srgbClr val="0000CC"/>
                </a:solidFill>
                <a:latin typeface="Rockwell" panose="02060603020205020403" pitchFamily="18" charset="0"/>
              </a:rPr>
              <a:t> </a:t>
            </a:r>
            <a:r>
              <a:rPr lang="en-US" i="1" dirty="0" smtClean="0">
                <a:solidFill>
                  <a:srgbClr val="0000CC"/>
                </a:solidFill>
                <a:latin typeface="Rockwell" panose="02060603020205020403" pitchFamily="18" charset="0"/>
              </a:rPr>
              <a:t>Model: </a:t>
            </a:r>
            <a:r>
              <a:rPr lang="en-US" i="1" dirty="0" err="1">
                <a:solidFill>
                  <a:srgbClr val="0000CC"/>
                </a:solidFill>
                <a:latin typeface="Rockwell" panose="02060603020205020403" pitchFamily="18" charset="0"/>
              </a:rPr>
              <a:t>Bảo</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vệ</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tính</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toàn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vẹn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dữ</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liệu</a:t>
            </a:r>
            <a:r>
              <a:rPr lang="en-US" i="1" dirty="0">
                <a:solidFill>
                  <a:srgbClr val="0000CC"/>
                </a:solidFill>
                <a:latin typeface="Rockwell" panose="02060603020205020403" pitchFamily="18" charset="0"/>
              </a:rPr>
              <a:t> (integrity).</a:t>
            </a:r>
          </a:p>
          <a:p>
            <a:pPr>
              <a:spcBef>
                <a:spcPts val="600"/>
              </a:spcBef>
              <a:spcAft>
                <a:spcPts val="600"/>
              </a:spcAft>
            </a:pPr>
            <a:r>
              <a:rPr lang="en-US" i="1" dirty="0">
                <a:solidFill>
                  <a:srgbClr val="0000CC"/>
                </a:solidFill>
                <a:latin typeface="Rockwell" panose="02060603020205020403" pitchFamily="18" charset="0"/>
              </a:rPr>
              <a:t>Clark-Wilson </a:t>
            </a:r>
            <a:r>
              <a:rPr lang="en-US" i="1" dirty="0" smtClean="0">
                <a:solidFill>
                  <a:srgbClr val="0000CC"/>
                </a:solidFill>
                <a:latin typeface="Rockwell" panose="02060603020205020403" pitchFamily="18" charset="0"/>
              </a:rPr>
              <a:t>Model: K. </a:t>
            </a:r>
            <a:r>
              <a:rPr lang="en-US" i="1" dirty="0" err="1" smtClean="0">
                <a:solidFill>
                  <a:srgbClr val="0000CC"/>
                </a:solidFill>
                <a:latin typeface="Rockwell" panose="02060603020205020403" pitchFamily="18" charset="0"/>
              </a:rPr>
              <a:t>soát</a:t>
            </a:r>
            <a:r>
              <a:rPr lang="en-US" i="1" dirty="0" smtClean="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tính</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toàn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vẹn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giao</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dịch</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và</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tuân</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thủ</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quy</a:t>
            </a:r>
            <a:r>
              <a:rPr lang="en-US" i="1" dirty="0">
                <a:solidFill>
                  <a:srgbClr val="0000CC"/>
                </a:solidFill>
                <a:latin typeface="Rockwell" panose="02060603020205020403" pitchFamily="18" charset="0"/>
              </a:rPr>
              <a:t> </a:t>
            </a:r>
            <a:r>
              <a:rPr lang="en-US" i="1" dirty="0" err="1">
                <a:solidFill>
                  <a:srgbClr val="0000CC"/>
                </a:solidFill>
                <a:latin typeface="Rockwell" panose="02060603020205020403" pitchFamily="18" charset="0"/>
              </a:rPr>
              <a:t>tắc</a:t>
            </a:r>
            <a:r>
              <a:rPr lang="en-US" i="1" dirty="0">
                <a:solidFill>
                  <a:srgbClr val="0000CC"/>
                </a:solidFill>
                <a:latin typeface="Rockwell" panose="02060603020205020403" pitchFamily="18" charset="0"/>
              </a:rPr>
              <a:t>.</a:t>
            </a:r>
          </a:p>
          <a:p>
            <a:pPr marL="0" indent="0">
              <a:buNone/>
            </a:pPr>
            <a:endParaRPr lang="vi-VN" i="1" dirty="0">
              <a:solidFill>
                <a:srgbClr val="0000CC"/>
              </a:solidFill>
              <a:latin typeface="Rockwell" panose="02060603020205020403" pitchFamily="18" charset="0"/>
            </a:endParaRP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58695623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64491"/>
            <a:ext cx="10820401" cy="528855"/>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215349"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Zero Trust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cốt lõi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Never Trust, Always Verify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bao giờ tin tưởng mặc định, luôn xác minh danh tính và quyền hạn trước mỗi truy cập.</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Least Privilege</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Cấp quyền tối thiểu cần thiết, giảm rủi ro khi tài khoản hoặc dịch vụ bị xâm nhập.</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Continuous Monitoring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Giám sát liên tục hành vi và trạng thái kết nối để phát hiện bất thường.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Micro-Segmentation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Chia nhỏ mạng/hệ thống thành các vùng an toàn riêng biệt, hạn chế di chuyển ngang (lateral movement).</a:t>
            </a:r>
          </a:p>
          <a:p>
            <a:pPr marL="0" indent="0">
              <a:buNone/>
            </a:pPr>
            <a:endParaRPr lang="vi-VN" i="1" dirty="0">
              <a:solidFill>
                <a:srgbClr val="0000CC"/>
              </a:solidFill>
              <a:latin typeface="Rockwell" panose="02060603020205020403" pitchFamily="18" charset="0"/>
            </a:endParaRP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7037266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64491"/>
            <a:ext cx="10820401" cy="528855"/>
          </a:xfrm>
        </p:spPr>
        <p:txBody>
          <a:bodyPr/>
          <a:lstStyle/>
          <a:p>
            <a:r>
              <a:rPr lang="en-US" sz="2800" b="1" dirty="0" smtClean="0">
                <a:solidFill>
                  <a:srgbClr val="0000CC"/>
                </a:solidFill>
                <a:latin typeface="Rockwell" panose="02060603020205020403" pitchFamily="18" charset="0"/>
              </a:rPr>
              <a:t>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215349" cy="5393806"/>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mô hình bảo 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Zero Trust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nhân viên trong mạng nội bộ muốn truy cập hệ thống ERP:</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Xác thực đa yếu tố (MFA) trước khi vào.</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thiết bị, IP, và vị trí địa lý.</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thay đổi hành vi đột ngột (tải dữ liệu lớn bất thường), hệ thống sẽ tự động khóa phiên và báo cáo an ninh.</a:t>
            </a:r>
          </a:p>
          <a:p>
            <a:pPr marL="0" indent="0">
              <a:buNone/>
            </a:pPr>
            <a:endParaRPr lang="vi-VN" i="1" dirty="0">
              <a:solidFill>
                <a:srgbClr val="0000CC"/>
              </a:solidFill>
              <a:latin typeface="Rockwell" panose="02060603020205020403" pitchFamily="18" charset="0"/>
            </a:endParaRPr>
          </a:p>
          <a:p>
            <a:pPr marL="0" indent="0">
              <a:spcBef>
                <a:spcPts val="1200"/>
              </a:spcBef>
              <a:spcAft>
                <a:spcPts val="1200"/>
              </a:spcAft>
              <a:buNone/>
            </a:pPr>
            <a:endParaRPr lang="vi-VN" dirty="0">
              <a:solidFill>
                <a:srgbClr val="0000CC"/>
              </a:solidFill>
            </a:endParaRPr>
          </a:p>
        </p:txBody>
      </p:sp>
    </p:spTree>
    <p:extLst>
      <p:ext uri="{BB962C8B-B14F-4D97-AF65-F5344CB8AC3E}">
        <p14:creationId xmlns:p14="http://schemas.microsoft.com/office/powerpoint/2010/main" val="14771035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64491"/>
            <a:ext cx="10820401" cy="528855"/>
          </a:xfrm>
        </p:spPr>
        <p:txBody>
          <a:bodyPr/>
          <a:lstStyle/>
          <a:p>
            <a:r>
              <a:rPr lang="en-US" sz="2800" b="1" dirty="0" smtClean="0">
                <a:solidFill>
                  <a:srgbClr val="0000CC"/>
                </a:solidFill>
                <a:latin typeface="Rockwell" panose="02060603020205020403" pitchFamily="18" charset="0"/>
              </a:rPr>
              <a:t>1.6.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119815" cy="5393806"/>
          </a:xfrm>
        </p:spPr>
        <p:txBody>
          <a:bodyPr/>
          <a:lstStyle/>
          <a:p>
            <a:pPr marL="0" indent="0">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BM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Người dùng (End User)</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Tuân thủ chính sách bảo mật: Sử dụng mật khẩu mạnh, bật MFA, không chia sẻ tài khoản.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Nhận thức và cảnh giác: Tránh click link lạ, mở file đính kèm không rõ nguồn gốc.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Báo cáo sự cố: Thông báo ngay khi phát hiện dấu hiệu tấn công hoặc bất thường.</a:t>
            </a:r>
          </a:p>
          <a:p>
            <a:pPr marL="0" indent="0" algn="just">
              <a:spcBef>
                <a:spcPts val="1800"/>
              </a:spcBef>
              <a:spcAft>
                <a:spcPts val="1200"/>
              </a:spcAft>
              <a:buNone/>
            </a:pPr>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Nếu người dùng sử dụng mật khẩu yếu, chia sẻ tài khoản, hoặc click vào các liên kết lừa đảo, họ có thể vô tình cung cấp quyền truy cập cho kẻ tấn công, dẫn đến mất dữ liệu cá nhân hoặc bị lợi dụng tài khoản để tấn công tiếp.</a:t>
            </a:r>
            <a:endParaRPr lang="en-US"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248927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87"/>
            <a:ext cx="10820401" cy="501559"/>
          </a:xfrm>
        </p:spPr>
        <p:txBody>
          <a:bodyPr/>
          <a:lstStyle/>
          <a:p>
            <a:r>
              <a:rPr lang="en-US" sz="2800" b="1" dirty="0" smtClean="0">
                <a:solidFill>
                  <a:srgbClr val="0000CC"/>
                </a:solidFill>
                <a:latin typeface="Rockwell" panose="02060603020205020403" pitchFamily="18" charset="0"/>
              </a:rPr>
              <a:t>1.6.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9969690" cy="5393806"/>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con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BM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Lập trình viên (Developer)</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Viết code an toàn: Tuân thủ nguyên tắc Secure Coding (chống SQL Injection, XSS,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CSRF</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v.v.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thử bảo mật: Sử dụng các công cụ scan, test lỗ hổng trước khi phát hành.</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Cập nhật và vá lỗi: Sửa lỗi bảo mật ngay khi phát hiện hoặc khi có cảnh báo từ thư viện bên ngoài.</a:t>
            </a:r>
          </a:p>
          <a:p>
            <a:pPr marL="0" indent="0" algn="just">
              <a:spcBef>
                <a:spcPts val="600"/>
              </a:spcBef>
              <a:spcAft>
                <a:spcPts val="600"/>
              </a:spcAft>
              <a:buNone/>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Nếu lập trình viên không tuân thủ nguyên tắc lập trình an toàn, bỏ qua việc vá lỗi và kiểm thử bảo mật,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ứng</a:t>
            </a: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dụng có thể tồn tại lỗ hổng nghiêm trọng, trở thành điểm xâm nhập cho tin tặc và gây ra thiệt hại cho cả người dùng lẫn tổ chức.</a:t>
            </a:r>
            <a:endPar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2390440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64491"/>
            <a:ext cx="10820401" cy="528855"/>
          </a:xfrm>
        </p:spPr>
        <p:txBody>
          <a:bodyPr/>
          <a:lstStyle/>
          <a:p>
            <a:r>
              <a:rPr lang="en-US" sz="2800" b="1" dirty="0" smtClean="0">
                <a:solidFill>
                  <a:srgbClr val="0000CC"/>
                </a:solidFill>
                <a:latin typeface="Rockwell" panose="02060603020205020403" pitchFamily="18" charset="0"/>
              </a:rPr>
              <a:t>1.6.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9805916" cy="5393806"/>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con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BM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Quản trị viên (Administrator)</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quyền truy cập: Áp dụng nguyên tắc Least Privilege cho tài khoản và dịch vụ.</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Giám sát và phát hiện xâm nhập: Sử dụng hệ thống IDS/IPS, log monitoring.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trì hệ thống: Cập nhật bản vá, cấu hình tường lửa, backup dữ liệu định kỳ.</a:t>
            </a:r>
          </a:p>
          <a:p>
            <a:pPr marL="0" indent="0" algn="just">
              <a:spcBef>
                <a:spcPts val="1200"/>
              </a:spcBef>
              <a:spcAft>
                <a:spcPts val="1200"/>
              </a:spcAft>
              <a:buNone/>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Nếu quản trị viên cấu hình sai, cấp quyền quá mức hoặc không giám sát hệ thống thường xuyên, kẻ tấn công có thể khai thác để leo thang đặc quyền, chiếm quyền kiểm soát hệ thống và làm gián đoạn dịch vụ.</a:t>
            </a:r>
            <a:endPar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8095619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05434"/>
            <a:ext cx="10820401" cy="487912"/>
          </a:xfrm>
        </p:spPr>
        <p:txBody>
          <a:bodyPr/>
          <a:lstStyle/>
          <a:p>
            <a:r>
              <a:rPr lang="en-US" sz="2800" b="1" dirty="0" smtClean="0">
                <a:solidFill>
                  <a:srgbClr val="0000CC"/>
                </a:solidFill>
                <a:latin typeface="Rockwell" panose="02060603020205020403" pitchFamily="18" charset="0"/>
              </a:rPr>
              <a:t>1.6.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201701" cy="5393806"/>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Người dùng (End User)</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Đăng nhập từ thiết bị không an toàn hoặc mạng công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cộng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Dễ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bị đánh cắp thông tin đăng nhập qua keylogger, sniffing.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USB hoặc tải phần mềm không rõ nguồn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gốc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Lây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nhiễm mã độc vào hệ thống nội bộ.</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Chia sẻ tài khoản hoặc để lộ thông tin đăng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nhập</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Tạo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hội cho kẻ tấn công truy cập trái phép.</a:t>
            </a:r>
          </a:p>
          <a:p>
            <a:pPr marL="0" indent="0" algn="just">
              <a:spcBef>
                <a:spcPts val="1200"/>
              </a:spcBef>
              <a:spcAft>
                <a:spcPts val="600"/>
              </a:spcAft>
              <a:buNone/>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Nếu người dùng đăng nhập vào hệ thống từ thiết bị không an toàn, cắm USB nhiễm mã độc hoặc tải phần mềm trái phép, họ có thể vô tình mở cửa cho mã độc và kẻ tấn công xâm nhập mạng nội bộ.</a:t>
            </a:r>
            <a:endPar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7346201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43438"/>
            <a:ext cx="10820401" cy="449908"/>
          </a:xfrm>
        </p:spPr>
        <p:txBody>
          <a:bodyPr/>
          <a:lstStyle/>
          <a:p>
            <a:r>
              <a:rPr lang="en-US" sz="2800" b="1" dirty="0" smtClean="0">
                <a:solidFill>
                  <a:srgbClr val="0000CC"/>
                </a:solidFill>
                <a:latin typeface="Rockwell" panose="02060603020205020403" pitchFamily="18" charset="0"/>
              </a:rPr>
              <a:t>1.6.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228997" cy="5393806"/>
          </a:xfrm>
        </p:spPr>
        <p:txBody>
          <a:bodyPr/>
          <a:lstStyle/>
          <a:p>
            <a:pPr marL="0" indent="0">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2. Nhân viên vận hành/giám sát (Operator/Monitoring Staff)</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Bỏ qua cảnh báo từ hệ thống giám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sát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phát hiện kịp các hoạt động bất thường.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kiểm tra log thường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xuyên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dấu hiệu tấn công bị bỏ sót, dẫn đến tổn thất kéo dài.</a:t>
            </a:r>
          </a:p>
          <a:p>
            <a:pPr>
              <a:spcAft>
                <a:spcPts val="12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Xử lý sự cố chậm hoặc không đúng quy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tăng thiệt hại và thời gian hệ thống bị gián đoạn.</a:t>
            </a:r>
          </a:p>
          <a:p>
            <a:pPr marL="0" indent="0" algn="just">
              <a:buNone/>
            </a:pP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Nếu</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nhân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viên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vận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hành</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giám</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sát</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không</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theo</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dõi</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log,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bỏ</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qua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cảnh</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báo</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an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ninh</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hoặc</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xử</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lý</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sự</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cố</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chậm</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các</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cuộc</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tấn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công</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có</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thể</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không</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bị</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phát</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hiện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kịp</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thời</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gây</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tổn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thất</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lớn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về</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dữ</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liệu</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và</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uy</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dirty="0" err="1">
                <a:solidFill>
                  <a:srgbClr val="FF00FF"/>
                </a:solidFill>
                <a:latin typeface="Rockwell" panose="02060603020205020403" pitchFamily="18" charset="0"/>
                <a:ea typeface="Segoe UI Emoji" panose="020B0502040204020203" pitchFamily="34" charset="0"/>
                <a:cs typeface="Tahoma" panose="020B0604030504040204" pitchFamily="34" charset="0"/>
              </a:rPr>
              <a:t>tín</a:t>
            </a:r>
            <a:r>
              <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379201600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87"/>
            <a:ext cx="10820401" cy="501559"/>
          </a:xfrm>
        </p:spPr>
        <p:txBody>
          <a:bodyPr/>
          <a:lstStyle/>
          <a:p>
            <a:r>
              <a:rPr lang="en-US" sz="2800" b="1" dirty="0" smtClean="0">
                <a:solidFill>
                  <a:srgbClr val="0000CC"/>
                </a:solidFill>
                <a:latin typeface="Rockwell" panose="02060603020205020403" pitchFamily="18" charset="0"/>
              </a:rPr>
              <a:t>1.6.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46"/>
            <a:ext cx="10160758" cy="5393806"/>
          </a:xfrm>
        </p:spPr>
        <p:txBody>
          <a:bodyPr/>
          <a:lstStyle/>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con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BM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trị</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viên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(System Administrator)</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Cấu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sai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hoặc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khẩu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định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dễ</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dàng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vá</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điều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phần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mềm</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dễ</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qua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Thiếu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phân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tách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soát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nội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bộ</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lan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rộng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nhanh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xâm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lgn="just">
              <a:spcBef>
                <a:spcPts val="1200"/>
              </a:spcBef>
              <a:spcAft>
                <a:spcPts val="600"/>
              </a:spcAft>
              <a:buNone/>
            </a:pPr>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Nếu quản trị viên bỏ qua các bản vá hệ điều hành, cấu hình sai tường lửa hoặc để tài khoản quản trị dùng mật khẩu mặc định, hệ thống sẽ dễ bị khai thác để chiếm quyền kiểm soát và phá hoại dịch vụ.</a:t>
            </a:r>
            <a:endParaRPr lang="en-US"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81641570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78675" y="-126941"/>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830694" y="868571"/>
            <a:ext cx="9797197" cy="1655762"/>
          </a:xfrm>
        </p:spPr>
        <p:txBody>
          <a:bodyPr>
            <a:noAutofit/>
          </a:bodyPr>
          <a:lstStyle/>
          <a:p>
            <a:pPr algn="just"/>
            <a:r>
              <a:rPr lang="vi-VN" dirty="0" smtClean="0">
                <a:solidFill>
                  <a:schemeClr val="bg1"/>
                </a:solidFill>
                <a:latin typeface="Rockwell" panose="02060603020205020403" pitchFamily="18" charset="0"/>
                <a:ea typeface="+mj-ea"/>
                <a:cs typeface="+mj-cs"/>
              </a:rPr>
              <a:t>- </a:t>
            </a:r>
            <a:r>
              <a:rPr lang="vi-VN" dirty="0">
                <a:solidFill>
                  <a:schemeClr val="bg1"/>
                </a:solidFill>
                <a:latin typeface="Rockwell" panose="02060603020205020403" pitchFamily="18" charset="0"/>
                <a:ea typeface="+mj-ea"/>
                <a:cs typeface="+mj-cs"/>
              </a:rPr>
              <a:t>Bảo mật ứng dụng và hệ thống là yếu tố then chốt để đảm bảo an toàn cho toàn bộ hạ tầng CNTT của tổ chức.</a:t>
            </a:r>
          </a:p>
          <a:p>
            <a:pPr algn="just"/>
            <a:r>
              <a:rPr lang="vi-VN" dirty="0">
                <a:solidFill>
                  <a:schemeClr val="bg1"/>
                </a:solidFill>
                <a:latin typeface="Rockwell" panose="02060603020205020403" pitchFamily="18" charset="0"/>
                <a:ea typeface="+mj-ea"/>
                <a:cs typeface="+mj-cs"/>
              </a:rPr>
              <a:t>- Hiểu rõ các mối đe dọa, lỗ hổng và rủi ro là cơ sở để xây dựng giải pháp bảo mật hiệu quả.</a:t>
            </a:r>
          </a:p>
          <a:p>
            <a:pPr algn="just"/>
            <a:r>
              <a:rPr lang="vi-VN" dirty="0">
                <a:solidFill>
                  <a:schemeClr val="bg1"/>
                </a:solidFill>
                <a:latin typeface="Rockwell" panose="02060603020205020403" pitchFamily="18" charset="0"/>
                <a:ea typeface="+mj-ea"/>
                <a:cs typeface="+mj-cs"/>
              </a:rPr>
              <a:t>- Bảo mật cần được xem là quá trình liên tục, không chỉ là cài đặt công cụ, mà phải kết hợp cả công nghệ, chính sách và con người.</a:t>
            </a:r>
          </a:p>
          <a:p>
            <a:pPr algn="just"/>
            <a:r>
              <a:rPr lang="vi-VN" dirty="0">
                <a:solidFill>
                  <a:schemeClr val="bg1"/>
                </a:solidFill>
                <a:latin typeface="Rockwell" panose="02060603020205020403" pitchFamily="18" charset="0"/>
                <a:ea typeface="+mj-ea"/>
                <a:cs typeface="+mj-cs"/>
              </a:rPr>
              <a:t>- Việc nắm vững tổng quan sẽ tạo nền tảng vững chắc cho các bài học tiếp theo, đi sâu vào các kỹ thuật, mô hình và chính sách bảo mật chuyên sâu.</a:t>
            </a:r>
          </a:p>
          <a:p>
            <a:pPr algn="just"/>
            <a:r>
              <a:rPr lang="vi-VN" dirty="0">
                <a:solidFill>
                  <a:schemeClr val="bg1"/>
                </a:solidFill>
                <a:latin typeface="Rockwell" panose="02060603020205020403" pitchFamily="18" charset="0"/>
                <a:ea typeface="+mj-ea"/>
                <a:cs typeface="+mj-cs"/>
              </a:rPr>
              <a:t>Có thể nói</a:t>
            </a:r>
            <a:r>
              <a:rPr lang="vi-VN" dirty="0" smtClean="0">
                <a:solidFill>
                  <a:schemeClr val="bg1"/>
                </a:solidFill>
                <a:latin typeface="Rockwell" panose="02060603020205020403" pitchFamily="18" charset="0"/>
                <a:ea typeface="+mj-ea"/>
                <a:cs typeface="+mj-cs"/>
              </a:rPr>
              <a:t>:</a:t>
            </a:r>
            <a:r>
              <a:rPr lang="en-US" dirty="0" smtClean="0">
                <a:solidFill>
                  <a:schemeClr val="bg1"/>
                </a:solidFill>
                <a:latin typeface="Rockwell" panose="02060603020205020403" pitchFamily="18" charset="0"/>
                <a:ea typeface="+mj-ea"/>
                <a:cs typeface="+mj-cs"/>
              </a:rPr>
              <a:t> </a:t>
            </a:r>
            <a:r>
              <a:rPr lang="vi-VN" dirty="0" smtClean="0">
                <a:solidFill>
                  <a:schemeClr val="bg1"/>
                </a:solidFill>
                <a:latin typeface="Rockwell" panose="02060603020205020403" pitchFamily="18" charset="0"/>
                <a:ea typeface="+mj-ea"/>
                <a:cs typeface="+mj-cs"/>
              </a:rPr>
              <a:t>“</a:t>
            </a:r>
            <a:r>
              <a:rPr lang="vi-VN" dirty="0">
                <a:solidFill>
                  <a:schemeClr val="bg1"/>
                </a:solidFill>
                <a:latin typeface="Rockwell" panose="02060603020205020403" pitchFamily="18" charset="0"/>
                <a:ea typeface="+mj-ea"/>
                <a:cs typeface="+mj-cs"/>
              </a:rPr>
              <a:t>An toàn ứng dụng và hệ thống là lá chắn đầu tiên và cũng là nền tảng vững chắc của an ninh thông tin.”</a:t>
            </a:r>
            <a:endParaRPr lang="en-US"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9237723" y="4357894"/>
            <a:ext cx="2573936" cy="2573936"/>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42712" y="189059"/>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886846" y="4792192"/>
            <a:ext cx="2100894" cy="2100894"/>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74081" y="3705098"/>
            <a:ext cx="2989655" cy="2989655"/>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5046988" y="4084953"/>
            <a:ext cx="2737108" cy="2737108"/>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7707377" y="4854563"/>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747371" y="4640494"/>
            <a:ext cx="1324884" cy="1324884"/>
          </a:xfrm>
          <a:prstGeom prst="rect">
            <a:avLst/>
          </a:prstGeom>
        </p:spPr>
      </p:pic>
    </p:spTree>
    <p:extLst>
      <p:ext uri="{BB962C8B-B14F-4D97-AF65-F5344CB8AC3E}">
        <p14:creationId xmlns:p14="http://schemas.microsoft.com/office/powerpoint/2010/main" val="3889313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4BA817-A03C-4EA3-86C4-6E42BD37F523}">
  <ds:schemaRefs>
    <ds:schemaRef ds:uri="http://schemas.microsoft.com/sharepoint/v3/contenttype/forms"/>
  </ds:schemaRefs>
</ds:datastoreItem>
</file>

<file path=customXml/itemProps3.xml><?xml version="1.0" encoding="utf-8"?>
<ds:datastoreItem xmlns:ds="http://schemas.openxmlformats.org/officeDocument/2006/customXml" ds:itemID="{D0096A91-93C8-4C7A-BF68-944591874A6D}">
  <ds:schemaRefs>
    <ds:schemaRef ds:uri="http://schemas.microsoft.com/office/infopath/2007/PartnerControls"/>
    <ds:schemaRef ds:uri="71af3243-3dd4-4a8d-8c0d-dd76da1f02a5"/>
    <ds:schemaRef ds:uri="http://purl.org/dc/elements/1.1/"/>
    <ds:schemaRef ds:uri="16c05727-aa75-4e4a-9b5f-8a80a1165891"/>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7496</Words>
  <Application>Microsoft Office PowerPoint</Application>
  <PresentationFormat>Widescreen</PresentationFormat>
  <Paragraphs>545</Paragraphs>
  <Slides>63</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63</vt:i4>
      </vt:variant>
    </vt:vector>
  </HeadingPairs>
  <TitlesOfParts>
    <vt:vector size="73" baseType="lpstr">
      <vt:lpstr>Arial</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1: TỔNG QUAN VỀ BM ỨNG DỤNG VÀ HỆ THỐNG</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1.1. Một số khái niệm và Thuật ngữ liên quan</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1.2. Nguyên tắc Least Privilege và Defense in Depth</vt:lpstr>
      <vt:lpstr>1.3. Nguy cơ mất an toàn của Ứng dụng và Hệ thống  </vt:lpstr>
      <vt:lpstr>1.3. Nguy cơ mất an toàn của Ứng dụng và Hệ thống</vt:lpstr>
      <vt:lpstr>1.4. Một số kiểu tấn công vào Ứng dụng và Hệ thống  </vt:lpstr>
      <vt:lpstr>1.4. Một số kiểu tấn công vào Ứng dụng và Hệ thống  </vt:lpstr>
      <vt:lpstr>1.4. Một số kiểu tấn công vào Ứng dụng và Hệ thống  </vt:lpstr>
      <vt:lpstr>1.4. Một số kiểu tấn công vào Ứng dụng và Hệ thống  </vt:lpstr>
      <vt:lpstr>1.4. Một số kiểu tấn công vào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1.5. Các mô hình bảo mật Ứng dụng và Hệ thống   </vt:lpstr>
      <vt:lpstr>1.6. Yếu tố con người trong BM Ứng dụng và Hệ thống   </vt:lpstr>
      <vt:lpstr>1.6. Yếu tố con người trong BM Ứng dụng và Hệ thống   </vt:lpstr>
      <vt:lpstr>1.6. Yếu tố con người trong BM Ứng dụng và Hệ thống   </vt:lpstr>
      <vt:lpstr>1.6. Yếu tố con người trong BM Ứng dụng và Hệ thống   </vt:lpstr>
      <vt:lpstr>1.6. Yếu tố con người trong BM Ứng dụng và Hệ thống   </vt:lpstr>
      <vt:lpstr>1.6. Yếu tố con người trong BM Ứng dụng và Hệ thống   </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2025-09-05T05:30:48Z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