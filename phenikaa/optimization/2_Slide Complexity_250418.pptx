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2" r:id="rId6"/>
    <p:sldId id="261" r:id="rId7"/>
    <p:sldId id="263" r:id="rId8"/>
    <p:sldId id="264" r:id="rId9"/>
    <p:sldId id="266"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D7C7F9-A6B3-43E2-9BFF-6E1E7748B0B2}" v="1" dt="2025-04-18T04:35:20.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3" d="100"/>
          <a:sy n="83" d="100"/>
        </p:scale>
        <p:origin x="643"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ong Thi Kim Huyen" userId="45241c3d-5264-40d6-87b1-dd8d9a74a83d" providerId="ADAL" clId="{0CD7C7F9-A6B3-43E2-9BFF-6E1E7748B0B2}"/>
    <pc:docChg chg="undo custSel modSld">
      <pc:chgData name="Duong Thi Kim Huyen" userId="45241c3d-5264-40d6-87b1-dd8d9a74a83d" providerId="ADAL" clId="{0CD7C7F9-A6B3-43E2-9BFF-6E1E7748B0B2}" dt="2025-04-18T04:36:10.544" v="26" actId="14100"/>
      <pc:docMkLst>
        <pc:docMk/>
      </pc:docMkLst>
      <pc:sldChg chg="modSp mod">
        <pc:chgData name="Duong Thi Kim Huyen" userId="45241c3d-5264-40d6-87b1-dd8d9a74a83d" providerId="ADAL" clId="{0CD7C7F9-A6B3-43E2-9BFF-6E1E7748B0B2}" dt="2025-04-18T04:31:58.935" v="0" actId="12"/>
        <pc:sldMkLst>
          <pc:docMk/>
          <pc:sldMk cId="0" sldId="259"/>
        </pc:sldMkLst>
        <pc:spChg chg="mod">
          <ac:chgData name="Duong Thi Kim Huyen" userId="45241c3d-5264-40d6-87b1-dd8d9a74a83d" providerId="ADAL" clId="{0CD7C7F9-A6B3-43E2-9BFF-6E1E7748B0B2}" dt="2025-04-18T04:31:58.935" v="0" actId="12"/>
          <ac:spMkLst>
            <pc:docMk/>
            <pc:sldMk cId="0" sldId="259"/>
            <ac:spMk id="3" creationId="{00000000-0000-0000-0000-000000000000}"/>
          </ac:spMkLst>
        </pc:spChg>
      </pc:sldChg>
      <pc:sldChg chg="modSp mod">
        <pc:chgData name="Duong Thi Kim Huyen" userId="45241c3d-5264-40d6-87b1-dd8d9a74a83d" providerId="ADAL" clId="{0CD7C7F9-A6B3-43E2-9BFF-6E1E7748B0B2}" dt="2025-04-18T04:35:22.961" v="22" actId="20577"/>
        <pc:sldMkLst>
          <pc:docMk/>
          <pc:sldMk cId="0" sldId="261"/>
        </pc:sldMkLst>
        <pc:spChg chg="mod">
          <ac:chgData name="Duong Thi Kim Huyen" userId="45241c3d-5264-40d6-87b1-dd8d9a74a83d" providerId="ADAL" clId="{0CD7C7F9-A6B3-43E2-9BFF-6E1E7748B0B2}" dt="2025-04-18T04:35:22.961" v="22" actId="20577"/>
          <ac:spMkLst>
            <pc:docMk/>
            <pc:sldMk cId="0" sldId="261"/>
            <ac:spMk id="3" creationId="{00000000-0000-0000-0000-000000000000}"/>
          </ac:spMkLst>
        </pc:spChg>
      </pc:sldChg>
      <pc:sldChg chg="modSp mod">
        <pc:chgData name="Duong Thi Kim Huyen" userId="45241c3d-5264-40d6-87b1-dd8d9a74a83d" providerId="ADAL" clId="{0CD7C7F9-A6B3-43E2-9BFF-6E1E7748B0B2}" dt="2025-04-18T04:34:13.966" v="16" actId="14100"/>
        <pc:sldMkLst>
          <pc:docMk/>
          <pc:sldMk cId="0" sldId="262"/>
        </pc:sldMkLst>
        <pc:spChg chg="mod">
          <ac:chgData name="Duong Thi Kim Huyen" userId="45241c3d-5264-40d6-87b1-dd8d9a74a83d" providerId="ADAL" clId="{0CD7C7F9-A6B3-43E2-9BFF-6E1E7748B0B2}" dt="2025-04-18T04:34:13.966" v="16" actId="14100"/>
          <ac:spMkLst>
            <pc:docMk/>
            <pc:sldMk cId="0" sldId="262"/>
            <ac:spMk id="3" creationId="{00000000-0000-0000-0000-000000000000}"/>
          </ac:spMkLst>
        </pc:spChg>
      </pc:sldChg>
      <pc:sldChg chg="modSp mod">
        <pc:chgData name="Duong Thi Kim Huyen" userId="45241c3d-5264-40d6-87b1-dd8d9a74a83d" providerId="ADAL" clId="{0CD7C7F9-A6B3-43E2-9BFF-6E1E7748B0B2}" dt="2025-04-18T04:35:55.040" v="24" actId="14100"/>
        <pc:sldMkLst>
          <pc:docMk/>
          <pc:sldMk cId="0" sldId="263"/>
        </pc:sldMkLst>
        <pc:picChg chg="mod">
          <ac:chgData name="Duong Thi Kim Huyen" userId="45241c3d-5264-40d6-87b1-dd8d9a74a83d" providerId="ADAL" clId="{0CD7C7F9-A6B3-43E2-9BFF-6E1E7748B0B2}" dt="2025-04-18T04:35:55.040" v="24" actId="14100"/>
          <ac:picMkLst>
            <pc:docMk/>
            <pc:sldMk cId="0" sldId="263"/>
            <ac:picMk id="7" creationId="{00000000-0000-0000-0000-000000000000}"/>
          </ac:picMkLst>
        </pc:picChg>
      </pc:sldChg>
      <pc:sldChg chg="modSp mod">
        <pc:chgData name="Duong Thi Kim Huyen" userId="45241c3d-5264-40d6-87b1-dd8d9a74a83d" providerId="ADAL" clId="{0CD7C7F9-A6B3-43E2-9BFF-6E1E7748B0B2}" dt="2025-04-18T04:35:41.891" v="23" actId="207"/>
        <pc:sldMkLst>
          <pc:docMk/>
          <pc:sldMk cId="0" sldId="264"/>
        </pc:sldMkLst>
        <pc:spChg chg="mod">
          <ac:chgData name="Duong Thi Kim Huyen" userId="45241c3d-5264-40d6-87b1-dd8d9a74a83d" providerId="ADAL" clId="{0CD7C7F9-A6B3-43E2-9BFF-6E1E7748B0B2}" dt="2025-04-18T04:35:41.891" v="23" actId="207"/>
          <ac:spMkLst>
            <pc:docMk/>
            <pc:sldMk cId="0" sldId="264"/>
            <ac:spMk id="2" creationId="{00000000-0000-0000-0000-000000000000}"/>
          </ac:spMkLst>
        </pc:spChg>
      </pc:sldChg>
      <pc:sldChg chg="modSp mod">
        <pc:chgData name="Duong Thi Kim Huyen" userId="45241c3d-5264-40d6-87b1-dd8d9a74a83d" providerId="ADAL" clId="{0CD7C7F9-A6B3-43E2-9BFF-6E1E7748B0B2}" dt="2025-04-18T04:36:10.544" v="26" actId="14100"/>
        <pc:sldMkLst>
          <pc:docMk/>
          <pc:sldMk cId="0" sldId="266"/>
        </pc:sldMkLst>
        <pc:picChg chg="mod">
          <ac:chgData name="Duong Thi Kim Huyen" userId="45241c3d-5264-40d6-87b1-dd8d9a74a83d" providerId="ADAL" clId="{0CD7C7F9-A6B3-43E2-9BFF-6E1E7748B0B2}" dt="2025-04-18T04:36:10.544" v="26" actId="14100"/>
          <ac:picMkLst>
            <pc:docMk/>
            <pc:sldMk cId="0" sldId="266"/>
            <ac:picMk id="5"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685801"/>
            <a:ext cx="8115300" cy="3046228"/>
          </a:xfrm>
        </p:spPr>
        <p:txBody>
          <a:bodyPr anchor="b">
            <a:normAutofit/>
          </a:bodyPr>
          <a:lstStyle>
            <a:lvl1pPr algn="ctr">
              <a:defRPr sz="3600" cap="all" spc="300" baseline="0"/>
            </a:lvl1pPr>
          </a:lstStyle>
          <a:p>
            <a:r>
              <a:rPr lang="en-US"/>
              <a:t>Click to edit Master title style</a:t>
            </a:r>
            <a:endParaRPr lang="en-US" dirty="0"/>
          </a:p>
        </p:txBody>
      </p:sp>
      <p:sp>
        <p:nvSpPr>
          <p:cNvPr id="3" name="Subtitle 2"/>
          <p:cNvSpPr>
            <a:spLocks noGrp="1"/>
          </p:cNvSpPr>
          <p:nvPr>
            <p:ph type="subTitle" idx="1"/>
          </p:nvPr>
        </p:nvSpPr>
        <p:spPr>
          <a:xfrm>
            <a:off x="2057400" y="4114800"/>
            <a:ext cx="8115300" cy="2057400"/>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3FEA57E-7C1A-457B-A4CD-5DCEB057B502}" type="datetime1">
              <a:rPr lang="en-US" smtClean="0"/>
              <a:t>4/18/2025</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486900" cy="1371600"/>
          </a:xfrm>
        </p:spPr>
        <p:txBody>
          <a:bodyPr>
            <a:normAutofit/>
          </a:bodyPr>
          <a:lstStyle>
            <a:lvl1pPr algn="l">
              <a:defRPr sz="3200" cap="all" spc="300" baseline="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1AF2CE-4F37-411C-A3EE-BBBE223265BF}" type="datetime1">
              <a:rPr lang="en-US" smtClean="0"/>
              <a:t>4/18/2025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774071"/>
          </a:xfrm>
        </p:spPr>
        <p:txBody>
          <a:bodyPr anchor="b">
            <a:normAutofit/>
          </a:bodyPr>
          <a:lstStyle>
            <a:lvl1pPr algn="ctr">
              <a:defRPr sz="5400"/>
            </a:lvl1pPr>
          </a:lstStyle>
          <a:p>
            <a:r>
              <a:rPr lang="en-US"/>
              <a:t>Click to edit Master title style</a:t>
            </a:r>
            <a:endParaRPr lang="en-US" dirty="0"/>
          </a:p>
        </p:txBody>
      </p:sp>
      <p:sp>
        <p:nvSpPr>
          <p:cNvPr id="3" name="Text Placeholder 2"/>
          <p:cNvSpPr>
            <a:spLocks noGrp="1"/>
          </p:cNvSpPr>
          <p:nvPr>
            <p:ph type="body" idx="1"/>
          </p:nvPr>
        </p:nvSpPr>
        <p:spPr>
          <a:xfrm>
            <a:off x="831850" y="4641624"/>
            <a:ext cx="10515600" cy="1448026"/>
          </a:xfrm>
        </p:spPr>
        <p:txBody>
          <a:bodyPr/>
          <a:lstStyle>
            <a:lvl1pPr marL="0" indent="0" algn="ctr">
              <a:buNone/>
              <a:defRPr sz="2400" i="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6083D4-708C-4BB5-B4FD-30CE9FA12FD5}" type="datetime1">
              <a:rPr lang="en-US" smtClean="0"/>
              <a:t>4/18/2025</a:t>
            </a:fld>
            <a:endParaRPr lang="en-US"/>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346071" y="566278"/>
            <a:ext cx="9512429" cy="965458"/>
          </a:xfrm>
        </p:spPr>
        <p:txBody>
          <a:bodyPr/>
          <a:lstStyle>
            <a:lvl1pPr algn="ctr">
              <a:defRPr cap="all" spc="300" baseline="0"/>
            </a:lvl1pPr>
          </a:lstStyle>
          <a:p>
            <a:r>
              <a:rPr lang="en-US"/>
              <a:t>Click to edit Master title style</a:t>
            </a:r>
            <a:endParaRPr lang="en-US" dirty="0"/>
          </a:p>
        </p:txBody>
      </p:sp>
      <p:sp>
        <p:nvSpPr>
          <p:cNvPr id="3" name="Content Placeholder 2"/>
          <p:cNvSpPr>
            <a:spLocks noGrp="1"/>
          </p:cNvSpPr>
          <p:nvPr>
            <p:ph sz="half" idx="1"/>
          </p:nvPr>
        </p:nvSpPr>
        <p:spPr>
          <a:xfrm>
            <a:off x="909758" y="2057400"/>
            <a:ext cx="5031521"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5408" y="2057401"/>
            <a:ext cx="5016834" cy="4119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D239B2-65BC-4C2A-A62B-3EABFE9590E4}" type="datetime1">
              <a:rPr lang="en-US" smtClean="0"/>
              <a:t>4/18/2025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6"/>
            <a:ext cx="10276552" cy="1149350"/>
          </a:xfrm>
        </p:spPr>
        <p:txBody>
          <a:bodyPr>
            <a:normAutofit/>
          </a:bodyPr>
          <a:lstStyle>
            <a:lvl1pPr algn="ctr">
              <a:defRPr sz="3200" cap="all" spc="300" baseline="0"/>
            </a:lvl1p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E05F5A-E4A3-476F-A89E-C2B73F2431E4}" type="datetime1">
              <a:rPr lang="en-US" smtClean="0"/>
              <a:t>4/18/2025</a:t>
            </a:fld>
            <a:endParaRPr lang="en-US"/>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3761515-4A26-4F31-9F61-5A10B1FABBFC}" type="datetime1">
              <a:rPr lang="en-US" smtClean="0"/>
              <a:t>4/18/2025</a:t>
            </a:fld>
            <a:endParaRPr lang="en-US"/>
          </a:p>
        </p:txBody>
      </p:sp>
      <p:sp>
        <p:nvSpPr>
          <p:cNvPr id="4" name="Footer Placeholder 3"/>
          <p:cNvSpPr>
            <a:spLocks noGrp="1"/>
          </p:cNvSpPr>
          <p:nvPr>
            <p:ph type="ftr" sz="quarter" idx="11"/>
          </p:nvPr>
        </p:nvSpPr>
        <p:spPr/>
        <p:txBody>
          <a:bodyPr/>
          <a:lstStyle/>
          <a:p>
            <a:r>
              <a:rPr lang="en-US"/>
              <a:t>Sample Footer Text</a:t>
            </a:r>
          </a:p>
        </p:txBody>
      </p:sp>
      <p:sp>
        <p:nvSpPr>
          <p:cNvPr id="5" name="Slide Number Placeholder 4"/>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5DC65-7D1F-4BAB-9695-F7E734143E14}" type="datetime1">
              <a:rPr lang="en-US" smtClean="0"/>
              <a:t>4/18/2025</a:t>
            </a:fld>
            <a:endParaRPr lang="en-US"/>
          </a:p>
        </p:txBody>
      </p:sp>
      <p:sp>
        <p:nvSpPr>
          <p:cNvPr id="3" name="Footer Placeholder 2"/>
          <p:cNvSpPr>
            <a:spLocks noGrp="1"/>
          </p:cNvSpPr>
          <p:nvPr>
            <p:ph type="ftr" sz="quarter" idx="11"/>
          </p:nvPr>
        </p:nvSpPr>
        <p:spPr/>
        <p:txBody>
          <a:bodyPr/>
          <a:lstStyle/>
          <a:p>
            <a:r>
              <a:rPr lang="en-US"/>
              <a:t>Sample Footer Text</a:t>
            </a:r>
          </a:p>
        </p:txBody>
      </p:sp>
      <p:sp>
        <p:nvSpPr>
          <p:cNvPr id="4" name="Slide Number Placeholder 3"/>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624077-BD55-4036-8E92-6558FDF3B653}" type="datetime1">
              <a:rPr lang="en-US" smtClean="0"/>
              <a:t>4/18/2025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4225F2-7107-4609-BCC2-77C63064A5E8}" type="datetime1">
              <a:rPr lang="en-US" smtClean="0"/>
              <a:t>4/18/2025</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789749-A4CD-447F-8298-2B7988C91CEA}" type="datetime1">
              <a:rPr lang="en-US" smtClean="0"/>
              <a:t>4/18/2025</a:t>
            </a:fld>
            <a:endParaRPr lang="en-US"/>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0444D3-C0BA-4587-A56C-581AB9F841BE}" type="datetime1">
              <a:rPr lang="en-US" smtClean="0"/>
              <a:t>4/18/2025</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F8E28480-1C08-4458-AD97-0283E6FFD09D}"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486900" cy="13716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371599" y="2254103"/>
            <a:ext cx="9486901" cy="39180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9800022" y="3223751"/>
            <a:ext cx="4114801"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fld id="{D3FE42E8-8B57-452D-A122-4DCE9AC771EF}" type="datetime1">
              <a:rPr lang="en-US" smtClean="0"/>
              <a:t>4/18/2025</a:t>
            </a:fld>
            <a:endParaRPr lang="en-US"/>
          </a:p>
        </p:txBody>
      </p:sp>
      <p:sp>
        <p:nvSpPr>
          <p:cNvPr id="5" name="Footer Placeholder 4"/>
          <p:cNvSpPr>
            <a:spLocks noGrp="1"/>
          </p:cNvSpPr>
          <p:nvPr>
            <p:ph type="ftr" sz="quarter" idx="3"/>
          </p:nvPr>
        </p:nvSpPr>
        <p:spPr>
          <a:xfrm rot="5400000">
            <a:off x="-1708136" y="3223750"/>
            <a:ext cx="4114800"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r>
              <a:rPr lang="en-US" dirty="0"/>
              <a:t>Sample Footer Text</a:t>
            </a:r>
          </a:p>
        </p:txBody>
      </p:sp>
      <p:sp>
        <p:nvSpPr>
          <p:cNvPr id="6" name="Slide Number Placeholder 5"/>
          <p:cNvSpPr>
            <a:spLocks noGrp="1"/>
          </p:cNvSpPr>
          <p:nvPr>
            <p:ph type="sldNum" sz="quarter" idx="4"/>
          </p:nvPr>
        </p:nvSpPr>
        <p:spPr>
          <a:xfrm>
            <a:off x="11116340" y="6356350"/>
            <a:ext cx="871868" cy="365125"/>
          </a:xfrm>
          <a:prstGeom prst="rect">
            <a:avLst/>
          </a:prstGeom>
        </p:spPr>
        <p:txBody>
          <a:bodyPr vert="horz" lIns="91440" tIns="45720" rIns="91440" bIns="45720" rtlCol="0" anchor="ctr"/>
          <a:lstStyle>
            <a:lvl1pPr algn="r">
              <a:defRPr sz="900" spc="300">
                <a:solidFill>
                  <a:schemeClr val="tx2">
                    <a:lumMod val="75000"/>
                    <a:lumOff val="25000"/>
                  </a:schemeClr>
                </a:solidFill>
                <a:latin typeface="+mn-lt"/>
              </a:defRPr>
            </a:lvl1pPr>
          </a:lstStyle>
          <a:p>
            <a:fld id="{F8E28480-1C08-4458-AD97-0283E6FFD09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70000"/>
        <a:buFont typeface="Arial" panose="020B0604020202020204" pitchFamily="34" charset="0"/>
        <a:buChar char="•"/>
        <a:defRPr sz="2400" kern="1200">
          <a:solidFill>
            <a:schemeClr val="tx2"/>
          </a:solidFill>
          <a:latin typeface="+mj-lt"/>
          <a:ea typeface="+mn-ea"/>
          <a:cs typeface="+mn-cs"/>
        </a:defRPr>
      </a:lvl1pPr>
      <a:lvl2pPr marL="685800" indent="-228600" algn="l" defTabSz="914400" rtl="0" eaLnBrk="1" latinLnBrk="0" hangingPunct="1">
        <a:lnSpc>
          <a:spcPct val="100000"/>
        </a:lnSpc>
        <a:spcBef>
          <a:spcPts val="500"/>
        </a:spcBef>
        <a:buSzPct val="70000"/>
        <a:buFont typeface="Arial" panose="020B0604020202020204" pitchFamily="34" charset="0"/>
        <a:buChar char="•"/>
        <a:defRPr sz="2000" kern="1200">
          <a:solidFill>
            <a:schemeClr val="tx2"/>
          </a:solidFill>
          <a:latin typeface="+mj-lt"/>
          <a:ea typeface="+mn-ea"/>
          <a:cs typeface="+mn-cs"/>
        </a:defRPr>
      </a:lvl2pPr>
      <a:lvl3pPr marL="1143000" indent="-228600" algn="l" defTabSz="914400" rtl="0" eaLnBrk="1" latinLnBrk="0" hangingPunct="1">
        <a:lnSpc>
          <a:spcPct val="100000"/>
        </a:lnSpc>
        <a:spcBef>
          <a:spcPts val="500"/>
        </a:spcBef>
        <a:buSzPct val="70000"/>
        <a:buFont typeface="Arial" panose="020B0604020202020204" pitchFamily="34" charset="0"/>
        <a:buChar char="•"/>
        <a:defRPr sz="1800" kern="1200">
          <a:solidFill>
            <a:schemeClr val="tx2"/>
          </a:solidFill>
          <a:latin typeface="+mj-lt"/>
          <a:ea typeface="+mn-ea"/>
          <a:cs typeface="+mn-cs"/>
        </a:defRPr>
      </a:lvl3pPr>
      <a:lvl4pPr marL="16002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4pPr>
      <a:lvl5pPr marL="20574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10"/>
          <p:cNvSpPr>
            <a:spLocks noGrp="1" noRot="1" noChangeAspect="1" noMove="1" noResize="1" noEditPoints="1" noAdjustHandles="1" noChangeArrowheads="1" noChangeShapeType="1" noTextEdit="1"/>
          </p:cNvSpPr>
          <p:nvPr/>
        </p:nvSpPr>
        <p:spPr>
          <a:xfrm>
            <a:off x="6781801" y="685801"/>
            <a:ext cx="47244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7285978" y="959278"/>
            <a:ext cx="3714872" cy="992512"/>
          </a:xfrm>
        </p:spPr>
        <p:txBody>
          <a:bodyPr vert="horz" lIns="91440" tIns="45720" rIns="91440" bIns="45720" rtlCol="0" anchor="b">
            <a:normAutofit/>
          </a:bodyPr>
          <a:lstStyle/>
          <a:p>
            <a:r>
              <a:rPr lang="en-US" sz="3200" kern="1200" cap="all" spc="300" baseline="0" dirty="0">
                <a:solidFill>
                  <a:schemeClr val="tx2"/>
                </a:solidFill>
                <a:latin typeface="+mj-lt"/>
                <a:ea typeface="+mj-ea"/>
                <a:cs typeface="+mj-cs"/>
              </a:rPr>
              <a:t>Tối ưu hóa</a:t>
            </a:r>
          </a:p>
        </p:txBody>
      </p:sp>
      <p:pic>
        <p:nvPicPr>
          <p:cNvPr id="39" name="Picture 3"/>
          <p:cNvPicPr>
            <a:picLocks noChangeAspect="1"/>
          </p:cNvPicPr>
          <p:nvPr/>
        </p:nvPicPr>
        <p:blipFill rotWithShape="1">
          <a:blip r:embed="rId2"/>
          <a:srcRect l="11310" r="29136" b="2"/>
          <a:stretch>
            <a:fillRect/>
          </a:stretch>
        </p:blipFill>
        <p:spPr>
          <a:xfrm>
            <a:off x="20" y="10"/>
            <a:ext cx="6095980" cy="6857990"/>
          </a:xfrm>
          <a:prstGeom prst="rect">
            <a:avLst/>
          </a:prstGeom>
        </p:spPr>
      </p:pic>
      <p:sp>
        <p:nvSpPr>
          <p:cNvPr id="3" name="Subtitle 2"/>
          <p:cNvSpPr>
            <a:spLocks noGrp="1"/>
          </p:cNvSpPr>
          <p:nvPr>
            <p:ph type="subTitle" idx="1"/>
          </p:nvPr>
        </p:nvSpPr>
        <p:spPr>
          <a:xfrm>
            <a:off x="6710900" y="2135939"/>
            <a:ext cx="4795301" cy="3546806"/>
          </a:xfrm>
        </p:spPr>
        <p:txBody>
          <a:bodyPr vert="horz" lIns="91440" tIns="45720" rIns="91440" bIns="45720" rtlCol="0" anchor="t">
            <a:normAutofit/>
          </a:bodyPr>
          <a:lstStyle/>
          <a:p>
            <a:pPr indent="-228600" algn="l">
              <a:buFont typeface="Arial" panose="020B0604020202020204" pitchFamily="34" charset="0"/>
              <a:buChar char="•"/>
            </a:pPr>
            <a:r>
              <a:rPr lang="en-US" dirty="0"/>
              <a:t>GV:</a:t>
            </a:r>
          </a:p>
          <a:p>
            <a:pPr indent="-228600" algn="l">
              <a:buFont typeface="Arial" panose="020B0604020202020204" pitchFamily="34" charset="0"/>
              <a:buChar char="•"/>
            </a:pPr>
            <a:r>
              <a:rPr lang="en-US" dirty="0"/>
              <a:t>Trường Công </a:t>
            </a:r>
            <a:r>
              <a:rPr lang="en-US" dirty="0" err="1"/>
              <a:t>nghệ</a:t>
            </a:r>
            <a:r>
              <a:rPr lang="en-US" dirty="0"/>
              <a:t> </a:t>
            </a:r>
            <a:r>
              <a:rPr lang="en-US" dirty="0" err="1"/>
              <a:t>thông</a:t>
            </a:r>
            <a:r>
              <a:rPr lang="en-US" dirty="0"/>
              <a:t> tin </a:t>
            </a:r>
            <a:r>
              <a:rPr lang="en-US" dirty="0" err="1"/>
              <a:t>Phenikaa</a:t>
            </a:r>
            <a:endParaRPr lang="en-US" dirty="0"/>
          </a:p>
          <a:p>
            <a:pPr indent="-228600" algn="l">
              <a:buFont typeface="Arial" panose="020B0604020202020204" pitchFamily="34" charset="0"/>
              <a:buChar char="•"/>
            </a:pPr>
            <a:r>
              <a:rPr lang="en-US" dirty="0" err="1"/>
              <a:t>Đại</a:t>
            </a:r>
            <a:r>
              <a:rPr lang="en-US" dirty="0"/>
              <a:t> Học PHENIKAA</a:t>
            </a:r>
          </a:p>
          <a:p>
            <a:pPr indent="-228600" algn="l">
              <a:buFont typeface="Arial" panose="020B0604020202020204" pitchFamily="34" charset="0"/>
              <a:buChar char="•"/>
            </a:pPr>
            <a:r>
              <a:rPr lang="en-US" dirty="0"/>
              <a:t>Email:</a:t>
            </a:r>
            <a:endParaRPr lang="en-US" dirty="0">
              <a:solidFill>
                <a:srgbClr val="FF0000"/>
              </a:solidFill>
            </a:endParaRPr>
          </a:p>
          <a:p>
            <a:pPr algn="l"/>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p:cNvSpPr>
            <a:spLocks noGrp="1" noRot="1" noChangeAspect="1" noMove="1" noResize="1" noEditPoints="1" noAdjustHandles="1" noChangeArrowheads="1" noChangeShapeType="1" noTextEdit="1"/>
          </p:cNvSpPr>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800" y="1371600"/>
            <a:ext cx="2742028" cy="4114800"/>
          </a:xfrm>
        </p:spPr>
        <p:txBody>
          <a:bodyPr anchor="ctr">
            <a:normAutofit/>
          </a:bodyPr>
          <a:lstStyle/>
          <a:p>
            <a:pPr algn="ctr"/>
            <a:r>
              <a:rPr lang="en-US">
                <a:solidFill>
                  <a:schemeClr val="bg2"/>
                </a:solidFill>
              </a:rPr>
              <a:t>Nội dung học</a:t>
            </a:r>
          </a:p>
        </p:txBody>
      </p:sp>
      <p:sp>
        <p:nvSpPr>
          <p:cNvPr id="16" name="Rectangle 11"/>
          <p:cNvSpPr>
            <a:spLocks noGrp="1" noRot="1" noChangeAspect="1" noMove="1" noResize="1" noEditPoints="1" noAdjustHandles="1" noChangeArrowheads="1" noChangeShapeType="1" noTextEdit="1"/>
          </p:cNvSpPr>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ntent Placeholder 2"/>
          <p:cNvSpPr>
            <a:spLocks noGrp="1"/>
          </p:cNvSpPr>
          <p:nvPr>
            <p:ph idx="1"/>
          </p:nvPr>
        </p:nvSpPr>
        <p:spPr>
          <a:xfrm>
            <a:off x="5310963" y="1270591"/>
            <a:ext cx="5631357" cy="4364666"/>
          </a:xfrm>
        </p:spPr>
        <p:txBody>
          <a:bodyPr anchor="ctr">
            <a:normAutofit/>
          </a:bodyPr>
          <a:lstStyle/>
          <a:p>
            <a:pPr marL="457200" indent="-457200">
              <a:lnSpc>
                <a:spcPct val="90000"/>
              </a:lnSpc>
              <a:buAutoNum type="arabicPeriod"/>
            </a:pPr>
            <a:r>
              <a:rPr lang="en-US" sz="1900" dirty="0" err="1"/>
              <a:t>Bài</a:t>
            </a:r>
            <a:r>
              <a:rPr lang="en-US" sz="1900" dirty="0"/>
              <a:t> </a:t>
            </a:r>
            <a:r>
              <a:rPr lang="en-US" sz="1900" dirty="0" err="1"/>
              <a:t>toán</a:t>
            </a:r>
            <a:r>
              <a:rPr lang="en-US" sz="1900" dirty="0"/>
              <a:t> </a:t>
            </a:r>
            <a:r>
              <a:rPr lang="en-US" sz="1900" dirty="0" err="1"/>
              <a:t>quy</a:t>
            </a:r>
            <a:r>
              <a:rPr lang="en-US" sz="1900" dirty="0"/>
              <a:t> </a:t>
            </a:r>
            <a:r>
              <a:rPr lang="en-US" sz="1900" dirty="0" err="1"/>
              <a:t>hoạch</a:t>
            </a:r>
            <a:r>
              <a:rPr lang="en-US" sz="1900" dirty="0"/>
              <a:t> </a:t>
            </a:r>
            <a:r>
              <a:rPr lang="en-US" sz="1900" dirty="0" err="1"/>
              <a:t>tuyến</a:t>
            </a:r>
            <a:r>
              <a:rPr lang="en-US" sz="1900" dirty="0"/>
              <a:t> </a:t>
            </a:r>
            <a:r>
              <a:rPr lang="en-US" sz="1900" dirty="0" err="1"/>
              <a:t>tính</a:t>
            </a:r>
            <a:endParaRPr lang="en-US" sz="1900" dirty="0"/>
          </a:p>
          <a:p>
            <a:pPr>
              <a:lnSpc>
                <a:spcPct val="90000"/>
              </a:lnSpc>
            </a:pPr>
            <a:r>
              <a:rPr lang="vi-VN" sz="1900" dirty="0"/>
              <a:t>Mô hình toán học</a:t>
            </a:r>
            <a:endParaRPr lang="en-US" sz="1900" dirty="0"/>
          </a:p>
          <a:p>
            <a:pPr>
              <a:lnSpc>
                <a:spcPct val="90000"/>
              </a:lnSpc>
            </a:pPr>
            <a:r>
              <a:rPr lang="vi-VN" sz="1900" dirty="0"/>
              <a:t>Các loại vấn đề tối ưu hóa</a:t>
            </a:r>
            <a:endParaRPr lang="en-US" sz="1900" dirty="0"/>
          </a:p>
          <a:p>
            <a:pPr>
              <a:lnSpc>
                <a:spcPct val="90000"/>
              </a:lnSpc>
            </a:pPr>
            <a:r>
              <a:rPr lang="vi-VN" sz="1900" dirty="0"/>
              <a:t>Sự phức tạp</a:t>
            </a:r>
            <a:endParaRPr lang="en-US" sz="1900" dirty="0"/>
          </a:p>
          <a:p>
            <a:pPr marL="0" indent="0">
              <a:lnSpc>
                <a:spcPct val="90000"/>
              </a:lnSpc>
              <a:buNone/>
            </a:pPr>
            <a:r>
              <a:rPr lang="vi-VN" sz="1900" dirty="0"/>
              <a:t>2 Tối ưu hóa liên tục</a:t>
            </a:r>
            <a:endParaRPr lang="en-US" sz="1900" dirty="0"/>
          </a:p>
          <a:p>
            <a:pPr>
              <a:lnSpc>
                <a:spcPct val="90000"/>
              </a:lnSpc>
            </a:pPr>
            <a:r>
              <a:rPr lang="vi-VN" sz="1900" dirty="0"/>
              <a:t>Tối ưu hoá trực quan</a:t>
            </a:r>
            <a:endParaRPr lang="en-US" sz="1900" dirty="0"/>
          </a:p>
          <a:p>
            <a:pPr>
              <a:lnSpc>
                <a:spcPct val="90000"/>
              </a:lnSpc>
            </a:pPr>
            <a:r>
              <a:rPr lang="vi-VN" sz="1900" dirty="0"/>
              <a:t>Chương trình tuyến tính</a:t>
            </a:r>
            <a:endParaRPr lang="en-US" sz="1900" dirty="0"/>
          </a:p>
          <a:p>
            <a:pPr marL="0" indent="0">
              <a:lnSpc>
                <a:spcPct val="90000"/>
              </a:lnSpc>
              <a:buNone/>
            </a:pPr>
            <a:r>
              <a:rPr lang="vi-VN" sz="1900" dirty="0"/>
              <a:t>3 Tối ưu hóa rời rạc</a:t>
            </a:r>
            <a:endParaRPr lang="en-US" sz="1900" dirty="0"/>
          </a:p>
          <a:p>
            <a:pPr>
              <a:lnSpc>
                <a:spcPct val="90000"/>
              </a:lnSpc>
            </a:pPr>
            <a:r>
              <a:rPr lang="vi-VN" sz="1900" dirty="0"/>
              <a:t>Chương trình tuyến tính số nguyên</a:t>
            </a:r>
            <a:endParaRPr lang="en-US" sz="1900" dirty="0"/>
          </a:p>
          <a:p>
            <a:pPr>
              <a:lnSpc>
                <a:spcPct val="90000"/>
              </a:lnSpc>
            </a:pPr>
            <a:r>
              <a:rPr lang="vi-VN" sz="1900" dirty="0"/>
              <a:t>Các vấn đề về tối ưu hóa trên đồ thị</a:t>
            </a:r>
            <a:endParaRPr lang="en-US" sz="1900" dirty="0"/>
          </a:p>
          <a:p>
            <a:pPr marL="0" indent="0">
              <a:lnSpc>
                <a:spcPct val="90000"/>
              </a:lnSpc>
              <a:buNone/>
            </a:pPr>
            <a:r>
              <a:rPr lang="vi-VN" sz="1900" dirty="0"/>
              <a:t>4 Phần mềm để giải quyết các vấn đề tối ưu hóa</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a:spLocks noGrp="1" noRot="1" noChangeAspect="1" noMove="1" noResize="1" noEditPoints="1" noAdjustHandles="1" noChangeArrowheads="1" noChangeShapeType="1" noTextEdit="1"/>
          </p:cNvSpPr>
          <p:nvPr/>
        </p:nvSpPr>
        <p:spPr>
          <a:xfrm>
            <a:off x="685800" y="685801"/>
            <a:ext cx="6118275"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50389" y="914881"/>
            <a:ext cx="5212188" cy="964407"/>
          </a:xfrm>
        </p:spPr>
        <p:txBody>
          <a:bodyPr>
            <a:normAutofit/>
          </a:bodyPr>
          <a:lstStyle/>
          <a:p>
            <a:pPr algn="ctr"/>
            <a:r>
              <a:rPr lang="en-US" sz="2200"/>
              <a:t>Computational Complexity: </a:t>
            </a:r>
            <a:r>
              <a:rPr lang="en-US" sz="2200" err="1"/>
              <a:t>Tính</a:t>
            </a:r>
            <a:r>
              <a:rPr lang="en-US" sz="2200"/>
              <a:t> </a:t>
            </a:r>
            <a:r>
              <a:rPr lang="en-US" sz="2200" err="1"/>
              <a:t>phức</a:t>
            </a:r>
            <a:r>
              <a:rPr lang="en-US" sz="2200"/>
              <a:t> </a:t>
            </a:r>
            <a:r>
              <a:rPr lang="en-US" sz="2200" err="1"/>
              <a:t>tạp</a:t>
            </a:r>
            <a:endParaRPr lang="en-US" sz="2200"/>
          </a:p>
        </p:txBody>
      </p:sp>
      <p:sp>
        <p:nvSpPr>
          <p:cNvPr id="3" name="Content Placeholder 2"/>
          <p:cNvSpPr>
            <a:spLocks noGrp="1"/>
          </p:cNvSpPr>
          <p:nvPr>
            <p:ph idx="1"/>
          </p:nvPr>
        </p:nvSpPr>
        <p:spPr>
          <a:xfrm>
            <a:off x="1218040" y="2146570"/>
            <a:ext cx="5118965" cy="3754499"/>
          </a:xfrm>
        </p:spPr>
        <p:txBody>
          <a:bodyPr>
            <a:normAutofit lnSpcReduction="10000"/>
          </a:bodyPr>
          <a:lstStyle/>
          <a:p>
            <a:pPr>
              <a:lnSpc>
                <a:spcPct val="90000"/>
              </a:lnSpc>
              <a:buFontTx/>
              <a:buChar char="-"/>
            </a:pPr>
            <a:endParaRPr lang="en-US" sz="2200" dirty="0"/>
          </a:p>
          <a:p>
            <a:pPr>
              <a:lnSpc>
                <a:spcPct val="90000"/>
              </a:lnSpc>
              <a:buFontTx/>
              <a:buChar char="-"/>
            </a:pPr>
            <a:r>
              <a:rPr lang="en-US" sz="2200" dirty="0">
                <a:latin typeface="Times New Roman" panose="02020603050405020304" charset="0"/>
                <a:cs typeface="Times New Roman" panose="02020603050405020304" charset="0"/>
              </a:rPr>
              <a:t>Độ phức tạp tính toán (hoặc thời gian chạy) của thuật toán?</a:t>
            </a:r>
          </a:p>
          <a:p>
            <a:pPr>
              <a:lnSpc>
                <a:spcPct val="90000"/>
              </a:lnSpc>
              <a:buFontTx/>
              <a:buChar char="-"/>
            </a:pPr>
            <a:r>
              <a:rPr lang="en-US" sz="2200" dirty="0">
                <a:latin typeface="Times New Roman" panose="02020603050405020304" charset="0"/>
                <a:cs typeface="Times New Roman" panose="02020603050405020304" charset="0"/>
              </a:rPr>
              <a:t>Độ phức tạp tính toán của một vấn đề tối ưu hóa?</a:t>
            </a:r>
          </a:p>
          <a:p>
            <a:pPr>
              <a:lnSpc>
                <a:spcPct val="90000"/>
              </a:lnSpc>
              <a:buFontTx/>
              <a:buChar char="-"/>
            </a:pPr>
            <a:r>
              <a:rPr lang="en-US" sz="2200" dirty="0">
                <a:latin typeface="Times New Roman" panose="02020603050405020304" charset="0"/>
                <a:cs typeface="Times New Roman" panose="02020603050405020304" charset="0"/>
              </a:rPr>
              <a:t>Câu hỏi: Tại sao chúng ta phải nghiên cứu độ phức tạp tính toán của một thuật toán (và của một bài toán)?</a:t>
            </a:r>
          </a:p>
          <a:p>
            <a:pPr>
              <a:lnSpc>
                <a:spcPct val="90000"/>
              </a:lnSpc>
              <a:buFontTx/>
              <a:buChar char="-"/>
            </a:pPr>
            <a:r>
              <a:rPr lang="en-US" sz="2200" dirty="0">
                <a:latin typeface="Times New Roman" panose="02020603050405020304" charset="0"/>
                <a:cs typeface="Times New Roman" panose="02020603050405020304" charset="0"/>
              </a:rPr>
              <a:t>Trả lời: Đơn giản vì chúng </a:t>
            </a:r>
            <a:r>
              <a:rPr lang="vi-VN" altLang="en-US" sz="2200" dirty="0">
                <a:latin typeface="Times New Roman" panose="02020603050405020304" charset="0"/>
                <a:cs typeface="Times New Roman" panose="02020603050405020304" charset="0"/>
              </a:rPr>
              <a:t>ta </a:t>
            </a:r>
            <a:r>
              <a:rPr lang="en-US" sz="2200" dirty="0">
                <a:latin typeface="Times New Roman" panose="02020603050405020304" charset="0"/>
                <a:cs typeface="Times New Roman" panose="02020603050405020304" charset="0"/>
              </a:rPr>
              <a:t>quan tâm đến các thuật toán hiệu quả về mặt thời gian và không gian</a:t>
            </a:r>
          </a:p>
        </p:txBody>
      </p:sp>
      <p:pic>
        <p:nvPicPr>
          <p:cNvPr id="5" name="Picture 4" descr="Complex maths formulae on a blackboard"/>
          <p:cNvPicPr>
            <a:picLocks noChangeAspect="1"/>
          </p:cNvPicPr>
          <p:nvPr/>
        </p:nvPicPr>
        <p:blipFill rotWithShape="1">
          <a:blip r:embed="rId2"/>
          <a:srcRect l="31817" r="17893" b="-1"/>
          <a:stretch>
            <a:fillRect/>
          </a:stretch>
        </p:blipFill>
        <p:spPr>
          <a:xfrm>
            <a:off x="7467600" y="10"/>
            <a:ext cx="4724400" cy="68579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answers</a:t>
            </a:r>
          </a:p>
        </p:txBody>
      </p:sp>
      <p:sp>
        <p:nvSpPr>
          <p:cNvPr id="3" name="Content Placeholder 2"/>
          <p:cNvSpPr>
            <a:spLocks noGrp="1"/>
          </p:cNvSpPr>
          <p:nvPr>
            <p:ph idx="1"/>
          </p:nvPr>
        </p:nvSpPr>
        <p:spPr/>
        <p:txBody>
          <a:bodyPr>
            <a:normAutofit fontScale="77500" lnSpcReduction="20000"/>
          </a:bodyPr>
          <a:lstStyle/>
          <a:p>
            <a:pPr>
              <a:buFont typeface="Wingdings" panose="05000000000000000000" pitchFamily="2" charset="2"/>
              <a:buChar char="q"/>
            </a:pPr>
            <a:r>
              <a:rPr lang="vi-VN" dirty="0">
                <a:latin typeface="Times New Roman" panose="02020603050405020304" charset="0"/>
                <a:cs typeface="Times New Roman" panose="02020603050405020304" charset="0"/>
              </a:rPr>
              <a:t>Phân tích có thể đáng tin cậy hơn thử nghiệm. Nếu chúng t</a:t>
            </a:r>
            <a:r>
              <a:rPr lang="en-US" dirty="0">
                <a:latin typeface="Times New Roman" panose="02020603050405020304" charset="0"/>
                <a:cs typeface="Times New Roman" panose="02020603050405020304" charset="0"/>
              </a:rPr>
              <a:t>a</a:t>
            </a:r>
            <a:r>
              <a:rPr lang="vi-VN" dirty="0">
                <a:latin typeface="Times New Roman" panose="02020603050405020304" charset="0"/>
                <a:cs typeface="Times New Roman" panose="02020603050405020304" charset="0"/>
              </a:rPr>
              <a:t> thử nghiệm, chúng t</a:t>
            </a:r>
            <a:r>
              <a:rPr lang="en-US" dirty="0">
                <a:latin typeface="Times New Roman" panose="02020603050405020304" charset="0"/>
                <a:cs typeface="Times New Roman" panose="02020603050405020304" charset="0"/>
              </a:rPr>
              <a:t>a</a:t>
            </a:r>
            <a:r>
              <a:rPr lang="vi-VN" dirty="0">
                <a:latin typeface="Times New Roman" panose="02020603050405020304" charset="0"/>
                <a:cs typeface="Times New Roman" panose="02020603050405020304" charset="0"/>
              </a:rPr>
              <a:t> chỉ biết hành vi của một chương trình trên các trường hợp thử nghiệm cụ thể nhất định, trong khi phân tích có thể cung cấp cho chúng t</a:t>
            </a:r>
            <a:r>
              <a:rPr lang="en-US" dirty="0">
                <a:latin typeface="Times New Roman" panose="02020603050405020304" charset="0"/>
                <a:cs typeface="Times New Roman" panose="02020603050405020304" charset="0"/>
              </a:rPr>
              <a:t>a</a:t>
            </a:r>
            <a:r>
              <a:rPr lang="vi-VN" dirty="0">
                <a:latin typeface="Times New Roman" panose="02020603050405020304" charset="0"/>
                <a:cs typeface="Times New Roman" panose="02020603050405020304" charset="0"/>
              </a:rPr>
              <a:t> sự đảm bảo về hiệu suất trên tất cả các đầu vào.</a:t>
            </a:r>
            <a:endParaRPr lang="en-US" dirty="0">
              <a:latin typeface="Times New Roman" panose="02020603050405020304" charset="0"/>
              <a:cs typeface="Times New Roman" panose="02020603050405020304" charset="0"/>
            </a:endParaRPr>
          </a:p>
          <a:p>
            <a:pPr>
              <a:buFont typeface="Wingdings" panose="05000000000000000000" pitchFamily="2" charset="2"/>
              <a:buChar char="q"/>
            </a:pPr>
            <a:r>
              <a:rPr lang="vi-VN" dirty="0">
                <a:latin typeface="Times New Roman" panose="02020603050405020304" charset="0"/>
                <a:cs typeface="Times New Roman" panose="02020603050405020304" charset="0"/>
              </a:rPr>
              <a:t>Chúng ta có thể dự đoán hiệu suất của một chương trình trước khi chúng ta dành thời gian để viết </a:t>
            </a:r>
            <a:r>
              <a:rPr lang="en-US" dirty="0">
                <a:latin typeface="Times New Roman" panose="02020603050405020304" charset="0"/>
                <a:cs typeface="Times New Roman" panose="02020603050405020304" charset="0"/>
              </a:rPr>
              <a:t>code</a:t>
            </a:r>
            <a:r>
              <a:rPr lang="vi-VN" dirty="0">
                <a:latin typeface="Times New Roman" panose="02020603050405020304" charset="0"/>
                <a:cs typeface="Times New Roman" panose="02020603050405020304" charset="0"/>
              </a:rPr>
              <a:t>. Trong một dự án lớn, nếu chúng ta đợi cho đến khi tất cả mã được viết xong mới phát hiện ra thứ gì đó chạy rất chậm thì đó có thể là một thảm họa lớn, nhưng nếu chúng ta thực hiện phân tích trước, chúng ta có thời gian để phát hiện ra các vấn đề về tốc độ và giải quyết chúng.</a:t>
            </a:r>
            <a:endParaRPr lang="en-US" dirty="0">
              <a:latin typeface="Times New Roman" panose="02020603050405020304" charset="0"/>
              <a:cs typeface="Times New Roman" panose="02020603050405020304" charset="0"/>
            </a:endParaRPr>
          </a:p>
          <a:p>
            <a:pPr>
              <a:buFont typeface="Wingdings" panose="05000000000000000000" pitchFamily="2" charset="2"/>
              <a:buChar char="q"/>
            </a:pPr>
            <a:r>
              <a:rPr lang="vi-VN" dirty="0">
                <a:latin typeface="Times New Roman" panose="02020603050405020304" charset="0"/>
                <a:cs typeface="Times New Roman" panose="02020603050405020304" charset="0"/>
              </a:rPr>
              <a:t>Bằng cách phân tích một thuật toán, chúng t</a:t>
            </a:r>
            <a:r>
              <a:rPr lang="en-US" dirty="0">
                <a:latin typeface="Times New Roman" panose="02020603050405020304" charset="0"/>
                <a:cs typeface="Times New Roman" panose="02020603050405020304" charset="0"/>
              </a:rPr>
              <a:t>a</a:t>
            </a:r>
            <a:r>
              <a:rPr lang="vi-VN" dirty="0">
                <a:latin typeface="Times New Roman" panose="02020603050405020304" charset="0"/>
                <a:cs typeface="Times New Roman" panose="02020603050405020304" charset="0"/>
              </a:rPr>
              <a:t> hiểu rõ hơn về vị trí của các phần nhanh và chậm, và những gì cần giải quyết hoặc khắc phục để tăng tốc độ.</a:t>
            </a:r>
            <a:endParaRPr lang="en-US" dirty="0">
              <a:latin typeface="Times New Roman" panose="02020603050405020304" charset="0"/>
              <a:cs typeface="Times New Roman" panose="02020603050405020304" charset="0"/>
            </a:endParaRPr>
          </a:p>
          <a:p>
            <a:pPr>
              <a:buFont typeface="Wingdings" panose="05000000000000000000" pitchFamily="2" charset="2"/>
              <a:buChar char="q"/>
            </a:pPr>
            <a:r>
              <a:rPr lang="vi-VN" dirty="0">
                <a:latin typeface="Times New Roman" panose="02020603050405020304" charset="0"/>
                <a:cs typeface="Times New Roman" panose="02020603050405020304" charset="0"/>
              </a:rPr>
              <a:t>“Là một nhà phát triển phần mềm, bạn sẽ không phải lúc nào cũng triển khai các thuật toán mới cho các công ty hoặc tổ chức. Trường hợp thường xuyên là các kỹ sư cần hiểu, tối ưu hóa và phát triển thêm các giải pháp hiện có. Đây chính xác là giá trị mà các công ty tuyển dụng trả cho các kỹ sư phần mềm của họ. "</a:t>
            </a:r>
            <a:endParaRPr lang="en-US" dirty="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p:cNvSpPr>
            <a:spLocks noGrp="1" noRot="1" noChangeAspect="1" noMove="1" noResize="1" noEditPoints="1" noAdjustHandles="1" noChangeArrowheads="1" noChangeShapeType="1" noTextEdit="1"/>
          </p:cNvSpPr>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800" y="1371600"/>
            <a:ext cx="2742028" cy="4114800"/>
          </a:xfrm>
        </p:spPr>
        <p:txBody>
          <a:bodyPr anchor="ctr">
            <a:normAutofit/>
          </a:bodyPr>
          <a:lstStyle/>
          <a:p>
            <a:pPr algn="ctr"/>
            <a:r>
              <a:rPr lang="en-US">
                <a:solidFill>
                  <a:schemeClr val="bg2"/>
                </a:solidFill>
              </a:rPr>
              <a:t>Kích thước đầu vào (input size)</a:t>
            </a:r>
          </a:p>
        </p:txBody>
      </p:sp>
      <p:sp>
        <p:nvSpPr>
          <p:cNvPr id="16" name="Rectangle 11"/>
          <p:cNvSpPr>
            <a:spLocks noGrp="1" noRot="1" noChangeAspect="1" noMove="1" noResize="1" noEditPoints="1" noAdjustHandles="1" noChangeArrowheads="1" noChangeShapeType="1" noTextEdit="1"/>
          </p:cNvSpPr>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886036" y="803564"/>
            <a:ext cx="6620163" cy="5368636"/>
          </a:xfrm>
        </p:spPr>
        <p:txBody>
          <a:bodyPr anchor="ctr">
            <a:normAutofit/>
          </a:bodyPr>
          <a:lstStyle/>
          <a:p>
            <a:pPr>
              <a:lnSpc>
                <a:spcPct val="90000"/>
              </a:lnSpc>
              <a:buFont typeface="Wingdings" panose="05000000000000000000" pitchFamily="2" charset="2"/>
              <a:buChar char="v"/>
            </a:pPr>
            <a:r>
              <a:rPr lang="vi-VN" sz="1400" dirty="0">
                <a:latin typeface="Times New Roman" panose="02020603050405020304" charset="0"/>
                <a:cs typeface="Times New Roman" panose="02020603050405020304" charset="0"/>
              </a:rPr>
              <a:t>Kích thước đầu vào (hoặc độ dài đầu vào) của một </a:t>
            </a:r>
            <a:r>
              <a:rPr lang="en-US" sz="1400" dirty="0" err="1">
                <a:latin typeface="Times New Roman" panose="02020603050405020304" charset="0"/>
                <a:cs typeface="Times New Roman" panose="02020603050405020304" charset="0"/>
              </a:rPr>
              <a:t>trường</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hợp</a:t>
            </a:r>
            <a:r>
              <a:rPr lang="en-US" sz="1400" dirty="0">
                <a:latin typeface="Times New Roman" panose="02020603050405020304" charset="0"/>
                <a:cs typeface="Times New Roman" panose="02020603050405020304" charset="0"/>
              </a:rPr>
              <a:t> </a:t>
            </a:r>
            <a:r>
              <a:rPr lang="vi-VN" sz="1400" dirty="0">
                <a:latin typeface="Times New Roman" panose="02020603050405020304" charset="0"/>
                <a:cs typeface="Times New Roman" panose="02020603050405020304" charset="0"/>
              </a:rPr>
              <a:t>là gì?</a:t>
            </a:r>
            <a:endParaRPr lang="en-US" sz="1400" dirty="0">
              <a:latin typeface="Times New Roman" panose="02020603050405020304" charset="0"/>
              <a:cs typeface="Times New Roman" panose="02020603050405020304" charset="0"/>
            </a:endParaRPr>
          </a:p>
          <a:p>
            <a:pPr marL="0" indent="0">
              <a:lnSpc>
                <a:spcPct val="90000"/>
              </a:lnSpc>
              <a:buNone/>
            </a:pPr>
            <a:r>
              <a:rPr lang="en-US" sz="1400" dirty="0" err="1">
                <a:latin typeface="Times New Roman" panose="02020603050405020304" charset="0"/>
                <a:cs typeface="Times New Roman" panose="02020603050405020304" charset="0"/>
              </a:rPr>
              <a:t>Trả</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lời</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tùy</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thuộc</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vào</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mô</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hình</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tính</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toán</a:t>
            </a:r>
            <a:endParaRPr lang="en-US" sz="1400" dirty="0">
              <a:latin typeface="Times New Roman" panose="02020603050405020304" charset="0"/>
              <a:cs typeface="Times New Roman" panose="02020603050405020304" charset="0"/>
            </a:endParaRPr>
          </a:p>
          <a:p>
            <a:pPr marL="0" indent="0">
              <a:lnSpc>
                <a:spcPct val="90000"/>
              </a:lnSpc>
              <a:buNone/>
            </a:pPr>
            <a:r>
              <a:rPr lang="en-US" sz="1400" dirty="0">
                <a:latin typeface="Times New Roman" panose="02020603050405020304" charset="0"/>
                <a:cs typeface="Times New Roman" panose="02020603050405020304" charset="0"/>
              </a:rPr>
              <a:t>- RAM (</a:t>
            </a:r>
            <a:r>
              <a:rPr lang="en-US" sz="1400" dirty="0" err="1">
                <a:latin typeface="Times New Roman" panose="02020603050405020304" charset="0"/>
                <a:cs typeface="Times New Roman" panose="02020603050405020304" charset="0"/>
              </a:rPr>
              <a:t>Máy</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truy</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cập</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ngẫu</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nhiên</a:t>
            </a:r>
            <a:r>
              <a:rPr lang="en-US" sz="1400" dirty="0">
                <a:latin typeface="Times New Roman" panose="02020603050405020304" charset="0"/>
                <a:cs typeface="Times New Roman" panose="02020603050405020304" charset="0"/>
              </a:rPr>
              <a:t>)</a:t>
            </a:r>
          </a:p>
          <a:p>
            <a:pPr marL="0" indent="0">
              <a:lnSpc>
                <a:spcPct val="90000"/>
              </a:lnSpc>
              <a:buNone/>
            </a:pPr>
            <a:r>
              <a:rPr lang="en-US" sz="1400" dirty="0">
                <a:latin typeface="Times New Roman" panose="02020603050405020304" charset="0"/>
                <a:cs typeface="Times New Roman" panose="02020603050405020304" charset="0"/>
              </a:rPr>
              <a:t>- TM model (</a:t>
            </a:r>
            <a:r>
              <a:rPr lang="en-US" sz="1400" dirty="0" err="1">
                <a:latin typeface="Times New Roman" panose="02020603050405020304" charset="0"/>
                <a:cs typeface="Times New Roman" panose="02020603050405020304" charset="0"/>
              </a:rPr>
              <a:t>Máy</a:t>
            </a:r>
            <a:r>
              <a:rPr lang="en-US" sz="1400" dirty="0">
                <a:latin typeface="Times New Roman" panose="02020603050405020304" charset="0"/>
                <a:cs typeface="Times New Roman" panose="02020603050405020304" charset="0"/>
              </a:rPr>
              <a:t> Turing)</a:t>
            </a:r>
          </a:p>
          <a:p>
            <a:pPr>
              <a:lnSpc>
                <a:spcPct val="90000"/>
              </a:lnSpc>
              <a:buFont typeface="Wingdings" panose="05000000000000000000" pitchFamily="2" charset="2"/>
              <a:buChar char="v"/>
            </a:pPr>
            <a:r>
              <a:rPr lang="en-US" sz="1400" dirty="0">
                <a:latin typeface="Times New Roman" panose="02020603050405020304" charset="0"/>
                <a:cs typeface="Times New Roman" panose="02020603050405020304" charset="0"/>
              </a:rPr>
              <a:t>Mô </a:t>
            </a:r>
            <a:r>
              <a:rPr lang="en-US" sz="1400" dirty="0" err="1">
                <a:latin typeface="Times New Roman" panose="02020603050405020304" charset="0"/>
                <a:cs typeface="Times New Roman" panose="02020603050405020304" charset="0"/>
              </a:rPr>
              <a:t>hình</a:t>
            </a:r>
            <a:r>
              <a:rPr lang="en-US" sz="1400" dirty="0">
                <a:latin typeface="Times New Roman" panose="02020603050405020304" charset="0"/>
                <a:cs typeface="Times New Roman" panose="02020603050405020304" charset="0"/>
              </a:rPr>
              <a:t> RAM </a:t>
            </a:r>
            <a:r>
              <a:rPr lang="en-US" sz="1400" dirty="0" err="1">
                <a:latin typeface="Times New Roman" panose="02020603050405020304" charset="0"/>
                <a:cs typeface="Times New Roman" panose="02020603050405020304" charset="0"/>
              </a:rPr>
              <a:t>hoặc</a:t>
            </a:r>
            <a:r>
              <a:rPr lang="en-US" sz="1400" dirty="0">
                <a:latin typeface="Times New Roman" panose="02020603050405020304" charset="0"/>
                <a:cs typeface="Times New Roman" panose="02020603050405020304" charset="0"/>
              </a:rPr>
              <a:t> Mô </a:t>
            </a:r>
            <a:r>
              <a:rPr lang="en-US" sz="1400" dirty="0" err="1">
                <a:latin typeface="Times New Roman" panose="02020603050405020304" charset="0"/>
                <a:cs typeface="Times New Roman" panose="02020603050405020304" charset="0"/>
              </a:rPr>
              <a:t>hình</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số</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học</a:t>
            </a:r>
            <a:r>
              <a:rPr lang="en-US" sz="1400" dirty="0">
                <a:latin typeface="Times New Roman" panose="02020603050405020304" charset="0"/>
                <a:cs typeface="Times New Roman" panose="02020603050405020304" charset="0"/>
              </a:rPr>
              <a:t>: </a:t>
            </a:r>
            <a:r>
              <a:rPr lang="vi-VN" sz="1400" dirty="0">
                <a:latin typeface="Times New Roman" panose="02020603050405020304" charset="0"/>
                <a:cs typeface="Times New Roman" panose="02020603050405020304" charset="0"/>
              </a:rPr>
              <a:t>Một bước</a:t>
            </a:r>
            <a:r>
              <a:rPr lang="en-US" sz="1400" dirty="0">
                <a:latin typeface="Times New Roman" panose="02020603050405020304" charset="0"/>
                <a:cs typeface="Times New Roman" panose="02020603050405020304" charset="0"/>
              </a:rPr>
              <a:t> (step)</a:t>
            </a:r>
            <a:r>
              <a:rPr lang="vi-VN" sz="1400" dirty="0">
                <a:latin typeface="Times New Roman" panose="02020603050405020304" charset="0"/>
                <a:cs typeface="Times New Roman" panose="02020603050405020304" charset="0"/>
              </a:rPr>
              <a:t> được định nghĩa là một phép toán số học (+, ∗, -, =, if, call) và kích thước đầu vào là số lượng</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số</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nguyên</a:t>
            </a:r>
            <a:r>
              <a:rPr lang="en-US" sz="1400" dirty="0">
                <a:latin typeface="Times New Roman" panose="02020603050405020304" charset="0"/>
                <a:cs typeface="Times New Roman" panose="02020603050405020304" charset="0"/>
              </a:rPr>
              <a:t>)</a:t>
            </a:r>
            <a:r>
              <a:rPr lang="vi-VN" sz="1400" dirty="0">
                <a:latin typeface="Times New Roman" panose="02020603050405020304" charset="0"/>
                <a:cs typeface="Times New Roman" panose="02020603050405020304" charset="0"/>
              </a:rPr>
              <a:t> đầu vào trong một trường hợp bài toán.</a:t>
            </a:r>
            <a:endParaRPr lang="en-US" sz="1400" dirty="0">
              <a:latin typeface="Times New Roman" panose="02020603050405020304" charset="0"/>
              <a:cs typeface="Times New Roman" panose="02020603050405020304" charset="0"/>
            </a:endParaRPr>
          </a:p>
          <a:p>
            <a:pPr>
              <a:lnSpc>
                <a:spcPct val="90000"/>
              </a:lnSpc>
              <a:buFont typeface="Wingdings" panose="05000000000000000000" pitchFamily="2" charset="2"/>
              <a:buChar char="v"/>
            </a:pPr>
            <a:r>
              <a:rPr lang="en-US" sz="1400" dirty="0">
                <a:latin typeface="Times New Roman" panose="02020603050405020304" charset="0"/>
                <a:cs typeface="Times New Roman" panose="02020603050405020304" charset="0"/>
              </a:rPr>
              <a:t>Mô </a:t>
            </a:r>
            <a:r>
              <a:rPr lang="en-US" sz="1400" dirty="0" err="1">
                <a:latin typeface="Times New Roman" panose="02020603050405020304" charset="0"/>
                <a:cs typeface="Times New Roman" panose="02020603050405020304" charset="0"/>
              </a:rPr>
              <a:t>hình</a:t>
            </a:r>
            <a:r>
              <a:rPr lang="en-US" sz="1400" dirty="0">
                <a:latin typeface="Times New Roman" panose="02020603050405020304" charset="0"/>
                <a:cs typeface="Times New Roman" panose="02020603050405020304" charset="0"/>
              </a:rPr>
              <a:t> TM </a:t>
            </a:r>
            <a:r>
              <a:rPr lang="en-US" sz="1400" dirty="0" err="1">
                <a:latin typeface="Times New Roman" panose="02020603050405020304" charset="0"/>
                <a:cs typeface="Times New Roman" panose="02020603050405020304" charset="0"/>
              </a:rPr>
              <a:t>hoặc</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mô</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hình</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Logarit</a:t>
            </a:r>
            <a:r>
              <a:rPr lang="en-US" sz="1400" dirty="0">
                <a:latin typeface="Times New Roman" panose="02020603050405020304" charset="0"/>
                <a:cs typeface="Times New Roman" panose="02020603050405020304" charset="0"/>
              </a:rPr>
              <a:t>: </a:t>
            </a:r>
            <a:r>
              <a:rPr lang="vi-VN" sz="1400" dirty="0">
                <a:latin typeface="Times New Roman" panose="02020603050405020304" charset="0"/>
                <a:cs typeface="Times New Roman" panose="02020603050405020304" charset="0"/>
              </a:rPr>
              <a:t>Kích thước đầu vào là số lượng bit (</a:t>
            </a:r>
            <a:r>
              <a:rPr lang="vi-VN" sz="1400" dirty="0">
                <a:solidFill>
                  <a:srgbClr val="FF0000"/>
                </a:solidFill>
                <a:latin typeface="Times New Roman" panose="02020603050405020304" charset="0"/>
                <a:cs typeface="Times New Roman" panose="02020603050405020304" charset="0"/>
              </a:rPr>
              <a:t>nhị phân</a:t>
            </a:r>
            <a:r>
              <a:rPr lang="vi-VN" sz="1400" dirty="0">
                <a:latin typeface="Times New Roman" panose="02020603050405020304" charset="0"/>
                <a:cs typeface="Times New Roman" panose="02020603050405020304" charset="0"/>
              </a:rPr>
              <a:t>) được sử dụng để mã hóa các số nguyên trong một trường hợp </a:t>
            </a:r>
            <a:r>
              <a:rPr lang="en-US" sz="1400" dirty="0" err="1">
                <a:latin typeface="Times New Roman" panose="02020603050405020304" charset="0"/>
                <a:cs typeface="Times New Roman" panose="02020603050405020304" charset="0"/>
              </a:rPr>
              <a:t>của</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vấn</a:t>
            </a:r>
            <a:r>
              <a:rPr lang="en-US" sz="1400" dirty="0">
                <a:latin typeface="Times New Roman" panose="02020603050405020304" charset="0"/>
                <a:cs typeface="Times New Roman" panose="02020603050405020304" charset="0"/>
              </a:rPr>
              <a:t> </a:t>
            </a:r>
            <a:r>
              <a:rPr lang="en-US" sz="1400" dirty="0" err="1">
                <a:latin typeface="Times New Roman" panose="02020603050405020304" charset="0"/>
                <a:cs typeface="Times New Roman" panose="02020603050405020304" charset="0"/>
              </a:rPr>
              <a:t>đề</a:t>
            </a:r>
            <a:r>
              <a:rPr lang="vi-VN" sz="1400" dirty="0">
                <a:latin typeface="Times New Roman" panose="02020603050405020304" charset="0"/>
                <a:cs typeface="Times New Roman" panose="02020603050405020304" charset="0"/>
              </a:rPr>
              <a:t>.</a:t>
            </a:r>
            <a:endParaRPr lang="en-US" sz="1400" dirty="0">
              <a:latin typeface="Times New Roman" panose="02020603050405020304" charset="0"/>
              <a:cs typeface="Times New Roman" panose="02020603050405020304" charset="0"/>
            </a:endParaRPr>
          </a:p>
          <a:p>
            <a:pPr marL="0" indent="0">
              <a:lnSpc>
                <a:spcPct val="90000"/>
              </a:lnSpc>
              <a:buNone/>
            </a:pPr>
            <a:r>
              <a:rPr lang="en-US" sz="1400" b="1" dirty="0">
                <a:latin typeface="Times New Roman" panose="02020603050405020304" charset="0"/>
                <a:cs typeface="Times New Roman" panose="02020603050405020304" charset="0"/>
              </a:rPr>
              <a:t>Example:</a:t>
            </a:r>
            <a:r>
              <a:rPr lang="en-US" sz="1400" dirty="0">
                <a:latin typeface="Times New Roman" panose="02020603050405020304" charset="0"/>
                <a:cs typeface="Times New Roman" panose="02020603050405020304" charset="0"/>
              </a:rPr>
              <a:t> Consider the problem of computing the square of </a:t>
            </a:r>
            <a:r>
              <a:rPr lang="vi-VN" altLang="en-US" sz="1400" dirty="0">
                <a:latin typeface="Times New Roman" panose="02020603050405020304" charset="0"/>
                <a:cs typeface="Times New Roman" panose="02020603050405020304" charset="0"/>
              </a:rPr>
              <a:t> </a:t>
            </a:r>
            <a:r>
              <a:rPr lang="en-US" sz="1400" dirty="0">
                <a:latin typeface="Times New Roman" panose="02020603050405020304" charset="0"/>
                <a:cs typeface="Times New Roman" panose="02020603050405020304" charset="0"/>
              </a:rPr>
              <a:t>2</a:t>
            </a:r>
            <a:r>
              <a:rPr lang="vi-VN" altLang="en-US" sz="1400" dirty="0">
                <a:latin typeface="Times New Roman" panose="02020603050405020304" charset="0"/>
                <a:cs typeface="Times New Roman" panose="02020603050405020304" charset="0"/>
              </a:rPr>
              <a:t>^</a:t>
            </a:r>
            <a:r>
              <a:rPr lang="en-US" sz="1400" dirty="0">
                <a:latin typeface="Times New Roman" panose="02020603050405020304" charset="0"/>
                <a:cs typeface="Times New Roman" panose="02020603050405020304" charset="0"/>
              </a:rPr>
              <a:t>100. In the RAM model, the input size is 1, but in the TM model, the input size is log2 (2^ 100) = 100. </a:t>
            </a:r>
          </a:p>
          <a:p>
            <a:pPr>
              <a:lnSpc>
                <a:spcPct val="90000"/>
              </a:lnSpc>
            </a:pPr>
            <a:r>
              <a:rPr lang="en-US" sz="1400" dirty="0">
                <a:solidFill>
                  <a:srgbClr val="FF0000"/>
                </a:solidFill>
                <a:latin typeface="Times New Roman" panose="02020603050405020304" charset="0"/>
                <a:cs typeface="Times New Roman" panose="02020603050405020304" charset="0"/>
              </a:rPr>
              <a:t>We assume the TM model in this course!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85800" y="1371600"/>
            <a:ext cx="2742028" cy="4114800"/>
          </a:xfrm>
        </p:spPr>
        <p:txBody>
          <a:bodyPr anchor="ctr">
            <a:normAutofit/>
          </a:bodyPr>
          <a:lstStyle/>
          <a:p>
            <a:pPr algn="ctr"/>
            <a:r>
              <a:rPr lang="en-US" sz="1500">
                <a:solidFill>
                  <a:schemeClr val="bg2"/>
                </a:solidFill>
              </a:rPr>
              <a:t>Độ phức tạp của thuật toán(Complexity of algorithms)</a:t>
            </a:r>
          </a:p>
        </p:txBody>
      </p:sp>
      <p:sp>
        <p:nvSpPr>
          <p:cNvPr id="12" name="Rectangle 11"/>
          <p:cNvSpPr>
            <a:spLocks noGrp="1" noRot="1" noChangeAspect="1" noMove="1" noResize="1" noEditPoints="1" noAdjustHandles="1" noChangeArrowheads="1" noChangeShapeType="1" noTextEdit="1"/>
          </p:cNvSpPr>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116945" y="840509"/>
            <a:ext cx="6059055" cy="5190836"/>
          </a:xfrm>
        </p:spPr>
        <p:txBody>
          <a:bodyPr anchor="ctr">
            <a:normAutofit/>
          </a:bodyPr>
          <a:lstStyle/>
          <a:p>
            <a:pPr marL="0" indent="0">
              <a:buNone/>
            </a:pPr>
            <a:r>
              <a:rPr lang="en-US" sz="2000" dirty="0">
                <a:latin typeface="Times New Roman" panose="02020603050405020304" charset="0"/>
                <a:cs typeface="Times New Roman" panose="02020603050405020304" charset="0"/>
                <a:sym typeface="Wingdings 2" panose="05020102010507070707" pitchFamily="18" charset="2"/>
              </a:rPr>
              <a:t> </a:t>
            </a:r>
            <a:r>
              <a:rPr lang="en-US" sz="2000" dirty="0">
                <a:latin typeface="Times New Roman" panose="02020603050405020304" charset="0"/>
                <a:cs typeface="Times New Roman" panose="02020603050405020304" charset="0"/>
              </a:rPr>
              <a:t>Định </a:t>
            </a:r>
            <a:r>
              <a:rPr lang="en-US" sz="2000" dirty="0" err="1">
                <a:latin typeface="Times New Roman" panose="02020603050405020304" charset="0"/>
                <a:cs typeface="Times New Roman" panose="02020603050405020304" charset="0"/>
              </a:rPr>
              <a:t>nghĩa</a:t>
            </a:r>
            <a:r>
              <a:rPr lang="en-US" sz="2000" dirty="0">
                <a:latin typeface="Times New Roman" panose="02020603050405020304" charset="0"/>
                <a:cs typeface="Times New Roman" panose="02020603050405020304" charset="0"/>
              </a:rPr>
              <a:t>: </a:t>
            </a:r>
            <a:r>
              <a:rPr lang="vi-VN" sz="2000" dirty="0">
                <a:solidFill>
                  <a:srgbClr val="FF0000"/>
                </a:solidFill>
                <a:latin typeface="Times New Roman" panose="02020603050405020304" charset="0"/>
                <a:cs typeface="Times New Roman" panose="02020603050405020304" charset="0"/>
              </a:rPr>
              <a:t>Độ phức tạp của một thuật toán </a:t>
            </a:r>
            <a:r>
              <a:rPr lang="vi-VN" sz="2000" dirty="0">
                <a:latin typeface="Times New Roman" panose="02020603050405020304" charset="0"/>
                <a:cs typeface="Times New Roman" panose="02020603050405020304" charset="0"/>
              </a:rPr>
              <a:t>được định nghĩa là lượng thời gian và / hoặc không gian mà một thuật toán cần cho một kích thước đầu vào</a:t>
            </a:r>
            <a:r>
              <a:rPr lang="en-US" sz="2000" dirty="0">
                <a:latin typeface="Times New Roman" panose="02020603050405020304" charset="0"/>
                <a:cs typeface="Times New Roman" panose="02020603050405020304" charset="0"/>
              </a:rPr>
              <a:t> (input size)</a:t>
            </a:r>
            <a:r>
              <a:rPr lang="vi-VN" sz="2000" dirty="0">
                <a:latin typeface="Times New Roman" panose="02020603050405020304" charset="0"/>
                <a:cs typeface="Times New Roman" panose="02020603050405020304" charset="0"/>
              </a:rPr>
              <a:t>.</a:t>
            </a:r>
            <a:endParaRPr lang="en-US" sz="2000" dirty="0">
              <a:latin typeface="Times New Roman" panose="02020603050405020304" charset="0"/>
              <a:cs typeface="Times New Roman" panose="02020603050405020304" charset="0"/>
            </a:endParaRPr>
          </a:p>
          <a:p>
            <a:pPr marL="0" indent="0">
              <a:buNone/>
            </a:pPr>
            <a:r>
              <a:rPr lang="vi-VN" sz="2000" dirty="0">
                <a:latin typeface="Times New Roman" panose="02020603050405020304" charset="0"/>
                <a:cs typeface="Times New Roman" panose="02020603050405020304" charset="0"/>
              </a:rPr>
              <a:t>-</a:t>
            </a:r>
            <a:r>
              <a:rPr lang="en-US" sz="2000" dirty="0">
                <a:latin typeface="Times New Roman" panose="02020603050405020304" charset="0"/>
                <a:cs typeface="Times New Roman" panose="02020603050405020304" charset="0"/>
              </a:rPr>
              <a:t> </a:t>
            </a:r>
            <a:r>
              <a:rPr lang="vi-VN" sz="2000" dirty="0">
                <a:latin typeface="Times New Roman" panose="02020603050405020304" charset="0"/>
                <a:cs typeface="Times New Roman" panose="02020603050405020304" charset="0"/>
              </a:rPr>
              <a:t>Kích thước đầu vào</a:t>
            </a:r>
            <a:endParaRPr lang="en-US" sz="2000" dirty="0">
              <a:latin typeface="Times New Roman" panose="02020603050405020304" charset="0"/>
              <a:cs typeface="Times New Roman" panose="02020603050405020304" charset="0"/>
            </a:endParaRPr>
          </a:p>
          <a:p>
            <a:pPr>
              <a:buFontTx/>
              <a:buChar char="-"/>
            </a:pPr>
            <a:r>
              <a:rPr lang="en-US" sz="2000" dirty="0" err="1">
                <a:latin typeface="Times New Roman" panose="02020603050405020304" charset="0"/>
                <a:cs typeface="Times New Roman" panose="02020603050405020304" charset="0"/>
              </a:rPr>
              <a:t>Độ</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phức</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tạp</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của</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thời</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gian</a:t>
            </a:r>
            <a:endParaRPr lang="en-US" sz="2000" dirty="0">
              <a:latin typeface="Times New Roman" panose="02020603050405020304" charset="0"/>
              <a:cs typeface="Times New Roman" panose="02020603050405020304" charset="0"/>
            </a:endParaRPr>
          </a:p>
          <a:p>
            <a:pPr>
              <a:buFontTx/>
              <a:buChar char="-"/>
            </a:pPr>
            <a:r>
              <a:rPr lang="en-US" sz="2000" dirty="0" err="1">
                <a:latin typeface="Times New Roman" panose="02020603050405020304" charset="0"/>
                <a:cs typeface="Times New Roman" panose="02020603050405020304" charset="0"/>
              </a:rPr>
              <a:t>Độ</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phức</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tạp</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của</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không</a:t>
            </a:r>
            <a:r>
              <a:rPr lang="en-US" sz="2000" dirty="0">
                <a:latin typeface="Times New Roman" panose="02020603050405020304" charset="0"/>
                <a:cs typeface="Times New Roman" panose="02020603050405020304" charset="0"/>
              </a:rPr>
              <a:t> </a:t>
            </a:r>
            <a:r>
              <a:rPr lang="en-US" sz="2000" dirty="0" err="1">
                <a:latin typeface="Times New Roman" panose="02020603050405020304" charset="0"/>
                <a:cs typeface="Times New Roman" panose="02020603050405020304" charset="0"/>
              </a:rPr>
              <a:t>gian</a:t>
            </a:r>
            <a:endParaRPr lang="en-US" sz="2000" dirty="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Input size</a:t>
            </a:r>
          </a:p>
        </p:txBody>
      </p:sp>
      <p:pic>
        <p:nvPicPr>
          <p:cNvPr id="7" name="Content Placeholder 6"/>
          <p:cNvPicPr>
            <a:picLocks noGrp="1" noChangeAspect="1"/>
          </p:cNvPicPr>
          <p:nvPr>
            <p:ph idx="1"/>
          </p:nvPr>
        </p:nvPicPr>
        <p:blipFill>
          <a:blip r:embed="rId2"/>
          <a:stretch>
            <a:fillRect/>
          </a:stretch>
        </p:blipFill>
        <p:spPr>
          <a:xfrm>
            <a:off x="1261964" y="2181225"/>
            <a:ext cx="9858555" cy="377623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p:cNvSpPr>
            <a:spLocks noGrp="1" noRot="1" noChangeAspect="1" noMove="1" noResize="1" noEditPoints="1" noAdjustHandles="1" noChangeArrowheads="1" noChangeShapeType="1" noTextEdit="1"/>
          </p:cNvSpPr>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1010097"/>
            <a:ext cx="9486901" cy="1010088"/>
          </a:xfrm>
        </p:spPr>
        <p:txBody>
          <a:bodyPr anchor="b">
            <a:normAutofit/>
          </a:bodyPr>
          <a:lstStyle/>
          <a:p>
            <a:pPr algn="ctr"/>
            <a:r>
              <a:rPr lang="en-US" dirty="0" err="1">
                <a:latin typeface="Times New Roman" panose="02020603050405020304" charset="0"/>
                <a:cs typeface="Times New Roman" panose="02020603050405020304" charset="0"/>
              </a:rPr>
              <a:t>Độ</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phức</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tạp</a:t>
            </a:r>
            <a:r>
              <a:rPr lang="en-US" dirty="0">
                <a:latin typeface="Times New Roman" panose="02020603050405020304" charset="0"/>
                <a:cs typeface="Times New Roman" panose="02020603050405020304" charset="0"/>
              </a:rPr>
              <a:t> </a:t>
            </a:r>
            <a:r>
              <a:rPr lang="en-US" dirty="0" err="1">
                <a:solidFill>
                  <a:srgbClr val="FF0000"/>
                </a:solidFill>
                <a:latin typeface="Times New Roman" panose="02020603050405020304" charset="0"/>
                <a:cs typeface="Times New Roman" panose="02020603050405020304" charset="0"/>
              </a:rPr>
              <a:t>thời</a:t>
            </a:r>
            <a:r>
              <a:rPr lang="en-US" dirty="0">
                <a:solidFill>
                  <a:srgbClr val="FF0000"/>
                </a:solidFill>
                <a:latin typeface="Times New Roman" panose="02020603050405020304" charset="0"/>
                <a:cs typeface="Times New Roman" panose="02020603050405020304" charset="0"/>
              </a:rPr>
              <a:t> </a:t>
            </a:r>
            <a:r>
              <a:rPr lang="en-US" dirty="0" err="1">
                <a:solidFill>
                  <a:srgbClr val="FF0000"/>
                </a:solidFill>
                <a:latin typeface="Times New Roman" panose="02020603050405020304" charset="0"/>
                <a:cs typeface="Times New Roman" panose="02020603050405020304" charset="0"/>
              </a:rPr>
              <a:t>gian</a:t>
            </a:r>
            <a:r>
              <a:rPr lang="en-US" dirty="0">
                <a:solidFill>
                  <a:srgbClr val="FF0000"/>
                </a:solidFill>
                <a:latin typeface="Times New Roman" panose="02020603050405020304" charset="0"/>
                <a:cs typeface="Times New Roman" panose="02020603050405020304" charset="0"/>
              </a:rPr>
              <a:t> </a:t>
            </a:r>
            <a:r>
              <a:rPr lang="en-US" dirty="0">
                <a:latin typeface="Times New Roman" panose="02020603050405020304" charset="0"/>
                <a:cs typeface="Times New Roman" panose="02020603050405020304" charset="0"/>
              </a:rPr>
              <a:t>(Time Complexity)</a:t>
            </a:r>
          </a:p>
        </p:txBody>
      </p:sp>
      <p:sp>
        <p:nvSpPr>
          <p:cNvPr id="3" name="Content Placeholder 2"/>
          <p:cNvSpPr>
            <a:spLocks noGrp="1"/>
          </p:cNvSpPr>
          <p:nvPr>
            <p:ph idx="1"/>
          </p:nvPr>
        </p:nvSpPr>
        <p:spPr>
          <a:xfrm>
            <a:off x="1371600" y="2206257"/>
            <a:ext cx="9486901" cy="3540642"/>
          </a:xfrm>
        </p:spPr>
        <p:txBody>
          <a:bodyPr>
            <a:normAutofit/>
          </a:bodyPr>
          <a:lstStyle/>
          <a:p>
            <a:pPr>
              <a:lnSpc>
                <a:spcPct val="90000"/>
              </a:lnSpc>
            </a:pPr>
            <a:r>
              <a:rPr lang="en-US" sz="2000" dirty="0">
                <a:latin typeface="Times New Roman" panose="02020603050405020304" charset="0"/>
                <a:cs typeface="Times New Roman" panose="02020603050405020304" charset="0"/>
              </a:rPr>
              <a:t>Định </a:t>
            </a:r>
            <a:r>
              <a:rPr lang="en-US" sz="2000" dirty="0" err="1">
                <a:latin typeface="Times New Roman" panose="02020603050405020304" charset="0"/>
                <a:cs typeface="Times New Roman" panose="02020603050405020304" charset="0"/>
              </a:rPr>
              <a:t>nghĩa</a:t>
            </a:r>
            <a:r>
              <a:rPr lang="en-US" sz="2000" dirty="0">
                <a:latin typeface="Times New Roman" panose="02020603050405020304" charset="0"/>
                <a:cs typeface="Times New Roman" panose="02020603050405020304" charset="0"/>
              </a:rPr>
              <a:t>: </a:t>
            </a:r>
          </a:p>
          <a:p>
            <a:pPr marL="457200" indent="-457200">
              <a:lnSpc>
                <a:spcPct val="90000"/>
              </a:lnSpc>
              <a:buAutoNum type="arabicPeriod"/>
            </a:pPr>
            <a:r>
              <a:rPr lang="vi-VN" sz="2000" dirty="0">
                <a:latin typeface="Times New Roman" panose="02020603050405020304" charset="0"/>
                <a:cs typeface="Times New Roman" panose="02020603050405020304" charset="0"/>
              </a:rPr>
              <a:t>Độ phức tạp về thời gian là lượng thời gian cần thiết để chạy một thuật toán. Nó thường được đo bằng số lượng các phép toán cơ bản được thực hiện bởi thuật toán.</a:t>
            </a:r>
            <a:endParaRPr lang="en-US" sz="2000" dirty="0">
              <a:latin typeface="Times New Roman" panose="02020603050405020304" charset="0"/>
              <a:cs typeface="Times New Roman" panose="02020603050405020304" charset="0"/>
            </a:endParaRPr>
          </a:p>
          <a:p>
            <a:pPr marL="457200" indent="-457200">
              <a:lnSpc>
                <a:spcPct val="90000"/>
              </a:lnSpc>
              <a:buAutoNum type="arabicPeriod"/>
            </a:pPr>
            <a:r>
              <a:rPr lang="vi-VN" sz="2000" dirty="0">
                <a:latin typeface="Times New Roman" panose="02020603050405020304" charset="0"/>
                <a:cs typeface="Times New Roman" panose="02020603050405020304" charset="0"/>
              </a:rPr>
              <a:t> Đây là một hàm của kích thước đầu vào </a:t>
            </a:r>
            <a:r>
              <a:rPr lang="vi-VN" sz="2000" i="1" dirty="0">
                <a:latin typeface="Times New Roman" panose="02020603050405020304" charset="0"/>
                <a:cs typeface="Times New Roman" panose="02020603050405020304" charset="0"/>
              </a:rPr>
              <a:t>T = T (n)</a:t>
            </a:r>
            <a:endParaRPr lang="en-US" sz="2000" i="1" dirty="0">
              <a:latin typeface="Times New Roman" panose="02020603050405020304" charset="0"/>
              <a:cs typeface="Times New Roman" panose="02020603050405020304" charset="0"/>
            </a:endParaRPr>
          </a:p>
          <a:p>
            <a:pPr>
              <a:lnSpc>
                <a:spcPct val="90000"/>
              </a:lnSpc>
            </a:pPr>
            <a:r>
              <a:rPr lang="vi-VN" sz="2000" dirty="0">
                <a:latin typeface="Times New Roman" panose="02020603050405020304" charset="0"/>
                <a:cs typeface="Times New Roman" panose="02020603050405020304" charset="0"/>
              </a:rPr>
              <a:t>Trường hợp xấu nhất: lượng thời gian tối đa được thực hiện trên bất kỳ đầu vào nào có kích thước </a:t>
            </a:r>
            <a:r>
              <a:rPr lang="vi-VN" sz="2000" i="1" dirty="0">
                <a:latin typeface="Times New Roman" panose="02020603050405020304" charset="0"/>
                <a:cs typeface="Times New Roman" panose="02020603050405020304" charset="0"/>
              </a:rPr>
              <a:t>n</a:t>
            </a:r>
            <a:r>
              <a:rPr lang="vi-VN" sz="2000" dirty="0">
                <a:latin typeface="Times New Roman" panose="02020603050405020304" charset="0"/>
                <a:cs typeface="Times New Roman" panose="02020603050405020304" charset="0"/>
              </a:rPr>
              <a:t>.</a:t>
            </a:r>
            <a:endParaRPr lang="en-US" sz="2000" dirty="0">
              <a:latin typeface="Times New Roman" panose="02020603050405020304" charset="0"/>
              <a:cs typeface="Times New Roman" panose="02020603050405020304" charset="0"/>
            </a:endParaRPr>
          </a:p>
          <a:p>
            <a:pPr>
              <a:lnSpc>
                <a:spcPct val="90000"/>
              </a:lnSpc>
            </a:pPr>
            <a:r>
              <a:rPr lang="vi-VN" sz="2000" dirty="0">
                <a:latin typeface="Times New Roman" panose="02020603050405020304" charset="0"/>
                <a:cs typeface="Times New Roman" panose="02020603050405020304" charset="0"/>
              </a:rPr>
              <a:t>Trường hợp tốt nhất: lượng thời gian tối thiểu được thực hiện trên bất kỳ trường hợp nào có kích thước </a:t>
            </a:r>
            <a:r>
              <a:rPr lang="vi-VN" sz="2000" i="1" dirty="0">
                <a:latin typeface="Times New Roman" panose="02020603050405020304" charset="0"/>
                <a:cs typeface="Times New Roman" panose="02020603050405020304" charset="0"/>
              </a:rPr>
              <a:t>n</a:t>
            </a:r>
            <a:r>
              <a:rPr lang="vi-VN" sz="2000" dirty="0">
                <a:latin typeface="Times New Roman" panose="02020603050405020304" charset="0"/>
                <a:cs typeface="Times New Roman" panose="02020603050405020304" charset="0"/>
              </a:rPr>
              <a:t>. </a:t>
            </a:r>
            <a:endParaRPr lang="en-US" sz="2000" dirty="0">
              <a:latin typeface="Times New Roman" panose="02020603050405020304" charset="0"/>
              <a:cs typeface="Times New Roman" panose="02020603050405020304" charset="0"/>
            </a:endParaRPr>
          </a:p>
          <a:p>
            <a:pPr>
              <a:lnSpc>
                <a:spcPct val="90000"/>
              </a:lnSpc>
            </a:pPr>
            <a:r>
              <a:rPr lang="vi-VN" sz="2000" dirty="0">
                <a:latin typeface="Times New Roman" panose="02020603050405020304" charset="0"/>
                <a:cs typeface="Times New Roman" panose="02020603050405020304" charset="0"/>
              </a:rPr>
              <a:t>Trường hợp trung bình: trung bình của thời gian thực hiện trên tất cả các đầu vào có kích thước </a:t>
            </a:r>
            <a:r>
              <a:rPr lang="vi-VN" sz="2000" i="1" dirty="0">
                <a:latin typeface="Times New Roman" panose="02020603050405020304" charset="0"/>
                <a:cs typeface="Times New Roman" panose="02020603050405020304" charset="0"/>
              </a:rPr>
              <a:t>n</a:t>
            </a:r>
            <a:r>
              <a:rPr lang="vi-VN" sz="2000" dirty="0">
                <a:latin typeface="Times New Roman" panose="02020603050405020304" charset="0"/>
                <a:cs typeface="Times New Roman" panose="02020603050405020304" charset="0"/>
              </a:rPr>
              <a:t> cho trước.</a:t>
            </a:r>
            <a:endParaRPr lang="en-US" sz="2000"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a:off x="7467600" y="0"/>
            <a:ext cx="4724400" cy="68580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128028" y="239150"/>
            <a:ext cx="3390899" cy="1303606"/>
          </a:xfrm>
        </p:spPr>
        <p:txBody>
          <a:bodyPr>
            <a:normAutofit/>
          </a:bodyPr>
          <a:lstStyle/>
          <a:p>
            <a:pPr algn="ctr"/>
            <a:r>
              <a:rPr lang="en-US" dirty="0" err="1">
                <a:latin typeface="Times New Roman" panose="02020603050405020304" charset="0"/>
                <a:cs typeface="Times New Roman" panose="02020603050405020304" charset="0"/>
              </a:rPr>
              <a:t>Độ</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phức</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tạp</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thời</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gian</a:t>
            </a:r>
            <a:endParaRPr lang="en-US" dirty="0">
              <a:latin typeface="Times New Roman" panose="02020603050405020304" charset="0"/>
              <a:cs typeface="Times New Roman" panose="02020603050405020304" charset="0"/>
            </a:endParaRPr>
          </a:p>
        </p:txBody>
      </p:sp>
      <p:pic>
        <p:nvPicPr>
          <p:cNvPr id="5" name="Picture 4"/>
          <p:cNvPicPr>
            <a:picLocks noChangeAspect="1"/>
          </p:cNvPicPr>
          <p:nvPr/>
        </p:nvPicPr>
        <p:blipFill>
          <a:blip r:embed="rId2"/>
          <a:stretch>
            <a:fillRect/>
          </a:stretch>
        </p:blipFill>
        <p:spPr>
          <a:xfrm>
            <a:off x="445725" y="1814732"/>
            <a:ext cx="7513804" cy="2517123"/>
          </a:xfrm>
          <a:prstGeom prst="rect">
            <a:avLst/>
          </a:prstGeom>
        </p:spPr>
      </p:pic>
      <p:sp>
        <p:nvSpPr>
          <p:cNvPr id="3" name="Content Placeholder 2"/>
          <p:cNvSpPr>
            <a:spLocks noGrp="1"/>
          </p:cNvSpPr>
          <p:nvPr>
            <p:ph idx="1"/>
          </p:nvPr>
        </p:nvSpPr>
        <p:spPr>
          <a:xfrm>
            <a:off x="8115301" y="1814732"/>
            <a:ext cx="3390899" cy="4501662"/>
          </a:xfrm>
        </p:spPr>
        <p:txBody>
          <a:bodyPr>
            <a:normAutofit/>
          </a:bodyPr>
          <a:lstStyle/>
          <a:p>
            <a:r>
              <a:rPr lang="vi-VN" dirty="0">
                <a:latin typeface="Times New Roman" panose="02020603050405020304" charset="0"/>
                <a:cs typeface="Times New Roman" panose="02020603050405020304" charset="0"/>
              </a:rPr>
              <a:t>Ký hiệu Big-O - Tốc độ tăng trưởng của </a:t>
            </a:r>
            <a:r>
              <a:rPr lang="vi-VN" i="1" dirty="0">
                <a:latin typeface="Times New Roman" panose="02020603050405020304" charset="0"/>
                <a:cs typeface="Times New Roman" panose="02020603050405020304" charset="0"/>
              </a:rPr>
              <a:t>T (n)</a:t>
            </a:r>
            <a:endParaRPr lang="en-US" i="1" dirty="0">
              <a:latin typeface="Times New Roman" panose="02020603050405020304" charset="0"/>
              <a:cs typeface="Times New Roman" panose="02020603050405020304" charset="0"/>
            </a:endParaRPr>
          </a:p>
          <a:p>
            <a:pPr marL="0" indent="0">
              <a:buNone/>
            </a:pPr>
            <a:r>
              <a:rPr lang="en-US" dirty="0">
                <a:latin typeface="Times New Roman" panose="02020603050405020304" charset="0"/>
                <a:cs typeface="Times New Roman" panose="02020603050405020304" charset="0"/>
              </a:rPr>
              <a:t>   </a:t>
            </a:r>
            <a:r>
              <a:rPr lang="vi-VN" dirty="0">
                <a:latin typeface="Times New Roman" panose="02020603050405020304" charset="0"/>
                <a:cs typeface="Times New Roman" panose="02020603050405020304" charset="0"/>
              </a:rPr>
              <a:t>Kí hiệu Big O là một kí hiệu toán học mô tả hành vi giới hạn của </a:t>
            </a:r>
            <a:r>
              <a:rPr lang="vi-VN" i="1" dirty="0">
                <a:latin typeface="Times New Roman" panose="02020603050405020304" charset="0"/>
                <a:cs typeface="Times New Roman" panose="02020603050405020304" charset="0"/>
              </a:rPr>
              <a:t>T (n) </a:t>
            </a:r>
            <a:r>
              <a:rPr lang="vi-VN" dirty="0">
                <a:latin typeface="Times New Roman" panose="02020603050405020304" charset="0"/>
                <a:cs typeface="Times New Roman" panose="02020603050405020304" charset="0"/>
              </a:rPr>
              <a:t>khi n có xu hướng về phía vô cùng.</a:t>
            </a:r>
            <a:endParaRPr lang="en-US" dirty="0">
              <a:latin typeface="Times New Roman" panose="02020603050405020304" charset="0"/>
              <a:cs typeface="Times New Roman" panose="02020603050405020304" charset="0"/>
            </a:endParaRPr>
          </a:p>
          <a:p>
            <a:pPr marL="0" indent="0">
              <a:buNone/>
            </a:pPr>
            <a:endParaRPr lang="en-US" i="1" dirty="0">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a:off x="0" y="0"/>
            <a:ext cx="47625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62818" y="685801"/>
            <a:ext cx="3057379" cy="3046228"/>
          </a:xfrm>
        </p:spPr>
        <p:txBody>
          <a:bodyPr vert="horz" lIns="91440" tIns="45720" rIns="91440" bIns="45720" rtlCol="0" anchor="b">
            <a:normAutofit/>
          </a:bodyPr>
          <a:lstStyle/>
          <a:p>
            <a:pPr algn="ctr"/>
            <a:r>
              <a:rPr lang="en-US" sz="3600" kern="1200" cap="all" spc="300" baseline="0">
                <a:solidFill>
                  <a:schemeClr val="bg2"/>
                </a:solidFill>
                <a:latin typeface="+mj-lt"/>
                <a:ea typeface="+mj-ea"/>
                <a:cs typeface="+mj-cs"/>
              </a:rPr>
              <a:t>Độ phức tạp thời gian</a:t>
            </a:r>
          </a:p>
        </p:txBody>
      </p:sp>
      <p:pic>
        <p:nvPicPr>
          <p:cNvPr id="5" name="Content Placeholder 4"/>
          <p:cNvPicPr>
            <a:picLocks noGrp="1" noChangeAspect="1"/>
          </p:cNvPicPr>
          <p:nvPr>
            <p:ph idx="1"/>
          </p:nvPr>
        </p:nvPicPr>
        <p:blipFill>
          <a:blip r:embed="rId2"/>
          <a:stretch>
            <a:fillRect/>
          </a:stretch>
        </p:blipFill>
        <p:spPr>
          <a:xfrm>
            <a:off x="5410200" y="2003962"/>
            <a:ext cx="6096000" cy="28500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a:spLocks noGrp="1" noRot="1" noChangeAspect="1" noMove="1" noResize="1" noEditPoints="1" noAdjustHandles="1" noChangeArrowheads="1" noChangeShapeType="1" noTextEdit="1"/>
          </p:cNvSpPr>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p:cNvSpPr>
            <a:spLocks noGrp="1" noRot="1" noChangeAspect="1" noMove="1" noResize="1" noEditPoints="1" noAdjustHandles="1" noChangeArrowheads="1" noChangeShapeType="1" noTextEdit="1"/>
          </p:cNvSpPr>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371599" y="1010097"/>
            <a:ext cx="9486901" cy="1010088"/>
          </a:xfrm>
        </p:spPr>
        <p:txBody>
          <a:bodyPr anchor="b">
            <a:normAutofit/>
          </a:bodyPr>
          <a:lstStyle/>
          <a:p>
            <a:pPr algn="ctr"/>
            <a:r>
              <a:rPr lang="en-US" dirty="0" err="1">
                <a:latin typeface="Times New Roman" panose="02020603050405020304" charset="0"/>
                <a:cs typeface="Times New Roman" panose="02020603050405020304" charset="0"/>
              </a:rPr>
              <a:t>Sự</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phức</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tạp</a:t>
            </a:r>
            <a:r>
              <a:rPr lang="en-US" dirty="0">
                <a:latin typeface="Times New Roman" panose="02020603050405020304" charset="0"/>
                <a:cs typeface="Times New Roman" panose="02020603050405020304" charset="0"/>
              </a:rPr>
              <a:t> của </a:t>
            </a:r>
            <a:r>
              <a:rPr lang="en-US" dirty="0" err="1">
                <a:latin typeface="Times New Roman" panose="02020603050405020304" charset="0"/>
                <a:cs typeface="Times New Roman" panose="02020603050405020304" charset="0"/>
              </a:rPr>
              <a:t>Một</a:t>
            </a:r>
            <a:r>
              <a:rPr lang="en-US">
                <a:latin typeface="Times New Roman" panose="02020603050405020304" charset="0"/>
                <a:cs typeface="Times New Roman" panose="02020603050405020304" charset="0"/>
              </a:rPr>
              <a:t> Bài</a:t>
            </a:r>
            <a:r>
              <a:rPr lang="en-US" dirty="0">
                <a:latin typeface="Times New Roman" panose="02020603050405020304" charset="0"/>
                <a:cs typeface="Times New Roman" panose="02020603050405020304" charset="0"/>
              </a:rPr>
              <a:t> </a:t>
            </a:r>
            <a:r>
              <a:rPr lang="en-US" dirty="0" err="1">
                <a:latin typeface="Times New Roman" panose="02020603050405020304" charset="0"/>
                <a:cs typeface="Times New Roman" panose="02020603050405020304" charset="0"/>
              </a:rPr>
              <a:t>ToÁN</a:t>
            </a:r>
            <a:br>
              <a:rPr lang="en-US" dirty="0">
                <a:latin typeface="Times New Roman" panose="02020603050405020304" charset="0"/>
                <a:cs typeface="Times New Roman" panose="02020603050405020304" charset="0"/>
              </a:rPr>
            </a:br>
            <a:r>
              <a:rPr lang="en-US" dirty="0">
                <a:latin typeface="Times New Roman" panose="02020603050405020304" charset="0"/>
                <a:cs typeface="Times New Roman" panose="02020603050405020304" charset="0"/>
              </a:rPr>
              <a:t>(Complexity)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371600" y="2206257"/>
                <a:ext cx="9486901" cy="3540642"/>
              </a:xfrm>
            </p:spPr>
            <p:txBody>
              <a:bodyPr>
                <a:normAutofit fontScale="92500" lnSpcReduction="10000"/>
              </a:bodyPr>
              <a:lstStyle/>
              <a:p>
                <a:r>
                  <a:rPr lang="en-US" dirty="0">
                    <a:latin typeface="Times New Roman" panose="02020603050405020304" charset="0"/>
                    <a:cs typeface="Times New Roman" panose="02020603050405020304" charset="0"/>
                  </a:rPr>
                  <a:t>Định </a:t>
                </a:r>
                <a:r>
                  <a:rPr lang="vi-VN" dirty="0">
                    <a:latin typeface="Times New Roman" panose="02020603050405020304" charset="0"/>
                    <a:cs typeface="Times New Roman" panose="02020603050405020304" charset="0"/>
                  </a:rPr>
                  <a:t>nghĩa</a:t>
                </a:r>
                <a:endParaRPr lang="en-US" dirty="0">
                  <a:latin typeface="Times New Roman" panose="02020603050405020304" charset="0"/>
                  <a:cs typeface="Times New Roman" panose="02020603050405020304" charset="0"/>
                </a:endParaRPr>
              </a:p>
              <a:p>
                <a:pPr marL="0" indent="0">
                  <a:buNone/>
                </a:pPr>
                <a:r>
                  <a:rPr lang="vi-VN" dirty="0">
                    <a:latin typeface="Times New Roman" panose="02020603050405020304" charset="0"/>
                    <a:cs typeface="Times New Roman" panose="02020603050405020304" charset="0"/>
                  </a:rPr>
                  <a:t>Với một bài toán </a:t>
                </a:r>
                <a:r>
                  <a:rPr lang="vi-VN" i="1" dirty="0">
                    <a:latin typeface="Times New Roman" panose="02020603050405020304" charset="0"/>
                    <a:cs typeface="Times New Roman" panose="02020603050405020304" charset="0"/>
                  </a:rPr>
                  <a:t>P</a:t>
                </a:r>
                <a:r>
                  <a:rPr lang="vi-VN" dirty="0">
                    <a:latin typeface="Times New Roman" panose="02020603050405020304" charset="0"/>
                    <a:cs typeface="Times New Roman" panose="02020603050405020304" charset="0"/>
                  </a:rPr>
                  <a:t>, chúng ta nói rằng giới hạn trên của độ phức tạp thời gian của </a:t>
                </a:r>
                <a:r>
                  <a:rPr lang="vi-VN" i="1" dirty="0">
                    <a:latin typeface="Times New Roman" panose="02020603050405020304" charset="0"/>
                    <a:cs typeface="Times New Roman" panose="02020603050405020304" charset="0"/>
                  </a:rPr>
                  <a:t>P</a:t>
                </a:r>
                <a:r>
                  <a:rPr lang="vi-VN" dirty="0">
                    <a:latin typeface="Times New Roman" panose="02020603050405020304" charset="0"/>
                    <a:cs typeface="Times New Roman" panose="02020603050405020304" charset="0"/>
                  </a:rPr>
                  <a:t> là </a:t>
                </a:r>
                <a:r>
                  <a:rPr lang="vi-VN" i="1" dirty="0">
                    <a:latin typeface="Times New Roman" panose="02020603050405020304" charset="0"/>
                    <a:cs typeface="Times New Roman" panose="02020603050405020304" charset="0"/>
                  </a:rPr>
                  <a:t>O (T (n)) </a:t>
                </a:r>
                <a:r>
                  <a:rPr lang="vi-VN" dirty="0">
                    <a:latin typeface="Times New Roman" panose="02020603050405020304" charset="0"/>
                    <a:cs typeface="Times New Roman" panose="02020603050405020304" charset="0"/>
                  </a:rPr>
                  <a:t>nếu tồn tại một thuật toán cho </a:t>
                </a:r>
                <a:r>
                  <a:rPr lang="vi-VN" i="1" dirty="0">
                    <a:latin typeface="Times New Roman" panose="02020603050405020304" charset="0"/>
                    <a:cs typeface="Times New Roman" panose="02020603050405020304" charset="0"/>
                  </a:rPr>
                  <a:t>P</a:t>
                </a:r>
                <a:r>
                  <a:rPr lang="vi-VN" dirty="0">
                    <a:latin typeface="Times New Roman" panose="02020603050405020304" charset="0"/>
                    <a:cs typeface="Times New Roman" panose="02020603050405020304" charset="0"/>
                  </a:rPr>
                  <a:t> có thời gian chạy (trường hợp xấu nhất) là </a:t>
                </a:r>
                <a:r>
                  <a:rPr lang="vi-VN" i="1" dirty="0">
                    <a:latin typeface="Times New Roman" panose="02020603050405020304" charset="0"/>
                    <a:cs typeface="Times New Roman" panose="02020603050405020304" charset="0"/>
                  </a:rPr>
                  <a:t>O (T (n)).</a:t>
                </a:r>
                <a:endParaRPr lang="en-US" i="1" dirty="0">
                  <a:latin typeface="Times New Roman" panose="02020603050405020304" charset="0"/>
                  <a:cs typeface="Times New Roman" panose="02020603050405020304" charset="0"/>
                </a:endParaRPr>
              </a:p>
              <a:p>
                <a:r>
                  <a:rPr lang="vi-VN" dirty="0">
                    <a:latin typeface="Times New Roman" panose="02020603050405020304" charset="0"/>
                    <a:cs typeface="Times New Roman" panose="02020603050405020304" charset="0"/>
                  </a:rPr>
                  <a:t>Ví dụ</a:t>
                </a:r>
                <a:r>
                  <a:rPr lang="en-US" dirty="0">
                    <a:latin typeface="Times New Roman" panose="02020603050405020304" charset="0"/>
                    <a:cs typeface="Times New Roman" panose="02020603050405020304" charset="0"/>
                  </a:rPr>
                  <a:t>: </a:t>
                </a:r>
                <a:r>
                  <a:rPr lang="vi-VN" dirty="0">
                    <a:latin typeface="Times New Roman" panose="02020603050405020304" charset="0"/>
                    <a:cs typeface="Times New Roman" panose="02020603050405020304" charset="0"/>
                  </a:rPr>
                  <a:t>Giới hạn trên của độ phức tạp thời gian của bài toán sắp xếp là O</a:t>
                </a:r>
                <a:r>
                  <a:rPr lang="en-US" dirty="0">
                    <a:latin typeface="Times New Roman" panose="02020603050405020304" charset="0"/>
                    <a:cs typeface="Times New Roman" panose="02020603050405020304" charset="0"/>
                  </a:rPr>
                  <a:t>(</a:t>
                </a:r>
                <a14:m>
                  <m:oMath xmlns:m="http://schemas.openxmlformats.org/officeDocument/2006/math">
                    <m:sSup>
                      <m:sSupPr>
                        <m:ctrlPr>
                          <a:rPr lang="en-US" b="0" i="1" smtClean="0">
                            <a:latin typeface="Cambria Math" panose="02040503050406030204" pitchFamily="18" charset="0"/>
                            <a:cs typeface="Cambria Math" panose="02040503050406030204" pitchFamily="18" charset="0"/>
                          </a:rPr>
                        </m:ctrlPr>
                      </m:sSupPr>
                      <m:e>
                        <m:r>
                          <a:rPr lang="en-US" b="0" i="1" smtClean="0">
                            <a:latin typeface="Cambria Math" panose="02040503050406030204" pitchFamily="18" charset="0"/>
                            <a:cs typeface="Cambria Math" panose="02040503050406030204" pitchFamily="18" charset="0"/>
                          </a:rPr>
                          <m:t>𝑛</m:t>
                        </m:r>
                      </m:e>
                      <m:sup>
                        <m:r>
                          <a:rPr lang="en-US" b="0" i="1" smtClean="0">
                            <a:latin typeface="Cambria Math" panose="02040503050406030204" pitchFamily="18" charset="0"/>
                            <a:ea typeface="MS Mincho" charset="0"/>
                            <a:cs typeface="Cambria Math" panose="02040503050406030204" pitchFamily="18" charset="0"/>
                          </a:rPr>
                          <m:t>2</m:t>
                        </m:r>
                      </m:sup>
                    </m:sSup>
                  </m:oMath>
                </a14:m>
                <a:r>
                  <a:rPr lang="en-US" dirty="0">
                    <a:latin typeface="Times New Roman" panose="02020603050405020304" charset="0"/>
                    <a:cs typeface="Times New Roman" panose="02020603050405020304" charset="0"/>
                  </a:rPr>
                  <a:t>)</a:t>
                </a:r>
                <a:r>
                  <a:rPr lang="vi-VN" dirty="0">
                    <a:latin typeface="Times New Roman" panose="02020603050405020304" charset="0"/>
                    <a:cs typeface="Times New Roman" panose="02020603050405020304" charset="0"/>
                  </a:rPr>
                  <a:t>.</a:t>
                </a:r>
                <a:endParaRPr lang="en-US" dirty="0">
                  <a:latin typeface="Times New Roman" panose="02020603050405020304" charset="0"/>
                  <a:cs typeface="Times New Roman" panose="02020603050405020304" charset="0"/>
                </a:endParaRPr>
              </a:p>
              <a:p>
                <a:r>
                  <a:rPr lang="vi-VN" dirty="0">
                    <a:solidFill>
                      <a:srgbClr val="FF0000"/>
                    </a:solidFill>
                    <a:latin typeface="Times New Roman" panose="02020603050405020304" charset="0"/>
                    <a:cs typeface="Times New Roman" panose="02020603050405020304" charset="0"/>
                  </a:rPr>
                  <a:t>Cho một danh sách các phần tử có thứ tự, hãy kiểm tra xem một số cho trước </a:t>
                </a:r>
                <a:r>
                  <a:rPr lang="vi-VN" i="1" dirty="0">
                    <a:solidFill>
                      <a:srgbClr val="FF0000"/>
                    </a:solidFill>
                    <a:latin typeface="Times New Roman" panose="02020603050405020304" charset="0"/>
                    <a:cs typeface="Times New Roman" panose="02020603050405020304" charset="0"/>
                  </a:rPr>
                  <a:t>a</a:t>
                </a:r>
                <a:r>
                  <a:rPr lang="vi-VN" dirty="0">
                    <a:solidFill>
                      <a:srgbClr val="FF0000"/>
                    </a:solidFill>
                    <a:latin typeface="Times New Roman" panose="02020603050405020304" charset="0"/>
                    <a:cs typeface="Times New Roman" panose="02020603050405020304" charset="0"/>
                  </a:rPr>
                  <a:t> có phải là một phần tử của danh sách hay không?</a:t>
                </a:r>
                <a:endParaRPr lang="en-US" dirty="0">
                  <a:solidFill>
                    <a:srgbClr val="FF0000"/>
                  </a:solidFill>
                  <a:latin typeface="Times New Roman" panose="02020603050405020304" charset="0"/>
                  <a:cs typeface="Times New Roman" panose="02020603050405020304" charset="0"/>
                </a:endParaRPr>
              </a:p>
              <a:p>
                <a:r>
                  <a:rPr lang="vi-VN" dirty="0">
                    <a:solidFill>
                      <a:srgbClr val="FF0000"/>
                    </a:solidFill>
                    <a:latin typeface="Times New Roman" panose="02020603050405020304" charset="0"/>
                    <a:cs typeface="Times New Roman" panose="02020603050405020304" charset="0"/>
                  </a:rPr>
                  <a:t>Giới hạn trên của độ phức tạp thời gian của </a:t>
                </a:r>
                <a:r>
                  <a:rPr lang="en-US" dirty="0" err="1">
                    <a:solidFill>
                      <a:srgbClr val="FF0000"/>
                    </a:solidFill>
                    <a:latin typeface="Times New Roman" panose="02020603050405020304" charset="0"/>
                    <a:cs typeface="Times New Roman" panose="02020603050405020304" charset="0"/>
                  </a:rPr>
                  <a:t>bài</a:t>
                </a:r>
                <a:r>
                  <a:rPr lang="en-US" dirty="0">
                    <a:solidFill>
                      <a:srgbClr val="FF0000"/>
                    </a:solidFill>
                    <a:latin typeface="Times New Roman" panose="02020603050405020304" charset="0"/>
                    <a:cs typeface="Times New Roman" panose="02020603050405020304" charset="0"/>
                  </a:rPr>
                  <a:t> </a:t>
                </a:r>
                <a:r>
                  <a:rPr lang="en-US" dirty="0" err="1">
                    <a:solidFill>
                      <a:srgbClr val="FF0000"/>
                    </a:solidFill>
                    <a:latin typeface="Times New Roman" panose="02020603050405020304" charset="0"/>
                    <a:cs typeface="Times New Roman" panose="02020603050405020304" charset="0"/>
                  </a:rPr>
                  <a:t>toán</a:t>
                </a:r>
                <a:r>
                  <a:rPr lang="en-US">
                    <a:solidFill>
                      <a:srgbClr val="FF0000"/>
                    </a:solidFill>
                    <a:latin typeface="Times New Roman" panose="02020603050405020304" charset="0"/>
                    <a:cs typeface="Times New Roman" panose="02020603050405020304" charset="0"/>
                  </a:rPr>
                  <a:t> </a:t>
                </a:r>
                <a:r>
                  <a:rPr lang="vi-VN">
                    <a:solidFill>
                      <a:srgbClr val="FF0000"/>
                    </a:solidFill>
                    <a:latin typeface="Times New Roman" panose="02020603050405020304" charset="0"/>
                    <a:cs typeface="Times New Roman" panose="02020603050405020304" charset="0"/>
                  </a:rPr>
                  <a:t>tìm </a:t>
                </a:r>
                <a:r>
                  <a:rPr lang="vi-VN" dirty="0">
                    <a:solidFill>
                      <a:srgbClr val="FF0000"/>
                    </a:solidFill>
                    <a:latin typeface="Times New Roman" panose="02020603050405020304" charset="0"/>
                    <a:cs typeface="Times New Roman" panose="02020603050405020304" charset="0"/>
                  </a:rPr>
                  <a:t>kiếm</a:t>
                </a:r>
                <a:r>
                  <a:rPr lang="en-US" dirty="0">
                    <a:solidFill>
                      <a:srgbClr val="FF0000"/>
                    </a:solidFill>
                    <a:latin typeface="Times New Roman" panose="02020603050405020304" charset="0"/>
                    <a:cs typeface="Times New Roman" panose="02020603050405020304" charset="0"/>
                  </a:rPr>
                  <a:t> (searching problem)</a:t>
                </a:r>
                <a:r>
                  <a:rPr lang="vi-VN" dirty="0">
                    <a:solidFill>
                      <a:srgbClr val="FF0000"/>
                    </a:solidFill>
                    <a:latin typeface="Times New Roman" panose="02020603050405020304" charset="0"/>
                    <a:cs typeface="Times New Roman" panose="02020603050405020304" charset="0"/>
                  </a:rPr>
                  <a:t> là gì?</a:t>
                </a:r>
                <a:endParaRPr lang="en-US" dirty="0">
                  <a:solidFill>
                    <a:srgbClr val="FF0000"/>
                  </a:solidFill>
                  <a:latin typeface="Times New Roman" panose="02020603050405020304" charset="0"/>
                  <a:cs typeface="Times New Roman" panose="0202060305040502030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371600" y="2206257"/>
                <a:ext cx="9486901" cy="3540642"/>
              </a:xfrm>
              <a:blipFill>
                <a:blip r:embed="rId2"/>
                <a:stretch>
                  <a:fillRect l="-835" t="-2065"/>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ClassicFrameVTI">
  <a:themeElements>
    <a:clrScheme name="AnalogousFromDarkSeedLeftStep">
      <a:dk1>
        <a:srgbClr val="000000"/>
      </a:dk1>
      <a:lt1>
        <a:srgbClr val="FFFFFF"/>
      </a:lt1>
      <a:dk2>
        <a:srgbClr val="302B1B"/>
      </a:dk2>
      <a:lt2>
        <a:srgbClr val="F1F0F3"/>
      </a:lt2>
      <a:accent1>
        <a:srgbClr val="90AB1E"/>
      </a:accent1>
      <a:accent2>
        <a:srgbClr val="C49C15"/>
      </a:accent2>
      <a:accent3>
        <a:srgbClr val="E76C29"/>
      </a:accent3>
      <a:accent4>
        <a:srgbClr val="D51723"/>
      </a:accent4>
      <a:accent5>
        <a:srgbClr val="E72984"/>
      </a:accent5>
      <a:accent6>
        <a:srgbClr val="D517C1"/>
      </a:accent6>
      <a:hlink>
        <a:srgbClr val="C2496F"/>
      </a:hlink>
      <a:folHlink>
        <a:srgbClr val="7F7F7F"/>
      </a:folHlink>
    </a:clrScheme>
    <a:fontScheme name="Goudy and Gill Sans">
      <a:majorFont>
        <a:latin typeface="Goudy Old Style"/>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1044</Words>
  <Application>Microsoft Office PowerPoint</Application>
  <PresentationFormat>Widescreen</PresentationFormat>
  <Paragraphs>60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Cambria Math</vt:lpstr>
      <vt:lpstr>Gill Sans MT</vt:lpstr>
      <vt:lpstr>Goudy Old Style</vt:lpstr>
      <vt:lpstr>Times New Roman</vt:lpstr>
      <vt:lpstr>Wingdings</vt:lpstr>
      <vt:lpstr>ClassicFrameVTI</vt:lpstr>
      <vt:lpstr>Tối ưu hóa</vt:lpstr>
      <vt:lpstr>Nội dung học</vt:lpstr>
      <vt:lpstr>Computational Complexity: Tính phức tạp</vt:lpstr>
      <vt:lpstr>More answers</vt:lpstr>
      <vt:lpstr>Kích thước đầu vào (input size)</vt:lpstr>
      <vt:lpstr>Độ phức tạp của thuật toán(Complexity of algorithms)</vt:lpstr>
      <vt:lpstr>Input size</vt:lpstr>
      <vt:lpstr>Độ phức tạp thời gian (Time Complexity)</vt:lpstr>
      <vt:lpstr>Độ phức tạp thời gian</vt:lpstr>
      <vt:lpstr>Độ phức tạp thời gian</vt:lpstr>
      <vt:lpstr>Sự phức tạp của Một Bài ToÁN (Complexity)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Tạ Thúy Anh</dc:creator>
  <cp:lastModifiedBy>Duong Thi Kim Huyen</cp:lastModifiedBy>
  <cp:revision>20</cp:revision>
  <dcterms:created xsi:type="dcterms:W3CDTF">2022-02-15T06:41:00Z</dcterms:created>
  <dcterms:modified xsi:type="dcterms:W3CDTF">2025-04-18T04:36:12Z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0x0101004C84FF2D6C6EC64C8A5304373CFAF972</vt:lpwstr>
  </property>
  <property fmtid="{D5CDD505-2E9C-101B-9397-08002B2CF9AE}" pid="3" name="ICV">
    <vt:lpwstr>C2C0B27931AA4F90BC1EB83F9A00A11E</vt:lpwstr>
  </property>
  <property fmtid="{D5CDD505-2E9C-101B-9397-08002B2CF9AE}" pid="4" name="KSOProductBuildVer">
    <vt:lpwstr>1033-11.2.0.11225</vt:lpwstr>
  </property>
</Properties>
</file>