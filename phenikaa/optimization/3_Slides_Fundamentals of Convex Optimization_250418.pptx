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B901E-5DAB-4689-A2F3-24A6EFBAAD5B}" v="10" dt="2025-04-18T04:28:20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74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1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4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3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61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5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84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3355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33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328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572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90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91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0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9" r:id="rId1"/>
    <p:sldLayoutId id="2147484230" r:id="rId2"/>
    <p:sldLayoutId id="2147484231" r:id="rId3"/>
    <p:sldLayoutId id="2147484232" r:id="rId4"/>
    <p:sldLayoutId id="2147484233" r:id="rId5"/>
    <p:sldLayoutId id="2147484234" r:id="rId6"/>
    <p:sldLayoutId id="2147484235" r:id="rId7"/>
    <p:sldLayoutId id="2147484236" r:id="rId8"/>
    <p:sldLayoutId id="2147484237" r:id="rId9"/>
    <p:sldLayoutId id="2147484238" r:id="rId10"/>
    <p:sldLayoutId id="2147484239" r:id="rId11"/>
    <p:sldLayoutId id="2147484240" r:id="rId12"/>
    <p:sldLayoutId id="2147484241" r:id="rId13"/>
    <p:sldLayoutId id="2147484242" r:id="rId14"/>
    <p:sldLayoutId id="2147484243" r:id="rId15"/>
    <p:sldLayoutId id="21474842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Tối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ưu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hóa</a:t>
            </a:r>
            <a:endParaRPr lang="en-US" sz="2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371093" y="2718054"/>
            <a:ext cx="8351488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Giảng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viên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  <a:endParaRPr lang="en-US" sz="2000" dirty="0">
              <a:solidFill>
                <a:schemeClr val="tx1"/>
              </a:solidFill>
              <a:ea typeface="Source Sans Pro"/>
            </a:endParaRPr>
          </a:p>
          <a:p>
            <a:pPr indent="-2286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ORLab</a:t>
            </a:r>
            <a:r>
              <a:rPr lang="en-US" sz="2000" dirty="0">
                <a:solidFill>
                  <a:schemeClr val="tx1"/>
                </a:solidFill>
              </a:rPr>
              <a:t>, Trường Công </a:t>
            </a:r>
            <a:r>
              <a:rPr lang="en-US" sz="2000" dirty="0" err="1">
                <a:solidFill>
                  <a:schemeClr val="tx1"/>
                </a:solidFill>
              </a:rPr>
              <a:t>nghệ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thông</a:t>
            </a:r>
            <a:r>
              <a:rPr lang="en-US" sz="2000" dirty="0">
                <a:solidFill>
                  <a:schemeClr val="tx1"/>
                </a:solidFill>
              </a:rPr>
              <a:t> tin </a:t>
            </a:r>
            <a:r>
              <a:rPr lang="en-US" sz="2000" dirty="0" err="1">
                <a:solidFill>
                  <a:schemeClr val="tx1"/>
                </a:solidFill>
              </a:rPr>
              <a:t>Phenikaa</a:t>
            </a:r>
            <a:endParaRPr lang="en-US" sz="2000" dirty="0">
              <a:solidFill>
                <a:schemeClr val="tx1"/>
              </a:solidFill>
              <a:ea typeface="Source Sans Pro"/>
            </a:endParaRPr>
          </a:p>
          <a:p>
            <a:pPr indent="-2286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Đại</a:t>
            </a:r>
            <a:r>
              <a:rPr lang="en-US" sz="2000" dirty="0">
                <a:solidFill>
                  <a:schemeClr val="tx1"/>
                </a:solidFill>
              </a:rPr>
              <a:t> Học </a:t>
            </a:r>
            <a:r>
              <a:rPr lang="en-US" sz="2000" dirty="0" err="1">
                <a:solidFill>
                  <a:schemeClr val="tx1"/>
                </a:solidFill>
              </a:rPr>
              <a:t>Phenikaa</a:t>
            </a:r>
            <a:endParaRPr lang="en-US" sz="2000" dirty="0">
              <a:solidFill>
                <a:schemeClr val="tx1"/>
              </a:solidFill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F3365DD-C56B-46EB-AA62-B78217780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09" y="310343"/>
            <a:ext cx="9654771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/>
              <a:t>Convex optimization, Convex set: </a:t>
            </a:r>
            <a:r>
              <a:rPr lang="en-US" sz="2800" dirty="0" err="1"/>
              <a:t>Tối</a:t>
            </a:r>
            <a:r>
              <a:rPr lang="en-US" sz="2800" dirty="0"/>
              <a:t> </a:t>
            </a:r>
            <a:r>
              <a:rPr lang="en-US" sz="2800" dirty="0" err="1"/>
              <a:t>ưu</a:t>
            </a:r>
            <a:r>
              <a:rPr lang="en-US" sz="2800" dirty="0"/>
              <a:t> </a:t>
            </a:r>
            <a:r>
              <a:rPr lang="en-US" sz="2800" dirty="0" err="1"/>
              <a:t>lồi</a:t>
            </a:r>
            <a:r>
              <a:rPr lang="en-US" sz="2800" dirty="0"/>
              <a:t>, </a:t>
            </a:r>
            <a:r>
              <a:rPr lang="en-US" sz="2800" dirty="0" err="1"/>
              <a:t>tập</a:t>
            </a:r>
            <a:r>
              <a:rPr lang="en-US" sz="2800" dirty="0"/>
              <a:t> </a:t>
            </a:r>
            <a:r>
              <a:rPr lang="en-US" sz="2800" dirty="0" err="1"/>
              <a:t>lồi</a:t>
            </a:r>
            <a:endParaRPr lang="en-US" sz="2800" dirty="0"/>
          </a:p>
        </p:txBody>
      </p:sp>
      <p:pic>
        <p:nvPicPr>
          <p:cNvPr id="4" name="Hình ảnh 4" descr="Ảnh có chứa văn bản&#10;&#10;Mô tả được tự động tạo">
            <a:extLst>
              <a:ext uri="{FF2B5EF4-FFF2-40B4-BE49-F238E27FC236}">
                <a16:creationId xmlns:a16="http://schemas.microsoft.com/office/drawing/2014/main" id="{C7A447B5-6A39-47A7-A034-8DFE4EB88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3" y="2788413"/>
            <a:ext cx="8915400" cy="246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67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61C5429-B4AA-4567-A1CE-4E74FDCA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100"/>
              <a:t>Line, line segment: Đường thẳng, đoạn thẳng</a:t>
            </a:r>
          </a:p>
        </p:txBody>
      </p:sp>
      <p:pic>
        <p:nvPicPr>
          <p:cNvPr id="4" name="Hình ảnh 4">
            <a:extLst>
              <a:ext uri="{FF2B5EF4-FFF2-40B4-BE49-F238E27FC236}">
                <a16:creationId xmlns:a16="http://schemas.microsoft.com/office/drawing/2014/main" id="{F4288258-F801-496E-BD92-D7940F084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8158" y="2133600"/>
            <a:ext cx="6957509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4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3CD1225-6E1C-4FA9-A769-9DDD24D2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Convex combination Convex hull: Tổ hợp lồi, Bao lồi</a:t>
            </a:r>
          </a:p>
        </p:txBody>
      </p:sp>
      <p:pic>
        <p:nvPicPr>
          <p:cNvPr id="4" name="Hình ảnh 4">
            <a:extLst>
              <a:ext uri="{FF2B5EF4-FFF2-40B4-BE49-F238E27FC236}">
                <a16:creationId xmlns:a16="http://schemas.microsoft.com/office/drawing/2014/main" id="{CCE75757-766C-4166-BD21-02556F1AB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9552" y="1280980"/>
            <a:ext cx="7349569" cy="405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0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06F3DFF-EA7A-4DA8-AA49-B9B5EA55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Convex set: Tập lồi</a:t>
            </a:r>
          </a:p>
        </p:txBody>
      </p:sp>
      <p:pic>
        <p:nvPicPr>
          <p:cNvPr id="5" name="Hình ảnh 5" descr="Ảnh có chứa văn bản&#10;&#10;Mô tả được tự động tạo">
            <a:extLst>
              <a:ext uri="{FF2B5EF4-FFF2-40B4-BE49-F238E27FC236}">
                <a16:creationId xmlns:a16="http://schemas.microsoft.com/office/drawing/2014/main" id="{D17A39F3-045F-4459-818C-7A27F14D2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4608" y="999935"/>
            <a:ext cx="7090778" cy="487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4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710B07C-10AD-4866-9834-797DA12E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/>
              <a:t>Hyperplanes and halfspaces: siêu phẳng và nửa không gian</a:t>
            </a:r>
          </a:p>
        </p:txBody>
      </p:sp>
      <p:pic>
        <p:nvPicPr>
          <p:cNvPr id="4" name="Hình ảnh 4" descr="Ảnh có chứa văn bản&#10;&#10;Mô tả được tự động tạo">
            <a:extLst>
              <a:ext uri="{FF2B5EF4-FFF2-40B4-BE49-F238E27FC236}">
                <a16:creationId xmlns:a16="http://schemas.microsoft.com/office/drawing/2014/main" id="{CE036EE3-04B3-4E5D-9121-FF0C082B8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4608" y="871566"/>
            <a:ext cx="6846363" cy="496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06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A271F3F-0819-4DC8-AA1A-71AA725DF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Euclidean balls and ellipsoids</a:t>
            </a:r>
          </a:p>
        </p:txBody>
      </p:sp>
      <p:pic>
        <p:nvPicPr>
          <p:cNvPr id="5" name="Hình ảnh 5" descr="Ảnh có chứa văn bản&#10;&#10;Mô tả được tự động tạo">
            <a:extLst>
              <a:ext uri="{FF2B5EF4-FFF2-40B4-BE49-F238E27FC236}">
                <a16:creationId xmlns:a16="http://schemas.microsoft.com/office/drawing/2014/main" id="{D2977523-3CC5-429D-A0B5-89CF3BCBA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4356" y="1158348"/>
            <a:ext cx="6408836" cy="439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39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2ED6077-1AB4-406F-BBD9-8D29286E5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37285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/>
              <a:t>Điều kiện cần và đủ</a:t>
            </a:r>
          </a:p>
        </p:txBody>
      </p:sp>
      <p:pic>
        <p:nvPicPr>
          <p:cNvPr id="4" name="Hình ảnh 4" descr="Ảnh có chứa văn bản&#10;&#10;Mô tả được tự động tạo">
            <a:extLst>
              <a:ext uri="{FF2B5EF4-FFF2-40B4-BE49-F238E27FC236}">
                <a16:creationId xmlns:a16="http://schemas.microsoft.com/office/drawing/2014/main" id="{1C48A05D-37F6-4128-B582-ADDF30FDB4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3" y="3030240"/>
            <a:ext cx="8915400" cy="1984970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22D16AFE-11AA-43C6-9144-C89CD3B09C41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Ma </a:t>
            </a:r>
            <a:r>
              <a:rPr lang="en-US" dirty="0" err="1">
                <a:ea typeface="+mn-lt"/>
                <a:cs typeface="+mn-lt"/>
              </a:rPr>
              <a:t>trận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đgl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là</a:t>
            </a: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đối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xứng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b="1" dirty="0">
                <a:ea typeface="+mn-lt"/>
                <a:cs typeface="+mn-lt"/>
              </a:rPr>
              <a:t>symmetric matrix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nếu</a:t>
            </a:r>
            <a:r>
              <a:rPr lang="en-US" dirty="0">
                <a:ea typeface="+mn-lt"/>
                <a:cs typeface="+mn-lt"/>
              </a:rPr>
              <a:t> A=A^T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704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B0BD646-ABE6-4258-BFC5-E0D35174A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800"/>
              <a:t>Polyhedron and Polytope: khối đa diện, polytope</a:t>
            </a:r>
          </a:p>
        </p:txBody>
      </p:sp>
      <p:pic>
        <p:nvPicPr>
          <p:cNvPr id="4" name="Hình ảnh 4" descr="Ảnh có chứa văn bản&#10;&#10;Mô tả được tự động tạo">
            <a:extLst>
              <a:ext uri="{FF2B5EF4-FFF2-40B4-BE49-F238E27FC236}">
                <a16:creationId xmlns:a16="http://schemas.microsoft.com/office/drawing/2014/main" id="{A17D040D-D990-43A5-8CF8-C30D10931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4356" y="1470779"/>
            <a:ext cx="6408836" cy="376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1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651C4DF-3DC0-46D9-B810-0B719B7A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Polyhedron and Polytope: khối đa diện, polytope</a:t>
            </a:r>
            <a:endParaRPr lang="vi-VN" sz="3600">
              <a:ea typeface="+mj-lt"/>
              <a:cs typeface="+mj-lt"/>
            </a:endParaRPr>
          </a:p>
          <a:p>
            <a:endParaRPr lang="vi-VN" sz="3600">
              <a:ea typeface="Source Sans Pro"/>
            </a:endParaRPr>
          </a:p>
        </p:txBody>
      </p:sp>
      <p:pic>
        <p:nvPicPr>
          <p:cNvPr id="4" name="Hình ảnh 4">
            <a:extLst>
              <a:ext uri="{FF2B5EF4-FFF2-40B4-BE49-F238E27FC236}">
                <a16:creationId xmlns:a16="http://schemas.microsoft.com/office/drawing/2014/main" id="{06FF50F4-4C32-41BE-A066-C05014B0A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60" y="1515384"/>
            <a:ext cx="6760061" cy="440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58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80FE013-BB8F-4F97-9984-9968EF5C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1011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 err="1"/>
              <a:t>Hàm</a:t>
            </a:r>
            <a:r>
              <a:rPr lang="en-US" sz="4800" dirty="0"/>
              <a:t> </a:t>
            </a:r>
            <a:r>
              <a:rPr lang="en-US" sz="4800" dirty="0" err="1"/>
              <a:t>lồi</a:t>
            </a:r>
            <a:endParaRPr lang="en-US" sz="4800" dirty="0"/>
          </a:p>
        </p:txBody>
      </p:sp>
      <p:pic>
        <p:nvPicPr>
          <p:cNvPr id="4" name="Hình ảnh 4">
            <a:extLst>
              <a:ext uri="{FF2B5EF4-FFF2-40B4-BE49-F238E27FC236}">
                <a16:creationId xmlns:a16="http://schemas.microsoft.com/office/drawing/2014/main" id="{5758257C-D936-4639-8E0B-E8178F980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8619" y="551908"/>
            <a:ext cx="9129076" cy="518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541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F352A65-3A8B-47E7-B78D-AFAF79566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First-order conditions: điều kiện bậc nhất</a:t>
            </a:r>
          </a:p>
        </p:txBody>
      </p:sp>
      <p:pic>
        <p:nvPicPr>
          <p:cNvPr id="4" name="Hình ảnh 4">
            <a:extLst>
              <a:ext uri="{FF2B5EF4-FFF2-40B4-BE49-F238E27FC236}">
                <a16:creationId xmlns:a16="http://schemas.microsoft.com/office/drawing/2014/main" id="{DE28611E-51CD-4F85-A477-D0D336C7F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4608" y="1641782"/>
            <a:ext cx="6846363" cy="342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64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824BFCC-132F-45EF-9B42-512974F6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err="1">
                <a:ea typeface="Source Sans Pro"/>
              </a:rPr>
              <a:t>Second-order</a:t>
            </a:r>
            <a:r>
              <a:rPr lang="vi-VN" dirty="0">
                <a:ea typeface="Source Sans Pro"/>
              </a:rPr>
              <a:t> </a:t>
            </a:r>
            <a:r>
              <a:rPr lang="vi-VN" dirty="0" err="1">
                <a:ea typeface="Source Sans Pro"/>
              </a:rPr>
              <a:t>conditions</a:t>
            </a:r>
            <a:r>
              <a:rPr lang="vi-VN" dirty="0">
                <a:ea typeface="Source Sans Pro"/>
              </a:rPr>
              <a:t>: </a:t>
            </a:r>
            <a:r>
              <a:rPr lang="vi-VN" dirty="0" err="1">
                <a:ea typeface="Source Sans Pro"/>
              </a:rPr>
              <a:t>điều</a:t>
            </a:r>
            <a:r>
              <a:rPr lang="vi-VN" dirty="0">
                <a:ea typeface="Source Sans Pro"/>
              </a:rPr>
              <a:t> </a:t>
            </a:r>
            <a:r>
              <a:rPr lang="vi-VN" dirty="0" err="1">
                <a:ea typeface="Source Sans Pro"/>
              </a:rPr>
              <a:t>kiện</a:t>
            </a:r>
            <a:r>
              <a:rPr lang="vi-VN" dirty="0">
                <a:ea typeface="Source Sans Pro"/>
              </a:rPr>
              <a:t> </a:t>
            </a:r>
            <a:r>
              <a:rPr lang="vi-VN" dirty="0" err="1">
                <a:ea typeface="Source Sans Pro"/>
              </a:rPr>
              <a:t>bậc</a:t>
            </a:r>
            <a:r>
              <a:rPr lang="vi-VN" dirty="0">
                <a:ea typeface="Source Sans Pro"/>
              </a:rPr>
              <a:t> hai</a:t>
            </a:r>
            <a:endParaRPr lang="vi-VN" dirty="0"/>
          </a:p>
        </p:txBody>
      </p:sp>
      <p:pic>
        <p:nvPicPr>
          <p:cNvPr id="4" name="Hình ảnh 4" descr="Ảnh có chứa văn bản&#10;&#10;Mô tả được tự động tạo">
            <a:extLst>
              <a:ext uri="{FF2B5EF4-FFF2-40B4-BE49-F238E27FC236}">
                <a16:creationId xmlns:a16="http://schemas.microsoft.com/office/drawing/2014/main" id="{152420A9-4CAE-4A4F-AC8F-437E7870C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0786" y="2133600"/>
            <a:ext cx="8752253" cy="3778250"/>
          </a:xfrm>
        </p:spPr>
      </p:pic>
    </p:spTree>
    <p:extLst>
      <p:ext uri="{BB962C8B-B14F-4D97-AF65-F5344CB8AC3E}">
        <p14:creationId xmlns:p14="http://schemas.microsoft.com/office/powerpoint/2010/main" val="838765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9323C4A-1881-4C50-9BF8-A00D20DE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164469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800" dirty="0" err="1"/>
              <a:t>Ví</a:t>
            </a:r>
            <a:r>
              <a:rPr lang="en-US" sz="4800" dirty="0"/>
              <a:t> </a:t>
            </a:r>
            <a:r>
              <a:rPr lang="en-US" sz="4800" dirty="0" err="1"/>
              <a:t>dụ</a:t>
            </a:r>
            <a:r>
              <a:rPr lang="en-US" sz="4800" dirty="0"/>
              <a:t> </a:t>
            </a:r>
            <a:r>
              <a:rPr lang="en-US" sz="4800" dirty="0" err="1"/>
              <a:t>về</a:t>
            </a:r>
            <a:r>
              <a:rPr lang="en-US" sz="4800" dirty="0"/>
              <a:t> </a:t>
            </a:r>
            <a:r>
              <a:rPr lang="en-US" sz="4800" dirty="0" err="1"/>
              <a:t>các</a:t>
            </a:r>
            <a:r>
              <a:rPr lang="en-US" sz="4800" dirty="0"/>
              <a:t> </a:t>
            </a:r>
            <a:r>
              <a:rPr lang="en-US" sz="4800" dirty="0" err="1"/>
              <a:t>hàm</a:t>
            </a:r>
            <a:r>
              <a:rPr lang="en-US" sz="4800" dirty="0"/>
              <a:t> </a:t>
            </a:r>
            <a:r>
              <a:rPr lang="en-US" sz="4800" dirty="0" err="1"/>
              <a:t>số</a:t>
            </a:r>
            <a:r>
              <a:rPr lang="en-US" sz="4800" dirty="0"/>
              <a:t> </a:t>
            </a:r>
            <a:r>
              <a:rPr lang="en-US" sz="4800" dirty="0" err="1"/>
              <a:t>lồi</a:t>
            </a:r>
            <a:r>
              <a:rPr lang="en-US" sz="4800" dirty="0"/>
              <a:t>, </a:t>
            </a:r>
            <a:r>
              <a:rPr lang="en-US" sz="4800" dirty="0" err="1"/>
              <a:t>lõm</a:t>
            </a:r>
            <a:endParaRPr lang="en-US" sz="4800" dirty="0"/>
          </a:p>
        </p:txBody>
      </p:sp>
      <p:pic>
        <p:nvPicPr>
          <p:cNvPr id="4" name="Hình ảnh 4">
            <a:extLst>
              <a:ext uri="{FF2B5EF4-FFF2-40B4-BE49-F238E27FC236}">
                <a16:creationId xmlns:a16="http://schemas.microsoft.com/office/drawing/2014/main" id="{9D9F72F7-BDB0-4EFA-8E95-FB385C838C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4608" y="1350812"/>
            <a:ext cx="6846363" cy="400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75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4090A18-5E1B-43E0-BF45-96849FA6F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Examples:</a:t>
            </a:r>
          </a:p>
        </p:txBody>
      </p:sp>
      <p:pic>
        <p:nvPicPr>
          <p:cNvPr id="4" name="Hình ảnh 4">
            <a:extLst>
              <a:ext uri="{FF2B5EF4-FFF2-40B4-BE49-F238E27FC236}">
                <a16:creationId xmlns:a16="http://schemas.microsoft.com/office/drawing/2014/main" id="{7412D582-13C3-4280-BCC5-C7638889B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4608" y="991378"/>
            <a:ext cx="6846363" cy="472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17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252580F-72C5-4E45-9B35-847F7053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400"/>
              <a:t>Quadratic and linear function: hàm bậc hai và hàm tuyến tính</a:t>
            </a:r>
          </a:p>
        </p:txBody>
      </p:sp>
      <p:pic>
        <p:nvPicPr>
          <p:cNvPr id="4" name="Hình ảnh 4" descr="Ảnh có chứa văn bản&#10;&#10;Mô tả được tự động tạo">
            <a:extLst>
              <a:ext uri="{FF2B5EF4-FFF2-40B4-BE49-F238E27FC236}">
                <a16:creationId xmlns:a16="http://schemas.microsoft.com/office/drawing/2014/main" id="{EC6AB474-9E28-4A23-AAC0-B33930127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4356" y="1743154"/>
            <a:ext cx="6408836" cy="322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41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602493B-4CAD-45CB-8370-A3D868030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Ví dụ trong R^2</a:t>
            </a:r>
          </a:p>
        </p:txBody>
      </p:sp>
      <p:pic>
        <p:nvPicPr>
          <p:cNvPr id="4" name="Hình ảnh 4">
            <a:extLst>
              <a:ext uri="{FF2B5EF4-FFF2-40B4-BE49-F238E27FC236}">
                <a16:creationId xmlns:a16="http://schemas.microsoft.com/office/drawing/2014/main" id="{BBF09F90-7F71-4667-A52B-9512B1536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4608" y="1196769"/>
            <a:ext cx="6846363" cy="431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52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56F24AE-C174-490B-8895-A6DCAB085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Graph and epigraph: đồ thị, epigraph</a:t>
            </a:r>
          </a:p>
        </p:txBody>
      </p:sp>
      <p:pic>
        <p:nvPicPr>
          <p:cNvPr id="4" name="Hình ảnh 4">
            <a:extLst>
              <a:ext uri="{FF2B5EF4-FFF2-40B4-BE49-F238E27FC236}">
                <a16:creationId xmlns:a16="http://schemas.microsoft.com/office/drawing/2014/main" id="{F748E170-1353-4194-BD0A-8E069333D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4608" y="1094073"/>
            <a:ext cx="6846363" cy="451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90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1A40C28-3990-4D4E-91AD-F12831F4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a typeface="Source Sans Pro"/>
              </a:rPr>
              <a:t>Một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số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tính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chất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liên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quan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đến</a:t>
            </a:r>
            <a:r>
              <a:rPr lang="vi-VN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tính</a:t>
            </a:r>
            <a:r>
              <a:rPr lang="vi-VN" dirty="0">
                <a:ea typeface="Source Sans Pro"/>
              </a:rPr>
              <a:t> lồi</a:t>
            </a:r>
            <a:endParaRPr lang="vi-VN" dirty="0"/>
          </a:p>
        </p:txBody>
      </p:sp>
      <p:pic>
        <p:nvPicPr>
          <p:cNvPr id="4" name="Hình ảnh 4" descr="Ảnh có chứa văn bản&#10;&#10;Mô tả được tự động tạo">
            <a:extLst>
              <a:ext uri="{FF2B5EF4-FFF2-40B4-BE49-F238E27FC236}">
                <a16:creationId xmlns:a16="http://schemas.microsoft.com/office/drawing/2014/main" id="{EBB1A25C-9F0F-41EB-A47F-AF576F233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3" y="3101467"/>
            <a:ext cx="8915400" cy="1842516"/>
          </a:xfrm>
        </p:spPr>
      </p:pic>
    </p:spTree>
    <p:extLst>
      <p:ext uri="{BB962C8B-B14F-4D97-AF65-F5344CB8AC3E}">
        <p14:creationId xmlns:p14="http://schemas.microsoft.com/office/powerpoint/2010/main" val="4193320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26C5658-3649-4D88-B1EF-E0FAF64D6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Ví dụ</a:t>
            </a:r>
          </a:p>
        </p:txBody>
      </p:sp>
      <p:pic>
        <p:nvPicPr>
          <p:cNvPr id="4" name="Hình ảnh 4" descr="Ảnh có chứa văn bản&#10;&#10;Mô tả được tự động tạo">
            <a:extLst>
              <a:ext uri="{FF2B5EF4-FFF2-40B4-BE49-F238E27FC236}">
                <a16:creationId xmlns:a16="http://schemas.microsoft.com/office/drawing/2014/main" id="{BDC9CB1B-788E-4F27-99E3-04347F2F5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3" y="2585024"/>
            <a:ext cx="8915400" cy="287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70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FBA8-E866-AAFE-AE44-095D65F88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tới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lồi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lồi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842DE-4B0E-6A75-45A4-50610005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84192944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</TotalTime>
  <Words>189</Words>
  <Application>Microsoft Office PowerPoint</Application>
  <PresentationFormat>Widescreen</PresentationFormat>
  <Paragraphs>26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Source Sans Pro</vt:lpstr>
      <vt:lpstr>Wingdings 3</vt:lpstr>
      <vt:lpstr>Wisp</vt:lpstr>
      <vt:lpstr>Tối ưu hóa</vt:lpstr>
      <vt:lpstr>Convex optimization, Convex set: Tối ưu lồi, tập lồi</vt:lpstr>
      <vt:lpstr>Line, line segment: Đường thẳng, đoạn thẳng</vt:lpstr>
      <vt:lpstr>Convex combination Convex hull: Tổ hợp lồi, Bao lồi</vt:lpstr>
      <vt:lpstr>Convex set: Tập lồi</vt:lpstr>
      <vt:lpstr>Hyperplanes and halfspaces: siêu phẳng và nửa không gian</vt:lpstr>
      <vt:lpstr>Euclidean balls and ellipsoids</vt:lpstr>
      <vt:lpstr>Điều kiện cần và đủ</vt:lpstr>
      <vt:lpstr>Polyhedron and Polytope: khối đa diện, polytope</vt:lpstr>
      <vt:lpstr>Polyhedron and Polytope: khối đa diện, polytope </vt:lpstr>
      <vt:lpstr>Hàm lồi</vt:lpstr>
      <vt:lpstr>First-order conditions: điều kiện bậc nhất</vt:lpstr>
      <vt:lpstr>Second-order conditions: điều kiện bậc hai</vt:lpstr>
      <vt:lpstr>Ví dụ về các hàm số lồi, lõm</vt:lpstr>
      <vt:lpstr>Examples:</vt:lpstr>
      <vt:lpstr>Quadratic and linear function: hàm bậc hai và hàm tuyến tính</vt:lpstr>
      <vt:lpstr>Ví dụ trong R^2</vt:lpstr>
      <vt:lpstr>Graph and epigraph: đồ thị, epigraph</vt:lpstr>
      <vt:lpstr>Một số tính chất liên quan đến tính lồi</vt:lpstr>
      <vt:lpstr>Ví dụ</vt:lpstr>
      <vt:lpstr>Hàm khoảng cách tới tập lồi là một hàm lồi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Bản trình bày PowerPoint</dc:title>
  <dc:creator/>
  <cp:lastModifiedBy>Duong Thi Kim Huyen</cp:lastModifiedBy>
  <cp:revision>208</cp:revision>
  <dcterms:created xsi:type="dcterms:W3CDTF">2022-03-19T11:54:06Z</dcterms:created>
  <dcterms:modified xsi:type="dcterms:W3CDTF">2025-04-18T04:46:19Z</dcterms:modified>
</cp:coreProperties>
</file>