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12192000"/>
  <p:notesSz cx="9144000" cy="6858000"/>
  <p:embeddedFontLs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880">
          <p15:clr>
            <a:srgbClr val="A4A3A4"/>
          </p15:clr>
        </p15:guide>
      </p15:sldGuideLst>
    </p:ext>
    <p:ext uri="GoogleSlidesCustomDataVersion2">
      <go:slidesCustomData xmlns:go="http://customooxmlschemas.google.com/" r:id="rId48" roundtripDataSignature="AMtx7miZsl3jA5R3LGmdAY2m61b+vKKp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E658BC-B1D6-4103-86A9-31DC15990A4D}">
  <a:tblStyle styleId="{37E658BC-B1D6-4103-86A9-31DC15990A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OpenSans-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OpenSans-italic.fntdata"/><Relationship Id="rId23" Type="http://schemas.openxmlformats.org/officeDocument/2006/relationships/slide" Target="slides/slide17.xml"/><Relationship Id="rId45"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Open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cee87ea4c_0_8: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1cee87ea4c_0_8: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1cee87ea4c_0_8: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cee87ea4c_0_18: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1cee87ea4c_0_18: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1cee87ea4c_0_18: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cee87ea4c_0_34: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1cee87ea4c_0_34: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g31cee87ea4c_0_34: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1cee87ea4c_0_49: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1cee87ea4c_0_49: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1cee87ea4c_0_49: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cee87ea4c_0_6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1cee87ea4c_0_62: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1cee87ea4c_0_62: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1cee87ea4c_0_75: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1cee87ea4c_0_75: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1cee87ea4c_0_75: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4: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4: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5: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6: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6: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cee87ea4c_0_127: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1cee87ea4c_0_127: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1cee87ea4c_0_127: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7: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7: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1cee87ea4c_0_144: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1cee87ea4c_0_144: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1cee87ea4c_0_144: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8: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cee87ea4c_0_165: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1cee87ea4c_0_165: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cee87ea4c_0_179: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1cee87ea4c_0_179: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cee87ea4c_0_193: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31cee87ea4c_0_193: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1cee87ea4c_0_206: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1cee87ea4c_0_206: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cee87ea4c_0_230: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1cee87ea4c_0_230: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1cee87ea4c_0_236:notes"/>
          <p:cNvSpPr txBox="1"/>
          <p:nvPr>
            <p:ph idx="1" type="body"/>
          </p:nvPr>
        </p:nvSpPr>
        <p:spPr>
          <a:xfrm>
            <a:off x="914400" y="3300413"/>
            <a:ext cx="73152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REST là một phong cách kiến trúc cho API, dựa trên các </a:t>
            </a:r>
            <a:r>
              <a:rPr b="1" lang="en-US" sz="1100">
                <a:latin typeface="Arial"/>
                <a:ea typeface="Arial"/>
                <a:cs typeface="Arial"/>
                <a:sym typeface="Arial"/>
              </a:rPr>
              <a:t>nguồn tài nguyên</a:t>
            </a:r>
            <a:r>
              <a:rPr lang="en-US" sz="1100">
                <a:latin typeface="Arial"/>
                <a:ea typeface="Arial"/>
                <a:cs typeface="Arial"/>
                <a:sym typeface="Arial"/>
              </a:rPr>
              <a:t> (resources) thay vì các thủ tục hoặc hàm.</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Trong REST, bạn thường tương tác với các tài nguyên bằng các phương thức HTTP tiêu chuẩn như GET, POST, PUT, DELETE.</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298" name="Google Shape;298;g31cee87ea4c_0_236: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9: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9: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txBox="1"/>
          <p:nvPr>
            <p:ph idx="1" type="body"/>
          </p:nvPr>
        </p:nvSpPr>
        <p:spPr>
          <a:xfrm>
            <a:off x="914400" y="3300413"/>
            <a:ext cx="73152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0: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2:notes"/>
          <p:cNvSpPr/>
          <p:nvPr>
            <p:ph idx="2" type="sldImg"/>
          </p:nvPr>
        </p:nvSpPr>
        <p:spPr>
          <a:xfrm>
            <a:off x="2514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2:notes"/>
          <p:cNvSpPr txBox="1"/>
          <p:nvPr>
            <p:ph idx="1" type="body"/>
          </p:nvPr>
        </p:nvSpPr>
        <p:spPr>
          <a:xfrm>
            <a:off x="914400" y="3300413"/>
            <a:ext cx="73152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Tạo định nghĩa giao diện và các tệp cấu hình ứng dụng.</a:t>
            </a:r>
            <a:endParaRPr/>
          </a:p>
          <a:p>
            <a:pPr indent="0" lvl="0" marL="0" rtl="0" algn="l">
              <a:spcBef>
                <a:spcPts val="0"/>
              </a:spcBef>
              <a:spcAft>
                <a:spcPts val="0"/>
              </a:spcAft>
              <a:buNone/>
            </a:pPr>
            <a:r>
              <a:rPr lang="en-US"/>
              <a:t>Sử dụng trình biên dịch MIDL để tạo các cuống máy khách và máy chủ ngôn ngữ C và các tiêu đề từ các tệp đó.</a:t>
            </a:r>
            <a:endParaRPr/>
          </a:p>
          <a:p>
            <a:pPr indent="0" lvl="0" marL="0" rtl="0" algn="l">
              <a:spcBef>
                <a:spcPts val="0"/>
              </a:spcBef>
              <a:spcAft>
                <a:spcPts val="0"/>
              </a:spcAft>
              <a:buNone/>
            </a:pPr>
            <a:r>
              <a:rPr lang="en-US"/>
              <a:t>Viết một ứng dụng khách quản lý kết nối của nó với máy chủ.</a:t>
            </a:r>
            <a:endParaRPr/>
          </a:p>
          <a:p>
            <a:pPr indent="0" lvl="0" marL="0" rtl="0" algn="l">
              <a:spcBef>
                <a:spcPts val="0"/>
              </a:spcBef>
              <a:spcAft>
                <a:spcPts val="0"/>
              </a:spcAft>
              <a:buNone/>
            </a:pPr>
            <a:r>
              <a:rPr lang="en-US"/>
              <a:t>Viết một ứng dụng máy chủ có chứa các thủ tục thực tế từ xa.</a:t>
            </a:r>
            <a:endParaRPr/>
          </a:p>
          <a:p>
            <a:pPr indent="0" lvl="0" marL="0" rtl="0" algn="l">
              <a:spcBef>
                <a:spcPts val="0"/>
              </a:spcBef>
              <a:spcAft>
                <a:spcPts val="0"/>
              </a:spcAft>
              <a:buNone/>
            </a:pPr>
            <a:r>
              <a:rPr lang="en-US"/>
              <a:t>Biên dịch và liên kết các tệp này với thư viện thời gian chạy RPC để tạo ra ứng dụng phân tán.</a:t>
            </a:r>
            <a:endParaRPr/>
          </a:p>
        </p:txBody>
      </p:sp>
      <p:sp>
        <p:nvSpPr>
          <p:cNvPr id="322" name="Google Shape;322;p12:notes"/>
          <p:cNvSpPr txBox="1"/>
          <p:nvPr>
            <p:ph idx="12" type="sldNum"/>
          </p:nvPr>
        </p:nvSpPr>
        <p:spPr>
          <a:xfrm>
            <a:off x="5180013" y="6513513"/>
            <a:ext cx="39624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1cee87ea4c_0_214: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1cee87ea4c_0_214: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31cee87ea4c_0_214: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1cee87ea4c_0_22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1cee87ea4c_0_222: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1cee87ea4c_0_222: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1febe01e8e_0_0: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31febe01e8e_0_0: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1febe01e8e_0_0: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1cee87ea4c_0_253: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31cee87ea4c_0_253: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31cee87ea4c_0_253: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1cee87ea4c_0_27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31cee87ea4c_0_272: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g31cee87ea4c_0_272: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1cee87ea4c_0_263: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1cee87ea4c_0_263: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1cee87ea4c_0_263: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1cee87ea4c_0_280: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1cee87ea4c_0_280: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1cee87ea4c_0_280: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1cee87ea4c_0_290: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1cee87ea4c_0_290: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g31cee87ea4c_0_290: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1cee87ea4c_0_299: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31cee87ea4c_0_299: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g31cee87ea4c_0_299: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1cee87ea4c_0_332: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31cee87ea4c_0_332: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1cee87ea4c_0_332: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1cee87ea4c_0_340: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1cee87ea4c_0_340: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31cee87ea4c_0_340: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1cee87ea4c_0_348:notes"/>
          <p:cNvSpPr/>
          <p:nvPr>
            <p:ph idx="2" type="sldImg"/>
          </p:nvPr>
        </p:nvSpPr>
        <p:spPr>
          <a:xfrm>
            <a:off x="251460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1cee87ea4c_0_348:notes"/>
          <p:cNvSpPr txBox="1"/>
          <p:nvPr>
            <p:ph idx="1" type="body"/>
          </p:nvPr>
        </p:nvSpPr>
        <p:spPr>
          <a:xfrm>
            <a:off x="914400" y="3300413"/>
            <a:ext cx="73152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g31cee87ea4c_0_348:notes"/>
          <p:cNvSpPr txBox="1"/>
          <p:nvPr>
            <p:ph idx="12" type="sldNum"/>
          </p:nvPr>
        </p:nvSpPr>
        <p:spPr>
          <a:xfrm>
            <a:off x="5180013" y="6513513"/>
            <a:ext cx="3962400" cy="344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2"/>
          <p:cNvSpPr/>
          <p:nvPr>
            <p:ph idx="2" type="pic"/>
          </p:nvPr>
        </p:nvSpPr>
        <p:spPr>
          <a:xfrm>
            <a:off x="5183188" y="987425"/>
            <a:ext cx="6172200" cy="4873625"/>
          </a:xfrm>
          <a:prstGeom prst="rect">
            <a:avLst/>
          </a:prstGeom>
          <a:noFill/>
          <a:ln>
            <a:noFill/>
          </a:ln>
        </p:spPr>
      </p:sp>
      <p:sp>
        <p:nvSpPr>
          <p:cNvPr id="68" name="Google Shape;68;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algn="r">
              <a:spcBef>
                <a:spcPts val="0"/>
              </a:spcBef>
              <a:buNone/>
              <a:defRPr/>
            </a:lvl1pPr>
            <a:lvl2pPr indent="0" lvl="1" marL="38100" algn="r">
              <a:spcBef>
                <a:spcPts val="0"/>
              </a:spcBef>
              <a:buNone/>
              <a:defRPr/>
            </a:lvl2pPr>
            <a:lvl3pPr indent="0" lvl="2" marL="38100" algn="r">
              <a:spcBef>
                <a:spcPts val="0"/>
              </a:spcBef>
              <a:buNone/>
              <a:defRPr/>
            </a:lvl3pPr>
            <a:lvl4pPr indent="0" lvl="3" marL="38100" algn="r">
              <a:spcBef>
                <a:spcPts val="0"/>
              </a:spcBef>
              <a:buNone/>
              <a:defRPr/>
            </a:lvl4pPr>
            <a:lvl5pPr indent="0" lvl="4" marL="38100" algn="r">
              <a:spcBef>
                <a:spcPts val="0"/>
              </a:spcBef>
              <a:buNone/>
              <a:defRPr/>
            </a:lvl5pPr>
            <a:lvl6pPr indent="0" lvl="5" marL="38100" algn="r">
              <a:spcBef>
                <a:spcPts val="0"/>
              </a:spcBef>
              <a:buNone/>
              <a:defRPr/>
            </a:lvl6pPr>
            <a:lvl7pPr indent="0" lvl="6" marL="38100" algn="r">
              <a:spcBef>
                <a:spcPts val="0"/>
              </a:spcBef>
              <a:buNone/>
              <a:defRPr/>
            </a:lvl7pPr>
            <a:lvl8pPr indent="0" lvl="7" marL="38100" algn="r">
              <a:spcBef>
                <a:spcPts val="0"/>
              </a:spcBef>
              <a:buNone/>
              <a:defRPr/>
            </a:lvl8pPr>
            <a:lvl9pPr indent="0" lvl="8" marL="38100" algn="r">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38100" marR="0" rtl="0" algn="r">
              <a:spcBef>
                <a:spcPts val="0"/>
              </a:spcBef>
              <a:buNone/>
              <a:defRPr b="0" i="0" sz="1200" u="none" cap="none" strike="noStrike">
                <a:solidFill>
                  <a:srgbClr val="888888"/>
                </a:solidFill>
                <a:latin typeface="Calibri"/>
                <a:ea typeface="Calibri"/>
                <a:cs typeface="Calibri"/>
                <a:sym typeface="Calibri"/>
              </a:defRPr>
            </a:lvl1pPr>
            <a:lvl2pPr indent="0" lvl="1" marL="38100" marR="0" rtl="0" algn="r">
              <a:spcBef>
                <a:spcPts val="0"/>
              </a:spcBef>
              <a:buNone/>
              <a:defRPr b="0" i="0" sz="1200" u="none" cap="none" strike="noStrike">
                <a:solidFill>
                  <a:srgbClr val="888888"/>
                </a:solidFill>
                <a:latin typeface="Calibri"/>
                <a:ea typeface="Calibri"/>
                <a:cs typeface="Calibri"/>
                <a:sym typeface="Calibri"/>
              </a:defRPr>
            </a:lvl2pPr>
            <a:lvl3pPr indent="0" lvl="2" marL="38100" marR="0" rtl="0" algn="r">
              <a:spcBef>
                <a:spcPts val="0"/>
              </a:spcBef>
              <a:buNone/>
              <a:defRPr b="0" i="0" sz="1200" u="none" cap="none" strike="noStrike">
                <a:solidFill>
                  <a:srgbClr val="888888"/>
                </a:solidFill>
                <a:latin typeface="Calibri"/>
                <a:ea typeface="Calibri"/>
                <a:cs typeface="Calibri"/>
                <a:sym typeface="Calibri"/>
              </a:defRPr>
            </a:lvl3pPr>
            <a:lvl4pPr indent="0" lvl="3" marL="38100" marR="0" rtl="0" algn="r">
              <a:spcBef>
                <a:spcPts val="0"/>
              </a:spcBef>
              <a:buNone/>
              <a:defRPr b="0" i="0" sz="1200" u="none" cap="none" strike="noStrike">
                <a:solidFill>
                  <a:srgbClr val="888888"/>
                </a:solidFill>
                <a:latin typeface="Calibri"/>
                <a:ea typeface="Calibri"/>
                <a:cs typeface="Calibri"/>
                <a:sym typeface="Calibri"/>
              </a:defRPr>
            </a:lvl4pPr>
            <a:lvl5pPr indent="0" lvl="4" marL="38100" marR="0" rtl="0" algn="r">
              <a:spcBef>
                <a:spcPts val="0"/>
              </a:spcBef>
              <a:buNone/>
              <a:defRPr b="0" i="0" sz="1200" u="none" cap="none" strike="noStrike">
                <a:solidFill>
                  <a:srgbClr val="888888"/>
                </a:solidFill>
                <a:latin typeface="Calibri"/>
                <a:ea typeface="Calibri"/>
                <a:cs typeface="Calibri"/>
                <a:sym typeface="Calibri"/>
              </a:defRPr>
            </a:lvl5pPr>
            <a:lvl6pPr indent="0" lvl="5" marL="38100" marR="0" rtl="0" algn="r">
              <a:spcBef>
                <a:spcPts val="0"/>
              </a:spcBef>
              <a:buNone/>
              <a:defRPr b="0" i="0" sz="1200" u="none" cap="none" strike="noStrike">
                <a:solidFill>
                  <a:srgbClr val="888888"/>
                </a:solidFill>
                <a:latin typeface="Calibri"/>
                <a:ea typeface="Calibri"/>
                <a:cs typeface="Calibri"/>
                <a:sym typeface="Calibri"/>
              </a:defRPr>
            </a:lvl6pPr>
            <a:lvl7pPr indent="0" lvl="6" marL="38100" marR="0" rtl="0" algn="r">
              <a:spcBef>
                <a:spcPts val="0"/>
              </a:spcBef>
              <a:buNone/>
              <a:defRPr b="0" i="0" sz="1200" u="none" cap="none" strike="noStrike">
                <a:solidFill>
                  <a:srgbClr val="888888"/>
                </a:solidFill>
                <a:latin typeface="Calibri"/>
                <a:ea typeface="Calibri"/>
                <a:cs typeface="Calibri"/>
                <a:sym typeface="Calibri"/>
              </a:defRPr>
            </a:lvl7pPr>
            <a:lvl8pPr indent="0" lvl="7" marL="38100" marR="0" rtl="0" algn="r">
              <a:spcBef>
                <a:spcPts val="0"/>
              </a:spcBef>
              <a:buNone/>
              <a:defRPr b="0" i="0" sz="1200" u="none" cap="none" strike="noStrike">
                <a:solidFill>
                  <a:srgbClr val="888888"/>
                </a:solidFill>
                <a:latin typeface="Calibri"/>
                <a:ea typeface="Calibri"/>
                <a:cs typeface="Calibri"/>
                <a:sym typeface="Calibri"/>
              </a:defRPr>
            </a:lvl8pPr>
            <a:lvl9pPr indent="0" lvl="8" marL="3810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www.opengroup.org/dc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docs.microsoft.com/en-us/windows/win32/rpc/tutorial" TargetMode="External"/><Relationship Id="rId4" Type="http://schemas.openxmlformats.org/officeDocument/2006/relationships/hyperlink" Target="https://docs.microsoft.com/en-us/windows/win32/rpc/tutoria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87" name="Shape 87"/>
        <p:cNvGrpSpPr/>
        <p:nvPr/>
      </p:nvGrpSpPr>
      <p:grpSpPr>
        <a:xfrm>
          <a:off x="0" y="0"/>
          <a:ext cx="0" cy="0"/>
          <a:chOff x="0" y="0"/>
          <a:chExt cx="0" cy="0"/>
        </a:xfrm>
      </p:grpSpPr>
      <p:sp>
        <p:nvSpPr>
          <p:cNvPr id="88" name="Google Shape;88;p1"/>
          <p:cNvSpPr txBox="1"/>
          <p:nvPr/>
        </p:nvSpPr>
        <p:spPr>
          <a:xfrm>
            <a:off x="3536442" y="1281810"/>
            <a:ext cx="2564130"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0" i="0" lang="en-US" sz="1800" u="none" cap="none" strike="noStrike">
                <a:solidFill>
                  <a:srgbClr val="FFFFFF"/>
                </a:solidFill>
                <a:latin typeface="Arial"/>
                <a:ea typeface="Arial"/>
                <a:cs typeface="Arial"/>
                <a:sym typeface="Arial"/>
              </a:rPr>
              <a:t>Thiết kế và lập trình Web</a:t>
            </a:r>
            <a:endParaRPr b="0" i="0" sz="1800" u="none" cap="none" strike="noStrike">
              <a:solidFill>
                <a:schemeClr val="dk1"/>
              </a:solidFill>
              <a:latin typeface="Arial"/>
              <a:ea typeface="Arial"/>
              <a:cs typeface="Arial"/>
              <a:sym typeface="Arial"/>
            </a:endParaRPr>
          </a:p>
        </p:txBody>
      </p:sp>
      <p:sp>
        <p:nvSpPr>
          <p:cNvPr id="89" name="Google Shape;89;p1"/>
          <p:cNvSpPr txBox="1"/>
          <p:nvPr/>
        </p:nvSpPr>
        <p:spPr>
          <a:xfrm>
            <a:off x="7129653" y="5349951"/>
            <a:ext cx="2698750" cy="452120"/>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b="1" i="1" lang="en-US" sz="2800" u="none" cap="none" strike="noStrike">
                <a:solidFill>
                  <a:srgbClr val="FFFFFF"/>
                </a:solidFill>
                <a:latin typeface="Arial"/>
                <a:ea typeface="Arial"/>
                <a:cs typeface="Arial"/>
                <a:sym typeface="Arial"/>
              </a:rPr>
              <a:t>Viện CNTT &amp; TT</a:t>
            </a:r>
            <a:endParaRPr b="0" i="0" sz="2800" u="none" cap="none" strike="noStrike">
              <a:solidFill>
                <a:schemeClr val="dk1"/>
              </a:solidFill>
              <a:latin typeface="Arial"/>
              <a:ea typeface="Arial"/>
              <a:cs typeface="Arial"/>
              <a:sym typeface="Arial"/>
            </a:endParaRPr>
          </a:p>
        </p:txBody>
      </p:sp>
      <p:sp>
        <p:nvSpPr>
          <p:cNvPr id="90" name="Google Shape;90;p1"/>
          <p:cNvSpPr txBox="1"/>
          <p:nvPr>
            <p:ph type="ctrTitle"/>
          </p:nvPr>
        </p:nvSpPr>
        <p:spPr>
          <a:xfrm>
            <a:off x="2667000" y="1122363"/>
            <a:ext cx="6858000" cy="214058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13671"/>
              </a:buClr>
              <a:buSzPts val="5400"/>
              <a:buFont typeface="Calibri"/>
              <a:buNone/>
            </a:pPr>
            <a:r>
              <a:rPr b="1" lang="en-US" sz="5400">
                <a:solidFill>
                  <a:srgbClr val="213671"/>
                </a:solidFill>
                <a:latin typeface="Calibri"/>
                <a:ea typeface="Calibri"/>
                <a:cs typeface="Calibri"/>
                <a:sym typeface="Calibri"/>
              </a:rPr>
              <a:t>ỨNG DỤNG PHÂN TÁN</a:t>
            </a:r>
            <a:br>
              <a:rPr b="1" lang="en-US" sz="5400">
                <a:solidFill>
                  <a:srgbClr val="213671"/>
                </a:solidFill>
                <a:latin typeface="Calibri"/>
                <a:ea typeface="Calibri"/>
                <a:cs typeface="Calibri"/>
                <a:sym typeface="Calibri"/>
              </a:rPr>
            </a:br>
            <a:r>
              <a:rPr b="1" lang="en-US" sz="3600">
                <a:solidFill>
                  <a:srgbClr val="213671"/>
                </a:solidFill>
                <a:latin typeface="Calibri"/>
                <a:ea typeface="Calibri"/>
                <a:cs typeface="Calibri"/>
                <a:sym typeface="Calibri"/>
              </a:rPr>
              <a:t>III. Trao đổi thông tin</a:t>
            </a:r>
            <a:endParaRPr b="1" sz="5400">
              <a:solidFill>
                <a:srgbClr val="213671"/>
              </a:solidFill>
              <a:latin typeface="Calibri"/>
              <a:ea typeface="Calibri"/>
              <a:cs typeface="Calibri"/>
              <a:sym typeface="Calibri"/>
            </a:endParaRPr>
          </a:p>
        </p:txBody>
      </p:sp>
      <p:sp>
        <p:nvSpPr>
          <p:cNvPr id="91" name="Google Shape;91;p1"/>
          <p:cNvSpPr txBox="1"/>
          <p:nvPr>
            <p:ph idx="1" type="subTitle"/>
          </p:nvPr>
        </p:nvSpPr>
        <p:spPr>
          <a:xfrm>
            <a:off x="2666999" y="4579542"/>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b="1" lang="en-US">
                <a:solidFill>
                  <a:schemeClr val="lt1"/>
                </a:solidFill>
                <a:latin typeface="Arial"/>
                <a:ea typeface="Arial"/>
                <a:cs typeface="Arial"/>
                <a:sym typeface="Arial"/>
              </a:rPr>
              <a:t>Nguyễn Thành Trung – Khoa Công nghệ thông tin</a:t>
            </a:r>
            <a:endParaRPr/>
          </a:p>
          <a:p>
            <a:pPr indent="0" lvl="0" marL="0" rtl="0" algn="ctr">
              <a:lnSpc>
                <a:spcPct val="90000"/>
              </a:lnSpc>
              <a:spcBef>
                <a:spcPts val="1000"/>
              </a:spcBef>
              <a:spcAft>
                <a:spcPts val="0"/>
              </a:spcAft>
              <a:buClr>
                <a:schemeClr val="lt1"/>
              </a:buClr>
              <a:buSzPts val="1600"/>
              <a:buNone/>
            </a:pPr>
            <a:r>
              <a:rPr lang="en-US" sz="1600">
                <a:solidFill>
                  <a:schemeClr val="lt1"/>
                </a:solidFill>
                <a:latin typeface="Arial"/>
                <a:ea typeface="Arial"/>
                <a:cs typeface="Arial"/>
                <a:sym typeface="Arial"/>
              </a:rPr>
              <a:t>trung.nguyenthanh@phenikaa-uni.edu.vn</a:t>
            </a:r>
            <a:endParaRPr/>
          </a:p>
        </p:txBody>
      </p:sp>
      <p:sp>
        <p:nvSpPr>
          <p:cNvPr id="92" name="Google Shape;92;p1"/>
          <p:cNvSpPr/>
          <p:nvPr/>
        </p:nvSpPr>
        <p:spPr>
          <a:xfrm>
            <a:off x="0" y="4412612"/>
            <a:ext cx="12192000" cy="2445391"/>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Calibri"/>
                <a:ea typeface="Calibri"/>
                <a:cs typeface="Calibri"/>
                <a:sym typeface="Calibri"/>
              </a:rPr>
              <a:t>Nhóm chuyên môn UDPT – Trường Công nghệ thông tin Phenikaa</a:t>
            </a:r>
            <a:endParaRPr b="1" i="0" sz="20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0" i="0" lang="en-US" sz="2000" u="none" cap="none" strike="noStrike">
                <a:solidFill>
                  <a:schemeClr val="lt1"/>
                </a:solidFill>
                <a:latin typeface="Calibri"/>
                <a:ea typeface="Calibri"/>
                <a:cs typeface="Calibri"/>
                <a:sym typeface="Calibri"/>
              </a:rPr>
              <a:t>(Trần Đăng Hoan, Đỗ Quốc Trường, Nguyễn Thành Trung, Phạm Kim Thành, Nguyễn Hữu Đạt)</a:t>
            </a:r>
            <a:endParaRPr b="0" i="0" sz="2000" u="none" cap="none" strike="noStrike">
              <a:solidFill>
                <a:schemeClr val="lt1"/>
              </a:solidFill>
              <a:latin typeface="Calibri"/>
              <a:ea typeface="Calibri"/>
              <a:cs typeface="Calibri"/>
              <a:sym typeface="Calibri"/>
            </a:endParaRPr>
          </a:p>
        </p:txBody>
      </p:sp>
      <p:sp>
        <p:nvSpPr>
          <p:cNvPr id="93" name="Google Shape;93;p1"/>
          <p:cNvSpPr/>
          <p:nvPr/>
        </p:nvSpPr>
        <p:spPr>
          <a:xfrm>
            <a:off x="0" y="41148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A picture containing text&#10;&#10;Description automatically generated" id="94" name="Google Shape;94;p1"/>
          <p:cNvPicPr preferRelativeResize="0"/>
          <p:nvPr/>
        </p:nvPicPr>
        <p:blipFill rotWithShape="1">
          <a:blip r:embed="rId3">
            <a:alphaModFix/>
          </a:blip>
          <a:srcRect b="0" l="0" r="0" t="0"/>
          <a:stretch/>
        </p:blipFill>
        <p:spPr>
          <a:xfrm>
            <a:off x="0" y="271253"/>
            <a:ext cx="2684477" cy="462203"/>
          </a:xfrm>
          <a:prstGeom prst="rect">
            <a:avLst/>
          </a:prstGeom>
          <a:noFill/>
          <a:ln>
            <a:noFill/>
          </a:ln>
        </p:spPr>
      </p:pic>
      <p:sp>
        <p:nvSpPr>
          <p:cNvPr id="95" name="Google Shape;95;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nvSpPr>
        <p:spPr>
          <a:xfrm>
            <a:off x="1066800" y="1752600"/>
            <a:ext cx="7924800" cy="2173500"/>
          </a:xfrm>
          <a:prstGeom prst="rect">
            <a:avLst/>
          </a:prstGeom>
          <a:noFill/>
          <a:ln>
            <a:noFill/>
          </a:ln>
        </p:spPr>
        <p:txBody>
          <a:bodyPr anchorCtr="0" anchor="t" bIns="0" lIns="0" spcFirstLastPara="1" rIns="0" wrap="square" tIns="102850">
            <a:spAutoFit/>
          </a:bodyPr>
          <a:lstStyle/>
          <a:p>
            <a:pPr indent="0" lvl="0" marL="12065" marR="0" rtl="0" algn="l">
              <a:spcBef>
                <a:spcPts val="0"/>
              </a:spcBef>
              <a:spcAft>
                <a:spcPts val="0"/>
              </a:spcAft>
              <a:buNone/>
            </a:pPr>
            <a:r>
              <a:rPr b="0" i="0" lang="en-US" sz="2900" u="none" cap="none" strike="noStrike">
                <a:solidFill>
                  <a:schemeClr val="dk1"/>
                </a:solidFill>
                <a:latin typeface="Calibri"/>
                <a:ea typeface="Calibri"/>
                <a:cs typeface="Calibri"/>
                <a:sym typeface="Calibri"/>
              </a:rPr>
              <a:t>1. Trao đổi thông tin giữa các tiến trình</a:t>
            </a:r>
            <a:endParaRPr b="0" i="0" sz="2900" u="none" cap="none" strike="noStrike">
              <a:solidFill>
                <a:schemeClr val="dk1"/>
              </a:solidFill>
              <a:latin typeface="Calibri"/>
              <a:ea typeface="Calibri"/>
              <a:cs typeface="Calibri"/>
              <a:sym typeface="Calibri"/>
            </a:endParaRPr>
          </a:p>
          <a:p>
            <a:pPr indent="0" lvl="0" marL="12065" marR="0" rtl="0" algn="l">
              <a:spcBef>
                <a:spcPts val="810"/>
              </a:spcBef>
              <a:spcAft>
                <a:spcPts val="0"/>
              </a:spcAft>
              <a:buNone/>
            </a:pPr>
            <a:r>
              <a:rPr b="0" i="0" lang="en-US" sz="2900" u="none" cap="none" strike="noStrike">
                <a:solidFill>
                  <a:schemeClr val="dk1"/>
                </a:solidFill>
                <a:latin typeface="Calibri"/>
                <a:ea typeface="Calibri"/>
                <a:cs typeface="Calibri"/>
                <a:sym typeface="Calibri"/>
              </a:rPr>
              <a:t>2. Lời gọi thủ tục từ xa</a:t>
            </a:r>
            <a:endParaRPr b="0" i="0" sz="2900" u="none" cap="none" strike="noStrike">
              <a:solidFill>
                <a:schemeClr val="dk1"/>
              </a:solidFill>
              <a:latin typeface="Calibri"/>
              <a:ea typeface="Calibri"/>
              <a:cs typeface="Calibri"/>
              <a:sym typeface="Calibri"/>
            </a:endParaRPr>
          </a:p>
          <a:p>
            <a:pPr indent="0" lvl="0" marL="12065" rtl="0" algn="l">
              <a:spcBef>
                <a:spcPts val="695"/>
              </a:spcBef>
              <a:spcAft>
                <a:spcPts val="0"/>
              </a:spcAft>
              <a:buClr>
                <a:schemeClr val="dk1"/>
              </a:buClr>
              <a:buFont typeface="Arial"/>
              <a:buNone/>
            </a:pPr>
            <a:r>
              <a:rPr lang="en-US" sz="2900">
                <a:solidFill>
                  <a:schemeClr val="dk1"/>
                </a:solidFill>
                <a:latin typeface="Calibri"/>
                <a:ea typeface="Calibri"/>
                <a:cs typeface="Calibri"/>
                <a:sym typeface="Calibri"/>
              </a:rPr>
              <a:t>3. Trao đổi thông tin hướng thông điệp</a:t>
            </a:r>
            <a:endParaRPr sz="2900">
              <a:solidFill>
                <a:schemeClr val="dk1"/>
              </a:solidFill>
              <a:latin typeface="Calibri"/>
              <a:ea typeface="Calibri"/>
              <a:cs typeface="Calibri"/>
              <a:sym typeface="Calibri"/>
            </a:endParaRPr>
          </a:p>
          <a:p>
            <a:pPr indent="0" lvl="0" marL="12065" rtl="0" algn="l">
              <a:spcBef>
                <a:spcPts val="710"/>
              </a:spcBef>
              <a:spcAft>
                <a:spcPts val="0"/>
              </a:spcAft>
              <a:buClr>
                <a:schemeClr val="dk1"/>
              </a:buClr>
              <a:buFont typeface="Arial"/>
              <a:buNone/>
            </a:pPr>
            <a:r>
              <a:rPr lang="en-US" sz="2900">
                <a:solidFill>
                  <a:schemeClr val="dk1"/>
                </a:solidFill>
                <a:latin typeface="Calibri"/>
                <a:ea typeface="Calibri"/>
                <a:cs typeface="Calibri"/>
                <a:sym typeface="Calibri"/>
              </a:rPr>
              <a:t>4. Trao đổi thông tin hướng dòng</a:t>
            </a:r>
            <a:endParaRPr sz="2900">
              <a:solidFill>
                <a:schemeClr val="dk1"/>
              </a:solidFill>
              <a:latin typeface="Calibri"/>
              <a:ea typeface="Calibri"/>
              <a:cs typeface="Calibri"/>
              <a:sym typeface="Calibri"/>
            </a:endParaRPr>
          </a:p>
        </p:txBody>
      </p:sp>
      <p:sp>
        <p:nvSpPr>
          <p:cNvPr id="101" name="Google Shape;101;p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2"/>
          <p:cNvSpPr txBox="1"/>
          <p:nvPr>
            <p:ph type="title"/>
          </p:nvPr>
        </p:nvSpPr>
        <p:spPr>
          <a:xfrm>
            <a:off x="838200" y="365125"/>
            <a:ext cx="10515600" cy="5492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US">
                <a:solidFill>
                  <a:schemeClr val="lt1"/>
                </a:solidFill>
                <a:latin typeface="Calibri"/>
                <a:ea typeface="Calibri"/>
                <a:cs typeface="Calibri"/>
                <a:sym typeface="Calibri"/>
              </a:rPr>
              <a:t>NỘI DUNG</a:t>
            </a:r>
            <a:endParaRPr/>
          </a:p>
        </p:txBody>
      </p:sp>
      <p:sp>
        <p:nvSpPr>
          <p:cNvPr id="103" name="Google Shape;103;p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nvSpPr>
        <p:spPr>
          <a:xfrm>
            <a:off x="838200" y="1529267"/>
            <a:ext cx="10439400" cy="1398000"/>
          </a:xfrm>
          <a:prstGeom prst="rect">
            <a:avLst/>
          </a:prstGeom>
          <a:noFill/>
          <a:ln>
            <a:noFill/>
          </a:ln>
        </p:spPr>
        <p:txBody>
          <a:bodyPr anchorCtr="0" anchor="t" bIns="0" lIns="0" spcFirstLastPara="1" rIns="0" wrap="square" tIns="104125">
            <a:spAutoFit/>
          </a:bodyPr>
          <a:lstStyle/>
          <a:p>
            <a:pPr indent="-320675" lvl="0" marL="332740" marR="0" rtl="0" algn="l">
              <a:spcBef>
                <a:spcPts val="0"/>
              </a:spcBef>
              <a:spcAft>
                <a:spcPts val="0"/>
              </a:spcAft>
              <a:buClr>
                <a:srgbClr val="FB6923"/>
              </a:buClr>
              <a:buSzPts val="1650"/>
              <a:buFont typeface="Noto Sans Symbols"/>
              <a:buChar char="◻"/>
            </a:pPr>
            <a:r>
              <a:rPr lang="en-US" sz="2800">
                <a:solidFill>
                  <a:schemeClr val="dk1"/>
                </a:solidFill>
                <a:latin typeface="Calibri"/>
                <a:ea typeface="Calibri"/>
                <a:cs typeface="Calibri"/>
                <a:sym typeface="Calibri"/>
              </a:rPr>
              <a:t>1.1 Các giao thức phân tầng</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1.2 Trao đổi thông tin bằng UDP</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1.3 Trao đổi thông tin bằng TCP</a:t>
            </a:r>
            <a:endParaRPr sz="2800">
              <a:solidFill>
                <a:schemeClr val="dk1"/>
              </a:solidFill>
              <a:latin typeface="Calibri"/>
              <a:ea typeface="Calibri"/>
              <a:cs typeface="Calibri"/>
              <a:sym typeface="Calibri"/>
            </a:endParaRPr>
          </a:p>
        </p:txBody>
      </p:sp>
      <p:sp>
        <p:nvSpPr>
          <p:cNvPr id="110" name="Google Shape;110;p3"/>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3"/>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112" name="Google Shape;112;p3"/>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1cee87ea4c_0_8"/>
          <p:cNvSpPr txBox="1"/>
          <p:nvPr/>
        </p:nvSpPr>
        <p:spPr>
          <a:xfrm>
            <a:off x="838200" y="1529267"/>
            <a:ext cx="10439400" cy="5277000"/>
          </a:xfrm>
          <a:prstGeom prst="rect">
            <a:avLst/>
          </a:prstGeom>
          <a:noFill/>
          <a:ln>
            <a:noFill/>
          </a:ln>
        </p:spPr>
        <p:txBody>
          <a:bodyPr anchorCtr="0" anchor="t" bIns="0" lIns="0" spcFirstLastPara="1" rIns="0" wrap="square" tIns="104125">
            <a:spAutoFit/>
          </a:bodyPr>
          <a:lstStyle/>
          <a:p>
            <a:pPr indent="-320675" lvl="0" marL="332740" marR="0" rtl="0" algn="l">
              <a:spcBef>
                <a:spcPts val="0"/>
              </a:spcBef>
              <a:spcAft>
                <a:spcPts val="0"/>
              </a:spcAft>
              <a:buClr>
                <a:srgbClr val="FB6923"/>
              </a:buClr>
              <a:buSzPts val="1650"/>
              <a:buFont typeface="Noto Sans Symbols"/>
              <a:buChar char="◻"/>
            </a:pPr>
            <a:r>
              <a:rPr lang="en-US" sz="2800">
                <a:solidFill>
                  <a:schemeClr val="dk1"/>
                </a:solidFill>
                <a:latin typeface="Calibri"/>
                <a:ea typeface="Calibri"/>
                <a:cs typeface="Calibri"/>
                <a:sym typeface="Calibri"/>
              </a:rPr>
              <a:t>Giao thức</a:t>
            </a:r>
            <a:endParaRPr sz="2800">
              <a:solidFill>
                <a:schemeClr val="dk1"/>
              </a:solidFill>
              <a:latin typeface="Calibri"/>
              <a:ea typeface="Calibri"/>
              <a:cs typeface="Calibri"/>
              <a:sym typeface="Calibri"/>
            </a:endParaRPr>
          </a:p>
          <a:p>
            <a:pPr indent="-406400" lvl="0" marL="9144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Cấu trúc thông điệp</a:t>
            </a:r>
            <a:endParaRPr sz="2800">
              <a:solidFill>
                <a:schemeClr val="dk1"/>
              </a:solidFill>
              <a:latin typeface="Calibri"/>
              <a:ea typeface="Calibri"/>
              <a:cs typeface="Calibri"/>
              <a:sym typeface="Calibri"/>
            </a:endParaRPr>
          </a:p>
          <a:p>
            <a:pPr indent="-406400" lvl="0" marL="9144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Kích cỡ thông điệp</a:t>
            </a:r>
            <a:endParaRPr sz="2800">
              <a:solidFill>
                <a:schemeClr val="dk1"/>
              </a:solidFill>
              <a:latin typeface="Calibri"/>
              <a:ea typeface="Calibri"/>
              <a:cs typeface="Calibri"/>
              <a:sym typeface="Calibri"/>
            </a:endParaRPr>
          </a:p>
          <a:p>
            <a:pPr indent="-406400" lvl="0" marL="9144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Thứ tự gửi thông điệp</a:t>
            </a:r>
            <a:endParaRPr sz="2800">
              <a:solidFill>
                <a:schemeClr val="dk1"/>
              </a:solidFill>
              <a:latin typeface="Calibri"/>
              <a:ea typeface="Calibri"/>
              <a:cs typeface="Calibri"/>
              <a:sym typeface="Calibri"/>
            </a:endParaRPr>
          </a:p>
          <a:p>
            <a:pPr indent="-406400" lvl="0" marL="9144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Cơ chế phát hiện thông điệp hỏng hay bị mất</a:t>
            </a:r>
            <a:endParaRPr sz="2800">
              <a:solidFill>
                <a:schemeClr val="dk1"/>
              </a:solidFill>
              <a:latin typeface="Calibri"/>
              <a:ea typeface="Calibri"/>
              <a:cs typeface="Calibri"/>
              <a:sym typeface="Calibri"/>
            </a:endParaRPr>
          </a:p>
          <a:p>
            <a:pPr indent="-406400" lvl="0" marL="9144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V.v….</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Phân tầng</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Các loại giao thức:</a:t>
            </a:r>
            <a:endParaRPr sz="2800">
              <a:solidFill>
                <a:schemeClr val="dk1"/>
              </a:solidFill>
              <a:latin typeface="Calibri"/>
              <a:ea typeface="Calibri"/>
              <a:cs typeface="Calibri"/>
              <a:sym typeface="Calibri"/>
            </a:endParaRPr>
          </a:p>
          <a:p>
            <a:pPr indent="0" lvl="0" marL="914400" marR="0" rtl="0" algn="l">
              <a:spcBef>
                <a:spcPts val="0"/>
              </a:spcBef>
              <a:spcAft>
                <a:spcPts val="0"/>
              </a:spcAft>
              <a:buNone/>
            </a:pPr>
            <a:r>
              <a:rPr lang="en-US" sz="2800">
                <a:solidFill>
                  <a:schemeClr val="dk1"/>
                </a:solidFill>
                <a:latin typeface="Calibri"/>
                <a:ea typeface="Calibri"/>
                <a:cs typeface="Calibri"/>
                <a:sym typeface="Calibri"/>
              </a:rPr>
              <a:t>Các loại giao thức trong mạng máy tính có thể được phân loại dựa trên hai tiêu chí chính: </a:t>
            </a:r>
            <a:r>
              <a:rPr b="1" lang="en-US" sz="2800">
                <a:solidFill>
                  <a:schemeClr val="dk1"/>
                </a:solidFill>
                <a:latin typeface="Calibri"/>
                <a:ea typeface="Calibri"/>
                <a:cs typeface="Calibri"/>
                <a:sym typeface="Calibri"/>
              </a:rPr>
              <a:t>hướng kết nối (connection-oriented)</a:t>
            </a:r>
            <a:r>
              <a:rPr lang="en-US" sz="2800">
                <a:solidFill>
                  <a:schemeClr val="dk1"/>
                </a:solidFill>
                <a:latin typeface="Calibri"/>
                <a:ea typeface="Calibri"/>
                <a:cs typeface="Calibri"/>
                <a:sym typeface="Calibri"/>
              </a:rPr>
              <a:t> và </a:t>
            </a:r>
            <a:r>
              <a:rPr b="1" lang="en-US" sz="2800">
                <a:solidFill>
                  <a:schemeClr val="dk1"/>
                </a:solidFill>
                <a:latin typeface="Calibri"/>
                <a:ea typeface="Calibri"/>
                <a:cs typeface="Calibri"/>
                <a:sym typeface="Calibri"/>
              </a:rPr>
              <a:t>tin cậy (reliable)</a:t>
            </a:r>
            <a:endParaRPr sz="2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19" name="Google Shape;119;g31cee87ea4c_0_8"/>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g31cee87ea4c_0_8"/>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121" name="Google Shape;121;g31cee87ea4c_0_8"/>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1cee87ea4c_0_18"/>
          <p:cNvSpPr txBox="1"/>
          <p:nvPr/>
        </p:nvSpPr>
        <p:spPr>
          <a:xfrm>
            <a:off x="346050" y="1529275"/>
            <a:ext cx="10931700" cy="54924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Giao thức hướng kết nối (Connection-oriented)</a:t>
            </a:r>
            <a:endParaRPr b="1" sz="2800">
              <a:solidFill>
                <a:schemeClr val="dk1"/>
              </a:solidFill>
              <a:latin typeface="Calibri"/>
              <a:ea typeface="Calibri"/>
              <a:cs typeface="Calibri"/>
              <a:sym typeface="Calibri"/>
            </a:endParaRPr>
          </a:p>
          <a:p>
            <a:pPr indent="-320675" lvl="0" marL="332740" marR="0" rtl="0" algn="l">
              <a:spcBef>
                <a:spcPts val="0"/>
              </a:spcBef>
              <a:spcAft>
                <a:spcPts val="0"/>
              </a:spcAft>
              <a:buClr>
                <a:srgbClr val="FB6923"/>
              </a:buClr>
              <a:buSzPts val="1650"/>
              <a:buFont typeface="Noto Sans Symbols"/>
              <a:buChar char="◻"/>
            </a:pPr>
            <a:r>
              <a:rPr b="1" lang="en-US" sz="2800">
                <a:solidFill>
                  <a:schemeClr val="dk1"/>
                </a:solidFill>
                <a:latin typeface="Calibri"/>
                <a:ea typeface="Calibri"/>
                <a:cs typeface="Calibri"/>
                <a:sym typeface="Calibri"/>
              </a:rPr>
              <a:t>Định nghĩa</a:t>
            </a:r>
            <a:r>
              <a:rPr lang="en-US" sz="2800">
                <a:solidFill>
                  <a:schemeClr val="dk1"/>
                </a:solidFill>
                <a:latin typeface="Calibri"/>
                <a:ea typeface="Calibri"/>
                <a:cs typeface="Calibri"/>
                <a:sym typeface="Calibri"/>
              </a:rPr>
              <a:t>: Giao thức yêu cầu thiết lập kết nối trước khi trao đổi dữ liệu. Hai bên (máy gửi và máy nhận) cần đồng ý và duy trì kết nối trong suốt quá trình truyền thông.</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Đặc điểm</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Đảm bảo dữ liệu được truyền theo thứ tự.</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Có kiểm tra lỗi và cơ chế phục hồi dữ liệu bị mất.</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Thứ tự gửi thông điệp</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Chậm hơn vì cần thiết lập và duy trì kết nối.</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Ví dụ giao thức</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61950" lvl="1" marL="914400" marR="0" rtl="0" algn="l">
              <a:spcBef>
                <a:spcPts val="0"/>
              </a:spcBef>
              <a:spcAft>
                <a:spcPts val="0"/>
              </a:spcAft>
              <a:buClr>
                <a:schemeClr val="dk1"/>
              </a:buClr>
              <a:buSzPts val="2100"/>
              <a:buFont typeface="Calibri"/>
              <a:buChar char="○"/>
            </a:pPr>
            <a:r>
              <a:rPr b="1" lang="en-US" sz="1600">
                <a:solidFill>
                  <a:schemeClr val="dk1"/>
                </a:solidFill>
                <a:latin typeface="Calibri"/>
                <a:ea typeface="Calibri"/>
                <a:cs typeface="Calibri"/>
                <a:sym typeface="Calibri"/>
              </a:rPr>
              <a:t>TCP (Transmission Control Protocol)</a:t>
            </a:r>
            <a:r>
              <a:rPr lang="en-US" sz="1600">
                <a:solidFill>
                  <a:schemeClr val="dk1"/>
                </a:solidFill>
                <a:latin typeface="Calibri"/>
                <a:ea typeface="Calibri"/>
                <a:cs typeface="Calibri"/>
                <a:sym typeface="Calibri"/>
              </a:rPr>
              <a:t>: Giao thức hướng kết nối phổ biến nhất, đảm bảo dữ liệu truyền đi đáng tin cậy.</a:t>
            </a:r>
            <a:endParaRPr sz="1600">
              <a:solidFill>
                <a:schemeClr val="dk1"/>
              </a:solidFill>
              <a:latin typeface="Calibri"/>
              <a:ea typeface="Calibri"/>
              <a:cs typeface="Calibri"/>
              <a:sym typeface="Calibri"/>
            </a:endParaRPr>
          </a:p>
          <a:p>
            <a:pPr indent="-361950" lvl="1" marL="914400" marR="0" rtl="0" algn="l">
              <a:spcBef>
                <a:spcPts val="0"/>
              </a:spcBef>
              <a:spcAft>
                <a:spcPts val="0"/>
              </a:spcAft>
              <a:buClr>
                <a:schemeClr val="dk1"/>
              </a:buClr>
              <a:buSzPts val="2100"/>
              <a:buChar char="○"/>
            </a:pPr>
            <a:r>
              <a:rPr b="1" lang="en-US" sz="1600">
                <a:solidFill>
                  <a:schemeClr val="dk1"/>
                </a:solidFill>
                <a:latin typeface="Calibri"/>
                <a:ea typeface="Calibri"/>
                <a:cs typeface="Calibri"/>
                <a:sym typeface="Calibri"/>
              </a:rPr>
              <a:t>SCTP (Stream Control Transmission Protocol)</a:t>
            </a:r>
            <a:r>
              <a:rPr lang="en-US" sz="1600">
                <a:solidFill>
                  <a:schemeClr val="dk1"/>
                </a:solidFill>
                <a:latin typeface="Calibri"/>
                <a:ea typeface="Calibri"/>
                <a:cs typeface="Calibri"/>
                <a:sym typeface="Calibri"/>
              </a:rPr>
              <a:t>: Được thiết kế cho các ứng dụng thời gian thực nhưng vẫn hướng kết nối.</a:t>
            </a:r>
            <a:endParaRPr sz="16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28" name="Google Shape;128;g31cee87ea4c_0_18"/>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g31cee87ea4c_0_18"/>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130" name="Google Shape;130;g31cee87ea4c_0_18"/>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1cee87ea4c_0_34"/>
          <p:cNvSpPr txBox="1"/>
          <p:nvPr/>
        </p:nvSpPr>
        <p:spPr>
          <a:xfrm>
            <a:off x="346050" y="1529275"/>
            <a:ext cx="10931700" cy="53385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Giao thức không hướng kết nối (Connectionless)</a:t>
            </a:r>
            <a:endParaRPr b="1" sz="2800">
              <a:solidFill>
                <a:schemeClr val="dk1"/>
              </a:solidFill>
              <a:latin typeface="Calibri"/>
              <a:ea typeface="Calibri"/>
              <a:cs typeface="Calibri"/>
              <a:sym typeface="Calibri"/>
            </a:endParaRPr>
          </a:p>
          <a:p>
            <a:pPr indent="-320675" lvl="0" marL="332740" marR="0" rtl="0" algn="l">
              <a:spcBef>
                <a:spcPts val="0"/>
              </a:spcBef>
              <a:spcAft>
                <a:spcPts val="0"/>
              </a:spcAft>
              <a:buClr>
                <a:srgbClr val="FB6923"/>
              </a:buClr>
              <a:buSzPts val="1650"/>
              <a:buFont typeface="Noto Sans Symbols"/>
              <a:buChar char="◻"/>
            </a:pPr>
            <a:r>
              <a:rPr b="1" lang="en-US" sz="2800">
                <a:solidFill>
                  <a:schemeClr val="dk1"/>
                </a:solidFill>
                <a:latin typeface="Calibri"/>
                <a:ea typeface="Calibri"/>
                <a:cs typeface="Calibri"/>
                <a:sym typeface="Calibri"/>
              </a:rPr>
              <a:t>Định nghĩa</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Giao thức không yêu cầu thiết lập hoặc duy trì kết nối trước khi gửi dữ liệu. Dữ liệu được gửi đi ngay dưới dạng các gói độc lập.</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Đặc điểm</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Dữ liệu có thể bị mất hoặc đến không theo thứ tự.</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Không có cơ chế xác nhận hoặc sửa lỗi.</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Nhanh hơn vì không cần thiết lập kết nối.</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Ví dụ giao thức</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68300" lvl="1" marL="914400" marR="0" rtl="0" algn="l">
              <a:spcBef>
                <a:spcPts val="0"/>
              </a:spcBef>
              <a:spcAft>
                <a:spcPts val="0"/>
              </a:spcAft>
              <a:buClr>
                <a:schemeClr val="dk1"/>
              </a:buClr>
              <a:buSzPts val="2200"/>
              <a:buFont typeface="Calibri"/>
              <a:buChar char="○"/>
            </a:pPr>
            <a:r>
              <a:rPr b="1" lang="en-US" sz="2200">
                <a:solidFill>
                  <a:schemeClr val="dk1"/>
                </a:solidFill>
                <a:latin typeface="Calibri"/>
                <a:ea typeface="Calibri"/>
                <a:cs typeface="Calibri"/>
                <a:sym typeface="Calibri"/>
              </a:rPr>
              <a:t>UDP (User Datagram Protocol)</a:t>
            </a:r>
            <a:r>
              <a:rPr lang="en-US" sz="2200">
                <a:solidFill>
                  <a:schemeClr val="dk1"/>
                </a:solidFill>
                <a:latin typeface="Calibri"/>
                <a:ea typeface="Calibri"/>
                <a:cs typeface="Calibri"/>
                <a:sym typeface="Calibri"/>
              </a:rPr>
              <a:t>: Giao thức không hướng kết nối phổ biến nhất, được sử dụng cho các ứng dụng yêu cầu tốc độ cao như streaming video, VoIP.</a:t>
            </a:r>
            <a:endParaRPr sz="2200">
              <a:solidFill>
                <a:schemeClr val="dk1"/>
              </a:solidFill>
              <a:latin typeface="Calibri"/>
              <a:ea typeface="Calibri"/>
              <a:cs typeface="Calibri"/>
              <a:sym typeface="Calibri"/>
            </a:endParaRPr>
          </a:p>
          <a:p>
            <a:pPr indent="-368300" lvl="1" marL="914400" marR="0" rtl="0" algn="l">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ICMP (Internet Control Message Protocol)</a:t>
            </a:r>
            <a:r>
              <a:rPr lang="en-US" sz="2200">
                <a:solidFill>
                  <a:schemeClr val="dk1"/>
                </a:solidFill>
                <a:latin typeface="Calibri"/>
                <a:ea typeface="Calibri"/>
                <a:cs typeface="Calibri"/>
                <a:sym typeface="Calibri"/>
              </a:rPr>
              <a:t>: Giao thức không hướng kết nối dùng để truyền thông tin lỗi hoặc trạng thái mạng, ví dụ lệnh ping.</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37" name="Google Shape;137;g31cee87ea4c_0_34"/>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g31cee87ea4c_0_34"/>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139" name="Google Shape;139;g31cee87ea4c_0_34"/>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1cee87ea4c_0_49"/>
          <p:cNvSpPr txBox="1"/>
          <p:nvPr/>
        </p:nvSpPr>
        <p:spPr>
          <a:xfrm>
            <a:off x="346050" y="1529275"/>
            <a:ext cx="10931700" cy="50922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Giao thức tin cậy (Reliable Protocol)</a:t>
            </a:r>
            <a:endParaRPr b="1" sz="2800">
              <a:solidFill>
                <a:schemeClr val="dk1"/>
              </a:solidFill>
              <a:latin typeface="Calibri"/>
              <a:ea typeface="Calibri"/>
              <a:cs typeface="Calibri"/>
              <a:sym typeface="Calibri"/>
            </a:endParaRPr>
          </a:p>
          <a:p>
            <a:pPr indent="-320675" lvl="0" marL="332740" marR="0" rtl="0" algn="l">
              <a:spcBef>
                <a:spcPts val="0"/>
              </a:spcBef>
              <a:spcAft>
                <a:spcPts val="0"/>
              </a:spcAft>
              <a:buClr>
                <a:srgbClr val="FB6923"/>
              </a:buClr>
              <a:buSzPts val="1650"/>
              <a:buFont typeface="Noto Sans Symbols"/>
              <a:buChar char="◻"/>
            </a:pPr>
            <a:r>
              <a:rPr b="1" lang="en-US" sz="2800">
                <a:solidFill>
                  <a:schemeClr val="dk1"/>
                </a:solidFill>
                <a:latin typeface="Calibri"/>
                <a:ea typeface="Calibri"/>
                <a:cs typeface="Calibri"/>
                <a:sym typeface="Calibri"/>
              </a:rPr>
              <a:t>Định nghĩa</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Giao thức đảm bảo rằng dữ liệu được truyền đi một cách đáng tin cậy, không mất mát, không bị trùng lặp, và đến đích theo đúng thứ tự.</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Đặc điểm</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Sử dụng cơ chế xác nhận (acknowledgment) và truyền lại (retransmission) khi phát hiện lỗi.</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Thích hợp cho các ứng dụng yêu cầu độ chính xác cao.</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Ví dụ giao thức</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Char char="○"/>
            </a:pPr>
            <a:r>
              <a:rPr b="1" lang="en-US" sz="2200">
                <a:solidFill>
                  <a:schemeClr val="dk1"/>
                </a:solidFill>
              </a:rPr>
              <a:t>TCP</a:t>
            </a:r>
            <a:r>
              <a:rPr lang="en-US" sz="2200">
                <a:solidFill>
                  <a:schemeClr val="dk1"/>
                </a:solidFill>
              </a:rPr>
              <a:t>: Tin cậy, vì nó có cơ chế số thứ tự, xác nhận, và truyền lại dữ liệu bị mất.</a:t>
            </a:r>
            <a:endParaRPr sz="2200">
              <a:solidFill>
                <a:schemeClr val="dk1"/>
              </a:solidFill>
            </a:endParaRPr>
          </a:p>
          <a:p>
            <a:pPr indent="-342900" lvl="1" marL="914400" rtl="0" algn="l">
              <a:spcBef>
                <a:spcPts val="0"/>
              </a:spcBef>
              <a:spcAft>
                <a:spcPts val="0"/>
              </a:spcAft>
              <a:buClr>
                <a:schemeClr val="dk1"/>
              </a:buClr>
              <a:buSzPts val="1800"/>
              <a:buChar char="○"/>
            </a:pPr>
            <a:r>
              <a:rPr b="1" lang="en-US" sz="2200">
                <a:solidFill>
                  <a:schemeClr val="dk1"/>
                </a:solidFill>
              </a:rPr>
              <a:t>SCTP</a:t>
            </a:r>
            <a:r>
              <a:rPr lang="en-US" sz="2200">
                <a:solidFill>
                  <a:schemeClr val="dk1"/>
                </a:solidFill>
              </a:rPr>
              <a:t>: Cũng là một giao thức tin cậy, hỗ trợ đa luồng dữ liệu trong một kết nối.</a:t>
            </a:r>
            <a:endParaRPr b="1" sz="33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46" name="Google Shape;146;g31cee87ea4c_0_49"/>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7" name="Google Shape;147;g31cee87ea4c_0_49"/>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148" name="Google Shape;148;g31cee87ea4c_0_49"/>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1cee87ea4c_0_62"/>
          <p:cNvSpPr txBox="1"/>
          <p:nvPr/>
        </p:nvSpPr>
        <p:spPr>
          <a:xfrm>
            <a:off x="346050" y="1529275"/>
            <a:ext cx="10931700" cy="51231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Giao thức không tin cậy (Unreliable Protocol)</a:t>
            </a:r>
            <a:endParaRPr b="1" sz="2800">
              <a:solidFill>
                <a:schemeClr val="dk1"/>
              </a:solidFill>
              <a:latin typeface="Calibri"/>
              <a:ea typeface="Calibri"/>
              <a:cs typeface="Calibri"/>
              <a:sym typeface="Calibri"/>
            </a:endParaRPr>
          </a:p>
          <a:p>
            <a:pPr indent="-320675" lvl="0" marL="332740" marR="0" rtl="0" algn="l">
              <a:spcBef>
                <a:spcPts val="0"/>
              </a:spcBef>
              <a:spcAft>
                <a:spcPts val="0"/>
              </a:spcAft>
              <a:buClr>
                <a:srgbClr val="FB6923"/>
              </a:buClr>
              <a:buSzPts val="1650"/>
              <a:buFont typeface="Noto Sans Symbols"/>
              <a:buChar char="◻"/>
            </a:pPr>
            <a:r>
              <a:rPr b="1" lang="en-US" sz="2800">
                <a:solidFill>
                  <a:schemeClr val="dk1"/>
                </a:solidFill>
                <a:latin typeface="Calibri"/>
                <a:ea typeface="Calibri"/>
                <a:cs typeface="Calibri"/>
                <a:sym typeface="Calibri"/>
              </a:rPr>
              <a:t>Định nghĩa</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Giao thức không đảm bảo dữ liệu sẽ đến đích hoặc đến theo đúng thứ tự. Các gói dữ liệu có thể bị mất mà không có cơ chế khắc phục.</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Đặc điểm</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Đơn giản, nhanh chóng, nhưng không đảm bảo chất lượng.</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Phù hợp với các ứng dụng mà mất một phần dữ liệu không gây ảnh hưởng lớn.</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Ví dụ giao thức</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400050" lvl="1" marL="914400" rtl="0" algn="l">
              <a:spcBef>
                <a:spcPts val="0"/>
              </a:spcBef>
              <a:spcAft>
                <a:spcPts val="0"/>
              </a:spcAft>
              <a:buClr>
                <a:schemeClr val="dk1"/>
              </a:buClr>
              <a:buSzPts val="2700"/>
              <a:buChar char="○"/>
            </a:pPr>
            <a:r>
              <a:rPr b="1" lang="en-US" sz="2000">
                <a:solidFill>
                  <a:schemeClr val="dk1"/>
                </a:solidFill>
              </a:rPr>
              <a:t>UDP</a:t>
            </a:r>
            <a:r>
              <a:rPr lang="en-US" sz="2000">
                <a:solidFill>
                  <a:schemeClr val="dk1"/>
                </a:solidFill>
              </a:rPr>
              <a:t>: Không tin cậy, vì nó không có cơ chế xác nhận hoặc truyền lại.</a:t>
            </a:r>
            <a:endParaRPr sz="2000">
              <a:solidFill>
                <a:schemeClr val="dk1"/>
              </a:solidFill>
            </a:endParaRPr>
          </a:p>
          <a:p>
            <a:pPr indent="-400050" lvl="1" marL="914400" rtl="0" algn="l">
              <a:spcBef>
                <a:spcPts val="0"/>
              </a:spcBef>
              <a:spcAft>
                <a:spcPts val="0"/>
              </a:spcAft>
              <a:buClr>
                <a:schemeClr val="dk1"/>
              </a:buClr>
              <a:buSzPts val="2700"/>
              <a:buChar char="○"/>
            </a:pPr>
            <a:r>
              <a:rPr b="1" lang="en-US" sz="2000">
                <a:solidFill>
                  <a:schemeClr val="dk1"/>
                </a:solidFill>
              </a:rPr>
              <a:t>ICMP</a:t>
            </a:r>
            <a:r>
              <a:rPr lang="en-US" sz="2000">
                <a:solidFill>
                  <a:schemeClr val="dk1"/>
                </a:solidFill>
              </a:rPr>
              <a:t>: Không tin cậy, vì chỉ dùng để trao đổi thông tin về lỗi hoặc kiểm tra trạng thái mạng.</a:t>
            </a:r>
            <a:endParaRPr b="1" sz="3100">
              <a:solidFill>
                <a:schemeClr val="dk1"/>
              </a:solidFill>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55" name="Google Shape;155;g31cee87ea4c_0_62"/>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6" name="Google Shape;156;g31cee87ea4c_0_62"/>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157" name="Google Shape;157;g31cee87ea4c_0_62"/>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1cee87ea4c_0_75"/>
          <p:cNvSpPr txBox="1"/>
          <p:nvPr/>
        </p:nvSpPr>
        <p:spPr>
          <a:xfrm>
            <a:off x="592200" y="1529275"/>
            <a:ext cx="10685700" cy="14442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Tổng hợp</a:t>
            </a:r>
            <a:endParaRPr b="1" sz="2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b="1" sz="3100">
              <a:solidFill>
                <a:schemeClr val="dk1"/>
              </a:solidFill>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64" name="Google Shape;164;g31cee87ea4c_0_75"/>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g31cee87ea4c_0_75"/>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166" name="Google Shape;166;g31cee87ea4c_0_75"/>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aphicFrame>
        <p:nvGraphicFramePr>
          <p:cNvPr id="167" name="Google Shape;167;g31cee87ea4c_0_75"/>
          <p:cNvGraphicFramePr/>
          <p:nvPr/>
        </p:nvGraphicFramePr>
        <p:xfrm>
          <a:off x="838200" y="2406600"/>
          <a:ext cx="3000000" cy="3000000"/>
        </p:xfrm>
        <a:graphic>
          <a:graphicData uri="http://schemas.openxmlformats.org/drawingml/2006/table">
            <a:tbl>
              <a:tblPr>
                <a:noFill/>
                <a:tableStyleId>{37E658BC-B1D6-4103-86A9-31DC15990A4D}</a:tableStyleId>
              </a:tblPr>
              <a:tblGrid>
                <a:gridCol w="3429000"/>
                <a:gridCol w="3429000"/>
                <a:gridCol w="3429000"/>
              </a:tblGrid>
              <a:tr h="381000">
                <a:tc>
                  <a:txBody>
                    <a:bodyPr/>
                    <a:lstStyle/>
                    <a:p>
                      <a:pPr indent="0" lvl="0" marL="0" rtl="0" algn="l">
                        <a:spcBef>
                          <a:spcPts val="0"/>
                        </a:spcBef>
                        <a:spcAft>
                          <a:spcPts val="0"/>
                        </a:spcAft>
                        <a:buNone/>
                      </a:pPr>
                      <a:r>
                        <a:rPr lang="en-US">
                          <a:latin typeface="Calibri"/>
                          <a:ea typeface="Calibri"/>
                          <a:cs typeface="Calibri"/>
                          <a:sym typeface="Calibri"/>
                        </a:rPr>
                        <a:t>Loại giao thức</a:t>
                      </a:r>
                      <a:endParaRPr>
                        <a:latin typeface="Calibri"/>
                        <a:ea typeface="Calibri"/>
                        <a:cs typeface="Calibri"/>
                        <a:sym typeface="Calibri"/>
                      </a:endParaRPr>
                    </a:p>
                  </a:txBody>
                  <a:tcPr marT="91425" marB="91425" marR="91425" marL="91425">
                    <a:solidFill>
                      <a:schemeClr val="lt2"/>
                    </a:solidFill>
                  </a:tcPr>
                </a:tc>
                <a:tc>
                  <a:txBody>
                    <a:bodyPr/>
                    <a:lstStyle/>
                    <a:p>
                      <a:pPr indent="0" lvl="0" marL="0" rtl="0" algn="l">
                        <a:spcBef>
                          <a:spcPts val="0"/>
                        </a:spcBef>
                        <a:spcAft>
                          <a:spcPts val="0"/>
                        </a:spcAft>
                        <a:buNone/>
                      </a:pPr>
                      <a:r>
                        <a:rPr lang="en-US">
                          <a:latin typeface="Calibri"/>
                          <a:ea typeface="Calibri"/>
                          <a:cs typeface="Calibri"/>
                          <a:sym typeface="Calibri"/>
                        </a:rPr>
                        <a:t>Hướng kết nối</a:t>
                      </a:r>
                      <a:endParaRPr>
                        <a:latin typeface="Calibri"/>
                        <a:ea typeface="Calibri"/>
                        <a:cs typeface="Calibri"/>
                        <a:sym typeface="Calibri"/>
                      </a:endParaRPr>
                    </a:p>
                  </a:txBody>
                  <a:tcPr marT="91425" marB="91425" marR="91425" marL="91425">
                    <a:solidFill>
                      <a:schemeClr val="lt2"/>
                    </a:solidFill>
                  </a:tcPr>
                </a:tc>
                <a:tc>
                  <a:txBody>
                    <a:bodyPr/>
                    <a:lstStyle/>
                    <a:p>
                      <a:pPr indent="0" lvl="0" marL="0" rtl="0" algn="l">
                        <a:spcBef>
                          <a:spcPts val="0"/>
                        </a:spcBef>
                        <a:spcAft>
                          <a:spcPts val="0"/>
                        </a:spcAft>
                        <a:buNone/>
                      </a:pPr>
                      <a:r>
                        <a:rPr lang="en-US">
                          <a:latin typeface="Calibri"/>
                          <a:ea typeface="Calibri"/>
                          <a:cs typeface="Calibri"/>
                          <a:sym typeface="Calibri"/>
                        </a:rPr>
                        <a:t>Không hướng kết nối</a:t>
                      </a:r>
                      <a:endParaRPr>
                        <a:latin typeface="Calibri"/>
                        <a:ea typeface="Calibri"/>
                        <a:cs typeface="Calibri"/>
                        <a:sym typeface="Calibri"/>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en-US">
                          <a:latin typeface="Calibri"/>
                          <a:ea typeface="Calibri"/>
                          <a:cs typeface="Calibri"/>
                          <a:sym typeface="Calibri"/>
                        </a:rPr>
                        <a:t>Tin cậy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TCP, SCTP</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solidFill>
                            <a:schemeClr val="dk1"/>
                          </a:solidFill>
                          <a:latin typeface="Calibri"/>
                          <a:ea typeface="Calibri"/>
                          <a:cs typeface="Calibri"/>
                          <a:sym typeface="Calibri"/>
                        </a:rPr>
                        <a:t>Không phổ biến</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a:latin typeface="Calibri"/>
                          <a:ea typeface="Calibri"/>
                          <a:cs typeface="Calibri"/>
                          <a:sym typeface="Calibri"/>
                        </a:rPr>
                        <a:t>Không tin cậy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Không phổ biến</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UDP, ICMP</a:t>
                      </a:r>
                      <a:endParaRPr>
                        <a:latin typeface="Calibri"/>
                        <a:ea typeface="Calibri"/>
                        <a:cs typeface="Calibri"/>
                        <a:sym typeface="Calibri"/>
                      </a:endParaRPr>
                    </a:p>
                  </a:txBody>
                  <a:tcPr marT="91425" marB="91425" marR="91425" marL="91425"/>
                </a:tc>
              </a:tr>
            </a:tbl>
          </a:graphicData>
        </a:graphic>
      </p:graphicFrame>
      <p:sp>
        <p:nvSpPr>
          <p:cNvPr id="168" name="Google Shape;168;g31cee87ea4c_0_75"/>
          <p:cNvSpPr txBox="1"/>
          <p:nvPr/>
        </p:nvSpPr>
        <p:spPr>
          <a:xfrm>
            <a:off x="592200" y="4100125"/>
            <a:ext cx="10439400" cy="11886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Clr>
                <a:schemeClr val="dk1"/>
              </a:buClr>
              <a:buSzPts val="2800"/>
              <a:buFont typeface="Calibri"/>
              <a:buChar char="★"/>
            </a:pPr>
            <a:r>
              <a:rPr b="1" i="1" lang="en-US" sz="2800">
                <a:solidFill>
                  <a:schemeClr val="dk1"/>
                </a:solidFill>
                <a:latin typeface="Calibri"/>
                <a:ea typeface="Calibri"/>
                <a:cs typeface="Calibri"/>
                <a:sym typeface="Calibri"/>
              </a:rPr>
              <a:t>Các tiến trình trao đổi thông tin với nhau thông qua chủ yếu 2 giao thức TCP và UDP</a:t>
            </a:r>
            <a:endParaRPr b="1" i="1"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
          <p:cNvSpPr txBox="1"/>
          <p:nvPr/>
        </p:nvSpPr>
        <p:spPr>
          <a:xfrm>
            <a:off x="838200" y="1529267"/>
            <a:ext cx="10439400" cy="1503300"/>
          </a:xfrm>
          <a:prstGeom prst="rect">
            <a:avLst/>
          </a:prstGeom>
          <a:noFill/>
          <a:ln>
            <a:noFill/>
          </a:ln>
        </p:spPr>
        <p:txBody>
          <a:bodyPr anchorCtr="0" anchor="t" bIns="0" lIns="0" spcFirstLastPara="1" rIns="0" wrap="square" tIns="104125">
            <a:spAutoFit/>
          </a:bodyPr>
          <a:lstStyle/>
          <a:p>
            <a:pPr indent="-320675" lvl="0" marL="332740" marR="0" rtl="0" algn="l">
              <a:spcBef>
                <a:spcPts val="0"/>
              </a:spcBef>
              <a:spcAft>
                <a:spcPts val="0"/>
              </a:spcAft>
              <a:buClr>
                <a:srgbClr val="DD8046"/>
              </a:buClr>
              <a:buSzPts val="1650"/>
              <a:buFont typeface="Noto Sans Symbols"/>
              <a:buChar char="◻"/>
            </a:pPr>
            <a:r>
              <a:rPr b="0" i="0" lang="en-US" sz="2800" u="none" cap="none" strike="noStrike">
                <a:solidFill>
                  <a:schemeClr val="dk1"/>
                </a:solidFill>
                <a:latin typeface="Calibri"/>
                <a:ea typeface="Calibri"/>
                <a:cs typeface="Calibri"/>
                <a:sym typeface="Calibri"/>
              </a:rPr>
              <a:t>Các tiến trình trao đổi thông tin với nhau thông qua chủ yếu 2 giao thức TCP và UDP</a:t>
            </a:r>
            <a:endParaRPr/>
          </a:p>
          <a:p>
            <a:pPr indent="-320675" lvl="1" marL="789940" marR="0" rtl="0" algn="l">
              <a:spcBef>
                <a:spcPts val="819"/>
              </a:spcBef>
              <a:spcAft>
                <a:spcPts val="0"/>
              </a:spcAft>
              <a:buClr>
                <a:srgbClr val="DD8046"/>
              </a:buClr>
              <a:buSzPts val="1650"/>
              <a:buFont typeface="Noto Sans Symbols"/>
              <a:buChar char="◻"/>
            </a:pPr>
            <a:r>
              <a:rPr b="0" i="0" lang="en-US" sz="2800" u="none" cap="none" strike="noStrike">
                <a:solidFill>
                  <a:schemeClr val="dk1"/>
                </a:solidFill>
                <a:latin typeface="Calibri"/>
                <a:ea typeface="Calibri"/>
                <a:cs typeface="Calibri"/>
                <a:sym typeface="Calibri"/>
              </a:rPr>
              <a:t>TCP </a:t>
            </a:r>
            <a:endParaRPr b="0" i="0" sz="2400" u="none" cap="none" strike="noStrike">
              <a:solidFill>
                <a:schemeClr val="dk1"/>
              </a:solidFill>
              <a:latin typeface="Calibri"/>
              <a:ea typeface="Calibri"/>
              <a:cs typeface="Calibri"/>
              <a:sym typeface="Calibri"/>
            </a:endParaRPr>
          </a:p>
        </p:txBody>
      </p:sp>
      <p:sp>
        <p:nvSpPr>
          <p:cNvPr id="175" name="Google Shape;175;p4"/>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6" name="Google Shape;176;p4"/>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chemeClr val="lt1"/>
              </a:buClr>
              <a:buSzPct val="100000"/>
              <a:buFont typeface="Calibri"/>
              <a:buNone/>
            </a:pPr>
            <a:r>
              <a:rPr b="1" i="0" lang="en-US" sz="4400" u="none" cap="none" strike="noStrike">
                <a:solidFill>
                  <a:schemeClr val="lt1"/>
                </a:solidFill>
                <a:latin typeface="Calibri"/>
                <a:ea typeface="Calibri"/>
                <a:cs typeface="Calibri"/>
                <a:sym typeface="Calibri"/>
              </a:rPr>
              <a:t>TRAO ĐỔI THÔNG TIN B</a:t>
            </a:r>
            <a:r>
              <a:rPr b="1" lang="en-US" sz="4400">
                <a:solidFill>
                  <a:schemeClr val="lt1"/>
                </a:solidFill>
                <a:latin typeface="Calibri"/>
                <a:ea typeface="Calibri"/>
                <a:cs typeface="Calibri"/>
                <a:sym typeface="Calibri"/>
              </a:rPr>
              <a:t>ẰNG TCP</a:t>
            </a:r>
            <a:endParaRPr/>
          </a:p>
        </p:txBody>
      </p:sp>
      <p:sp>
        <p:nvSpPr>
          <p:cNvPr id="177" name="Google Shape;177;p4"/>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8" name="Google Shape;178;p4"/>
          <p:cNvPicPr preferRelativeResize="0"/>
          <p:nvPr/>
        </p:nvPicPr>
        <p:blipFill rotWithShape="1">
          <a:blip r:embed="rId3">
            <a:alphaModFix/>
          </a:blip>
          <a:srcRect b="0" l="0" r="0" t="0"/>
          <a:stretch/>
        </p:blipFill>
        <p:spPr>
          <a:xfrm>
            <a:off x="672200" y="3229437"/>
            <a:ext cx="3578897" cy="3075425"/>
          </a:xfrm>
          <a:prstGeom prst="rect">
            <a:avLst/>
          </a:prstGeom>
          <a:noFill/>
          <a:ln>
            <a:noFill/>
          </a:ln>
        </p:spPr>
      </p:pic>
      <p:pic>
        <p:nvPicPr>
          <p:cNvPr id="179" name="Google Shape;179;p4"/>
          <p:cNvPicPr preferRelativeResize="0"/>
          <p:nvPr/>
        </p:nvPicPr>
        <p:blipFill rotWithShape="1">
          <a:blip r:embed="rId4">
            <a:alphaModFix/>
          </a:blip>
          <a:srcRect b="0" l="0" r="0" t="0"/>
          <a:stretch/>
        </p:blipFill>
        <p:spPr>
          <a:xfrm>
            <a:off x="4276955" y="3429000"/>
            <a:ext cx="7327900" cy="292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5"/>
          <p:cNvSpPr txBox="1"/>
          <p:nvPr/>
        </p:nvSpPr>
        <p:spPr>
          <a:xfrm>
            <a:off x="975225" y="1542300"/>
            <a:ext cx="5066700" cy="3853800"/>
          </a:xfrm>
          <a:prstGeom prst="rect">
            <a:avLst/>
          </a:prstGeom>
          <a:noFill/>
          <a:ln>
            <a:noFill/>
          </a:ln>
        </p:spPr>
        <p:txBody>
          <a:bodyPr anchorCtr="0" anchor="t" bIns="0" lIns="0" spcFirstLastPara="1" rIns="0" wrap="square" tIns="179700">
            <a:spAutoFit/>
          </a:bodyPr>
          <a:lstStyle/>
          <a:p>
            <a:pPr indent="-320040" lvl="0" marL="332740" marR="0" rtl="0" algn="l">
              <a:spcBef>
                <a:spcPts val="0"/>
              </a:spcBef>
              <a:spcAft>
                <a:spcPts val="0"/>
              </a:spcAft>
              <a:buClr>
                <a:srgbClr val="DD8046"/>
              </a:buClr>
              <a:buSzPts val="1300"/>
              <a:buFont typeface="Noto Sans Symbols"/>
              <a:buChar char="◻"/>
            </a:pPr>
            <a:r>
              <a:rPr b="0" i="0" lang="en-US" sz="2200" u="sng" cap="none" strike="noStrike">
                <a:solidFill>
                  <a:srgbClr val="FF0000"/>
                </a:solidFill>
                <a:latin typeface="Times New Roman"/>
                <a:ea typeface="Times New Roman"/>
                <a:cs typeface="Times New Roman"/>
                <a:sym typeface="Times New Roman"/>
              </a:rPr>
              <a:t>Bước 1:</a:t>
            </a:r>
            <a:r>
              <a:rPr b="0" i="0" lang="en-US" sz="2200" u="none" cap="none" strike="noStrike">
                <a:solidFill>
                  <a:srgbClr val="FF0000"/>
                </a:solidFill>
                <a:latin typeface="Times New Roman"/>
                <a:ea typeface="Times New Roman"/>
                <a:cs typeface="Times New Roman"/>
                <a:sym typeface="Times New Roman"/>
              </a:rPr>
              <a:t> </a:t>
            </a:r>
            <a:r>
              <a:rPr b="0" i="0" lang="en-US" sz="2200" u="none" cap="none" strike="noStrike">
                <a:solidFill>
                  <a:schemeClr val="dk1"/>
                </a:solidFill>
                <a:latin typeface="Times New Roman"/>
                <a:ea typeface="Times New Roman"/>
                <a:cs typeface="Times New Roman"/>
                <a:sym typeface="Times New Roman"/>
              </a:rPr>
              <a:t>Gửi FIN cho B</a:t>
            </a:r>
            <a:endParaRPr b="0" i="0" sz="2200" u="none" cap="none" strike="noStrike">
              <a:solidFill>
                <a:schemeClr val="dk1"/>
              </a:solidFill>
              <a:latin typeface="Times New Roman"/>
              <a:ea typeface="Times New Roman"/>
              <a:cs typeface="Times New Roman"/>
              <a:sym typeface="Times New Roman"/>
            </a:endParaRPr>
          </a:p>
          <a:p>
            <a:pPr indent="-320040" lvl="0" marL="332740" marR="69850" rtl="0" algn="just">
              <a:lnSpc>
                <a:spcPct val="108181"/>
              </a:lnSpc>
              <a:spcBef>
                <a:spcPts val="1614"/>
              </a:spcBef>
              <a:spcAft>
                <a:spcPts val="0"/>
              </a:spcAft>
              <a:buClr>
                <a:srgbClr val="DD8046"/>
              </a:buClr>
              <a:buSzPts val="1300"/>
              <a:buFont typeface="Noto Sans Symbols"/>
              <a:buChar char="◻"/>
            </a:pPr>
            <a:r>
              <a:rPr b="0" i="0" lang="en-US" sz="2200" u="sng" cap="none" strike="noStrike">
                <a:solidFill>
                  <a:srgbClr val="FF0000"/>
                </a:solidFill>
                <a:latin typeface="Times New Roman"/>
                <a:ea typeface="Times New Roman"/>
                <a:cs typeface="Times New Roman"/>
                <a:sym typeface="Times New Roman"/>
              </a:rPr>
              <a:t>Bước 2:</a:t>
            </a:r>
            <a:r>
              <a:rPr b="0" i="0" lang="en-US" sz="2200" u="none" cap="none" strike="noStrike">
                <a:solidFill>
                  <a:srgbClr val="FF0000"/>
                </a:solidFill>
                <a:latin typeface="Times New Roman"/>
                <a:ea typeface="Times New Roman"/>
                <a:cs typeface="Times New Roman"/>
                <a:sym typeface="Times New Roman"/>
              </a:rPr>
              <a:t> </a:t>
            </a:r>
            <a:r>
              <a:rPr b="0" i="0" lang="en-US" sz="2200" u="none" cap="none" strike="noStrike">
                <a:solidFill>
                  <a:schemeClr val="dk1"/>
                </a:solidFill>
                <a:latin typeface="Times New Roman"/>
                <a:ea typeface="Times New Roman"/>
                <a:cs typeface="Times New Roman"/>
                <a:sym typeface="Times New Roman"/>
              </a:rPr>
              <a:t>B nhận được FIN, trả lời  ACK, đồng thời đóng liên kết và  gửi FIN.</a:t>
            </a:r>
            <a:endParaRPr b="0" i="0" sz="2200" u="none" cap="none" strike="noStrike">
              <a:solidFill>
                <a:schemeClr val="dk1"/>
              </a:solidFill>
              <a:latin typeface="Times New Roman"/>
              <a:ea typeface="Times New Roman"/>
              <a:cs typeface="Times New Roman"/>
              <a:sym typeface="Times New Roman"/>
            </a:endParaRPr>
          </a:p>
          <a:p>
            <a:pPr indent="-320040" lvl="0" marL="332740" marR="5080" rtl="0" algn="just">
              <a:lnSpc>
                <a:spcPct val="109090"/>
              </a:lnSpc>
              <a:spcBef>
                <a:spcPts val="1560"/>
              </a:spcBef>
              <a:spcAft>
                <a:spcPts val="0"/>
              </a:spcAft>
              <a:buClr>
                <a:srgbClr val="DD8046"/>
              </a:buClr>
              <a:buSzPts val="1300"/>
              <a:buFont typeface="Noto Sans Symbols"/>
              <a:buChar char="◻"/>
            </a:pPr>
            <a:r>
              <a:rPr b="0" i="0" lang="en-US" sz="2200" u="sng" cap="none" strike="noStrike">
                <a:solidFill>
                  <a:srgbClr val="FF0000"/>
                </a:solidFill>
                <a:latin typeface="Times New Roman"/>
                <a:ea typeface="Times New Roman"/>
                <a:cs typeface="Times New Roman"/>
                <a:sym typeface="Times New Roman"/>
              </a:rPr>
              <a:t>Bước 3:</a:t>
            </a:r>
            <a:r>
              <a:rPr b="0" i="0" lang="en-US" sz="2200" u="none" cap="none" strike="noStrike">
                <a:solidFill>
                  <a:srgbClr val="FF0000"/>
                </a:solidFill>
                <a:latin typeface="Times New Roman"/>
                <a:ea typeface="Times New Roman"/>
                <a:cs typeface="Times New Roman"/>
                <a:sym typeface="Times New Roman"/>
              </a:rPr>
              <a:t> </a:t>
            </a:r>
            <a:r>
              <a:rPr b="0" i="0" lang="en-US" sz="2200" u="none" cap="none" strike="noStrike">
                <a:solidFill>
                  <a:schemeClr val="dk1"/>
                </a:solidFill>
                <a:latin typeface="Times New Roman"/>
                <a:ea typeface="Times New Roman"/>
                <a:cs typeface="Times New Roman"/>
                <a:sym typeface="Times New Roman"/>
              </a:rPr>
              <a:t>A nhận FIN, trả lời ACK,  vào trạng thái chờ</a:t>
            </a:r>
            <a:endParaRPr b="0" i="0" sz="2200" u="none" cap="none" strike="noStrike">
              <a:solidFill>
                <a:schemeClr val="dk1"/>
              </a:solidFill>
              <a:latin typeface="Times New Roman"/>
              <a:ea typeface="Times New Roman"/>
              <a:cs typeface="Times New Roman"/>
              <a:sym typeface="Times New Roman"/>
            </a:endParaRPr>
          </a:p>
          <a:p>
            <a:pPr indent="-320040" lvl="0" marL="332740" marR="132080" rtl="0" algn="just">
              <a:lnSpc>
                <a:spcPct val="108181"/>
              </a:lnSpc>
              <a:spcBef>
                <a:spcPts val="1555"/>
              </a:spcBef>
              <a:spcAft>
                <a:spcPts val="0"/>
              </a:spcAft>
              <a:buClr>
                <a:srgbClr val="DD8046"/>
              </a:buClr>
              <a:buSzPts val="1300"/>
              <a:buFont typeface="Noto Sans Symbols"/>
              <a:buChar char="◻"/>
            </a:pPr>
            <a:r>
              <a:rPr b="0" i="0" lang="en-US" sz="2200" u="sng" cap="none" strike="noStrike">
                <a:solidFill>
                  <a:srgbClr val="FF0000"/>
                </a:solidFill>
                <a:latin typeface="Times New Roman"/>
                <a:ea typeface="Times New Roman"/>
                <a:cs typeface="Times New Roman"/>
                <a:sym typeface="Times New Roman"/>
              </a:rPr>
              <a:t>Bước 4:</a:t>
            </a:r>
            <a:r>
              <a:rPr b="0" i="0" lang="en-US" sz="2200" u="none" cap="none" strike="noStrike">
                <a:solidFill>
                  <a:srgbClr val="FF0000"/>
                </a:solidFill>
                <a:latin typeface="Times New Roman"/>
                <a:ea typeface="Times New Roman"/>
                <a:cs typeface="Times New Roman"/>
                <a:sym typeface="Times New Roman"/>
              </a:rPr>
              <a:t> </a:t>
            </a:r>
            <a:r>
              <a:rPr b="0" i="0" lang="en-US" sz="2200" u="none" cap="none" strike="noStrike">
                <a:solidFill>
                  <a:schemeClr val="dk1"/>
                </a:solidFill>
                <a:latin typeface="Times New Roman"/>
                <a:ea typeface="Times New Roman"/>
                <a:cs typeface="Times New Roman"/>
                <a:sym typeface="Times New Roman"/>
              </a:rPr>
              <a:t>B nhận ACK. đóng liên  kết.</a:t>
            </a:r>
            <a:endParaRPr b="0" i="0" sz="2200" u="none" cap="none" strike="noStrike">
              <a:solidFill>
                <a:schemeClr val="dk1"/>
              </a:solidFill>
              <a:latin typeface="Times New Roman"/>
              <a:ea typeface="Times New Roman"/>
              <a:cs typeface="Times New Roman"/>
              <a:sym typeface="Times New Roman"/>
            </a:endParaRPr>
          </a:p>
          <a:p>
            <a:pPr indent="0" lvl="0" marL="12700" marR="0" rtl="0" algn="l">
              <a:lnSpc>
                <a:spcPct val="114090"/>
              </a:lnSpc>
              <a:spcBef>
                <a:spcPts val="1280"/>
              </a:spcBef>
              <a:spcAft>
                <a:spcPts val="0"/>
              </a:spcAft>
              <a:buNone/>
            </a:pPr>
            <a:r>
              <a:rPr b="0" i="0" lang="en-US" sz="2200" u="none" cap="none" strike="noStrike">
                <a:solidFill>
                  <a:schemeClr val="dk1"/>
                </a:solidFill>
                <a:latin typeface="Times New Roman"/>
                <a:ea typeface="Times New Roman"/>
                <a:cs typeface="Times New Roman"/>
                <a:sym typeface="Times New Roman"/>
              </a:rPr>
              <a:t>Lưu ý: Cả hai bên đều có thể chủ</a:t>
            </a:r>
            <a:endParaRPr b="0" i="0" sz="2200" u="none" cap="none" strike="noStrike">
              <a:solidFill>
                <a:schemeClr val="dk1"/>
              </a:solidFill>
              <a:latin typeface="Times New Roman"/>
              <a:ea typeface="Times New Roman"/>
              <a:cs typeface="Times New Roman"/>
              <a:sym typeface="Times New Roman"/>
            </a:endParaRPr>
          </a:p>
          <a:p>
            <a:pPr indent="0" lvl="0" marL="332740" marR="0" rtl="0" algn="l">
              <a:lnSpc>
                <a:spcPct val="114090"/>
              </a:lnSpc>
              <a:spcBef>
                <a:spcPts val="0"/>
              </a:spcBef>
              <a:spcAft>
                <a:spcPts val="0"/>
              </a:spcAft>
              <a:buNone/>
            </a:pPr>
            <a:r>
              <a:rPr b="0" i="0" lang="en-US" sz="2200" u="none" cap="none" strike="noStrike">
                <a:solidFill>
                  <a:schemeClr val="dk1"/>
                </a:solidFill>
                <a:latin typeface="Times New Roman"/>
                <a:ea typeface="Times New Roman"/>
                <a:cs typeface="Times New Roman"/>
                <a:sym typeface="Times New Roman"/>
              </a:rPr>
              <a:t>động đóng liên kết</a:t>
            </a:r>
            <a:endParaRPr/>
          </a:p>
        </p:txBody>
      </p:sp>
      <p:grpSp>
        <p:nvGrpSpPr>
          <p:cNvPr id="185" name="Google Shape;185;p5"/>
          <p:cNvGrpSpPr/>
          <p:nvPr/>
        </p:nvGrpSpPr>
        <p:grpSpPr>
          <a:xfrm>
            <a:off x="7053580" y="2717674"/>
            <a:ext cx="2538095" cy="626745"/>
            <a:chOff x="5529579" y="2717673"/>
            <a:chExt cx="2538095" cy="626745"/>
          </a:xfrm>
        </p:grpSpPr>
        <p:sp>
          <p:nvSpPr>
            <p:cNvPr id="186" name="Google Shape;186;p5"/>
            <p:cNvSpPr/>
            <p:nvPr/>
          </p:nvSpPr>
          <p:spPr>
            <a:xfrm>
              <a:off x="5529579" y="2717673"/>
              <a:ext cx="2538095" cy="626745"/>
            </a:xfrm>
            <a:custGeom>
              <a:rect b="b" l="l" r="r" t="t"/>
              <a:pathLst>
                <a:path extrusionOk="0" h="626745" w="2538095">
                  <a:moveTo>
                    <a:pt x="2449785" y="598307"/>
                  </a:moveTo>
                  <a:lnTo>
                    <a:pt x="2443226" y="626490"/>
                  </a:lnTo>
                  <a:lnTo>
                    <a:pt x="2537714" y="603885"/>
                  </a:lnTo>
                  <a:lnTo>
                    <a:pt x="2534954" y="601599"/>
                  </a:lnTo>
                  <a:lnTo>
                    <a:pt x="2463927" y="601599"/>
                  </a:lnTo>
                  <a:lnTo>
                    <a:pt x="2449785" y="598307"/>
                  </a:lnTo>
                  <a:close/>
                </a:path>
                <a:path extrusionOk="0" h="626745" w="2538095">
                  <a:moveTo>
                    <a:pt x="2456348" y="570104"/>
                  </a:moveTo>
                  <a:lnTo>
                    <a:pt x="2449785" y="598307"/>
                  </a:lnTo>
                  <a:lnTo>
                    <a:pt x="2463927" y="601599"/>
                  </a:lnTo>
                  <a:lnTo>
                    <a:pt x="2470530" y="573404"/>
                  </a:lnTo>
                  <a:lnTo>
                    <a:pt x="2456348" y="570104"/>
                  </a:lnTo>
                  <a:close/>
                </a:path>
                <a:path extrusionOk="0" h="626745" w="2538095">
                  <a:moveTo>
                    <a:pt x="2462911" y="541909"/>
                  </a:moveTo>
                  <a:lnTo>
                    <a:pt x="2456348" y="570104"/>
                  </a:lnTo>
                  <a:lnTo>
                    <a:pt x="2470530" y="573404"/>
                  </a:lnTo>
                  <a:lnTo>
                    <a:pt x="2463927" y="601599"/>
                  </a:lnTo>
                  <a:lnTo>
                    <a:pt x="2534954" y="601599"/>
                  </a:lnTo>
                  <a:lnTo>
                    <a:pt x="2462911" y="541909"/>
                  </a:lnTo>
                  <a:close/>
                </a:path>
                <a:path extrusionOk="0" h="626745" w="2538095">
                  <a:moveTo>
                    <a:pt x="6604" y="0"/>
                  </a:moveTo>
                  <a:lnTo>
                    <a:pt x="0" y="28193"/>
                  </a:lnTo>
                  <a:lnTo>
                    <a:pt x="2449785" y="598307"/>
                  </a:lnTo>
                  <a:lnTo>
                    <a:pt x="2456348" y="570104"/>
                  </a:lnTo>
                  <a:lnTo>
                    <a:pt x="6604" y="0"/>
                  </a:lnTo>
                  <a:close/>
                </a:path>
              </a:pathLst>
            </a:custGeom>
            <a:solidFill>
              <a:srgbClr val="DD804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5"/>
            <p:cNvSpPr/>
            <p:nvPr/>
          </p:nvSpPr>
          <p:spPr>
            <a:xfrm>
              <a:off x="6718426" y="2837053"/>
              <a:ext cx="278765" cy="177800"/>
            </a:xfrm>
            <a:custGeom>
              <a:rect b="b" l="l" r="r" t="t"/>
              <a:pathLst>
                <a:path extrusionOk="0" h="177800" w="278765">
                  <a:moveTo>
                    <a:pt x="133984" y="22479"/>
                  </a:moveTo>
                  <a:lnTo>
                    <a:pt x="107950" y="147447"/>
                  </a:lnTo>
                  <a:lnTo>
                    <a:pt x="124459" y="150875"/>
                  </a:lnTo>
                  <a:lnTo>
                    <a:pt x="150495" y="25908"/>
                  </a:lnTo>
                  <a:lnTo>
                    <a:pt x="133984" y="22479"/>
                  </a:lnTo>
                  <a:close/>
                </a:path>
                <a:path extrusionOk="0" h="177800" w="278765">
                  <a:moveTo>
                    <a:pt x="26034" y="0"/>
                  </a:moveTo>
                  <a:lnTo>
                    <a:pt x="0" y="124968"/>
                  </a:lnTo>
                  <a:lnTo>
                    <a:pt x="16509" y="128397"/>
                  </a:lnTo>
                  <a:lnTo>
                    <a:pt x="28448" y="71627"/>
                  </a:lnTo>
                  <a:lnTo>
                    <a:pt x="89622" y="71627"/>
                  </a:lnTo>
                  <a:lnTo>
                    <a:pt x="90170" y="69087"/>
                  </a:lnTo>
                  <a:lnTo>
                    <a:pt x="31496" y="56896"/>
                  </a:lnTo>
                  <a:lnTo>
                    <a:pt x="39497" y="18161"/>
                  </a:lnTo>
                  <a:lnTo>
                    <a:pt x="110257" y="18161"/>
                  </a:lnTo>
                  <a:lnTo>
                    <a:pt x="110363" y="17652"/>
                  </a:lnTo>
                  <a:lnTo>
                    <a:pt x="26034" y="0"/>
                  </a:lnTo>
                  <a:close/>
                </a:path>
                <a:path extrusionOk="0" h="177800" w="278765">
                  <a:moveTo>
                    <a:pt x="89622" y="71627"/>
                  </a:moveTo>
                  <a:lnTo>
                    <a:pt x="28448" y="71627"/>
                  </a:lnTo>
                  <a:lnTo>
                    <a:pt x="86995" y="83820"/>
                  </a:lnTo>
                  <a:lnTo>
                    <a:pt x="89622" y="71627"/>
                  </a:lnTo>
                  <a:close/>
                </a:path>
                <a:path extrusionOk="0" h="177800" w="278765">
                  <a:moveTo>
                    <a:pt x="110257" y="18161"/>
                  </a:moveTo>
                  <a:lnTo>
                    <a:pt x="39497" y="18161"/>
                  </a:lnTo>
                  <a:lnTo>
                    <a:pt x="107315" y="32385"/>
                  </a:lnTo>
                  <a:lnTo>
                    <a:pt x="110257" y="18161"/>
                  </a:lnTo>
                  <a:close/>
                </a:path>
                <a:path extrusionOk="0" h="177800" w="278765">
                  <a:moveTo>
                    <a:pt x="207938" y="62230"/>
                  </a:moveTo>
                  <a:lnTo>
                    <a:pt x="190500" y="62230"/>
                  </a:lnTo>
                  <a:lnTo>
                    <a:pt x="235584" y="174117"/>
                  </a:lnTo>
                  <a:lnTo>
                    <a:pt x="252602" y="177673"/>
                  </a:lnTo>
                  <a:lnTo>
                    <a:pt x="258900" y="147447"/>
                  </a:lnTo>
                  <a:lnTo>
                    <a:pt x="242316" y="147447"/>
                  </a:lnTo>
                  <a:lnTo>
                    <a:pt x="207938" y="62230"/>
                  </a:lnTo>
                  <a:close/>
                </a:path>
                <a:path extrusionOk="0" h="177800" w="278765">
                  <a:moveTo>
                    <a:pt x="180213" y="32131"/>
                  </a:moveTo>
                  <a:lnTo>
                    <a:pt x="154177" y="157099"/>
                  </a:lnTo>
                  <a:lnTo>
                    <a:pt x="170052" y="160400"/>
                  </a:lnTo>
                  <a:lnTo>
                    <a:pt x="190500" y="62230"/>
                  </a:lnTo>
                  <a:lnTo>
                    <a:pt x="207938" y="62230"/>
                  </a:lnTo>
                  <a:lnTo>
                    <a:pt x="197230" y="35687"/>
                  </a:lnTo>
                  <a:lnTo>
                    <a:pt x="180213" y="32131"/>
                  </a:lnTo>
                  <a:close/>
                </a:path>
                <a:path extrusionOk="0" h="177800" w="278765">
                  <a:moveTo>
                    <a:pt x="262763" y="49402"/>
                  </a:moveTo>
                  <a:lnTo>
                    <a:pt x="242316" y="147447"/>
                  </a:lnTo>
                  <a:lnTo>
                    <a:pt x="258900" y="147447"/>
                  </a:lnTo>
                  <a:lnTo>
                    <a:pt x="278638" y="52705"/>
                  </a:lnTo>
                  <a:lnTo>
                    <a:pt x="262763" y="494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8" name="Google Shape;188;p5"/>
          <p:cNvSpPr txBox="1"/>
          <p:nvPr/>
        </p:nvSpPr>
        <p:spPr>
          <a:xfrm>
            <a:off x="7001383" y="1826133"/>
            <a:ext cx="195580" cy="330835"/>
          </a:xfrm>
          <a:prstGeom prst="rect">
            <a:avLst/>
          </a:prstGeom>
          <a:noFill/>
          <a:ln>
            <a:noFill/>
          </a:ln>
        </p:spPr>
        <p:txBody>
          <a:bodyPr anchorCtr="0" anchor="t" bIns="0" lIns="0" spcFirstLastPara="1" rIns="0" wrap="square" tIns="13325">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A</a:t>
            </a:r>
            <a:endParaRPr sz="2000">
              <a:solidFill>
                <a:schemeClr val="dk1"/>
              </a:solidFill>
              <a:latin typeface="Arial"/>
              <a:ea typeface="Arial"/>
              <a:cs typeface="Arial"/>
              <a:sym typeface="Arial"/>
            </a:endParaRPr>
          </a:p>
        </p:txBody>
      </p:sp>
      <p:sp>
        <p:nvSpPr>
          <p:cNvPr id="189" name="Google Shape;189;p5"/>
          <p:cNvSpPr txBox="1"/>
          <p:nvPr/>
        </p:nvSpPr>
        <p:spPr>
          <a:xfrm>
            <a:off x="9511665" y="1826133"/>
            <a:ext cx="195580" cy="330835"/>
          </a:xfrm>
          <a:prstGeom prst="rect">
            <a:avLst/>
          </a:prstGeom>
          <a:noFill/>
          <a:ln>
            <a:noFill/>
          </a:ln>
        </p:spPr>
        <p:txBody>
          <a:bodyPr anchorCtr="0" anchor="t" bIns="0" lIns="0" spcFirstLastPara="1" rIns="0" wrap="square" tIns="13325">
            <a:spAutoFit/>
          </a:bodyPr>
          <a:lstStyle/>
          <a:p>
            <a:pPr indent="0" lvl="0" marL="12700" marR="0" rtl="0" algn="l">
              <a:spcBef>
                <a:spcPts val="0"/>
              </a:spcBef>
              <a:spcAft>
                <a:spcPts val="0"/>
              </a:spcAft>
              <a:buNone/>
            </a:pPr>
            <a:r>
              <a:rPr lang="en-US" sz="2000">
                <a:solidFill>
                  <a:schemeClr val="dk1"/>
                </a:solidFill>
                <a:latin typeface="Arial"/>
                <a:ea typeface="Arial"/>
                <a:cs typeface="Arial"/>
                <a:sym typeface="Arial"/>
              </a:rPr>
              <a:t>B</a:t>
            </a:r>
            <a:endParaRPr sz="2000">
              <a:solidFill>
                <a:schemeClr val="dk1"/>
              </a:solidFill>
              <a:latin typeface="Arial"/>
              <a:ea typeface="Arial"/>
              <a:cs typeface="Arial"/>
              <a:sym typeface="Arial"/>
            </a:endParaRPr>
          </a:p>
        </p:txBody>
      </p:sp>
      <p:grpSp>
        <p:nvGrpSpPr>
          <p:cNvPr id="190" name="Google Shape;190;p5"/>
          <p:cNvGrpSpPr/>
          <p:nvPr/>
        </p:nvGrpSpPr>
        <p:grpSpPr>
          <a:xfrm>
            <a:off x="6895339" y="2635758"/>
            <a:ext cx="2705481" cy="3411220"/>
            <a:chOff x="5371338" y="2635758"/>
            <a:chExt cx="2705481" cy="3411220"/>
          </a:xfrm>
        </p:grpSpPr>
        <p:sp>
          <p:nvSpPr>
            <p:cNvPr id="191" name="Google Shape;191;p5"/>
            <p:cNvSpPr/>
            <p:nvPr/>
          </p:nvSpPr>
          <p:spPr>
            <a:xfrm>
              <a:off x="5538724" y="4755261"/>
              <a:ext cx="2538095" cy="628015"/>
            </a:xfrm>
            <a:custGeom>
              <a:rect b="b" l="l" r="r" t="t"/>
              <a:pathLst>
                <a:path extrusionOk="0" h="628014" w="2538095">
                  <a:moveTo>
                    <a:pt x="2449827" y="599832"/>
                  </a:moveTo>
                  <a:lnTo>
                    <a:pt x="2443226" y="628014"/>
                  </a:lnTo>
                  <a:lnTo>
                    <a:pt x="2537714" y="605408"/>
                  </a:lnTo>
                  <a:lnTo>
                    <a:pt x="2534959" y="603122"/>
                  </a:lnTo>
                  <a:lnTo>
                    <a:pt x="2463927" y="603122"/>
                  </a:lnTo>
                  <a:lnTo>
                    <a:pt x="2449827" y="599832"/>
                  </a:lnTo>
                  <a:close/>
                </a:path>
                <a:path extrusionOk="0" h="628014" w="2538095">
                  <a:moveTo>
                    <a:pt x="2456459" y="571519"/>
                  </a:moveTo>
                  <a:lnTo>
                    <a:pt x="2449827" y="599832"/>
                  </a:lnTo>
                  <a:lnTo>
                    <a:pt x="2463927" y="603122"/>
                  </a:lnTo>
                  <a:lnTo>
                    <a:pt x="2470530" y="574801"/>
                  </a:lnTo>
                  <a:lnTo>
                    <a:pt x="2456459" y="571519"/>
                  </a:lnTo>
                  <a:close/>
                </a:path>
                <a:path extrusionOk="0" h="628014" w="2538095">
                  <a:moveTo>
                    <a:pt x="2463037" y="543432"/>
                  </a:moveTo>
                  <a:lnTo>
                    <a:pt x="2456459" y="571519"/>
                  </a:lnTo>
                  <a:lnTo>
                    <a:pt x="2470530" y="574801"/>
                  </a:lnTo>
                  <a:lnTo>
                    <a:pt x="2463927" y="603122"/>
                  </a:lnTo>
                  <a:lnTo>
                    <a:pt x="2534959" y="603122"/>
                  </a:lnTo>
                  <a:lnTo>
                    <a:pt x="2463037" y="543432"/>
                  </a:lnTo>
                  <a:close/>
                </a:path>
                <a:path extrusionOk="0" h="628014" w="2538095">
                  <a:moveTo>
                    <a:pt x="6603" y="0"/>
                  </a:moveTo>
                  <a:lnTo>
                    <a:pt x="0" y="28193"/>
                  </a:lnTo>
                  <a:lnTo>
                    <a:pt x="2449827" y="599832"/>
                  </a:lnTo>
                  <a:lnTo>
                    <a:pt x="2456459" y="571519"/>
                  </a:lnTo>
                  <a:lnTo>
                    <a:pt x="6603" y="0"/>
                  </a:lnTo>
                  <a:close/>
                </a:path>
              </a:pathLst>
            </a:custGeom>
            <a:solidFill>
              <a:srgbClr val="DD804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5"/>
            <p:cNvSpPr/>
            <p:nvPr/>
          </p:nvSpPr>
          <p:spPr>
            <a:xfrm>
              <a:off x="5371338" y="4626102"/>
              <a:ext cx="0" cy="1344295"/>
            </a:xfrm>
            <a:custGeom>
              <a:rect b="b" l="l" r="r" t="t"/>
              <a:pathLst>
                <a:path extrusionOk="0" h="1344295" w="120000">
                  <a:moveTo>
                    <a:pt x="0" y="0"/>
                  </a:moveTo>
                  <a:lnTo>
                    <a:pt x="0" y="1344168"/>
                  </a:lnTo>
                </a:path>
              </a:pathLst>
            </a:custGeom>
            <a:noFill/>
            <a:ln cap="flat" cmpd="sng" w="289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5"/>
            <p:cNvSpPr/>
            <p:nvPr/>
          </p:nvSpPr>
          <p:spPr>
            <a:xfrm>
              <a:off x="8067294" y="2635758"/>
              <a:ext cx="0" cy="3411220"/>
            </a:xfrm>
            <a:custGeom>
              <a:rect b="b" l="l" r="r" t="t"/>
              <a:pathLst>
                <a:path extrusionOk="0" h="3411220" w="120000">
                  <a:moveTo>
                    <a:pt x="0" y="0"/>
                  </a:moveTo>
                  <a:lnTo>
                    <a:pt x="0" y="3410712"/>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5"/>
            <p:cNvSpPr/>
            <p:nvPr/>
          </p:nvSpPr>
          <p:spPr>
            <a:xfrm>
              <a:off x="5503926" y="3450971"/>
              <a:ext cx="2500630" cy="783590"/>
            </a:xfrm>
            <a:custGeom>
              <a:rect b="b" l="l" r="r" t="t"/>
              <a:pathLst>
                <a:path extrusionOk="0" h="783589" w="2500629">
                  <a:moveTo>
                    <a:pt x="70612" y="700023"/>
                  </a:moveTo>
                  <a:lnTo>
                    <a:pt x="0" y="766698"/>
                  </a:lnTo>
                  <a:lnTo>
                    <a:pt x="95758" y="783208"/>
                  </a:lnTo>
                  <a:lnTo>
                    <a:pt x="88655" y="759713"/>
                  </a:lnTo>
                  <a:lnTo>
                    <a:pt x="73533" y="759713"/>
                  </a:lnTo>
                  <a:lnTo>
                    <a:pt x="65150" y="731901"/>
                  </a:lnTo>
                  <a:lnTo>
                    <a:pt x="78986" y="727728"/>
                  </a:lnTo>
                  <a:lnTo>
                    <a:pt x="70612" y="700023"/>
                  </a:lnTo>
                  <a:close/>
                </a:path>
                <a:path extrusionOk="0" h="783589" w="2500629">
                  <a:moveTo>
                    <a:pt x="78986" y="727728"/>
                  </a:moveTo>
                  <a:lnTo>
                    <a:pt x="65150" y="731901"/>
                  </a:lnTo>
                  <a:lnTo>
                    <a:pt x="73533" y="759713"/>
                  </a:lnTo>
                  <a:lnTo>
                    <a:pt x="87392" y="755533"/>
                  </a:lnTo>
                  <a:lnTo>
                    <a:pt x="78986" y="727728"/>
                  </a:lnTo>
                  <a:close/>
                </a:path>
                <a:path extrusionOk="0" h="783589" w="2500629">
                  <a:moveTo>
                    <a:pt x="87392" y="755533"/>
                  </a:moveTo>
                  <a:lnTo>
                    <a:pt x="73533" y="759713"/>
                  </a:lnTo>
                  <a:lnTo>
                    <a:pt x="88655" y="759713"/>
                  </a:lnTo>
                  <a:lnTo>
                    <a:pt x="87392" y="755533"/>
                  </a:lnTo>
                  <a:close/>
                </a:path>
                <a:path extrusionOk="0" h="783589" w="2500629">
                  <a:moveTo>
                    <a:pt x="2492121" y="0"/>
                  </a:moveTo>
                  <a:lnTo>
                    <a:pt x="78986" y="727728"/>
                  </a:lnTo>
                  <a:lnTo>
                    <a:pt x="87392" y="755533"/>
                  </a:lnTo>
                  <a:lnTo>
                    <a:pt x="2500503" y="27686"/>
                  </a:lnTo>
                  <a:lnTo>
                    <a:pt x="2492121" y="0"/>
                  </a:lnTo>
                  <a:close/>
                </a:path>
              </a:pathLst>
            </a:custGeom>
            <a:solidFill>
              <a:srgbClr val="DD804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5"/>
            <p:cNvSpPr/>
            <p:nvPr/>
          </p:nvSpPr>
          <p:spPr>
            <a:xfrm>
              <a:off x="5537962" y="3894454"/>
              <a:ext cx="1433195" cy="1132840"/>
            </a:xfrm>
            <a:custGeom>
              <a:rect b="b" l="l" r="r" t="t"/>
              <a:pathLst>
                <a:path extrusionOk="0" h="1132839" w="1433195">
                  <a:moveTo>
                    <a:pt x="115062" y="188087"/>
                  </a:moveTo>
                  <a:lnTo>
                    <a:pt x="93281" y="159893"/>
                  </a:lnTo>
                  <a:lnTo>
                    <a:pt x="92989" y="159512"/>
                  </a:lnTo>
                  <a:lnTo>
                    <a:pt x="63246" y="120992"/>
                  </a:lnTo>
                  <a:lnTo>
                    <a:pt x="63246" y="147955"/>
                  </a:lnTo>
                  <a:lnTo>
                    <a:pt x="21463" y="159512"/>
                  </a:lnTo>
                  <a:lnTo>
                    <a:pt x="25019" y="119761"/>
                  </a:lnTo>
                  <a:lnTo>
                    <a:pt x="25400" y="113893"/>
                  </a:lnTo>
                  <a:lnTo>
                    <a:pt x="25514" y="110490"/>
                  </a:lnTo>
                  <a:lnTo>
                    <a:pt x="25412" y="99250"/>
                  </a:lnTo>
                  <a:lnTo>
                    <a:pt x="25146" y="94361"/>
                  </a:lnTo>
                  <a:lnTo>
                    <a:pt x="28257" y="99250"/>
                  </a:lnTo>
                  <a:lnTo>
                    <a:pt x="31978" y="104825"/>
                  </a:lnTo>
                  <a:lnTo>
                    <a:pt x="36118" y="110820"/>
                  </a:lnTo>
                  <a:lnTo>
                    <a:pt x="40894" y="117475"/>
                  </a:lnTo>
                  <a:lnTo>
                    <a:pt x="63246" y="147955"/>
                  </a:lnTo>
                  <a:lnTo>
                    <a:pt x="63246" y="120992"/>
                  </a:lnTo>
                  <a:lnTo>
                    <a:pt x="42684" y="94361"/>
                  </a:lnTo>
                  <a:lnTo>
                    <a:pt x="30734" y="78867"/>
                  </a:lnTo>
                  <a:lnTo>
                    <a:pt x="13208" y="83820"/>
                  </a:lnTo>
                  <a:lnTo>
                    <a:pt x="0" y="219837"/>
                  </a:lnTo>
                  <a:lnTo>
                    <a:pt x="17272" y="215138"/>
                  </a:lnTo>
                  <a:lnTo>
                    <a:pt x="20447" y="174117"/>
                  </a:lnTo>
                  <a:lnTo>
                    <a:pt x="71882" y="159893"/>
                  </a:lnTo>
                  <a:lnTo>
                    <a:pt x="96520" y="193167"/>
                  </a:lnTo>
                  <a:lnTo>
                    <a:pt x="115062" y="188087"/>
                  </a:lnTo>
                  <a:close/>
                </a:path>
                <a:path extrusionOk="0" h="1132839" w="1433195">
                  <a:moveTo>
                    <a:pt x="221361" y="116713"/>
                  </a:moveTo>
                  <a:lnTo>
                    <a:pt x="203835" y="117094"/>
                  </a:lnTo>
                  <a:lnTo>
                    <a:pt x="203796" y="124929"/>
                  </a:lnTo>
                  <a:lnTo>
                    <a:pt x="202755" y="132041"/>
                  </a:lnTo>
                  <a:lnTo>
                    <a:pt x="169037" y="160401"/>
                  </a:lnTo>
                  <a:lnTo>
                    <a:pt x="161544" y="160401"/>
                  </a:lnTo>
                  <a:lnTo>
                    <a:pt x="154051" y="158242"/>
                  </a:lnTo>
                  <a:lnTo>
                    <a:pt x="146558" y="156210"/>
                  </a:lnTo>
                  <a:lnTo>
                    <a:pt x="122809" y="118618"/>
                  </a:lnTo>
                  <a:lnTo>
                    <a:pt x="119875" y="103378"/>
                  </a:lnTo>
                  <a:lnTo>
                    <a:pt x="119888" y="99250"/>
                  </a:lnTo>
                  <a:lnTo>
                    <a:pt x="137769" y="63919"/>
                  </a:lnTo>
                  <a:lnTo>
                    <a:pt x="158623" y="56388"/>
                  </a:lnTo>
                  <a:lnTo>
                    <a:pt x="165989" y="56515"/>
                  </a:lnTo>
                  <a:lnTo>
                    <a:pt x="172466" y="59055"/>
                  </a:lnTo>
                  <a:lnTo>
                    <a:pt x="179070" y="61722"/>
                  </a:lnTo>
                  <a:lnTo>
                    <a:pt x="185039" y="67056"/>
                  </a:lnTo>
                  <a:lnTo>
                    <a:pt x="190373" y="75184"/>
                  </a:lnTo>
                  <a:lnTo>
                    <a:pt x="205359" y="67056"/>
                  </a:lnTo>
                  <a:lnTo>
                    <a:pt x="172643" y="43141"/>
                  </a:lnTo>
                  <a:lnTo>
                    <a:pt x="164439" y="42214"/>
                  </a:lnTo>
                  <a:lnTo>
                    <a:pt x="155829" y="42710"/>
                  </a:lnTo>
                  <a:lnTo>
                    <a:pt x="118999" y="60198"/>
                  </a:lnTo>
                  <a:lnTo>
                    <a:pt x="102971" y="96126"/>
                  </a:lnTo>
                  <a:lnTo>
                    <a:pt x="102895" y="104825"/>
                  </a:lnTo>
                  <a:lnTo>
                    <a:pt x="103924" y="113893"/>
                  </a:lnTo>
                  <a:lnTo>
                    <a:pt x="121666" y="154559"/>
                  </a:lnTo>
                  <a:lnTo>
                    <a:pt x="154851" y="174396"/>
                  </a:lnTo>
                  <a:lnTo>
                    <a:pt x="163169" y="174802"/>
                  </a:lnTo>
                  <a:lnTo>
                    <a:pt x="172135" y="173964"/>
                  </a:lnTo>
                  <a:lnTo>
                    <a:pt x="181737" y="171831"/>
                  </a:lnTo>
                  <a:lnTo>
                    <a:pt x="190804" y="168681"/>
                  </a:lnTo>
                  <a:lnTo>
                    <a:pt x="198767" y="164363"/>
                  </a:lnTo>
                  <a:lnTo>
                    <a:pt x="203746" y="160401"/>
                  </a:lnTo>
                  <a:lnTo>
                    <a:pt x="205613" y="158927"/>
                  </a:lnTo>
                  <a:lnTo>
                    <a:pt x="211328" y="152400"/>
                  </a:lnTo>
                  <a:lnTo>
                    <a:pt x="215887" y="144780"/>
                  </a:lnTo>
                  <a:lnTo>
                    <a:pt x="219049" y="136321"/>
                  </a:lnTo>
                  <a:lnTo>
                    <a:pt x="220878" y="126961"/>
                  </a:lnTo>
                  <a:lnTo>
                    <a:pt x="221361" y="116713"/>
                  </a:lnTo>
                  <a:close/>
                </a:path>
                <a:path extrusionOk="0" h="1132839" w="1433195">
                  <a:moveTo>
                    <a:pt x="352425" y="122428"/>
                  </a:moveTo>
                  <a:lnTo>
                    <a:pt x="296278" y="78232"/>
                  </a:lnTo>
                  <a:lnTo>
                    <a:pt x="278384" y="64135"/>
                  </a:lnTo>
                  <a:lnTo>
                    <a:pt x="316230" y="0"/>
                  </a:lnTo>
                  <a:lnTo>
                    <a:pt x="294132" y="6096"/>
                  </a:lnTo>
                  <a:lnTo>
                    <a:pt x="249936" y="84074"/>
                  </a:lnTo>
                  <a:lnTo>
                    <a:pt x="233045" y="22987"/>
                  </a:lnTo>
                  <a:lnTo>
                    <a:pt x="216789" y="27559"/>
                  </a:lnTo>
                  <a:lnTo>
                    <a:pt x="250698" y="150495"/>
                  </a:lnTo>
                  <a:lnTo>
                    <a:pt x="267081" y="146050"/>
                  </a:lnTo>
                  <a:lnTo>
                    <a:pt x="255270" y="103378"/>
                  </a:lnTo>
                  <a:lnTo>
                    <a:pt x="266573" y="84074"/>
                  </a:lnTo>
                  <a:lnTo>
                    <a:pt x="270002" y="78232"/>
                  </a:lnTo>
                  <a:lnTo>
                    <a:pt x="330962" y="128397"/>
                  </a:lnTo>
                  <a:lnTo>
                    <a:pt x="352425" y="122428"/>
                  </a:lnTo>
                  <a:close/>
                </a:path>
                <a:path extrusionOk="0" h="1132839" w="1433195">
                  <a:moveTo>
                    <a:pt x="1167765" y="1082421"/>
                  </a:moveTo>
                  <a:lnTo>
                    <a:pt x="1157490" y="1026795"/>
                  </a:lnTo>
                  <a:lnTo>
                    <a:pt x="1156804" y="1023112"/>
                  </a:lnTo>
                  <a:lnTo>
                    <a:pt x="1144803" y="958088"/>
                  </a:lnTo>
                  <a:lnTo>
                    <a:pt x="1142746" y="946912"/>
                  </a:lnTo>
                  <a:lnTo>
                    <a:pt x="1139952" y="946315"/>
                  </a:lnTo>
                  <a:lnTo>
                    <a:pt x="1139952" y="1023112"/>
                  </a:lnTo>
                  <a:lnTo>
                    <a:pt x="1097661" y="1014349"/>
                  </a:lnTo>
                  <a:lnTo>
                    <a:pt x="1118984" y="980567"/>
                  </a:lnTo>
                  <a:lnTo>
                    <a:pt x="1123569" y="973201"/>
                  </a:lnTo>
                  <a:lnTo>
                    <a:pt x="1127506" y="965708"/>
                  </a:lnTo>
                  <a:lnTo>
                    <a:pt x="1130681" y="958088"/>
                  </a:lnTo>
                  <a:lnTo>
                    <a:pt x="1131176" y="963828"/>
                  </a:lnTo>
                  <a:lnTo>
                    <a:pt x="1131912" y="970368"/>
                  </a:lnTo>
                  <a:lnTo>
                    <a:pt x="1132890" y="977684"/>
                  </a:lnTo>
                  <a:lnTo>
                    <a:pt x="1134110" y="985774"/>
                  </a:lnTo>
                  <a:lnTo>
                    <a:pt x="1139952" y="1023112"/>
                  </a:lnTo>
                  <a:lnTo>
                    <a:pt x="1139952" y="946315"/>
                  </a:lnTo>
                  <a:lnTo>
                    <a:pt x="1124966" y="943102"/>
                  </a:lnTo>
                  <a:lnTo>
                    <a:pt x="1050912" y="1058037"/>
                  </a:lnTo>
                  <a:lnTo>
                    <a:pt x="1068451" y="1061720"/>
                  </a:lnTo>
                  <a:lnTo>
                    <a:pt x="1090041" y="1026795"/>
                  </a:lnTo>
                  <a:lnTo>
                    <a:pt x="1142238" y="1037717"/>
                  </a:lnTo>
                  <a:lnTo>
                    <a:pt x="1148969" y="1078611"/>
                  </a:lnTo>
                  <a:lnTo>
                    <a:pt x="1167765" y="1082421"/>
                  </a:lnTo>
                  <a:close/>
                </a:path>
                <a:path extrusionOk="0" h="1132839" w="1433195">
                  <a:moveTo>
                    <a:pt x="1303401" y="1016127"/>
                  </a:moveTo>
                  <a:lnTo>
                    <a:pt x="1287983" y="982497"/>
                  </a:lnTo>
                  <a:lnTo>
                    <a:pt x="1285290" y="979957"/>
                  </a:lnTo>
                  <a:lnTo>
                    <a:pt x="1245450" y="968032"/>
                  </a:lnTo>
                  <a:lnTo>
                    <a:pt x="1237576" y="968857"/>
                  </a:lnTo>
                  <a:lnTo>
                    <a:pt x="1203960" y="988314"/>
                  </a:lnTo>
                  <a:lnTo>
                    <a:pt x="1188021" y="1029716"/>
                  </a:lnTo>
                  <a:lnTo>
                    <a:pt x="1187475" y="1038479"/>
                  </a:lnTo>
                  <a:lnTo>
                    <a:pt x="1187831" y="1047153"/>
                  </a:lnTo>
                  <a:lnTo>
                    <a:pt x="1203325" y="1083564"/>
                  </a:lnTo>
                  <a:lnTo>
                    <a:pt x="1243990" y="1099883"/>
                  </a:lnTo>
                  <a:lnTo>
                    <a:pt x="1253045" y="1099693"/>
                  </a:lnTo>
                  <a:lnTo>
                    <a:pt x="1289812" y="1076604"/>
                  </a:lnTo>
                  <a:lnTo>
                    <a:pt x="1294892" y="1067689"/>
                  </a:lnTo>
                  <a:lnTo>
                    <a:pt x="1279271" y="1060069"/>
                  </a:lnTo>
                  <a:lnTo>
                    <a:pt x="1275638" y="1067028"/>
                  </a:lnTo>
                  <a:lnTo>
                    <a:pt x="1271435" y="1072832"/>
                  </a:lnTo>
                  <a:lnTo>
                    <a:pt x="1242872" y="1085088"/>
                  </a:lnTo>
                  <a:lnTo>
                    <a:pt x="1236091" y="1084199"/>
                  </a:lnTo>
                  <a:lnTo>
                    <a:pt x="1205357" y="1053084"/>
                  </a:lnTo>
                  <a:lnTo>
                    <a:pt x="1204569" y="1046441"/>
                  </a:lnTo>
                  <a:lnTo>
                    <a:pt x="1204582" y="1038479"/>
                  </a:lnTo>
                  <a:lnTo>
                    <a:pt x="1219581" y="993902"/>
                  </a:lnTo>
                  <a:lnTo>
                    <a:pt x="1244815" y="982497"/>
                  </a:lnTo>
                  <a:lnTo>
                    <a:pt x="1251407" y="982522"/>
                  </a:lnTo>
                  <a:lnTo>
                    <a:pt x="1285367" y="1006856"/>
                  </a:lnTo>
                  <a:lnTo>
                    <a:pt x="1286383" y="1016635"/>
                  </a:lnTo>
                  <a:lnTo>
                    <a:pt x="1303401" y="1016127"/>
                  </a:lnTo>
                  <a:close/>
                </a:path>
                <a:path extrusionOk="0" h="1132839" w="1433195">
                  <a:moveTo>
                    <a:pt x="1432687" y="1007364"/>
                  </a:moveTo>
                  <a:lnTo>
                    <a:pt x="1410208" y="1002665"/>
                  </a:lnTo>
                  <a:lnTo>
                    <a:pt x="1335278" y="1051687"/>
                  </a:lnTo>
                  <a:lnTo>
                    <a:pt x="1348232" y="989711"/>
                  </a:lnTo>
                  <a:lnTo>
                    <a:pt x="1331722" y="986282"/>
                  </a:lnTo>
                  <a:lnTo>
                    <a:pt x="1305560" y="1111250"/>
                  </a:lnTo>
                  <a:lnTo>
                    <a:pt x="1322197" y="1114679"/>
                  </a:lnTo>
                  <a:lnTo>
                    <a:pt x="1331214" y="1071372"/>
                  </a:lnTo>
                  <a:lnTo>
                    <a:pt x="1355852" y="1055751"/>
                  </a:lnTo>
                  <a:lnTo>
                    <a:pt x="1387094" y="1128268"/>
                  </a:lnTo>
                  <a:lnTo>
                    <a:pt x="1408938" y="1132713"/>
                  </a:lnTo>
                  <a:lnTo>
                    <a:pt x="1373695" y="1055751"/>
                  </a:lnTo>
                  <a:lnTo>
                    <a:pt x="1371841" y="1051687"/>
                  </a:lnTo>
                  <a:lnTo>
                    <a:pt x="1369695" y="1046988"/>
                  </a:lnTo>
                  <a:lnTo>
                    <a:pt x="1432687" y="1007364"/>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5"/>
            <p:cNvSpPr/>
            <p:nvPr/>
          </p:nvSpPr>
          <p:spPr>
            <a:xfrm>
              <a:off x="5552694" y="3860927"/>
              <a:ext cx="2499360" cy="781685"/>
            </a:xfrm>
            <a:custGeom>
              <a:rect b="b" l="l" r="r" t="t"/>
              <a:pathLst>
                <a:path extrusionOk="0" h="781685" w="2499359">
                  <a:moveTo>
                    <a:pt x="70611" y="698500"/>
                  </a:moveTo>
                  <a:lnTo>
                    <a:pt x="0" y="765175"/>
                  </a:lnTo>
                  <a:lnTo>
                    <a:pt x="95757" y="781685"/>
                  </a:lnTo>
                  <a:lnTo>
                    <a:pt x="88655" y="758190"/>
                  </a:lnTo>
                  <a:lnTo>
                    <a:pt x="73532" y="758190"/>
                  </a:lnTo>
                  <a:lnTo>
                    <a:pt x="65150" y="730377"/>
                  </a:lnTo>
                  <a:lnTo>
                    <a:pt x="78988" y="726210"/>
                  </a:lnTo>
                  <a:lnTo>
                    <a:pt x="70611" y="698500"/>
                  </a:lnTo>
                  <a:close/>
                </a:path>
                <a:path extrusionOk="0" h="781685" w="2499359">
                  <a:moveTo>
                    <a:pt x="78988" y="726210"/>
                  </a:moveTo>
                  <a:lnTo>
                    <a:pt x="65150" y="730377"/>
                  </a:lnTo>
                  <a:lnTo>
                    <a:pt x="73532" y="758190"/>
                  </a:lnTo>
                  <a:lnTo>
                    <a:pt x="87393" y="754015"/>
                  </a:lnTo>
                  <a:lnTo>
                    <a:pt x="78988" y="726210"/>
                  </a:lnTo>
                  <a:close/>
                </a:path>
                <a:path extrusionOk="0" h="781685" w="2499359">
                  <a:moveTo>
                    <a:pt x="87393" y="754015"/>
                  </a:moveTo>
                  <a:lnTo>
                    <a:pt x="73532" y="758190"/>
                  </a:lnTo>
                  <a:lnTo>
                    <a:pt x="88655" y="758190"/>
                  </a:lnTo>
                  <a:lnTo>
                    <a:pt x="87393" y="754015"/>
                  </a:lnTo>
                  <a:close/>
                </a:path>
                <a:path extrusionOk="0" h="781685" w="2499359">
                  <a:moveTo>
                    <a:pt x="2490597" y="0"/>
                  </a:moveTo>
                  <a:lnTo>
                    <a:pt x="78988" y="726210"/>
                  </a:lnTo>
                  <a:lnTo>
                    <a:pt x="87393" y="754015"/>
                  </a:lnTo>
                  <a:lnTo>
                    <a:pt x="2498979" y="27686"/>
                  </a:lnTo>
                  <a:lnTo>
                    <a:pt x="2490597" y="0"/>
                  </a:lnTo>
                  <a:close/>
                </a:path>
              </a:pathLst>
            </a:custGeom>
            <a:solidFill>
              <a:srgbClr val="DD804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5"/>
            <p:cNvSpPr/>
            <p:nvPr/>
          </p:nvSpPr>
          <p:spPr>
            <a:xfrm>
              <a:off x="5565902" y="4328160"/>
              <a:ext cx="283210" cy="191770"/>
            </a:xfrm>
            <a:custGeom>
              <a:rect b="b" l="l" r="r" t="t"/>
              <a:pathLst>
                <a:path extrusionOk="0" h="191770" w="283210">
                  <a:moveTo>
                    <a:pt x="82931" y="45846"/>
                  </a:moveTo>
                  <a:lnTo>
                    <a:pt x="0" y="68706"/>
                  </a:lnTo>
                  <a:lnTo>
                    <a:pt x="34036" y="191769"/>
                  </a:lnTo>
                  <a:lnTo>
                    <a:pt x="50292" y="187325"/>
                  </a:lnTo>
                  <a:lnTo>
                    <a:pt x="34798" y="131317"/>
                  </a:lnTo>
                  <a:lnTo>
                    <a:pt x="87497" y="116839"/>
                  </a:lnTo>
                  <a:lnTo>
                    <a:pt x="30861" y="116839"/>
                  </a:lnTo>
                  <a:lnTo>
                    <a:pt x="20320" y="78739"/>
                  </a:lnTo>
                  <a:lnTo>
                    <a:pt x="86995" y="60325"/>
                  </a:lnTo>
                  <a:lnTo>
                    <a:pt x="82931" y="45846"/>
                  </a:lnTo>
                  <a:close/>
                </a:path>
                <a:path extrusionOk="0" h="191770" w="283210">
                  <a:moveTo>
                    <a:pt x="88519" y="100837"/>
                  </a:moveTo>
                  <a:lnTo>
                    <a:pt x="30861" y="116839"/>
                  </a:lnTo>
                  <a:lnTo>
                    <a:pt x="87497" y="116839"/>
                  </a:lnTo>
                  <a:lnTo>
                    <a:pt x="92583" y="115442"/>
                  </a:lnTo>
                  <a:lnTo>
                    <a:pt x="88519" y="100837"/>
                  </a:lnTo>
                  <a:close/>
                </a:path>
                <a:path extrusionOk="0" h="191770" w="283210">
                  <a:moveTo>
                    <a:pt x="122427" y="34925"/>
                  </a:moveTo>
                  <a:lnTo>
                    <a:pt x="106172" y="39369"/>
                  </a:lnTo>
                  <a:lnTo>
                    <a:pt x="140208" y="162432"/>
                  </a:lnTo>
                  <a:lnTo>
                    <a:pt x="156463" y="157860"/>
                  </a:lnTo>
                  <a:lnTo>
                    <a:pt x="122427" y="34925"/>
                  </a:lnTo>
                  <a:close/>
                </a:path>
                <a:path extrusionOk="0" h="191770" w="283210">
                  <a:moveTo>
                    <a:pt x="168401" y="22225"/>
                  </a:moveTo>
                  <a:lnTo>
                    <a:pt x="151764" y="26796"/>
                  </a:lnTo>
                  <a:lnTo>
                    <a:pt x="185800" y="149859"/>
                  </a:lnTo>
                  <a:lnTo>
                    <a:pt x="201295" y="145541"/>
                  </a:lnTo>
                  <a:lnTo>
                    <a:pt x="174625" y="48894"/>
                  </a:lnTo>
                  <a:lnTo>
                    <a:pt x="199330" y="48894"/>
                  </a:lnTo>
                  <a:lnTo>
                    <a:pt x="168401" y="22225"/>
                  </a:lnTo>
                  <a:close/>
                </a:path>
                <a:path extrusionOk="0" h="191770" w="283210">
                  <a:moveTo>
                    <a:pt x="199330" y="48894"/>
                  </a:moveTo>
                  <a:lnTo>
                    <a:pt x="174625" y="48894"/>
                  </a:lnTo>
                  <a:lnTo>
                    <a:pt x="265938" y="127634"/>
                  </a:lnTo>
                  <a:lnTo>
                    <a:pt x="282701" y="123062"/>
                  </a:lnTo>
                  <a:lnTo>
                    <a:pt x="276590" y="100964"/>
                  </a:lnTo>
                  <a:lnTo>
                    <a:pt x="259714" y="100964"/>
                  </a:lnTo>
                  <a:lnTo>
                    <a:pt x="199330" y="48894"/>
                  </a:lnTo>
                  <a:close/>
                </a:path>
                <a:path extrusionOk="0" h="191770" w="283210">
                  <a:moveTo>
                    <a:pt x="248665" y="0"/>
                  </a:moveTo>
                  <a:lnTo>
                    <a:pt x="233045" y="4317"/>
                  </a:lnTo>
                  <a:lnTo>
                    <a:pt x="259714" y="100964"/>
                  </a:lnTo>
                  <a:lnTo>
                    <a:pt x="276590" y="100964"/>
                  </a:lnTo>
                  <a:lnTo>
                    <a:pt x="248665"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5"/>
            <p:cNvSpPr/>
            <p:nvPr/>
          </p:nvSpPr>
          <p:spPr>
            <a:xfrm>
              <a:off x="5523738" y="2655570"/>
              <a:ext cx="0" cy="3342640"/>
            </a:xfrm>
            <a:custGeom>
              <a:rect b="b" l="l" r="r" t="t"/>
              <a:pathLst>
                <a:path extrusionOk="0" h="3342640" w="120000">
                  <a:moveTo>
                    <a:pt x="0" y="0"/>
                  </a:moveTo>
                  <a:lnTo>
                    <a:pt x="0" y="3342131"/>
                  </a:lnTo>
                </a:path>
              </a:pathLst>
            </a:custGeom>
            <a:noFill/>
            <a:ln cap="flat" cmpd="sng" w="198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9" name="Google Shape;199;p5"/>
          <p:cNvSpPr txBox="1"/>
          <p:nvPr/>
        </p:nvSpPr>
        <p:spPr>
          <a:xfrm>
            <a:off x="6251829" y="2556509"/>
            <a:ext cx="734695"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Arial"/>
                <a:ea typeface="Arial"/>
                <a:cs typeface="Arial"/>
                <a:sym typeface="Arial"/>
              </a:rPr>
              <a:t>closing</a:t>
            </a:r>
            <a:endParaRPr sz="1800">
              <a:solidFill>
                <a:schemeClr val="dk1"/>
              </a:solidFill>
              <a:latin typeface="Arial"/>
              <a:ea typeface="Arial"/>
              <a:cs typeface="Arial"/>
              <a:sym typeface="Arial"/>
            </a:endParaRPr>
          </a:p>
        </p:txBody>
      </p:sp>
      <p:sp>
        <p:nvSpPr>
          <p:cNvPr id="200" name="Google Shape;200;p5"/>
          <p:cNvSpPr txBox="1"/>
          <p:nvPr/>
        </p:nvSpPr>
        <p:spPr>
          <a:xfrm>
            <a:off x="9624187" y="3680586"/>
            <a:ext cx="735900" cy="29970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Arial"/>
                <a:ea typeface="Arial"/>
                <a:cs typeface="Arial"/>
                <a:sym typeface="Arial"/>
              </a:rPr>
              <a:t>closing</a:t>
            </a:r>
            <a:endParaRPr sz="1800">
              <a:solidFill>
                <a:schemeClr val="dk1"/>
              </a:solidFill>
              <a:latin typeface="Arial"/>
              <a:ea typeface="Arial"/>
              <a:cs typeface="Arial"/>
              <a:sym typeface="Arial"/>
            </a:endParaRPr>
          </a:p>
        </p:txBody>
      </p:sp>
      <p:sp>
        <p:nvSpPr>
          <p:cNvPr id="201" name="Google Shape;201;p5"/>
          <p:cNvSpPr txBox="1"/>
          <p:nvPr/>
        </p:nvSpPr>
        <p:spPr>
          <a:xfrm>
            <a:off x="6067806" y="5904688"/>
            <a:ext cx="685165" cy="300355"/>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Arial"/>
                <a:ea typeface="Arial"/>
                <a:cs typeface="Arial"/>
                <a:sym typeface="Arial"/>
              </a:rPr>
              <a:t>closed</a:t>
            </a:r>
            <a:endParaRPr sz="1800">
              <a:solidFill>
                <a:schemeClr val="dk1"/>
              </a:solidFill>
              <a:latin typeface="Arial"/>
              <a:ea typeface="Arial"/>
              <a:cs typeface="Arial"/>
              <a:sym typeface="Arial"/>
            </a:endParaRPr>
          </a:p>
        </p:txBody>
      </p:sp>
      <p:grpSp>
        <p:nvGrpSpPr>
          <p:cNvPr id="202" name="Google Shape;202;p5"/>
          <p:cNvGrpSpPr/>
          <p:nvPr/>
        </p:nvGrpSpPr>
        <p:grpSpPr>
          <a:xfrm>
            <a:off x="6790182" y="2183901"/>
            <a:ext cx="3103819" cy="3805039"/>
            <a:chOff x="5266182" y="2183900"/>
            <a:chExt cx="3103819" cy="3805039"/>
          </a:xfrm>
        </p:grpSpPr>
        <p:sp>
          <p:nvSpPr>
            <p:cNvPr id="203" name="Google Shape;203;p5"/>
            <p:cNvSpPr/>
            <p:nvPr/>
          </p:nvSpPr>
          <p:spPr>
            <a:xfrm>
              <a:off x="5266182" y="4607814"/>
              <a:ext cx="205740" cy="1381125"/>
            </a:xfrm>
            <a:custGeom>
              <a:rect b="b" l="l" r="r" t="t"/>
              <a:pathLst>
                <a:path extrusionOk="0" h="1381125" w="205739">
                  <a:moveTo>
                    <a:pt x="0" y="0"/>
                  </a:moveTo>
                  <a:lnTo>
                    <a:pt x="190500" y="0"/>
                  </a:lnTo>
                </a:path>
                <a:path extrusionOk="0" h="1381125" w="205739">
                  <a:moveTo>
                    <a:pt x="15239" y="1380744"/>
                  </a:moveTo>
                  <a:lnTo>
                    <a:pt x="205739" y="1380744"/>
                  </a:lnTo>
                </a:path>
              </a:pathLst>
            </a:custGeom>
            <a:noFill/>
            <a:ln cap="flat" cmpd="sng" w="289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5"/>
            <p:cNvSpPr/>
            <p:nvPr/>
          </p:nvSpPr>
          <p:spPr>
            <a:xfrm>
              <a:off x="7760763" y="2183900"/>
              <a:ext cx="609238" cy="35694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5"/>
            <p:cNvSpPr/>
            <p:nvPr/>
          </p:nvSpPr>
          <p:spPr>
            <a:xfrm>
              <a:off x="5322363" y="2235719"/>
              <a:ext cx="609238" cy="355419"/>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6" name="Google Shape;206;p5"/>
          <p:cNvSpPr txBox="1"/>
          <p:nvPr/>
        </p:nvSpPr>
        <p:spPr>
          <a:xfrm rot="-5400000">
            <a:off x="6172296" y="5187104"/>
            <a:ext cx="1047750" cy="269304"/>
          </a:xfrm>
          <a:prstGeom prst="rect">
            <a:avLst/>
          </a:prstGeom>
          <a:noFill/>
          <a:ln>
            <a:noFill/>
          </a:ln>
        </p:spPr>
        <p:txBody>
          <a:bodyPr anchorCtr="0" anchor="t" bIns="0" lIns="0" spcFirstLastPara="1" rIns="0" wrap="square" tIns="0">
            <a:spAutoFit/>
          </a:bodyPr>
          <a:lstStyle/>
          <a:p>
            <a:pPr indent="0" lvl="0" marL="12700" marR="0" rtl="0" algn="l">
              <a:lnSpc>
                <a:spcPct val="116111"/>
              </a:lnSpc>
              <a:spcBef>
                <a:spcPts val="0"/>
              </a:spcBef>
              <a:spcAft>
                <a:spcPts val="0"/>
              </a:spcAft>
              <a:buNone/>
            </a:pPr>
            <a:r>
              <a:rPr lang="en-US" sz="1800">
                <a:solidFill>
                  <a:schemeClr val="dk1"/>
                </a:solidFill>
                <a:latin typeface="Arial"/>
                <a:ea typeface="Arial"/>
                <a:cs typeface="Arial"/>
                <a:sym typeface="Arial"/>
              </a:rPr>
              <a:t>timed wait</a:t>
            </a:r>
            <a:endParaRPr sz="1800">
              <a:solidFill>
                <a:schemeClr val="dk1"/>
              </a:solidFill>
              <a:latin typeface="Arial"/>
              <a:ea typeface="Arial"/>
              <a:cs typeface="Arial"/>
              <a:sym typeface="Arial"/>
            </a:endParaRPr>
          </a:p>
        </p:txBody>
      </p:sp>
      <p:sp>
        <p:nvSpPr>
          <p:cNvPr id="207" name="Google Shape;207;p5"/>
          <p:cNvSpPr txBox="1"/>
          <p:nvPr/>
        </p:nvSpPr>
        <p:spPr>
          <a:xfrm>
            <a:off x="9630537" y="5161611"/>
            <a:ext cx="685165" cy="300355"/>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lang="en-US" sz="1800">
                <a:solidFill>
                  <a:schemeClr val="dk1"/>
                </a:solidFill>
                <a:latin typeface="Arial"/>
                <a:ea typeface="Arial"/>
                <a:cs typeface="Arial"/>
                <a:sym typeface="Arial"/>
              </a:rPr>
              <a:t>closed</a:t>
            </a:r>
            <a:endParaRPr sz="1800">
              <a:solidFill>
                <a:schemeClr val="dk1"/>
              </a:solidFill>
              <a:latin typeface="Arial"/>
              <a:ea typeface="Arial"/>
              <a:cs typeface="Arial"/>
              <a:sym typeface="Arial"/>
            </a:endParaRPr>
          </a:p>
        </p:txBody>
      </p:sp>
      <p:sp>
        <p:nvSpPr>
          <p:cNvPr id="208" name="Google Shape;208;p5"/>
          <p:cNvSpPr/>
          <p:nvPr/>
        </p:nvSpPr>
        <p:spPr>
          <a:xfrm>
            <a:off x="0" y="8390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5"/>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5"/>
          <p:cNvSpPr txBox="1"/>
          <p:nvPr/>
        </p:nvSpPr>
        <p:spPr>
          <a:xfrm>
            <a:off x="0" y="235400"/>
            <a:ext cx="121920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4400">
                <a:solidFill>
                  <a:schemeClr val="lt1"/>
                </a:solidFill>
                <a:latin typeface="Calibri"/>
                <a:ea typeface="Calibri"/>
                <a:cs typeface="Calibri"/>
                <a:sym typeface="Calibri"/>
              </a:rPr>
              <a:t>VÍ DỤ VỀ VIỆC ĐÓNG LIÊN KẾT</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6"/>
          <p:cNvSpPr txBox="1"/>
          <p:nvPr/>
        </p:nvSpPr>
        <p:spPr>
          <a:xfrm>
            <a:off x="838200" y="1529267"/>
            <a:ext cx="10439400" cy="1500410"/>
          </a:xfrm>
          <a:prstGeom prst="rect">
            <a:avLst/>
          </a:prstGeom>
          <a:noFill/>
          <a:ln>
            <a:noFill/>
          </a:ln>
        </p:spPr>
        <p:txBody>
          <a:bodyPr anchorCtr="0" anchor="t" bIns="0" lIns="0" spcFirstLastPara="1" rIns="0" wrap="square" tIns="104125">
            <a:spAutoFit/>
          </a:bodyPr>
          <a:lstStyle/>
          <a:p>
            <a:pPr indent="-320675" lvl="0" marL="332740" marR="0" rtl="0" algn="l">
              <a:spcBef>
                <a:spcPts val="0"/>
              </a:spcBef>
              <a:spcAft>
                <a:spcPts val="0"/>
              </a:spcAft>
              <a:buClr>
                <a:srgbClr val="DD8046"/>
              </a:buClr>
              <a:buSzPts val="1650"/>
              <a:buFont typeface="Noto Sans Symbols"/>
              <a:buChar char="◻"/>
            </a:pPr>
            <a:r>
              <a:rPr lang="en-US" sz="2800">
                <a:solidFill>
                  <a:schemeClr val="dk1"/>
                </a:solidFill>
                <a:latin typeface="Calibri"/>
                <a:ea typeface="Calibri"/>
                <a:cs typeface="Calibri"/>
                <a:sym typeface="Calibri"/>
              </a:rPr>
              <a:t>Các tiến trình trao đổi thông tin với nhau thông qua chủ yếu 2 giao thức TCP và UDP</a:t>
            </a:r>
            <a:endParaRPr/>
          </a:p>
          <a:p>
            <a:pPr indent="-320675" lvl="1" marL="789940" marR="0" rtl="0" algn="l">
              <a:spcBef>
                <a:spcPts val="819"/>
              </a:spcBef>
              <a:spcAft>
                <a:spcPts val="0"/>
              </a:spcAft>
              <a:buClr>
                <a:srgbClr val="DD8046"/>
              </a:buClr>
              <a:buSzPts val="1650"/>
              <a:buFont typeface="Noto Sans Symbols"/>
              <a:buChar char="◻"/>
            </a:pPr>
            <a:r>
              <a:rPr b="0" i="0" lang="en-US" sz="2800" u="none" cap="none" strike="noStrike">
                <a:solidFill>
                  <a:schemeClr val="dk1"/>
                </a:solidFill>
                <a:latin typeface="Calibri"/>
                <a:ea typeface="Calibri"/>
                <a:cs typeface="Calibri"/>
                <a:sym typeface="Calibri"/>
              </a:rPr>
              <a:t>UDP</a:t>
            </a:r>
            <a:endParaRPr b="0" i="0" sz="2400" u="none" cap="none" strike="noStrike">
              <a:solidFill>
                <a:schemeClr val="dk1"/>
              </a:solidFill>
              <a:latin typeface="Calibri"/>
              <a:ea typeface="Calibri"/>
              <a:cs typeface="Calibri"/>
              <a:sym typeface="Calibri"/>
            </a:endParaRPr>
          </a:p>
        </p:txBody>
      </p:sp>
      <p:sp>
        <p:nvSpPr>
          <p:cNvPr id="217" name="Google Shape;217;p6"/>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6"/>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Clr>
                <a:schemeClr val="lt1"/>
              </a:buClr>
              <a:buSzPct val="100000"/>
              <a:buFont typeface="Calibri"/>
              <a:buNone/>
            </a:pPr>
            <a:r>
              <a:rPr b="1" lang="en-US" sz="4400">
                <a:solidFill>
                  <a:schemeClr val="lt1"/>
                </a:solidFill>
                <a:latin typeface="Calibri"/>
                <a:ea typeface="Calibri"/>
                <a:cs typeface="Calibri"/>
                <a:sym typeface="Calibri"/>
              </a:rPr>
              <a:t>TRAO ĐỔI THÔNG TIN BẰNG UDP</a:t>
            </a:r>
            <a:endParaRPr/>
          </a:p>
        </p:txBody>
      </p:sp>
      <p:sp>
        <p:nvSpPr>
          <p:cNvPr id="219" name="Google Shape;219;p6"/>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6"/>
          <p:cNvSpPr txBox="1"/>
          <p:nvPr/>
        </p:nvSpPr>
        <p:spPr>
          <a:xfrm>
            <a:off x="2219873" y="5227747"/>
            <a:ext cx="103822" cy="2075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21" name="Google Shape;221;p6"/>
          <p:cNvPicPr preferRelativeResize="0"/>
          <p:nvPr/>
        </p:nvPicPr>
        <p:blipFill rotWithShape="1">
          <a:blip r:embed="rId3">
            <a:alphaModFix/>
          </a:blip>
          <a:srcRect b="0" l="0" r="0" t="0"/>
          <a:stretch/>
        </p:blipFill>
        <p:spPr>
          <a:xfrm>
            <a:off x="1873250" y="3206340"/>
            <a:ext cx="8445500" cy="3149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1cee87ea4c_0_127"/>
          <p:cNvSpPr txBox="1"/>
          <p:nvPr/>
        </p:nvSpPr>
        <p:spPr>
          <a:xfrm>
            <a:off x="346050" y="1529275"/>
            <a:ext cx="10931700" cy="5103600"/>
          </a:xfrm>
          <a:prstGeom prst="rect">
            <a:avLst/>
          </a:prstGeom>
          <a:noFill/>
          <a:ln>
            <a:noFill/>
          </a:ln>
        </p:spPr>
        <p:txBody>
          <a:bodyPr anchorCtr="0" anchor="t" bIns="0" lIns="0" spcFirstLastPara="1" rIns="0" wrap="square" tIns="104125">
            <a:spAutoFit/>
          </a:bodyPr>
          <a:lstStyle/>
          <a:p>
            <a:pPr indent="0" lvl="0" marL="0" rtl="0" algn="l">
              <a:lnSpc>
                <a:spcPct val="115000"/>
              </a:lnSpc>
              <a:spcBef>
                <a:spcPts val="1400"/>
              </a:spcBef>
              <a:spcAft>
                <a:spcPts val="0"/>
              </a:spcAft>
              <a:buNone/>
            </a:pPr>
            <a:r>
              <a:rPr b="1" lang="en-US" sz="2800">
                <a:solidFill>
                  <a:schemeClr val="dk1"/>
                </a:solidFill>
              </a:rPr>
              <a:t>Khi nào nên chọn TCP hoặc UDP trong trao đổi thông tin giữa tiến trình?</a:t>
            </a:r>
            <a:endParaRPr b="1" sz="4300">
              <a:solidFill>
                <a:schemeClr val="dk1"/>
              </a:solidFill>
              <a:latin typeface="Calibri"/>
              <a:ea typeface="Calibri"/>
              <a:cs typeface="Calibri"/>
              <a:sym typeface="Calibri"/>
            </a:endParaRPr>
          </a:p>
          <a:p>
            <a:pPr indent="-320675" lvl="0" marL="332740" marR="0" rtl="0" algn="l">
              <a:spcBef>
                <a:spcPts val="400"/>
              </a:spcBef>
              <a:spcAft>
                <a:spcPts val="0"/>
              </a:spcAft>
              <a:buClr>
                <a:srgbClr val="FB6923"/>
              </a:buClr>
              <a:buSzPts val="1650"/>
              <a:buFont typeface="Noto Sans Symbols"/>
              <a:buChar char="◻"/>
            </a:pPr>
            <a:r>
              <a:rPr b="1" lang="en-US" sz="2800">
                <a:solidFill>
                  <a:schemeClr val="dk1"/>
                </a:solidFill>
              </a:rPr>
              <a:t>Chọn TCP</a:t>
            </a:r>
            <a:r>
              <a:rPr lang="en-US" sz="2800">
                <a:solidFill>
                  <a:schemeClr val="dk1"/>
                </a:solidFill>
              </a:rPr>
              <a:t>: </a:t>
            </a:r>
            <a:r>
              <a:rPr lang="en-US" sz="2800" u="sng">
                <a:solidFill>
                  <a:schemeClr val="dk1"/>
                </a:solidFill>
              </a:rPr>
              <a:t>Khi cần độ tin cậy, dữ liệu phải đến đúng thứ tự</a:t>
            </a:r>
            <a:r>
              <a:rPr lang="en-US" sz="2800">
                <a:solidFill>
                  <a:schemeClr val="dk1"/>
                </a:solidFill>
              </a:rPr>
              <a:t>, ví dụ:</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Gửi file, email. Dịch vụ web.</a:t>
            </a:r>
            <a:endParaRPr sz="28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Font typeface="Calibri"/>
              <a:buChar char="○"/>
            </a:pPr>
            <a:r>
              <a:rPr lang="en-US" sz="2800">
                <a:solidFill>
                  <a:schemeClr val="dk1"/>
                </a:solidFill>
                <a:latin typeface="Calibri"/>
                <a:ea typeface="Calibri"/>
                <a:cs typeface="Calibri"/>
                <a:sym typeface="Calibri"/>
              </a:rPr>
              <a:t>Ứng dụng ngân hàng.</a:t>
            </a:r>
            <a:endParaRPr sz="2800">
              <a:solidFill>
                <a:schemeClr val="dk1"/>
              </a:solidFill>
              <a:latin typeface="Calibri"/>
              <a:ea typeface="Calibri"/>
              <a:cs typeface="Calibri"/>
              <a:sym typeface="Calibri"/>
            </a:endParaRPr>
          </a:p>
          <a:p>
            <a:pPr indent="-425451" lvl="0" marL="332740" marR="0" rtl="0" algn="l">
              <a:spcBef>
                <a:spcPts val="0"/>
              </a:spcBef>
              <a:spcAft>
                <a:spcPts val="0"/>
              </a:spcAft>
              <a:buClr>
                <a:srgbClr val="FB6923"/>
              </a:buClr>
              <a:buSzPts val="3300"/>
              <a:buFont typeface="Calibri"/>
              <a:buChar char="◻"/>
            </a:pPr>
            <a:r>
              <a:rPr b="1" lang="en-US" sz="2800">
                <a:solidFill>
                  <a:schemeClr val="dk1"/>
                </a:solidFill>
              </a:rPr>
              <a:t>Chọn UDP</a:t>
            </a:r>
            <a:r>
              <a:rPr lang="en-US" sz="2800">
                <a:solidFill>
                  <a:schemeClr val="dk1"/>
                </a:solidFill>
              </a:rPr>
              <a:t>: </a:t>
            </a:r>
            <a:r>
              <a:rPr lang="en-US" sz="2800" u="sng">
                <a:solidFill>
                  <a:schemeClr val="dk1"/>
                </a:solidFill>
              </a:rPr>
              <a:t>Khi cần tốc độ và chấp nhận mất mát dữ liệu nhỏ</a:t>
            </a:r>
            <a:r>
              <a:rPr lang="en-US" sz="2800">
                <a:solidFill>
                  <a:schemeClr val="dk1"/>
                </a:solidFill>
              </a:rPr>
              <a:t>, ví dụ:</a:t>
            </a:r>
            <a:endParaRPr sz="4500">
              <a:solidFill>
                <a:schemeClr val="dk1"/>
              </a:solidFill>
              <a:latin typeface="Calibri"/>
              <a:ea typeface="Calibri"/>
              <a:cs typeface="Calibri"/>
              <a:sym typeface="Calibri"/>
            </a:endParaRPr>
          </a:p>
          <a:p>
            <a:pPr indent="-330200" lvl="1" marL="914400" rtl="0" algn="l">
              <a:spcBef>
                <a:spcPts val="0"/>
              </a:spcBef>
              <a:spcAft>
                <a:spcPts val="0"/>
              </a:spcAft>
              <a:buClr>
                <a:schemeClr val="dk1"/>
              </a:buClr>
              <a:buSzPts val="1600"/>
              <a:buChar char="○"/>
            </a:pPr>
            <a:r>
              <a:rPr lang="en-US" sz="2800">
                <a:solidFill>
                  <a:schemeClr val="dk1"/>
                </a:solidFill>
              </a:rPr>
              <a:t>Truyền thông trực tuyến (video, âm thanh).</a:t>
            </a:r>
            <a:endParaRPr sz="2800">
              <a:solidFill>
                <a:schemeClr val="dk1"/>
              </a:solidFill>
            </a:endParaRPr>
          </a:p>
          <a:p>
            <a:pPr indent="-330200" lvl="1" marL="914400" rtl="0" algn="l">
              <a:spcBef>
                <a:spcPts val="0"/>
              </a:spcBef>
              <a:spcAft>
                <a:spcPts val="0"/>
              </a:spcAft>
              <a:buClr>
                <a:schemeClr val="dk1"/>
              </a:buClr>
              <a:buSzPts val="1600"/>
              <a:buChar char="○"/>
            </a:pPr>
            <a:r>
              <a:rPr lang="en-US" sz="2800">
                <a:solidFill>
                  <a:schemeClr val="dk1"/>
                </a:solidFill>
              </a:rPr>
              <a:t>Ứng dụng IoT cần nhẹ và nhanh.</a:t>
            </a:r>
            <a:endParaRPr sz="2800">
              <a:solidFill>
                <a:schemeClr val="dk1"/>
              </a:solidFill>
            </a:endParaRPr>
          </a:p>
          <a:p>
            <a:pPr indent="-330200" lvl="1" marL="914400" rtl="0" algn="l">
              <a:spcBef>
                <a:spcPts val="0"/>
              </a:spcBef>
              <a:spcAft>
                <a:spcPts val="0"/>
              </a:spcAft>
              <a:buClr>
                <a:schemeClr val="dk1"/>
              </a:buClr>
              <a:buSzPts val="1600"/>
              <a:buChar char="○"/>
            </a:pPr>
            <a:r>
              <a:rPr lang="en-US" sz="2800">
                <a:solidFill>
                  <a:schemeClr val="dk1"/>
                </a:solidFill>
              </a:rPr>
              <a:t>Trò chơi trực tuyến.</a:t>
            </a:r>
            <a:endParaRPr sz="2800">
              <a:solidFill>
                <a:schemeClr val="dk1"/>
              </a:solidFill>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8" name="Google Shape;228;g31cee87ea4c_0_127"/>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9" name="Google Shape;229;g31cee87ea4c_0_127"/>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487044" lvl="0" marL="457200" marR="0" rtl="0" algn="l">
              <a:lnSpc>
                <a:spcPct val="90000"/>
              </a:lnSpc>
              <a:spcBef>
                <a:spcPts val="0"/>
              </a:spcBef>
              <a:spcAft>
                <a:spcPts val="0"/>
              </a:spcAft>
              <a:buClr>
                <a:schemeClr val="lt1"/>
              </a:buClr>
              <a:buSzPct val="100000"/>
              <a:buFont typeface="Calibri"/>
              <a:buAutoNum type="arabicPeriod"/>
            </a:pPr>
            <a:r>
              <a:rPr b="1" i="0" lang="en-US" sz="4400" u="none" cap="none" strike="noStrike">
                <a:solidFill>
                  <a:schemeClr val="lt1"/>
                </a:solidFill>
                <a:latin typeface="Calibri"/>
                <a:ea typeface="Calibri"/>
                <a:cs typeface="Calibri"/>
                <a:sym typeface="Calibri"/>
              </a:rPr>
              <a:t>TRAO ĐỔI THÔNG TIN</a:t>
            </a:r>
            <a:r>
              <a:rPr b="1" lang="en-US" sz="4400">
                <a:solidFill>
                  <a:schemeClr val="lt1"/>
                </a:solidFill>
                <a:latin typeface="Calibri"/>
                <a:ea typeface="Calibri"/>
                <a:cs typeface="Calibri"/>
                <a:sym typeface="Calibri"/>
              </a:rPr>
              <a:t> GIỮA CÁC TIẾN TRÌNH</a:t>
            </a:r>
            <a:endParaRPr/>
          </a:p>
        </p:txBody>
      </p:sp>
      <p:sp>
        <p:nvSpPr>
          <p:cNvPr id="230" name="Google Shape;230;g31cee87ea4c_0_127"/>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7"/>
          <p:cNvSpPr txBox="1"/>
          <p:nvPr/>
        </p:nvSpPr>
        <p:spPr>
          <a:xfrm>
            <a:off x="838200" y="1529267"/>
            <a:ext cx="10439400" cy="1603002"/>
          </a:xfrm>
          <a:prstGeom prst="rect">
            <a:avLst/>
          </a:prstGeom>
          <a:noFill/>
          <a:ln>
            <a:noFill/>
          </a:ln>
        </p:spPr>
        <p:txBody>
          <a:bodyPr anchorCtr="0" anchor="t" bIns="0" lIns="0" spcFirstLastPara="1" rIns="0" wrap="square" tIns="104125">
            <a:spAutoFit/>
          </a:bodyPr>
          <a:lstStyle/>
          <a:p>
            <a:pPr indent="-320675" lvl="0" marL="332740" marR="0" rtl="0" algn="l">
              <a:spcBef>
                <a:spcPts val="0"/>
              </a:spcBef>
              <a:spcAft>
                <a:spcPts val="0"/>
              </a:spcAft>
              <a:buClr>
                <a:srgbClr val="DD8046"/>
              </a:buClr>
              <a:buSzPts val="1650"/>
              <a:buFont typeface="Noto Sans Symbols"/>
              <a:buChar char="◻"/>
            </a:pPr>
            <a:r>
              <a:rPr lang="en-US" sz="2800">
                <a:solidFill>
                  <a:schemeClr val="dk1"/>
                </a:solidFill>
                <a:latin typeface="Calibri"/>
                <a:ea typeface="Calibri"/>
                <a:cs typeface="Calibri"/>
                <a:sym typeface="Calibri"/>
              </a:rPr>
              <a:t>Lời gọi thủ tục từ xa</a:t>
            </a:r>
            <a:endParaRPr/>
          </a:p>
          <a:p>
            <a:pPr indent="-320675" lvl="1" marL="789940" marR="0" rtl="0" algn="l">
              <a:spcBef>
                <a:spcPts val="819"/>
              </a:spcBef>
              <a:spcAft>
                <a:spcPts val="0"/>
              </a:spcAft>
              <a:buClr>
                <a:srgbClr val="DD8046"/>
              </a:buClr>
              <a:buSzPts val="1650"/>
              <a:buFont typeface="Noto Sans Symbols"/>
              <a:buChar char="◻"/>
            </a:pPr>
            <a:r>
              <a:rPr b="0" i="0" lang="en-US" sz="2800" u="none" cap="none" strike="noStrike">
                <a:solidFill>
                  <a:schemeClr val="dk1"/>
                </a:solidFill>
                <a:latin typeface="Calibri"/>
                <a:ea typeface="Calibri"/>
                <a:cs typeface="Calibri"/>
                <a:sym typeface="Calibri"/>
              </a:rPr>
              <a:t>Cơ chế Remote Procedure Call</a:t>
            </a:r>
            <a:endParaRPr/>
          </a:p>
          <a:p>
            <a:pPr indent="-215901" lvl="0" marL="332740" marR="0" rtl="0" algn="l">
              <a:spcBef>
                <a:spcPts val="819"/>
              </a:spcBef>
              <a:spcAft>
                <a:spcPts val="0"/>
              </a:spcAft>
              <a:buClr>
                <a:srgbClr val="DD8046"/>
              </a:buClr>
              <a:buSzPts val="1650"/>
              <a:buFont typeface="Noto Sans Symbols"/>
              <a:buNone/>
            </a:pPr>
            <a:r>
              <a:t/>
            </a:r>
            <a:endParaRPr sz="2800">
              <a:solidFill>
                <a:schemeClr val="dk1"/>
              </a:solidFill>
              <a:latin typeface="Calibri"/>
              <a:ea typeface="Calibri"/>
              <a:cs typeface="Calibri"/>
              <a:sym typeface="Calibri"/>
            </a:endParaRPr>
          </a:p>
        </p:txBody>
      </p:sp>
      <p:sp>
        <p:nvSpPr>
          <p:cNvPr id="237" name="Google Shape;237;p7"/>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7"/>
          <p:cNvSpPr txBox="1"/>
          <p:nvPr/>
        </p:nvSpPr>
        <p:spPr>
          <a:xfrm>
            <a:off x="838200" y="365125"/>
            <a:ext cx="10515600" cy="549275"/>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ts val="1018"/>
              <a:buFont typeface="Arial"/>
              <a:buNone/>
            </a:pPr>
            <a:r>
              <a:rPr b="1" lang="en-US" sz="4400">
                <a:solidFill>
                  <a:schemeClr val="lt1"/>
                </a:solidFill>
                <a:latin typeface="Calibri"/>
                <a:ea typeface="Calibri"/>
                <a:cs typeface="Calibri"/>
                <a:sym typeface="Calibri"/>
              </a:rPr>
              <a:t>2. LỜI GỌI THỦ TỤC TỪ XA</a:t>
            </a:r>
            <a:endParaRPr b="1" sz="4400">
              <a:solidFill>
                <a:schemeClr val="lt1"/>
              </a:solidFill>
              <a:latin typeface="Calibri"/>
              <a:ea typeface="Calibri"/>
              <a:cs typeface="Calibri"/>
              <a:sym typeface="Calibri"/>
            </a:endParaRPr>
          </a:p>
        </p:txBody>
      </p:sp>
      <p:sp>
        <p:nvSpPr>
          <p:cNvPr id="239" name="Google Shape;239;p7"/>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7"/>
          <p:cNvSpPr txBox="1"/>
          <p:nvPr/>
        </p:nvSpPr>
        <p:spPr>
          <a:xfrm>
            <a:off x="2219873" y="5227747"/>
            <a:ext cx="103822" cy="2075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41" name="Google Shape;241;p7"/>
          <p:cNvPicPr preferRelativeResize="0"/>
          <p:nvPr/>
        </p:nvPicPr>
        <p:blipFill rotWithShape="1">
          <a:blip r:embed="rId3">
            <a:alphaModFix/>
          </a:blip>
          <a:srcRect b="10875" l="0" r="0" t="0"/>
          <a:stretch/>
        </p:blipFill>
        <p:spPr>
          <a:xfrm>
            <a:off x="6057900" y="2743200"/>
            <a:ext cx="5527015" cy="3117484"/>
          </a:xfrm>
          <a:prstGeom prst="rect">
            <a:avLst/>
          </a:prstGeom>
          <a:noFill/>
          <a:ln>
            <a:noFill/>
          </a:ln>
        </p:spPr>
      </p:pic>
      <p:sp>
        <p:nvSpPr>
          <p:cNvPr id="242" name="Google Shape;242;p7"/>
          <p:cNvSpPr txBox="1"/>
          <p:nvPr/>
        </p:nvSpPr>
        <p:spPr>
          <a:xfrm>
            <a:off x="914400" y="3076555"/>
            <a:ext cx="4953000"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a:solidFill>
                  <a:srgbClr val="1B1B1B"/>
                </a:solidFill>
                <a:latin typeface="Open Sans"/>
                <a:ea typeface="Open Sans"/>
                <a:cs typeface="Open Sans"/>
                <a:sym typeface="Open Sans"/>
              </a:rPr>
              <a:t>Khi một tiến trình trên client muốn thực hiện một thủ tục nào đó nằm trên server:</a:t>
            </a:r>
            <a:endParaRPr/>
          </a:p>
          <a:p>
            <a:pPr indent="-285750" lvl="0" marL="285750" marR="0" rtl="0" algn="just">
              <a:spcBef>
                <a:spcPts val="0"/>
              </a:spcBef>
              <a:spcAft>
                <a:spcPts val="0"/>
              </a:spcAft>
              <a:buClr>
                <a:srgbClr val="1B1B1B"/>
              </a:buClr>
              <a:buSzPts val="1800"/>
              <a:buFont typeface="Arial"/>
              <a:buChar char="•"/>
            </a:pPr>
            <a:r>
              <a:rPr lang="en-US" sz="1800">
                <a:solidFill>
                  <a:srgbClr val="1B1B1B"/>
                </a:solidFill>
                <a:latin typeface="Open Sans"/>
                <a:ea typeface="Open Sans"/>
                <a:cs typeface="Open Sans"/>
                <a:sym typeface="Open Sans"/>
              </a:rPr>
              <a:t>T</a:t>
            </a:r>
            <a:r>
              <a:rPr b="0" i="0" lang="en-US" sz="1800">
                <a:solidFill>
                  <a:srgbClr val="1B1B1B"/>
                </a:solidFill>
                <a:latin typeface="Open Sans"/>
                <a:ea typeface="Open Sans"/>
                <a:cs typeface="Open Sans"/>
                <a:sym typeface="Open Sans"/>
              </a:rPr>
              <a:t>hực hiện một lời gọi thủ tục từ xa tới server. </a:t>
            </a:r>
            <a:endParaRPr/>
          </a:p>
          <a:p>
            <a:pPr indent="-285750" lvl="0" marL="285750" marR="0" rtl="0" algn="just">
              <a:spcBef>
                <a:spcPts val="0"/>
              </a:spcBef>
              <a:spcAft>
                <a:spcPts val="0"/>
              </a:spcAft>
              <a:buClr>
                <a:srgbClr val="1B1B1B"/>
              </a:buClr>
              <a:buSzPts val="1800"/>
              <a:buFont typeface="Arial"/>
              <a:buChar char="•"/>
            </a:pPr>
            <a:r>
              <a:rPr b="0" i="0" lang="en-US" sz="1800">
                <a:solidFill>
                  <a:srgbClr val="1B1B1B"/>
                </a:solidFill>
                <a:latin typeface="Open Sans"/>
                <a:ea typeface="Open Sans"/>
                <a:cs typeface="Open Sans"/>
                <a:sym typeface="Open Sans"/>
              </a:rPr>
              <a:t>Tiến trình gọi trên client sẽ vào trạng thái chờ (treo), và quá trình thực thi thủ tục được gọi diễn ra trên server dựa trên các tham số được truyền đến từ client và kết quả sẽ được truyền trở lại cho client tương ứng.</a:t>
            </a:r>
            <a:endParaRPr/>
          </a:p>
          <a:p>
            <a:pPr indent="0" lvl="0" marL="0" marR="0" rtl="0" algn="just">
              <a:spcBef>
                <a:spcPts val="0"/>
              </a:spcBef>
              <a:spcAft>
                <a:spcPts val="0"/>
              </a:spcAft>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1cee87ea4c_0_144"/>
          <p:cNvSpPr txBox="1"/>
          <p:nvPr/>
        </p:nvSpPr>
        <p:spPr>
          <a:xfrm>
            <a:off x="346050" y="1529275"/>
            <a:ext cx="10931700" cy="2023200"/>
          </a:xfrm>
          <a:prstGeom prst="rect">
            <a:avLst/>
          </a:prstGeom>
          <a:noFill/>
          <a:ln>
            <a:noFill/>
          </a:ln>
        </p:spPr>
        <p:txBody>
          <a:bodyPr anchorCtr="0" anchor="t" bIns="0" lIns="0" spcFirstLastPara="1" rIns="0" wrap="square" tIns="104125">
            <a:spAutoFit/>
          </a:bodyPr>
          <a:lstStyle/>
          <a:p>
            <a:pPr indent="0" lvl="0" marL="0" rtl="0" algn="l">
              <a:lnSpc>
                <a:spcPct val="115000"/>
              </a:lnSpc>
              <a:spcBef>
                <a:spcPts val="1400"/>
              </a:spcBef>
              <a:spcAft>
                <a:spcPts val="400"/>
              </a:spcAft>
              <a:buNone/>
            </a:pPr>
            <a:r>
              <a:rPr b="1" lang="en-US" sz="2800">
                <a:solidFill>
                  <a:schemeClr val="dk1"/>
                </a:solidFill>
                <a:latin typeface="Calibri"/>
                <a:ea typeface="Calibri"/>
                <a:cs typeface="Calibri"/>
                <a:sym typeface="Calibri"/>
              </a:rPr>
              <a:t>Lời gọi thủ tục từ xa (Remote Procedure Call - RPC)</a:t>
            </a:r>
            <a:r>
              <a:rPr lang="en-US" sz="2800">
                <a:solidFill>
                  <a:schemeClr val="dk1"/>
                </a:solidFill>
                <a:latin typeface="Calibri"/>
                <a:ea typeface="Calibri"/>
                <a:cs typeface="Calibri"/>
                <a:sym typeface="Calibri"/>
              </a:rPr>
              <a:t> là một cơ chế trong lập trình phân tán, cho phép một chương trình máy tính thực hiện một </a:t>
            </a:r>
            <a:r>
              <a:rPr b="1" lang="en-US" sz="2800">
                <a:solidFill>
                  <a:schemeClr val="dk1"/>
                </a:solidFill>
                <a:latin typeface="Calibri"/>
                <a:ea typeface="Calibri"/>
                <a:cs typeface="Calibri"/>
                <a:sym typeface="Calibri"/>
              </a:rPr>
              <a:t>thủ tục (hàm, phương thức)</a:t>
            </a:r>
            <a:r>
              <a:rPr lang="en-US" sz="2800">
                <a:solidFill>
                  <a:schemeClr val="dk1"/>
                </a:solidFill>
                <a:latin typeface="Calibri"/>
                <a:ea typeface="Calibri"/>
                <a:cs typeface="Calibri"/>
                <a:sym typeface="Calibri"/>
              </a:rPr>
              <a:t> trên một máy tính khác (máy chủ từ xa) như thể thủ tục đó đang được thực hiện cục bộ trên cùng một máy.</a:t>
            </a:r>
            <a:endParaRPr sz="2800">
              <a:solidFill>
                <a:schemeClr val="dk1"/>
              </a:solidFill>
              <a:latin typeface="Calibri"/>
              <a:ea typeface="Calibri"/>
              <a:cs typeface="Calibri"/>
              <a:sym typeface="Calibri"/>
            </a:endParaRPr>
          </a:p>
        </p:txBody>
      </p:sp>
      <p:sp>
        <p:nvSpPr>
          <p:cNvPr id="249" name="Google Shape;249;g31cee87ea4c_0_144"/>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0" name="Google Shape;250;g31cee87ea4c_0_144"/>
          <p:cNvSpPr txBox="1"/>
          <p:nvPr/>
        </p:nvSpPr>
        <p:spPr>
          <a:xfrm>
            <a:off x="83820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2. LỜI GỌI THỦ TỤC TỪ XA</a:t>
            </a:r>
            <a:endParaRPr/>
          </a:p>
        </p:txBody>
      </p:sp>
      <p:sp>
        <p:nvSpPr>
          <p:cNvPr id="251" name="Google Shape;251;g31cee87ea4c_0_144"/>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52" name="Google Shape;252;g31cee87ea4c_0_144"/>
          <p:cNvPicPr preferRelativeResize="0"/>
          <p:nvPr/>
        </p:nvPicPr>
        <p:blipFill>
          <a:blip r:embed="rId3">
            <a:alphaModFix/>
          </a:blip>
          <a:stretch>
            <a:fillRect/>
          </a:stretch>
        </p:blipFill>
        <p:spPr>
          <a:xfrm>
            <a:off x="2341138" y="3729050"/>
            <a:ext cx="6941528" cy="3000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8"/>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1100"/>
              <a:buFont typeface="Arial"/>
              <a:buNone/>
            </a:pPr>
            <a:r>
              <a:rPr b="1" lang="en-US" sz="4400">
                <a:solidFill>
                  <a:schemeClr val="lt1"/>
                </a:solidFill>
                <a:latin typeface="Calibri"/>
                <a:ea typeface="Calibri"/>
                <a:cs typeface="Calibri"/>
                <a:sym typeface="Calibri"/>
              </a:rPr>
              <a:t> </a:t>
            </a:r>
            <a:r>
              <a:rPr b="1" lang="en-US" sz="4400">
                <a:solidFill>
                  <a:schemeClr val="lt1"/>
                </a:solidFill>
                <a:latin typeface="Calibri"/>
                <a:ea typeface="Calibri"/>
                <a:cs typeface="Calibri"/>
                <a:sym typeface="Calibri"/>
              </a:rPr>
              <a:t>2. LỜI GỌI THỦ TỤC TỪ XA</a:t>
            </a:r>
            <a:endParaRPr>
              <a:solidFill>
                <a:schemeClr val="dk1"/>
              </a:solidFill>
            </a:endParaRPr>
          </a:p>
        </p:txBody>
      </p:sp>
      <p:sp>
        <p:nvSpPr>
          <p:cNvPr id="258" name="Google Shape;258;p8"/>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8"/>
          <p:cNvSpPr txBox="1"/>
          <p:nvPr/>
        </p:nvSpPr>
        <p:spPr>
          <a:xfrm>
            <a:off x="346075" y="1457600"/>
            <a:ext cx="8661600" cy="324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2800">
                <a:solidFill>
                  <a:schemeClr val="dk1"/>
                </a:solidFill>
                <a:latin typeface="Calibri"/>
                <a:ea typeface="Calibri"/>
                <a:cs typeface="Calibri"/>
                <a:sym typeface="Calibri"/>
              </a:rPr>
              <a:t>Đặc điểm của RPC</a:t>
            </a:r>
            <a:endParaRPr b="1" sz="2800">
              <a:solidFill>
                <a:schemeClr val="dk1"/>
              </a:solidFill>
              <a:latin typeface="Calibri"/>
              <a:ea typeface="Calibri"/>
              <a:cs typeface="Calibri"/>
              <a:sym typeface="Calibri"/>
            </a:endParaRPr>
          </a:p>
          <a:p>
            <a:pPr indent="-406400" lvl="0" marL="457200" rtl="0" algn="l">
              <a:lnSpc>
                <a:spcPct val="115000"/>
              </a:lnSpc>
              <a:spcBef>
                <a:spcPts val="1200"/>
              </a:spcBef>
              <a:spcAft>
                <a:spcPts val="0"/>
              </a:spcAft>
              <a:buClr>
                <a:schemeClr val="dk1"/>
              </a:buClr>
              <a:buSzPts val="2800"/>
              <a:buChar char="●"/>
            </a:pPr>
            <a:r>
              <a:rPr b="1" lang="en-US" sz="2800">
                <a:solidFill>
                  <a:schemeClr val="dk1"/>
                </a:solidFill>
                <a:latin typeface="Calibri"/>
                <a:ea typeface="Calibri"/>
                <a:cs typeface="Calibri"/>
                <a:sym typeface="Calibri"/>
              </a:rPr>
              <a:t>Minh bạch</a:t>
            </a:r>
            <a:r>
              <a:rPr lang="en-US" sz="2800">
                <a:solidFill>
                  <a:schemeClr val="dk1"/>
                </a:solidFill>
                <a:latin typeface="Calibri"/>
                <a:ea typeface="Calibri"/>
                <a:cs typeface="Calibri"/>
                <a:sym typeface="Calibri"/>
              </a:rPr>
              <a:t>: RPC giúp lập trình viên gọi thủ tục từ xa mà không cần quan tâm đến chi tiết truyền thông mạng. Nó giống như gọi một hàm cục bộ =&gt; Cơ chế truy cập trong suốt với người dùng</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Char char="●"/>
            </a:pPr>
            <a:r>
              <a:rPr b="1" lang="en-US" sz="2800">
                <a:solidFill>
                  <a:schemeClr val="dk1"/>
                </a:solidFill>
                <a:latin typeface="Calibri"/>
                <a:ea typeface="Calibri"/>
                <a:cs typeface="Calibri"/>
                <a:sym typeface="Calibri"/>
              </a:rPr>
              <a:t>Đồng bộ hóa</a:t>
            </a:r>
            <a:r>
              <a:rPr lang="en-US" sz="2800">
                <a:solidFill>
                  <a:schemeClr val="dk1"/>
                </a:solidFill>
                <a:latin typeface="Calibri"/>
                <a:ea typeface="Calibri"/>
                <a:cs typeface="Calibri"/>
                <a:sym typeface="Calibri"/>
              </a:rPr>
              <a:t>: Gọi RPC thường là đồng bộ, tức là chương trình máy khách sẽ chờ kết quả từ máy chủ.</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Char char="●"/>
            </a:pPr>
            <a:r>
              <a:rPr b="1" lang="en-US" sz="2800">
                <a:solidFill>
                  <a:schemeClr val="dk1"/>
                </a:solidFill>
                <a:latin typeface="Calibri"/>
                <a:ea typeface="Calibri"/>
                <a:cs typeface="Calibri"/>
                <a:sym typeface="Calibri"/>
              </a:rPr>
              <a:t>Tầng giao thức</a:t>
            </a:r>
            <a:r>
              <a:rPr lang="en-US" sz="2800">
                <a:solidFill>
                  <a:schemeClr val="dk1"/>
                </a:solidFill>
                <a:latin typeface="Calibri"/>
                <a:ea typeface="Calibri"/>
                <a:cs typeface="Calibri"/>
                <a:sym typeface="Calibri"/>
              </a:rPr>
              <a:t>: RPC thường sử dụng các giao thức mạng như TCP hoặc UDP để truyền tải dữ liệu.</a:t>
            </a:r>
            <a:endParaRPr sz="2800">
              <a:solidFill>
                <a:schemeClr val="dk1"/>
              </a:solidFill>
              <a:latin typeface="Calibri"/>
              <a:ea typeface="Calibri"/>
              <a:cs typeface="Calibri"/>
              <a:sym typeface="Calibri"/>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pic>
        <p:nvPicPr>
          <p:cNvPr id="260" name="Google Shape;260;p8"/>
          <p:cNvPicPr preferRelativeResize="0"/>
          <p:nvPr/>
        </p:nvPicPr>
        <p:blipFill>
          <a:blip r:embed="rId3">
            <a:alphaModFix/>
          </a:blip>
          <a:stretch>
            <a:fillRect/>
          </a:stretch>
        </p:blipFill>
        <p:spPr>
          <a:xfrm>
            <a:off x="8509950" y="4483275"/>
            <a:ext cx="3522171" cy="1855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1cee87ea4c_0_165"/>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100"/>
              <a:buNone/>
            </a:pPr>
            <a:r>
              <a:rPr b="1" lang="en-US" sz="4400">
                <a:solidFill>
                  <a:schemeClr val="lt1"/>
                </a:solidFill>
                <a:latin typeface="Calibri"/>
                <a:ea typeface="Calibri"/>
                <a:cs typeface="Calibri"/>
                <a:sym typeface="Calibri"/>
              </a:rPr>
              <a:t> 2. LỜI GỌI THỦ TỤC TỪ XA</a:t>
            </a:r>
            <a:endParaRPr>
              <a:solidFill>
                <a:schemeClr val="dk1"/>
              </a:solidFill>
            </a:endParaRPr>
          </a:p>
        </p:txBody>
      </p:sp>
      <p:sp>
        <p:nvSpPr>
          <p:cNvPr id="266" name="Google Shape;266;g31cee87ea4c_0_165"/>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g31cee87ea4c_0_165"/>
          <p:cNvSpPr txBox="1"/>
          <p:nvPr/>
        </p:nvSpPr>
        <p:spPr>
          <a:xfrm>
            <a:off x="346075" y="1457600"/>
            <a:ext cx="11188800" cy="455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2800">
                <a:solidFill>
                  <a:schemeClr val="dk1"/>
                </a:solidFill>
                <a:latin typeface="Calibri"/>
                <a:ea typeface="Calibri"/>
                <a:cs typeface="Calibri"/>
                <a:sym typeface="Calibri"/>
              </a:rPr>
              <a:t>Thành phần của RPC</a:t>
            </a:r>
            <a:endParaRPr b="1" sz="2800">
              <a:solidFill>
                <a:schemeClr val="dk1"/>
              </a:solidFill>
              <a:latin typeface="Calibri"/>
              <a:ea typeface="Calibri"/>
              <a:cs typeface="Calibri"/>
              <a:sym typeface="Calibri"/>
            </a:endParaRPr>
          </a:p>
          <a:p>
            <a:pPr indent="-406400" lvl="0" marL="457200" rtl="0" algn="l">
              <a:lnSpc>
                <a:spcPct val="115000"/>
              </a:lnSpc>
              <a:spcBef>
                <a:spcPts val="1200"/>
              </a:spcBef>
              <a:spcAft>
                <a:spcPts val="0"/>
              </a:spcAft>
              <a:buClr>
                <a:schemeClr val="dk1"/>
              </a:buClr>
              <a:buSzPts val="2800"/>
              <a:buChar char="●"/>
            </a:pPr>
            <a:r>
              <a:rPr b="1" lang="en-US" sz="2800">
                <a:solidFill>
                  <a:schemeClr val="dk1"/>
                </a:solidFill>
                <a:latin typeface="Calibri"/>
                <a:ea typeface="Calibri"/>
                <a:cs typeface="Calibri"/>
                <a:sym typeface="Calibri"/>
              </a:rPr>
              <a:t>Client Stub</a:t>
            </a:r>
            <a:r>
              <a:rPr lang="en-US" sz="1100">
                <a:solidFill>
                  <a:schemeClr val="dk1"/>
                </a:solidFill>
              </a:rPr>
              <a:t>:</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Là mã chương trình phía máy khách, chịu trách nhiệm đóng gói tham số và gửi yêu cầu đến máy chủ.</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Char char="●"/>
            </a:pPr>
            <a:r>
              <a:rPr b="1" lang="en-US" sz="2800">
                <a:solidFill>
                  <a:schemeClr val="dk1"/>
                </a:solidFill>
                <a:latin typeface="Calibri"/>
                <a:ea typeface="Calibri"/>
                <a:cs typeface="Calibri"/>
                <a:sym typeface="Calibri"/>
              </a:rPr>
              <a:t>Server Stub</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Là mã chương trình phía máy chủ, nhận yêu cầu từ Client Stub, giải mã tham số, thực hiện thủ tục, và gửi trả kết quả</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Char char="●"/>
            </a:pPr>
            <a:r>
              <a:rPr b="1" lang="en-US" sz="2800">
                <a:solidFill>
                  <a:schemeClr val="dk1"/>
                </a:solidFill>
                <a:latin typeface="Calibri"/>
                <a:ea typeface="Calibri"/>
                <a:cs typeface="Calibri"/>
                <a:sym typeface="Calibri"/>
              </a:rPr>
              <a:t>Protocol</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Là giao thức truyền thông giữa Client Stub và Server Stub (thường là TCP/IP)</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1cee87ea4c_0_179"/>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100"/>
              <a:buNone/>
            </a:pPr>
            <a:r>
              <a:rPr b="1" lang="en-US" sz="4400">
                <a:solidFill>
                  <a:schemeClr val="lt1"/>
                </a:solidFill>
                <a:latin typeface="Calibri"/>
                <a:ea typeface="Calibri"/>
                <a:cs typeface="Calibri"/>
                <a:sym typeface="Calibri"/>
              </a:rPr>
              <a:t> 2. LỜI GỌI THỦ TỤC TỪ XA</a:t>
            </a:r>
            <a:endParaRPr>
              <a:solidFill>
                <a:schemeClr val="dk1"/>
              </a:solidFill>
            </a:endParaRPr>
          </a:p>
        </p:txBody>
      </p:sp>
      <p:sp>
        <p:nvSpPr>
          <p:cNvPr id="273" name="Google Shape;273;g31cee87ea4c_0_179"/>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g31cee87ea4c_0_179"/>
          <p:cNvSpPr txBox="1"/>
          <p:nvPr/>
        </p:nvSpPr>
        <p:spPr>
          <a:xfrm>
            <a:off x="346075" y="1457600"/>
            <a:ext cx="11629200" cy="540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2800">
                <a:solidFill>
                  <a:schemeClr val="dk1"/>
                </a:solidFill>
                <a:latin typeface="Calibri"/>
                <a:ea typeface="Calibri"/>
                <a:cs typeface="Calibri"/>
                <a:sym typeface="Calibri"/>
              </a:rPr>
              <a:t>Ưu điểm của RPC</a:t>
            </a:r>
            <a:endParaRPr b="1" sz="2800">
              <a:solidFill>
                <a:schemeClr val="dk1"/>
              </a:solidFill>
              <a:latin typeface="Calibri"/>
              <a:ea typeface="Calibri"/>
              <a:cs typeface="Calibri"/>
              <a:sym typeface="Calibri"/>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latin typeface="Calibri"/>
                <a:ea typeface="Calibri"/>
                <a:cs typeface="Calibri"/>
                <a:sym typeface="Calibri"/>
              </a:rPr>
              <a:t>Đơn giản hóa việc lập trình</a:t>
            </a:r>
            <a:r>
              <a:rPr lang="en-US" sz="2200">
                <a:solidFill>
                  <a:schemeClr val="dk1"/>
                </a:solidFill>
                <a:latin typeface="Calibri"/>
                <a:ea typeface="Calibri"/>
                <a:cs typeface="Calibri"/>
                <a:sym typeface="Calibri"/>
              </a:rPr>
              <a:t>:</a:t>
            </a:r>
            <a:r>
              <a:rPr lang="en-US" sz="2200">
                <a:solidFill>
                  <a:schemeClr val="dk1"/>
                </a:solidFill>
                <a:latin typeface="Calibri"/>
                <a:ea typeface="Calibri"/>
                <a:cs typeface="Calibri"/>
                <a:sym typeface="Calibri"/>
              </a:rPr>
              <a:t> </a:t>
            </a:r>
            <a:r>
              <a:rPr lang="en-US" sz="2200">
                <a:solidFill>
                  <a:schemeClr val="dk1"/>
                </a:solidFill>
                <a:latin typeface="Calibri"/>
                <a:ea typeface="Calibri"/>
                <a:cs typeface="Calibri"/>
                <a:sym typeface="Calibri"/>
              </a:rPr>
              <a:t>Lập trình viên có thể gọi các thủ tục từ xa một cách tự nhiên như các hàm cục bộ.</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Trong suốt</a:t>
            </a:r>
            <a:r>
              <a:rPr lang="en-US" sz="2200">
                <a:solidFill>
                  <a:schemeClr val="dk1"/>
                </a:solidFill>
                <a:latin typeface="Calibri"/>
                <a:ea typeface="Calibri"/>
                <a:cs typeface="Calibri"/>
                <a:sym typeface="Calibri"/>
              </a:rPr>
              <a:t>: </a:t>
            </a:r>
            <a:r>
              <a:rPr lang="en-US" sz="2200">
                <a:solidFill>
                  <a:schemeClr val="dk1"/>
                </a:solidFill>
                <a:latin typeface="Calibri"/>
                <a:ea typeface="Calibri"/>
                <a:cs typeface="Calibri"/>
                <a:sym typeface="Calibri"/>
              </a:rPr>
              <a:t>Che giấu các chi tiết phức tạp của giao tiếp mạng.</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Tính linh hoạt</a:t>
            </a:r>
            <a:r>
              <a:rPr lang="en-US" sz="2200">
                <a:solidFill>
                  <a:schemeClr val="dk1"/>
                </a:solidFill>
                <a:latin typeface="Calibri"/>
                <a:ea typeface="Calibri"/>
                <a:cs typeface="Calibri"/>
                <a:sym typeface="Calibri"/>
              </a:rPr>
              <a:t>: RPC có thể được sử dụng trong các hệ thống phân tán với nhiều ngôn ngữ và nền tảng khác nhau.</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rPr b="1" lang="en-US" sz="2800">
                <a:solidFill>
                  <a:schemeClr val="dk1"/>
                </a:solidFill>
                <a:latin typeface="Calibri"/>
                <a:ea typeface="Calibri"/>
                <a:cs typeface="Calibri"/>
                <a:sym typeface="Calibri"/>
              </a:rPr>
              <a:t>Nhược điểm của RPC:</a:t>
            </a:r>
            <a:endParaRPr b="1" sz="2800">
              <a:solidFill>
                <a:schemeClr val="dk1"/>
              </a:solidFill>
              <a:latin typeface="Calibri"/>
              <a:ea typeface="Calibri"/>
              <a:cs typeface="Calibri"/>
              <a:sym typeface="Calibri"/>
            </a:endParaRPr>
          </a:p>
          <a:p>
            <a:pPr indent="-368300" lvl="0" marL="457200" rtl="0" algn="l">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Phụ thuộc vào mạng</a:t>
            </a:r>
            <a:r>
              <a:rPr lang="en-US" sz="2200">
                <a:solidFill>
                  <a:schemeClr val="dk1"/>
                </a:solidFill>
                <a:latin typeface="Calibri"/>
                <a:ea typeface="Calibri"/>
                <a:cs typeface="Calibri"/>
                <a:sym typeface="Calibri"/>
              </a:rPr>
              <a:t>: Nếu mạng chậm hoặc bị ngắt, hiệu suất hoặc tính sẵn sàng của RPC sẽ bị ảnh hưởng.</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Độ trễ cao hơn so với gọi cục bộ</a:t>
            </a:r>
            <a:r>
              <a:rPr lang="en-US" sz="2200">
                <a:solidFill>
                  <a:schemeClr val="dk1"/>
                </a:solidFill>
                <a:latin typeface="Calibri"/>
                <a:ea typeface="Calibri"/>
                <a:cs typeface="Calibri"/>
                <a:sym typeface="Calibri"/>
              </a:rPr>
              <a:t>: Do phải truyền dữ liệu qua mạng và thực hiện quá trình đóng gói/giải mã.</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Khả năng xử lý lỗi phức tạp</a:t>
            </a:r>
            <a:r>
              <a:rPr lang="en-US" sz="2200">
                <a:solidFill>
                  <a:schemeClr val="dk1"/>
                </a:solidFill>
                <a:latin typeface="Calibri"/>
                <a:ea typeface="Calibri"/>
                <a:cs typeface="Calibri"/>
                <a:sym typeface="Calibri"/>
              </a:rPr>
              <a:t>:RPC phải xử lý các lỗi liên quan đến mạng, máy chủ, hoặc tham số.</a:t>
            </a:r>
            <a:endParaRPr sz="3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1cee87ea4c_0_193"/>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100"/>
              <a:buNone/>
            </a:pPr>
            <a:r>
              <a:rPr b="1" lang="en-US" sz="4400">
                <a:solidFill>
                  <a:schemeClr val="lt1"/>
                </a:solidFill>
                <a:latin typeface="Calibri"/>
                <a:ea typeface="Calibri"/>
                <a:cs typeface="Calibri"/>
                <a:sym typeface="Calibri"/>
              </a:rPr>
              <a:t> 2. LỜI GỌI THỦ TỤC TỪ XA</a:t>
            </a:r>
            <a:endParaRPr>
              <a:solidFill>
                <a:schemeClr val="dk1"/>
              </a:solidFill>
            </a:endParaRPr>
          </a:p>
        </p:txBody>
      </p:sp>
      <p:sp>
        <p:nvSpPr>
          <p:cNvPr id="280" name="Google Shape;280;g31cee87ea4c_0_193"/>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g31cee87ea4c_0_193"/>
          <p:cNvSpPr txBox="1"/>
          <p:nvPr/>
        </p:nvSpPr>
        <p:spPr>
          <a:xfrm>
            <a:off x="346075" y="1457600"/>
            <a:ext cx="10465200" cy="291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2800">
                <a:solidFill>
                  <a:schemeClr val="dk1"/>
                </a:solidFill>
                <a:latin typeface="Calibri"/>
                <a:ea typeface="Calibri"/>
                <a:cs typeface="Calibri"/>
                <a:sym typeface="Calibri"/>
              </a:rPr>
              <a:t>Biến thể và công nghệ liên quan</a:t>
            </a:r>
            <a:endParaRPr b="1" sz="2800">
              <a:solidFill>
                <a:schemeClr val="dk1"/>
              </a:solidFill>
              <a:latin typeface="Calibri"/>
              <a:ea typeface="Calibri"/>
              <a:cs typeface="Calibri"/>
              <a:sym typeface="Calibri"/>
            </a:endParaRPr>
          </a:p>
          <a:p>
            <a:pPr indent="-406400" lvl="0" marL="457200" rtl="0" algn="l">
              <a:lnSpc>
                <a:spcPct val="115000"/>
              </a:lnSpc>
              <a:spcBef>
                <a:spcPts val="1200"/>
              </a:spcBef>
              <a:spcAft>
                <a:spcPts val="0"/>
              </a:spcAft>
              <a:buClr>
                <a:schemeClr val="dk1"/>
              </a:buClr>
              <a:buSzPts val="2800"/>
              <a:buChar char="●"/>
            </a:pPr>
            <a:r>
              <a:rPr b="1" lang="en-US" sz="2800">
                <a:solidFill>
                  <a:schemeClr val="dk1"/>
                </a:solidFill>
                <a:latin typeface="Calibri"/>
                <a:ea typeface="Calibri"/>
                <a:cs typeface="Calibri"/>
                <a:sym typeface="Calibri"/>
              </a:rPr>
              <a:t>gRPC</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Một framework RPC hiện đại từ Google, sử dụng giao thức HTTP/2 để truyền dữ liệu và Protobuf để mã hóa.</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Char char="●"/>
            </a:pPr>
            <a:r>
              <a:rPr b="1" lang="en-US" sz="2800">
                <a:solidFill>
                  <a:schemeClr val="dk1"/>
                </a:solidFill>
                <a:latin typeface="Calibri"/>
                <a:ea typeface="Calibri"/>
                <a:cs typeface="Calibri"/>
                <a:sym typeface="Calibri"/>
              </a:rPr>
              <a:t>XML-RPC</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RPC sử dụng XML để mã hóa dữ liệu và HTTP để truyền dữ liệu.</a:t>
            </a:r>
            <a:endParaRPr sz="2800">
              <a:solidFill>
                <a:schemeClr val="dk1"/>
              </a:solidFill>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Char char="●"/>
            </a:pPr>
            <a:r>
              <a:rPr b="1" lang="en-US" sz="2800">
                <a:solidFill>
                  <a:schemeClr val="dk1"/>
                </a:solidFill>
                <a:latin typeface="Calibri"/>
                <a:ea typeface="Calibri"/>
                <a:cs typeface="Calibri"/>
                <a:sym typeface="Calibri"/>
              </a:rPr>
              <a:t>JSON-RPC</a:t>
            </a:r>
            <a:r>
              <a:rPr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RPC sử dụng JSON làm định dạng trao đổi dữ liệu.</a:t>
            </a:r>
            <a:endParaRPr sz="45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1cee87ea4c_0_206"/>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100"/>
              <a:buNone/>
            </a:pPr>
            <a:r>
              <a:rPr b="1" lang="en-US" sz="4400">
                <a:solidFill>
                  <a:schemeClr val="lt1"/>
                </a:solidFill>
                <a:latin typeface="Calibri"/>
                <a:ea typeface="Calibri"/>
                <a:cs typeface="Calibri"/>
                <a:sym typeface="Calibri"/>
              </a:rPr>
              <a:t> 2. LỜI GỌI THỦ TỤC TỪ XA</a:t>
            </a:r>
            <a:endParaRPr>
              <a:solidFill>
                <a:schemeClr val="dk1"/>
              </a:solidFill>
            </a:endParaRPr>
          </a:p>
        </p:txBody>
      </p:sp>
      <p:sp>
        <p:nvSpPr>
          <p:cNvPr id="287" name="Google Shape;287;g31cee87ea4c_0_206"/>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g31cee87ea4c_0_206"/>
          <p:cNvSpPr txBox="1"/>
          <p:nvPr/>
        </p:nvSpPr>
        <p:spPr>
          <a:xfrm>
            <a:off x="346075" y="1457600"/>
            <a:ext cx="10465200" cy="475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2800">
                <a:solidFill>
                  <a:schemeClr val="dk1"/>
                </a:solidFill>
                <a:latin typeface="Calibri"/>
                <a:ea typeface="Calibri"/>
                <a:cs typeface="Calibri"/>
                <a:sym typeface="Calibri"/>
              </a:rPr>
              <a:t>Ví dụ minh họa</a:t>
            </a:r>
            <a:r>
              <a:rPr lang="en-US" sz="2800">
                <a:solidFill>
                  <a:schemeClr val="dk1"/>
                </a:solidFill>
                <a:latin typeface="Calibri"/>
                <a:ea typeface="Calibri"/>
                <a:cs typeface="Calibri"/>
                <a:sym typeface="Calibri"/>
              </a:rPr>
              <a:t>: cách triển khai </a:t>
            </a:r>
            <a:r>
              <a:rPr b="1" lang="en-US" sz="2800">
                <a:solidFill>
                  <a:schemeClr val="dk1"/>
                </a:solidFill>
                <a:latin typeface="Calibri"/>
                <a:ea typeface="Calibri"/>
                <a:cs typeface="Calibri"/>
                <a:sym typeface="Calibri"/>
              </a:rPr>
              <a:t>RPC (Remote Procedure Call)</a:t>
            </a:r>
            <a:r>
              <a:rPr lang="en-US" sz="2800">
                <a:solidFill>
                  <a:schemeClr val="dk1"/>
                </a:solidFill>
                <a:latin typeface="Calibri"/>
                <a:ea typeface="Calibri"/>
                <a:cs typeface="Calibri"/>
                <a:sym typeface="Calibri"/>
              </a:rPr>
              <a:t> cơ bản sử dụng Python. Ví dụ này sử dụng </a:t>
            </a:r>
            <a:r>
              <a:rPr b="1" lang="en-US" sz="2800">
                <a:solidFill>
                  <a:srgbClr val="188038"/>
                </a:solidFill>
                <a:latin typeface="Calibri"/>
                <a:ea typeface="Calibri"/>
                <a:cs typeface="Calibri"/>
                <a:sym typeface="Calibri"/>
              </a:rPr>
              <a:t>xmlrpc</a:t>
            </a:r>
            <a:r>
              <a:rPr lang="en-US" sz="2800">
                <a:solidFill>
                  <a:schemeClr val="dk1"/>
                </a:solidFill>
                <a:latin typeface="Calibri"/>
                <a:ea typeface="Calibri"/>
                <a:cs typeface="Calibri"/>
                <a:sym typeface="Calibri"/>
              </a:rPr>
              <a:t> module, một thư viện có sẵn trong Python để xây dựng RPC dựa trên giao thức </a:t>
            </a:r>
            <a:r>
              <a:rPr b="1" lang="en-US" sz="2800">
                <a:solidFill>
                  <a:schemeClr val="dk1"/>
                </a:solidFill>
                <a:latin typeface="Calibri"/>
                <a:ea typeface="Calibri"/>
                <a:cs typeface="Calibri"/>
                <a:sym typeface="Calibri"/>
              </a:rPr>
              <a:t>XML-RPC</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b="1" lang="en-US" sz="2800">
                <a:solidFill>
                  <a:schemeClr val="dk1"/>
                </a:solidFill>
                <a:latin typeface="Calibri"/>
                <a:ea typeface="Calibri"/>
                <a:cs typeface="Calibri"/>
                <a:sym typeface="Calibri"/>
              </a:rPr>
              <a:t>Link code</a:t>
            </a:r>
            <a:r>
              <a:rPr lang="en-US" sz="2800">
                <a:solidFill>
                  <a:schemeClr val="dk1"/>
                </a:solidFill>
                <a:latin typeface="Calibri"/>
                <a:ea typeface="Calibri"/>
                <a:cs typeface="Calibri"/>
                <a:sym typeface="Calibri"/>
              </a:rPr>
              <a:t>: https://drive.google.com/drive/folders/1vOUGrEEk9Z2g0KTKxLEmHEzBNBycJZ6S?usp=sharing</a:t>
            </a:r>
            <a:endParaRPr sz="2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1cee87ea4c_0_230"/>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100"/>
              <a:buNone/>
            </a:pPr>
            <a:r>
              <a:rPr b="1" lang="en-US" sz="4400">
                <a:solidFill>
                  <a:schemeClr val="lt1"/>
                </a:solidFill>
                <a:latin typeface="Calibri"/>
                <a:ea typeface="Calibri"/>
                <a:cs typeface="Calibri"/>
                <a:sym typeface="Calibri"/>
              </a:rPr>
              <a:t> 2. LỜI GỌI THỦ TỤC TỪ XA</a:t>
            </a:r>
            <a:endParaRPr>
              <a:solidFill>
                <a:schemeClr val="dk1"/>
              </a:solidFill>
            </a:endParaRPr>
          </a:p>
        </p:txBody>
      </p:sp>
      <p:sp>
        <p:nvSpPr>
          <p:cNvPr id="294" name="Google Shape;294;g31cee87ea4c_0_230"/>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g31cee87ea4c_0_230"/>
          <p:cNvSpPr txBox="1"/>
          <p:nvPr/>
        </p:nvSpPr>
        <p:spPr>
          <a:xfrm>
            <a:off x="346075" y="1457600"/>
            <a:ext cx="10465200" cy="475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2800">
                <a:solidFill>
                  <a:schemeClr val="dk1"/>
                </a:solidFill>
                <a:latin typeface="Calibri"/>
                <a:ea typeface="Calibri"/>
                <a:cs typeface="Calibri"/>
                <a:sym typeface="Calibri"/>
              </a:rPr>
              <a:t>Câu hỏi</a:t>
            </a:r>
            <a:r>
              <a:rPr lang="en-US" sz="2800">
                <a:solidFill>
                  <a:schemeClr val="dk1"/>
                </a:solidFill>
                <a:latin typeface="Calibri"/>
                <a:ea typeface="Calibri"/>
                <a:cs typeface="Calibri"/>
                <a:sym typeface="Calibri"/>
              </a:rPr>
              <a:t>: API HTTP có phải là Lời gọi thủ tục từ xa </a:t>
            </a:r>
            <a:r>
              <a:rPr b="1" lang="en-US" sz="2800">
                <a:solidFill>
                  <a:schemeClr val="dk1"/>
                </a:solidFill>
                <a:latin typeface="Calibri"/>
                <a:ea typeface="Calibri"/>
                <a:cs typeface="Calibri"/>
                <a:sym typeface="Calibri"/>
              </a:rPr>
              <a:t>RPC (Remote Procedure Call)</a:t>
            </a:r>
            <a:r>
              <a:rPr lang="en-US" sz="2800">
                <a:solidFill>
                  <a:schemeClr val="dk1"/>
                </a:solidFill>
                <a:latin typeface="Calibri"/>
                <a:ea typeface="Calibri"/>
                <a:cs typeface="Calibri"/>
                <a:sym typeface="Calibri"/>
              </a:rPr>
              <a:t> không?</a:t>
            </a:r>
            <a:endParaRPr b="1" sz="28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b="1" sz="2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1cee87ea4c_0_236"/>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100"/>
              <a:buNone/>
            </a:pPr>
            <a:r>
              <a:rPr b="1" lang="en-US" sz="4400">
                <a:solidFill>
                  <a:schemeClr val="lt1"/>
                </a:solidFill>
                <a:latin typeface="Calibri"/>
                <a:ea typeface="Calibri"/>
                <a:cs typeface="Calibri"/>
                <a:sym typeface="Calibri"/>
              </a:rPr>
              <a:t> 2. LỜI GỌI THỦ TỤC TỪ XA</a:t>
            </a:r>
            <a:endParaRPr>
              <a:solidFill>
                <a:schemeClr val="dk1"/>
              </a:solidFill>
            </a:endParaRPr>
          </a:p>
        </p:txBody>
      </p:sp>
      <p:sp>
        <p:nvSpPr>
          <p:cNvPr id="301" name="Google Shape;301;g31cee87ea4c_0_236"/>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g31cee87ea4c_0_236"/>
          <p:cNvSpPr txBox="1"/>
          <p:nvPr/>
        </p:nvSpPr>
        <p:spPr>
          <a:xfrm>
            <a:off x="346075" y="1457600"/>
            <a:ext cx="10465200" cy="475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2800">
                <a:solidFill>
                  <a:schemeClr val="dk1"/>
                </a:solidFill>
                <a:latin typeface="Calibri"/>
                <a:ea typeface="Calibri"/>
                <a:cs typeface="Calibri"/>
                <a:sym typeface="Calibri"/>
              </a:rPr>
              <a:t>Câu trả lời</a:t>
            </a:r>
            <a:r>
              <a:rPr lang="en-US" sz="2800">
                <a:solidFill>
                  <a:schemeClr val="dk1"/>
                </a:solidFill>
                <a:latin typeface="Calibri"/>
                <a:ea typeface="Calibri"/>
                <a:cs typeface="Calibri"/>
                <a:sym typeface="Calibri"/>
              </a:rPr>
              <a:t>: </a:t>
            </a:r>
            <a:r>
              <a:rPr b="1" lang="en-US" sz="2800">
                <a:solidFill>
                  <a:schemeClr val="dk1"/>
                </a:solidFill>
                <a:latin typeface="Calibri"/>
                <a:ea typeface="Calibri"/>
                <a:cs typeface="Calibri"/>
                <a:sym typeface="Calibri"/>
              </a:rPr>
              <a:t>Tùy thuộc vào ngữ cảnh và cách thức sử dụng</a:t>
            </a:r>
            <a:r>
              <a:rPr lang="en-US" sz="2800">
                <a:solidFill>
                  <a:schemeClr val="dk1"/>
                </a:solidFill>
                <a:latin typeface="Calibri"/>
                <a:ea typeface="Calibri"/>
                <a:cs typeface="Calibri"/>
                <a:sym typeface="Calibri"/>
              </a:rPr>
              <a:t>, gọi API HTTP có thể được coi là một dạng của RPC, nhưng không phải tất cả các lời gọi HTTP API đều là RPC. Dưới đây là phân tích chi tiết:</a:t>
            </a:r>
            <a:endParaRPr b="1" sz="4500">
              <a:solidFill>
                <a:schemeClr val="dk1"/>
              </a:solidFill>
              <a:latin typeface="Calibri"/>
              <a:ea typeface="Calibri"/>
              <a:cs typeface="Calibri"/>
              <a:sym typeface="Calibri"/>
            </a:endParaRPr>
          </a:p>
          <a:p>
            <a:pPr indent="-355600" lvl="0" marL="457200" rtl="0" algn="l">
              <a:lnSpc>
                <a:spcPct val="115000"/>
              </a:lnSpc>
              <a:spcBef>
                <a:spcPts val="12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Nếu bạn sử dụng HTTP để gửi yêu cầu thực hiện một thủ tục (thường là qua POST hoặc GET) và nhận kết quả trả về, thì đó có thể được coi là một dạng của RPC.</a:t>
            </a:r>
            <a:endParaRPr sz="20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rPr lang="en-US" sz="28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VD: </a:t>
            </a:r>
            <a:r>
              <a:rPr b="1" lang="en-US" sz="2000">
                <a:solidFill>
                  <a:schemeClr val="dk1"/>
                </a:solidFill>
                <a:latin typeface="Calibri"/>
                <a:ea typeface="Calibri"/>
                <a:cs typeface="Calibri"/>
                <a:sym typeface="Calibri"/>
              </a:rPr>
              <a:t>POST /api/calculate</a:t>
            </a:r>
            <a:r>
              <a:rPr lang="en-US" sz="2000">
                <a:solidFill>
                  <a:schemeClr val="dk1"/>
                </a:solidFill>
                <a:latin typeface="Calibri"/>
                <a:ea typeface="Calibri"/>
                <a:cs typeface="Calibri"/>
                <a:sym typeface="Calibri"/>
              </a:rPr>
              <a:t> Body: { "operation": "add", "a": 5, "b": 10 }</a:t>
            </a:r>
            <a:endParaRPr sz="2800">
              <a:solidFill>
                <a:schemeClr val="dk1"/>
              </a:solidFill>
              <a:latin typeface="Calibri"/>
              <a:ea typeface="Calibri"/>
              <a:cs typeface="Calibri"/>
              <a:sym typeface="Calibri"/>
            </a:endParaRPr>
          </a:p>
          <a:p>
            <a:pPr indent="-355600" lvl="0" marL="457200" rtl="0" algn="l">
              <a:lnSpc>
                <a:spcPct val="115000"/>
              </a:lnSpc>
              <a:spcBef>
                <a:spcPts val="12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Nếu API tuân theo REST (Representational State Transfer) </a:t>
            </a:r>
            <a:endParaRPr sz="2000">
              <a:solidFill>
                <a:schemeClr val="dk1"/>
              </a:solidFill>
              <a:latin typeface="Calibri"/>
              <a:ea typeface="Calibri"/>
              <a:cs typeface="Calibri"/>
              <a:sym typeface="Calibri"/>
            </a:endParaRPr>
          </a:p>
          <a:p>
            <a:pPr indent="0" lvl="0" marL="914400" rtl="0" algn="l">
              <a:lnSpc>
                <a:spcPct val="115000"/>
              </a:lnSpc>
              <a:spcBef>
                <a:spcPts val="1200"/>
              </a:spcBef>
              <a:spcAft>
                <a:spcPts val="1200"/>
              </a:spcAft>
              <a:buNone/>
            </a:pPr>
            <a:r>
              <a:rPr lang="en-US" sz="2000">
                <a:solidFill>
                  <a:schemeClr val="dk1"/>
                </a:solidFill>
                <a:latin typeface="Calibri"/>
                <a:ea typeface="Calibri"/>
                <a:cs typeface="Calibri"/>
                <a:sym typeface="Calibri"/>
              </a:rPr>
              <a:t>VD: </a:t>
            </a:r>
            <a:r>
              <a:rPr b="1" lang="en-US" sz="2000">
                <a:solidFill>
                  <a:schemeClr val="dk1"/>
                </a:solidFill>
                <a:latin typeface="Calibri"/>
                <a:ea typeface="Calibri"/>
                <a:cs typeface="Calibri"/>
                <a:sym typeface="Calibri"/>
              </a:rPr>
              <a:t>GET /api/users/123 </a:t>
            </a:r>
            <a:r>
              <a:rPr lang="en-US" sz="2000">
                <a:solidFill>
                  <a:schemeClr val="dk1"/>
                </a:solidFill>
                <a:latin typeface="Calibri"/>
                <a:ea typeface="Calibri"/>
                <a:cs typeface="Calibri"/>
                <a:sym typeface="Calibri"/>
              </a:rPr>
              <a:t>(Trả về thông tin của người dùng có ID 123. Đây không phải là RPC vì bạn không gọi một thủ tục mà đang truy xuất một tài nguyên.)</a:t>
            </a:r>
            <a:endParaRPr sz="20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9"/>
          <p:cNvSpPr txBox="1"/>
          <p:nvPr/>
        </p:nvSpPr>
        <p:spPr>
          <a:xfrm>
            <a:off x="1219200" y="1905000"/>
            <a:ext cx="8554593" cy="2426946"/>
          </a:xfrm>
          <a:prstGeom prst="rect">
            <a:avLst/>
          </a:prstGeom>
          <a:noFill/>
          <a:ln>
            <a:noFill/>
          </a:ln>
        </p:spPr>
        <p:txBody>
          <a:bodyPr anchorCtr="0" anchor="t" bIns="0" lIns="0" spcFirstLastPara="1" rIns="0" wrap="square" tIns="13325">
            <a:spAutoFit/>
          </a:bodyPr>
          <a:lstStyle/>
          <a:p>
            <a:pPr indent="-320675" lvl="0" marL="332740" marR="5080" rtl="0" algn="l">
              <a:spcBef>
                <a:spcPts val="0"/>
              </a:spcBef>
              <a:spcAft>
                <a:spcPts val="0"/>
              </a:spcAft>
              <a:buClr>
                <a:srgbClr val="DD8046"/>
              </a:buClr>
              <a:buSzPts val="1750"/>
              <a:buFont typeface="Noto Sans Symbols"/>
              <a:buChar char="◻"/>
            </a:pPr>
            <a:r>
              <a:rPr lang="en-US" sz="2900">
                <a:solidFill>
                  <a:schemeClr val="dk1"/>
                </a:solidFill>
                <a:latin typeface="Calibri"/>
                <a:ea typeface="Calibri"/>
                <a:cs typeface="Calibri"/>
                <a:sym typeface="Calibri"/>
              </a:rPr>
              <a:t>Client và Server được cài đặt bởi các NSX khác nhau</a:t>
            </a:r>
            <a:endParaRPr/>
          </a:p>
          <a:p>
            <a:pPr indent="-320675" lvl="0" marL="332740" marR="0" rtl="0" algn="l">
              <a:spcBef>
                <a:spcPts val="710"/>
              </a:spcBef>
              <a:spcAft>
                <a:spcPts val="0"/>
              </a:spcAft>
              <a:buClr>
                <a:srgbClr val="DD8046"/>
              </a:buClr>
              <a:buSzPts val="1750"/>
              <a:buFont typeface="Noto Sans Symbols"/>
              <a:buChar char="◻"/>
            </a:pPr>
            <a:r>
              <a:rPr lang="en-US" sz="2900">
                <a:solidFill>
                  <a:schemeClr val="dk1"/>
                </a:solidFill>
                <a:latin typeface="Calibri"/>
                <a:ea typeface="Calibri"/>
                <a:cs typeface="Calibri"/>
                <a:sym typeface="Calibri"/>
              </a:rPr>
              <a:t>Giao diện thống nhất client và server</a:t>
            </a:r>
            <a:endParaRPr sz="2900">
              <a:solidFill>
                <a:schemeClr val="dk1"/>
              </a:solidFill>
              <a:latin typeface="Calibri"/>
              <a:ea typeface="Calibri"/>
              <a:cs typeface="Calibri"/>
              <a:sym typeface="Calibri"/>
            </a:endParaRPr>
          </a:p>
          <a:p>
            <a:pPr indent="-274955" lvl="1" marL="652780" marR="0" rtl="0" algn="l">
              <a:spcBef>
                <a:spcPts val="615"/>
              </a:spcBef>
              <a:spcAft>
                <a:spcPts val="0"/>
              </a:spcAft>
              <a:buClr>
                <a:srgbClr val="93B6D2"/>
              </a:buClr>
              <a:buSzPts val="1800"/>
              <a:buFont typeface="Arial"/>
              <a:buChar char=""/>
            </a:pPr>
            <a:r>
              <a:rPr b="0" i="0" lang="en-US" sz="2600" u="none" cap="none" strike="noStrike">
                <a:solidFill>
                  <a:schemeClr val="dk1"/>
                </a:solidFill>
                <a:latin typeface="Calibri"/>
                <a:ea typeface="Calibri"/>
                <a:cs typeface="Calibri"/>
                <a:sym typeface="Calibri"/>
              </a:rPr>
              <a:t>Không phụ thuộc công cụ và ngôn ngữ lập trình</a:t>
            </a:r>
            <a:endParaRPr b="0" i="0" sz="2600" u="none" cap="none" strike="noStrike">
              <a:solidFill>
                <a:schemeClr val="dk1"/>
              </a:solidFill>
              <a:latin typeface="Calibri"/>
              <a:ea typeface="Calibri"/>
              <a:cs typeface="Calibri"/>
              <a:sym typeface="Calibri"/>
            </a:endParaRPr>
          </a:p>
          <a:p>
            <a:pPr indent="-274955" lvl="1" marL="652780" marR="0" rtl="0" algn="l">
              <a:spcBef>
                <a:spcPts val="600"/>
              </a:spcBef>
              <a:spcAft>
                <a:spcPts val="0"/>
              </a:spcAft>
              <a:buClr>
                <a:srgbClr val="93B6D2"/>
              </a:buClr>
              <a:buSzPts val="1800"/>
              <a:buFont typeface="Arial"/>
              <a:buChar char=""/>
            </a:pPr>
            <a:r>
              <a:rPr b="0" i="0" lang="en-US" sz="2600" u="none" cap="none" strike="noStrike">
                <a:solidFill>
                  <a:schemeClr val="dk1"/>
                </a:solidFill>
                <a:latin typeface="Calibri"/>
                <a:ea typeface="Calibri"/>
                <a:cs typeface="Calibri"/>
                <a:sym typeface="Calibri"/>
              </a:rPr>
              <a:t>Mô tả đầy đủ và trung lập</a:t>
            </a:r>
            <a:endParaRPr b="0" i="0" sz="2600" u="none" cap="none" strike="noStrike">
              <a:solidFill>
                <a:schemeClr val="dk1"/>
              </a:solidFill>
              <a:latin typeface="Calibri"/>
              <a:ea typeface="Calibri"/>
              <a:cs typeface="Calibri"/>
              <a:sym typeface="Calibri"/>
            </a:endParaRPr>
          </a:p>
          <a:p>
            <a:pPr indent="-274955" lvl="1" marL="652780" marR="0" rtl="0" algn="l">
              <a:spcBef>
                <a:spcPts val="600"/>
              </a:spcBef>
              <a:spcAft>
                <a:spcPts val="0"/>
              </a:spcAft>
              <a:buClr>
                <a:srgbClr val="93B6D2"/>
              </a:buClr>
              <a:buSzPts val="1800"/>
              <a:buFont typeface="Arial"/>
              <a:buChar char=""/>
            </a:pPr>
            <a:r>
              <a:rPr b="0" i="0" lang="en-US" sz="2600" u="none" cap="none" strike="noStrike">
                <a:solidFill>
                  <a:schemeClr val="dk1"/>
                </a:solidFill>
                <a:latin typeface="Calibri"/>
                <a:ea typeface="Calibri"/>
                <a:cs typeface="Calibri"/>
                <a:sym typeface="Calibri"/>
              </a:rPr>
              <a:t>Thường dùng ngôn ngữ định nghĩa giao diện</a:t>
            </a:r>
            <a:endParaRPr/>
          </a:p>
        </p:txBody>
      </p:sp>
      <p:sp>
        <p:nvSpPr>
          <p:cNvPr id="308" name="Google Shape;308;p9"/>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09" name="Google Shape;309;p9"/>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 name="Google Shape;310;p9"/>
          <p:cNvSpPr txBox="1"/>
          <p:nvPr>
            <p:ph type="title"/>
          </p:nvPr>
        </p:nvSpPr>
        <p:spPr>
          <a:xfrm>
            <a:off x="762000" y="139834"/>
            <a:ext cx="4065270" cy="69659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lt1"/>
              </a:buClr>
              <a:buSzPts val="4400"/>
              <a:buFont typeface="Calibri"/>
              <a:buNone/>
            </a:pPr>
            <a:r>
              <a:rPr b="1" lang="en-US">
                <a:solidFill>
                  <a:schemeClr val="lt1"/>
                </a:solidFill>
              </a:rPr>
              <a:t>Tính mở của RPC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0"/>
          <p:cNvSpPr txBox="1"/>
          <p:nvPr/>
        </p:nvSpPr>
        <p:spPr>
          <a:xfrm>
            <a:off x="914400" y="1620977"/>
            <a:ext cx="10591800" cy="4203715"/>
          </a:xfrm>
          <a:prstGeom prst="rect">
            <a:avLst/>
          </a:prstGeom>
          <a:noFill/>
          <a:ln>
            <a:noFill/>
          </a:ln>
        </p:spPr>
        <p:txBody>
          <a:bodyPr anchorCtr="0" anchor="t" bIns="0" lIns="0" spcFirstLastPara="1" rIns="0" wrap="square" tIns="12700">
            <a:spAutoFit/>
          </a:bodyPr>
          <a:lstStyle/>
          <a:p>
            <a:pPr indent="-320675" lvl="0" marL="332740" marR="5080" rtl="0" algn="l">
              <a:spcBef>
                <a:spcPts val="0"/>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Distributed Computing Environment (DCE) được phát  triển bởi Open Group:</a:t>
            </a:r>
            <a:r>
              <a:rPr lang="en-US" sz="2700">
                <a:solidFill>
                  <a:srgbClr val="F7B615"/>
                </a:solidFill>
                <a:latin typeface="Calibri"/>
                <a:ea typeface="Calibri"/>
                <a:cs typeface="Calibri"/>
                <a:sym typeface="Calibri"/>
              </a:rPr>
              <a:t> </a:t>
            </a:r>
            <a:r>
              <a:rPr lang="en-US" sz="2700" u="sng">
                <a:solidFill>
                  <a:srgbClr val="F7B615"/>
                </a:solidFill>
                <a:latin typeface="Calibri"/>
                <a:ea typeface="Calibri"/>
                <a:cs typeface="Calibri"/>
                <a:sym typeface="Calibri"/>
                <a:hlinkClick r:id="rId3">
                  <a:extLst>
                    <a:ext uri="{A12FA001-AC4F-418D-AE19-62706E023703}">
                      <ahyp:hlinkClr val="tx"/>
                    </a:ext>
                  </a:extLst>
                </a:hlinkClick>
              </a:rPr>
              <a:t>http://www.opengroup.org/dce/</a:t>
            </a:r>
            <a:endParaRPr sz="2700">
              <a:solidFill>
                <a:schemeClr val="dk1"/>
              </a:solidFill>
              <a:latin typeface="Calibri"/>
              <a:ea typeface="Calibri"/>
              <a:cs typeface="Calibri"/>
              <a:sym typeface="Calibri"/>
            </a:endParaRPr>
          </a:p>
          <a:p>
            <a:pPr indent="-320675" lvl="0" marL="332740" marR="0" rtl="0" algn="l">
              <a:spcBef>
                <a:spcPts val="710"/>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Tầng middleware</a:t>
            </a:r>
            <a:endParaRPr sz="2700">
              <a:solidFill>
                <a:schemeClr val="dk1"/>
              </a:solidFill>
              <a:latin typeface="Calibri"/>
              <a:ea typeface="Calibri"/>
              <a:cs typeface="Calibri"/>
              <a:sym typeface="Calibri"/>
            </a:endParaRPr>
          </a:p>
          <a:p>
            <a:pPr indent="-320675" lvl="0" marL="332740" marR="0" rtl="0" algn="l">
              <a:spcBef>
                <a:spcPts val="700"/>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Mô hình client-server</a:t>
            </a:r>
            <a:endParaRPr/>
          </a:p>
          <a:p>
            <a:pPr indent="-320675" lvl="0" marL="332740" marR="0" rtl="0" algn="l">
              <a:spcBef>
                <a:spcPts val="695"/>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Giao tiếp được thực hiện thông qua RPCs</a:t>
            </a:r>
            <a:endParaRPr sz="2700">
              <a:solidFill>
                <a:schemeClr val="dk1"/>
              </a:solidFill>
              <a:latin typeface="Calibri"/>
              <a:ea typeface="Calibri"/>
              <a:cs typeface="Calibri"/>
              <a:sym typeface="Calibri"/>
            </a:endParaRPr>
          </a:p>
          <a:p>
            <a:pPr indent="-320675" lvl="0" marL="332740" marR="0" rtl="0" algn="l">
              <a:spcBef>
                <a:spcPts val="710"/>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Các dịch vụ:</a:t>
            </a:r>
            <a:endParaRPr/>
          </a:p>
          <a:p>
            <a:pPr indent="-274955" lvl="1" marL="652780" marR="0" rtl="0" algn="l">
              <a:spcBef>
                <a:spcPts val="600"/>
              </a:spcBef>
              <a:spcAft>
                <a:spcPts val="0"/>
              </a:spcAft>
              <a:buClr>
                <a:srgbClr val="93B6D2"/>
              </a:buClr>
              <a:buSzPts val="1650"/>
              <a:buFont typeface="Calibri"/>
              <a:buChar char="-"/>
            </a:pPr>
            <a:r>
              <a:rPr b="0" i="0" lang="en-US" sz="2400" u="none" cap="none" strike="noStrike">
                <a:solidFill>
                  <a:schemeClr val="dk1"/>
                </a:solidFill>
                <a:latin typeface="Calibri"/>
                <a:ea typeface="Calibri"/>
                <a:cs typeface="Calibri"/>
                <a:sym typeface="Calibri"/>
              </a:rPr>
              <a:t>Distributed file service</a:t>
            </a:r>
            <a:endParaRPr/>
          </a:p>
          <a:p>
            <a:pPr indent="-274955" lvl="1" marL="652780" marR="0" rtl="0" algn="l">
              <a:spcBef>
                <a:spcPts val="600"/>
              </a:spcBef>
              <a:spcAft>
                <a:spcPts val="0"/>
              </a:spcAft>
              <a:buClr>
                <a:srgbClr val="93B6D2"/>
              </a:buClr>
              <a:buSzPts val="1650"/>
              <a:buFont typeface="Calibri"/>
              <a:buChar char="-"/>
            </a:pPr>
            <a:r>
              <a:rPr b="0" i="0" lang="en-US" sz="2400" u="none" cap="none" strike="noStrike">
                <a:solidFill>
                  <a:schemeClr val="dk1"/>
                </a:solidFill>
                <a:latin typeface="Calibri"/>
                <a:ea typeface="Calibri"/>
                <a:cs typeface="Calibri"/>
                <a:sym typeface="Calibri"/>
              </a:rPr>
              <a:t>Directory service</a:t>
            </a:r>
            <a:endParaRPr/>
          </a:p>
          <a:p>
            <a:pPr indent="-274955" lvl="1" marL="652780" marR="0" rtl="0" algn="l">
              <a:spcBef>
                <a:spcPts val="600"/>
              </a:spcBef>
              <a:spcAft>
                <a:spcPts val="0"/>
              </a:spcAft>
              <a:buClr>
                <a:srgbClr val="93B6D2"/>
              </a:buClr>
              <a:buSzPts val="1650"/>
              <a:buFont typeface="Calibri"/>
              <a:buChar char="-"/>
            </a:pPr>
            <a:r>
              <a:rPr b="0" i="0" lang="en-US" sz="2400" u="none" cap="none" strike="noStrike">
                <a:solidFill>
                  <a:schemeClr val="dk1"/>
                </a:solidFill>
                <a:latin typeface="Calibri"/>
                <a:ea typeface="Calibri"/>
                <a:cs typeface="Calibri"/>
                <a:sym typeface="Calibri"/>
              </a:rPr>
              <a:t>Distributed time service</a:t>
            </a:r>
            <a:endParaRPr/>
          </a:p>
        </p:txBody>
      </p:sp>
      <p:sp>
        <p:nvSpPr>
          <p:cNvPr id="316" name="Google Shape;316;p10"/>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10"/>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10"/>
          <p:cNvSpPr txBox="1"/>
          <p:nvPr/>
        </p:nvSpPr>
        <p:spPr>
          <a:xfrm>
            <a:off x="762000" y="139834"/>
            <a:ext cx="4065270" cy="696595"/>
          </a:xfrm>
          <a:prstGeom prst="rect">
            <a:avLst/>
          </a:prstGeom>
          <a:noFill/>
          <a:ln>
            <a:noFill/>
          </a:ln>
        </p:spPr>
        <p:txBody>
          <a:bodyPr anchorCtr="0" anchor="ctr" bIns="0" lIns="0" spcFirstLastPara="1" rIns="0" wrap="square" tIns="13325">
            <a:spAutoFit/>
          </a:bodyPr>
          <a:lstStyle/>
          <a:p>
            <a:pPr indent="0" lvl="0" marL="12700" marR="0" rtl="0" algn="l">
              <a:lnSpc>
                <a:spcPct val="100000"/>
              </a:lnSpc>
              <a:spcBef>
                <a:spcPts val="0"/>
              </a:spcBef>
              <a:spcAft>
                <a:spcPts val="0"/>
              </a:spcAft>
              <a:buClr>
                <a:schemeClr val="lt1"/>
              </a:buClr>
              <a:buSzPts val="4400"/>
              <a:buFont typeface="Calibri"/>
              <a:buNone/>
            </a:pPr>
            <a:r>
              <a:rPr b="1" lang="en-US" sz="4400">
                <a:solidFill>
                  <a:schemeClr val="lt1"/>
                </a:solidFill>
                <a:latin typeface="Calibri"/>
                <a:ea typeface="Calibri"/>
                <a:cs typeface="Calibri"/>
                <a:sym typeface="Calibri"/>
              </a:rPr>
              <a:t>Ví dụ RPC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2"/>
          <p:cNvSpPr txBox="1"/>
          <p:nvPr/>
        </p:nvSpPr>
        <p:spPr>
          <a:xfrm>
            <a:off x="1066800" y="1538681"/>
            <a:ext cx="10515600" cy="4211987"/>
          </a:xfrm>
          <a:prstGeom prst="rect">
            <a:avLst/>
          </a:prstGeom>
          <a:noFill/>
          <a:ln>
            <a:noFill/>
          </a:ln>
        </p:spPr>
        <p:txBody>
          <a:bodyPr anchorCtr="0" anchor="t" bIns="0" lIns="0" spcFirstLastPara="1" rIns="0" wrap="square" tIns="91425">
            <a:spAutoFit/>
          </a:bodyPr>
          <a:lstStyle/>
          <a:p>
            <a:pPr indent="-320675" lvl="0" marL="332740" marR="2387600" rtl="0" algn="l">
              <a:lnSpc>
                <a:spcPct val="96296"/>
              </a:lnSpc>
              <a:spcBef>
                <a:spcPts val="0"/>
              </a:spcBef>
              <a:spcAft>
                <a:spcPts val="0"/>
              </a:spcAft>
              <a:buClr>
                <a:srgbClr val="DD8046"/>
              </a:buClr>
              <a:buSzPts val="1600"/>
              <a:buFont typeface="Noto Sans Symbols"/>
              <a:buChar char="◻"/>
            </a:pPr>
            <a:r>
              <a:rPr lang="en-US" sz="2700" u="sng">
                <a:solidFill>
                  <a:schemeClr val="dk1"/>
                </a:solidFill>
                <a:latin typeface="Calibri"/>
                <a:ea typeface="Calibri"/>
                <a:cs typeface="Calibri"/>
                <a:sym typeface="Calibri"/>
                <a:hlinkClick r:id="rId3">
                  <a:extLst>
                    <a:ext uri="{A12FA001-AC4F-418D-AE19-62706E023703}">
                      <ahyp:hlinkClr val="tx"/>
                    </a:ext>
                  </a:extLst>
                </a:hlinkClick>
              </a:rPr>
              <a:t>Link:</a:t>
            </a:r>
            <a:r>
              <a:rPr lang="en-US" sz="2700" u="sng">
                <a:solidFill>
                  <a:srgbClr val="F7B615"/>
                </a:solidFill>
                <a:latin typeface="Calibri"/>
                <a:ea typeface="Calibri"/>
                <a:cs typeface="Calibri"/>
                <a:sym typeface="Calibri"/>
                <a:hlinkClick r:id="rId4">
                  <a:extLst>
                    <a:ext uri="{A12FA001-AC4F-418D-AE19-62706E023703}">
                      <ahyp:hlinkClr val="tx"/>
                    </a:ext>
                  </a:extLst>
                </a:hlinkClick>
              </a:rPr>
              <a:t> https://docs.microsoft.com/en- us/windows/win32/rpc/tutorial</a:t>
            </a:r>
            <a:endParaRPr sz="2700">
              <a:solidFill>
                <a:schemeClr val="dk1"/>
              </a:solidFill>
              <a:latin typeface="Calibri"/>
              <a:ea typeface="Calibri"/>
              <a:cs typeface="Calibri"/>
              <a:sym typeface="Calibri"/>
            </a:endParaRPr>
          </a:p>
          <a:p>
            <a:pPr indent="-320675" lvl="0" marL="332740" marR="1621155" rtl="0" algn="just">
              <a:lnSpc>
                <a:spcPct val="80000"/>
              </a:lnSpc>
              <a:spcBef>
                <a:spcPts val="725"/>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Create interface definition and application  configuration files.</a:t>
            </a:r>
            <a:endParaRPr sz="2700">
              <a:solidFill>
                <a:schemeClr val="dk1"/>
              </a:solidFill>
              <a:latin typeface="Calibri"/>
              <a:ea typeface="Calibri"/>
              <a:cs typeface="Calibri"/>
              <a:sym typeface="Calibri"/>
            </a:endParaRPr>
          </a:p>
          <a:p>
            <a:pPr indent="-320675" lvl="0" marL="332740" marR="5080" rtl="0" algn="just">
              <a:lnSpc>
                <a:spcPct val="95925"/>
              </a:lnSpc>
              <a:spcBef>
                <a:spcPts val="675"/>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Use the MIDL compiler to generate C-language client  and server stubs and headers from those files.</a:t>
            </a:r>
            <a:endParaRPr sz="2700">
              <a:solidFill>
                <a:schemeClr val="dk1"/>
              </a:solidFill>
              <a:latin typeface="Calibri"/>
              <a:ea typeface="Calibri"/>
              <a:cs typeface="Calibri"/>
              <a:sym typeface="Calibri"/>
            </a:endParaRPr>
          </a:p>
          <a:p>
            <a:pPr indent="-320675" lvl="0" marL="332740" marR="65405" rtl="0" algn="just">
              <a:lnSpc>
                <a:spcPct val="80000"/>
              </a:lnSpc>
              <a:spcBef>
                <a:spcPts val="720"/>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Write a client application that manages its connection  to the server.</a:t>
            </a:r>
            <a:endParaRPr sz="2700">
              <a:solidFill>
                <a:schemeClr val="dk1"/>
              </a:solidFill>
              <a:latin typeface="Calibri"/>
              <a:ea typeface="Calibri"/>
              <a:cs typeface="Calibri"/>
              <a:sym typeface="Calibri"/>
            </a:endParaRPr>
          </a:p>
          <a:p>
            <a:pPr indent="-320675" lvl="0" marL="332740" marR="636270" rtl="0" algn="just">
              <a:lnSpc>
                <a:spcPct val="95925"/>
              </a:lnSpc>
              <a:spcBef>
                <a:spcPts val="690"/>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Write a server application that contains the actual  remote procedures.</a:t>
            </a:r>
            <a:endParaRPr/>
          </a:p>
          <a:p>
            <a:pPr indent="-320675" lvl="0" marL="332740" marR="705485" rtl="0" algn="just">
              <a:lnSpc>
                <a:spcPct val="80000"/>
              </a:lnSpc>
              <a:spcBef>
                <a:spcPts val="725"/>
              </a:spcBef>
              <a:spcAft>
                <a:spcPts val="0"/>
              </a:spcAft>
              <a:buClr>
                <a:srgbClr val="DD8046"/>
              </a:buClr>
              <a:buSzPts val="1600"/>
              <a:buFont typeface="Noto Sans Symbols"/>
              <a:buChar char="◻"/>
            </a:pPr>
            <a:r>
              <a:rPr lang="en-US" sz="2700">
                <a:solidFill>
                  <a:schemeClr val="dk1"/>
                </a:solidFill>
                <a:latin typeface="Calibri"/>
                <a:ea typeface="Calibri"/>
                <a:cs typeface="Calibri"/>
                <a:sym typeface="Calibri"/>
              </a:rPr>
              <a:t>Compile and link these files to the RPC run-time  library to produce the distributed application.</a:t>
            </a:r>
            <a:endParaRPr/>
          </a:p>
        </p:txBody>
      </p:sp>
      <p:sp>
        <p:nvSpPr>
          <p:cNvPr id="325" name="Google Shape;325;p12"/>
          <p:cNvSpPr/>
          <p:nvPr/>
        </p:nvSpPr>
        <p:spPr>
          <a:xfrm>
            <a:off x="0" y="1"/>
            <a:ext cx="12192000" cy="1066799"/>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12"/>
          <p:cNvSpPr/>
          <p:nvPr/>
        </p:nvSpPr>
        <p:spPr>
          <a:xfrm>
            <a:off x="0" y="1219200"/>
            <a:ext cx="12192000" cy="133404"/>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12"/>
          <p:cNvSpPr txBox="1"/>
          <p:nvPr>
            <p:ph type="title"/>
          </p:nvPr>
        </p:nvSpPr>
        <p:spPr>
          <a:xfrm>
            <a:off x="838200" y="188754"/>
            <a:ext cx="10515600" cy="689400"/>
          </a:xfrm>
          <a:prstGeom prst="rect">
            <a:avLst/>
          </a:prstGeom>
          <a:noFill/>
          <a:ln>
            <a:noFill/>
          </a:ln>
        </p:spPr>
        <p:txBody>
          <a:bodyPr anchorCtr="0" anchor="ctr" bIns="0" lIns="0" spcFirstLastPara="1" rIns="0" wrap="square" tIns="12050">
            <a:spAutoFit/>
          </a:bodyPr>
          <a:lstStyle/>
          <a:p>
            <a:pPr indent="0" lvl="0" marL="233679" marR="5080" rtl="0" algn="l">
              <a:lnSpc>
                <a:spcPct val="100000"/>
              </a:lnSpc>
              <a:spcBef>
                <a:spcPts val="0"/>
              </a:spcBef>
              <a:spcAft>
                <a:spcPts val="0"/>
              </a:spcAft>
              <a:buClr>
                <a:schemeClr val="lt1"/>
              </a:buClr>
              <a:buSzPts val="4400"/>
              <a:buFont typeface="Calibri"/>
              <a:buNone/>
            </a:pPr>
            <a:r>
              <a:rPr b="1" lang="en-US">
                <a:solidFill>
                  <a:schemeClr val="lt1"/>
                </a:solidFill>
                <a:latin typeface="Calibri"/>
                <a:ea typeface="Calibri"/>
                <a:cs typeface="Calibri"/>
                <a:sym typeface="Calibri"/>
              </a:rPr>
              <a:t>Thực hành: Xây dựng RPC trên Windows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1cee87ea4c_0_214"/>
          <p:cNvSpPr txBox="1"/>
          <p:nvPr/>
        </p:nvSpPr>
        <p:spPr>
          <a:xfrm>
            <a:off x="346050" y="1529275"/>
            <a:ext cx="10931700" cy="1398000"/>
          </a:xfrm>
          <a:prstGeom prst="rect">
            <a:avLst/>
          </a:prstGeom>
          <a:noFill/>
          <a:ln>
            <a:noFill/>
          </a:ln>
        </p:spPr>
        <p:txBody>
          <a:bodyPr anchorCtr="0" anchor="t" bIns="0" lIns="0" spcFirstLastPara="1" rIns="0" wrap="square" tIns="104125">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3.1 Trao đổi thông tin hướng thông điệp tạm thời</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800">
                <a:solidFill>
                  <a:schemeClr val="dk1"/>
                </a:solidFill>
                <a:latin typeface="Calibri"/>
                <a:ea typeface="Calibri"/>
                <a:cs typeface="Calibri"/>
                <a:sym typeface="Calibri"/>
              </a:rPr>
              <a:t>3.2 Trao đổi thông tin hướng thông điệp bền vững</a:t>
            </a:r>
            <a:endParaRPr b="1" sz="28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34" name="Google Shape;334;g31cee87ea4c_0_214"/>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5" name="Google Shape;335;g31cee87ea4c_0_214"/>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336" name="Google Shape;336;g31cee87ea4c_0_214"/>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1cee87ea4c_0_222"/>
          <p:cNvSpPr txBox="1"/>
          <p:nvPr/>
        </p:nvSpPr>
        <p:spPr>
          <a:xfrm>
            <a:off x="346050" y="1529275"/>
            <a:ext cx="10931700" cy="30297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Trao đổi thông tin hướng thông điệp tạm thời</a:t>
            </a:r>
            <a:endParaRPr b="1" sz="2800">
              <a:solidFill>
                <a:schemeClr val="dk1"/>
              </a:solidFill>
              <a:latin typeface="Calibri"/>
              <a:ea typeface="Calibri"/>
              <a:cs typeface="Calibri"/>
              <a:sym typeface="Calibri"/>
            </a:endParaRPr>
          </a:p>
          <a:p>
            <a:pPr indent="-320675" lvl="0" marL="332740" marR="0" rtl="0" algn="l">
              <a:spcBef>
                <a:spcPts val="0"/>
              </a:spcBef>
              <a:spcAft>
                <a:spcPts val="0"/>
              </a:spcAft>
              <a:buClr>
                <a:srgbClr val="FB6923"/>
              </a:buClr>
              <a:buSzPts val="1650"/>
              <a:buFont typeface="Noto Sans Symbols"/>
              <a:buChar char="◻"/>
            </a:pPr>
            <a:r>
              <a:rPr lang="en-US" sz="2800">
                <a:solidFill>
                  <a:schemeClr val="dk1"/>
                </a:solidFill>
                <a:latin typeface="Calibri"/>
                <a:ea typeface="Calibri"/>
                <a:cs typeface="Calibri"/>
                <a:sym typeface="Calibri"/>
              </a:rPr>
              <a:t>2 tiến trình cùng chạy, gửi và nhận trực tiếp cho nhau</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Phải </a:t>
            </a:r>
            <a:r>
              <a:rPr lang="en-US" sz="2800">
                <a:solidFill>
                  <a:schemeClr val="dk1"/>
                </a:solidFill>
                <a:latin typeface="Calibri"/>
                <a:ea typeface="Calibri"/>
                <a:cs typeface="Calibri"/>
                <a:sym typeface="Calibri"/>
              </a:rPr>
              <a:t>đảm bảo rằng hai bên (client và server) đồng ý kết nối trước khi trao đổi dữ liệu</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800">
                <a:solidFill>
                  <a:schemeClr val="dk1"/>
                </a:solidFill>
                <a:latin typeface="Calibri"/>
                <a:ea typeface="Calibri"/>
                <a:cs typeface="Calibri"/>
                <a:sym typeface="Calibri"/>
              </a:rPr>
              <a:t>Nhắc lại : Giao thức bắt tay 3 bước</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43" name="Google Shape;343;g31cee87ea4c_0_222"/>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4" name="Google Shape;344;g31cee87ea4c_0_222"/>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345" name="Google Shape;345;g31cee87ea4c_0_222"/>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46" name="Google Shape;346;g31cee87ea4c_0_222"/>
          <p:cNvPicPr preferRelativeResize="0"/>
          <p:nvPr/>
        </p:nvPicPr>
        <p:blipFill rotWithShape="1">
          <a:blip r:embed="rId3">
            <a:alphaModFix/>
          </a:blip>
          <a:srcRect b="0" l="0" r="0" t="0"/>
          <a:stretch/>
        </p:blipFill>
        <p:spPr>
          <a:xfrm>
            <a:off x="141525" y="3982024"/>
            <a:ext cx="7327900" cy="2683000"/>
          </a:xfrm>
          <a:prstGeom prst="rect">
            <a:avLst/>
          </a:prstGeom>
          <a:noFill/>
          <a:ln>
            <a:noFill/>
          </a:ln>
        </p:spPr>
      </p:pic>
      <p:pic>
        <p:nvPicPr>
          <p:cNvPr id="347" name="Google Shape;347;g31cee87ea4c_0_222"/>
          <p:cNvPicPr preferRelativeResize="0"/>
          <p:nvPr/>
        </p:nvPicPr>
        <p:blipFill>
          <a:blip r:embed="rId4">
            <a:alphaModFix/>
          </a:blip>
          <a:stretch>
            <a:fillRect/>
          </a:stretch>
        </p:blipFill>
        <p:spPr>
          <a:xfrm>
            <a:off x="7223925" y="3284624"/>
            <a:ext cx="4109825" cy="3380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1febe01e8e_0_0"/>
          <p:cNvSpPr txBox="1"/>
          <p:nvPr/>
        </p:nvSpPr>
        <p:spPr>
          <a:xfrm>
            <a:off x="346050" y="1529275"/>
            <a:ext cx="10931700" cy="30297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Trao đổi thông tin hướng thông điệp tạm thời</a:t>
            </a:r>
            <a:endParaRPr b="1" sz="2800">
              <a:solidFill>
                <a:schemeClr val="dk1"/>
              </a:solidFill>
              <a:latin typeface="Calibri"/>
              <a:ea typeface="Calibri"/>
              <a:cs typeface="Calibri"/>
              <a:sym typeface="Calibri"/>
            </a:endParaRPr>
          </a:p>
          <a:p>
            <a:pPr indent="-320675" lvl="0" marL="332740" marR="0" rtl="0" algn="l">
              <a:spcBef>
                <a:spcPts val="0"/>
              </a:spcBef>
              <a:spcAft>
                <a:spcPts val="0"/>
              </a:spcAft>
              <a:buClr>
                <a:srgbClr val="FB6923"/>
              </a:buClr>
              <a:buSzPts val="1650"/>
              <a:buFont typeface="Noto Sans Symbols"/>
              <a:buChar char="◻"/>
            </a:pPr>
            <a:r>
              <a:rPr lang="en-US" sz="2800">
                <a:solidFill>
                  <a:schemeClr val="dk1"/>
                </a:solidFill>
                <a:latin typeface="Calibri"/>
                <a:ea typeface="Calibri"/>
                <a:cs typeface="Calibri"/>
                <a:sym typeface="Calibri"/>
              </a:rPr>
              <a:t>2 tiến trình cùng chạy, gửi và nhận trực tiếp cho nhau.</a:t>
            </a:r>
            <a:endParaRPr sz="2800">
              <a:solidFill>
                <a:schemeClr val="dk1"/>
              </a:solidFill>
              <a:latin typeface="Calibri"/>
              <a:ea typeface="Calibri"/>
              <a:cs typeface="Calibri"/>
              <a:sym typeface="Calibri"/>
            </a:endParaRPr>
          </a:p>
          <a:p>
            <a:pPr indent="-317501" lvl="0" marL="3327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Phải đảm bảo rằng hai bên (client và server) đồng ý kết nối trước khi trao đổi dữ liệu</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800">
                <a:solidFill>
                  <a:schemeClr val="dk1"/>
                </a:solidFill>
                <a:latin typeface="Calibri"/>
                <a:ea typeface="Calibri"/>
                <a:cs typeface="Calibri"/>
                <a:sym typeface="Calibri"/>
              </a:rPr>
              <a:t>Nhắc lại : Giao thức bắt tay 3 bước</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54" name="Google Shape;354;g31febe01e8e_0_0"/>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5" name="Google Shape;355;g31febe01e8e_0_0"/>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356" name="Google Shape;356;g31febe01e8e_0_0"/>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57" name="Google Shape;357;g31febe01e8e_0_0"/>
          <p:cNvPicPr preferRelativeResize="0"/>
          <p:nvPr/>
        </p:nvPicPr>
        <p:blipFill rotWithShape="1">
          <a:blip r:embed="rId3">
            <a:alphaModFix/>
          </a:blip>
          <a:srcRect b="0" l="0" r="0" t="0"/>
          <a:stretch/>
        </p:blipFill>
        <p:spPr>
          <a:xfrm>
            <a:off x="141525" y="3982024"/>
            <a:ext cx="7327900" cy="2683000"/>
          </a:xfrm>
          <a:prstGeom prst="rect">
            <a:avLst/>
          </a:prstGeom>
          <a:noFill/>
          <a:ln>
            <a:noFill/>
          </a:ln>
        </p:spPr>
      </p:pic>
      <p:pic>
        <p:nvPicPr>
          <p:cNvPr id="358" name="Google Shape;358;g31febe01e8e_0_0"/>
          <p:cNvPicPr preferRelativeResize="0"/>
          <p:nvPr/>
        </p:nvPicPr>
        <p:blipFill>
          <a:blip r:embed="rId4">
            <a:alphaModFix/>
          </a:blip>
          <a:stretch>
            <a:fillRect/>
          </a:stretch>
        </p:blipFill>
        <p:spPr>
          <a:xfrm>
            <a:off x="7223925" y="3284624"/>
            <a:ext cx="4109825" cy="3380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1cee87ea4c_0_253"/>
          <p:cNvSpPr txBox="1"/>
          <p:nvPr/>
        </p:nvSpPr>
        <p:spPr>
          <a:xfrm>
            <a:off x="346050" y="1529275"/>
            <a:ext cx="10931700" cy="38916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Trao đổi thông tin hướng thông điệp bền vững</a:t>
            </a:r>
            <a:endParaRPr b="1" sz="2800">
              <a:solidFill>
                <a:schemeClr val="dk1"/>
              </a:solidFill>
              <a:latin typeface="Calibri"/>
              <a:ea typeface="Calibri"/>
              <a:cs typeface="Calibri"/>
              <a:sym typeface="Calibri"/>
            </a:endParaRPr>
          </a:p>
          <a:p>
            <a:pPr indent="-320675" lvl="0" marL="789940" marR="0" rtl="0" algn="l">
              <a:spcBef>
                <a:spcPts val="0"/>
              </a:spcBef>
              <a:spcAft>
                <a:spcPts val="0"/>
              </a:spcAft>
              <a:buClr>
                <a:srgbClr val="FB6923"/>
              </a:buClr>
              <a:buSzPts val="1650"/>
              <a:buFont typeface="Noto Sans Symbols"/>
              <a:buChar char="◻"/>
            </a:pPr>
            <a:r>
              <a:rPr lang="en-US" sz="2800">
                <a:solidFill>
                  <a:schemeClr val="dk1"/>
                </a:solidFill>
                <a:latin typeface="Calibri"/>
                <a:ea typeface="Calibri"/>
                <a:cs typeface="Calibri"/>
                <a:sym typeface="Calibri"/>
              </a:rPr>
              <a:t>MOM (Messeage-Oriented Middleware)</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Hệ thống hàng đợi thông điệp hỗ trợ trao đổi thông tin không đồng bộ bền vững</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Hỗ trợ khả năng lưu trữ trung gian cho thông điệp</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Chấp nhận độ trễ thời gian cao</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Ví dụ: hệ thống email</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65" name="Google Shape;365;g31cee87ea4c_0_253"/>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66" name="Google Shape;366;g31cee87ea4c_0_253"/>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367" name="Google Shape;367;g31cee87ea4c_0_253"/>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1cee87ea4c_0_272"/>
          <p:cNvSpPr txBox="1"/>
          <p:nvPr/>
        </p:nvSpPr>
        <p:spPr>
          <a:xfrm>
            <a:off x="346050" y="1529275"/>
            <a:ext cx="10931700" cy="3891600"/>
          </a:xfrm>
          <a:prstGeom prst="rect">
            <a:avLst/>
          </a:prstGeom>
          <a:noFill/>
          <a:ln>
            <a:noFill/>
          </a:ln>
        </p:spPr>
        <p:txBody>
          <a:bodyPr anchorCtr="0" anchor="t" bIns="0" lIns="0" spcFirstLastPara="1" rIns="0" wrap="square" tIns="104125">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Massage Queues (Hàng đợi thông điệp)</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Khái niệm: Một hàng đợi chứa các tin nhắn được gửi từ một nhà cung cấp đến một hoặc nhiều người dùng. Và được xử lý theo thứ tự</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Chức năng:</a:t>
            </a:r>
            <a:endParaRPr sz="2800">
              <a:solidFill>
                <a:schemeClr val="dk1"/>
              </a:solidFill>
              <a:latin typeface="Calibri"/>
              <a:ea typeface="Calibri"/>
              <a:cs typeface="Calibri"/>
              <a:sym typeface="Calibri"/>
            </a:endParaRPr>
          </a:p>
          <a:p>
            <a:pPr indent="-406400" lvl="0" marL="13716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Cung cấp cơ chế lưu trữ tin nhắn tạm thời</a:t>
            </a:r>
            <a:endParaRPr sz="2800">
              <a:solidFill>
                <a:schemeClr val="dk1"/>
              </a:solidFill>
              <a:latin typeface="Calibri"/>
              <a:ea typeface="Calibri"/>
              <a:cs typeface="Calibri"/>
              <a:sym typeface="Calibri"/>
            </a:endParaRPr>
          </a:p>
          <a:p>
            <a:pPr indent="-406400" lvl="0" marL="13716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Cho phép xử lý bất đồng bộ và phân tán</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Ví dụ: RabbitMQ, Apache ActiveMQ</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74" name="Google Shape;374;g31cee87ea4c_0_272"/>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75" name="Google Shape;375;g31cee87ea4c_0_272"/>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376" name="Google Shape;376;g31cee87ea4c_0_272"/>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1cee87ea4c_0_263"/>
          <p:cNvSpPr txBox="1"/>
          <p:nvPr/>
        </p:nvSpPr>
        <p:spPr>
          <a:xfrm>
            <a:off x="346050" y="1529275"/>
            <a:ext cx="10931700" cy="1736700"/>
          </a:xfrm>
          <a:prstGeom prst="rect">
            <a:avLst/>
          </a:prstGeom>
          <a:noFill/>
          <a:ln>
            <a:noFill/>
          </a:ln>
        </p:spPr>
        <p:txBody>
          <a:bodyPr anchorCtr="0" anchor="t" bIns="0" lIns="0" spcFirstLastPara="1" rIns="0" wrap="square" tIns="1041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Mô hình hàng đợi thông điệp</a:t>
            </a:r>
            <a:endParaRPr b="1"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83" name="Google Shape;383;g31cee87ea4c_0_263"/>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4" name="Google Shape;384;g31cee87ea4c_0_263"/>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385" name="Google Shape;385;g31cee87ea4c_0_263"/>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86" name="Google Shape;386;g31cee87ea4c_0_263"/>
          <p:cNvPicPr preferRelativeResize="0"/>
          <p:nvPr/>
        </p:nvPicPr>
        <p:blipFill>
          <a:blip r:embed="rId3">
            <a:alphaModFix/>
          </a:blip>
          <a:stretch>
            <a:fillRect/>
          </a:stretch>
        </p:blipFill>
        <p:spPr>
          <a:xfrm>
            <a:off x="2650400" y="2227250"/>
            <a:ext cx="5906904" cy="43540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1cee87ea4c_0_280"/>
          <p:cNvSpPr txBox="1"/>
          <p:nvPr/>
        </p:nvSpPr>
        <p:spPr>
          <a:xfrm>
            <a:off x="346050" y="1529275"/>
            <a:ext cx="10931700" cy="4753800"/>
          </a:xfrm>
          <a:prstGeom prst="rect">
            <a:avLst/>
          </a:prstGeom>
          <a:noFill/>
          <a:ln>
            <a:noFill/>
          </a:ln>
        </p:spPr>
        <p:txBody>
          <a:bodyPr anchorCtr="0" anchor="t" bIns="0" lIns="0" spcFirstLastPara="1" rIns="0" wrap="square" tIns="104125">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Publish-Subscribe Model </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Khái niệm: cho phép các thành phần gửi tin nhắn (publishers) và nhận tin nhắn (subscribers) mà không cần biết đến nhau.</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b="1" lang="en-US" sz="2800">
                <a:solidFill>
                  <a:schemeClr val="dk1"/>
                </a:solidFill>
                <a:latin typeface="Calibri"/>
                <a:ea typeface="Calibri"/>
                <a:cs typeface="Calibri"/>
                <a:sym typeface="Calibri"/>
              </a:rPr>
              <a:t>Message broker</a:t>
            </a:r>
            <a:r>
              <a:rPr lang="en-US" sz="2800">
                <a:solidFill>
                  <a:schemeClr val="dk1"/>
                </a:solidFill>
                <a:latin typeface="Calibri"/>
                <a:ea typeface="Calibri"/>
                <a:cs typeface="Calibri"/>
                <a:sym typeface="Calibri"/>
              </a:rPr>
              <a:t> là công cụ thực hiện mô hình.</a:t>
            </a:r>
            <a:endParaRPr sz="45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Chức năng:</a:t>
            </a:r>
            <a:endParaRPr sz="2800">
              <a:solidFill>
                <a:schemeClr val="dk1"/>
              </a:solidFill>
              <a:latin typeface="Calibri"/>
              <a:ea typeface="Calibri"/>
              <a:cs typeface="Calibri"/>
              <a:sym typeface="Calibri"/>
            </a:endParaRPr>
          </a:p>
          <a:p>
            <a:pPr indent="-406400" lvl="0" marL="13716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Publishers phát tán các sự kiện hoặc tin nhắn đến chủ đề (topics).</a:t>
            </a:r>
            <a:endParaRPr sz="2800">
              <a:solidFill>
                <a:schemeClr val="dk1"/>
              </a:solidFill>
              <a:latin typeface="Calibri"/>
              <a:ea typeface="Calibri"/>
              <a:cs typeface="Calibri"/>
              <a:sym typeface="Calibri"/>
            </a:endParaRPr>
          </a:p>
          <a:p>
            <a:pPr indent="-406400" lvl="0" marL="13716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Subscribers đăng ký nhận thông báo từ các chủ đề mà họ quan tâm</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Ví dụ: </a:t>
            </a:r>
            <a:r>
              <a:rPr lang="en-US" sz="2800">
                <a:solidFill>
                  <a:schemeClr val="dk1"/>
                </a:solidFill>
                <a:latin typeface="Calibri"/>
                <a:ea typeface="Calibri"/>
                <a:cs typeface="Calibri"/>
                <a:sym typeface="Calibri"/>
              </a:rPr>
              <a:t>RabbitMQ, Kafka, ActiveMQ, Redis Pub/Sub, Google Pub/Sub.</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393" name="Google Shape;393;g31cee87ea4c_0_280"/>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4" name="Google Shape;394;g31cee87ea4c_0_280"/>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395" name="Google Shape;395;g31cee87ea4c_0_280"/>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1cee87ea4c_0_290"/>
          <p:cNvSpPr txBox="1"/>
          <p:nvPr/>
        </p:nvSpPr>
        <p:spPr>
          <a:xfrm>
            <a:off x="346050" y="1529275"/>
            <a:ext cx="10931700" cy="1305900"/>
          </a:xfrm>
          <a:prstGeom prst="rect">
            <a:avLst/>
          </a:prstGeom>
          <a:noFill/>
          <a:ln>
            <a:noFill/>
          </a:ln>
        </p:spPr>
        <p:txBody>
          <a:bodyPr anchorCtr="0" anchor="t" bIns="0" lIns="0" spcFirstLastPara="1" rIns="0" wrap="square" tIns="104125">
            <a:sp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02" name="Google Shape;402;g31cee87ea4c_0_290"/>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3" name="Google Shape;403;g31cee87ea4c_0_290"/>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404" name="Google Shape;404;g31cee87ea4c_0_290"/>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405" name="Google Shape;405;g31cee87ea4c_0_290"/>
          <p:cNvPicPr preferRelativeResize="0"/>
          <p:nvPr/>
        </p:nvPicPr>
        <p:blipFill>
          <a:blip r:embed="rId3">
            <a:alphaModFix/>
          </a:blip>
          <a:stretch>
            <a:fillRect/>
          </a:stretch>
        </p:blipFill>
        <p:spPr>
          <a:xfrm>
            <a:off x="2388950" y="1724250"/>
            <a:ext cx="6845893" cy="48690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1cee87ea4c_0_299"/>
          <p:cNvSpPr txBox="1"/>
          <p:nvPr/>
        </p:nvSpPr>
        <p:spPr>
          <a:xfrm>
            <a:off x="346050" y="1529275"/>
            <a:ext cx="10931700" cy="1305900"/>
          </a:xfrm>
          <a:prstGeom prst="rect">
            <a:avLst/>
          </a:prstGeom>
          <a:noFill/>
          <a:ln>
            <a:noFill/>
          </a:ln>
        </p:spPr>
        <p:txBody>
          <a:bodyPr anchorCtr="0" anchor="t" bIns="0" lIns="0" spcFirstLastPara="1" rIns="0" wrap="square" tIns="104125">
            <a:sp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12" name="Google Shape;412;g31cee87ea4c_0_299"/>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3" name="Google Shape;413;g31cee87ea4c_0_299"/>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90000"/>
              </a:lnSpc>
              <a:spcBef>
                <a:spcPts val="0"/>
              </a:spcBef>
              <a:spcAft>
                <a:spcPts val="0"/>
              </a:spcAft>
              <a:buNone/>
            </a:pPr>
            <a:r>
              <a:rPr b="1" lang="en-US" sz="4400">
                <a:solidFill>
                  <a:schemeClr val="lt1"/>
                </a:solidFill>
                <a:latin typeface="Calibri"/>
                <a:ea typeface="Calibri"/>
                <a:cs typeface="Calibri"/>
                <a:sym typeface="Calibri"/>
              </a:rPr>
              <a:t>3. TRAO ĐỔI THÔNG TIN HƯỚNG THÔNG ĐIỆP</a:t>
            </a:r>
            <a:endParaRPr/>
          </a:p>
        </p:txBody>
      </p:sp>
      <p:sp>
        <p:nvSpPr>
          <p:cNvPr id="414" name="Google Shape;414;g31cee87ea4c_0_299"/>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415" name="Google Shape;415;g31cee87ea4c_0_299"/>
          <p:cNvPicPr preferRelativeResize="0"/>
          <p:nvPr/>
        </p:nvPicPr>
        <p:blipFill>
          <a:blip r:embed="rId3">
            <a:alphaModFix/>
          </a:blip>
          <a:stretch>
            <a:fillRect/>
          </a:stretch>
        </p:blipFill>
        <p:spPr>
          <a:xfrm>
            <a:off x="2315488" y="1721775"/>
            <a:ext cx="6576724" cy="4630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1cee87ea4c_0_332"/>
          <p:cNvSpPr txBox="1"/>
          <p:nvPr/>
        </p:nvSpPr>
        <p:spPr>
          <a:xfrm>
            <a:off x="346050" y="1529275"/>
            <a:ext cx="10931700" cy="4322700"/>
          </a:xfrm>
          <a:prstGeom prst="rect">
            <a:avLst/>
          </a:prstGeom>
          <a:noFill/>
          <a:ln>
            <a:noFill/>
          </a:ln>
        </p:spPr>
        <p:txBody>
          <a:bodyPr anchorCtr="0" anchor="t" bIns="0" lIns="0" spcFirstLastPara="1" rIns="0" wrap="square" tIns="104125">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Hỗ trợ cho phương tiện truyền thông liên tục</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Phương tiện truyền đạt thông tin  </a:t>
            </a:r>
            <a:endParaRPr sz="2800">
              <a:solidFill>
                <a:schemeClr val="dk1"/>
              </a:solidFill>
              <a:latin typeface="Calibri"/>
              <a:ea typeface="Calibri"/>
              <a:cs typeface="Calibri"/>
              <a:sym typeface="Calibri"/>
            </a:endParaRPr>
          </a:p>
          <a:p>
            <a:pPr indent="-406400" lvl="1" marL="13716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Lưu trữ</a:t>
            </a:r>
            <a:endParaRPr sz="2800">
              <a:solidFill>
                <a:schemeClr val="dk1"/>
              </a:solidFill>
              <a:latin typeface="Calibri"/>
              <a:ea typeface="Calibri"/>
              <a:cs typeface="Calibri"/>
              <a:sym typeface="Calibri"/>
            </a:endParaRPr>
          </a:p>
          <a:p>
            <a:pPr indent="-406400" lvl="1" marL="13716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Truyền tin</a:t>
            </a:r>
            <a:endParaRPr sz="2800">
              <a:solidFill>
                <a:schemeClr val="dk1"/>
              </a:solidFill>
              <a:latin typeface="Calibri"/>
              <a:ea typeface="Calibri"/>
              <a:cs typeface="Calibri"/>
              <a:sym typeface="Calibri"/>
            </a:endParaRPr>
          </a:p>
          <a:p>
            <a:pPr indent="-406400" lvl="1" marL="13716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Biểu diễn (màn hình, v.v…)  </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Phương tiện truyền thông liên tục/rời rạc</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Yếu tố thời gian là quan trọng trong việc trao đổi thông tin</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Ví dụ: RTSP Streaming Video,…</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22" name="Google Shape;422;g31cee87ea4c_0_332"/>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3" name="Google Shape;423;g31cee87ea4c_0_332"/>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90000"/>
              </a:lnSpc>
              <a:spcBef>
                <a:spcPts val="0"/>
              </a:spcBef>
              <a:spcAft>
                <a:spcPts val="0"/>
              </a:spcAft>
              <a:buNone/>
            </a:pPr>
            <a:r>
              <a:rPr b="1" lang="en-US" sz="4400">
                <a:solidFill>
                  <a:schemeClr val="lt1"/>
                </a:solidFill>
                <a:latin typeface="Calibri"/>
                <a:ea typeface="Calibri"/>
                <a:cs typeface="Calibri"/>
                <a:sym typeface="Calibri"/>
              </a:rPr>
              <a:t>4. TRAO ĐỔI THÔNG TIN HƯỚNG DÒNG</a:t>
            </a:r>
            <a:endParaRPr b="1" sz="4400">
              <a:solidFill>
                <a:schemeClr val="lt1"/>
              </a:solidFill>
              <a:latin typeface="Calibri"/>
              <a:ea typeface="Calibri"/>
              <a:cs typeface="Calibri"/>
              <a:sym typeface="Calibri"/>
            </a:endParaRPr>
          </a:p>
        </p:txBody>
      </p:sp>
      <p:sp>
        <p:nvSpPr>
          <p:cNvPr id="424" name="Google Shape;424;g31cee87ea4c_0_332"/>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1cee87ea4c_0_340"/>
          <p:cNvSpPr txBox="1"/>
          <p:nvPr/>
        </p:nvSpPr>
        <p:spPr>
          <a:xfrm>
            <a:off x="346050" y="1529275"/>
            <a:ext cx="10931700" cy="2598600"/>
          </a:xfrm>
          <a:prstGeom prst="rect">
            <a:avLst/>
          </a:prstGeom>
          <a:noFill/>
          <a:ln>
            <a:noFill/>
          </a:ln>
        </p:spPr>
        <p:txBody>
          <a:bodyPr anchorCtr="0" anchor="t" bIns="0" lIns="0" spcFirstLastPara="1" rIns="0" wrap="square" tIns="104125">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Vấn đề:</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Nén dữ liệu </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Kiểm soát chất lượng đường truyền</a:t>
            </a:r>
            <a:endParaRPr sz="2800">
              <a:solidFill>
                <a:schemeClr val="dk1"/>
              </a:solidFill>
              <a:latin typeface="Calibri"/>
              <a:ea typeface="Calibri"/>
              <a:cs typeface="Calibri"/>
              <a:sym typeface="Calibri"/>
            </a:endParaRPr>
          </a:p>
          <a:p>
            <a:pPr indent="-317501" lvl="0" marL="789940" marR="0" rtl="0" algn="l">
              <a:spcBef>
                <a:spcPts val="0"/>
              </a:spcBef>
              <a:spcAft>
                <a:spcPts val="0"/>
              </a:spcAft>
              <a:buClr>
                <a:srgbClr val="FB6923"/>
              </a:buClr>
              <a:buSzPts val="1600"/>
              <a:buFont typeface="Calibri"/>
              <a:buChar char="◻"/>
            </a:pPr>
            <a:r>
              <a:rPr lang="en-US" sz="2800">
                <a:solidFill>
                  <a:schemeClr val="dk1"/>
                </a:solidFill>
                <a:latin typeface="Calibri"/>
                <a:ea typeface="Calibri"/>
                <a:cs typeface="Calibri"/>
                <a:sym typeface="Calibri"/>
              </a:rPr>
              <a:t>Đồng bộ hóa</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31" name="Google Shape;431;g31cee87ea4c_0_340"/>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2" name="Google Shape;432;g31cee87ea4c_0_340"/>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90000"/>
              </a:lnSpc>
              <a:spcBef>
                <a:spcPts val="0"/>
              </a:spcBef>
              <a:spcAft>
                <a:spcPts val="0"/>
              </a:spcAft>
              <a:buNone/>
            </a:pPr>
            <a:r>
              <a:rPr b="1" lang="en-US" sz="4400">
                <a:solidFill>
                  <a:schemeClr val="lt1"/>
                </a:solidFill>
                <a:latin typeface="Calibri"/>
                <a:ea typeface="Calibri"/>
                <a:cs typeface="Calibri"/>
                <a:sym typeface="Calibri"/>
              </a:rPr>
              <a:t>4. TRAO ĐỔI THÔNG TIN HƯỚNG DÒNG</a:t>
            </a:r>
            <a:endParaRPr b="1" sz="4400">
              <a:solidFill>
                <a:schemeClr val="lt1"/>
              </a:solidFill>
              <a:latin typeface="Calibri"/>
              <a:ea typeface="Calibri"/>
              <a:cs typeface="Calibri"/>
              <a:sym typeface="Calibri"/>
            </a:endParaRPr>
          </a:p>
        </p:txBody>
      </p:sp>
      <p:sp>
        <p:nvSpPr>
          <p:cNvPr id="433" name="Google Shape;433;g31cee87ea4c_0_340"/>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1cee87ea4c_0_348"/>
          <p:cNvSpPr txBox="1"/>
          <p:nvPr/>
        </p:nvSpPr>
        <p:spPr>
          <a:xfrm>
            <a:off x="346050" y="1529275"/>
            <a:ext cx="10931700" cy="4322700"/>
          </a:xfrm>
          <a:prstGeom prst="rect">
            <a:avLst/>
          </a:prstGeom>
          <a:noFill/>
          <a:ln>
            <a:noFill/>
          </a:ln>
        </p:spPr>
        <p:txBody>
          <a:bodyPr anchorCtr="0" anchor="t" bIns="0" lIns="0" spcFirstLastPara="1" rIns="0" wrap="square" tIns="104125">
            <a:spAutoFit/>
          </a:bodyPr>
          <a:lstStyle/>
          <a:p>
            <a:pPr indent="-406400" lvl="0" marL="4572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Bài tập 1: Tìm hiểu cơ chế, chức năng và cài đặt một trong cách dịch vụ truyền thông điệp như </a:t>
            </a:r>
            <a:r>
              <a:rPr lang="en-US" sz="2800">
                <a:solidFill>
                  <a:schemeClr val="dk1"/>
                </a:solidFill>
                <a:latin typeface="Calibri"/>
                <a:ea typeface="Calibri"/>
                <a:cs typeface="Calibri"/>
                <a:sym typeface="Calibri"/>
              </a:rPr>
              <a:t>RabbitMQ, Kafka, ActiveMQ, Redis Pub/Sub, Google Pub/Sub,.... (Viết thành báo cáo)</a:t>
            </a:r>
            <a:endParaRPr sz="2800">
              <a:solidFill>
                <a:schemeClr val="dk1"/>
              </a:solidFill>
              <a:latin typeface="Calibri"/>
              <a:ea typeface="Calibri"/>
              <a:cs typeface="Calibri"/>
              <a:sym typeface="Calibri"/>
            </a:endParaRPr>
          </a:p>
          <a:p>
            <a:pPr indent="-406400" lvl="0" marL="4572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Bài tập 2: Code một hệ thống đơn giản có sử dụng một trong các dịch vụ đó.</a:t>
            </a:r>
            <a:endParaRPr sz="2800">
              <a:solidFill>
                <a:schemeClr val="dk1"/>
              </a:solidFill>
              <a:latin typeface="Calibri"/>
              <a:ea typeface="Calibri"/>
              <a:cs typeface="Calibri"/>
              <a:sym typeface="Calibri"/>
            </a:endParaRPr>
          </a:p>
          <a:p>
            <a:pPr indent="-406400" lvl="0" marL="457200" marR="0" rtl="0" algn="l">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Bài tập 3: Với RPC, ngoài thư viện xmlrpc demo trước. còn các thư viện nào khác. Viết báo cáo tìm hiểu và demo một thư viện có sử dụng định dạng JSON.</a:t>
            </a:r>
            <a:endParaRPr sz="2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40" name="Google Shape;440;g31cee87ea4c_0_348"/>
          <p:cNvSpPr/>
          <p:nvPr/>
        </p:nvSpPr>
        <p:spPr>
          <a:xfrm>
            <a:off x="0" y="1"/>
            <a:ext cx="12192000" cy="1066800"/>
          </a:xfrm>
          <a:prstGeom prst="rect">
            <a:avLst/>
          </a:prstGeom>
          <a:solidFill>
            <a:srgbClr val="213671"/>
          </a:solidFill>
          <a:ln cap="flat" cmpd="sng" w="12700">
            <a:solidFill>
              <a:srgbClr val="2136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1" name="Google Shape;441;g31cee87ea4c_0_348"/>
          <p:cNvSpPr txBox="1"/>
          <p:nvPr/>
        </p:nvSpPr>
        <p:spPr>
          <a:xfrm>
            <a:off x="346050" y="365125"/>
            <a:ext cx="10515600" cy="549300"/>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l">
              <a:lnSpc>
                <a:spcPct val="90000"/>
              </a:lnSpc>
              <a:spcBef>
                <a:spcPts val="0"/>
              </a:spcBef>
              <a:spcAft>
                <a:spcPts val="0"/>
              </a:spcAft>
              <a:buNone/>
            </a:pPr>
            <a:r>
              <a:rPr b="1" lang="en-US" sz="4400">
                <a:solidFill>
                  <a:schemeClr val="lt1"/>
                </a:solidFill>
                <a:latin typeface="Calibri"/>
                <a:ea typeface="Calibri"/>
                <a:cs typeface="Calibri"/>
                <a:sym typeface="Calibri"/>
              </a:rPr>
              <a:t>5</a:t>
            </a:r>
            <a:r>
              <a:rPr b="1" lang="en-US" sz="4400">
                <a:solidFill>
                  <a:schemeClr val="lt1"/>
                </a:solidFill>
                <a:latin typeface="Calibri"/>
                <a:ea typeface="Calibri"/>
                <a:cs typeface="Calibri"/>
                <a:sym typeface="Calibri"/>
              </a:rPr>
              <a:t>. Bài tập</a:t>
            </a:r>
            <a:endParaRPr b="1" sz="4400">
              <a:solidFill>
                <a:schemeClr val="lt1"/>
              </a:solidFill>
              <a:latin typeface="Calibri"/>
              <a:ea typeface="Calibri"/>
              <a:cs typeface="Calibri"/>
              <a:sym typeface="Calibri"/>
            </a:endParaRPr>
          </a:p>
        </p:txBody>
      </p:sp>
      <p:sp>
        <p:nvSpPr>
          <p:cNvPr id="442" name="Google Shape;442;g31cee87ea4c_0_348"/>
          <p:cNvSpPr/>
          <p:nvPr/>
        </p:nvSpPr>
        <p:spPr>
          <a:xfrm>
            <a:off x="0" y="1219200"/>
            <a:ext cx="12192000" cy="133500"/>
          </a:xfrm>
          <a:prstGeom prst="rect">
            <a:avLst/>
          </a:prstGeom>
          <a:solidFill>
            <a:srgbClr val="FB6923"/>
          </a:solidFill>
          <a:ln cap="flat" cmpd="sng" w="12700">
            <a:solidFill>
              <a:srgbClr val="FB69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2022-01-10T03:14:20Z</dcterms:created>
  <dc:creator>Luong Vi Minh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2017-06-16T00:00:00Z</vt:filetime>
  </property>
  <property fmtid="{D5CDD505-2E9C-101B-9397-08002B2CF9AE}" pid="3" name="Creator">
    <vt:lpwstr>Microsoft® PowerPoint® 2010</vt:lpwstr>
  </property>
  <property fmtid="{D5CDD505-2E9C-101B-9397-08002B2CF9AE}" pid="4" name="LastSaved">
    <vt:filetime>2022-01-10T00:00:00Z</vt:filetime>
  </property>
</Properties>
</file>