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308"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Lst>
  <p:sldSz cx="12192000" cy="6858000"/>
  <p:notesSz cx="9144000" cy="6858000"/>
  <p:embeddedFontLst>
    <p:embeddedFont>
      <p:font typeface="Comic Sans MS" panose="030F0702030302020204" pitchFamily="66" charset="0"/>
      <p:regular r:id="rId56"/>
      <p:bold r:id="rId57"/>
      <p:italic r:id="rId58"/>
      <p:boldItalic r:id="rId59"/>
    </p:embeddedFont>
    <p:embeddedFont>
      <p:font typeface="Open Sans" panose="020B0606030504020204" pitchFamily="34" charset="0"/>
      <p:regular r:id="rId60"/>
      <p:bold r:id="rId61"/>
      <p:italic r:id="rId62"/>
      <p:boldItalic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4" roundtripDataSignature="AMtx7mi9iKTx6bHv7TPXX0rWzAfWIyBI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264" autoAdjust="0"/>
  </p:normalViewPr>
  <p:slideViewPr>
    <p:cSldViewPr snapToGrid="0">
      <p:cViewPr varScale="1">
        <p:scale>
          <a:sx n="78" d="100"/>
          <a:sy n="78" d="100"/>
        </p:scale>
        <p:origin x="1836" y="78"/>
      </p:cViewPr>
      <p:guideLst>
        <p:guide orient="horz" pos="288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font" Target="fonts/font8.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61"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4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44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44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3: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Trong một hệ tập trung, thời gian hệ thống là riêng biệt.</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Khi một tiến trình muốn biết thời gian hệ thống, nó chỉ cần đưa ra 1 lời gọi hệ thống và đợi kernel trả lời.</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Nếu tiến trình A hỏi thời gian, ngay sau đó tiến trình B hỏi thời gian, thì thời gian mà B nhận được sẽ lớn hơn (hoặc bằng) so với thời gian mà A nhận được. Và không bao giờ thời gian B nhận được nhỏ hơn A.</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Tuy nhiên trong một hệ thống phân tán, để đạt được sự thống nhất về thời gian như vậy là không hề đơn giản.</a:t>
            </a:r>
            <a:endParaRPr/>
          </a:p>
          <a:p>
            <a:pPr marL="0" lvl="0" indent="0" algn="l" rtl="0">
              <a:spcBef>
                <a:spcPts val="0"/>
              </a:spcBef>
              <a:spcAft>
                <a:spcPts val="0"/>
              </a:spcAft>
              <a:buNone/>
            </a:pPr>
            <a:endParaRPr/>
          </a:p>
        </p:txBody>
      </p:sp>
      <p:sp>
        <p:nvSpPr>
          <p:cNvPr id="118" name="Google Shape;118;p3: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4: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1B1B1B"/>
                </a:solidFill>
                <a:latin typeface="Open Sans"/>
                <a:ea typeface="Open Sans"/>
                <a:cs typeface="Open Sans"/>
                <a:sym typeface="Open Sans"/>
              </a:rPr>
              <a:t>Ví dụ chương trình </a:t>
            </a:r>
            <a:r>
              <a:rPr lang="en-US" b="0" i="1">
                <a:solidFill>
                  <a:srgbClr val="1B1B1B"/>
                </a:solidFill>
                <a:latin typeface="Open Sans"/>
                <a:ea typeface="Open Sans"/>
                <a:cs typeface="Open Sans"/>
                <a:sym typeface="Open Sans"/>
              </a:rPr>
              <a:t>make</a:t>
            </a:r>
            <a:r>
              <a:rPr lang="en-US" b="0" i="0">
                <a:solidFill>
                  <a:srgbClr val="1B1B1B"/>
                </a:solidFill>
                <a:latin typeface="Open Sans"/>
                <a:ea typeface="Open Sans"/>
                <a:cs typeface="Open Sans"/>
                <a:sym typeface="Open Sans"/>
              </a:rPr>
              <a:t> của Unix</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Trong Unix, các chương trình lớn được chia nhỏ thành nhiều file nguồn để khi có thay đổi trong 1 file nguồn thì chỉ có file đó phải được biên dịch lại mà không phải là tất cả chương trình.</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Nếu 1 chương trình có 100 files, thì không nhất thiết phải biên dịch lại toàn bộ bởi 1 file bất kì thay đổi với tốc độ cao hơn bất kì 1 người lập trình nào có thể làm việc.</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Khi lập trình viên thay đổi file nguồn và chạy lệnh make thì thời điểm đó được đánh dấu cho tất cả các file nguồn đã bị modify.</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Nếu file </a:t>
            </a:r>
            <a:r>
              <a:rPr lang="en-US" b="0" i="1">
                <a:solidFill>
                  <a:srgbClr val="1B1B1B"/>
                </a:solidFill>
                <a:latin typeface="Open Sans"/>
                <a:ea typeface="Open Sans"/>
                <a:cs typeface="Open Sans"/>
                <a:sym typeface="Open Sans"/>
              </a:rPr>
              <a:t>output.c</a:t>
            </a:r>
            <a:r>
              <a:rPr lang="en-US" b="0" i="0">
                <a:solidFill>
                  <a:srgbClr val="1B1B1B"/>
                </a:solidFill>
                <a:latin typeface="Open Sans"/>
                <a:ea typeface="Open Sans"/>
                <a:cs typeface="Open Sans"/>
                <a:sym typeface="Open Sans"/>
              </a:rPr>
              <a:t> có thời gian là 2151 và file đối tượng tương ứng của nó </a:t>
            </a:r>
            <a:r>
              <a:rPr lang="en-US" b="0" i="1">
                <a:solidFill>
                  <a:srgbClr val="1B1B1B"/>
                </a:solidFill>
                <a:latin typeface="Open Sans"/>
                <a:ea typeface="Open Sans"/>
                <a:cs typeface="Open Sans"/>
                <a:sym typeface="Open Sans"/>
              </a:rPr>
              <a:t>output.o</a:t>
            </a:r>
            <a:r>
              <a:rPr lang="en-US" b="0" i="0">
                <a:solidFill>
                  <a:srgbClr val="1B1B1B"/>
                </a:solidFill>
                <a:latin typeface="Open Sans"/>
                <a:ea typeface="Open Sans"/>
                <a:cs typeface="Open Sans"/>
                <a:sym typeface="Open Sans"/>
              </a:rPr>
              <a:t> có thời gian là 2150 thì lệnh make hiểu rằng </a:t>
            </a:r>
            <a:r>
              <a:rPr lang="en-US" b="0" i="1">
                <a:solidFill>
                  <a:srgbClr val="1B1B1B"/>
                </a:solidFill>
                <a:latin typeface="Open Sans"/>
                <a:ea typeface="Open Sans"/>
                <a:cs typeface="Open Sans"/>
                <a:sym typeface="Open Sans"/>
              </a:rPr>
              <a:t>output.c</a:t>
            </a:r>
            <a:r>
              <a:rPr lang="en-US" b="0" i="0">
                <a:solidFill>
                  <a:srgbClr val="1B1B1B"/>
                </a:solidFill>
                <a:latin typeface="Open Sans"/>
                <a:ea typeface="Open Sans"/>
                <a:cs typeface="Open Sans"/>
                <a:sym typeface="Open Sans"/>
              </a:rPr>
              <a:t> đã bị thay đổi sau khi </a:t>
            </a:r>
            <a:r>
              <a:rPr lang="en-US" b="0" i="1">
                <a:solidFill>
                  <a:srgbClr val="1B1B1B"/>
                </a:solidFill>
                <a:latin typeface="Open Sans"/>
                <a:ea typeface="Open Sans"/>
                <a:cs typeface="Open Sans"/>
                <a:sym typeface="Open Sans"/>
              </a:rPr>
              <a:t>output.o</a:t>
            </a:r>
            <a:r>
              <a:rPr lang="en-US" b="0" i="0">
                <a:solidFill>
                  <a:srgbClr val="1B1B1B"/>
                </a:solidFill>
                <a:latin typeface="Open Sans"/>
                <a:ea typeface="Open Sans"/>
                <a:cs typeface="Open Sans"/>
                <a:sym typeface="Open Sans"/>
              </a:rPr>
              <a:t> được tạo ra. Như vậy cần phải biên dịch lại </a:t>
            </a:r>
            <a:r>
              <a:rPr lang="en-US" b="0" i="1">
                <a:solidFill>
                  <a:srgbClr val="1B1B1B"/>
                </a:solidFill>
                <a:latin typeface="Open Sans"/>
                <a:ea typeface="Open Sans"/>
                <a:cs typeface="Open Sans"/>
                <a:sym typeface="Open Sans"/>
              </a:rPr>
              <a:t>output.c</a:t>
            </a:r>
            <a:r>
              <a:rPr lang="en-US" b="0" i="0">
                <a:solidFill>
                  <a:srgbClr val="1B1B1B"/>
                </a:solidFill>
                <a:latin typeface="Open Sans"/>
                <a:ea typeface="Open Sans"/>
                <a:cs typeface="Open Sans"/>
                <a:sym typeface="Open Sans"/>
              </a:rPr>
              <a:t> để cho ra phiên bản </a:t>
            </a:r>
            <a:r>
              <a:rPr lang="en-US" b="0" i="1">
                <a:solidFill>
                  <a:srgbClr val="1B1B1B"/>
                </a:solidFill>
                <a:latin typeface="Open Sans"/>
                <a:ea typeface="Open Sans"/>
                <a:cs typeface="Open Sans"/>
                <a:sym typeface="Open Sans"/>
              </a:rPr>
              <a:t>output.o</a:t>
            </a:r>
            <a:r>
              <a:rPr lang="en-US" b="0" i="0">
                <a:solidFill>
                  <a:srgbClr val="1B1B1B"/>
                </a:solidFill>
                <a:latin typeface="Open Sans"/>
                <a:ea typeface="Open Sans"/>
                <a:cs typeface="Open Sans"/>
                <a:sym typeface="Open Sans"/>
              </a:rPr>
              <a:t> mới.</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Trường hợp khác, nếu thời gian của </a:t>
            </a:r>
            <a:r>
              <a:rPr lang="en-US" b="0" i="1">
                <a:solidFill>
                  <a:srgbClr val="1B1B1B"/>
                </a:solidFill>
                <a:latin typeface="Open Sans"/>
                <a:ea typeface="Open Sans"/>
                <a:cs typeface="Open Sans"/>
                <a:sym typeface="Open Sans"/>
              </a:rPr>
              <a:t>output.o</a:t>
            </a:r>
            <a:r>
              <a:rPr lang="en-US" b="0" i="0">
                <a:solidFill>
                  <a:srgbClr val="1B1B1B"/>
                </a:solidFill>
                <a:latin typeface="Open Sans"/>
                <a:ea typeface="Open Sans"/>
                <a:cs typeface="Open Sans"/>
                <a:sym typeface="Open Sans"/>
              </a:rPr>
              <a:t> là 2144, </a:t>
            </a:r>
            <a:r>
              <a:rPr lang="en-US" b="0" i="1">
                <a:solidFill>
                  <a:srgbClr val="1B1B1B"/>
                </a:solidFill>
                <a:latin typeface="Open Sans"/>
                <a:ea typeface="Open Sans"/>
                <a:cs typeface="Open Sans"/>
                <a:sym typeface="Open Sans"/>
              </a:rPr>
              <a:t>output.c</a:t>
            </a:r>
            <a:r>
              <a:rPr lang="en-US" b="0" i="0">
                <a:solidFill>
                  <a:srgbClr val="1B1B1B"/>
                </a:solidFill>
                <a:latin typeface="Open Sans"/>
                <a:ea typeface="Open Sans"/>
                <a:cs typeface="Open Sans"/>
                <a:sym typeface="Open Sans"/>
              </a:rPr>
              <a:t> là 2143 thì không cần biên dịch lại file này.</a:t>
            </a:r>
            <a:endParaRPr/>
          </a:p>
          <a:p>
            <a:pPr marL="0" lvl="0" indent="0" algn="l" rtl="0">
              <a:spcBef>
                <a:spcPts val="0"/>
              </a:spcBef>
              <a:spcAft>
                <a:spcPts val="0"/>
              </a:spcAft>
              <a:buNone/>
            </a:pPr>
            <a:r>
              <a:rPr lang="en-US" b="0" i="0">
                <a:solidFill>
                  <a:srgbClr val="1B1B1B"/>
                </a:solidFill>
                <a:latin typeface="Open Sans"/>
                <a:ea typeface="Open Sans"/>
                <a:cs typeface="Open Sans"/>
                <a:sym typeface="Open Sans"/>
              </a:rPr>
              <a:t>=&gt; Như vậy lệnh make kiểm tra lại toàn bộ file nguồn và chỉ gọi trình biên dịch biên dịch những file cần thiết.</a:t>
            </a:r>
            <a:endParaRPr/>
          </a:p>
        </p:txBody>
      </p:sp>
      <p:sp>
        <p:nvSpPr>
          <p:cNvPr id="144" name="Google Shape;144;p6: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7: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File output.o có thời gian là 2144 và gần như ngay sau đó output.c bị thay đổi nhưng lại được đánh dấu thời gian là 2143 vì đồng hồ trên máy đó chậm hơn 1 chút. Do đó lệnh make sẽ không gọi trình biên dịch. Kết quả là chương trình được biên dịch ra lẫn lộn giữa các đối tượng từ file nguồn cũ và mới. Dẫn đến có lỗi trong chương trình mà lập trình viên không thể kiểm soát hoặc hiểu được.</a:t>
            </a:r>
            <a:endParaRPr/>
          </a:p>
          <a:p>
            <a:pPr marL="0" lvl="0" indent="0" algn="l" rtl="0">
              <a:spcBef>
                <a:spcPts val="0"/>
              </a:spcBef>
              <a:spcAft>
                <a:spcPts val="0"/>
              </a:spcAft>
              <a:buNone/>
            </a:pPr>
            <a:br>
              <a:rPr lang="en-US"/>
            </a:br>
            <a:endParaRPr/>
          </a:p>
        </p:txBody>
      </p:sp>
      <p:sp>
        <p:nvSpPr>
          <p:cNvPr id="152" name="Google Shape;152;p7: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8: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Trong một số hệ thống (như hệ thống thời gian thực), thời gian hiện tại là rất quan trọng. Vì thế việc sử dụng các đồng hồ vật lý bên ngoài là cần thiết.</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Vì các lý do hiệu suất và độ phức tạp, việc phát triển một hệ thống các đồng hồ vật lý đặt ra 2 vấn đề lớn:</a:t>
            </a:r>
            <a:endParaRPr/>
          </a:p>
          <a:p>
            <a:pPr marL="742950" lvl="1" indent="-28575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Làm sao để đồng bộ chúng với các đồng hồ thực tế trên thế giới.</a:t>
            </a:r>
            <a:endParaRPr/>
          </a:p>
          <a:p>
            <a:pPr marL="742950" lvl="1" indent="-28575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Làm sao để đồng bộ chúng với nhau?</a:t>
            </a:r>
            <a:endParaRPr/>
          </a:p>
          <a:p>
            <a:pPr marL="0" lvl="0" indent="0" algn="l" rtl="0">
              <a:spcBef>
                <a:spcPts val="0"/>
              </a:spcBef>
              <a:spcAft>
                <a:spcPts val="0"/>
              </a:spcAft>
              <a:buNone/>
            </a:pPr>
            <a:endParaRPr/>
          </a:p>
        </p:txBody>
      </p:sp>
      <p:sp>
        <p:nvSpPr>
          <p:cNvPr id="160" name="Google Shape;160;p8: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10: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76200" algn="just" rtl="0">
              <a:spcBef>
                <a:spcPts val="0"/>
              </a:spcBef>
              <a:spcAft>
                <a:spcPts val="0"/>
              </a:spcAft>
              <a:buClr>
                <a:srgbClr val="333333"/>
              </a:buClr>
              <a:buSzPts val="1200"/>
              <a:buFont typeface="Arial"/>
              <a:buChar char="•"/>
            </a:pPr>
            <a:r>
              <a:rPr lang="en-US" b="0" i="0">
                <a:solidFill>
                  <a:srgbClr val="333333"/>
                </a:solidFill>
                <a:latin typeface="arial"/>
                <a:ea typeface="arial"/>
                <a:cs typeface="arial"/>
                <a:sym typeface="arial"/>
              </a:rPr>
              <a:t>Client và Server đều có đồng hồ riêng của mình</a:t>
            </a:r>
            <a:endParaRPr b="0" i="0">
              <a:solidFill>
                <a:srgbClr val="333333"/>
              </a:solidFill>
              <a:latin typeface="arial"/>
              <a:ea typeface="arial"/>
              <a:cs typeface="arial"/>
              <a:sym typeface="arial"/>
            </a:endParaRPr>
          </a:p>
          <a:p>
            <a:pPr marL="0" lvl="0" indent="-76200" algn="just" rtl="0">
              <a:spcBef>
                <a:spcPts val="0"/>
              </a:spcBef>
              <a:spcAft>
                <a:spcPts val="0"/>
              </a:spcAft>
              <a:buClr>
                <a:srgbClr val="333333"/>
              </a:buClr>
              <a:buSzPts val="1200"/>
              <a:buFont typeface="Arial"/>
              <a:buChar char="•"/>
            </a:pPr>
            <a:r>
              <a:rPr lang="en-US" b="0" i="0">
                <a:solidFill>
                  <a:srgbClr val="333333"/>
                </a:solidFill>
                <a:latin typeface="arial"/>
                <a:ea typeface="arial"/>
                <a:cs typeface="arial"/>
                <a:sym typeface="arial"/>
              </a:rPr>
              <a:t>Xác định một máy chủ có nguồn thời gian chính xác(UTC).</a:t>
            </a:r>
            <a:endParaRPr/>
          </a:p>
          <a:p>
            <a:pPr marL="0" lvl="0" indent="-76200" algn="just" rtl="0">
              <a:spcBef>
                <a:spcPts val="0"/>
              </a:spcBef>
              <a:spcAft>
                <a:spcPts val="0"/>
              </a:spcAft>
              <a:buClr>
                <a:srgbClr val="333333"/>
              </a:buClr>
              <a:buSzPts val="1200"/>
              <a:buFont typeface="Arial"/>
              <a:buChar char="•"/>
            </a:pPr>
            <a:r>
              <a:rPr lang="en-US" b="0" i="0">
                <a:solidFill>
                  <a:srgbClr val="333333"/>
                </a:solidFill>
                <a:latin typeface="arial"/>
                <a:ea typeface="arial"/>
                <a:cs typeface="arial"/>
                <a:sym typeface="arial"/>
              </a:rPr>
              <a:t>Các Client đang có thời gian không chính xác sẽ liên hệ với máy chủ để đồng bộ thời gian theo thời gian của máy chủ</a:t>
            </a:r>
            <a:endParaRPr b="0" i="0">
              <a:solidFill>
                <a:srgbClr val="333333"/>
              </a:solidFill>
              <a:latin typeface="arial"/>
              <a:ea typeface="arial"/>
              <a:cs typeface="arial"/>
              <a:sym typeface="arial"/>
            </a:endParaRPr>
          </a:p>
        </p:txBody>
      </p:sp>
      <p:sp>
        <p:nvSpPr>
          <p:cNvPr id="179" name="Google Shape;179;p10: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1: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1B1B1B"/>
                </a:solidFill>
                <a:latin typeface="Open Sans"/>
                <a:ea typeface="Open Sans"/>
                <a:cs typeface="Open Sans"/>
                <a:sym typeface="Open Sans"/>
              </a:rPr>
              <a:t>Giả sử trong hệ phân tán có một máy chủ thời gian gọi là Time server (B) và chúng ta sẽ tiến hành đồng bộ các máy khác với máy này như hình sau:</a:t>
            </a:r>
            <a:endParaRPr/>
          </a:p>
          <a:p>
            <a:pPr marL="0" lvl="0" indent="-76200" algn="l" rtl="0">
              <a:spcBef>
                <a:spcPts val="0"/>
              </a:spcBef>
              <a:spcAft>
                <a:spcPts val="0"/>
              </a:spcAft>
              <a:buClr>
                <a:srgbClr val="1B1B1B"/>
              </a:buClr>
              <a:buSzPts val="1200"/>
              <a:buFont typeface="Arial"/>
              <a:buChar char="•"/>
            </a:pPr>
            <a:br>
              <a:rPr lang="en-US" b="0" i="0">
                <a:solidFill>
                  <a:srgbClr val="1B1B1B"/>
                </a:solidFill>
                <a:latin typeface="Open Sans"/>
                <a:ea typeface="Open Sans"/>
                <a:cs typeface="Open Sans"/>
                <a:sym typeface="Open Sans"/>
              </a:rPr>
            </a:br>
            <a:r>
              <a:rPr lang="en-US" b="0" i="0">
                <a:solidFill>
                  <a:srgbClr val="1B1B1B"/>
                </a:solidFill>
                <a:latin typeface="Open Sans"/>
                <a:ea typeface="Open Sans"/>
                <a:cs typeface="Open Sans"/>
                <a:sym typeface="Open Sans"/>
              </a:rPr>
              <a:t>Client A gửi yêu cầu đến Time Server và thời gian đánh dấu đồng hồ cục bộ của A là T1.</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Server B nhận được yêu cầu đồng bộ của A tại thời điểm T2, và ghi lại thời điểm nhận là T2 theo đồng hồ của B.</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Đến thời điểm T3 theo đồng hồ của B, nó gửi cho A nhãn thời gian là T3 để A đặt lại thời gian là T3 và sẽ giử kèm theo cả T1 và T2.</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Nhưng do độ trễ của mạng khi trả lời nên tại thời điểm T4 tính theo đồng hồ của A nó mới nhận được phản hồi của B.</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Bây giờ A có thông tin cả T1, T2, T3 và T4.</a:t>
            </a:r>
            <a:endParaRPr/>
          </a:p>
          <a:p>
            <a:pPr marL="0" lvl="0" indent="0" algn="l" rtl="0">
              <a:spcBef>
                <a:spcPts val="0"/>
              </a:spcBef>
              <a:spcAft>
                <a:spcPts val="0"/>
              </a:spcAft>
              <a:buNone/>
            </a:pPr>
            <a:endParaRPr/>
          </a:p>
        </p:txBody>
      </p:sp>
      <p:sp>
        <p:nvSpPr>
          <p:cNvPr id="188" name="Google Shape;188;p11: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1B1B1B"/>
                </a:solidFill>
                <a:latin typeface="Open Sans"/>
                <a:ea typeface="Open Sans"/>
                <a:cs typeface="Open Sans"/>
                <a:sym typeface="Open Sans"/>
              </a:rPr>
              <a:t>Trong hình vẽ mọi người sẽ thấy có 1 công thức. Đó là công thức tính </a:t>
            </a:r>
            <a:r>
              <a:rPr lang="en-US" b="1" i="0">
                <a:solidFill>
                  <a:srgbClr val="1B1B1B"/>
                </a:solidFill>
                <a:latin typeface="Open Sans"/>
                <a:ea typeface="Open Sans"/>
                <a:cs typeface="Open Sans"/>
                <a:sym typeface="Open Sans"/>
              </a:rPr>
              <a:t>độ lệnh thời gian θ</a:t>
            </a:r>
            <a:r>
              <a:rPr lang="en-US" b="0" i="0">
                <a:solidFill>
                  <a:srgbClr val="1B1B1B"/>
                </a:solidFill>
                <a:latin typeface="Open Sans"/>
                <a:ea typeface="Open Sans"/>
                <a:cs typeface="Open Sans"/>
                <a:sym typeface="Open Sans"/>
              </a:rPr>
              <a:t>. Giá trị này có thể âm hoặc dương</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Nếu θ &gt; 0: thời gian Client tăng lên θ giây.</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Nếu θ &lt; 0: thời gian Client chậm hơn θ giây.</a:t>
            </a:r>
            <a:endParaRPr/>
          </a:p>
          <a:p>
            <a:pPr marL="0" lvl="0" indent="0" algn="l" rtl="0">
              <a:spcBef>
                <a:spcPts val="0"/>
              </a:spcBef>
              <a:spcAft>
                <a:spcPts val="0"/>
              </a:spcAft>
              <a:buNone/>
            </a:pPr>
            <a:r>
              <a:rPr lang="en-US" b="0" i="0">
                <a:solidFill>
                  <a:srgbClr val="1B1B1B"/>
                </a:solidFill>
                <a:latin typeface="Open Sans"/>
                <a:ea typeface="Open Sans"/>
                <a:cs typeface="Open Sans"/>
                <a:sym typeface="Open Sans"/>
              </a:rPr>
              <a:t>Giả sử độ trễ truyền từ A -&gt; B và từ B -&gt; A là như nhau. Ta sẽ có </a:t>
            </a:r>
            <a:r>
              <a:rPr lang="en-US" b="1" i="0">
                <a:solidFill>
                  <a:srgbClr val="1B1B1B"/>
                </a:solidFill>
                <a:latin typeface="Open Sans"/>
                <a:ea typeface="Open Sans"/>
                <a:cs typeface="Open Sans"/>
                <a:sym typeface="Open Sans"/>
              </a:rPr>
              <a:t>dTreq = dTres</a:t>
            </a:r>
            <a:r>
              <a:rPr lang="en-US" b="0" i="0">
                <a:solidFill>
                  <a:srgbClr val="1B1B1B"/>
                </a:solidFill>
                <a:latin typeface="Open Sans"/>
                <a:ea typeface="Open Sans"/>
                <a:cs typeface="Open Sans"/>
                <a:sym typeface="Open Sans"/>
              </a:rPr>
              <a:t>. Trong đó:</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dTreq là độ trễ mạng khi gửi yêu cầu.</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dTres là độ trễ mạng khi truyền phản hồi. Ta có công thức sau (công thức có trong hình rồi đó):</a:t>
            </a:r>
            <a:endParaRPr/>
          </a:p>
          <a:p>
            <a:pPr marL="0" lvl="0" indent="0" algn="l" rtl="0">
              <a:spcBef>
                <a:spcPts val="0"/>
              </a:spcBef>
              <a:spcAft>
                <a:spcPts val="0"/>
              </a:spcAft>
              <a:buNone/>
            </a:pPr>
            <a:r>
              <a:rPr lang="en-US" b="0" i="0">
                <a:solidFill>
                  <a:srgbClr val="1B1B1B"/>
                </a:solidFill>
                <a:latin typeface="Open Sans"/>
                <a:ea typeface="Open Sans"/>
                <a:cs typeface="Open Sans"/>
                <a:sym typeface="Open Sans"/>
              </a:rPr>
              <a:t>θ </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 </a:t>
            </a:r>
            <a:r>
              <a:rPr lang="en-US" b="0" i="0">
                <a:solidFill>
                  <a:srgbClr val="24292E"/>
                </a:solidFill>
                <a:latin typeface="Open Sans"/>
                <a:ea typeface="Open Sans"/>
                <a:cs typeface="Open Sans"/>
                <a:sym typeface="Open Sans"/>
              </a:rPr>
              <a:t>T3</a:t>
            </a:r>
            <a:r>
              <a:rPr lang="en-US" b="0" i="0">
                <a:solidFill>
                  <a:srgbClr val="1B1B1B"/>
                </a:solidFill>
                <a:latin typeface="Open Sans"/>
                <a:ea typeface="Open Sans"/>
                <a:cs typeface="Open Sans"/>
                <a:sym typeface="Open Sans"/>
              </a:rPr>
              <a:t> </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 dTres – </a:t>
            </a:r>
            <a:r>
              <a:rPr lang="en-US" b="0" i="0">
                <a:solidFill>
                  <a:srgbClr val="24292E"/>
                </a:solidFill>
                <a:latin typeface="Open Sans"/>
                <a:ea typeface="Open Sans"/>
                <a:cs typeface="Open Sans"/>
                <a:sym typeface="Open Sans"/>
              </a:rPr>
              <a:t>T4</a:t>
            </a:r>
            <a:r>
              <a:rPr lang="en-US" b="0" i="0">
                <a:solidFill>
                  <a:srgbClr val="1B1B1B"/>
                </a:solidFill>
                <a:latin typeface="Open Sans"/>
                <a:ea typeface="Open Sans"/>
                <a:cs typeface="Open Sans"/>
                <a:sym typeface="Open Sans"/>
              </a:rPr>
              <a:t> </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 </a:t>
            </a:r>
            <a:r>
              <a:rPr lang="en-US" b="0" i="0">
                <a:solidFill>
                  <a:srgbClr val="24292E"/>
                </a:solidFill>
                <a:latin typeface="Open Sans"/>
                <a:ea typeface="Open Sans"/>
                <a:cs typeface="Open Sans"/>
                <a:sym typeface="Open Sans"/>
              </a:rPr>
              <a:t>T3</a:t>
            </a:r>
            <a:r>
              <a:rPr lang="en-US" b="0" i="0">
                <a:solidFill>
                  <a:srgbClr val="1B1B1B"/>
                </a:solidFill>
                <a:latin typeface="Open Sans"/>
                <a:ea typeface="Open Sans"/>
                <a:cs typeface="Open Sans"/>
                <a:sym typeface="Open Sans"/>
              </a:rPr>
              <a:t> </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 ((</a:t>
            </a:r>
            <a:r>
              <a:rPr lang="en-US" b="0" i="0">
                <a:solidFill>
                  <a:srgbClr val="24292E"/>
                </a:solidFill>
                <a:latin typeface="Open Sans"/>
                <a:ea typeface="Open Sans"/>
                <a:cs typeface="Open Sans"/>
                <a:sym typeface="Open Sans"/>
              </a:rPr>
              <a:t>T2</a:t>
            </a:r>
            <a:r>
              <a:rPr lang="en-US" b="0" i="0">
                <a:solidFill>
                  <a:srgbClr val="D73A49"/>
                </a:solidFill>
                <a:latin typeface="Open Sans"/>
                <a:ea typeface="Open Sans"/>
                <a:cs typeface="Open Sans"/>
                <a:sym typeface="Open Sans"/>
              </a:rPr>
              <a:t>-</a:t>
            </a:r>
            <a:r>
              <a:rPr lang="en-US" b="0" i="0">
                <a:solidFill>
                  <a:srgbClr val="24292E"/>
                </a:solidFill>
                <a:latin typeface="Open Sans"/>
                <a:ea typeface="Open Sans"/>
                <a:cs typeface="Open Sans"/>
                <a:sym typeface="Open Sans"/>
              </a:rPr>
              <a:t>T1</a:t>
            </a:r>
            <a:r>
              <a:rPr lang="en-US" b="0" i="0">
                <a:solidFill>
                  <a:srgbClr val="1B1B1B"/>
                </a:solidFill>
                <a:latin typeface="Open Sans"/>
                <a:ea typeface="Open Sans"/>
                <a:cs typeface="Open Sans"/>
                <a:sym typeface="Open Sans"/>
              </a:rPr>
              <a:t>)</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a:t>
            </a:r>
            <a:r>
              <a:rPr lang="en-US" b="0" i="0">
                <a:solidFill>
                  <a:srgbClr val="24292E"/>
                </a:solidFill>
                <a:latin typeface="Open Sans"/>
                <a:ea typeface="Open Sans"/>
                <a:cs typeface="Open Sans"/>
                <a:sym typeface="Open Sans"/>
              </a:rPr>
              <a:t>T4</a:t>
            </a:r>
            <a:r>
              <a:rPr lang="en-US" b="0" i="0">
                <a:solidFill>
                  <a:srgbClr val="D73A49"/>
                </a:solidFill>
                <a:latin typeface="Open Sans"/>
                <a:ea typeface="Open Sans"/>
                <a:cs typeface="Open Sans"/>
                <a:sym typeface="Open Sans"/>
              </a:rPr>
              <a:t>-</a:t>
            </a:r>
            <a:r>
              <a:rPr lang="en-US" b="0" i="0">
                <a:solidFill>
                  <a:srgbClr val="24292E"/>
                </a:solidFill>
                <a:latin typeface="Open Sans"/>
                <a:ea typeface="Open Sans"/>
                <a:cs typeface="Open Sans"/>
                <a:sym typeface="Open Sans"/>
              </a:rPr>
              <a:t>T3</a:t>
            </a:r>
            <a:r>
              <a:rPr lang="en-US" b="0" i="0">
                <a:solidFill>
                  <a:srgbClr val="1B1B1B"/>
                </a:solidFill>
                <a:latin typeface="Open Sans"/>
                <a:ea typeface="Open Sans"/>
                <a:cs typeface="Open Sans"/>
                <a:sym typeface="Open Sans"/>
              </a:rPr>
              <a:t>))</a:t>
            </a:r>
            <a:r>
              <a:rPr lang="en-US" b="0" i="0">
                <a:solidFill>
                  <a:srgbClr val="D73A49"/>
                </a:solidFill>
                <a:latin typeface="Open Sans"/>
                <a:ea typeface="Open Sans"/>
                <a:cs typeface="Open Sans"/>
                <a:sym typeface="Open Sans"/>
              </a:rPr>
              <a:t>/</a:t>
            </a:r>
            <a:r>
              <a:rPr lang="en-US" b="0" i="0">
                <a:solidFill>
                  <a:srgbClr val="005CC5"/>
                </a:solidFill>
                <a:latin typeface="Open Sans"/>
                <a:ea typeface="Open Sans"/>
                <a:cs typeface="Open Sans"/>
                <a:sym typeface="Open Sans"/>
              </a:rPr>
              <a:t>2</a:t>
            </a:r>
            <a:r>
              <a:rPr lang="en-US" b="0" i="0">
                <a:solidFill>
                  <a:srgbClr val="1B1B1B"/>
                </a:solidFill>
                <a:latin typeface="Open Sans"/>
                <a:ea typeface="Open Sans"/>
                <a:cs typeface="Open Sans"/>
                <a:sym typeface="Open Sans"/>
              </a:rPr>
              <a:t> – </a:t>
            </a:r>
            <a:r>
              <a:rPr lang="en-US" b="0" i="0">
                <a:solidFill>
                  <a:srgbClr val="24292E"/>
                </a:solidFill>
                <a:latin typeface="Open Sans"/>
                <a:ea typeface="Open Sans"/>
                <a:cs typeface="Open Sans"/>
                <a:sym typeface="Open Sans"/>
              </a:rPr>
              <a:t>T4</a:t>
            </a:r>
            <a:r>
              <a:rPr lang="en-US" b="0" i="0">
                <a:solidFill>
                  <a:srgbClr val="1B1B1B"/>
                </a:solidFill>
                <a:latin typeface="Open Sans"/>
                <a:ea typeface="Open Sans"/>
                <a:cs typeface="Open Sans"/>
                <a:sym typeface="Open Sans"/>
              </a:rPr>
              <a:t> </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 ((</a:t>
            </a:r>
            <a:r>
              <a:rPr lang="en-US" b="0" i="0">
                <a:solidFill>
                  <a:srgbClr val="24292E"/>
                </a:solidFill>
                <a:latin typeface="Open Sans"/>
                <a:ea typeface="Open Sans"/>
                <a:cs typeface="Open Sans"/>
                <a:sym typeface="Open Sans"/>
              </a:rPr>
              <a:t>T2</a:t>
            </a:r>
            <a:r>
              <a:rPr lang="en-US" b="0" i="0">
                <a:solidFill>
                  <a:srgbClr val="D73A49"/>
                </a:solidFill>
                <a:latin typeface="Open Sans"/>
                <a:ea typeface="Open Sans"/>
                <a:cs typeface="Open Sans"/>
                <a:sym typeface="Open Sans"/>
              </a:rPr>
              <a:t>-</a:t>
            </a:r>
            <a:r>
              <a:rPr lang="en-US" b="0" i="0">
                <a:solidFill>
                  <a:srgbClr val="24292E"/>
                </a:solidFill>
                <a:latin typeface="Open Sans"/>
                <a:ea typeface="Open Sans"/>
                <a:cs typeface="Open Sans"/>
                <a:sym typeface="Open Sans"/>
              </a:rPr>
              <a:t>T1</a:t>
            </a:r>
            <a:r>
              <a:rPr lang="en-US" b="0" i="0">
                <a:solidFill>
                  <a:srgbClr val="1B1B1B"/>
                </a:solidFill>
                <a:latin typeface="Open Sans"/>
                <a:ea typeface="Open Sans"/>
                <a:cs typeface="Open Sans"/>
                <a:sym typeface="Open Sans"/>
              </a:rPr>
              <a:t>)</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a:t>
            </a:r>
            <a:r>
              <a:rPr lang="en-US" b="0" i="0">
                <a:solidFill>
                  <a:srgbClr val="24292E"/>
                </a:solidFill>
                <a:latin typeface="Open Sans"/>
                <a:ea typeface="Open Sans"/>
                <a:cs typeface="Open Sans"/>
                <a:sym typeface="Open Sans"/>
              </a:rPr>
              <a:t>T3</a:t>
            </a:r>
            <a:r>
              <a:rPr lang="en-US" b="0" i="0">
                <a:solidFill>
                  <a:srgbClr val="D73A49"/>
                </a:solidFill>
                <a:latin typeface="Open Sans"/>
                <a:ea typeface="Open Sans"/>
                <a:cs typeface="Open Sans"/>
                <a:sym typeface="Open Sans"/>
              </a:rPr>
              <a:t>-</a:t>
            </a:r>
            <a:r>
              <a:rPr lang="en-US" b="0" i="0">
                <a:solidFill>
                  <a:srgbClr val="24292E"/>
                </a:solidFill>
                <a:latin typeface="Open Sans"/>
                <a:ea typeface="Open Sans"/>
                <a:cs typeface="Open Sans"/>
                <a:sym typeface="Open Sans"/>
              </a:rPr>
              <a:t>T4</a:t>
            </a:r>
            <a:r>
              <a:rPr lang="en-US" b="0" i="0">
                <a:solidFill>
                  <a:srgbClr val="1B1B1B"/>
                </a:solidFill>
                <a:latin typeface="Open Sans"/>
                <a:ea typeface="Open Sans"/>
                <a:cs typeface="Open Sans"/>
                <a:sym typeface="Open Sans"/>
              </a:rPr>
              <a:t>))</a:t>
            </a:r>
            <a:r>
              <a:rPr lang="en-US" b="0" i="0">
                <a:solidFill>
                  <a:srgbClr val="D73A49"/>
                </a:solidFill>
                <a:latin typeface="Open Sans"/>
                <a:ea typeface="Open Sans"/>
                <a:cs typeface="Open Sans"/>
                <a:sym typeface="Open Sans"/>
              </a:rPr>
              <a:t>/</a:t>
            </a:r>
            <a:r>
              <a:rPr lang="en-US" b="0" i="0">
                <a:solidFill>
                  <a:srgbClr val="005CC5"/>
                </a:solidFill>
                <a:latin typeface="Open Sans"/>
                <a:ea typeface="Open Sans"/>
                <a:cs typeface="Open Sans"/>
                <a:sym typeface="Open Sans"/>
              </a:rPr>
              <a:t>2</a:t>
            </a:r>
            <a:r>
              <a:rPr lang="en-US" b="0" i="0">
                <a:solidFill>
                  <a:srgbClr val="1B1B1B"/>
                </a:solidFill>
                <a:latin typeface="Open Sans"/>
                <a:ea typeface="Open Sans"/>
                <a:cs typeface="Open Sans"/>
                <a:sym typeface="Open Sans"/>
              </a:rPr>
              <a:t> </a:t>
            </a:r>
            <a:endParaRPr/>
          </a:p>
          <a:p>
            <a:pPr marL="0" lvl="0" indent="0" algn="l" rtl="0">
              <a:spcBef>
                <a:spcPts val="0"/>
              </a:spcBef>
              <a:spcAft>
                <a:spcPts val="0"/>
              </a:spcAft>
              <a:buNone/>
            </a:pPr>
            <a:r>
              <a:rPr lang="en-US" b="0" i="0">
                <a:solidFill>
                  <a:srgbClr val="1B1B1B"/>
                </a:solidFill>
                <a:latin typeface="Open Sans"/>
                <a:ea typeface="Open Sans"/>
                <a:cs typeface="Open Sans"/>
                <a:sym typeface="Open Sans"/>
              </a:rPr>
              <a:t>Trong đó</a:t>
            </a:r>
            <a:endParaRPr/>
          </a:p>
          <a:p>
            <a:pPr marL="0" lvl="0" indent="0" algn="l" rtl="0">
              <a:spcBef>
                <a:spcPts val="0"/>
              </a:spcBef>
              <a:spcAft>
                <a:spcPts val="0"/>
              </a:spcAft>
              <a:buNone/>
            </a:pPr>
            <a:r>
              <a:rPr lang="en-US" b="0" i="0">
                <a:solidFill>
                  <a:srgbClr val="24292E"/>
                </a:solidFill>
                <a:latin typeface="Open Sans"/>
                <a:ea typeface="Open Sans"/>
                <a:cs typeface="Open Sans"/>
                <a:sym typeface="Open Sans"/>
              </a:rPr>
              <a:t>T2</a:t>
            </a:r>
            <a:r>
              <a:rPr lang="en-US" b="0" i="0">
                <a:solidFill>
                  <a:srgbClr val="1B1B1B"/>
                </a:solidFill>
                <a:latin typeface="Open Sans"/>
                <a:ea typeface="Open Sans"/>
                <a:cs typeface="Open Sans"/>
                <a:sym typeface="Open Sans"/>
              </a:rPr>
              <a:t> </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 </a:t>
            </a:r>
            <a:r>
              <a:rPr lang="en-US" b="0" i="0">
                <a:solidFill>
                  <a:srgbClr val="24292E"/>
                </a:solidFill>
                <a:latin typeface="Open Sans"/>
                <a:ea typeface="Open Sans"/>
                <a:cs typeface="Open Sans"/>
                <a:sym typeface="Open Sans"/>
              </a:rPr>
              <a:t>T1</a:t>
            </a:r>
            <a:r>
              <a:rPr lang="en-US" b="0" i="0">
                <a:solidFill>
                  <a:srgbClr val="1B1B1B"/>
                </a:solidFill>
                <a:latin typeface="Open Sans"/>
                <a:ea typeface="Open Sans"/>
                <a:cs typeface="Open Sans"/>
                <a:sym typeface="Open Sans"/>
              </a:rPr>
              <a:t> </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 θ </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 dTreq </a:t>
            </a:r>
            <a:r>
              <a:rPr lang="en-US" b="0" i="0">
                <a:solidFill>
                  <a:srgbClr val="24292E"/>
                </a:solidFill>
                <a:latin typeface="Open Sans"/>
                <a:ea typeface="Open Sans"/>
                <a:cs typeface="Open Sans"/>
                <a:sym typeface="Open Sans"/>
              </a:rPr>
              <a:t>T4</a:t>
            </a:r>
            <a:r>
              <a:rPr lang="en-US" b="0" i="0">
                <a:solidFill>
                  <a:srgbClr val="1B1B1B"/>
                </a:solidFill>
                <a:latin typeface="Open Sans"/>
                <a:ea typeface="Open Sans"/>
                <a:cs typeface="Open Sans"/>
                <a:sym typeface="Open Sans"/>
              </a:rPr>
              <a:t> </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 </a:t>
            </a:r>
            <a:r>
              <a:rPr lang="en-US" b="0" i="0">
                <a:solidFill>
                  <a:srgbClr val="24292E"/>
                </a:solidFill>
                <a:latin typeface="Open Sans"/>
                <a:ea typeface="Open Sans"/>
                <a:cs typeface="Open Sans"/>
                <a:sym typeface="Open Sans"/>
              </a:rPr>
              <a:t>T3</a:t>
            </a:r>
            <a:r>
              <a:rPr lang="en-US" b="0" i="0">
                <a:solidFill>
                  <a:srgbClr val="1B1B1B"/>
                </a:solidFill>
                <a:latin typeface="Open Sans"/>
                <a:ea typeface="Open Sans"/>
                <a:cs typeface="Open Sans"/>
                <a:sym typeface="Open Sans"/>
              </a:rPr>
              <a:t> </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 θ </a:t>
            </a:r>
            <a:r>
              <a:rPr lang="en-US" b="0" i="0">
                <a:solidFill>
                  <a:srgbClr val="D73A49"/>
                </a:solidFill>
                <a:latin typeface="Open Sans"/>
                <a:ea typeface="Open Sans"/>
                <a:cs typeface="Open Sans"/>
                <a:sym typeface="Open Sans"/>
              </a:rPr>
              <a:t>+</a:t>
            </a:r>
            <a:r>
              <a:rPr lang="en-US" b="0" i="0">
                <a:solidFill>
                  <a:srgbClr val="1B1B1B"/>
                </a:solidFill>
                <a:latin typeface="Open Sans"/>
                <a:ea typeface="Open Sans"/>
                <a:cs typeface="Open Sans"/>
                <a:sym typeface="Open Sans"/>
              </a:rPr>
              <a:t> dTres</a:t>
            </a:r>
            <a:endParaRPr/>
          </a:p>
          <a:p>
            <a:pPr marL="0" lvl="0" indent="0" algn="l" rtl="0">
              <a:spcBef>
                <a:spcPts val="0"/>
              </a:spcBef>
              <a:spcAft>
                <a:spcPts val="0"/>
              </a:spcAft>
              <a:buNone/>
            </a:pPr>
            <a:endParaRPr/>
          </a:p>
        </p:txBody>
      </p:sp>
      <p:sp>
        <p:nvSpPr>
          <p:cNvPr id="197" name="Google Shape;197;p12: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Đáp</a:t>
            </a:r>
            <a:r>
              <a:rPr lang="en-US" dirty="0"/>
              <a:t> </a:t>
            </a:r>
            <a:r>
              <a:rPr lang="en-US" dirty="0" err="1"/>
              <a:t>án</a:t>
            </a:r>
            <a:r>
              <a:rPr lang="en-US" dirty="0"/>
              <a:t>: RTT: Reply – Request = 610-540 = 70 1/100sec. Adjusted local time: Server +</a:t>
            </a:r>
          </a:p>
          <a:p>
            <a:r>
              <a:rPr lang="en-US" dirty="0"/>
              <a:t>RTT/2 = 375 + 35 = 410 1/100sec. Drift: Adjusted local time – local time = 410 – 610 = -200</a:t>
            </a:r>
          </a:p>
          <a:p>
            <a:r>
              <a:rPr lang="en-US" dirty="0"/>
              <a:t>1/100sec. </a:t>
            </a:r>
            <a:r>
              <a:rPr lang="en-US"/>
              <a:t>= -2 sec</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82650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n-US" b="0" i="0">
                <a:solidFill>
                  <a:srgbClr val="333333"/>
                </a:solidFill>
                <a:latin typeface="arial"/>
                <a:ea typeface="arial"/>
                <a:cs typeface="arial"/>
                <a:sym typeface="arial"/>
              </a:rPr>
              <a:t>Nhìn hình trên ta có thể thấy ban đầu giả sử có 3 đồng hồ T1,T2,T3. Trong đó T1 là đồng hồ Server đang là 3h00 các đồng hồ còn lại là của Clientvới T2 =2h50, T3= 3h25.&lt;/br&gt;</a:t>
            </a:r>
            <a:endParaRPr/>
          </a:p>
          <a:p>
            <a:pPr marL="0" lvl="0" indent="-76200" algn="just" rtl="0">
              <a:spcBef>
                <a:spcPts val="0"/>
              </a:spcBef>
              <a:spcAft>
                <a:spcPts val="0"/>
              </a:spcAft>
              <a:buClr>
                <a:srgbClr val="333333"/>
              </a:buClr>
              <a:buSzPts val="1200"/>
              <a:buFont typeface="Arial"/>
              <a:buChar char="•"/>
            </a:pPr>
            <a:r>
              <a:rPr lang="en-US" b="0" i="0">
                <a:solidFill>
                  <a:srgbClr val="333333"/>
                </a:solidFill>
                <a:latin typeface="arial"/>
                <a:ea typeface="arial"/>
                <a:cs typeface="arial"/>
                <a:sym typeface="arial"/>
              </a:rPr>
              <a:t>Server sẽ gửi đồng hồ của mình cho các Client</a:t>
            </a:r>
            <a:endParaRPr/>
          </a:p>
          <a:p>
            <a:pPr marL="0" lvl="0" indent="-76200" algn="just" rtl="0">
              <a:spcBef>
                <a:spcPts val="0"/>
              </a:spcBef>
              <a:spcAft>
                <a:spcPts val="0"/>
              </a:spcAft>
              <a:buClr>
                <a:srgbClr val="333333"/>
              </a:buClr>
              <a:buSzPts val="1200"/>
              <a:buFont typeface="Arial"/>
              <a:buChar char="•"/>
            </a:pPr>
            <a:r>
              <a:rPr lang="en-US" b="0" i="0">
                <a:solidFill>
                  <a:srgbClr val="333333"/>
                </a:solidFill>
                <a:latin typeface="arial"/>
                <a:ea typeface="arial"/>
                <a:cs typeface="arial"/>
                <a:sym typeface="arial"/>
              </a:rPr>
              <a:t>T2 và T3 tính toán độ lệch thời gian và gửi về cho Server lần lượt là:</a:t>
            </a:r>
            <a:endParaRPr/>
          </a:p>
          <a:p>
            <a:pPr marL="0" lvl="0" indent="-76200" algn="just" rtl="0">
              <a:spcBef>
                <a:spcPts val="0"/>
              </a:spcBef>
              <a:spcAft>
                <a:spcPts val="0"/>
              </a:spcAft>
              <a:buClr>
                <a:srgbClr val="333333"/>
              </a:buClr>
              <a:buSzPts val="1200"/>
              <a:buFont typeface="Arial"/>
              <a:buChar char="•"/>
            </a:pPr>
            <a:r>
              <a:rPr lang="en-US" b="0" i="0">
                <a:solidFill>
                  <a:srgbClr val="333333"/>
                </a:solidFill>
                <a:latin typeface="arial"/>
                <a:ea typeface="arial"/>
                <a:cs typeface="arial"/>
                <a:sym typeface="arial"/>
              </a:rPr>
              <a:t>T1’=-10’ và T2’= +25’</a:t>
            </a:r>
            <a:endParaRPr/>
          </a:p>
          <a:p>
            <a:pPr marL="0" lvl="0" indent="-76200" algn="just" rtl="0">
              <a:spcBef>
                <a:spcPts val="0"/>
              </a:spcBef>
              <a:spcAft>
                <a:spcPts val="0"/>
              </a:spcAft>
              <a:buClr>
                <a:srgbClr val="333333"/>
              </a:buClr>
              <a:buSzPts val="1200"/>
              <a:buFont typeface="Arial"/>
              <a:buChar char="•"/>
            </a:pPr>
            <a:r>
              <a:rPr lang="en-US" b="0" i="0">
                <a:solidFill>
                  <a:srgbClr val="333333"/>
                </a:solidFill>
                <a:latin typeface="arial"/>
                <a:ea typeface="arial"/>
                <a:cs typeface="arial"/>
                <a:sym typeface="arial"/>
              </a:rPr>
              <a:t>Server sẽ tính trung bình:</a:t>
            </a:r>
            <a:endParaRPr/>
          </a:p>
          <a:p>
            <a:pPr marL="0" lvl="0" indent="-76200" algn="just" rtl="0">
              <a:spcBef>
                <a:spcPts val="0"/>
              </a:spcBef>
              <a:spcAft>
                <a:spcPts val="0"/>
              </a:spcAft>
              <a:buClr>
                <a:srgbClr val="333333"/>
              </a:buClr>
              <a:buSzPts val="1200"/>
              <a:buFont typeface="Arial"/>
              <a:buChar char="•"/>
            </a:pPr>
            <a:r>
              <a:rPr lang="en-US" b="0" i="0">
                <a:solidFill>
                  <a:srgbClr val="333333"/>
                </a:solidFill>
                <a:latin typeface="arial"/>
                <a:ea typeface="arial"/>
                <a:cs typeface="arial"/>
                <a:sym typeface="arial"/>
              </a:rPr>
              <a:t>T = (0 + T1’ + T2’)/3 = (0 - 10 + 25)/3 = 5’</a:t>
            </a:r>
            <a:endParaRPr/>
          </a:p>
          <a:p>
            <a:pPr marL="0" lvl="0" indent="-76200" algn="just" rtl="0">
              <a:spcBef>
                <a:spcPts val="0"/>
              </a:spcBef>
              <a:spcAft>
                <a:spcPts val="0"/>
              </a:spcAft>
              <a:buClr>
                <a:srgbClr val="333333"/>
              </a:buClr>
              <a:buSzPts val="1200"/>
              <a:buFont typeface="Arial"/>
              <a:buChar char="•"/>
            </a:pPr>
            <a:r>
              <a:rPr lang="en-US" b="0" i="0">
                <a:solidFill>
                  <a:srgbClr val="333333"/>
                </a:solidFill>
                <a:latin typeface="arial"/>
                <a:ea typeface="arial"/>
                <a:cs typeface="arial"/>
                <a:sym typeface="arial"/>
              </a:rPr>
              <a:t>Sau đó Server sẽ đặt thời gian của mình là:</a:t>
            </a:r>
            <a:endParaRPr/>
          </a:p>
          <a:p>
            <a:pPr marL="0" lvl="0" indent="-76200" algn="just" rtl="0">
              <a:spcBef>
                <a:spcPts val="0"/>
              </a:spcBef>
              <a:spcAft>
                <a:spcPts val="0"/>
              </a:spcAft>
              <a:buClr>
                <a:srgbClr val="333333"/>
              </a:buClr>
              <a:buSzPts val="1200"/>
              <a:buFont typeface="Arial"/>
              <a:buChar char="•"/>
            </a:pPr>
            <a:r>
              <a:rPr lang="en-US" b="0" i="0">
                <a:solidFill>
                  <a:srgbClr val="333333"/>
                </a:solidFill>
                <a:latin typeface="arial"/>
                <a:ea typeface="arial"/>
                <a:cs typeface="arial"/>
                <a:sym typeface="arial"/>
              </a:rPr>
              <a:t>Tnew = 3h + 05’</a:t>
            </a:r>
            <a:endParaRPr/>
          </a:p>
          <a:p>
            <a:pPr marL="0" lvl="0" indent="0" algn="just" rtl="0">
              <a:spcBef>
                <a:spcPts val="0"/>
              </a:spcBef>
              <a:spcAft>
                <a:spcPts val="0"/>
              </a:spcAft>
              <a:buNone/>
            </a:pPr>
            <a:r>
              <a:rPr lang="en-US" b="0" i="0">
                <a:solidFill>
                  <a:srgbClr val="333333"/>
                </a:solidFill>
                <a:latin typeface="arial"/>
                <a:ea typeface="arial"/>
                <a:cs typeface="arial"/>
                <a:sym typeface="arial"/>
              </a:rPr>
              <a:t>Và báo cho các máy Client T2 (+15') và T3 (-20')</a:t>
            </a:r>
            <a:endParaRPr/>
          </a:p>
          <a:p>
            <a:pPr marL="0" lvl="0" indent="0" algn="l" rtl="0">
              <a:spcBef>
                <a:spcPts val="0"/>
              </a:spcBef>
              <a:spcAft>
                <a:spcPts val="0"/>
              </a:spcAft>
              <a:buNone/>
            </a:pPr>
            <a:endParaRPr/>
          </a:p>
        </p:txBody>
      </p:sp>
      <p:sp>
        <p:nvSpPr>
          <p:cNvPr id="231" name="Google Shape;231;p16: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7: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Chia thời gian thành những khoảng đồng bộ cố định.</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Khoảng thời gian I sẽ bắt đầu từ thời điểm (To + i.R) và chạy đến khi To+(i+1)R với:</a:t>
            </a:r>
            <a:endParaRPr/>
          </a:p>
          <a:p>
            <a:pPr marL="742950" lvl="1" indent="-28575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To là thời điểm xác định trước</a:t>
            </a:r>
            <a:endParaRPr/>
          </a:p>
          <a:p>
            <a:pPr marL="742950" lvl="1" indent="-28575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R là một biến hệ thống .</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Vào thời điểm bắt đầu của mỗi lần đồng bộ, tất cả các máy của mạng sẽ broadcast thời gian của mình .</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Sau khi broadcast nó bắt đầu thu thập thời gian mà các máy khác gửi đến trong khoảng thời gian S.</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Sau đó bỏ đi giá trị lớn nhất và nhỏ nhất rồi tính trung bình của các giá trị thời gian còn lại.</a:t>
            </a:r>
            <a:endParaRPr/>
          </a:p>
          <a:p>
            <a:pPr marL="0" lvl="0" indent="0" algn="l" rtl="0">
              <a:spcBef>
                <a:spcPts val="0"/>
              </a:spcBef>
              <a:spcAft>
                <a:spcPts val="0"/>
              </a:spcAft>
              <a:buNone/>
            </a:pPr>
            <a:endParaRPr/>
          </a:p>
        </p:txBody>
      </p:sp>
      <p:sp>
        <p:nvSpPr>
          <p:cNvPr id="239" name="Google Shape;239;p17: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8: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Nút A không trực tiếp tham gia vào quá trình đồng bộ, chỉ đóng vai trò là liên tục quảng bá</a:t>
            </a:r>
            <a:endParaRPr/>
          </a:p>
          <a:p>
            <a:pPr marL="0" lvl="0" indent="0" algn="l" rtl="0">
              <a:spcBef>
                <a:spcPts val="0"/>
              </a:spcBef>
              <a:spcAft>
                <a:spcPts val="0"/>
              </a:spcAft>
              <a:buNone/>
            </a:pPr>
            <a:endParaRPr/>
          </a:p>
          <a:p>
            <a:pPr marL="0" lvl="0" indent="0" algn="l" rtl="0">
              <a:spcBef>
                <a:spcPts val="0"/>
              </a:spcBef>
              <a:spcAft>
                <a:spcPts val="0"/>
              </a:spcAft>
              <a:buNone/>
            </a:pPr>
            <a:r>
              <a:rPr lang="en-US"/>
              <a:t>B, C đóng vai trò đòng bộ</a:t>
            </a:r>
            <a:endParaRPr/>
          </a:p>
          <a:p>
            <a:pPr marL="0" lvl="0" indent="0" algn="l" rtl="0">
              <a:spcBef>
                <a:spcPts val="0"/>
              </a:spcBef>
              <a:spcAft>
                <a:spcPts val="0"/>
              </a:spcAft>
              <a:buNone/>
            </a:pPr>
            <a:endParaRPr/>
          </a:p>
          <a:p>
            <a:pPr marL="0" lvl="0" indent="0" algn="l" rtl="0">
              <a:spcBef>
                <a:spcPts val="0"/>
              </a:spcBef>
              <a:spcAft>
                <a:spcPts val="0"/>
              </a:spcAft>
              <a:buNone/>
            </a:pPr>
            <a:r>
              <a:rPr lang="en-US"/>
              <a:t>Offset[p,q] là độ lệch thời gian của p so với q  </a:t>
            </a:r>
            <a:endParaRPr/>
          </a:p>
          <a:p>
            <a:pPr marL="0" lvl="0" indent="0" algn="l" rtl="0">
              <a:spcBef>
                <a:spcPts val="0"/>
              </a:spcBef>
              <a:spcAft>
                <a:spcPts val="0"/>
              </a:spcAft>
              <a:buNone/>
            </a:pPr>
            <a:r>
              <a:rPr lang="en-US"/>
              <a:t>=&gt; P không cập nhật lại thời gian của mình, mà sẽ chỉ lưu thông tin offset để biết rằng khi trao đổi thông tin với q thì thời gian của mình lêhcj so với q 1 khoảng offset[p,q] </a:t>
            </a:r>
            <a:endParaRPr/>
          </a:p>
        </p:txBody>
      </p:sp>
      <p:sp>
        <p:nvSpPr>
          <p:cNvPr id="249" name="Google Shape;249;p18: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Khái niệm đồng hồ logic ra đời trong trường hợp giữa các tiến trình không nhất thiết phải phù hợp theo thời gian thực tế mà chỉ cần khớp với nhau về thời gian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3" name="Google Shape;263;p19: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Mỗi một sự kiện xảy ra thì đều được gán với giá trị clock đồng hồ vật lý</a:t>
            </a:r>
            <a:endParaRPr/>
          </a:p>
        </p:txBody>
      </p:sp>
      <p:sp>
        <p:nvSpPr>
          <p:cNvPr id="270" name="Google Shape;270;p2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2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2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Quá trình cập nhật diễn ra như sau</a:t>
            </a:r>
            <a:endParaRPr/>
          </a:p>
          <a:p>
            <a:pPr marL="0" lvl="0" indent="0" algn="l" rtl="0">
              <a:spcBef>
                <a:spcPts val="0"/>
              </a:spcBef>
              <a:spcAft>
                <a:spcPts val="0"/>
              </a:spcAft>
              <a:buNone/>
            </a:pPr>
            <a:endParaRPr/>
          </a:p>
        </p:txBody>
      </p:sp>
      <p:sp>
        <p:nvSpPr>
          <p:cNvPr id="286" name="Google Shape;286;p22: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23: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Các quá trình hiệu chỉnh sẽ diễn ra ở tầng Middleware</a:t>
            </a:r>
            <a:endParaRPr/>
          </a:p>
          <a:p>
            <a:pPr marL="0" lvl="0" indent="0" algn="l" rtl="0">
              <a:spcBef>
                <a:spcPts val="0"/>
              </a:spcBef>
              <a:spcAft>
                <a:spcPts val="0"/>
              </a:spcAft>
              <a:buNone/>
            </a:pPr>
            <a:r>
              <a:rPr lang="en-US"/>
              <a:t>Bên trái là luồng gửi thông điệp </a:t>
            </a:r>
            <a:endParaRPr/>
          </a:p>
          <a:p>
            <a:pPr marL="0" lvl="0" indent="0" algn="l" rtl="0">
              <a:spcBef>
                <a:spcPts val="0"/>
              </a:spcBef>
              <a:spcAft>
                <a:spcPts val="0"/>
              </a:spcAft>
              <a:buNone/>
            </a:pPr>
            <a:r>
              <a:rPr lang="en-US"/>
              <a:t>Bên phải là luồng nhận thông điệp</a:t>
            </a:r>
            <a:endParaRPr/>
          </a:p>
        </p:txBody>
      </p:sp>
      <p:sp>
        <p:nvSpPr>
          <p:cNvPr id="294" name="Google Shape;294;p23: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2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Ta có:</a:t>
            </a:r>
            <a:endParaRPr/>
          </a:p>
          <a:p>
            <a:pPr marL="0" lvl="0" indent="0" algn="l" rtl="0">
              <a:spcBef>
                <a:spcPts val="0"/>
              </a:spcBef>
              <a:spcAft>
                <a:spcPts val="0"/>
              </a:spcAft>
              <a:buNone/>
            </a:pPr>
            <a:r>
              <a:rPr lang="en-US"/>
              <a:t>M1, m2 không đổi vì max(7,16) và max(25-40)</a:t>
            </a:r>
            <a:endParaRPr/>
          </a:p>
        </p:txBody>
      </p:sp>
      <p:sp>
        <p:nvSpPr>
          <p:cNvPr id="307" name="Google Shape;307;p24: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25: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Take the starting value as 1, since it is the 1</a:t>
            </a:r>
            <a:r>
              <a:rPr lang="en-US" b="0" i="0" baseline="30000">
                <a:solidFill>
                  <a:srgbClr val="273239"/>
                </a:solidFill>
                <a:latin typeface="Arial"/>
                <a:ea typeface="Arial"/>
                <a:cs typeface="Arial"/>
                <a:sym typeface="Arial"/>
              </a:rPr>
              <a:t>st</a:t>
            </a:r>
            <a:r>
              <a:rPr lang="en-US" b="0" i="0">
                <a:solidFill>
                  <a:srgbClr val="273239"/>
                </a:solidFill>
                <a:latin typeface="Arial"/>
                <a:ea typeface="Arial"/>
                <a:cs typeface="Arial"/>
                <a:sym typeface="Arial"/>
              </a:rPr>
              <a:t> event and there is no incoming value at the starting point:</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e11 = 1</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e21 = 1</a:t>
            </a:r>
            <a:endParaRPr/>
          </a:p>
          <a:p>
            <a:pPr marL="0" lvl="0" indent="-7620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The value of the next point will go on increasing by d (d = 1), if there is no incoming value i.e., to follow [IR1].</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e12 = e11 + d = 1 + 1 = 2</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e13 = e12 + d = 2 + 1 = 3</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e14 = e13 + d = 3 + 1 = 4</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e15 = e14 + d = 4 + 1 = 5</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e16 = e15 + d = 5 + 1 = 6</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e22 = e21 + d = 1 + 1 = 2</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e24 = e23 + d = 3 + 1 = 4</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e26 = e25 + d = 6 + 1 = 7</a:t>
            </a:r>
            <a:endParaRPr/>
          </a:p>
          <a:p>
            <a:pPr marL="0" lvl="0" indent="-7620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When there will be incoming value, then follow </a:t>
            </a:r>
            <a:r>
              <a:rPr lang="en-US" b="1" i="0">
                <a:solidFill>
                  <a:srgbClr val="273239"/>
                </a:solidFill>
                <a:latin typeface="Arial"/>
                <a:ea typeface="Arial"/>
                <a:cs typeface="Arial"/>
                <a:sym typeface="Arial"/>
              </a:rPr>
              <a:t>[IR2]</a:t>
            </a:r>
            <a:r>
              <a:rPr lang="en-US" b="0" i="0">
                <a:solidFill>
                  <a:srgbClr val="273239"/>
                </a:solidFill>
                <a:latin typeface="Arial"/>
                <a:ea typeface="Arial"/>
                <a:cs typeface="Arial"/>
                <a:sym typeface="Arial"/>
              </a:rPr>
              <a:t> i.e., take the maximum value between </a:t>
            </a:r>
            <a:r>
              <a:rPr lang="en-US" b="1" i="0">
                <a:solidFill>
                  <a:srgbClr val="273239"/>
                </a:solidFill>
                <a:latin typeface="Arial"/>
                <a:ea typeface="Arial"/>
                <a:cs typeface="Arial"/>
                <a:sym typeface="Arial"/>
              </a:rPr>
              <a:t>C</a:t>
            </a:r>
            <a:r>
              <a:rPr lang="en-US" b="1" i="0" baseline="-25000">
                <a:solidFill>
                  <a:srgbClr val="273239"/>
                </a:solidFill>
                <a:latin typeface="Arial"/>
                <a:ea typeface="Arial"/>
                <a:cs typeface="Arial"/>
                <a:sym typeface="Arial"/>
              </a:rPr>
              <a:t>j</a:t>
            </a:r>
            <a:r>
              <a:rPr lang="en-US" b="0" i="0">
                <a:solidFill>
                  <a:srgbClr val="273239"/>
                </a:solidFill>
                <a:latin typeface="Arial"/>
                <a:ea typeface="Arial"/>
                <a:cs typeface="Arial"/>
                <a:sym typeface="Arial"/>
              </a:rPr>
              <a:t> and </a:t>
            </a:r>
            <a:r>
              <a:rPr lang="en-US" b="1" i="0">
                <a:solidFill>
                  <a:srgbClr val="273239"/>
                </a:solidFill>
                <a:latin typeface="Arial"/>
                <a:ea typeface="Arial"/>
                <a:cs typeface="Arial"/>
                <a:sym typeface="Arial"/>
              </a:rPr>
              <a:t>T</a:t>
            </a:r>
            <a:r>
              <a:rPr lang="en-US" b="1" i="0" baseline="-25000">
                <a:solidFill>
                  <a:srgbClr val="273239"/>
                </a:solidFill>
                <a:latin typeface="Arial"/>
                <a:ea typeface="Arial"/>
                <a:cs typeface="Arial"/>
                <a:sym typeface="Arial"/>
              </a:rPr>
              <a:t>m</a:t>
            </a:r>
            <a:r>
              <a:rPr lang="en-US" b="1" i="0">
                <a:solidFill>
                  <a:srgbClr val="273239"/>
                </a:solidFill>
                <a:latin typeface="Arial"/>
                <a:ea typeface="Arial"/>
                <a:cs typeface="Arial"/>
                <a:sym typeface="Arial"/>
              </a:rPr>
              <a:t> + d</a:t>
            </a:r>
            <a:r>
              <a:rPr lang="en-US" b="0" i="0">
                <a:solidFill>
                  <a:srgbClr val="273239"/>
                </a:solidFill>
                <a:latin typeface="Arial"/>
                <a:ea typeface="Arial"/>
                <a:cs typeface="Arial"/>
                <a:sym typeface="Arial"/>
              </a:rPr>
              <a:t>.</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e17 = max(7, 5) = 7, [e16 + d = 6 + 1 = 7, e24 + d = 4 + 1 = 5, maximum among 7 and 5 is 7]</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e23 = max(3, 3) = 3, [e22 + d = 2 + 1 = 3, e12 + d = 2 + 1 = 3, maximum among 3 and 3 is 3]</a:t>
            </a:r>
            <a:endParaRPr/>
          </a:p>
          <a:p>
            <a:pPr marL="742950" lvl="1" indent="-285750" algn="l" rtl="0">
              <a:spcBef>
                <a:spcPts val="0"/>
              </a:spcBef>
              <a:spcAft>
                <a:spcPts val="0"/>
              </a:spcAft>
              <a:buClr>
                <a:srgbClr val="273239"/>
              </a:buClr>
              <a:buSzPts val="1200"/>
              <a:buFont typeface="Arial"/>
              <a:buChar char="•"/>
            </a:pPr>
            <a:r>
              <a:rPr lang="en-US" b="0" i="0">
                <a:solidFill>
                  <a:srgbClr val="273239"/>
                </a:solidFill>
                <a:latin typeface="Arial"/>
                <a:ea typeface="Arial"/>
                <a:cs typeface="Arial"/>
                <a:sym typeface="Arial"/>
              </a:rPr>
              <a:t>e25 = max(5, 6) = 6, [e24 + 1 = 4 + 1 = 5, e15 + d = 5 + 1 = 6, maximum among 5 and 6 is 6]</a:t>
            </a:r>
            <a:endParaRPr/>
          </a:p>
          <a:p>
            <a:pPr marL="0" lvl="0" indent="0" algn="l" rtl="0">
              <a:spcBef>
                <a:spcPts val="0"/>
              </a:spcBef>
              <a:spcAft>
                <a:spcPts val="0"/>
              </a:spcAft>
              <a:buNone/>
            </a:pPr>
            <a:endParaRPr/>
          </a:p>
        </p:txBody>
      </p:sp>
      <p:sp>
        <p:nvSpPr>
          <p:cNvPr id="316" name="Google Shape;316;p25: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2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Ta có</a:t>
            </a:r>
            <a:endParaRPr/>
          </a:p>
        </p:txBody>
      </p:sp>
      <p:sp>
        <p:nvSpPr>
          <p:cNvPr id="325" name="Google Shape;325;p26: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7: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Send (M1, 1 ) Send (M2, 3 ) Send (M3, 5 )</a:t>
            </a:r>
            <a:endParaRPr/>
          </a:p>
          <a:p>
            <a:pPr marL="0" lvl="0" indent="0" algn="l" rtl="0">
              <a:spcBef>
                <a:spcPts val="0"/>
              </a:spcBef>
              <a:spcAft>
                <a:spcPts val="0"/>
              </a:spcAft>
              <a:buNone/>
            </a:pPr>
            <a:r>
              <a:rPr lang="en-US"/>
              <a:t>Solution: A=10, B=9, C=5. </a:t>
            </a:r>
            <a:endParaRPr/>
          </a:p>
        </p:txBody>
      </p:sp>
      <p:sp>
        <p:nvSpPr>
          <p:cNvPr id="333" name="Google Shape;333;p27: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457200" lvl="0" indent="-317500" algn="l" rtl="0">
              <a:spcBef>
                <a:spcPts val="0"/>
              </a:spcBef>
              <a:spcAft>
                <a:spcPts val="0"/>
              </a:spcAft>
              <a:buSzPts val="1400"/>
              <a:buChar char="-"/>
            </a:pPr>
            <a:r>
              <a:rPr lang="en-US"/>
              <a:t>Còn một thiết sót của đồng bộ hóa đh logic của Lamport là chưa xem xét mối quan hệ nhân quả của các sự kiện trên cùng 1 tiến trình.</a:t>
            </a:r>
            <a:endParaRPr/>
          </a:p>
        </p:txBody>
      </p:sp>
      <p:sp>
        <p:nvSpPr>
          <p:cNvPr id="340" name="Google Shape;340;p2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2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3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3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7" name="Google Shape;377;p3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Nguyên tắc cơ bản của hệ phân tán là sự đồng thời và cộng tác của những đa tiến trình. Trong nhiều trường hợp , điều này có nghĩa là nhiều tiến trình cùng một lúc cùng truy cập vào một tài nguyên. Có nhiều giải thuật được xây dựng để cài đặt cơ chế loại trừ nhau thông qua các vùng tới hạn để tránh điều này xảy ra.</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78" name="Google Shape;378;p32: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3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3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p3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Nếu không có một tiến trình nào đang trong vùng giới hạn thì tiến trình điều phối sẽ gửi phản hồi cho phép.</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Còn nếu có một tiến trình khác đang ở trong vùn tới hạn rồi thì tiến trình điều phối sẽ gửi thông điệp từ chối và đưa tiến trình này vào hàng đợi cho đến khi không có tiến trình nào trong vùng tới hạn nữa.</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Khi một tiến trình rời khỏi vùng giới hạn nó sẽ gửi một thông điệp đến tiến trình điều phối thông báo trả lại quyền truy cập.</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Lúc này tiến trình điều phối sẽ gửi quyền truy cập cho tiến trình đầu tiên trong hàng đợi truy cập.</a:t>
            </a:r>
            <a:endParaRPr/>
          </a:p>
          <a:p>
            <a:pPr marL="0" lvl="0" indent="0" algn="l" rtl="0">
              <a:spcBef>
                <a:spcPts val="0"/>
              </a:spcBef>
              <a:spcAft>
                <a:spcPts val="0"/>
              </a:spcAft>
              <a:buNone/>
            </a:pPr>
            <a:endParaRPr/>
          </a:p>
        </p:txBody>
      </p:sp>
      <p:sp>
        <p:nvSpPr>
          <p:cNvPr id="394" name="Google Shape;394;p34: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3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3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9" name="Google Shape;409;p3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n-US" sz="1200"/>
              <a:t>Khi một tiến trình muốn truy cập vào một tài nguyên chia sẻ, nó tạo một thông điệp bao gồm tên của tài nguyên, số xử lý của nó và thời gian (theo logic) hiện tại.</a:t>
            </a:r>
            <a:endParaRPr/>
          </a:p>
          <a:p>
            <a:pPr marL="0" lvl="0" indent="0" algn="just" rtl="0">
              <a:spcBef>
                <a:spcPts val="0"/>
              </a:spcBef>
              <a:spcAft>
                <a:spcPts val="0"/>
              </a:spcAft>
              <a:buNone/>
            </a:pPr>
            <a:r>
              <a:rPr lang="en-US" sz="1200"/>
              <a:t>Sau đó nó gửi thông điệp này tới các tiến trình khác và chính nó.</a:t>
            </a:r>
            <a:endParaRPr/>
          </a:p>
          <a:p>
            <a:pPr marL="0" lvl="0" indent="0" algn="l" rtl="0">
              <a:spcBef>
                <a:spcPts val="0"/>
              </a:spcBef>
              <a:spcAft>
                <a:spcPts val="0"/>
              </a:spcAft>
              <a:buNone/>
            </a:pPr>
            <a:endParaRPr/>
          </a:p>
          <a:p>
            <a:pPr marL="0" lvl="0" indent="0" algn="l" rtl="0">
              <a:spcBef>
                <a:spcPts val="0"/>
              </a:spcBef>
              <a:spcAft>
                <a:spcPts val="0"/>
              </a:spcAft>
              <a:buNone/>
            </a:pPr>
            <a:r>
              <a:rPr lang="en-US"/>
              <a:t>Việc gửi các thông điệp đi là đáng tin cậy.</a:t>
            </a:r>
            <a:endParaRPr/>
          </a:p>
          <a:p>
            <a:pPr marL="0" lvl="0" indent="0" algn="l" rtl="0">
              <a:spcBef>
                <a:spcPts val="0"/>
              </a:spcBef>
              <a:spcAft>
                <a:spcPts val="0"/>
              </a:spcAft>
              <a:buNone/>
            </a:pPr>
            <a:r>
              <a:rPr lang="en-US"/>
              <a:t>Các tiến trình khác sau khi nhận được thông điệp này sẽ xảy ra ba tình huống:</a:t>
            </a:r>
            <a:endParaRPr/>
          </a:p>
        </p:txBody>
      </p:sp>
      <p:sp>
        <p:nvSpPr>
          <p:cNvPr id="410" name="Google Shape;410;p36: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3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3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3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3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p3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4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4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4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9" name="Google Shape;449;p4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4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p4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4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p43: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4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9" name="Google Shape;499;p44: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5: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6" name="Google Shape;506;p45: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 gửi thông điệp Election đến tất cả các tiến trình có ID cao hơn</a:t>
            </a:r>
            <a:endParaRPr/>
          </a:p>
          <a:p>
            <a:pPr marL="0" lvl="0" indent="0" algn="l" rtl="0">
              <a:spcBef>
                <a:spcPts val="0"/>
              </a:spcBef>
              <a:spcAft>
                <a:spcPts val="0"/>
              </a:spcAft>
              <a:buNone/>
            </a:pPr>
            <a:r>
              <a:rPr lang="en-US"/>
              <a:t>Nếu không có tiến trình nào phản hồi thì P sẽ trở thành tiến trình điều phối</a:t>
            </a:r>
            <a:endParaRPr/>
          </a:p>
          <a:p>
            <a:pPr marL="0" lvl="0" indent="0" algn="l" rtl="0">
              <a:spcBef>
                <a:spcPts val="0"/>
              </a:spcBef>
              <a:spcAft>
                <a:spcPts val="0"/>
              </a:spcAft>
              <a:buNone/>
            </a:pPr>
            <a:r>
              <a:rPr lang="en-US"/>
              <a:t>Nếu có một tiến trình có ID cao hơn phản hồi thì nó sẽ đảm nhiệm vai trò điều phối.</a:t>
            </a:r>
            <a:endParaRPr/>
          </a:p>
        </p:txBody>
      </p:sp>
      <p:sp>
        <p:nvSpPr>
          <p:cNvPr id="507" name="Google Shape;507;p45: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46: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4" name="Google Shape;514;p4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 gửi thông điệp Election đến tất cả các tiến trình có ID cao hơn</a:t>
            </a:r>
            <a:endParaRPr/>
          </a:p>
          <a:p>
            <a:pPr marL="0" lvl="0" indent="0" algn="l" rtl="0">
              <a:spcBef>
                <a:spcPts val="0"/>
              </a:spcBef>
              <a:spcAft>
                <a:spcPts val="0"/>
              </a:spcAft>
              <a:buNone/>
            </a:pPr>
            <a:r>
              <a:rPr lang="en-US"/>
              <a:t>Nếu không có tiến trình nào phản hồi thì P sẽ trở thành tiến trình điều phối</a:t>
            </a:r>
            <a:endParaRPr/>
          </a:p>
          <a:p>
            <a:pPr marL="0" lvl="0" indent="0" algn="l" rtl="0">
              <a:spcBef>
                <a:spcPts val="0"/>
              </a:spcBef>
              <a:spcAft>
                <a:spcPts val="0"/>
              </a:spcAft>
              <a:buNone/>
            </a:pPr>
            <a:r>
              <a:rPr lang="en-US"/>
              <a:t>Nếu có một tiến trình có ID cao hơn phản hồi thì nó sẽ đảm nhiệm vai trò điều phối.</a:t>
            </a:r>
            <a:endParaRPr/>
          </a:p>
        </p:txBody>
      </p:sp>
      <p:sp>
        <p:nvSpPr>
          <p:cNvPr id="515" name="Google Shape;515;p46: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7: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2" name="Google Shape;522;p47: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Một tiến trình bắt đầu gửi thông điệp Election tới các nút còn tồn tại gần nhất, quá trình gửi theo 1 hướng nhất định.</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Nó sẽ thăm dò liên tiếp trên vòng cho đến khi tìm được 1 nút còn tồn tại.</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Mỗi một tiến trình sẽ gắn ID của mình vào thông điệp gửi.</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Cuối cùng sẽ chọn ra 1 tiến trình có ID cao nhất trong số các tiến trình còn hoạt động và gửi thông điệp điều phối cho tiến trình đó.</a:t>
            </a:r>
            <a:endParaRPr/>
          </a:p>
          <a:p>
            <a:pPr marL="0" lvl="0" indent="0" algn="l" rtl="0">
              <a:spcBef>
                <a:spcPts val="0"/>
              </a:spcBef>
              <a:spcAft>
                <a:spcPts val="0"/>
              </a:spcAft>
              <a:buNone/>
            </a:pPr>
            <a:endParaRPr/>
          </a:p>
        </p:txBody>
      </p:sp>
      <p:sp>
        <p:nvSpPr>
          <p:cNvPr id="523" name="Google Shape;523;p47: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48: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1" name="Google Shape;531;p48: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Một tiến trình bắt đầu gửi thông điệp Election tới các nút còn tồn tại gần nhất, quá trình gửi theo 1 hướng nhất định.</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Nó sẽ thăm dò liên tiếp trên vòng cho đến khi tìm được 1 nút còn tồn tại.</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Mỗi một tiến trình sẽ gắn ID của mình vào thông điệp gửi.</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Cuối cùng sẽ chọn ra 1 tiến trình có ID cao nhất trong số các tiến trình còn hoạt động và gửi thông điệp điều phối cho tiến trình đó.</a:t>
            </a:r>
            <a:endParaRPr/>
          </a:p>
          <a:p>
            <a:pPr marL="0" lvl="0" indent="0" algn="l" rtl="0">
              <a:spcBef>
                <a:spcPts val="0"/>
              </a:spcBef>
              <a:spcAft>
                <a:spcPts val="0"/>
              </a:spcAft>
              <a:buNone/>
            </a:pPr>
            <a:endParaRPr/>
          </a:p>
        </p:txBody>
      </p:sp>
      <p:sp>
        <p:nvSpPr>
          <p:cNvPr id="532" name="Google Shape;532;p48: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49: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p4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Một tiến trình bắt đầu gửi thông điệp Election tới các nút còn tồn tại gần nhất, quá trình gửi theo 1 hướng nhất định.</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Nó sẽ thăm dò liên tiếp trên vòng cho đến khi tìm được 1 nút còn tồn tại.</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Mỗi một tiến trình sẽ gắn ID của mình vào thông điệp gửi.</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Cuối cùng sẽ chọn ra 1 tiến trình có ID cao nhất trong số các tiến trình còn hoạt động và gửi thông điệp điều phối cho tiến trình đó.</a:t>
            </a:r>
            <a:endParaRPr/>
          </a:p>
          <a:p>
            <a:pPr marL="0" lvl="0" indent="0" algn="l" rtl="0">
              <a:spcBef>
                <a:spcPts val="0"/>
              </a:spcBef>
              <a:spcAft>
                <a:spcPts val="0"/>
              </a:spcAft>
              <a:buNone/>
            </a:pPr>
            <a:endParaRPr/>
          </a:p>
        </p:txBody>
      </p:sp>
      <p:sp>
        <p:nvSpPr>
          <p:cNvPr id="540" name="Google Shape;540;p49: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50: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8" name="Google Shape;548;p50: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Một tiến trình bắt đầu gửi thông điệp Election tới các nút còn tồn tại gần nhất, quá trình gửi theo 1 hướng nhất định.</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Nó sẽ thăm dò liên tiếp trên vòng cho đến khi tìm được 1 nút còn tồn tại.</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Mỗi một tiến trình sẽ gắn ID của mình vào thông điệp gửi.</a:t>
            </a:r>
            <a:endParaRPr/>
          </a:p>
          <a:p>
            <a:pPr marL="0" lvl="0" indent="-76200" algn="l" rtl="0">
              <a:spcBef>
                <a:spcPts val="0"/>
              </a:spcBef>
              <a:spcAft>
                <a:spcPts val="0"/>
              </a:spcAft>
              <a:buClr>
                <a:srgbClr val="1B1B1B"/>
              </a:buClr>
              <a:buSzPts val="1200"/>
              <a:buFont typeface="Arial"/>
              <a:buChar char="•"/>
            </a:pPr>
            <a:r>
              <a:rPr lang="en-US" b="0" i="0">
                <a:solidFill>
                  <a:srgbClr val="1B1B1B"/>
                </a:solidFill>
                <a:latin typeface="Open Sans"/>
                <a:ea typeface="Open Sans"/>
                <a:cs typeface="Open Sans"/>
                <a:sym typeface="Open Sans"/>
              </a:rPr>
              <a:t>Cuối cùng sẽ chọn ra 1 tiến trình có ID cao nhất trong số các tiến trình còn hoạt động và gửi thông điệp điều phối cho tiến trình đó.</a:t>
            </a:r>
            <a:endParaRPr/>
          </a:p>
          <a:p>
            <a:pPr marL="0" lvl="0" indent="0" algn="l" rtl="0">
              <a:spcBef>
                <a:spcPts val="0"/>
              </a:spcBef>
              <a:spcAft>
                <a:spcPts val="0"/>
              </a:spcAft>
              <a:buNone/>
            </a:pPr>
            <a:endParaRPr/>
          </a:p>
        </p:txBody>
      </p:sp>
      <p:sp>
        <p:nvSpPr>
          <p:cNvPr id="549" name="Google Shape;549;p50: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5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6" name="Google Shape;556;p5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5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5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5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55"/>
          <p:cNvSpPr txBox="1">
            <a:spLocks noGrp="1"/>
          </p:cNvSpPr>
          <p:nvPr>
            <p:ph type="body" idx="1"/>
          </p:nvPr>
        </p:nvSpPr>
        <p:spPr>
          <a:xfrm>
            <a:off x="838200" y="1600200"/>
            <a:ext cx="10515600" cy="45767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
        <p:nvSpPr>
          <p:cNvPr id="28" name="Google Shape;28;p55"/>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 name="Google Shape;29;p55"/>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0" name="Google Shape;30;p55"/>
          <p:cNvSpPr txBox="1">
            <a:spLocks noGrp="1"/>
          </p:cNvSpPr>
          <p:nvPr>
            <p:ph type="title"/>
          </p:nvPr>
        </p:nvSpPr>
        <p:spPr>
          <a:xfrm>
            <a:off x="838200" y="343693"/>
            <a:ext cx="10515600" cy="6746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alibri"/>
              <a:buNone/>
              <a:defRPr sz="40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
        <p:cNvGrpSpPr/>
        <p:nvPr/>
      </p:nvGrpSpPr>
      <p:grpSpPr>
        <a:xfrm>
          <a:off x="0" y="0"/>
          <a:ext cx="0" cy="0"/>
          <a:chOff x="0" y="0"/>
          <a:chExt cx="0" cy="0"/>
        </a:xfrm>
      </p:grpSpPr>
      <p:sp>
        <p:nvSpPr>
          <p:cNvPr id="32" name="Google Shape;32;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
        <p:nvSpPr>
          <p:cNvPr id="35" name="Google Shape;35;p56"/>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6" name="Google Shape;36;p56"/>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 name="Google Shape;37;p56"/>
          <p:cNvSpPr txBox="1">
            <a:spLocks noGrp="1"/>
          </p:cNvSpPr>
          <p:nvPr>
            <p:ph type="title"/>
          </p:nvPr>
        </p:nvSpPr>
        <p:spPr>
          <a:xfrm>
            <a:off x="838200" y="365125"/>
            <a:ext cx="10515600" cy="6254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4000"/>
              <a:buFont typeface="Calibri"/>
              <a:buNone/>
              <a:defRPr sz="4000" b="1">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38"/>
        <p:cNvGrpSpPr/>
        <p:nvPr/>
      </p:nvGrpSpPr>
      <p:grpSpPr>
        <a:xfrm>
          <a:off x="0" y="0"/>
          <a:ext cx="0" cy="0"/>
          <a:chOff x="0" y="0"/>
          <a:chExt cx="0" cy="0"/>
        </a:xfrm>
      </p:grpSpPr>
      <p:sp>
        <p:nvSpPr>
          <p:cNvPr id="39" name="Google Shape;39;p57"/>
          <p:cNvSpPr txBox="1">
            <a:spLocks noGrp="1"/>
          </p:cNvSpPr>
          <p:nvPr>
            <p:ph type="ctrTitle"/>
          </p:nvPr>
        </p:nvSpPr>
        <p:spPr>
          <a:xfrm>
            <a:off x="1491175" y="549690"/>
            <a:ext cx="9209651" cy="578235"/>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rgbClr val="775F55"/>
              </a:buClr>
              <a:buSzPts val="4175"/>
              <a:buFont typeface="Times New Roman"/>
              <a:buNone/>
              <a:defRPr sz="4175" b="0" i="0">
                <a:solidFill>
                  <a:srgbClr val="775F55"/>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57"/>
          <p:cNvSpPr txBox="1">
            <a:spLocks noGrp="1"/>
          </p:cNvSpPr>
          <p:nvPr>
            <p:ph type="subTitle" idx="1"/>
          </p:nvPr>
        </p:nvSpPr>
        <p:spPr>
          <a:xfrm>
            <a:off x="1828800" y="3840480"/>
            <a:ext cx="8534400" cy="387798"/>
          </a:xfrm>
          <a:prstGeom prst="rect">
            <a:avLst/>
          </a:prstGeom>
          <a:noFill/>
          <a:ln>
            <a:noFill/>
          </a:ln>
        </p:spPr>
        <p:txBody>
          <a:bodyPr spcFirstLastPara="1" wrap="square" lIns="0" tIns="0" rIns="0" bIns="0" anchor="t" anchorCtr="0">
            <a:spAutoFit/>
          </a:bodyPr>
          <a:lstStyle>
            <a:lvl1pPr lvl="0" algn="l">
              <a:lnSpc>
                <a:spcPct val="90000"/>
              </a:lnSpc>
              <a:spcBef>
                <a:spcPts val="1000"/>
              </a:spcBef>
              <a:spcAft>
                <a:spcPts val="0"/>
              </a:spcAft>
              <a:buClr>
                <a:schemeClr val="dk1"/>
              </a:buClr>
              <a:buSzPts val="2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1" name="Google Shape;41;p57"/>
          <p:cNvSpPr txBox="1">
            <a:spLocks noGrp="1"/>
          </p:cNvSpPr>
          <p:nvPr>
            <p:ph type="ftr" idx="11"/>
          </p:nvPr>
        </p:nvSpPr>
        <p:spPr>
          <a:xfrm>
            <a:off x="4038600" y="6356350"/>
            <a:ext cx="4114800" cy="365125"/>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7"/>
          <p:cNvSpPr txBox="1">
            <a:spLocks noGrp="1"/>
          </p:cNvSpPr>
          <p:nvPr>
            <p:ph type="dt" idx="10"/>
          </p:nvPr>
        </p:nvSpPr>
        <p:spPr>
          <a:xfrm>
            <a:off x="838200" y="6356350"/>
            <a:ext cx="27432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7"/>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2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
        <p:cNvGrpSpPr/>
        <p:nvPr/>
      </p:nvGrpSpPr>
      <p:grpSpPr>
        <a:xfrm>
          <a:off x="0" y="0"/>
          <a:ext cx="0" cy="0"/>
          <a:chOff x="0" y="0"/>
          <a:chExt cx="0" cy="0"/>
        </a:xfrm>
      </p:grpSpPr>
      <p:sp>
        <p:nvSpPr>
          <p:cNvPr id="45" name="Google Shape;45;p5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5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7" name="Google Shape;47;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0"/>
        <p:cNvGrpSpPr/>
        <p:nvPr/>
      </p:nvGrpSpPr>
      <p:grpSpPr>
        <a:xfrm>
          <a:off x="0" y="0"/>
          <a:ext cx="0" cy="0"/>
          <a:chOff x="0" y="0"/>
          <a:chExt cx="0" cy="0"/>
        </a:xfrm>
      </p:grpSpPr>
      <p:sp>
        <p:nvSpPr>
          <p:cNvPr id="51" name="Google Shape;51;p59"/>
          <p:cNvSpPr txBox="1">
            <a:spLocks noGrp="1"/>
          </p:cNvSpPr>
          <p:nvPr>
            <p:ph type="title"/>
          </p:nvPr>
        </p:nvSpPr>
        <p:spPr>
          <a:xfrm>
            <a:off x="838200" y="365126"/>
            <a:ext cx="10515600" cy="6746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7"/>
        <p:cNvGrpSpPr/>
        <p:nvPr/>
      </p:nvGrpSpPr>
      <p:grpSpPr>
        <a:xfrm>
          <a:off x="0" y="0"/>
          <a:ext cx="0" cy="0"/>
          <a:chOff x="0" y="0"/>
          <a:chExt cx="0" cy="0"/>
        </a:xfrm>
      </p:grpSpPr>
      <p:sp>
        <p:nvSpPr>
          <p:cNvPr id="58" name="Google Shape;58;p6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6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6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6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2" name="Google Shape;62;p6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6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6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6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6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63"/>
          <p:cNvSpPr>
            <a:spLocks noGrp="1"/>
          </p:cNvSpPr>
          <p:nvPr>
            <p:ph type="pic" idx="2"/>
          </p:nvPr>
        </p:nvSpPr>
        <p:spPr>
          <a:xfrm>
            <a:off x="5183188" y="987425"/>
            <a:ext cx="6172200" cy="4873625"/>
          </a:xfrm>
          <a:prstGeom prst="rect">
            <a:avLst/>
          </a:prstGeom>
          <a:noFill/>
          <a:ln>
            <a:noFill/>
          </a:ln>
        </p:spPr>
      </p:sp>
      <p:sp>
        <p:nvSpPr>
          <p:cNvPr id="80" name="Google Shape;80;p6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64"/>
          <p:cNvSpPr txBox="1">
            <a:spLocks noGrp="1"/>
          </p:cNvSpPr>
          <p:nvPr>
            <p:ph type="title"/>
          </p:nvPr>
        </p:nvSpPr>
        <p:spPr>
          <a:xfrm>
            <a:off x="838200" y="365126"/>
            <a:ext cx="10515600" cy="6746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64"/>
          <p:cNvSpPr txBox="1">
            <a:spLocks noGrp="1"/>
          </p:cNvSpPr>
          <p:nvPr>
            <p:ph type="body" idx="1"/>
          </p:nvPr>
        </p:nvSpPr>
        <p:spPr>
          <a:xfrm rot="5400000">
            <a:off x="3760021" y="-1416816"/>
            <a:ext cx="4671959"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6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6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lvl="0" indent="0" algn="r">
              <a:spcBef>
                <a:spcPts val="0"/>
              </a:spcBef>
              <a:buNone/>
              <a:defRPr/>
            </a:lvl1pPr>
            <a:lvl2pPr marL="38100" lvl="1" indent="0" algn="r">
              <a:spcBef>
                <a:spcPts val="0"/>
              </a:spcBef>
              <a:buNone/>
              <a:defRPr/>
            </a:lvl2pPr>
            <a:lvl3pPr marL="38100" lvl="2" indent="0" algn="r">
              <a:spcBef>
                <a:spcPts val="0"/>
              </a:spcBef>
              <a:buNone/>
              <a:defRPr/>
            </a:lvl3pPr>
            <a:lvl4pPr marL="38100" lvl="3" indent="0" algn="r">
              <a:spcBef>
                <a:spcPts val="0"/>
              </a:spcBef>
              <a:buNone/>
              <a:defRPr/>
            </a:lvl4pPr>
            <a:lvl5pPr marL="38100" lvl="4" indent="0" algn="r">
              <a:spcBef>
                <a:spcPts val="0"/>
              </a:spcBef>
              <a:buNone/>
              <a:defRPr/>
            </a:lvl5pPr>
            <a:lvl6pPr marL="38100" lvl="5" indent="0" algn="r">
              <a:spcBef>
                <a:spcPts val="0"/>
              </a:spcBef>
              <a:buNone/>
              <a:defRPr/>
            </a:lvl6pPr>
            <a:lvl7pPr marL="38100" lvl="6" indent="0" algn="r">
              <a:spcBef>
                <a:spcPts val="0"/>
              </a:spcBef>
              <a:buNone/>
              <a:defRPr/>
            </a:lvl7pPr>
            <a:lvl8pPr marL="38100" lvl="7" indent="0" algn="r">
              <a:spcBef>
                <a:spcPts val="0"/>
              </a:spcBef>
              <a:buNone/>
              <a:defRPr/>
            </a:lvl8pPr>
            <a:lvl9pPr marL="38100" lvl="8" indent="0" algn="r">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3"/>
          <p:cNvSpPr txBox="1">
            <a:spLocks noGrp="1"/>
          </p:cNvSpPr>
          <p:nvPr>
            <p:ph type="body" idx="1"/>
          </p:nvPr>
        </p:nvSpPr>
        <p:spPr>
          <a:xfrm>
            <a:off x="838200" y="1505004"/>
            <a:ext cx="10515600" cy="467195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 name="Google Shape;11;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38100" marR="0" lvl="0" indent="0" algn="r" rtl="0">
              <a:spcBef>
                <a:spcPts val="0"/>
              </a:spcBef>
              <a:buNone/>
              <a:defRPr sz="1200" b="0" i="0" u="none" strike="noStrike" cap="none">
                <a:solidFill>
                  <a:srgbClr val="888888"/>
                </a:solidFill>
                <a:latin typeface="Calibri"/>
                <a:ea typeface="Calibri"/>
                <a:cs typeface="Calibri"/>
                <a:sym typeface="Calibri"/>
              </a:defRPr>
            </a:lvl1pPr>
            <a:lvl2pPr marL="38100" marR="0" lvl="1" indent="0" algn="r" rtl="0">
              <a:spcBef>
                <a:spcPts val="0"/>
              </a:spcBef>
              <a:buNone/>
              <a:defRPr sz="1200" b="0" i="0" u="none" strike="noStrike" cap="none">
                <a:solidFill>
                  <a:srgbClr val="888888"/>
                </a:solidFill>
                <a:latin typeface="Calibri"/>
                <a:ea typeface="Calibri"/>
                <a:cs typeface="Calibri"/>
                <a:sym typeface="Calibri"/>
              </a:defRPr>
            </a:lvl2pPr>
            <a:lvl3pPr marL="38100" marR="0" lvl="2" indent="0" algn="r" rtl="0">
              <a:spcBef>
                <a:spcPts val="0"/>
              </a:spcBef>
              <a:buNone/>
              <a:defRPr sz="1200" b="0" i="0" u="none" strike="noStrike" cap="none">
                <a:solidFill>
                  <a:srgbClr val="888888"/>
                </a:solidFill>
                <a:latin typeface="Calibri"/>
                <a:ea typeface="Calibri"/>
                <a:cs typeface="Calibri"/>
                <a:sym typeface="Calibri"/>
              </a:defRPr>
            </a:lvl3pPr>
            <a:lvl4pPr marL="38100" marR="0" lvl="3" indent="0" algn="r" rtl="0">
              <a:spcBef>
                <a:spcPts val="0"/>
              </a:spcBef>
              <a:buNone/>
              <a:defRPr sz="1200" b="0" i="0" u="none" strike="noStrike" cap="none">
                <a:solidFill>
                  <a:srgbClr val="888888"/>
                </a:solidFill>
                <a:latin typeface="Calibri"/>
                <a:ea typeface="Calibri"/>
                <a:cs typeface="Calibri"/>
                <a:sym typeface="Calibri"/>
              </a:defRPr>
            </a:lvl4pPr>
            <a:lvl5pPr marL="38100" marR="0" lvl="4" indent="0" algn="r" rtl="0">
              <a:spcBef>
                <a:spcPts val="0"/>
              </a:spcBef>
              <a:buNone/>
              <a:defRPr sz="1200" b="0" i="0" u="none" strike="noStrike" cap="none">
                <a:solidFill>
                  <a:srgbClr val="888888"/>
                </a:solidFill>
                <a:latin typeface="Calibri"/>
                <a:ea typeface="Calibri"/>
                <a:cs typeface="Calibri"/>
                <a:sym typeface="Calibri"/>
              </a:defRPr>
            </a:lvl5pPr>
            <a:lvl6pPr marL="38100" marR="0" lvl="5" indent="0" algn="r" rtl="0">
              <a:spcBef>
                <a:spcPts val="0"/>
              </a:spcBef>
              <a:buNone/>
              <a:defRPr sz="1200" b="0" i="0" u="none" strike="noStrike" cap="none">
                <a:solidFill>
                  <a:srgbClr val="888888"/>
                </a:solidFill>
                <a:latin typeface="Calibri"/>
                <a:ea typeface="Calibri"/>
                <a:cs typeface="Calibri"/>
                <a:sym typeface="Calibri"/>
              </a:defRPr>
            </a:lvl6pPr>
            <a:lvl7pPr marL="38100" marR="0" lvl="6" indent="0" algn="r" rtl="0">
              <a:spcBef>
                <a:spcPts val="0"/>
              </a:spcBef>
              <a:buNone/>
              <a:defRPr sz="1200" b="0" i="0" u="none" strike="noStrike" cap="none">
                <a:solidFill>
                  <a:srgbClr val="888888"/>
                </a:solidFill>
                <a:latin typeface="Calibri"/>
                <a:ea typeface="Calibri"/>
                <a:cs typeface="Calibri"/>
                <a:sym typeface="Calibri"/>
              </a:defRPr>
            </a:lvl7pPr>
            <a:lvl8pPr marL="38100" marR="0" lvl="7" indent="0" algn="r" rtl="0">
              <a:spcBef>
                <a:spcPts val="0"/>
              </a:spcBef>
              <a:buNone/>
              <a:defRPr sz="1200" b="0" i="0" u="none" strike="noStrike" cap="none">
                <a:solidFill>
                  <a:srgbClr val="888888"/>
                </a:solidFill>
                <a:latin typeface="Calibri"/>
                <a:ea typeface="Calibri"/>
                <a:cs typeface="Calibri"/>
                <a:sym typeface="Calibri"/>
              </a:defRPr>
            </a:lvl8pPr>
            <a:lvl9pPr marL="3810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38100" lvl="0" indent="0" algn="r" rtl="0">
              <a:spcBef>
                <a:spcPts val="0"/>
              </a:spcBef>
              <a:spcAft>
                <a:spcPts val="0"/>
              </a:spcAft>
              <a:buNone/>
            </a:pPr>
            <a:fld id="{00000000-1234-1234-1234-123412341234}" type="slidenum">
              <a:rPr lang="en-US"/>
              <a:t>‹#›</a:t>
            </a:fld>
            <a:endParaRPr/>
          </a:p>
        </p:txBody>
      </p:sp>
      <p:sp>
        <p:nvSpPr>
          <p:cNvPr id="14" name="Google Shape;14;p53"/>
          <p:cNvSpPr/>
          <p:nvPr/>
        </p:nvSpPr>
        <p:spPr>
          <a:xfrm>
            <a:off x="0" y="1"/>
            <a:ext cx="12192000" cy="1066799"/>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53"/>
          <p:cNvSpPr/>
          <p:nvPr/>
        </p:nvSpPr>
        <p:spPr>
          <a:xfrm>
            <a:off x="0" y="12192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6;p53"/>
          <p:cNvSpPr txBox="1">
            <a:spLocks noGrp="1"/>
          </p:cNvSpPr>
          <p:nvPr>
            <p:ph type="title"/>
          </p:nvPr>
        </p:nvSpPr>
        <p:spPr>
          <a:xfrm>
            <a:off x="838200" y="365126"/>
            <a:ext cx="10515600" cy="674688"/>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6.jpg"/></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jp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Shape 99"/>
        <p:cNvGrpSpPr/>
        <p:nvPr/>
      </p:nvGrpSpPr>
      <p:grpSpPr>
        <a:xfrm>
          <a:off x="0" y="0"/>
          <a:ext cx="0" cy="0"/>
          <a:chOff x="0" y="0"/>
          <a:chExt cx="0" cy="0"/>
        </a:xfrm>
      </p:grpSpPr>
      <p:sp>
        <p:nvSpPr>
          <p:cNvPr id="100" name="Google Shape;100;p1"/>
          <p:cNvSpPr txBox="1"/>
          <p:nvPr/>
        </p:nvSpPr>
        <p:spPr>
          <a:xfrm>
            <a:off x="3536442" y="1281810"/>
            <a:ext cx="2564130" cy="299720"/>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1800" b="0" i="0" u="none" strike="noStrike" cap="none">
                <a:solidFill>
                  <a:srgbClr val="FFFFFF"/>
                </a:solidFill>
                <a:latin typeface="Arial"/>
                <a:ea typeface="Arial"/>
                <a:cs typeface="Arial"/>
                <a:sym typeface="Arial"/>
              </a:rPr>
              <a:t>Thiết kế và lập trình Web</a:t>
            </a:r>
            <a:endParaRPr sz="1800" b="0" i="0" u="none" strike="noStrike" cap="none">
              <a:solidFill>
                <a:schemeClr val="dk1"/>
              </a:solidFill>
              <a:latin typeface="Arial"/>
              <a:ea typeface="Arial"/>
              <a:cs typeface="Arial"/>
              <a:sym typeface="Arial"/>
            </a:endParaRPr>
          </a:p>
        </p:txBody>
      </p:sp>
      <p:sp>
        <p:nvSpPr>
          <p:cNvPr id="101" name="Google Shape;101;p1"/>
          <p:cNvSpPr txBox="1"/>
          <p:nvPr/>
        </p:nvSpPr>
        <p:spPr>
          <a:xfrm>
            <a:off x="7129653" y="5349951"/>
            <a:ext cx="2698750" cy="452120"/>
          </a:xfrm>
          <a:prstGeom prst="rect">
            <a:avLst/>
          </a:prstGeom>
          <a:noFill/>
          <a:ln>
            <a:noFill/>
          </a:ln>
        </p:spPr>
        <p:txBody>
          <a:bodyPr spcFirstLastPara="1" wrap="square" lIns="0" tIns="12050" rIns="0" bIns="0" anchor="t" anchorCtr="0">
            <a:spAutoFit/>
          </a:bodyPr>
          <a:lstStyle/>
          <a:p>
            <a:pPr marL="12700" marR="0" lvl="0" indent="0" algn="l" rtl="0">
              <a:spcBef>
                <a:spcPts val="0"/>
              </a:spcBef>
              <a:spcAft>
                <a:spcPts val="0"/>
              </a:spcAft>
              <a:buNone/>
            </a:pPr>
            <a:r>
              <a:rPr lang="en-US" sz="2800" b="1" i="1" u="none" strike="noStrike" cap="none">
                <a:solidFill>
                  <a:srgbClr val="FFFFFF"/>
                </a:solidFill>
                <a:latin typeface="Arial"/>
                <a:ea typeface="Arial"/>
                <a:cs typeface="Arial"/>
                <a:sym typeface="Arial"/>
              </a:rPr>
              <a:t>Viện CNTT &amp; TT</a:t>
            </a:r>
            <a:endParaRPr sz="2800" b="0" i="0" u="none" strike="noStrike" cap="none">
              <a:solidFill>
                <a:schemeClr val="dk1"/>
              </a:solidFill>
              <a:latin typeface="Arial"/>
              <a:ea typeface="Arial"/>
              <a:cs typeface="Arial"/>
              <a:sym typeface="Arial"/>
            </a:endParaRPr>
          </a:p>
        </p:txBody>
      </p:sp>
      <p:sp>
        <p:nvSpPr>
          <p:cNvPr id="102" name="Google Shape;102;p1"/>
          <p:cNvSpPr txBox="1">
            <a:spLocks noGrp="1"/>
          </p:cNvSpPr>
          <p:nvPr>
            <p:ph type="ctrTitle"/>
          </p:nvPr>
        </p:nvSpPr>
        <p:spPr>
          <a:xfrm>
            <a:off x="2667000" y="1122363"/>
            <a:ext cx="6858000" cy="214058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213671"/>
              </a:buClr>
              <a:buSzPts val="5400"/>
              <a:buFont typeface="Calibri"/>
              <a:buNone/>
            </a:pPr>
            <a:r>
              <a:rPr lang="en-US" sz="5400" b="1" dirty="0">
                <a:solidFill>
                  <a:srgbClr val="213671"/>
                </a:solidFill>
                <a:latin typeface="Calibri"/>
                <a:ea typeface="Calibri"/>
                <a:cs typeface="Calibri"/>
                <a:sym typeface="Calibri"/>
              </a:rPr>
              <a:t>ỨNG DỤNG PHÂN TÁN</a:t>
            </a:r>
            <a:br>
              <a:rPr lang="en-US" sz="5400" b="1">
                <a:solidFill>
                  <a:srgbClr val="213671"/>
                </a:solidFill>
                <a:latin typeface="Calibri"/>
                <a:ea typeface="Calibri"/>
                <a:cs typeface="Calibri"/>
                <a:sym typeface="Calibri"/>
              </a:rPr>
            </a:br>
            <a:r>
              <a:rPr lang="en-US" sz="5400" b="1">
                <a:solidFill>
                  <a:srgbClr val="213671"/>
                </a:solidFill>
                <a:latin typeface="Calibri"/>
                <a:ea typeface="Calibri"/>
                <a:cs typeface="Calibri"/>
                <a:sym typeface="Calibri"/>
              </a:rPr>
              <a:t>V-VI. </a:t>
            </a:r>
            <a:r>
              <a:rPr lang="en-US" sz="5400" dirty="0" err="1">
                <a:solidFill>
                  <a:srgbClr val="213671"/>
                </a:solidFill>
              </a:rPr>
              <a:t>Đồng</a:t>
            </a:r>
            <a:r>
              <a:rPr lang="en-US" sz="5400" dirty="0">
                <a:solidFill>
                  <a:srgbClr val="213671"/>
                </a:solidFill>
              </a:rPr>
              <a:t> </a:t>
            </a:r>
            <a:r>
              <a:rPr lang="en-US" sz="5400" dirty="0" err="1">
                <a:solidFill>
                  <a:srgbClr val="213671"/>
                </a:solidFill>
              </a:rPr>
              <a:t>bộ</a:t>
            </a:r>
            <a:r>
              <a:rPr lang="en-US" sz="5400" dirty="0">
                <a:solidFill>
                  <a:srgbClr val="213671"/>
                </a:solidFill>
              </a:rPr>
              <a:t> </a:t>
            </a:r>
            <a:r>
              <a:rPr lang="en-US" sz="5400" dirty="0" err="1">
                <a:solidFill>
                  <a:srgbClr val="213671"/>
                </a:solidFill>
              </a:rPr>
              <a:t>hoá</a:t>
            </a:r>
            <a:endParaRPr sz="5400" b="1" dirty="0">
              <a:solidFill>
                <a:srgbClr val="213671"/>
              </a:solidFill>
              <a:latin typeface="Calibri"/>
              <a:ea typeface="Calibri"/>
              <a:cs typeface="Calibri"/>
              <a:sym typeface="Calibri"/>
            </a:endParaRPr>
          </a:p>
        </p:txBody>
      </p:sp>
      <p:sp>
        <p:nvSpPr>
          <p:cNvPr id="103" name="Google Shape;103;p1"/>
          <p:cNvSpPr txBox="1">
            <a:spLocks noGrp="1"/>
          </p:cNvSpPr>
          <p:nvPr>
            <p:ph type="subTitle" idx="1"/>
          </p:nvPr>
        </p:nvSpPr>
        <p:spPr>
          <a:xfrm>
            <a:off x="2666999" y="4579542"/>
            <a:ext cx="6858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lt1"/>
              </a:buClr>
              <a:buSzPts val="2400"/>
              <a:buNone/>
            </a:pPr>
            <a:r>
              <a:rPr lang="en-US" b="1">
                <a:solidFill>
                  <a:schemeClr val="lt1"/>
                </a:solidFill>
                <a:latin typeface="Arial"/>
                <a:ea typeface="Arial"/>
                <a:cs typeface="Arial"/>
                <a:sym typeface="Arial"/>
              </a:rPr>
              <a:t>Nguyễn Thành Trung – Khoa Công nghệ thông tin</a:t>
            </a:r>
            <a:endParaRPr/>
          </a:p>
          <a:p>
            <a:pPr marL="0" lvl="0" indent="0" algn="ctr" rtl="0">
              <a:lnSpc>
                <a:spcPct val="90000"/>
              </a:lnSpc>
              <a:spcBef>
                <a:spcPts val="1000"/>
              </a:spcBef>
              <a:spcAft>
                <a:spcPts val="0"/>
              </a:spcAft>
              <a:buClr>
                <a:schemeClr val="lt1"/>
              </a:buClr>
              <a:buSzPts val="1600"/>
              <a:buNone/>
            </a:pPr>
            <a:r>
              <a:rPr lang="en-US" sz="1600">
                <a:solidFill>
                  <a:schemeClr val="lt1"/>
                </a:solidFill>
                <a:latin typeface="Arial"/>
                <a:ea typeface="Arial"/>
                <a:cs typeface="Arial"/>
                <a:sym typeface="Arial"/>
              </a:rPr>
              <a:t>trung.nguyenthanh@phenikaa-uni.edu.vn</a:t>
            </a:r>
            <a:endParaRPr/>
          </a:p>
        </p:txBody>
      </p:sp>
      <p:sp>
        <p:nvSpPr>
          <p:cNvPr id="104" name="Google Shape;104;p1"/>
          <p:cNvSpPr/>
          <p:nvPr/>
        </p:nvSpPr>
        <p:spPr>
          <a:xfrm>
            <a:off x="0" y="4412612"/>
            <a:ext cx="12192000" cy="2445391"/>
          </a:xfrm>
          <a:prstGeom prst="rect">
            <a:avLst/>
          </a:prstGeom>
          <a:solidFill>
            <a:srgbClr val="213671"/>
          </a:solidFill>
          <a:ln w="12700" cap="flat" cmpd="sng">
            <a:solidFill>
              <a:srgbClr val="21367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i="0" u="none" strike="noStrike" cap="none">
                <a:solidFill>
                  <a:schemeClr val="lt1"/>
                </a:solidFill>
                <a:latin typeface="Calibri"/>
                <a:ea typeface="Calibri"/>
                <a:cs typeface="Calibri"/>
                <a:sym typeface="Calibri"/>
              </a:rPr>
              <a:t>Nhóm chuyên môn UDPT – Trường Công nghệ thông tin Phenikaa</a:t>
            </a:r>
            <a:endParaRPr sz="2000" b="1" i="0" u="none" strike="noStrike" cap="none">
              <a:solidFill>
                <a:schemeClr val="lt1"/>
              </a:solidFill>
              <a:latin typeface="Calibri"/>
              <a:ea typeface="Calibri"/>
              <a:cs typeface="Calibri"/>
              <a:sym typeface="Calibri"/>
            </a:endParaRPr>
          </a:p>
          <a:p>
            <a:pPr marL="0" marR="0" lvl="0" indent="0" algn="ctr" rtl="0">
              <a:spcBef>
                <a:spcPts val="0"/>
              </a:spcBef>
              <a:spcAft>
                <a:spcPts val="0"/>
              </a:spcAft>
              <a:buNone/>
            </a:pPr>
            <a:r>
              <a:rPr lang="en-US" sz="2000" b="0" i="0" u="none" strike="noStrike" cap="none">
                <a:solidFill>
                  <a:schemeClr val="lt1"/>
                </a:solidFill>
                <a:latin typeface="Calibri"/>
                <a:ea typeface="Calibri"/>
                <a:cs typeface="Calibri"/>
                <a:sym typeface="Calibri"/>
              </a:rPr>
              <a:t>(Trần Đăng Hoan, Đỗ Quốc Trường, Nguyễn Thành Trung, Phạm Kim Thành, Nguyễn Hữu Đạt)</a:t>
            </a:r>
            <a:endParaRPr sz="2000" b="0" i="0" u="none" strike="noStrike" cap="none">
              <a:solidFill>
                <a:schemeClr val="lt1"/>
              </a:solidFill>
              <a:latin typeface="Calibri"/>
              <a:ea typeface="Calibri"/>
              <a:cs typeface="Calibri"/>
              <a:sym typeface="Calibri"/>
            </a:endParaRPr>
          </a:p>
        </p:txBody>
      </p:sp>
      <p:sp>
        <p:nvSpPr>
          <p:cNvPr id="105" name="Google Shape;105;p1"/>
          <p:cNvSpPr/>
          <p:nvPr/>
        </p:nvSpPr>
        <p:spPr>
          <a:xfrm>
            <a:off x="0" y="4114800"/>
            <a:ext cx="12192000" cy="133404"/>
          </a:xfrm>
          <a:prstGeom prst="rect">
            <a:avLst/>
          </a:prstGeom>
          <a:solidFill>
            <a:srgbClr val="FB6923"/>
          </a:solidFill>
          <a:ln w="12700" cap="flat" cmpd="sng">
            <a:solidFill>
              <a:srgbClr val="FB69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06" name="Google Shape;106;p1" descr="A picture containing text&#10;&#10;Description automatically generated"/>
          <p:cNvPicPr preferRelativeResize="0"/>
          <p:nvPr/>
        </p:nvPicPr>
        <p:blipFill rotWithShape="1">
          <a:blip r:embed="rId3">
            <a:alphaModFix/>
          </a:blip>
          <a:srcRect/>
          <a:stretch/>
        </p:blipFill>
        <p:spPr>
          <a:xfrm>
            <a:off x="0" y="271253"/>
            <a:ext cx="2684477" cy="462203"/>
          </a:xfrm>
          <a:prstGeom prst="rect">
            <a:avLst/>
          </a:prstGeom>
          <a:noFill/>
          <a:ln>
            <a:noFill/>
          </a:ln>
        </p:spPr>
      </p:pic>
      <p:sp>
        <p:nvSpPr>
          <p:cNvPr id="107" name="Google Shape;107;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title"/>
          </p:nvPr>
        </p:nvSpPr>
        <p:spPr>
          <a:xfrm>
            <a:off x="990600" y="304800"/>
            <a:ext cx="2017635"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Nội dung</a:t>
            </a:r>
            <a:endParaRPr/>
          </a:p>
        </p:txBody>
      </p:sp>
      <p:sp>
        <p:nvSpPr>
          <p:cNvPr id="113" name="Google Shape;113;p2"/>
          <p:cNvSpPr txBox="1"/>
          <p:nvPr/>
        </p:nvSpPr>
        <p:spPr>
          <a:xfrm>
            <a:off x="990600" y="1981200"/>
            <a:ext cx="5486400" cy="2048988"/>
          </a:xfrm>
          <a:prstGeom prst="rect">
            <a:avLst/>
          </a:prstGeom>
          <a:noFill/>
          <a:ln>
            <a:noFill/>
          </a:ln>
        </p:spPr>
        <p:txBody>
          <a:bodyPr spcFirstLastPara="1" wrap="square" lIns="0" tIns="102575" rIns="0" bIns="0" anchor="t" anchorCtr="0">
            <a:spAutoFit/>
          </a:bodyPr>
          <a:lstStyle/>
          <a:p>
            <a:pPr marL="315827" marR="0" lvl="0" indent="-304876" algn="l" rtl="0">
              <a:spcBef>
                <a:spcPts val="0"/>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Đồng bộ hóa đồng hồ vật lý</a:t>
            </a:r>
            <a:endParaRPr/>
          </a:p>
          <a:p>
            <a:pPr marL="315827" marR="0" lvl="0" indent="-304876" algn="l" rtl="0">
              <a:spcBef>
                <a:spcPts val="722"/>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Đồng bộ hóa đồng hồ logic</a:t>
            </a:r>
            <a:endParaRPr sz="2723" b="0" i="0" u="none" strike="noStrike" cap="none">
              <a:solidFill>
                <a:schemeClr val="dk1"/>
              </a:solidFill>
              <a:latin typeface="Calibri"/>
              <a:ea typeface="Calibri"/>
              <a:cs typeface="Calibri"/>
              <a:sym typeface="Calibri"/>
            </a:endParaRPr>
          </a:p>
          <a:p>
            <a:pPr marL="315827" marR="0" lvl="0" indent="-304876" algn="l" rtl="0">
              <a:spcBef>
                <a:spcPts val="717"/>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Các thuật toán loại trừ lẫn nhau</a:t>
            </a:r>
            <a:endParaRPr sz="2723" b="0" i="0" u="none" strike="noStrike" cap="none">
              <a:solidFill>
                <a:schemeClr val="dk1"/>
              </a:solidFill>
              <a:latin typeface="Calibri"/>
              <a:ea typeface="Calibri"/>
              <a:cs typeface="Calibri"/>
              <a:sym typeface="Calibri"/>
            </a:endParaRPr>
          </a:p>
          <a:p>
            <a:pPr marL="315827" marR="0" lvl="0" indent="-304876" algn="l" rtl="0">
              <a:spcBef>
                <a:spcPts val="740"/>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Các thuật toán bầu chọn</a:t>
            </a:r>
            <a:endParaRPr sz="2723" b="0" i="0" u="none" strike="noStrike" cap="none">
              <a:solidFill>
                <a:schemeClr val="dk1"/>
              </a:solidFill>
              <a:latin typeface="Calibri"/>
              <a:ea typeface="Calibri"/>
              <a:cs typeface="Calibri"/>
              <a:sym typeface="Calibri"/>
            </a:endParaRPr>
          </a:p>
        </p:txBody>
      </p:sp>
      <p:sp>
        <p:nvSpPr>
          <p:cNvPr id="114" name="Google Shape;1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title"/>
          </p:nvPr>
        </p:nvSpPr>
        <p:spPr>
          <a:xfrm>
            <a:off x="914400" y="304800"/>
            <a:ext cx="3132079"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Mở đầu</a:t>
            </a:r>
            <a:endParaRPr/>
          </a:p>
        </p:txBody>
      </p:sp>
      <p:sp>
        <p:nvSpPr>
          <p:cNvPr id="121" name="Google Shape;121;p3"/>
          <p:cNvSpPr txBox="1"/>
          <p:nvPr/>
        </p:nvSpPr>
        <p:spPr>
          <a:xfrm>
            <a:off x="1066800" y="1384092"/>
            <a:ext cx="10744200" cy="5703421"/>
          </a:xfrm>
          <a:prstGeom prst="rect">
            <a:avLst/>
          </a:prstGeom>
          <a:noFill/>
          <a:ln>
            <a:noFill/>
          </a:ln>
        </p:spPr>
        <p:txBody>
          <a:bodyPr spcFirstLastPara="1" wrap="square" lIns="0" tIns="99100" rIns="0" bIns="0" anchor="t" anchorCtr="0">
            <a:spAutoFit/>
          </a:bodyPr>
          <a:lstStyle/>
          <a:p>
            <a:pPr marL="315827" marR="0" lvl="0" indent="-304876" algn="l" rtl="0">
              <a:spcBef>
                <a:spcPts val="0"/>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Trong một hệ tập trung, thời gian hệ thống là riêng biệt</a:t>
            </a:r>
            <a:endParaRPr sz="2723" b="0" i="0" u="none" strike="noStrike" cap="none">
              <a:solidFill>
                <a:schemeClr val="dk1"/>
              </a:solidFill>
              <a:latin typeface="Calibri"/>
              <a:ea typeface="Calibri"/>
              <a:cs typeface="Calibri"/>
              <a:sym typeface="Calibri"/>
            </a:endParaRPr>
          </a:p>
          <a:p>
            <a:pPr marL="315827" marR="0" lvl="0" indent="-201129" algn="l" rtl="0">
              <a:spcBef>
                <a:spcPts val="781"/>
              </a:spcBef>
              <a:spcAft>
                <a:spcPts val="0"/>
              </a:spcAft>
              <a:buClr>
                <a:srgbClr val="DD8047"/>
              </a:buClr>
              <a:buSzPts val="1634"/>
              <a:buFont typeface="Noto Sans Symbols"/>
              <a:buNone/>
            </a:pPr>
            <a:endParaRPr sz="2723" b="0" i="0" u="none" strike="noStrike" cap="none">
              <a:solidFill>
                <a:schemeClr val="dk1"/>
              </a:solidFill>
              <a:latin typeface="Calibri"/>
              <a:ea typeface="Calibri"/>
              <a:cs typeface="Calibri"/>
              <a:sym typeface="Calibri"/>
            </a:endParaRPr>
          </a:p>
          <a:p>
            <a:pPr marL="315827" marR="0" lvl="0" indent="-201129" algn="l" rtl="0">
              <a:spcBef>
                <a:spcPts val="781"/>
              </a:spcBef>
              <a:spcAft>
                <a:spcPts val="0"/>
              </a:spcAft>
              <a:buClr>
                <a:srgbClr val="DD8047"/>
              </a:buClr>
              <a:buSzPts val="1634"/>
              <a:buFont typeface="Noto Sans Symbols"/>
              <a:buNone/>
            </a:pPr>
            <a:endParaRPr sz="2723" b="0" i="0" u="none" strike="noStrike" cap="none">
              <a:solidFill>
                <a:schemeClr val="dk1"/>
              </a:solidFill>
              <a:latin typeface="Calibri"/>
              <a:ea typeface="Calibri"/>
              <a:cs typeface="Calibri"/>
              <a:sym typeface="Calibri"/>
            </a:endParaRPr>
          </a:p>
          <a:p>
            <a:pPr marL="315827" marR="0" lvl="0" indent="-201129" algn="l" rtl="0">
              <a:spcBef>
                <a:spcPts val="781"/>
              </a:spcBef>
              <a:spcAft>
                <a:spcPts val="0"/>
              </a:spcAft>
              <a:buClr>
                <a:srgbClr val="DD8047"/>
              </a:buClr>
              <a:buSzPts val="1634"/>
              <a:buFont typeface="Noto Sans Symbols"/>
              <a:buNone/>
            </a:pPr>
            <a:endParaRPr sz="2723" b="0" i="0" u="none" strike="noStrike" cap="none">
              <a:solidFill>
                <a:schemeClr val="dk1"/>
              </a:solidFill>
              <a:latin typeface="Calibri"/>
              <a:ea typeface="Calibri"/>
              <a:cs typeface="Calibri"/>
              <a:sym typeface="Calibri"/>
            </a:endParaRPr>
          </a:p>
          <a:p>
            <a:pPr marL="315827" marR="0" lvl="0" indent="-201129" algn="l" rtl="0">
              <a:spcBef>
                <a:spcPts val="781"/>
              </a:spcBef>
              <a:spcAft>
                <a:spcPts val="0"/>
              </a:spcAft>
              <a:buClr>
                <a:srgbClr val="DD8047"/>
              </a:buClr>
              <a:buSzPts val="1634"/>
              <a:buFont typeface="Noto Sans Symbols"/>
              <a:buNone/>
            </a:pPr>
            <a:endParaRPr sz="2723" b="0" i="0" u="none" strike="noStrike" cap="none">
              <a:solidFill>
                <a:schemeClr val="dk1"/>
              </a:solidFill>
              <a:latin typeface="Calibri"/>
              <a:ea typeface="Calibri"/>
              <a:cs typeface="Calibri"/>
              <a:sym typeface="Calibri"/>
            </a:endParaRPr>
          </a:p>
          <a:p>
            <a:pPr marL="315827" marR="0" lvl="0" indent="-201129" algn="l" rtl="0">
              <a:spcBef>
                <a:spcPts val="781"/>
              </a:spcBef>
              <a:spcAft>
                <a:spcPts val="0"/>
              </a:spcAft>
              <a:buClr>
                <a:srgbClr val="DD8047"/>
              </a:buClr>
              <a:buSzPts val="1634"/>
              <a:buFont typeface="Noto Sans Symbols"/>
              <a:buNone/>
            </a:pPr>
            <a:endParaRPr sz="2723" b="0" i="0" u="none" strike="noStrike" cap="none">
              <a:solidFill>
                <a:schemeClr val="dk1"/>
              </a:solidFill>
              <a:latin typeface="Calibri"/>
              <a:ea typeface="Calibri"/>
              <a:cs typeface="Calibri"/>
              <a:sym typeface="Calibri"/>
            </a:endParaRPr>
          </a:p>
          <a:p>
            <a:pPr marL="315827" marR="0" lvl="0" indent="-201129" algn="l" rtl="0">
              <a:spcBef>
                <a:spcPts val="781"/>
              </a:spcBef>
              <a:spcAft>
                <a:spcPts val="0"/>
              </a:spcAft>
              <a:buClr>
                <a:srgbClr val="DD8047"/>
              </a:buClr>
              <a:buSzPts val="1634"/>
              <a:buFont typeface="Noto Sans Symbols"/>
              <a:buNone/>
            </a:pPr>
            <a:endParaRPr sz="2723" b="0" i="0" u="none" strike="noStrike" cap="none">
              <a:solidFill>
                <a:schemeClr val="dk1"/>
              </a:solidFill>
              <a:latin typeface="Calibri"/>
              <a:ea typeface="Calibri"/>
              <a:cs typeface="Calibri"/>
              <a:sym typeface="Calibri"/>
            </a:endParaRPr>
          </a:p>
          <a:p>
            <a:pPr marL="315827" marR="0" lvl="0" indent="-201129" algn="l" rtl="0">
              <a:spcBef>
                <a:spcPts val="781"/>
              </a:spcBef>
              <a:spcAft>
                <a:spcPts val="0"/>
              </a:spcAft>
              <a:buClr>
                <a:srgbClr val="DD8047"/>
              </a:buClr>
              <a:buSzPts val="1634"/>
              <a:buFont typeface="Noto Sans Symbols"/>
              <a:buNone/>
            </a:pPr>
            <a:endParaRPr sz="2723" b="0" i="0" u="none" strike="noStrike" cap="none">
              <a:solidFill>
                <a:schemeClr val="dk1"/>
              </a:solidFill>
              <a:latin typeface="Calibri"/>
              <a:ea typeface="Calibri"/>
              <a:cs typeface="Calibri"/>
              <a:sym typeface="Calibri"/>
            </a:endParaRPr>
          </a:p>
          <a:p>
            <a:pPr marL="315827" marR="0" lvl="0" indent="-201129" algn="l" rtl="0">
              <a:spcBef>
                <a:spcPts val="781"/>
              </a:spcBef>
              <a:spcAft>
                <a:spcPts val="0"/>
              </a:spcAft>
              <a:buClr>
                <a:srgbClr val="DD8047"/>
              </a:buClr>
              <a:buSzPts val="1634"/>
              <a:buFont typeface="Noto Sans Symbols"/>
              <a:buNone/>
            </a:pPr>
            <a:endParaRPr sz="2723" b="0" i="0" u="none" strike="noStrike" cap="none">
              <a:solidFill>
                <a:schemeClr val="dk1"/>
              </a:solidFill>
              <a:latin typeface="Calibri"/>
              <a:ea typeface="Calibri"/>
              <a:cs typeface="Calibri"/>
              <a:sym typeface="Calibri"/>
            </a:endParaRPr>
          </a:p>
          <a:p>
            <a:pPr marL="315827" marR="0" lvl="0" indent="-304876" algn="l" rtl="0">
              <a:spcBef>
                <a:spcPts val="781"/>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Trong hệ thống phân tán: đạt được sự thống nhất về thời gian ?</a:t>
            </a:r>
            <a:endParaRPr sz="2723" b="0" i="0" u="none" strike="noStrike" cap="none">
              <a:solidFill>
                <a:schemeClr val="dk1"/>
              </a:solidFill>
              <a:latin typeface="Calibri"/>
              <a:ea typeface="Calibri"/>
              <a:cs typeface="Calibri"/>
              <a:sym typeface="Calibri"/>
            </a:endParaRPr>
          </a:p>
          <a:p>
            <a:pPr marL="621279" marR="4611" lvl="1" indent="-138821" algn="l" rtl="0">
              <a:lnSpc>
                <a:spcPct val="102200"/>
              </a:lnSpc>
              <a:spcBef>
                <a:spcPts val="554"/>
              </a:spcBef>
              <a:spcAft>
                <a:spcPts val="0"/>
              </a:spcAft>
              <a:buClr>
                <a:srgbClr val="94B6D2"/>
              </a:buClr>
              <a:buSzPts val="1916"/>
              <a:buFont typeface="Arial"/>
              <a:buNone/>
            </a:pPr>
            <a:endParaRPr sz="2723" b="0" i="0" u="none" strike="noStrike" cap="none">
              <a:solidFill>
                <a:schemeClr val="dk1"/>
              </a:solidFill>
              <a:latin typeface="Calibri"/>
              <a:ea typeface="Calibri"/>
              <a:cs typeface="Calibri"/>
              <a:sym typeface="Calibri"/>
            </a:endParaRPr>
          </a:p>
        </p:txBody>
      </p:sp>
      <p:pic>
        <p:nvPicPr>
          <p:cNvPr id="122" name="Google Shape;122;p3"/>
          <p:cNvPicPr preferRelativeResize="0"/>
          <p:nvPr/>
        </p:nvPicPr>
        <p:blipFill rotWithShape="1">
          <a:blip r:embed="rId3">
            <a:alphaModFix/>
          </a:blip>
          <a:srcRect/>
          <a:stretch/>
        </p:blipFill>
        <p:spPr>
          <a:xfrm>
            <a:off x="2209800" y="2286000"/>
            <a:ext cx="8105078" cy="3404133"/>
          </a:xfrm>
          <a:prstGeom prst="rect">
            <a:avLst/>
          </a:prstGeom>
          <a:noFill/>
          <a:ln>
            <a:noFill/>
          </a:ln>
        </p:spPr>
      </p:pic>
      <p:sp>
        <p:nvSpPr>
          <p:cNvPr id="123" name="Google Shape;123;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4"/>
          <p:cNvSpPr txBox="1">
            <a:spLocks noGrp="1"/>
          </p:cNvSpPr>
          <p:nvPr>
            <p:ph type="title"/>
          </p:nvPr>
        </p:nvSpPr>
        <p:spPr>
          <a:xfrm>
            <a:off x="914400" y="304800"/>
            <a:ext cx="3132079"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Mở đầu</a:t>
            </a:r>
            <a:endParaRPr/>
          </a:p>
        </p:txBody>
      </p:sp>
      <p:sp>
        <p:nvSpPr>
          <p:cNvPr id="130" name="Google Shape;130;p4"/>
          <p:cNvSpPr txBox="1"/>
          <p:nvPr/>
        </p:nvSpPr>
        <p:spPr>
          <a:xfrm>
            <a:off x="1066800" y="1776944"/>
            <a:ext cx="10744200" cy="2919390"/>
          </a:xfrm>
          <a:prstGeom prst="rect">
            <a:avLst/>
          </a:prstGeom>
          <a:noFill/>
          <a:ln>
            <a:noFill/>
          </a:ln>
        </p:spPr>
        <p:txBody>
          <a:bodyPr spcFirstLastPara="1" wrap="square" lIns="0" tIns="99100" rIns="0" bIns="0" anchor="t" anchorCtr="0">
            <a:spAutoFit/>
          </a:bodyPr>
          <a:lstStyle/>
          <a:p>
            <a:pPr marL="315827" marR="0" lvl="0" indent="-304876" algn="l" rtl="0">
              <a:spcBef>
                <a:spcPts val="0"/>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Các tiến trình thực hiện đồng bộ hóa ntn?</a:t>
            </a:r>
            <a:endParaRPr sz="2723" b="0" i="0" u="none" strike="noStrike" cap="none">
              <a:solidFill>
                <a:schemeClr val="dk1"/>
              </a:solidFill>
              <a:latin typeface="Calibri"/>
              <a:ea typeface="Calibri"/>
              <a:cs typeface="Calibri"/>
              <a:sym typeface="Calibri"/>
            </a:endParaRPr>
          </a:p>
          <a:p>
            <a:pPr marL="621279" marR="4611" lvl="1" indent="-260499" algn="l" rtl="0">
              <a:lnSpc>
                <a:spcPct val="102200"/>
              </a:lnSpc>
              <a:spcBef>
                <a:spcPts val="554"/>
              </a:spcBef>
              <a:spcAft>
                <a:spcPts val="0"/>
              </a:spcAft>
              <a:buClr>
                <a:srgbClr val="94B6D2"/>
              </a:buClr>
              <a:buSzPts val="1725"/>
              <a:buFont typeface="Arial"/>
              <a:buChar char="¤"/>
            </a:pPr>
            <a:r>
              <a:rPr lang="en-US" sz="2451" b="0" i="0" u="none" strike="noStrike" cap="none">
                <a:solidFill>
                  <a:schemeClr val="dk1"/>
                </a:solidFill>
                <a:latin typeface="Calibri"/>
                <a:ea typeface="Calibri"/>
                <a:cs typeface="Calibri"/>
                <a:sym typeface="Calibri"/>
              </a:rPr>
              <a:t>Nhiều tiến trình cần lần lượt vào sử dụng tài nguyên chia sẻ dùng chung</a:t>
            </a:r>
            <a:endParaRPr sz="2451" b="0" i="0" u="none" strike="noStrike" cap="none">
              <a:solidFill>
                <a:schemeClr val="dk1"/>
              </a:solidFill>
              <a:latin typeface="Calibri"/>
              <a:ea typeface="Calibri"/>
              <a:cs typeface="Calibri"/>
              <a:sym typeface="Calibri"/>
            </a:endParaRPr>
          </a:p>
          <a:p>
            <a:pPr marL="621279" marR="0" lvl="1" indent="-261076" algn="l" rtl="0">
              <a:spcBef>
                <a:spcPts val="590"/>
              </a:spcBef>
              <a:spcAft>
                <a:spcPts val="0"/>
              </a:spcAft>
              <a:buClr>
                <a:srgbClr val="94B6D2"/>
              </a:buClr>
              <a:buSzPts val="1725"/>
              <a:buFont typeface="Arial"/>
              <a:buChar char="¤"/>
            </a:pPr>
            <a:r>
              <a:rPr lang="en-US" sz="2451" b="0" i="0" u="none" strike="noStrike" cap="none">
                <a:solidFill>
                  <a:schemeClr val="dk1"/>
                </a:solidFill>
                <a:latin typeface="Calibri"/>
                <a:ea typeface="Calibri"/>
                <a:cs typeface="Calibri"/>
                <a:sym typeface="Calibri"/>
              </a:rPr>
              <a:t>Nhiều tiến trình cần thống nhất thứ tự các sự kiện</a:t>
            </a:r>
            <a:endParaRPr sz="2451" b="0" i="0" u="none" strike="noStrike" cap="none">
              <a:solidFill>
                <a:schemeClr val="dk1"/>
              </a:solidFill>
              <a:latin typeface="Calibri"/>
              <a:ea typeface="Calibri"/>
              <a:cs typeface="Calibri"/>
              <a:sym typeface="Calibri"/>
            </a:endParaRPr>
          </a:p>
          <a:p>
            <a:pPr marL="621279" marR="0" lvl="1" indent="-261076" algn="l" rtl="0">
              <a:spcBef>
                <a:spcPts val="608"/>
              </a:spcBef>
              <a:spcAft>
                <a:spcPts val="0"/>
              </a:spcAft>
              <a:buClr>
                <a:srgbClr val="94B6D2"/>
              </a:buClr>
              <a:buSzPts val="1725"/>
              <a:buFont typeface="Arial"/>
              <a:buChar char="¤"/>
            </a:pPr>
            <a:r>
              <a:rPr lang="en-US" sz="2451" b="0" i="0" u="none" strike="noStrike" cap="none">
                <a:solidFill>
                  <a:schemeClr val="dk1"/>
                </a:solidFill>
                <a:latin typeface="Calibri"/>
                <a:ea typeface="Calibri"/>
                <a:cs typeface="Calibri"/>
                <a:sym typeface="Calibri"/>
              </a:rPr>
              <a:t>Vấn đề đối với ngữ cảnh HPT?</a:t>
            </a:r>
            <a:endParaRPr sz="2451" b="0" i="0" u="none" strike="noStrike" cap="none">
              <a:solidFill>
                <a:schemeClr val="dk1"/>
              </a:solidFill>
              <a:latin typeface="Calibri"/>
              <a:ea typeface="Calibri"/>
              <a:cs typeface="Calibri"/>
              <a:sym typeface="Calibri"/>
            </a:endParaRPr>
          </a:p>
          <a:p>
            <a:pPr marL="315827" marR="0" lvl="0" indent="-304876" algn="l" rtl="0">
              <a:spcBef>
                <a:spcPts val="685"/>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Đồng bộ hóa dựa trên giá trị thời gian thực</a:t>
            </a:r>
            <a:endParaRPr sz="2723" b="0" i="0" u="none" strike="noStrike" cap="none">
              <a:solidFill>
                <a:schemeClr val="dk1"/>
              </a:solidFill>
              <a:latin typeface="Calibri"/>
              <a:ea typeface="Calibri"/>
              <a:cs typeface="Calibri"/>
              <a:sym typeface="Calibri"/>
            </a:endParaRPr>
          </a:p>
          <a:p>
            <a:pPr marL="315827" marR="0" lvl="0" indent="-304876" algn="l" rtl="0">
              <a:spcBef>
                <a:spcPts val="808"/>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Đồng bộ hóa dựa trên thứ tự các sự kiện</a:t>
            </a:r>
            <a:endParaRPr sz="2723" b="0" i="0" u="none" strike="noStrike" cap="none">
              <a:solidFill>
                <a:schemeClr val="dk1"/>
              </a:solidFill>
              <a:latin typeface="Calibri"/>
              <a:ea typeface="Calibri"/>
              <a:cs typeface="Calibri"/>
              <a:sym typeface="Calibri"/>
            </a:endParaRPr>
          </a:p>
        </p:txBody>
      </p:sp>
      <p:pic>
        <p:nvPicPr>
          <p:cNvPr id="131" name="Google Shape;131;p4"/>
          <p:cNvPicPr preferRelativeResize="0"/>
          <p:nvPr/>
        </p:nvPicPr>
        <p:blipFill rotWithShape="1">
          <a:blip r:embed="rId3">
            <a:alphaModFix/>
          </a:blip>
          <a:srcRect/>
          <a:stretch/>
        </p:blipFill>
        <p:spPr>
          <a:xfrm>
            <a:off x="7944780" y="2971800"/>
            <a:ext cx="3897062" cy="3581400"/>
          </a:xfrm>
          <a:prstGeom prst="rect">
            <a:avLst/>
          </a:prstGeom>
          <a:noFill/>
          <a:ln>
            <a:noFill/>
          </a:ln>
        </p:spPr>
      </p:pic>
      <p:sp>
        <p:nvSpPr>
          <p:cNvPr id="132" name="Google Shape;1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txBox="1">
            <a:spLocks noGrp="1"/>
          </p:cNvSpPr>
          <p:nvPr>
            <p:ph type="title"/>
          </p:nvPr>
        </p:nvSpPr>
        <p:spPr>
          <a:xfrm>
            <a:off x="990600" y="304800"/>
            <a:ext cx="6500692"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1. Đồng bộ hóa đồng hồ vật lý</a:t>
            </a:r>
            <a:endParaRPr/>
          </a:p>
        </p:txBody>
      </p:sp>
      <p:sp>
        <p:nvSpPr>
          <p:cNvPr id="138" name="Google Shape;138;p5"/>
          <p:cNvSpPr txBox="1"/>
          <p:nvPr/>
        </p:nvSpPr>
        <p:spPr>
          <a:xfrm>
            <a:off x="990600" y="1885895"/>
            <a:ext cx="7309821" cy="1543105"/>
          </a:xfrm>
          <a:prstGeom prst="rect">
            <a:avLst/>
          </a:prstGeom>
          <a:noFill/>
          <a:ln>
            <a:noFill/>
          </a:ln>
        </p:spPr>
        <p:txBody>
          <a:bodyPr spcFirstLastPara="1" wrap="square" lIns="0" tIns="105450" rIns="0" bIns="0" anchor="t" anchorCtr="0">
            <a:spAutoFit/>
          </a:bodyPr>
          <a:lstStyle/>
          <a:p>
            <a:pPr marL="315827" marR="0" lvl="0" indent="-304876" algn="l" rtl="0">
              <a:spcBef>
                <a:spcPts val="0"/>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Đồng hồ vật lý</a:t>
            </a:r>
            <a:endParaRPr/>
          </a:p>
          <a:p>
            <a:pPr marL="315827" marR="0" lvl="0" indent="-304876" algn="l" rtl="0">
              <a:spcBef>
                <a:spcPts val="740"/>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Các vấn đề khi không đồng bộ hóa đồng hồ vật lý</a:t>
            </a:r>
            <a:endParaRPr/>
          </a:p>
          <a:p>
            <a:pPr marL="315827" marR="0" lvl="0" indent="-304876" algn="l" rtl="0">
              <a:spcBef>
                <a:spcPts val="722"/>
              </a:spcBef>
              <a:spcAft>
                <a:spcPts val="0"/>
              </a:spcAft>
              <a:buClr>
                <a:srgbClr val="DD8047"/>
              </a:buClr>
              <a:buSzPts val="1634"/>
              <a:buFont typeface="Noto Sans Symbols"/>
              <a:buChar char="◻"/>
            </a:pPr>
            <a:r>
              <a:rPr lang="en-US" sz="2723" b="0" i="0" u="none" strike="noStrike" cap="none">
                <a:solidFill>
                  <a:schemeClr val="dk1"/>
                </a:solidFill>
                <a:latin typeface="Calibri"/>
                <a:ea typeface="Calibri"/>
                <a:cs typeface="Calibri"/>
                <a:sym typeface="Calibri"/>
              </a:rPr>
              <a:t>Các thuật toán đồng bộ hóa đồng hồ vật lý</a:t>
            </a:r>
            <a:endParaRPr/>
          </a:p>
        </p:txBody>
      </p:sp>
      <p:sp>
        <p:nvSpPr>
          <p:cNvPr id="139" name="Google Shape;1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5</a:t>
            </a:fld>
            <a:endParaRPr/>
          </a:p>
        </p:txBody>
      </p:sp>
      <p:pic>
        <p:nvPicPr>
          <p:cNvPr id="140" name="Google Shape;140;p5"/>
          <p:cNvPicPr preferRelativeResize="0"/>
          <p:nvPr/>
        </p:nvPicPr>
        <p:blipFill rotWithShape="1">
          <a:blip r:embed="rId3">
            <a:alphaModFix/>
          </a:blip>
          <a:srcRect/>
          <a:stretch/>
        </p:blipFill>
        <p:spPr>
          <a:xfrm>
            <a:off x="5783902" y="3124200"/>
            <a:ext cx="5217474" cy="3019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6"/>
          <p:cNvSpPr txBox="1">
            <a:spLocks noGrp="1"/>
          </p:cNvSpPr>
          <p:nvPr>
            <p:ph type="title"/>
          </p:nvPr>
        </p:nvSpPr>
        <p:spPr>
          <a:xfrm>
            <a:off x="1371600" y="304800"/>
            <a:ext cx="6260374"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Ví dụ 1: Lập trình trong HPT</a:t>
            </a:r>
            <a:endParaRPr/>
          </a:p>
        </p:txBody>
      </p:sp>
      <p:sp>
        <p:nvSpPr>
          <p:cNvPr id="147" name="Google Shape;147;p6"/>
          <p:cNvSpPr/>
          <p:nvPr/>
        </p:nvSpPr>
        <p:spPr>
          <a:xfrm>
            <a:off x="941350" y="2362200"/>
            <a:ext cx="10309300" cy="2645933"/>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148" name="Google Shape;1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7"/>
          <p:cNvSpPr txBox="1">
            <a:spLocks noGrp="1"/>
          </p:cNvSpPr>
          <p:nvPr>
            <p:ph type="title"/>
          </p:nvPr>
        </p:nvSpPr>
        <p:spPr>
          <a:xfrm>
            <a:off x="1371600" y="304800"/>
            <a:ext cx="6260374"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Ví dụ 1: Lập trình trong HPT</a:t>
            </a:r>
            <a:endParaRPr/>
          </a:p>
        </p:txBody>
      </p:sp>
      <p:sp>
        <p:nvSpPr>
          <p:cNvPr id="155" name="Google Shape;155;p7"/>
          <p:cNvSpPr/>
          <p:nvPr/>
        </p:nvSpPr>
        <p:spPr>
          <a:xfrm>
            <a:off x="941350" y="2362200"/>
            <a:ext cx="10309300" cy="2645933"/>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156" name="Google Shape;15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8"/>
          <p:cNvSpPr txBox="1">
            <a:spLocks noGrp="1"/>
          </p:cNvSpPr>
          <p:nvPr>
            <p:ph type="title"/>
          </p:nvPr>
        </p:nvSpPr>
        <p:spPr>
          <a:xfrm>
            <a:off x="1066800" y="228600"/>
            <a:ext cx="5334000"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Đồng hồ vật lý (ĐHVL)</a:t>
            </a:r>
            <a:endParaRPr/>
          </a:p>
        </p:txBody>
      </p:sp>
      <p:sp>
        <p:nvSpPr>
          <p:cNvPr id="163" name="Google Shape;163;p8"/>
          <p:cNvSpPr txBox="1"/>
          <p:nvPr/>
        </p:nvSpPr>
        <p:spPr>
          <a:xfrm>
            <a:off x="1005136" y="1600200"/>
            <a:ext cx="4862264" cy="3728550"/>
          </a:xfrm>
          <a:prstGeom prst="rect">
            <a:avLst/>
          </a:prstGeom>
          <a:noFill/>
          <a:ln>
            <a:noFill/>
          </a:ln>
        </p:spPr>
        <p:txBody>
          <a:bodyPr spcFirstLastPara="1" wrap="square" lIns="0" tIns="102575" rIns="0" bIns="0" anchor="t" anchorCtr="0">
            <a:spAutoFit/>
          </a:bodyPr>
          <a:lstStyle/>
          <a:p>
            <a:pPr marL="316403" marR="0" lvl="0" indent="-305453" algn="l" rtl="0">
              <a:spcBef>
                <a:spcPts val="0"/>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Timer</a:t>
            </a:r>
            <a:endParaRPr sz="2723">
              <a:solidFill>
                <a:schemeClr val="dk1"/>
              </a:solidFill>
              <a:latin typeface="Calibri"/>
              <a:ea typeface="Calibri"/>
              <a:cs typeface="Calibri"/>
              <a:sym typeface="Calibri"/>
            </a:endParaRPr>
          </a:p>
          <a:p>
            <a:pPr marL="316403" marR="274908" lvl="0" indent="-305453" algn="l" rtl="0">
              <a:spcBef>
                <a:spcPts val="722"/>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Counter &amp; Holding  register</a:t>
            </a:r>
            <a:endParaRPr sz="2723">
              <a:solidFill>
                <a:schemeClr val="dk1"/>
              </a:solidFill>
              <a:latin typeface="Calibri"/>
              <a:ea typeface="Calibri"/>
              <a:cs typeface="Calibri"/>
              <a:sym typeface="Calibri"/>
            </a:endParaRPr>
          </a:p>
          <a:p>
            <a:pPr marL="316403" marR="0" lvl="0" indent="-305453" algn="l" rtl="0">
              <a:spcBef>
                <a:spcPts val="803"/>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Clock tick</a:t>
            </a:r>
            <a:endParaRPr sz="2723">
              <a:solidFill>
                <a:schemeClr val="dk1"/>
              </a:solidFill>
              <a:latin typeface="Calibri"/>
              <a:ea typeface="Calibri"/>
              <a:cs typeface="Calibri"/>
              <a:sym typeface="Calibri"/>
            </a:endParaRPr>
          </a:p>
          <a:p>
            <a:pPr marL="316403" marR="0" lvl="0" indent="-305453" algn="l" rtl="0">
              <a:spcBef>
                <a:spcPts val="740"/>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Vấn đề trong HPT</a:t>
            </a:r>
            <a:endParaRPr sz="2723">
              <a:solidFill>
                <a:schemeClr val="dk1"/>
              </a:solidFill>
              <a:latin typeface="Calibri"/>
              <a:ea typeface="Calibri"/>
              <a:cs typeface="Calibri"/>
              <a:sym typeface="Calibri"/>
            </a:endParaRPr>
          </a:p>
          <a:p>
            <a:pPr marL="621279" marR="238599" lvl="1" indent="-261651" algn="l" rtl="0">
              <a:lnSpc>
                <a:spcPct val="102200"/>
              </a:lnSpc>
              <a:spcBef>
                <a:spcPts val="558"/>
              </a:spcBef>
              <a:spcAft>
                <a:spcPts val="0"/>
              </a:spcAft>
              <a:buClr>
                <a:srgbClr val="94B6D2"/>
              </a:buClr>
              <a:buSzPts val="1725"/>
              <a:buFont typeface="Arial"/>
              <a:buChar char="¤"/>
            </a:pPr>
            <a:r>
              <a:rPr lang="en-US" sz="2451" b="0" i="0" u="none" strike="noStrike" cap="none">
                <a:solidFill>
                  <a:schemeClr val="dk1"/>
                </a:solidFill>
                <a:latin typeface="Calibri"/>
                <a:ea typeface="Calibri"/>
                <a:cs typeface="Calibri"/>
                <a:sym typeface="Calibri"/>
              </a:rPr>
              <a:t>Đồng bộ với giá trị  thời gian vật lý thật</a:t>
            </a:r>
            <a:endParaRPr sz="2451" b="0" i="0" u="none" strike="noStrike" cap="none">
              <a:solidFill>
                <a:schemeClr val="dk1"/>
              </a:solidFill>
              <a:latin typeface="Calibri"/>
              <a:ea typeface="Calibri"/>
              <a:cs typeface="Calibri"/>
              <a:sym typeface="Calibri"/>
            </a:endParaRPr>
          </a:p>
          <a:p>
            <a:pPr marL="621279" marR="4611" lvl="1" indent="-261651" algn="l" rtl="0">
              <a:lnSpc>
                <a:spcPct val="102200"/>
              </a:lnSpc>
              <a:spcBef>
                <a:spcPts val="522"/>
              </a:spcBef>
              <a:spcAft>
                <a:spcPts val="0"/>
              </a:spcAft>
              <a:buClr>
                <a:srgbClr val="94B6D2"/>
              </a:buClr>
              <a:buSzPts val="1725"/>
              <a:buFont typeface="Arial"/>
              <a:buChar char="¤"/>
            </a:pPr>
            <a:r>
              <a:rPr lang="en-US" sz="2451" b="0" i="0" u="none" strike="noStrike" cap="none">
                <a:solidFill>
                  <a:schemeClr val="dk1"/>
                </a:solidFill>
                <a:latin typeface="Calibri"/>
                <a:ea typeface="Calibri"/>
                <a:cs typeface="Calibri"/>
                <a:sym typeface="Calibri"/>
              </a:rPr>
              <a:t>Đồng bộ các đồng hồ  vật lý với nhau</a:t>
            </a:r>
            <a:endParaRPr sz="2451" b="0" i="0" u="none" strike="noStrike" cap="none">
              <a:solidFill>
                <a:schemeClr val="dk1"/>
              </a:solidFill>
              <a:latin typeface="Calibri"/>
              <a:ea typeface="Calibri"/>
              <a:cs typeface="Calibri"/>
              <a:sym typeface="Calibri"/>
            </a:endParaRPr>
          </a:p>
        </p:txBody>
      </p:sp>
      <p:grpSp>
        <p:nvGrpSpPr>
          <p:cNvPr id="164" name="Google Shape;164;p8"/>
          <p:cNvGrpSpPr/>
          <p:nvPr/>
        </p:nvGrpSpPr>
        <p:grpSpPr>
          <a:xfrm>
            <a:off x="6009808" y="1737702"/>
            <a:ext cx="4474851" cy="2214719"/>
            <a:chOff x="5251729" y="1914690"/>
            <a:chExt cx="4930623" cy="2440292"/>
          </a:xfrm>
        </p:grpSpPr>
        <p:sp>
          <p:nvSpPr>
            <p:cNvPr id="165" name="Google Shape;165;p8"/>
            <p:cNvSpPr/>
            <p:nvPr/>
          </p:nvSpPr>
          <p:spPr>
            <a:xfrm>
              <a:off x="5251729" y="1914690"/>
              <a:ext cx="2440305" cy="244029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166" name="Google Shape;166;p8"/>
            <p:cNvSpPr/>
            <p:nvPr/>
          </p:nvSpPr>
          <p:spPr>
            <a:xfrm>
              <a:off x="7982077" y="2088045"/>
              <a:ext cx="2200275" cy="1690204"/>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grpSp>
      <p:sp>
        <p:nvSpPr>
          <p:cNvPr id="167" name="Google Shape;167;p8"/>
          <p:cNvSpPr txBox="1"/>
          <p:nvPr/>
        </p:nvSpPr>
        <p:spPr>
          <a:xfrm>
            <a:off x="7018637" y="4060856"/>
            <a:ext cx="2285616" cy="722859"/>
          </a:xfrm>
          <a:prstGeom prst="rect">
            <a:avLst/>
          </a:prstGeom>
          <a:noFill/>
          <a:ln>
            <a:noFill/>
          </a:ln>
        </p:spPr>
        <p:txBody>
          <a:bodyPr spcFirstLastPara="1" wrap="square" lIns="0" tIns="11525" rIns="0" bIns="0" anchor="t" anchorCtr="0">
            <a:spAutoFit/>
          </a:bodyPr>
          <a:lstStyle/>
          <a:p>
            <a:pPr marL="0" marR="0" lvl="0" indent="0" algn="ctr" rtl="0">
              <a:spcBef>
                <a:spcPts val="0"/>
              </a:spcBef>
              <a:spcAft>
                <a:spcPts val="0"/>
              </a:spcAft>
              <a:buNone/>
            </a:pPr>
            <a:r>
              <a:rPr lang="en-US" sz="2269" b="1">
                <a:solidFill>
                  <a:schemeClr val="dk1"/>
                </a:solidFill>
                <a:latin typeface="Times New Roman"/>
                <a:ea typeface="Times New Roman"/>
                <a:cs typeface="Times New Roman"/>
                <a:sym typeface="Times New Roman"/>
              </a:rPr>
              <a:t>RTC IC</a:t>
            </a:r>
            <a:endParaRPr sz="2269">
              <a:solidFill>
                <a:schemeClr val="dk1"/>
              </a:solidFill>
              <a:latin typeface="Times New Roman"/>
              <a:ea typeface="Times New Roman"/>
              <a:cs typeface="Times New Roman"/>
              <a:sym typeface="Times New Roman"/>
            </a:endParaRPr>
          </a:p>
          <a:p>
            <a:pPr marL="0" marR="0" lvl="0" indent="0" algn="ctr" rtl="0">
              <a:spcBef>
                <a:spcPts val="109"/>
              </a:spcBef>
              <a:spcAft>
                <a:spcPts val="0"/>
              </a:spcAft>
              <a:buNone/>
            </a:pPr>
            <a:r>
              <a:rPr lang="en-US" sz="2269" b="1">
                <a:solidFill>
                  <a:schemeClr val="dk1"/>
                </a:solidFill>
                <a:latin typeface="Times New Roman"/>
                <a:ea typeface="Times New Roman"/>
                <a:cs typeface="Times New Roman"/>
                <a:sym typeface="Times New Roman"/>
              </a:rPr>
              <a:t>(Real Time Clock)</a:t>
            </a:r>
            <a:endParaRPr sz="2269">
              <a:solidFill>
                <a:schemeClr val="dk1"/>
              </a:solidFill>
              <a:latin typeface="Times New Roman"/>
              <a:ea typeface="Times New Roman"/>
              <a:cs typeface="Times New Roman"/>
              <a:sym typeface="Times New Roman"/>
            </a:endParaRPr>
          </a:p>
        </p:txBody>
      </p:sp>
      <p:sp>
        <p:nvSpPr>
          <p:cNvPr id="168" name="Google Shape;16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9"/>
          <p:cNvSpPr txBox="1">
            <a:spLocks noGrp="1"/>
          </p:cNvSpPr>
          <p:nvPr>
            <p:ph type="title"/>
          </p:nvPr>
        </p:nvSpPr>
        <p:spPr>
          <a:xfrm>
            <a:off x="838200" y="228600"/>
            <a:ext cx="9543570" cy="604613"/>
          </a:xfrm>
          <a:prstGeom prst="rect">
            <a:avLst/>
          </a:prstGeom>
          <a:noFill/>
          <a:ln>
            <a:noFill/>
          </a:ln>
        </p:spPr>
        <p:txBody>
          <a:bodyPr spcFirstLastPara="1" wrap="square" lIns="0" tIns="2875" rIns="0" bIns="0" anchor="ctr" anchorCtr="0">
            <a:spAutoFit/>
          </a:bodyPr>
          <a:lstStyle/>
          <a:p>
            <a:pPr marL="11527" marR="4611" lvl="0" indent="0" algn="l" rtl="0">
              <a:lnSpc>
                <a:spcPct val="101299"/>
              </a:lnSpc>
              <a:spcBef>
                <a:spcPts val="0"/>
              </a:spcBef>
              <a:spcAft>
                <a:spcPts val="0"/>
              </a:spcAft>
              <a:buClr>
                <a:schemeClr val="lt1"/>
              </a:buClr>
              <a:buSzPts val="4000"/>
              <a:buFont typeface="Calibri"/>
              <a:buNone/>
            </a:pPr>
            <a:r>
              <a:rPr lang="en-US"/>
              <a:t>Các thuật toán đồng bộ hóa đồng  hồ vật lý</a:t>
            </a:r>
            <a:endParaRPr/>
          </a:p>
        </p:txBody>
      </p:sp>
      <p:sp>
        <p:nvSpPr>
          <p:cNvPr id="174" name="Google Shape;174;p9"/>
          <p:cNvSpPr txBox="1"/>
          <p:nvPr/>
        </p:nvSpPr>
        <p:spPr>
          <a:xfrm>
            <a:off x="1143000" y="1752600"/>
            <a:ext cx="9238770" cy="1537118"/>
          </a:xfrm>
          <a:prstGeom prst="rect">
            <a:avLst/>
          </a:prstGeom>
          <a:noFill/>
          <a:ln>
            <a:noFill/>
          </a:ln>
        </p:spPr>
        <p:txBody>
          <a:bodyPr spcFirstLastPara="1" wrap="square" lIns="0" tIns="102575" rIns="0" bIns="0" anchor="t" anchorCtr="0">
            <a:spAutoFit/>
          </a:bodyPr>
          <a:lstStyle/>
          <a:p>
            <a:pPr marL="315827" marR="0" lvl="0" indent="-304876" algn="l" rtl="0">
              <a:spcBef>
                <a:spcPts val="0"/>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Thuật toán Cristian </a:t>
            </a:r>
            <a:endParaRPr sz="2723">
              <a:solidFill>
                <a:schemeClr val="dk1"/>
              </a:solidFill>
              <a:latin typeface="Calibri"/>
              <a:ea typeface="Calibri"/>
              <a:cs typeface="Calibri"/>
              <a:sym typeface="Calibri"/>
            </a:endParaRPr>
          </a:p>
          <a:p>
            <a:pPr marL="315827" marR="0" lvl="0" indent="-304876" algn="l" rtl="0">
              <a:spcBef>
                <a:spcPts val="717"/>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Thuật toán Berkeley</a:t>
            </a:r>
            <a:endParaRPr sz="2723">
              <a:solidFill>
                <a:schemeClr val="dk1"/>
              </a:solidFill>
              <a:latin typeface="Calibri"/>
              <a:ea typeface="Calibri"/>
              <a:cs typeface="Calibri"/>
              <a:sym typeface="Calibri"/>
            </a:endParaRPr>
          </a:p>
          <a:p>
            <a:pPr marL="315827" marR="4611" lvl="0" indent="-304876" algn="l" rtl="0">
              <a:lnSpc>
                <a:spcPct val="102699"/>
              </a:lnSpc>
              <a:spcBef>
                <a:spcPts val="653"/>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Đồng bộ hóa đồng hồ vật lý trong các mạng  không dây</a:t>
            </a:r>
            <a:endParaRPr sz="2723">
              <a:solidFill>
                <a:schemeClr val="dk1"/>
              </a:solidFill>
              <a:latin typeface="Calibri"/>
              <a:ea typeface="Calibri"/>
              <a:cs typeface="Calibri"/>
              <a:sym typeface="Calibri"/>
            </a:endParaRPr>
          </a:p>
        </p:txBody>
      </p:sp>
      <p:sp>
        <p:nvSpPr>
          <p:cNvPr id="175" name="Google Shape;17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0"/>
          <p:cNvSpPr txBox="1">
            <a:spLocks noGrp="1"/>
          </p:cNvSpPr>
          <p:nvPr>
            <p:ph type="title"/>
          </p:nvPr>
        </p:nvSpPr>
        <p:spPr>
          <a:xfrm>
            <a:off x="1265820" y="231424"/>
            <a:ext cx="5048986"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Cristian’s Algorithm</a:t>
            </a:r>
            <a:endParaRPr/>
          </a:p>
        </p:txBody>
      </p:sp>
      <p:sp>
        <p:nvSpPr>
          <p:cNvPr id="182" name="Google Shape;182;p10"/>
          <p:cNvSpPr txBox="1"/>
          <p:nvPr/>
        </p:nvSpPr>
        <p:spPr>
          <a:xfrm>
            <a:off x="3412135" y="6276625"/>
            <a:ext cx="5405718" cy="360837"/>
          </a:xfrm>
          <a:prstGeom prst="rect">
            <a:avLst/>
          </a:prstGeom>
          <a:noFill/>
          <a:ln>
            <a:noFill/>
          </a:ln>
        </p:spPr>
        <p:txBody>
          <a:bodyPr spcFirstLastPara="1" wrap="square" lIns="0" tIns="11525" rIns="0" bIns="0" anchor="t" anchorCtr="0">
            <a:spAutoFit/>
          </a:bodyPr>
          <a:lstStyle/>
          <a:p>
            <a:pPr marL="11527" marR="0" lvl="0" indent="0" algn="l" rtl="0">
              <a:spcBef>
                <a:spcPts val="0"/>
              </a:spcBef>
              <a:spcAft>
                <a:spcPts val="0"/>
              </a:spcAft>
              <a:buNone/>
            </a:pPr>
            <a:r>
              <a:rPr lang="en-US" sz="2269" b="1">
                <a:solidFill>
                  <a:schemeClr val="dk1"/>
                </a:solidFill>
                <a:latin typeface="Times New Roman"/>
                <a:ea typeface="Times New Roman"/>
                <a:cs typeface="Times New Roman"/>
                <a:sym typeface="Times New Roman"/>
              </a:rPr>
              <a:t>Getting the current time from a time server</a:t>
            </a:r>
            <a:endParaRPr sz="2269">
              <a:solidFill>
                <a:schemeClr val="dk1"/>
              </a:solidFill>
              <a:latin typeface="Times New Roman"/>
              <a:ea typeface="Times New Roman"/>
              <a:cs typeface="Times New Roman"/>
              <a:sym typeface="Times New Roman"/>
            </a:endParaRPr>
          </a:p>
        </p:txBody>
      </p:sp>
      <p:pic>
        <p:nvPicPr>
          <p:cNvPr id="183" name="Google Shape;183;p10"/>
          <p:cNvPicPr preferRelativeResize="0"/>
          <p:nvPr/>
        </p:nvPicPr>
        <p:blipFill rotWithShape="1">
          <a:blip r:embed="rId3">
            <a:alphaModFix/>
          </a:blip>
          <a:srcRect l="9698" t="20003" r="25578" b="20866"/>
          <a:stretch/>
        </p:blipFill>
        <p:spPr>
          <a:xfrm>
            <a:off x="1855906" y="1752600"/>
            <a:ext cx="8480188" cy="4351463"/>
          </a:xfrm>
          <a:prstGeom prst="rect">
            <a:avLst/>
          </a:prstGeom>
          <a:noFill/>
          <a:ln>
            <a:noFill/>
          </a:ln>
        </p:spPr>
      </p:pic>
      <p:sp>
        <p:nvSpPr>
          <p:cNvPr id="184" name="Google Shape;18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1"/>
          <p:cNvSpPr txBox="1">
            <a:spLocks noGrp="1"/>
          </p:cNvSpPr>
          <p:nvPr>
            <p:ph type="title"/>
          </p:nvPr>
        </p:nvSpPr>
        <p:spPr>
          <a:xfrm>
            <a:off x="1265820" y="231424"/>
            <a:ext cx="5048986"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Cristian’s Algorithm</a:t>
            </a:r>
            <a:endParaRPr/>
          </a:p>
        </p:txBody>
      </p:sp>
      <p:sp>
        <p:nvSpPr>
          <p:cNvPr id="191" name="Google Shape;191;p11"/>
          <p:cNvSpPr txBox="1"/>
          <p:nvPr/>
        </p:nvSpPr>
        <p:spPr>
          <a:xfrm>
            <a:off x="3412135" y="6276625"/>
            <a:ext cx="5405718" cy="360837"/>
          </a:xfrm>
          <a:prstGeom prst="rect">
            <a:avLst/>
          </a:prstGeom>
          <a:noFill/>
          <a:ln>
            <a:noFill/>
          </a:ln>
        </p:spPr>
        <p:txBody>
          <a:bodyPr spcFirstLastPara="1" wrap="square" lIns="0" tIns="11525" rIns="0" bIns="0" anchor="t" anchorCtr="0">
            <a:spAutoFit/>
          </a:bodyPr>
          <a:lstStyle/>
          <a:p>
            <a:pPr marL="11527" marR="0" lvl="0" indent="0" algn="l" rtl="0">
              <a:spcBef>
                <a:spcPts val="0"/>
              </a:spcBef>
              <a:spcAft>
                <a:spcPts val="0"/>
              </a:spcAft>
              <a:buNone/>
            </a:pPr>
            <a:r>
              <a:rPr lang="en-US" sz="2269" b="1">
                <a:solidFill>
                  <a:schemeClr val="dk1"/>
                </a:solidFill>
                <a:latin typeface="Times New Roman"/>
                <a:ea typeface="Times New Roman"/>
                <a:cs typeface="Times New Roman"/>
                <a:sym typeface="Times New Roman"/>
              </a:rPr>
              <a:t>Getting the current time from a time server</a:t>
            </a:r>
            <a:endParaRPr sz="2269">
              <a:solidFill>
                <a:schemeClr val="dk1"/>
              </a:solidFill>
              <a:latin typeface="Times New Roman"/>
              <a:ea typeface="Times New Roman"/>
              <a:cs typeface="Times New Roman"/>
              <a:sym typeface="Times New Roman"/>
            </a:endParaRPr>
          </a:p>
        </p:txBody>
      </p:sp>
      <p:pic>
        <p:nvPicPr>
          <p:cNvPr id="192" name="Google Shape;192;p11"/>
          <p:cNvPicPr preferRelativeResize="0"/>
          <p:nvPr/>
        </p:nvPicPr>
        <p:blipFill rotWithShape="1">
          <a:blip r:embed="rId3">
            <a:alphaModFix/>
          </a:blip>
          <a:srcRect l="9698" t="20003" r="25578" b="20866"/>
          <a:stretch/>
        </p:blipFill>
        <p:spPr>
          <a:xfrm>
            <a:off x="1855906" y="1752600"/>
            <a:ext cx="8480188" cy="4351463"/>
          </a:xfrm>
          <a:prstGeom prst="rect">
            <a:avLst/>
          </a:prstGeom>
          <a:noFill/>
          <a:ln>
            <a:noFill/>
          </a:ln>
        </p:spPr>
      </p:pic>
      <p:sp>
        <p:nvSpPr>
          <p:cNvPr id="193" name="Google Shape;19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2"/>
          <p:cNvSpPr txBox="1">
            <a:spLocks noGrp="1"/>
          </p:cNvSpPr>
          <p:nvPr>
            <p:ph type="title"/>
          </p:nvPr>
        </p:nvSpPr>
        <p:spPr>
          <a:xfrm>
            <a:off x="1143000" y="211888"/>
            <a:ext cx="4385662"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dirty="0"/>
              <a:t>Cristian’s Algorithm</a:t>
            </a:r>
            <a:endParaRPr dirty="0"/>
          </a:p>
        </p:txBody>
      </p:sp>
      <p:grpSp>
        <p:nvGrpSpPr>
          <p:cNvPr id="200" name="Google Shape;200;p12"/>
          <p:cNvGrpSpPr/>
          <p:nvPr/>
        </p:nvGrpSpPr>
        <p:grpSpPr>
          <a:xfrm>
            <a:off x="2728560" y="1628781"/>
            <a:ext cx="7011804" cy="4417353"/>
            <a:chOff x="1636280" y="1794675"/>
            <a:chExt cx="7725969" cy="4867268"/>
          </a:xfrm>
        </p:grpSpPr>
        <p:sp>
          <p:nvSpPr>
            <p:cNvPr id="201" name="Google Shape;201;p12"/>
            <p:cNvSpPr/>
            <p:nvPr/>
          </p:nvSpPr>
          <p:spPr>
            <a:xfrm>
              <a:off x="1861312" y="1794675"/>
              <a:ext cx="7500937" cy="373045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202" name="Google Shape;202;p12"/>
            <p:cNvSpPr/>
            <p:nvPr/>
          </p:nvSpPr>
          <p:spPr>
            <a:xfrm>
              <a:off x="1636280" y="5848508"/>
              <a:ext cx="7614284" cy="81343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grpSp>
      <p:sp>
        <p:nvSpPr>
          <p:cNvPr id="203" name="Google Shape;20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59DEF3-A153-C50D-9EA2-A63C59409196}"/>
              </a:ext>
            </a:extLst>
          </p:cNvPr>
          <p:cNvSpPr>
            <a:spLocks noGrp="1"/>
          </p:cNvSpPr>
          <p:nvPr>
            <p:ph type="sldNum" idx="12"/>
          </p:nvPr>
        </p:nvSpPr>
        <p:spPr/>
        <p:txBody>
          <a:bodyPr/>
          <a:lstStyle/>
          <a:p>
            <a:pPr marL="38100" lvl="0" indent="0" algn="r" rtl="0">
              <a:spcBef>
                <a:spcPts val="0"/>
              </a:spcBef>
              <a:spcAft>
                <a:spcPts val="0"/>
              </a:spcAft>
              <a:buNone/>
            </a:pPr>
            <a:fld id="{00000000-1234-1234-1234-123412341234}" type="slidenum">
              <a:rPr lang="en-US" smtClean="0"/>
              <a:t>13</a:t>
            </a:fld>
            <a:endParaRPr lang="en-US"/>
          </a:p>
        </p:txBody>
      </p:sp>
      <p:sp>
        <p:nvSpPr>
          <p:cNvPr id="3" name="Title 2">
            <a:extLst>
              <a:ext uri="{FF2B5EF4-FFF2-40B4-BE49-F238E27FC236}">
                <a16:creationId xmlns:a16="http://schemas.microsoft.com/office/drawing/2014/main" id="{A41BCFD6-87D6-5521-7F8D-D3FA4B5CEB60}"/>
              </a:ext>
            </a:extLst>
          </p:cNvPr>
          <p:cNvSpPr>
            <a:spLocks noGrp="1"/>
          </p:cNvSpPr>
          <p:nvPr>
            <p:ph type="title"/>
          </p:nvPr>
        </p:nvSpPr>
        <p:spPr/>
        <p:txBody>
          <a:bodyPr/>
          <a:lstStyle/>
          <a:p>
            <a:r>
              <a:rPr lang="en-US" dirty="0"/>
              <a:t>Cristian’s Algorithm</a:t>
            </a:r>
          </a:p>
        </p:txBody>
      </p:sp>
      <p:sp>
        <p:nvSpPr>
          <p:cNvPr id="4" name="TextBox 3">
            <a:extLst>
              <a:ext uri="{FF2B5EF4-FFF2-40B4-BE49-F238E27FC236}">
                <a16:creationId xmlns:a16="http://schemas.microsoft.com/office/drawing/2014/main" id="{C51A9E6B-41FE-080A-8219-BB1BD15B30A3}"/>
              </a:ext>
            </a:extLst>
          </p:cNvPr>
          <p:cNvSpPr txBox="1"/>
          <p:nvPr/>
        </p:nvSpPr>
        <p:spPr>
          <a:xfrm>
            <a:off x="926757" y="1680519"/>
            <a:ext cx="10427043" cy="1077218"/>
          </a:xfrm>
          <a:prstGeom prst="rect">
            <a:avLst/>
          </a:prstGeom>
          <a:noFill/>
        </p:spPr>
        <p:txBody>
          <a:bodyPr wrap="square" rtlCol="0">
            <a:spAutoFit/>
          </a:bodyPr>
          <a:lstStyle/>
          <a:p>
            <a:r>
              <a:rPr lang="vi-VN" sz="1600" dirty="0"/>
              <a:t>Lúc 10:27:540 (giờ, phút, 1/100 giây), máy chủ B yêu cầu thời gian từ máy chủ</a:t>
            </a:r>
            <a:r>
              <a:rPr lang="en-US" sz="1600" dirty="0"/>
              <a:t> </a:t>
            </a:r>
            <a:r>
              <a:rPr lang="vi-VN" sz="1600" dirty="0"/>
              <a:t>thời gian A. </a:t>
            </a:r>
            <a:endParaRPr lang="en-US" sz="1600" dirty="0"/>
          </a:p>
          <a:p>
            <a:r>
              <a:rPr lang="vi-VN" sz="1600" dirty="0"/>
              <a:t>Lúc 10:27:610, máy chủ B nhận được phản hồi từ máy chủ thời gian A với dấu</a:t>
            </a:r>
            <a:r>
              <a:rPr lang="en-US" sz="1600" dirty="0"/>
              <a:t> </a:t>
            </a:r>
            <a:r>
              <a:rPr lang="vi-VN" sz="1600" dirty="0"/>
              <a:t>thời gian là 10:27:375. </a:t>
            </a:r>
            <a:endParaRPr lang="en-US" sz="1600" dirty="0"/>
          </a:p>
          <a:p>
            <a:r>
              <a:rPr lang="vi-VN" sz="1600" dirty="0"/>
              <a:t>Tìm độ lệch của đồng hồ B so với đồng hồ của máy chủ thời gian A (giả</a:t>
            </a:r>
            <a:r>
              <a:rPr lang="en-US" sz="1600" dirty="0"/>
              <a:t> </a:t>
            </a:r>
            <a:r>
              <a:rPr lang="vi-VN" sz="1600" dirty="0"/>
              <a:t>sử không có thời gian xử lý tại máy chủ thời gian cho dịch vụ thời gian)</a:t>
            </a:r>
            <a:endParaRPr lang="en-US" sz="1600" dirty="0"/>
          </a:p>
        </p:txBody>
      </p:sp>
      <p:pic>
        <p:nvPicPr>
          <p:cNvPr id="5" name="Google Shape;192;p11">
            <a:extLst>
              <a:ext uri="{FF2B5EF4-FFF2-40B4-BE49-F238E27FC236}">
                <a16:creationId xmlns:a16="http://schemas.microsoft.com/office/drawing/2014/main" id="{F1730510-2162-D46F-E88C-4A005E2535F9}"/>
              </a:ext>
            </a:extLst>
          </p:cNvPr>
          <p:cNvPicPr preferRelativeResize="0"/>
          <p:nvPr/>
        </p:nvPicPr>
        <p:blipFill rotWithShape="1">
          <a:blip r:embed="rId3">
            <a:alphaModFix/>
          </a:blip>
          <a:srcRect l="9698" t="20003" r="25578" b="20866"/>
          <a:stretch/>
        </p:blipFill>
        <p:spPr>
          <a:xfrm>
            <a:off x="3114069" y="2928551"/>
            <a:ext cx="6052418" cy="3051944"/>
          </a:xfrm>
          <a:prstGeom prst="rect">
            <a:avLst/>
          </a:prstGeom>
          <a:noFill/>
          <a:ln>
            <a:noFill/>
          </a:ln>
        </p:spPr>
      </p:pic>
    </p:spTree>
    <p:extLst>
      <p:ext uri="{BB962C8B-B14F-4D97-AF65-F5344CB8AC3E}">
        <p14:creationId xmlns:p14="http://schemas.microsoft.com/office/powerpoint/2010/main" val="1553995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3"/>
          <p:cNvSpPr txBox="1">
            <a:spLocks noGrp="1"/>
          </p:cNvSpPr>
          <p:nvPr>
            <p:ph type="title"/>
          </p:nvPr>
        </p:nvSpPr>
        <p:spPr>
          <a:xfrm>
            <a:off x="1295400" y="304800"/>
            <a:ext cx="5983749"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The Berkeley Algorithm (1)</a:t>
            </a:r>
            <a:endParaRPr/>
          </a:p>
        </p:txBody>
      </p:sp>
      <p:sp>
        <p:nvSpPr>
          <p:cNvPr id="209" name="Google Shape;209;p13"/>
          <p:cNvSpPr txBox="1"/>
          <p:nvPr/>
        </p:nvSpPr>
        <p:spPr>
          <a:xfrm>
            <a:off x="1295400" y="2167659"/>
            <a:ext cx="3314892" cy="1261341"/>
          </a:xfrm>
          <a:prstGeom prst="rect">
            <a:avLst/>
          </a:prstGeom>
          <a:noFill/>
          <a:ln>
            <a:noFill/>
          </a:ln>
        </p:spPr>
        <p:txBody>
          <a:bodyPr spcFirstLastPara="1" wrap="square" lIns="0" tIns="4025" rIns="0" bIns="0" anchor="t" anchorCtr="0">
            <a:spAutoFit/>
          </a:bodyPr>
          <a:lstStyle/>
          <a:p>
            <a:pPr marL="315827" marR="4611" lvl="0" indent="-304876" algn="l" rtl="0">
              <a:lnSpc>
                <a:spcPct val="101699"/>
              </a:lnSpc>
              <a:spcBef>
                <a:spcPts val="0"/>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Time deamon quảng  bá giá trị đồng hồ vật  lý của mình</a:t>
            </a:r>
            <a:endParaRPr sz="2723">
              <a:solidFill>
                <a:schemeClr val="dk1"/>
              </a:solidFill>
              <a:latin typeface="Calibri"/>
              <a:ea typeface="Calibri"/>
              <a:cs typeface="Calibri"/>
              <a:sym typeface="Calibri"/>
            </a:endParaRPr>
          </a:p>
        </p:txBody>
      </p:sp>
      <p:sp>
        <p:nvSpPr>
          <p:cNvPr id="210" name="Google Shape;210;p13"/>
          <p:cNvSpPr/>
          <p:nvPr/>
        </p:nvSpPr>
        <p:spPr>
          <a:xfrm>
            <a:off x="6310856" y="1674160"/>
            <a:ext cx="3871243" cy="502247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211" name="Google Shape;21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4"/>
          <p:cNvSpPr txBox="1">
            <a:spLocks noGrp="1"/>
          </p:cNvSpPr>
          <p:nvPr>
            <p:ph type="title"/>
          </p:nvPr>
        </p:nvSpPr>
        <p:spPr>
          <a:xfrm>
            <a:off x="990600" y="262275"/>
            <a:ext cx="5983749"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The Berkeley Algorithm (2)</a:t>
            </a:r>
            <a:endParaRPr/>
          </a:p>
        </p:txBody>
      </p:sp>
      <p:sp>
        <p:nvSpPr>
          <p:cNvPr id="217" name="Google Shape;217;p14"/>
          <p:cNvSpPr txBox="1"/>
          <p:nvPr/>
        </p:nvSpPr>
        <p:spPr>
          <a:xfrm>
            <a:off x="1023257" y="2438400"/>
            <a:ext cx="3160443" cy="430664"/>
          </a:xfrm>
          <a:prstGeom prst="rect">
            <a:avLst/>
          </a:prstGeom>
          <a:noFill/>
          <a:ln>
            <a:noFill/>
          </a:ln>
        </p:spPr>
        <p:txBody>
          <a:bodyPr spcFirstLastPara="1" wrap="square" lIns="0" tIns="11525" rIns="0" bIns="0" anchor="t" anchorCtr="0">
            <a:spAutoFit/>
          </a:bodyPr>
          <a:lstStyle/>
          <a:p>
            <a:pPr marL="315827" marR="0" lvl="0" indent="-304876" algn="l" rtl="0">
              <a:spcBef>
                <a:spcPts val="0"/>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các máy khác trả lời</a:t>
            </a:r>
            <a:endParaRPr sz="2723">
              <a:solidFill>
                <a:schemeClr val="dk1"/>
              </a:solidFill>
              <a:latin typeface="Calibri"/>
              <a:ea typeface="Calibri"/>
              <a:cs typeface="Calibri"/>
              <a:sym typeface="Calibri"/>
            </a:endParaRPr>
          </a:p>
        </p:txBody>
      </p:sp>
      <p:sp>
        <p:nvSpPr>
          <p:cNvPr id="218" name="Google Shape;218;p14"/>
          <p:cNvSpPr/>
          <p:nvPr/>
        </p:nvSpPr>
        <p:spPr>
          <a:xfrm>
            <a:off x="5910814" y="1418944"/>
            <a:ext cx="4194975" cy="517678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219" name="Google Shape;21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5"/>
          <p:cNvSpPr txBox="1">
            <a:spLocks noGrp="1"/>
          </p:cNvSpPr>
          <p:nvPr>
            <p:ph type="title"/>
          </p:nvPr>
        </p:nvSpPr>
        <p:spPr>
          <a:xfrm>
            <a:off x="1143000" y="228600"/>
            <a:ext cx="5983749"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The Berkeley Algorithm (3)</a:t>
            </a:r>
            <a:endParaRPr/>
          </a:p>
        </p:txBody>
      </p:sp>
      <p:sp>
        <p:nvSpPr>
          <p:cNvPr id="225" name="Google Shape;225;p15"/>
          <p:cNvSpPr txBox="1"/>
          <p:nvPr/>
        </p:nvSpPr>
        <p:spPr>
          <a:xfrm>
            <a:off x="1115786" y="2057400"/>
            <a:ext cx="4218214" cy="1674609"/>
          </a:xfrm>
          <a:prstGeom prst="rect">
            <a:avLst/>
          </a:prstGeom>
          <a:noFill/>
          <a:ln>
            <a:noFill/>
          </a:ln>
        </p:spPr>
        <p:txBody>
          <a:bodyPr spcFirstLastPara="1" wrap="square" lIns="0" tIns="5750" rIns="0" bIns="0" anchor="t" anchorCtr="0">
            <a:spAutoFit/>
          </a:bodyPr>
          <a:lstStyle/>
          <a:p>
            <a:pPr marL="315827" marR="4611" lvl="0" indent="-304876" algn="l" rtl="0">
              <a:lnSpc>
                <a:spcPct val="101299"/>
              </a:lnSpc>
              <a:spcBef>
                <a:spcPts val="0"/>
              </a:spcBef>
              <a:spcAft>
                <a:spcPts val="0"/>
              </a:spcAft>
              <a:buClr>
                <a:srgbClr val="DD8047"/>
              </a:buClr>
              <a:buSzPts val="1634"/>
              <a:buFont typeface="Noto Sans Symbols"/>
              <a:buChar char="◻"/>
            </a:pPr>
            <a:r>
              <a:rPr lang="en-US" sz="2723">
                <a:solidFill>
                  <a:schemeClr val="dk1"/>
                </a:solidFill>
                <a:latin typeface="Times New Roman"/>
                <a:ea typeface="Times New Roman"/>
                <a:cs typeface="Times New Roman"/>
                <a:sym typeface="Times New Roman"/>
              </a:rPr>
              <a:t>Time deamon tính  toán ra giá trị trung  bình và gửi cho các  máy giá trị cần hiệu  chỉnh</a:t>
            </a:r>
            <a:endParaRPr sz="2723">
              <a:solidFill>
                <a:schemeClr val="dk1"/>
              </a:solidFill>
              <a:latin typeface="Times New Roman"/>
              <a:ea typeface="Times New Roman"/>
              <a:cs typeface="Times New Roman"/>
              <a:sym typeface="Times New Roman"/>
            </a:endParaRPr>
          </a:p>
        </p:txBody>
      </p:sp>
      <p:sp>
        <p:nvSpPr>
          <p:cNvPr id="226" name="Google Shape;226;p15"/>
          <p:cNvSpPr/>
          <p:nvPr/>
        </p:nvSpPr>
        <p:spPr>
          <a:xfrm>
            <a:off x="6248400" y="1524000"/>
            <a:ext cx="3825853" cy="4760763"/>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227" name="Google Shape;22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6"/>
          <p:cNvSpPr txBox="1">
            <a:spLocks noGrp="1"/>
          </p:cNvSpPr>
          <p:nvPr>
            <p:ph type="title"/>
          </p:nvPr>
        </p:nvSpPr>
        <p:spPr>
          <a:xfrm>
            <a:off x="1143000" y="228600"/>
            <a:ext cx="5983749"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The Berkeley Algorithm (4)</a:t>
            </a:r>
            <a:endParaRPr/>
          </a:p>
        </p:txBody>
      </p:sp>
      <p:pic>
        <p:nvPicPr>
          <p:cNvPr id="234" name="Google Shape;234;p16"/>
          <p:cNvPicPr preferRelativeResize="0"/>
          <p:nvPr/>
        </p:nvPicPr>
        <p:blipFill rotWithShape="1">
          <a:blip r:embed="rId3">
            <a:alphaModFix/>
          </a:blip>
          <a:srcRect/>
          <a:stretch/>
        </p:blipFill>
        <p:spPr>
          <a:xfrm>
            <a:off x="609600" y="1524000"/>
            <a:ext cx="10555942" cy="4572000"/>
          </a:xfrm>
          <a:prstGeom prst="rect">
            <a:avLst/>
          </a:prstGeom>
          <a:noFill/>
          <a:ln>
            <a:noFill/>
          </a:ln>
        </p:spPr>
      </p:pic>
      <p:sp>
        <p:nvSpPr>
          <p:cNvPr id="235" name="Google Shape;235;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7"/>
          <p:cNvSpPr txBox="1">
            <a:spLocks noGrp="1"/>
          </p:cNvSpPr>
          <p:nvPr>
            <p:ph type="title"/>
          </p:nvPr>
        </p:nvSpPr>
        <p:spPr>
          <a:xfrm>
            <a:off x="941088" y="142924"/>
            <a:ext cx="9543570" cy="679532"/>
          </a:xfrm>
          <a:prstGeom prst="rect">
            <a:avLst/>
          </a:prstGeom>
          <a:noFill/>
          <a:ln>
            <a:noFill/>
          </a:ln>
        </p:spPr>
        <p:txBody>
          <a:bodyPr spcFirstLastPara="1" wrap="square" lIns="0" tIns="152250" rIns="0" bIns="0" anchor="ctr" anchorCtr="0">
            <a:spAutoFit/>
          </a:bodyPr>
          <a:lstStyle/>
          <a:p>
            <a:pPr marL="11527" marR="4611" lvl="0" indent="0" algn="l" rtl="0">
              <a:lnSpc>
                <a:spcPct val="118150"/>
              </a:lnSpc>
              <a:spcBef>
                <a:spcPts val="0"/>
              </a:spcBef>
              <a:spcAft>
                <a:spcPts val="0"/>
              </a:spcAft>
              <a:buClr>
                <a:schemeClr val="lt1"/>
              </a:buClr>
              <a:buSzPts val="3449"/>
              <a:buFont typeface="Calibri"/>
              <a:buNone/>
            </a:pPr>
            <a:r>
              <a:rPr lang="en-US" sz="3449"/>
              <a:t>Đồng bộ hóa ĐHVL trong các mạng không dây (1)</a:t>
            </a:r>
            <a:endParaRPr sz="3449"/>
          </a:p>
        </p:txBody>
      </p:sp>
      <p:sp>
        <p:nvSpPr>
          <p:cNvPr id="242" name="Google Shape;242;p17"/>
          <p:cNvSpPr/>
          <p:nvPr/>
        </p:nvSpPr>
        <p:spPr>
          <a:xfrm>
            <a:off x="7010400" y="4241256"/>
            <a:ext cx="2743201" cy="23738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243" name="Google Shape;243;p17"/>
          <p:cNvSpPr txBox="1"/>
          <p:nvPr/>
        </p:nvSpPr>
        <p:spPr>
          <a:xfrm>
            <a:off x="685800" y="2133600"/>
            <a:ext cx="4835555"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Ví dụ trong mạng cảm biến không dây (WSN)</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Sử dụng pin</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A,B,C là các nút</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A đóng vai trò là nút quảng bá</a:t>
            </a:r>
            <a:endParaRPr sz="20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=&gt; Tối ưu, tránh tốn kém năng lượng</a:t>
            </a:r>
            <a:endParaRPr sz="2000">
              <a:solidFill>
                <a:schemeClr val="dk1"/>
              </a:solidFill>
              <a:latin typeface="Calibri"/>
              <a:ea typeface="Calibri"/>
              <a:cs typeface="Calibri"/>
              <a:sym typeface="Calibri"/>
            </a:endParaRPr>
          </a:p>
        </p:txBody>
      </p:sp>
      <p:sp>
        <p:nvSpPr>
          <p:cNvPr id="244" name="Google Shape;24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18</a:t>
            </a:fld>
            <a:endParaRPr/>
          </a:p>
        </p:txBody>
      </p:sp>
      <p:pic>
        <p:nvPicPr>
          <p:cNvPr id="245" name="Google Shape;245;p17" descr="Building a Wireless Sensor Network Using Smartphones | Mistral Solutions"/>
          <p:cNvPicPr preferRelativeResize="0"/>
          <p:nvPr/>
        </p:nvPicPr>
        <p:blipFill rotWithShape="1">
          <a:blip r:embed="rId4">
            <a:alphaModFix/>
          </a:blip>
          <a:srcRect/>
          <a:stretch/>
        </p:blipFill>
        <p:spPr>
          <a:xfrm>
            <a:off x="5940732" y="1429838"/>
            <a:ext cx="4572000" cy="2552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8"/>
          <p:cNvSpPr txBox="1">
            <a:spLocks noGrp="1"/>
          </p:cNvSpPr>
          <p:nvPr>
            <p:ph type="title"/>
          </p:nvPr>
        </p:nvSpPr>
        <p:spPr>
          <a:xfrm>
            <a:off x="1143000" y="159159"/>
            <a:ext cx="9543570" cy="679532"/>
          </a:xfrm>
          <a:prstGeom prst="rect">
            <a:avLst/>
          </a:prstGeom>
          <a:noFill/>
          <a:ln>
            <a:noFill/>
          </a:ln>
        </p:spPr>
        <p:txBody>
          <a:bodyPr spcFirstLastPara="1" wrap="square" lIns="0" tIns="152250" rIns="0" bIns="0" anchor="ctr" anchorCtr="0">
            <a:spAutoFit/>
          </a:bodyPr>
          <a:lstStyle/>
          <a:p>
            <a:pPr marL="11527" marR="4611" lvl="0" indent="0" algn="l" rtl="0">
              <a:lnSpc>
                <a:spcPct val="118150"/>
              </a:lnSpc>
              <a:spcBef>
                <a:spcPts val="0"/>
              </a:spcBef>
              <a:spcAft>
                <a:spcPts val="0"/>
              </a:spcAft>
              <a:buClr>
                <a:schemeClr val="lt1"/>
              </a:buClr>
              <a:buSzPts val="3449"/>
              <a:buFont typeface="Calibri"/>
              <a:buNone/>
            </a:pPr>
            <a:r>
              <a:rPr lang="en-US" sz="3449"/>
              <a:t>Đồng bộ hóa ĐHVL trong các mạng không  dây (2)</a:t>
            </a:r>
            <a:endParaRPr sz="3449"/>
          </a:p>
        </p:txBody>
      </p:sp>
      <p:sp>
        <p:nvSpPr>
          <p:cNvPr id="252" name="Google Shape;252;p18"/>
          <p:cNvSpPr txBox="1"/>
          <p:nvPr/>
        </p:nvSpPr>
        <p:spPr>
          <a:xfrm>
            <a:off x="1143000" y="1957957"/>
            <a:ext cx="2853850" cy="1215935"/>
          </a:xfrm>
          <a:prstGeom prst="rect">
            <a:avLst/>
          </a:prstGeom>
          <a:noFill/>
          <a:ln>
            <a:noFill/>
          </a:ln>
        </p:spPr>
        <p:txBody>
          <a:bodyPr spcFirstLastPara="1" wrap="square" lIns="0" tIns="2875" rIns="0" bIns="0" anchor="t" anchorCtr="0">
            <a:spAutoFit/>
          </a:bodyPr>
          <a:lstStyle/>
          <a:p>
            <a:pPr marL="315827" marR="4611" lvl="0" indent="-304876" algn="l" rtl="0">
              <a:lnSpc>
                <a:spcPct val="102099"/>
              </a:lnSpc>
              <a:spcBef>
                <a:spcPts val="0"/>
              </a:spcBef>
              <a:spcAft>
                <a:spcPts val="0"/>
              </a:spcAft>
              <a:buClr>
                <a:srgbClr val="DD8047"/>
              </a:buClr>
              <a:buSzPts val="1634"/>
              <a:buFont typeface="Noto Sans Symbols"/>
              <a:buChar char="◻"/>
            </a:pPr>
            <a:r>
              <a:rPr lang="en-US" sz="2632" b="1">
                <a:solidFill>
                  <a:schemeClr val="dk1"/>
                </a:solidFill>
                <a:latin typeface="Arial"/>
                <a:ea typeface="Arial"/>
                <a:cs typeface="Arial"/>
                <a:sym typeface="Arial"/>
              </a:rPr>
              <a:t>RBS </a:t>
            </a:r>
            <a:r>
              <a:rPr lang="en-US" sz="2632">
                <a:solidFill>
                  <a:schemeClr val="dk1"/>
                </a:solidFill>
                <a:latin typeface="Arial"/>
                <a:ea typeface="Arial"/>
                <a:cs typeface="Arial"/>
                <a:sym typeface="Arial"/>
              </a:rPr>
              <a:t>(Reference  Broadcast  Synchronization)</a:t>
            </a:r>
            <a:endParaRPr/>
          </a:p>
        </p:txBody>
      </p:sp>
      <p:grpSp>
        <p:nvGrpSpPr>
          <p:cNvPr id="253" name="Google Shape;253;p18"/>
          <p:cNvGrpSpPr/>
          <p:nvPr/>
        </p:nvGrpSpPr>
        <p:grpSpPr>
          <a:xfrm>
            <a:off x="3657600" y="1670730"/>
            <a:ext cx="8217486" cy="5005830"/>
            <a:chOff x="834516" y="1687995"/>
            <a:chExt cx="9054452" cy="5515683"/>
          </a:xfrm>
        </p:grpSpPr>
        <p:sp>
          <p:nvSpPr>
            <p:cNvPr id="254" name="Google Shape;254;p18"/>
            <p:cNvSpPr/>
            <p:nvPr/>
          </p:nvSpPr>
          <p:spPr>
            <a:xfrm>
              <a:off x="4274946" y="1687995"/>
              <a:ext cx="5614022" cy="514063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255" name="Google Shape;255;p18"/>
            <p:cNvSpPr/>
            <p:nvPr/>
          </p:nvSpPr>
          <p:spPr>
            <a:xfrm>
              <a:off x="834516" y="6070206"/>
              <a:ext cx="5267325" cy="1133472"/>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grpSp>
      <p:sp>
        <p:nvSpPr>
          <p:cNvPr id="256" name="Google Shape;256;p18"/>
          <p:cNvSpPr txBox="1"/>
          <p:nvPr/>
        </p:nvSpPr>
        <p:spPr>
          <a:xfrm>
            <a:off x="1143000" y="3886200"/>
            <a:ext cx="53664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Trung bình cộng của M lần hiệu độ lệch của p,q so với k</a:t>
            </a:r>
            <a:endParaRPr/>
          </a:p>
        </p:txBody>
      </p:sp>
      <p:sp>
        <p:nvSpPr>
          <p:cNvPr id="257" name="Google Shape;257;p18"/>
          <p:cNvSpPr txBox="1"/>
          <p:nvPr/>
        </p:nvSpPr>
        <p:spPr>
          <a:xfrm>
            <a:off x="2945251" y="4929778"/>
            <a:ext cx="11960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Offset[p,q]</a:t>
            </a:r>
            <a:endParaRPr/>
          </a:p>
        </p:txBody>
      </p:sp>
      <p:sp>
        <p:nvSpPr>
          <p:cNvPr id="258" name="Google Shape;258;p18"/>
          <p:cNvSpPr/>
          <p:nvPr/>
        </p:nvSpPr>
        <p:spPr>
          <a:xfrm>
            <a:off x="3429000" y="4255532"/>
            <a:ext cx="228600" cy="560292"/>
          </a:xfrm>
          <a:prstGeom prst="down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9"/>
          <p:cNvSpPr txBox="1">
            <a:spLocks noGrp="1"/>
          </p:cNvSpPr>
          <p:nvPr>
            <p:ph type="title"/>
          </p:nvPr>
        </p:nvSpPr>
        <p:spPr>
          <a:xfrm>
            <a:off x="1143000" y="228600"/>
            <a:ext cx="6362380"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2. Đồng bộ hóa đồng hồ logic</a:t>
            </a:r>
            <a:endParaRPr/>
          </a:p>
        </p:txBody>
      </p:sp>
      <p:sp>
        <p:nvSpPr>
          <p:cNvPr id="266" name="Google Shape;266;p19"/>
          <p:cNvSpPr txBox="1"/>
          <p:nvPr/>
        </p:nvSpPr>
        <p:spPr>
          <a:xfrm>
            <a:off x="1143000" y="1905000"/>
            <a:ext cx="7028585" cy="1031402"/>
          </a:xfrm>
          <a:prstGeom prst="rect">
            <a:avLst/>
          </a:prstGeom>
          <a:noFill/>
          <a:ln>
            <a:noFill/>
          </a:ln>
        </p:spPr>
        <p:txBody>
          <a:bodyPr spcFirstLastPara="1" wrap="square" lIns="0" tIns="102575" rIns="0" bIns="0" anchor="t" anchorCtr="0">
            <a:spAutoFit/>
          </a:bodyPr>
          <a:lstStyle/>
          <a:p>
            <a:pPr marL="315827" marR="0" lvl="0" indent="-304876" algn="l" rtl="0">
              <a:spcBef>
                <a:spcPts val="0"/>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Cơ chế đồng bộ hóa đồng hồ logic của Lamport</a:t>
            </a:r>
            <a:endParaRPr sz="2723">
              <a:solidFill>
                <a:schemeClr val="dk1"/>
              </a:solidFill>
              <a:latin typeface="Calibri"/>
              <a:ea typeface="Calibri"/>
              <a:cs typeface="Calibri"/>
              <a:sym typeface="Calibri"/>
            </a:endParaRPr>
          </a:p>
          <a:p>
            <a:pPr marL="315827" marR="0" lvl="0" indent="-304876" algn="l" rtl="0">
              <a:spcBef>
                <a:spcPts val="722"/>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Vector clocks</a:t>
            </a:r>
            <a:endParaRPr sz="2723">
              <a:solidFill>
                <a:schemeClr val="dk1"/>
              </a:solidFill>
              <a:latin typeface="Calibri"/>
              <a:ea typeface="Calibri"/>
              <a:cs typeface="Calibri"/>
              <a:sym typeface="Calibri"/>
            </a:endParaRPr>
          </a:p>
        </p:txBody>
      </p:sp>
      <p:sp>
        <p:nvSpPr>
          <p:cNvPr id="267" name="Google Shape;26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0"/>
          <p:cNvSpPr txBox="1">
            <a:spLocks noGrp="1"/>
          </p:cNvSpPr>
          <p:nvPr>
            <p:ph type="title"/>
          </p:nvPr>
        </p:nvSpPr>
        <p:spPr>
          <a:xfrm>
            <a:off x="990600" y="213860"/>
            <a:ext cx="10515600" cy="604613"/>
          </a:xfrm>
          <a:prstGeom prst="rect">
            <a:avLst/>
          </a:prstGeom>
          <a:noFill/>
          <a:ln>
            <a:noFill/>
          </a:ln>
        </p:spPr>
        <p:txBody>
          <a:bodyPr spcFirstLastPara="1" wrap="square" lIns="0" tIns="2875" rIns="0" bIns="0" anchor="ctr" anchorCtr="0">
            <a:spAutoFit/>
          </a:bodyPr>
          <a:lstStyle/>
          <a:p>
            <a:pPr marL="11527" marR="4611" lvl="0" indent="0" algn="l" rtl="0">
              <a:lnSpc>
                <a:spcPct val="101299"/>
              </a:lnSpc>
              <a:spcBef>
                <a:spcPts val="0"/>
              </a:spcBef>
              <a:spcAft>
                <a:spcPts val="0"/>
              </a:spcAft>
              <a:buClr>
                <a:schemeClr val="lt1"/>
              </a:buClr>
              <a:buSzPts val="4000"/>
              <a:buFont typeface="Calibri"/>
              <a:buNone/>
            </a:pPr>
            <a:r>
              <a:rPr lang="en-US"/>
              <a:t>2.1. Cơ chế ĐBH đồng hồ logic của  Lamport (1)</a:t>
            </a:r>
            <a:endParaRPr/>
          </a:p>
        </p:txBody>
      </p:sp>
      <p:sp>
        <p:nvSpPr>
          <p:cNvPr id="273" name="Google Shape;273;p20"/>
          <p:cNvSpPr txBox="1"/>
          <p:nvPr/>
        </p:nvSpPr>
        <p:spPr>
          <a:xfrm>
            <a:off x="1295400" y="1600200"/>
            <a:ext cx="9982200" cy="4229588"/>
          </a:xfrm>
          <a:prstGeom prst="rect">
            <a:avLst/>
          </a:prstGeom>
          <a:noFill/>
          <a:ln>
            <a:noFill/>
          </a:ln>
        </p:spPr>
        <p:txBody>
          <a:bodyPr spcFirstLastPara="1" wrap="square" lIns="0" tIns="11525" rIns="0" bIns="0" anchor="t" anchorCtr="0">
            <a:spAutoFit/>
          </a:bodyPr>
          <a:lstStyle/>
          <a:p>
            <a:pPr marL="315827" marR="0" lvl="0" indent="-304876" algn="l" rtl="0">
              <a:lnSpc>
                <a:spcPct val="118956"/>
              </a:lnSpc>
              <a:spcBef>
                <a:spcPts val="0"/>
              </a:spcBef>
              <a:spcAft>
                <a:spcPts val="0"/>
              </a:spcAft>
              <a:buClr>
                <a:srgbClr val="DD8047"/>
              </a:buClr>
              <a:buSzPts val="1815"/>
              <a:buFont typeface="Noto Sans Symbols"/>
              <a:buChar char="◻"/>
            </a:pPr>
            <a:r>
              <a:rPr lang="en-US" sz="3086">
                <a:solidFill>
                  <a:schemeClr val="dk1"/>
                </a:solidFill>
                <a:latin typeface="Calibri"/>
                <a:ea typeface="Calibri"/>
                <a:cs typeface="Calibri"/>
                <a:sym typeface="Calibri"/>
              </a:rPr>
              <a:t>Mối quan hệ “xảy ra trước” (happens-before) </a:t>
            </a:r>
            <a:r>
              <a:rPr lang="en-US" sz="3086" i="1">
                <a:solidFill>
                  <a:schemeClr val="dk1"/>
                </a:solidFill>
                <a:latin typeface="Calibri"/>
                <a:ea typeface="Calibri"/>
                <a:cs typeface="Calibri"/>
                <a:sym typeface="Calibri"/>
              </a:rPr>
              <a:t>→</a:t>
            </a:r>
            <a:endParaRPr sz="3086">
              <a:solidFill>
                <a:schemeClr val="dk1"/>
              </a:solidFill>
              <a:latin typeface="Calibri"/>
              <a:ea typeface="Calibri"/>
              <a:cs typeface="Calibri"/>
              <a:sym typeface="Calibri"/>
            </a:endParaRPr>
          </a:p>
          <a:p>
            <a:pPr marL="315827" marR="0" lvl="0" indent="0" algn="l" rtl="0">
              <a:lnSpc>
                <a:spcPct val="118956"/>
              </a:lnSpc>
              <a:spcBef>
                <a:spcPts val="0"/>
              </a:spcBef>
              <a:spcAft>
                <a:spcPts val="0"/>
              </a:spcAft>
              <a:buNone/>
            </a:pPr>
            <a:r>
              <a:rPr lang="en-US" sz="3086">
                <a:solidFill>
                  <a:schemeClr val="dk1"/>
                </a:solidFill>
                <a:latin typeface="Calibri"/>
                <a:ea typeface="Calibri"/>
                <a:cs typeface="Calibri"/>
                <a:sym typeface="Calibri"/>
              </a:rPr>
              <a:t>diễn ra với 2 ngữ cảnh:</a:t>
            </a:r>
            <a:endParaRPr sz="3086">
              <a:solidFill>
                <a:schemeClr val="dk1"/>
              </a:solidFill>
              <a:latin typeface="Calibri"/>
              <a:ea typeface="Calibri"/>
              <a:cs typeface="Calibri"/>
              <a:sym typeface="Calibri"/>
            </a:endParaRPr>
          </a:p>
          <a:p>
            <a:pPr marL="849505" marR="0" lvl="1" indent="-491030" algn="l" rtl="0">
              <a:spcBef>
                <a:spcPts val="635"/>
              </a:spcBef>
              <a:spcAft>
                <a:spcPts val="0"/>
              </a:spcAft>
              <a:buClr>
                <a:srgbClr val="94B6D2"/>
              </a:buClr>
              <a:buSzPts val="1725"/>
              <a:buFont typeface="Calibri"/>
              <a:buAutoNum type="arabicPeriod"/>
            </a:pPr>
            <a:r>
              <a:rPr lang="en-US" sz="2451" b="0" i="0" u="none" strike="noStrike" cap="none">
                <a:solidFill>
                  <a:schemeClr val="dk1"/>
                </a:solidFill>
                <a:latin typeface="Calibri"/>
                <a:ea typeface="Calibri"/>
                <a:cs typeface="Calibri"/>
                <a:sym typeface="Calibri"/>
              </a:rPr>
              <a:t>Nếu </a:t>
            </a:r>
            <a:r>
              <a:rPr lang="en-US" sz="2451" b="0" i="1" u="none" strike="noStrike" cap="none">
                <a:solidFill>
                  <a:schemeClr val="dk1"/>
                </a:solidFill>
                <a:latin typeface="Calibri"/>
                <a:ea typeface="Calibri"/>
                <a:cs typeface="Calibri"/>
                <a:sym typeface="Calibri"/>
              </a:rPr>
              <a:t>a </a:t>
            </a:r>
            <a:r>
              <a:rPr lang="en-US" sz="2451" b="0" i="0" u="none" strike="noStrike" cap="none">
                <a:solidFill>
                  <a:schemeClr val="dk1"/>
                </a:solidFill>
                <a:latin typeface="Calibri"/>
                <a:ea typeface="Calibri"/>
                <a:cs typeface="Calibri"/>
                <a:sym typeface="Calibri"/>
              </a:rPr>
              <a:t>và </a:t>
            </a:r>
            <a:r>
              <a:rPr lang="en-US" sz="2451" b="0" i="1" u="none" strike="noStrike" cap="none">
                <a:solidFill>
                  <a:schemeClr val="dk1"/>
                </a:solidFill>
                <a:latin typeface="Calibri"/>
                <a:ea typeface="Calibri"/>
                <a:cs typeface="Calibri"/>
                <a:sym typeface="Calibri"/>
              </a:rPr>
              <a:t>b </a:t>
            </a:r>
            <a:r>
              <a:rPr lang="en-US" sz="2451" b="0" i="0" u="none" strike="noStrike" cap="none">
                <a:solidFill>
                  <a:schemeClr val="dk1"/>
                </a:solidFill>
                <a:latin typeface="Calibri"/>
                <a:ea typeface="Calibri"/>
                <a:cs typeface="Calibri"/>
                <a:sym typeface="Calibri"/>
              </a:rPr>
              <a:t>là các sự kiện của cùng 1 tiến trình, và </a:t>
            </a:r>
            <a:r>
              <a:rPr lang="en-US" sz="2451" b="0" i="1" u="none" strike="noStrike" cap="none">
                <a:solidFill>
                  <a:schemeClr val="dk1"/>
                </a:solidFill>
                <a:latin typeface="Calibri"/>
                <a:ea typeface="Calibri"/>
                <a:cs typeface="Calibri"/>
                <a:sym typeface="Calibri"/>
              </a:rPr>
              <a:t>a </a:t>
            </a:r>
            <a:r>
              <a:rPr lang="en-US" sz="2451" b="0" i="0" u="none" strike="noStrike" cap="none">
                <a:solidFill>
                  <a:schemeClr val="dk1"/>
                </a:solidFill>
                <a:latin typeface="Calibri"/>
                <a:ea typeface="Calibri"/>
                <a:cs typeface="Calibri"/>
                <a:sym typeface="Calibri"/>
              </a:rPr>
              <a:t>xảy ra trước </a:t>
            </a:r>
            <a:r>
              <a:rPr lang="en-US" sz="2451" b="0" i="1" u="none" strike="noStrike" cap="none">
                <a:solidFill>
                  <a:schemeClr val="dk1"/>
                </a:solidFill>
                <a:latin typeface="Calibri"/>
                <a:ea typeface="Calibri"/>
                <a:cs typeface="Calibri"/>
                <a:sym typeface="Calibri"/>
              </a:rPr>
              <a:t>b</a:t>
            </a:r>
            <a:r>
              <a:rPr lang="en-US" sz="2451" b="0" i="0" u="none" strike="noStrike" cap="none">
                <a:solidFill>
                  <a:schemeClr val="dk1"/>
                </a:solidFill>
                <a:latin typeface="Calibri"/>
                <a:ea typeface="Calibri"/>
                <a:cs typeface="Calibri"/>
                <a:sym typeface="Calibri"/>
              </a:rPr>
              <a:t>,   thì </a:t>
            </a:r>
            <a:r>
              <a:rPr lang="en-US" sz="2451" b="0" i="1" u="none" strike="noStrike" cap="none">
                <a:solidFill>
                  <a:schemeClr val="dk1"/>
                </a:solidFill>
                <a:latin typeface="Calibri"/>
                <a:ea typeface="Calibri"/>
                <a:cs typeface="Calibri"/>
                <a:sym typeface="Calibri"/>
              </a:rPr>
              <a:t>a → b </a:t>
            </a:r>
            <a:r>
              <a:rPr lang="en-US" sz="2451" b="0" i="0" u="none" strike="noStrike" cap="none">
                <a:solidFill>
                  <a:schemeClr val="dk1"/>
                </a:solidFill>
                <a:latin typeface="Calibri"/>
                <a:ea typeface="Calibri"/>
                <a:cs typeface="Calibri"/>
                <a:sym typeface="Calibri"/>
              </a:rPr>
              <a:t>là đúng.</a:t>
            </a:r>
            <a:endParaRPr sz="2451" b="0" i="0" u="none" strike="noStrike" cap="none">
              <a:solidFill>
                <a:schemeClr val="dk1"/>
              </a:solidFill>
              <a:latin typeface="Calibri"/>
              <a:ea typeface="Calibri"/>
              <a:cs typeface="Calibri"/>
              <a:sym typeface="Calibri"/>
            </a:endParaRPr>
          </a:p>
          <a:p>
            <a:pPr marL="849505" marR="17866" lvl="1" indent="-490453" algn="l" rtl="0">
              <a:lnSpc>
                <a:spcPct val="102200"/>
              </a:lnSpc>
              <a:spcBef>
                <a:spcPts val="522"/>
              </a:spcBef>
              <a:spcAft>
                <a:spcPts val="0"/>
              </a:spcAft>
              <a:buClr>
                <a:srgbClr val="94B6D2"/>
              </a:buClr>
              <a:buSzPts val="1725"/>
              <a:buFont typeface="Calibri"/>
              <a:buAutoNum type="arabicPeriod"/>
            </a:pPr>
            <a:r>
              <a:rPr lang="en-US" sz="2451" b="0" i="0" u="none" strike="noStrike" cap="none">
                <a:solidFill>
                  <a:schemeClr val="dk1"/>
                </a:solidFill>
                <a:latin typeface="Calibri"/>
                <a:ea typeface="Calibri"/>
                <a:cs typeface="Calibri"/>
                <a:sym typeface="Calibri"/>
              </a:rPr>
              <a:t>Nếu a là sự kiện gửi một thông điệp từ một tiến trình, b  là sự kiện nhận của thông điệp đó ở 1 tiến trình khác,  thì </a:t>
            </a:r>
            <a:r>
              <a:rPr lang="en-US" sz="2451" b="0" i="1" u="none" strike="noStrike" cap="none">
                <a:solidFill>
                  <a:schemeClr val="dk1"/>
                </a:solidFill>
                <a:latin typeface="Calibri"/>
                <a:ea typeface="Calibri"/>
                <a:cs typeface="Calibri"/>
                <a:sym typeface="Calibri"/>
              </a:rPr>
              <a:t>a → b là đúng</a:t>
            </a:r>
            <a:endParaRPr sz="2451" b="0" i="0" u="none" strike="noStrike" cap="none">
              <a:solidFill>
                <a:schemeClr val="dk1"/>
              </a:solidFill>
              <a:latin typeface="Calibri"/>
              <a:ea typeface="Calibri"/>
              <a:cs typeface="Calibri"/>
              <a:sym typeface="Calibri"/>
            </a:endParaRPr>
          </a:p>
          <a:p>
            <a:pPr marL="315827" marR="0" lvl="0" indent="-304876" algn="l" rtl="0">
              <a:spcBef>
                <a:spcPts val="585"/>
              </a:spcBef>
              <a:spcAft>
                <a:spcPts val="0"/>
              </a:spcAft>
              <a:buClr>
                <a:srgbClr val="DD8047"/>
              </a:buClr>
              <a:buSzPts val="1815"/>
              <a:buFont typeface="Noto Sans Symbols"/>
              <a:buChar char="◻"/>
            </a:pPr>
            <a:r>
              <a:rPr lang="en-US" sz="3086">
                <a:solidFill>
                  <a:schemeClr val="dk1"/>
                </a:solidFill>
                <a:latin typeface="Calibri"/>
                <a:ea typeface="Calibri"/>
                <a:cs typeface="Calibri"/>
                <a:sym typeface="Calibri"/>
              </a:rPr>
              <a:t>Mối quan hệ bắc cầu: </a:t>
            </a:r>
            <a:r>
              <a:rPr lang="en-US" sz="2632" i="1">
                <a:solidFill>
                  <a:schemeClr val="dk1"/>
                </a:solidFill>
                <a:latin typeface="Calibri"/>
                <a:ea typeface="Calibri"/>
                <a:cs typeface="Calibri"/>
                <a:sym typeface="Calibri"/>
              </a:rPr>
              <a:t>a → b </a:t>
            </a:r>
            <a:r>
              <a:rPr lang="en-US" sz="2632">
                <a:solidFill>
                  <a:schemeClr val="dk1"/>
                </a:solidFill>
                <a:latin typeface="Calibri"/>
                <a:ea typeface="Calibri"/>
                <a:cs typeface="Calibri"/>
                <a:sym typeface="Calibri"/>
              </a:rPr>
              <a:t>và </a:t>
            </a:r>
            <a:r>
              <a:rPr lang="en-US" sz="2632" i="1">
                <a:solidFill>
                  <a:schemeClr val="dk1"/>
                </a:solidFill>
                <a:latin typeface="Calibri"/>
                <a:ea typeface="Calibri"/>
                <a:cs typeface="Calibri"/>
                <a:sym typeface="Calibri"/>
              </a:rPr>
              <a:t>b → c, </a:t>
            </a:r>
            <a:r>
              <a:rPr lang="en-US" sz="2632">
                <a:solidFill>
                  <a:schemeClr val="dk1"/>
                </a:solidFill>
                <a:latin typeface="Calibri"/>
                <a:ea typeface="Calibri"/>
                <a:cs typeface="Calibri"/>
                <a:sym typeface="Calibri"/>
              </a:rPr>
              <a:t>thì </a:t>
            </a:r>
            <a:r>
              <a:rPr lang="en-US" sz="2632" i="1">
                <a:solidFill>
                  <a:schemeClr val="dk1"/>
                </a:solidFill>
                <a:latin typeface="Calibri"/>
                <a:ea typeface="Calibri"/>
                <a:cs typeface="Calibri"/>
                <a:sym typeface="Calibri"/>
              </a:rPr>
              <a:t>a → c</a:t>
            </a:r>
            <a:endParaRPr sz="2632">
              <a:solidFill>
                <a:schemeClr val="dk1"/>
              </a:solidFill>
              <a:latin typeface="Calibri"/>
              <a:ea typeface="Calibri"/>
              <a:cs typeface="Calibri"/>
              <a:sym typeface="Calibri"/>
            </a:endParaRPr>
          </a:p>
          <a:p>
            <a:pPr marL="315827" marR="0" lvl="0" indent="-304876" algn="l" rtl="0">
              <a:spcBef>
                <a:spcPts val="653"/>
              </a:spcBef>
              <a:spcAft>
                <a:spcPts val="0"/>
              </a:spcAft>
              <a:buClr>
                <a:srgbClr val="DD8047"/>
              </a:buClr>
              <a:buSzPts val="1815"/>
              <a:buFont typeface="Noto Sans Symbols"/>
              <a:buChar char="◻"/>
            </a:pPr>
            <a:r>
              <a:rPr lang="en-US" sz="3086">
                <a:solidFill>
                  <a:schemeClr val="dk1"/>
                </a:solidFill>
                <a:latin typeface="Calibri"/>
                <a:ea typeface="Calibri"/>
                <a:cs typeface="Calibri"/>
                <a:sym typeface="Calibri"/>
              </a:rPr>
              <a:t>Với các sự kiện tương tranh a và b thì không có</a:t>
            </a:r>
            <a:endParaRPr sz="3086">
              <a:solidFill>
                <a:schemeClr val="dk1"/>
              </a:solidFill>
              <a:latin typeface="Calibri"/>
              <a:ea typeface="Calibri"/>
              <a:cs typeface="Calibri"/>
              <a:sym typeface="Calibri"/>
            </a:endParaRPr>
          </a:p>
          <a:p>
            <a:pPr marL="315827" marR="0" lvl="0" indent="0" algn="l" rtl="0">
              <a:spcBef>
                <a:spcPts val="23"/>
              </a:spcBef>
              <a:spcAft>
                <a:spcPts val="0"/>
              </a:spcAft>
              <a:buNone/>
            </a:pPr>
            <a:r>
              <a:rPr lang="en-US" sz="3086" i="1">
                <a:solidFill>
                  <a:schemeClr val="dk1"/>
                </a:solidFill>
                <a:latin typeface="Calibri"/>
                <a:ea typeface="Calibri"/>
                <a:cs typeface="Calibri"/>
                <a:sym typeface="Calibri"/>
              </a:rPr>
              <a:t>a → b	</a:t>
            </a:r>
            <a:r>
              <a:rPr lang="en-US" sz="3086">
                <a:solidFill>
                  <a:schemeClr val="dk1"/>
                </a:solidFill>
                <a:latin typeface="Calibri"/>
                <a:ea typeface="Calibri"/>
                <a:cs typeface="Calibri"/>
                <a:sym typeface="Calibri"/>
              </a:rPr>
              <a:t>và cũng không có </a:t>
            </a:r>
            <a:r>
              <a:rPr lang="en-US" sz="3086" i="1">
                <a:solidFill>
                  <a:schemeClr val="dk1"/>
                </a:solidFill>
                <a:latin typeface="Calibri"/>
                <a:ea typeface="Calibri"/>
                <a:cs typeface="Calibri"/>
                <a:sym typeface="Calibri"/>
              </a:rPr>
              <a:t>b → a</a:t>
            </a:r>
            <a:endParaRPr sz="3086">
              <a:solidFill>
                <a:schemeClr val="dk1"/>
              </a:solidFill>
              <a:latin typeface="Calibri"/>
              <a:ea typeface="Calibri"/>
              <a:cs typeface="Calibri"/>
              <a:sym typeface="Calibri"/>
            </a:endParaRPr>
          </a:p>
        </p:txBody>
      </p:sp>
      <p:sp>
        <p:nvSpPr>
          <p:cNvPr id="274" name="Google Shape;27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1"/>
          <p:cNvSpPr txBox="1">
            <a:spLocks noGrp="1"/>
          </p:cNvSpPr>
          <p:nvPr>
            <p:ph type="title"/>
          </p:nvPr>
        </p:nvSpPr>
        <p:spPr>
          <a:xfrm>
            <a:off x="838200" y="365125"/>
            <a:ext cx="10515600" cy="625475"/>
          </a:xfrm>
          <a:prstGeom prst="rect">
            <a:avLst/>
          </a:prstGeom>
          <a:noFill/>
          <a:ln>
            <a:noFill/>
          </a:ln>
        </p:spPr>
        <p:txBody>
          <a:bodyPr spcFirstLastPara="1" wrap="square" lIns="0" tIns="2875" rIns="0" bIns="0" anchor="ctr" anchorCtr="0">
            <a:spAutoFit/>
          </a:bodyPr>
          <a:lstStyle/>
          <a:p>
            <a:pPr marL="11527" marR="4611" lvl="0" indent="0" algn="l" rtl="0">
              <a:lnSpc>
                <a:spcPct val="101299"/>
              </a:lnSpc>
              <a:spcBef>
                <a:spcPts val="0"/>
              </a:spcBef>
              <a:spcAft>
                <a:spcPts val="0"/>
              </a:spcAft>
              <a:buClr>
                <a:schemeClr val="lt1"/>
              </a:buClr>
              <a:buSzPts val="4000"/>
              <a:buFont typeface="Calibri"/>
              <a:buNone/>
            </a:pPr>
            <a:r>
              <a:rPr lang="en-US"/>
              <a:t>Cơ chế ĐBH đồng hồ logic của  Lamport (2)</a:t>
            </a:r>
            <a:endParaRPr/>
          </a:p>
        </p:txBody>
      </p:sp>
      <p:sp>
        <p:nvSpPr>
          <p:cNvPr id="280" name="Google Shape;280;p21"/>
          <p:cNvSpPr/>
          <p:nvPr/>
        </p:nvSpPr>
        <p:spPr>
          <a:xfrm>
            <a:off x="7620000" y="1705168"/>
            <a:ext cx="4123870" cy="482580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281" name="Google Shape;281;p21"/>
          <p:cNvSpPr txBox="1"/>
          <p:nvPr/>
        </p:nvSpPr>
        <p:spPr>
          <a:xfrm>
            <a:off x="838200" y="1905000"/>
            <a:ext cx="6324600" cy="4155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Ví dụ:</a:t>
            </a:r>
            <a:endParaRPr b="1"/>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3 tiến trình P1,P2,P3 nằm trên 3 máy khác nhau</a:t>
            </a: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Đồng hồ vật lý mỗi máy là khác nhau</a:t>
            </a:r>
            <a:endParaRPr sz="24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Có 4 thông điệp (m1-m4) trao đổi giữa 3 tiến trình</a:t>
            </a:r>
            <a:endParaRPr sz="2400">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m1,m2 vẫn đảm bảo theo cơ chế Lamport</a:t>
            </a:r>
            <a:endParaRPr sz="2400" b="0" i="0" u="none" strike="noStrike" cap="none">
              <a:solidFill>
                <a:schemeClr val="dk1"/>
              </a:solidFill>
              <a:latin typeface="Calibri"/>
              <a:ea typeface="Calibri"/>
              <a:cs typeface="Calibri"/>
              <a:sym typeface="Calibri"/>
            </a:endParaRPr>
          </a:p>
          <a:p>
            <a:pPr marL="800100" marR="0" lvl="1" indent="-3429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m3,m4 xảy ra vấn đề</a:t>
            </a:r>
            <a:endParaRPr sz="2400" b="0" i="0" u="none" strike="noStrike" cap="none">
              <a:solidFill>
                <a:schemeClr val="dk1"/>
              </a:solidFill>
              <a:latin typeface="Calibri"/>
              <a:ea typeface="Calibri"/>
              <a:cs typeface="Calibri"/>
              <a:sym typeface="Calibri"/>
            </a:endParaRPr>
          </a:p>
          <a:p>
            <a:pPr marL="800100" marR="0" lvl="1" indent="-190500" algn="l" rtl="0">
              <a:spcBef>
                <a:spcPts val="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=&gt; Cần cập nhật lại đồng hồ để đảm bảo nguyên lý Lamport : t</a:t>
            </a:r>
            <a:r>
              <a:rPr lang="en-US" sz="2400" baseline="-25000">
                <a:solidFill>
                  <a:schemeClr val="dk1"/>
                </a:solidFill>
                <a:latin typeface="Calibri"/>
                <a:ea typeface="Calibri"/>
                <a:cs typeface="Calibri"/>
                <a:sym typeface="Calibri"/>
              </a:rPr>
              <a:t>recv </a:t>
            </a:r>
            <a:r>
              <a:rPr lang="en-US" sz="2400">
                <a:solidFill>
                  <a:schemeClr val="dk1"/>
                </a:solidFill>
                <a:latin typeface="Calibri"/>
                <a:ea typeface="Calibri"/>
                <a:cs typeface="Calibri"/>
                <a:sym typeface="Calibri"/>
              </a:rPr>
              <a:t>&gt; t</a:t>
            </a:r>
            <a:r>
              <a:rPr lang="en-US" sz="2400" baseline="-25000">
                <a:solidFill>
                  <a:schemeClr val="dk1"/>
                </a:solidFill>
                <a:latin typeface="Calibri"/>
                <a:ea typeface="Calibri"/>
                <a:cs typeface="Calibri"/>
                <a:sym typeface="Calibri"/>
              </a:rPr>
              <a:t>send </a:t>
            </a:r>
            <a:endParaRPr/>
          </a:p>
        </p:txBody>
      </p:sp>
      <p:sp>
        <p:nvSpPr>
          <p:cNvPr id="282" name="Google Shape;28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2"/>
          <p:cNvSpPr txBox="1">
            <a:spLocks noGrp="1"/>
          </p:cNvSpPr>
          <p:nvPr>
            <p:ph type="title"/>
          </p:nvPr>
        </p:nvSpPr>
        <p:spPr>
          <a:xfrm>
            <a:off x="1438515" y="304800"/>
            <a:ext cx="9543570" cy="604613"/>
          </a:xfrm>
          <a:prstGeom prst="rect">
            <a:avLst/>
          </a:prstGeom>
          <a:noFill/>
          <a:ln>
            <a:noFill/>
          </a:ln>
        </p:spPr>
        <p:txBody>
          <a:bodyPr spcFirstLastPara="1" wrap="square" lIns="0" tIns="2875" rIns="0" bIns="0" anchor="ctr" anchorCtr="0">
            <a:spAutoFit/>
          </a:bodyPr>
          <a:lstStyle/>
          <a:p>
            <a:pPr marL="11527" marR="4611" lvl="0" indent="0" algn="l" rtl="0">
              <a:lnSpc>
                <a:spcPct val="101299"/>
              </a:lnSpc>
              <a:spcBef>
                <a:spcPts val="0"/>
              </a:spcBef>
              <a:spcAft>
                <a:spcPts val="0"/>
              </a:spcAft>
              <a:buClr>
                <a:schemeClr val="lt1"/>
              </a:buClr>
              <a:buSzPts val="4000"/>
              <a:buFont typeface="Calibri"/>
              <a:buNone/>
            </a:pPr>
            <a:r>
              <a:rPr lang="en-US"/>
              <a:t>Cơ chế ĐBH đồng hồ logic của Lamport (3)</a:t>
            </a:r>
            <a:endParaRPr/>
          </a:p>
        </p:txBody>
      </p:sp>
      <p:sp>
        <p:nvSpPr>
          <p:cNvPr id="289" name="Google Shape;289;p22"/>
          <p:cNvSpPr txBox="1"/>
          <p:nvPr/>
        </p:nvSpPr>
        <p:spPr>
          <a:xfrm>
            <a:off x="1371600" y="1676400"/>
            <a:ext cx="9677400" cy="3635508"/>
          </a:xfrm>
          <a:prstGeom prst="rect">
            <a:avLst/>
          </a:prstGeom>
          <a:noFill/>
          <a:ln>
            <a:noFill/>
          </a:ln>
        </p:spPr>
        <p:txBody>
          <a:bodyPr spcFirstLastPara="1" wrap="square" lIns="0" tIns="94500" rIns="0" bIns="0" anchor="t" anchorCtr="0">
            <a:spAutoFit/>
          </a:bodyPr>
          <a:lstStyle/>
          <a:p>
            <a:pPr marL="34004" marR="0" lvl="0" indent="0" algn="l" rtl="0">
              <a:spcBef>
                <a:spcPts val="0"/>
              </a:spcBef>
              <a:spcAft>
                <a:spcPts val="0"/>
              </a:spcAft>
              <a:buNone/>
            </a:pPr>
            <a:r>
              <a:rPr lang="en-US" sz="2632">
                <a:solidFill>
                  <a:schemeClr val="dk1"/>
                </a:solidFill>
                <a:latin typeface="Calibri"/>
                <a:ea typeface="Calibri"/>
                <a:cs typeface="Calibri"/>
                <a:sym typeface="Calibri"/>
              </a:rPr>
              <a:t>Chúng ta cần cập nhật bộ đếm C</a:t>
            </a:r>
            <a:r>
              <a:rPr lang="en-US" sz="2723" i="1" baseline="-25000">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cho tiến trình P</a:t>
            </a:r>
            <a:r>
              <a:rPr lang="en-US" sz="2723" i="1" baseline="-25000">
                <a:solidFill>
                  <a:schemeClr val="dk1"/>
                </a:solidFill>
                <a:latin typeface="Calibri"/>
                <a:ea typeface="Calibri"/>
                <a:cs typeface="Calibri"/>
                <a:sym typeface="Calibri"/>
              </a:rPr>
              <a:t>i</a:t>
            </a:r>
            <a:endParaRPr sz="2723" baseline="-25000">
              <a:solidFill>
                <a:schemeClr val="dk1"/>
              </a:solidFill>
              <a:latin typeface="Calibri"/>
              <a:ea typeface="Calibri"/>
              <a:cs typeface="Calibri"/>
              <a:sym typeface="Calibri"/>
            </a:endParaRPr>
          </a:p>
          <a:p>
            <a:pPr marL="338880" marR="3199186" lvl="0" indent="-304876" algn="l" rtl="0">
              <a:lnSpc>
                <a:spcPct val="103400"/>
              </a:lnSpc>
              <a:spcBef>
                <a:spcPts val="545"/>
              </a:spcBef>
              <a:spcAft>
                <a:spcPts val="0"/>
              </a:spcAft>
              <a:buClr>
                <a:srgbClr val="DD8047"/>
              </a:buClr>
              <a:buSzPts val="1634"/>
              <a:buFont typeface="Calibri"/>
              <a:buAutoNum type="arabicPeriod"/>
            </a:pPr>
            <a:r>
              <a:rPr lang="en-US" sz="2632">
                <a:solidFill>
                  <a:schemeClr val="dk1"/>
                </a:solidFill>
                <a:latin typeface="Calibri"/>
                <a:ea typeface="Calibri"/>
                <a:cs typeface="Calibri"/>
                <a:sym typeface="Calibri"/>
              </a:rPr>
              <a:t>Trước mỗi sự kiện, P</a:t>
            </a:r>
            <a:r>
              <a:rPr lang="en-US" sz="2723" i="1" baseline="-25000">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thực thi:  C</a:t>
            </a:r>
            <a:r>
              <a:rPr lang="en-US" sz="2723" i="1" baseline="-25000">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 C</a:t>
            </a:r>
            <a:r>
              <a:rPr lang="en-US" sz="2723" i="1" baseline="-25000">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+ 1.</a:t>
            </a:r>
            <a:endParaRPr sz="2632">
              <a:solidFill>
                <a:schemeClr val="dk1"/>
              </a:solidFill>
              <a:latin typeface="Calibri"/>
              <a:ea typeface="Calibri"/>
              <a:cs typeface="Calibri"/>
              <a:sym typeface="Calibri"/>
            </a:endParaRPr>
          </a:p>
          <a:p>
            <a:pPr marL="338880" marR="155608" lvl="0" indent="-304876" algn="l" rtl="0">
              <a:lnSpc>
                <a:spcPct val="102099"/>
              </a:lnSpc>
              <a:spcBef>
                <a:spcPts val="676"/>
              </a:spcBef>
              <a:spcAft>
                <a:spcPts val="0"/>
              </a:spcAft>
              <a:buClr>
                <a:srgbClr val="DD8047"/>
              </a:buClr>
              <a:buSzPts val="1634"/>
              <a:buFont typeface="Calibri"/>
              <a:buAutoNum type="arabicPeriod"/>
            </a:pPr>
            <a:r>
              <a:rPr lang="en-US" sz="2632">
                <a:solidFill>
                  <a:schemeClr val="dk1"/>
                </a:solidFill>
                <a:latin typeface="Calibri"/>
                <a:ea typeface="Calibri"/>
                <a:cs typeface="Calibri"/>
                <a:sym typeface="Calibri"/>
              </a:rPr>
              <a:t>Khi tiến trình P</a:t>
            </a:r>
            <a:r>
              <a:rPr lang="en-US" sz="2723" i="1" baseline="-25000">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gửi thông điệp m tới P</a:t>
            </a:r>
            <a:r>
              <a:rPr lang="en-US" sz="2723" i="1" baseline="-25000">
                <a:solidFill>
                  <a:schemeClr val="dk1"/>
                </a:solidFill>
                <a:latin typeface="Calibri"/>
                <a:ea typeface="Calibri"/>
                <a:cs typeface="Calibri"/>
                <a:sym typeface="Calibri"/>
              </a:rPr>
              <a:t>j</a:t>
            </a:r>
            <a:r>
              <a:rPr lang="en-US" sz="2632">
                <a:solidFill>
                  <a:schemeClr val="dk1"/>
                </a:solidFill>
                <a:latin typeface="Calibri"/>
                <a:ea typeface="Calibri"/>
                <a:cs typeface="Calibri"/>
                <a:sym typeface="Calibri"/>
              </a:rPr>
              <a:t>, nó sẽ đặt  timestamp của </a:t>
            </a:r>
            <a:r>
              <a:rPr lang="en-US" sz="2632" i="1">
                <a:solidFill>
                  <a:schemeClr val="dk1"/>
                </a:solidFill>
                <a:latin typeface="Calibri"/>
                <a:ea typeface="Calibri"/>
                <a:cs typeface="Calibri"/>
                <a:sym typeface="Calibri"/>
              </a:rPr>
              <a:t>m </a:t>
            </a:r>
            <a:r>
              <a:rPr lang="en-US" sz="2632">
                <a:solidFill>
                  <a:schemeClr val="dk1"/>
                </a:solidFill>
                <a:latin typeface="Calibri"/>
                <a:ea typeface="Calibri"/>
                <a:cs typeface="Calibri"/>
                <a:sym typeface="Calibri"/>
              </a:rPr>
              <a:t>là </a:t>
            </a:r>
            <a:r>
              <a:rPr lang="en-US" sz="2632" i="1">
                <a:solidFill>
                  <a:schemeClr val="dk1"/>
                </a:solidFill>
                <a:latin typeface="Calibri"/>
                <a:ea typeface="Calibri"/>
                <a:cs typeface="Calibri"/>
                <a:sym typeface="Calibri"/>
              </a:rPr>
              <a:t>ts (m) </a:t>
            </a:r>
            <a:r>
              <a:rPr lang="en-US" sz="2632">
                <a:solidFill>
                  <a:schemeClr val="dk1"/>
                </a:solidFill>
                <a:latin typeface="Calibri"/>
                <a:ea typeface="Calibri"/>
                <a:cs typeface="Calibri"/>
                <a:sym typeface="Calibri"/>
              </a:rPr>
              <a:t>bằng với giá trị C</a:t>
            </a:r>
            <a:r>
              <a:rPr lang="en-US" sz="2723" i="1" baseline="-25000">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(sau khi thực hiện bước 1).</a:t>
            </a:r>
            <a:endParaRPr sz="2632">
              <a:solidFill>
                <a:schemeClr val="dk1"/>
              </a:solidFill>
              <a:latin typeface="Calibri"/>
              <a:ea typeface="Calibri"/>
              <a:cs typeface="Calibri"/>
              <a:sym typeface="Calibri"/>
            </a:endParaRPr>
          </a:p>
          <a:p>
            <a:pPr marL="338880" marR="27664" lvl="0" indent="-304876" algn="l" rtl="0">
              <a:lnSpc>
                <a:spcPct val="100699"/>
              </a:lnSpc>
              <a:spcBef>
                <a:spcPts val="717"/>
              </a:spcBef>
              <a:spcAft>
                <a:spcPts val="0"/>
              </a:spcAft>
              <a:buClr>
                <a:srgbClr val="DD8047"/>
              </a:buClr>
              <a:buSzPts val="1634"/>
              <a:buFont typeface="Calibri"/>
              <a:buAutoNum type="arabicPeriod"/>
            </a:pPr>
            <a:r>
              <a:rPr lang="en-US" sz="2632">
                <a:solidFill>
                  <a:schemeClr val="dk1"/>
                </a:solidFill>
                <a:latin typeface="Calibri"/>
                <a:ea typeface="Calibri"/>
                <a:cs typeface="Calibri"/>
                <a:sym typeface="Calibri"/>
              </a:rPr>
              <a:t>Khi nhận được thông điệp	</a:t>
            </a:r>
            <a:r>
              <a:rPr lang="en-US" sz="2632" i="1">
                <a:solidFill>
                  <a:schemeClr val="dk1"/>
                </a:solidFill>
                <a:latin typeface="Calibri"/>
                <a:ea typeface="Calibri"/>
                <a:cs typeface="Calibri"/>
                <a:sym typeface="Calibri"/>
              </a:rPr>
              <a:t>m</a:t>
            </a:r>
            <a:r>
              <a:rPr lang="en-US" sz="2632">
                <a:solidFill>
                  <a:schemeClr val="dk1"/>
                </a:solidFill>
                <a:latin typeface="Calibri"/>
                <a:ea typeface="Calibri"/>
                <a:cs typeface="Calibri"/>
                <a:sym typeface="Calibri"/>
              </a:rPr>
              <a:t>, tiến trình P</a:t>
            </a:r>
            <a:r>
              <a:rPr lang="en-US" sz="2723" i="1" baseline="-25000">
                <a:solidFill>
                  <a:schemeClr val="dk1"/>
                </a:solidFill>
                <a:latin typeface="Calibri"/>
                <a:ea typeface="Calibri"/>
                <a:cs typeface="Calibri"/>
                <a:sym typeface="Calibri"/>
              </a:rPr>
              <a:t>j  </a:t>
            </a:r>
            <a:r>
              <a:rPr lang="en-US" sz="2632">
                <a:solidFill>
                  <a:schemeClr val="dk1"/>
                </a:solidFill>
                <a:latin typeface="Calibri"/>
                <a:ea typeface="Calibri"/>
                <a:cs typeface="Calibri"/>
                <a:sym typeface="Calibri"/>
              </a:rPr>
              <a:t>cập nhật lại  giá trị bộ đếm cục bộ của mình:</a:t>
            </a:r>
            <a:endParaRPr sz="2632">
              <a:solidFill>
                <a:schemeClr val="dk1"/>
              </a:solidFill>
              <a:latin typeface="Calibri"/>
              <a:ea typeface="Calibri"/>
              <a:cs typeface="Calibri"/>
              <a:sym typeface="Calibri"/>
            </a:endParaRPr>
          </a:p>
          <a:p>
            <a:pPr marL="338880" marR="311792" lvl="0" indent="0" algn="l" rtl="0">
              <a:lnSpc>
                <a:spcPct val="119977"/>
              </a:lnSpc>
              <a:spcBef>
                <a:spcPts val="41"/>
              </a:spcBef>
              <a:spcAft>
                <a:spcPts val="0"/>
              </a:spcAft>
              <a:buNone/>
            </a:pPr>
            <a:r>
              <a:rPr lang="en-US" sz="2632">
                <a:solidFill>
                  <a:schemeClr val="dk1"/>
                </a:solidFill>
                <a:latin typeface="Calibri"/>
                <a:ea typeface="Calibri"/>
                <a:cs typeface="Calibri"/>
                <a:sym typeface="Calibri"/>
              </a:rPr>
              <a:t>C</a:t>
            </a:r>
            <a:r>
              <a:rPr lang="en-US" sz="2723" i="1" baseline="-25000">
                <a:solidFill>
                  <a:schemeClr val="dk1"/>
                </a:solidFill>
                <a:latin typeface="Calibri"/>
                <a:ea typeface="Calibri"/>
                <a:cs typeface="Calibri"/>
                <a:sym typeface="Calibri"/>
              </a:rPr>
              <a:t>j </a:t>
            </a:r>
            <a:r>
              <a:rPr lang="en-US" sz="2632">
                <a:solidFill>
                  <a:schemeClr val="dk1"/>
                </a:solidFill>
                <a:latin typeface="Calibri"/>
                <a:ea typeface="Calibri"/>
                <a:cs typeface="Calibri"/>
                <a:sym typeface="Calibri"/>
              </a:rPr>
              <a:t>← max{C</a:t>
            </a:r>
            <a:r>
              <a:rPr lang="en-US" sz="2723" i="1" baseline="-25000">
                <a:solidFill>
                  <a:schemeClr val="dk1"/>
                </a:solidFill>
                <a:latin typeface="Calibri"/>
                <a:ea typeface="Calibri"/>
                <a:cs typeface="Calibri"/>
                <a:sym typeface="Calibri"/>
              </a:rPr>
              <a:t>j </a:t>
            </a:r>
            <a:r>
              <a:rPr lang="en-US" sz="2632">
                <a:solidFill>
                  <a:schemeClr val="dk1"/>
                </a:solidFill>
                <a:latin typeface="Calibri"/>
                <a:ea typeface="Calibri"/>
                <a:cs typeface="Calibri"/>
                <a:sym typeface="Calibri"/>
              </a:rPr>
              <a:t>, </a:t>
            </a:r>
            <a:r>
              <a:rPr lang="en-US" sz="2632" i="1">
                <a:solidFill>
                  <a:schemeClr val="dk1"/>
                </a:solidFill>
                <a:latin typeface="Calibri"/>
                <a:ea typeface="Calibri"/>
                <a:cs typeface="Calibri"/>
                <a:sym typeface="Calibri"/>
              </a:rPr>
              <a:t>ts (m)</a:t>
            </a:r>
            <a:r>
              <a:rPr lang="en-US" sz="2632">
                <a:solidFill>
                  <a:schemeClr val="dk1"/>
                </a:solidFill>
                <a:latin typeface="Calibri"/>
                <a:ea typeface="Calibri"/>
                <a:cs typeface="Calibri"/>
                <a:sym typeface="Calibri"/>
              </a:rPr>
              <a:t>}, sau đó sẽ chuyển thông điệp lên tầng ứng dụng.</a:t>
            </a:r>
            <a:endParaRPr sz="2632">
              <a:solidFill>
                <a:schemeClr val="dk1"/>
              </a:solidFill>
              <a:latin typeface="Calibri"/>
              <a:ea typeface="Calibri"/>
              <a:cs typeface="Calibri"/>
              <a:sym typeface="Calibri"/>
            </a:endParaRPr>
          </a:p>
        </p:txBody>
      </p:sp>
      <p:sp>
        <p:nvSpPr>
          <p:cNvPr id="290" name="Google Shape;29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3"/>
          <p:cNvSpPr txBox="1">
            <a:spLocks noGrp="1"/>
          </p:cNvSpPr>
          <p:nvPr>
            <p:ph type="title"/>
          </p:nvPr>
        </p:nvSpPr>
        <p:spPr>
          <a:xfrm>
            <a:off x="1324215" y="304800"/>
            <a:ext cx="9543570" cy="604613"/>
          </a:xfrm>
          <a:prstGeom prst="rect">
            <a:avLst/>
          </a:prstGeom>
          <a:noFill/>
          <a:ln>
            <a:noFill/>
          </a:ln>
        </p:spPr>
        <p:txBody>
          <a:bodyPr spcFirstLastPara="1" wrap="square" lIns="0" tIns="2875" rIns="0" bIns="0" anchor="ctr" anchorCtr="0">
            <a:spAutoFit/>
          </a:bodyPr>
          <a:lstStyle/>
          <a:p>
            <a:pPr marL="11527" marR="4611" lvl="0" indent="0" algn="l" rtl="0">
              <a:lnSpc>
                <a:spcPct val="101299"/>
              </a:lnSpc>
              <a:spcBef>
                <a:spcPts val="0"/>
              </a:spcBef>
              <a:spcAft>
                <a:spcPts val="0"/>
              </a:spcAft>
              <a:buClr>
                <a:schemeClr val="lt1"/>
              </a:buClr>
              <a:buSzPts val="4000"/>
              <a:buFont typeface="Calibri"/>
              <a:buNone/>
            </a:pPr>
            <a:r>
              <a:rPr lang="en-US"/>
              <a:t>Cơ chế đbh đồng hồ logic của  Lamport (4)</a:t>
            </a:r>
            <a:endParaRPr/>
          </a:p>
        </p:txBody>
      </p:sp>
      <p:sp>
        <p:nvSpPr>
          <p:cNvPr id="297" name="Google Shape;297;p23"/>
          <p:cNvSpPr txBox="1"/>
          <p:nvPr/>
        </p:nvSpPr>
        <p:spPr>
          <a:xfrm>
            <a:off x="1219200" y="1524000"/>
            <a:ext cx="10058400" cy="849688"/>
          </a:xfrm>
          <a:prstGeom prst="rect">
            <a:avLst/>
          </a:prstGeom>
          <a:noFill/>
          <a:ln>
            <a:noFill/>
          </a:ln>
        </p:spPr>
        <p:txBody>
          <a:bodyPr spcFirstLastPara="1" wrap="square" lIns="0" tIns="11525" rIns="0" bIns="0" anchor="t" anchorCtr="0">
            <a:spAutoFit/>
          </a:bodyPr>
          <a:lstStyle/>
          <a:p>
            <a:pPr marL="315827" marR="4611" lvl="0" indent="-304876" algn="l" rtl="0">
              <a:spcBef>
                <a:spcPts val="0"/>
              </a:spcBef>
              <a:spcAft>
                <a:spcPts val="0"/>
              </a:spcAft>
              <a:buClr>
                <a:srgbClr val="DD8047"/>
              </a:buClr>
              <a:buSzPts val="1634"/>
              <a:buFont typeface="Noto Sans Symbols"/>
              <a:buChar char="◻"/>
            </a:pPr>
            <a:r>
              <a:rPr lang="en-US" sz="2723">
                <a:solidFill>
                  <a:schemeClr val="dk1"/>
                </a:solidFill>
                <a:latin typeface="Times New Roman"/>
                <a:ea typeface="Times New Roman"/>
                <a:cs typeface="Times New Roman"/>
                <a:sym typeface="Times New Roman"/>
              </a:rPr>
              <a:t>Figure 6-10. The positioning of Lamport</a:t>
            </a:r>
            <a:r>
              <a:rPr lang="en-US" sz="2723">
                <a:solidFill>
                  <a:schemeClr val="dk1"/>
                </a:solidFill>
                <a:latin typeface="Arial"/>
                <a:ea typeface="Arial"/>
                <a:cs typeface="Arial"/>
                <a:sym typeface="Arial"/>
              </a:rPr>
              <a:t>’</a:t>
            </a:r>
            <a:r>
              <a:rPr lang="en-US" sz="2723">
                <a:solidFill>
                  <a:schemeClr val="dk1"/>
                </a:solidFill>
                <a:latin typeface="Times New Roman"/>
                <a:ea typeface="Times New Roman"/>
                <a:cs typeface="Times New Roman"/>
                <a:sym typeface="Times New Roman"/>
              </a:rPr>
              <a:t>s logical clocks in distributed systems.</a:t>
            </a:r>
            <a:endParaRPr sz="2723">
              <a:solidFill>
                <a:schemeClr val="dk1"/>
              </a:solidFill>
              <a:latin typeface="Times New Roman"/>
              <a:ea typeface="Times New Roman"/>
              <a:cs typeface="Times New Roman"/>
              <a:sym typeface="Times New Roman"/>
            </a:endParaRPr>
          </a:p>
        </p:txBody>
      </p:sp>
      <p:sp>
        <p:nvSpPr>
          <p:cNvPr id="298" name="Google Shape;298;p23"/>
          <p:cNvSpPr/>
          <p:nvPr/>
        </p:nvSpPr>
        <p:spPr>
          <a:xfrm>
            <a:off x="1892204" y="2699305"/>
            <a:ext cx="8986467" cy="383756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299" name="Google Shape;299;p23"/>
          <p:cNvSpPr txBox="1"/>
          <p:nvPr/>
        </p:nvSpPr>
        <p:spPr>
          <a:xfrm>
            <a:off x="143115" y="3911129"/>
            <a:ext cx="23622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Ci ← Ci + 1</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 ← timestamp</a:t>
            </a:r>
            <a:endParaRPr/>
          </a:p>
        </p:txBody>
      </p:sp>
      <p:sp>
        <p:nvSpPr>
          <p:cNvPr id="300" name="Google Shape;300;p23"/>
          <p:cNvSpPr txBox="1"/>
          <p:nvPr/>
        </p:nvSpPr>
        <p:spPr>
          <a:xfrm>
            <a:off x="9786568" y="3835084"/>
            <a:ext cx="23621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a:t>
            </a:r>
            <a:r>
              <a:rPr lang="en-US" sz="1800" i="1" baseline="-25000">
                <a:solidFill>
                  <a:schemeClr val="dk1"/>
                </a:solidFill>
                <a:latin typeface="Calibri"/>
                <a:ea typeface="Calibri"/>
                <a:cs typeface="Calibri"/>
                <a:sym typeface="Calibri"/>
              </a:rPr>
              <a:t>j </a:t>
            </a:r>
            <a:r>
              <a:rPr lang="en-US" sz="1800">
                <a:solidFill>
                  <a:schemeClr val="dk1"/>
                </a:solidFill>
                <a:latin typeface="Calibri"/>
                <a:ea typeface="Calibri"/>
                <a:cs typeface="Calibri"/>
                <a:sym typeface="Calibri"/>
              </a:rPr>
              <a:t>← max{C</a:t>
            </a:r>
            <a:r>
              <a:rPr lang="en-US" sz="1800" i="1" baseline="-25000">
                <a:solidFill>
                  <a:schemeClr val="dk1"/>
                </a:solidFill>
                <a:latin typeface="Calibri"/>
                <a:ea typeface="Calibri"/>
                <a:cs typeface="Calibri"/>
                <a:sym typeface="Calibri"/>
              </a:rPr>
              <a:t>j </a:t>
            </a:r>
            <a:r>
              <a:rPr lang="en-US" sz="1800">
                <a:solidFill>
                  <a:schemeClr val="dk1"/>
                </a:solidFill>
                <a:latin typeface="Calibri"/>
                <a:ea typeface="Calibri"/>
                <a:cs typeface="Calibri"/>
                <a:sym typeface="Calibri"/>
              </a:rPr>
              <a:t>, </a:t>
            </a:r>
            <a:r>
              <a:rPr lang="en-US" sz="1800" i="1">
                <a:solidFill>
                  <a:schemeClr val="dk1"/>
                </a:solidFill>
                <a:latin typeface="Calibri"/>
                <a:ea typeface="Calibri"/>
                <a:cs typeface="Calibri"/>
                <a:sym typeface="Calibri"/>
              </a:rPr>
              <a:t>ts (m)</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cxnSp>
        <p:nvCxnSpPr>
          <p:cNvPr id="301" name="Google Shape;301;p23"/>
          <p:cNvCxnSpPr/>
          <p:nvPr/>
        </p:nvCxnSpPr>
        <p:spPr>
          <a:xfrm>
            <a:off x="1752600" y="4234294"/>
            <a:ext cx="3352800" cy="323166"/>
          </a:xfrm>
          <a:prstGeom prst="straightConnector1">
            <a:avLst/>
          </a:prstGeom>
          <a:noFill/>
          <a:ln w="9525" cap="flat" cmpd="sng">
            <a:solidFill>
              <a:schemeClr val="accent1"/>
            </a:solidFill>
            <a:prstDash val="solid"/>
            <a:miter lim="800000"/>
            <a:headEnd type="none" w="sm" len="sm"/>
            <a:tailEnd type="triangle" w="med" len="med"/>
          </a:ln>
        </p:spPr>
      </p:cxnSp>
      <p:cxnSp>
        <p:nvCxnSpPr>
          <p:cNvPr id="302" name="Google Shape;302;p23"/>
          <p:cNvCxnSpPr/>
          <p:nvPr/>
        </p:nvCxnSpPr>
        <p:spPr>
          <a:xfrm flipH="1">
            <a:off x="6248400" y="4234294"/>
            <a:ext cx="3810000" cy="383794"/>
          </a:xfrm>
          <a:prstGeom prst="straightConnector1">
            <a:avLst/>
          </a:prstGeom>
          <a:noFill/>
          <a:ln w="9525" cap="flat" cmpd="sng">
            <a:solidFill>
              <a:schemeClr val="accent1"/>
            </a:solidFill>
            <a:prstDash val="solid"/>
            <a:miter lim="800000"/>
            <a:headEnd type="none" w="sm" len="sm"/>
            <a:tailEnd type="triangle" w="med" len="med"/>
          </a:ln>
        </p:spPr>
      </p:cxnSp>
      <p:sp>
        <p:nvSpPr>
          <p:cNvPr id="303" name="Google Shape;30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4"/>
          <p:cNvSpPr txBox="1">
            <a:spLocks noGrp="1"/>
          </p:cNvSpPr>
          <p:nvPr>
            <p:ph type="ctrTitle"/>
          </p:nvPr>
        </p:nvSpPr>
        <p:spPr>
          <a:xfrm>
            <a:off x="1257300" y="311443"/>
            <a:ext cx="9677400" cy="630903"/>
          </a:xfrm>
          <a:prstGeom prst="rect">
            <a:avLst/>
          </a:prstGeom>
          <a:noFill/>
          <a:ln>
            <a:noFill/>
          </a:ln>
        </p:spPr>
        <p:txBody>
          <a:bodyPr spcFirstLastPara="1" wrap="square" lIns="0" tIns="2875" rIns="0" bIns="0" anchor="ctr" anchorCtr="0">
            <a:spAutoFit/>
          </a:bodyPr>
          <a:lstStyle/>
          <a:p>
            <a:pPr marL="11527" marR="4611" lvl="0" indent="0" algn="l" rtl="0">
              <a:lnSpc>
                <a:spcPct val="101299"/>
              </a:lnSpc>
              <a:spcBef>
                <a:spcPts val="0"/>
              </a:spcBef>
              <a:spcAft>
                <a:spcPts val="0"/>
              </a:spcAft>
              <a:buClr>
                <a:schemeClr val="lt1"/>
              </a:buClr>
              <a:buSzPts val="4100"/>
              <a:buFont typeface="Calibri"/>
              <a:buNone/>
            </a:pPr>
            <a:r>
              <a:rPr lang="en-US">
                <a:solidFill>
                  <a:schemeClr val="lt1"/>
                </a:solidFill>
                <a:latin typeface="Calibri"/>
                <a:ea typeface="Calibri"/>
                <a:cs typeface="Calibri"/>
                <a:sym typeface="Calibri"/>
              </a:rPr>
              <a:t>Cơ chế đbh đồng hồ logic của  Lamport (5)</a:t>
            </a:r>
            <a:endParaRPr/>
          </a:p>
        </p:txBody>
      </p:sp>
      <p:sp>
        <p:nvSpPr>
          <p:cNvPr id="310" name="Google Shape;310;p24"/>
          <p:cNvSpPr txBox="1"/>
          <p:nvPr/>
        </p:nvSpPr>
        <p:spPr>
          <a:xfrm>
            <a:off x="2149134" y="1604887"/>
            <a:ext cx="7517866" cy="430664"/>
          </a:xfrm>
          <a:prstGeom prst="rect">
            <a:avLst/>
          </a:prstGeom>
          <a:noFill/>
          <a:ln>
            <a:noFill/>
          </a:ln>
        </p:spPr>
        <p:txBody>
          <a:bodyPr spcFirstLastPara="1" wrap="square" lIns="0" tIns="11525" rIns="0" bIns="0" anchor="t" anchorCtr="0">
            <a:spAutoFit/>
          </a:bodyPr>
          <a:lstStyle/>
          <a:p>
            <a:pPr marL="11527" marR="0" lvl="0" indent="0" algn="l" rtl="0">
              <a:spcBef>
                <a:spcPts val="0"/>
              </a:spcBef>
              <a:spcAft>
                <a:spcPts val="0"/>
              </a:spcAft>
              <a:buNone/>
            </a:pPr>
            <a:r>
              <a:rPr lang="en-US" sz="2723">
                <a:solidFill>
                  <a:schemeClr val="dk1"/>
                </a:solidFill>
                <a:latin typeface="Calibri"/>
                <a:ea typeface="Calibri"/>
                <a:cs typeface="Calibri"/>
                <a:sym typeface="Calibri"/>
              </a:rPr>
              <a:t>(b) Giải thuật Lamport hiệu chỉnh lại các giá trị clock</a:t>
            </a:r>
            <a:endParaRPr sz="2723">
              <a:solidFill>
                <a:schemeClr val="dk1"/>
              </a:solidFill>
              <a:latin typeface="Calibri"/>
              <a:ea typeface="Calibri"/>
              <a:cs typeface="Calibri"/>
              <a:sym typeface="Calibri"/>
            </a:endParaRPr>
          </a:p>
        </p:txBody>
      </p:sp>
      <p:sp>
        <p:nvSpPr>
          <p:cNvPr id="311" name="Google Shape;311;p24"/>
          <p:cNvSpPr/>
          <p:nvPr/>
        </p:nvSpPr>
        <p:spPr>
          <a:xfrm>
            <a:off x="4448605" y="2232380"/>
            <a:ext cx="3710892" cy="429028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312" name="Google Shape;312;p24"/>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26</a:t>
            </a:fld>
            <a:endParaRPr/>
          </a:p>
        </p:txBody>
      </p:sp>
      <p:sp>
        <p:nvSpPr>
          <p:cNvPr id="319" name="Google Shape;319;p25"/>
          <p:cNvSpPr txBox="1">
            <a:spLocks noGrp="1"/>
          </p:cNvSpPr>
          <p:nvPr>
            <p:ph type="title"/>
          </p:nvPr>
        </p:nvSpPr>
        <p:spPr>
          <a:xfrm>
            <a:off x="838200" y="365125"/>
            <a:ext cx="10515600" cy="6254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4000"/>
              <a:buFont typeface="Calibri"/>
              <a:buNone/>
            </a:pPr>
            <a:r>
              <a:rPr lang="en-US"/>
              <a:t>Bài tập</a:t>
            </a:r>
            <a:endParaRPr/>
          </a:p>
        </p:txBody>
      </p:sp>
      <p:pic>
        <p:nvPicPr>
          <p:cNvPr id="320" name="Google Shape;320;p25"/>
          <p:cNvPicPr preferRelativeResize="0"/>
          <p:nvPr/>
        </p:nvPicPr>
        <p:blipFill rotWithShape="1">
          <a:blip r:embed="rId3">
            <a:alphaModFix/>
          </a:blip>
          <a:srcRect/>
          <a:stretch/>
        </p:blipFill>
        <p:spPr>
          <a:xfrm>
            <a:off x="876300" y="1406524"/>
            <a:ext cx="8650207" cy="2936875"/>
          </a:xfrm>
          <a:prstGeom prst="rect">
            <a:avLst/>
          </a:prstGeom>
          <a:noFill/>
          <a:ln>
            <a:noFill/>
          </a:ln>
        </p:spPr>
      </p:pic>
      <p:sp>
        <p:nvSpPr>
          <p:cNvPr id="321" name="Google Shape;321;p25"/>
          <p:cNvSpPr txBox="1"/>
          <p:nvPr/>
        </p:nvSpPr>
        <p:spPr>
          <a:xfrm>
            <a:off x="1066800" y="4436157"/>
            <a:ext cx="8839200"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e11 = 1</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e21 = 1</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The value of the next point will go on increasing by 1 </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Calculate value of e12-e17, e21-e26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6"/>
          <p:cNvSpPr txBox="1">
            <a:spLocks noGrp="1"/>
          </p:cNvSpPr>
          <p:nvPr>
            <p:ph type="title"/>
          </p:nvPr>
        </p:nvSpPr>
        <p:spPr>
          <a:xfrm>
            <a:off x="1066800" y="330264"/>
            <a:ext cx="10058400" cy="610433"/>
          </a:xfrm>
          <a:prstGeom prst="rect">
            <a:avLst/>
          </a:prstGeom>
          <a:noFill/>
          <a:ln>
            <a:noFill/>
          </a:ln>
        </p:spPr>
        <p:txBody>
          <a:bodyPr spcFirstLastPara="1" wrap="square" lIns="0" tIns="8625" rIns="0" bIns="0" anchor="ctr" anchorCtr="0">
            <a:spAutoFit/>
          </a:bodyPr>
          <a:lstStyle/>
          <a:p>
            <a:pPr marL="11527" marR="4611" lvl="0" indent="0" algn="l" rtl="0">
              <a:lnSpc>
                <a:spcPct val="100699"/>
              </a:lnSpc>
              <a:spcBef>
                <a:spcPts val="0"/>
              </a:spcBef>
              <a:spcAft>
                <a:spcPts val="0"/>
              </a:spcAft>
              <a:buClr>
                <a:schemeClr val="lt1"/>
              </a:buClr>
              <a:buSzPts val="4000"/>
              <a:buFont typeface="Calibri"/>
              <a:buNone/>
            </a:pPr>
            <a:r>
              <a:rPr lang="en-US"/>
              <a:t>Bài tập</a:t>
            </a:r>
            <a:endParaRPr/>
          </a:p>
        </p:txBody>
      </p:sp>
      <p:sp>
        <p:nvSpPr>
          <p:cNvPr id="328" name="Google Shape;32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27</a:t>
            </a:fld>
            <a:endParaRPr/>
          </a:p>
        </p:txBody>
      </p:sp>
      <p:sp>
        <p:nvSpPr>
          <p:cNvPr id="329" name="Google Shape;329;p26"/>
          <p:cNvSpPr txBox="1"/>
          <p:nvPr/>
        </p:nvSpPr>
        <p:spPr>
          <a:xfrm>
            <a:off x="1055914" y="1531237"/>
            <a:ext cx="10058400" cy="467820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0" i="0">
                <a:solidFill>
                  <a:srgbClr val="2D3B45"/>
                </a:solidFill>
                <a:latin typeface="Calibri"/>
                <a:ea typeface="Calibri"/>
                <a:cs typeface="Calibri"/>
                <a:sym typeface="Calibri"/>
              </a:rPr>
              <a:t>Three computers, A, B, and C communicate using a protocol that implements Lamport logical clocks​ (they include their clock time stamp in messages). At the beginning of time, all three computers begin with their logical clock set to zero. Later, the following sequence of events occurs:</a:t>
            </a:r>
            <a:endParaRPr/>
          </a:p>
          <a:p>
            <a:pPr marL="285750" marR="0" lvl="0" indent="-285750" algn="just" rtl="0">
              <a:spcBef>
                <a:spcPts val="0"/>
              </a:spcBef>
              <a:spcAft>
                <a:spcPts val="0"/>
              </a:spcAft>
              <a:buClr>
                <a:srgbClr val="2D3B45"/>
              </a:buClr>
              <a:buSzPts val="2000"/>
              <a:buFont typeface="Arial"/>
              <a:buChar char="•"/>
            </a:pPr>
            <a:r>
              <a:rPr lang="en-US" sz="2000" b="0" i="0">
                <a:solidFill>
                  <a:srgbClr val="2D3B45"/>
                </a:solidFill>
                <a:latin typeface="Calibri"/>
                <a:ea typeface="Calibri"/>
                <a:cs typeface="Calibri"/>
                <a:sym typeface="Calibri"/>
              </a:rPr>
              <a:t>A sends message M1 to B</a:t>
            </a:r>
            <a:endParaRPr/>
          </a:p>
          <a:p>
            <a:pPr marL="285750" marR="0" lvl="0" indent="-285750" algn="just" rtl="0">
              <a:spcBef>
                <a:spcPts val="0"/>
              </a:spcBef>
              <a:spcAft>
                <a:spcPts val="0"/>
              </a:spcAft>
              <a:buClr>
                <a:srgbClr val="2D3B45"/>
              </a:buClr>
              <a:buSzPts val="2000"/>
              <a:buFont typeface="Arial"/>
              <a:buChar char="•"/>
            </a:pPr>
            <a:r>
              <a:rPr lang="en-US" sz="2000" b="0" i="0">
                <a:solidFill>
                  <a:srgbClr val="2D3B45"/>
                </a:solidFill>
                <a:latin typeface="Calibri"/>
                <a:ea typeface="Calibri"/>
                <a:cs typeface="Calibri"/>
                <a:sym typeface="Calibri"/>
              </a:rPr>
              <a:t>C sends message M2 to B</a:t>
            </a:r>
            <a:endParaRPr/>
          </a:p>
          <a:p>
            <a:pPr marL="285750" marR="0" lvl="0" indent="-285750" algn="just" rtl="0">
              <a:spcBef>
                <a:spcPts val="0"/>
              </a:spcBef>
              <a:spcAft>
                <a:spcPts val="0"/>
              </a:spcAft>
              <a:buClr>
                <a:srgbClr val="2D3B45"/>
              </a:buClr>
              <a:buSzPts val="2000"/>
              <a:buFont typeface="Arial"/>
              <a:buChar char="•"/>
            </a:pPr>
            <a:r>
              <a:rPr lang="en-US" sz="2000" b="0" i="0">
                <a:solidFill>
                  <a:srgbClr val="2D3B45"/>
                </a:solidFill>
                <a:latin typeface="Calibri"/>
                <a:ea typeface="Calibri"/>
                <a:cs typeface="Calibri"/>
                <a:sym typeface="Calibri"/>
              </a:rPr>
              <a:t>B receives M2 before M1</a:t>
            </a:r>
            <a:endParaRPr/>
          </a:p>
          <a:p>
            <a:pPr marL="285750" marR="0" lvl="0" indent="-285750" algn="just" rtl="0">
              <a:spcBef>
                <a:spcPts val="0"/>
              </a:spcBef>
              <a:spcAft>
                <a:spcPts val="0"/>
              </a:spcAft>
              <a:buClr>
                <a:srgbClr val="2D3B45"/>
              </a:buClr>
              <a:buSzPts val="2000"/>
              <a:buFont typeface="Arial"/>
              <a:buChar char="•"/>
            </a:pPr>
            <a:r>
              <a:rPr lang="en-US" sz="2000" b="0" i="0">
                <a:solidFill>
                  <a:srgbClr val="2D3B45"/>
                </a:solidFill>
                <a:latin typeface="Calibri"/>
                <a:ea typeface="Calibri"/>
                <a:cs typeface="Calibri"/>
                <a:sym typeface="Calibri"/>
              </a:rPr>
              <a:t>B replies message M3 to C first, and then message M4 to A</a:t>
            </a:r>
            <a:endParaRPr/>
          </a:p>
          <a:p>
            <a:pPr marL="285750" marR="0" lvl="0" indent="-285750" algn="just" rtl="0">
              <a:spcBef>
                <a:spcPts val="0"/>
              </a:spcBef>
              <a:spcAft>
                <a:spcPts val="0"/>
              </a:spcAft>
              <a:buClr>
                <a:srgbClr val="2D3B45"/>
              </a:buClr>
              <a:buSzPts val="2000"/>
              <a:buFont typeface="Arial"/>
              <a:buChar char="•"/>
            </a:pPr>
            <a:r>
              <a:rPr lang="en-US" sz="2000" b="0" i="0">
                <a:solidFill>
                  <a:srgbClr val="2D3B45"/>
                </a:solidFill>
                <a:latin typeface="Calibri"/>
                <a:ea typeface="Calibri"/>
                <a:cs typeface="Calibri"/>
                <a:sym typeface="Calibri"/>
              </a:rPr>
              <a:t>After receiving message M3, C sends message M5 to A</a:t>
            </a:r>
            <a:endParaRPr/>
          </a:p>
          <a:p>
            <a:pPr marL="285750" marR="0" lvl="0" indent="-285750" algn="just" rtl="0">
              <a:spcBef>
                <a:spcPts val="0"/>
              </a:spcBef>
              <a:spcAft>
                <a:spcPts val="0"/>
              </a:spcAft>
              <a:buClr>
                <a:srgbClr val="2D3B45"/>
              </a:buClr>
              <a:buSzPts val="2000"/>
              <a:buFont typeface="Arial"/>
              <a:buChar char="•"/>
            </a:pPr>
            <a:r>
              <a:rPr lang="en-US" sz="2000" b="0" i="0">
                <a:solidFill>
                  <a:srgbClr val="2D3B45"/>
                </a:solidFill>
                <a:latin typeface="Calibri"/>
                <a:ea typeface="Calibri"/>
                <a:cs typeface="Calibri"/>
                <a:sym typeface="Calibri"/>
              </a:rPr>
              <a:t>After receiving message M5, A sends message M6 to B</a:t>
            </a:r>
            <a:endParaRPr/>
          </a:p>
          <a:p>
            <a:pPr marL="285750" marR="0" lvl="0" indent="-285750" algn="just" rtl="0">
              <a:spcBef>
                <a:spcPts val="0"/>
              </a:spcBef>
              <a:spcAft>
                <a:spcPts val="0"/>
              </a:spcAft>
              <a:buClr>
                <a:srgbClr val="2D3B45"/>
              </a:buClr>
              <a:buSzPts val="2000"/>
              <a:buFont typeface="Arial"/>
              <a:buChar char="•"/>
            </a:pPr>
            <a:r>
              <a:rPr lang="en-US" sz="2000" b="0" i="0">
                <a:solidFill>
                  <a:srgbClr val="2D3B45"/>
                </a:solidFill>
                <a:latin typeface="Calibri"/>
                <a:ea typeface="Calibri"/>
                <a:cs typeface="Calibri"/>
                <a:sym typeface="Calibri"/>
              </a:rPr>
              <a:t>After receiving message M6, B sends message M7 to A</a:t>
            </a:r>
            <a:endParaRPr/>
          </a:p>
          <a:p>
            <a:pPr marL="285750" marR="0" lvl="0" indent="-285750" algn="just" rtl="0">
              <a:spcBef>
                <a:spcPts val="0"/>
              </a:spcBef>
              <a:spcAft>
                <a:spcPts val="0"/>
              </a:spcAft>
              <a:buClr>
                <a:srgbClr val="2D3B45"/>
              </a:buClr>
              <a:buSzPts val="2000"/>
              <a:buFont typeface="Arial"/>
              <a:buChar char="•"/>
            </a:pPr>
            <a:r>
              <a:rPr lang="en-US" sz="2000" b="0" i="0">
                <a:solidFill>
                  <a:srgbClr val="2D3B45"/>
                </a:solidFill>
                <a:latin typeface="Calibri"/>
                <a:ea typeface="Calibri"/>
                <a:cs typeface="Calibri"/>
                <a:sym typeface="Calibri"/>
              </a:rPr>
              <a:t>The last message A receive is M4 </a:t>
            </a:r>
            <a:endParaRPr/>
          </a:p>
          <a:p>
            <a:pPr marL="0" marR="0" lvl="0" indent="0" algn="just" rtl="0">
              <a:spcBef>
                <a:spcPts val="0"/>
              </a:spcBef>
              <a:spcAft>
                <a:spcPts val="0"/>
              </a:spcAft>
              <a:buNone/>
            </a:pPr>
            <a:r>
              <a:rPr lang="en-US" sz="2000">
                <a:solidFill>
                  <a:srgbClr val="2D3B45"/>
                </a:solidFill>
                <a:latin typeface="Calibri"/>
                <a:ea typeface="Calibri"/>
                <a:cs typeface="Calibri"/>
                <a:sym typeface="Calibri"/>
              </a:rPr>
              <a:t>-----</a:t>
            </a:r>
            <a:endParaRPr/>
          </a:p>
          <a:p>
            <a:pPr marL="0" marR="0" lvl="0" indent="0" algn="just" rtl="0">
              <a:spcBef>
                <a:spcPts val="0"/>
              </a:spcBef>
              <a:spcAft>
                <a:spcPts val="0"/>
              </a:spcAft>
              <a:buNone/>
            </a:pPr>
            <a:r>
              <a:rPr lang="en-US" sz="2000" b="0" i="0">
                <a:solidFill>
                  <a:srgbClr val="2D3B45"/>
                </a:solidFill>
                <a:latin typeface="Calibri"/>
                <a:ea typeface="Calibri"/>
                <a:cs typeface="Calibri"/>
                <a:sym typeface="Calibri"/>
              </a:rPr>
              <a:t>Indicate the time included with the messages as they are sent at each step.  </a:t>
            </a:r>
            <a:endParaRPr/>
          </a:p>
          <a:p>
            <a:pPr marL="0" marR="0" lvl="0" indent="0" algn="just" rtl="0">
              <a:spcBef>
                <a:spcPts val="0"/>
              </a:spcBef>
              <a:spcAft>
                <a:spcPts val="0"/>
              </a:spcAft>
              <a:buNone/>
            </a:pPr>
            <a:r>
              <a:rPr lang="en-US" sz="2000" b="0" i="0">
                <a:solidFill>
                  <a:srgbClr val="2D3B45"/>
                </a:solidFill>
                <a:latin typeface="Calibri"/>
                <a:ea typeface="Calibri"/>
                <a:cs typeface="Calibri"/>
                <a:sym typeface="Calibri"/>
              </a:rPr>
              <a:t>Send(M1, _ )  Send(M2, _ )  Send(M3, _ ) Send(M4, _ ) Send(M5, _ ) Send(M6, _ ) Send(M7, _ )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7"/>
          <p:cNvSpPr txBox="1">
            <a:spLocks noGrp="1"/>
          </p:cNvSpPr>
          <p:nvPr>
            <p:ph type="title"/>
          </p:nvPr>
        </p:nvSpPr>
        <p:spPr>
          <a:xfrm>
            <a:off x="1066800" y="330264"/>
            <a:ext cx="10058400" cy="610433"/>
          </a:xfrm>
          <a:prstGeom prst="rect">
            <a:avLst/>
          </a:prstGeom>
          <a:noFill/>
          <a:ln>
            <a:noFill/>
          </a:ln>
        </p:spPr>
        <p:txBody>
          <a:bodyPr spcFirstLastPara="1" wrap="square" lIns="0" tIns="8625" rIns="0" bIns="0" anchor="ctr" anchorCtr="0">
            <a:spAutoFit/>
          </a:bodyPr>
          <a:lstStyle/>
          <a:p>
            <a:pPr marL="11527" marR="4611" lvl="0" indent="0" algn="l" rtl="0">
              <a:lnSpc>
                <a:spcPct val="100699"/>
              </a:lnSpc>
              <a:spcBef>
                <a:spcPts val="0"/>
              </a:spcBef>
              <a:spcAft>
                <a:spcPts val="0"/>
              </a:spcAft>
              <a:buClr>
                <a:schemeClr val="lt1"/>
              </a:buClr>
              <a:buSzPts val="4000"/>
              <a:buFont typeface="Calibri"/>
              <a:buNone/>
            </a:pPr>
            <a:r>
              <a:rPr lang="en-US"/>
              <a:t>Bài tập</a:t>
            </a:r>
            <a:endParaRPr/>
          </a:p>
        </p:txBody>
      </p:sp>
      <p:sp>
        <p:nvSpPr>
          <p:cNvPr id="336" name="Google Shape;336;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28</a:t>
            </a:fld>
            <a:endParaRPr/>
          </a:p>
        </p:txBody>
      </p:sp>
      <p:sp>
        <p:nvSpPr>
          <p:cNvPr id="337" name="Google Shape;337;p27"/>
          <p:cNvSpPr txBox="1"/>
          <p:nvPr/>
        </p:nvSpPr>
        <p:spPr>
          <a:xfrm>
            <a:off x="1055914" y="1531237"/>
            <a:ext cx="10058400" cy="470898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b="0" i="0">
                <a:solidFill>
                  <a:srgbClr val="2D3B45"/>
                </a:solidFill>
                <a:latin typeface="Calibri"/>
                <a:ea typeface="Calibri"/>
                <a:cs typeface="Calibri"/>
                <a:sym typeface="Calibri"/>
              </a:rPr>
              <a:t>Có 3 máy tính ở PKA, bao gồm A,B, và C, giao tiếp với nhau sử dụng một giao thức mà được triển khai theo cơ chế đồng hồ logic của Lamport</a:t>
            </a:r>
            <a:endParaRPr sz="2000" b="0" i="0">
              <a:solidFill>
                <a:srgbClr val="2D3B45"/>
              </a:solidFill>
              <a:latin typeface="Calibri"/>
              <a:ea typeface="Calibri"/>
              <a:cs typeface="Calibri"/>
              <a:sym typeface="Calibri"/>
            </a:endParaRPr>
          </a:p>
          <a:p>
            <a:pPr marL="0" marR="0" lvl="0" indent="0" algn="just" rtl="0">
              <a:spcBef>
                <a:spcPts val="0"/>
              </a:spcBef>
              <a:spcAft>
                <a:spcPts val="0"/>
              </a:spcAft>
              <a:buNone/>
            </a:pPr>
            <a:r>
              <a:rPr lang="en-US" sz="2000">
                <a:solidFill>
                  <a:srgbClr val="2D3B45"/>
                </a:solidFill>
                <a:latin typeface="Calibri"/>
                <a:ea typeface="Calibri"/>
                <a:cs typeface="Calibri"/>
                <a:sym typeface="Calibri"/>
              </a:rPr>
              <a:t>Tại thời điểm đầu tiên, cả ba máy bắt đầu với đồng hồ logic được thiết lập = 0</a:t>
            </a:r>
            <a:endParaRPr/>
          </a:p>
          <a:p>
            <a:pPr marL="0" marR="0" lvl="0" indent="0" algn="just" rtl="0">
              <a:spcBef>
                <a:spcPts val="0"/>
              </a:spcBef>
              <a:spcAft>
                <a:spcPts val="0"/>
              </a:spcAft>
              <a:buNone/>
            </a:pPr>
            <a:r>
              <a:rPr lang="en-US" sz="2000" b="0" i="0">
                <a:solidFill>
                  <a:srgbClr val="2D3B45"/>
                </a:solidFill>
                <a:latin typeface="Calibri"/>
                <a:ea typeface="Calibri"/>
                <a:cs typeface="Calibri"/>
                <a:sym typeface="Calibri"/>
              </a:rPr>
              <a:t>Sau </a:t>
            </a:r>
            <a:r>
              <a:rPr lang="en-US" sz="2000">
                <a:solidFill>
                  <a:srgbClr val="2D3B45"/>
                </a:solidFill>
                <a:latin typeface="Calibri"/>
                <a:ea typeface="Calibri"/>
                <a:cs typeface="Calibri"/>
                <a:sym typeface="Calibri"/>
              </a:rPr>
              <a:t>đó:</a:t>
            </a:r>
            <a:endParaRPr/>
          </a:p>
          <a:p>
            <a:pPr marL="800100" marR="0" lvl="1" indent="-342900" algn="just" rtl="0">
              <a:spcBef>
                <a:spcPts val="0"/>
              </a:spcBef>
              <a:spcAft>
                <a:spcPts val="0"/>
              </a:spcAft>
              <a:buClr>
                <a:srgbClr val="2D3B45"/>
              </a:buClr>
              <a:buSzPts val="2000"/>
              <a:buFont typeface="Arial"/>
              <a:buChar char="•"/>
            </a:pPr>
            <a:r>
              <a:rPr lang="en-US" sz="2000" b="0" i="0" u="none" strike="noStrike" cap="none">
                <a:solidFill>
                  <a:srgbClr val="2D3B45"/>
                </a:solidFill>
                <a:latin typeface="Calibri"/>
                <a:ea typeface="Calibri"/>
                <a:cs typeface="Calibri"/>
                <a:sym typeface="Calibri"/>
              </a:rPr>
              <a:t>A gửi thông điệp M1 cho B: “Xin chào”</a:t>
            </a:r>
            <a:endParaRPr/>
          </a:p>
          <a:p>
            <a:pPr marL="800100" marR="0" lvl="1" indent="-342900" algn="just" rtl="0">
              <a:spcBef>
                <a:spcPts val="0"/>
              </a:spcBef>
              <a:spcAft>
                <a:spcPts val="0"/>
              </a:spcAft>
              <a:buClr>
                <a:srgbClr val="2D3B45"/>
              </a:buClr>
              <a:buSzPts val="2000"/>
              <a:buFont typeface="Arial"/>
              <a:buChar char="•"/>
            </a:pPr>
            <a:r>
              <a:rPr lang="en-US" sz="2000" b="0" i="0" u="none" strike="noStrike" cap="none">
                <a:solidFill>
                  <a:srgbClr val="2D3B45"/>
                </a:solidFill>
                <a:latin typeface="Calibri"/>
                <a:ea typeface="Calibri"/>
                <a:cs typeface="Calibri"/>
                <a:sym typeface="Calibri"/>
              </a:rPr>
              <a:t>Sau khi nhận M1, B gửi thông điệp M2 cho C: “A nói với tôi rằng: Xin chào”</a:t>
            </a:r>
            <a:endParaRPr/>
          </a:p>
          <a:p>
            <a:pPr marL="800100" marR="0" lvl="1" indent="-342900" algn="just" rtl="0">
              <a:spcBef>
                <a:spcPts val="0"/>
              </a:spcBef>
              <a:spcAft>
                <a:spcPts val="0"/>
              </a:spcAft>
              <a:buClr>
                <a:srgbClr val="2D3B45"/>
              </a:buClr>
              <a:buSzPts val="2000"/>
              <a:buFont typeface="Arial"/>
              <a:buChar char="•"/>
            </a:pPr>
            <a:r>
              <a:rPr lang="en-US" sz="2000" b="0" i="0" u="none" strike="noStrike" cap="none">
                <a:solidFill>
                  <a:srgbClr val="2D3B45"/>
                </a:solidFill>
                <a:latin typeface="Calibri"/>
                <a:ea typeface="Calibri"/>
                <a:cs typeface="Calibri"/>
                <a:sym typeface="Calibri"/>
              </a:rPr>
              <a:t>Sau khi nhận M2, C gửi thông điệp M3 cho A: “B đang chán nản”</a:t>
            </a:r>
            <a:endParaRPr/>
          </a:p>
          <a:p>
            <a:pPr marL="457200" marR="0" lvl="1" indent="0" algn="just" rtl="0">
              <a:spcBef>
                <a:spcPts val="0"/>
              </a:spcBef>
              <a:spcAft>
                <a:spcPts val="0"/>
              </a:spcAft>
              <a:buNone/>
            </a:pPr>
            <a:r>
              <a:rPr lang="en-US" sz="2000" b="0" i="0" u="none" strike="noStrike" cap="none">
                <a:solidFill>
                  <a:srgbClr val="2D3B45"/>
                </a:solidFill>
                <a:latin typeface="Calibri"/>
                <a:ea typeface="Calibri"/>
                <a:cs typeface="Calibri"/>
                <a:sym typeface="Calibri"/>
              </a:rPr>
              <a:t>Điền vào chỗ trống thời gian được đính kèm trong thông điệp ở mỗi lần gửi</a:t>
            </a:r>
            <a:endParaRPr sz="2000" b="0" i="0" u="none" strike="noStrike" cap="none">
              <a:solidFill>
                <a:srgbClr val="2D3B45"/>
              </a:solidFill>
              <a:latin typeface="Calibri"/>
              <a:ea typeface="Calibri"/>
              <a:cs typeface="Calibri"/>
              <a:sym typeface="Calibri"/>
            </a:endParaRPr>
          </a:p>
          <a:p>
            <a:pPr marL="914400" marR="0" lvl="2" indent="0" algn="just" rtl="0">
              <a:spcBef>
                <a:spcPts val="0"/>
              </a:spcBef>
              <a:spcAft>
                <a:spcPts val="0"/>
              </a:spcAft>
              <a:buNone/>
            </a:pPr>
            <a:r>
              <a:rPr lang="en-US" sz="2000" b="0" i="0" u="none" strike="noStrike" cap="none">
                <a:solidFill>
                  <a:srgbClr val="FF0000"/>
                </a:solidFill>
                <a:latin typeface="Calibri"/>
                <a:ea typeface="Calibri"/>
                <a:cs typeface="Calibri"/>
                <a:sym typeface="Calibri"/>
              </a:rPr>
              <a:t>Send(M1, ….); Send(M2, ….); Send(M3, ….)</a:t>
            </a:r>
            <a:endParaRPr/>
          </a:p>
          <a:p>
            <a:pPr marL="0" marR="0" lvl="0" indent="0" algn="just" rtl="0">
              <a:spcBef>
                <a:spcPts val="0"/>
              </a:spcBef>
              <a:spcAft>
                <a:spcPts val="0"/>
              </a:spcAft>
              <a:buNone/>
            </a:pPr>
            <a:r>
              <a:rPr lang="en-US" sz="2000">
                <a:solidFill>
                  <a:srgbClr val="2D3B45"/>
                </a:solidFill>
                <a:latin typeface="Calibri"/>
                <a:ea typeface="Calibri"/>
                <a:cs typeface="Calibri"/>
                <a:sym typeface="Calibri"/>
              </a:rPr>
              <a:t>Tiếp tục:</a:t>
            </a:r>
            <a:endParaRPr sz="2000" b="0" i="0">
              <a:solidFill>
                <a:srgbClr val="2D3B45"/>
              </a:solidFill>
              <a:latin typeface="Calibri"/>
              <a:ea typeface="Calibri"/>
              <a:cs typeface="Calibri"/>
              <a:sym typeface="Calibri"/>
            </a:endParaRPr>
          </a:p>
          <a:p>
            <a:pPr marL="800100" marR="0" lvl="1" indent="-342900" algn="just" rtl="0">
              <a:spcBef>
                <a:spcPts val="0"/>
              </a:spcBef>
              <a:spcAft>
                <a:spcPts val="0"/>
              </a:spcAft>
              <a:buClr>
                <a:srgbClr val="2D3B45"/>
              </a:buClr>
              <a:buSzPts val="2000"/>
              <a:buFont typeface="Arial"/>
              <a:buChar char="•"/>
            </a:pPr>
            <a:r>
              <a:rPr lang="en-US" sz="2000" b="0" i="0" u="none" strike="noStrike" cap="none">
                <a:solidFill>
                  <a:srgbClr val="2D3B45"/>
                </a:solidFill>
                <a:latin typeface="Calibri"/>
                <a:ea typeface="Calibri"/>
                <a:cs typeface="Calibri"/>
                <a:sym typeface="Calibri"/>
              </a:rPr>
              <a:t>Sau khi nhận M3, A gửi thông điệp M4 cho B: “C thật đơn điệu”</a:t>
            </a:r>
            <a:endParaRPr/>
          </a:p>
          <a:p>
            <a:pPr marL="800100" marR="0" lvl="1" indent="-342900" algn="just" rtl="0">
              <a:spcBef>
                <a:spcPts val="0"/>
              </a:spcBef>
              <a:spcAft>
                <a:spcPts val="0"/>
              </a:spcAft>
              <a:buClr>
                <a:srgbClr val="2D3B45"/>
              </a:buClr>
              <a:buSzPts val="2000"/>
              <a:buFont typeface="Arial"/>
              <a:buChar char="•"/>
            </a:pPr>
            <a:r>
              <a:rPr lang="en-US" sz="2000" b="0" i="0" u="none" strike="noStrike" cap="none">
                <a:solidFill>
                  <a:srgbClr val="2D3B45"/>
                </a:solidFill>
                <a:latin typeface="Calibri"/>
                <a:ea typeface="Calibri"/>
                <a:cs typeface="Calibri"/>
                <a:sym typeface="Calibri"/>
              </a:rPr>
              <a:t>Sau khi nhận M4, B gửi thông điệp M5 cho A: “C đang chán nản”</a:t>
            </a:r>
            <a:endParaRPr/>
          </a:p>
          <a:p>
            <a:pPr marL="800100" marR="0" lvl="1" indent="-342900" algn="just" rtl="0">
              <a:spcBef>
                <a:spcPts val="0"/>
              </a:spcBef>
              <a:spcAft>
                <a:spcPts val="0"/>
              </a:spcAft>
              <a:buClr>
                <a:srgbClr val="2D3B45"/>
              </a:buClr>
              <a:buSzPts val="2000"/>
              <a:buFont typeface="Arial"/>
              <a:buChar char="•"/>
            </a:pPr>
            <a:r>
              <a:rPr lang="en-US" sz="2000" b="0" i="0" u="none" strike="noStrike" cap="none">
                <a:solidFill>
                  <a:srgbClr val="2D3B45"/>
                </a:solidFill>
                <a:latin typeface="Calibri"/>
                <a:ea typeface="Calibri"/>
                <a:cs typeface="Calibri"/>
                <a:sym typeface="Calibri"/>
              </a:rPr>
              <a:t>A nhận M5</a:t>
            </a:r>
            <a:endParaRPr/>
          </a:p>
          <a:p>
            <a:pPr marL="457200" marR="0" lvl="1" indent="0" algn="just" rtl="0">
              <a:spcBef>
                <a:spcPts val="0"/>
              </a:spcBef>
              <a:spcAft>
                <a:spcPts val="0"/>
              </a:spcAft>
              <a:buNone/>
            </a:pPr>
            <a:r>
              <a:rPr lang="en-US" sz="2000" b="0" i="0" u="none" strike="noStrike" cap="none">
                <a:solidFill>
                  <a:srgbClr val="2D3B45"/>
                </a:solidFill>
                <a:latin typeface="Calibri"/>
                <a:ea typeface="Calibri"/>
                <a:cs typeface="Calibri"/>
                <a:sym typeface="Calibri"/>
              </a:rPr>
              <a:t>Sau toàn bộ quá trình trên, đồng hồ logic ở mỗi máy hiển thị:</a:t>
            </a:r>
            <a:endParaRPr/>
          </a:p>
          <a:p>
            <a:pPr marL="914400" marR="0" lvl="2" indent="0" algn="just" rtl="0">
              <a:spcBef>
                <a:spcPts val="0"/>
              </a:spcBef>
              <a:spcAft>
                <a:spcPts val="0"/>
              </a:spcAft>
              <a:buNone/>
            </a:pPr>
            <a:r>
              <a:rPr lang="en-US" sz="2000" b="0" i="0" u="none" strike="noStrike" cap="none">
                <a:solidFill>
                  <a:srgbClr val="FF0000"/>
                </a:solidFill>
                <a:latin typeface="Calibri"/>
                <a:ea typeface="Calibri"/>
                <a:cs typeface="Calibri"/>
                <a:sym typeface="Calibri"/>
              </a:rPr>
              <a:t>A - ….; B - ….; C -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8"/>
          <p:cNvSpPr txBox="1">
            <a:spLocks noGrp="1"/>
          </p:cNvSpPr>
          <p:nvPr>
            <p:ph type="title"/>
          </p:nvPr>
        </p:nvSpPr>
        <p:spPr>
          <a:xfrm>
            <a:off x="762000" y="228600"/>
            <a:ext cx="4701476"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2.2. Vector Clocks (1)</a:t>
            </a:r>
            <a:endParaRPr/>
          </a:p>
        </p:txBody>
      </p:sp>
      <p:sp>
        <p:nvSpPr>
          <p:cNvPr id="343" name="Google Shape;343;p28"/>
          <p:cNvSpPr txBox="1"/>
          <p:nvPr/>
        </p:nvSpPr>
        <p:spPr>
          <a:xfrm>
            <a:off x="1372428" y="1752600"/>
            <a:ext cx="8762172" cy="358341"/>
          </a:xfrm>
          <a:prstGeom prst="rect">
            <a:avLst/>
          </a:prstGeom>
          <a:noFill/>
          <a:ln>
            <a:noFill/>
          </a:ln>
        </p:spPr>
        <p:txBody>
          <a:bodyPr spcFirstLastPara="1" wrap="square" lIns="0" tIns="12100" rIns="0" bIns="0" anchor="t" anchorCtr="0">
            <a:spAutoFit/>
          </a:bodyPr>
          <a:lstStyle/>
          <a:p>
            <a:pPr marL="315827" marR="4611" lvl="0" indent="-304876" algn="l" rtl="0">
              <a:lnSpc>
                <a:spcPct val="124812"/>
              </a:lnSpc>
              <a:spcBef>
                <a:spcPts val="0"/>
              </a:spcBef>
              <a:spcAft>
                <a:spcPts val="0"/>
              </a:spcAft>
              <a:buClr>
                <a:srgbClr val="DD8047"/>
              </a:buClr>
              <a:buSzPts val="1361"/>
              <a:buFont typeface="Noto Sans Symbols"/>
              <a:buChar char="◻"/>
            </a:pPr>
            <a:r>
              <a:rPr lang="en-US" sz="2269">
                <a:solidFill>
                  <a:schemeClr val="dk1"/>
                </a:solidFill>
                <a:latin typeface="Calibri"/>
                <a:ea typeface="Calibri"/>
                <a:cs typeface="Calibri"/>
                <a:sym typeface="Calibri"/>
              </a:rPr>
              <a:t>Việc truyền thông điệp có tính tương tranh sử dụng đồng hồ  logic</a:t>
            </a:r>
            <a:endParaRPr/>
          </a:p>
        </p:txBody>
      </p:sp>
      <p:sp>
        <p:nvSpPr>
          <p:cNvPr id="344" name="Google Shape;344;p28"/>
          <p:cNvSpPr/>
          <p:nvPr/>
        </p:nvSpPr>
        <p:spPr>
          <a:xfrm>
            <a:off x="4406246" y="2285331"/>
            <a:ext cx="3922672" cy="415261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345" name="Google Shape;34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9"/>
          <p:cNvSpPr txBox="1">
            <a:spLocks noGrp="1"/>
          </p:cNvSpPr>
          <p:nvPr>
            <p:ph type="title"/>
          </p:nvPr>
        </p:nvSpPr>
        <p:spPr>
          <a:xfrm>
            <a:off x="1219200" y="304800"/>
            <a:ext cx="3778816"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Vector Clocks (2)</a:t>
            </a:r>
            <a:endParaRPr/>
          </a:p>
        </p:txBody>
      </p:sp>
      <p:sp>
        <p:nvSpPr>
          <p:cNvPr id="351" name="Google Shape;351;p29"/>
          <p:cNvSpPr txBox="1">
            <a:spLocks noGrp="1"/>
          </p:cNvSpPr>
          <p:nvPr>
            <p:ph type="body" idx="1"/>
          </p:nvPr>
        </p:nvSpPr>
        <p:spPr>
          <a:xfrm>
            <a:off x="838200" y="1452283"/>
            <a:ext cx="10709622" cy="3199208"/>
          </a:xfrm>
          <a:prstGeom prst="rect">
            <a:avLst/>
          </a:prstGeom>
          <a:noFill/>
          <a:ln>
            <a:noFill/>
          </a:ln>
        </p:spPr>
        <p:txBody>
          <a:bodyPr spcFirstLastPara="1" wrap="square" lIns="0" tIns="470700" rIns="0" bIns="0" anchor="t" anchorCtr="0">
            <a:spAutoFit/>
          </a:bodyPr>
          <a:lstStyle/>
          <a:p>
            <a:pPr marL="1210861" marR="482385" lvl="0" indent="-304875" algn="l" rtl="0">
              <a:lnSpc>
                <a:spcPct val="100000"/>
              </a:lnSpc>
              <a:spcBef>
                <a:spcPts val="0"/>
              </a:spcBef>
              <a:spcAft>
                <a:spcPts val="0"/>
              </a:spcAft>
              <a:buClr>
                <a:srgbClr val="DD8047"/>
              </a:buClr>
              <a:buSzPts val="1738"/>
              <a:buFont typeface="Noto Sans Symbols"/>
              <a:buChar char="◻"/>
            </a:pPr>
            <a:r>
              <a:rPr lang="en-US"/>
              <a:t>Véc-tơ clock được xây dựng bằng cách để mỗi tiến  trình P</a:t>
            </a:r>
            <a:r>
              <a:rPr lang="en-US" sz="2723" i="1" baseline="-25000">
                <a:latin typeface="Times New Roman"/>
                <a:ea typeface="Times New Roman"/>
                <a:cs typeface="Times New Roman"/>
                <a:sym typeface="Times New Roman"/>
              </a:rPr>
              <a:t>i </a:t>
            </a:r>
            <a:r>
              <a:rPr lang="en-US" sz="2632"/>
              <a:t>quản lý một véc-tơ VC</a:t>
            </a:r>
            <a:r>
              <a:rPr lang="en-US" sz="2723" i="1" baseline="-25000">
                <a:latin typeface="Times New Roman"/>
                <a:ea typeface="Times New Roman"/>
                <a:cs typeface="Times New Roman"/>
                <a:sym typeface="Times New Roman"/>
              </a:rPr>
              <a:t>i </a:t>
            </a:r>
            <a:r>
              <a:rPr lang="en-US" sz="2632"/>
              <a:t>với 2 tính chất sau:</a:t>
            </a:r>
            <a:endParaRPr sz="2632">
              <a:latin typeface="Times New Roman"/>
              <a:ea typeface="Times New Roman"/>
              <a:cs typeface="Times New Roman"/>
              <a:sym typeface="Times New Roman"/>
            </a:endParaRPr>
          </a:p>
          <a:p>
            <a:pPr marL="1210861" marR="741731" lvl="0" indent="-304875" algn="l" rtl="0">
              <a:lnSpc>
                <a:spcPct val="100699"/>
              </a:lnSpc>
              <a:spcBef>
                <a:spcPts val="717"/>
              </a:spcBef>
              <a:spcAft>
                <a:spcPts val="0"/>
              </a:spcAft>
              <a:buClr>
                <a:srgbClr val="DD8047"/>
              </a:buClr>
              <a:buSzPts val="1738"/>
              <a:buAutoNum type="arabicPeriod"/>
            </a:pPr>
            <a:r>
              <a:rPr lang="en-US"/>
              <a:t>VC</a:t>
            </a:r>
            <a:r>
              <a:rPr lang="en-US" sz="2723" i="1" baseline="-25000">
                <a:latin typeface="Times New Roman"/>
                <a:ea typeface="Times New Roman"/>
                <a:cs typeface="Times New Roman"/>
                <a:sym typeface="Times New Roman"/>
              </a:rPr>
              <a:t>i </a:t>
            </a:r>
            <a:r>
              <a:rPr lang="en-US" sz="2632"/>
              <a:t>[ </a:t>
            </a:r>
            <a:r>
              <a:rPr lang="en-US" sz="2632" i="1">
                <a:latin typeface="Times New Roman"/>
                <a:ea typeface="Times New Roman"/>
                <a:cs typeface="Times New Roman"/>
                <a:sym typeface="Times New Roman"/>
              </a:rPr>
              <a:t>i </a:t>
            </a:r>
            <a:r>
              <a:rPr lang="en-US" sz="2632"/>
              <a:t>] là số các sự kiện đã xảy ra ở P</a:t>
            </a:r>
            <a:r>
              <a:rPr lang="en-US" sz="2723" i="1" baseline="-25000">
                <a:latin typeface="Times New Roman"/>
                <a:ea typeface="Times New Roman"/>
                <a:cs typeface="Times New Roman"/>
                <a:sym typeface="Times New Roman"/>
              </a:rPr>
              <a:t>i</a:t>
            </a:r>
            <a:r>
              <a:rPr lang="en-US" sz="2632"/>
              <a:t>. nói cách  khác, VC</a:t>
            </a:r>
            <a:r>
              <a:rPr lang="en-US" sz="2723" i="1" baseline="-25000">
                <a:latin typeface="Times New Roman"/>
                <a:ea typeface="Times New Roman"/>
                <a:cs typeface="Times New Roman"/>
                <a:sym typeface="Times New Roman"/>
              </a:rPr>
              <a:t>i </a:t>
            </a:r>
            <a:r>
              <a:rPr lang="en-US" sz="2632"/>
              <a:t>[ </a:t>
            </a:r>
            <a:r>
              <a:rPr lang="en-US" sz="2632" i="1">
                <a:latin typeface="Times New Roman"/>
                <a:ea typeface="Times New Roman"/>
                <a:cs typeface="Times New Roman"/>
                <a:sym typeface="Times New Roman"/>
              </a:rPr>
              <a:t>i </a:t>
            </a:r>
            <a:r>
              <a:rPr lang="en-US" sz="2632"/>
              <a:t>] là đồng hồ logic cục bộ của P</a:t>
            </a:r>
            <a:r>
              <a:rPr lang="en-US" sz="2723" i="1" baseline="-25000">
                <a:latin typeface="Times New Roman"/>
                <a:ea typeface="Times New Roman"/>
                <a:cs typeface="Times New Roman"/>
                <a:sym typeface="Times New Roman"/>
              </a:rPr>
              <a:t>i </a:t>
            </a:r>
            <a:r>
              <a:rPr lang="en-US" sz="2632"/>
              <a:t>.</a:t>
            </a:r>
            <a:endParaRPr sz="2632">
              <a:latin typeface="Times New Roman"/>
              <a:ea typeface="Times New Roman"/>
              <a:cs typeface="Times New Roman"/>
              <a:sym typeface="Times New Roman"/>
            </a:endParaRPr>
          </a:p>
          <a:p>
            <a:pPr marL="1210861" marR="27664" lvl="0" indent="-304875" algn="l" rtl="0">
              <a:lnSpc>
                <a:spcPct val="104099"/>
              </a:lnSpc>
              <a:spcBef>
                <a:spcPts val="613"/>
              </a:spcBef>
              <a:spcAft>
                <a:spcPts val="0"/>
              </a:spcAft>
              <a:buClr>
                <a:srgbClr val="DD8047"/>
              </a:buClr>
              <a:buSzPts val="1738"/>
              <a:buAutoNum type="arabicPeriod"/>
            </a:pPr>
            <a:r>
              <a:rPr lang="en-US"/>
              <a:t>Nếu VC</a:t>
            </a:r>
            <a:r>
              <a:rPr lang="en-US" sz="2723" i="1" baseline="-25000">
                <a:latin typeface="Times New Roman"/>
                <a:ea typeface="Times New Roman"/>
                <a:cs typeface="Times New Roman"/>
                <a:sym typeface="Times New Roman"/>
              </a:rPr>
              <a:t>i </a:t>
            </a:r>
            <a:r>
              <a:rPr lang="en-US" sz="2632"/>
              <a:t>[ </a:t>
            </a:r>
            <a:r>
              <a:rPr lang="en-US" sz="2632" i="1">
                <a:latin typeface="Times New Roman"/>
                <a:ea typeface="Times New Roman"/>
                <a:cs typeface="Times New Roman"/>
                <a:sym typeface="Times New Roman"/>
              </a:rPr>
              <a:t>j </a:t>
            </a:r>
            <a:r>
              <a:rPr lang="en-US" sz="2632"/>
              <a:t>] = k thì P</a:t>
            </a:r>
            <a:r>
              <a:rPr lang="en-US" sz="2723" i="1" baseline="-25000">
                <a:latin typeface="Times New Roman"/>
                <a:ea typeface="Times New Roman"/>
                <a:cs typeface="Times New Roman"/>
                <a:sym typeface="Times New Roman"/>
              </a:rPr>
              <a:t>i </a:t>
            </a:r>
            <a:r>
              <a:rPr lang="en-US" sz="2632"/>
              <a:t>biết rằng đã có </a:t>
            </a:r>
            <a:r>
              <a:rPr lang="en-US" sz="2632" i="1">
                <a:latin typeface="Times New Roman"/>
                <a:ea typeface="Times New Roman"/>
                <a:cs typeface="Times New Roman"/>
                <a:sym typeface="Times New Roman"/>
              </a:rPr>
              <a:t>k </a:t>
            </a:r>
            <a:r>
              <a:rPr lang="en-US" sz="2632"/>
              <a:t>sự kiện xảy ra  ở P</a:t>
            </a:r>
            <a:r>
              <a:rPr lang="en-US" sz="2723" i="1" baseline="-25000">
                <a:latin typeface="Times New Roman"/>
                <a:ea typeface="Times New Roman"/>
                <a:cs typeface="Times New Roman"/>
                <a:sym typeface="Times New Roman"/>
              </a:rPr>
              <a:t>j</a:t>
            </a:r>
            <a:r>
              <a:rPr lang="en-US" sz="2632"/>
              <a:t>. Là tri thức của P</a:t>
            </a:r>
            <a:r>
              <a:rPr lang="en-US" sz="2723" i="1" baseline="-25000">
                <a:latin typeface="Times New Roman"/>
                <a:ea typeface="Times New Roman"/>
                <a:cs typeface="Times New Roman"/>
                <a:sym typeface="Times New Roman"/>
              </a:rPr>
              <a:t>i </a:t>
            </a:r>
            <a:r>
              <a:rPr lang="en-US" sz="2632"/>
              <a:t>về thời gian cục bộ ở P</a:t>
            </a:r>
            <a:r>
              <a:rPr lang="en-US" sz="2723" i="1" baseline="-25000">
                <a:latin typeface="Times New Roman"/>
                <a:ea typeface="Times New Roman"/>
                <a:cs typeface="Times New Roman"/>
                <a:sym typeface="Times New Roman"/>
              </a:rPr>
              <a:t>j </a:t>
            </a:r>
            <a:r>
              <a:rPr lang="en-US" sz="2632"/>
              <a:t>.</a:t>
            </a:r>
            <a:endParaRPr sz="2632">
              <a:latin typeface="Times New Roman"/>
              <a:ea typeface="Times New Roman"/>
              <a:cs typeface="Times New Roman"/>
              <a:sym typeface="Times New Roman"/>
            </a:endParaRPr>
          </a:p>
        </p:txBody>
      </p:sp>
      <p:sp>
        <p:nvSpPr>
          <p:cNvPr id="352" name="Google Shape;352;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0"/>
          <p:cNvSpPr txBox="1">
            <a:spLocks noGrp="1"/>
          </p:cNvSpPr>
          <p:nvPr>
            <p:ph type="title"/>
          </p:nvPr>
        </p:nvSpPr>
        <p:spPr>
          <a:xfrm>
            <a:off x="1371600" y="228600"/>
            <a:ext cx="3778816"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Vector Clocks (3)</a:t>
            </a:r>
            <a:endParaRPr/>
          </a:p>
        </p:txBody>
      </p:sp>
      <p:sp>
        <p:nvSpPr>
          <p:cNvPr id="358" name="Google Shape;358;p30"/>
          <p:cNvSpPr txBox="1"/>
          <p:nvPr/>
        </p:nvSpPr>
        <p:spPr>
          <a:xfrm>
            <a:off x="1382486" y="1676400"/>
            <a:ext cx="9129374" cy="3695477"/>
          </a:xfrm>
          <a:prstGeom prst="rect">
            <a:avLst/>
          </a:prstGeom>
          <a:noFill/>
          <a:ln>
            <a:noFill/>
          </a:ln>
        </p:spPr>
        <p:txBody>
          <a:bodyPr spcFirstLastPara="1" wrap="square" lIns="0" tIns="58200" rIns="0" bIns="0" anchor="t" anchorCtr="0">
            <a:spAutoFit/>
          </a:bodyPr>
          <a:lstStyle/>
          <a:p>
            <a:pPr marL="338880" marR="0" lvl="0" indent="-304876" algn="l" rtl="0">
              <a:spcBef>
                <a:spcPts val="0"/>
              </a:spcBef>
              <a:spcAft>
                <a:spcPts val="0"/>
              </a:spcAft>
              <a:buClr>
                <a:srgbClr val="DD8047"/>
              </a:buClr>
              <a:buSzPts val="1634"/>
              <a:buFont typeface="Noto Sans Symbols"/>
              <a:buChar char="◻"/>
            </a:pPr>
            <a:r>
              <a:rPr lang="en-US" sz="2632">
                <a:solidFill>
                  <a:schemeClr val="dk1"/>
                </a:solidFill>
                <a:latin typeface="Calibri"/>
                <a:ea typeface="Calibri"/>
                <a:cs typeface="Calibri"/>
                <a:sym typeface="Calibri"/>
              </a:rPr>
              <a:t>Những bước cập nhật để đảm bảo tính chất 2:</a:t>
            </a:r>
            <a:endParaRPr sz="2632">
              <a:solidFill>
                <a:schemeClr val="dk1"/>
              </a:solidFill>
              <a:latin typeface="Calibri"/>
              <a:ea typeface="Calibri"/>
              <a:cs typeface="Calibri"/>
              <a:sym typeface="Calibri"/>
            </a:endParaRPr>
          </a:p>
          <a:p>
            <a:pPr marL="338880" marR="3343843" lvl="0" indent="-304876" algn="l" rtl="0">
              <a:lnSpc>
                <a:spcPct val="107308"/>
              </a:lnSpc>
              <a:spcBef>
                <a:spcPts val="667"/>
              </a:spcBef>
              <a:spcAft>
                <a:spcPts val="0"/>
              </a:spcAft>
              <a:buClr>
                <a:srgbClr val="DD8047"/>
              </a:buClr>
              <a:buSzPts val="1634"/>
              <a:buFont typeface="Calibri"/>
              <a:buAutoNum type="arabicPeriod"/>
            </a:pPr>
            <a:r>
              <a:rPr lang="en-US" sz="2632">
                <a:solidFill>
                  <a:schemeClr val="dk1"/>
                </a:solidFill>
                <a:latin typeface="Calibri"/>
                <a:ea typeface="Calibri"/>
                <a:cs typeface="Calibri"/>
                <a:sym typeface="Calibri"/>
              </a:rPr>
              <a:t>Trước mỗi sự kiện, P</a:t>
            </a:r>
            <a:r>
              <a:rPr lang="en-US" sz="2723" i="1" baseline="-25000">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thực thi:  VC</a:t>
            </a:r>
            <a:r>
              <a:rPr lang="en-US" sz="2723" i="1" baseline="-25000">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 </a:t>
            </a:r>
            <a:r>
              <a:rPr lang="en-US" sz="2632" i="1">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 ← VC</a:t>
            </a:r>
            <a:r>
              <a:rPr lang="en-US" sz="2723" i="1" baseline="-25000">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a:t>
            </a:r>
            <a:r>
              <a:rPr lang="en-US" sz="2632" i="1">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 + 1.</a:t>
            </a:r>
            <a:endParaRPr sz="2632">
              <a:solidFill>
                <a:schemeClr val="dk1"/>
              </a:solidFill>
              <a:latin typeface="Calibri"/>
              <a:ea typeface="Calibri"/>
              <a:cs typeface="Calibri"/>
              <a:sym typeface="Calibri"/>
            </a:endParaRPr>
          </a:p>
          <a:p>
            <a:pPr marL="338880" marR="0" lvl="0" indent="-304876" algn="l" rtl="0">
              <a:lnSpc>
                <a:spcPct val="109988"/>
              </a:lnSpc>
              <a:spcBef>
                <a:spcPts val="394"/>
              </a:spcBef>
              <a:spcAft>
                <a:spcPts val="0"/>
              </a:spcAft>
              <a:buClr>
                <a:srgbClr val="DD8047"/>
              </a:buClr>
              <a:buSzPts val="1634"/>
              <a:buFont typeface="Calibri"/>
              <a:buAutoNum type="arabicPeriod"/>
            </a:pPr>
            <a:r>
              <a:rPr lang="en-US" sz="2632">
                <a:solidFill>
                  <a:schemeClr val="dk1"/>
                </a:solidFill>
                <a:latin typeface="Calibri"/>
                <a:ea typeface="Calibri"/>
                <a:cs typeface="Calibri"/>
                <a:sym typeface="Calibri"/>
              </a:rPr>
              <a:t>Khi P</a:t>
            </a:r>
            <a:r>
              <a:rPr lang="en-US" sz="2723" i="1" baseline="-25000">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gửi thông điệp </a:t>
            </a:r>
            <a:r>
              <a:rPr lang="en-US" sz="2632" i="1">
                <a:solidFill>
                  <a:schemeClr val="dk1"/>
                </a:solidFill>
                <a:latin typeface="Calibri"/>
                <a:ea typeface="Calibri"/>
                <a:cs typeface="Calibri"/>
                <a:sym typeface="Calibri"/>
              </a:rPr>
              <a:t>m </a:t>
            </a:r>
            <a:r>
              <a:rPr lang="en-US" sz="2632">
                <a:solidFill>
                  <a:schemeClr val="dk1"/>
                </a:solidFill>
                <a:latin typeface="Calibri"/>
                <a:ea typeface="Calibri"/>
                <a:cs typeface="Calibri"/>
                <a:sym typeface="Calibri"/>
              </a:rPr>
              <a:t>tới P</a:t>
            </a:r>
            <a:r>
              <a:rPr lang="en-US" sz="2723" i="1" baseline="-25000">
                <a:solidFill>
                  <a:schemeClr val="dk1"/>
                </a:solidFill>
                <a:latin typeface="Calibri"/>
                <a:ea typeface="Calibri"/>
                <a:cs typeface="Calibri"/>
                <a:sym typeface="Calibri"/>
              </a:rPr>
              <a:t>j</a:t>
            </a:r>
            <a:r>
              <a:rPr lang="en-US" sz="2632">
                <a:solidFill>
                  <a:schemeClr val="dk1"/>
                </a:solidFill>
                <a:latin typeface="Calibri"/>
                <a:ea typeface="Calibri"/>
                <a:cs typeface="Calibri"/>
                <a:sym typeface="Calibri"/>
              </a:rPr>
              <a:t>, nó đặt véc-tơ timestamp</a:t>
            </a:r>
            <a:endParaRPr sz="2632">
              <a:solidFill>
                <a:schemeClr val="dk1"/>
              </a:solidFill>
              <a:latin typeface="Calibri"/>
              <a:ea typeface="Calibri"/>
              <a:cs typeface="Calibri"/>
              <a:sym typeface="Calibri"/>
            </a:endParaRPr>
          </a:p>
          <a:p>
            <a:pPr marL="338880" marR="0" lvl="0" indent="0" algn="l" rtl="0">
              <a:lnSpc>
                <a:spcPct val="109988"/>
              </a:lnSpc>
              <a:spcBef>
                <a:spcPts val="0"/>
              </a:spcBef>
              <a:spcAft>
                <a:spcPts val="0"/>
              </a:spcAft>
              <a:buNone/>
            </a:pPr>
            <a:r>
              <a:rPr lang="en-US" sz="2632" i="1">
                <a:solidFill>
                  <a:schemeClr val="dk1"/>
                </a:solidFill>
                <a:latin typeface="Calibri"/>
                <a:ea typeface="Calibri"/>
                <a:cs typeface="Calibri"/>
                <a:sym typeface="Calibri"/>
              </a:rPr>
              <a:t>ts(m) </a:t>
            </a:r>
            <a:r>
              <a:rPr lang="en-US" sz="2632">
                <a:solidFill>
                  <a:schemeClr val="dk1"/>
                </a:solidFill>
                <a:latin typeface="Calibri"/>
                <a:ea typeface="Calibri"/>
                <a:cs typeface="Calibri"/>
                <a:sym typeface="Calibri"/>
              </a:rPr>
              <a:t>vào </a:t>
            </a:r>
            <a:r>
              <a:rPr lang="en-US" sz="2632" i="1">
                <a:solidFill>
                  <a:schemeClr val="dk1"/>
                </a:solidFill>
                <a:latin typeface="Calibri"/>
                <a:ea typeface="Calibri"/>
                <a:cs typeface="Calibri"/>
                <a:sym typeface="Calibri"/>
              </a:rPr>
              <a:t>m </a:t>
            </a:r>
            <a:r>
              <a:rPr lang="en-US" sz="2632">
                <a:solidFill>
                  <a:schemeClr val="dk1"/>
                </a:solidFill>
                <a:latin typeface="Calibri"/>
                <a:ea typeface="Calibri"/>
                <a:cs typeface="Calibri"/>
                <a:sym typeface="Calibri"/>
              </a:rPr>
              <a:t>bằng với VC</a:t>
            </a:r>
            <a:r>
              <a:rPr lang="en-US" sz="2723" i="1" baseline="-25000">
                <a:solidFill>
                  <a:schemeClr val="dk1"/>
                </a:solidFill>
                <a:latin typeface="Calibri"/>
                <a:ea typeface="Calibri"/>
                <a:cs typeface="Calibri"/>
                <a:sym typeface="Calibri"/>
              </a:rPr>
              <a:t>i </a:t>
            </a:r>
            <a:r>
              <a:rPr lang="en-US" sz="2632">
                <a:solidFill>
                  <a:schemeClr val="dk1"/>
                </a:solidFill>
                <a:latin typeface="Calibri"/>
                <a:ea typeface="Calibri"/>
                <a:cs typeface="Calibri"/>
                <a:sym typeface="Calibri"/>
              </a:rPr>
              <a:t>sau khi thực hiện bước 1.</a:t>
            </a:r>
            <a:endParaRPr sz="2632">
              <a:solidFill>
                <a:schemeClr val="dk1"/>
              </a:solidFill>
              <a:latin typeface="Calibri"/>
              <a:ea typeface="Calibri"/>
              <a:cs typeface="Calibri"/>
              <a:sym typeface="Calibri"/>
            </a:endParaRPr>
          </a:p>
          <a:p>
            <a:pPr marL="338880" marR="395936" lvl="0" indent="-304876" algn="l" rtl="0">
              <a:lnSpc>
                <a:spcPct val="107308"/>
              </a:lnSpc>
              <a:spcBef>
                <a:spcPts val="753"/>
              </a:spcBef>
              <a:spcAft>
                <a:spcPts val="0"/>
              </a:spcAft>
              <a:buClr>
                <a:srgbClr val="DD8047"/>
              </a:buClr>
              <a:buSzPts val="1634"/>
              <a:buFont typeface="Calibri"/>
              <a:buAutoNum type="arabicPeriod" startAt="3"/>
            </a:pPr>
            <a:r>
              <a:rPr lang="en-US" sz="2632">
                <a:solidFill>
                  <a:schemeClr val="dk1"/>
                </a:solidFill>
                <a:latin typeface="Calibri"/>
                <a:ea typeface="Calibri"/>
                <a:cs typeface="Calibri"/>
                <a:sym typeface="Calibri"/>
              </a:rPr>
              <a:t>Khi nhận được 1 thông điệp </a:t>
            </a:r>
            <a:r>
              <a:rPr lang="en-US" sz="2632" i="1">
                <a:solidFill>
                  <a:schemeClr val="dk1"/>
                </a:solidFill>
                <a:latin typeface="Calibri"/>
                <a:ea typeface="Calibri"/>
                <a:cs typeface="Calibri"/>
                <a:sym typeface="Calibri"/>
              </a:rPr>
              <a:t>m</a:t>
            </a:r>
            <a:r>
              <a:rPr lang="en-US" sz="2632">
                <a:solidFill>
                  <a:schemeClr val="dk1"/>
                </a:solidFill>
                <a:latin typeface="Calibri"/>
                <a:ea typeface="Calibri"/>
                <a:cs typeface="Calibri"/>
                <a:sym typeface="Calibri"/>
              </a:rPr>
              <a:t>, tiến trình P</a:t>
            </a:r>
            <a:r>
              <a:rPr lang="en-US" sz="2723" i="1" baseline="-25000">
                <a:solidFill>
                  <a:schemeClr val="dk1"/>
                </a:solidFill>
                <a:latin typeface="Calibri"/>
                <a:ea typeface="Calibri"/>
                <a:cs typeface="Calibri"/>
                <a:sym typeface="Calibri"/>
              </a:rPr>
              <a:t>j </a:t>
            </a:r>
            <a:r>
              <a:rPr lang="en-US" sz="2632">
                <a:solidFill>
                  <a:schemeClr val="dk1"/>
                </a:solidFill>
                <a:latin typeface="Calibri"/>
                <a:ea typeface="Calibri"/>
                <a:cs typeface="Calibri"/>
                <a:sym typeface="Calibri"/>
              </a:rPr>
              <a:t>cập nhật  lại véc-tơ của mình:</a:t>
            </a:r>
            <a:endParaRPr sz="2632">
              <a:solidFill>
                <a:schemeClr val="dk1"/>
              </a:solidFill>
              <a:latin typeface="Calibri"/>
              <a:ea typeface="Calibri"/>
              <a:cs typeface="Calibri"/>
              <a:sym typeface="Calibri"/>
            </a:endParaRPr>
          </a:p>
          <a:p>
            <a:pPr marL="338880" marR="0" lvl="0" indent="0" algn="l" rtl="0">
              <a:lnSpc>
                <a:spcPct val="99338"/>
              </a:lnSpc>
              <a:spcBef>
                <a:spcPts val="0"/>
              </a:spcBef>
              <a:spcAft>
                <a:spcPts val="0"/>
              </a:spcAft>
              <a:buNone/>
            </a:pPr>
            <a:r>
              <a:rPr lang="en-US" sz="2632">
                <a:solidFill>
                  <a:schemeClr val="dk1"/>
                </a:solidFill>
                <a:latin typeface="Calibri"/>
                <a:ea typeface="Calibri"/>
                <a:cs typeface="Calibri"/>
                <a:sym typeface="Calibri"/>
              </a:rPr>
              <a:t>VC</a:t>
            </a:r>
            <a:r>
              <a:rPr lang="en-US" sz="2723" i="1" baseline="-25000">
                <a:solidFill>
                  <a:schemeClr val="dk1"/>
                </a:solidFill>
                <a:latin typeface="Calibri"/>
                <a:ea typeface="Calibri"/>
                <a:cs typeface="Calibri"/>
                <a:sym typeface="Calibri"/>
              </a:rPr>
              <a:t>j </a:t>
            </a:r>
            <a:r>
              <a:rPr lang="en-US" sz="2632">
                <a:solidFill>
                  <a:schemeClr val="dk1"/>
                </a:solidFill>
                <a:latin typeface="Calibri"/>
                <a:ea typeface="Calibri"/>
                <a:cs typeface="Calibri"/>
                <a:sym typeface="Calibri"/>
              </a:rPr>
              <a:t>[</a:t>
            </a:r>
            <a:r>
              <a:rPr lang="en-US" sz="2632" i="1">
                <a:solidFill>
                  <a:schemeClr val="dk1"/>
                </a:solidFill>
                <a:latin typeface="Calibri"/>
                <a:ea typeface="Calibri"/>
                <a:cs typeface="Calibri"/>
                <a:sym typeface="Calibri"/>
              </a:rPr>
              <a:t>k </a:t>
            </a:r>
            <a:r>
              <a:rPr lang="en-US" sz="2632">
                <a:solidFill>
                  <a:schemeClr val="dk1"/>
                </a:solidFill>
                <a:latin typeface="Calibri"/>
                <a:ea typeface="Calibri"/>
                <a:cs typeface="Calibri"/>
                <a:sym typeface="Calibri"/>
              </a:rPr>
              <a:t>] ← max{VC</a:t>
            </a:r>
            <a:r>
              <a:rPr lang="en-US" sz="2723" i="1" baseline="-25000">
                <a:solidFill>
                  <a:schemeClr val="dk1"/>
                </a:solidFill>
                <a:latin typeface="Calibri"/>
                <a:ea typeface="Calibri"/>
                <a:cs typeface="Calibri"/>
                <a:sym typeface="Calibri"/>
              </a:rPr>
              <a:t>j </a:t>
            </a:r>
            <a:r>
              <a:rPr lang="en-US" sz="2632">
                <a:solidFill>
                  <a:schemeClr val="dk1"/>
                </a:solidFill>
                <a:latin typeface="Calibri"/>
                <a:ea typeface="Calibri"/>
                <a:cs typeface="Calibri"/>
                <a:sym typeface="Calibri"/>
              </a:rPr>
              <a:t>[</a:t>
            </a:r>
            <a:r>
              <a:rPr lang="en-US" sz="2632" i="1">
                <a:solidFill>
                  <a:schemeClr val="dk1"/>
                </a:solidFill>
                <a:latin typeface="Calibri"/>
                <a:ea typeface="Calibri"/>
                <a:cs typeface="Calibri"/>
                <a:sym typeface="Calibri"/>
              </a:rPr>
              <a:t>k </a:t>
            </a:r>
            <a:r>
              <a:rPr lang="en-US" sz="2632">
                <a:solidFill>
                  <a:schemeClr val="dk1"/>
                </a:solidFill>
                <a:latin typeface="Calibri"/>
                <a:ea typeface="Calibri"/>
                <a:cs typeface="Calibri"/>
                <a:sym typeface="Calibri"/>
              </a:rPr>
              <a:t>], </a:t>
            </a:r>
            <a:r>
              <a:rPr lang="en-US" sz="2632" i="1">
                <a:solidFill>
                  <a:schemeClr val="dk1"/>
                </a:solidFill>
                <a:latin typeface="Calibri"/>
                <a:ea typeface="Calibri"/>
                <a:cs typeface="Calibri"/>
                <a:sym typeface="Calibri"/>
              </a:rPr>
              <a:t>ts (m)</a:t>
            </a:r>
            <a:r>
              <a:rPr lang="en-US" sz="2632">
                <a:solidFill>
                  <a:schemeClr val="dk1"/>
                </a:solidFill>
                <a:latin typeface="Calibri"/>
                <a:ea typeface="Calibri"/>
                <a:cs typeface="Calibri"/>
                <a:sym typeface="Calibri"/>
              </a:rPr>
              <a:t>[</a:t>
            </a:r>
            <a:r>
              <a:rPr lang="en-US" sz="2632" i="1">
                <a:solidFill>
                  <a:schemeClr val="dk1"/>
                </a:solidFill>
                <a:latin typeface="Calibri"/>
                <a:ea typeface="Calibri"/>
                <a:cs typeface="Calibri"/>
                <a:sym typeface="Calibri"/>
              </a:rPr>
              <a:t>k </a:t>
            </a:r>
            <a:r>
              <a:rPr lang="en-US" sz="2632">
                <a:solidFill>
                  <a:schemeClr val="dk1"/>
                </a:solidFill>
                <a:latin typeface="Calibri"/>
                <a:ea typeface="Calibri"/>
                <a:cs typeface="Calibri"/>
                <a:sym typeface="Calibri"/>
              </a:rPr>
              <a:t>]} với mọi </a:t>
            </a:r>
            <a:r>
              <a:rPr lang="en-US" sz="2632" i="1">
                <a:solidFill>
                  <a:schemeClr val="dk1"/>
                </a:solidFill>
                <a:latin typeface="Calibri"/>
                <a:ea typeface="Calibri"/>
                <a:cs typeface="Calibri"/>
                <a:sym typeface="Calibri"/>
              </a:rPr>
              <a:t>k</a:t>
            </a:r>
            <a:r>
              <a:rPr lang="en-US" sz="2632">
                <a:solidFill>
                  <a:schemeClr val="dk1"/>
                </a:solidFill>
                <a:latin typeface="Calibri"/>
                <a:ea typeface="Calibri"/>
                <a:cs typeface="Calibri"/>
                <a:sym typeface="Calibri"/>
              </a:rPr>
              <a:t>, sau đó</a:t>
            </a:r>
            <a:endParaRPr sz="2632">
              <a:solidFill>
                <a:schemeClr val="dk1"/>
              </a:solidFill>
              <a:latin typeface="Calibri"/>
              <a:ea typeface="Calibri"/>
              <a:cs typeface="Calibri"/>
              <a:sym typeface="Calibri"/>
            </a:endParaRPr>
          </a:p>
          <a:p>
            <a:pPr marL="338880" marR="0" lvl="0" indent="0" algn="l" rtl="0">
              <a:lnSpc>
                <a:spcPct val="115007"/>
              </a:lnSpc>
              <a:spcBef>
                <a:spcPts val="0"/>
              </a:spcBef>
              <a:spcAft>
                <a:spcPts val="0"/>
              </a:spcAft>
              <a:buNone/>
            </a:pPr>
            <a:r>
              <a:rPr lang="en-US" sz="2632">
                <a:solidFill>
                  <a:schemeClr val="dk1"/>
                </a:solidFill>
                <a:latin typeface="Calibri"/>
                <a:ea typeface="Calibri"/>
                <a:cs typeface="Calibri"/>
                <a:sym typeface="Calibri"/>
              </a:rPr>
              <a:t>mới gửi thông điệp lên tầng ứng dụng.</a:t>
            </a:r>
            <a:endParaRPr sz="2632">
              <a:solidFill>
                <a:schemeClr val="dk1"/>
              </a:solidFill>
              <a:latin typeface="Calibri"/>
              <a:ea typeface="Calibri"/>
              <a:cs typeface="Calibri"/>
              <a:sym typeface="Calibri"/>
            </a:endParaRPr>
          </a:p>
        </p:txBody>
      </p:sp>
      <p:sp>
        <p:nvSpPr>
          <p:cNvPr id="359" name="Google Shape;35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1"/>
          <p:cNvSpPr txBox="1">
            <a:spLocks noGrp="1"/>
          </p:cNvSpPr>
          <p:nvPr>
            <p:ph type="ctrTitle"/>
          </p:nvPr>
        </p:nvSpPr>
        <p:spPr>
          <a:xfrm>
            <a:off x="1066800" y="396064"/>
            <a:ext cx="9634026" cy="553998"/>
          </a:xfrm>
          <a:prstGeom prst="rect">
            <a:avLst/>
          </a:prstGeom>
          <a:noFill/>
          <a:ln>
            <a:noFill/>
          </a:ln>
        </p:spPr>
        <p:txBody>
          <a:bodyPr spcFirstLastPara="1" wrap="square" lIns="0" tIns="0" rIns="0" bIns="0" anchor="ctr" anchorCtr="0">
            <a:spAutoFit/>
          </a:bodyPr>
          <a:lstStyle/>
          <a:p>
            <a:pPr marL="0" lvl="0" indent="0" algn="l" rtl="0">
              <a:lnSpc>
                <a:spcPct val="90000"/>
              </a:lnSpc>
              <a:spcBef>
                <a:spcPts val="0"/>
              </a:spcBef>
              <a:spcAft>
                <a:spcPts val="0"/>
              </a:spcAft>
              <a:buClr>
                <a:schemeClr val="lt1"/>
              </a:buClr>
              <a:buSzPts val="4000"/>
              <a:buFont typeface="Calibri"/>
              <a:buNone/>
            </a:pPr>
            <a:r>
              <a:rPr lang="en-US" sz="4000">
                <a:solidFill>
                  <a:schemeClr val="lt1"/>
                </a:solidFill>
                <a:latin typeface="Calibri"/>
                <a:ea typeface="Calibri"/>
                <a:cs typeface="Calibri"/>
                <a:sym typeface="Calibri"/>
              </a:rPr>
              <a:t>Thực thi trao đổi thông tin có tính nhân quả</a:t>
            </a:r>
            <a:endParaRPr/>
          </a:p>
        </p:txBody>
      </p:sp>
      <p:sp>
        <p:nvSpPr>
          <p:cNvPr id="365" name="Google Shape;365;p31"/>
          <p:cNvSpPr txBox="1">
            <a:spLocks noGrp="1"/>
          </p:cNvSpPr>
          <p:nvPr>
            <p:ph type="subTitle" idx="1"/>
          </p:nvPr>
        </p:nvSpPr>
        <p:spPr>
          <a:xfrm>
            <a:off x="1828800" y="3840480"/>
            <a:ext cx="8534400" cy="387798"/>
          </a:xfrm>
          <a:prstGeom prst="rect">
            <a:avLst/>
          </a:prstGeom>
          <a:noFill/>
          <a:ln>
            <a:noFill/>
          </a:ln>
        </p:spPr>
        <p:txBody>
          <a:bodyPr spcFirstLastPara="1" wrap="square" lIns="0" tIns="0" rIns="0" bIns="0" anchor="t" anchorCtr="0">
            <a:spAutoFit/>
          </a:bodyPr>
          <a:lstStyle/>
          <a:p>
            <a:pPr marL="228600" lvl="0" indent="-50800" algn="l" rtl="0">
              <a:lnSpc>
                <a:spcPct val="90000"/>
              </a:lnSpc>
              <a:spcBef>
                <a:spcPts val="0"/>
              </a:spcBef>
              <a:spcAft>
                <a:spcPts val="0"/>
              </a:spcAft>
              <a:buClr>
                <a:schemeClr val="dk1"/>
              </a:buClr>
              <a:buSzPts val="2800"/>
              <a:buNone/>
            </a:pPr>
            <a:endParaRPr/>
          </a:p>
        </p:txBody>
      </p:sp>
      <p:grpSp>
        <p:nvGrpSpPr>
          <p:cNvPr id="366" name="Google Shape;366;p31"/>
          <p:cNvGrpSpPr/>
          <p:nvPr/>
        </p:nvGrpSpPr>
        <p:grpSpPr>
          <a:xfrm>
            <a:off x="2388184" y="1710465"/>
            <a:ext cx="7495897" cy="4263053"/>
            <a:chOff x="1261236" y="1884679"/>
            <a:chExt cx="8259368" cy="4697253"/>
          </a:xfrm>
        </p:grpSpPr>
        <p:sp>
          <p:nvSpPr>
            <p:cNvPr id="367" name="Google Shape;367;p31"/>
            <p:cNvSpPr/>
            <p:nvPr/>
          </p:nvSpPr>
          <p:spPr>
            <a:xfrm>
              <a:off x="1261236" y="1884679"/>
              <a:ext cx="8259368" cy="353543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368" name="Google Shape;368;p31"/>
            <p:cNvSpPr/>
            <p:nvPr/>
          </p:nvSpPr>
          <p:spPr>
            <a:xfrm>
              <a:off x="3691534" y="5435129"/>
              <a:ext cx="4400550" cy="114680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grpSp>
      <p:sp>
        <p:nvSpPr>
          <p:cNvPr id="369" name="Google Shape;369;p31"/>
          <p:cNvSpPr txBox="1"/>
          <p:nvPr/>
        </p:nvSpPr>
        <p:spPr>
          <a:xfrm>
            <a:off x="2264712" y="5146611"/>
            <a:ext cx="1851084" cy="486512"/>
          </a:xfrm>
          <a:prstGeom prst="rect">
            <a:avLst/>
          </a:prstGeom>
          <a:noFill/>
          <a:ln>
            <a:noFill/>
          </a:ln>
        </p:spPr>
        <p:txBody>
          <a:bodyPr spcFirstLastPara="1" wrap="square" lIns="0" tIns="11525" rIns="0" bIns="0" anchor="t" anchorCtr="0">
            <a:spAutoFit/>
          </a:bodyPr>
          <a:lstStyle/>
          <a:p>
            <a:pPr marL="11527" marR="0" lvl="0" indent="0" algn="l" rtl="0">
              <a:spcBef>
                <a:spcPts val="0"/>
              </a:spcBef>
              <a:spcAft>
                <a:spcPts val="0"/>
              </a:spcAft>
              <a:buNone/>
            </a:pPr>
            <a:r>
              <a:rPr lang="en-US" sz="3086">
                <a:solidFill>
                  <a:schemeClr val="dk1"/>
                </a:solidFill>
                <a:latin typeface="Times New Roman"/>
                <a:ea typeface="Times New Roman"/>
                <a:cs typeface="Times New Roman"/>
                <a:sym typeface="Times New Roman"/>
              </a:rPr>
              <a:t>2 điều kiện:</a:t>
            </a:r>
            <a:endParaRPr sz="3086">
              <a:solidFill>
                <a:schemeClr val="dk1"/>
              </a:solidFill>
              <a:latin typeface="Times New Roman"/>
              <a:ea typeface="Times New Roman"/>
              <a:cs typeface="Times New Roman"/>
              <a:sym typeface="Times New Roman"/>
            </a:endParaRPr>
          </a:p>
        </p:txBody>
      </p:sp>
      <p:grpSp>
        <p:nvGrpSpPr>
          <p:cNvPr id="370" name="Google Shape;370;p31"/>
          <p:cNvGrpSpPr/>
          <p:nvPr/>
        </p:nvGrpSpPr>
        <p:grpSpPr>
          <a:xfrm>
            <a:off x="4097383" y="4911019"/>
            <a:ext cx="489626" cy="1053942"/>
            <a:chOff x="3144520" y="5411215"/>
            <a:chExt cx="539495" cy="1161288"/>
          </a:xfrm>
        </p:grpSpPr>
        <p:sp>
          <p:nvSpPr>
            <p:cNvPr id="371" name="Google Shape;371;p31"/>
            <p:cNvSpPr/>
            <p:nvPr/>
          </p:nvSpPr>
          <p:spPr>
            <a:xfrm>
              <a:off x="3144520" y="5411215"/>
              <a:ext cx="539495" cy="1161288"/>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372" name="Google Shape;372;p31"/>
            <p:cNvSpPr/>
            <p:nvPr/>
          </p:nvSpPr>
          <p:spPr>
            <a:xfrm>
              <a:off x="3189808" y="5456796"/>
              <a:ext cx="398780" cy="1015365"/>
            </a:xfrm>
            <a:custGeom>
              <a:avLst/>
              <a:gdLst/>
              <a:ahLst/>
              <a:cxnLst/>
              <a:rect l="l" t="t" r="r" b="b"/>
              <a:pathLst>
                <a:path w="398779" h="1015364" extrusionOk="0">
                  <a:moveTo>
                    <a:pt x="398386" y="0"/>
                  </a:moveTo>
                  <a:lnTo>
                    <a:pt x="320853" y="2608"/>
                  </a:lnTo>
                  <a:lnTo>
                    <a:pt x="257540" y="9720"/>
                  </a:lnTo>
                  <a:lnTo>
                    <a:pt x="214852" y="20268"/>
                  </a:lnTo>
                  <a:lnTo>
                    <a:pt x="199199" y="33185"/>
                  </a:lnTo>
                  <a:lnTo>
                    <a:pt x="199199" y="521982"/>
                  </a:lnTo>
                  <a:lnTo>
                    <a:pt x="183544" y="534899"/>
                  </a:lnTo>
                  <a:lnTo>
                    <a:pt x="140852" y="545447"/>
                  </a:lnTo>
                  <a:lnTo>
                    <a:pt x="77534" y="552559"/>
                  </a:lnTo>
                  <a:lnTo>
                    <a:pt x="0" y="555167"/>
                  </a:lnTo>
                  <a:lnTo>
                    <a:pt x="77534" y="557775"/>
                  </a:lnTo>
                  <a:lnTo>
                    <a:pt x="140852" y="564888"/>
                  </a:lnTo>
                  <a:lnTo>
                    <a:pt x="183544" y="575436"/>
                  </a:lnTo>
                  <a:lnTo>
                    <a:pt x="199199" y="588352"/>
                  </a:lnTo>
                  <a:lnTo>
                    <a:pt x="199199" y="981941"/>
                  </a:lnTo>
                  <a:lnTo>
                    <a:pt x="214852" y="994857"/>
                  </a:lnTo>
                  <a:lnTo>
                    <a:pt x="257540" y="1005404"/>
                  </a:lnTo>
                  <a:lnTo>
                    <a:pt x="320853" y="1012516"/>
                  </a:lnTo>
                  <a:lnTo>
                    <a:pt x="398386" y="1015123"/>
                  </a:lnTo>
                  <a:lnTo>
                    <a:pt x="398386" y="0"/>
                  </a:lnTo>
                  <a:close/>
                </a:path>
              </a:pathLst>
            </a:custGeom>
            <a:solidFill>
              <a:srgbClr val="94B6D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373" name="Google Shape;373;p31"/>
            <p:cNvSpPr/>
            <p:nvPr/>
          </p:nvSpPr>
          <p:spPr>
            <a:xfrm>
              <a:off x="3189808" y="5456796"/>
              <a:ext cx="398780" cy="1015365"/>
            </a:xfrm>
            <a:custGeom>
              <a:avLst/>
              <a:gdLst/>
              <a:ahLst/>
              <a:cxnLst/>
              <a:rect l="l" t="t" r="r" b="b"/>
              <a:pathLst>
                <a:path w="398779" h="1015364" extrusionOk="0">
                  <a:moveTo>
                    <a:pt x="398382" y="1015126"/>
                  </a:moveTo>
                  <a:lnTo>
                    <a:pt x="320848" y="1012519"/>
                  </a:lnTo>
                  <a:lnTo>
                    <a:pt x="257533" y="1005408"/>
                  </a:lnTo>
                  <a:lnTo>
                    <a:pt x="214844" y="994861"/>
                  </a:lnTo>
                  <a:lnTo>
                    <a:pt x="199191" y="981945"/>
                  </a:lnTo>
                  <a:lnTo>
                    <a:pt x="199191" y="588354"/>
                  </a:lnTo>
                  <a:lnTo>
                    <a:pt x="183537" y="575438"/>
                  </a:lnTo>
                  <a:lnTo>
                    <a:pt x="140849" y="564890"/>
                  </a:lnTo>
                  <a:lnTo>
                    <a:pt x="77534" y="557779"/>
                  </a:lnTo>
                  <a:lnTo>
                    <a:pt x="0" y="555171"/>
                  </a:lnTo>
                  <a:lnTo>
                    <a:pt x="77534" y="552564"/>
                  </a:lnTo>
                  <a:lnTo>
                    <a:pt x="140849" y="545453"/>
                  </a:lnTo>
                  <a:lnTo>
                    <a:pt x="183537" y="534906"/>
                  </a:lnTo>
                  <a:lnTo>
                    <a:pt x="199191" y="521990"/>
                  </a:lnTo>
                  <a:lnTo>
                    <a:pt x="199191" y="33181"/>
                  </a:lnTo>
                  <a:lnTo>
                    <a:pt x="214844" y="20265"/>
                  </a:lnTo>
                  <a:lnTo>
                    <a:pt x="257533" y="9718"/>
                  </a:lnTo>
                  <a:lnTo>
                    <a:pt x="320848" y="2607"/>
                  </a:lnTo>
                  <a:lnTo>
                    <a:pt x="398382" y="0"/>
                  </a:lnTo>
                </a:path>
              </a:pathLst>
            </a:custGeom>
            <a:noFill/>
            <a:ln w="100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grpSp>
      <p:sp>
        <p:nvSpPr>
          <p:cNvPr id="374" name="Google Shape;374;p31"/>
          <p:cNvSpPr txBox="1">
            <a:spLocks noGrp="1"/>
          </p:cNvSpPr>
          <p:nvPr>
            <p:ph type="sldNum" idx="12"/>
          </p:nvPr>
        </p:nvSpPr>
        <p:spPr>
          <a:xfrm>
            <a:off x="8610600" y="6356350"/>
            <a:ext cx="27432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2"/>
          <p:cNvSpPr txBox="1">
            <a:spLocks noGrp="1"/>
          </p:cNvSpPr>
          <p:nvPr>
            <p:ph type="title"/>
          </p:nvPr>
        </p:nvSpPr>
        <p:spPr>
          <a:xfrm>
            <a:off x="1219200" y="304800"/>
            <a:ext cx="7264293"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3. Các thuật toán loại trừ lẫn nhau</a:t>
            </a:r>
            <a:endParaRPr/>
          </a:p>
        </p:txBody>
      </p:sp>
      <p:sp>
        <p:nvSpPr>
          <p:cNvPr id="381" name="Google Shape;381;p32"/>
          <p:cNvSpPr txBox="1"/>
          <p:nvPr/>
        </p:nvSpPr>
        <p:spPr>
          <a:xfrm>
            <a:off x="1346146" y="1895813"/>
            <a:ext cx="7010400" cy="1565844"/>
          </a:xfrm>
          <a:prstGeom prst="rect">
            <a:avLst/>
          </a:prstGeom>
          <a:noFill/>
          <a:ln>
            <a:noFill/>
          </a:ln>
        </p:spPr>
        <p:txBody>
          <a:bodyPr spcFirstLastPara="1" wrap="square" lIns="0" tIns="102575" rIns="0" bIns="0" anchor="t" anchorCtr="0">
            <a:spAutoFit/>
          </a:bodyPr>
          <a:lstStyle/>
          <a:p>
            <a:pPr marL="315827" marR="0" lvl="0" indent="-304876" algn="l" rtl="0">
              <a:spcBef>
                <a:spcPts val="0"/>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Giải thuật tập trung (Centralized Algorithm)</a:t>
            </a:r>
            <a:endParaRPr/>
          </a:p>
          <a:p>
            <a:pPr marL="315827" marR="0" lvl="0" indent="-304876" algn="l" rtl="0">
              <a:spcBef>
                <a:spcPts val="808"/>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Giải thuật phân tán (Distributed Algorithm)</a:t>
            </a:r>
            <a:endParaRPr/>
          </a:p>
          <a:p>
            <a:pPr marL="315827" marR="0" lvl="0" indent="-304876" algn="l" rtl="0">
              <a:spcBef>
                <a:spcPts val="808"/>
              </a:spcBef>
              <a:spcAft>
                <a:spcPts val="0"/>
              </a:spcAft>
              <a:buClr>
                <a:srgbClr val="DD8047"/>
              </a:buClr>
              <a:buSzPts val="1634"/>
              <a:buFont typeface="Noto Sans Symbols"/>
              <a:buChar char="◻"/>
            </a:pPr>
            <a:r>
              <a:rPr lang="en-US" sz="2723">
                <a:solidFill>
                  <a:schemeClr val="dk1"/>
                </a:solidFill>
                <a:latin typeface="Calibri"/>
                <a:ea typeface="Calibri"/>
                <a:cs typeface="Calibri"/>
                <a:sym typeface="Calibri"/>
              </a:rPr>
              <a:t>Giải thuật vòng (TokenRing Algorithm)</a:t>
            </a:r>
            <a:endParaRPr sz="2723">
              <a:solidFill>
                <a:schemeClr val="dk1"/>
              </a:solidFill>
              <a:latin typeface="Calibri"/>
              <a:ea typeface="Calibri"/>
              <a:cs typeface="Calibri"/>
              <a:sym typeface="Calibri"/>
            </a:endParaRPr>
          </a:p>
        </p:txBody>
      </p:sp>
      <p:sp>
        <p:nvSpPr>
          <p:cNvPr id="382" name="Google Shape;382;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3"/>
          <p:cNvSpPr txBox="1">
            <a:spLocks noGrp="1"/>
          </p:cNvSpPr>
          <p:nvPr>
            <p:ph type="title"/>
          </p:nvPr>
        </p:nvSpPr>
        <p:spPr>
          <a:xfrm>
            <a:off x="1524000" y="304800"/>
            <a:ext cx="6312921" cy="598274"/>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3812"/>
              <a:buFont typeface="Calibri"/>
              <a:buNone/>
            </a:pPr>
            <a:r>
              <a:rPr lang="en-US" sz="3812"/>
              <a:t>3.1.	Giải thuật tập trung	(1)</a:t>
            </a:r>
            <a:endParaRPr/>
          </a:p>
        </p:txBody>
      </p:sp>
      <p:sp>
        <p:nvSpPr>
          <p:cNvPr id="388" name="Google Shape;388;p33"/>
          <p:cNvSpPr/>
          <p:nvPr/>
        </p:nvSpPr>
        <p:spPr>
          <a:xfrm>
            <a:off x="1529443" y="2057400"/>
            <a:ext cx="4063370" cy="359288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389" name="Google Shape;389;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34</a:t>
            </a:fld>
            <a:endParaRPr/>
          </a:p>
        </p:txBody>
      </p:sp>
      <p:sp>
        <p:nvSpPr>
          <p:cNvPr id="390" name="Google Shape;390;p33"/>
          <p:cNvSpPr txBox="1"/>
          <p:nvPr/>
        </p:nvSpPr>
        <p:spPr>
          <a:xfrm>
            <a:off x="5557158" y="2228671"/>
            <a:ext cx="6106884"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Giả sử mỗi tiến trình có một ID duy nhất. </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Tiến trình được bầu chọn làm điều phối (Coordinator) là tiến trình có số ID cao nhất.</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4"/>
          <p:cNvSpPr txBox="1">
            <a:spLocks noGrp="1"/>
          </p:cNvSpPr>
          <p:nvPr>
            <p:ph type="title"/>
          </p:nvPr>
        </p:nvSpPr>
        <p:spPr>
          <a:xfrm>
            <a:off x="1219200" y="237797"/>
            <a:ext cx="5468625" cy="598274"/>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3812"/>
              <a:buFont typeface="Calibri"/>
              <a:buNone/>
            </a:pPr>
            <a:r>
              <a:rPr lang="en-US" sz="3812"/>
              <a:t>Giải thuật tập trung	(2)</a:t>
            </a:r>
            <a:endParaRPr/>
          </a:p>
        </p:txBody>
      </p:sp>
      <p:sp>
        <p:nvSpPr>
          <p:cNvPr id="397" name="Google Shape;397;p34"/>
          <p:cNvSpPr/>
          <p:nvPr/>
        </p:nvSpPr>
        <p:spPr>
          <a:xfrm>
            <a:off x="1219200" y="1905000"/>
            <a:ext cx="3483967" cy="366095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398" name="Google Shape;39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35</a:t>
            </a:fld>
            <a:endParaRPr/>
          </a:p>
        </p:txBody>
      </p:sp>
      <p:pic>
        <p:nvPicPr>
          <p:cNvPr id="399" name="Google Shape;399;p34"/>
          <p:cNvPicPr preferRelativeResize="0"/>
          <p:nvPr/>
        </p:nvPicPr>
        <p:blipFill rotWithShape="1">
          <a:blip r:embed="rId4">
            <a:alphaModFix/>
          </a:blip>
          <a:srcRect/>
          <a:stretch/>
        </p:blipFill>
        <p:spPr>
          <a:xfrm>
            <a:off x="7467064" y="1943100"/>
            <a:ext cx="2889754" cy="367011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5"/>
          <p:cNvSpPr txBox="1">
            <a:spLocks noGrp="1"/>
          </p:cNvSpPr>
          <p:nvPr>
            <p:ph type="title"/>
          </p:nvPr>
        </p:nvSpPr>
        <p:spPr>
          <a:xfrm>
            <a:off x="1192050" y="228600"/>
            <a:ext cx="6383025" cy="598274"/>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3812"/>
              <a:buFont typeface="Calibri"/>
              <a:buNone/>
            </a:pPr>
            <a:r>
              <a:rPr lang="en-US" sz="3812"/>
              <a:t>Giải thuật tập trung	(3)</a:t>
            </a:r>
            <a:endParaRPr/>
          </a:p>
        </p:txBody>
      </p:sp>
      <p:sp>
        <p:nvSpPr>
          <p:cNvPr id="405" name="Google Shape;405;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36</a:t>
            </a:fld>
            <a:endParaRPr/>
          </a:p>
        </p:txBody>
      </p:sp>
      <p:sp>
        <p:nvSpPr>
          <p:cNvPr id="406" name="Google Shape;406;p35"/>
          <p:cNvSpPr txBox="1"/>
          <p:nvPr/>
        </p:nvSpPr>
        <p:spPr>
          <a:xfrm>
            <a:off x="1192050" y="1600200"/>
            <a:ext cx="9933150" cy="41549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b="1" u="sng">
                <a:solidFill>
                  <a:schemeClr val="dk1"/>
                </a:solidFill>
                <a:latin typeface="Calibri"/>
                <a:ea typeface="Calibri"/>
                <a:cs typeface="Calibri"/>
                <a:sym typeface="Calibri"/>
              </a:rPr>
              <a:t>Ưu điểm:</a:t>
            </a:r>
            <a:endParaRPr/>
          </a:p>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Giải thuật đảm bảo sự loại trừ lẫn nhau: bộ điều phối chỉ để một tiến trình truy cập tài nguyên trong 1 thời điểm.</a:t>
            </a:r>
            <a:endParaRPr/>
          </a:p>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Không có tiến trình nào phải đợi vô thời hạn.</a:t>
            </a:r>
            <a:endParaRPr/>
          </a:p>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Dễ thực thi vì chỉ yêu cầu 3 thông điệp (yêu cầu – cho phép – giải phóng) cho mỗi lần sử dụng tài nguyên</a:t>
            </a:r>
            <a:endParaRPr sz="2400">
              <a:solidFill>
                <a:schemeClr val="dk1"/>
              </a:solidFill>
              <a:latin typeface="Calibri"/>
              <a:ea typeface="Calibri"/>
              <a:cs typeface="Calibri"/>
              <a:sym typeface="Calibri"/>
            </a:endParaRPr>
          </a:p>
          <a:p>
            <a:pPr marL="342900" marR="0" lvl="0" indent="-190500" algn="just"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0" marR="0" lvl="0" indent="0" algn="just" rtl="0">
              <a:spcBef>
                <a:spcPts val="0"/>
              </a:spcBef>
              <a:spcAft>
                <a:spcPts val="0"/>
              </a:spcAft>
              <a:buNone/>
            </a:pPr>
            <a:r>
              <a:rPr lang="en-US" sz="2400" b="1" u="sng">
                <a:solidFill>
                  <a:schemeClr val="dk1"/>
                </a:solidFill>
                <a:latin typeface="Calibri"/>
                <a:ea typeface="Calibri"/>
                <a:cs typeface="Calibri"/>
                <a:sym typeface="Calibri"/>
              </a:rPr>
              <a:t>Nhược điểm:</a:t>
            </a:r>
            <a:endParaRPr/>
          </a:p>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Nếu tiến trình điều phối bị hỏng =&gt; hệ thống sụp đổ . </a:t>
            </a:r>
            <a:endParaRPr/>
          </a:p>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Đối với hệ thống lớn, nếu chỉ có một tiến trình điều phối sẽ dẫn tới hiện tượng thắt cổ chai</a:t>
            </a:r>
            <a:endParaRPr sz="24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6"/>
          <p:cNvSpPr txBox="1">
            <a:spLocks noGrp="1"/>
          </p:cNvSpPr>
          <p:nvPr>
            <p:ph type="title"/>
          </p:nvPr>
        </p:nvSpPr>
        <p:spPr>
          <a:xfrm>
            <a:off x="1143000" y="228600"/>
            <a:ext cx="5775704"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3.2. Giải thuật phân tán (1)</a:t>
            </a:r>
            <a:endParaRPr/>
          </a:p>
        </p:txBody>
      </p:sp>
      <p:sp>
        <p:nvSpPr>
          <p:cNvPr id="413" name="Google Shape;413;p36"/>
          <p:cNvSpPr txBox="1"/>
          <p:nvPr/>
        </p:nvSpPr>
        <p:spPr>
          <a:xfrm>
            <a:off x="1159328" y="1905000"/>
            <a:ext cx="9813471" cy="3354491"/>
          </a:xfrm>
          <a:prstGeom prst="rect">
            <a:avLst/>
          </a:prstGeom>
          <a:noFill/>
          <a:ln>
            <a:noFill/>
          </a:ln>
        </p:spPr>
        <p:txBody>
          <a:bodyPr spcFirstLastPara="1" wrap="square" lIns="0" tIns="51275" rIns="0" bIns="0" anchor="t" anchorCtr="0">
            <a:spAutoFit/>
          </a:bodyPr>
          <a:lstStyle/>
          <a:p>
            <a:pPr marL="315827" marR="168864" lvl="0" indent="-304876" algn="just" rtl="0">
              <a:lnSpc>
                <a:spcPct val="103392"/>
              </a:lnSpc>
              <a:spcBef>
                <a:spcPts val="0"/>
              </a:spcBef>
              <a:spcAft>
                <a:spcPts val="0"/>
              </a:spcAft>
              <a:buClr>
                <a:srgbClr val="DD8047"/>
              </a:buClr>
              <a:buSzPts val="1738"/>
              <a:buFont typeface="Noto Sans Symbols"/>
              <a:buChar char="◻"/>
            </a:pPr>
            <a:r>
              <a:rPr lang="en-US" sz="2800">
                <a:solidFill>
                  <a:schemeClr val="dk1"/>
                </a:solidFill>
                <a:latin typeface="Calibri"/>
                <a:ea typeface="Calibri"/>
                <a:cs typeface="Calibri"/>
                <a:sym typeface="Calibri"/>
              </a:rPr>
              <a:t>Muốn vào dùng tài nguyên =&gt; quảng bá thông điệp request (bao gồm tên của tài nguyên, số xử lý của nó và </a:t>
            </a:r>
            <a:r>
              <a:rPr lang="en-US" sz="2800" i="1" u="sng">
                <a:solidFill>
                  <a:schemeClr val="dk1"/>
                </a:solidFill>
                <a:latin typeface="Calibri"/>
                <a:ea typeface="Calibri"/>
                <a:cs typeface="Calibri"/>
                <a:sym typeface="Calibri"/>
              </a:rPr>
              <a:t>thời gian theo logic hiện tại</a:t>
            </a:r>
            <a:r>
              <a:rPr lang="en-US" sz="2800">
                <a:solidFill>
                  <a:schemeClr val="dk1"/>
                </a:solidFill>
                <a:latin typeface="Calibri"/>
                <a:ea typeface="Calibri"/>
                <a:cs typeface="Calibri"/>
                <a:sym typeface="Calibri"/>
              </a:rPr>
              <a:t>)</a:t>
            </a:r>
            <a:endParaRPr sz="2800">
              <a:solidFill>
                <a:schemeClr val="dk1"/>
              </a:solidFill>
              <a:latin typeface="Calibri"/>
              <a:ea typeface="Calibri"/>
              <a:cs typeface="Calibri"/>
              <a:sym typeface="Calibri"/>
            </a:endParaRPr>
          </a:p>
          <a:p>
            <a:pPr marL="315827" marR="0" lvl="0" indent="-304876" algn="just" rtl="0">
              <a:spcBef>
                <a:spcPts val="340"/>
              </a:spcBef>
              <a:spcAft>
                <a:spcPts val="0"/>
              </a:spcAft>
              <a:buClr>
                <a:srgbClr val="DD8047"/>
              </a:buClr>
              <a:buSzPts val="1738"/>
              <a:buFont typeface="Noto Sans Symbols"/>
              <a:buChar char="◻"/>
            </a:pPr>
            <a:r>
              <a:rPr lang="en-US" sz="2800">
                <a:solidFill>
                  <a:schemeClr val="dk1"/>
                </a:solidFill>
                <a:latin typeface="Calibri"/>
                <a:ea typeface="Calibri"/>
                <a:cs typeface="Calibri"/>
                <a:sym typeface="Calibri"/>
              </a:rPr>
              <a:t>Với mỗi tiến trình nhận được request:</a:t>
            </a:r>
            <a:endParaRPr sz="2800">
              <a:solidFill>
                <a:schemeClr val="dk1"/>
              </a:solidFill>
              <a:latin typeface="Calibri"/>
              <a:ea typeface="Calibri"/>
              <a:cs typeface="Calibri"/>
              <a:sym typeface="Calibri"/>
            </a:endParaRPr>
          </a:p>
          <a:p>
            <a:pPr marL="621279" marR="4611" lvl="1" indent="-260499" algn="just" rtl="0">
              <a:lnSpc>
                <a:spcPct val="106250"/>
              </a:lnSpc>
              <a:spcBef>
                <a:spcPts val="703"/>
              </a:spcBef>
              <a:spcAft>
                <a:spcPts val="0"/>
              </a:spcAft>
              <a:buClr>
                <a:srgbClr val="94B6D2"/>
              </a:buClr>
              <a:buSzPts val="1662"/>
              <a:buFont typeface="Calibri"/>
              <a:buAutoNum type="arabicPeriod"/>
            </a:pPr>
            <a:r>
              <a:rPr lang="en-US" sz="2400" b="0" i="0" u="none" strike="noStrike" cap="none">
                <a:solidFill>
                  <a:schemeClr val="dk1"/>
                </a:solidFill>
                <a:latin typeface="Calibri"/>
                <a:ea typeface="Calibri"/>
                <a:cs typeface="Calibri"/>
                <a:sym typeface="Calibri"/>
              </a:rPr>
              <a:t>Nếu đang không dùng và không muốn dùng TN: Trả lời OK</a:t>
            </a:r>
            <a:endParaRPr sz="2400" b="0" i="0" u="none" strike="noStrike" cap="none">
              <a:solidFill>
                <a:schemeClr val="dk1"/>
              </a:solidFill>
              <a:latin typeface="Calibri"/>
              <a:ea typeface="Calibri"/>
              <a:cs typeface="Calibri"/>
              <a:sym typeface="Calibri"/>
            </a:endParaRPr>
          </a:p>
          <a:p>
            <a:pPr marL="621279" marR="0" lvl="1" indent="-261076" algn="just" rtl="0">
              <a:spcBef>
                <a:spcPts val="286"/>
              </a:spcBef>
              <a:spcAft>
                <a:spcPts val="0"/>
              </a:spcAft>
              <a:buClr>
                <a:srgbClr val="94B6D2"/>
              </a:buClr>
              <a:buSzPts val="1662"/>
              <a:buFont typeface="Calibri"/>
              <a:buAutoNum type="arabicPeriod"/>
            </a:pPr>
            <a:r>
              <a:rPr lang="en-US" sz="2400" b="0" i="0" u="none" strike="noStrike" cap="none">
                <a:solidFill>
                  <a:schemeClr val="dk1"/>
                </a:solidFill>
                <a:latin typeface="Calibri"/>
                <a:ea typeface="Calibri"/>
                <a:cs typeface="Calibri"/>
                <a:sym typeface="Calibri"/>
              </a:rPr>
              <a:t>Nếu đang dùng: không trả lời và lưu vào hàng đợi</a:t>
            </a:r>
            <a:endParaRPr sz="2400" b="0" i="0" u="none" strike="noStrike" cap="none">
              <a:solidFill>
                <a:schemeClr val="dk1"/>
              </a:solidFill>
              <a:latin typeface="Calibri"/>
              <a:ea typeface="Calibri"/>
              <a:cs typeface="Calibri"/>
              <a:sym typeface="Calibri"/>
            </a:endParaRPr>
          </a:p>
          <a:p>
            <a:pPr marL="621279" marR="71464" lvl="1" indent="-260499" algn="just" rtl="0">
              <a:lnSpc>
                <a:spcPct val="106250"/>
              </a:lnSpc>
              <a:spcBef>
                <a:spcPts val="667"/>
              </a:spcBef>
              <a:spcAft>
                <a:spcPts val="0"/>
              </a:spcAft>
              <a:buClr>
                <a:srgbClr val="94B6D2"/>
              </a:buClr>
              <a:buSzPts val="1662"/>
              <a:buFont typeface="Calibri"/>
              <a:buAutoNum type="arabicPeriod"/>
            </a:pPr>
            <a:r>
              <a:rPr lang="en-US" sz="2400" b="0" i="0" u="none" strike="noStrike" cap="none">
                <a:solidFill>
                  <a:schemeClr val="dk1"/>
                </a:solidFill>
                <a:latin typeface="Calibri"/>
                <a:ea typeface="Calibri"/>
                <a:cs typeface="Calibri"/>
                <a:sym typeface="Calibri"/>
              </a:rPr>
              <a:t>Nếu đang không dùng nhưng cũng muốn dùng: so sánh timestamp</a:t>
            </a:r>
            <a:endParaRPr sz="2400" b="0" i="0" u="none" strike="noStrike" cap="none">
              <a:solidFill>
                <a:schemeClr val="dk1"/>
              </a:solidFill>
              <a:latin typeface="Calibri"/>
              <a:ea typeface="Calibri"/>
              <a:cs typeface="Calibri"/>
              <a:sym typeface="Calibri"/>
            </a:endParaRPr>
          </a:p>
          <a:p>
            <a:pPr marL="315827" marR="246668" lvl="0" indent="-304876" algn="just" rtl="0">
              <a:lnSpc>
                <a:spcPct val="104357"/>
              </a:lnSpc>
              <a:spcBef>
                <a:spcPts val="681"/>
              </a:spcBef>
              <a:spcAft>
                <a:spcPts val="0"/>
              </a:spcAft>
              <a:buClr>
                <a:srgbClr val="DD8047"/>
              </a:buClr>
              <a:buSzPts val="1738"/>
              <a:buFont typeface="Noto Sans Symbols"/>
              <a:buChar char="◻"/>
            </a:pPr>
            <a:r>
              <a:rPr lang="en-US" sz="2800">
                <a:solidFill>
                  <a:schemeClr val="dk1"/>
                </a:solidFill>
                <a:latin typeface="Calibri"/>
                <a:ea typeface="Calibri"/>
                <a:cs typeface="Calibri"/>
                <a:sym typeface="Calibri"/>
              </a:rPr>
              <a:t>Chỉ vào dùng TN khi nhận đủ các OK của các tiến trình khác</a:t>
            </a:r>
            <a:endParaRPr sz="2800">
              <a:solidFill>
                <a:schemeClr val="dk1"/>
              </a:solidFill>
              <a:latin typeface="Calibri"/>
              <a:ea typeface="Calibri"/>
              <a:cs typeface="Calibri"/>
              <a:sym typeface="Calibri"/>
            </a:endParaRPr>
          </a:p>
        </p:txBody>
      </p:sp>
      <p:sp>
        <p:nvSpPr>
          <p:cNvPr id="414" name="Google Shape;414;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37"/>
          <p:cNvSpPr txBox="1">
            <a:spLocks noGrp="1"/>
          </p:cNvSpPr>
          <p:nvPr>
            <p:ph type="title"/>
          </p:nvPr>
        </p:nvSpPr>
        <p:spPr>
          <a:xfrm>
            <a:off x="1066800" y="228600"/>
            <a:ext cx="4839212"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Giải thuật phân tán (2)</a:t>
            </a:r>
            <a:endParaRPr/>
          </a:p>
        </p:txBody>
      </p:sp>
      <p:sp>
        <p:nvSpPr>
          <p:cNvPr id="420" name="Google Shape;420;p37"/>
          <p:cNvSpPr/>
          <p:nvPr/>
        </p:nvSpPr>
        <p:spPr>
          <a:xfrm>
            <a:off x="1083129" y="1947784"/>
            <a:ext cx="3108795" cy="386670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21" name="Google Shape;421;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38</a:t>
            </a:fld>
            <a:endParaRPr/>
          </a:p>
        </p:txBody>
      </p:sp>
      <p:sp>
        <p:nvSpPr>
          <p:cNvPr id="422" name="Google Shape;422;p37"/>
          <p:cNvSpPr txBox="1"/>
          <p:nvPr/>
        </p:nvSpPr>
        <p:spPr>
          <a:xfrm>
            <a:off x="4648200" y="2316917"/>
            <a:ext cx="6106884" cy="193899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rgbClr val="1B1B1B"/>
              </a:buClr>
              <a:buSzPts val="2400"/>
              <a:buFont typeface="Arial"/>
              <a:buChar char="•"/>
            </a:pPr>
            <a:r>
              <a:rPr lang="en-US" sz="2400" b="0" i="0">
                <a:solidFill>
                  <a:srgbClr val="1B1B1B"/>
                </a:solidFill>
                <a:latin typeface="Calibri"/>
                <a:ea typeface="Calibri"/>
                <a:cs typeface="Calibri"/>
                <a:sym typeface="Calibri"/>
              </a:rPr>
              <a:t>Tiến trình 0 gửi 1 yêu cầu với timestamp = 8 đến tất cả các tiến trình.</a:t>
            </a:r>
            <a:endParaRPr sz="2400" b="0" i="0">
              <a:solidFill>
                <a:srgbClr val="1B1B1B"/>
              </a:solidFill>
              <a:latin typeface="Calibri"/>
              <a:ea typeface="Calibri"/>
              <a:cs typeface="Calibri"/>
              <a:sym typeface="Calibri"/>
            </a:endParaRPr>
          </a:p>
          <a:p>
            <a:pPr marL="342900" marR="0" lvl="0" indent="-190500" algn="l" rtl="0">
              <a:spcBef>
                <a:spcPts val="0"/>
              </a:spcBef>
              <a:spcAft>
                <a:spcPts val="0"/>
              </a:spcAft>
              <a:buClr>
                <a:schemeClr val="dk1"/>
              </a:buClr>
              <a:buSzPts val="2400"/>
              <a:buFont typeface="Arial"/>
              <a:buNone/>
            </a:pPr>
            <a:endParaRPr sz="2400" b="0" i="0">
              <a:solidFill>
                <a:srgbClr val="1B1B1B"/>
              </a:solidFill>
              <a:latin typeface="Calibri"/>
              <a:ea typeface="Calibri"/>
              <a:cs typeface="Calibri"/>
              <a:sym typeface="Calibri"/>
            </a:endParaRPr>
          </a:p>
          <a:p>
            <a:pPr marL="342900" marR="0" lvl="0" indent="-342900" algn="l" rtl="0">
              <a:spcBef>
                <a:spcPts val="0"/>
              </a:spcBef>
              <a:spcAft>
                <a:spcPts val="0"/>
              </a:spcAft>
              <a:buClr>
                <a:srgbClr val="1B1B1B"/>
              </a:buClr>
              <a:buSzPts val="2400"/>
              <a:buFont typeface="Arial"/>
              <a:buChar char="•"/>
            </a:pPr>
            <a:r>
              <a:rPr lang="en-US" sz="2400" b="0" i="0">
                <a:solidFill>
                  <a:srgbClr val="1B1B1B"/>
                </a:solidFill>
                <a:latin typeface="Calibri"/>
                <a:ea typeface="Calibri"/>
                <a:cs typeface="Calibri"/>
                <a:sym typeface="Calibri"/>
              </a:rPr>
              <a:t>Trong cùng thời điểm đó, tiến trình 2 cũng làm tương tự với timestamp = 12</a:t>
            </a:r>
            <a:endParaRPr/>
          </a:p>
        </p:txBody>
      </p:sp>
      <p:sp>
        <p:nvSpPr>
          <p:cNvPr id="423" name="Google Shape;423;p37"/>
          <p:cNvSpPr txBox="1"/>
          <p:nvPr/>
        </p:nvSpPr>
        <p:spPr>
          <a:xfrm>
            <a:off x="1066800" y="1486119"/>
            <a:ext cx="84189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Ví dụ</a:t>
            </a:r>
            <a:endParaRPr sz="2400" b="1">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38"/>
          <p:cNvSpPr txBox="1">
            <a:spLocks noGrp="1"/>
          </p:cNvSpPr>
          <p:nvPr>
            <p:ph type="title"/>
          </p:nvPr>
        </p:nvSpPr>
        <p:spPr>
          <a:xfrm>
            <a:off x="1090289" y="186636"/>
            <a:ext cx="4839212"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Giải thuật phân tán (3)</a:t>
            </a:r>
            <a:endParaRPr/>
          </a:p>
        </p:txBody>
      </p:sp>
      <p:sp>
        <p:nvSpPr>
          <p:cNvPr id="429" name="Google Shape;429;p38"/>
          <p:cNvSpPr/>
          <p:nvPr/>
        </p:nvSpPr>
        <p:spPr>
          <a:xfrm>
            <a:off x="1125176" y="1600200"/>
            <a:ext cx="2960535" cy="386670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30" name="Google Shape;43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39</a:t>
            </a:fld>
            <a:endParaRPr/>
          </a:p>
        </p:txBody>
      </p:sp>
      <p:sp>
        <p:nvSpPr>
          <p:cNvPr id="431" name="Google Shape;431;p38"/>
          <p:cNvSpPr txBox="1"/>
          <p:nvPr/>
        </p:nvSpPr>
        <p:spPr>
          <a:xfrm>
            <a:off x="4800600" y="2459504"/>
            <a:ext cx="6106884" cy="1938992"/>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Tiến trình 1 không muốn truy cập tài nguyên, vì thế nó gửi OK đến cả 2 bên gửi.</a:t>
            </a:r>
            <a:endParaRPr/>
          </a:p>
          <a:p>
            <a:pPr marL="342900" marR="0" lvl="0" indent="-190500" algn="just"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Cả tiến trình 0 và 2 nhận ra sự xung đột và cùng so sánh timestamp.</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9"/>
          <p:cNvSpPr txBox="1">
            <a:spLocks noGrp="1"/>
          </p:cNvSpPr>
          <p:nvPr>
            <p:ph type="title"/>
          </p:nvPr>
        </p:nvSpPr>
        <p:spPr>
          <a:xfrm>
            <a:off x="838200" y="228600"/>
            <a:ext cx="4839212"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Giải thuật phân tán (4)</a:t>
            </a:r>
            <a:endParaRPr/>
          </a:p>
        </p:txBody>
      </p:sp>
      <p:sp>
        <p:nvSpPr>
          <p:cNvPr id="437" name="Google Shape;437;p39"/>
          <p:cNvSpPr/>
          <p:nvPr/>
        </p:nvSpPr>
        <p:spPr>
          <a:xfrm>
            <a:off x="206286" y="1538009"/>
            <a:ext cx="5040630" cy="378198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38" name="Google Shape;438;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40</a:t>
            </a:fld>
            <a:endParaRPr/>
          </a:p>
        </p:txBody>
      </p:sp>
      <p:sp>
        <p:nvSpPr>
          <p:cNvPr id="439" name="Google Shape;439;p39"/>
          <p:cNvSpPr txBox="1"/>
          <p:nvPr/>
        </p:nvSpPr>
        <p:spPr>
          <a:xfrm>
            <a:off x="5557158" y="2274837"/>
            <a:ext cx="6106884" cy="2677656"/>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Tiến trình 0 truy cập vào tài nguyên và xếp tiến trình 2 vào hàng đợi của 0 để xử lý và truy cập tài nguyên.</a:t>
            </a:r>
            <a:endParaRPr/>
          </a:p>
          <a:p>
            <a:pPr marL="342900" marR="0" lvl="0" indent="-190500" algn="just"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Sau khi kết thúc, 0 loại bỏ yêu cầu từ tiến trình 2 khỏi queue của nó và gửi thông điệp OK đến tiến trình 2 và cho phép 2 thực hiện.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0"/>
          <p:cNvSpPr txBox="1">
            <a:spLocks noGrp="1"/>
          </p:cNvSpPr>
          <p:nvPr>
            <p:ph type="title"/>
          </p:nvPr>
        </p:nvSpPr>
        <p:spPr>
          <a:xfrm>
            <a:off x="838200" y="228600"/>
            <a:ext cx="4839212"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Giải thuật phân tán (5)</a:t>
            </a:r>
            <a:endParaRPr/>
          </a:p>
        </p:txBody>
      </p:sp>
      <p:sp>
        <p:nvSpPr>
          <p:cNvPr id="445" name="Google Shape;445;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41</a:t>
            </a:fld>
            <a:endParaRPr/>
          </a:p>
        </p:txBody>
      </p:sp>
      <p:sp>
        <p:nvSpPr>
          <p:cNvPr id="446" name="Google Shape;446;p40"/>
          <p:cNvSpPr txBox="1"/>
          <p:nvPr/>
        </p:nvSpPr>
        <p:spPr>
          <a:xfrm>
            <a:off x="1295400" y="2133600"/>
            <a:ext cx="9829800" cy="2677656"/>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Khi tổng số lượng tiến trình trong hệ thống là n thì yêu cầu 2(n-1) thông điệp cho mỗi thực thể .</a:t>
            </a:r>
            <a:endParaRPr sz="2400">
              <a:solidFill>
                <a:schemeClr val="dk1"/>
              </a:solidFill>
              <a:latin typeface="Calibri"/>
              <a:ea typeface="Calibri"/>
              <a:cs typeface="Calibri"/>
              <a:sym typeface="Calibri"/>
            </a:endParaRPr>
          </a:p>
          <a:p>
            <a:pPr marL="342900" marR="0" lvl="0" indent="-190500" algn="just"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Nếu bất cứ 1 tiến trình nào lỗi, nó sẽ gây lỗi thông điệp phản hồi yêu cầu và khiến toàn bộ các tiến trình tiến vào vùng giới hạn</a:t>
            </a:r>
            <a:endParaRPr sz="2400">
              <a:solidFill>
                <a:schemeClr val="dk1"/>
              </a:solidFill>
              <a:latin typeface="Calibri"/>
              <a:ea typeface="Calibri"/>
              <a:cs typeface="Calibri"/>
              <a:sym typeface="Calibri"/>
            </a:endParaRPr>
          </a:p>
          <a:p>
            <a:pPr marL="342900" marR="0" lvl="0" indent="-190500" algn="just"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a:p>
            <a:pPr marL="342900" marR="0" lvl="0" indent="-342900" algn="just"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Chậm, phức tạp và chi phí đắt so với thuật toán tập trung</a:t>
            </a:r>
            <a:endParaRPr sz="24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41"/>
          <p:cNvSpPr txBox="1">
            <a:spLocks noGrp="1"/>
          </p:cNvSpPr>
          <p:nvPr>
            <p:ph type="title"/>
          </p:nvPr>
        </p:nvSpPr>
        <p:spPr>
          <a:xfrm>
            <a:off x="990600" y="152400"/>
            <a:ext cx="5685224"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3.3. Giải thuật Token Ring</a:t>
            </a:r>
            <a:endParaRPr/>
          </a:p>
        </p:txBody>
      </p:sp>
      <p:sp>
        <p:nvSpPr>
          <p:cNvPr id="452" name="Google Shape;452;p41"/>
          <p:cNvSpPr/>
          <p:nvPr/>
        </p:nvSpPr>
        <p:spPr>
          <a:xfrm>
            <a:off x="2418440" y="1925288"/>
            <a:ext cx="7488324" cy="284253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53" name="Google Shape;45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42</a:t>
            </a:fld>
            <a:endParaRPr/>
          </a:p>
        </p:txBody>
      </p:sp>
      <p:sp>
        <p:nvSpPr>
          <p:cNvPr id="454" name="Google Shape;454;p41"/>
          <p:cNvSpPr txBox="1"/>
          <p:nvPr/>
        </p:nvSpPr>
        <p:spPr>
          <a:xfrm>
            <a:off x="1476302" y="5082518"/>
            <a:ext cx="9372600"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Calibri"/>
                <a:ea typeface="Calibri"/>
                <a:cs typeface="Calibri"/>
                <a:sym typeface="Calibri"/>
              </a:rPr>
              <a:t>Giả sử tất cả các tiến trình được sắp xếp trên một vòng tròn logic, các tiến trình đều được đánh số và đều biết các tiến trình cạnh nó.</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42"/>
          <p:cNvSpPr txBox="1">
            <a:spLocks noGrp="1"/>
          </p:cNvSpPr>
          <p:nvPr>
            <p:ph type="title"/>
          </p:nvPr>
        </p:nvSpPr>
        <p:spPr>
          <a:xfrm>
            <a:off x="1066800" y="287548"/>
            <a:ext cx="5243200"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Token Ring algorithm</a:t>
            </a:r>
            <a:endParaRPr/>
          </a:p>
        </p:txBody>
      </p:sp>
      <p:sp>
        <p:nvSpPr>
          <p:cNvPr id="460" name="Google Shape;460;p42"/>
          <p:cNvSpPr txBox="1"/>
          <p:nvPr/>
        </p:nvSpPr>
        <p:spPr>
          <a:xfrm>
            <a:off x="1251525" y="1627435"/>
            <a:ext cx="7021748" cy="4030740"/>
          </a:xfrm>
          <a:prstGeom prst="rect">
            <a:avLst/>
          </a:prstGeom>
          <a:noFill/>
          <a:ln>
            <a:noFill/>
          </a:ln>
        </p:spPr>
        <p:txBody>
          <a:bodyPr spcFirstLastPara="1" wrap="square" lIns="0" tIns="93925" rIns="0" bIns="0" anchor="t" anchorCtr="0">
            <a:spAutoFit/>
          </a:bodyPr>
          <a:lstStyle/>
          <a:p>
            <a:pPr marL="338880" marR="0" lvl="0" indent="-304876" algn="just" rtl="0">
              <a:spcBef>
                <a:spcPts val="0"/>
              </a:spcBef>
              <a:spcAft>
                <a:spcPts val="0"/>
              </a:spcAft>
              <a:buClr>
                <a:srgbClr val="DD8047"/>
              </a:buClr>
              <a:buSzPts val="1634"/>
              <a:buFont typeface="Noto Sans Symbols"/>
              <a:buChar char="◻"/>
            </a:pPr>
            <a:r>
              <a:rPr lang="en-US" sz="2632">
                <a:solidFill>
                  <a:schemeClr val="dk1"/>
                </a:solidFill>
                <a:latin typeface="Calibri"/>
                <a:ea typeface="Calibri"/>
                <a:cs typeface="Calibri"/>
                <a:sym typeface="Calibri"/>
              </a:rPr>
              <a:t>Khởi đầu</a:t>
            </a:r>
            <a:endParaRPr sz="2632">
              <a:solidFill>
                <a:schemeClr val="dk1"/>
              </a:solidFill>
              <a:latin typeface="Calibri"/>
              <a:ea typeface="Calibri"/>
              <a:cs typeface="Calibri"/>
              <a:sym typeface="Calibri"/>
            </a:endParaRPr>
          </a:p>
          <a:p>
            <a:pPr marL="800100" marR="27664" lvl="2" indent="-342900" algn="just" rtl="0">
              <a:spcBef>
                <a:spcPts val="558"/>
              </a:spcBef>
              <a:spcAft>
                <a:spcPts val="0"/>
              </a:spcAft>
              <a:buClr>
                <a:srgbClr val="94B6D2"/>
              </a:buClr>
              <a:buSzPts val="1634"/>
              <a:buFont typeface="Arial"/>
              <a:buChar char="•"/>
            </a:pPr>
            <a:r>
              <a:rPr lang="en-US" sz="2269" b="0" i="0" u="none" strike="noStrike" cap="none">
                <a:solidFill>
                  <a:schemeClr val="dk1"/>
                </a:solidFill>
                <a:latin typeface="Calibri"/>
                <a:ea typeface="Calibri"/>
                <a:cs typeface="Calibri"/>
                <a:sym typeface="Calibri"/>
              </a:rPr>
              <a:t>Tiến </a:t>
            </a:r>
            <a:r>
              <a:rPr lang="en-US" sz="2632" b="0" i="0" u="none" strike="noStrike" cap="none">
                <a:solidFill>
                  <a:schemeClr val="dk1"/>
                </a:solidFill>
                <a:latin typeface="Calibri"/>
                <a:ea typeface="Calibri"/>
                <a:cs typeface="Calibri"/>
                <a:sym typeface="Calibri"/>
              </a:rPr>
              <a:t>trình</a:t>
            </a:r>
            <a:r>
              <a:rPr lang="en-US" sz="2269" b="0" i="0" u="none" strike="noStrike" cap="none">
                <a:solidFill>
                  <a:schemeClr val="dk1"/>
                </a:solidFill>
                <a:latin typeface="Calibri"/>
                <a:ea typeface="Calibri"/>
                <a:cs typeface="Calibri"/>
                <a:sym typeface="Calibri"/>
              </a:rPr>
              <a:t> P0 có token để vào sử dụng TN</a:t>
            </a:r>
            <a:endParaRPr/>
          </a:p>
          <a:p>
            <a:pPr marL="304300" marR="50717" lvl="0" indent="-304300" algn="just" rtl="0">
              <a:spcBef>
                <a:spcPts val="726"/>
              </a:spcBef>
              <a:spcAft>
                <a:spcPts val="0"/>
              </a:spcAft>
              <a:buClr>
                <a:srgbClr val="DD8047"/>
              </a:buClr>
              <a:buSzPts val="1634"/>
              <a:buFont typeface="Noto Sans Symbols"/>
              <a:buChar char="◻"/>
            </a:pPr>
            <a:r>
              <a:rPr lang="en-US" sz="2632">
                <a:solidFill>
                  <a:schemeClr val="dk1"/>
                </a:solidFill>
                <a:latin typeface="Calibri"/>
                <a:ea typeface="Calibri"/>
                <a:cs typeface="Calibri"/>
                <a:sym typeface="Calibri"/>
              </a:rPr>
              <a:t>Token được truyền đi trong vòng topo</a:t>
            </a:r>
            <a:endParaRPr sz="2632">
              <a:solidFill>
                <a:schemeClr val="dk1"/>
              </a:solidFill>
              <a:latin typeface="Calibri"/>
              <a:ea typeface="Calibri"/>
              <a:cs typeface="Calibri"/>
              <a:sym typeface="Calibri"/>
            </a:endParaRPr>
          </a:p>
          <a:p>
            <a:pPr marL="726156" marR="0" lvl="1" indent="-342900" algn="just" rtl="0">
              <a:spcBef>
                <a:spcPts val="667"/>
              </a:spcBef>
              <a:spcAft>
                <a:spcPts val="0"/>
              </a:spcAft>
              <a:buClr>
                <a:srgbClr val="94B6D2"/>
              </a:buClr>
              <a:buSzPts val="1634"/>
              <a:buFont typeface="Arial"/>
              <a:buChar char="•"/>
            </a:pPr>
            <a:r>
              <a:rPr lang="en-US" sz="2269" b="0" i="0" u="none" strike="noStrike" cap="none">
                <a:solidFill>
                  <a:schemeClr val="dk1"/>
                </a:solidFill>
                <a:latin typeface="Calibri"/>
                <a:ea typeface="Calibri"/>
                <a:cs typeface="Calibri"/>
                <a:sym typeface="Calibri"/>
              </a:rPr>
              <a:t>Từ P</a:t>
            </a:r>
            <a:r>
              <a:rPr lang="en-US" sz="2314" b="0" i="0" u="none" strike="noStrike" cap="none" baseline="-25000">
                <a:solidFill>
                  <a:schemeClr val="dk1"/>
                </a:solidFill>
                <a:latin typeface="Calibri"/>
                <a:ea typeface="Calibri"/>
                <a:cs typeface="Calibri"/>
                <a:sym typeface="Calibri"/>
              </a:rPr>
              <a:t>i </a:t>
            </a:r>
            <a:r>
              <a:rPr lang="en-US" sz="2269" b="0" i="0" u="none" strike="noStrike" cap="none">
                <a:solidFill>
                  <a:schemeClr val="dk1"/>
                </a:solidFill>
                <a:latin typeface="Calibri"/>
                <a:ea typeface="Calibri"/>
                <a:cs typeface="Calibri"/>
                <a:sym typeface="Calibri"/>
              </a:rPr>
              <a:t>truyền đến P</a:t>
            </a:r>
            <a:r>
              <a:rPr lang="en-US" sz="2314" b="0" i="0" u="none" strike="noStrike" cap="none" baseline="-25000">
                <a:solidFill>
                  <a:schemeClr val="dk1"/>
                </a:solidFill>
                <a:latin typeface="Calibri"/>
                <a:ea typeface="Calibri"/>
                <a:cs typeface="Calibri"/>
                <a:sym typeface="Calibri"/>
              </a:rPr>
              <a:t>(i+1)</a:t>
            </a:r>
            <a:r>
              <a:rPr lang="en-US" sz="2269" b="0" i="0" u="none" strike="noStrike" cap="none">
                <a:solidFill>
                  <a:schemeClr val="dk1"/>
                </a:solidFill>
                <a:latin typeface="Calibri"/>
                <a:ea typeface="Calibri"/>
                <a:cs typeface="Calibri"/>
                <a:sym typeface="Calibri"/>
              </a:rPr>
              <a:t>mod N</a:t>
            </a:r>
            <a:endParaRPr/>
          </a:p>
          <a:p>
            <a:pPr marL="338880" marR="0" lvl="0" indent="-304876" algn="just" rtl="0">
              <a:spcBef>
                <a:spcPts val="726"/>
              </a:spcBef>
              <a:spcAft>
                <a:spcPts val="0"/>
              </a:spcAft>
              <a:buClr>
                <a:srgbClr val="DD8047"/>
              </a:buClr>
              <a:buSzPts val="1634"/>
              <a:buFont typeface="Noto Sans Symbols"/>
              <a:buChar char="◻"/>
            </a:pPr>
            <a:r>
              <a:rPr lang="en-US" sz="2632">
                <a:solidFill>
                  <a:schemeClr val="dk1"/>
                </a:solidFill>
                <a:latin typeface="Calibri"/>
                <a:ea typeface="Calibri"/>
                <a:cs typeface="Calibri"/>
                <a:sym typeface="Calibri"/>
              </a:rPr>
              <a:t>Khi một tiến trình nhận được token:</a:t>
            </a:r>
            <a:endParaRPr sz="2632">
              <a:solidFill>
                <a:schemeClr val="dk1"/>
              </a:solidFill>
              <a:latin typeface="Calibri"/>
              <a:ea typeface="Calibri"/>
              <a:cs typeface="Calibri"/>
              <a:sym typeface="Calibri"/>
            </a:endParaRPr>
          </a:p>
          <a:p>
            <a:pPr marL="726733" marR="283552" lvl="1" indent="-342900" algn="just" rtl="0">
              <a:lnSpc>
                <a:spcPct val="103200"/>
              </a:lnSpc>
              <a:spcBef>
                <a:spcPts val="472"/>
              </a:spcBef>
              <a:spcAft>
                <a:spcPts val="0"/>
              </a:spcAft>
              <a:buClr>
                <a:srgbClr val="94B6D2"/>
              </a:buClr>
              <a:buSzPts val="1634"/>
              <a:buFont typeface="Arial"/>
              <a:buChar char="•"/>
            </a:pPr>
            <a:r>
              <a:rPr lang="en-US" sz="2269" b="0" i="0" u="none" strike="noStrike" cap="none">
                <a:solidFill>
                  <a:schemeClr val="dk1"/>
                </a:solidFill>
                <a:latin typeface="Calibri"/>
                <a:ea typeface="Calibri"/>
                <a:cs typeface="Calibri"/>
                <a:sym typeface="Calibri"/>
              </a:rPr>
              <a:t>Tự kiểm tra xem có muốn vào dùng TN  không</a:t>
            </a:r>
            <a:endParaRPr sz="2269" b="0" i="0" u="none" strike="noStrike" cap="none">
              <a:solidFill>
                <a:schemeClr val="dk1"/>
              </a:solidFill>
              <a:latin typeface="Calibri"/>
              <a:ea typeface="Calibri"/>
              <a:cs typeface="Calibri"/>
              <a:sym typeface="Calibri"/>
            </a:endParaRPr>
          </a:p>
          <a:p>
            <a:pPr marL="726156" marR="0" lvl="1" indent="-342900" algn="just" rtl="0">
              <a:spcBef>
                <a:spcPts val="631"/>
              </a:spcBef>
              <a:spcAft>
                <a:spcPts val="0"/>
              </a:spcAft>
              <a:buClr>
                <a:srgbClr val="94B6D2"/>
              </a:buClr>
              <a:buSzPts val="1634"/>
              <a:buFont typeface="Arial"/>
              <a:buChar char="•"/>
            </a:pPr>
            <a:r>
              <a:rPr lang="en-US" sz="2269" b="0" i="0" u="none" strike="noStrike" cap="none">
                <a:solidFill>
                  <a:schemeClr val="dk1"/>
                </a:solidFill>
                <a:latin typeface="Calibri"/>
                <a:ea typeface="Calibri"/>
                <a:cs typeface="Calibri"/>
                <a:sym typeface="Calibri"/>
              </a:rPr>
              <a:t>Nếu không, truyền token cho nút kế tiếp</a:t>
            </a:r>
            <a:endParaRPr/>
          </a:p>
          <a:p>
            <a:pPr marL="726733" marR="640298" lvl="1" indent="-342900" algn="just" rtl="0">
              <a:lnSpc>
                <a:spcPct val="103200"/>
              </a:lnSpc>
              <a:spcBef>
                <a:spcPts val="458"/>
              </a:spcBef>
              <a:spcAft>
                <a:spcPts val="0"/>
              </a:spcAft>
              <a:buClr>
                <a:srgbClr val="94B6D2"/>
              </a:buClr>
              <a:buSzPts val="1634"/>
              <a:buFont typeface="Arial"/>
              <a:buChar char="•"/>
            </a:pPr>
            <a:r>
              <a:rPr lang="en-US" sz="2269" b="0" i="0" u="none" strike="noStrike" cap="none">
                <a:solidFill>
                  <a:schemeClr val="dk1"/>
                </a:solidFill>
                <a:latin typeface="Calibri"/>
                <a:ea typeface="Calibri"/>
                <a:cs typeface="Calibri"/>
                <a:sym typeface="Calibri"/>
              </a:rPr>
              <a:t>Nếu có, giữ lại token. Dùng xong thì truyền tiếp đi</a:t>
            </a:r>
            <a:endParaRPr sz="2269" b="0" i="0" u="none" strike="noStrike" cap="none">
              <a:solidFill>
                <a:schemeClr val="dk1"/>
              </a:solidFill>
              <a:latin typeface="Calibri"/>
              <a:ea typeface="Calibri"/>
              <a:cs typeface="Calibri"/>
              <a:sym typeface="Calibri"/>
            </a:endParaRPr>
          </a:p>
        </p:txBody>
      </p:sp>
      <p:grpSp>
        <p:nvGrpSpPr>
          <p:cNvPr id="461" name="Google Shape;461;p42"/>
          <p:cNvGrpSpPr/>
          <p:nvPr/>
        </p:nvGrpSpPr>
        <p:grpSpPr>
          <a:xfrm>
            <a:off x="9079902" y="1777464"/>
            <a:ext cx="2171993" cy="1865341"/>
            <a:chOff x="8233620" y="3612045"/>
            <a:chExt cx="2171993" cy="1865341"/>
          </a:xfrm>
        </p:grpSpPr>
        <p:grpSp>
          <p:nvGrpSpPr>
            <p:cNvPr id="462" name="Google Shape;462;p42"/>
            <p:cNvGrpSpPr/>
            <p:nvPr/>
          </p:nvGrpSpPr>
          <p:grpSpPr>
            <a:xfrm>
              <a:off x="8331027" y="3612045"/>
              <a:ext cx="1469571" cy="1619859"/>
              <a:chOff x="7809369" y="3979938"/>
              <a:chExt cx="1619250" cy="1784845"/>
            </a:xfrm>
          </p:grpSpPr>
          <p:sp>
            <p:nvSpPr>
              <p:cNvPr id="463" name="Google Shape;463;p42"/>
              <p:cNvSpPr/>
              <p:nvPr/>
            </p:nvSpPr>
            <p:spPr>
              <a:xfrm>
                <a:off x="7809369" y="4145533"/>
                <a:ext cx="1619250" cy="1619250"/>
              </a:xfrm>
              <a:custGeom>
                <a:avLst/>
                <a:gdLst/>
                <a:ahLst/>
                <a:cxnLst/>
                <a:rect l="l" t="t" r="r" b="b"/>
                <a:pathLst>
                  <a:path w="1619250" h="1619250" extrusionOk="0">
                    <a:moveTo>
                      <a:pt x="0" y="809535"/>
                    </a:moveTo>
                    <a:lnTo>
                      <a:pt x="1374" y="761969"/>
                    </a:lnTo>
                    <a:lnTo>
                      <a:pt x="5446" y="715126"/>
                    </a:lnTo>
                    <a:lnTo>
                      <a:pt x="12141" y="669083"/>
                    </a:lnTo>
                    <a:lnTo>
                      <a:pt x="21381" y="623916"/>
                    </a:lnTo>
                    <a:lnTo>
                      <a:pt x="33092" y="579700"/>
                    </a:lnTo>
                    <a:lnTo>
                      <a:pt x="47197" y="536512"/>
                    </a:lnTo>
                    <a:lnTo>
                      <a:pt x="63621" y="494427"/>
                    </a:lnTo>
                    <a:lnTo>
                      <a:pt x="82287" y="453522"/>
                    </a:lnTo>
                    <a:lnTo>
                      <a:pt x="103119" y="413872"/>
                    </a:lnTo>
                    <a:lnTo>
                      <a:pt x="126042" y="375553"/>
                    </a:lnTo>
                    <a:lnTo>
                      <a:pt x="150980" y="338641"/>
                    </a:lnTo>
                    <a:lnTo>
                      <a:pt x="177856" y="303212"/>
                    </a:lnTo>
                    <a:lnTo>
                      <a:pt x="206595" y="269342"/>
                    </a:lnTo>
                    <a:lnTo>
                      <a:pt x="237121" y="237107"/>
                    </a:lnTo>
                    <a:lnTo>
                      <a:pt x="269358" y="206583"/>
                    </a:lnTo>
                    <a:lnTo>
                      <a:pt x="303230" y="177845"/>
                    </a:lnTo>
                    <a:lnTo>
                      <a:pt x="338661" y="150971"/>
                    </a:lnTo>
                    <a:lnTo>
                      <a:pt x="375575" y="126034"/>
                    </a:lnTo>
                    <a:lnTo>
                      <a:pt x="413896" y="103113"/>
                    </a:lnTo>
                    <a:lnTo>
                      <a:pt x="453549" y="82282"/>
                    </a:lnTo>
                    <a:lnTo>
                      <a:pt x="494457" y="63617"/>
                    </a:lnTo>
                    <a:lnTo>
                      <a:pt x="536544" y="47194"/>
                    </a:lnTo>
                    <a:lnTo>
                      <a:pt x="579735" y="33090"/>
                    </a:lnTo>
                    <a:lnTo>
                      <a:pt x="623953" y="21380"/>
                    </a:lnTo>
                    <a:lnTo>
                      <a:pt x="669123" y="12140"/>
                    </a:lnTo>
                    <a:lnTo>
                      <a:pt x="715169" y="5446"/>
                    </a:lnTo>
                    <a:lnTo>
                      <a:pt x="762014" y="1374"/>
                    </a:lnTo>
                    <a:lnTo>
                      <a:pt x="809583" y="0"/>
                    </a:lnTo>
                    <a:lnTo>
                      <a:pt x="857153" y="1374"/>
                    </a:lnTo>
                    <a:lnTo>
                      <a:pt x="903998" y="5446"/>
                    </a:lnTo>
                    <a:lnTo>
                      <a:pt x="950043" y="12140"/>
                    </a:lnTo>
                    <a:lnTo>
                      <a:pt x="995213" y="21380"/>
                    </a:lnTo>
                    <a:lnTo>
                      <a:pt x="1039431" y="33090"/>
                    </a:lnTo>
                    <a:lnTo>
                      <a:pt x="1082622" y="47194"/>
                    </a:lnTo>
                    <a:lnTo>
                      <a:pt x="1124709" y="63617"/>
                    </a:lnTo>
                    <a:lnTo>
                      <a:pt x="1165617" y="82282"/>
                    </a:lnTo>
                    <a:lnTo>
                      <a:pt x="1205269" y="103113"/>
                    </a:lnTo>
                    <a:lnTo>
                      <a:pt x="1243590" y="126034"/>
                    </a:lnTo>
                    <a:lnTo>
                      <a:pt x="1280504" y="150971"/>
                    </a:lnTo>
                    <a:lnTo>
                      <a:pt x="1315935" y="177845"/>
                    </a:lnTo>
                    <a:lnTo>
                      <a:pt x="1349806" y="206583"/>
                    </a:lnTo>
                    <a:lnTo>
                      <a:pt x="1382043" y="237107"/>
                    </a:lnTo>
                    <a:lnTo>
                      <a:pt x="1412569" y="269342"/>
                    </a:lnTo>
                    <a:lnTo>
                      <a:pt x="1441308" y="303212"/>
                    </a:lnTo>
                    <a:lnTo>
                      <a:pt x="1468184" y="338641"/>
                    </a:lnTo>
                    <a:lnTo>
                      <a:pt x="1493122" y="375553"/>
                    </a:lnTo>
                    <a:lnTo>
                      <a:pt x="1516044" y="413872"/>
                    </a:lnTo>
                    <a:lnTo>
                      <a:pt x="1536877" y="453522"/>
                    </a:lnTo>
                    <a:lnTo>
                      <a:pt x="1555543" y="494427"/>
                    </a:lnTo>
                    <a:lnTo>
                      <a:pt x="1571966" y="536512"/>
                    </a:lnTo>
                    <a:lnTo>
                      <a:pt x="1586071" y="579700"/>
                    </a:lnTo>
                    <a:lnTo>
                      <a:pt x="1597782" y="623916"/>
                    </a:lnTo>
                    <a:lnTo>
                      <a:pt x="1607022" y="669083"/>
                    </a:lnTo>
                    <a:lnTo>
                      <a:pt x="1613717" y="715126"/>
                    </a:lnTo>
                    <a:lnTo>
                      <a:pt x="1617789" y="761969"/>
                    </a:lnTo>
                    <a:lnTo>
                      <a:pt x="1619163" y="809535"/>
                    </a:lnTo>
                    <a:lnTo>
                      <a:pt x="1617789" y="857102"/>
                    </a:lnTo>
                    <a:lnTo>
                      <a:pt x="1613717" y="903944"/>
                    </a:lnTo>
                    <a:lnTo>
                      <a:pt x="1607022" y="949987"/>
                    </a:lnTo>
                    <a:lnTo>
                      <a:pt x="1597782" y="995154"/>
                    </a:lnTo>
                    <a:lnTo>
                      <a:pt x="1586071" y="1039370"/>
                    </a:lnTo>
                    <a:lnTo>
                      <a:pt x="1571966" y="1082558"/>
                    </a:lnTo>
                    <a:lnTo>
                      <a:pt x="1555543" y="1124643"/>
                    </a:lnTo>
                    <a:lnTo>
                      <a:pt x="1536877" y="1165548"/>
                    </a:lnTo>
                    <a:lnTo>
                      <a:pt x="1516044" y="1205198"/>
                    </a:lnTo>
                    <a:lnTo>
                      <a:pt x="1493122" y="1243517"/>
                    </a:lnTo>
                    <a:lnTo>
                      <a:pt x="1468184" y="1280429"/>
                    </a:lnTo>
                    <a:lnTo>
                      <a:pt x="1441308" y="1315858"/>
                    </a:lnTo>
                    <a:lnTo>
                      <a:pt x="1412569" y="1349727"/>
                    </a:lnTo>
                    <a:lnTo>
                      <a:pt x="1382043" y="1381962"/>
                    </a:lnTo>
                    <a:lnTo>
                      <a:pt x="1349806" y="1412486"/>
                    </a:lnTo>
                    <a:lnTo>
                      <a:pt x="1315935" y="1441224"/>
                    </a:lnTo>
                    <a:lnTo>
                      <a:pt x="1280504" y="1468098"/>
                    </a:lnTo>
                    <a:lnTo>
                      <a:pt x="1243590" y="1493034"/>
                    </a:lnTo>
                    <a:lnTo>
                      <a:pt x="1205269" y="1515956"/>
                    </a:lnTo>
                    <a:lnTo>
                      <a:pt x="1165617" y="1536787"/>
                    </a:lnTo>
                    <a:lnTo>
                      <a:pt x="1124709" y="1555452"/>
                    </a:lnTo>
                    <a:lnTo>
                      <a:pt x="1082622" y="1571874"/>
                    </a:lnTo>
                    <a:lnTo>
                      <a:pt x="1039431" y="1585978"/>
                    </a:lnTo>
                    <a:lnTo>
                      <a:pt x="995213" y="1597688"/>
                    </a:lnTo>
                    <a:lnTo>
                      <a:pt x="950043" y="1606928"/>
                    </a:lnTo>
                    <a:lnTo>
                      <a:pt x="903998" y="1613622"/>
                    </a:lnTo>
                    <a:lnTo>
                      <a:pt x="857153" y="1617694"/>
                    </a:lnTo>
                    <a:lnTo>
                      <a:pt x="809583" y="1619069"/>
                    </a:lnTo>
                    <a:lnTo>
                      <a:pt x="762014" y="1617694"/>
                    </a:lnTo>
                    <a:lnTo>
                      <a:pt x="715169" y="1613622"/>
                    </a:lnTo>
                    <a:lnTo>
                      <a:pt x="669123" y="1606928"/>
                    </a:lnTo>
                    <a:lnTo>
                      <a:pt x="623953" y="1597688"/>
                    </a:lnTo>
                    <a:lnTo>
                      <a:pt x="579735" y="1585978"/>
                    </a:lnTo>
                    <a:lnTo>
                      <a:pt x="536544" y="1571874"/>
                    </a:lnTo>
                    <a:lnTo>
                      <a:pt x="494457" y="1555452"/>
                    </a:lnTo>
                    <a:lnTo>
                      <a:pt x="453549" y="1536787"/>
                    </a:lnTo>
                    <a:lnTo>
                      <a:pt x="413896" y="1515956"/>
                    </a:lnTo>
                    <a:lnTo>
                      <a:pt x="375575" y="1493034"/>
                    </a:lnTo>
                    <a:lnTo>
                      <a:pt x="338661" y="1468098"/>
                    </a:lnTo>
                    <a:lnTo>
                      <a:pt x="303230" y="1441224"/>
                    </a:lnTo>
                    <a:lnTo>
                      <a:pt x="269358" y="1412486"/>
                    </a:lnTo>
                    <a:lnTo>
                      <a:pt x="237121" y="1381962"/>
                    </a:lnTo>
                    <a:lnTo>
                      <a:pt x="206595" y="1349727"/>
                    </a:lnTo>
                    <a:lnTo>
                      <a:pt x="177856" y="1315858"/>
                    </a:lnTo>
                    <a:lnTo>
                      <a:pt x="150980" y="1280429"/>
                    </a:lnTo>
                    <a:lnTo>
                      <a:pt x="126042" y="1243517"/>
                    </a:lnTo>
                    <a:lnTo>
                      <a:pt x="103119" y="1205198"/>
                    </a:lnTo>
                    <a:lnTo>
                      <a:pt x="82287" y="1165548"/>
                    </a:lnTo>
                    <a:lnTo>
                      <a:pt x="63621" y="1124643"/>
                    </a:lnTo>
                    <a:lnTo>
                      <a:pt x="47197" y="1082558"/>
                    </a:lnTo>
                    <a:lnTo>
                      <a:pt x="33092" y="1039370"/>
                    </a:lnTo>
                    <a:lnTo>
                      <a:pt x="21381" y="995154"/>
                    </a:lnTo>
                    <a:lnTo>
                      <a:pt x="12141" y="949987"/>
                    </a:lnTo>
                    <a:lnTo>
                      <a:pt x="5446" y="903944"/>
                    </a:lnTo>
                    <a:lnTo>
                      <a:pt x="1374" y="857102"/>
                    </a:lnTo>
                    <a:lnTo>
                      <a:pt x="0" y="809535"/>
                    </a:lnTo>
                    <a:close/>
                  </a:path>
                </a:pathLst>
              </a:custGeom>
              <a:noFill/>
              <a:ln w="266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64" name="Google Shape;464;p42"/>
              <p:cNvSpPr/>
              <p:nvPr/>
            </p:nvSpPr>
            <p:spPr>
              <a:xfrm>
                <a:off x="8370557" y="3979938"/>
                <a:ext cx="393065" cy="393065"/>
              </a:xfrm>
              <a:custGeom>
                <a:avLst/>
                <a:gdLst/>
                <a:ahLst/>
                <a:cxnLst/>
                <a:rect l="l" t="t" r="r" b="b"/>
                <a:pathLst>
                  <a:path w="393065" h="393064" extrusionOk="0">
                    <a:moveTo>
                      <a:pt x="196265" y="0"/>
                    </a:moveTo>
                    <a:lnTo>
                      <a:pt x="151263" y="5183"/>
                    </a:lnTo>
                    <a:lnTo>
                      <a:pt x="109953" y="19948"/>
                    </a:lnTo>
                    <a:lnTo>
                      <a:pt x="73511" y="43116"/>
                    </a:lnTo>
                    <a:lnTo>
                      <a:pt x="43117" y="73509"/>
                    </a:lnTo>
                    <a:lnTo>
                      <a:pt x="19948" y="109948"/>
                    </a:lnTo>
                    <a:lnTo>
                      <a:pt x="5183" y="151255"/>
                    </a:lnTo>
                    <a:lnTo>
                      <a:pt x="0" y="196253"/>
                    </a:lnTo>
                    <a:lnTo>
                      <a:pt x="5183" y="241250"/>
                    </a:lnTo>
                    <a:lnTo>
                      <a:pt x="19948" y="282557"/>
                    </a:lnTo>
                    <a:lnTo>
                      <a:pt x="43117" y="318996"/>
                    </a:lnTo>
                    <a:lnTo>
                      <a:pt x="73511" y="349389"/>
                    </a:lnTo>
                    <a:lnTo>
                      <a:pt x="109953" y="372557"/>
                    </a:lnTo>
                    <a:lnTo>
                      <a:pt x="151263" y="387322"/>
                    </a:lnTo>
                    <a:lnTo>
                      <a:pt x="196265" y="392506"/>
                    </a:lnTo>
                    <a:lnTo>
                      <a:pt x="241267" y="387322"/>
                    </a:lnTo>
                    <a:lnTo>
                      <a:pt x="282578" y="372557"/>
                    </a:lnTo>
                    <a:lnTo>
                      <a:pt x="319020" y="349389"/>
                    </a:lnTo>
                    <a:lnTo>
                      <a:pt x="349414" y="318996"/>
                    </a:lnTo>
                    <a:lnTo>
                      <a:pt x="372582" y="282557"/>
                    </a:lnTo>
                    <a:lnTo>
                      <a:pt x="387348" y="241250"/>
                    </a:lnTo>
                    <a:lnTo>
                      <a:pt x="392531" y="196253"/>
                    </a:lnTo>
                    <a:lnTo>
                      <a:pt x="387348" y="151255"/>
                    </a:lnTo>
                    <a:lnTo>
                      <a:pt x="372582" y="109948"/>
                    </a:lnTo>
                    <a:lnTo>
                      <a:pt x="349414" y="73509"/>
                    </a:lnTo>
                    <a:lnTo>
                      <a:pt x="319020" y="43116"/>
                    </a:lnTo>
                    <a:lnTo>
                      <a:pt x="282578" y="19948"/>
                    </a:lnTo>
                    <a:lnTo>
                      <a:pt x="241267" y="5183"/>
                    </a:lnTo>
                    <a:lnTo>
                      <a:pt x="196265" y="0"/>
                    </a:lnTo>
                    <a:close/>
                  </a:path>
                </a:pathLst>
              </a:custGeom>
              <a:solidFill>
                <a:srgbClr val="FFFF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65" name="Google Shape;465;p42"/>
              <p:cNvSpPr/>
              <p:nvPr/>
            </p:nvSpPr>
            <p:spPr>
              <a:xfrm>
                <a:off x="8370557" y="3979938"/>
                <a:ext cx="393065" cy="393065"/>
              </a:xfrm>
              <a:custGeom>
                <a:avLst/>
                <a:gdLst/>
                <a:ahLst/>
                <a:cxnLst/>
                <a:rect l="l" t="t" r="r" b="b"/>
                <a:pathLst>
                  <a:path w="393065" h="393064" extrusionOk="0">
                    <a:moveTo>
                      <a:pt x="0" y="196250"/>
                    </a:moveTo>
                    <a:lnTo>
                      <a:pt x="5183" y="151251"/>
                    </a:lnTo>
                    <a:lnTo>
                      <a:pt x="19948" y="109944"/>
                    </a:lnTo>
                    <a:lnTo>
                      <a:pt x="43116" y="73505"/>
                    </a:lnTo>
                    <a:lnTo>
                      <a:pt x="73510" y="43114"/>
                    </a:lnTo>
                    <a:lnTo>
                      <a:pt x="109951" y="19947"/>
                    </a:lnTo>
                    <a:lnTo>
                      <a:pt x="151261" y="5183"/>
                    </a:lnTo>
                    <a:lnTo>
                      <a:pt x="196262" y="0"/>
                    </a:lnTo>
                    <a:lnTo>
                      <a:pt x="241264" y="5183"/>
                    </a:lnTo>
                    <a:lnTo>
                      <a:pt x="282574" y="19947"/>
                    </a:lnTo>
                    <a:lnTo>
                      <a:pt x="319015" y="43114"/>
                    </a:lnTo>
                    <a:lnTo>
                      <a:pt x="349408" y="73505"/>
                    </a:lnTo>
                    <a:lnTo>
                      <a:pt x="372577" y="109944"/>
                    </a:lnTo>
                    <a:lnTo>
                      <a:pt x="387342" y="151251"/>
                    </a:lnTo>
                    <a:lnTo>
                      <a:pt x="392525" y="196250"/>
                    </a:lnTo>
                    <a:lnTo>
                      <a:pt x="387342" y="241249"/>
                    </a:lnTo>
                    <a:lnTo>
                      <a:pt x="372577" y="282557"/>
                    </a:lnTo>
                    <a:lnTo>
                      <a:pt x="349408" y="318995"/>
                    </a:lnTo>
                    <a:lnTo>
                      <a:pt x="319015" y="349387"/>
                    </a:lnTo>
                    <a:lnTo>
                      <a:pt x="282574" y="372554"/>
                    </a:lnTo>
                    <a:lnTo>
                      <a:pt x="241264" y="387318"/>
                    </a:lnTo>
                    <a:lnTo>
                      <a:pt x="196262" y="392501"/>
                    </a:lnTo>
                    <a:lnTo>
                      <a:pt x="151261" y="387318"/>
                    </a:lnTo>
                    <a:lnTo>
                      <a:pt x="109951" y="372554"/>
                    </a:lnTo>
                    <a:lnTo>
                      <a:pt x="73510" y="349387"/>
                    </a:lnTo>
                    <a:lnTo>
                      <a:pt x="43116" y="318995"/>
                    </a:lnTo>
                    <a:lnTo>
                      <a:pt x="19948" y="282557"/>
                    </a:lnTo>
                    <a:lnTo>
                      <a:pt x="5183" y="241249"/>
                    </a:lnTo>
                    <a:lnTo>
                      <a:pt x="0" y="196250"/>
                    </a:lnTo>
                    <a:close/>
                  </a:path>
                </a:pathLst>
              </a:custGeom>
              <a:noFill/>
              <a:ln w="266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grpSp>
        <p:sp>
          <p:nvSpPr>
            <p:cNvPr id="466" name="Google Shape;466;p42"/>
            <p:cNvSpPr txBox="1"/>
            <p:nvPr/>
          </p:nvSpPr>
          <p:spPr>
            <a:xfrm>
              <a:off x="8909002" y="3664362"/>
              <a:ext cx="220723" cy="221055"/>
            </a:xfrm>
            <a:prstGeom prst="rect">
              <a:avLst/>
            </a:prstGeom>
            <a:noFill/>
            <a:ln>
              <a:noFill/>
            </a:ln>
          </p:spPr>
          <p:txBody>
            <a:bodyPr spcFirstLastPara="1" wrap="square" lIns="0" tIns="11525" rIns="0" bIns="0" anchor="t" anchorCtr="0">
              <a:spAutoFit/>
            </a:bodyPr>
            <a:lstStyle/>
            <a:p>
              <a:pPr marL="34580" marR="0" lvl="0" indent="0" algn="l" rtl="0">
                <a:spcBef>
                  <a:spcPts val="0"/>
                </a:spcBef>
                <a:spcAft>
                  <a:spcPts val="0"/>
                </a:spcAft>
                <a:buNone/>
              </a:pPr>
              <a:r>
                <a:rPr lang="en-US" sz="1361">
                  <a:solidFill>
                    <a:srgbClr val="FFFFFF"/>
                  </a:solidFill>
                  <a:latin typeface="Times New Roman"/>
                  <a:ea typeface="Times New Roman"/>
                  <a:cs typeface="Times New Roman"/>
                  <a:sym typeface="Times New Roman"/>
                </a:rPr>
                <a:t>P</a:t>
              </a:r>
              <a:r>
                <a:rPr lang="en-US" sz="1361" baseline="-25000">
                  <a:solidFill>
                    <a:srgbClr val="FFFFFF"/>
                  </a:solidFill>
                  <a:latin typeface="Times New Roman"/>
                  <a:ea typeface="Times New Roman"/>
                  <a:cs typeface="Times New Roman"/>
                  <a:sym typeface="Times New Roman"/>
                </a:rPr>
                <a:t>0</a:t>
              </a:r>
              <a:endParaRPr sz="1361" baseline="-25000">
                <a:solidFill>
                  <a:schemeClr val="dk1"/>
                </a:solidFill>
                <a:latin typeface="Times New Roman"/>
                <a:ea typeface="Times New Roman"/>
                <a:cs typeface="Times New Roman"/>
                <a:sym typeface="Times New Roman"/>
              </a:endParaRPr>
            </a:p>
          </p:txBody>
        </p:sp>
        <p:grpSp>
          <p:nvGrpSpPr>
            <p:cNvPr id="467" name="Google Shape;467;p42"/>
            <p:cNvGrpSpPr/>
            <p:nvPr/>
          </p:nvGrpSpPr>
          <p:grpSpPr>
            <a:xfrm>
              <a:off x="9463762" y="3912609"/>
              <a:ext cx="356731" cy="356731"/>
              <a:chOff x="9057475" y="4311116"/>
              <a:chExt cx="393065" cy="393065"/>
            </a:xfrm>
          </p:grpSpPr>
          <p:sp>
            <p:nvSpPr>
              <p:cNvPr id="468" name="Google Shape;468;p42"/>
              <p:cNvSpPr/>
              <p:nvPr/>
            </p:nvSpPr>
            <p:spPr>
              <a:xfrm>
                <a:off x="9057475" y="4311116"/>
                <a:ext cx="393065" cy="393065"/>
              </a:xfrm>
              <a:custGeom>
                <a:avLst/>
                <a:gdLst/>
                <a:ahLst/>
                <a:cxnLst/>
                <a:rect l="l" t="t" r="r" b="b"/>
                <a:pathLst>
                  <a:path w="393065" h="393064" extrusionOk="0">
                    <a:moveTo>
                      <a:pt x="196265" y="0"/>
                    </a:moveTo>
                    <a:lnTo>
                      <a:pt x="151263" y="5182"/>
                    </a:lnTo>
                    <a:lnTo>
                      <a:pt x="109953" y="19946"/>
                    </a:lnTo>
                    <a:lnTo>
                      <a:pt x="73511" y="43112"/>
                    </a:lnTo>
                    <a:lnTo>
                      <a:pt x="43117" y="73503"/>
                    </a:lnTo>
                    <a:lnTo>
                      <a:pt x="19948" y="109942"/>
                    </a:lnTo>
                    <a:lnTo>
                      <a:pt x="5183" y="151251"/>
                    </a:lnTo>
                    <a:lnTo>
                      <a:pt x="0" y="196253"/>
                    </a:lnTo>
                    <a:lnTo>
                      <a:pt x="5183" y="241250"/>
                    </a:lnTo>
                    <a:lnTo>
                      <a:pt x="19948" y="282557"/>
                    </a:lnTo>
                    <a:lnTo>
                      <a:pt x="43117" y="318996"/>
                    </a:lnTo>
                    <a:lnTo>
                      <a:pt x="73511" y="349389"/>
                    </a:lnTo>
                    <a:lnTo>
                      <a:pt x="109953" y="372557"/>
                    </a:lnTo>
                    <a:lnTo>
                      <a:pt x="151263" y="387322"/>
                    </a:lnTo>
                    <a:lnTo>
                      <a:pt x="196265" y="392506"/>
                    </a:lnTo>
                    <a:lnTo>
                      <a:pt x="241267" y="387322"/>
                    </a:lnTo>
                    <a:lnTo>
                      <a:pt x="282578" y="372557"/>
                    </a:lnTo>
                    <a:lnTo>
                      <a:pt x="319020" y="349389"/>
                    </a:lnTo>
                    <a:lnTo>
                      <a:pt x="349414" y="318996"/>
                    </a:lnTo>
                    <a:lnTo>
                      <a:pt x="372582" y="282557"/>
                    </a:lnTo>
                    <a:lnTo>
                      <a:pt x="387348" y="241250"/>
                    </a:lnTo>
                    <a:lnTo>
                      <a:pt x="392531" y="196253"/>
                    </a:lnTo>
                    <a:lnTo>
                      <a:pt x="387348" y="151251"/>
                    </a:lnTo>
                    <a:lnTo>
                      <a:pt x="372582" y="109942"/>
                    </a:lnTo>
                    <a:lnTo>
                      <a:pt x="349414" y="73503"/>
                    </a:lnTo>
                    <a:lnTo>
                      <a:pt x="319020" y="43112"/>
                    </a:lnTo>
                    <a:lnTo>
                      <a:pt x="282578" y="19946"/>
                    </a:lnTo>
                    <a:lnTo>
                      <a:pt x="241267" y="5182"/>
                    </a:lnTo>
                    <a:lnTo>
                      <a:pt x="196265" y="0"/>
                    </a:lnTo>
                    <a:close/>
                  </a:path>
                </a:pathLst>
              </a:custGeom>
              <a:solidFill>
                <a:srgbClr val="FFFF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69" name="Google Shape;469;p42"/>
              <p:cNvSpPr/>
              <p:nvPr/>
            </p:nvSpPr>
            <p:spPr>
              <a:xfrm>
                <a:off x="9057475" y="4311116"/>
                <a:ext cx="393065" cy="393065"/>
              </a:xfrm>
              <a:custGeom>
                <a:avLst/>
                <a:gdLst/>
                <a:ahLst/>
                <a:cxnLst/>
                <a:rect l="l" t="t" r="r" b="b"/>
                <a:pathLst>
                  <a:path w="393065" h="393064" extrusionOk="0">
                    <a:moveTo>
                      <a:pt x="0" y="196250"/>
                    </a:moveTo>
                    <a:lnTo>
                      <a:pt x="5183" y="151251"/>
                    </a:lnTo>
                    <a:lnTo>
                      <a:pt x="19948" y="109944"/>
                    </a:lnTo>
                    <a:lnTo>
                      <a:pt x="43116" y="73505"/>
                    </a:lnTo>
                    <a:lnTo>
                      <a:pt x="73510" y="43114"/>
                    </a:lnTo>
                    <a:lnTo>
                      <a:pt x="109951" y="19947"/>
                    </a:lnTo>
                    <a:lnTo>
                      <a:pt x="151261" y="5183"/>
                    </a:lnTo>
                    <a:lnTo>
                      <a:pt x="196262" y="0"/>
                    </a:lnTo>
                    <a:lnTo>
                      <a:pt x="241264" y="5183"/>
                    </a:lnTo>
                    <a:lnTo>
                      <a:pt x="282574" y="19947"/>
                    </a:lnTo>
                    <a:lnTo>
                      <a:pt x="319015" y="43114"/>
                    </a:lnTo>
                    <a:lnTo>
                      <a:pt x="349408" y="73505"/>
                    </a:lnTo>
                    <a:lnTo>
                      <a:pt x="372577" y="109944"/>
                    </a:lnTo>
                    <a:lnTo>
                      <a:pt x="387342" y="151251"/>
                    </a:lnTo>
                    <a:lnTo>
                      <a:pt x="392525" y="196250"/>
                    </a:lnTo>
                    <a:lnTo>
                      <a:pt x="387342" y="241249"/>
                    </a:lnTo>
                    <a:lnTo>
                      <a:pt x="372577" y="282557"/>
                    </a:lnTo>
                    <a:lnTo>
                      <a:pt x="349408" y="318995"/>
                    </a:lnTo>
                    <a:lnTo>
                      <a:pt x="319015" y="349387"/>
                    </a:lnTo>
                    <a:lnTo>
                      <a:pt x="282574" y="372554"/>
                    </a:lnTo>
                    <a:lnTo>
                      <a:pt x="241264" y="387318"/>
                    </a:lnTo>
                    <a:lnTo>
                      <a:pt x="196262" y="392501"/>
                    </a:lnTo>
                    <a:lnTo>
                      <a:pt x="151261" y="387318"/>
                    </a:lnTo>
                    <a:lnTo>
                      <a:pt x="109951" y="372554"/>
                    </a:lnTo>
                    <a:lnTo>
                      <a:pt x="73510" y="349387"/>
                    </a:lnTo>
                    <a:lnTo>
                      <a:pt x="43116" y="318995"/>
                    </a:lnTo>
                    <a:lnTo>
                      <a:pt x="19948" y="282557"/>
                    </a:lnTo>
                    <a:lnTo>
                      <a:pt x="5183" y="241249"/>
                    </a:lnTo>
                    <a:lnTo>
                      <a:pt x="0" y="196250"/>
                    </a:lnTo>
                    <a:close/>
                  </a:path>
                </a:pathLst>
              </a:custGeom>
              <a:noFill/>
              <a:ln w="266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grpSp>
        <p:sp>
          <p:nvSpPr>
            <p:cNvPr id="470" name="Google Shape;470;p42"/>
            <p:cNvSpPr txBox="1"/>
            <p:nvPr/>
          </p:nvSpPr>
          <p:spPr>
            <a:xfrm>
              <a:off x="9532422" y="3965883"/>
              <a:ext cx="220723" cy="221055"/>
            </a:xfrm>
            <a:prstGeom prst="rect">
              <a:avLst/>
            </a:prstGeom>
            <a:noFill/>
            <a:ln>
              <a:noFill/>
            </a:ln>
          </p:spPr>
          <p:txBody>
            <a:bodyPr spcFirstLastPara="1" wrap="square" lIns="0" tIns="11525" rIns="0" bIns="0" anchor="t" anchorCtr="0">
              <a:spAutoFit/>
            </a:bodyPr>
            <a:lstStyle/>
            <a:p>
              <a:pPr marL="34580" marR="0" lvl="0" indent="0" algn="l" rtl="0">
                <a:spcBef>
                  <a:spcPts val="0"/>
                </a:spcBef>
                <a:spcAft>
                  <a:spcPts val="0"/>
                </a:spcAft>
                <a:buNone/>
              </a:pPr>
              <a:r>
                <a:rPr lang="en-US" sz="1361">
                  <a:solidFill>
                    <a:srgbClr val="FFFFFF"/>
                  </a:solidFill>
                  <a:latin typeface="Times New Roman"/>
                  <a:ea typeface="Times New Roman"/>
                  <a:cs typeface="Times New Roman"/>
                  <a:sym typeface="Times New Roman"/>
                </a:rPr>
                <a:t>P</a:t>
              </a:r>
              <a:r>
                <a:rPr lang="en-US" sz="1361" baseline="-25000">
                  <a:solidFill>
                    <a:srgbClr val="FFFFFF"/>
                  </a:solidFill>
                  <a:latin typeface="Times New Roman"/>
                  <a:ea typeface="Times New Roman"/>
                  <a:cs typeface="Times New Roman"/>
                  <a:sym typeface="Times New Roman"/>
                </a:rPr>
                <a:t>1</a:t>
              </a:r>
              <a:endParaRPr sz="1361" baseline="-25000">
                <a:solidFill>
                  <a:schemeClr val="dk1"/>
                </a:solidFill>
                <a:latin typeface="Times New Roman"/>
                <a:ea typeface="Times New Roman"/>
                <a:cs typeface="Times New Roman"/>
                <a:sym typeface="Times New Roman"/>
              </a:endParaRPr>
            </a:p>
          </p:txBody>
        </p:sp>
        <p:grpSp>
          <p:nvGrpSpPr>
            <p:cNvPr id="471" name="Google Shape;471;p42"/>
            <p:cNvGrpSpPr/>
            <p:nvPr/>
          </p:nvGrpSpPr>
          <p:grpSpPr>
            <a:xfrm>
              <a:off x="9544479" y="4608356"/>
              <a:ext cx="356731" cy="356731"/>
              <a:chOff x="9146413" y="5077726"/>
              <a:chExt cx="393065" cy="393065"/>
            </a:xfrm>
          </p:grpSpPr>
          <p:sp>
            <p:nvSpPr>
              <p:cNvPr id="472" name="Google Shape;472;p42"/>
              <p:cNvSpPr/>
              <p:nvPr/>
            </p:nvSpPr>
            <p:spPr>
              <a:xfrm>
                <a:off x="9146413" y="5077726"/>
                <a:ext cx="393065" cy="393065"/>
              </a:xfrm>
              <a:custGeom>
                <a:avLst/>
                <a:gdLst/>
                <a:ahLst/>
                <a:cxnLst/>
                <a:rect l="l" t="t" r="r" b="b"/>
                <a:pathLst>
                  <a:path w="393065" h="393064" extrusionOk="0">
                    <a:moveTo>
                      <a:pt x="196265" y="0"/>
                    </a:moveTo>
                    <a:lnTo>
                      <a:pt x="151263" y="5182"/>
                    </a:lnTo>
                    <a:lnTo>
                      <a:pt x="109953" y="19945"/>
                    </a:lnTo>
                    <a:lnTo>
                      <a:pt x="73511" y="43111"/>
                    </a:lnTo>
                    <a:lnTo>
                      <a:pt x="43117" y="73501"/>
                    </a:lnTo>
                    <a:lnTo>
                      <a:pt x="19948" y="109938"/>
                    </a:lnTo>
                    <a:lnTo>
                      <a:pt x="5183" y="151243"/>
                    </a:lnTo>
                    <a:lnTo>
                      <a:pt x="0" y="196240"/>
                    </a:lnTo>
                    <a:lnTo>
                      <a:pt x="5183" y="241241"/>
                    </a:lnTo>
                    <a:lnTo>
                      <a:pt x="19948" y="282550"/>
                    </a:lnTo>
                    <a:lnTo>
                      <a:pt x="43117" y="318989"/>
                    </a:lnTo>
                    <a:lnTo>
                      <a:pt x="73511" y="349381"/>
                    </a:lnTo>
                    <a:lnTo>
                      <a:pt x="109953" y="372547"/>
                    </a:lnTo>
                    <a:lnTo>
                      <a:pt x="151263" y="387310"/>
                    </a:lnTo>
                    <a:lnTo>
                      <a:pt x="196265" y="392493"/>
                    </a:lnTo>
                    <a:lnTo>
                      <a:pt x="241267" y="387310"/>
                    </a:lnTo>
                    <a:lnTo>
                      <a:pt x="282575" y="372547"/>
                    </a:lnTo>
                    <a:lnTo>
                      <a:pt x="319015" y="349381"/>
                    </a:lnTo>
                    <a:lnTo>
                      <a:pt x="349406" y="318989"/>
                    </a:lnTo>
                    <a:lnTo>
                      <a:pt x="372572" y="282550"/>
                    </a:lnTo>
                    <a:lnTo>
                      <a:pt x="387336" y="241241"/>
                    </a:lnTo>
                    <a:lnTo>
                      <a:pt x="392518" y="196240"/>
                    </a:lnTo>
                    <a:lnTo>
                      <a:pt x="387336" y="151243"/>
                    </a:lnTo>
                    <a:lnTo>
                      <a:pt x="372572" y="109938"/>
                    </a:lnTo>
                    <a:lnTo>
                      <a:pt x="349406" y="73501"/>
                    </a:lnTo>
                    <a:lnTo>
                      <a:pt x="319015" y="43111"/>
                    </a:lnTo>
                    <a:lnTo>
                      <a:pt x="282575" y="19945"/>
                    </a:lnTo>
                    <a:lnTo>
                      <a:pt x="241267" y="5182"/>
                    </a:lnTo>
                    <a:lnTo>
                      <a:pt x="196265" y="0"/>
                    </a:lnTo>
                    <a:close/>
                  </a:path>
                </a:pathLst>
              </a:custGeom>
              <a:solidFill>
                <a:srgbClr val="FFFF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73" name="Google Shape;473;p42"/>
              <p:cNvSpPr/>
              <p:nvPr/>
            </p:nvSpPr>
            <p:spPr>
              <a:xfrm>
                <a:off x="9146413" y="5077726"/>
                <a:ext cx="393065" cy="393065"/>
              </a:xfrm>
              <a:custGeom>
                <a:avLst/>
                <a:gdLst/>
                <a:ahLst/>
                <a:cxnLst/>
                <a:rect l="l" t="t" r="r" b="b"/>
                <a:pathLst>
                  <a:path w="393065" h="393064" extrusionOk="0">
                    <a:moveTo>
                      <a:pt x="0" y="196250"/>
                    </a:moveTo>
                    <a:lnTo>
                      <a:pt x="5183" y="151251"/>
                    </a:lnTo>
                    <a:lnTo>
                      <a:pt x="19948" y="109944"/>
                    </a:lnTo>
                    <a:lnTo>
                      <a:pt x="43116" y="73505"/>
                    </a:lnTo>
                    <a:lnTo>
                      <a:pt x="73510" y="43114"/>
                    </a:lnTo>
                    <a:lnTo>
                      <a:pt x="109951" y="19947"/>
                    </a:lnTo>
                    <a:lnTo>
                      <a:pt x="151261" y="5183"/>
                    </a:lnTo>
                    <a:lnTo>
                      <a:pt x="196262" y="0"/>
                    </a:lnTo>
                    <a:lnTo>
                      <a:pt x="241264" y="5183"/>
                    </a:lnTo>
                    <a:lnTo>
                      <a:pt x="282574" y="19947"/>
                    </a:lnTo>
                    <a:lnTo>
                      <a:pt x="319015" y="43114"/>
                    </a:lnTo>
                    <a:lnTo>
                      <a:pt x="349408" y="73505"/>
                    </a:lnTo>
                    <a:lnTo>
                      <a:pt x="372577" y="109944"/>
                    </a:lnTo>
                    <a:lnTo>
                      <a:pt x="387342" y="151251"/>
                    </a:lnTo>
                    <a:lnTo>
                      <a:pt x="392525" y="196250"/>
                    </a:lnTo>
                    <a:lnTo>
                      <a:pt x="387342" y="241249"/>
                    </a:lnTo>
                    <a:lnTo>
                      <a:pt x="372577" y="282557"/>
                    </a:lnTo>
                    <a:lnTo>
                      <a:pt x="349408" y="318995"/>
                    </a:lnTo>
                    <a:lnTo>
                      <a:pt x="319015" y="349387"/>
                    </a:lnTo>
                    <a:lnTo>
                      <a:pt x="282574" y="372554"/>
                    </a:lnTo>
                    <a:lnTo>
                      <a:pt x="241264" y="387318"/>
                    </a:lnTo>
                    <a:lnTo>
                      <a:pt x="196262" y="392501"/>
                    </a:lnTo>
                    <a:lnTo>
                      <a:pt x="151261" y="387318"/>
                    </a:lnTo>
                    <a:lnTo>
                      <a:pt x="109951" y="372554"/>
                    </a:lnTo>
                    <a:lnTo>
                      <a:pt x="73510" y="349387"/>
                    </a:lnTo>
                    <a:lnTo>
                      <a:pt x="43116" y="318995"/>
                    </a:lnTo>
                    <a:lnTo>
                      <a:pt x="19948" y="282557"/>
                    </a:lnTo>
                    <a:lnTo>
                      <a:pt x="5183" y="241249"/>
                    </a:lnTo>
                    <a:lnTo>
                      <a:pt x="0" y="196250"/>
                    </a:lnTo>
                    <a:close/>
                  </a:path>
                </a:pathLst>
              </a:custGeom>
              <a:noFill/>
              <a:ln w="266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grpSp>
        <p:sp>
          <p:nvSpPr>
            <p:cNvPr id="474" name="Google Shape;474;p42"/>
            <p:cNvSpPr txBox="1"/>
            <p:nvPr/>
          </p:nvSpPr>
          <p:spPr>
            <a:xfrm>
              <a:off x="9613139" y="4660213"/>
              <a:ext cx="220723" cy="221055"/>
            </a:xfrm>
            <a:prstGeom prst="rect">
              <a:avLst/>
            </a:prstGeom>
            <a:noFill/>
            <a:ln>
              <a:noFill/>
            </a:ln>
          </p:spPr>
          <p:txBody>
            <a:bodyPr spcFirstLastPara="1" wrap="square" lIns="0" tIns="11525" rIns="0" bIns="0" anchor="t" anchorCtr="0">
              <a:spAutoFit/>
            </a:bodyPr>
            <a:lstStyle/>
            <a:p>
              <a:pPr marL="34580" marR="0" lvl="0" indent="0" algn="l" rtl="0">
                <a:spcBef>
                  <a:spcPts val="0"/>
                </a:spcBef>
                <a:spcAft>
                  <a:spcPts val="0"/>
                </a:spcAft>
                <a:buNone/>
              </a:pPr>
              <a:r>
                <a:rPr lang="en-US" sz="1361">
                  <a:solidFill>
                    <a:srgbClr val="FFFFFF"/>
                  </a:solidFill>
                  <a:latin typeface="Times New Roman"/>
                  <a:ea typeface="Times New Roman"/>
                  <a:cs typeface="Times New Roman"/>
                  <a:sym typeface="Times New Roman"/>
                </a:rPr>
                <a:t>P</a:t>
              </a:r>
              <a:r>
                <a:rPr lang="en-US" sz="1361" baseline="-25000">
                  <a:solidFill>
                    <a:srgbClr val="FFFFFF"/>
                  </a:solidFill>
                  <a:latin typeface="Times New Roman"/>
                  <a:ea typeface="Times New Roman"/>
                  <a:cs typeface="Times New Roman"/>
                  <a:sym typeface="Times New Roman"/>
                </a:rPr>
                <a:t>2</a:t>
              </a:r>
              <a:endParaRPr sz="1361" baseline="-25000">
                <a:solidFill>
                  <a:schemeClr val="dk1"/>
                </a:solidFill>
                <a:latin typeface="Times New Roman"/>
                <a:ea typeface="Times New Roman"/>
                <a:cs typeface="Times New Roman"/>
                <a:sym typeface="Times New Roman"/>
              </a:endParaRPr>
            </a:p>
          </p:txBody>
        </p:sp>
        <p:grpSp>
          <p:nvGrpSpPr>
            <p:cNvPr id="475" name="Google Shape;475;p42"/>
            <p:cNvGrpSpPr/>
            <p:nvPr/>
          </p:nvGrpSpPr>
          <p:grpSpPr>
            <a:xfrm>
              <a:off x="8865387" y="5025795"/>
              <a:ext cx="356731" cy="356731"/>
              <a:chOff x="8398154" y="5537682"/>
              <a:chExt cx="393065" cy="393065"/>
            </a:xfrm>
          </p:grpSpPr>
          <p:sp>
            <p:nvSpPr>
              <p:cNvPr id="476" name="Google Shape;476;p42"/>
              <p:cNvSpPr/>
              <p:nvPr/>
            </p:nvSpPr>
            <p:spPr>
              <a:xfrm>
                <a:off x="8398154" y="5537682"/>
                <a:ext cx="393065" cy="393065"/>
              </a:xfrm>
              <a:custGeom>
                <a:avLst/>
                <a:gdLst/>
                <a:ahLst/>
                <a:cxnLst/>
                <a:rect l="l" t="t" r="r" b="b"/>
                <a:pathLst>
                  <a:path w="393065" h="393064" extrusionOk="0">
                    <a:moveTo>
                      <a:pt x="196265" y="0"/>
                    </a:moveTo>
                    <a:lnTo>
                      <a:pt x="151263" y="5183"/>
                    </a:lnTo>
                    <a:lnTo>
                      <a:pt x="109953" y="19948"/>
                    </a:lnTo>
                    <a:lnTo>
                      <a:pt x="73511" y="43116"/>
                    </a:lnTo>
                    <a:lnTo>
                      <a:pt x="43117" y="73509"/>
                    </a:lnTo>
                    <a:lnTo>
                      <a:pt x="19948" y="109948"/>
                    </a:lnTo>
                    <a:lnTo>
                      <a:pt x="5183" y="151255"/>
                    </a:lnTo>
                    <a:lnTo>
                      <a:pt x="0" y="196253"/>
                    </a:lnTo>
                    <a:lnTo>
                      <a:pt x="5183" y="241250"/>
                    </a:lnTo>
                    <a:lnTo>
                      <a:pt x="19948" y="282557"/>
                    </a:lnTo>
                    <a:lnTo>
                      <a:pt x="43117" y="318996"/>
                    </a:lnTo>
                    <a:lnTo>
                      <a:pt x="73511" y="349389"/>
                    </a:lnTo>
                    <a:lnTo>
                      <a:pt x="109953" y="372557"/>
                    </a:lnTo>
                    <a:lnTo>
                      <a:pt x="151263" y="387322"/>
                    </a:lnTo>
                    <a:lnTo>
                      <a:pt x="196265" y="392506"/>
                    </a:lnTo>
                    <a:lnTo>
                      <a:pt x="241267" y="387322"/>
                    </a:lnTo>
                    <a:lnTo>
                      <a:pt x="282578" y="372557"/>
                    </a:lnTo>
                    <a:lnTo>
                      <a:pt x="319020" y="349389"/>
                    </a:lnTo>
                    <a:lnTo>
                      <a:pt x="349414" y="318996"/>
                    </a:lnTo>
                    <a:lnTo>
                      <a:pt x="372582" y="282557"/>
                    </a:lnTo>
                    <a:lnTo>
                      <a:pt x="387348" y="241250"/>
                    </a:lnTo>
                    <a:lnTo>
                      <a:pt x="392531" y="196253"/>
                    </a:lnTo>
                    <a:lnTo>
                      <a:pt x="387348" y="151255"/>
                    </a:lnTo>
                    <a:lnTo>
                      <a:pt x="372582" y="109948"/>
                    </a:lnTo>
                    <a:lnTo>
                      <a:pt x="349414" y="73509"/>
                    </a:lnTo>
                    <a:lnTo>
                      <a:pt x="319020" y="43116"/>
                    </a:lnTo>
                    <a:lnTo>
                      <a:pt x="282578" y="19948"/>
                    </a:lnTo>
                    <a:lnTo>
                      <a:pt x="241267" y="5183"/>
                    </a:lnTo>
                    <a:lnTo>
                      <a:pt x="196265" y="0"/>
                    </a:lnTo>
                    <a:close/>
                  </a:path>
                </a:pathLst>
              </a:custGeom>
              <a:solidFill>
                <a:srgbClr val="FFFF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77" name="Google Shape;477;p42"/>
              <p:cNvSpPr/>
              <p:nvPr/>
            </p:nvSpPr>
            <p:spPr>
              <a:xfrm>
                <a:off x="8398154" y="5537682"/>
                <a:ext cx="393065" cy="393065"/>
              </a:xfrm>
              <a:custGeom>
                <a:avLst/>
                <a:gdLst/>
                <a:ahLst/>
                <a:cxnLst/>
                <a:rect l="l" t="t" r="r" b="b"/>
                <a:pathLst>
                  <a:path w="393065" h="393064" extrusionOk="0">
                    <a:moveTo>
                      <a:pt x="0" y="196250"/>
                    </a:moveTo>
                    <a:lnTo>
                      <a:pt x="5183" y="151251"/>
                    </a:lnTo>
                    <a:lnTo>
                      <a:pt x="19948" y="109944"/>
                    </a:lnTo>
                    <a:lnTo>
                      <a:pt x="43116" y="73505"/>
                    </a:lnTo>
                    <a:lnTo>
                      <a:pt x="73510" y="43114"/>
                    </a:lnTo>
                    <a:lnTo>
                      <a:pt x="109951" y="19947"/>
                    </a:lnTo>
                    <a:lnTo>
                      <a:pt x="151261" y="5183"/>
                    </a:lnTo>
                    <a:lnTo>
                      <a:pt x="196262" y="0"/>
                    </a:lnTo>
                    <a:lnTo>
                      <a:pt x="241264" y="5183"/>
                    </a:lnTo>
                    <a:lnTo>
                      <a:pt x="282574" y="19947"/>
                    </a:lnTo>
                    <a:lnTo>
                      <a:pt x="319015" y="43114"/>
                    </a:lnTo>
                    <a:lnTo>
                      <a:pt x="349408" y="73505"/>
                    </a:lnTo>
                    <a:lnTo>
                      <a:pt x="372577" y="109944"/>
                    </a:lnTo>
                    <a:lnTo>
                      <a:pt x="387342" y="151251"/>
                    </a:lnTo>
                    <a:lnTo>
                      <a:pt x="392525" y="196250"/>
                    </a:lnTo>
                    <a:lnTo>
                      <a:pt x="387342" y="241249"/>
                    </a:lnTo>
                    <a:lnTo>
                      <a:pt x="372577" y="282557"/>
                    </a:lnTo>
                    <a:lnTo>
                      <a:pt x="349408" y="318995"/>
                    </a:lnTo>
                    <a:lnTo>
                      <a:pt x="319015" y="349387"/>
                    </a:lnTo>
                    <a:lnTo>
                      <a:pt x="282574" y="372554"/>
                    </a:lnTo>
                    <a:lnTo>
                      <a:pt x="241264" y="387318"/>
                    </a:lnTo>
                    <a:lnTo>
                      <a:pt x="196262" y="392501"/>
                    </a:lnTo>
                    <a:lnTo>
                      <a:pt x="151261" y="387318"/>
                    </a:lnTo>
                    <a:lnTo>
                      <a:pt x="109951" y="372554"/>
                    </a:lnTo>
                    <a:lnTo>
                      <a:pt x="73510" y="349387"/>
                    </a:lnTo>
                    <a:lnTo>
                      <a:pt x="43116" y="318995"/>
                    </a:lnTo>
                    <a:lnTo>
                      <a:pt x="19948" y="282557"/>
                    </a:lnTo>
                    <a:lnTo>
                      <a:pt x="5183" y="241249"/>
                    </a:lnTo>
                    <a:lnTo>
                      <a:pt x="0" y="196250"/>
                    </a:lnTo>
                    <a:close/>
                  </a:path>
                </a:pathLst>
              </a:custGeom>
              <a:noFill/>
              <a:ln w="266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grpSp>
        <p:sp>
          <p:nvSpPr>
            <p:cNvPr id="478" name="Google Shape;478;p42"/>
            <p:cNvSpPr txBox="1"/>
            <p:nvPr/>
          </p:nvSpPr>
          <p:spPr>
            <a:xfrm>
              <a:off x="8934048" y="5077916"/>
              <a:ext cx="220723" cy="221055"/>
            </a:xfrm>
            <a:prstGeom prst="rect">
              <a:avLst/>
            </a:prstGeom>
            <a:noFill/>
            <a:ln>
              <a:noFill/>
            </a:ln>
          </p:spPr>
          <p:txBody>
            <a:bodyPr spcFirstLastPara="1" wrap="square" lIns="0" tIns="11525" rIns="0" bIns="0" anchor="t" anchorCtr="0">
              <a:spAutoFit/>
            </a:bodyPr>
            <a:lstStyle/>
            <a:p>
              <a:pPr marL="34580" marR="0" lvl="0" indent="0" algn="l" rtl="0">
                <a:spcBef>
                  <a:spcPts val="0"/>
                </a:spcBef>
                <a:spcAft>
                  <a:spcPts val="0"/>
                </a:spcAft>
                <a:buNone/>
              </a:pPr>
              <a:r>
                <a:rPr lang="en-US" sz="1361">
                  <a:solidFill>
                    <a:srgbClr val="FFFFFF"/>
                  </a:solidFill>
                  <a:latin typeface="Times New Roman"/>
                  <a:ea typeface="Times New Roman"/>
                  <a:cs typeface="Times New Roman"/>
                  <a:sym typeface="Times New Roman"/>
                </a:rPr>
                <a:t>P</a:t>
              </a:r>
              <a:r>
                <a:rPr lang="en-US" sz="1361" baseline="-25000">
                  <a:solidFill>
                    <a:srgbClr val="FFFFFF"/>
                  </a:solidFill>
                  <a:latin typeface="Times New Roman"/>
                  <a:ea typeface="Times New Roman"/>
                  <a:cs typeface="Times New Roman"/>
                  <a:sym typeface="Times New Roman"/>
                </a:rPr>
                <a:t>3</a:t>
              </a:r>
              <a:endParaRPr sz="1361" baseline="-25000">
                <a:solidFill>
                  <a:schemeClr val="dk1"/>
                </a:solidFill>
                <a:latin typeface="Times New Roman"/>
                <a:ea typeface="Times New Roman"/>
                <a:cs typeface="Times New Roman"/>
                <a:sym typeface="Times New Roman"/>
              </a:endParaRPr>
            </a:p>
          </p:txBody>
        </p:sp>
        <p:grpSp>
          <p:nvGrpSpPr>
            <p:cNvPr id="479" name="Google Shape;479;p42"/>
            <p:cNvGrpSpPr/>
            <p:nvPr/>
          </p:nvGrpSpPr>
          <p:grpSpPr>
            <a:xfrm>
              <a:off x="8233620" y="4608356"/>
              <a:ext cx="356731" cy="356731"/>
              <a:chOff x="7702041" y="5077726"/>
              <a:chExt cx="393065" cy="393065"/>
            </a:xfrm>
          </p:grpSpPr>
          <p:sp>
            <p:nvSpPr>
              <p:cNvPr id="480" name="Google Shape;480;p42"/>
              <p:cNvSpPr/>
              <p:nvPr/>
            </p:nvSpPr>
            <p:spPr>
              <a:xfrm>
                <a:off x="7702041" y="5077726"/>
                <a:ext cx="393065" cy="393065"/>
              </a:xfrm>
              <a:custGeom>
                <a:avLst/>
                <a:gdLst/>
                <a:ahLst/>
                <a:cxnLst/>
                <a:rect l="l" t="t" r="r" b="b"/>
                <a:pathLst>
                  <a:path w="393065" h="393064" extrusionOk="0">
                    <a:moveTo>
                      <a:pt x="196265" y="0"/>
                    </a:moveTo>
                    <a:lnTo>
                      <a:pt x="151263" y="5182"/>
                    </a:lnTo>
                    <a:lnTo>
                      <a:pt x="109953" y="19945"/>
                    </a:lnTo>
                    <a:lnTo>
                      <a:pt x="73511" y="43111"/>
                    </a:lnTo>
                    <a:lnTo>
                      <a:pt x="43117" y="73501"/>
                    </a:lnTo>
                    <a:lnTo>
                      <a:pt x="19948" y="109938"/>
                    </a:lnTo>
                    <a:lnTo>
                      <a:pt x="5183" y="151243"/>
                    </a:lnTo>
                    <a:lnTo>
                      <a:pt x="0" y="196240"/>
                    </a:lnTo>
                    <a:lnTo>
                      <a:pt x="5183" y="241241"/>
                    </a:lnTo>
                    <a:lnTo>
                      <a:pt x="19948" y="282550"/>
                    </a:lnTo>
                    <a:lnTo>
                      <a:pt x="43117" y="318989"/>
                    </a:lnTo>
                    <a:lnTo>
                      <a:pt x="73511" y="349381"/>
                    </a:lnTo>
                    <a:lnTo>
                      <a:pt x="109953" y="372547"/>
                    </a:lnTo>
                    <a:lnTo>
                      <a:pt x="151263" y="387310"/>
                    </a:lnTo>
                    <a:lnTo>
                      <a:pt x="196265" y="392493"/>
                    </a:lnTo>
                    <a:lnTo>
                      <a:pt x="241267" y="387310"/>
                    </a:lnTo>
                    <a:lnTo>
                      <a:pt x="282575" y="372547"/>
                    </a:lnTo>
                    <a:lnTo>
                      <a:pt x="319015" y="349381"/>
                    </a:lnTo>
                    <a:lnTo>
                      <a:pt x="349406" y="318989"/>
                    </a:lnTo>
                    <a:lnTo>
                      <a:pt x="372572" y="282550"/>
                    </a:lnTo>
                    <a:lnTo>
                      <a:pt x="387336" y="241241"/>
                    </a:lnTo>
                    <a:lnTo>
                      <a:pt x="392518" y="196240"/>
                    </a:lnTo>
                    <a:lnTo>
                      <a:pt x="387336" y="151243"/>
                    </a:lnTo>
                    <a:lnTo>
                      <a:pt x="372572" y="109938"/>
                    </a:lnTo>
                    <a:lnTo>
                      <a:pt x="349406" y="73501"/>
                    </a:lnTo>
                    <a:lnTo>
                      <a:pt x="319015" y="43111"/>
                    </a:lnTo>
                    <a:lnTo>
                      <a:pt x="282575" y="19945"/>
                    </a:lnTo>
                    <a:lnTo>
                      <a:pt x="241267" y="5182"/>
                    </a:lnTo>
                    <a:lnTo>
                      <a:pt x="196265" y="0"/>
                    </a:lnTo>
                    <a:close/>
                  </a:path>
                </a:pathLst>
              </a:custGeom>
              <a:solidFill>
                <a:srgbClr val="FFFF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81" name="Google Shape;481;p42"/>
              <p:cNvSpPr/>
              <p:nvPr/>
            </p:nvSpPr>
            <p:spPr>
              <a:xfrm>
                <a:off x="7702041" y="5077726"/>
                <a:ext cx="393065" cy="393065"/>
              </a:xfrm>
              <a:custGeom>
                <a:avLst/>
                <a:gdLst/>
                <a:ahLst/>
                <a:cxnLst/>
                <a:rect l="l" t="t" r="r" b="b"/>
                <a:pathLst>
                  <a:path w="393065" h="393064" extrusionOk="0">
                    <a:moveTo>
                      <a:pt x="0" y="196250"/>
                    </a:moveTo>
                    <a:lnTo>
                      <a:pt x="5183" y="151251"/>
                    </a:lnTo>
                    <a:lnTo>
                      <a:pt x="19948" y="109944"/>
                    </a:lnTo>
                    <a:lnTo>
                      <a:pt x="43116" y="73505"/>
                    </a:lnTo>
                    <a:lnTo>
                      <a:pt x="73510" y="43114"/>
                    </a:lnTo>
                    <a:lnTo>
                      <a:pt x="109951" y="19947"/>
                    </a:lnTo>
                    <a:lnTo>
                      <a:pt x="151261" y="5183"/>
                    </a:lnTo>
                    <a:lnTo>
                      <a:pt x="196262" y="0"/>
                    </a:lnTo>
                    <a:lnTo>
                      <a:pt x="241264" y="5183"/>
                    </a:lnTo>
                    <a:lnTo>
                      <a:pt x="282574" y="19947"/>
                    </a:lnTo>
                    <a:lnTo>
                      <a:pt x="319015" y="43114"/>
                    </a:lnTo>
                    <a:lnTo>
                      <a:pt x="349408" y="73505"/>
                    </a:lnTo>
                    <a:lnTo>
                      <a:pt x="372577" y="109944"/>
                    </a:lnTo>
                    <a:lnTo>
                      <a:pt x="387342" y="151251"/>
                    </a:lnTo>
                    <a:lnTo>
                      <a:pt x="392525" y="196250"/>
                    </a:lnTo>
                    <a:lnTo>
                      <a:pt x="387342" y="241249"/>
                    </a:lnTo>
                    <a:lnTo>
                      <a:pt x="372577" y="282557"/>
                    </a:lnTo>
                    <a:lnTo>
                      <a:pt x="349408" y="318995"/>
                    </a:lnTo>
                    <a:lnTo>
                      <a:pt x="319015" y="349387"/>
                    </a:lnTo>
                    <a:lnTo>
                      <a:pt x="282574" y="372554"/>
                    </a:lnTo>
                    <a:lnTo>
                      <a:pt x="241264" y="387318"/>
                    </a:lnTo>
                    <a:lnTo>
                      <a:pt x="196262" y="392501"/>
                    </a:lnTo>
                    <a:lnTo>
                      <a:pt x="151261" y="387318"/>
                    </a:lnTo>
                    <a:lnTo>
                      <a:pt x="109951" y="372554"/>
                    </a:lnTo>
                    <a:lnTo>
                      <a:pt x="73510" y="349387"/>
                    </a:lnTo>
                    <a:lnTo>
                      <a:pt x="43116" y="318995"/>
                    </a:lnTo>
                    <a:lnTo>
                      <a:pt x="19948" y="282557"/>
                    </a:lnTo>
                    <a:lnTo>
                      <a:pt x="5183" y="241249"/>
                    </a:lnTo>
                    <a:lnTo>
                      <a:pt x="0" y="196250"/>
                    </a:lnTo>
                    <a:close/>
                  </a:path>
                </a:pathLst>
              </a:custGeom>
              <a:noFill/>
              <a:ln w="266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grpSp>
        <p:sp>
          <p:nvSpPr>
            <p:cNvPr id="482" name="Google Shape;482;p42"/>
            <p:cNvSpPr txBox="1"/>
            <p:nvPr/>
          </p:nvSpPr>
          <p:spPr>
            <a:xfrm>
              <a:off x="8302281" y="4660213"/>
              <a:ext cx="220723" cy="221055"/>
            </a:xfrm>
            <a:prstGeom prst="rect">
              <a:avLst/>
            </a:prstGeom>
            <a:noFill/>
            <a:ln>
              <a:noFill/>
            </a:ln>
          </p:spPr>
          <p:txBody>
            <a:bodyPr spcFirstLastPara="1" wrap="square" lIns="0" tIns="11525" rIns="0" bIns="0" anchor="t" anchorCtr="0">
              <a:spAutoFit/>
            </a:bodyPr>
            <a:lstStyle/>
            <a:p>
              <a:pPr marL="34580" marR="0" lvl="0" indent="0" algn="l" rtl="0">
                <a:spcBef>
                  <a:spcPts val="0"/>
                </a:spcBef>
                <a:spcAft>
                  <a:spcPts val="0"/>
                </a:spcAft>
                <a:buNone/>
              </a:pPr>
              <a:r>
                <a:rPr lang="en-US" sz="1361">
                  <a:solidFill>
                    <a:srgbClr val="FFFFFF"/>
                  </a:solidFill>
                  <a:latin typeface="Times New Roman"/>
                  <a:ea typeface="Times New Roman"/>
                  <a:cs typeface="Times New Roman"/>
                  <a:sym typeface="Times New Roman"/>
                </a:rPr>
                <a:t>P</a:t>
              </a:r>
              <a:r>
                <a:rPr lang="en-US" sz="1361" baseline="-25000">
                  <a:solidFill>
                    <a:srgbClr val="FFFFFF"/>
                  </a:solidFill>
                  <a:latin typeface="Times New Roman"/>
                  <a:ea typeface="Times New Roman"/>
                  <a:cs typeface="Times New Roman"/>
                  <a:sym typeface="Times New Roman"/>
                </a:rPr>
                <a:t>4</a:t>
              </a:r>
              <a:endParaRPr sz="1361" baseline="-25000">
                <a:solidFill>
                  <a:schemeClr val="dk1"/>
                </a:solidFill>
                <a:latin typeface="Times New Roman"/>
                <a:ea typeface="Times New Roman"/>
                <a:cs typeface="Times New Roman"/>
                <a:sym typeface="Times New Roman"/>
              </a:endParaRPr>
            </a:p>
          </p:txBody>
        </p:sp>
        <p:grpSp>
          <p:nvGrpSpPr>
            <p:cNvPr id="483" name="Google Shape;483;p42"/>
            <p:cNvGrpSpPr/>
            <p:nvPr/>
          </p:nvGrpSpPr>
          <p:grpSpPr>
            <a:xfrm>
              <a:off x="8267011" y="3940433"/>
              <a:ext cx="356731" cy="356731"/>
              <a:chOff x="7738833" y="4341774"/>
              <a:chExt cx="393065" cy="393065"/>
            </a:xfrm>
          </p:grpSpPr>
          <p:sp>
            <p:nvSpPr>
              <p:cNvPr id="484" name="Google Shape;484;p42"/>
              <p:cNvSpPr/>
              <p:nvPr/>
            </p:nvSpPr>
            <p:spPr>
              <a:xfrm>
                <a:off x="7738833" y="4341774"/>
                <a:ext cx="393065" cy="393065"/>
              </a:xfrm>
              <a:custGeom>
                <a:avLst/>
                <a:gdLst/>
                <a:ahLst/>
                <a:cxnLst/>
                <a:rect l="l" t="t" r="r" b="b"/>
                <a:pathLst>
                  <a:path w="393065" h="393064" extrusionOk="0">
                    <a:moveTo>
                      <a:pt x="196265" y="0"/>
                    </a:moveTo>
                    <a:lnTo>
                      <a:pt x="151263" y="5183"/>
                    </a:lnTo>
                    <a:lnTo>
                      <a:pt x="109953" y="19948"/>
                    </a:lnTo>
                    <a:lnTo>
                      <a:pt x="73511" y="43116"/>
                    </a:lnTo>
                    <a:lnTo>
                      <a:pt x="43117" y="73509"/>
                    </a:lnTo>
                    <a:lnTo>
                      <a:pt x="19948" y="109948"/>
                    </a:lnTo>
                    <a:lnTo>
                      <a:pt x="5183" y="151255"/>
                    </a:lnTo>
                    <a:lnTo>
                      <a:pt x="0" y="196253"/>
                    </a:lnTo>
                    <a:lnTo>
                      <a:pt x="5183" y="241254"/>
                    </a:lnTo>
                    <a:lnTo>
                      <a:pt x="19948" y="282563"/>
                    </a:lnTo>
                    <a:lnTo>
                      <a:pt x="43117" y="319002"/>
                    </a:lnTo>
                    <a:lnTo>
                      <a:pt x="73511" y="349393"/>
                    </a:lnTo>
                    <a:lnTo>
                      <a:pt x="109953" y="372560"/>
                    </a:lnTo>
                    <a:lnTo>
                      <a:pt x="151263" y="387323"/>
                    </a:lnTo>
                    <a:lnTo>
                      <a:pt x="196265" y="392506"/>
                    </a:lnTo>
                    <a:lnTo>
                      <a:pt x="241267" y="387323"/>
                    </a:lnTo>
                    <a:lnTo>
                      <a:pt x="282578" y="372560"/>
                    </a:lnTo>
                    <a:lnTo>
                      <a:pt x="319020" y="349393"/>
                    </a:lnTo>
                    <a:lnTo>
                      <a:pt x="349414" y="319002"/>
                    </a:lnTo>
                    <a:lnTo>
                      <a:pt x="372582" y="282563"/>
                    </a:lnTo>
                    <a:lnTo>
                      <a:pt x="387348" y="241254"/>
                    </a:lnTo>
                    <a:lnTo>
                      <a:pt x="392531" y="196253"/>
                    </a:lnTo>
                    <a:lnTo>
                      <a:pt x="387348" y="151255"/>
                    </a:lnTo>
                    <a:lnTo>
                      <a:pt x="372582" y="109948"/>
                    </a:lnTo>
                    <a:lnTo>
                      <a:pt x="349414" y="73509"/>
                    </a:lnTo>
                    <a:lnTo>
                      <a:pt x="319020" y="43116"/>
                    </a:lnTo>
                    <a:lnTo>
                      <a:pt x="282578" y="19948"/>
                    </a:lnTo>
                    <a:lnTo>
                      <a:pt x="241267" y="5183"/>
                    </a:lnTo>
                    <a:lnTo>
                      <a:pt x="196265" y="0"/>
                    </a:lnTo>
                    <a:close/>
                  </a:path>
                </a:pathLst>
              </a:custGeom>
              <a:solidFill>
                <a:srgbClr val="FFFF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85" name="Google Shape;485;p42"/>
              <p:cNvSpPr/>
              <p:nvPr/>
            </p:nvSpPr>
            <p:spPr>
              <a:xfrm>
                <a:off x="7738833" y="4341774"/>
                <a:ext cx="393065" cy="393065"/>
              </a:xfrm>
              <a:custGeom>
                <a:avLst/>
                <a:gdLst/>
                <a:ahLst/>
                <a:cxnLst/>
                <a:rect l="l" t="t" r="r" b="b"/>
                <a:pathLst>
                  <a:path w="393065" h="393064" extrusionOk="0">
                    <a:moveTo>
                      <a:pt x="0" y="196250"/>
                    </a:moveTo>
                    <a:lnTo>
                      <a:pt x="5183" y="151251"/>
                    </a:lnTo>
                    <a:lnTo>
                      <a:pt x="19948" y="109944"/>
                    </a:lnTo>
                    <a:lnTo>
                      <a:pt x="43116" y="73505"/>
                    </a:lnTo>
                    <a:lnTo>
                      <a:pt x="73510" y="43114"/>
                    </a:lnTo>
                    <a:lnTo>
                      <a:pt x="109951" y="19947"/>
                    </a:lnTo>
                    <a:lnTo>
                      <a:pt x="151261" y="5183"/>
                    </a:lnTo>
                    <a:lnTo>
                      <a:pt x="196262" y="0"/>
                    </a:lnTo>
                    <a:lnTo>
                      <a:pt x="241264" y="5183"/>
                    </a:lnTo>
                    <a:lnTo>
                      <a:pt x="282574" y="19947"/>
                    </a:lnTo>
                    <a:lnTo>
                      <a:pt x="319015" y="43114"/>
                    </a:lnTo>
                    <a:lnTo>
                      <a:pt x="349408" y="73505"/>
                    </a:lnTo>
                    <a:lnTo>
                      <a:pt x="372577" y="109944"/>
                    </a:lnTo>
                    <a:lnTo>
                      <a:pt x="387342" y="151251"/>
                    </a:lnTo>
                    <a:lnTo>
                      <a:pt x="392525" y="196250"/>
                    </a:lnTo>
                    <a:lnTo>
                      <a:pt x="387342" y="241249"/>
                    </a:lnTo>
                    <a:lnTo>
                      <a:pt x="372577" y="282557"/>
                    </a:lnTo>
                    <a:lnTo>
                      <a:pt x="349408" y="318995"/>
                    </a:lnTo>
                    <a:lnTo>
                      <a:pt x="319015" y="349387"/>
                    </a:lnTo>
                    <a:lnTo>
                      <a:pt x="282574" y="372554"/>
                    </a:lnTo>
                    <a:lnTo>
                      <a:pt x="241264" y="387318"/>
                    </a:lnTo>
                    <a:lnTo>
                      <a:pt x="196262" y="392501"/>
                    </a:lnTo>
                    <a:lnTo>
                      <a:pt x="151261" y="387318"/>
                    </a:lnTo>
                    <a:lnTo>
                      <a:pt x="109951" y="372554"/>
                    </a:lnTo>
                    <a:lnTo>
                      <a:pt x="73510" y="349387"/>
                    </a:lnTo>
                    <a:lnTo>
                      <a:pt x="43116" y="318995"/>
                    </a:lnTo>
                    <a:lnTo>
                      <a:pt x="19948" y="282557"/>
                    </a:lnTo>
                    <a:lnTo>
                      <a:pt x="5183" y="241249"/>
                    </a:lnTo>
                    <a:lnTo>
                      <a:pt x="0" y="196250"/>
                    </a:lnTo>
                    <a:close/>
                  </a:path>
                </a:pathLst>
              </a:custGeom>
              <a:noFill/>
              <a:ln w="266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grpSp>
        <p:sp>
          <p:nvSpPr>
            <p:cNvPr id="486" name="Google Shape;486;p42"/>
            <p:cNvSpPr txBox="1"/>
            <p:nvPr/>
          </p:nvSpPr>
          <p:spPr>
            <a:xfrm>
              <a:off x="8335673" y="3993545"/>
              <a:ext cx="220723" cy="221055"/>
            </a:xfrm>
            <a:prstGeom prst="rect">
              <a:avLst/>
            </a:prstGeom>
            <a:noFill/>
            <a:ln>
              <a:noFill/>
            </a:ln>
          </p:spPr>
          <p:txBody>
            <a:bodyPr spcFirstLastPara="1" wrap="square" lIns="0" tIns="11525" rIns="0" bIns="0" anchor="t" anchorCtr="0">
              <a:spAutoFit/>
            </a:bodyPr>
            <a:lstStyle/>
            <a:p>
              <a:pPr marL="34580" marR="0" lvl="0" indent="0" algn="l" rtl="0">
                <a:spcBef>
                  <a:spcPts val="0"/>
                </a:spcBef>
                <a:spcAft>
                  <a:spcPts val="0"/>
                </a:spcAft>
                <a:buNone/>
              </a:pPr>
              <a:r>
                <a:rPr lang="en-US" sz="1361">
                  <a:solidFill>
                    <a:srgbClr val="FFFFFF"/>
                  </a:solidFill>
                  <a:latin typeface="Times New Roman"/>
                  <a:ea typeface="Times New Roman"/>
                  <a:cs typeface="Times New Roman"/>
                  <a:sym typeface="Times New Roman"/>
                </a:rPr>
                <a:t>P</a:t>
              </a:r>
              <a:r>
                <a:rPr lang="en-US" sz="1361" baseline="-25000">
                  <a:solidFill>
                    <a:srgbClr val="FFFFFF"/>
                  </a:solidFill>
                  <a:latin typeface="Times New Roman"/>
                  <a:ea typeface="Times New Roman"/>
                  <a:cs typeface="Times New Roman"/>
                  <a:sym typeface="Times New Roman"/>
                </a:rPr>
                <a:t>5</a:t>
              </a:r>
              <a:endParaRPr sz="1361" baseline="-25000">
                <a:solidFill>
                  <a:schemeClr val="dk1"/>
                </a:solidFill>
                <a:latin typeface="Times New Roman"/>
                <a:ea typeface="Times New Roman"/>
                <a:cs typeface="Times New Roman"/>
                <a:sym typeface="Times New Roman"/>
              </a:endParaRPr>
            </a:p>
          </p:txBody>
        </p:sp>
        <p:sp>
          <p:nvSpPr>
            <p:cNvPr id="487" name="Google Shape;487;p42"/>
            <p:cNvSpPr/>
            <p:nvPr/>
          </p:nvSpPr>
          <p:spPr>
            <a:xfrm>
              <a:off x="9308863" y="5062103"/>
              <a:ext cx="444906" cy="299101"/>
            </a:xfrm>
            <a:custGeom>
              <a:avLst/>
              <a:gdLst/>
              <a:ahLst/>
              <a:cxnLst/>
              <a:rect l="l" t="t" r="r" b="b"/>
              <a:pathLst>
                <a:path w="490220" h="329564" extrusionOk="0">
                  <a:moveTo>
                    <a:pt x="130517" y="249491"/>
                  </a:moveTo>
                  <a:lnTo>
                    <a:pt x="0" y="297929"/>
                  </a:lnTo>
                  <a:lnTo>
                    <a:pt x="135635" y="329336"/>
                  </a:lnTo>
                  <a:lnTo>
                    <a:pt x="100136" y="306095"/>
                  </a:lnTo>
                  <a:lnTo>
                    <a:pt x="81127" y="306095"/>
                  </a:lnTo>
                  <a:lnTo>
                    <a:pt x="78562" y="279539"/>
                  </a:lnTo>
                  <a:lnTo>
                    <a:pt x="91757" y="278282"/>
                  </a:lnTo>
                  <a:lnTo>
                    <a:pt x="97894" y="277380"/>
                  </a:lnTo>
                  <a:lnTo>
                    <a:pt x="130517" y="249491"/>
                  </a:lnTo>
                  <a:close/>
                </a:path>
                <a:path w="490220" h="329564" extrusionOk="0">
                  <a:moveTo>
                    <a:pt x="97894" y="277380"/>
                  </a:moveTo>
                  <a:lnTo>
                    <a:pt x="91757" y="278282"/>
                  </a:lnTo>
                  <a:lnTo>
                    <a:pt x="78562" y="279539"/>
                  </a:lnTo>
                  <a:lnTo>
                    <a:pt x="81127" y="306095"/>
                  </a:lnTo>
                  <a:lnTo>
                    <a:pt x="95656" y="304660"/>
                  </a:lnTo>
                  <a:lnTo>
                    <a:pt x="97520" y="304382"/>
                  </a:lnTo>
                  <a:lnTo>
                    <a:pt x="79844" y="292811"/>
                  </a:lnTo>
                  <a:lnTo>
                    <a:pt x="97894" y="277380"/>
                  </a:lnTo>
                  <a:close/>
                </a:path>
                <a:path w="490220" h="329564" extrusionOk="0">
                  <a:moveTo>
                    <a:pt x="97520" y="304382"/>
                  </a:moveTo>
                  <a:lnTo>
                    <a:pt x="95656" y="304660"/>
                  </a:lnTo>
                  <a:lnTo>
                    <a:pt x="81127" y="306095"/>
                  </a:lnTo>
                  <a:lnTo>
                    <a:pt x="100136" y="306095"/>
                  </a:lnTo>
                  <a:lnTo>
                    <a:pt x="97520" y="304382"/>
                  </a:lnTo>
                  <a:close/>
                </a:path>
                <a:path w="490220" h="329564" extrusionOk="0">
                  <a:moveTo>
                    <a:pt x="469252" y="0"/>
                  </a:moveTo>
                  <a:lnTo>
                    <a:pt x="411924" y="68910"/>
                  </a:lnTo>
                  <a:lnTo>
                    <a:pt x="383324" y="101854"/>
                  </a:lnTo>
                  <a:lnTo>
                    <a:pt x="354660" y="133184"/>
                  </a:lnTo>
                  <a:lnTo>
                    <a:pt x="325945" y="162318"/>
                  </a:lnTo>
                  <a:lnTo>
                    <a:pt x="297154" y="188734"/>
                  </a:lnTo>
                  <a:lnTo>
                    <a:pt x="239394" y="231343"/>
                  </a:lnTo>
                  <a:lnTo>
                    <a:pt x="181254" y="258559"/>
                  </a:lnTo>
                  <a:lnTo>
                    <a:pt x="121932" y="273850"/>
                  </a:lnTo>
                  <a:lnTo>
                    <a:pt x="97894" y="277380"/>
                  </a:lnTo>
                  <a:lnTo>
                    <a:pt x="79844" y="292811"/>
                  </a:lnTo>
                  <a:lnTo>
                    <a:pt x="97520" y="304382"/>
                  </a:lnTo>
                  <a:lnTo>
                    <a:pt x="127571" y="299910"/>
                  </a:lnTo>
                  <a:lnTo>
                    <a:pt x="159499" y="292963"/>
                  </a:lnTo>
                  <a:lnTo>
                    <a:pt x="222999" y="270243"/>
                  </a:lnTo>
                  <a:lnTo>
                    <a:pt x="285013" y="232702"/>
                  </a:lnTo>
                  <a:lnTo>
                    <a:pt x="315188" y="208381"/>
                  </a:lnTo>
                  <a:lnTo>
                    <a:pt x="344944" y="181038"/>
                  </a:lnTo>
                  <a:lnTo>
                    <a:pt x="374345" y="151180"/>
                  </a:lnTo>
                  <a:lnTo>
                    <a:pt x="403466" y="119341"/>
                  </a:lnTo>
                  <a:lnTo>
                    <a:pt x="432422" y="85979"/>
                  </a:lnTo>
                  <a:lnTo>
                    <a:pt x="489750" y="17056"/>
                  </a:lnTo>
                  <a:lnTo>
                    <a:pt x="469252"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488" name="Google Shape;488;p42"/>
            <p:cNvSpPr txBox="1"/>
            <p:nvPr/>
          </p:nvSpPr>
          <p:spPr>
            <a:xfrm>
              <a:off x="9707711" y="5249213"/>
              <a:ext cx="697902" cy="228173"/>
            </a:xfrm>
            <a:prstGeom prst="rect">
              <a:avLst/>
            </a:prstGeom>
            <a:noFill/>
            <a:ln>
              <a:noFill/>
            </a:ln>
          </p:spPr>
          <p:txBody>
            <a:bodyPr spcFirstLastPara="1" wrap="square" lIns="0" tIns="11525" rIns="0" bIns="0" anchor="t" anchorCtr="0">
              <a:spAutoFit/>
            </a:bodyPr>
            <a:lstStyle/>
            <a:p>
              <a:pPr marL="11527" marR="0" lvl="0" indent="0" algn="l" rtl="0">
                <a:spcBef>
                  <a:spcPts val="0"/>
                </a:spcBef>
                <a:spcAft>
                  <a:spcPts val="0"/>
                </a:spcAft>
                <a:buNone/>
              </a:pPr>
              <a:r>
                <a:rPr lang="en-US" sz="1407" b="1" i="1">
                  <a:solidFill>
                    <a:schemeClr val="dk1"/>
                  </a:solidFill>
                  <a:latin typeface="Comic Sans MS"/>
                  <a:ea typeface="Comic Sans MS"/>
                  <a:cs typeface="Comic Sans MS"/>
                  <a:sym typeface="Comic Sans MS"/>
                </a:rPr>
                <a:t>token(R)</a:t>
              </a:r>
              <a:endParaRPr sz="1407">
                <a:solidFill>
                  <a:schemeClr val="dk1"/>
                </a:solidFill>
                <a:latin typeface="Comic Sans MS"/>
                <a:ea typeface="Comic Sans MS"/>
                <a:cs typeface="Comic Sans MS"/>
                <a:sym typeface="Comic Sans MS"/>
              </a:endParaRPr>
            </a:p>
          </p:txBody>
        </p:sp>
      </p:grpSp>
      <p:sp>
        <p:nvSpPr>
          <p:cNvPr id="489" name="Google Shape;489;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43"/>
          <p:cNvSpPr txBox="1">
            <a:spLocks noGrp="1"/>
          </p:cNvSpPr>
          <p:nvPr>
            <p:ph type="title"/>
          </p:nvPr>
        </p:nvSpPr>
        <p:spPr>
          <a:xfrm>
            <a:off x="838200" y="304800"/>
            <a:ext cx="5582066"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4. Các giải thuật bầu chọn</a:t>
            </a:r>
            <a:endParaRPr/>
          </a:p>
        </p:txBody>
      </p:sp>
      <p:sp>
        <p:nvSpPr>
          <p:cNvPr id="495" name="Google Shape;495;p43"/>
          <p:cNvSpPr txBox="1"/>
          <p:nvPr/>
        </p:nvSpPr>
        <p:spPr>
          <a:xfrm>
            <a:off x="1295400" y="1752600"/>
            <a:ext cx="7162800" cy="2590863"/>
          </a:xfrm>
          <a:prstGeom prst="rect">
            <a:avLst/>
          </a:prstGeom>
          <a:noFill/>
          <a:ln>
            <a:noFill/>
          </a:ln>
        </p:spPr>
        <p:txBody>
          <a:bodyPr spcFirstLastPara="1" wrap="square" lIns="0" tIns="102000" rIns="0" bIns="0" anchor="t" anchorCtr="0">
            <a:spAutoFit/>
          </a:bodyPr>
          <a:lstStyle/>
          <a:p>
            <a:pPr marL="315827" marR="0" lvl="0" indent="-304876" algn="l" rtl="0">
              <a:spcBef>
                <a:spcPts val="0"/>
              </a:spcBef>
              <a:spcAft>
                <a:spcPts val="0"/>
              </a:spcAft>
              <a:buClr>
                <a:srgbClr val="DD8047"/>
              </a:buClr>
              <a:buSzPts val="1680"/>
              <a:buFont typeface="Noto Sans Symbols"/>
              <a:buChar char="◻"/>
            </a:pPr>
            <a:r>
              <a:rPr lang="en-US" sz="2800">
                <a:solidFill>
                  <a:schemeClr val="dk1"/>
                </a:solidFill>
                <a:latin typeface="Calibri"/>
                <a:ea typeface="Calibri"/>
                <a:cs typeface="Calibri"/>
                <a:sym typeface="Calibri"/>
              </a:rPr>
              <a:t>Các giải thuật truyền thống</a:t>
            </a:r>
            <a:endParaRPr sz="2800">
              <a:solidFill>
                <a:schemeClr val="dk1"/>
              </a:solidFill>
              <a:latin typeface="Calibri"/>
              <a:ea typeface="Calibri"/>
              <a:cs typeface="Calibri"/>
              <a:sym typeface="Calibri"/>
            </a:endParaRPr>
          </a:p>
          <a:p>
            <a:pPr marL="621279" marR="0" lvl="1" indent="-261075" algn="l" rtl="0">
              <a:spcBef>
                <a:spcPts val="644"/>
              </a:spcBef>
              <a:spcAft>
                <a:spcPts val="0"/>
              </a:spcAft>
              <a:buClr>
                <a:srgbClr val="94B6D2"/>
              </a:buClr>
              <a:buSzPts val="1970"/>
              <a:buFont typeface="Arial"/>
              <a:buChar char="¤"/>
            </a:pPr>
            <a:r>
              <a:rPr lang="en-US" sz="2800" b="0" i="0" u="none" strike="noStrike" cap="none">
                <a:solidFill>
                  <a:schemeClr val="dk1"/>
                </a:solidFill>
                <a:latin typeface="Calibri"/>
                <a:ea typeface="Calibri"/>
                <a:cs typeface="Calibri"/>
                <a:sym typeface="Calibri"/>
              </a:rPr>
              <a:t>Giải thuật áp đảo (Bully)</a:t>
            </a:r>
            <a:endParaRPr sz="2800" b="0" i="0" u="none" strike="noStrike" cap="none">
              <a:solidFill>
                <a:schemeClr val="dk1"/>
              </a:solidFill>
              <a:latin typeface="Calibri"/>
              <a:ea typeface="Calibri"/>
              <a:cs typeface="Calibri"/>
              <a:sym typeface="Calibri"/>
            </a:endParaRPr>
          </a:p>
          <a:p>
            <a:pPr marL="621279" marR="0" lvl="1" indent="-261075" algn="l" rtl="0">
              <a:spcBef>
                <a:spcPts val="585"/>
              </a:spcBef>
              <a:spcAft>
                <a:spcPts val="0"/>
              </a:spcAft>
              <a:buClr>
                <a:srgbClr val="94B6D2"/>
              </a:buClr>
              <a:buSzPts val="1970"/>
              <a:buFont typeface="Arial"/>
              <a:buChar char="¤"/>
            </a:pPr>
            <a:r>
              <a:rPr lang="en-US" sz="2800" b="0" i="0" u="none" strike="noStrike" cap="none">
                <a:solidFill>
                  <a:schemeClr val="dk1"/>
                </a:solidFill>
                <a:latin typeface="Calibri"/>
                <a:ea typeface="Calibri"/>
                <a:cs typeface="Calibri"/>
                <a:sym typeface="Calibri"/>
              </a:rPr>
              <a:t>Giải thuật vòng (Ring)</a:t>
            </a:r>
            <a:endParaRPr sz="2800" b="0" i="0" u="none" strike="noStrike" cap="none">
              <a:solidFill>
                <a:schemeClr val="dk1"/>
              </a:solidFill>
              <a:latin typeface="Calibri"/>
              <a:ea typeface="Calibri"/>
              <a:cs typeface="Calibri"/>
              <a:sym typeface="Calibri"/>
            </a:endParaRPr>
          </a:p>
          <a:p>
            <a:pPr marL="315827" marR="0" lvl="0" indent="-304876" algn="l" rtl="0">
              <a:spcBef>
                <a:spcPts val="708"/>
              </a:spcBef>
              <a:spcAft>
                <a:spcPts val="0"/>
              </a:spcAft>
              <a:buClr>
                <a:srgbClr val="DD8047"/>
              </a:buClr>
              <a:buSzPts val="1680"/>
              <a:buFont typeface="Noto Sans Symbols"/>
              <a:buChar char="◻"/>
            </a:pPr>
            <a:r>
              <a:rPr lang="en-US" sz="2800">
                <a:solidFill>
                  <a:schemeClr val="dk1"/>
                </a:solidFill>
                <a:latin typeface="Calibri"/>
                <a:ea typeface="Calibri"/>
                <a:cs typeface="Calibri"/>
                <a:sym typeface="Calibri"/>
              </a:rPr>
              <a:t>Các giải thuật bầu chọn cho mạng không dây</a:t>
            </a:r>
            <a:endParaRPr sz="2800">
              <a:solidFill>
                <a:schemeClr val="dk1"/>
              </a:solidFill>
              <a:latin typeface="Calibri"/>
              <a:ea typeface="Calibri"/>
              <a:cs typeface="Calibri"/>
              <a:sym typeface="Calibri"/>
            </a:endParaRPr>
          </a:p>
          <a:p>
            <a:pPr marL="315827" marR="0" lvl="0" indent="-304876" algn="l" rtl="0">
              <a:spcBef>
                <a:spcPts val="722"/>
              </a:spcBef>
              <a:spcAft>
                <a:spcPts val="0"/>
              </a:spcAft>
              <a:buClr>
                <a:srgbClr val="DD8047"/>
              </a:buClr>
              <a:buSzPts val="1680"/>
              <a:buFont typeface="Noto Sans Symbols"/>
              <a:buChar char="◻"/>
            </a:pPr>
            <a:r>
              <a:rPr lang="en-US" sz="2800">
                <a:solidFill>
                  <a:schemeClr val="dk1"/>
                </a:solidFill>
                <a:latin typeface="Calibri"/>
                <a:ea typeface="Calibri"/>
                <a:cs typeface="Calibri"/>
                <a:sym typeface="Calibri"/>
              </a:rPr>
              <a:t>Các giải thuật bầu chọn cho mạng diện rộng</a:t>
            </a:r>
            <a:endParaRPr sz="2800">
              <a:solidFill>
                <a:schemeClr val="dk1"/>
              </a:solidFill>
              <a:latin typeface="Calibri"/>
              <a:ea typeface="Calibri"/>
              <a:cs typeface="Calibri"/>
              <a:sym typeface="Calibri"/>
            </a:endParaRPr>
          </a:p>
        </p:txBody>
      </p:sp>
      <p:sp>
        <p:nvSpPr>
          <p:cNvPr id="496" name="Google Shape;496;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44"/>
          <p:cNvSpPr txBox="1">
            <a:spLocks noGrp="1"/>
          </p:cNvSpPr>
          <p:nvPr>
            <p:ph type="title"/>
          </p:nvPr>
        </p:nvSpPr>
        <p:spPr>
          <a:xfrm>
            <a:off x="914400" y="258373"/>
            <a:ext cx="5052444"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Các giải thuật bầu chọn</a:t>
            </a:r>
            <a:endParaRPr/>
          </a:p>
        </p:txBody>
      </p:sp>
      <p:sp>
        <p:nvSpPr>
          <p:cNvPr id="502" name="Google Shape;502;p44"/>
          <p:cNvSpPr txBox="1"/>
          <p:nvPr/>
        </p:nvSpPr>
        <p:spPr>
          <a:xfrm>
            <a:off x="1371600" y="1676400"/>
            <a:ext cx="9829800" cy="4530241"/>
          </a:xfrm>
          <a:prstGeom prst="rect">
            <a:avLst/>
          </a:prstGeom>
          <a:noFill/>
          <a:ln>
            <a:noFill/>
          </a:ln>
        </p:spPr>
        <p:txBody>
          <a:bodyPr spcFirstLastPara="1" wrap="square" lIns="0" tIns="94500" rIns="0" bIns="0" anchor="t" anchorCtr="0">
            <a:spAutoFit/>
          </a:bodyPr>
          <a:lstStyle/>
          <a:p>
            <a:pPr marL="315827" marR="0" lvl="0" indent="-304876" algn="l" rtl="0">
              <a:spcBef>
                <a:spcPts val="0"/>
              </a:spcBef>
              <a:spcAft>
                <a:spcPts val="0"/>
              </a:spcAft>
              <a:buClr>
                <a:srgbClr val="DD8047"/>
              </a:buClr>
              <a:buSzPts val="1882"/>
              <a:buFont typeface="Noto Sans Symbols"/>
              <a:buChar char="◻"/>
            </a:pPr>
            <a:r>
              <a:rPr lang="en-US" sz="3200">
                <a:solidFill>
                  <a:schemeClr val="dk1"/>
                </a:solidFill>
                <a:latin typeface="Calibri"/>
                <a:ea typeface="Calibri"/>
                <a:cs typeface="Calibri"/>
                <a:sym typeface="Calibri"/>
              </a:rPr>
              <a:t>Giải thuật Bully</a:t>
            </a:r>
            <a:endParaRPr sz="3200">
              <a:solidFill>
                <a:schemeClr val="dk1"/>
              </a:solidFill>
              <a:latin typeface="Calibri"/>
              <a:ea typeface="Calibri"/>
              <a:cs typeface="Calibri"/>
              <a:sym typeface="Calibri"/>
            </a:endParaRPr>
          </a:p>
          <a:p>
            <a:pPr marL="315827" marR="482385" lvl="0" indent="-304876" algn="l" rtl="0">
              <a:lnSpc>
                <a:spcPct val="113718"/>
              </a:lnSpc>
              <a:spcBef>
                <a:spcPts val="826"/>
              </a:spcBef>
              <a:spcAft>
                <a:spcPts val="0"/>
              </a:spcAft>
              <a:buClr>
                <a:srgbClr val="DD8047"/>
              </a:buClr>
              <a:buSzPts val="1882"/>
              <a:buFont typeface="Calibri"/>
              <a:buAutoNum type="arabicPeriod"/>
            </a:pPr>
            <a:r>
              <a:rPr lang="en-US" sz="3200" i="1">
                <a:solidFill>
                  <a:schemeClr val="dk1"/>
                </a:solidFill>
                <a:latin typeface="Calibri"/>
                <a:ea typeface="Calibri"/>
                <a:cs typeface="Calibri"/>
                <a:sym typeface="Calibri"/>
              </a:rPr>
              <a:t>P </a:t>
            </a:r>
            <a:r>
              <a:rPr lang="en-US" sz="3200">
                <a:solidFill>
                  <a:schemeClr val="dk1"/>
                </a:solidFill>
                <a:latin typeface="Calibri"/>
                <a:ea typeface="Calibri"/>
                <a:cs typeface="Calibri"/>
                <a:sym typeface="Calibri"/>
              </a:rPr>
              <a:t>gửi thông điệp </a:t>
            </a:r>
            <a:r>
              <a:rPr lang="en-US" sz="3200" i="1">
                <a:solidFill>
                  <a:schemeClr val="dk1"/>
                </a:solidFill>
                <a:latin typeface="Calibri"/>
                <a:ea typeface="Calibri"/>
                <a:cs typeface="Calibri"/>
                <a:sym typeface="Calibri"/>
              </a:rPr>
              <a:t>ELECTION </a:t>
            </a:r>
            <a:r>
              <a:rPr lang="en-US" sz="3200">
                <a:solidFill>
                  <a:schemeClr val="dk1"/>
                </a:solidFill>
                <a:latin typeface="Calibri"/>
                <a:ea typeface="Calibri"/>
                <a:cs typeface="Calibri"/>
                <a:sym typeface="Calibri"/>
              </a:rPr>
              <a:t>cho tất cả các  tiến trình có ID lớn hơn mình</a:t>
            </a:r>
            <a:endParaRPr sz="3200">
              <a:solidFill>
                <a:schemeClr val="dk1"/>
              </a:solidFill>
              <a:latin typeface="Calibri"/>
              <a:ea typeface="Calibri"/>
              <a:cs typeface="Calibri"/>
              <a:sym typeface="Calibri"/>
            </a:endParaRPr>
          </a:p>
          <a:p>
            <a:pPr marL="621279" marR="4611" lvl="1" indent="-260498" algn="l" rtl="0">
              <a:lnSpc>
                <a:spcPct val="102699"/>
              </a:lnSpc>
              <a:spcBef>
                <a:spcPts val="445"/>
              </a:spcBef>
              <a:spcAft>
                <a:spcPts val="0"/>
              </a:spcAft>
              <a:buClr>
                <a:srgbClr val="94B6D2"/>
              </a:buClr>
              <a:buSzPts val="1960"/>
              <a:buFont typeface="Calibri"/>
              <a:buAutoNum type="arabicPeriod"/>
            </a:pPr>
            <a:r>
              <a:rPr lang="en-US" sz="2800" b="0" i="0" u="none" strike="noStrike" cap="none">
                <a:solidFill>
                  <a:schemeClr val="dk1"/>
                </a:solidFill>
                <a:latin typeface="Calibri"/>
                <a:ea typeface="Calibri"/>
                <a:cs typeface="Calibri"/>
                <a:sym typeface="Calibri"/>
              </a:rPr>
              <a:t>Nếu không có tiến trình nào trả lời (sau timeout),  P biết mình được chọn</a:t>
            </a:r>
            <a:endParaRPr sz="2800" b="0" i="0" u="none" strike="noStrike" cap="none">
              <a:solidFill>
                <a:schemeClr val="dk1"/>
              </a:solidFill>
              <a:latin typeface="Calibri"/>
              <a:ea typeface="Calibri"/>
              <a:cs typeface="Calibri"/>
              <a:sym typeface="Calibri"/>
            </a:endParaRPr>
          </a:p>
          <a:p>
            <a:pPr marL="621279" marR="514659" lvl="1" indent="-260498" algn="l" rtl="0">
              <a:spcBef>
                <a:spcPts val="631"/>
              </a:spcBef>
              <a:spcAft>
                <a:spcPts val="0"/>
              </a:spcAft>
              <a:buClr>
                <a:srgbClr val="94B6D2"/>
              </a:buClr>
              <a:buSzPts val="1960"/>
              <a:buFont typeface="Calibri"/>
              <a:buAutoNum type="arabicPeriod"/>
            </a:pPr>
            <a:r>
              <a:rPr lang="en-US" sz="2800" b="0" i="0" u="none" strike="noStrike" cap="none">
                <a:solidFill>
                  <a:schemeClr val="dk1"/>
                </a:solidFill>
                <a:latin typeface="Calibri"/>
                <a:ea typeface="Calibri"/>
                <a:cs typeface="Calibri"/>
                <a:sym typeface="Calibri"/>
              </a:rPr>
              <a:t>Chỉ cần 1 tiến trình trả lời, P biết mình không  được chọn và dừng lại.</a:t>
            </a:r>
            <a:endParaRPr sz="2800" b="0" i="0" u="none" strike="noStrike" cap="none">
              <a:solidFill>
                <a:schemeClr val="dk1"/>
              </a:solidFill>
              <a:latin typeface="Calibri"/>
              <a:ea typeface="Calibri"/>
              <a:cs typeface="Calibri"/>
              <a:sym typeface="Calibri"/>
            </a:endParaRPr>
          </a:p>
          <a:p>
            <a:pPr marL="315827" marR="388444" lvl="0" indent="-304876" algn="l" rtl="0">
              <a:lnSpc>
                <a:spcPct val="113718"/>
              </a:lnSpc>
              <a:spcBef>
                <a:spcPts val="902"/>
              </a:spcBef>
              <a:spcAft>
                <a:spcPts val="0"/>
              </a:spcAft>
              <a:buClr>
                <a:srgbClr val="DD8047"/>
              </a:buClr>
              <a:buSzPts val="1882"/>
              <a:buFont typeface="Calibri"/>
              <a:buAutoNum type="arabicPeriod"/>
            </a:pPr>
            <a:r>
              <a:rPr lang="en-US" sz="3200">
                <a:solidFill>
                  <a:schemeClr val="dk1"/>
                </a:solidFill>
                <a:latin typeface="Calibri"/>
                <a:ea typeface="Calibri"/>
                <a:cs typeface="Calibri"/>
                <a:sym typeface="Calibri"/>
              </a:rPr>
              <a:t>Quá trình trên lặp lại với các tiến trình nhận  được ELECTION</a:t>
            </a:r>
            <a:endParaRPr sz="3200">
              <a:solidFill>
                <a:schemeClr val="dk1"/>
              </a:solidFill>
              <a:latin typeface="Calibri"/>
              <a:ea typeface="Calibri"/>
              <a:cs typeface="Calibri"/>
              <a:sym typeface="Calibri"/>
            </a:endParaRPr>
          </a:p>
        </p:txBody>
      </p:sp>
      <p:sp>
        <p:nvSpPr>
          <p:cNvPr id="503" name="Google Shape;50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45"/>
          <p:cNvSpPr txBox="1">
            <a:spLocks noGrp="1"/>
          </p:cNvSpPr>
          <p:nvPr>
            <p:ph type="title"/>
          </p:nvPr>
        </p:nvSpPr>
        <p:spPr>
          <a:xfrm>
            <a:off x="838200" y="318848"/>
            <a:ext cx="5798180"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Giải thuật BULLY (1)</a:t>
            </a:r>
            <a:endParaRPr/>
          </a:p>
        </p:txBody>
      </p:sp>
      <p:sp>
        <p:nvSpPr>
          <p:cNvPr id="510" name="Google Shape;510;p45"/>
          <p:cNvSpPr/>
          <p:nvPr/>
        </p:nvSpPr>
        <p:spPr>
          <a:xfrm>
            <a:off x="2026628" y="2191528"/>
            <a:ext cx="8202363" cy="316023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511" name="Google Shape;511;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46"/>
          <p:cNvSpPr txBox="1">
            <a:spLocks noGrp="1"/>
          </p:cNvSpPr>
          <p:nvPr>
            <p:ph type="title"/>
          </p:nvPr>
        </p:nvSpPr>
        <p:spPr>
          <a:xfrm>
            <a:off x="914400" y="304800"/>
            <a:ext cx="5798180"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Giải thuật BULLY (2)</a:t>
            </a:r>
            <a:endParaRPr/>
          </a:p>
        </p:txBody>
      </p:sp>
      <p:sp>
        <p:nvSpPr>
          <p:cNvPr id="518" name="Google Shape;518;p46"/>
          <p:cNvSpPr/>
          <p:nvPr/>
        </p:nvSpPr>
        <p:spPr>
          <a:xfrm>
            <a:off x="2758817" y="2208172"/>
            <a:ext cx="6488370" cy="348093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519" name="Google Shape;519;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47"/>
          <p:cNvSpPr txBox="1">
            <a:spLocks noGrp="1"/>
          </p:cNvSpPr>
          <p:nvPr>
            <p:ph type="title"/>
          </p:nvPr>
        </p:nvSpPr>
        <p:spPr>
          <a:xfrm>
            <a:off x="762000" y="228600"/>
            <a:ext cx="3570770"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Giải thuật RING</a:t>
            </a:r>
            <a:endParaRPr/>
          </a:p>
        </p:txBody>
      </p:sp>
      <p:sp>
        <p:nvSpPr>
          <p:cNvPr id="526" name="Google Shape;526;p47"/>
          <p:cNvSpPr/>
          <p:nvPr/>
        </p:nvSpPr>
        <p:spPr>
          <a:xfrm>
            <a:off x="1728903" y="1849488"/>
            <a:ext cx="6881697" cy="334326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527" name="Google Shape;527;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48</a:t>
            </a:fld>
            <a:endParaRPr/>
          </a:p>
        </p:txBody>
      </p:sp>
      <p:sp>
        <p:nvSpPr>
          <p:cNvPr id="528" name="Google Shape;528;p47"/>
          <p:cNvSpPr txBox="1"/>
          <p:nvPr/>
        </p:nvSpPr>
        <p:spPr>
          <a:xfrm>
            <a:off x="1371600" y="5364498"/>
            <a:ext cx="9982200" cy="830997"/>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Các tiến trình có một ID duy nhất và được sắp xếp trên 1 vòng tròn Logic.</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Mỗi một tiến trình có thể nhận biết được tiến trình bên cạnh mình.</a:t>
            </a:r>
            <a:endParaRPr sz="24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48"/>
          <p:cNvSpPr txBox="1">
            <a:spLocks noGrp="1"/>
          </p:cNvSpPr>
          <p:nvPr>
            <p:ph type="title"/>
          </p:nvPr>
        </p:nvSpPr>
        <p:spPr>
          <a:xfrm>
            <a:off x="762000" y="377506"/>
            <a:ext cx="9906000"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Giải thuật bầu chọn cho mạng không dây (1)</a:t>
            </a:r>
            <a:endParaRPr/>
          </a:p>
        </p:txBody>
      </p:sp>
      <p:sp>
        <p:nvSpPr>
          <p:cNvPr id="535" name="Google Shape;535;p48"/>
          <p:cNvSpPr/>
          <p:nvPr/>
        </p:nvSpPr>
        <p:spPr>
          <a:xfrm>
            <a:off x="2096215" y="1613647"/>
            <a:ext cx="8131262" cy="352480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536" name="Google Shape;536;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49"/>
          <p:cNvSpPr txBox="1">
            <a:spLocks noGrp="1"/>
          </p:cNvSpPr>
          <p:nvPr>
            <p:ph type="title"/>
          </p:nvPr>
        </p:nvSpPr>
        <p:spPr>
          <a:xfrm>
            <a:off x="914400" y="283257"/>
            <a:ext cx="10125891"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Giải thuật bầu chọn cho mạng không dây (2)</a:t>
            </a:r>
            <a:endParaRPr/>
          </a:p>
        </p:txBody>
      </p:sp>
      <p:sp>
        <p:nvSpPr>
          <p:cNvPr id="543" name="Google Shape;543;p49"/>
          <p:cNvSpPr txBox="1"/>
          <p:nvPr/>
        </p:nvSpPr>
        <p:spPr>
          <a:xfrm>
            <a:off x="2430520" y="1715536"/>
            <a:ext cx="6671277" cy="1261341"/>
          </a:xfrm>
          <a:prstGeom prst="rect">
            <a:avLst/>
          </a:prstGeom>
          <a:noFill/>
          <a:ln>
            <a:noFill/>
          </a:ln>
        </p:spPr>
        <p:txBody>
          <a:bodyPr spcFirstLastPara="1" wrap="square" lIns="0" tIns="4025" rIns="0" bIns="0" anchor="t" anchorCtr="0">
            <a:spAutoFit/>
          </a:bodyPr>
          <a:lstStyle/>
          <a:p>
            <a:pPr marL="315827" marR="4611" lvl="0" indent="-304876" algn="just" rtl="0">
              <a:lnSpc>
                <a:spcPct val="101699"/>
              </a:lnSpc>
              <a:spcBef>
                <a:spcPts val="0"/>
              </a:spcBef>
              <a:spcAft>
                <a:spcPts val="0"/>
              </a:spcAft>
              <a:buClr>
                <a:srgbClr val="DD8047"/>
              </a:buClr>
              <a:buSzPts val="1634"/>
              <a:buFont typeface="Noto Sans Symbols"/>
              <a:buChar char="◻"/>
            </a:pPr>
            <a:r>
              <a:rPr lang="en-US" sz="2723">
                <a:solidFill>
                  <a:schemeClr val="dk1"/>
                </a:solidFill>
                <a:latin typeface="Times New Roman"/>
                <a:ea typeface="Times New Roman"/>
                <a:cs typeface="Times New Roman"/>
                <a:sym typeface="Times New Roman"/>
              </a:rPr>
              <a:t>Figure 6-22. Election algorithm in a wireless  network, with node a as the source. (a) Initial  network. (b)–(e) The build-tree phase</a:t>
            </a:r>
            <a:endParaRPr sz="2723">
              <a:solidFill>
                <a:schemeClr val="dk1"/>
              </a:solidFill>
              <a:latin typeface="Times New Roman"/>
              <a:ea typeface="Times New Roman"/>
              <a:cs typeface="Times New Roman"/>
              <a:sym typeface="Times New Roman"/>
            </a:endParaRPr>
          </a:p>
        </p:txBody>
      </p:sp>
      <p:sp>
        <p:nvSpPr>
          <p:cNvPr id="544" name="Google Shape;544;p49"/>
          <p:cNvSpPr/>
          <p:nvPr/>
        </p:nvSpPr>
        <p:spPr>
          <a:xfrm>
            <a:off x="2167317" y="1749804"/>
            <a:ext cx="7949729" cy="350059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545" name="Google Shape;545;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50"/>
          <p:cNvSpPr txBox="1">
            <a:spLocks noGrp="1"/>
          </p:cNvSpPr>
          <p:nvPr>
            <p:ph type="title"/>
          </p:nvPr>
        </p:nvSpPr>
        <p:spPr>
          <a:xfrm>
            <a:off x="762000" y="308006"/>
            <a:ext cx="10180320"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Giải thuật bầu chọn cho mạng không dây (3)</a:t>
            </a:r>
            <a:endParaRPr/>
          </a:p>
        </p:txBody>
      </p:sp>
      <p:sp>
        <p:nvSpPr>
          <p:cNvPr id="552" name="Google Shape;552;p50"/>
          <p:cNvSpPr/>
          <p:nvPr/>
        </p:nvSpPr>
        <p:spPr>
          <a:xfrm>
            <a:off x="2064447" y="2692266"/>
            <a:ext cx="8274977" cy="318140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553" name="Google Shape;553;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51"/>
          <p:cNvSpPr txBox="1">
            <a:spLocks noGrp="1"/>
          </p:cNvSpPr>
          <p:nvPr>
            <p:ph type="title"/>
          </p:nvPr>
        </p:nvSpPr>
        <p:spPr>
          <a:xfrm>
            <a:off x="891540" y="290098"/>
            <a:ext cx="8023860" cy="627192"/>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4000"/>
              <a:buFont typeface="Calibri"/>
              <a:buNone/>
            </a:pPr>
            <a:r>
              <a:rPr lang="en-US"/>
              <a:t>Bầu	chọn	cho	mạng	cỡ lớn	(1)</a:t>
            </a:r>
            <a:endParaRPr/>
          </a:p>
        </p:txBody>
      </p:sp>
      <p:sp>
        <p:nvSpPr>
          <p:cNvPr id="559" name="Google Shape;559;p51"/>
          <p:cNvSpPr txBox="1">
            <a:spLocks noGrp="1"/>
          </p:cNvSpPr>
          <p:nvPr>
            <p:ph type="body" idx="1"/>
          </p:nvPr>
        </p:nvSpPr>
        <p:spPr>
          <a:xfrm>
            <a:off x="891540" y="1470398"/>
            <a:ext cx="10462260" cy="4354615"/>
          </a:xfrm>
          <a:prstGeom prst="rect">
            <a:avLst/>
          </a:prstGeom>
          <a:noFill/>
          <a:ln>
            <a:noFill/>
          </a:ln>
        </p:spPr>
        <p:txBody>
          <a:bodyPr spcFirstLastPara="1" wrap="square" lIns="0" tIns="94500" rIns="0" bIns="0" anchor="t" anchorCtr="0">
            <a:spAutoFit/>
          </a:bodyPr>
          <a:lstStyle/>
          <a:p>
            <a:pPr marL="1089832" lvl="0" indent="-304876" algn="l" rtl="0">
              <a:lnSpc>
                <a:spcPct val="100000"/>
              </a:lnSpc>
              <a:spcBef>
                <a:spcPts val="0"/>
              </a:spcBef>
              <a:spcAft>
                <a:spcPts val="0"/>
              </a:spcAft>
              <a:buClr>
                <a:srgbClr val="DD8047"/>
              </a:buClr>
              <a:buSzPts val="1738"/>
              <a:buFont typeface="Noto Sans Symbols"/>
              <a:buChar char="◻"/>
            </a:pPr>
            <a:r>
              <a:rPr lang="en-US"/>
              <a:t>Yêu cầu cho các giải thuật chọn </a:t>
            </a:r>
            <a:r>
              <a:rPr lang="en-US" i="1"/>
              <a:t>superpeers</a:t>
            </a:r>
            <a:r>
              <a:rPr lang="en-US"/>
              <a:t>:</a:t>
            </a:r>
            <a:endParaRPr/>
          </a:p>
          <a:p>
            <a:pPr marL="1089832" marR="4611" lvl="0" indent="-304876" algn="l" rtl="0">
              <a:lnSpc>
                <a:spcPct val="103400"/>
              </a:lnSpc>
              <a:spcBef>
                <a:spcPts val="545"/>
              </a:spcBef>
              <a:spcAft>
                <a:spcPts val="0"/>
              </a:spcAft>
              <a:buClr>
                <a:srgbClr val="DD8047"/>
              </a:buClr>
              <a:buSzPts val="1738"/>
              <a:buAutoNum type="arabicPeriod"/>
            </a:pPr>
            <a:r>
              <a:rPr lang="en-US"/>
              <a:t>Các nút thường khi truy cập đến các superpeers phải có  độ trễ thấp</a:t>
            </a:r>
            <a:endParaRPr/>
          </a:p>
          <a:p>
            <a:pPr marL="1089832" marR="313521" lvl="0" indent="-304876" algn="l" rtl="0">
              <a:lnSpc>
                <a:spcPct val="100699"/>
              </a:lnSpc>
              <a:spcBef>
                <a:spcPts val="717"/>
              </a:spcBef>
              <a:spcAft>
                <a:spcPts val="0"/>
              </a:spcAft>
              <a:buClr>
                <a:srgbClr val="DD8047"/>
              </a:buClr>
              <a:buSzPts val="1738"/>
              <a:buAutoNum type="arabicPeriod"/>
            </a:pPr>
            <a:r>
              <a:rPr lang="en-US"/>
              <a:t>Các superpeers phải được phân tán đều trong toàn bộ  mạng overlay</a:t>
            </a:r>
            <a:endParaRPr/>
          </a:p>
          <a:p>
            <a:pPr marL="1089832" marR="281247" lvl="0" indent="-304876" algn="l" rtl="0">
              <a:lnSpc>
                <a:spcPct val="104099"/>
              </a:lnSpc>
              <a:spcBef>
                <a:spcPts val="613"/>
              </a:spcBef>
              <a:spcAft>
                <a:spcPts val="0"/>
              </a:spcAft>
              <a:buClr>
                <a:srgbClr val="DD8047"/>
              </a:buClr>
              <a:buSzPts val="1738"/>
              <a:buAutoNum type="arabicPeriod"/>
            </a:pPr>
            <a:r>
              <a:rPr lang="en-US"/>
              <a:t>Phải định trước tỷ lệ các nút superpeers trong tổng số  các nút trong mạng</a:t>
            </a:r>
            <a:endParaRPr/>
          </a:p>
          <a:p>
            <a:pPr marL="1089832" marR="102586" lvl="0" indent="-304876" algn="l" rtl="0">
              <a:lnSpc>
                <a:spcPct val="104099"/>
              </a:lnSpc>
              <a:spcBef>
                <a:spcPts val="504"/>
              </a:spcBef>
              <a:spcAft>
                <a:spcPts val="0"/>
              </a:spcAft>
              <a:buClr>
                <a:srgbClr val="DD8047"/>
              </a:buClr>
              <a:buSzPts val="1738"/>
              <a:buAutoNum type="arabicPeriod"/>
            </a:pPr>
            <a:r>
              <a:rPr lang="en-US"/>
              <a:t>Mỗi nút superpeers không được phục vụ quá nhiều nút  thường</a:t>
            </a:r>
            <a:endParaRPr/>
          </a:p>
        </p:txBody>
      </p:sp>
      <p:sp>
        <p:nvSpPr>
          <p:cNvPr id="560" name="Google Shape;560;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52"/>
          <p:cNvSpPr txBox="1">
            <a:spLocks noGrp="1"/>
          </p:cNvSpPr>
          <p:nvPr>
            <p:ph type="title"/>
          </p:nvPr>
        </p:nvSpPr>
        <p:spPr>
          <a:xfrm>
            <a:off x="914400" y="381000"/>
            <a:ext cx="5911711" cy="598274"/>
          </a:xfrm>
          <a:prstGeom prst="rect">
            <a:avLst/>
          </a:prstGeom>
          <a:noFill/>
          <a:ln>
            <a:noFill/>
          </a:ln>
        </p:spPr>
        <p:txBody>
          <a:bodyPr spcFirstLastPara="1" wrap="square" lIns="0" tIns="11525" rIns="0" bIns="0" anchor="ctr" anchorCtr="0">
            <a:spAutoFit/>
          </a:bodyPr>
          <a:lstStyle/>
          <a:p>
            <a:pPr marL="11527" lvl="0" indent="0" algn="l" rtl="0">
              <a:lnSpc>
                <a:spcPct val="100000"/>
              </a:lnSpc>
              <a:spcBef>
                <a:spcPts val="0"/>
              </a:spcBef>
              <a:spcAft>
                <a:spcPts val="0"/>
              </a:spcAft>
              <a:buClr>
                <a:schemeClr val="lt1"/>
              </a:buClr>
              <a:buSzPts val="3812"/>
              <a:buFont typeface="Calibri"/>
              <a:buNone/>
            </a:pPr>
            <a:r>
              <a:rPr lang="en-US" sz="3812"/>
              <a:t>Bầu	chọn	cho	mạng	cỡ lớn	(2)</a:t>
            </a:r>
            <a:endParaRPr/>
          </a:p>
        </p:txBody>
      </p:sp>
      <p:sp>
        <p:nvSpPr>
          <p:cNvPr id="566" name="Google Shape;566;p52"/>
          <p:cNvSpPr/>
          <p:nvPr/>
        </p:nvSpPr>
        <p:spPr>
          <a:xfrm>
            <a:off x="2088651" y="1941920"/>
            <a:ext cx="8101009" cy="261410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634">
              <a:solidFill>
                <a:schemeClr val="dk1"/>
              </a:solidFill>
              <a:latin typeface="Calibri"/>
              <a:ea typeface="Calibri"/>
              <a:cs typeface="Calibri"/>
              <a:sym typeface="Calibri"/>
            </a:endParaRPr>
          </a:p>
        </p:txBody>
      </p:sp>
      <p:sp>
        <p:nvSpPr>
          <p:cNvPr id="567" name="Google Shape;567;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38100" lvl="0" indent="0" algn="r" rtl="0">
              <a:spcBef>
                <a:spcPts val="0"/>
              </a:spcBef>
              <a:spcAft>
                <a:spcPts val="0"/>
              </a:spcAft>
              <a:buNone/>
            </a:pPr>
            <a:fld id="{00000000-1234-1234-1234-123412341234}" type="slidenum">
              <a:rPr lang="en-US"/>
              <a:t>53</a:t>
            </a:fld>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5277</Words>
  <Application>Microsoft Office PowerPoint</Application>
  <PresentationFormat>Widescreen</PresentationFormat>
  <Paragraphs>453</Paragraphs>
  <Slides>53</Slides>
  <Notes>53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arial</vt:lpstr>
      <vt:lpstr>Comic Sans MS</vt:lpstr>
      <vt:lpstr>Noto Sans Symbols</vt:lpstr>
      <vt:lpstr>Times New Roman</vt:lpstr>
      <vt:lpstr>Calibri</vt:lpstr>
      <vt:lpstr>Open Sans</vt:lpstr>
      <vt:lpstr>Office Theme</vt:lpstr>
      <vt:lpstr>ỨNG DỤNG PHÂN TÁN V-VI. Đồng bộ hoá</vt:lpstr>
      <vt:lpstr>Nội dung</vt:lpstr>
      <vt:lpstr>Mở đầu</vt:lpstr>
      <vt:lpstr>Mở đầu</vt:lpstr>
      <vt:lpstr>1. Đồng bộ hóa đồng hồ vật lý</vt:lpstr>
      <vt:lpstr>Ví dụ 1: Lập trình trong HPT</vt:lpstr>
      <vt:lpstr>Ví dụ 1: Lập trình trong HPT</vt:lpstr>
      <vt:lpstr>Đồng hồ vật lý (ĐHVL)</vt:lpstr>
      <vt:lpstr>Các thuật toán đồng bộ hóa đồng  hồ vật lý</vt:lpstr>
      <vt:lpstr>Cristian’s Algorithm</vt:lpstr>
      <vt:lpstr>Cristian’s Algorithm</vt:lpstr>
      <vt:lpstr>Cristian’s Algorithm</vt:lpstr>
      <vt:lpstr>Cristian’s Algorithm</vt:lpstr>
      <vt:lpstr>The Berkeley Algorithm (1)</vt:lpstr>
      <vt:lpstr>The Berkeley Algorithm (2)</vt:lpstr>
      <vt:lpstr>The Berkeley Algorithm (3)</vt:lpstr>
      <vt:lpstr>The Berkeley Algorithm (4)</vt:lpstr>
      <vt:lpstr>Đồng bộ hóa ĐHVL trong các mạng không dây (1)</vt:lpstr>
      <vt:lpstr>Đồng bộ hóa ĐHVL trong các mạng không  dây (2)</vt:lpstr>
      <vt:lpstr>2. Đồng bộ hóa đồng hồ logic</vt:lpstr>
      <vt:lpstr>2.1. Cơ chế ĐBH đồng hồ logic của  Lamport (1)</vt:lpstr>
      <vt:lpstr>Cơ chế ĐBH đồng hồ logic của  Lamport (2)</vt:lpstr>
      <vt:lpstr>Cơ chế ĐBH đồng hồ logic của Lamport (3)</vt:lpstr>
      <vt:lpstr>Cơ chế đbh đồng hồ logic của  Lamport (4)</vt:lpstr>
      <vt:lpstr>Cơ chế đbh đồng hồ logic của  Lamport (5)</vt:lpstr>
      <vt:lpstr>Bài tập</vt:lpstr>
      <vt:lpstr>Bài tập</vt:lpstr>
      <vt:lpstr>Bài tập</vt:lpstr>
      <vt:lpstr>2.2. Vector Clocks (1)</vt:lpstr>
      <vt:lpstr>Vector Clocks (2)</vt:lpstr>
      <vt:lpstr>Vector Clocks (3)</vt:lpstr>
      <vt:lpstr>Thực thi trao đổi thông tin có tính nhân quả</vt:lpstr>
      <vt:lpstr>3. Các thuật toán loại trừ lẫn nhau</vt:lpstr>
      <vt:lpstr>3.1. Giải thuật tập trung (1)</vt:lpstr>
      <vt:lpstr>Giải thuật tập trung (2)</vt:lpstr>
      <vt:lpstr>Giải thuật tập trung (3)</vt:lpstr>
      <vt:lpstr>3.2. Giải thuật phân tán (1)</vt:lpstr>
      <vt:lpstr>Giải thuật phân tán (2)</vt:lpstr>
      <vt:lpstr>Giải thuật phân tán (3)</vt:lpstr>
      <vt:lpstr>Giải thuật phân tán (4)</vt:lpstr>
      <vt:lpstr>Giải thuật phân tán (5)</vt:lpstr>
      <vt:lpstr>3.3. Giải thuật Token Ring</vt:lpstr>
      <vt:lpstr>Token Ring algorithm</vt:lpstr>
      <vt:lpstr>4. Các giải thuật bầu chọn</vt:lpstr>
      <vt:lpstr>Các giải thuật bầu chọn</vt:lpstr>
      <vt:lpstr>Giải thuật BULLY (1)</vt:lpstr>
      <vt:lpstr>Giải thuật BULLY (2)</vt:lpstr>
      <vt:lpstr>Giải thuật RING</vt:lpstr>
      <vt:lpstr>Giải thuật bầu chọn cho mạng không dây (1)</vt:lpstr>
      <vt:lpstr>Giải thuật bầu chọn cho mạng không dây (2)</vt:lpstr>
      <vt:lpstr>Giải thuật bầu chọn cho mạng không dây (3)</vt:lpstr>
      <vt:lpstr>Bầu chọn cho mạng cỡ lớn (1)</vt:lpstr>
      <vt:lpstr>Bầu chọn cho mạng cỡ lớn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Luong Vi Minh</dc:creator>
  <cp:lastModifiedBy>LAB 305B</cp:lastModifiedBy>
  <cp:revision>2</cp:revision>
  <dcterms:created xsi:type="dcterms:W3CDTF">2022-01-10T03:14:20Z</dcterms:created>
  <dcterms:modified xsi:type="dcterms:W3CDTF">2024-12-27T04:02:18Z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2017-06-16T00:00:00Z</vt:filetime>
  </property>
  <property fmtid="{D5CDD505-2E9C-101B-9397-08002B2CF9AE}" pid="3" name="Creator">
    <vt:lpwstr>Microsoft® PowerPoint® 2010</vt:lpwstr>
  </property>
  <property fmtid="{D5CDD505-2E9C-101B-9397-08002B2CF9AE}" pid="4" name="LastSaved">
    <vt:filetime>2022-01-10T00:00:00Z</vt:filetime>
  </property>
</Properties>
</file>