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9144000" cy="6858000"/>
  <p:embeddedFontLst>
    <p:embeddedFont>
      <p:font typeface="Open Sans" pitchFamily="2" charset="0"/>
      <p:regular r:id="rId33"/>
      <p:bold r:id="rId34"/>
      <p:italic r:id="rId35"/>
      <p:boldItalic r:id="rId36"/>
    </p:embeddedFont>
    <p:embeddedFont>
      <p:font typeface="Trebuchet MS" panose="020B0603020202020204"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ht1AJhu742dhIr0jVAl37RXee0I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103" autoAdjust="0"/>
  </p:normalViewPr>
  <p:slideViewPr>
    <p:cSldViewPr snapToGrid="0">
      <p:cViewPr varScale="1">
        <p:scale>
          <a:sx n="76" d="100"/>
          <a:sy n="76" d="100"/>
        </p:scale>
        <p:origin x="1836" y="54"/>
      </p:cViewPr>
      <p:guideLst>
        <p:guide orient="horz" pos="288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20" Type="http://schemas.openxmlformats.org/officeDocument/2006/relationships/slide" Target="slides/slide19.xml"/><Relationship Id="rId4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44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44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3962400" cy="3444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2: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4: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5: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6: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6: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CB0F0"/>
              </a:buClr>
              <a:buSzPts val="1200"/>
              <a:buFont typeface="Open Sans"/>
              <a:buNone/>
            </a:pPr>
            <a:r>
              <a:rPr lang="en-US" sz="1200" b="0" i="0">
                <a:solidFill>
                  <a:srgbClr val="2CB0F0"/>
                </a:solidFill>
                <a:latin typeface="Open Sans"/>
                <a:ea typeface="Open Sans"/>
                <a:cs typeface="Open Sans"/>
                <a:sym typeface="Open Sans"/>
              </a:rPr>
              <a:t>Một thực tế có thể di chuyển từ AP này sang AP khác</a:t>
            </a:r>
            <a:endParaRPr sz="1200" b="0" i="0">
              <a:solidFill>
                <a:srgbClr val="2CB0F0"/>
              </a:solidFill>
              <a:latin typeface="Open Sans"/>
              <a:ea typeface="Open Sans"/>
              <a:cs typeface="Open Sans"/>
              <a:sym typeface="Open Sans"/>
            </a:endParaRPr>
          </a:p>
          <a:p>
            <a:pPr marL="0" marR="0" lvl="0" indent="0" algn="l" rtl="0">
              <a:lnSpc>
                <a:spcPct val="100000"/>
              </a:lnSpc>
              <a:spcBef>
                <a:spcPts val="0"/>
              </a:spcBef>
              <a:spcAft>
                <a:spcPts val="0"/>
              </a:spcAft>
              <a:buClr>
                <a:srgbClr val="2CB0F0"/>
              </a:buClr>
              <a:buSzPts val="1200"/>
              <a:buFont typeface="Open Sans"/>
              <a:buNone/>
            </a:pPr>
            <a:r>
              <a:rPr lang="en-US" sz="1200" b="0" i="0">
                <a:solidFill>
                  <a:srgbClr val="2CB0F0"/>
                </a:solidFill>
                <a:latin typeface="Open Sans"/>
                <a:ea typeface="Open Sans"/>
                <a:cs typeface="Open Sans"/>
                <a:sym typeface="Open Sans"/>
              </a:rPr>
              <a:t>Một AP có thể gắn với 1 thực thể khác =&gt; không thể sử dụng địa chỉ của AP để xác định thực thể (định danh)</a:t>
            </a:r>
            <a:endParaRPr sz="1200" b="0" i="0">
              <a:solidFill>
                <a:srgbClr val="2CB0F0"/>
              </a:solidFill>
              <a:latin typeface="Open Sans"/>
              <a:ea typeface="Open Sans"/>
              <a:cs typeface="Open Sans"/>
              <a:sym typeface="Open Sans"/>
            </a:endParaRPr>
          </a:p>
          <a:p>
            <a:pPr marL="0" lvl="0" indent="0" algn="l" rtl="0">
              <a:spcBef>
                <a:spcPts val="0"/>
              </a:spcBef>
              <a:spcAft>
                <a:spcPts val="0"/>
              </a:spcAft>
              <a:buNone/>
            </a:pPr>
            <a:endParaRPr/>
          </a:p>
        </p:txBody>
      </p:sp>
      <p:sp>
        <p:nvSpPr>
          <p:cNvPr id="142" name="Google Shape;142;p6: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7: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7: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8: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8: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9: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9: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0: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10: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1: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2: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2: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13: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4: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14: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a:solidFill>
                  <a:srgbClr val="1B1B1B"/>
                </a:solidFill>
              </a:rPr>
              <a:t>ARP được sử dụng để phân giải địa chỉ IP sang MAC trong mạng LAN</a:t>
            </a:r>
            <a:endParaRPr/>
          </a:p>
          <a:p>
            <a:pPr marL="0" lvl="0" indent="0" algn="l" rtl="0">
              <a:spcBef>
                <a:spcPts val="0"/>
              </a:spcBef>
              <a:spcAft>
                <a:spcPts val="0"/>
              </a:spcAft>
              <a:buNone/>
            </a:pPr>
            <a:r>
              <a:rPr lang="en-US" sz="1200" b="0" i="0">
                <a:solidFill>
                  <a:srgbClr val="1B1B1B"/>
                </a:solidFill>
              </a:rPr>
              <a:t>Trao đổi thông tin trong mạng LAN là sử dụng địa chỉ MAC =&gt; </a:t>
            </a:r>
            <a:endParaRPr/>
          </a:p>
          <a:p>
            <a:pPr marL="0" lvl="0" indent="0" algn="l" rtl="0">
              <a:spcBef>
                <a:spcPts val="0"/>
              </a:spcBef>
              <a:spcAft>
                <a:spcPts val="0"/>
              </a:spcAft>
              <a:buNone/>
            </a:pPr>
            <a:endParaRPr/>
          </a:p>
        </p:txBody>
      </p:sp>
      <p:sp>
        <p:nvSpPr>
          <p:cNvPr id="239" name="Google Shape;239;p14: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15: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6: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16: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7: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17: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8: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p18: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9: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p19: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Mỗi thực thể sẽ được gắn với một home-agent =&gt; một home-agent quản lý một nhóm client</a:t>
            </a:r>
            <a:endParaRPr/>
          </a:p>
          <a:p>
            <a:pPr marL="228600" lvl="0" indent="-228600" algn="l" rtl="0">
              <a:spcBef>
                <a:spcPts val="0"/>
              </a:spcBef>
              <a:spcAft>
                <a:spcPts val="0"/>
              </a:spcAft>
              <a:buClr>
                <a:schemeClr val="dk1"/>
              </a:buClr>
              <a:buSzPts val="1200"/>
              <a:buFont typeface="Calibri"/>
              <a:buAutoNum type="arabicPeriod"/>
            </a:pPr>
            <a:r>
              <a:rPr lang="en-US"/>
              <a:t>Mỗi lần client muốn phân giải địa chỉ của 1 thực thể, nó gửi yêu cầu đến home</a:t>
            </a:r>
            <a:endParaRPr/>
          </a:p>
          <a:p>
            <a:pPr marL="228600" lvl="0" indent="-228600" algn="l" rtl="0">
              <a:spcBef>
                <a:spcPts val="0"/>
              </a:spcBef>
              <a:spcAft>
                <a:spcPts val="0"/>
              </a:spcAft>
              <a:buClr>
                <a:schemeClr val="dk1"/>
              </a:buClr>
              <a:buSzPts val="1200"/>
              <a:buFont typeface="Calibri"/>
              <a:buAutoNum type="arabicPeriod"/>
            </a:pPr>
            <a:r>
              <a:rPr lang="en-US"/>
              <a:t>Home agent xác định (3) gửi trả lại địa chỉ (3) cho client</a:t>
            </a:r>
            <a:endParaRPr/>
          </a:p>
        </p:txBody>
      </p:sp>
      <p:sp>
        <p:nvSpPr>
          <p:cNvPr id="285" name="Google Shape;285;p19: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0: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p20: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Nhược điểm: thời gian hệ thống càng lâu, thực thể có thể chuyển động xa home agent. Đôi khi thực thể ở gần client, nhưng lại phải đi 1 quãng đường xa</a:t>
            </a:r>
            <a:endParaRPr/>
          </a:p>
          <a:p>
            <a:pPr marL="0" lvl="0" indent="0" algn="l" rtl="0">
              <a:spcBef>
                <a:spcPts val="0"/>
              </a:spcBef>
              <a:spcAft>
                <a:spcPts val="0"/>
              </a:spcAft>
              <a:buNone/>
            </a:pPr>
            <a:r>
              <a:rPr lang="en-US"/>
              <a:t>Giải pháp: Gắn lại home agent mới cho thực thể khi chúng di chuyển đủ xa và đủ lâu ra tới gần một home agent mới</a:t>
            </a:r>
            <a:endParaRPr/>
          </a:p>
        </p:txBody>
      </p:sp>
      <p:sp>
        <p:nvSpPr>
          <p:cNvPr id="295" name="Google Shape;295;p20: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1: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p21: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21: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2: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5" name="Google Shape;315;p22: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6" name="Google Shape;316;p22: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3: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6" name="Google Shape;326;p23: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23: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24: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7" name="Google Shape;337;p24: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p24: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25: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9" name="Google Shape;349;p25: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Hình  thể hiện bảng finger của nút 8 . Finger đầu tiên được trỏ đến nút 14 dó 14 là nút liền sau (8+2</a:t>
            </a:r>
            <a:r>
              <a:rPr lang="en-US" sz="1800" baseline="30000">
                <a:latin typeface="Times New Roman"/>
                <a:ea typeface="Times New Roman"/>
                <a:cs typeface="Times New Roman"/>
                <a:sym typeface="Times New Roman"/>
              </a:rPr>
              <a:t>0</a:t>
            </a:r>
            <a:r>
              <a:rPr lang="en-US" sz="1800">
                <a:latin typeface="Times New Roman"/>
                <a:ea typeface="Times New Roman"/>
                <a:cs typeface="Times New Roman"/>
                <a:sym typeface="Times New Roman"/>
              </a:rPr>
              <a:t>)  mod 2</a:t>
            </a:r>
            <a:r>
              <a:rPr lang="en-US" sz="1800" baseline="30000">
                <a:latin typeface="Times New Roman"/>
                <a:ea typeface="Times New Roman"/>
                <a:cs typeface="Times New Roman"/>
                <a:sym typeface="Times New Roman"/>
              </a:rPr>
              <a:t>6</a:t>
            </a:r>
            <a:r>
              <a:rPr lang="en-US" sz="1800">
                <a:latin typeface="Times New Roman"/>
                <a:ea typeface="Times New Roman"/>
                <a:cs typeface="Times New Roman"/>
                <a:sym typeface="Times New Roman"/>
              </a:rPr>
              <a:t> = 9. Tương tự finger cuối cùng của nút 8 trỏ đến nút 42 do 42 là nút liền sau (8+2</a:t>
            </a:r>
            <a:r>
              <a:rPr lang="en-US" sz="1800" baseline="30000">
                <a:latin typeface="Times New Roman"/>
                <a:ea typeface="Times New Roman"/>
                <a:cs typeface="Times New Roman"/>
                <a:sym typeface="Times New Roman"/>
              </a:rPr>
              <a:t>5</a:t>
            </a:r>
            <a:r>
              <a:rPr lang="en-US" sz="1800">
                <a:latin typeface="Times New Roman"/>
                <a:ea typeface="Times New Roman"/>
                <a:cs typeface="Times New Roman"/>
                <a:sym typeface="Times New Roman"/>
              </a:rPr>
              <a:t>) mod 2</a:t>
            </a:r>
            <a:r>
              <a:rPr lang="en-US" sz="1800" baseline="30000">
                <a:latin typeface="Times New Roman"/>
                <a:ea typeface="Times New Roman"/>
                <a:cs typeface="Times New Roman"/>
                <a:sym typeface="Times New Roman"/>
              </a:rPr>
              <a:t>6</a:t>
            </a:r>
            <a:r>
              <a:rPr lang="en-US" sz="1800">
                <a:latin typeface="Times New Roman"/>
                <a:ea typeface="Times New Roman"/>
                <a:cs typeface="Times New Roman"/>
                <a:sym typeface="Times New Roman"/>
              </a:rPr>
              <a:t> = 40. Có thể dễ nhận xét thấy với các thiết lập như vậy: một nút chỉ lưu thông tin về một số giới hạn các nút có trong mạng, một nút cũng chỉ biết đến một số nút nằm gần với nó. Một nút cũng không lưu trữ đủ thông tin để có thể ngay lập tức tìm được successor của một khóa k.</a:t>
            </a:r>
            <a:endParaRPr sz="1800">
              <a:latin typeface="Times New Roman"/>
              <a:ea typeface="Times New Roman"/>
              <a:cs typeface="Times New Roman"/>
              <a:sym typeface="Times New Roman"/>
            </a:endParaRPr>
          </a:p>
          <a:p>
            <a:pPr marL="0" lvl="0" indent="0" algn="l" rtl="0">
              <a:spcBef>
                <a:spcPts val="0"/>
              </a:spcBef>
              <a:spcAft>
                <a:spcPts val="0"/>
              </a:spcAft>
              <a:buNone/>
            </a:pPr>
            <a:endParaRPr/>
          </a:p>
        </p:txBody>
      </p:sp>
      <p:sp>
        <p:nvSpPr>
          <p:cNvPr id="350" name="Google Shape;350;p25: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26: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 name="Google Shape;360;p26: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 name="Google Shape;361;p26: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27: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3" name="Google Shape;373;p27: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Cho hệ thống cord</a:t>
            </a:r>
            <a:endParaRPr/>
          </a:p>
          <a:p>
            <a:pPr marL="0" lvl="0" indent="0" algn="l" rtl="0">
              <a:spcBef>
                <a:spcPts val="0"/>
              </a:spcBef>
              <a:spcAft>
                <a:spcPts val="0"/>
              </a:spcAft>
              <a:buNone/>
            </a:pPr>
            <a:r>
              <a:rPr lang="en-US"/>
              <a:t>Mỗi nút được xây dựng bản Finger table, giá trị mỗi nút được xác định bởi hàm succ</a:t>
            </a:r>
            <a:endParaRPr/>
          </a:p>
          <a:p>
            <a:pPr marL="0" marR="0" lvl="0" indent="0" algn="l" rtl="0">
              <a:lnSpc>
                <a:spcPct val="100000"/>
              </a:lnSpc>
              <a:spcBef>
                <a:spcPts val="0"/>
              </a:spcBef>
              <a:spcAft>
                <a:spcPts val="0"/>
              </a:spcAft>
              <a:buClr>
                <a:schemeClr val="dk1"/>
              </a:buClr>
              <a:buSzPts val="1200"/>
              <a:buFont typeface="Calibri"/>
              <a:buNone/>
            </a:pPr>
            <a:r>
              <a:rPr lang="en-US"/>
              <a:t>Khi nút số 1 muốn tìm kiếm khoá 26:</a:t>
            </a:r>
            <a:endParaRPr/>
          </a:p>
          <a:p>
            <a:pPr marL="0" lvl="0" indent="0" algn="l" rtl="0">
              <a:spcBef>
                <a:spcPts val="0"/>
              </a:spcBef>
              <a:spcAft>
                <a:spcPts val="0"/>
              </a:spcAft>
              <a:buNone/>
            </a:pPr>
            <a:r>
              <a:rPr lang="en-US"/>
              <a:t>26 lớn hơn 18 =&gt; gửi đến 18</a:t>
            </a:r>
            <a:endParaRPr/>
          </a:p>
          <a:p>
            <a:pPr marL="0" lvl="0" indent="0" algn="l" rtl="0">
              <a:spcBef>
                <a:spcPts val="0"/>
              </a:spcBef>
              <a:spcAft>
                <a:spcPts val="0"/>
              </a:spcAft>
              <a:buNone/>
            </a:pPr>
            <a:r>
              <a:rPr lang="en-US"/>
              <a:t>26 nằm giữa 20 và 28 =&gt; chuyển tiếp đến 20</a:t>
            </a:r>
            <a:endParaRPr/>
          </a:p>
          <a:p>
            <a:pPr marL="0" lvl="0" indent="0" algn="l" rtl="0">
              <a:spcBef>
                <a:spcPts val="0"/>
              </a:spcBef>
              <a:spcAft>
                <a:spcPts val="0"/>
              </a:spcAft>
              <a:buNone/>
            </a:pPr>
            <a:r>
              <a:rPr lang="en-US"/>
              <a:t>20 nằm giữa 21 và 28 =&gt; chuyển tiếp đến 21</a:t>
            </a:r>
            <a:endParaRPr/>
          </a:p>
        </p:txBody>
      </p:sp>
      <p:sp>
        <p:nvSpPr>
          <p:cNvPr id="374" name="Google Shape;374;p27: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28: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4" name="Google Shape;384;p28: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29: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p29: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31fcd073894_0_7: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2" name="Google Shape;402;g31fcd073894_0_7:notes"/>
          <p:cNvSpPr txBox="1">
            <a:spLocks noGrp="1"/>
          </p:cNvSpPr>
          <p:nvPr>
            <p:ph type="body" idx="1"/>
          </p:nvPr>
        </p:nvSpPr>
        <p:spPr>
          <a:xfrm>
            <a:off x="914400" y="3300413"/>
            <a:ext cx="7315200" cy="2700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3" name="Google Shape;403;g31fcd073894_0_7:notes"/>
          <p:cNvSpPr txBox="1">
            <a:spLocks noGrp="1"/>
          </p:cNvSpPr>
          <p:nvPr>
            <p:ph type="sldNum" idx="12"/>
          </p:nvPr>
        </p:nvSpPr>
        <p:spPr>
          <a:xfrm>
            <a:off x="5180013" y="6513513"/>
            <a:ext cx="3962400" cy="3444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3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3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9"/>
          <p:cNvSpPr>
            <a:spLocks noGrp="1"/>
          </p:cNvSpPr>
          <p:nvPr>
            <p:ph type="pic" idx="2"/>
          </p:nvPr>
        </p:nvSpPr>
        <p:spPr>
          <a:xfrm>
            <a:off x="5183188" y="987425"/>
            <a:ext cx="6172200" cy="4873625"/>
          </a:xfrm>
          <a:prstGeom prst="rect">
            <a:avLst/>
          </a:prstGeom>
          <a:noFill/>
          <a:ln>
            <a:noFill/>
          </a:ln>
        </p:spPr>
      </p:sp>
      <p:sp>
        <p:nvSpPr>
          <p:cNvPr id="68" name="Google Shape;68;p3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marR="0" lvl="0" indent="0" algn="r" rtl="0">
              <a:spcBef>
                <a:spcPts val="0"/>
              </a:spcBef>
              <a:buNone/>
              <a:defRPr sz="1200" b="0" i="0" u="none" strike="noStrike" cap="none">
                <a:solidFill>
                  <a:srgbClr val="888888"/>
                </a:solidFill>
                <a:latin typeface="Calibri"/>
                <a:ea typeface="Calibri"/>
                <a:cs typeface="Calibri"/>
                <a:sym typeface="Calibri"/>
              </a:defRPr>
            </a:lvl1pPr>
            <a:lvl2pPr marL="38100" marR="0" lvl="1" indent="0" algn="r" rtl="0">
              <a:spcBef>
                <a:spcPts val="0"/>
              </a:spcBef>
              <a:buNone/>
              <a:defRPr sz="1200" b="0" i="0" u="none" strike="noStrike" cap="none">
                <a:solidFill>
                  <a:srgbClr val="888888"/>
                </a:solidFill>
                <a:latin typeface="Calibri"/>
                <a:ea typeface="Calibri"/>
                <a:cs typeface="Calibri"/>
                <a:sym typeface="Calibri"/>
              </a:defRPr>
            </a:lvl2pPr>
            <a:lvl3pPr marL="38100" marR="0" lvl="2" indent="0" algn="r" rtl="0">
              <a:spcBef>
                <a:spcPts val="0"/>
              </a:spcBef>
              <a:buNone/>
              <a:defRPr sz="1200" b="0" i="0" u="none" strike="noStrike" cap="none">
                <a:solidFill>
                  <a:srgbClr val="888888"/>
                </a:solidFill>
                <a:latin typeface="Calibri"/>
                <a:ea typeface="Calibri"/>
                <a:cs typeface="Calibri"/>
                <a:sym typeface="Calibri"/>
              </a:defRPr>
            </a:lvl3pPr>
            <a:lvl4pPr marL="38100" marR="0" lvl="3" indent="0" algn="r" rtl="0">
              <a:spcBef>
                <a:spcPts val="0"/>
              </a:spcBef>
              <a:buNone/>
              <a:defRPr sz="1200" b="0" i="0" u="none" strike="noStrike" cap="none">
                <a:solidFill>
                  <a:srgbClr val="888888"/>
                </a:solidFill>
                <a:latin typeface="Calibri"/>
                <a:ea typeface="Calibri"/>
                <a:cs typeface="Calibri"/>
                <a:sym typeface="Calibri"/>
              </a:defRPr>
            </a:lvl4pPr>
            <a:lvl5pPr marL="38100" marR="0" lvl="4" indent="0" algn="r" rtl="0">
              <a:spcBef>
                <a:spcPts val="0"/>
              </a:spcBef>
              <a:buNone/>
              <a:defRPr sz="1200" b="0" i="0" u="none" strike="noStrike" cap="none">
                <a:solidFill>
                  <a:srgbClr val="888888"/>
                </a:solidFill>
                <a:latin typeface="Calibri"/>
                <a:ea typeface="Calibri"/>
                <a:cs typeface="Calibri"/>
                <a:sym typeface="Calibri"/>
              </a:defRPr>
            </a:lvl5pPr>
            <a:lvl6pPr marL="38100" marR="0" lvl="5" indent="0" algn="r" rtl="0">
              <a:spcBef>
                <a:spcPts val="0"/>
              </a:spcBef>
              <a:buNone/>
              <a:defRPr sz="1200" b="0" i="0" u="none" strike="noStrike" cap="none">
                <a:solidFill>
                  <a:srgbClr val="888888"/>
                </a:solidFill>
                <a:latin typeface="Calibri"/>
                <a:ea typeface="Calibri"/>
                <a:cs typeface="Calibri"/>
                <a:sym typeface="Calibri"/>
              </a:defRPr>
            </a:lvl6pPr>
            <a:lvl7pPr marL="38100" marR="0" lvl="6" indent="0" algn="r" rtl="0">
              <a:spcBef>
                <a:spcPts val="0"/>
              </a:spcBef>
              <a:buNone/>
              <a:defRPr sz="1200" b="0" i="0" u="none" strike="noStrike" cap="none">
                <a:solidFill>
                  <a:srgbClr val="888888"/>
                </a:solidFill>
                <a:latin typeface="Calibri"/>
                <a:ea typeface="Calibri"/>
                <a:cs typeface="Calibri"/>
                <a:sym typeface="Calibri"/>
              </a:defRPr>
            </a:lvl7pPr>
            <a:lvl8pPr marL="38100" marR="0" lvl="7" indent="0" algn="r" rtl="0">
              <a:spcBef>
                <a:spcPts val="0"/>
              </a:spcBef>
              <a:buNone/>
              <a:defRPr sz="1200" b="0" i="0" u="none" strike="noStrike" cap="none">
                <a:solidFill>
                  <a:srgbClr val="888888"/>
                </a:solidFill>
                <a:latin typeface="Calibri"/>
                <a:ea typeface="Calibri"/>
                <a:cs typeface="Calibri"/>
                <a:sym typeface="Calibri"/>
              </a:defRPr>
            </a:lvl8pPr>
            <a:lvl9pPr marL="3810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3810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www.motvidu.com"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lt1"/>
        </a:solidFill>
        <a:effectLst/>
      </p:bgPr>
    </p:bg>
    <p:spTree>
      <p:nvGrpSpPr>
        <p:cNvPr id="1" name="Shape 87"/>
        <p:cNvGrpSpPr/>
        <p:nvPr/>
      </p:nvGrpSpPr>
      <p:grpSpPr>
        <a:xfrm>
          <a:off x="0" y="0"/>
          <a:ext cx="0" cy="0"/>
          <a:chOff x="0" y="0"/>
          <a:chExt cx="0" cy="0"/>
        </a:xfrm>
      </p:grpSpPr>
      <p:sp>
        <p:nvSpPr>
          <p:cNvPr id="88" name="Google Shape;88;p1"/>
          <p:cNvSpPr txBox="1"/>
          <p:nvPr/>
        </p:nvSpPr>
        <p:spPr>
          <a:xfrm>
            <a:off x="3536442" y="1281810"/>
            <a:ext cx="2564130" cy="299720"/>
          </a:xfrm>
          <a:prstGeom prst="rect">
            <a:avLst/>
          </a:prstGeom>
          <a:noFill/>
          <a:ln>
            <a:noFill/>
          </a:ln>
        </p:spPr>
        <p:txBody>
          <a:bodyPr spcFirstLastPara="1" wrap="square" lIns="0" tIns="12700" rIns="0" bIns="0" anchor="t" anchorCtr="0">
            <a:spAutoFit/>
          </a:bodyPr>
          <a:lstStyle/>
          <a:p>
            <a:pPr marL="12700" marR="0" lvl="0" indent="0" algn="l" rtl="0">
              <a:spcBef>
                <a:spcPts val="0"/>
              </a:spcBef>
              <a:spcAft>
                <a:spcPts val="0"/>
              </a:spcAft>
              <a:buNone/>
            </a:pPr>
            <a:r>
              <a:rPr lang="en-US" sz="1800" b="0" i="0" u="none" strike="noStrike" cap="none">
                <a:solidFill>
                  <a:srgbClr val="FFFFFF"/>
                </a:solidFill>
                <a:latin typeface="Arial"/>
                <a:ea typeface="Arial"/>
                <a:cs typeface="Arial"/>
                <a:sym typeface="Arial"/>
              </a:rPr>
              <a:t>Thiết kế và lập trình Web</a:t>
            </a:r>
            <a:endParaRPr sz="1800" b="0" i="0" u="none" strike="noStrike" cap="none">
              <a:solidFill>
                <a:schemeClr val="dk1"/>
              </a:solidFill>
              <a:latin typeface="Arial"/>
              <a:ea typeface="Arial"/>
              <a:cs typeface="Arial"/>
              <a:sym typeface="Arial"/>
            </a:endParaRPr>
          </a:p>
        </p:txBody>
      </p:sp>
      <p:sp>
        <p:nvSpPr>
          <p:cNvPr id="89" name="Google Shape;89;p1"/>
          <p:cNvSpPr txBox="1"/>
          <p:nvPr/>
        </p:nvSpPr>
        <p:spPr>
          <a:xfrm>
            <a:off x="7129653" y="5349951"/>
            <a:ext cx="2698750" cy="452120"/>
          </a:xfrm>
          <a:prstGeom prst="rect">
            <a:avLst/>
          </a:prstGeom>
          <a:noFill/>
          <a:ln>
            <a:noFill/>
          </a:ln>
        </p:spPr>
        <p:txBody>
          <a:bodyPr spcFirstLastPara="1" wrap="square" lIns="0" tIns="12050" rIns="0" bIns="0" anchor="t" anchorCtr="0">
            <a:spAutoFit/>
          </a:bodyPr>
          <a:lstStyle/>
          <a:p>
            <a:pPr marL="12700" marR="0" lvl="0" indent="0" algn="l" rtl="0">
              <a:spcBef>
                <a:spcPts val="0"/>
              </a:spcBef>
              <a:spcAft>
                <a:spcPts val="0"/>
              </a:spcAft>
              <a:buNone/>
            </a:pPr>
            <a:r>
              <a:rPr lang="en-US" sz="2800" b="1" i="1" u="none" strike="noStrike" cap="none">
                <a:solidFill>
                  <a:srgbClr val="FFFFFF"/>
                </a:solidFill>
                <a:latin typeface="Arial"/>
                <a:ea typeface="Arial"/>
                <a:cs typeface="Arial"/>
                <a:sym typeface="Arial"/>
              </a:rPr>
              <a:t>Viện CNTT &amp; TT</a:t>
            </a:r>
            <a:endParaRPr sz="2800" b="0" i="0" u="none" strike="noStrike" cap="none">
              <a:solidFill>
                <a:schemeClr val="dk1"/>
              </a:solidFill>
              <a:latin typeface="Arial"/>
              <a:ea typeface="Arial"/>
              <a:cs typeface="Arial"/>
              <a:sym typeface="Arial"/>
            </a:endParaRPr>
          </a:p>
        </p:txBody>
      </p:sp>
      <p:sp>
        <p:nvSpPr>
          <p:cNvPr id="90" name="Google Shape;90;p1"/>
          <p:cNvSpPr txBox="1">
            <a:spLocks noGrp="1"/>
          </p:cNvSpPr>
          <p:nvPr>
            <p:ph type="ctrTitle"/>
          </p:nvPr>
        </p:nvSpPr>
        <p:spPr>
          <a:xfrm>
            <a:off x="2667000" y="1122363"/>
            <a:ext cx="6858000" cy="2140584"/>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213671"/>
              </a:buClr>
              <a:buSzPts val="5400"/>
              <a:buFont typeface="Calibri"/>
              <a:buNone/>
            </a:pPr>
            <a:r>
              <a:rPr lang="en-US" sz="5400" b="1">
                <a:solidFill>
                  <a:srgbClr val="213671"/>
                </a:solidFill>
                <a:latin typeface="Calibri"/>
                <a:ea typeface="Calibri"/>
                <a:cs typeface="Calibri"/>
                <a:sym typeface="Calibri"/>
              </a:rPr>
              <a:t>ỨNG DỤNG PHÂN TÁN</a:t>
            </a:r>
            <a:br>
              <a:rPr lang="en-US" sz="5400" b="1">
                <a:solidFill>
                  <a:srgbClr val="213671"/>
                </a:solidFill>
                <a:latin typeface="Calibri"/>
                <a:ea typeface="Calibri"/>
                <a:cs typeface="Calibri"/>
                <a:sym typeface="Calibri"/>
              </a:rPr>
            </a:br>
            <a:r>
              <a:rPr lang="en-US" sz="3600" b="1">
                <a:solidFill>
                  <a:srgbClr val="213671"/>
                </a:solidFill>
                <a:latin typeface="Calibri"/>
                <a:ea typeface="Calibri"/>
                <a:cs typeface="Calibri"/>
                <a:sym typeface="Calibri"/>
              </a:rPr>
              <a:t>IV. Định danh</a:t>
            </a:r>
            <a:endParaRPr sz="5400" b="1">
              <a:solidFill>
                <a:srgbClr val="213671"/>
              </a:solidFill>
              <a:latin typeface="Calibri"/>
              <a:ea typeface="Calibri"/>
              <a:cs typeface="Calibri"/>
              <a:sym typeface="Calibri"/>
            </a:endParaRPr>
          </a:p>
        </p:txBody>
      </p:sp>
      <p:sp>
        <p:nvSpPr>
          <p:cNvPr id="91" name="Google Shape;91;p1"/>
          <p:cNvSpPr txBox="1">
            <a:spLocks noGrp="1"/>
          </p:cNvSpPr>
          <p:nvPr>
            <p:ph type="subTitle" idx="1"/>
          </p:nvPr>
        </p:nvSpPr>
        <p:spPr>
          <a:xfrm>
            <a:off x="2666999" y="4579542"/>
            <a:ext cx="6858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lt1"/>
              </a:buClr>
              <a:buSzPts val="2400"/>
              <a:buNone/>
            </a:pPr>
            <a:r>
              <a:rPr lang="en-US" b="1">
                <a:solidFill>
                  <a:schemeClr val="lt1"/>
                </a:solidFill>
                <a:latin typeface="Arial"/>
                <a:ea typeface="Arial"/>
                <a:cs typeface="Arial"/>
                <a:sym typeface="Arial"/>
              </a:rPr>
              <a:t>Nguyễn Thành Trung – Khoa Công nghệ thông tin</a:t>
            </a:r>
            <a:endParaRPr/>
          </a:p>
          <a:p>
            <a:pPr marL="0" lvl="0" indent="0" algn="ctr" rtl="0">
              <a:lnSpc>
                <a:spcPct val="90000"/>
              </a:lnSpc>
              <a:spcBef>
                <a:spcPts val="1000"/>
              </a:spcBef>
              <a:spcAft>
                <a:spcPts val="0"/>
              </a:spcAft>
              <a:buClr>
                <a:schemeClr val="lt1"/>
              </a:buClr>
              <a:buSzPts val="1600"/>
              <a:buNone/>
            </a:pPr>
            <a:r>
              <a:rPr lang="en-US" sz="1600">
                <a:solidFill>
                  <a:schemeClr val="lt1"/>
                </a:solidFill>
                <a:latin typeface="Arial"/>
                <a:ea typeface="Arial"/>
                <a:cs typeface="Arial"/>
                <a:sym typeface="Arial"/>
              </a:rPr>
              <a:t>trung.nguyenthanh@phenikaa-uni.edu.vn</a:t>
            </a:r>
            <a:endParaRPr/>
          </a:p>
        </p:txBody>
      </p:sp>
      <p:sp>
        <p:nvSpPr>
          <p:cNvPr id="92" name="Google Shape;92;p1"/>
          <p:cNvSpPr/>
          <p:nvPr/>
        </p:nvSpPr>
        <p:spPr>
          <a:xfrm>
            <a:off x="0" y="4412612"/>
            <a:ext cx="12192000" cy="2445391"/>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i="0" u="none" strike="noStrike" cap="none">
                <a:solidFill>
                  <a:schemeClr val="lt1"/>
                </a:solidFill>
                <a:latin typeface="Calibri"/>
                <a:ea typeface="Calibri"/>
                <a:cs typeface="Calibri"/>
                <a:sym typeface="Calibri"/>
              </a:rPr>
              <a:t>Nhóm chuyên môn UDPT – Trường Công nghệ thông tin Phenikaa</a:t>
            </a:r>
            <a:endParaRPr sz="2000" b="1" i="0" u="none" strike="noStrike" cap="none">
              <a:solidFill>
                <a:schemeClr val="lt1"/>
              </a:solidFill>
              <a:latin typeface="Calibri"/>
              <a:ea typeface="Calibri"/>
              <a:cs typeface="Calibri"/>
              <a:sym typeface="Calibri"/>
            </a:endParaRPr>
          </a:p>
          <a:p>
            <a:pPr marL="0" marR="0" lvl="0" indent="0" algn="ctr" rtl="0">
              <a:spcBef>
                <a:spcPts val="0"/>
              </a:spcBef>
              <a:spcAft>
                <a:spcPts val="0"/>
              </a:spcAft>
              <a:buNone/>
            </a:pPr>
            <a:r>
              <a:rPr lang="en-US" sz="2000" b="0" i="0" u="none" strike="noStrike" cap="none">
                <a:solidFill>
                  <a:schemeClr val="lt1"/>
                </a:solidFill>
                <a:latin typeface="Calibri"/>
                <a:ea typeface="Calibri"/>
                <a:cs typeface="Calibri"/>
                <a:sym typeface="Calibri"/>
              </a:rPr>
              <a:t>(Trần Đăng Hoan, Đỗ Quốc Trường, Nguyễn Thành Trung, Phạm Kim Thành, Nguyễn Hữu Đạt)</a:t>
            </a:r>
            <a:endParaRPr sz="2000" b="0" i="0" u="none" strike="noStrike" cap="none">
              <a:solidFill>
                <a:schemeClr val="lt1"/>
              </a:solidFill>
              <a:latin typeface="Calibri"/>
              <a:ea typeface="Calibri"/>
              <a:cs typeface="Calibri"/>
              <a:sym typeface="Calibri"/>
            </a:endParaRPr>
          </a:p>
        </p:txBody>
      </p:sp>
      <p:sp>
        <p:nvSpPr>
          <p:cNvPr id="93" name="Google Shape;93;p1"/>
          <p:cNvSpPr/>
          <p:nvPr/>
        </p:nvSpPr>
        <p:spPr>
          <a:xfrm>
            <a:off x="0" y="41148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4" name="Google Shape;94;p1" descr="A picture containing text&#10;&#10;Description automatically generated"/>
          <p:cNvPicPr preferRelativeResize="0"/>
          <p:nvPr/>
        </p:nvPicPr>
        <p:blipFill rotWithShape="1">
          <a:blip r:embed="rId3">
            <a:alphaModFix/>
          </a:blip>
          <a:srcRect/>
          <a:stretch/>
        </p:blipFill>
        <p:spPr>
          <a:xfrm>
            <a:off x="0" y="271253"/>
            <a:ext cx="2684477" cy="462203"/>
          </a:xfrm>
          <a:prstGeom prst="rect">
            <a:avLst/>
          </a:prstGeom>
          <a:noFill/>
          <a:ln>
            <a:noFill/>
          </a:ln>
        </p:spPr>
      </p:pic>
      <p:sp>
        <p:nvSpPr>
          <p:cNvPr id="95" name="Google Shape;95;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
          <p:cNvSpPr txBox="1"/>
          <p:nvPr/>
        </p:nvSpPr>
        <p:spPr>
          <a:xfrm>
            <a:off x="1066800" y="1752600"/>
            <a:ext cx="7924800" cy="2196755"/>
          </a:xfrm>
          <a:prstGeom prst="rect">
            <a:avLst/>
          </a:prstGeom>
          <a:noFill/>
          <a:ln>
            <a:noFill/>
          </a:ln>
        </p:spPr>
        <p:txBody>
          <a:bodyPr spcFirstLastPara="1" wrap="square" lIns="0" tIns="102850" rIns="0" bIns="0" anchor="t" anchorCtr="0">
            <a:spAutoFit/>
          </a:bodyPr>
          <a:lstStyle/>
          <a:p>
            <a:pPr marL="526415" marR="0" lvl="0" indent="-514350" algn="l" rtl="0">
              <a:spcBef>
                <a:spcPts val="0"/>
              </a:spcBef>
              <a:spcAft>
                <a:spcPts val="0"/>
              </a:spcAft>
              <a:buClr>
                <a:srgbClr val="DD8046"/>
              </a:buClr>
              <a:buSzPts val="1750"/>
              <a:buFont typeface="Calibri"/>
              <a:buAutoNum type="arabicPeriod"/>
            </a:pPr>
            <a:r>
              <a:rPr lang="en-US" sz="2900" b="0" i="0" u="none" strike="noStrike" cap="none">
                <a:solidFill>
                  <a:schemeClr val="dk1"/>
                </a:solidFill>
                <a:latin typeface="Calibri"/>
                <a:ea typeface="Calibri"/>
                <a:cs typeface="Calibri"/>
                <a:sym typeface="Calibri"/>
              </a:rPr>
              <a:t>Tên, định danh, và địa chỉ</a:t>
            </a:r>
            <a:endParaRPr sz="2900" b="0" i="0" u="none" strike="noStrike" cap="none">
              <a:solidFill>
                <a:schemeClr val="dk1"/>
              </a:solidFill>
              <a:latin typeface="Calibri"/>
              <a:ea typeface="Calibri"/>
              <a:cs typeface="Calibri"/>
              <a:sym typeface="Calibri"/>
            </a:endParaRPr>
          </a:p>
          <a:p>
            <a:pPr marL="526415" marR="0" lvl="0" indent="-514350" algn="l" rtl="0">
              <a:spcBef>
                <a:spcPts val="810"/>
              </a:spcBef>
              <a:spcAft>
                <a:spcPts val="0"/>
              </a:spcAft>
              <a:buClr>
                <a:srgbClr val="DD8046"/>
              </a:buClr>
              <a:buSzPts val="1750"/>
              <a:buFont typeface="Calibri"/>
              <a:buAutoNum type="arabicPeriod"/>
            </a:pPr>
            <a:r>
              <a:rPr lang="en-US" sz="2900" b="0" i="0" u="none" strike="noStrike" cap="none">
                <a:solidFill>
                  <a:schemeClr val="dk1"/>
                </a:solidFill>
                <a:latin typeface="Calibri"/>
                <a:ea typeface="Calibri"/>
                <a:cs typeface="Calibri"/>
                <a:sym typeface="Calibri"/>
              </a:rPr>
              <a:t>Không gian tên phẳng</a:t>
            </a:r>
            <a:endParaRPr sz="2900" b="0" i="0" u="none" strike="noStrike" cap="none">
              <a:solidFill>
                <a:schemeClr val="dk1"/>
              </a:solidFill>
              <a:latin typeface="Calibri"/>
              <a:ea typeface="Calibri"/>
              <a:cs typeface="Calibri"/>
              <a:sym typeface="Calibri"/>
            </a:endParaRPr>
          </a:p>
          <a:p>
            <a:pPr marL="526415" marR="0" lvl="0" indent="-514350" algn="l" rtl="0">
              <a:spcBef>
                <a:spcPts val="810"/>
              </a:spcBef>
              <a:spcAft>
                <a:spcPts val="0"/>
              </a:spcAft>
              <a:buClr>
                <a:srgbClr val="DD8046"/>
              </a:buClr>
              <a:buSzPts val="1750"/>
              <a:buFont typeface="Calibri"/>
              <a:buAutoNum type="arabicPeriod"/>
            </a:pPr>
            <a:r>
              <a:rPr lang="en-US" sz="2900" b="0" i="0" u="none" strike="noStrike" cap="none">
                <a:solidFill>
                  <a:schemeClr val="dk1"/>
                </a:solidFill>
                <a:latin typeface="Calibri"/>
                <a:ea typeface="Calibri"/>
                <a:cs typeface="Calibri"/>
                <a:sym typeface="Calibri"/>
              </a:rPr>
              <a:t>Không gian tên có cấu trúc</a:t>
            </a:r>
            <a:endParaRPr sz="2900" b="0" i="0" u="none" strike="noStrike" cap="none">
              <a:solidFill>
                <a:schemeClr val="dk1"/>
              </a:solidFill>
              <a:latin typeface="Calibri"/>
              <a:ea typeface="Calibri"/>
              <a:cs typeface="Calibri"/>
              <a:sym typeface="Calibri"/>
            </a:endParaRPr>
          </a:p>
          <a:p>
            <a:pPr marL="526415" marR="0" lvl="0" indent="-514350" algn="l" rtl="0">
              <a:spcBef>
                <a:spcPts val="810"/>
              </a:spcBef>
              <a:spcAft>
                <a:spcPts val="0"/>
              </a:spcAft>
              <a:buClr>
                <a:srgbClr val="DD8046"/>
              </a:buClr>
              <a:buSzPts val="1750"/>
              <a:buFont typeface="Calibri"/>
              <a:buAutoNum type="arabicPeriod"/>
            </a:pPr>
            <a:r>
              <a:rPr lang="en-US" sz="2900" b="0" i="0" u="none" strike="noStrike" cap="none">
                <a:solidFill>
                  <a:schemeClr val="dk1"/>
                </a:solidFill>
                <a:latin typeface="Calibri"/>
                <a:ea typeface="Calibri"/>
                <a:cs typeface="Calibri"/>
                <a:sym typeface="Calibri"/>
              </a:rPr>
              <a:t>Không gian tên theo thuộc tính</a:t>
            </a:r>
            <a:endParaRPr sz="2900" b="0" i="0" u="none" strike="noStrike" cap="none">
              <a:solidFill>
                <a:schemeClr val="dk1"/>
              </a:solidFill>
              <a:latin typeface="Calibri"/>
              <a:ea typeface="Calibri"/>
              <a:cs typeface="Calibri"/>
              <a:sym typeface="Calibri"/>
            </a:endParaRPr>
          </a:p>
        </p:txBody>
      </p:sp>
      <p:sp>
        <p:nvSpPr>
          <p:cNvPr id="101" name="Google Shape;101;p2"/>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2" name="Google Shape;102;p2"/>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NỘI DUNG</a:t>
            </a:r>
            <a:endParaRPr/>
          </a:p>
        </p:txBody>
      </p:sp>
      <p:sp>
        <p:nvSpPr>
          <p:cNvPr id="103" name="Google Shape;103;p2"/>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3"/>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9" name="Google Shape;109;p3"/>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VÍ DỤ: XÃ HỘI</a:t>
            </a:r>
            <a:endParaRPr/>
          </a:p>
        </p:txBody>
      </p:sp>
      <p:sp>
        <p:nvSpPr>
          <p:cNvPr id="110" name="Google Shape;110;p3"/>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11" name="Google Shape;111;p3" descr="Person - Kostenlose menschen Icons"/>
          <p:cNvPicPr preferRelativeResize="0"/>
          <p:nvPr/>
        </p:nvPicPr>
        <p:blipFill rotWithShape="1">
          <a:blip r:embed="rId3">
            <a:alphaModFix/>
          </a:blip>
          <a:srcRect/>
          <a:stretch/>
        </p:blipFill>
        <p:spPr>
          <a:xfrm>
            <a:off x="4648200" y="2667000"/>
            <a:ext cx="2590800" cy="2590800"/>
          </a:xfrm>
          <a:prstGeom prst="rect">
            <a:avLst/>
          </a:prstGeom>
          <a:noFill/>
          <a:ln>
            <a:noFill/>
          </a:ln>
        </p:spPr>
      </p:pic>
      <p:sp>
        <p:nvSpPr>
          <p:cNvPr id="112" name="Google Shape;112;p3"/>
          <p:cNvSpPr/>
          <p:nvPr/>
        </p:nvSpPr>
        <p:spPr>
          <a:xfrm>
            <a:off x="533400" y="1652178"/>
            <a:ext cx="3328906" cy="1608814"/>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i="0" u="none" strike="noStrike" cap="none">
                <a:solidFill>
                  <a:schemeClr val="lt1"/>
                </a:solidFill>
                <a:latin typeface="Calibri"/>
                <a:ea typeface="Calibri"/>
                <a:cs typeface="Calibri"/>
                <a:sym typeface="Calibri"/>
              </a:rPr>
              <a:t>Tên</a:t>
            </a:r>
            <a:endParaRPr sz="2800" b="1" i="0" u="none" strike="noStrike" cap="none">
              <a:solidFill>
                <a:schemeClr val="lt1"/>
              </a:solidFill>
              <a:latin typeface="Calibri"/>
              <a:ea typeface="Calibri"/>
              <a:cs typeface="Calibri"/>
              <a:sym typeface="Calibri"/>
            </a:endParaRPr>
          </a:p>
          <a:p>
            <a:pPr marL="0" marR="0" lvl="0" indent="0" algn="ctr" rtl="0">
              <a:spcBef>
                <a:spcPts val="0"/>
              </a:spcBef>
              <a:spcAft>
                <a:spcPts val="0"/>
              </a:spcAft>
              <a:buNone/>
            </a:pPr>
            <a:r>
              <a:rPr lang="en-US" sz="2800" b="1" i="0" u="none" strike="noStrike" cap="none">
                <a:solidFill>
                  <a:schemeClr val="lt1"/>
                </a:solidFill>
                <a:latin typeface="Calibri"/>
                <a:ea typeface="Calibri"/>
                <a:cs typeface="Calibri"/>
                <a:sym typeface="Calibri"/>
              </a:rPr>
              <a:t>Nơi sinh</a:t>
            </a:r>
            <a:endParaRPr sz="2800" b="1" i="0" u="none" strike="noStrike" cap="none">
              <a:solidFill>
                <a:schemeClr val="lt1"/>
              </a:solidFill>
              <a:latin typeface="Calibri"/>
              <a:ea typeface="Calibri"/>
              <a:cs typeface="Calibri"/>
              <a:sym typeface="Calibri"/>
            </a:endParaRPr>
          </a:p>
        </p:txBody>
      </p:sp>
      <p:pic>
        <p:nvPicPr>
          <p:cNvPr id="113" name="Google Shape;113;p3"/>
          <p:cNvPicPr preferRelativeResize="0"/>
          <p:nvPr/>
        </p:nvPicPr>
        <p:blipFill rotWithShape="1">
          <a:blip r:embed="rId4">
            <a:alphaModFix/>
          </a:blip>
          <a:srcRect l="13000" t="3408" r="12000" b="19777"/>
          <a:stretch/>
        </p:blipFill>
        <p:spPr>
          <a:xfrm>
            <a:off x="7772400" y="1505004"/>
            <a:ext cx="3328906" cy="1755988"/>
          </a:xfrm>
          <a:prstGeom prst="rect">
            <a:avLst/>
          </a:prstGeom>
          <a:noFill/>
          <a:ln>
            <a:noFill/>
          </a:ln>
        </p:spPr>
      </p:pic>
      <p:cxnSp>
        <p:nvCxnSpPr>
          <p:cNvPr id="114" name="Google Shape;114;p3"/>
          <p:cNvCxnSpPr>
            <a:stCxn id="111" idx="1"/>
            <a:endCxn id="112" idx="3"/>
          </p:cNvCxnSpPr>
          <p:nvPr/>
        </p:nvCxnSpPr>
        <p:spPr>
          <a:xfrm rot="10800000">
            <a:off x="3862200" y="2456700"/>
            <a:ext cx="786000" cy="1505700"/>
          </a:xfrm>
          <a:prstGeom prst="straightConnector1">
            <a:avLst/>
          </a:prstGeom>
          <a:noFill/>
          <a:ln w="9525" cap="flat" cmpd="sng">
            <a:solidFill>
              <a:schemeClr val="accent1"/>
            </a:solidFill>
            <a:prstDash val="solid"/>
            <a:miter lim="800000"/>
            <a:headEnd type="none" w="sm" len="sm"/>
            <a:tailEnd type="triangle" w="med" len="med"/>
          </a:ln>
        </p:spPr>
      </p:cxnSp>
      <p:cxnSp>
        <p:nvCxnSpPr>
          <p:cNvPr id="115" name="Google Shape;115;p3"/>
          <p:cNvCxnSpPr>
            <a:stCxn id="111" idx="3"/>
            <a:endCxn id="113" idx="1"/>
          </p:cNvCxnSpPr>
          <p:nvPr/>
        </p:nvCxnSpPr>
        <p:spPr>
          <a:xfrm rot="10800000" flipH="1">
            <a:off x="7239000" y="2382900"/>
            <a:ext cx="533400" cy="1579500"/>
          </a:xfrm>
          <a:prstGeom prst="straightConnector1">
            <a:avLst/>
          </a:prstGeom>
          <a:noFill/>
          <a:ln w="9525" cap="flat" cmpd="sng">
            <a:solidFill>
              <a:schemeClr val="accent1"/>
            </a:solidFill>
            <a:prstDash val="solid"/>
            <a:miter lim="800000"/>
            <a:headEnd type="none" w="sm" len="sm"/>
            <a:tailEnd type="triangle" w="med" len="med"/>
          </a:ln>
        </p:spPr>
      </p:cxnSp>
      <p:sp>
        <p:nvSpPr>
          <p:cNvPr id="116" name="Google Shape;116;p3"/>
          <p:cNvSpPr/>
          <p:nvPr/>
        </p:nvSpPr>
        <p:spPr>
          <a:xfrm>
            <a:off x="533400" y="4401415"/>
            <a:ext cx="3328906" cy="1608814"/>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i="0" u="none" strike="noStrike" cap="none">
                <a:solidFill>
                  <a:schemeClr val="lt1"/>
                </a:solidFill>
                <a:latin typeface="Calibri"/>
                <a:ea typeface="Calibri"/>
                <a:cs typeface="Calibri"/>
                <a:sym typeface="Calibri"/>
              </a:rPr>
              <a:t>Số Định danh cá nhân</a:t>
            </a:r>
            <a:endParaRPr sz="2800" b="1" i="0" u="none" strike="noStrike" cap="none">
              <a:solidFill>
                <a:schemeClr val="lt1"/>
              </a:solidFill>
              <a:latin typeface="Calibri"/>
              <a:ea typeface="Calibri"/>
              <a:cs typeface="Calibri"/>
              <a:sym typeface="Calibri"/>
            </a:endParaRPr>
          </a:p>
        </p:txBody>
      </p:sp>
      <p:cxnSp>
        <p:nvCxnSpPr>
          <p:cNvPr id="117" name="Google Shape;117;p3"/>
          <p:cNvCxnSpPr>
            <a:stCxn id="111" idx="1"/>
            <a:endCxn id="116" idx="3"/>
          </p:cNvCxnSpPr>
          <p:nvPr/>
        </p:nvCxnSpPr>
        <p:spPr>
          <a:xfrm flipH="1">
            <a:off x="3862200" y="3962400"/>
            <a:ext cx="786000" cy="1243500"/>
          </a:xfrm>
          <a:prstGeom prst="straightConnector1">
            <a:avLst/>
          </a:prstGeom>
          <a:noFill/>
          <a:ln w="9525" cap="flat" cmpd="sng">
            <a:solidFill>
              <a:schemeClr val="accent1"/>
            </a:solidFill>
            <a:prstDash val="solid"/>
            <a:miter lim="800000"/>
            <a:headEnd type="none" w="sm" len="sm"/>
            <a:tailEnd type="triangl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4"/>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3" name="Google Shape;123;p4"/>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THỰC THỂ VÀ TÊN</a:t>
            </a:r>
            <a:endParaRPr/>
          </a:p>
        </p:txBody>
      </p:sp>
      <p:sp>
        <p:nvSpPr>
          <p:cNvPr id="124" name="Google Shape;124;p4"/>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25" name="Google Shape;125;p4"/>
          <p:cNvPicPr preferRelativeResize="0"/>
          <p:nvPr/>
        </p:nvPicPr>
        <p:blipFill rotWithShape="1">
          <a:blip r:embed="rId3">
            <a:alphaModFix/>
          </a:blip>
          <a:srcRect t="8629"/>
          <a:stretch/>
        </p:blipFill>
        <p:spPr>
          <a:xfrm>
            <a:off x="3122362" y="1447800"/>
            <a:ext cx="7543800" cy="3176642"/>
          </a:xfrm>
          <a:prstGeom prst="rect">
            <a:avLst/>
          </a:prstGeom>
          <a:noFill/>
          <a:ln>
            <a:noFill/>
          </a:ln>
        </p:spPr>
      </p:pic>
      <p:sp>
        <p:nvSpPr>
          <p:cNvPr id="126" name="Google Shape;126;p4"/>
          <p:cNvSpPr txBox="1"/>
          <p:nvPr/>
        </p:nvSpPr>
        <p:spPr>
          <a:xfrm>
            <a:off x="6324600" y="4346138"/>
            <a:ext cx="5791200" cy="24314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2CB0F0"/>
                </a:solidFill>
                <a:latin typeface="Open Sans"/>
                <a:ea typeface="Open Sans"/>
                <a:cs typeface="Open Sans"/>
                <a:sym typeface="Open Sans"/>
              </a:rPr>
              <a:t>Address (Địa chỉ)</a:t>
            </a:r>
            <a:r>
              <a:rPr lang="en-US" sz="1800" b="0" i="0" u="none" strike="noStrike" cap="none">
                <a:solidFill>
                  <a:srgbClr val="2CB0F0"/>
                </a:solidFill>
                <a:latin typeface="Open Sans"/>
                <a:ea typeface="Open Sans"/>
                <a:cs typeface="Open Sans"/>
                <a:sym typeface="Open Sans"/>
              </a:rPr>
              <a:t>: tên của access point. Là một loại name đặc biệt:</a:t>
            </a:r>
            <a:endParaRPr/>
          </a:p>
          <a:p>
            <a:pPr marL="742950" marR="0" lvl="1" indent="-285750" algn="l" rtl="0">
              <a:spcBef>
                <a:spcPts val="0"/>
              </a:spcBef>
              <a:spcAft>
                <a:spcPts val="0"/>
              </a:spcAft>
              <a:buClr>
                <a:srgbClr val="2CB0F0"/>
              </a:buClr>
              <a:buSzPts val="1600"/>
              <a:buFont typeface="Arial"/>
              <a:buChar char="•"/>
            </a:pPr>
            <a:r>
              <a:rPr lang="en-US" sz="1600" b="0" i="0" u="none" strike="noStrike" cap="none">
                <a:solidFill>
                  <a:srgbClr val="2CB0F0"/>
                </a:solidFill>
                <a:latin typeface="Open Sans"/>
                <a:ea typeface="Open Sans"/>
                <a:cs typeface="Open Sans"/>
                <a:sym typeface="Open Sans"/>
              </a:rPr>
              <a:t>Một tên có thể gồm nhiều địa chỉ</a:t>
            </a:r>
            <a:endParaRPr/>
          </a:p>
          <a:p>
            <a:pPr marL="742950" marR="0" lvl="1" indent="-285750" algn="l" rtl="0">
              <a:spcBef>
                <a:spcPts val="0"/>
              </a:spcBef>
              <a:spcAft>
                <a:spcPts val="0"/>
              </a:spcAft>
              <a:buClr>
                <a:srgbClr val="2CB0F0"/>
              </a:buClr>
              <a:buSzPts val="1600"/>
              <a:buFont typeface="Arial"/>
              <a:buChar char="•"/>
            </a:pPr>
            <a:r>
              <a:rPr lang="en-US" sz="1600" b="0" i="0" u="none" strike="noStrike" cap="none">
                <a:solidFill>
                  <a:srgbClr val="2CB0F0"/>
                </a:solidFill>
                <a:latin typeface="Open Sans"/>
                <a:ea typeface="Open Sans"/>
                <a:cs typeface="Open Sans"/>
                <a:sym typeface="Open Sans"/>
              </a:rPr>
              <a:t>Thực thể có thể thay đổi địa chỉ trong quá trình tồn tại</a:t>
            </a:r>
            <a:endParaRPr/>
          </a:p>
          <a:p>
            <a:pPr marL="742950" marR="0" lvl="1" indent="-285750" algn="l" rtl="0">
              <a:spcBef>
                <a:spcPts val="0"/>
              </a:spcBef>
              <a:spcAft>
                <a:spcPts val="0"/>
              </a:spcAft>
              <a:buClr>
                <a:srgbClr val="2CB0F0"/>
              </a:buClr>
              <a:buSzPts val="1600"/>
              <a:buFont typeface="Arial"/>
              <a:buChar char="•"/>
            </a:pPr>
            <a:r>
              <a:rPr lang="en-US" sz="1600" b="0" i="0" u="none" strike="noStrike" cap="none">
                <a:solidFill>
                  <a:srgbClr val="2CB0F0"/>
                </a:solidFill>
                <a:latin typeface="Open Sans"/>
                <a:ea typeface="Open Sans"/>
                <a:cs typeface="Open Sans"/>
                <a:sym typeface="Open Sans"/>
              </a:rPr>
              <a:t>Một địa chỉ có thể trỏ đến các thực thể khác nhau trong các thời điểm khác nhau</a:t>
            </a:r>
            <a:endParaRPr/>
          </a:p>
          <a:p>
            <a:pPr marL="742950" marR="0" lvl="1" indent="-285750" algn="l" rtl="0">
              <a:spcBef>
                <a:spcPts val="0"/>
              </a:spcBef>
              <a:spcAft>
                <a:spcPts val="0"/>
              </a:spcAft>
              <a:buClr>
                <a:srgbClr val="2CB0F0"/>
              </a:buClr>
              <a:buSzPts val="1600"/>
              <a:buFont typeface="Arial"/>
              <a:buChar char="•"/>
            </a:pPr>
            <a:r>
              <a:rPr lang="en-US" sz="1600" b="0" i="0" u="none" strike="noStrike" cap="none">
                <a:solidFill>
                  <a:srgbClr val="2CB0F0"/>
                </a:solidFill>
                <a:latin typeface="Open Sans"/>
                <a:ea typeface="Open Sans"/>
                <a:cs typeface="Open Sans"/>
                <a:sym typeface="Open Sans"/>
              </a:rPr>
              <a:t>Đảm bảo có thể tham chiếu tới các tài nguyên bằng tên</a:t>
            </a:r>
            <a:endParaRPr/>
          </a:p>
        </p:txBody>
      </p:sp>
      <p:sp>
        <p:nvSpPr>
          <p:cNvPr id="127" name="Google Shape;127;p4"/>
          <p:cNvSpPr txBox="1"/>
          <p:nvPr/>
        </p:nvSpPr>
        <p:spPr>
          <a:xfrm>
            <a:off x="-74825" y="1917826"/>
            <a:ext cx="3574056" cy="147732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i="0" u="none" strike="noStrike" cap="none">
                <a:solidFill>
                  <a:srgbClr val="2CB0F0"/>
                </a:solidFill>
                <a:latin typeface="Open Sans"/>
                <a:ea typeface="Open Sans"/>
                <a:cs typeface="Open Sans"/>
                <a:sym typeface="Open Sans"/>
              </a:rPr>
              <a:t>Name (Tên)</a:t>
            </a:r>
            <a:r>
              <a:rPr lang="en-US" sz="1800" b="0" i="0" u="none" strike="noStrike" cap="none">
                <a:solidFill>
                  <a:srgbClr val="2CB0F0"/>
                </a:solidFill>
                <a:latin typeface="Open Sans"/>
                <a:ea typeface="Open Sans"/>
                <a:cs typeface="Open Sans"/>
                <a:sym typeface="Open Sans"/>
              </a:rPr>
              <a:t>: một xâu các bit hoặc các ký tự dùng để tham chiếu đến một thực thể (entity). Số lượng tên cho mỗi thực thể không bị hạn chế.</a:t>
            </a:r>
            <a:endParaRPr/>
          </a:p>
        </p:txBody>
      </p:sp>
      <p:sp>
        <p:nvSpPr>
          <p:cNvPr id="128" name="Google Shape;128;p4"/>
          <p:cNvSpPr txBox="1"/>
          <p:nvPr/>
        </p:nvSpPr>
        <p:spPr>
          <a:xfrm>
            <a:off x="228600" y="3876041"/>
            <a:ext cx="342900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i="0" u="none" strike="noStrike" cap="none">
                <a:solidFill>
                  <a:srgbClr val="2DB050"/>
                </a:solidFill>
                <a:latin typeface="Open Sans"/>
                <a:ea typeface="Open Sans"/>
                <a:cs typeface="Open Sans"/>
                <a:sym typeface="Open Sans"/>
              </a:rPr>
              <a:t>Entity (Thực thể)</a:t>
            </a:r>
            <a:r>
              <a:rPr lang="en-US" sz="1800" b="0" i="0" u="none" strike="noStrike" cap="none">
                <a:solidFill>
                  <a:srgbClr val="2DB050"/>
                </a:solidFill>
                <a:latin typeface="Open Sans"/>
                <a:ea typeface="Open Sans"/>
                <a:cs typeface="Open Sans"/>
                <a:sym typeface="Open Sans"/>
              </a:rPr>
              <a:t>: bất kỳ những gì có trong hệ thống như host, printer, file, người dùng, tiến trình.</a:t>
            </a:r>
            <a:endParaRPr/>
          </a:p>
        </p:txBody>
      </p:sp>
      <p:sp>
        <p:nvSpPr>
          <p:cNvPr id="129" name="Google Shape;129;p4"/>
          <p:cNvSpPr txBox="1"/>
          <p:nvPr/>
        </p:nvSpPr>
        <p:spPr>
          <a:xfrm>
            <a:off x="2929569" y="5292546"/>
            <a:ext cx="3429000" cy="1200329"/>
          </a:xfrm>
          <a:prstGeom prst="rect">
            <a:avLst/>
          </a:prstGeom>
          <a:noFill/>
          <a:ln>
            <a:noFill/>
          </a:ln>
        </p:spPr>
        <p:txBody>
          <a:bodyPr spcFirstLastPara="1" wrap="square" lIns="91425" tIns="45700" rIns="91425" bIns="45700" anchor="t" anchorCtr="0">
            <a:spAutoFit/>
          </a:bodyPr>
          <a:lstStyle/>
          <a:p>
            <a:pPr marL="0" marR="0" lvl="0" indent="-114300" algn="l" rtl="0">
              <a:spcBef>
                <a:spcPts val="0"/>
              </a:spcBef>
              <a:spcAft>
                <a:spcPts val="0"/>
              </a:spcAft>
              <a:buClr>
                <a:srgbClr val="92D04F"/>
              </a:buClr>
              <a:buSzPts val="1800"/>
              <a:buFont typeface="Arial"/>
              <a:buChar char="•"/>
            </a:pPr>
            <a:r>
              <a:rPr lang="en-US" sz="1800" b="1" i="0" u="none" strike="noStrike" cap="none">
                <a:solidFill>
                  <a:srgbClr val="92D04F"/>
                </a:solidFill>
                <a:latin typeface="Open Sans"/>
                <a:ea typeface="Open Sans"/>
                <a:cs typeface="Open Sans"/>
                <a:sym typeface="Open Sans"/>
              </a:rPr>
              <a:t>Access point (Điểm truy cập)</a:t>
            </a:r>
            <a:r>
              <a:rPr lang="en-US" sz="1800" b="0" i="0" u="none" strike="noStrike" cap="none">
                <a:solidFill>
                  <a:srgbClr val="92D04F"/>
                </a:solidFill>
                <a:latin typeface="Open Sans"/>
                <a:ea typeface="Open Sans"/>
                <a:cs typeface="Open Sans"/>
                <a:sym typeface="Open Sans"/>
              </a:rPr>
              <a:t>: điểm truy nhập đến thực thể, 1 thực thể có thể có nhiều điểm truy cập</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8"/>
                                        </p:tgtEl>
                                        <p:attrNameLst>
                                          <p:attrName>style.visibility</p:attrName>
                                        </p:attrNameLst>
                                      </p:cBhvr>
                                      <p:to>
                                        <p:strVal val="visible"/>
                                      </p:to>
                                    </p:set>
                                    <p:anim calcmode="lin" valueType="num">
                                      <p:cBhvr additive="base">
                                        <p:cTn id="7" dur="500"/>
                                        <p:tgtEl>
                                          <p:spTgt spid="128"/>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7"/>
                                        </p:tgtEl>
                                        <p:attrNameLst>
                                          <p:attrName>style.visibility</p:attrName>
                                        </p:attrNameLst>
                                      </p:cBhvr>
                                      <p:to>
                                        <p:strVal val="visible"/>
                                      </p:to>
                                    </p:set>
                                    <p:anim calcmode="lin" valueType="num">
                                      <p:cBhvr additive="base">
                                        <p:cTn id="12" dur="500"/>
                                        <p:tgtEl>
                                          <p:spTgt spid="127"/>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9"/>
                                        </p:tgtEl>
                                        <p:attrNameLst>
                                          <p:attrName>style.visibility</p:attrName>
                                        </p:attrNameLst>
                                      </p:cBhvr>
                                      <p:to>
                                        <p:strVal val="visible"/>
                                      </p:to>
                                    </p:set>
                                    <p:anim calcmode="lin" valueType="num">
                                      <p:cBhvr additive="base">
                                        <p:cTn id="17" dur="500"/>
                                        <p:tgtEl>
                                          <p:spTgt spid="129"/>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26"/>
                                        </p:tgtEl>
                                        <p:attrNameLst>
                                          <p:attrName>style.visibility</p:attrName>
                                        </p:attrNameLst>
                                      </p:cBhvr>
                                      <p:to>
                                        <p:strVal val="visible"/>
                                      </p:to>
                                    </p:set>
                                    <p:anim calcmode="lin" valueType="num">
                                      <p:cBhvr additive="base">
                                        <p:cTn id="22" dur="500"/>
                                        <p:tgtEl>
                                          <p:spTgt spid="1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5"/>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5" name="Google Shape;135;p5"/>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THỰC THỂ VÀ TÊN</a:t>
            </a:r>
            <a:endParaRPr/>
          </a:p>
        </p:txBody>
      </p:sp>
      <p:sp>
        <p:nvSpPr>
          <p:cNvPr id="136" name="Google Shape;136;p5"/>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37" name="Google Shape;137;p5"/>
          <p:cNvPicPr preferRelativeResize="0"/>
          <p:nvPr/>
        </p:nvPicPr>
        <p:blipFill rotWithShape="1">
          <a:blip r:embed="rId3">
            <a:alphaModFix/>
          </a:blip>
          <a:srcRect t="8629"/>
          <a:stretch/>
        </p:blipFill>
        <p:spPr>
          <a:xfrm>
            <a:off x="2057400" y="1431924"/>
            <a:ext cx="7543800" cy="3176642"/>
          </a:xfrm>
          <a:prstGeom prst="rect">
            <a:avLst/>
          </a:prstGeom>
          <a:noFill/>
          <a:ln>
            <a:noFill/>
          </a:ln>
        </p:spPr>
      </p:pic>
      <p:sp>
        <p:nvSpPr>
          <p:cNvPr id="138" name="Google Shape;138;p5"/>
          <p:cNvSpPr txBox="1"/>
          <p:nvPr/>
        </p:nvSpPr>
        <p:spPr>
          <a:xfrm>
            <a:off x="1066800" y="4953000"/>
            <a:ext cx="10287000" cy="369332"/>
          </a:xfrm>
          <a:prstGeom prst="rect">
            <a:avLst/>
          </a:prstGeom>
          <a:noFill/>
          <a:ln>
            <a:noFill/>
          </a:ln>
        </p:spPr>
        <p:txBody>
          <a:bodyPr spcFirstLastPara="1" wrap="square" lIns="91425" tIns="45700" rIns="91425" bIns="45700" anchor="t" anchorCtr="0">
            <a:spAutoFit/>
          </a:bodyPr>
          <a:lstStyle/>
          <a:p>
            <a:pPr marL="742950" marR="0" lvl="1" indent="-285750" algn="l" rtl="0">
              <a:spcBef>
                <a:spcPts val="0"/>
              </a:spcBef>
              <a:spcAft>
                <a:spcPts val="0"/>
              </a:spcAft>
              <a:buClr>
                <a:srgbClr val="2CB0F0"/>
              </a:buClr>
              <a:buSzPts val="1800"/>
              <a:buFont typeface="Arial"/>
              <a:buChar char="•"/>
            </a:pPr>
            <a:r>
              <a:rPr lang="en-US" sz="1800" b="0" i="0" u="none" strike="noStrike" cap="none">
                <a:solidFill>
                  <a:srgbClr val="2CB0F0"/>
                </a:solidFill>
                <a:latin typeface="Open Sans"/>
                <a:ea typeface="Open Sans"/>
                <a:cs typeface="Open Sans"/>
                <a:sym typeface="Open Sans"/>
              </a:rPr>
              <a:t>Ví dụ: Một máy tính có thể kết nối với 2 mạng khác nhau nếu nó có 2 interface network</a:t>
            </a:r>
            <a:endParaRPr sz="1800" b="0" i="0" u="none" strike="noStrike" cap="none">
              <a:solidFill>
                <a:srgbClr val="2CB0F0"/>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6"/>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5" name="Google Shape;145;p6"/>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THỰC THỂ VÀ TÊN</a:t>
            </a:r>
            <a:endParaRPr/>
          </a:p>
        </p:txBody>
      </p:sp>
      <p:sp>
        <p:nvSpPr>
          <p:cNvPr id="146" name="Google Shape;146;p6"/>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147" name="Google Shape;147;p6"/>
          <p:cNvGrpSpPr/>
          <p:nvPr/>
        </p:nvGrpSpPr>
        <p:grpSpPr>
          <a:xfrm>
            <a:off x="5239512" y="3445918"/>
            <a:ext cx="1858010" cy="1356360"/>
            <a:chOff x="3573018" y="4216145"/>
            <a:chExt cx="1858010" cy="1356360"/>
          </a:xfrm>
        </p:grpSpPr>
        <p:sp>
          <p:nvSpPr>
            <p:cNvPr id="148" name="Google Shape;148;p6"/>
            <p:cNvSpPr/>
            <p:nvPr/>
          </p:nvSpPr>
          <p:spPr>
            <a:xfrm>
              <a:off x="3573018" y="4216145"/>
              <a:ext cx="1858010" cy="1356360"/>
            </a:xfrm>
            <a:custGeom>
              <a:avLst/>
              <a:gdLst/>
              <a:ahLst/>
              <a:cxnLst/>
              <a:rect l="l" t="t" r="r" b="b"/>
              <a:pathLst>
                <a:path w="1858010" h="1356360" extrusionOk="0">
                  <a:moveTo>
                    <a:pt x="928878" y="0"/>
                  </a:moveTo>
                  <a:lnTo>
                    <a:pt x="874304" y="1151"/>
                  </a:lnTo>
                  <a:lnTo>
                    <a:pt x="820560" y="4562"/>
                  </a:lnTo>
                  <a:lnTo>
                    <a:pt x="767734" y="10171"/>
                  </a:lnTo>
                  <a:lnTo>
                    <a:pt x="715911" y="17912"/>
                  </a:lnTo>
                  <a:lnTo>
                    <a:pt x="665179" y="27723"/>
                  </a:lnTo>
                  <a:lnTo>
                    <a:pt x="615626" y="39539"/>
                  </a:lnTo>
                  <a:lnTo>
                    <a:pt x="567338" y="53298"/>
                  </a:lnTo>
                  <a:lnTo>
                    <a:pt x="520403" y="68935"/>
                  </a:lnTo>
                  <a:lnTo>
                    <a:pt x="474908" y="86387"/>
                  </a:lnTo>
                  <a:lnTo>
                    <a:pt x="430940" y="105590"/>
                  </a:lnTo>
                  <a:lnTo>
                    <a:pt x="388586" y="126481"/>
                  </a:lnTo>
                  <a:lnTo>
                    <a:pt x="347934" y="148996"/>
                  </a:lnTo>
                  <a:lnTo>
                    <a:pt x="309070" y="173071"/>
                  </a:lnTo>
                  <a:lnTo>
                    <a:pt x="272081" y="198643"/>
                  </a:lnTo>
                  <a:lnTo>
                    <a:pt x="237056" y="225649"/>
                  </a:lnTo>
                  <a:lnTo>
                    <a:pt x="204080" y="254023"/>
                  </a:lnTo>
                  <a:lnTo>
                    <a:pt x="173242" y="283704"/>
                  </a:lnTo>
                  <a:lnTo>
                    <a:pt x="144627" y="314626"/>
                  </a:lnTo>
                  <a:lnTo>
                    <a:pt x="118325" y="346728"/>
                  </a:lnTo>
                  <a:lnTo>
                    <a:pt x="94421" y="379944"/>
                  </a:lnTo>
                  <a:lnTo>
                    <a:pt x="73003" y="414212"/>
                  </a:lnTo>
                  <a:lnTo>
                    <a:pt x="54157" y="449467"/>
                  </a:lnTo>
                  <a:lnTo>
                    <a:pt x="37972" y="485647"/>
                  </a:lnTo>
                  <a:lnTo>
                    <a:pt x="24535" y="522687"/>
                  </a:lnTo>
                  <a:lnTo>
                    <a:pt x="13931" y="560524"/>
                  </a:lnTo>
                  <a:lnTo>
                    <a:pt x="6249" y="599094"/>
                  </a:lnTo>
                  <a:lnTo>
                    <a:pt x="1577" y="638334"/>
                  </a:lnTo>
                  <a:lnTo>
                    <a:pt x="0" y="678179"/>
                  </a:lnTo>
                  <a:lnTo>
                    <a:pt x="1577" y="718025"/>
                  </a:lnTo>
                  <a:lnTo>
                    <a:pt x="6249" y="757265"/>
                  </a:lnTo>
                  <a:lnTo>
                    <a:pt x="13931" y="795835"/>
                  </a:lnTo>
                  <a:lnTo>
                    <a:pt x="24535" y="833672"/>
                  </a:lnTo>
                  <a:lnTo>
                    <a:pt x="37972" y="870712"/>
                  </a:lnTo>
                  <a:lnTo>
                    <a:pt x="54157" y="906892"/>
                  </a:lnTo>
                  <a:lnTo>
                    <a:pt x="73003" y="942147"/>
                  </a:lnTo>
                  <a:lnTo>
                    <a:pt x="94421" y="976415"/>
                  </a:lnTo>
                  <a:lnTo>
                    <a:pt x="118325" y="1009631"/>
                  </a:lnTo>
                  <a:lnTo>
                    <a:pt x="144627" y="1041733"/>
                  </a:lnTo>
                  <a:lnTo>
                    <a:pt x="173242" y="1072655"/>
                  </a:lnTo>
                  <a:lnTo>
                    <a:pt x="204080" y="1102336"/>
                  </a:lnTo>
                  <a:lnTo>
                    <a:pt x="237056" y="1130710"/>
                  </a:lnTo>
                  <a:lnTo>
                    <a:pt x="272081" y="1157716"/>
                  </a:lnTo>
                  <a:lnTo>
                    <a:pt x="309070" y="1183288"/>
                  </a:lnTo>
                  <a:lnTo>
                    <a:pt x="347934" y="1207363"/>
                  </a:lnTo>
                  <a:lnTo>
                    <a:pt x="388586" y="1229878"/>
                  </a:lnTo>
                  <a:lnTo>
                    <a:pt x="430940" y="1250769"/>
                  </a:lnTo>
                  <a:lnTo>
                    <a:pt x="474908" y="1269972"/>
                  </a:lnTo>
                  <a:lnTo>
                    <a:pt x="520403" y="1287424"/>
                  </a:lnTo>
                  <a:lnTo>
                    <a:pt x="567338" y="1303061"/>
                  </a:lnTo>
                  <a:lnTo>
                    <a:pt x="615626" y="1316820"/>
                  </a:lnTo>
                  <a:lnTo>
                    <a:pt x="665179" y="1328636"/>
                  </a:lnTo>
                  <a:lnTo>
                    <a:pt x="715911" y="1338447"/>
                  </a:lnTo>
                  <a:lnTo>
                    <a:pt x="767734" y="1346188"/>
                  </a:lnTo>
                  <a:lnTo>
                    <a:pt x="820560" y="1351797"/>
                  </a:lnTo>
                  <a:lnTo>
                    <a:pt x="874304" y="1355208"/>
                  </a:lnTo>
                  <a:lnTo>
                    <a:pt x="928878" y="1356359"/>
                  </a:lnTo>
                  <a:lnTo>
                    <a:pt x="983451" y="1355208"/>
                  </a:lnTo>
                  <a:lnTo>
                    <a:pt x="1037195" y="1351797"/>
                  </a:lnTo>
                  <a:lnTo>
                    <a:pt x="1090021" y="1346188"/>
                  </a:lnTo>
                  <a:lnTo>
                    <a:pt x="1141844" y="1338447"/>
                  </a:lnTo>
                  <a:lnTo>
                    <a:pt x="1192576" y="1328636"/>
                  </a:lnTo>
                  <a:lnTo>
                    <a:pt x="1242129" y="1316820"/>
                  </a:lnTo>
                  <a:lnTo>
                    <a:pt x="1290417" y="1303061"/>
                  </a:lnTo>
                  <a:lnTo>
                    <a:pt x="1337352" y="1287424"/>
                  </a:lnTo>
                  <a:lnTo>
                    <a:pt x="1382847" y="1269972"/>
                  </a:lnTo>
                  <a:lnTo>
                    <a:pt x="1426815" y="1250769"/>
                  </a:lnTo>
                  <a:lnTo>
                    <a:pt x="1469169" y="1229878"/>
                  </a:lnTo>
                  <a:lnTo>
                    <a:pt x="1509821" y="1207363"/>
                  </a:lnTo>
                  <a:lnTo>
                    <a:pt x="1548685" y="1183288"/>
                  </a:lnTo>
                  <a:lnTo>
                    <a:pt x="1585674" y="1157716"/>
                  </a:lnTo>
                  <a:lnTo>
                    <a:pt x="1620699" y="1130710"/>
                  </a:lnTo>
                  <a:lnTo>
                    <a:pt x="1653675" y="1102336"/>
                  </a:lnTo>
                  <a:lnTo>
                    <a:pt x="1684513" y="1072655"/>
                  </a:lnTo>
                  <a:lnTo>
                    <a:pt x="1713128" y="1041733"/>
                  </a:lnTo>
                  <a:lnTo>
                    <a:pt x="1739430" y="1009631"/>
                  </a:lnTo>
                  <a:lnTo>
                    <a:pt x="1763334" y="976415"/>
                  </a:lnTo>
                  <a:lnTo>
                    <a:pt x="1784752" y="942147"/>
                  </a:lnTo>
                  <a:lnTo>
                    <a:pt x="1803598" y="906892"/>
                  </a:lnTo>
                  <a:lnTo>
                    <a:pt x="1819783" y="870712"/>
                  </a:lnTo>
                  <a:lnTo>
                    <a:pt x="1833220" y="833672"/>
                  </a:lnTo>
                  <a:lnTo>
                    <a:pt x="1843824" y="795835"/>
                  </a:lnTo>
                  <a:lnTo>
                    <a:pt x="1851506" y="757265"/>
                  </a:lnTo>
                  <a:lnTo>
                    <a:pt x="1856178" y="718025"/>
                  </a:lnTo>
                  <a:lnTo>
                    <a:pt x="1857756" y="678179"/>
                  </a:lnTo>
                  <a:lnTo>
                    <a:pt x="1856178" y="638334"/>
                  </a:lnTo>
                  <a:lnTo>
                    <a:pt x="1851506" y="599094"/>
                  </a:lnTo>
                  <a:lnTo>
                    <a:pt x="1843824" y="560524"/>
                  </a:lnTo>
                  <a:lnTo>
                    <a:pt x="1833220" y="522687"/>
                  </a:lnTo>
                  <a:lnTo>
                    <a:pt x="1819783" y="485647"/>
                  </a:lnTo>
                  <a:lnTo>
                    <a:pt x="1803598" y="449467"/>
                  </a:lnTo>
                  <a:lnTo>
                    <a:pt x="1784752" y="414212"/>
                  </a:lnTo>
                  <a:lnTo>
                    <a:pt x="1763334" y="379944"/>
                  </a:lnTo>
                  <a:lnTo>
                    <a:pt x="1739430" y="346728"/>
                  </a:lnTo>
                  <a:lnTo>
                    <a:pt x="1713128" y="314626"/>
                  </a:lnTo>
                  <a:lnTo>
                    <a:pt x="1684513" y="283704"/>
                  </a:lnTo>
                  <a:lnTo>
                    <a:pt x="1653675" y="254023"/>
                  </a:lnTo>
                  <a:lnTo>
                    <a:pt x="1620699" y="225649"/>
                  </a:lnTo>
                  <a:lnTo>
                    <a:pt x="1585674" y="198643"/>
                  </a:lnTo>
                  <a:lnTo>
                    <a:pt x="1548685" y="173071"/>
                  </a:lnTo>
                  <a:lnTo>
                    <a:pt x="1509821" y="148996"/>
                  </a:lnTo>
                  <a:lnTo>
                    <a:pt x="1469169" y="126481"/>
                  </a:lnTo>
                  <a:lnTo>
                    <a:pt x="1426815" y="105590"/>
                  </a:lnTo>
                  <a:lnTo>
                    <a:pt x="1382847" y="86387"/>
                  </a:lnTo>
                  <a:lnTo>
                    <a:pt x="1337352" y="68935"/>
                  </a:lnTo>
                  <a:lnTo>
                    <a:pt x="1290417" y="53298"/>
                  </a:lnTo>
                  <a:lnTo>
                    <a:pt x="1242129" y="39539"/>
                  </a:lnTo>
                  <a:lnTo>
                    <a:pt x="1192576" y="27723"/>
                  </a:lnTo>
                  <a:lnTo>
                    <a:pt x="1141844" y="17912"/>
                  </a:lnTo>
                  <a:lnTo>
                    <a:pt x="1090021" y="10171"/>
                  </a:lnTo>
                  <a:lnTo>
                    <a:pt x="1037195" y="4562"/>
                  </a:lnTo>
                  <a:lnTo>
                    <a:pt x="983451" y="1151"/>
                  </a:lnTo>
                  <a:lnTo>
                    <a:pt x="928878" y="0"/>
                  </a:lnTo>
                  <a:close/>
                </a:path>
              </a:pathLst>
            </a:custGeom>
            <a:solidFill>
              <a:srgbClr val="92D05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6"/>
            <p:cNvSpPr/>
            <p:nvPr/>
          </p:nvSpPr>
          <p:spPr>
            <a:xfrm>
              <a:off x="3573018" y="4216145"/>
              <a:ext cx="1858010" cy="1356360"/>
            </a:xfrm>
            <a:custGeom>
              <a:avLst/>
              <a:gdLst/>
              <a:ahLst/>
              <a:cxnLst/>
              <a:rect l="l" t="t" r="r" b="b"/>
              <a:pathLst>
                <a:path w="1858010" h="1356360" extrusionOk="0">
                  <a:moveTo>
                    <a:pt x="0" y="678179"/>
                  </a:moveTo>
                  <a:lnTo>
                    <a:pt x="1577" y="638334"/>
                  </a:lnTo>
                  <a:lnTo>
                    <a:pt x="6249" y="599094"/>
                  </a:lnTo>
                  <a:lnTo>
                    <a:pt x="13931" y="560524"/>
                  </a:lnTo>
                  <a:lnTo>
                    <a:pt x="24535" y="522687"/>
                  </a:lnTo>
                  <a:lnTo>
                    <a:pt x="37972" y="485647"/>
                  </a:lnTo>
                  <a:lnTo>
                    <a:pt x="54157" y="449467"/>
                  </a:lnTo>
                  <a:lnTo>
                    <a:pt x="73003" y="414212"/>
                  </a:lnTo>
                  <a:lnTo>
                    <a:pt x="94421" y="379944"/>
                  </a:lnTo>
                  <a:lnTo>
                    <a:pt x="118325" y="346728"/>
                  </a:lnTo>
                  <a:lnTo>
                    <a:pt x="144627" y="314626"/>
                  </a:lnTo>
                  <a:lnTo>
                    <a:pt x="173242" y="283704"/>
                  </a:lnTo>
                  <a:lnTo>
                    <a:pt x="204080" y="254023"/>
                  </a:lnTo>
                  <a:lnTo>
                    <a:pt x="237056" y="225649"/>
                  </a:lnTo>
                  <a:lnTo>
                    <a:pt x="272081" y="198643"/>
                  </a:lnTo>
                  <a:lnTo>
                    <a:pt x="309070" y="173071"/>
                  </a:lnTo>
                  <a:lnTo>
                    <a:pt x="347934" y="148996"/>
                  </a:lnTo>
                  <a:lnTo>
                    <a:pt x="388586" y="126481"/>
                  </a:lnTo>
                  <a:lnTo>
                    <a:pt x="430940" y="105590"/>
                  </a:lnTo>
                  <a:lnTo>
                    <a:pt x="474908" y="86387"/>
                  </a:lnTo>
                  <a:lnTo>
                    <a:pt x="520403" y="68935"/>
                  </a:lnTo>
                  <a:lnTo>
                    <a:pt x="567338" y="53298"/>
                  </a:lnTo>
                  <a:lnTo>
                    <a:pt x="615626" y="39539"/>
                  </a:lnTo>
                  <a:lnTo>
                    <a:pt x="665179" y="27723"/>
                  </a:lnTo>
                  <a:lnTo>
                    <a:pt x="715911" y="17912"/>
                  </a:lnTo>
                  <a:lnTo>
                    <a:pt x="767734" y="10171"/>
                  </a:lnTo>
                  <a:lnTo>
                    <a:pt x="820560" y="4562"/>
                  </a:lnTo>
                  <a:lnTo>
                    <a:pt x="874304" y="1151"/>
                  </a:lnTo>
                  <a:lnTo>
                    <a:pt x="928878" y="0"/>
                  </a:lnTo>
                  <a:lnTo>
                    <a:pt x="983451" y="1151"/>
                  </a:lnTo>
                  <a:lnTo>
                    <a:pt x="1037195" y="4562"/>
                  </a:lnTo>
                  <a:lnTo>
                    <a:pt x="1090021" y="10171"/>
                  </a:lnTo>
                  <a:lnTo>
                    <a:pt x="1141844" y="17912"/>
                  </a:lnTo>
                  <a:lnTo>
                    <a:pt x="1192576" y="27723"/>
                  </a:lnTo>
                  <a:lnTo>
                    <a:pt x="1242129" y="39539"/>
                  </a:lnTo>
                  <a:lnTo>
                    <a:pt x="1290417" y="53298"/>
                  </a:lnTo>
                  <a:lnTo>
                    <a:pt x="1337352" y="68935"/>
                  </a:lnTo>
                  <a:lnTo>
                    <a:pt x="1382847" y="86387"/>
                  </a:lnTo>
                  <a:lnTo>
                    <a:pt x="1426815" y="105590"/>
                  </a:lnTo>
                  <a:lnTo>
                    <a:pt x="1469169" y="126481"/>
                  </a:lnTo>
                  <a:lnTo>
                    <a:pt x="1509821" y="148996"/>
                  </a:lnTo>
                  <a:lnTo>
                    <a:pt x="1548685" y="173071"/>
                  </a:lnTo>
                  <a:lnTo>
                    <a:pt x="1585674" y="198643"/>
                  </a:lnTo>
                  <a:lnTo>
                    <a:pt x="1620699" y="225649"/>
                  </a:lnTo>
                  <a:lnTo>
                    <a:pt x="1653675" y="254023"/>
                  </a:lnTo>
                  <a:lnTo>
                    <a:pt x="1684513" y="283704"/>
                  </a:lnTo>
                  <a:lnTo>
                    <a:pt x="1713128" y="314626"/>
                  </a:lnTo>
                  <a:lnTo>
                    <a:pt x="1739430" y="346728"/>
                  </a:lnTo>
                  <a:lnTo>
                    <a:pt x="1763334" y="379944"/>
                  </a:lnTo>
                  <a:lnTo>
                    <a:pt x="1784752" y="414212"/>
                  </a:lnTo>
                  <a:lnTo>
                    <a:pt x="1803598" y="449467"/>
                  </a:lnTo>
                  <a:lnTo>
                    <a:pt x="1819783" y="485647"/>
                  </a:lnTo>
                  <a:lnTo>
                    <a:pt x="1833220" y="522687"/>
                  </a:lnTo>
                  <a:lnTo>
                    <a:pt x="1843824" y="560524"/>
                  </a:lnTo>
                  <a:lnTo>
                    <a:pt x="1851506" y="599094"/>
                  </a:lnTo>
                  <a:lnTo>
                    <a:pt x="1856178" y="638334"/>
                  </a:lnTo>
                  <a:lnTo>
                    <a:pt x="1857756" y="678179"/>
                  </a:lnTo>
                  <a:lnTo>
                    <a:pt x="1856178" y="718025"/>
                  </a:lnTo>
                  <a:lnTo>
                    <a:pt x="1851506" y="757265"/>
                  </a:lnTo>
                  <a:lnTo>
                    <a:pt x="1843824" y="795835"/>
                  </a:lnTo>
                  <a:lnTo>
                    <a:pt x="1833220" y="833672"/>
                  </a:lnTo>
                  <a:lnTo>
                    <a:pt x="1819783" y="870712"/>
                  </a:lnTo>
                  <a:lnTo>
                    <a:pt x="1803598" y="906892"/>
                  </a:lnTo>
                  <a:lnTo>
                    <a:pt x="1784752" y="942147"/>
                  </a:lnTo>
                  <a:lnTo>
                    <a:pt x="1763334" y="976415"/>
                  </a:lnTo>
                  <a:lnTo>
                    <a:pt x="1739430" y="1009631"/>
                  </a:lnTo>
                  <a:lnTo>
                    <a:pt x="1713128" y="1041733"/>
                  </a:lnTo>
                  <a:lnTo>
                    <a:pt x="1684513" y="1072655"/>
                  </a:lnTo>
                  <a:lnTo>
                    <a:pt x="1653675" y="1102336"/>
                  </a:lnTo>
                  <a:lnTo>
                    <a:pt x="1620699" y="1130710"/>
                  </a:lnTo>
                  <a:lnTo>
                    <a:pt x="1585674" y="1157716"/>
                  </a:lnTo>
                  <a:lnTo>
                    <a:pt x="1548685" y="1183288"/>
                  </a:lnTo>
                  <a:lnTo>
                    <a:pt x="1509821" y="1207363"/>
                  </a:lnTo>
                  <a:lnTo>
                    <a:pt x="1469169" y="1229878"/>
                  </a:lnTo>
                  <a:lnTo>
                    <a:pt x="1426815" y="1250769"/>
                  </a:lnTo>
                  <a:lnTo>
                    <a:pt x="1382847" y="1269972"/>
                  </a:lnTo>
                  <a:lnTo>
                    <a:pt x="1337352" y="1287424"/>
                  </a:lnTo>
                  <a:lnTo>
                    <a:pt x="1290417" y="1303061"/>
                  </a:lnTo>
                  <a:lnTo>
                    <a:pt x="1242129" y="1316820"/>
                  </a:lnTo>
                  <a:lnTo>
                    <a:pt x="1192576" y="1328636"/>
                  </a:lnTo>
                  <a:lnTo>
                    <a:pt x="1141844" y="1338447"/>
                  </a:lnTo>
                  <a:lnTo>
                    <a:pt x="1090021" y="1346188"/>
                  </a:lnTo>
                  <a:lnTo>
                    <a:pt x="1037195" y="1351797"/>
                  </a:lnTo>
                  <a:lnTo>
                    <a:pt x="983451" y="1355208"/>
                  </a:lnTo>
                  <a:lnTo>
                    <a:pt x="928878" y="1356359"/>
                  </a:lnTo>
                  <a:lnTo>
                    <a:pt x="874304" y="1355208"/>
                  </a:lnTo>
                  <a:lnTo>
                    <a:pt x="820560" y="1351797"/>
                  </a:lnTo>
                  <a:lnTo>
                    <a:pt x="767734" y="1346188"/>
                  </a:lnTo>
                  <a:lnTo>
                    <a:pt x="715911" y="1338447"/>
                  </a:lnTo>
                  <a:lnTo>
                    <a:pt x="665179" y="1328636"/>
                  </a:lnTo>
                  <a:lnTo>
                    <a:pt x="615626" y="1316820"/>
                  </a:lnTo>
                  <a:lnTo>
                    <a:pt x="567338" y="1303061"/>
                  </a:lnTo>
                  <a:lnTo>
                    <a:pt x="520403" y="1287424"/>
                  </a:lnTo>
                  <a:lnTo>
                    <a:pt x="474908" y="1269972"/>
                  </a:lnTo>
                  <a:lnTo>
                    <a:pt x="430940" y="1250769"/>
                  </a:lnTo>
                  <a:lnTo>
                    <a:pt x="388586" y="1229878"/>
                  </a:lnTo>
                  <a:lnTo>
                    <a:pt x="347934" y="1207363"/>
                  </a:lnTo>
                  <a:lnTo>
                    <a:pt x="309070" y="1183288"/>
                  </a:lnTo>
                  <a:lnTo>
                    <a:pt x="272081" y="1157716"/>
                  </a:lnTo>
                  <a:lnTo>
                    <a:pt x="237056" y="1130710"/>
                  </a:lnTo>
                  <a:lnTo>
                    <a:pt x="204080" y="1102336"/>
                  </a:lnTo>
                  <a:lnTo>
                    <a:pt x="173242" y="1072655"/>
                  </a:lnTo>
                  <a:lnTo>
                    <a:pt x="144627" y="1041733"/>
                  </a:lnTo>
                  <a:lnTo>
                    <a:pt x="118325" y="1009631"/>
                  </a:lnTo>
                  <a:lnTo>
                    <a:pt x="94421" y="976415"/>
                  </a:lnTo>
                  <a:lnTo>
                    <a:pt x="73003" y="942147"/>
                  </a:lnTo>
                  <a:lnTo>
                    <a:pt x="54157" y="906892"/>
                  </a:lnTo>
                  <a:lnTo>
                    <a:pt x="37972" y="870712"/>
                  </a:lnTo>
                  <a:lnTo>
                    <a:pt x="24535" y="833672"/>
                  </a:lnTo>
                  <a:lnTo>
                    <a:pt x="13931" y="795835"/>
                  </a:lnTo>
                  <a:lnTo>
                    <a:pt x="6249" y="757265"/>
                  </a:lnTo>
                  <a:lnTo>
                    <a:pt x="1577" y="718025"/>
                  </a:lnTo>
                  <a:lnTo>
                    <a:pt x="0" y="678179"/>
                  </a:lnTo>
                  <a:close/>
                </a:path>
              </a:pathLst>
            </a:custGeom>
            <a:noFill/>
            <a:ln w="19800" cap="flat" cmpd="sng">
              <a:solidFill>
                <a:srgbClr val="6B859A"/>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0" name="Google Shape;150;p6"/>
          <p:cNvSpPr txBox="1"/>
          <p:nvPr/>
        </p:nvSpPr>
        <p:spPr>
          <a:xfrm>
            <a:off x="5795772" y="3791486"/>
            <a:ext cx="744220" cy="635635"/>
          </a:xfrm>
          <a:prstGeom prst="rect">
            <a:avLst/>
          </a:prstGeom>
          <a:noFill/>
          <a:ln>
            <a:noFill/>
          </a:ln>
        </p:spPr>
        <p:txBody>
          <a:bodyPr spcFirstLastPara="1" wrap="square" lIns="0" tIns="12700" rIns="0" bIns="0" anchor="t" anchorCtr="0">
            <a:spAutoFit/>
          </a:bodyPr>
          <a:lstStyle/>
          <a:p>
            <a:pPr marL="109854" marR="5080" lvl="0" indent="-97790" algn="l" rtl="0">
              <a:lnSpc>
                <a:spcPct val="100000"/>
              </a:lnSpc>
              <a:spcBef>
                <a:spcPts val="0"/>
              </a:spcBef>
              <a:spcAft>
                <a:spcPts val="0"/>
              </a:spcAft>
              <a:buNone/>
            </a:pPr>
            <a:r>
              <a:rPr lang="en-US" sz="2000" b="1" i="0" u="none" strike="noStrike" cap="none">
                <a:solidFill>
                  <a:srgbClr val="FFFFFF"/>
                </a:solidFill>
                <a:latin typeface="Trebuchet MS"/>
                <a:ea typeface="Trebuchet MS"/>
                <a:cs typeface="Trebuchet MS"/>
                <a:sym typeface="Trebuchet MS"/>
              </a:rPr>
              <a:t>Access  Point</a:t>
            </a:r>
            <a:endParaRPr sz="2000" b="0" i="0" u="none" strike="noStrike" cap="none">
              <a:solidFill>
                <a:schemeClr val="dk1"/>
              </a:solidFill>
              <a:latin typeface="Trebuchet MS"/>
              <a:ea typeface="Trebuchet MS"/>
              <a:cs typeface="Trebuchet MS"/>
              <a:sym typeface="Trebuchet MS"/>
            </a:endParaRPr>
          </a:p>
        </p:txBody>
      </p:sp>
      <p:grpSp>
        <p:nvGrpSpPr>
          <p:cNvPr id="151" name="Google Shape;151;p6"/>
          <p:cNvGrpSpPr/>
          <p:nvPr/>
        </p:nvGrpSpPr>
        <p:grpSpPr>
          <a:xfrm>
            <a:off x="7953756" y="3445918"/>
            <a:ext cx="1858010" cy="1356360"/>
            <a:chOff x="6287262" y="4216145"/>
            <a:chExt cx="1858010" cy="1356360"/>
          </a:xfrm>
        </p:grpSpPr>
        <p:sp>
          <p:nvSpPr>
            <p:cNvPr id="152" name="Google Shape;152;p6"/>
            <p:cNvSpPr/>
            <p:nvPr/>
          </p:nvSpPr>
          <p:spPr>
            <a:xfrm>
              <a:off x="6287262" y="4216145"/>
              <a:ext cx="1858010" cy="1356360"/>
            </a:xfrm>
            <a:custGeom>
              <a:avLst/>
              <a:gdLst/>
              <a:ahLst/>
              <a:cxnLst/>
              <a:rect l="l" t="t" r="r" b="b"/>
              <a:pathLst>
                <a:path w="1858009" h="1356360" extrusionOk="0">
                  <a:moveTo>
                    <a:pt x="928878" y="0"/>
                  </a:moveTo>
                  <a:lnTo>
                    <a:pt x="874304" y="1151"/>
                  </a:lnTo>
                  <a:lnTo>
                    <a:pt x="820560" y="4562"/>
                  </a:lnTo>
                  <a:lnTo>
                    <a:pt x="767734" y="10171"/>
                  </a:lnTo>
                  <a:lnTo>
                    <a:pt x="715911" y="17912"/>
                  </a:lnTo>
                  <a:lnTo>
                    <a:pt x="665179" y="27723"/>
                  </a:lnTo>
                  <a:lnTo>
                    <a:pt x="615626" y="39539"/>
                  </a:lnTo>
                  <a:lnTo>
                    <a:pt x="567338" y="53298"/>
                  </a:lnTo>
                  <a:lnTo>
                    <a:pt x="520403" y="68935"/>
                  </a:lnTo>
                  <a:lnTo>
                    <a:pt x="474908" y="86387"/>
                  </a:lnTo>
                  <a:lnTo>
                    <a:pt x="430940" y="105590"/>
                  </a:lnTo>
                  <a:lnTo>
                    <a:pt x="388586" y="126481"/>
                  </a:lnTo>
                  <a:lnTo>
                    <a:pt x="347934" y="148996"/>
                  </a:lnTo>
                  <a:lnTo>
                    <a:pt x="309070" y="173071"/>
                  </a:lnTo>
                  <a:lnTo>
                    <a:pt x="272081" y="198643"/>
                  </a:lnTo>
                  <a:lnTo>
                    <a:pt x="237056" y="225649"/>
                  </a:lnTo>
                  <a:lnTo>
                    <a:pt x="204080" y="254023"/>
                  </a:lnTo>
                  <a:lnTo>
                    <a:pt x="173242" y="283704"/>
                  </a:lnTo>
                  <a:lnTo>
                    <a:pt x="144627" y="314626"/>
                  </a:lnTo>
                  <a:lnTo>
                    <a:pt x="118325" y="346728"/>
                  </a:lnTo>
                  <a:lnTo>
                    <a:pt x="94421" y="379944"/>
                  </a:lnTo>
                  <a:lnTo>
                    <a:pt x="73003" y="414212"/>
                  </a:lnTo>
                  <a:lnTo>
                    <a:pt x="54157" y="449467"/>
                  </a:lnTo>
                  <a:lnTo>
                    <a:pt x="37972" y="485647"/>
                  </a:lnTo>
                  <a:lnTo>
                    <a:pt x="24535" y="522687"/>
                  </a:lnTo>
                  <a:lnTo>
                    <a:pt x="13931" y="560524"/>
                  </a:lnTo>
                  <a:lnTo>
                    <a:pt x="6249" y="599094"/>
                  </a:lnTo>
                  <a:lnTo>
                    <a:pt x="1577" y="638334"/>
                  </a:lnTo>
                  <a:lnTo>
                    <a:pt x="0" y="678179"/>
                  </a:lnTo>
                  <a:lnTo>
                    <a:pt x="1577" y="718025"/>
                  </a:lnTo>
                  <a:lnTo>
                    <a:pt x="6249" y="757265"/>
                  </a:lnTo>
                  <a:lnTo>
                    <a:pt x="13931" y="795835"/>
                  </a:lnTo>
                  <a:lnTo>
                    <a:pt x="24535" y="833672"/>
                  </a:lnTo>
                  <a:lnTo>
                    <a:pt x="37972" y="870712"/>
                  </a:lnTo>
                  <a:lnTo>
                    <a:pt x="54157" y="906892"/>
                  </a:lnTo>
                  <a:lnTo>
                    <a:pt x="73003" y="942147"/>
                  </a:lnTo>
                  <a:lnTo>
                    <a:pt x="94421" y="976415"/>
                  </a:lnTo>
                  <a:lnTo>
                    <a:pt x="118325" y="1009631"/>
                  </a:lnTo>
                  <a:lnTo>
                    <a:pt x="144627" y="1041733"/>
                  </a:lnTo>
                  <a:lnTo>
                    <a:pt x="173242" y="1072655"/>
                  </a:lnTo>
                  <a:lnTo>
                    <a:pt x="204080" y="1102336"/>
                  </a:lnTo>
                  <a:lnTo>
                    <a:pt x="237056" y="1130710"/>
                  </a:lnTo>
                  <a:lnTo>
                    <a:pt x="272081" y="1157716"/>
                  </a:lnTo>
                  <a:lnTo>
                    <a:pt x="309070" y="1183288"/>
                  </a:lnTo>
                  <a:lnTo>
                    <a:pt x="347934" y="1207363"/>
                  </a:lnTo>
                  <a:lnTo>
                    <a:pt x="388586" y="1229878"/>
                  </a:lnTo>
                  <a:lnTo>
                    <a:pt x="430940" y="1250769"/>
                  </a:lnTo>
                  <a:lnTo>
                    <a:pt x="474908" y="1269972"/>
                  </a:lnTo>
                  <a:lnTo>
                    <a:pt x="520403" y="1287424"/>
                  </a:lnTo>
                  <a:lnTo>
                    <a:pt x="567338" y="1303061"/>
                  </a:lnTo>
                  <a:lnTo>
                    <a:pt x="615626" y="1316820"/>
                  </a:lnTo>
                  <a:lnTo>
                    <a:pt x="665179" y="1328636"/>
                  </a:lnTo>
                  <a:lnTo>
                    <a:pt x="715911" y="1338447"/>
                  </a:lnTo>
                  <a:lnTo>
                    <a:pt x="767734" y="1346188"/>
                  </a:lnTo>
                  <a:lnTo>
                    <a:pt x="820560" y="1351797"/>
                  </a:lnTo>
                  <a:lnTo>
                    <a:pt x="874304" y="1355208"/>
                  </a:lnTo>
                  <a:lnTo>
                    <a:pt x="928878" y="1356359"/>
                  </a:lnTo>
                  <a:lnTo>
                    <a:pt x="983451" y="1355208"/>
                  </a:lnTo>
                  <a:lnTo>
                    <a:pt x="1037195" y="1351797"/>
                  </a:lnTo>
                  <a:lnTo>
                    <a:pt x="1090021" y="1346188"/>
                  </a:lnTo>
                  <a:lnTo>
                    <a:pt x="1141844" y="1338447"/>
                  </a:lnTo>
                  <a:lnTo>
                    <a:pt x="1192576" y="1328636"/>
                  </a:lnTo>
                  <a:lnTo>
                    <a:pt x="1242129" y="1316820"/>
                  </a:lnTo>
                  <a:lnTo>
                    <a:pt x="1290417" y="1303061"/>
                  </a:lnTo>
                  <a:lnTo>
                    <a:pt x="1337352" y="1287424"/>
                  </a:lnTo>
                  <a:lnTo>
                    <a:pt x="1382847" y="1269972"/>
                  </a:lnTo>
                  <a:lnTo>
                    <a:pt x="1426815" y="1250769"/>
                  </a:lnTo>
                  <a:lnTo>
                    <a:pt x="1469169" y="1229878"/>
                  </a:lnTo>
                  <a:lnTo>
                    <a:pt x="1509821" y="1207363"/>
                  </a:lnTo>
                  <a:lnTo>
                    <a:pt x="1548685" y="1183288"/>
                  </a:lnTo>
                  <a:lnTo>
                    <a:pt x="1585674" y="1157716"/>
                  </a:lnTo>
                  <a:lnTo>
                    <a:pt x="1620699" y="1130710"/>
                  </a:lnTo>
                  <a:lnTo>
                    <a:pt x="1653675" y="1102336"/>
                  </a:lnTo>
                  <a:lnTo>
                    <a:pt x="1684513" y="1072655"/>
                  </a:lnTo>
                  <a:lnTo>
                    <a:pt x="1713128" y="1041733"/>
                  </a:lnTo>
                  <a:lnTo>
                    <a:pt x="1739430" y="1009631"/>
                  </a:lnTo>
                  <a:lnTo>
                    <a:pt x="1763334" y="976415"/>
                  </a:lnTo>
                  <a:lnTo>
                    <a:pt x="1784752" y="942147"/>
                  </a:lnTo>
                  <a:lnTo>
                    <a:pt x="1803598" y="906892"/>
                  </a:lnTo>
                  <a:lnTo>
                    <a:pt x="1819783" y="870712"/>
                  </a:lnTo>
                  <a:lnTo>
                    <a:pt x="1833220" y="833672"/>
                  </a:lnTo>
                  <a:lnTo>
                    <a:pt x="1843824" y="795835"/>
                  </a:lnTo>
                  <a:lnTo>
                    <a:pt x="1851506" y="757265"/>
                  </a:lnTo>
                  <a:lnTo>
                    <a:pt x="1856178" y="718025"/>
                  </a:lnTo>
                  <a:lnTo>
                    <a:pt x="1857756" y="678179"/>
                  </a:lnTo>
                  <a:lnTo>
                    <a:pt x="1856178" y="638334"/>
                  </a:lnTo>
                  <a:lnTo>
                    <a:pt x="1851506" y="599094"/>
                  </a:lnTo>
                  <a:lnTo>
                    <a:pt x="1843824" y="560524"/>
                  </a:lnTo>
                  <a:lnTo>
                    <a:pt x="1833220" y="522687"/>
                  </a:lnTo>
                  <a:lnTo>
                    <a:pt x="1819783" y="485647"/>
                  </a:lnTo>
                  <a:lnTo>
                    <a:pt x="1803598" y="449467"/>
                  </a:lnTo>
                  <a:lnTo>
                    <a:pt x="1784752" y="414212"/>
                  </a:lnTo>
                  <a:lnTo>
                    <a:pt x="1763334" y="379944"/>
                  </a:lnTo>
                  <a:lnTo>
                    <a:pt x="1739430" y="346728"/>
                  </a:lnTo>
                  <a:lnTo>
                    <a:pt x="1713128" y="314626"/>
                  </a:lnTo>
                  <a:lnTo>
                    <a:pt x="1684513" y="283704"/>
                  </a:lnTo>
                  <a:lnTo>
                    <a:pt x="1653675" y="254023"/>
                  </a:lnTo>
                  <a:lnTo>
                    <a:pt x="1620699" y="225649"/>
                  </a:lnTo>
                  <a:lnTo>
                    <a:pt x="1585674" y="198643"/>
                  </a:lnTo>
                  <a:lnTo>
                    <a:pt x="1548685" y="173071"/>
                  </a:lnTo>
                  <a:lnTo>
                    <a:pt x="1509821" y="148996"/>
                  </a:lnTo>
                  <a:lnTo>
                    <a:pt x="1469169" y="126481"/>
                  </a:lnTo>
                  <a:lnTo>
                    <a:pt x="1426815" y="105590"/>
                  </a:lnTo>
                  <a:lnTo>
                    <a:pt x="1382847" y="86387"/>
                  </a:lnTo>
                  <a:lnTo>
                    <a:pt x="1337352" y="68935"/>
                  </a:lnTo>
                  <a:lnTo>
                    <a:pt x="1290417" y="53298"/>
                  </a:lnTo>
                  <a:lnTo>
                    <a:pt x="1242129" y="39539"/>
                  </a:lnTo>
                  <a:lnTo>
                    <a:pt x="1192576" y="27723"/>
                  </a:lnTo>
                  <a:lnTo>
                    <a:pt x="1141844" y="17912"/>
                  </a:lnTo>
                  <a:lnTo>
                    <a:pt x="1090021" y="10171"/>
                  </a:lnTo>
                  <a:lnTo>
                    <a:pt x="1037195" y="4562"/>
                  </a:lnTo>
                  <a:lnTo>
                    <a:pt x="983451" y="1151"/>
                  </a:lnTo>
                  <a:lnTo>
                    <a:pt x="928878" y="0"/>
                  </a:lnTo>
                  <a:close/>
                </a:path>
              </a:pathLst>
            </a:custGeom>
            <a:solidFill>
              <a:srgbClr val="92D05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3" name="Google Shape;153;p6"/>
            <p:cNvSpPr/>
            <p:nvPr/>
          </p:nvSpPr>
          <p:spPr>
            <a:xfrm>
              <a:off x="6287262" y="4216145"/>
              <a:ext cx="1858010" cy="1356360"/>
            </a:xfrm>
            <a:custGeom>
              <a:avLst/>
              <a:gdLst/>
              <a:ahLst/>
              <a:cxnLst/>
              <a:rect l="l" t="t" r="r" b="b"/>
              <a:pathLst>
                <a:path w="1858009" h="1356360" extrusionOk="0">
                  <a:moveTo>
                    <a:pt x="0" y="678179"/>
                  </a:moveTo>
                  <a:lnTo>
                    <a:pt x="1577" y="638334"/>
                  </a:lnTo>
                  <a:lnTo>
                    <a:pt x="6249" y="599094"/>
                  </a:lnTo>
                  <a:lnTo>
                    <a:pt x="13931" y="560524"/>
                  </a:lnTo>
                  <a:lnTo>
                    <a:pt x="24535" y="522687"/>
                  </a:lnTo>
                  <a:lnTo>
                    <a:pt x="37972" y="485647"/>
                  </a:lnTo>
                  <a:lnTo>
                    <a:pt x="54157" y="449467"/>
                  </a:lnTo>
                  <a:lnTo>
                    <a:pt x="73003" y="414212"/>
                  </a:lnTo>
                  <a:lnTo>
                    <a:pt x="94421" y="379944"/>
                  </a:lnTo>
                  <a:lnTo>
                    <a:pt x="118325" y="346728"/>
                  </a:lnTo>
                  <a:lnTo>
                    <a:pt x="144627" y="314626"/>
                  </a:lnTo>
                  <a:lnTo>
                    <a:pt x="173242" y="283704"/>
                  </a:lnTo>
                  <a:lnTo>
                    <a:pt x="204080" y="254023"/>
                  </a:lnTo>
                  <a:lnTo>
                    <a:pt x="237056" y="225649"/>
                  </a:lnTo>
                  <a:lnTo>
                    <a:pt x="272081" y="198643"/>
                  </a:lnTo>
                  <a:lnTo>
                    <a:pt x="309070" y="173071"/>
                  </a:lnTo>
                  <a:lnTo>
                    <a:pt x="347934" y="148996"/>
                  </a:lnTo>
                  <a:lnTo>
                    <a:pt x="388586" y="126481"/>
                  </a:lnTo>
                  <a:lnTo>
                    <a:pt x="430940" y="105590"/>
                  </a:lnTo>
                  <a:lnTo>
                    <a:pt x="474908" y="86387"/>
                  </a:lnTo>
                  <a:lnTo>
                    <a:pt x="520403" y="68935"/>
                  </a:lnTo>
                  <a:lnTo>
                    <a:pt x="567338" y="53298"/>
                  </a:lnTo>
                  <a:lnTo>
                    <a:pt x="615626" y="39539"/>
                  </a:lnTo>
                  <a:lnTo>
                    <a:pt x="665179" y="27723"/>
                  </a:lnTo>
                  <a:lnTo>
                    <a:pt x="715911" y="17912"/>
                  </a:lnTo>
                  <a:lnTo>
                    <a:pt x="767734" y="10171"/>
                  </a:lnTo>
                  <a:lnTo>
                    <a:pt x="820560" y="4562"/>
                  </a:lnTo>
                  <a:lnTo>
                    <a:pt x="874304" y="1151"/>
                  </a:lnTo>
                  <a:lnTo>
                    <a:pt x="928878" y="0"/>
                  </a:lnTo>
                  <a:lnTo>
                    <a:pt x="983451" y="1151"/>
                  </a:lnTo>
                  <a:lnTo>
                    <a:pt x="1037195" y="4562"/>
                  </a:lnTo>
                  <a:lnTo>
                    <a:pt x="1090021" y="10171"/>
                  </a:lnTo>
                  <a:lnTo>
                    <a:pt x="1141844" y="17912"/>
                  </a:lnTo>
                  <a:lnTo>
                    <a:pt x="1192576" y="27723"/>
                  </a:lnTo>
                  <a:lnTo>
                    <a:pt x="1242129" y="39539"/>
                  </a:lnTo>
                  <a:lnTo>
                    <a:pt x="1290417" y="53298"/>
                  </a:lnTo>
                  <a:lnTo>
                    <a:pt x="1337352" y="68935"/>
                  </a:lnTo>
                  <a:lnTo>
                    <a:pt x="1382847" y="86387"/>
                  </a:lnTo>
                  <a:lnTo>
                    <a:pt x="1426815" y="105590"/>
                  </a:lnTo>
                  <a:lnTo>
                    <a:pt x="1469169" y="126481"/>
                  </a:lnTo>
                  <a:lnTo>
                    <a:pt x="1509821" y="148996"/>
                  </a:lnTo>
                  <a:lnTo>
                    <a:pt x="1548685" y="173071"/>
                  </a:lnTo>
                  <a:lnTo>
                    <a:pt x="1585674" y="198643"/>
                  </a:lnTo>
                  <a:lnTo>
                    <a:pt x="1620699" y="225649"/>
                  </a:lnTo>
                  <a:lnTo>
                    <a:pt x="1653675" y="254023"/>
                  </a:lnTo>
                  <a:lnTo>
                    <a:pt x="1684513" y="283704"/>
                  </a:lnTo>
                  <a:lnTo>
                    <a:pt x="1713128" y="314626"/>
                  </a:lnTo>
                  <a:lnTo>
                    <a:pt x="1739430" y="346728"/>
                  </a:lnTo>
                  <a:lnTo>
                    <a:pt x="1763334" y="379944"/>
                  </a:lnTo>
                  <a:lnTo>
                    <a:pt x="1784752" y="414212"/>
                  </a:lnTo>
                  <a:lnTo>
                    <a:pt x="1803598" y="449467"/>
                  </a:lnTo>
                  <a:lnTo>
                    <a:pt x="1819783" y="485647"/>
                  </a:lnTo>
                  <a:lnTo>
                    <a:pt x="1833220" y="522687"/>
                  </a:lnTo>
                  <a:lnTo>
                    <a:pt x="1843824" y="560524"/>
                  </a:lnTo>
                  <a:lnTo>
                    <a:pt x="1851506" y="599094"/>
                  </a:lnTo>
                  <a:lnTo>
                    <a:pt x="1856178" y="638334"/>
                  </a:lnTo>
                  <a:lnTo>
                    <a:pt x="1857756" y="678179"/>
                  </a:lnTo>
                  <a:lnTo>
                    <a:pt x="1856178" y="718025"/>
                  </a:lnTo>
                  <a:lnTo>
                    <a:pt x="1851506" y="757265"/>
                  </a:lnTo>
                  <a:lnTo>
                    <a:pt x="1843824" y="795835"/>
                  </a:lnTo>
                  <a:lnTo>
                    <a:pt x="1833220" y="833672"/>
                  </a:lnTo>
                  <a:lnTo>
                    <a:pt x="1819783" y="870712"/>
                  </a:lnTo>
                  <a:lnTo>
                    <a:pt x="1803598" y="906892"/>
                  </a:lnTo>
                  <a:lnTo>
                    <a:pt x="1784752" y="942147"/>
                  </a:lnTo>
                  <a:lnTo>
                    <a:pt x="1763334" y="976415"/>
                  </a:lnTo>
                  <a:lnTo>
                    <a:pt x="1739430" y="1009631"/>
                  </a:lnTo>
                  <a:lnTo>
                    <a:pt x="1713128" y="1041733"/>
                  </a:lnTo>
                  <a:lnTo>
                    <a:pt x="1684513" y="1072655"/>
                  </a:lnTo>
                  <a:lnTo>
                    <a:pt x="1653675" y="1102336"/>
                  </a:lnTo>
                  <a:lnTo>
                    <a:pt x="1620699" y="1130710"/>
                  </a:lnTo>
                  <a:lnTo>
                    <a:pt x="1585674" y="1157716"/>
                  </a:lnTo>
                  <a:lnTo>
                    <a:pt x="1548685" y="1183288"/>
                  </a:lnTo>
                  <a:lnTo>
                    <a:pt x="1509821" y="1207363"/>
                  </a:lnTo>
                  <a:lnTo>
                    <a:pt x="1469169" y="1229878"/>
                  </a:lnTo>
                  <a:lnTo>
                    <a:pt x="1426815" y="1250769"/>
                  </a:lnTo>
                  <a:lnTo>
                    <a:pt x="1382847" y="1269972"/>
                  </a:lnTo>
                  <a:lnTo>
                    <a:pt x="1337352" y="1287424"/>
                  </a:lnTo>
                  <a:lnTo>
                    <a:pt x="1290417" y="1303061"/>
                  </a:lnTo>
                  <a:lnTo>
                    <a:pt x="1242129" y="1316820"/>
                  </a:lnTo>
                  <a:lnTo>
                    <a:pt x="1192576" y="1328636"/>
                  </a:lnTo>
                  <a:lnTo>
                    <a:pt x="1141844" y="1338447"/>
                  </a:lnTo>
                  <a:lnTo>
                    <a:pt x="1090021" y="1346188"/>
                  </a:lnTo>
                  <a:lnTo>
                    <a:pt x="1037195" y="1351797"/>
                  </a:lnTo>
                  <a:lnTo>
                    <a:pt x="983451" y="1355208"/>
                  </a:lnTo>
                  <a:lnTo>
                    <a:pt x="928878" y="1356359"/>
                  </a:lnTo>
                  <a:lnTo>
                    <a:pt x="874304" y="1355208"/>
                  </a:lnTo>
                  <a:lnTo>
                    <a:pt x="820560" y="1351797"/>
                  </a:lnTo>
                  <a:lnTo>
                    <a:pt x="767734" y="1346188"/>
                  </a:lnTo>
                  <a:lnTo>
                    <a:pt x="715911" y="1338447"/>
                  </a:lnTo>
                  <a:lnTo>
                    <a:pt x="665179" y="1328636"/>
                  </a:lnTo>
                  <a:lnTo>
                    <a:pt x="615626" y="1316820"/>
                  </a:lnTo>
                  <a:lnTo>
                    <a:pt x="567338" y="1303061"/>
                  </a:lnTo>
                  <a:lnTo>
                    <a:pt x="520403" y="1287424"/>
                  </a:lnTo>
                  <a:lnTo>
                    <a:pt x="474908" y="1269972"/>
                  </a:lnTo>
                  <a:lnTo>
                    <a:pt x="430940" y="1250769"/>
                  </a:lnTo>
                  <a:lnTo>
                    <a:pt x="388586" y="1229878"/>
                  </a:lnTo>
                  <a:lnTo>
                    <a:pt x="347934" y="1207363"/>
                  </a:lnTo>
                  <a:lnTo>
                    <a:pt x="309070" y="1183288"/>
                  </a:lnTo>
                  <a:lnTo>
                    <a:pt x="272081" y="1157716"/>
                  </a:lnTo>
                  <a:lnTo>
                    <a:pt x="237056" y="1130710"/>
                  </a:lnTo>
                  <a:lnTo>
                    <a:pt x="204080" y="1102336"/>
                  </a:lnTo>
                  <a:lnTo>
                    <a:pt x="173242" y="1072655"/>
                  </a:lnTo>
                  <a:lnTo>
                    <a:pt x="144627" y="1041733"/>
                  </a:lnTo>
                  <a:lnTo>
                    <a:pt x="118325" y="1009631"/>
                  </a:lnTo>
                  <a:lnTo>
                    <a:pt x="94421" y="976415"/>
                  </a:lnTo>
                  <a:lnTo>
                    <a:pt x="73003" y="942147"/>
                  </a:lnTo>
                  <a:lnTo>
                    <a:pt x="54157" y="906892"/>
                  </a:lnTo>
                  <a:lnTo>
                    <a:pt x="37972" y="870712"/>
                  </a:lnTo>
                  <a:lnTo>
                    <a:pt x="24535" y="833672"/>
                  </a:lnTo>
                  <a:lnTo>
                    <a:pt x="13931" y="795835"/>
                  </a:lnTo>
                  <a:lnTo>
                    <a:pt x="6249" y="757265"/>
                  </a:lnTo>
                  <a:lnTo>
                    <a:pt x="1577" y="718025"/>
                  </a:lnTo>
                  <a:lnTo>
                    <a:pt x="0" y="678179"/>
                  </a:lnTo>
                  <a:close/>
                </a:path>
              </a:pathLst>
            </a:custGeom>
            <a:noFill/>
            <a:ln w="19800" cap="flat" cmpd="sng">
              <a:solidFill>
                <a:srgbClr val="6B859A"/>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4" name="Google Shape;154;p6"/>
          <p:cNvSpPr txBox="1"/>
          <p:nvPr/>
        </p:nvSpPr>
        <p:spPr>
          <a:xfrm>
            <a:off x="8510904" y="3791486"/>
            <a:ext cx="744220" cy="635635"/>
          </a:xfrm>
          <a:prstGeom prst="rect">
            <a:avLst/>
          </a:prstGeom>
          <a:noFill/>
          <a:ln>
            <a:noFill/>
          </a:ln>
        </p:spPr>
        <p:txBody>
          <a:bodyPr spcFirstLastPara="1" wrap="square" lIns="0" tIns="12700" rIns="0" bIns="0" anchor="t" anchorCtr="0">
            <a:spAutoFit/>
          </a:bodyPr>
          <a:lstStyle/>
          <a:p>
            <a:pPr marL="109854" marR="5080" lvl="0" indent="-97790" algn="l" rtl="0">
              <a:lnSpc>
                <a:spcPct val="100000"/>
              </a:lnSpc>
              <a:spcBef>
                <a:spcPts val="0"/>
              </a:spcBef>
              <a:spcAft>
                <a:spcPts val="0"/>
              </a:spcAft>
              <a:buNone/>
            </a:pPr>
            <a:r>
              <a:rPr lang="en-US" sz="2000" b="1" i="0" u="none" strike="noStrike" cap="none">
                <a:solidFill>
                  <a:srgbClr val="FFFFFF"/>
                </a:solidFill>
                <a:latin typeface="Trebuchet MS"/>
                <a:ea typeface="Trebuchet MS"/>
                <a:cs typeface="Trebuchet MS"/>
                <a:sym typeface="Trebuchet MS"/>
              </a:rPr>
              <a:t>Access  Point</a:t>
            </a:r>
            <a:endParaRPr sz="2000" b="0" i="0" u="none" strike="noStrike" cap="none">
              <a:solidFill>
                <a:schemeClr val="dk1"/>
              </a:solidFill>
              <a:latin typeface="Trebuchet MS"/>
              <a:ea typeface="Trebuchet MS"/>
              <a:cs typeface="Trebuchet MS"/>
              <a:sym typeface="Trebuchet MS"/>
            </a:endParaRPr>
          </a:p>
        </p:txBody>
      </p:sp>
      <p:grpSp>
        <p:nvGrpSpPr>
          <p:cNvPr id="155" name="Google Shape;155;p6"/>
          <p:cNvGrpSpPr/>
          <p:nvPr/>
        </p:nvGrpSpPr>
        <p:grpSpPr>
          <a:xfrm>
            <a:off x="2667000" y="3445918"/>
            <a:ext cx="1858010" cy="1356360"/>
            <a:chOff x="1000506" y="4216145"/>
            <a:chExt cx="1858010" cy="1356360"/>
          </a:xfrm>
        </p:grpSpPr>
        <p:sp>
          <p:nvSpPr>
            <p:cNvPr id="156" name="Google Shape;156;p6"/>
            <p:cNvSpPr/>
            <p:nvPr/>
          </p:nvSpPr>
          <p:spPr>
            <a:xfrm>
              <a:off x="1000506" y="4216145"/>
              <a:ext cx="1858010" cy="1356360"/>
            </a:xfrm>
            <a:custGeom>
              <a:avLst/>
              <a:gdLst/>
              <a:ahLst/>
              <a:cxnLst/>
              <a:rect l="l" t="t" r="r" b="b"/>
              <a:pathLst>
                <a:path w="1858010" h="1356360" extrusionOk="0">
                  <a:moveTo>
                    <a:pt x="928877" y="0"/>
                  </a:moveTo>
                  <a:lnTo>
                    <a:pt x="874304" y="1151"/>
                  </a:lnTo>
                  <a:lnTo>
                    <a:pt x="820560" y="4562"/>
                  </a:lnTo>
                  <a:lnTo>
                    <a:pt x="767734" y="10171"/>
                  </a:lnTo>
                  <a:lnTo>
                    <a:pt x="715911" y="17912"/>
                  </a:lnTo>
                  <a:lnTo>
                    <a:pt x="665179" y="27723"/>
                  </a:lnTo>
                  <a:lnTo>
                    <a:pt x="615626" y="39539"/>
                  </a:lnTo>
                  <a:lnTo>
                    <a:pt x="567338" y="53298"/>
                  </a:lnTo>
                  <a:lnTo>
                    <a:pt x="520403" y="68935"/>
                  </a:lnTo>
                  <a:lnTo>
                    <a:pt x="474908" y="86387"/>
                  </a:lnTo>
                  <a:lnTo>
                    <a:pt x="430940" y="105590"/>
                  </a:lnTo>
                  <a:lnTo>
                    <a:pt x="388586" y="126481"/>
                  </a:lnTo>
                  <a:lnTo>
                    <a:pt x="347934" y="148996"/>
                  </a:lnTo>
                  <a:lnTo>
                    <a:pt x="309070" y="173071"/>
                  </a:lnTo>
                  <a:lnTo>
                    <a:pt x="272081" y="198643"/>
                  </a:lnTo>
                  <a:lnTo>
                    <a:pt x="237056" y="225649"/>
                  </a:lnTo>
                  <a:lnTo>
                    <a:pt x="204080" y="254023"/>
                  </a:lnTo>
                  <a:lnTo>
                    <a:pt x="173242" y="283704"/>
                  </a:lnTo>
                  <a:lnTo>
                    <a:pt x="144627" y="314626"/>
                  </a:lnTo>
                  <a:lnTo>
                    <a:pt x="118325" y="346728"/>
                  </a:lnTo>
                  <a:lnTo>
                    <a:pt x="94421" y="379944"/>
                  </a:lnTo>
                  <a:lnTo>
                    <a:pt x="73003" y="414212"/>
                  </a:lnTo>
                  <a:lnTo>
                    <a:pt x="54157" y="449467"/>
                  </a:lnTo>
                  <a:lnTo>
                    <a:pt x="37972" y="485647"/>
                  </a:lnTo>
                  <a:lnTo>
                    <a:pt x="24535" y="522687"/>
                  </a:lnTo>
                  <a:lnTo>
                    <a:pt x="13931" y="560524"/>
                  </a:lnTo>
                  <a:lnTo>
                    <a:pt x="6249" y="599094"/>
                  </a:lnTo>
                  <a:lnTo>
                    <a:pt x="1577" y="638334"/>
                  </a:lnTo>
                  <a:lnTo>
                    <a:pt x="0" y="678179"/>
                  </a:lnTo>
                  <a:lnTo>
                    <a:pt x="1577" y="718025"/>
                  </a:lnTo>
                  <a:lnTo>
                    <a:pt x="6249" y="757265"/>
                  </a:lnTo>
                  <a:lnTo>
                    <a:pt x="13931" y="795835"/>
                  </a:lnTo>
                  <a:lnTo>
                    <a:pt x="24535" y="833672"/>
                  </a:lnTo>
                  <a:lnTo>
                    <a:pt x="37972" y="870712"/>
                  </a:lnTo>
                  <a:lnTo>
                    <a:pt x="54157" y="906892"/>
                  </a:lnTo>
                  <a:lnTo>
                    <a:pt x="73003" y="942147"/>
                  </a:lnTo>
                  <a:lnTo>
                    <a:pt x="94421" y="976415"/>
                  </a:lnTo>
                  <a:lnTo>
                    <a:pt x="118325" y="1009631"/>
                  </a:lnTo>
                  <a:lnTo>
                    <a:pt x="144627" y="1041733"/>
                  </a:lnTo>
                  <a:lnTo>
                    <a:pt x="173242" y="1072655"/>
                  </a:lnTo>
                  <a:lnTo>
                    <a:pt x="204080" y="1102336"/>
                  </a:lnTo>
                  <a:lnTo>
                    <a:pt x="237056" y="1130710"/>
                  </a:lnTo>
                  <a:lnTo>
                    <a:pt x="272081" y="1157716"/>
                  </a:lnTo>
                  <a:lnTo>
                    <a:pt x="309070" y="1183288"/>
                  </a:lnTo>
                  <a:lnTo>
                    <a:pt x="347934" y="1207363"/>
                  </a:lnTo>
                  <a:lnTo>
                    <a:pt x="388586" y="1229878"/>
                  </a:lnTo>
                  <a:lnTo>
                    <a:pt x="430940" y="1250769"/>
                  </a:lnTo>
                  <a:lnTo>
                    <a:pt x="474908" y="1269972"/>
                  </a:lnTo>
                  <a:lnTo>
                    <a:pt x="520403" y="1287424"/>
                  </a:lnTo>
                  <a:lnTo>
                    <a:pt x="567338" y="1303061"/>
                  </a:lnTo>
                  <a:lnTo>
                    <a:pt x="615626" y="1316820"/>
                  </a:lnTo>
                  <a:lnTo>
                    <a:pt x="665179" y="1328636"/>
                  </a:lnTo>
                  <a:lnTo>
                    <a:pt x="715911" y="1338447"/>
                  </a:lnTo>
                  <a:lnTo>
                    <a:pt x="767734" y="1346188"/>
                  </a:lnTo>
                  <a:lnTo>
                    <a:pt x="820560" y="1351797"/>
                  </a:lnTo>
                  <a:lnTo>
                    <a:pt x="874304" y="1355208"/>
                  </a:lnTo>
                  <a:lnTo>
                    <a:pt x="928877" y="1356359"/>
                  </a:lnTo>
                  <a:lnTo>
                    <a:pt x="983451" y="1355208"/>
                  </a:lnTo>
                  <a:lnTo>
                    <a:pt x="1037195" y="1351797"/>
                  </a:lnTo>
                  <a:lnTo>
                    <a:pt x="1090021" y="1346188"/>
                  </a:lnTo>
                  <a:lnTo>
                    <a:pt x="1141844" y="1338447"/>
                  </a:lnTo>
                  <a:lnTo>
                    <a:pt x="1192576" y="1328636"/>
                  </a:lnTo>
                  <a:lnTo>
                    <a:pt x="1242129" y="1316820"/>
                  </a:lnTo>
                  <a:lnTo>
                    <a:pt x="1290417" y="1303061"/>
                  </a:lnTo>
                  <a:lnTo>
                    <a:pt x="1337352" y="1287424"/>
                  </a:lnTo>
                  <a:lnTo>
                    <a:pt x="1382847" y="1269972"/>
                  </a:lnTo>
                  <a:lnTo>
                    <a:pt x="1426815" y="1250769"/>
                  </a:lnTo>
                  <a:lnTo>
                    <a:pt x="1469169" y="1229878"/>
                  </a:lnTo>
                  <a:lnTo>
                    <a:pt x="1509821" y="1207363"/>
                  </a:lnTo>
                  <a:lnTo>
                    <a:pt x="1548685" y="1183288"/>
                  </a:lnTo>
                  <a:lnTo>
                    <a:pt x="1585674" y="1157716"/>
                  </a:lnTo>
                  <a:lnTo>
                    <a:pt x="1620699" y="1130710"/>
                  </a:lnTo>
                  <a:lnTo>
                    <a:pt x="1653675" y="1102336"/>
                  </a:lnTo>
                  <a:lnTo>
                    <a:pt x="1684513" y="1072655"/>
                  </a:lnTo>
                  <a:lnTo>
                    <a:pt x="1713128" y="1041733"/>
                  </a:lnTo>
                  <a:lnTo>
                    <a:pt x="1739430" y="1009631"/>
                  </a:lnTo>
                  <a:lnTo>
                    <a:pt x="1763334" y="976415"/>
                  </a:lnTo>
                  <a:lnTo>
                    <a:pt x="1784752" y="942147"/>
                  </a:lnTo>
                  <a:lnTo>
                    <a:pt x="1803598" y="906892"/>
                  </a:lnTo>
                  <a:lnTo>
                    <a:pt x="1819783" y="870712"/>
                  </a:lnTo>
                  <a:lnTo>
                    <a:pt x="1833220" y="833672"/>
                  </a:lnTo>
                  <a:lnTo>
                    <a:pt x="1843824" y="795835"/>
                  </a:lnTo>
                  <a:lnTo>
                    <a:pt x="1851506" y="757265"/>
                  </a:lnTo>
                  <a:lnTo>
                    <a:pt x="1856178" y="718025"/>
                  </a:lnTo>
                  <a:lnTo>
                    <a:pt x="1857756" y="678179"/>
                  </a:lnTo>
                  <a:lnTo>
                    <a:pt x="1856178" y="638334"/>
                  </a:lnTo>
                  <a:lnTo>
                    <a:pt x="1851506" y="599094"/>
                  </a:lnTo>
                  <a:lnTo>
                    <a:pt x="1843824" y="560524"/>
                  </a:lnTo>
                  <a:lnTo>
                    <a:pt x="1833220" y="522687"/>
                  </a:lnTo>
                  <a:lnTo>
                    <a:pt x="1819783" y="485647"/>
                  </a:lnTo>
                  <a:lnTo>
                    <a:pt x="1803598" y="449467"/>
                  </a:lnTo>
                  <a:lnTo>
                    <a:pt x="1784752" y="414212"/>
                  </a:lnTo>
                  <a:lnTo>
                    <a:pt x="1763334" y="379944"/>
                  </a:lnTo>
                  <a:lnTo>
                    <a:pt x="1739430" y="346728"/>
                  </a:lnTo>
                  <a:lnTo>
                    <a:pt x="1713128" y="314626"/>
                  </a:lnTo>
                  <a:lnTo>
                    <a:pt x="1684513" y="283704"/>
                  </a:lnTo>
                  <a:lnTo>
                    <a:pt x="1653675" y="254023"/>
                  </a:lnTo>
                  <a:lnTo>
                    <a:pt x="1620699" y="225649"/>
                  </a:lnTo>
                  <a:lnTo>
                    <a:pt x="1585674" y="198643"/>
                  </a:lnTo>
                  <a:lnTo>
                    <a:pt x="1548685" y="173071"/>
                  </a:lnTo>
                  <a:lnTo>
                    <a:pt x="1509821" y="148996"/>
                  </a:lnTo>
                  <a:lnTo>
                    <a:pt x="1469169" y="126481"/>
                  </a:lnTo>
                  <a:lnTo>
                    <a:pt x="1426815" y="105590"/>
                  </a:lnTo>
                  <a:lnTo>
                    <a:pt x="1382847" y="86387"/>
                  </a:lnTo>
                  <a:lnTo>
                    <a:pt x="1337352" y="68935"/>
                  </a:lnTo>
                  <a:lnTo>
                    <a:pt x="1290417" y="53298"/>
                  </a:lnTo>
                  <a:lnTo>
                    <a:pt x="1242129" y="39539"/>
                  </a:lnTo>
                  <a:lnTo>
                    <a:pt x="1192576" y="27723"/>
                  </a:lnTo>
                  <a:lnTo>
                    <a:pt x="1141844" y="17912"/>
                  </a:lnTo>
                  <a:lnTo>
                    <a:pt x="1090021" y="10171"/>
                  </a:lnTo>
                  <a:lnTo>
                    <a:pt x="1037195" y="4562"/>
                  </a:lnTo>
                  <a:lnTo>
                    <a:pt x="983451" y="1151"/>
                  </a:lnTo>
                  <a:lnTo>
                    <a:pt x="928877" y="0"/>
                  </a:lnTo>
                  <a:close/>
                </a:path>
              </a:pathLst>
            </a:custGeom>
            <a:solidFill>
              <a:srgbClr val="92D05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7" name="Google Shape;157;p6"/>
            <p:cNvSpPr/>
            <p:nvPr/>
          </p:nvSpPr>
          <p:spPr>
            <a:xfrm>
              <a:off x="1000506" y="4216145"/>
              <a:ext cx="1858010" cy="1356360"/>
            </a:xfrm>
            <a:custGeom>
              <a:avLst/>
              <a:gdLst/>
              <a:ahLst/>
              <a:cxnLst/>
              <a:rect l="l" t="t" r="r" b="b"/>
              <a:pathLst>
                <a:path w="1858010" h="1356360" extrusionOk="0">
                  <a:moveTo>
                    <a:pt x="0" y="678179"/>
                  </a:moveTo>
                  <a:lnTo>
                    <a:pt x="1577" y="638334"/>
                  </a:lnTo>
                  <a:lnTo>
                    <a:pt x="6249" y="599094"/>
                  </a:lnTo>
                  <a:lnTo>
                    <a:pt x="13931" y="560524"/>
                  </a:lnTo>
                  <a:lnTo>
                    <a:pt x="24535" y="522687"/>
                  </a:lnTo>
                  <a:lnTo>
                    <a:pt x="37972" y="485647"/>
                  </a:lnTo>
                  <a:lnTo>
                    <a:pt x="54157" y="449467"/>
                  </a:lnTo>
                  <a:lnTo>
                    <a:pt x="73003" y="414212"/>
                  </a:lnTo>
                  <a:lnTo>
                    <a:pt x="94421" y="379944"/>
                  </a:lnTo>
                  <a:lnTo>
                    <a:pt x="118325" y="346728"/>
                  </a:lnTo>
                  <a:lnTo>
                    <a:pt x="144627" y="314626"/>
                  </a:lnTo>
                  <a:lnTo>
                    <a:pt x="173242" y="283704"/>
                  </a:lnTo>
                  <a:lnTo>
                    <a:pt x="204080" y="254023"/>
                  </a:lnTo>
                  <a:lnTo>
                    <a:pt x="237056" y="225649"/>
                  </a:lnTo>
                  <a:lnTo>
                    <a:pt x="272081" y="198643"/>
                  </a:lnTo>
                  <a:lnTo>
                    <a:pt x="309070" y="173071"/>
                  </a:lnTo>
                  <a:lnTo>
                    <a:pt x="347934" y="148996"/>
                  </a:lnTo>
                  <a:lnTo>
                    <a:pt x="388586" y="126481"/>
                  </a:lnTo>
                  <a:lnTo>
                    <a:pt x="430940" y="105590"/>
                  </a:lnTo>
                  <a:lnTo>
                    <a:pt x="474908" y="86387"/>
                  </a:lnTo>
                  <a:lnTo>
                    <a:pt x="520403" y="68935"/>
                  </a:lnTo>
                  <a:lnTo>
                    <a:pt x="567338" y="53298"/>
                  </a:lnTo>
                  <a:lnTo>
                    <a:pt x="615626" y="39539"/>
                  </a:lnTo>
                  <a:lnTo>
                    <a:pt x="665179" y="27723"/>
                  </a:lnTo>
                  <a:lnTo>
                    <a:pt x="715911" y="17912"/>
                  </a:lnTo>
                  <a:lnTo>
                    <a:pt x="767734" y="10171"/>
                  </a:lnTo>
                  <a:lnTo>
                    <a:pt x="820560" y="4562"/>
                  </a:lnTo>
                  <a:lnTo>
                    <a:pt x="874304" y="1151"/>
                  </a:lnTo>
                  <a:lnTo>
                    <a:pt x="928877" y="0"/>
                  </a:lnTo>
                  <a:lnTo>
                    <a:pt x="983451" y="1151"/>
                  </a:lnTo>
                  <a:lnTo>
                    <a:pt x="1037195" y="4562"/>
                  </a:lnTo>
                  <a:lnTo>
                    <a:pt x="1090021" y="10171"/>
                  </a:lnTo>
                  <a:lnTo>
                    <a:pt x="1141844" y="17912"/>
                  </a:lnTo>
                  <a:lnTo>
                    <a:pt x="1192576" y="27723"/>
                  </a:lnTo>
                  <a:lnTo>
                    <a:pt x="1242129" y="39539"/>
                  </a:lnTo>
                  <a:lnTo>
                    <a:pt x="1290417" y="53298"/>
                  </a:lnTo>
                  <a:lnTo>
                    <a:pt x="1337352" y="68935"/>
                  </a:lnTo>
                  <a:lnTo>
                    <a:pt x="1382847" y="86387"/>
                  </a:lnTo>
                  <a:lnTo>
                    <a:pt x="1426815" y="105590"/>
                  </a:lnTo>
                  <a:lnTo>
                    <a:pt x="1469169" y="126481"/>
                  </a:lnTo>
                  <a:lnTo>
                    <a:pt x="1509821" y="148996"/>
                  </a:lnTo>
                  <a:lnTo>
                    <a:pt x="1548685" y="173071"/>
                  </a:lnTo>
                  <a:lnTo>
                    <a:pt x="1585674" y="198643"/>
                  </a:lnTo>
                  <a:lnTo>
                    <a:pt x="1620699" y="225649"/>
                  </a:lnTo>
                  <a:lnTo>
                    <a:pt x="1653675" y="254023"/>
                  </a:lnTo>
                  <a:lnTo>
                    <a:pt x="1684513" y="283704"/>
                  </a:lnTo>
                  <a:lnTo>
                    <a:pt x="1713128" y="314626"/>
                  </a:lnTo>
                  <a:lnTo>
                    <a:pt x="1739430" y="346728"/>
                  </a:lnTo>
                  <a:lnTo>
                    <a:pt x="1763334" y="379944"/>
                  </a:lnTo>
                  <a:lnTo>
                    <a:pt x="1784752" y="414212"/>
                  </a:lnTo>
                  <a:lnTo>
                    <a:pt x="1803598" y="449467"/>
                  </a:lnTo>
                  <a:lnTo>
                    <a:pt x="1819783" y="485647"/>
                  </a:lnTo>
                  <a:lnTo>
                    <a:pt x="1833220" y="522687"/>
                  </a:lnTo>
                  <a:lnTo>
                    <a:pt x="1843824" y="560524"/>
                  </a:lnTo>
                  <a:lnTo>
                    <a:pt x="1851506" y="599094"/>
                  </a:lnTo>
                  <a:lnTo>
                    <a:pt x="1856178" y="638334"/>
                  </a:lnTo>
                  <a:lnTo>
                    <a:pt x="1857756" y="678179"/>
                  </a:lnTo>
                  <a:lnTo>
                    <a:pt x="1856178" y="718025"/>
                  </a:lnTo>
                  <a:lnTo>
                    <a:pt x="1851506" y="757265"/>
                  </a:lnTo>
                  <a:lnTo>
                    <a:pt x="1843824" y="795835"/>
                  </a:lnTo>
                  <a:lnTo>
                    <a:pt x="1833220" y="833672"/>
                  </a:lnTo>
                  <a:lnTo>
                    <a:pt x="1819783" y="870712"/>
                  </a:lnTo>
                  <a:lnTo>
                    <a:pt x="1803598" y="906892"/>
                  </a:lnTo>
                  <a:lnTo>
                    <a:pt x="1784752" y="942147"/>
                  </a:lnTo>
                  <a:lnTo>
                    <a:pt x="1763334" y="976415"/>
                  </a:lnTo>
                  <a:lnTo>
                    <a:pt x="1739430" y="1009631"/>
                  </a:lnTo>
                  <a:lnTo>
                    <a:pt x="1713128" y="1041733"/>
                  </a:lnTo>
                  <a:lnTo>
                    <a:pt x="1684513" y="1072655"/>
                  </a:lnTo>
                  <a:lnTo>
                    <a:pt x="1653675" y="1102336"/>
                  </a:lnTo>
                  <a:lnTo>
                    <a:pt x="1620699" y="1130710"/>
                  </a:lnTo>
                  <a:lnTo>
                    <a:pt x="1585674" y="1157716"/>
                  </a:lnTo>
                  <a:lnTo>
                    <a:pt x="1548685" y="1183288"/>
                  </a:lnTo>
                  <a:lnTo>
                    <a:pt x="1509821" y="1207363"/>
                  </a:lnTo>
                  <a:lnTo>
                    <a:pt x="1469169" y="1229878"/>
                  </a:lnTo>
                  <a:lnTo>
                    <a:pt x="1426815" y="1250769"/>
                  </a:lnTo>
                  <a:lnTo>
                    <a:pt x="1382847" y="1269972"/>
                  </a:lnTo>
                  <a:lnTo>
                    <a:pt x="1337352" y="1287424"/>
                  </a:lnTo>
                  <a:lnTo>
                    <a:pt x="1290417" y="1303061"/>
                  </a:lnTo>
                  <a:lnTo>
                    <a:pt x="1242129" y="1316820"/>
                  </a:lnTo>
                  <a:lnTo>
                    <a:pt x="1192576" y="1328636"/>
                  </a:lnTo>
                  <a:lnTo>
                    <a:pt x="1141844" y="1338447"/>
                  </a:lnTo>
                  <a:lnTo>
                    <a:pt x="1090021" y="1346188"/>
                  </a:lnTo>
                  <a:lnTo>
                    <a:pt x="1037195" y="1351797"/>
                  </a:lnTo>
                  <a:lnTo>
                    <a:pt x="983451" y="1355208"/>
                  </a:lnTo>
                  <a:lnTo>
                    <a:pt x="928877" y="1356359"/>
                  </a:lnTo>
                  <a:lnTo>
                    <a:pt x="874304" y="1355208"/>
                  </a:lnTo>
                  <a:lnTo>
                    <a:pt x="820560" y="1351797"/>
                  </a:lnTo>
                  <a:lnTo>
                    <a:pt x="767734" y="1346188"/>
                  </a:lnTo>
                  <a:lnTo>
                    <a:pt x="715911" y="1338447"/>
                  </a:lnTo>
                  <a:lnTo>
                    <a:pt x="665179" y="1328636"/>
                  </a:lnTo>
                  <a:lnTo>
                    <a:pt x="615626" y="1316820"/>
                  </a:lnTo>
                  <a:lnTo>
                    <a:pt x="567338" y="1303061"/>
                  </a:lnTo>
                  <a:lnTo>
                    <a:pt x="520403" y="1287424"/>
                  </a:lnTo>
                  <a:lnTo>
                    <a:pt x="474908" y="1269972"/>
                  </a:lnTo>
                  <a:lnTo>
                    <a:pt x="430940" y="1250769"/>
                  </a:lnTo>
                  <a:lnTo>
                    <a:pt x="388586" y="1229878"/>
                  </a:lnTo>
                  <a:lnTo>
                    <a:pt x="347934" y="1207363"/>
                  </a:lnTo>
                  <a:lnTo>
                    <a:pt x="309070" y="1183288"/>
                  </a:lnTo>
                  <a:lnTo>
                    <a:pt x="272081" y="1157716"/>
                  </a:lnTo>
                  <a:lnTo>
                    <a:pt x="237056" y="1130710"/>
                  </a:lnTo>
                  <a:lnTo>
                    <a:pt x="204080" y="1102336"/>
                  </a:lnTo>
                  <a:lnTo>
                    <a:pt x="173242" y="1072655"/>
                  </a:lnTo>
                  <a:lnTo>
                    <a:pt x="144627" y="1041733"/>
                  </a:lnTo>
                  <a:lnTo>
                    <a:pt x="118325" y="1009631"/>
                  </a:lnTo>
                  <a:lnTo>
                    <a:pt x="94421" y="976415"/>
                  </a:lnTo>
                  <a:lnTo>
                    <a:pt x="73003" y="942147"/>
                  </a:lnTo>
                  <a:lnTo>
                    <a:pt x="54157" y="906892"/>
                  </a:lnTo>
                  <a:lnTo>
                    <a:pt x="37972" y="870712"/>
                  </a:lnTo>
                  <a:lnTo>
                    <a:pt x="24535" y="833672"/>
                  </a:lnTo>
                  <a:lnTo>
                    <a:pt x="13931" y="795835"/>
                  </a:lnTo>
                  <a:lnTo>
                    <a:pt x="6249" y="757265"/>
                  </a:lnTo>
                  <a:lnTo>
                    <a:pt x="1577" y="718025"/>
                  </a:lnTo>
                  <a:lnTo>
                    <a:pt x="0" y="678179"/>
                  </a:lnTo>
                  <a:close/>
                </a:path>
              </a:pathLst>
            </a:custGeom>
            <a:noFill/>
            <a:ln w="19800" cap="flat" cmpd="sng">
              <a:solidFill>
                <a:srgbClr val="6B859A"/>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8" name="Google Shape;158;p6"/>
          <p:cNvSpPr txBox="1"/>
          <p:nvPr/>
        </p:nvSpPr>
        <p:spPr>
          <a:xfrm>
            <a:off x="3223513" y="3791486"/>
            <a:ext cx="744220" cy="635635"/>
          </a:xfrm>
          <a:prstGeom prst="rect">
            <a:avLst/>
          </a:prstGeom>
          <a:noFill/>
          <a:ln>
            <a:noFill/>
          </a:ln>
        </p:spPr>
        <p:txBody>
          <a:bodyPr spcFirstLastPara="1" wrap="square" lIns="0" tIns="12700" rIns="0" bIns="0" anchor="t" anchorCtr="0">
            <a:spAutoFit/>
          </a:bodyPr>
          <a:lstStyle/>
          <a:p>
            <a:pPr marL="109854" marR="5080" lvl="0" indent="-97790" algn="l" rtl="0">
              <a:lnSpc>
                <a:spcPct val="100000"/>
              </a:lnSpc>
              <a:spcBef>
                <a:spcPts val="0"/>
              </a:spcBef>
              <a:spcAft>
                <a:spcPts val="0"/>
              </a:spcAft>
              <a:buNone/>
            </a:pPr>
            <a:r>
              <a:rPr lang="en-US" sz="2000" b="1" i="0" u="none" strike="noStrike" cap="none">
                <a:solidFill>
                  <a:srgbClr val="FFFFFF"/>
                </a:solidFill>
                <a:latin typeface="Trebuchet MS"/>
                <a:ea typeface="Trebuchet MS"/>
                <a:cs typeface="Trebuchet MS"/>
                <a:sym typeface="Trebuchet MS"/>
              </a:rPr>
              <a:t>Access  Point</a:t>
            </a:r>
            <a:endParaRPr sz="2000" b="0" i="0" u="none" strike="noStrike" cap="none">
              <a:solidFill>
                <a:schemeClr val="dk1"/>
              </a:solidFill>
              <a:latin typeface="Trebuchet MS"/>
              <a:ea typeface="Trebuchet MS"/>
              <a:cs typeface="Trebuchet MS"/>
              <a:sym typeface="Trebuchet MS"/>
            </a:endParaRPr>
          </a:p>
        </p:txBody>
      </p:sp>
      <p:sp>
        <p:nvSpPr>
          <p:cNvPr id="159" name="Google Shape;159;p6"/>
          <p:cNvSpPr/>
          <p:nvPr/>
        </p:nvSpPr>
        <p:spPr>
          <a:xfrm>
            <a:off x="2594483" y="1648104"/>
            <a:ext cx="1858010" cy="1358265"/>
          </a:xfrm>
          <a:custGeom>
            <a:avLst/>
            <a:gdLst/>
            <a:ahLst/>
            <a:cxnLst/>
            <a:rect l="l" t="t" r="r" b="b"/>
            <a:pathLst>
              <a:path w="1858010" h="1358264" extrusionOk="0">
                <a:moveTo>
                  <a:pt x="928877" y="0"/>
                </a:moveTo>
                <a:lnTo>
                  <a:pt x="874304" y="1152"/>
                </a:lnTo>
                <a:lnTo>
                  <a:pt x="820560" y="4566"/>
                </a:lnTo>
                <a:lnTo>
                  <a:pt x="767734" y="10179"/>
                </a:lnTo>
                <a:lnTo>
                  <a:pt x="715911" y="17928"/>
                </a:lnTo>
                <a:lnTo>
                  <a:pt x="665179" y="27747"/>
                </a:lnTo>
                <a:lnTo>
                  <a:pt x="615626" y="39574"/>
                </a:lnTo>
                <a:lnTo>
                  <a:pt x="567338" y="53345"/>
                </a:lnTo>
                <a:lnTo>
                  <a:pt x="520403" y="68997"/>
                </a:lnTo>
                <a:lnTo>
                  <a:pt x="474908" y="86466"/>
                </a:lnTo>
                <a:lnTo>
                  <a:pt x="430940" y="105687"/>
                </a:lnTo>
                <a:lnTo>
                  <a:pt x="388586" y="126599"/>
                </a:lnTo>
                <a:lnTo>
                  <a:pt x="347934" y="149136"/>
                </a:lnTo>
                <a:lnTo>
                  <a:pt x="309070" y="173236"/>
                </a:lnTo>
                <a:lnTo>
                  <a:pt x="272081" y="198834"/>
                </a:lnTo>
                <a:lnTo>
                  <a:pt x="237056" y="225867"/>
                </a:lnTo>
                <a:lnTo>
                  <a:pt x="204080" y="254272"/>
                </a:lnTo>
                <a:lnTo>
                  <a:pt x="173242" y="283985"/>
                </a:lnTo>
                <a:lnTo>
                  <a:pt x="144627" y="314941"/>
                </a:lnTo>
                <a:lnTo>
                  <a:pt x="118325" y="347079"/>
                </a:lnTo>
                <a:lnTo>
                  <a:pt x="94421" y="380333"/>
                </a:lnTo>
                <a:lnTo>
                  <a:pt x="73003" y="414641"/>
                </a:lnTo>
                <a:lnTo>
                  <a:pt x="54157" y="449938"/>
                </a:lnTo>
                <a:lnTo>
                  <a:pt x="37972" y="486161"/>
                </a:lnTo>
                <a:lnTo>
                  <a:pt x="24535" y="523247"/>
                </a:lnTo>
                <a:lnTo>
                  <a:pt x="13931" y="561131"/>
                </a:lnTo>
                <a:lnTo>
                  <a:pt x="6249" y="599751"/>
                </a:lnTo>
                <a:lnTo>
                  <a:pt x="1577" y="639042"/>
                </a:lnTo>
                <a:lnTo>
                  <a:pt x="0" y="678941"/>
                </a:lnTo>
                <a:lnTo>
                  <a:pt x="1577" y="718841"/>
                </a:lnTo>
                <a:lnTo>
                  <a:pt x="6249" y="758132"/>
                </a:lnTo>
                <a:lnTo>
                  <a:pt x="13931" y="796752"/>
                </a:lnTo>
                <a:lnTo>
                  <a:pt x="24535" y="834636"/>
                </a:lnTo>
                <a:lnTo>
                  <a:pt x="37972" y="871722"/>
                </a:lnTo>
                <a:lnTo>
                  <a:pt x="54157" y="907945"/>
                </a:lnTo>
                <a:lnTo>
                  <a:pt x="73003" y="943242"/>
                </a:lnTo>
                <a:lnTo>
                  <a:pt x="94421" y="977550"/>
                </a:lnTo>
                <a:lnTo>
                  <a:pt x="118325" y="1010804"/>
                </a:lnTo>
                <a:lnTo>
                  <a:pt x="144627" y="1042942"/>
                </a:lnTo>
                <a:lnTo>
                  <a:pt x="173242" y="1073898"/>
                </a:lnTo>
                <a:lnTo>
                  <a:pt x="204080" y="1103611"/>
                </a:lnTo>
                <a:lnTo>
                  <a:pt x="237056" y="1132016"/>
                </a:lnTo>
                <a:lnTo>
                  <a:pt x="272081" y="1159049"/>
                </a:lnTo>
                <a:lnTo>
                  <a:pt x="309070" y="1184647"/>
                </a:lnTo>
                <a:lnTo>
                  <a:pt x="347934" y="1208747"/>
                </a:lnTo>
                <a:lnTo>
                  <a:pt x="388586" y="1231284"/>
                </a:lnTo>
                <a:lnTo>
                  <a:pt x="430940" y="1252196"/>
                </a:lnTo>
                <a:lnTo>
                  <a:pt x="474908" y="1271417"/>
                </a:lnTo>
                <a:lnTo>
                  <a:pt x="520403" y="1288886"/>
                </a:lnTo>
                <a:lnTo>
                  <a:pt x="567338" y="1304538"/>
                </a:lnTo>
                <a:lnTo>
                  <a:pt x="615626" y="1318309"/>
                </a:lnTo>
                <a:lnTo>
                  <a:pt x="665179" y="1330136"/>
                </a:lnTo>
                <a:lnTo>
                  <a:pt x="715911" y="1339955"/>
                </a:lnTo>
                <a:lnTo>
                  <a:pt x="767734" y="1347704"/>
                </a:lnTo>
                <a:lnTo>
                  <a:pt x="820560" y="1353317"/>
                </a:lnTo>
                <a:lnTo>
                  <a:pt x="874304" y="1356731"/>
                </a:lnTo>
                <a:lnTo>
                  <a:pt x="928877" y="1357883"/>
                </a:lnTo>
                <a:lnTo>
                  <a:pt x="983451" y="1356731"/>
                </a:lnTo>
                <a:lnTo>
                  <a:pt x="1037195" y="1353317"/>
                </a:lnTo>
                <a:lnTo>
                  <a:pt x="1090021" y="1347704"/>
                </a:lnTo>
                <a:lnTo>
                  <a:pt x="1141844" y="1339955"/>
                </a:lnTo>
                <a:lnTo>
                  <a:pt x="1192576" y="1330136"/>
                </a:lnTo>
                <a:lnTo>
                  <a:pt x="1242129" y="1318309"/>
                </a:lnTo>
                <a:lnTo>
                  <a:pt x="1290417" y="1304538"/>
                </a:lnTo>
                <a:lnTo>
                  <a:pt x="1337352" y="1288886"/>
                </a:lnTo>
                <a:lnTo>
                  <a:pt x="1382847" y="1271417"/>
                </a:lnTo>
                <a:lnTo>
                  <a:pt x="1426815" y="1252196"/>
                </a:lnTo>
                <a:lnTo>
                  <a:pt x="1469169" y="1231284"/>
                </a:lnTo>
                <a:lnTo>
                  <a:pt x="1509821" y="1208747"/>
                </a:lnTo>
                <a:lnTo>
                  <a:pt x="1548685" y="1184647"/>
                </a:lnTo>
                <a:lnTo>
                  <a:pt x="1585674" y="1159049"/>
                </a:lnTo>
                <a:lnTo>
                  <a:pt x="1620699" y="1132016"/>
                </a:lnTo>
                <a:lnTo>
                  <a:pt x="1653675" y="1103611"/>
                </a:lnTo>
                <a:lnTo>
                  <a:pt x="1684513" y="1073898"/>
                </a:lnTo>
                <a:lnTo>
                  <a:pt x="1713128" y="1042942"/>
                </a:lnTo>
                <a:lnTo>
                  <a:pt x="1739430" y="1010804"/>
                </a:lnTo>
                <a:lnTo>
                  <a:pt x="1763334" y="977550"/>
                </a:lnTo>
                <a:lnTo>
                  <a:pt x="1784752" y="943242"/>
                </a:lnTo>
                <a:lnTo>
                  <a:pt x="1803598" y="907945"/>
                </a:lnTo>
                <a:lnTo>
                  <a:pt x="1819783" y="871722"/>
                </a:lnTo>
                <a:lnTo>
                  <a:pt x="1833220" y="834636"/>
                </a:lnTo>
                <a:lnTo>
                  <a:pt x="1843824" y="796752"/>
                </a:lnTo>
                <a:lnTo>
                  <a:pt x="1851506" y="758132"/>
                </a:lnTo>
                <a:lnTo>
                  <a:pt x="1856178" y="718841"/>
                </a:lnTo>
                <a:lnTo>
                  <a:pt x="1857756" y="678941"/>
                </a:lnTo>
                <a:lnTo>
                  <a:pt x="1856178" y="639042"/>
                </a:lnTo>
                <a:lnTo>
                  <a:pt x="1851506" y="599751"/>
                </a:lnTo>
                <a:lnTo>
                  <a:pt x="1843824" y="561131"/>
                </a:lnTo>
                <a:lnTo>
                  <a:pt x="1833220" y="523247"/>
                </a:lnTo>
                <a:lnTo>
                  <a:pt x="1819783" y="486161"/>
                </a:lnTo>
                <a:lnTo>
                  <a:pt x="1803598" y="449938"/>
                </a:lnTo>
                <a:lnTo>
                  <a:pt x="1784752" y="414641"/>
                </a:lnTo>
                <a:lnTo>
                  <a:pt x="1763334" y="380333"/>
                </a:lnTo>
                <a:lnTo>
                  <a:pt x="1739430" y="347079"/>
                </a:lnTo>
                <a:lnTo>
                  <a:pt x="1713128" y="314941"/>
                </a:lnTo>
                <a:lnTo>
                  <a:pt x="1684513" y="283985"/>
                </a:lnTo>
                <a:lnTo>
                  <a:pt x="1653675" y="254272"/>
                </a:lnTo>
                <a:lnTo>
                  <a:pt x="1620699" y="225867"/>
                </a:lnTo>
                <a:lnTo>
                  <a:pt x="1585674" y="198834"/>
                </a:lnTo>
                <a:lnTo>
                  <a:pt x="1548685" y="173236"/>
                </a:lnTo>
                <a:lnTo>
                  <a:pt x="1509821" y="149136"/>
                </a:lnTo>
                <a:lnTo>
                  <a:pt x="1469169" y="126599"/>
                </a:lnTo>
                <a:lnTo>
                  <a:pt x="1426815" y="105687"/>
                </a:lnTo>
                <a:lnTo>
                  <a:pt x="1382847" y="86466"/>
                </a:lnTo>
                <a:lnTo>
                  <a:pt x="1337352" y="68997"/>
                </a:lnTo>
                <a:lnTo>
                  <a:pt x="1290417" y="53345"/>
                </a:lnTo>
                <a:lnTo>
                  <a:pt x="1242129" y="39574"/>
                </a:lnTo>
                <a:lnTo>
                  <a:pt x="1192576" y="27747"/>
                </a:lnTo>
                <a:lnTo>
                  <a:pt x="1141844" y="17928"/>
                </a:lnTo>
                <a:lnTo>
                  <a:pt x="1090021" y="10179"/>
                </a:lnTo>
                <a:lnTo>
                  <a:pt x="1037195" y="4566"/>
                </a:lnTo>
                <a:lnTo>
                  <a:pt x="983451" y="1152"/>
                </a:lnTo>
                <a:lnTo>
                  <a:pt x="928877" y="0"/>
                </a:lnTo>
                <a:close/>
              </a:path>
            </a:pathLst>
          </a:custGeom>
          <a:solidFill>
            <a:srgbClr val="00AF5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0" name="Google Shape;160;p6"/>
          <p:cNvSpPr/>
          <p:nvPr/>
        </p:nvSpPr>
        <p:spPr>
          <a:xfrm>
            <a:off x="2595754" y="1652215"/>
            <a:ext cx="1856739" cy="1358265"/>
          </a:xfrm>
          <a:custGeom>
            <a:avLst/>
            <a:gdLst/>
            <a:ahLst/>
            <a:cxnLst/>
            <a:rect l="l" t="t" r="r" b="b"/>
            <a:pathLst>
              <a:path w="1856739" h="1358264" extrusionOk="0">
                <a:moveTo>
                  <a:pt x="928116" y="0"/>
                </a:moveTo>
                <a:lnTo>
                  <a:pt x="873582" y="1152"/>
                </a:lnTo>
                <a:lnTo>
                  <a:pt x="819877" y="4566"/>
                </a:lnTo>
                <a:lnTo>
                  <a:pt x="767090" y="10179"/>
                </a:lnTo>
                <a:lnTo>
                  <a:pt x="715307" y="17928"/>
                </a:lnTo>
                <a:lnTo>
                  <a:pt x="664614" y="27747"/>
                </a:lnTo>
                <a:lnTo>
                  <a:pt x="615100" y="39574"/>
                </a:lnTo>
                <a:lnTo>
                  <a:pt x="566851" y="53345"/>
                </a:lnTo>
                <a:lnTo>
                  <a:pt x="519953" y="68997"/>
                </a:lnTo>
                <a:lnTo>
                  <a:pt x="474495" y="86466"/>
                </a:lnTo>
                <a:lnTo>
                  <a:pt x="430563" y="105687"/>
                </a:lnTo>
                <a:lnTo>
                  <a:pt x="388245" y="126599"/>
                </a:lnTo>
                <a:lnTo>
                  <a:pt x="347626" y="149136"/>
                </a:lnTo>
                <a:lnTo>
                  <a:pt x="308795" y="173236"/>
                </a:lnTo>
                <a:lnTo>
                  <a:pt x="271838" y="198834"/>
                </a:lnTo>
                <a:lnTo>
                  <a:pt x="236843" y="225867"/>
                </a:lnTo>
                <a:lnTo>
                  <a:pt x="203896" y="254272"/>
                </a:lnTo>
                <a:lnTo>
                  <a:pt x="173085" y="283985"/>
                </a:lnTo>
                <a:lnTo>
                  <a:pt x="144496" y="314941"/>
                </a:lnTo>
                <a:lnTo>
                  <a:pt x="118217" y="347079"/>
                </a:lnTo>
                <a:lnTo>
                  <a:pt x="94334" y="380333"/>
                </a:lnTo>
                <a:lnTo>
                  <a:pt x="72935" y="414641"/>
                </a:lnTo>
                <a:lnTo>
                  <a:pt x="54107" y="449938"/>
                </a:lnTo>
                <a:lnTo>
                  <a:pt x="37937" y="486161"/>
                </a:lnTo>
                <a:lnTo>
                  <a:pt x="24512" y="523247"/>
                </a:lnTo>
                <a:lnTo>
                  <a:pt x="13918" y="561131"/>
                </a:lnTo>
                <a:lnTo>
                  <a:pt x="6244" y="599751"/>
                </a:lnTo>
                <a:lnTo>
                  <a:pt x="1575" y="639042"/>
                </a:lnTo>
                <a:lnTo>
                  <a:pt x="0" y="678941"/>
                </a:lnTo>
                <a:lnTo>
                  <a:pt x="1575" y="718841"/>
                </a:lnTo>
                <a:lnTo>
                  <a:pt x="6244" y="758132"/>
                </a:lnTo>
                <a:lnTo>
                  <a:pt x="13918" y="796752"/>
                </a:lnTo>
                <a:lnTo>
                  <a:pt x="24512" y="834636"/>
                </a:lnTo>
                <a:lnTo>
                  <a:pt x="37937" y="871722"/>
                </a:lnTo>
                <a:lnTo>
                  <a:pt x="54107" y="907945"/>
                </a:lnTo>
                <a:lnTo>
                  <a:pt x="72935" y="943242"/>
                </a:lnTo>
                <a:lnTo>
                  <a:pt x="94334" y="977550"/>
                </a:lnTo>
                <a:lnTo>
                  <a:pt x="118217" y="1010804"/>
                </a:lnTo>
                <a:lnTo>
                  <a:pt x="144496" y="1042942"/>
                </a:lnTo>
                <a:lnTo>
                  <a:pt x="173085" y="1073898"/>
                </a:lnTo>
                <a:lnTo>
                  <a:pt x="203896" y="1103611"/>
                </a:lnTo>
                <a:lnTo>
                  <a:pt x="236843" y="1132016"/>
                </a:lnTo>
                <a:lnTo>
                  <a:pt x="271838" y="1159049"/>
                </a:lnTo>
                <a:lnTo>
                  <a:pt x="308795" y="1184647"/>
                </a:lnTo>
                <a:lnTo>
                  <a:pt x="347626" y="1208747"/>
                </a:lnTo>
                <a:lnTo>
                  <a:pt x="388245" y="1231284"/>
                </a:lnTo>
                <a:lnTo>
                  <a:pt x="430563" y="1252196"/>
                </a:lnTo>
                <a:lnTo>
                  <a:pt x="474495" y="1271417"/>
                </a:lnTo>
                <a:lnTo>
                  <a:pt x="519953" y="1288886"/>
                </a:lnTo>
                <a:lnTo>
                  <a:pt x="566851" y="1304538"/>
                </a:lnTo>
                <a:lnTo>
                  <a:pt x="615100" y="1318309"/>
                </a:lnTo>
                <a:lnTo>
                  <a:pt x="664614" y="1330136"/>
                </a:lnTo>
                <a:lnTo>
                  <a:pt x="715307" y="1339955"/>
                </a:lnTo>
                <a:lnTo>
                  <a:pt x="767090" y="1347704"/>
                </a:lnTo>
                <a:lnTo>
                  <a:pt x="819877" y="1353317"/>
                </a:lnTo>
                <a:lnTo>
                  <a:pt x="873582" y="1356731"/>
                </a:lnTo>
                <a:lnTo>
                  <a:pt x="928116" y="1357883"/>
                </a:lnTo>
                <a:lnTo>
                  <a:pt x="982648" y="1356731"/>
                </a:lnTo>
                <a:lnTo>
                  <a:pt x="1036351" y="1353317"/>
                </a:lnTo>
                <a:lnTo>
                  <a:pt x="1089137" y="1347704"/>
                </a:lnTo>
                <a:lnTo>
                  <a:pt x="1140920" y="1339955"/>
                </a:lnTo>
                <a:lnTo>
                  <a:pt x="1191612" y="1330136"/>
                </a:lnTo>
                <a:lnTo>
                  <a:pt x="1241126" y="1318309"/>
                </a:lnTo>
                <a:lnTo>
                  <a:pt x="1289375" y="1304538"/>
                </a:lnTo>
                <a:lnTo>
                  <a:pt x="1336272" y="1288886"/>
                </a:lnTo>
                <a:lnTo>
                  <a:pt x="1381730" y="1271417"/>
                </a:lnTo>
                <a:lnTo>
                  <a:pt x="1425662" y="1252196"/>
                </a:lnTo>
                <a:lnTo>
                  <a:pt x="1467981" y="1231284"/>
                </a:lnTo>
                <a:lnTo>
                  <a:pt x="1508600" y="1208747"/>
                </a:lnTo>
                <a:lnTo>
                  <a:pt x="1547431" y="1184647"/>
                </a:lnTo>
                <a:lnTo>
                  <a:pt x="1584388" y="1159049"/>
                </a:lnTo>
                <a:lnTo>
                  <a:pt x="1619384" y="1132016"/>
                </a:lnTo>
                <a:lnTo>
                  <a:pt x="1652331" y="1103611"/>
                </a:lnTo>
                <a:lnTo>
                  <a:pt x="1683143" y="1073898"/>
                </a:lnTo>
                <a:lnTo>
                  <a:pt x="1711732" y="1042942"/>
                </a:lnTo>
                <a:lnTo>
                  <a:pt x="1738012" y="1010804"/>
                </a:lnTo>
                <a:lnTo>
                  <a:pt x="1761895" y="977550"/>
                </a:lnTo>
                <a:lnTo>
                  <a:pt x="1783294" y="943242"/>
                </a:lnTo>
                <a:lnTo>
                  <a:pt x="1802122" y="907945"/>
                </a:lnTo>
                <a:lnTo>
                  <a:pt x="1818293" y="871722"/>
                </a:lnTo>
                <a:lnTo>
                  <a:pt x="1831719" y="834636"/>
                </a:lnTo>
                <a:lnTo>
                  <a:pt x="1842312" y="796752"/>
                </a:lnTo>
                <a:lnTo>
                  <a:pt x="1849987" y="758132"/>
                </a:lnTo>
                <a:lnTo>
                  <a:pt x="1854656" y="718841"/>
                </a:lnTo>
                <a:lnTo>
                  <a:pt x="1856232" y="678941"/>
                </a:lnTo>
                <a:lnTo>
                  <a:pt x="1854656" y="639042"/>
                </a:lnTo>
                <a:lnTo>
                  <a:pt x="1849987" y="599751"/>
                </a:lnTo>
                <a:lnTo>
                  <a:pt x="1842312" y="561131"/>
                </a:lnTo>
                <a:lnTo>
                  <a:pt x="1831719" y="523247"/>
                </a:lnTo>
                <a:lnTo>
                  <a:pt x="1818293" y="486161"/>
                </a:lnTo>
                <a:lnTo>
                  <a:pt x="1802122" y="449938"/>
                </a:lnTo>
                <a:lnTo>
                  <a:pt x="1783294" y="414641"/>
                </a:lnTo>
                <a:lnTo>
                  <a:pt x="1761895" y="380333"/>
                </a:lnTo>
                <a:lnTo>
                  <a:pt x="1738012" y="347079"/>
                </a:lnTo>
                <a:lnTo>
                  <a:pt x="1711732" y="314941"/>
                </a:lnTo>
                <a:lnTo>
                  <a:pt x="1683143" y="283985"/>
                </a:lnTo>
                <a:lnTo>
                  <a:pt x="1652331" y="254272"/>
                </a:lnTo>
                <a:lnTo>
                  <a:pt x="1619384" y="225867"/>
                </a:lnTo>
                <a:lnTo>
                  <a:pt x="1584388" y="198834"/>
                </a:lnTo>
                <a:lnTo>
                  <a:pt x="1547431" y="173236"/>
                </a:lnTo>
                <a:lnTo>
                  <a:pt x="1508600" y="149136"/>
                </a:lnTo>
                <a:lnTo>
                  <a:pt x="1467981" y="126599"/>
                </a:lnTo>
                <a:lnTo>
                  <a:pt x="1425662" y="105687"/>
                </a:lnTo>
                <a:lnTo>
                  <a:pt x="1381730" y="86466"/>
                </a:lnTo>
                <a:lnTo>
                  <a:pt x="1336272" y="68997"/>
                </a:lnTo>
                <a:lnTo>
                  <a:pt x="1289375" y="53345"/>
                </a:lnTo>
                <a:lnTo>
                  <a:pt x="1241126" y="39574"/>
                </a:lnTo>
                <a:lnTo>
                  <a:pt x="1191612" y="27747"/>
                </a:lnTo>
                <a:lnTo>
                  <a:pt x="1140920" y="17928"/>
                </a:lnTo>
                <a:lnTo>
                  <a:pt x="1089137" y="10179"/>
                </a:lnTo>
                <a:lnTo>
                  <a:pt x="1036351" y="4566"/>
                </a:lnTo>
                <a:lnTo>
                  <a:pt x="982648" y="1152"/>
                </a:lnTo>
                <a:lnTo>
                  <a:pt x="928116" y="0"/>
                </a:lnTo>
                <a:close/>
              </a:path>
            </a:pathLst>
          </a:custGeom>
          <a:solidFill>
            <a:srgbClr val="00AF50"/>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Calibri"/>
                <a:ea typeface="Calibri"/>
                <a:cs typeface="Calibri"/>
                <a:sym typeface="Calibri"/>
              </a:rPr>
              <a:t>Entity</a:t>
            </a:r>
            <a:endParaRPr/>
          </a:p>
        </p:txBody>
      </p:sp>
      <p:sp>
        <p:nvSpPr>
          <p:cNvPr id="161" name="Google Shape;161;p6"/>
          <p:cNvSpPr/>
          <p:nvPr/>
        </p:nvSpPr>
        <p:spPr>
          <a:xfrm>
            <a:off x="3523488" y="2875943"/>
            <a:ext cx="5360035" cy="572135"/>
          </a:xfrm>
          <a:custGeom>
            <a:avLst/>
            <a:gdLst/>
            <a:ahLst/>
            <a:cxnLst/>
            <a:rect l="l" t="t" r="r" b="b"/>
            <a:pathLst>
              <a:path w="5360034" h="572135" extrusionOk="0">
                <a:moveTo>
                  <a:pt x="0" y="498855"/>
                </a:moveTo>
                <a:lnTo>
                  <a:pt x="1524" y="141731"/>
                </a:lnTo>
              </a:path>
              <a:path w="5360034" h="572135" extrusionOk="0">
                <a:moveTo>
                  <a:pt x="2642616" y="571626"/>
                </a:moveTo>
                <a:lnTo>
                  <a:pt x="2644267" y="71627"/>
                </a:lnTo>
              </a:path>
              <a:path w="5360034" h="572135" extrusionOk="0">
                <a:moveTo>
                  <a:pt x="5358383" y="571499"/>
                </a:moveTo>
                <a:lnTo>
                  <a:pt x="5359908" y="0"/>
                </a:lnTo>
              </a:path>
            </a:pathLst>
          </a:custGeom>
          <a:noFill/>
          <a:ln w="10650" cap="flat" cmpd="sng">
            <a:solidFill>
              <a:srgbClr val="93B6D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2" name="Google Shape;162;p6"/>
          <p:cNvSpPr txBox="1"/>
          <p:nvPr/>
        </p:nvSpPr>
        <p:spPr>
          <a:xfrm>
            <a:off x="2881883" y="5160419"/>
            <a:ext cx="1286510" cy="713740"/>
          </a:xfrm>
          <a:prstGeom prst="rect">
            <a:avLst/>
          </a:prstGeom>
          <a:solidFill>
            <a:srgbClr val="00AFEF"/>
          </a:solidFill>
          <a:ln w="19800" cap="flat" cmpd="sng">
            <a:solidFill>
              <a:srgbClr val="6B859A"/>
            </a:solidFill>
            <a:prstDash val="solid"/>
            <a:round/>
            <a:headEnd type="none" w="sm" len="sm"/>
            <a:tailEnd type="none" w="sm" len="sm"/>
          </a:ln>
        </p:spPr>
        <p:txBody>
          <a:bodyPr spcFirstLastPara="1" wrap="square" lIns="0" tIns="189850" rIns="0" bIns="0" anchor="t" anchorCtr="0">
            <a:spAutoFit/>
          </a:bodyPr>
          <a:lstStyle/>
          <a:p>
            <a:pPr marL="232409" marR="0" lvl="0" indent="0" algn="l" rtl="0">
              <a:lnSpc>
                <a:spcPct val="100000"/>
              </a:lnSpc>
              <a:spcBef>
                <a:spcPts val="0"/>
              </a:spcBef>
              <a:spcAft>
                <a:spcPts val="0"/>
              </a:spcAft>
              <a:buNone/>
            </a:pPr>
            <a:r>
              <a:rPr lang="en-US" sz="2000" b="0" i="0" u="none" strike="noStrike" cap="none">
                <a:solidFill>
                  <a:srgbClr val="FFFFFF"/>
                </a:solidFill>
                <a:latin typeface="Arial"/>
                <a:ea typeface="Arial"/>
                <a:cs typeface="Arial"/>
                <a:sym typeface="Arial"/>
              </a:rPr>
              <a:t>Address</a:t>
            </a:r>
            <a:endParaRPr sz="2000" b="0" i="0" u="none" strike="noStrike" cap="none">
              <a:solidFill>
                <a:schemeClr val="dk1"/>
              </a:solidFill>
              <a:latin typeface="Arial"/>
              <a:ea typeface="Arial"/>
              <a:cs typeface="Arial"/>
              <a:sym typeface="Arial"/>
            </a:endParaRPr>
          </a:p>
        </p:txBody>
      </p:sp>
      <p:sp>
        <p:nvSpPr>
          <p:cNvPr id="163" name="Google Shape;163;p6"/>
          <p:cNvSpPr txBox="1"/>
          <p:nvPr/>
        </p:nvSpPr>
        <p:spPr>
          <a:xfrm>
            <a:off x="5524499" y="5160419"/>
            <a:ext cx="1286510" cy="713740"/>
          </a:xfrm>
          <a:prstGeom prst="rect">
            <a:avLst/>
          </a:prstGeom>
          <a:solidFill>
            <a:srgbClr val="00AFEF"/>
          </a:solidFill>
          <a:ln w="19800" cap="flat" cmpd="sng">
            <a:solidFill>
              <a:srgbClr val="6B859A"/>
            </a:solidFill>
            <a:prstDash val="solid"/>
            <a:round/>
            <a:headEnd type="none" w="sm" len="sm"/>
            <a:tailEnd type="none" w="sm" len="sm"/>
          </a:ln>
        </p:spPr>
        <p:txBody>
          <a:bodyPr spcFirstLastPara="1" wrap="square" lIns="0" tIns="189850" rIns="0" bIns="0" anchor="t" anchorCtr="0">
            <a:spAutoFit/>
          </a:bodyPr>
          <a:lstStyle/>
          <a:p>
            <a:pPr marL="233679" marR="0" lvl="0" indent="0" algn="l" rtl="0">
              <a:lnSpc>
                <a:spcPct val="100000"/>
              </a:lnSpc>
              <a:spcBef>
                <a:spcPts val="0"/>
              </a:spcBef>
              <a:spcAft>
                <a:spcPts val="0"/>
              </a:spcAft>
              <a:buNone/>
            </a:pPr>
            <a:r>
              <a:rPr lang="en-US" sz="2000" b="0" i="0" u="none" strike="noStrike" cap="none">
                <a:solidFill>
                  <a:srgbClr val="FFFFFF"/>
                </a:solidFill>
                <a:latin typeface="Arial"/>
                <a:ea typeface="Arial"/>
                <a:cs typeface="Arial"/>
                <a:sym typeface="Arial"/>
              </a:rPr>
              <a:t>Address</a:t>
            </a:r>
            <a:endParaRPr sz="2000" b="0" i="0" u="none" strike="noStrike" cap="none">
              <a:solidFill>
                <a:schemeClr val="dk1"/>
              </a:solidFill>
              <a:latin typeface="Arial"/>
              <a:ea typeface="Arial"/>
              <a:cs typeface="Arial"/>
              <a:sym typeface="Arial"/>
            </a:endParaRPr>
          </a:p>
        </p:txBody>
      </p:sp>
      <p:sp>
        <p:nvSpPr>
          <p:cNvPr id="164" name="Google Shape;164;p6"/>
          <p:cNvSpPr txBox="1"/>
          <p:nvPr/>
        </p:nvSpPr>
        <p:spPr>
          <a:xfrm>
            <a:off x="8310372" y="5160419"/>
            <a:ext cx="1286510" cy="713740"/>
          </a:xfrm>
          <a:prstGeom prst="rect">
            <a:avLst/>
          </a:prstGeom>
          <a:solidFill>
            <a:srgbClr val="00AFEF"/>
          </a:solidFill>
          <a:ln w="19800" cap="flat" cmpd="sng">
            <a:solidFill>
              <a:srgbClr val="6B859A"/>
            </a:solidFill>
            <a:prstDash val="solid"/>
            <a:round/>
            <a:headEnd type="none" w="sm" len="sm"/>
            <a:tailEnd type="none" w="sm" len="sm"/>
          </a:ln>
        </p:spPr>
        <p:txBody>
          <a:bodyPr spcFirstLastPara="1" wrap="square" lIns="0" tIns="189850" rIns="0" bIns="0" anchor="t" anchorCtr="0">
            <a:spAutoFit/>
          </a:bodyPr>
          <a:lstStyle/>
          <a:p>
            <a:pPr marL="234315" marR="0" lvl="0" indent="0" algn="l" rtl="0">
              <a:lnSpc>
                <a:spcPct val="100000"/>
              </a:lnSpc>
              <a:spcBef>
                <a:spcPts val="0"/>
              </a:spcBef>
              <a:spcAft>
                <a:spcPts val="0"/>
              </a:spcAft>
              <a:buNone/>
            </a:pPr>
            <a:r>
              <a:rPr lang="en-US" sz="2000" b="0" i="0" u="none" strike="noStrike" cap="none">
                <a:solidFill>
                  <a:srgbClr val="FFFFFF"/>
                </a:solidFill>
                <a:latin typeface="Arial"/>
                <a:ea typeface="Arial"/>
                <a:cs typeface="Arial"/>
                <a:sym typeface="Arial"/>
              </a:rPr>
              <a:t>Address</a:t>
            </a:r>
            <a:endParaRPr sz="2000" b="0" i="0" u="none" strike="noStrike" cap="none">
              <a:solidFill>
                <a:schemeClr val="dk1"/>
              </a:solidFill>
              <a:latin typeface="Arial"/>
              <a:ea typeface="Arial"/>
              <a:cs typeface="Arial"/>
              <a:sym typeface="Arial"/>
            </a:endParaRPr>
          </a:p>
        </p:txBody>
      </p:sp>
      <p:grpSp>
        <p:nvGrpSpPr>
          <p:cNvPr id="165" name="Google Shape;165;p6"/>
          <p:cNvGrpSpPr/>
          <p:nvPr/>
        </p:nvGrpSpPr>
        <p:grpSpPr>
          <a:xfrm>
            <a:off x="3525011" y="4802278"/>
            <a:ext cx="5428615" cy="358775"/>
            <a:chOff x="1858517" y="5572505"/>
            <a:chExt cx="5428615" cy="358775"/>
          </a:xfrm>
        </p:grpSpPr>
        <p:sp>
          <p:nvSpPr>
            <p:cNvPr id="166" name="Google Shape;166;p6"/>
            <p:cNvSpPr/>
            <p:nvPr/>
          </p:nvSpPr>
          <p:spPr>
            <a:xfrm>
              <a:off x="1858517" y="5572505"/>
              <a:ext cx="2642870" cy="358775"/>
            </a:xfrm>
            <a:custGeom>
              <a:avLst/>
              <a:gdLst/>
              <a:ahLst/>
              <a:cxnLst/>
              <a:rect l="l" t="t" r="r" b="b"/>
              <a:pathLst>
                <a:path w="2642870" h="358775" extrusionOk="0">
                  <a:moveTo>
                    <a:pt x="71500" y="0"/>
                  </a:moveTo>
                  <a:lnTo>
                    <a:pt x="0" y="357187"/>
                  </a:lnTo>
                </a:path>
                <a:path w="2642870" h="358775" extrusionOk="0">
                  <a:moveTo>
                    <a:pt x="2642743" y="1524"/>
                  </a:moveTo>
                  <a:lnTo>
                    <a:pt x="2641092" y="358711"/>
                  </a:lnTo>
                </a:path>
              </a:pathLst>
            </a:custGeom>
            <a:noFill/>
            <a:ln w="10650" cap="flat" cmpd="sng">
              <a:solidFill>
                <a:srgbClr val="93B6D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7" name="Google Shape;167;p6"/>
            <p:cNvSpPr/>
            <p:nvPr/>
          </p:nvSpPr>
          <p:spPr>
            <a:xfrm>
              <a:off x="7215377" y="5572505"/>
              <a:ext cx="71755" cy="357505"/>
            </a:xfrm>
            <a:custGeom>
              <a:avLst/>
              <a:gdLst/>
              <a:ahLst/>
              <a:cxnLst/>
              <a:rect l="l" t="t" r="r" b="b"/>
              <a:pathLst>
                <a:path w="71754" h="357504" extrusionOk="0">
                  <a:moveTo>
                    <a:pt x="0" y="0"/>
                  </a:moveTo>
                  <a:lnTo>
                    <a:pt x="71374" y="357187"/>
                  </a:lnTo>
                </a:path>
              </a:pathLst>
            </a:custGeom>
            <a:noFill/>
            <a:ln w="10650" cap="flat" cmpd="sng">
              <a:solidFill>
                <a:srgbClr val="93B6D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8" name="Google Shape;168;p6"/>
          <p:cNvSpPr txBox="1"/>
          <p:nvPr/>
        </p:nvSpPr>
        <p:spPr>
          <a:xfrm>
            <a:off x="3098637" y="2102018"/>
            <a:ext cx="74360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chemeClr val="lt1"/>
                </a:solidFill>
                <a:latin typeface="Calibri"/>
                <a:ea typeface="Calibri"/>
                <a:cs typeface="Calibri"/>
                <a:sym typeface="Calibri"/>
              </a:rPr>
              <a:t>Entity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fade">
                                      <p:cBhvr>
                                        <p:cTn id="7" dur="500"/>
                                        <p:tgtEl>
                                          <p:spTgt spid="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7"/>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4" name="Google Shape;174;p7"/>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IDENTIFIER (Định danh)</a:t>
            </a:r>
            <a:endParaRPr/>
          </a:p>
        </p:txBody>
      </p:sp>
      <p:sp>
        <p:nvSpPr>
          <p:cNvPr id="175" name="Google Shape;175;p7"/>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6" name="Google Shape;176;p7"/>
          <p:cNvSpPr txBox="1"/>
          <p:nvPr/>
        </p:nvSpPr>
        <p:spPr>
          <a:xfrm>
            <a:off x="838200" y="1676400"/>
            <a:ext cx="10515600" cy="1323439"/>
          </a:xfrm>
          <a:prstGeom prst="rect">
            <a:avLst/>
          </a:prstGeom>
          <a:noFill/>
          <a:ln>
            <a:noFill/>
          </a:ln>
        </p:spPr>
        <p:txBody>
          <a:bodyPr spcFirstLastPara="1" wrap="square" lIns="91425" tIns="45700" rIns="91425" bIns="45700" anchor="t" anchorCtr="0">
            <a:spAutoFit/>
          </a:bodyPr>
          <a:lstStyle/>
          <a:p>
            <a:pPr marL="0" marR="0" lvl="0" indent="-127000" algn="l" rtl="0">
              <a:spcBef>
                <a:spcPts val="0"/>
              </a:spcBef>
              <a:spcAft>
                <a:spcPts val="0"/>
              </a:spcAft>
              <a:buClr>
                <a:srgbClr val="1B1B1B"/>
              </a:buClr>
              <a:buSzPts val="2000"/>
              <a:buFont typeface="Arial"/>
              <a:buChar char="•"/>
            </a:pPr>
            <a:r>
              <a:rPr lang="en-US" sz="2000" b="1" i="0">
                <a:solidFill>
                  <a:srgbClr val="1B1B1B"/>
                </a:solidFill>
                <a:latin typeface="Calibri"/>
                <a:ea typeface="Calibri"/>
                <a:cs typeface="Calibri"/>
                <a:sym typeface="Calibri"/>
              </a:rPr>
              <a:t>Identifier(Định danh)</a:t>
            </a:r>
            <a:r>
              <a:rPr lang="en-US" sz="2000" b="0" i="0">
                <a:solidFill>
                  <a:srgbClr val="1B1B1B"/>
                </a:solidFill>
                <a:latin typeface="Calibri"/>
                <a:ea typeface="Calibri"/>
                <a:cs typeface="Calibri"/>
                <a:sym typeface="Calibri"/>
              </a:rPr>
              <a:t>: một loại tên đặc biệt</a:t>
            </a:r>
            <a:r>
              <a:rPr lang="en-US" sz="2000">
                <a:solidFill>
                  <a:srgbClr val="1B1B1B"/>
                </a:solidFill>
                <a:latin typeface="Calibri"/>
                <a:ea typeface="Calibri"/>
                <a:cs typeface="Calibri"/>
                <a:sym typeface="Calibri"/>
              </a:rPr>
              <a:t>, </a:t>
            </a:r>
            <a:r>
              <a:rPr lang="en-US" sz="2000" b="0" i="0">
                <a:solidFill>
                  <a:srgbClr val="1B1B1B"/>
                </a:solidFill>
                <a:latin typeface="Calibri"/>
                <a:ea typeface="Calibri"/>
                <a:cs typeface="Calibri"/>
                <a:sym typeface="Calibri"/>
              </a:rPr>
              <a:t>phải đáp ứng ba yêu cầu sau:</a:t>
            </a:r>
            <a:endParaRPr/>
          </a:p>
          <a:p>
            <a:pPr marL="742950" marR="0" lvl="1" indent="-285750" algn="l" rtl="0">
              <a:spcBef>
                <a:spcPts val="0"/>
              </a:spcBef>
              <a:spcAft>
                <a:spcPts val="0"/>
              </a:spcAft>
              <a:buClr>
                <a:srgbClr val="1B1B1B"/>
              </a:buClr>
              <a:buSzPts val="2000"/>
              <a:buFont typeface="Arial"/>
              <a:buChar char="•"/>
            </a:pPr>
            <a:r>
              <a:rPr lang="en-US" sz="2000" b="0" i="0" u="none" strike="noStrike" cap="none">
                <a:solidFill>
                  <a:srgbClr val="1B1B1B"/>
                </a:solidFill>
                <a:latin typeface="Calibri"/>
                <a:ea typeface="Calibri"/>
                <a:cs typeface="Calibri"/>
                <a:sym typeface="Calibri"/>
              </a:rPr>
              <a:t>1 định danh chỉ đến nhiều nhất 1 thực thể.</a:t>
            </a:r>
            <a:endParaRPr/>
          </a:p>
          <a:p>
            <a:pPr marL="742950" marR="0" lvl="1" indent="-285750" algn="l" rtl="0">
              <a:spcBef>
                <a:spcPts val="0"/>
              </a:spcBef>
              <a:spcAft>
                <a:spcPts val="0"/>
              </a:spcAft>
              <a:buClr>
                <a:srgbClr val="1B1B1B"/>
              </a:buClr>
              <a:buSzPts val="2000"/>
              <a:buFont typeface="Arial"/>
              <a:buChar char="•"/>
            </a:pPr>
            <a:r>
              <a:rPr lang="en-US" sz="2000" b="0" i="0" u="none" strike="noStrike" cap="none">
                <a:solidFill>
                  <a:srgbClr val="1B1B1B"/>
                </a:solidFill>
                <a:latin typeface="Calibri"/>
                <a:ea typeface="Calibri"/>
                <a:cs typeface="Calibri"/>
                <a:sym typeface="Calibri"/>
              </a:rPr>
              <a:t>Mỗi thực thể chỉ được xác định bởi 1 định danh.</a:t>
            </a:r>
            <a:endParaRPr/>
          </a:p>
          <a:p>
            <a:pPr marL="742950" marR="0" lvl="1" indent="-285750" algn="l" rtl="0">
              <a:spcBef>
                <a:spcPts val="0"/>
              </a:spcBef>
              <a:spcAft>
                <a:spcPts val="0"/>
              </a:spcAft>
              <a:buClr>
                <a:srgbClr val="1B1B1B"/>
              </a:buClr>
              <a:buSzPts val="2000"/>
              <a:buFont typeface="Arial"/>
              <a:buChar char="•"/>
            </a:pPr>
            <a:r>
              <a:rPr lang="en-US" sz="2000" b="0" i="0" u="none" strike="noStrike" cap="none">
                <a:solidFill>
                  <a:srgbClr val="1B1B1B"/>
                </a:solidFill>
                <a:latin typeface="Calibri"/>
                <a:ea typeface="Calibri"/>
                <a:cs typeface="Calibri"/>
                <a:sym typeface="Calibri"/>
              </a:rPr>
              <a:t>Một định danh mãi mãi chỉ trỏ đến 1 thực thể.</a:t>
            </a:r>
            <a:endParaRPr/>
          </a:p>
        </p:txBody>
      </p:sp>
      <p:sp>
        <p:nvSpPr>
          <p:cNvPr id="177" name="Google Shape;177;p7"/>
          <p:cNvSpPr txBox="1"/>
          <p:nvPr/>
        </p:nvSpPr>
        <p:spPr>
          <a:xfrm>
            <a:off x="2819400" y="3991690"/>
            <a:ext cx="610334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a:solidFill>
                  <a:srgbClr val="1B1B1B"/>
                </a:solidFill>
                <a:latin typeface="Calibri"/>
                <a:ea typeface="Calibri"/>
                <a:cs typeface="Calibri"/>
                <a:sym typeface="Calibri"/>
              </a:rPr>
              <a:t>truy xuất tới các thực thể trong hệ thống máy tính</a:t>
            </a:r>
            <a:endParaRPr sz="2000">
              <a:solidFill>
                <a:schemeClr val="dk1"/>
              </a:solidFill>
              <a:latin typeface="Calibri"/>
              <a:ea typeface="Calibri"/>
              <a:cs typeface="Calibri"/>
              <a:sym typeface="Calibri"/>
            </a:endParaRPr>
          </a:p>
        </p:txBody>
      </p:sp>
      <p:sp>
        <p:nvSpPr>
          <p:cNvPr id="178" name="Google Shape;178;p7"/>
          <p:cNvSpPr/>
          <p:nvPr/>
        </p:nvSpPr>
        <p:spPr>
          <a:xfrm>
            <a:off x="5257800" y="3029129"/>
            <a:ext cx="304800" cy="933271"/>
          </a:xfrm>
          <a:prstGeom prst="down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9" name="Google Shape;179;p7"/>
          <p:cNvSpPr txBox="1"/>
          <p:nvPr/>
        </p:nvSpPr>
        <p:spPr>
          <a:xfrm>
            <a:off x="1524000" y="4835575"/>
            <a:ext cx="6103344"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a:solidFill>
                  <a:srgbClr val="2CB0F0"/>
                </a:solidFill>
                <a:latin typeface="Calibri"/>
                <a:ea typeface="Calibri"/>
                <a:cs typeface="Calibri"/>
                <a:sym typeface="Calibri"/>
              </a:rPr>
              <a:t>Vấn đề: Cạn kiệt không gian tên</a:t>
            </a:r>
            <a:endParaRPr sz="2000" b="0" i="0">
              <a:solidFill>
                <a:srgbClr val="2CB0F0"/>
              </a:solidFill>
              <a:latin typeface="Calibri"/>
              <a:ea typeface="Calibri"/>
              <a:cs typeface="Calibri"/>
              <a:sym typeface="Calibri"/>
            </a:endParaRPr>
          </a:p>
          <a:p>
            <a:pPr marL="0" marR="0" lvl="0" indent="0" algn="l" rtl="0">
              <a:spcBef>
                <a:spcPts val="0"/>
              </a:spcBef>
              <a:spcAft>
                <a:spcPts val="0"/>
              </a:spcAft>
              <a:buNone/>
            </a:pPr>
            <a:r>
              <a:rPr lang="en-US" sz="2000">
                <a:solidFill>
                  <a:srgbClr val="2CB0F0"/>
                </a:solidFill>
                <a:latin typeface="Calibri"/>
                <a:ea typeface="Calibri"/>
                <a:cs typeface="Calibri"/>
                <a:sym typeface="Calibri"/>
              </a:rPr>
              <a:t>Giải pháp: </a:t>
            </a:r>
            <a:endParaRPr/>
          </a:p>
          <a:p>
            <a:pPr marL="800100" marR="0" lvl="1" indent="-342900" algn="l" rtl="0">
              <a:spcBef>
                <a:spcPts val="0"/>
              </a:spcBef>
              <a:spcAft>
                <a:spcPts val="0"/>
              </a:spcAft>
              <a:buClr>
                <a:srgbClr val="2CB0F0"/>
              </a:buClr>
              <a:buSzPts val="2000"/>
              <a:buFont typeface="Arial"/>
              <a:buChar char="•"/>
            </a:pPr>
            <a:r>
              <a:rPr lang="en-US" sz="2000" b="0" i="0" u="none" strike="noStrike" cap="none">
                <a:solidFill>
                  <a:srgbClr val="2CB0F0"/>
                </a:solidFill>
                <a:latin typeface="Calibri"/>
                <a:ea typeface="Calibri"/>
                <a:cs typeface="Calibri"/>
                <a:sym typeface="Calibri"/>
              </a:rPr>
              <a:t>Mở rộng không gian tên</a:t>
            </a:r>
            <a:endParaRPr sz="2000" b="0" i="0" u="none" strike="noStrike" cap="none">
              <a:solidFill>
                <a:srgbClr val="2CB0F0"/>
              </a:solidFill>
              <a:latin typeface="Calibri"/>
              <a:ea typeface="Calibri"/>
              <a:cs typeface="Calibri"/>
              <a:sym typeface="Calibri"/>
            </a:endParaRPr>
          </a:p>
          <a:p>
            <a:pPr marL="800100" marR="0" lvl="1" indent="-342900" algn="l" rtl="0">
              <a:spcBef>
                <a:spcPts val="0"/>
              </a:spcBef>
              <a:spcAft>
                <a:spcPts val="0"/>
              </a:spcAft>
              <a:buClr>
                <a:srgbClr val="2CB0F0"/>
              </a:buClr>
              <a:buSzPts val="2000"/>
              <a:buFont typeface="Arial"/>
              <a:buChar char="•"/>
            </a:pPr>
            <a:r>
              <a:rPr lang="en-US" sz="2000" b="0" i="0" u="none" strike="noStrike" cap="none">
                <a:solidFill>
                  <a:srgbClr val="2CB0F0"/>
                </a:solidFill>
                <a:latin typeface="Calibri"/>
                <a:ea typeface="Calibri"/>
                <a:cs typeface="Calibri"/>
                <a:sym typeface="Calibri"/>
              </a:rPr>
              <a:t>Tái sử dụng </a:t>
            </a:r>
            <a:endParaRPr sz="2000" b="0" i="0" u="none" strike="noStrike" cap="none">
              <a:solidFill>
                <a:srgbClr val="2CB0F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9"/>
                                        </p:tgtEl>
                                        <p:attrNameLst>
                                          <p:attrName>style.visibility</p:attrName>
                                        </p:attrNameLst>
                                      </p:cBhvr>
                                      <p:to>
                                        <p:strVal val="visible"/>
                                      </p:to>
                                    </p:set>
                                    <p:anim calcmode="lin" valueType="num">
                                      <p:cBhvr additive="base">
                                        <p:cTn id="7" dur="500"/>
                                        <p:tgtEl>
                                          <p:spTgt spid="17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8"/>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5" name="Google Shape;185;p8"/>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IDENTIFIER (Định danh)</a:t>
            </a:r>
            <a:endParaRPr/>
          </a:p>
        </p:txBody>
      </p:sp>
      <p:sp>
        <p:nvSpPr>
          <p:cNvPr id="186" name="Google Shape;186;p8"/>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7" name="Google Shape;187;p8"/>
          <p:cNvSpPr txBox="1"/>
          <p:nvPr/>
        </p:nvSpPr>
        <p:spPr>
          <a:xfrm>
            <a:off x="838200" y="1676400"/>
            <a:ext cx="10515600" cy="782265"/>
          </a:xfrm>
          <a:prstGeom prst="rect">
            <a:avLst/>
          </a:prstGeom>
          <a:noFill/>
          <a:ln>
            <a:noFill/>
          </a:ln>
        </p:spPr>
        <p:txBody>
          <a:bodyPr spcFirstLastPara="1" wrap="square" lIns="91425" tIns="45700" rIns="91425" bIns="45700" anchor="t" anchorCtr="0">
            <a:spAutoFit/>
          </a:bodyPr>
          <a:lstStyle/>
          <a:p>
            <a:pPr marL="12700" marR="100330" lvl="0" indent="0" algn="l" rtl="0">
              <a:lnSpc>
                <a:spcPct val="100000"/>
              </a:lnSpc>
              <a:spcBef>
                <a:spcPts val="0"/>
              </a:spcBef>
              <a:spcAft>
                <a:spcPts val="0"/>
              </a:spcAft>
              <a:buNone/>
            </a:pPr>
            <a:r>
              <a:rPr lang="en-US" sz="2400" b="1">
                <a:solidFill>
                  <a:schemeClr val="dk1"/>
                </a:solidFill>
                <a:latin typeface="Calibri"/>
                <a:ea typeface="Calibri"/>
                <a:cs typeface="Calibri"/>
                <a:sym typeface="Calibri"/>
              </a:rPr>
              <a:t>Phân giải tên và định danh thành địa chỉ</a:t>
            </a:r>
            <a:endParaRPr sz="2400" b="1">
              <a:solidFill>
                <a:schemeClr val="dk1"/>
              </a:solidFill>
              <a:latin typeface="Calibri"/>
              <a:ea typeface="Calibri"/>
              <a:cs typeface="Calibri"/>
              <a:sym typeface="Calibri"/>
            </a:endParaRPr>
          </a:p>
          <a:p>
            <a:pPr marL="355600" marR="100330" lvl="0" indent="-266263" algn="l" rtl="0">
              <a:spcBef>
                <a:spcPts val="105"/>
              </a:spcBef>
              <a:spcAft>
                <a:spcPts val="0"/>
              </a:spcAft>
              <a:buClr>
                <a:srgbClr val="DD8046"/>
              </a:buClr>
              <a:buSzPts val="1207"/>
              <a:buFont typeface="Arial"/>
              <a:buNone/>
            </a:pPr>
            <a:endParaRPr sz="2000">
              <a:solidFill>
                <a:schemeClr val="dk1"/>
              </a:solidFill>
              <a:latin typeface="Calibri"/>
              <a:ea typeface="Calibri"/>
              <a:cs typeface="Calibri"/>
              <a:sym typeface="Calibri"/>
            </a:endParaRPr>
          </a:p>
        </p:txBody>
      </p:sp>
      <p:sp>
        <p:nvSpPr>
          <p:cNvPr id="188" name="Google Shape;188;p8"/>
          <p:cNvSpPr/>
          <p:nvPr/>
        </p:nvSpPr>
        <p:spPr>
          <a:xfrm>
            <a:off x="990600" y="2465092"/>
            <a:ext cx="4953000" cy="6858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Mô hình tập trung:</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Bảng ánh xạ tập trung tên-địa chỉ</a:t>
            </a:r>
            <a:endParaRPr sz="1800">
              <a:solidFill>
                <a:schemeClr val="lt1"/>
              </a:solidFill>
              <a:latin typeface="Calibri"/>
              <a:ea typeface="Calibri"/>
              <a:cs typeface="Calibri"/>
              <a:sym typeface="Calibri"/>
            </a:endParaRPr>
          </a:p>
        </p:txBody>
      </p:sp>
      <p:sp>
        <p:nvSpPr>
          <p:cNvPr id="189" name="Google Shape;189;p8"/>
          <p:cNvSpPr/>
          <p:nvPr/>
        </p:nvSpPr>
        <p:spPr>
          <a:xfrm>
            <a:off x="990600" y="3558107"/>
            <a:ext cx="4953000" cy="6858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Vấn đề: không phù hợp với hệ thống mạng cỡ lớn</a:t>
            </a:r>
            <a:endParaRPr sz="1800">
              <a:solidFill>
                <a:schemeClr val="lt1"/>
              </a:solidFill>
              <a:latin typeface="Calibri"/>
              <a:ea typeface="Calibri"/>
              <a:cs typeface="Calibri"/>
              <a:sym typeface="Calibri"/>
            </a:endParaRPr>
          </a:p>
        </p:txBody>
      </p:sp>
      <p:sp>
        <p:nvSpPr>
          <p:cNvPr id="190" name="Google Shape;190;p8"/>
          <p:cNvSpPr/>
          <p:nvPr/>
        </p:nvSpPr>
        <p:spPr>
          <a:xfrm>
            <a:off x="990600" y="4651122"/>
            <a:ext cx="4953000" cy="6858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12700" marR="0" lvl="0" indent="0" algn="ctr" rtl="0">
              <a:spcBef>
                <a:spcPts val="0"/>
              </a:spcBef>
              <a:spcAft>
                <a:spcPts val="0"/>
              </a:spcAft>
              <a:buNone/>
            </a:pPr>
            <a:r>
              <a:rPr lang="en-US" sz="1800" b="1">
                <a:solidFill>
                  <a:schemeClr val="lt1"/>
                </a:solidFill>
                <a:latin typeface="Calibri"/>
                <a:ea typeface="Calibri"/>
                <a:cs typeface="Calibri"/>
                <a:sym typeface="Calibri"/>
              </a:rPr>
              <a:t>Các hệ thống phân giải tên </a:t>
            </a:r>
            <a:r>
              <a:rPr lang="en-US" sz="1800" b="1" u="sng">
                <a:solidFill>
                  <a:schemeClr val="lt1"/>
                </a:solidFill>
                <a:latin typeface="Calibri"/>
                <a:ea typeface="Calibri"/>
                <a:cs typeface="Calibri"/>
                <a:sym typeface="Calibri"/>
              </a:rPr>
              <a:t>PHÂN TÁN</a:t>
            </a:r>
            <a:endParaRPr sz="1800">
              <a:solidFill>
                <a:schemeClr val="lt1"/>
              </a:solidFill>
              <a:latin typeface="Calibri"/>
              <a:ea typeface="Calibri"/>
              <a:cs typeface="Calibri"/>
              <a:sym typeface="Calibri"/>
            </a:endParaRPr>
          </a:p>
        </p:txBody>
      </p:sp>
      <p:sp>
        <p:nvSpPr>
          <p:cNvPr id="191" name="Google Shape;191;p8"/>
          <p:cNvSpPr/>
          <p:nvPr/>
        </p:nvSpPr>
        <p:spPr>
          <a:xfrm>
            <a:off x="6705600" y="2465092"/>
            <a:ext cx="4953000" cy="2847983"/>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12700" marR="0" lvl="0" indent="0" algn="l" rtl="0">
              <a:spcBef>
                <a:spcPts val="0"/>
              </a:spcBef>
              <a:spcAft>
                <a:spcPts val="0"/>
              </a:spcAft>
              <a:buNone/>
            </a:pPr>
            <a:r>
              <a:rPr lang="en-US" sz="2000">
                <a:solidFill>
                  <a:schemeClr val="lt1"/>
                </a:solidFill>
                <a:latin typeface="Calibri"/>
                <a:ea typeface="Calibri"/>
                <a:cs typeface="Calibri"/>
                <a:sym typeface="Calibri"/>
              </a:rPr>
              <a:t>Yêu cầu của dịch vụ tên</a:t>
            </a:r>
            <a:endParaRPr sz="2000">
              <a:solidFill>
                <a:schemeClr val="lt1"/>
              </a:solidFill>
              <a:latin typeface="Calibri"/>
              <a:ea typeface="Calibri"/>
              <a:cs typeface="Calibri"/>
              <a:sym typeface="Calibri"/>
            </a:endParaRPr>
          </a:p>
          <a:p>
            <a:pPr marL="721995" marR="0" lvl="1" indent="-342900" algn="l" rtl="0">
              <a:lnSpc>
                <a:spcPct val="100000"/>
              </a:lnSpc>
              <a:spcBef>
                <a:spcPts val="605"/>
              </a:spcBef>
              <a:spcAft>
                <a:spcPts val="0"/>
              </a:spcAft>
              <a:buClr>
                <a:srgbClr val="93B6D2"/>
              </a:buClr>
              <a:buSzPts val="1375"/>
              <a:buFont typeface="Arial"/>
              <a:buChar char="•"/>
            </a:pPr>
            <a:r>
              <a:rPr lang="en-US" sz="2000" b="0" i="0" u="none" strike="noStrike" cap="none">
                <a:solidFill>
                  <a:schemeClr val="lt1"/>
                </a:solidFill>
                <a:latin typeface="Calibri"/>
                <a:ea typeface="Calibri"/>
                <a:cs typeface="Calibri"/>
                <a:sym typeface="Calibri"/>
              </a:rPr>
              <a:t>Qui mô: vô hạn về tên và miền tên</a:t>
            </a:r>
            <a:endParaRPr/>
          </a:p>
          <a:p>
            <a:pPr marL="721995" marR="0" lvl="1" indent="-342900" algn="l" rtl="0">
              <a:lnSpc>
                <a:spcPct val="100000"/>
              </a:lnSpc>
              <a:spcBef>
                <a:spcPts val="600"/>
              </a:spcBef>
              <a:spcAft>
                <a:spcPts val="0"/>
              </a:spcAft>
              <a:buClr>
                <a:srgbClr val="93B6D2"/>
              </a:buClr>
              <a:buSzPts val="1375"/>
              <a:buFont typeface="Arial"/>
              <a:buChar char="•"/>
            </a:pPr>
            <a:r>
              <a:rPr lang="en-US" sz="2000" b="0" i="0" u="none" strike="noStrike" cap="none">
                <a:solidFill>
                  <a:schemeClr val="lt1"/>
                </a:solidFill>
                <a:latin typeface="Calibri"/>
                <a:ea typeface="Calibri"/>
                <a:cs typeface="Calibri"/>
                <a:sym typeface="Calibri"/>
              </a:rPr>
              <a:t>Bền vững: chịu được các thay đổi</a:t>
            </a:r>
            <a:endParaRPr/>
          </a:p>
          <a:p>
            <a:pPr marL="721995" marR="0" lvl="1" indent="-342900" algn="l" rtl="0">
              <a:lnSpc>
                <a:spcPct val="100000"/>
              </a:lnSpc>
              <a:spcBef>
                <a:spcPts val="600"/>
              </a:spcBef>
              <a:spcAft>
                <a:spcPts val="0"/>
              </a:spcAft>
              <a:buClr>
                <a:srgbClr val="93B6D2"/>
              </a:buClr>
              <a:buSzPts val="1375"/>
              <a:buFont typeface="Arial"/>
              <a:buChar char="•"/>
            </a:pPr>
            <a:r>
              <a:rPr lang="en-US" sz="2000" b="0" i="0" u="none" strike="noStrike" cap="none">
                <a:solidFill>
                  <a:schemeClr val="lt1"/>
                </a:solidFill>
                <a:latin typeface="Calibri"/>
                <a:ea typeface="Calibri"/>
                <a:cs typeface="Calibri"/>
                <a:sym typeface="Calibri"/>
              </a:rPr>
              <a:t>Sẵn sàng, chịu lỗi, chịu rủi ro bảo mật</a:t>
            </a:r>
            <a:endParaRPr sz="1800" b="0" i="0" u="none" strike="noStrike" cap="none">
              <a:solidFill>
                <a:schemeClr val="lt1"/>
              </a:solidFill>
              <a:latin typeface="Calibri"/>
              <a:ea typeface="Calibri"/>
              <a:cs typeface="Calibri"/>
              <a:sym typeface="Calibri"/>
            </a:endParaRPr>
          </a:p>
        </p:txBody>
      </p:sp>
      <p:cxnSp>
        <p:nvCxnSpPr>
          <p:cNvPr id="192" name="Google Shape;192;p8"/>
          <p:cNvCxnSpPr>
            <a:stCxn id="188" idx="2"/>
            <a:endCxn id="189" idx="0"/>
          </p:cNvCxnSpPr>
          <p:nvPr/>
        </p:nvCxnSpPr>
        <p:spPr>
          <a:xfrm>
            <a:off x="3467100" y="3150892"/>
            <a:ext cx="0" cy="407100"/>
          </a:xfrm>
          <a:prstGeom prst="straightConnector1">
            <a:avLst/>
          </a:prstGeom>
          <a:noFill/>
          <a:ln w="9525" cap="flat" cmpd="sng">
            <a:solidFill>
              <a:schemeClr val="accent1"/>
            </a:solidFill>
            <a:prstDash val="solid"/>
            <a:miter lim="800000"/>
            <a:headEnd type="none" w="sm" len="sm"/>
            <a:tailEnd type="triangle" w="med" len="med"/>
          </a:ln>
        </p:spPr>
      </p:cxnSp>
      <p:cxnSp>
        <p:nvCxnSpPr>
          <p:cNvPr id="193" name="Google Shape;193;p8"/>
          <p:cNvCxnSpPr>
            <a:stCxn id="189" idx="2"/>
            <a:endCxn id="190" idx="0"/>
          </p:cNvCxnSpPr>
          <p:nvPr/>
        </p:nvCxnSpPr>
        <p:spPr>
          <a:xfrm>
            <a:off x="3467100" y="4243907"/>
            <a:ext cx="0" cy="407100"/>
          </a:xfrm>
          <a:prstGeom prst="straightConnector1">
            <a:avLst/>
          </a:prstGeom>
          <a:noFill/>
          <a:ln w="9525" cap="flat" cmpd="sng">
            <a:solidFill>
              <a:schemeClr val="accent1"/>
            </a:solidFill>
            <a:prstDash val="solid"/>
            <a:miter lim="800000"/>
            <a:headEnd type="none" w="sm" len="sm"/>
            <a:tailEnd type="triangle" w="med" len="med"/>
          </a:ln>
        </p:spPr>
      </p:cxnSp>
      <p:sp>
        <p:nvSpPr>
          <p:cNvPr id="194" name="Google Shape;194;p8"/>
          <p:cNvSpPr txBox="1"/>
          <p:nvPr/>
        </p:nvSpPr>
        <p:spPr>
          <a:xfrm>
            <a:off x="2971800" y="5814209"/>
            <a:ext cx="654743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0000"/>
                </a:solidFill>
                <a:latin typeface="Calibri"/>
                <a:ea typeface="Calibri"/>
                <a:cs typeface="Calibri"/>
                <a:sym typeface="Calibri"/>
              </a:rPr>
              <a:t>MỖI KHÔNG GIAN TÊN CẦN MỘT CƠ CHẾ ĐỊNH DANH KHÁC NHAU</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2"/>
                                        </p:tgtEl>
                                        <p:attrNameLst>
                                          <p:attrName>style.visibility</p:attrName>
                                        </p:attrNameLst>
                                      </p:cBhvr>
                                      <p:to>
                                        <p:strVal val="visible"/>
                                      </p:to>
                                    </p:set>
                                    <p:anim calcmode="lin" valueType="num">
                                      <p:cBhvr additive="base">
                                        <p:cTn id="7" dur="500"/>
                                        <p:tgtEl>
                                          <p:spTgt spid="192"/>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89"/>
                                        </p:tgtEl>
                                        <p:attrNameLst>
                                          <p:attrName>style.visibility</p:attrName>
                                        </p:attrNameLst>
                                      </p:cBhvr>
                                      <p:to>
                                        <p:strVal val="visible"/>
                                      </p:to>
                                    </p:set>
                                    <p:anim calcmode="lin" valueType="num">
                                      <p:cBhvr additive="base">
                                        <p:cTn id="10" dur="500"/>
                                        <p:tgtEl>
                                          <p:spTgt spid="189"/>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93"/>
                                        </p:tgtEl>
                                        <p:attrNameLst>
                                          <p:attrName>style.visibility</p:attrName>
                                        </p:attrNameLst>
                                      </p:cBhvr>
                                      <p:to>
                                        <p:strVal val="visible"/>
                                      </p:to>
                                    </p:set>
                                    <p:anim calcmode="lin" valueType="num">
                                      <p:cBhvr additive="base">
                                        <p:cTn id="15" dur="500"/>
                                        <p:tgtEl>
                                          <p:spTgt spid="193"/>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90"/>
                                        </p:tgtEl>
                                        <p:attrNameLst>
                                          <p:attrName>style.visibility</p:attrName>
                                        </p:attrNameLst>
                                      </p:cBhvr>
                                      <p:to>
                                        <p:strVal val="visible"/>
                                      </p:to>
                                    </p:set>
                                    <p:anim calcmode="lin" valueType="num">
                                      <p:cBhvr additive="base">
                                        <p:cTn id="18" dur="500"/>
                                        <p:tgtEl>
                                          <p:spTgt spid="190"/>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91"/>
                                        </p:tgtEl>
                                        <p:attrNameLst>
                                          <p:attrName>style.visibility</p:attrName>
                                        </p:attrNameLst>
                                      </p:cBhvr>
                                      <p:to>
                                        <p:strVal val="visible"/>
                                      </p:to>
                                    </p:set>
                                    <p:anim calcmode="lin" valueType="num">
                                      <p:cBhvr additive="base">
                                        <p:cTn id="23" dur="500"/>
                                        <p:tgtEl>
                                          <p:spTgt spid="19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94"/>
                                        </p:tgtEl>
                                        <p:attrNameLst>
                                          <p:attrName>style.visibility</p:attrName>
                                        </p:attrNameLst>
                                      </p:cBhvr>
                                      <p:to>
                                        <p:strVal val="visible"/>
                                      </p:to>
                                    </p:set>
                                    <p:anim calcmode="lin" valueType="num">
                                      <p:cBhvr additive="base">
                                        <p:cTn id="28" dur="500"/>
                                        <p:tgtEl>
                                          <p:spTgt spid="19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9"/>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0" name="Google Shape;200;p9"/>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KHÔNG GIAN TÊN PHẲNG</a:t>
            </a:r>
            <a:endParaRPr/>
          </a:p>
        </p:txBody>
      </p:sp>
      <p:sp>
        <p:nvSpPr>
          <p:cNvPr id="201" name="Google Shape;201;p9"/>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 name="Google Shape;202;p9"/>
          <p:cNvSpPr txBox="1"/>
          <p:nvPr/>
        </p:nvSpPr>
        <p:spPr>
          <a:xfrm>
            <a:off x="838200" y="1676400"/>
            <a:ext cx="10515600" cy="2375009"/>
          </a:xfrm>
          <a:prstGeom prst="rect">
            <a:avLst/>
          </a:prstGeom>
          <a:noFill/>
          <a:ln>
            <a:noFill/>
          </a:ln>
        </p:spPr>
        <p:txBody>
          <a:bodyPr spcFirstLastPara="1" wrap="square" lIns="91425" tIns="45700" rIns="91425" bIns="45700" anchor="t" anchorCtr="0">
            <a:spAutoFit/>
          </a:bodyPr>
          <a:lstStyle/>
          <a:p>
            <a:pPr marL="527050" marR="100330" lvl="0" indent="-514350" algn="l" rtl="0">
              <a:lnSpc>
                <a:spcPct val="100000"/>
              </a:lnSpc>
              <a:spcBef>
                <a:spcPts val="0"/>
              </a:spcBef>
              <a:spcAft>
                <a:spcPts val="0"/>
              </a:spcAft>
              <a:buClr>
                <a:srgbClr val="DD8046"/>
              </a:buClr>
              <a:buSzPts val="1690"/>
              <a:buFont typeface="Calibri"/>
              <a:buAutoNum type="arabicPeriod"/>
            </a:pPr>
            <a:r>
              <a:rPr lang="en-US" sz="2800">
                <a:solidFill>
                  <a:schemeClr val="dk1"/>
                </a:solidFill>
                <a:latin typeface="Calibri"/>
                <a:ea typeface="Calibri"/>
                <a:cs typeface="Calibri"/>
                <a:sym typeface="Calibri"/>
              </a:rPr>
              <a:t>Khái niệm</a:t>
            </a:r>
            <a:endParaRPr/>
          </a:p>
          <a:p>
            <a:pPr marL="527050" marR="100330" lvl="0" indent="-514350" algn="l" rtl="0">
              <a:lnSpc>
                <a:spcPct val="100000"/>
              </a:lnSpc>
              <a:spcBef>
                <a:spcPts val="105"/>
              </a:spcBef>
              <a:spcAft>
                <a:spcPts val="0"/>
              </a:spcAft>
              <a:buClr>
                <a:srgbClr val="DD8046"/>
              </a:buClr>
              <a:buSzPts val="1690"/>
              <a:buFont typeface="Calibri"/>
              <a:buAutoNum type="arabicPeriod"/>
            </a:pPr>
            <a:r>
              <a:rPr lang="en-US" sz="2800">
                <a:solidFill>
                  <a:schemeClr val="dk1"/>
                </a:solidFill>
                <a:latin typeface="Calibri"/>
                <a:ea typeface="Calibri"/>
                <a:cs typeface="Calibri"/>
                <a:sym typeface="Calibri"/>
              </a:rPr>
              <a:t>Các giải pháp thông thường</a:t>
            </a:r>
            <a:endParaRPr/>
          </a:p>
          <a:p>
            <a:pPr marL="527050" marR="100330" lvl="0" indent="-514350" algn="l" rtl="0">
              <a:lnSpc>
                <a:spcPct val="100000"/>
              </a:lnSpc>
              <a:spcBef>
                <a:spcPts val="105"/>
              </a:spcBef>
              <a:spcAft>
                <a:spcPts val="0"/>
              </a:spcAft>
              <a:buClr>
                <a:srgbClr val="DD8046"/>
              </a:buClr>
              <a:buSzPts val="1690"/>
              <a:buFont typeface="Calibri"/>
              <a:buAutoNum type="arabicPeriod"/>
            </a:pPr>
            <a:r>
              <a:rPr lang="en-US" sz="2800">
                <a:solidFill>
                  <a:schemeClr val="dk1"/>
                </a:solidFill>
                <a:latin typeface="Calibri"/>
                <a:ea typeface="Calibri"/>
                <a:cs typeface="Calibri"/>
                <a:sym typeface="Calibri"/>
              </a:rPr>
              <a:t>Giải pháp Home-based</a:t>
            </a:r>
            <a:endParaRPr/>
          </a:p>
          <a:p>
            <a:pPr marL="527050" marR="100330" lvl="0" indent="-514350" algn="l" rtl="0">
              <a:lnSpc>
                <a:spcPct val="100000"/>
              </a:lnSpc>
              <a:spcBef>
                <a:spcPts val="105"/>
              </a:spcBef>
              <a:spcAft>
                <a:spcPts val="0"/>
              </a:spcAft>
              <a:buClr>
                <a:srgbClr val="DD8046"/>
              </a:buClr>
              <a:buSzPts val="1690"/>
              <a:buFont typeface="Calibri"/>
              <a:buAutoNum type="arabicPeriod"/>
            </a:pPr>
            <a:r>
              <a:rPr lang="en-US" sz="2800">
                <a:solidFill>
                  <a:schemeClr val="dk1"/>
                </a:solidFill>
                <a:latin typeface="Calibri"/>
                <a:ea typeface="Calibri"/>
                <a:cs typeface="Calibri"/>
                <a:sym typeface="Calibri"/>
              </a:rPr>
              <a:t>Giải pháp sử dụng hàm băm phân tán</a:t>
            </a:r>
            <a:endParaRPr/>
          </a:p>
          <a:p>
            <a:pPr marL="527050" marR="100330" lvl="0" indent="-514350" algn="l" rtl="0">
              <a:lnSpc>
                <a:spcPct val="100000"/>
              </a:lnSpc>
              <a:spcBef>
                <a:spcPts val="105"/>
              </a:spcBef>
              <a:spcAft>
                <a:spcPts val="0"/>
              </a:spcAft>
              <a:buClr>
                <a:srgbClr val="DD8046"/>
              </a:buClr>
              <a:buSzPts val="1690"/>
              <a:buFont typeface="Calibri"/>
              <a:buAutoNum type="arabicPeriod"/>
            </a:pPr>
            <a:r>
              <a:rPr lang="en-US" sz="2800">
                <a:solidFill>
                  <a:schemeClr val="dk1"/>
                </a:solidFill>
                <a:latin typeface="Calibri"/>
                <a:ea typeface="Calibri"/>
                <a:cs typeface="Calibri"/>
                <a:sym typeface="Calibri"/>
              </a:rPr>
              <a:t>Giải pháp phân cấp</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0"/>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8" name="Google Shape;208;p10"/>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KHÔNG GIAN TÊN PHẲNG</a:t>
            </a:r>
            <a:endParaRPr/>
          </a:p>
        </p:txBody>
      </p:sp>
      <p:sp>
        <p:nvSpPr>
          <p:cNvPr id="209" name="Google Shape;209;p10"/>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0" name="Google Shape;210;p10"/>
          <p:cNvSpPr txBox="1"/>
          <p:nvPr/>
        </p:nvSpPr>
        <p:spPr>
          <a:xfrm>
            <a:off x="838200" y="1752600"/>
            <a:ext cx="10515600" cy="4941000"/>
          </a:xfrm>
          <a:prstGeom prst="rect">
            <a:avLst/>
          </a:prstGeom>
          <a:noFill/>
          <a:ln>
            <a:noFill/>
          </a:ln>
        </p:spPr>
        <p:txBody>
          <a:bodyPr spcFirstLastPara="1" wrap="square" lIns="91425" tIns="45700" rIns="91425" bIns="45700" anchor="t" anchorCtr="0">
            <a:spAutoFit/>
          </a:bodyPr>
          <a:lstStyle/>
          <a:p>
            <a:pPr marL="12700" marR="100330" lvl="0" indent="0" algn="l" rtl="0">
              <a:lnSpc>
                <a:spcPct val="100000"/>
              </a:lnSpc>
              <a:spcBef>
                <a:spcPts val="0"/>
              </a:spcBef>
              <a:spcAft>
                <a:spcPts val="0"/>
              </a:spcAft>
              <a:buNone/>
            </a:pPr>
            <a:r>
              <a:rPr lang="en-US" sz="2800" b="1">
                <a:solidFill>
                  <a:schemeClr val="dk1"/>
                </a:solidFill>
                <a:latin typeface="Calibri"/>
                <a:ea typeface="Calibri"/>
                <a:cs typeface="Calibri"/>
                <a:sym typeface="Calibri"/>
              </a:rPr>
              <a:t>1. Khái niệm</a:t>
            </a:r>
            <a:endParaRPr sz="2800" b="1">
              <a:solidFill>
                <a:schemeClr val="dk1"/>
              </a:solidFill>
              <a:latin typeface="Calibri"/>
              <a:ea typeface="Calibri"/>
              <a:cs typeface="Calibri"/>
              <a:sym typeface="Calibri"/>
            </a:endParaRPr>
          </a:p>
          <a:p>
            <a:pPr marL="927100" marR="100330" lvl="1" indent="-457200" algn="l" rtl="0">
              <a:spcBef>
                <a:spcPts val="105"/>
              </a:spcBef>
              <a:spcAft>
                <a:spcPts val="0"/>
              </a:spcAft>
              <a:buClr>
                <a:srgbClr val="DD8046"/>
              </a:buClr>
              <a:buSzPts val="1690"/>
              <a:buFont typeface="Arial"/>
              <a:buChar char="•"/>
            </a:pPr>
            <a:r>
              <a:rPr lang="en-US" sz="2800" b="0" i="0" u="none" strike="noStrike" cap="none">
                <a:solidFill>
                  <a:schemeClr val="dk1"/>
                </a:solidFill>
                <a:latin typeface="Calibri"/>
                <a:ea typeface="Calibri"/>
                <a:cs typeface="Calibri"/>
                <a:sym typeface="Calibri"/>
              </a:rPr>
              <a:t>Là chuỗi các bit, chuỗi ký tự ngẫu nhiên không cấu trúc.</a:t>
            </a:r>
            <a:endParaRPr/>
          </a:p>
          <a:p>
            <a:pPr marL="927100" marR="100330" lvl="1" indent="-457200" algn="l" rtl="0">
              <a:spcBef>
                <a:spcPts val="105"/>
              </a:spcBef>
              <a:spcAft>
                <a:spcPts val="0"/>
              </a:spcAft>
              <a:buClr>
                <a:srgbClr val="DD8046"/>
              </a:buClr>
              <a:buSzPts val="1690"/>
              <a:buFont typeface="Arial"/>
              <a:buChar char="•"/>
            </a:pPr>
            <a:r>
              <a:rPr lang="en-US" sz="2800" b="0" i="0" u="none" strike="noStrike" cap="none">
                <a:solidFill>
                  <a:schemeClr val="dk1"/>
                </a:solidFill>
                <a:latin typeface="Calibri"/>
                <a:ea typeface="Calibri"/>
                <a:cs typeface="Calibri"/>
                <a:sym typeface="Calibri"/>
              </a:rPr>
              <a:t>Không chứa bất kỳ thông tin nào về cách xác định vị trí các điểm truy cập của thực thể đã được liên kết của chúng.</a:t>
            </a:r>
            <a:endParaRPr/>
          </a:p>
          <a:p>
            <a:pPr marL="927100" marR="100330" lvl="1" indent="-457200" algn="l" rtl="0">
              <a:spcBef>
                <a:spcPts val="105"/>
              </a:spcBef>
              <a:spcAft>
                <a:spcPts val="0"/>
              </a:spcAft>
              <a:buClr>
                <a:srgbClr val="DD8046"/>
              </a:buClr>
              <a:buSzPts val="1690"/>
              <a:buFont typeface="Arial"/>
              <a:buChar char="•"/>
            </a:pPr>
            <a:r>
              <a:rPr lang="en-US" sz="2800" b="0" i="0" u="none" strike="noStrike" cap="none">
                <a:solidFill>
                  <a:schemeClr val="dk1"/>
                </a:solidFill>
                <a:latin typeface="Calibri"/>
                <a:ea typeface="Calibri"/>
                <a:cs typeface="Calibri"/>
                <a:sym typeface="Calibri"/>
              </a:rPr>
              <a:t>Nhiệm vụ: cho biết tên và xác định điểm truy nhập tới các thực thể.</a:t>
            </a:r>
            <a:endParaRPr/>
          </a:p>
          <a:p>
            <a:pPr marL="927100" marR="100330" lvl="1" indent="-457200" algn="l" rtl="0">
              <a:spcBef>
                <a:spcPts val="105"/>
              </a:spcBef>
              <a:spcAft>
                <a:spcPts val="0"/>
              </a:spcAft>
              <a:buClr>
                <a:srgbClr val="DD8046"/>
              </a:buClr>
              <a:buSzPts val="1690"/>
              <a:buFont typeface="Arial"/>
              <a:buChar char="•"/>
            </a:pPr>
            <a:r>
              <a:rPr lang="en-US" sz="2800" b="0" i="0" u="none" strike="noStrike" cap="none">
                <a:solidFill>
                  <a:schemeClr val="dk1"/>
                </a:solidFill>
                <a:latin typeface="Calibri"/>
                <a:ea typeface="Calibri"/>
                <a:cs typeface="Calibri"/>
                <a:sym typeface="Calibri"/>
              </a:rPr>
              <a:t>Các giải pháp để xác định vị trí thực thể trong KGTP:</a:t>
            </a:r>
            <a:endParaRPr/>
          </a:p>
          <a:p>
            <a:pPr marL="1384300" marR="100330" lvl="2" indent="-457200" algn="l" rtl="0">
              <a:spcBef>
                <a:spcPts val="105"/>
              </a:spcBef>
              <a:spcAft>
                <a:spcPts val="0"/>
              </a:spcAft>
              <a:buClr>
                <a:srgbClr val="DD8046"/>
              </a:buClr>
              <a:buSzPts val="1690"/>
              <a:buFont typeface="Arial"/>
              <a:buChar char="•"/>
            </a:pPr>
            <a:r>
              <a:rPr lang="en-US" sz="2800" b="0" i="0" u="none" strike="noStrike" cap="none">
                <a:solidFill>
                  <a:schemeClr val="dk1"/>
                </a:solidFill>
                <a:latin typeface="Calibri"/>
                <a:ea typeface="Calibri"/>
                <a:cs typeface="Calibri"/>
                <a:sym typeface="Calibri"/>
              </a:rPr>
              <a:t>Các giải pháp thông thường</a:t>
            </a:r>
            <a:endParaRPr/>
          </a:p>
          <a:p>
            <a:pPr marL="1384300" marR="100330" lvl="2" indent="-457200" algn="l" rtl="0">
              <a:spcBef>
                <a:spcPts val="105"/>
              </a:spcBef>
              <a:spcAft>
                <a:spcPts val="0"/>
              </a:spcAft>
              <a:buClr>
                <a:srgbClr val="DD8046"/>
              </a:buClr>
              <a:buSzPts val="1690"/>
              <a:buFont typeface="Arial"/>
              <a:buChar char="•"/>
            </a:pPr>
            <a:r>
              <a:rPr lang="en-US" sz="2800" b="0" i="0" u="none" strike="noStrike" cap="none">
                <a:solidFill>
                  <a:schemeClr val="dk1"/>
                </a:solidFill>
                <a:latin typeface="Calibri"/>
                <a:ea typeface="Calibri"/>
                <a:cs typeface="Calibri"/>
                <a:sym typeface="Calibri"/>
              </a:rPr>
              <a:t>Home-base (dựa vào Home Agent)</a:t>
            </a:r>
            <a:endParaRPr/>
          </a:p>
          <a:p>
            <a:pPr marL="1384300" marR="100330" lvl="2" indent="-457200" algn="l" rtl="0">
              <a:spcBef>
                <a:spcPts val="105"/>
              </a:spcBef>
              <a:spcAft>
                <a:spcPts val="0"/>
              </a:spcAft>
              <a:buClr>
                <a:srgbClr val="DD8046"/>
              </a:buClr>
              <a:buSzPts val="1690"/>
              <a:buFont typeface="Arial"/>
              <a:buChar char="•"/>
            </a:pPr>
            <a:r>
              <a:rPr lang="en-US" sz="2800" b="0" i="0" u="none" strike="noStrike" cap="none">
                <a:solidFill>
                  <a:schemeClr val="dk1"/>
                </a:solidFill>
                <a:latin typeface="Calibri"/>
                <a:ea typeface="Calibri"/>
                <a:cs typeface="Calibri"/>
                <a:sym typeface="Calibri"/>
              </a:rPr>
              <a:t>DHT ( hàm băm phân tán)</a:t>
            </a:r>
            <a:endParaRPr/>
          </a:p>
          <a:p>
            <a:pPr marL="1384300" marR="100330" lvl="2" indent="-457200" algn="l" rtl="0">
              <a:spcBef>
                <a:spcPts val="105"/>
              </a:spcBef>
              <a:spcAft>
                <a:spcPts val="0"/>
              </a:spcAft>
              <a:buClr>
                <a:srgbClr val="DD8046"/>
              </a:buClr>
              <a:buSzPts val="1690"/>
              <a:buFont typeface="Arial"/>
              <a:buChar char="•"/>
            </a:pPr>
            <a:r>
              <a:rPr lang="en-US" sz="2800" b="0" i="0" u="none" strike="noStrike" cap="none">
                <a:solidFill>
                  <a:schemeClr val="dk1"/>
                </a:solidFill>
                <a:latin typeface="Calibri"/>
                <a:ea typeface="Calibri"/>
                <a:cs typeface="Calibri"/>
                <a:sym typeface="Calibri"/>
              </a:rPr>
              <a:t>Cách tiếp cận phân cấp</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1"/>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6" name="Google Shape;216;p11"/>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KHÔNG GIAN TÊN PHẲNG</a:t>
            </a:r>
            <a:endParaRPr/>
          </a:p>
        </p:txBody>
      </p:sp>
      <p:sp>
        <p:nvSpPr>
          <p:cNvPr id="217" name="Google Shape;217;p11"/>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8" name="Google Shape;218;p11"/>
          <p:cNvSpPr txBox="1"/>
          <p:nvPr/>
        </p:nvSpPr>
        <p:spPr>
          <a:xfrm>
            <a:off x="838200" y="1676400"/>
            <a:ext cx="10515600" cy="181588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1B1B1B"/>
                </a:solidFill>
                <a:latin typeface="Calibri"/>
                <a:ea typeface="Calibri"/>
                <a:cs typeface="Calibri"/>
                <a:sym typeface="Calibri"/>
              </a:rPr>
              <a:t>2. Các giải pháp thông thường</a:t>
            </a:r>
            <a:endParaRPr/>
          </a:p>
          <a:p>
            <a:pPr marL="0" marR="0" lvl="0" indent="0" algn="l" rtl="0">
              <a:spcBef>
                <a:spcPts val="0"/>
              </a:spcBef>
              <a:spcAft>
                <a:spcPts val="0"/>
              </a:spcAft>
              <a:buNone/>
            </a:pPr>
            <a:r>
              <a:rPr lang="en-US" sz="2800" b="0" i="0">
                <a:solidFill>
                  <a:srgbClr val="1B1B1B"/>
                </a:solidFill>
                <a:latin typeface="Calibri"/>
                <a:ea typeface="Calibri"/>
                <a:cs typeface="Calibri"/>
                <a:sym typeface="Calibri"/>
              </a:rPr>
              <a:t>Thực hiện bằng cách gửi định danh cần tìm theo:</a:t>
            </a:r>
            <a:endParaRPr/>
          </a:p>
          <a:p>
            <a:pPr marL="914400" marR="0" lvl="1" indent="-457200" algn="l" rtl="0">
              <a:spcBef>
                <a:spcPts val="0"/>
              </a:spcBef>
              <a:spcAft>
                <a:spcPts val="0"/>
              </a:spcAft>
              <a:buClr>
                <a:srgbClr val="1B1B1B"/>
              </a:buClr>
              <a:buSzPts val="2800"/>
              <a:buFont typeface="Arial"/>
              <a:buChar char="•"/>
            </a:pPr>
            <a:r>
              <a:rPr lang="en-US" sz="2800" b="0" i="0" u="none" strike="noStrike" cap="none">
                <a:solidFill>
                  <a:srgbClr val="1B1B1B"/>
                </a:solidFill>
                <a:latin typeface="Calibri"/>
                <a:ea typeface="Calibri"/>
                <a:cs typeface="Calibri"/>
                <a:sym typeface="Calibri"/>
              </a:rPr>
              <a:t>Phương pháp quảng bá, gửi cho các thành viên của nhóm.</a:t>
            </a:r>
            <a:endParaRPr/>
          </a:p>
          <a:p>
            <a:pPr marL="914400" marR="0" lvl="1" indent="-457200" algn="l" rtl="0">
              <a:spcBef>
                <a:spcPts val="0"/>
              </a:spcBef>
              <a:spcAft>
                <a:spcPts val="0"/>
              </a:spcAft>
              <a:buClr>
                <a:srgbClr val="1B1B1B"/>
              </a:buClr>
              <a:buSzPts val="2800"/>
              <a:buFont typeface="Arial"/>
              <a:buChar char="•"/>
            </a:pPr>
            <a:r>
              <a:rPr lang="en-US" sz="2800" b="0" i="0" u="none" strike="noStrike" cap="none">
                <a:solidFill>
                  <a:srgbClr val="1B1B1B"/>
                </a:solidFill>
                <a:latin typeface="Calibri"/>
                <a:ea typeface="Calibri"/>
                <a:cs typeface="Calibri"/>
                <a:sym typeface="Calibri"/>
              </a:rPr>
              <a:t>Sử dụng con trỏ chuyển tiếp.</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2"/>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5" name="Google Shape;225;p12"/>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KHÔNG GIAN TÊN PHẲNG</a:t>
            </a:r>
            <a:endParaRPr/>
          </a:p>
        </p:txBody>
      </p:sp>
      <p:sp>
        <p:nvSpPr>
          <p:cNvPr id="226" name="Google Shape;226;p12"/>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7" name="Google Shape;227;p12"/>
          <p:cNvSpPr txBox="1"/>
          <p:nvPr/>
        </p:nvSpPr>
        <p:spPr>
          <a:xfrm>
            <a:off x="838200" y="1676400"/>
            <a:ext cx="10515600" cy="39087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chemeClr val="dk1"/>
                </a:solidFill>
                <a:latin typeface="Calibri"/>
                <a:ea typeface="Calibri"/>
                <a:cs typeface="Calibri"/>
                <a:sym typeface="Calibri"/>
              </a:rPr>
              <a:t>2. Các giải pháp thông thường</a:t>
            </a:r>
            <a:endParaRPr/>
          </a:p>
          <a:p>
            <a:pPr marL="914400" marR="0" lvl="1" indent="-457200" algn="l" rtl="0">
              <a:spcBef>
                <a:spcPts val="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Phương pháp quảng bá, gửi cho các thành viên của nhóm</a:t>
            </a:r>
            <a:endParaRPr sz="2800" b="0" i="0" u="none" strike="noStrike" cap="none">
              <a:solidFill>
                <a:schemeClr val="dk1"/>
              </a:solidFill>
              <a:latin typeface="Calibri"/>
              <a:ea typeface="Calibri"/>
              <a:cs typeface="Calibri"/>
              <a:sym typeface="Calibri"/>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Điều kiện: hệ phân tán hỗ trợ việc trao đổi thông tin thông qua quảng bá</a:t>
            </a:r>
            <a:endParaRPr/>
          </a:p>
          <a:p>
            <a:pPr marL="1371600" marR="0" lvl="3" indent="0" algn="l" rtl="0">
              <a:spcBef>
                <a:spcPts val="0"/>
              </a:spcBef>
              <a:spcAft>
                <a:spcPts val="0"/>
              </a:spcAft>
              <a:buNone/>
            </a:pPr>
            <a:r>
              <a:rPr lang="en-US" sz="2400" b="0" i="0" u="none" strike="noStrike" cap="none">
                <a:solidFill>
                  <a:schemeClr val="dk1"/>
                </a:solidFill>
                <a:latin typeface="Calibri"/>
                <a:ea typeface="Calibri"/>
                <a:cs typeface="Calibri"/>
                <a:sym typeface="Calibri"/>
              </a:rPr>
              <a:t>B1: Một thông báo có chứa định danh cần phân giải được quảng bá tới tất cả các thực thể trong hệ thống.</a:t>
            </a:r>
            <a:endParaRPr/>
          </a:p>
          <a:p>
            <a:pPr marL="1371600" marR="0" lvl="3" indent="0" algn="l" rtl="0">
              <a:spcBef>
                <a:spcPts val="0"/>
              </a:spcBef>
              <a:spcAft>
                <a:spcPts val="0"/>
              </a:spcAft>
              <a:buNone/>
            </a:pPr>
            <a:r>
              <a:rPr lang="en-US" sz="2400" b="0" i="0" u="none" strike="noStrike" cap="none">
                <a:solidFill>
                  <a:schemeClr val="dk1"/>
                </a:solidFill>
                <a:latin typeface="Calibri"/>
                <a:ea typeface="Calibri"/>
                <a:cs typeface="Calibri"/>
                <a:sym typeface="Calibri"/>
              </a:rPr>
              <a:t>B2: Thực thể nào có đúng định danh trong thông báo nhận  được sẽ quảng bá một thông báo chứa định danh và địa  chỉ của thực thể.</a:t>
            </a:r>
            <a:endParaRPr/>
          </a:p>
          <a:p>
            <a:pPr marL="1371600" marR="0" lvl="3" indent="0" algn="l" rtl="0">
              <a:spcBef>
                <a:spcPts val="0"/>
              </a:spcBef>
              <a:spcAft>
                <a:spcPts val="0"/>
              </a:spcAft>
              <a:buNone/>
            </a:pPr>
            <a:r>
              <a:rPr lang="en-US" sz="2400" b="0" i="0" u="none" strike="noStrike" cap="none">
                <a:solidFill>
                  <a:schemeClr val="dk1"/>
                </a:solidFill>
                <a:latin typeface="Calibri"/>
                <a:ea typeface="Calibri"/>
                <a:cs typeface="Calibri"/>
                <a:sym typeface="Calibri"/>
              </a:rPr>
              <a:t>B3: Tất cả các thực thể khác sẽ nhận được thông báo này  và có được ánh xạ giữa định danh và địa chỉ của thực  thể nói trên.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3"/>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3" name="Google Shape;233;p13"/>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KHÔNG GIAN TÊN PHẲNG</a:t>
            </a:r>
            <a:endParaRPr/>
          </a:p>
        </p:txBody>
      </p:sp>
      <p:sp>
        <p:nvSpPr>
          <p:cNvPr id="234" name="Google Shape;234;p13"/>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5" name="Google Shape;235;p13"/>
          <p:cNvSpPr txBox="1"/>
          <p:nvPr/>
        </p:nvSpPr>
        <p:spPr>
          <a:xfrm>
            <a:off x="838200" y="1676400"/>
            <a:ext cx="10515600" cy="433965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i="0">
                <a:solidFill>
                  <a:srgbClr val="1B1B1B"/>
                </a:solidFill>
                <a:latin typeface="Calibri"/>
                <a:ea typeface="Calibri"/>
                <a:cs typeface="Calibri"/>
                <a:sym typeface="Calibri"/>
              </a:rPr>
              <a:t>2. Các giải pháp thông thường</a:t>
            </a:r>
            <a:endParaRPr/>
          </a:p>
          <a:p>
            <a:pPr marL="914400" marR="0" lvl="1" indent="-457200" algn="just" rtl="0">
              <a:spcBef>
                <a:spcPts val="0"/>
              </a:spcBef>
              <a:spcAft>
                <a:spcPts val="0"/>
              </a:spcAft>
              <a:buClr>
                <a:srgbClr val="1B1B1B"/>
              </a:buClr>
              <a:buSzPts val="2800"/>
              <a:buFont typeface="Arial"/>
              <a:buChar char="•"/>
            </a:pPr>
            <a:r>
              <a:rPr lang="en-US" sz="2800" b="0" i="0" u="none" strike="noStrike" cap="none">
                <a:solidFill>
                  <a:srgbClr val="1B1B1B"/>
                </a:solidFill>
                <a:latin typeface="Calibri"/>
                <a:ea typeface="Calibri"/>
                <a:cs typeface="Calibri"/>
                <a:sym typeface="Calibri"/>
              </a:rPr>
              <a:t>Phương pháp quảng bá, gửi cho các thành viên của nhóm</a:t>
            </a:r>
            <a:endParaRPr sz="2800" b="0" i="0" u="none" strike="noStrike" cap="none">
              <a:solidFill>
                <a:srgbClr val="1B1B1B"/>
              </a:solidFill>
              <a:latin typeface="Calibri"/>
              <a:ea typeface="Calibri"/>
              <a:cs typeface="Calibri"/>
              <a:sym typeface="Calibri"/>
            </a:endParaRPr>
          </a:p>
          <a:p>
            <a:pPr marL="1371600" marR="0" lvl="2" indent="-457200" algn="just" rtl="0">
              <a:spcBef>
                <a:spcPts val="0"/>
              </a:spcBef>
              <a:spcAft>
                <a:spcPts val="0"/>
              </a:spcAft>
              <a:buClr>
                <a:srgbClr val="1B1B1B"/>
              </a:buClr>
              <a:buSzPts val="2400"/>
              <a:buFont typeface="Arial"/>
              <a:buChar char="•"/>
            </a:pPr>
            <a:r>
              <a:rPr lang="en-US" sz="2400" b="0" i="0" u="none" strike="noStrike" cap="none">
                <a:solidFill>
                  <a:srgbClr val="1B1B1B"/>
                </a:solidFill>
                <a:latin typeface="Calibri"/>
                <a:ea typeface="Calibri"/>
                <a:cs typeface="Calibri"/>
                <a:sym typeface="Calibri"/>
              </a:rPr>
              <a:t>Kém hiệu quả khi kích thước mạng tăng (=&gt; mạng cỡ lớn)</a:t>
            </a:r>
            <a:endParaRPr sz="2400" b="0" i="0" u="none" strike="noStrike" cap="none">
              <a:solidFill>
                <a:srgbClr val="1B1B1B"/>
              </a:solidFill>
              <a:latin typeface="Calibri"/>
              <a:ea typeface="Calibri"/>
              <a:cs typeface="Calibri"/>
              <a:sym typeface="Calibri"/>
            </a:endParaRPr>
          </a:p>
          <a:p>
            <a:pPr marL="1828800" marR="0" lvl="3" indent="-457200" algn="just" rtl="0">
              <a:spcBef>
                <a:spcPts val="0"/>
              </a:spcBef>
              <a:spcAft>
                <a:spcPts val="0"/>
              </a:spcAft>
              <a:buClr>
                <a:srgbClr val="1B1B1B"/>
              </a:buClr>
              <a:buSzPts val="2400"/>
              <a:buFont typeface="Arial"/>
              <a:buChar char="•"/>
            </a:pPr>
            <a:r>
              <a:rPr lang="en-US" sz="2400" b="0" i="0" u="none" strike="noStrike" cap="none">
                <a:solidFill>
                  <a:srgbClr val="1B1B1B"/>
                </a:solidFill>
                <a:latin typeface="Calibri"/>
                <a:ea typeface="Calibri"/>
                <a:cs typeface="Calibri"/>
                <a:sym typeface="Calibri"/>
              </a:rPr>
              <a:t>Băng thông bị bận, các thực thể liên tục xử lý các yêu cầu không phải của mình</a:t>
            </a:r>
            <a:endParaRPr/>
          </a:p>
          <a:p>
            <a:pPr marL="1371600" marR="0" lvl="2" indent="-457200" algn="just" rtl="0">
              <a:spcBef>
                <a:spcPts val="0"/>
              </a:spcBef>
              <a:spcAft>
                <a:spcPts val="0"/>
              </a:spcAft>
              <a:buClr>
                <a:srgbClr val="1B1B1B"/>
              </a:buClr>
              <a:buSzPts val="2400"/>
              <a:buFont typeface="Arial"/>
              <a:buChar char="•"/>
            </a:pPr>
            <a:r>
              <a:rPr lang="en-US" sz="2400" b="0" i="0" u="none" strike="noStrike" cap="none">
                <a:solidFill>
                  <a:srgbClr val="1B1B1B"/>
                </a:solidFill>
                <a:latin typeface="Calibri"/>
                <a:ea typeface="Calibri"/>
                <a:cs typeface="Calibri"/>
                <a:sym typeface="Calibri"/>
              </a:rPr>
              <a:t>Thay thế quảng bá bằng truyền thông nhóm trên mạng điểm điểm, thay vì gửi tới tất cả các nút. </a:t>
            </a:r>
            <a:endParaRPr sz="2400" b="0" i="0" u="none" strike="noStrike" cap="none">
              <a:solidFill>
                <a:srgbClr val="1B1B1B"/>
              </a:solidFill>
              <a:latin typeface="Calibri"/>
              <a:ea typeface="Calibri"/>
              <a:cs typeface="Calibri"/>
              <a:sym typeface="Calibri"/>
            </a:endParaRPr>
          </a:p>
          <a:p>
            <a:pPr marL="1828800" marR="0" lvl="3" indent="-457200" algn="just" rtl="0">
              <a:spcBef>
                <a:spcPts val="0"/>
              </a:spcBef>
              <a:spcAft>
                <a:spcPts val="0"/>
              </a:spcAft>
              <a:buClr>
                <a:srgbClr val="1B1B1B"/>
              </a:buClr>
              <a:buSzPts val="2400"/>
              <a:buFont typeface="Arial"/>
              <a:buChar char="•"/>
            </a:pPr>
            <a:r>
              <a:rPr lang="en-US" sz="2400" b="0" i="0" u="none" strike="noStrike" cap="none">
                <a:solidFill>
                  <a:srgbClr val="1B1B1B"/>
                </a:solidFill>
                <a:latin typeface="Calibri"/>
                <a:ea typeface="Calibri"/>
                <a:cs typeface="Calibri"/>
                <a:sym typeface="Calibri"/>
              </a:rPr>
              <a:t>Khi một thực thể gửi một thông báo nhóm, các bộ định tuyến sẽ thực hiện theo chính sách nỗ lực tối đa để chuyển các thông báo  này tới đích</a:t>
            </a:r>
            <a:endParaRPr/>
          </a:p>
          <a:p>
            <a:pPr marL="0" marR="0" lvl="0" indent="0" algn="just" rtl="0">
              <a:spcBef>
                <a:spcPts val="0"/>
              </a:spcBef>
              <a:spcAft>
                <a:spcPts val="0"/>
              </a:spcAft>
              <a:buClr>
                <a:schemeClr val="dk1"/>
              </a:buClr>
              <a:buSzPts val="2800"/>
              <a:buFont typeface="Arial"/>
              <a:buNone/>
            </a:pPr>
            <a:endParaRPr sz="2800" b="0" i="0">
              <a:solidFill>
                <a:srgbClr val="1B1B1B"/>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4"/>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2" name="Google Shape;242;p14"/>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KHÔNG GIAN TÊN PHẲNG</a:t>
            </a:r>
            <a:endParaRPr/>
          </a:p>
        </p:txBody>
      </p:sp>
      <p:sp>
        <p:nvSpPr>
          <p:cNvPr id="243" name="Google Shape;243;p14"/>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4" name="Google Shape;244;p14"/>
          <p:cNvSpPr txBox="1"/>
          <p:nvPr/>
        </p:nvSpPr>
        <p:spPr>
          <a:xfrm>
            <a:off x="838200" y="1676400"/>
            <a:ext cx="10515600" cy="138499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i="0">
                <a:solidFill>
                  <a:srgbClr val="1B1B1B"/>
                </a:solidFill>
                <a:latin typeface="Calibri"/>
                <a:ea typeface="Calibri"/>
                <a:cs typeface="Calibri"/>
                <a:sym typeface="Calibri"/>
              </a:rPr>
              <a:t>2. Các giải pháp thông thường</a:t>
            </a:r>
            <a:endParaRPr/>
          </a:p>
          <a:p>
            <a:pPr marL="914400" marR="0" lvl="1" indent="-457200" algn="just" rtl="0">
              <a:spcBef>
                <a:spcPts val="0"/>
              </a:spcBef>
              <a:spcAft>
                <a:spcPts val="0"/>
              </a:spcAft>
              <a:buClr>
                <a:srgbClr val="1B1B1B"/>
              </a:buClr>
              <a:buSzPts val="2800"/>
              <a:buFont typeface="Arial"/>
              <a:buChar char="•"/>
            </a:pPr>
            <a:r>
              <a:rPr lang="en-US" sz="2800" b="0" i="0" u="none" strike="noStrike" cap="none">
                <a:solidFill>
                  <a:srgbClr val="1B1B1B"/>
                </a:solidFill>
                <a:latin typeface="Calibri"/>
                <a:ea typeface="Calibri"/>
                <a:cs typeface="Calibri"/>
                <a:sym typeface="Calibri"/>
              </a:rPr>
              <a:t>Phương pháp quảng bá, gửi cho các thành viên của nhóm</a:t>
            </a:r>
            <a:endParaRPr sz="2800" b="0" i="0" u="none" strike="noStrike" cap="none">
              <a:solidFill>
                <a:srgbClr val="1B1B1B"/>
              </a:solidFill>
              <a:latin typeface="Calibri"/>
              <a:ea typeface="Calibri"/>
              <a:cs typeface="Calibri"/>
              <a:sym typeface="Calibri"/>
            </a:endParaRPr>
          </a:p>
          <a:p>
            <a:pPr marL="914400" marR="0" lvl="2" indent="-177800" algn="just" rtl="0">
              <a:spcBef>
                <a:spcPts val="0"/>
              </a:spcBef>
              <a:spcAft>
                <a:spcPts val="0"/>
              </a:spcAft>
              <a:buClr>
                <a:srgbClr val="1B1B1B"/>
              </a:buClr>
              <a:buSzPts val="2800"/>
              <a:buFont typeface="Arial"/>
              <a:buChar char="•"/>
            </a:pPr>
            <a:r>
              <a:rPr lang="en-US" sz="2800" b="0" i="0" u="none" strike="noStrike" cap="none">
                <a:solidFill>
                  <a:srgbClr val="1B1B1B"/>
                </a:solidFill>
                <a:latin typeface="Calibri"/>
                <a:ea typeface="Calibri"/>
                <a:cs typeface="Calibri"/>
                <a:sym typeface="Calibri"/>
              </a:rPr>
              <a:t> Ví dụ: Giao thức ARP</a:t>
            </a:r>
            <a:endParaRPr sz="2800" b="0" i="0" u="none" strike="noStrike" cap="none">
              <a:solidFill>
                <a:srgbClr val="1B1B1B"/>
              </a:solidFill>
              <a:latin typeface="Calibri"/>
              <a:ea typeface="Calibri"/>
              <a:cs typeface="Calibri"/>
              <a:sym typeface="Calibri"/>
            </a:endParaRPr>
          </a:p>
        </p:txBody>
      </p:sp>
      <p:pic>
        <p:nvPicPr>
          <p:cNvPr id="245" name="Google Shape;245;p14" descr="ARP là gì? Cách hoạt động của giao thức ARP"/>
          <p:cNvPicPr preferRelativeResize="0"/>
          <p:nvPr/>
        </p:nvPicPr>
        <p:blipFill rotWithShape="1">
          <a:blip r:embed="rId3">
            <a:alphaModFix/>
          </a:blip>
          <a:srcRect t="16334"/>
          <a:stretch/>
        </p:blipFill>
        <p:spPr>
          <a:xfrm>
            <a:off x="6096000" y="2856783"/>
            <a:ext cx="5448300" cy="273501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5"/>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1" name="Google Shape;251;p15"/>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KHÔNG GIAN TÊN PHẲNG</a:t>
            </a:r>
            <a:endParaRPr/>
          </a:p>
        </p:txBody>
      </p:sp>
      <p:sp>
        <p:nvSpPr>
          <p:cNvPr id="252" name="Google Shape;252;p15"/>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3" name="Google Shape;253;p15"/>
          <p:cNvSpPr txBox="1"/>
          <p:nvPr/>
        </p:nvSpPr>
        <p:spPr>
          <a:xfrm>
            <a:off x="838200" y="1676400"/>
            <a:ext cx="10515600" cy="24314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1B1B1B"/>
                </a:solidFill>
                <a:latin typeface="Calibri"/>
                <a:ea typeface="Calibri"/>
                <a:cs typeface="Calibri"/>
                <a:sym typeface="Calibri"/>
              </a:rPr>
              <a:t>2. Các giải pháp thông thường</a:t>
            </a:r>
            <a:endParaRPr/>
          </a:p>
          <a:p>
            <a:pPr marL="914400" marR="0" lvl="1" indent="-457200" algn="l" rtl="0">
              <a:spcBef>
                <a:spcPts val="0"/>
              </a:spcBef>
              <a:spcAft>
                <a:spcPts val="0"/>
              </a:spcAft>
              <a:buClr>
                <a:srgbClr val="1B1B1B"/>
              </a:buClr>
              <a:buSzPts val="2800"/>
              <a:buFont typeface="Arial"/>
              <a:buChar char="•"/>
            </a:pPr>
            <a:r>
              <a:rPr lang="en-US" sz="2800" b="0" i="0" u="none" strike="noStrike" cap="none">
                <a:solidFill>
                  <a:srgbClr val="1B1B1B"/>
                </a:solidFill>
                <a:latin typeface="Calibri"/>
                <a:ea typeface="Calibri"/>
                <a:cs typeface="Calibri"/>
                <a:sym typeface="Calibri"/>
              </a:rPr>
              <a:t>Chuyển tiếp con trỏ (Forwarding pointer)</a:t>
            </a:r>
            <a:endParaRPr/>
          </a:p>
          <a:p>
            <a:pPr marL="1371600" marR="0" lvl="2" indent="-457200" algn="l" rtl="0">
              <a:spcBef>
                <a:spcPts val="0"/>
              </a:spcBef>
              <a:spcAft>
                <a:spcPts val="0"/>
              </a:spcAft>
              <a:buClr>
                <a:srgbClr val="1B1B1B"/>
              </a:buClr>
              <a:buSzPts val="2400"/>
              <a:buFont typeface="Arial"/>
              <a:buChar char="•"/>
            </a:pPr>
            <a:r>
              <a:rPr lang="en-US" sz="2400" b="0" i="0" u="none" strike="noStrike" cap="none">
                <a:solidFill>
                  <a:srgbClr val="1B1B1B"/>
                </a:solidFill>
                <a:latin typeface="Calibri"/>
                <a:ea typeface="Calibri"/>
                <a:cs typeface="Calibri"/>
                <a:sym typeface="Calibri"/>
              </a:rPr>
              <a:t>Phương pháp dựa trên nguyên tắc một thực thể khi rời sang vị trí khác thì phải để lại thông tin tham chiếu tới vị trí mới.</a:t>
            </a:r>
            <a:endParaRPr/>
          </a:p>
          <a:p>
            <a:pPr marL="1371600" marR="0" lvl="2" indent="-457200" algn="l" rtl="0">
              <a:spcBef>
                <a:spcPts val="0"/>
              </a:spcBef>
              <a:spcAft>
                <a:spcPts val="0"/>
              </a:spcAft>
              <a:buClr>
                <a:srgbClr val="1B1B1B"/>
              </a:buClr>
              <a:buSzPts val="2400"/>
              <a:buFont typeface="Arial"/>
              <a:buChar char="•"/>
            </a:pPr>
            <a:r>
              <a:rPr lang="en-US" sz="2400" b="0" i="0" u="none" strike="noStrike" cap="none">
                <a:solidFill>
                  <a:srgbClr val="1B1B1B"/>
                </a:solidFill>
                <a:latin typeface="Calibri"/>
                <a:ea typeface="Calibri"/>
                <a:cs typeface="Calibri"/>
                <a:sym typeface="Calibri"/>
              </a:rPr>
              <a:t>Khi cần tìm một thực thể, client có thể xác định ngay được địa chỉ hiện tại của thực thể này nhờ phương pháp dò tìm lưu vết.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6"/>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9" name="Google Shape;259;p16"/>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KHÔNG GIAN TÊN PHẲNG</a:t>
            </a:r>
            <a:endParaRPr/>
          </a:p>
        </p:txBody>
      </p:sp>
      <p:sp>
        <p:nvSpPr>
          <p:cNvPr id="260" name="Google Shape;260;p16"/>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 name="Google Shape;261;p16"/>
          <p:cNvSpPr txBox="1"/>
          <p:nvPr/>
        </p:nvSpPr>
        <p:spPr>
          <a:xfrm>
            <a:off x="838200" y="1676400"/>
            <a:ext cx="10515600"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1B1B1B"/>
                </a:solidFill>
                <a:latin typeface="Calibri"/>
                <a:ea typeface="Calibri"/>
                <a:cs typeface="Calibri"/>
                <a:sym typeface="Calibri"/>
              </a:rPr>
              <a:t>2. Các giải pháp thông thường</a:t>
            </a:r>
            <a:endParaRPr/>
          </a:p>
          <a:p>
            <a:pPr marL="914400" marR="0" lvl="1" indent="-457200" algn="l" rtl="0">
              <a:spcBef>
                <a:spcPts val="0"/>
              </a:spcBef>
              <a:spcAft>
                <a:spcPts val="0"/>
              </a:spcAft>
              <a:buClr>
                <a:srgbClr val="1B1B1B"/>
              </a:buClr>
              <a:buSzPts val="2800"/>
              <a:buFont typeface="Arial"/>
              <a:buChar char="•"/>
            </a:pPr>
            <a:r>
              <a:rPr lang="en-US" sz="2800" b="0" i="0" u="none" strike="noStrike" cap="none">
                <a:solidFill>
                  <a:srgbClr val="1B1B1B"/>
                </a:solidFill>
                <a:latin typeface="Calibri"/>
                <a:ea typeface="Calibri"/>
                <a:cs typeface="Calibri"/>
                <a:sym typeface="Calibri"/>
              </a:rPr>
              <a:t>Chuyển tiếp con trỏ (Forwarding pointer)</a:t>
            </a:r>
            <a:endParaRPr/>
          </a:p>
          <a:p>
            <a:pPr marL="1371600" marR="0" lvl="2" indent="-457200" algn="l" rtl="0">
              <a:spcBef>
                <a:spcPts val="0"/>
              </a:spcBef>
              <a:spcAft>
                <a:spcPts val="0"/>
              </a:spcAft>
              <a:buClr>
                <a:srgbClr val="1B1B1B"/>
              </a:buClr>
              <a:buSzPts val="2400"/>
              <a:buFont typeface="Arial"/>
              <a:buChar char="•"/>
            </a:pPr>
            <a:r>
              <a:rPr lang="en-US" sz="2400" b="0" i="0" u="none" strike="noStrike" cap="none">
                <a:solidFill>
                  <a:srgbClr val="1B1B1B"/>
                </a:solidFill>
                <a:latin typeface="Calibri"/>
                <a:ea typeface="Calibri"/>
                <a:cs typeface="Calibri"/>
                <a:sym typeface="Calibri"/>
              </a:rPr>
              <a:t>Cơ chế</a:t>
            </a:r>
            <a:endParaRPr sz="2400" b="0" i="0" u="none" strike="noStrike" cap="none">
              <a:solidFill>
                <a:srgbClr val="1B1B1B"/>
              </a:solidFill>
              <a:latin typeface="Calibri"/>
              <a:ea typeface="Calibri"/>
              <a:cs typeface="Calibri"/>
              <a:sym typeface="Calibri"/>
            </a:endParaRPr>
          </a:p>
        </p:txBody>
      </p:sp>
      <p:pic>
        <p:nvPicPr>
          <p:cNvPr id="262" name="Google Shape;262;p16"/>
          <p:cNvPicPr preferRelativeResize="0"/>
          <p:nvPr/>
        </p:nvPicPr>
        <p:blipFill rotWithShape="1">
          <a:blip r:embed="rId3">
            <a:alphaModFix/>
          </a:blip>
          <a:srcRect/>
          <a:stretch/>
        </p:blipFill>
        <p:spPr>
          <a:xfrm>
            <a:off x="2895600" y="2999839"/>
            <a:ext cx="6629400" cy="353226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7"/>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8" name="Google Shape;268;p17"/>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KHÔNG GIAN TÊN PHẲNG</a:t>
            </a:r>
            <a:endParaRPr/>
          </a:p>
        </p:txBody>
      </p:sp>
      <p:sp>
        <p:nvSpPr>
          <p:cNvPr id="269" name="Google Shape;269;p17"/>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0" name="Google Shape;270;p17"/>
          <p:cNvSpPr txBox="1"/>
          <p:nvPr/>
        </p:nvSpPr>
        <p:spPr>
          <a:xfrm>
            <a:off x="838200" y="1676400"/>
            <a:ext cx="10515600"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1B1B1B"/>
                </a:solidFill>
                <a:latin typeface="Calibri"/>
                <a:ea typeface="Calibri"/>
                <a:cs typeface="Calibri"/>
                <a:sym typeface="Calibri"/>
              </a:rPr>
              <a:t>2. Các giải pháp thông thường</a:t>
            </a:r>
            <a:endParaRPr/>
          </a:p>
          <a:p>
            <a:pPr marL="914400" marR="0" lvl="1" indent="-457200" algn="l" rtl="0">
              <a:spcBef>
                <a:spcPts val="0"/>
              </a:spcBef>
              <a:spcAft>
                <a:spcPts val="0"/>
              </a:spcAft>
              <a:buClr>
                <a:srgbClr val="1B1B1B"/>
              </a:buClr>
              <a:buSzPts val="2800"/>
              <a:buFont typeface="Arial"/>
              <a:buChar char="•"/>
            </a:pPr>
            <a:r>
              <a:rPr lang="en-US" sz="2800" b="0" i="0" u="none" strike="noStrike" cap="none">
                <a:solidFill>
                  <a:srgbClr val="1B1B1B"/>
                </a:solidFill>
                <a:latin typeface="Calibri"/>
                <a:ea typeface="Calibri"/>
                <a:cs typeface="Calibri"/>
                <a:sym typeface="Calibri"/>
              </a:rPr>
              <a:t>Chuyển tiếp con trỏ (Forwarding pointer)</a:t>
            </a:r>
            <a:endParaRPr/>
          </a:p>
          <a:p>
            <a:pPr marL="1371600" marR="0" lvl="2" indent="-457200" algn="l" rtl="0">
              <a:spcBef>
                <a:spcPts val="0"/>
              </a:spcBef>
              <a:spcAft>
                <a:spcPts val="0"/>
              </a:spcAft>
              <a:buClr>
                <a:srgbClr val="1B1B1B"/>
              </a:buClr>
              <a:buSzPts val="2400"/>
              <a:buFont typeface="Arial"/>
              <a:buChar char="•"/>
            </a:pPr>
            <a:r>
              <a:rPr lang="en-US" sz="2400" b="0" i="0" u="none" strike="noStrike" cap="none">
                <a:solidFill>
                  <a:srgbClr val="1B1B1B"/>
                </a:solidFill>
                <a:latin typeface="Calibri"/>
                <a:ea typeface="Calibri"/>
                <a:cs typeface="Calibri"/>
                <a:sym typeface="Calibri"/>
              </a:rPr>
              <a:t>Cơ chế</a:t>
            </a:r>
            <a:endParaRPr sz="2400" b="0" i="0" u="none" strike="noStrike" cap="none">
              <a:solidFill>
                <a:srgbClr val="1B1B1B"/>
              </a:solidFill>
              <a:latin typeface="Calibri"/>
              <a:ea typeface="Calibri"/>
              <a:cs typeface="Calibri"/>
              <a:sym typeface="Calibri"/>
            </a:endParaRPr>
          </a:p>
        </p:txBody>
      </p:sp>
      <p:pic>
        <p:nvPicPr>
          <p:cNvPr id="271" name="Google Shape;271;p17"/>
          <p:cNvPicPr preferRelativeResize="0"/>
          <p:nvPr/>
        </p:nvPicPr>
        <p:blipFill rotWithShape="1">
          <a:blip r:embed="rId3">
            <a:alphaModFix/>
          </a:blip>
          <a:srcRect/>
          <a:stretch/>
        </p:blipFill>
        <p:spPr>
          <a:xfrm>
            <a:off x="1676400" y="3323635"/>
            <a:ext cx="3838575" cy="2733675"/>
          </a:xfrm>
          <a:prstGeom prst="rect">
            <a:avLst/>
          </a:prstGeom>
          <a:noFill/>
          <a:ln>
            <a:noFill/>
          </a:ln>
        </p:spPr>
      </p:pic>
      <p:pic>
        <p:nvPicPr>
          <p:cNvPr id="272" name="Google Shape;272;p17"/>
          <p:cNvPicPr preferRelativeResize="0"/>
          <p:nvPr/>
        </p:nvPicPr>
        <p:blipFill rotWithShape="1">
          <a:blip r:embed="rId4">
            <a:alphaModFix/>
          </a:blip>
          <a:srcRect/>
          <a:stretch/>
        </p:blipFill>
        <p:spPr>
          <a:xfrm>
            <a:off x="6694444" y="3429000"/>
            <a:ext cx="4067175" cy="27527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8"/>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8" name="Google Shape;278;p18"/>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KHÔNG GIAN TÊN PHẲNG</a:t>
            </a:r>
            <a:endParaRPr/>
          </a:p>
        </p:txBody>
      </p:sp>
      <p:sp>
        <p:nvSpPr>
          <p:cNvPr id="279" name="Google Shape;279;p18"/>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0" name="Google Shape;280;p18"/>
          <p:cNvSpPr txBox="1"/>
          <p:nvPr/>
        </p:nvSpPr>
        <p:spPr>
          <a:xfrm>
            <a:off x="838200" y="1676400"/>
            <a:ext cx="10515600" cy="35394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1B1B1B"/>
                </a:solidFill>
                <a:latin typeface="Calibri"/>
                <a:ea typeface="Calibri"/>
                <a:cs typeface="Calibri"/>
                <a:sym typeface="Calibri"/>
              </a:rPr>
              <a:t>2. Các giải pháp thông thường</a:t>
            </a:r>
            <a:endParaRPr/>
          </a:p>
          <a:p>
            <a:pPr marL="914400" marR="0" lvl="1" indent="-457200" algn="l" rtl="0">
              <a:spcBef>
                <a:spcPts val="0"/>
              </a:spcBef>
              <a:spcAft>
                <a:spcPts val="0"/>
              </a:spcAft>
              <a:buClr>
                <a:srgbClr val="1B1B1B"/>
              </a:buClr>
              <a:buSzPts val="2800"/>
              <a:buFont typeface="Arial"/>
              <a:buChar char="•"/>
            </a:pPr>
            <a:r>
              <a:rPr lang="en-US" sz="2800" b="0" i="0" u="none" strike="noStrike" cap="none">
                <a:solidFill>
                  <a:srgbClr val="1B1B1B"/>
                </a:solidFill>
                <a:latin typeface="Calibri"/>
                <a:ea typeface="Calibri"/>
                <a:cs typeface="Calibri"/>
                <a:sym typeface="Calibri"/>
              </a:rPr>
              <a:t>Chuyển tiếp con trỏ (Forwarding pointer)</a:t>
            </a:r>
            <a:endParaRPr/>
          </a:p>
          <a:p>
            <a:pPr marL="1371600" marR="0" lvl="2" indent="-457200" algn="l" rtl="0">
              <a:spcBef>
                <a:spcPts val="0"/>
              </a:spcBef>
              <a:spcAft>
                <a:spcPts val="0"/>
              </a:spcAft>
              <a:buClr>
                <a:srgbClr val="1B1B1B"/>
              </a:buClr>
              <a:buSzPts val="2400"/>
              <a:buFont typeface="Arial"/>
              <a:buChar char="•"/>
            </a:pPr>
            <a:r>
              <a:rPr lang="en-US" sz="2400" b="0" i="0" u="none" strike="noStrike" cap="none">
                <a:solidFill>
                  <a:srgbClr val="1B1B1B"/>
                </a:solidFill>
                <a:latin typeface="Calibri"/>
                <a:ea typeface="Calibri"/>
                <a:cs typeface="Calibri"/>
                <a:sym typeface="Calibri"/>
              </a:rPr>
              <a:t>Ưu điểm: đơn giản.</a:t>
            </a:r>
            <a:endParaRPr/>
          </a:p>
          <a:p>
            <a:pPr marL="1371600" marR="0" lvl="2" indent="-457200" algn="l" rtl="0">
              <a:spcBef>
                <a:spcPts val="0"/>
              </a:spcBef>
              <a:spcAft>
                <a:spcPts val="0"/>
              </a:spcAft>
              <a:buClr>
                <a:srgbClr val="1B1B1B"/>
              </a:buClr>
              <a:buSzPts val="2400"/>
              <a:buFont typeface="Arial"/>
              <a:buChar char="•"/>
            </a:pPr>
            <a:r>
              <a:rPr lang="en-US" sz="2400" b="0" i="0" u="none" strike="noStrike" cap="none">
                <a:solidFill>
                  <a:srgbClr val="1B1B1B"/>
                </a:solidFill>
                <a:latin typeface="Calibri"/>
                <a:ea typeface="Calibri"/>
                <a:cs typeface="Calibri"/>
                <a:sym typeface="Calibri"/>
              </a:rPr>
              <a:t>Nhược điểm:</a:t>
            </a:r>
            <a:endParaRPr/>
          </a:p>
          <a:p>
            <a:pPr marL="1828800" marR="0" lvl="3" indent="-457200" algn="l" rtl="0">
              <a:spcBef>
                <a:spcPts val="0"/>
              </a:spcBef>
              <a:spcAft>
                <a:spcPts val="0"/>
              </a:spcAft>
              <a:buClr>
                <a:srgbClr val="1B1B1B"/>
              </a:buClr>
              <a:buSzPts val="2000"/>
              <a:buFont typeface="Arial"/>
              <a:buChar char="•"/>
            </a:pPr>
            <a:r>
              <a:rPr lang="en-US" sz="2000" b="0" i="0" u="none" strike="noStrike" cap="none">
                <a:solidFill>
                  <a:srgbClr val="1B1B1B"/>
                </a:solidFill>
                <a:latin typeface="Calibri"/>
                <a:ea typeface="Calibri"/>
                <a:cs typeface="Calibri"/>
                <a:sym typeface="Calibri"/>
              </a:rPr>
              <a:t>Chuỗi dài vô hạn</a:t>
            </a:r>
            <a:endParaRPr/>
          </a:p>
          <a:p>
            <a:pPr marL="2286000" marR="0" lvl="4" indent="-457200" algn="l" rtl="0">
              <a:spcBef>
                <a:spcPts val="0"/>
              </a:spcBef>
              <a:spcAft>
                <a:spcPts val="0"/>
              </a:spcAft>
              <a:buClr>
                <a:srgbClr val="1B1B1B"/>
              </a:buClr>
              <a:buSzPts val="2000"/>
              <a:buFont typeface="Arial"/>
              <a:buChar char="•"/>
            </a:pPr>
            <a:r>
              <a:rPr lang="en-US" sz="2000" b="0" i="0" u="none" strike="noStrike" cap="none">
                <a:solidFill>
                  <a:srgbClr val="1B1B1B"/>
                </a:solidFill>
                <a:latin typeface="Calibri"/>
                <a:ea typeface="Calibri"/>
                <a:cs typeface="Calibri"/>
                <a:sym typeface="Calibri"/>
              </a:rPr>
              <a:t>Giải pháp: sử dụng các short cut. Tuy nhiên có khả năng có chuỗi không tham chiếu được.</a:t>
            </a:r>
            <a:endParaRPr/>
          </a:p>
          <a:p>
            <a:pPr marL="1828800" marR="0" lvl="3" indent="-457200" algn="l" rtl="0">
              <a:spcBef>
                <a:spcPts val="0"/>
              </a:spcBef>
              <a:spcAft>
                <a:spcPts val="0"/>
              </a:spcAft>
              <a:buClr>
                <a:srgbClr val="1B1B1B"/>
              </a:buClr>
              <a:buSzPts val="2000"/>
              <a:buFont typeface="Arial"/>
              <a:buChar char="•"/>
            </a:pPr>
            <a:r>
              <a:rPr lang="en-US" sz="2000" b="0" i="0" u="none" strike="noStrike" cap="none">
                <a:solidFill>
                  <a:srgbClr val="1B1B1B"/>
                </a:solidFill>
                <a:latin typeface="Calibri"/>
                <a:ea typeface="Calibri"/>
                <a:cs typeface="Calibri"/>
                <a:sym typeface="Calibri"/>
              </a:rPr>
              <a:t>Lưu trữ vô số các tham chiếu</a:t>
            </a:r>
            <a:endParaRPr/>
          </a:p>
          <a:p>
            <a:pPr marL="2286000" marR="0" lvl="4" indent="-457200" algn="l" rtl="0">
              <a:spcBef>
                <a:spcPts val="0"/>
              </a:spcBef>
              <a:spcAft>
                <a:spcPts val="0"/>
              </a:spcAft>
              <a:buClr>
                <a:srgbClr val="1B1B1B"/>
              </a:buClr>
              <a:buSzPts val="2000"/>
              <a:buFont typeface="Arial"/>
              <a:buChar char="•"/>
            </a:pPr>
            <a:r>
              <a:rPr lang="en-US" sz="2000" b="0" i="0" u="none" strike="noStrike" cap="none">
                <a:solidFill>
                  <a:srgbClr val="1B1B1B"/>
                </a:solidFill>
                <a:latin typeface="Calibri"/>
                <a:ea typeface="Calibri"/>
                <a:cs typeface="Calibri"/>
                <a:sym typeface="Calibri"/>
              </a:rPr>
              <a:t>Giải pháp: loại bỏ các tham chiếu. Tuy nhiên khi nào có thể loại bỏ các tham chiếu</a:t>
            </a:r>
            <a:endParaRPr sz="2400" b="0" i="0" u="none" strike="noStrike" cap="none">
              <a:solidFill>
                <a:srgbClr val="1B1B1B"/>
              </a:solidFill>
              <a:latin typeface="Calibri"/>
              <a:ea typeface="Calibri"/>
              <a:cs typeface="Calibri"/>
              <a:sym typeface="Calibri"/>
            </a:endParaRPr>
          </a:p>
        </p:txBody>
      </p:sp>
      <p:sp>
        <p:nvSpPr>
          <p:cNvPr id="281" name="Google Shape;281;p18"/>
          <p:cNvSpPr/>
          <p:nvPr/>
        </p:nvSpPr>
        <p:spPr>
          <a:xfrm>
            <a:off x="6629400" y="5029200"/>
            <a:ext cx="3276600" cy="1047804"/>
          </a:xfrm>
          <a:prstGeom prst="roundRect">
            <a:avLst>
              <a:gd name="adj" fmla="val 16667"/>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Giải pháp Home-base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19"/>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 name="Google Shape;288;p19"/>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KHÔNG GIAN TÊN PHẲNG</a:t>
            </a:r>
            <a:endParaRPr/>
          </a:p>
        </p:txBody>
      </p:sp>
      <p:sp>
        <p:nvSpPr>
          <p:cNvPr id="289" name="Google Shape;289;p19"/>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0" name="Google Shape;290;p19"/>
          <p:cNvSpPr txBox="1"/>
          <p:nvPr/>
        </p:nvSpPr>
        <p:spPr>
          <a:xfrm>
            <a:off x="838200" y="1676400"/>
            <a:ext cx="105156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1B1B1B"/>
                </a:solidFill>
                <a:latin typeface="Calibri"/>
                <a:ea typeface="Calibri"/>
                <a:cs typeface="Calibri"/>
                <a:sym typeface="Calibri"/>
              </a:rPr>
              <a:t>3. Giải pháp Home-base</a:t>
            </a:r>
            <a:endParaRPr/>
          </a:p>
        </p:txBody>
      </p:sp>
      <p:pic>
        <p:nvPicPr>
          <p:cNvPr id="291" name="Google Shape;291;p19"/>
          <p:cNvPicPr preferRelativeResize="0"/>
          <p:nvPr/>
        </p:nvPicPr>
        <p:blipFill rotWithShape="1">
          <a:blip r:embed="rId3">
            <a:alphaModFix/>
          </a:blip>
          <a:srcRect/>
          <a:stretch/>
        </p:blipFill>
        <p:spPr>
          <a:xfrm>
            <a:off x="3048000" y="2057400"/>
            <a:ext cx="6877050" cy="41052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0"/>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8" name="Google Shape;298;p20"/>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KHÔNG GIAN TÊN PHẲNG</a:t>
            </a:r>
            <a:endParaRPr/>
          </a:p>
        </p:txBody>
      </p:sp>
      <p:sp>
        <p:nvSpPr>
          <p:cNvPr id="299" name="Google Shape;299;p20"/>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0" name="Google Shape;300;p20"/>
          <p:cNvSpPr txBox="1"/>
          <p:nvPr/>
        </p:nvSpPr>
        <p:spPr>
          <a:xfrm>
            <a:off x="838200" y="1676400"/>
            <a:ext cx="10515600"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1B1B1B"/>
                </a:solidFill>
                <a:latin typeface="Calibri"/>
                <a:ea typeface="Calibri"/>
                <a:cs typeface="Calibri"/>
                <a:sym typeface="Calibri"/>
              </a:rPr>
              <a:t>3. Giải pháp Home-base</a:t>
            </a:r>
            <a:endParaRPr sz="2800" b="1" i="0">
              <a:solidFill>
                <a:srgbClr val="1B1B1B"/>
              </a:solidFill>
              <a:latin typeface="Calibri"/>
              <a:ea typeface="Calibri"/>
              <a:cs typeface="Calibri"/>
              <a:sym typeface="Calibri"/>
            </a:endParaRPr>
          </a:p>
          <a:p>
            <a:pPr marL="0" marR="0" lvl="0" indent="0" algn="l" rtl="0">
              <a:spcBef>
                <a:spcPts val="0"/>
              </a:spcBef>
              <a:spcAft>
                <a:spcPts val="0"/>
              </a:spcAft>
              <a:buNone/>
            </a:pPr>
            <a:r>
              <a:rPr lang="en-US" sz="2800">
                <a:solidFill>
                  <a:srgbClr val="1B1B1B"/>
                </a:solidFill>
                <a:latin typeface="Calibri"/>
                <a:ea typeface="Calibri"/>
                <a:cs typeface="Calibri"/>
                <a:sym typeface="Calibri"/>
              </a:rPr>
              <a:t>Vấn đề về quy mô</a:t>
            </a:r>
            <a:endParaRPr sz="2800" i="0">
              <a:solidFill>
                <a:srgbClr val="1B1B1B"/>
              </a:solidFill>
              <a:latin typeface="Calibri"/>
              <a:ea typeface="Calibri"/>
              <a:cs typeface="Calibri"/>
              <a:sym typeface="Calibri"/>
            </a:endParaRPr>
          </a:p>
        </p:txBody>
      </p:sp>
      <p:sp>
        <p:nvSpPr>
          <p:cNvPr id="301" name="Google Shape;301;p20"/>
          <p:cNvSpPr/>
          <p:nvPr/>
        </p:nvSpPr>
        <p:spPr>
          <a:xfrm>
            <a:off x="3873690" y="2199620"/>
            <a:ext cx="7467600" cy="4641345"/>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1"/>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8" name="Google Shape;308;p21"/>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KHÔNG GIAN TÊN PHẲNG</a:t>
            </a:r>
            <a:endParaRPr/>
          </a:p>
        </p:txBody>
      </p:sp>
      <p:sp>
        <p:nvSpPr>
          <p:cNvPr id="309" name="Google Shape;309;p21"/>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0" name="Google Shape;310;p21"/>
          <p:cNvSpPr txBox="1"/>
          <p:nvPr/>
        </p:nvSpPr>
        <p:spPr>
          <a:xfrm>
            <a:off x="838200" y="1676400"/>
            <a:ext cx="105156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1B1B1B"/>
                </a:solidFill>
                <a:latin typeface="Calibri"/>
                <a:ea typeface="Calibri"/>
                <a:cs typeface="Calibri"/>
                <a:sym typeface="Calibri"/>
              </a:rPr>
              <a:t>4. Giải pháp sử dụng hàm băm phân tán</a:t>
            </a:r>
            <a:endParaRPr/>
          </a:p>
        </p:txBody>
      </p:sp>
      <p:sp>
        <p:nvSpPr>
          <p:cNvPr id="311" name="Google Shape;311;p21"/>
          <p:cNvSpPr txBox="1"/>
          <p:nvPr/>
        </p:nvSpPr>
        <p:spPr>
          <a:xfrm>
            <a:off x="914400" y="2336160"/>
            <a:ext cx="10668000" cy="1452320"/>
          </a:xfrm>
          <a:prstGeom prst="rect">
            <a:avLst/>
          </a:prstGeom>
          <a:noFill/>
          <a:ln>
            <a:noFill/>
          </a:ln>
        </p:spPr>
        <p:txBody>
          <a:bodyPr spcFirstLastPara="1" wrap="square" lIns="0" tIns="59050" rIns="0" bIns="0" anchor="t" anchorCtr="0">
            <a:spAutoFit/>
          </a:bodyPr>
          <a:lstStyle/>
          <a:p>
            <a:pPr marL="359410" marR="0" lvl="0" indent="-342900" algn="l" rtl="0">
              <a:lnSpc>
                <a:spcPct val="100000"/>
              </a:lnSpc>
              <a:spcBef>
                <a:spcPts val="0"/>
              </a:spcBef>
              <a:spcAft>
                <a:spcPts val="0"/>
              </a:spcAft>
              <a:buClr>
                <a:srgbClr val="DD8046"/>
              </a:buClr>
              <a:buSzPts val="1690"/>
              <a:buFont typeface="Arial"/>
              <a:buChar char="•"/>
            </a:pPr>
            <a:r>
              <a:rPr lang="en-US" sz="2800" b="0" i="0">
                <a:solidFill>
                  <a:schemeClr val="dk1"/>
                </a:solidFill>
                <a:latin typeface="Calibri"/>
                <a:ea typeface="Calibri"/>
                <a:cs typeface="Calibri"/>
                <a:sym typeface="Calibri"/>
              </a:rPr>
              <a:t>Xem xét hệ thống Chord</a:t>
            </a:r>
            <a:endParaRPr/>
          </a:p>
          <a:p>
            <a:pPr marL="359410" marR="481330" lvl="0" indent="-342900" algn="l" rtl="0">
              <a:lnSpc>
                <a:spcPct val="173888"/>
              </a:lnSpc>
              <a:spcBef>
                <a:spcPts val="755"/>
              </a:spcBef>
              <a:spcAft>
                <a:spcPts val="0"/>
              </a:spcAft>
              <a:buClr>
                <a:srgbClr val="DD8046"/>
              </a:buClr>
              <a:buSzPts val="1086"/>
              <a:buFont typeface="Arial"/>
              <a:buChar char="•"/>
            </a:pPr>
            <a:r>
              <a:rPr lang="en-US" sz="1800" b="0" i="0">
                <a:solidFill>
                  <a:schemeClr val="dk1"/>
                </a:solidFill>
                <a:latin typeface="Calibri"/>
                <a:ea typeface="Calibri"/>
                <a:cs typeface="Calibri"/>
                <a:sym typeface="Calibri"/>
              </a:rPr>
              <a:t>Chord là một trong những giao thức phổ biến nhất được sử dụng trong bảng băm phân tán. </a:t>
            </a:r>
            <a:endParaRPr/>
          </a:p>
          <a:p>
            <a:pPr marL="359410" marR="481330" lvl="0" indent="-342900" algn="l" rtl="0">
              <a:lnSpc>
                <a:spcPct val="173888"/>
              </a:lnSpc>
              <a:spcBef>
                <a:spcPts val="755"/>
              </a:spcBef>
              <a:spcAft>
                <a:spcPts val="0"/>
              </a:spcAft>
              <a:buClr>
                <a:srgbClr val="DD8046"/>
              </a:buClr>
              <a:buSzPts val="1086"/>
              <a:buFont typeface="Arial"/>
              <a:buChar char="•"/>
            </a:pPr>
            <a:r>
              <a:rPr lang="en-US" sz="1800" b="0" i="0">
                <a:solidFill>
                  <a:schemeClr val="dk1"/>
                </a:solidFill>
                <a:latin typeface="Calibri"/>
                <a:ea typeface="Calibri"/>
                <a:cs typeface="Calibri"/>
                <a:sym typeface="Calibri"/>
              </a:rPr>
              <a:t>Mạng Chord hỗ trợ khả năng gán tương ứng một key cho trước với một nút mạng</a:t>
            </a:r>
            <a:r>
              <a:rPr lang="en-US" sz="1600" b="0" i="0">
                <a:solidFill>
                  <a:schemeClr val="dk1"/>
                </a:solidFill>
                <a:latin typeface="Calibri"/>
                <a:ea typeface="Calibri"/>
                <a:cs typeface="Calibri"/>
                <a:sym typeface="Calibri"/>
              </a:rPr>
              <a:t> </a:t>
            </a:r>
            <a:endParaRPr sz="2800" b="0" i="0">
              <a:solidFill>
                <a:schemeClr val="dk1"/>
              </a:solidFill>
              <a:latin typeface="Calibri"/>
              <a:ea typeface="Calibri"/>
              <a:cs typeface="Calibri"/>
              <a:sym typeface="Calibri"/>
            </a:endParaRPr>
          </a:p>
        </p:txBody>
      </p:sp>
      <p:pic>
        <p:nvPicPr>
          <p:cNvPr id="312" name="Google Shape;312;p21" descr="Tìm hiểu về hệ phân tán (Phần 5: Định danh) - Part 1"/>
          <p:cNvPicPr preferRelativeResize="0"/>
          <p:nvPr/>
        </p:nvPicPr>
        <p:blipFill rotWithShape="1">
          <a:blip r:embed="rId3">
            <a:alphaModFix/>
          </a:blip>
          <a:srcRect l="14331" t="7418" r="21974" b="5484"/>
          <a:stretch/>
        </p:blipFill>
        <p:spPr>
          <a:xfrm>
            <a:off x="8167577" y="3889578"/>
            <a:ext cx="3200400" cy="288036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22"/>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9" name="Google Shape;319;p22"/>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KHÔNG GIAN TÊN PHẲNG</a:t>
            </a:r>
            <a:endParaRPr/>
          </a:p>
        </p:txBody>
      </p:sp>
      <p:sp>
        <p:nvSpPr>
          <p:cNvPr id="320" name="Google Shape;320;p22"/>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1" name="Google Shape;321;p22"/>
          <p:cNvSpPr txBox="1"/>
          <p:nvPr/>
        </p:nvSpPr>
        <p:spPr>
          <a:xfrm>
            <a:off x="838200" y="1676400"/>
            <a:ext cx="105156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1B1B1B"/>
                </a:solidFill>
                <a:latin typeface="Calibri"/>
                <a:ea typeface="Calibri"/>
                <a:cs typeface="Calibri"/>
                <a:sym typeface="Calibri"/>
              </a:rPr>
              <a:t>4. Giải pháp sử dụng hàm băm phân tán</a:t>
            </a:r>
            <a:endParaRPr/>
          </a:p>
        </p:txBody>
      </p:sp>
      <p:sp>
        <p:nvSpPr>
          <p:cNvPr id="322" name="Google Shape;322;p22"/>
          <p:cNvSpPr txBox="1"/>
          <p:nvPr/>
        </p:nvSpPr>
        <p:spPr>
          <a:xfrm>
            <a:off x="914400" y="2336160"/>
            <a:ext cx="7162800" cy="2940548"/>
          </a:xfrm>
          <a:prstGeom prst="rect">
            <a:avLst/>
          </a:prstGeom>
          <a:noFill/>
          <a:ln>
            <a:noFill/>
          </a:ln>
        </p:spPr>
        <p:txBody>
          <a:bodyPr spcFirstLastPara="1" wrap="square" lIns="0" tIns="59050" rIns="0" bIns="0" anchor="t" anchorCtr="0">
            <a:spAutoFit/>
          </a:bodyPr>
          <a:lstStyle/>
          <a:p>
            <a:pPr marL="359410" marR="0" lvl="0" indent="-342900" algn="l" rtl="0">
              <a:lnSpc>
                <a:spcPct val="100000"/>
              </a:lnSpc>
              <a:spcBef>
                <a:spcPts val="0"/>
              </a:spcBef>
              <a:spcAft>
                <a:spcPts val="0"/>
              </a:spcAft>
              <a:buClr>
                <a:srgbClr val="DD8046"/>
              </a:buClr>
              <a:buSzPts val="1690"/>
              <a:buFont typeface="Arial"/>
              <a:buChar char="•"/>
            </a:pPr>
            <a:r>
              <a:rPr lang="en-US" sz="2800" b="0" i="0">
                <a:solidFill>
                  <a:schemeClr val="dk1"/>
                </a:solidFill>
                <a:latin typeface="Calibri"/>
                <a:ea typeface="Calibri"/>
                <a:cs typeface="Calibri"/>
                <a:sym typeface="Calibri"/>
              </a:rPr>
              <a:t>Xem xét hệ thống Chord</a:t>
            </a:r>
            <a:endParaRPr/>
          </a:p>
          <a:p>
            <a:pPr marL="285750" marR="0" lvl="0" indent="-285750" algn="just" rtl="0">
              <a:lnSpc>
                <a:spcPct val="150000"/>
              </a:lnSpc>
              <a:spcBef>
                <a:spcPts val="0"/>
              </a:spcBef>
              <a:spcAft>
                <a:spcPts val="0"/>
              </a:spcAft>
              <a:buClr>
                <a:schemeClr val="dk1"/>
              </a:buClr>
              <a:buSzPts val="1800"/>
              <a:buFont typeface="Arial"/>
              <a:buChar char="•"/>
            </a:pPr>
            <a:r>
              <a:rPr lang="en-US" sz="1800" b="0" i="0">
                <a:solidFill>
                  <a:schemeClr val="dk1"/>
                </a:solidFill>
                <a:latin typeface="Calibri"/>
                <a:ea typeface="Calibri"/>
                <a:cs typeface="Calibri"/>
                <a:sym typeface="Calibri"/>
              </a:rPr>
              <a:t>Các nút trong mạng Chord tạo lên một mạng logic dạng vòng tròn có các vị trí nút từ 0 đến 2­</a:t>
            </a:r>
            <a:r>
              <a:rPr lang="en-US" sz="1800" b="1" i="0">
                <a:solidFill>
                  <a:schemeClr val="dk1"/>
                </a:solidFill>
                <a:latin typeface="Calibri"/>
                <a:ea typeface="Calibri"/>
                <a:cs typeface="Calibri"/>
                <a:sym typeface="Calibri"/>
              </a:rPr>
              <a:t>­</a:t>
            </a:r>
            <a:r>
              <a:rPr lang="en-US" sz="1800" b="0" i="0">
                <a:solidFill>
                  <a:schemeClr val="dk1"/>
                </a:solidFill>
                <a:latin typeface="Calibri"/>
                <a:ea typeface="Calibri"/>
                <a:cs typeface="Calibri"/>
                <a:sym typeface="Calibri"/>
              </a:rPr>
              <a:t>­­­­­­­­­­­­</a:t>
            </a:r>
            <a:r>
              <a:rPr lang="en-US" sz="1800" b="0" i="0" baseline="30000">
                <a:solidFill>
                  <a:schemeClr val="dk1"/>
                </a:solidFill>
                <a:latin typeface="Calibri"/>
                <a:ea typeface="Calibri"/>
                <a:cs typeface="Calibri"/>
                <a:sym typeface="Calibri"/>
              </a:rPr>
              <a:t>m</a:t>
            </a:r>
            <a:r>
              <a:rPr lang="en-US" sz="1800" b="0" i="0">
                <a:solidFill>
                  <a:schemeClr val="dk1"/>
                </a:solidFill>
                <a:latin typeface="Calibri"/>
                <a:ea typeface="Calibri"/>
                <a:cs typeface="Calibri"/>
                <a:sym typeface="Calibri"/>
              </a:rPr>
              <a:t>-1. </a:t>
            </a:r>
            <a:endParaRPr/>
          </a:p>
          <a:p>
            <a:pPr marL="285750" marR="0" lvl="0" indent="-285750" algn="just" rtl="0">
              <a:lnSpc>
                <a:spcPct val="150000"/>
              </a:lnSpc>
              <a:spcBef>
                <a:spcPts val="0"/>
              </a:spcBef>
              <a:spcAft>
                <a:spcPts val="0"/>
              </a:spcAft>
              <a:buClr>
                <a:schemeClr val="dk1"/>
              </a:buClr>
              <a:buSzPts val="1800"/>
              <a:buFont typeface="Arial"/>
              <a:buChar char="•"/>
            </a:pPr>
            <a:r>
              <a:rPr lang="en-US" sz="1800" b="0" i="0">
                <a:solidFill>
                  <a:schemeClr val="dk1"/>
                </a:solidFill>
                <a:latin typeface="Calibri"/>
                <a:ea typeface="Calibri"/>
                <a:cs typeface="Calibri"/>
                <a:sym typeface="Calibri"/>
              </a:rPr>
              <a:t>Khóa k được gán cho nút đầu tiên có định danh bằng hoặc lớn hơn định danh của k. Nút đó được gọi là nút successor của khóa k hay successor(k). </a:t>
            </a:r>
            <a:endParaRPr/>
          </a:p>
          <a:p>
            <a:pPr marL="285750" marR="0" lvl="0" indent="-285750" algn="just" rtl="0">
              <a:lnSpc>
                <a:spcPct val="150000"/>
              </a:lnSpc>
              <a:spcBef>
                <a:spcPts val="0"/>
              </a:spcBef>
              <a:spcAft>
                <a:spcPts val="0"/>
              </a:spcAft>
              <a:buClr>
                <a:schemeClr val="dk1"/>
              </a:buClr>
              <a:buSzPts val="1800"/>
              <a:buFont typeface="Arial"/>
              <a:buChar char="•"/>
            </a:pPr>
            <a:r>
              <a:rPr lang="en-US" sz="1800" b="0" i="0">
                <a:solidFill>
                  <a:schemeClr val="dk1"/>
                </a:solidFill>
                <a:latin typeface="Calibri"/>
                <a:ea typeface="Calibri"/>
                <a:cs typeface="Calibri"/>
                <a:sym typeface="Calibri"/>
              </a:rPr>
              <a:t>Trong vòng định danh của Chord, successor của một khóa chính là nút gần nhất theo chiều kim đồng hồ tính từ khóa k.</a:t>
            </a:r>
            <a:endParaRPr sz="1800" b="0" i="0">
              <a:solidFill>
                <a:schemeClr val="dk1"/>
              </a:solidFill>
              <a:latin typeface="Calibri"/>
              <a:ea typeface="Calibri"/>
              <a:cs typeface="Calibri"/>
              <a:sym typeface="Calibri"/>
            </a:endParaRPr>
          </a:p>
        </p:txBody>
      </p:sp>
      <p:pic>
        <p:nvPicPr>
          <p:cNvPr id="323" name="Google Shape;323;p22" descr="Tìm hiểu về hệ phân tán (Phần 5: Định danh) - Part 1"/>
          <p:cNvPicPr preferRelativeResize="0"/>
          <p:nvPr/>
        </p:nvPicPr>
        <p:blipFill rotWithShape="1">
          <a:blip r:embed="rId3">
            <a:alphaModFix/>
          </a:blip>
          <a:srcRect l="14331" t="7418" r="21974" b="5484"/>
          <a:stretch/>
        </p:blipFill>
        <p:spPr>
          <a:xfrm>
            <a:off x="8382000" y="2336160"/>
            <a:ext cx="3200400" cy="288036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23"/>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0" name="Google Shape;330;p23"/>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KHÔNG GIAN TÊN PHẲNG</a:t>
            </a:r>
            <a:endParaRPr/>
          </a:p>
        </p:txBody>
      </p:sp>
      <p:sp>
        <p:nvSpPr>
          <p:cNvPr id="331" name="Google Shape;331;p23"/>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2" name="Google Shape;332;p23"/>
          <p:cNvSpPr txBox="1"/>
          <p:nvPr/>
        </p:nvSpPr>
        <p:spPr>
          <a:xfrm>
            <a:off x="838200" y="1676400"/>
            <a:ext cx="105156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1B1B1B"/>
                </a:solidFill>
                <a:latin typeface="Calibri"/>
                <a:ea typeface="Calibri"/>
                <a:cs typeface="Calibri"/>
                <a:sym typeface="Calibri"/>
              </a:rPr>
              <a:t>4. Giải pháp sử dụng hàm băm phân tán</a:t>
            </a:r>
            <a:endParaRPr/>
          </a:p>
        </p:txBody>
      </p:sp>
      <p:sp>
        <p:nvSpPr>
          <p:cNvPr id="333" name="Google Shape;333;p23"/>
          <p:cNvSpPr txBox="1"/>
          <p:nvPr/>
        </p:nvSpPr>
        <p:spPr>
          <a:xfrm>
            <a:off x="914400" y="2336160"/>
            <a:ext cx="7162800" cy="3956210"/>
          </a:xfrm>
          <a:prstGeom prst="rect">
            <a:avLst/>
          </a:prstGeom>
          <a:noFill/>
          <a:ln>
            <a:noFill/>
          </a:ln>
        </p:spPr>
        <p:txBody>
          <a:bodyPr spcFirstLastPara="1" wrap="square" lIns="0" tIns="59050" rIns="0" bIns="0" anchor="t" anchorCtr="0">
            <a:spAutoFit/>
          </a:bodyPr>
          <a:lstStyle/>
          <a:p>
            <a:pPr marL="359410" marR="0" lvl="0" indent="-342900" algn="l" rtl="0">
              <a:lnSpc>
                <a:spcPct val="100000"/>
              </a:lnSpc>
              <a:spcBef>
                <a:spcPts val="0"/>
              </a:spcBef>
              <a:spcAft>
                <a:spcPts val="0"/>
              </a:spcAft>
              <a:buClr>
                <a:srgbClr val="DD8046"/>
              </a:buClr>
              <a:buSzPts val="1690"/>
              <a:buFont typeface="Arial"/>
              <a:buChar char="•"/>
            </a:pPr>
            <a:r>
              <a:rPr lang="en-US" sz="2800" b="0" i="0">
                <a:solidFill>
                  <a:schemeClr val="dk1"/>
                </a:solidFill>
                <a:latin typeface="Calibri"/>
                <a:ea typeface="Calibri"/>
                <a:cs typeface="Calibri"/>
                <a:sym typeface="Calibri"/>
              </a:rPr>
              <a:t>Xem xét hệ thống Chord</a:t>
            </a:r>
            <a:endParaRPr/>
          </a:p>
          <a:p>
            <a:pPr marL="285750" marR="0" lvl="0" indent="-285750" algn="just" rtl="0">
              <a:lnSpc>
                <a:spcPct val="150000"/>
              </a:lnSpc>
              <a:spcBef>
                <a:spcPts val="0"/>
              </a:spcBef>
              <a:spcAft>
                <a:spcPts val="0"/>
              </a:spcAft>
              <a:buClr>
                <a:schemeClr val="dk1"/>
              </a:buClr>
              <a:buSzPts val="1800"/>
              <a:buFont typeface="Arial"/>
              <a:buChar char="•"/>
            </a:pPr>
            <a:r>
              <a:rPr lang="en-US" sz="1800" b="0" i="0">
                <a:solidFill>
                  <a:schemeClr val="dk1"/>
                </a:solidFill>
                <a:latin typeface="Calibri"/>
                <a:ea typeface="Calibri"/>
                <a:cs typeface="Calibri"/>
                <a:sym typeface="Calibri"/>
              </a:rPr>
              <a:t>Ví dụ: Xét HT Chord với m=6. Vòng Chord có chứa 10 nút và 5 khóa. </a:t>
            </a:r>
            <a:endParaRPr/>
          </a:p>
          <a:p>
            <a:pPr marL="742950" marR="0" lvl="1" indent="-285750" algn="just" rtl="0">
              <a:lnSpc>
                <a:spcPct val="150000"/>
              </a:lnSpc>
              <a:spcBef>
                <a:spcPts val="0"/>
              </a:spcBef>
              <a:spcAft>
                <a:spcPts val="0"/>
              </a:spcAft>
              <a:buClr>
                <a:schemeClr val="dk1"/>
              </a:buClr>
              <a:buSzPts val="1400"/>
              <a:buFont typeface="Arial"/>
              <a:buChar char="•"/>
            </a:pPr>
            <a:r>
              <a:rPr lang="en-US" sz="1400" b="0" i="0" u="none" strike="noStrike" cap="none">
                <a:solidFill>
                  <a:schemeClr val="dk1"/>
                </a:solidFill>
                <a:latin typeface="Calibri"/>
                <a:ea typeface="Calibri"/>
                <a:cs typeface="Calibri"/>
                <a:sym typeface="Calibri"/>
              </a:rPr>
              <a:t>Successor của định danh 10 là nút 14 do đó key 10 sẽ được đặt ở nút 14. Tương tự khóa 24 và 30 sẽ được đặt  ở nút 32, khóa 38 tại nút 38 và khóa 54 tại nút 56.</a:t>
            </a:r>
            <a:endParaRPr/>
          </a:p>
          <a:p>
            <a:pPr marL="742950" marR="0" lvl="1" indent="-285750" algn="just" rtl="0">
              <a:lnSpc>
                <a:spcPct val="150000"/>
              </a:lnSpc>
              <a:spcBef>
                <a:spcPts val="0"/>
              </a:spcBef>
              <a:spcAft>
                <a:spcPts val="0"/>
              </a:spcAft>
              <a:buClr>
                <a:schemeClr val="dk1"/>
              </a:buClr>
              <a:buSzPts val="1400"/>
              <a:buFont typeface="Arial"/>
              <a:buChar char="•"/>
            </a:pPr>
            <a:r>
              <a:rPr lang="en-US" sz="1400" b="0" i="0" u="none" strike="noStrike" cap="none">
                <a:solidFill>
                  <a:schemeClr val="dk1"/>
                </a:solidFill>
                <a:latin typeface="Calibri"/>
                <a:ea typeface="Calibri"/>
                <a:cs typeface="Calibri"/>
                <a:sym typeface="Calibri"/>
              </a:rPr>
              <a:t>Kĩ thuật consistent hashing được thiết kế để việc các nút tham gia hay rời khỏi mạng sẽ tạo ra ít ảnh hưởng nhất. Để duy trì bảng mapping khi một nút n tham gia vào mạng, một số khóa trước đây được đặt tại successcor của n sẽ chuyển sang cho nút n. Trong ví dụ trên, nếu có một nút với định danh 26 tham gia vào mạng, nó sẽ nhận được khóa 24 chuyển từ nút 32.</a:t>
            </a:r>
            <a:endParaRPr sz="1400" b="0" i="0" u="none" strike="noStrike" cap="none">
              <a:solidFill>
                <a:schemeClr val="dk1"/>
              </a:solidFill>
              <a:latin typeface="Calibri"/>
              <a:ea typeface="Calibri"/>
              <a:cs typeface="Calibri"/>
              <a:sym typeface="Calibri"/>
            </a:endParaRPr>
          </a:p>
          <a:p>
            <a:pPr marL="285750" marR="0" lvl="0" indent="-285750" algn="just" rtl="0">
              <a:lnSpc>
                <a:spcPct val="150000"/>
              </a:lnSpc>
              <a:spcBef>
                <a:spcPts val="0"/>
              </a:spcBef>
              <a:spcAft>
                <a:spcPts val="0"/>
              </a:spcAft>
              <a:buClr>
                <a:srgbClr val="FF0000"/>
              </a:buClr>
              <a:buSzPts val="1800"/>
              <a:buFont typeface="Arial"/>
              <a:buChar char="•"/>
            </a:pPr>
            <a:r>
              <a:rPr lang="en-US" sz="1800" b="0" i="0">
                <a:solidFill>
                  <a:srgbClr val="FF0000"/>
                </a:solidFill>
                <a:latin typeface="Calibri"/>
                <a:ea typeface="Calibri"/>
                <a:cs typeface="Calibri"/>
                <a:sym typeface="Calibri"/>
              </a:rPr>
              <a:t>Successor của một nút là nút tiếp sau nút đó trên vòng Chord, predecessor là nút liền trước trên vòng Chord. </a:t>
            </a:r>
            <a:endParaRPr sz="1800" b="0" i="0">
              <a:solidFill>
                <a:srgbClr val="FF0000"/>
              </a:solidFill>
              <a:latin typeface="Calibri"/>
              <a:ea typeface="Calibri"/>
              <a:cs typeface="Calibri"/>
              <a:sym typeface="Calibri"/>
            </a:endParaRPr>
          </a:p>
        </p:txBody>
      </p:sp>
      <p:pic>
        <p:nvPicPr>
          <p:cNvPr id="334" name="Google Shape;334;p23" descr="Tìm hiểu về hệ phân tán (Phần 5: Định danh) - Part 1"/>
          <p:cNvPicPr preferRelativeResize="0"/>
          <p:nvPr/>
        </p:nvPicPr>
        <p:blipFill rotWithShape="1">
          <a:blip r:embed="rId3">
            <a:alphaModFix/>
          </a:blip>
          <a:srcRect l="14331" t="7418" r="21974" b="5484"/>
          <a:stretch/>
        </p:blipFill>
        <p:spPr>
          <a:xfrm>
            <a:off x="8382000" y="2336160"/>
            <a:ext cx="3200400" cy="288036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24"/>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1" name="Google Shape;341;p24"/>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KHÔNG GIAN TÊN PHẲNG</a:t>
            </a:r>
            <a:endParaRPr/>
          </a:p>
        </p:txBody>
      </p:sp>
      <p:sp>
        <p:nvSpPr>
          <p:cNvPr id="342" name="Google Shape;342;p24"/>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3" name="Google Shape;343;p24"/>
          <p:cNvSpPr txBox="1"/>
          <p:nvPr/>
        </p:nvSpPr>
        <p:spPr>
          <a:xfrm>
            <a:off x="838200" y="1676400"/>
            <a:ext cx="105156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1B1B1B"/>
                </a:solidFill>
                <a:latin typeface="Calibri"/>
                <a:ea typeface="Calibri"/>
                <a:cs typeface="Calibri"/>
                <a:sym typeface="Calibri"/>
              </a:rPr>
              <a:t>4. Giải pháp sử dụng hàm băm phân tán</a:t>
            </a:r>
            <a:endParaRPr/>
          </a:p>
        </p:txBody>
      </p:sp>
      <p:sp>
        <p:nvSpPr>
          <p:cNvPr id="344" name="Google Shape;344;p24"/>
          <p:cNvSpPr txBox="1"/>
          <p:nvPr/>
        </p:nvSpPr>
        <p:spPr>
          <a:xfrm>
            <a:off x="914400" y="2336160"/>
            <a:ext cx="7162800" cy="490518"/>
          </a:xfrm>
          <a:prstGeom prst="rect">
            <a:avLst/>
          </a:prstGeom>
          <a:noFill/>
          <a:ln>
            <a:noFill/>
          </a:ln>
        </p:spPr>
        <p:txBody>
          <a:bodyPr spcFirstLastPara="1" wrap="square" lIns="0" tIns="59050" rIns="0" bIns="0" anchor="t" anchorCtr="0">
            <a:spAutoFit/>
          </a:bodyPr>
          <a:lstStyle/>
          <a:p>
            <a:pPr marL="359410" marR="0" lvl="0" indent="-342900" algn="l" rtl="0">
              <a:lnSpc>
                <a:spcPct val="100000"/>
              </a:lnSpc>
              <a:spcBef>
                <a:spcPts val="0"/>
              </a:spcBef>
              <a:spcAft>
                <a:spcPts val="0"/>
              </a:spcAft>
              <a:buClr>
                <a:srgbClr val="DD8046"/>
              </a:buClr>
              <a:buSzPts val="1690"/>
              <a:buFont typeface="Arial"/>
              <a:buChar char="•"/>
            </a:pPr>
            <a:r>
              <a:rPr lang="en-US" sz="2800" b="0" i="0">
                <a:solidFill>
                  <a:schemeClr val="dk1"/>
                </a:solidFill>
                <a:latin typeface="Calibri"/>
                <a:ea typeface="Calibri"/>
                <a:cs typeface="Calibri"/>
                <a:sym typeface="Calibri"/>
              </a:rPr>
              <a:t>Xem xét hệ thống Chord</a:t>
            </a:r>
            <a:endParaRPr/>
          </a:p>
        </p:txBody>
      </p:sp>
      <p:pic>
        <p:nvPicPr>
          <p:cNvPr id="345" name="Google Shape;345;p24"/>
          <p:cNvPicPr preferRelativeResize="0"/>
          <p:nvPr/>
        </p:nvPicPr>
        <p:blipFill rotWithShape="1">
          <a:blip r:embed="rId3">
            <a:alphaModFix/>
          </a:blip>
          <a:srcRect l="45093"/>
          <a:stretch/>
        </p:blipFill>
        <p:spPr>
          <a:xfrm>
            <a:off x="6400800" y="2667000"/>
            <a:ext cx="3949700" cy="3604289"/>
          </a:xfrm>
          <a:prstGeom prst="rect">
            <a:avLst/>
          </a:prstGeom>
          <a:noFill/>
          <a:ln>
            <a:noFill/>
          </a:ln>
        </p:spPr>
      </p:pic>
      <p:sp>
        <p:nvSpPr>
          <p:cNvPr id="346" name="Google Shape;346;p24"/>
          <p:cNvSpPr txBox="1"/>
          <p:nvPr/>
        </p:nvSpPr>
        <p:spPr>
          <a:xfrm>
            <a:off x="2590800" y="3674349"/>
            <a:ext cx="2971800" cy="444352"/>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2800" b="0" i="0">
                <a:solidFill>
                  <a:srgbClr val="FB6923"/>
                </a:solidFill>
                <a:latin typeface="Calibri"/>
                <a:ea typeface="Calibri"/>
                <a:cs typeface="Calibri"/>
                <a:sym typeface="Calibri"/>
              </a:rPr>
              <a:t>Tìm kiếm đơn giản</a:t>
            </a:r>
            <a:endParaRPr sz="2800" b="0" i="0">
              <a:solidFill>
                <a:srgbClr val="FB6923"/>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25"/>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3" name="Google Shape;353;p25"/>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KHÔNG GIAN TÊN PHẲNG</a:t>
            </a:r>
            <a:endParaRPr/>
          </a:p>
        </p:txBody>
      </p:sp>
      <p:sp>
        <p:nvSpPr>
          <p:cNvPr id="354" name="Google Shape;354;p25"/>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5" name="Google Shape;355;p25"/>
          <p:cNvSpPr txBox="1"/>
          <p:nvPr/>
        </p:nvSpPr>
        <p:spPr>
          <a:xfrm>
            <a:off x="838200" y="1676400"/>
            <a:ext cx="105156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1B1B1B"/>
                </a:solidFill>
                <a:latin typeface="Calibri"/>
                <a:ea typeface="Calibri"/>
                <a:cs typeface="Calibri"/>
                <a:sym typeface="Calibri"/>
              </a:rPr>
              <a:t>4. Giải pháp sử dụng hàm băm phân tán</a:t>
            </a:r>
            <a:endParaRPr/>
          </a:p>
        </p:txBody>
      </p:sp>
      <p:sp>
        <p:nvSpPr>
          <p:cNvPr id="356" name="Google Shape;356;p25"/>
          <p:cNvSpPr txBox="1"/>
          <p:nvPr/>
        </p:nvSpPr>
        <p:spPr>
          <a:xfrm>
            <a:off x="914400" y="2336160"/>
            <a:ext cx="6248400" cy="2401297"/>
          </a:xfrm>
          <a:prstGeom prst="rect">
            <a:avLst/>
          </a:prstGeom>
          <a:noFill/>
          <a:ln>
            <a:noFill/>
          </a:ln>
        </p:spPr>
        <p:txBody>
          <a:bodyPr spcFirstLastPara="1" wrap="square" lIns="0" tIns="59050" rIns="0" bIns="0" anchor="t" anchorCtr="0">
            <a:spAutoFit/>
          </a:bodyPr>
          <a:lstStyle/>
          <a:p>
            <a:pPr marL="359410" marR="0" lvl="0" indent="-342900" algn="l" rtl="0">
              <a:lnSpc>
                <a:spcPct val="100000"/>
              </a:lnSpc>
              <a:spcBef>
                <a:spcPts val="0"/>
              </a:spcBef>
              <a:spcAft>
                <a:spcPts val="0"/>
              </a:spcAft>
              <a:buClr>
                <a:srgbClr val="DD8046"/>
              </a:buClr>
              <a:buSzPts val="1690"/>
              <a:buFont typeface="Arial"/>
              <a:buChar char="•"/>
            </a:pPr>
            <a:r>
              <a:rPr lang="en-US" sz="2800" b="0" i="0">
                <a:solidFill>
                  <a:schemeClr val="dk1"/>
                </a:solidFill>
                <a:latin typeface="Calibri"/>
                <a:ea typeface="Calibri"/>
                <a:cs typeface="Calibri"/>
                <a:sym typeface="Calibri"/>
              </a:rPr>
              <a:t>Xem xét hệ thống Chord</a:t>
            </a:r>
            <a:endParaRPr sz="2800" b="0" i="0">
              <a:solidFill>
                <a:schemeClr val="dk1"/>
              </a:solidFill>
              <a:latin typeface="Calibri"/>
              <a:ea typeface="Calibri"/>
              <a:cs typeface="Calibri"/>
              <a:sym typeface="Calibri"/>
            </a:endParaRPr>
          </a:p>
          <a:p>
            <a:pPr marL="816610" marR="0" lvl="1" indent="-342900" algn="l" rtl="0">
              <a:spcBef>
                <a:spcPts val="464"/>
              </a:spcBef>
              <a:spcAft>
                <a:spcPts val="0"/>
              </a:spcAft>
              <a:buClr>
                <a:srgbClr val="DD8046"/>
              </a:buClr>
              <a:buSzPts val="1448"/>
              <a:buFont typeface="Arial"/>
              <a:buChar char="•"/>
            </a:pPr>
            <a:r>
              <a:rPr lang="en-US" sz="2400" b="0" i="0" u="none" strike="noStrike" cap="none">
                <a:solidFill>
                  <a:schemeClr val="dk1"/>
                </a:solidFill>
                <a:latin typeface="Calibri"/>
                <a:ea typeface="Calibri"/>
                <a:cs typeface="Calibri"/>
                <a:sym typeface="Calibri"/>
              </a:rPr>
              <a:t>Để tăng tốc độ quá trình tìm kiếm Chord sử dụng thêm một số thông tin định tuyến. Giả sử định danh của mỗi nút và khóa có độ dài m bit. Mỗi nút n duy trì một bảng định tuyến chứa m mục, được gọi là bảng finger </a:t>
            </a:r>
            <a:endParaRPr sz="2400" b="0" i="0" u="none" strike="noStrike" cap="none">
              <a:solidFill>
                <a:schemeClr val="dk1"/>
              </a:solidFill>
              <a:latin typeface="Calibri"/>
              <a:ea typeface="Calibri"/>
              <a:cs typeface="Calibri"/>
              <a:sym typeface="Calibri"/>
            </a:endParaRPr>
          </a:p>
        </p:txBody>
      </p:sp>
      <p:pic>
        <p:nvPicPr>
          <p:cNvPr id="357" name="Google Shape;357;p25"/>
          <p:cNvPicPr preferRelativeResize="0"/>
          <p:nvPr/>
        </p:nvPicPr>
        <p:blipFill rotWithShape="1">
          <a:blip r:embed="rId3">
            <a:alphaModFix/>
          </a:blip>
          <a:srcRect/>
          <a:stretch/>
        </p:blipFill>
        <p:spPr>
          <a:xfrm>
            <a:off x="7162800" y="2120900"/>
            <a:ext cx="4610100" cy="30607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26"/>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4" name="Google Shape;364;p26"/>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KHÔNG GIAN TÊN PHẲNG</a:t>
            </a:r>
            <a:endParaRPr/>
          </a:p>
        </p:txBody>
      </p:sp>
      <p:sp>
        <p:nvSpPr>
          <p:cNvPr id="365" name="Google Shape;365;p26"/>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6" name="Google Shape;366;p26"/>
          <p:cNvSpPr txBox="1"/>
          <p:nvPr/>
        </p:nvSpPr>
        <p:spPr>
          <a:xfrm>
            <a:off x="838200" y="1676400"/>
            <a:ext cx="105156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1B1B1B"/>
                </a:solidFill>
                <a:latin typeface="Calibri"/>
                <a:ea typeface="Calibri"/>
                <a:cs typeface="Calibri"/>
                <a:sym typeface="Calibri"/>
              </a:rPr>
              <a:t>4. Giải pháp sử dụng hàm băm phân tán</a:t>
            </a:r>
            <a:endParaRPr/>
          </a:p>
        </p:txBody>
      </p:sp>
      <p:sp>
        <p:nvSpPr>
          <p:cNvPr id="367" name="Google Shape;367;p26"/>
          <p:cNvSpPr txBox="1"/>
          <p:nvPr/>
        </p:nvSpPr>
        <p:spPr>
          <a:xfrm>
            <a:off x="914400" y="2336160"/>
            <a:ext cx="10668000" cy="3683700"/>
          </a:xfrm>
          <a:prstGeom prst="rect">
            <a:avLst/>
          </a:prstGeom>
          <a:noFill/>
          <a:ln>
            <a:noFill/>
          </a:ln>
        </p:spPr>
        <p:txBody>
          <a:bodyPr spcFirstLastPara="1" wrap="square" lIns="0" tIns="59050" rIns="0" bIns="0" anchor="t" anchorCtr="0">
            <a:spAutoFit/>
          </a:bodyPr>
          <a:lstStyle/>
          <a:p>
            <a:pPr marL="359410" marR="0" lvl="0" indent="-342900" algn="l" rtl="0">
              <a:lnSpc>
                <a:spcPct val="100000"/>
              </a:lnSpc>
              <a:spcBef>
                <a:spcPts val="0"/>
              </a:spcBef>
              <a:spcAft>
                <a:spcPts val="0"/>
              </a:spcAft>
              <a:buClr>
                <a:srgbClr val="DD8046"/>
              </a:buClr>
              <a:buSzPts val="1690"/>
              <a:buFont typeface="Arial"/>
              <a:buChar char="•"/>
            </a:pPr>
            <a:r>
              <a:rPr lang="en-US" sz="2800" b="0" i="0">
                <a:solidFill>
                  <a:schemeClr val="dk1"/>
                </a:solidFill>
                <a:latin typeface="Calibri"/>
                <a:ea typeface="Calibri"/>
                <a:cs typeface="Calibri"/>
                <a:sym typeface="Calibri"/>
              </a:rPr>
              <a:t>Xem xét hệ thống Chord</a:t>
            </a:r>
            <a:endParaRPr/>
          </a:p>
          <a:p>
            <a:pPr marL="816610" marR="481330" lvl="1" indent="-342900" algn="l" rtl="0">
              <a:lnSpc>
                <a:spcPct val="111785"/>
              </a:lnSpc>
              <a:spcBef>
                <a:spcPts val="755"/>
              </a:spcBef>
              <a:spcAft>
                <a:spcPts val="0"/>
              </a:spcAft>
              <a:buClr>
                <a:srgbClr val="DD8046"/>
              </a:buClr>
              <a:buSzPts val="1690"/>
              <a:buFont typeface="Arial"/>
              <a:buChar char="•"/>
            </a:pPr>
            <a:r>
              <a:rPr lang="en-US" sz="2800" b="0" i="0" u="none" strike="noStrike" cap="none">
                <a:solidFill>
                  <a:schemeClr val="dk1"/>
                </a:solidFill>
                <a:latin typeface="Calibri"/>
                <a:ea typeface="Calibri"/>
                <a:cs typeface="Calibri"/>
                <a:sym typeface="Calibri"/>
              </a:rPr>
              <a:t>Thiết lập vòng bằng các biến cục bộ prev(n) và succ(n)</a:t>
            </a:r>
            <a:endParaRPr/>
          </a:p>
          <a:p>
            <a:pPr marL="816610" marR="5080" lvl="1" indent="-342900" algn="l" rtl="0">
              <a:lnSpc>
                <a:spcPct val="111785"/>
              </a:lnSpc>
              <a:spcBef>
                <a:spcPts val="700"/>
              </a:spcBef>
              <a:spcAft>
                <a:spcPts val="0"/>
              </a:spcAft>
              <a:buClr>
                <a:srgbClr val="DD8046"/>
              </a:buClr>
              <a:buSzPts val="1690"/>
              <a:buFont typeface="Arial"/>
              <a:buChar char="•"/>
            </a:pPr>
            <a:r>
              <a:rPr lang="en-US" sz="2800" b="0" i="0" u="none" strike="noStrike" cap="none">
                <a:solidFill>
                  <a:schemeClr val="dk1"/>
                </a:solidFill>
                <a:latin typeface="Calibri"/>
                <a:ea typeface="Calibri"/>
                <a:cs typeface="Calibri"/>
                <a:sym typeface="Calibri"/>
              </a:rPr>
              <a:t>Sử dụng bảng băm để xác định địa chỉ succ(k) của tên k</a:t>
            </a:r>
            <a:endParaRPr/>
          </a:p>
          <a:p>
            <a:pPr marL="816610" marR="0" lvl="1" indent="-342900" algn="l" rtl="0">
              <a:spcBef>
                <a:spcPts val="309"/>
              </a:spcBef>
              <a:spcAft>
                <a:spcPts val="0"/>
              </a:spcAft>
              <a:buClr>
                <a:srgbClr val="DD8046"/>
              </a:buClr>
              <a:buSzPts val="1690"/>
              <a:buFont typeface="Arial"/>
              <a:buChar char="•"/>
            </a:pPr>
            <a:r>
              <a:rPr lang="en-US" sz="2800" b="0" i="0" u="none" strike="noStrike" cap="none">
                <a:solidFill>
                  <a:schemeClr val="dk1"/>
                </a:solidFill>
                <a:latin typeface="Calibri"/>
                <a:ea typeface="Calibri"/>
                <a:cs typeface="Calibri"/>
                <a:sym typeface="Calibri"/>
              </a:rPr>
              <a:t>Với FTp là finger table của node p:</a:t>
            </a:r>
            <a:endParaRPr/>
          </a:p>
          <a:p>
            <a:pPr marL="918210" marR="0" lvl="1" indent="-279400" algn="l" rtl="0">
              <a:spcBef>
                <a:spcPts val="50"/>
              </a:spcBef>
              <a:spcAft>
                <a:spcPts val="0"/>
              </a:spcAft>
              <a:buClr>
                <a:srgbClr val="DD8046"/>
              </a:buClr>
              <a:buSzPts val="2800"/>
              <a:buFont typeface="Arial"/>
              <a:buNone/>
            </a:pPr>
            <a:endParaRPr sz="2800" b="0" i="0" u="none" strike="noStrike" cap="none">
              <a:solidFill>
                <a:schemeClr val="dk1"/>
              </a:solidFill>
              <a:latin typeface="Calibri"/>
              <a:ea typeface="Calibri"/>
              <a:cs typeface="Calibri"/>
              <a:sym typeface="Calibri"/>
            </a:endParaRPr>
          </a:p>
          <a:p>
            <a:pPr marL="816610" marR="0" lvl="1" indent="-342900" algn="l" rtl="0">
              <a:spcBef>
                <a:spcPts val="0"/>
              </a:spcBef>
              <a:spcAft>
                <a:spcPts val="0"/>
              </a:spcAft>
              <a:buClr>
                <a:srgbClr val="DD8046"/>
              </a:buClr>
              <a:buSzPts val="1690"/>
              <a:buFont typeface="Arial"/>
              <a:buChar char="•"/>
            </a:pPr>
            <a:r>
              <a:rPr lang="en-US" sz="2800" b="0" i="0" u="none" strike="noStrike" cap="none">
                <a:solidFill>
                  <a:schemeClr val="dk1"/>
                </a:solidFill>
                <a:latin typeface="Calibri"/>
                <a:ea typeface="Calibri"/>
                <a:cs typeface="Calibri"/>
                <a:sym typeface="Calibri"/>
              </a:rPr>
              <a:t>Khi cần tìm khóa k, node p sẽ gửi cho node q:</a:t>
            </a:r>
            <a:endParaRPr/>
          </a:p>
          <a:p>
            <a:pPr marL="918210" marR="0" lvl="1" indent="-279400" algn="l" rtl="0">
              <a:spcBef>
                <a:spcPts val="45"/>
              </a:spcBef>
              <a:spcAft>
                <a:spcPts val="0"/>
              </a:spcAft>
              <a:buClr>
                <a:srgbClr val="DD8046"/>
              </a:buClr>
              <a:buSzPts val="2800"/>
              <a:buFont typeface="Arial"/>
              <a:buNone/>
            </a:pPr>
            <a:endParaRPr sz="2800" b="0" i="0" u="none" strike="noStrike" cap="none">
              <a:solidFill>
                <a:schemeClr val="dk1"/>
              </a:solidFill>
              <a:latin typeface="Calibri"/>
              <a:ea typeface="Calibri"/>
              <a:cs typeface="Calibri"/>
              <a:sym typeface="Calibri"/>
            </a:endParaRPr>
          </a:p>
          <a:p>
            <a:pPr marL="816610" marR="0" lvl="1" indent="-342900" algn="l" rtl="0">
              <a:spcBef>
                <a:spcPts val="0"/>
              </a:spcBef>
              <a:spcAft>
                <a:spcPts val="0"/>
              </a:spcAft>
              <a:buClr>
                <a:srgbClr val="DD8046"/>
              </a:buClr>
              <a:buSzPts val="1690"/>
              <a:buFont typeface="Arial"/>
              <a:buChar char="•"/>
            </a:pPr>
            <a:r>
              <a:rPr lang="en-US" sz="2800" b="0" i="0" u="none" strike="noStrike" cap="none">
                <a:solidFill>
                  <a:schemeClr val="dk1"/>
                </a:solidFill>
                <a:latin typeface="Calibri"/>
                <a:ea typeface="Calibri"/>
                <a:cs typeface="Calibri"/>
                <a:sym typeface="Calibri"/>
              </a:rPr>
              <a:t>Cập nhật bảng băm khi có các nút được thêm vào</a:t>
            </a:r>
            <a:endParaRPr/>
          </a:p>
        </p:txBody>
      </p:sp>
      <p:grpSp>
        <p:nvGrpSpPr>
          <p:cNvPr id="368" name="Google Shape;368;p26"/>
          <p:cNvGrpSpPr/>
          <p:nvPr/>
        </p:nvGrpSpPr>
        <p:grpSpPr>
          <a:xfrm>
            <a:off x="2781235" y="4384794"/>
            <a:ext cx="3368040" cy="1449316"/>
            <a:chOff x="2214372" y="4408939"/>
            <a:chExt cx="3368040" cy="1449316"/>
          </a:xfrm>
        </p:grpSpPr>
        <p:sp>
          <p:nvSpPr>
            <p:cNvPr id="369" name="Google Shape;369;p26"/>
            <p:cNvSpPr/>
            <p:nvPr/>
          </p:nvSpPr>
          <p:spPr>
            <a:xfrm>
              <a:off x="2382012" y="4408939"/>
              <a:ext cx="2743200" cy="5715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0" name="Google Shape;370;p26"/>
            <p:cNvSpPr/>
            <p:nvPr/>
          </p:nvSpPr>
          <p:spPr>
            <a:xfrm>
              <a:off x="2214372" y="5286755"/>
              <a:ext cx="3368040" cy="5715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27"/>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7" name="Google Shape;377;p27"/>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KHÔNG GIAN TÊN PHẲNG</a:t>
            </a:r>
            <a:endParaRPr/>
          </a:p>
        </p:txBody>
      </p:sp>
      <p:sp>
        <p:nvSpPr>
          <p:cNvPr id="378" name="Google Shape;378;p27"/>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9" name="Google Shape;379;p27"/>
          <p:cNvSpPr txBox="1"/>
          <p:nvPr/>
        </p:nvSpPr>
        <p:spPr>
          <a:xfrm>
            <a:off x="838200" y="1676400"/>
            <a:ext cx="105156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1B1B1B"/>
                </a:solidFill>
                <a:latin typeface="Calibri"/>
                <a:ea typeface="Calibri"/>
                <a:cs typeface="Calibri"/>
                <a:sym typeface="Calibri"/>
              </a:rPr>
              <a:t>4. Giải pháp sử dụng hàm băm phân tán</a:t>
            </a:r>
            <a:endParaRPr/>
          </a:p>
        </p:txBody>
      </p:sp>
      <p:pic>
        <p:nvPicPr>
          <p:cNvPr id="380" name="Google Shape;380;p27"/>
          <p:cNvPicPr preferRelativeResize="0"/>
          <p:nvPr/>
        </p:nvPicPr>
        <p:blipFill rotWithShape="1">
          <a:blip r:embed="rId3">
            <a:alphaModFix/>
          </a:blip>
          <a:srcRect/>
          <a:stretch/>
        </p:blipFill>
        <p:spPr>
          <a:xfrm>
            <a:off x="5715000" y="2199620"/>
            <a:ext cx="4097039" cy="4176689"/>
          </a:xfrm>
          <a:prstGeom prst="rect">
            <a:avLst/>
          </a:prstGeom>
          <a:noFill/>
          <a:ln>
            <a:noFill/>
          </a:ln>
        </p:spPr>
      </p:pic>
      <p:sp>
        <p:nvSpPr>
          <p:cNvPr id="381" name="Google Shape;381;p27"/>
          <p:cNvSpPr txBox="1"/>
          <p:nvPr/>
        </p:nvSpPr>
        <p:spPr>
          <a:xfrm>
            <a:off x="1143000" y="2356552"/>
            <a:ext cx="2971800" cy="44430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2800" b="0" i="0">
                <a:solidFill>
                  <a:srgbClr val="FB6923"/>
                </a:solidFill>
                <a:latin typeface="Calibri"/>
                <a:ea typeface="Calibri"/>
                <a:cs typeface="Calibri"/>
                <a:sym typeface="Calibri"/>
              </a:rPr>
              <a:t>Bảng băm phân tán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28"/>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7" name="Google Shape;387;p28"/>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KHÔNG GIAN TÊN PHẲNG</a:t>
            </a:r>
            <a:endParaRPr/>
          </a:p>
        </p:txBody>
      </p:sp>
      <p:sp>
        <p:nvSpPr>
          <p:cNvPr id="388" name="Google Shape;388;p28"/>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9" name="Google Shape;389;p28"/>
          <p:cNvSpPr txBox="1"/>
          <p:nvPr/>
        </p:nvSpPr>
        <p:spPr>
          <a:xfrm>
            <a:off x="838200" y="1676400"/>
            <a:ext cx="10515600"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1B1B1B"/>
                </a:solidFill>
                <a:latin typeface="Calibri"/>
                <a:ea typeface="Calibri"/>
                <a:cs typeface="Calibri"/>
                <a:sym typeface="Calibri"/>
              </a:rPr>
              <a:t>5. </a:t>
            </a:r>
            <a:r>
              <a:rPr lang="en-US" sz="2800" b="1">
                <a:solidFill>
                  <a:schemeClr val="dk1"/>
                </a:solidFill>
                <a:latin typeface="Calibri"/>
                <a:ea typeface="Calibri"/>
                <a:cs typeface="Calibri"/>
                <a:sym typeface="Calibri"/>
              </a:rPr>
              <a:t>Giải pháp phân cấp</a:t>
            </a:r>
            <a:endParaRPr sz="2800" b="1">
              <a:solidFill>
                <a:schemeClr val="dk1"/>
              </a:solidFill>
              <a:latin typeface="Calibri"/>
              <a:ea typeface="Calibri"/>
              <a:cs typeface="Calibri"/>
              <a:sym typeface="Calibri"/>
            </a:endParaRPr>
          </a:p>
          <a:p>
            <a:pPr marL="914400" marR="0" lvl="1" indent="-457200" algn="l" rtl="0">
              <a:spcBef>
                <a:spcPts val="0"/>
              </a:spcBef>
              <a:spcAft>
                <a:spcPts val="0"/>
              </a:spcAft>
              <a:buClr>
                <a:srgbClr val="1B1B1B"/>
              </a:buClr>
              <a:buSzPts val="2800"/>
              <a:buFont typeface="Arial"/>
              <a:buChar char="•"/>
            </a:pPr>
            <a:r>
              <a:rPr lang="en-US" sz="2800" b="0" i="0" u="none" strike="noStrike" cap="none">
                <a:solidFill>
                  <a:srgbClr val="1B1B1B"/>
                </a:solidFill>
                <a:latin typeface="Calibri"/>
                <a:ea typeface="Calibri"/>
                <a:cs typeface="Calibri"/>
                <a:sym typeface="Calibri"/>
              </a:rPr>
              <a:t>Các domain phân cấp</a:t>
            </a:r>
            <a:endParaRPr/>
          </a:p>
          <a:p>
            <a:pPr marL="914400" marR="0" lvl="1" indent="-457200" algn="l" rtl="0">
              <a:spcBef>
                <a:spcPts val="0"/>
              </a:spcBef>
              <a:spcAft>
                <a:spcPts val="0"/>
              </a:spcAft>
              <a:buClr>
                <a:srgbClr val="1B1B1B"/>
              </a:buClr>
              <a:buSzPts val="2800"/>
              <a:buFont typeface="Arial"/>
              <a:buChar char="•"/>
            </a:pPr>
            <a:r>
              <a:rPr lang="en-US" sz="2800" b="0" i="0" u="none" strike="noStrike" cap="none">
                <a:solidFill>
                  <a:srgbClr val="1B1B1B"/>
                </a:solidFill>
                <a:latin typeface="Calibri"/>
                <a:ea typeface="Calibri"/>
                <a:cs typeface="Calibri"/>
                <a:sym typeface="Calibri"/>
              </a:rPr>
              <a:t>Domain lá: mạng cục bộ, cell</a:t>
            </a:r>
            <a:endParaRPr/>
          </a:p>
          <a:p>
            <a:pPr marL="914400" marR="0" lvl="1" indent="-457200" algn="l" rtl="0">
              <a:spcBef>
                <a:spcPts val="0"/>
              </a:spcBef>
              <a:spcAft>
                <a:spcPts val="0"/>
              </a:spcAft>
              <a:buClr>
                <a:srgbClr val="1B1B1B"/>
              </a:buClr>
              <a:buSzPts val="2800"/>
              <a:buFont typeface="Arial"/>
              <a:buChar char="•"/>
            </a:pPr>
            <a:r>
              <a:rPr lang="en-US" sz="2800" b="0" i="0" u="none" strike="noStrike" cap="none">
                <a:solidFill>
                  <a:srgbClr val="1B1B1B"/>
                </a:solidFill>
                <a:latin typeface="Calibri"/>
                <a:ea typeface="Calibri"/>
                <a:cs typeface="Calibri"/>
                <a:sym typeface="Calibri"/>
              </a:rPr>
              <a:t>Domain chứa các bản ghi (định danh, địa chỉ  Domain con) của tất cả các nút</a:t>
            </a:r>
            <a:endParaRPr/>
          </a:p>
          <a:p>
            <a:pPr marL="0" marR="0" lvl="0" indent="0" algn="l" rtl="0">
              <a:spcBef>
                <a:spcPts val="0"/>
              </a:spcBef>
              <a:spcAft>
                <a:spcPts val="0"/>
              </a:spcAft>
              <a:buNone/>
            </a:pPr>
            <a:endParaRPr sz="2800" b="1" i="0">
              <a:solidFill>
                <a:srgbClr val="1B1B1B"/>
              </a:solidFill>
              <a:latin typeface="Calibri"/>
              <a:ea typeface="Calibri"/>
              <a:cs typeface="Calibri"/>
              <a:sym typeface="Calibri"/>
            </a:endParaRPr>
          </a:p>
        </p:txBody>
      </p:sp>
      <p:sp>
        <p:nvSpPr>
          <p:cNvPr id="390" name="Google Shape;390;p28"/>
          <p:cNvSpPr/>
          <p:nvPr/>
        </p:nvSpPr>
        <p:spPr>
          <a:xfrm>
            <a:off x="4419600" y="3595990"/>
            <a:ext cx="6934200" cy="317122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29"/>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6" name="Google Shape;396;p29"/>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b="1">
                <a:solidFill>
                  <a:schemeClr val="lt1"/>
                </a:solidFill>
                <a:latin typeface="Calibri"/>
                <a:ea typeface="Calibri"/>
                <a:cs typeface="Calibri"/>
                <a:sym typeface="Calibri"/>
              </a:rPr>
              <a:t>KHÔNG GIAN TÊN PHẲNG</a:t>
            </a:r>
            <a:endParaRPr/>
          </a:p>
        </p:txBody>
      </p:sp>
      <p:sp>
        <p:nvSpPr>
          <p:cNvPr id="397" name="Google Shape;397;p29"/>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8" name="Google Shape;398;p29"/>
          <p:cNvSpPr txBox="1"/>
          <p:nvPr/>
        </p:nvSpPr>
        <p:spPr>
          <a:xfrm>
            <a:off x="838200" y="1676400"/>
            <a:ext cx="10515600"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1B1B1B"/>
                </a:solidFill>
                <a:latin typeface="Calibri"/>
                <a:ea typeface="Calibri"/>
                <a:cs typeface="Calibri"/>
                <a:sym typeface="Calibri"/>
              </a:rPr>
              <a:t>5. </a:t>
            </a:r>
            <a:r>
              <a:rPr lang="en-US" sz="2800" b="1">
                <a:solidFill>
                  <a:schemeClr val="dk1"/>
                </a:solidFill>
                <a:latin typeface="Calibri"/>
                <a:ea typeface="Calibri"/>
                <a:cs typeface="Calibri"/>
                <a:sym typeface="Calibri"/>
              </a:rPr>
              <a:t>Giải pháp phân cấp</a:t>
            </a:r>
            <a:endParaRPr sz="2800" b="1">
              <a:solidFill>
                <a:schemeClr val="dk1"/>
              </a:solidFill>
              <a:latin typeface="Calibri"/>
              <a:ea typeface="Calibri"/>
              <a:cs typeface="Calibri"/>
              <a:sym typeface="Calibri"/>
            </a:endParaRPr>
          </a:p>
          <a:p>
            <a:pPr marL="457200" marR="0" lvl="1" indent="0" algn="l" rtl="0">
              <a:spcBef>
                <a:spcPts val="0"/>
              </a:spcBef>
              <a:spcAft>
                <a:spcPts val="0"/>
              </a:spcAft>
              <a:buNone/>
            </a:pPr>
            <a:r>
              <a:rPr lang="en-US" sz="2800" b="0" i="0" u="none" strike="noStrike" cap="none">
                <a:solidFill>
                  <a:srgbClr val="1B1B1B"/>
                </a:solidFill>
                <a:latin typeface="Calibri"/>
                <a:ea typeface="Calibri"/>
                <a:cs typeface="Calibri"/>
                <a:sym typeface="Calibri"/>
              </a:rPr>
              <a:t>Tìm kiếm</a:t>
            </a:r>
            <a:endParaRPr sz="2800" b="0" i="0" u="none" strike="noStrike" cap="none">
              <a:solidFill>
                <a:srgbClr val="1B1B1B"/>
              </a:solidFill>
              <a:latin typeface="Calibri"/>
              <a:ea typeface="Calibri"/>
              <a:cs typeface="Calibri"/>
              <a:sym typeface="Calibri"/>
            </a:endParaRPr>
          </a:p>
        </p:txBody>
      </p:sp>
      <p:sp>
        <p:nvSpPr>
          <p:cNvPr id="399" name="Google Shape;399;p29"/>
          <p:cNvSpPr/>
          <p:nvPr/>
        </p:nvSpPr>
        <p:spPr>
          <a:xfrm>
            <a:off x="4343400" y="1981200"/>
            <a:ext cx="7229856" cy="47244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g31fcd073894_0_7"/>
          <p:cNvSpPr txBox="1"/>
          <p:nvPr/>
        </p:nvSpPr>
        <p:spPr>
          <a:xfrm>
            <a:off x="346050" y="1529275"/>
            <a:ext cx="10931700" cy="5614342"/>
          </a:xfrm>
          <a:prstGeom prst="rect">
            <a:avLst/>
          </a:prstGeom>
          <a:noFill/>
          <a:ln>
            <a:noFill/>
          </a:ln>
        </p:spPr>
        <p:txBody>
          <a:bodyPr spcFirstLastPara="1" wrap="square" lIns="0" tIns="104125" rIns="0" bIns="0" anchor="t" anchorCtr="0">
            <a:spAutoFit/>
          </a:bodyPr>
          <a:lstStyle/>
          <a:p>
            <a:pPr marL="457200" marR="0" lvl="0" indent="-406400" algn="l" rtl="0">
              <a:spcBef>
                <a:spcPts val="0"/>
              </a:spcBef>
              <a:spcAft>
                <a:spcPts val="0"/>
              </a:spcAft>
              <a:buClr>
                <a:schemeClr val="dk1"/>
              </a:buClr>
              <a:buSzPts val="2800"/>
              <a:buFont typeface="Calibri"/>
              <a:buChar char="-"/>
            </a:pPr>
            <a:r>
              <a:rPr lang="en-US" sz="2800" dirty="0" err="1">
                <a:solidFill>
                  <a:schemeClr val="dk1"/>
                </a:solidFill>
                <a:latin typeface="Calibri"/>
                <a:ea typeface="Calibri"/>
                <a:cs typeface="Calibri"/>
                <a:sym typeface="Calibri"/>
              </a:rPr>
              <a:t>Bài</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tập</a:t>
            </a:r>
            <a:r>
              <a:rPr lang="en-US" sz="2800" dirty="0">
                <a:solidFill>
                  <a:schemeClr val="dk1"/>
                </a:solidFill>
                <a:latin typeface="Calibri"/>
                <a:ea typeface="Calibri"/>
                <a:cs typeface="Calibri"/>
                <a:sym typeface="Calibri"/>
              </a:rPr>
              <a:t> 1: </a:t>
            </a:r>
            <a:r>
              <a:rPr lang="en-US" sz="2800" dirty="0" err="1">
                <a:solidFill>
                  <a:schemeClr val="dk1"/>
                </a:solidFill>
                <a:latin typeface="Calibri"/>
                <a:ea typeface="Calibri"/>
                <a:cs typeface="Calibri"/>
                <a:sym typeface="Calibri"/>
              </a:rPr>
              <a:t>Tìm</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hiểu</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các</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tài</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liệu</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Không</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sử</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dụng</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và</a:t>
            </a:r>
            <a:r>
              <a:rPr lang="en-US" sz="2800" dirty="0">
                <a:solidFill>
                  <a:schemeClr val="dk1"/>
                </a:solidFill>
                <a:latin typeface="Calibri"/>
                <a:ea typeface="Calibri"/>
                <a:cs typeface="Calibri"/>
                <a:sym typeface="Calibri"/>
              </a:rPr>
              <a:t> copy </a:t>
            </a:r>
            <a:r>
              <a:rPr lang="en-US" sz="2800" dirty="0" err="1">
                <a:solidFill>
                  <a:schemeClr val="dk1"/>
                </a:solidFill>
                <a:latin typeface="Calibri"/>
                <a:ea typeface="Calibri"/>
                <a:cs typeface="Calibri"/>
                <a:sym typeface="Calibri"/>
              </a:rPr>
              <a:t>các</a:t>
            </a:r>
            <a:r>
              <a:rPr lang="en-US" sz="2800" dirty="0">
                <a:solidFill>
                  <a:schemeClr val="dk1"/>
                </a:solidFill>
                <a:latin typeface="Calibri"/>
                <a:ea typeface="Calibri"/>
                <a:cs typeface="Calibri"/>
                <a:sym typeface="Calibri"/>
              </a:rPr>
              <a:t> tool LLMs </a:t>
            </a:r>
            <a:r>
              <a:rPr lang="en-US" sz="2800" dirty="0" err="1">
                <a:solidFill>
                  <a:schemeClr val="dk1"/>
                </a:solidFill>
                <a:latin typeface="Calibri"/>
                <a:ea typeface="Calibri"/>
                <a:cs typeface="Calibri"/>
                <a:sym typeface="Calibri"/>
              </a:rPr>
              <a:t>như</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chatGPT</a:t>
            </a:r>
            <a:r>
              <a:rPr lang="en-US" sz="2800" dirty="0">
                <a:solidFill>
                  <a:schemeClr val="dk1"/>
                </a:solidFill>
                <a:latin typeface="Calibri"/>
                <a:ea typeface="Calibri"/>
                <a:cs typeface="Calibri"/>
                <a:sym typeface="Calibri"/>
              </a:rPr>
              <a:t>, Perplexity, </a:t>
            </a:r>
            <a:r>
              <a:rPr lang="en-US" sz="2800" dirty="0" err="1">
                <a:solidFill>
                  <a:schemeClr val="dk1"/>
                </a:solidFill>
                <a:latin typeface="Calibri"/>
                <a:ea typeface="Calibri"/>
                <a:cs typeface="Calibri"/>
                <a:sym typeface="Calibri"/>
              </a:rPr>
              <a:t>ClaudeAI</a:t>
            </a:r>
            <a:r>
              <a:rPr lang="en-US" sz="2800" dirty="0">
                <a:solidFill>
                  <a:schemeClr val="dk1"/>
                </a:solidFill>
                <a:latin typeface="Calibri"/>
                <a:ea typeface="Calibri"/>
                <a:cs typeface="Calibri"/>
                <a:sym typeface="Calibri"/>
              </a:rPr>
              <a:t>, Gemini …) </a:t>
            </a:r>
            <a:r>
              <a:rPr lang="en-US" sz="2800" dirty="0" err="1">
                <a:solidFill>
                  <a:schemeClr val="dk1"/>
                </a:solidFill>
                <a:latin typeface="Calibri"/>
                <a:ea typeface="Calibri"/>
                <a:cs typeface="Calibri"/>
                <a:sym typeface="Calibri"/>
              </a:rPr>
              <a:t>và</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diễn</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giải</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quy</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trình</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khi</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chúng</a:t>
            </a:r>
            <a:r>
              <a:rPr lang="en-US" sz="2800" dirty="0">
                <a:solidFill>
                  <a:schemeClr val="dk1"/>
                </a:solidFill>
                <a:latin typeface="Calibri"/>
                <a:ea typeface="Calibri"/>
                <a:cs typeface="Calibri"/>
                <a:sym typeface="Calibri"/>
              </a:rPr>
              <a:t> ta </a:t>
            </a:r>
            <a:r>
              <a:rPr lang="en-US" sz="2800" dirty="0" err="1">
                <a:solidFill>
                  <a:schemeClr val="dk1"/>
                </a:solidFill>
                <a:latin typeface="Calibri"/>
                <a:ea typeface="Calibri"/>
                <a:cs typeface="Calibri"/>
                <a:sym typeface="Calibri"/>
              </a:rPr>
              <a:t>duyệt</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một</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trang</a:t>
            </a:r>
            <a:r>
              <a:rPr lang="en-US" sz="2800" dirty="0">
                <a:solidFill>
                  <a:schemeClr val="dk1"/>
                </a:solidFill>
                <a:latin typeface="Calibri"/>
                <a:ea typeface="Calibri"/>
                <a:cs typeface="Calibri"/>
                <a:sym typeface="Calibri"/>
              </a:rPr>
              <a:t> web </a:t>
            </a:r>
            <a:r>
              <a:rPr lang="en-US" sz="2800" u="sng" dirty="0">
                <a:solidFill>
                  <a:schemeClr val="hlink"/>
                </a:solidFill>
                <a:latin typeface="Calibri"/>
                <a:ea typeface="Calibri"/>
                <a:cs typeface="Calibri"/>
                <a:sym typeface="Calibri"/>
                <a:hlinkClick r:id="rId3"/>
              </a:rPr>
              <a:t>www.motvidu.com</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Nêu</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rõ</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khái</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quát</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ngắn</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gọn</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về</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quá</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trình</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liên</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quan</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đến</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tra</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cứu</a:t>
            </a:r>
            <a:r>
              <a:rPr lang="en-US" sz="2800" dirty="0">
                <a:solidFill>
                  <a:schemeClr val="dk1"/>
                </a:solidFill>
                <a:latin typeface="Calibri"/>
                <a:ea typeface="Calibri"/>
                <a:cs typeface="Calibri"/>
                <a:sym typeface="Calibri"/>
              </a:rPr>
              <a:t> DNS, resolving DNS, caching.</a:t>
            </a:r>
            <a:endParaRPr sz="2800" dirty="0">
              <a:solidFill>
                <a:schemeClr val="dk1"/>
              </a:solidFill>
              <a:latin typeface="Calibri"/>
              <a:ea typeface="Calibri"/>
              <a:cs typeface="Calibri"/>
              <a:sym typeface="Calibri"/>
            </a:endParaRPr>
          </a:p>
          <a:p>
            <a:pPr marL="914400" marR="0" lvl="1" indent="-406400" algn="l" rtl="0">
              <a:spcBef>
                <a:spcPts val="0"/>
              </a:spcBef>
              <a:spcAft>
                <a:spcPts val="0"/>
              </a:spcAft>
              <a:buClr>
                <a:schemeClr val="dk1"/>
              </a:buClr>
              <a:buSzPts val="2800"/>
              <a:buFont typeface="Calibri"/>
              <a:buChar char="-"/>
            </a:pPr>
            <a:r>
              <a:rPr lang="en-US" sz="2800" dirty="0" err="1">
                <a:solidFill>
                  <a:schemeClr val="dk1"/>
                </a:solidFill>
                <a:latin typeface="Calibri"/>
                <a:ea typeface="Calibri"/>
                <a:cs typeface="Calibri"/>
                <a:sym typeface="Calibri"/>
              </a:rPr>
              <a:t>Lưu</a:t>
            </a:r>
            <a:r>
              <a:rPr lang="en-US" sz="2800" dirty="0">
                <a:solidFill>
                  <a:schemeClr val="dk1"/>
                </a:solidFill>
                <a:latin typeface="Calibri"/>
                <a:ea typeface="Calibri"/>
                <a:cs typeface="Calibri"/>
                <a:sym typeface="Calibri"/>
              </a:rPr>
              <a:t> ý: </a:t>
            </a:r>
            <a:r>
              <a:rPr lang="en-US" sz="2800" dirty="0" err="1">
                <a:solidFill>
                  <a:schemeClr val="dk1"/>
                </a:solidFill>
                <a:latin typeface="Calibri"/>
                <a:ea typeface="Calibri"/>
                <a:cs typeface="Calibri"/>
                <a:sym typeface="Calibri"/>
              </a:rPr>
              <a:t>Trích</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dẫn</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nguồn</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tìm</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hiểu</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vào</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trong</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bài</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làm</a:t>
            </a:r>
            <a:endParaRPr sz="2800" dirty="0">
              <a:solidFill>
                <a:schemeClr val="dk1"/>
              </a:solidFill>
              <a:latin typeface="Calibri"/>
              <a:ea typeface="Calibri"/>
              <a:cs typeface="Calibri"/>
              <a:sym typeface="Calibri"/>
            </a:endParaRPr>
          </a:p>
          <a:p>
            <a:pPr marL="457200" marR="0" lvl="0" indent="-406400" algn="l" rtl="0">
              <a:spcBef>
                <a:spcPts val="0"/>
              </a:spcBef>
              <a:spcAft>
                <a:spcPts val="0"/>
              </a:spcAft>
              <a:buClr>
                <a:schemeClr val="dk1"/>
              </a:buClr>
              <a:buSzPts val="2800"/>
              <a:buFont typeface="Calibri"/>
              <a:buChar char="-"/>
            </a:pPr>
            <a:r>
              <a:rPr lang="en-US" sz="2800" dirty="0" err="1">
                <a:solidFill>
                  <a:schemeClr val="dk1"/>
                </a:solidFill>
                <a:latin typeface="Calibri"/>
                <a:ea typeface="Calibri"/>
                <a:cs typeface="Calibri"/>
                <a:sym typeface="Calibri"/>
              </a:rPr>
              <a:t>Bài</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tập</a:t>
            </a:r>
            <a:r>
              <a:rPr lang="en-US" sz="2800" dirty="0">
                <a:solidFill>
                  <a:schemeClr val="dk1"/>
                </a:solidFill>
                <a:latin typeface="Calibri"/>
                <a:ea typeface="Calibri"/>
                <a:cs typeface="Calibri"/>
                <a:sym typeface="Calibri"/>
              </a:rPr>
              <a:t> 2: </a:t>
            </a:r>
            <a:r>
              <a:rPr lang="en-US" sz="2800" dirty="0" err="1">
                <a:solidFill>
                  <a:schemeClr val="dk1"/>
                </a:solidFill>
                <a:latin typeface="Calibri"/>
                <a:ea typeface="Calibri"/>
                <a:cs typeface="Calibri"/>
                <a:sym typeface="Calibri"/>
              </a:rPr>
              <a:t>Viết</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thuật</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toán</a:t>
            </a:r>
            <a:r>
              <a:rPr lang="en-US" sz="2800" dirty="0">
                <a:solidFill>
                  <a:schemeClr val="dk1"/>
                </a:solidFill>
                <a:latin typeface="Calibri"/>
                <a:ea typeface="Calibri"/>
                <a:cs typeface="Calibri"/>
                <a:sym typeface="Calibri"/>
              </a:rPr>
              <a:t> Chord </a:t>
            </a:r>
            <a:r>
              <a:rPr lang="en-US" sz="2800" dirty="0" err="1">
                <a:solidFill>
                  <a:schemeClr val="dk1"/>
                </a:solidFill>
                <a:latin typeface="Calibri"/>
                <a:ea typeface="Calibri"/>
                <a:cs typeface="Calibri"/>
                <a:sym typeface="Calibri"/>
              </a:rPr>
              <a:t>bằng</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ngôn</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ngữ</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tự</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chọn</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chẳng</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hạn</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như</a:t>
            </a:r>
            <a:r>
              <a:rPr lang="en-US" sz="2800" dirty="0">
                <a:solidFill>
                  <a:schemeClr val="dk1"/>
                </a:solidFill>
                <a:latin typeface="Calibri"/>
                <a:ea typeface="Calibri"/>
                <a:cs typeface="Calibri"/>
                <a:sym typeface="Calibri"/>
              </a:rPr>
              <a:t> python), </a:t>
            </a:r>
            <a:r>
              <a:rPr lang="en-US" sz="2800" dirty="0" err="1">
                <a:solidFill>
                  <a:schemeClr val="dk1"/>
                </a:solidFill>
                <a:latin typeface="Calibri"/>
                <a:ea typeface="Calibri"/>
                <a:cs typeface="Calibri"/>
                <a:sym typeface="Calibri"/>
              </a:rPr>
              <a:t>viết</a:t>
            </a:r>
            <a:r>
              <a:rPr lang="en-US" sz="2800" dirty="0">
                <a:solidFill>
                  <a:schemeClr val="dk1"/>
                </a:solidFill>
                <a:latin typeface="Calibri"/>
                <a:ea typeface="Calibri"/>
                <a:cs typeface="Calibri"/>
                <a:sym typeface="Calibri"/>
              </a:rPr>
              <a:t> test case </a:t>
            </a:r>
            <a:r>
              <a:rPr lang="en-US" sz="2800" dirty="0" err="1">
                <a:solidFill>
                  <a:schemeClr val="dk1"/>
                </a:solidFill>
                <a:latin typeface="Calibri"/>
                <a:ea typeface="Calibri"/>
                <a:cs typeface="Calibri"/>
                <a:sym typeface="Calibri"/>
              </a:rPr>
              <a:t>cho</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thuật</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toán</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và</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viết</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thành</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báo</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cáo</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Nêu</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rõ</a:t>
            </a:r>
            <a:endParaRPr sz="2800" dirty="0">
              <a:solidFill>
                <a:schemeClr val="dk1"/>
              </a:solidFill>
              <a:latin typeface="Calibri"/>
              <a:ea typeface="Calibri"/>
              <a:cs typeface="Calibri"/>
              <a:sym typeface="Calibri"/>
            </a:endParaRPr>
          </a:p>
          <a:p>
            <a:pPr marL="914400" marR="0" lvl="1" indent="-406400" algn="l" rtl="0">
              <a:spcBef>
                <a:spcPts val="0"/>
              </a:spcBef>
              <a:spcAft>
                <a:spcPts val="0"/>
              </a:spcAft>
              <a:buClr>
                <a:schemeClr val="dk1"/>
              </a:buClr>
              <a:buSzPts val="2800"/>
              <a:buFont typeface="Calibri"/>
              <a:buChar char="-"/>
            </a:pPr>
            <a:r>
              <a:rPr lang="en-US" sz="2800" dirty="0" err="1">
                <a:solidFill>
                  <a:schemeClr val="dk1"/>
                </a:solidFill>
                <a:latin typeface="Calibri"/>
                <a:ea typeface="Calibri"/>
                <a:cs typeface="Calibri"/>
                <a:sym typeface="Calibri"/>
              </a:rPr>
              <a:t>Ví</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dụ</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cụ</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thể</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về</a:t>
            </a:r>
            <a:r>
              <a:rPr lang="en-US" sz="2800" dirty="0">
                <a:solidFill>
                  <a:schemeClr val="dk1"/>
                </a:solidFill>
                <a:latin typeface="Calibri"/>
                <a:ea typeface="Calibri"/>
                <a:cs typeface="Calibri"/>
                <a:sym typeface="Calibri"/>
              </a:rPr>
              <a:t> Chord</a:t>
            </a:r>
            <a:endParaRPr sz="2800" dirty="0">
              <a:solidFill>
                <a:schemeClr val="dk1"/>
              </a:solidFill>
              <a:latin typeface="Calibri"/>
              <a:ea typeface="Calibri"/>
              <a:cs typeface="Calibri"/>
              <a:sym typeface="Calibri"/>
            </a:endParaRPr>
          </a:p>
          <a:p>
            <a:pPr marL="914400" marR="0" lvl="1" indent="-406400" algn="l" rtl="0">
              <a:spcBef>
                <a:spcPts val="0"/>
              </a:spcBef>
              <a:spcAft>
                <a:spcPts val="0"/>
              </a:spcAft>
              <a:buClr>
                <a:schemeClr val="dk1"/>
              </a:buClr>
              <a:buSzPts val="2800"/>
              <a:buFont typeface="Calibri"/>
              <a:buChar char="-"/>
            </a:pPr>
            <a:r>
              <a:rPr lang="en-US" sz="2800" dirty="0" err="1">
                <a:solidFill>
                  <a:schemeClr val="dk1"/>
                </a:solidFill>
                <a:latin typeface="Calibri"/>
                <a:ea typeface="Calibri"/>
                <a:cs typeface="Calibri"/>
                <a:sym typeface="Calibri"/>
              </a:rPr>
              <a:t>Ví</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dụ</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về</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kết</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quả</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của</a:t>
            </a:r>
            <a:r>
              <a:rPr lang="en-US" sz="2800" dirty="0">
                <a:solidFill>
                  <a:schemeClr val="dk1"/>
                </a:solidFill>
                <a:latin typeface="Calibri"/>
                <a:ea typeface="Calibri"/>
                <a:cs typeface="Calibri"/>
                <a:sym typeface="Calibri"/>
              </a:rPr>
              <a:t> test case, </a:t>
            </a:r>
            <a:r>
              <a:rPr lang="en-US" sz="2800" dirty="0" err="1">
                <a:solidFill>
                  <a:schemeClr val="dk1"/>
                </a:solidFill>
                <a:latin typeface="Calibri"/>
                <a:ea typeface="Calibri"/>
                <a:cs typeface="Calibri"/>
                <a:sym typeface="Calibri"/>
              </a:rPr>
              <a:t>được</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tính</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toán</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như</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nào</a:t>
            </a:r>
            <a:r>
              <a:rPr lang="en-US" sz="2800" dirty="0">
                <a:solidFill>
                  <a:schemeClr val="dk1"/>
                </a:solidFill>
                <a:latin typeface="Calibri"/>
                <a:ea typeface="Calibri"/>
                <a:cs typeface="Calibri"/>
                <a:sym typeface="Calibri"/>
              </a:rPr>
              <a:t> </a:t>
            </a:r>
            <a:endParaRPr sz="2800" dirty="0">
              <a:solidFill>
                <a:schemeClr val="dk1"/>
              </a:solidFill>
              <a:latin typeface="Calibri"/>
              <a:ea typeface="Calibri"/>
              <a:cs typeface="Calibri"/>
              <a:sym typeface="Calibri"/>
            </a:endParaRPr>
          </a:p>
          <a:p>
            <a:pPr marL="914400" marR="0" lvl="1" indent="-406400" algn="l" rtl="0">
              <a:spcBef>
                <a:spcPts val="0"/>
              </a:spcBef>
              <a:spcAft>
                <a:spcPts val="0"/>
              </a:spcAft>
              <a:buClr>
                <a:schemeClr val="dk1"/>
              </a:buClr>
              <a:buSzPts val="2800"/>
              <a:buFont typeface="Calibri"/>
              <a:buChar char="-"/>
            </a:pPr>
            <a:r>
              <a:rPr lang="en-US" sz="2800" dirty="0">
                <a:solidFill>
                  <a:schemeClr val="dk1"/>
                </a:solidFill>
                <a:latin typeface="Calibri"/>
                <a:ea typeface="Calibri"/>
                <a:cs typeface="Calibri"/>
                <a:sym typeface="Calibri"/>
              </a:rPr>
              <a:t>Code </a:t>
            </a:r>
            <a:r>
              <a:rPr lang="en-US" sz="2800" dirty="0" err="1">
                <a:solidFill>
                  <a:schemeClr val="dk1"/>
                </a:solidFill>
                <a:latin typeface="Calibri"/>
                <a:ea typeface="Calibri"/>
                <a:cs typeface="Calibri"/>
                <a:sym typeface="Calibri"/>
              </a:rPr>
              <a:t>thực</a:t>
            </a:r>
            <a:r>
              <a:rPr lang="en-US" sz="2800" dirty="0">
                <a:solidFill>
                  <a:schemeClr val="dk1"/>
                </a:solidFill>
                <a:latin typeface="Calibri"/>
                <a:ea typeface="Calibri"/>
                <a:cs typeface="Calibri"/>
                <a:sym typeface="Calibri"/>
              </a:rPr>
              <a:t> </a:t>
            </a:r>
            <a:r>
              <a:rPr lang="en-US" sz="2800" dirty="0" err="1">
                <a:solidFill>
                  <a:schemeClr val="dk1"/>
                </a:solidFill>
                <a:latin typeface="Calibri"/>
                <a:ea typeface="Calibri"/>
                <a:cs typeface="Calibri"/>
                <a:sym typeface="Calibri"/>
              </a:rPr>
              <a:t>nghiệm</a:t>
            </a:r>
            <a:endParaRPr sz="2800" dirty="0">
              <a:solidFill>
                <a:schemeClr val="dk1"/>
              </a:solidFill>
              <a:latin typeface="Calibri"/>
              <a:ea typeface="Calibri"/>
              <a:cs typeface="Calibri"/>
              <a:sym typeface="Calibri"/>
            </a:endParaRPr>
          </a:p>
          <a:p>
            <a:pPr marL="0" marR="0" lvl="0" indent="0" algn="l" rtl="0">
              <a:spcBef>
                <a:spcPts val="0"/>
              </a:spcBef>
              <a:spcAft>
                <a:spcPts val="0"/>
              </a:spcAft>
              <a:buNone/>
            </a:pPr>
            <a:endParaRPr sz="2200" dirty="0">
              <a:solidFill>
                <a:schemeClr val="dk1"/>
              </a:solidFill>
              <a:latin typeface="Calibri"/>
              <a:ea typeface="Calibri"/>
              <a:cs typeface="Calibri"/>
              <a:sym typeface="Calibri"/>
            </a:endParaRPr>
          </a:p>
          <a:p>
            <a:pPr marL="457200" marR="0" lvl="0" indent="0" algn="l" rtl="0">
              <a:spcBef>
                <a:spcPts val="0"/>
              </a:spcBef>
              <a:spcAft>
                <a:spcPts val="0"/>
              </a:spcAft>
              <a:buNone/>
            </a:pPr>
            <a:endParaRPr sz="2800" dirty="0">
              <a:solidFill>
                <a:schemeClr val="dk1"/>
              </a:solidFill>
              <a:latin typeface="Calibri"/>
              <a:ea typeface="Calibri"/>
              <a:cs typeface="Calibri"/>
              <a:sym typeface="Calibri"/>
            </a:endParaRPr>
          </a:p>
        </p:txBody>
      </p:sp>
      <p:sp>
        <p:nvSpPr>
          <p:cNvPr id="406" name="Google Shape;406;g31fcd073894_0_7"/>
          <p:cNvSpPr/>
          <p:nvPr/>
        </p:nvSpPr>
        <p:spPr>
          <a:xfrm>
            <a:off x="0" y="1"/>
            <a:ext cx="12192000" cy="1066800"/>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07" name="Google Shape;407;g31fcd073894_0_7"/>
          <p:cNvSpPr txBox="1"/>
          <p:nvPr/>
        </p:nvSpPr>
        <p:spPr>
          <a:xfrm>
            <a:off x="346050" y="365125"/>
            <a:ext cx="10515600" cy="549300"/>
          </a:xfrm>
          <a:prstGeom prst="rect">
            <a:avLst/>
          </a:prstGeom>
          <a:noFill/>
          <a:ln>
            <a:noFill/>
          </a:ln>
        </p:spPr>
        <p:txBody>
          <a:bodyPr spcFirstLastPara="1" wrap="square" lIns="91425" tIns="45700" rIns="91425" bIns="45700" anchor="ctr" anchorCtr="0">
            <a:normAutofit fontScale="92500" lnSpcReduction="20000"/>
          </a:bodyPr>
          <a:lstStyle/>
          <a:p>
            <a:pPr marL="0" lvl="0" indent="0" algn="l" rtl="0">
              <a:lnSpc>
                <a:spcPct val="90000"/>
              </a:lnSpc>
              <a:spcBef>
                <a:spcPts val="0"/>
              </a:spcBef>
              <a:spcAft>
                <a:spcPts val="0"/>
              </a:spcAft>
              <a:buNone/>
            </a:pPr>
            <a:r>
              <a:rPr lang="en-US" sz="4400" b="1">
                <a:solidFill>
                  <a:schemeClr val="lt1"/>
                </a:solidFill>
                <a:latin typeface="Calibri"/>
                <a:ea typeface="Calibri"/>
                <a:cs typeface="Calibri"/>
                <a:sym typeface="Calibri"/>
              </a:rPr>
              <a:t>Bài tập</a:t>
            </a:r>
            <a:endParaRPr sz="4400" b="1">
              <a:solidFill>
                <a:schemeClr val="lt1"/>
              </a:solidFill>
              <a:latin typeface="Calibri"/>
              <a:ea typeface="Calibri"/>
              <a:cs typeface="Calibri"/>
              <a:sym typeface="Calibri"/>
            </a:endParaRPr>
          </a:p>
        </p:txBody>
      </p:sp>
      <p:sp>
        <p:nvSpPr>
          <p:cNvPr id="408" name="Google Shape;408;g31fcd073894_0_7"/>
          <p:cNvSpPr/>
          <p:nvPr/>
        </p:nvSpPr>
        <p:spPr>
          <a:xfrm>
            <a:off x="0" y="1219200"/>
            <a:ext cx="12192000" cy="133500"/>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2275</Words>
  <Application>Microsoft Office PowerPoint</Application>
  <PresentationFormat>Widescreen</PresentationFormat>
  <Paragraphs>228</Paragraphs>
  <Slides>30</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Times New Roman</vt:lpstr>
      <vt:lpstr>Open Sans</vt:lpstr>
      <vt:lpstr>Trebuchet MS</vt:lpstr>
      <vt:lpstr>Office Theme</vt:lpstr>
      <vt:lpstr>ỨNG DỤNG PHÂN TÁN IV. Định danh</vt:lpstr>
      <vt:lpstr>NỘI DUNG</vt:lpstr>
      <vt:lpstr>VÍ DỤ: XÃ HỘI</vt:lpstr>
      <vt:lpstr>THỰC THỂ VÀ TÊN</vt:lpstr>
      <vt:lpstr>THỰC THỂ VÀ TÊN</vt:lpstr>
      <vt:lpstr>THỰC THỂ VÀ TÊN</vt:lpstr>
      <vt:lpstr>IDENTIFIER (Định danh)</vt:lpstr>
      <vt:lpstr>IDENTIFIER (Định danh)</vt:lpstr>
      <vt:lpstr>KHÔNG GIAN TÊN PHẲNG</vt:lpstr>
      <vt:lpstr>KHÔNG GIAN TÊN PHẲNG</vt:lpstr>
      <vt:lpstr>KHÔNG GIAN TÊN PHẲNG</vt:lpstr>
      <vt:lpstr>KHÔNG GIAN TÊN PHẲNG</vt:lpstr>
      <vt:lpstr>KHÔNG GIAN TÊN PHẲNG</vt:lpstr>
      <vt:lpstr>KHÔNG GIAN TÊN PHẲNG</vt:lpstr>
      <vt:lpstr>KHÔNG GIAN TÊN PHẲNG</vt:lpstr>
      <vt:lpstr>KHÔNG GIAN TÊN PHẲNG</vt:lpstr>
      <vt:lpstr>KHÔNG GIAN TÊN PHẲNG</vt:lpstr>
      <vt:lpstr>KHÔNG GIAN TÊN PHẲNG</vt:lpstr>
      <vt:lpstr>KHÔNG GIAN TÊN PHẲNG</vt:lpstr>
      <vt:lpstr>KHÔNG GIAN TÊN PHẲNG</vt:lpstr>
      <vt:lpstr>KHÔNG GIAN TÊN PHẲNG</vt:lpstr>
      <vt:lpstr>KHÔNG GIAN TÊN PHẲNG</vt:lpstr>
      <vt:lpstr>KHÔNG GIAN TÊN PHẲNG</vt:lpstr>
      <vt:lpstr>KHÔNG GIAN TÊN PHẲNG</vt:lpstr>
      <vt:lpstr>KHÔNG GIAN TÊN PHẲNG</vt:lpstr>
      <vt:lpstr>KHÔNG GIAN TÊN PHẲNG</vt:lpstr>
      <vt:lpstr>KHÔNG GIAN TÊN PHẲNG</vt:lpstr>
      <vt:lpstr>KHÔNG GIAN TÊN PHẲNG</vt:lpstr>
      <vt:lpstr>KHÔNG GIAN TÊN PHẲNG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Luong Vi Minh</dc:creator>
  <cp:lastModifiedBy>Nguyen Thanh Trung</cp:lastModifiedBy>
  <cp:revision>1</cp:revision>
  <dcterms:created xsi:type="dcterms:W3CDTF">2022-01-10T03:14:20Z</dcterms:created>
  <dcterms:modified xsi:type="dcterms:W3CDTF">2024-12-25T00:27:06Z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2017-06-16T00:00:00Z</vt:filetime>
  </property>
  <property fmtid="{D5CDD505-2E9C-101B-9397-08002B2CF9AE}" pid="3" name="Creator">
    <vt:lpwstr>Microsoft® PowerPoint® 2010</vt:lpwstr>
  </property>
  <property fmtid="{D5CDD505-2E9C-101B-9397-08002B2CF9AE}" pid="4" name="LastSaved">
    <vt:filetime>2022-01-10T00:00:00Z</vt:filetime>
  </property>
</Properties>
</file>