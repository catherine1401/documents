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9144000" cy="6858000"/>
  <p:embeddedFontLs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880">
          <p15:clr>
            <a:srgbClr val="A4A3A4"/>
          </p15:clr>
        </p15:guide>
      </p15:sldGuideLst>
    </p:ext>
    <p:ext uri="GoogleSlidesCustomDataVersion2">
      <go:slidesCustomData xmlns:go="http://customooxmlschemas.google.com/" r:id="rId35" roundtripDataSignature="AMtx7mhH0Q1g2e/knNG6X8XLjmBOADmg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OpenSans-italic.fntdata"/><Relationship Id="rId10" Type="http://schemas.openxmlformats.org/officeDocument/2006/relationships/slide" Target="slides/slide5.xml"/><Relationship Id="rId32" Type="http://schemas.openxmlformats.org/officeDocument/2006/relationships/font" Target="fonts/OpenSans-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Open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3: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Trong suốt tương tranh: </a:t>
            </a:r>
            <a:r>
              <a:rPr lang="en-US" sz="1200">
                <a:latin typeface="Calibri"/>
                <a:ea typeface="Calibri"/>
                <a:cs typeface="Calibri"/>
                <a:sym typeface="Calibri"/>
              </a:rPr>
              <a:t>Che giấu việc tài nguyên được truy cập đồng thời bởi nhiều NSD</a:t>
            </a:r>
            <a:endParaRPr sz="1200">
              <a:latin typeface="Calibri"/>
              <a:ea typeface="Calibri"/>
              <a:cs typeface="Calibri"/>
              <a:sym typeface="Calibri"/>
            </a:endParaRPr>
          </a:p>
          <a:p>
            <a:pPr indent="0" lvl="0" marL="0" rtl="0" algn="l">
              <a:spcBef>
                <a:spcPts val="0"/>
              </a:spcBef>
              <a:spcAft>
                <a:spcPts val="0"/>
              </a:spcAft>
              <a:buNone/>
            </a:pPr>
            <a:r>
              <a:t/>
            </a:r>
            <a:endParaRPr/>
          </a:p>
        </p:txBody>
      </p:sp>
      <p:sp>
        <p:nvSpPr>
          <p:cNvPr id="107" name="Google Shape;107;p3: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9: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0: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1: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2: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3: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4: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5: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16: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17: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18: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1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19: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2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20: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2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p21: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2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0" name="Google Shape;790;p22: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2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23: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4: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2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1B1B"/>
              </a:buClr>
              <a:buSzPts val="1200"/>
              <a:buFont typeface="Calibri"/>
              <a:buNone/>
            </a:pPr>
            <a:r>
              <a:rPr i="0" lang="en-US" sz="1200">
                <a:solidFill>
                  <a:srgbClr val="1B1B1B"/>
                </a:solidFill>
                <a:latin typeface="Calibri"/>
                <a:ea typeface="Calibri"/>
                <a:cs typeface="Calibri"/>
                <a:sym typeface="Calibri"/>
              </a:rPr>
              <a:t>Nhược điểm của </a:t>
            </a:r>
            <a:r>
              <a:rPr lang="en-US">
                <a:solidFill>
                  <a:srgbClr val="FF0000"/>
                </a:solidFill>
              </a:rPr>
              <a:t>Thread-per-connection:</a:t>
            </a:r>
            <a:r>
              <a:rPr i="0" lang="en-US" sz="1200">
                <a:solidFill>
                  <a:srgbClr val="1B1B1B"/>
                </a:solidFill>
                <a:latin typeface="Calibri"/>
                <a:ea typeface="Calibri"/>
                <a:cs typeface="Calibri"/>
                <a:sym typeface="Calibri"/>
              </a:rPr>
              <a:t> </a:t>
            </a:r>
            <a:r>
              <a:rPr lang="en-US" sz="1200">
                <a:solidFill>
                  <a:srgbClr val="1B1B1B"/>
                </a:solidFill>
                <a:latin typeface="Calibri"/>
                <a:ea typeface="Calibri"/>
                <a:cs typeface="Calibri"/>
                <a:sym typeface="Calibri"/>
              </a:rPr>
              <a:t>c</a:t>
            </a:r>
            <a:r>
              <a:rPr i="0" lang="en-US" sz="1200">
                <a:solidFill>
                  <a:srgbClr val="1B1B1B"/>
                </a:solidFill>
                <a:latin typeface="Calibri"/>
                <a:ea typeface="Calibri"/>
                <a:cs typeface="Calibri"/>
                <a:sym typeface="Calibri"/>
              </a:rPr>
              <a:t>ác client có thể bị phục vụ với độ trễ cao do 1 số luồng thì phục vụ quá nhiều request trong khi 1 số luồng khác có thể phục vụ ít/không tại cùng thời điểm</a:t>
            </a:r>
            <a:endParaRPr i="0" sz="1200">
              <a:solidFill>
                <a:srgbClr val="1B1B1B"/>
              </a:solidFill>
              <a:latin typeface="Calibri"/>
              <a:ea typeface="Calibri"/>
              <a:cs typeface="Calibri"/>
              <a:sym typeface="Calibri"/>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Noto Sans Symbols"/>
              <a:buChar char="⇒"/>
            </a:pPr>
            <a:r>
              <a:rPr lang="en-US"/>
              <a:t>Thao tác đăng ký học coi là tương đương =&gt; nhược điểm được khắc phục</a:t>
            </a:r>
            <a:endParaRPr/>
          </a:p>
          <a:p>
            <a:pPr indent="-95250" lvl="0" marL="171450" rtl="0" algn="l">
              <a:spcBef>
                <a:spcPts val="0"/>
              </a:spcBef>
              <a:spcAft>
                <a:spcPts val="0"/>
              </a:spcAft>
              <a:buClr>
                <a:schemeClr val="dk1"/>
              </a:buClr>
              <a:buSzPts val="1200"/>
              <a:buFont typeface="Noto Sans Symbols"/>
              <a:buNone/>
            </a:pPr>
            <a:r>
              <a:t/>
            </a:r>
            <a:endParaRPr/>
          </a:p>
          <a:p>
            <a:pPr indent="0" lvl="0" marL="0" marR="0" rtl="0" algn="l">
              <a:lnSpc>
                <a:spcPct val="100000"/>
              </a:lnSpc>
              <a:spcBef>
                <a:spcPts val="0"/>
              </a:spcBef>
              <a:spcAft>
                <a:spcPts val="0"/>
              </a:spcAft>
              <a:buClr>
                <a:schemeClr val="dk1"/>
              </a:buClr>
              <a:buSzPts val="1200"/>
              <a:buFont typeface="Noto Sans Symbols"/>
              <a:buNone/>
            </a:pPr>
            <a:r>
              <a:rPr lang="en-US"/>
              <a:t>Đảm bảo quá trình đăng ký được trọn vẹn, các client vào sau =&gt; chờ.</a:t>
            </a:r>
            <a:endParaRPr/>
          </a:p>
          <a:p>
            <a:pPr indent="-95250" lvl="0" marL="171450" rtl="0" algn="l">
              <a:spcBef>
                <a:spcPts val="0"/>
              </a:spcBef>
              <a:spcAft>
                <a:spcPts val="0"/>
              </a:spcAft>
              <a:buClr>
                <a:schemeClr val="dk1"/>
              </a:buClr>
              <a:buSzPts val="1200"/>
              <a:buFont typeface="Noto Sans Symbols"/>
              <a:buNone/>
            </a:pPr>
            <a:r>
              <a:t/>
            </a:r>
            <a:endParaRPr/>
          </a:p>
        </p:txBody>
      </p:sp>
      <p:sp>
        <p:nvSpPr>
          <p:cNvPr id="807" name="Google Shape;807;p24: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25: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8" name="Google Shape;828;p25: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Noto Sans Symbols"/>
              <a:buNone/>
            </a:pPr>
            <a:r>
              <a:t/>
            </a:r>
            <a:endParaRPr/>
          </a:p>
          <a:p>
            <a:pPr indent="0" lvl="0" marL="0" marR="0" rtl="0" algn="l">
              <a:lnSpc>
                <a:spcPct val="100000"/>
              </a:lnSpc>
              <a:spcBef>
                <a:spcPts val="0"/>
              </a:spcBef>
              <a:spcAft>
                <a:spcPts val="0"/>
              </a:spcAft>
              <a:buClr>
                <a:schemeClr val="dk1"/>
              </a:buClr>
              <a:buSzPts val="1200"/>
              <a:buFont typeface="Noto Sans Symbols"/>
              <a:buNone/>
            </a:pPr>
            <a:r>
              <a:rPr lang="en-US"/>
              <a:t>Đảm bảo quá trình đăng ký được trọn vẹn, các client vào sau =&gt; chờ.</a:t>
            </a:r>
            <a:endParaRPr/>
          </a:p>
          <a:p>
            <a:pPr indent="-95250" lvl="0" marL="171450" rtl="0" algn="l">
              <a:spcBef>
                <a:spcPts val="0"/>
              </a:spcBef>
              <a:spcAft>
                <a:spcPts val="0"/>
              </a:spcAft>
              <a:buClr>
                <a:schemeClr val="dk1"/>
              </a:buClr>
              <a:buSzPts val="1200"/>
              <a:buFont typeface="Noto Sans Symbols"/>
              <a:buNone/>
            </a:pPr>
            <a:r>
              <a:t/>
            </a:r>
            <a:endParaRPr/>
          </a:p>
        </p:txBody>
      </p:sp>
      <p:sp>
        <p:nvSpPr>
          <p:cNvPr id="829" name="Google Shape;829;p25: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5"/>
          <p:cNvSpPr/>
          <p:nvPr>
            <p:ph idx="2" type="pic"/>
          </p:nvPr>
        </p:nvSpPr>
        <p:spPr>
          <a:xfrm>
            <a:off x="5183188" y="987425"/>
            <a:ext cx="6172200" cy="4873625"/>
          </a:xfrm>
          <a:prstGeom prst="rect">
            <a:avLst/>
          </a:prstGeom>
          <a:noFill/>
          <a:ln>
            <a:noFill/>
          </a:ln>
        </p:spPr>
      </p:sp>
      <p:sp>
        <p:nvSpPr>
          <p:cNvPr id="68" name="Google Shape;68;p3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rtl="0" algn="r">
              <a:spcBef>
                <a:spcPts val="0"/>
              </a:spcBef>
              <a:buNone/>
              <a:defRPr b="0" i="0" sz="1200" u="none" cap="none" strike="noStrike">
                <a:solidFill>
                  <a:srgbClr val="888888"/>
                </a:solidFill>
                <a:latin typeface="Calibri"/>
                <a:ea typeface="Calibri"/>
                <a:cs typeface="Calibri"/>
                <a:sym typeface="Calibri"/>
              </a:defRPr>
            </a:lvl1pPr>
            <a:lvl2pPr indent="0" lvl="1" marL="38100" marR="0" rtl="0" algn="r">
              <a:spcBef>
                <a:spcPts val="0"/>
              </a:spcBef>
              <a:buNone/>
              <a:defRPr b="0" i="0" sz="1200" u="none" cap="none" strike="noStrike">
                <a:solidFill>
                  <a:srgbClr val="888888"/>
                </a:solidFill>
                <a:latin typeface="Calibri"/>
                <a:ea typeface="Calibri"/>
                <a:cs typeface="Calibri"/>
                <a:sym typeface="Calibri"/>
              </a:defRPr>
            </a:lvl2pPr>
            <a:lvl3pPr indent="0" lvl="2" marL="38100" marR="0" rtl="0" algn="r">
              <a:spcBef>
                <a:spcPts val="0"/>
              </a:spcBef>
              <a:buNone/>
              <a:defRPr b="0" i="0" sz="1200" u="none" cap="none" strike="noStrike">
                <a:solidFill>
                  <a:srgbClr val="888888"/>
                </a:solidFill>
                <a:latin typeface="Calibri"/>
                <a:ea typeface="Calibri"/>
                <a:cs typeface="Calibri"/>
                <a:sym typeface="Calibri"/>
              </a:defRPr>
            </a:lvl3pPr>
            <a:lvl4pPr indent="0" lvl="3" marL="38100" marR="0" rtl="0" algn="r">
              <a:spcBef>
                <a:spcPts val="0"/>
              </a:spcBef>
              <a:buNone/>
              <a:defRPr b="0" i="0" sz="1200" u="none" cap="none" strike="noStrike">
                <a:solidFill>
                  <a:srgbClr val="888888"/>
                </a:solidFill>
                <a:latin typeface="Calibri"/>
                <a:ea typeface="Calibri"/>
                <a:cs typeface="Calibri"/>
                <a:sym typeface="Calibri"/>
              </a:defRPr>
            </a:lvl4pPr>
            <a:lvl5pPr indent="0" lvl="4" marL="38100" marR="0" rtl="0" algn="r">
              <a:spcBef>
                <a:spcPts val="0"/>
              </a:spcBef>
              <a:buNone/>
              <a:defRPr b="0" i="0" sz="1200" u="none" cap="none" strike="noStrike">
                <a:solidFill>
                  <a:srgbClr val="888888"/>
                </a:solidFill>
                <a:latin typeface="Calibri"/>
                <a:ea typeface="Calibri"/>
                <a:cs typeface="Calibri"/>
                <a:sym typeface="Calibri"/>
              </a:defRPr>
            </a:lvl5pPr>
            <a:lvl6pPr indent="0" lvl="5" marL="38100" marR="0" rtl="0" algn="r">
              <a:spcBef>
                <a:spcPts val="0"/>
              </a:spcBef>
              <a:buNone/>
              <a:defRPr b="0" i="0" sz="1200" u="none" cap="none" strike="noStrike">
                <a:solidFill>
                  <a:srgbClr val="888888"/>
                </a:solidFill>
                <a:latin typeface="Calibri"/>
                <a:ea typeface="Calibri"/>
                <a:cs typeface="Calibri"/>
                <a:sym typeface="Calibri"/>
              </a:defRPr>
            </a:lvl6pPr>
            <a:lvl7pPr indent="0" lvl="6" marL="38100" marR="0" rtl="0" algn="r">
              <a:spcBef>
                <a:spcPts val="0"/>
              </a:spcBef>
              <a:buNone/>
              <a:defRPr b="0" i="0" sz="1200" u="none" cap="none" strike="noStrike">
                <a:solidFill>
                  <a:srgbClr val="888888"/>
                </a:solidFill>
                <a:latin typeface="Calibri"/>
                <a:ea typeface="Calibri"/>
                <a:cs typeface="Calibri"/>
                <a:sym typeface="Calibri"/>
              </a:defRPr>
            </a:lvl7pPr>
            <a:lvl8pPr indent="0" lvl="7" marL="38100" marR="0" rtl="0" algn="r">
              <a:spcBef>
                <a:spcPts val="0"/>
              </a:spcBef>
              <a:buNone/>
              <a:defRPr b="0" i="0" sz="1200" u="none" cap="none" strike="noStrike">
                <a:solidFill>
                  <a:srgbClr val="888888"/>
                </a:solidFill>
                <a:latin typeface="Calibri"/>
                <a:ea typeface="Calibri"/>
                <a:cs typeface="Calibri"/>
                <a:sym typeface="Calibri"/>
              </a:defRPr>
            </a:lvl8pPr>
            <a:lvl9pPr indent="0" lvl="8" marL="3810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5.png"/><Relationship Id="rId13" Type="http://schemas.openxmlformats.org/officeDocument/2006/relationships/image" Target="../media/image14.png"/><Relationship Id="rId12" Type="http://schemas.openxmlformats.org/officeDocument/2006/relationships/image" Target="../media/image30.png"/><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9.png"/><Relationship Id="rId9" Type="http://schemas.openxmlformats.org/officeDocument/2006/relationships/image" Target="../media/image22.png"/><Relationship Id="rId15" Type="http://schemas.openxmlformats.org/officeDocument/2006/relationships/image" Target="../media/image8.png"/><Relationship Id="rId14" Type="http://schemas.openxmlformats.org/officeDocument/2006/relationships/image" Target="../media/image13.png"/><Relationship Id="rId17" Type="http://schemas.openxmlformats.org/officeDocument/2006/relationships/image" Target="../media/image18.png"/><Relationship Id="rId16" Type="http://schemas.openxmlformats.org/officeDocument/2006/relationships/image" Target="../media/image15.png"/><Relationship Id="rId5" Type="http://schemas.openxmlformats.org/officeDocument/2006/relationships/image" Target="../media/image19.png"/><Relationship Id="rId6" Type="http://schemas.openxmlformats.org/officeDocument/2006/relationships/image" Target="../media/image10.png"/><Relationship Id="rId7" Type="http://schemas.openxmlformats.org/officeDocument/2006/relationships/image" Target="../media/image12.png"/><Relationship Id="rId8" Type="http://schemas.openxmlformats.org/officeDocument/2006/relationships/image" Target="../media/image20.png"/></Relationships>
</file>

<file path=ppt/slides/_rels/slide15.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5.png"/><Relationship Id="rId13" Type="http://schemas.openxmlformats.org/officeDocument/2006/relationships/image" Target="../media/image14.png"/><Relationship Id="rId12" Type="http://schemas.openxmlformats.org/officeDocument/2006/relationships/image" Target="../media/image30.png"/><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9.png"/><Relationship Id="rId9" Type="http://schemas.openxmlformats.org/officeDocument/2006/relationships/image" Target="../media/image22.png"/><Relationship Id="rId15" Type="http://schemas.openxmlformats.org/officeDocument/2006/relationships/image" Target="../media/image8.png"/><Relationship Id="rId14" Type="http://schemas.openxmlformats.org/officeDocument/2006/relationships/image" Target="../media/image13.png"/><Relationship Id="rId17" Type="http://schemas.openxmlformats.org/officeDocument/2006/relationships/image" Target="../media/image18.png"/><Relationship Id="rId16" Type="http://schemas.openxmlformats.org/officeDocument/2006/relationships/image" Target="../media/image15.png"/><Relationship Id="rId5" Type="http://schemas.openxmlformats.org/officeDocument/2006/relationships/image" Target="../media/image19.png"/><Relationship Id="rId6" Type="http://schemas.openxmlformats.org/officeDocument/2006/relationships/image" Target="../media/image10.png"/><Relationship Id="rId7" Type="http://schemas.openxmlformats.org/officeDocument/2006/relationships/image" Target="../media/image12.png"/><Relationship Id="rId8"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1.png"/></Relationships>
</file>

<file path=ppt/slides/_rels/slide17.xml.rels><?xml version="1.0" encoding="UTF-8" standalone="yes"?><Relationships xmlns="http://schemas.openxmlformats.org/package/2006/relationships"><Relationship Id="rId20" Type="http://schemas.openxmlformats.org/officeDocument/2006/relationships/image" Target="../media/image92.png"/><Relationship Id="rId22" Type="http://schemas.openxmlformats.org/officeDocument/2006/relationships/image" Target="../media/image65.png"/><Relationship Id="rId21" Type="http://schemas.openxmlformats.org/officeDocument/2006/relationships/image" Target="../media/image55.png"/><Relationship Id="rId24" Type="http://schemas.openxmlformats.org/officeDocument/2006/relationships/image" Target="../media/image54.png"/><Relationship Id="rId23" Type="http://schemas.openxmlformats.org/officeDocument/2006/relationships/image" Target="../media/image72.png"/><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39.png"/><Relationship Id="rId9" Type="http://schemas.openxmlformats.org/officeDocument/2006/relationships/image" Target="../media/image40.png"/><Relationship Id="rId26" Type="http://schemas.openxmlformats.org/officeDocument/2006/relationships/image" Target="../media/image67.png"/><Relationship Id="rId25" Type="http://schemas.openxmlformats.org/officeDocument/2006/relationships/image" Target="../media/image66.png"/><Relationship Id="rId28" Type="http://schemas.openxmlformats.org/officeDocument/2006/relationships/image" Target="../media/image77.png"/><Relationship Id="rId27" Type="http://schemas.openxmlformats.org/officeDocument/2006/relationships/image" Target="../media/image63.png"/><Relationship Id="rId5" Type="http://schemas.openxmlformats.org/officeDocument/2006/relationships/image" Target="../media/image38.png"/><Relationship Id="rId6" Type="http://schemas.openxmlformats.org/officeDocument/2006/relationships/image" Target="../media/image37.png"/><Relationship Id="rId29" Type="http://schemas.openxmlformats.org/officeDocument/2006/relationships/image" Target="../media/image86.png"/><Relationship Id="rId7" Type="http://schemas.openxmlformats.org/officeDocument/2006/relationships/image" Target="../media/image53.png"/><Relationship Id="rId8" Type="http://schemas.openxmlformats.org/officeDocument/2006/relationships/image" Target="../media/image46.png"/><Relationship Id="rId31" Type="http://schemas.openxmlformats.org/officeDocument/2006/relationships/image" Target="../media/image87.png"/><Relationship Id="rId30" Type="http://schemas.openxmlformats.org/officeDocument/2006/relationships/image" Target="../media/image56.png"/><Relationship Id="rId11" Type="http://schemas.openxmlformats.org/officeDocument/2006/relationships/image" Target="../media/image49.png"/><Relationship Id="rId10" Type="http://schemas.openxmlformats.org/officeDocument/2006/relationships/image" Target="../media/image44.png"/><Relationship Id="rId32" Type="http://schemas.openxmlformats.org/officeDocument/2006/relationships/image" Target="../media/image74.png"/><Relationship Id="rId13" Type="http://schemas.openxmlformats.org/officeDocument/2006/relationships/image" Target="../media/image43.png"/><Relationship Id="rId12" Type="http://schemas.openxmlformats.org/officeDocument/2006/relationships/image" Target="../media/image51.png"/><Relationship Id="rId15" Type="http://schemas.openxmlformats.org/officeDocument/2006/relationships/image" Target="../media/image47.png"/><Relationship Id="rId14" Type="http://schemas.openxmlformats.org/officeDocument/2006/relationships/image" Target="../media/image45.png"/><Relationship Id="rId17" Type="http://schemas.openxmlformats.org/officeDocument/2006/relationships/image" Target="../media/image42.png"/><Relationship Id="rId16" Type="http://schemas.openxmlformats.org/officeDocument/2006/relationships/image" Target="../media/image36.png"/><Relationship Id="rId19" Type="http://schemas.openxmlformats.org/officeDocument/2006/relationships/image" Target="../media/image50.png"/><Relationship Id="rId18" Type="http://schemas.openxmlformats.org/officeDocument/2006/relationships/image" Target="../media/image48.png"/></Relationships>
</file>

<file path=ppt/slides/_rels/slide18.xml.rels><?xml version="1.0" encoding="UTF-8" standalone="yes"?><Relationships xmlns="http://schemas.openxmlformats.org/package/2006/relationships"><Relationship Id="rId20" Type="http://schemas.openxmlformats.org/officeDocument/2006/relationships/image" Target="../media/image92.png"/><Relationship Id="rId22" Type="http://schemas.openxmlformats.org/officeDocument/2006/relationships/image" Target="../media/image65.png"/><Relationship Id="rId21" Type="http://schemas.openxmlformats.org/officeDocument/2006/relationships/image" Target="../media/image55.png"/><Relationship Id="rId24" Type="http://schemas.openxmlformats.org/officeDocument/2006/relationships/image" Target="../media/image54.png"/><Relationship Id="rId23" Type="http://schemas.openxmlformats.org/officeDocument/2006/relationships/image" Target="../media/image72.png"/><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39.png"/><Relationship Id="rId9" Type="http://schemas.openxmlformats.org/officeDocument/2006/relationships/image" Target="../media/image40.png"/><Relationship Id="rId26" Type="http://schemas.openxmlformats.org/officeDocument/2006/relationships/image" Target="../media/image67.png"/><Relationship Id="rId25" Type="http://schemas.openxmlformats.org/officeDocument/2006/relationships/image" Target="../media/image66.png"/><Relationship Id="rId28" Type="http://schemas.openxmlformats.org/officeDocument/2006/relationships/image" Target="../media/image77.png"/><Relationship Id="rId27" Type="http://schemas.openxmlformats.org/officeDocument/2006/relationships/image" Target="../media/image63.png"/><Relationship Id="rId5" Type="http://schemas.openxmlformats.org/officeDocument/2006/relationships/image" Target="../media/image38.png"/><Relationship Id="rId6" Type="http://schemas.openxmlformats.org/officeDocument/2006/relationships/image" Target="../media/image37.png"/><Relationship Id="rId29" Type="http://schemas.openxmlformats.org/officeDocument/2006/relationships/image" Target="../media/image86.png"/><Relationship Id="rId7" Type="http://schemas.openxmlformats.org/officeDocument/2006/relationships/image" Target="../media/image53.png"/><Relationship Id="rId8" Type="http://schemas.openxmlformats.org/officeDocument/2006/relationships/image" Target="../media/image46.png"/><Relationship Id="rId31" Type="http://schemas.openxmlformats.org/officeDocument/2006/relationships/image" Target="../media/image87.png"/><Relationship Id="rId30" Type="http://schemas.openxmlformats.org/officeDocument/2006/relationships/image" Target="../media/image56.png"/><Relationship Id="rId11" Type="http://schemas.openxmlformats.org/officeDocument/2006/relationships/image" Target="../media/image49.png"/><Relationship Id="rId10" Type="http://schemas.openxmlformats.org/officeDocument/2006/relationships/image" Target="../media/image44.png"/><Relationship Id="rId32" Type="http://schemas.openxmlformats.org/officeDocument/2006/relationships/image" Target="../media/image74.png"/><Relationship Id="rId13" Type="http://schemas.openxmlformats.org/officeDocument/2006/relationships/image" Target="../media/image43.png"/><Relationship Id="rId12" Type="http://schemas.openxmlformats.org/officeDocument/2006/relationships/image" Target="../media/image51.png"/><Relationship Id="rId15" Type="http://schemas.openxmlformats.org/officeDocument/2006/relationships/image" Target="../media/image47.png"/><Relationship Id="rId14" Type="http://schemas.openxmlformats.org/officeDocument/2006/relationships/image" Target="../media/image45.png"/><Relationship Id="rId17" Type="http://schemas.openxmlformats.org/officeDocument/2006/relationships/image" Target="../media/image42.png"/><Relationship Id="rId16" Type="http://schemas.openxmlformats.org/officeDocument/2006/relationships/image" Target="../media/image36.png"/><Relationship Id="rId19" Type="http://schemas.openxmlformats.org/officeDocument/2006/relationships/image" Target="../media/image50.png"/><Relationship Id="rId18" Type="http://schemas.openxmlformats.org/officeDocument/2006/relationships/image" Target="../media/image48.png"/></Relationships>
</file>

<file path=ppt/slides/_rels/slide19.xml.rels><?xml version="1.0" encoding="UTF-8" standalone="yes"?><Relationships xmlns="http://schemas.openxmlformats.org/package/2006/relationships"><Relationship Id="rId20" Type="http://schemas.openxmlformats.org/officeDocument/2006/relationships/image" Target="../media/image92.png"/><Relationship Id="rId22" Type="http://schemas.openxmlformats.org/officeDocument/2006/relationships/image" Target="../media/image65.png"/><Relationship Id="rId21" Type="http://schemas.openxmlformats.org/officeDocument/2006/relationships/image" Target="../media/image55.png"/><Relationship Id="rId24" Type="http://schemas.openxmlformats.org/officeDocument/2006/relationships/image" Target="../media/image54.png"/><Relationship Id="rId23" Type="http://schemas.openxmlformats.org/officeDocument/2006/relationships/image" Target="../media/image72.png"/><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39.png"/><Relationship Id="rId9" Type="http://schemas.openxmlformats.org/officeDocument/2006/relationships/image" Target="../media/image40.png"/><Relationship Id="rId26" Type="http://schemas.openxmlformats.org/officeDocument/2006/relationships/image" Target="../media/image67.png"/><Relationship Id="rId25" Type="http://schemas.openxmlformats.org/officeDocument/2006/relationships/image" Target="../media/image66.png"/><Relationship Id="rId28" Type="http://schemas.openxmlformats.org/officeDocument/2006/relationships/image" Target="../media/image77.png"/><Relationship Id="rId27" Type="http://schemas.openxmlformats.org/officeDocument/2006/relationships/image" Target="../media/image63.png"/><Relationship Id="rId5" Type="http://schemas.openxmlformats.org/officeDocument/2006/relationships/image" Target="../media/image38.png"/><Relationship Id="rId6" Type="http://schemas.openxmlformats.org/officeDocument/2006/relationships/image" Target="../media/image37.png"/><Relationship Id="rId29" Type="http://schemas.openxmlformats.org/officeDocument/2006/relationships/image" Target="../media/image86.png"/><Relationship Id="rId7" Type="http://schemas.openxmlformats.org/officeDocument/2006/relationships/image" Target="../media/image53.png"/><Relationship Id="rId8" Type="http://schemas.openxmlformats.org/officeDocument/2006/relationships/image" Target="../media/image46.png"/><Relationship Id="rId31" Type="http://schemas.openxmlformats.org/officeDocument/2006/relationships/image" Target="../media/image87.png"/><Relationship Id="rId30" Type="http://schemas.openxmlformats.org/officeDocument/2006/relationships/image" Target="../media/image56.png"/><Relationship Id="rId11" Type="http://schemas.openxmlformats.org/officeDocument/2006/relationships/image" Target="../media/image49.png"/><Relationship Id="rId10" Type="http://schemas.openxmlformats.org/officeDocument/2006/relationships/image" Target="../media/image44.png"/><Relationship Id="rId32" Type="http://schemas.openxmlformats.org/officeDocument/2006/relationships/image" Target="../media/image74.png"/><Relationship Id="rId13" Type="http://schemas.openxmlformats.org/officeDocument/2006/relationships/image" Target="../media/image43.png"/><Relationship Id="rId12" Type="http://schemas.openxmlformats.org/officeDocument/2006/relationships/image" Target="../media/image51.png"/><Relationship Id="rId15" Type="http://schemas.openxmlformats.org/officeDocument/2006/relationships/image" Target="../media/image47.png"/><Relationship Id="rId14" Type="http://schemas.openxmlformats.org/officeDocument/2006/relationships/image" Target="../media/image45.png"/><Relationship Id="rId17" Type="http://schemas.openxmlformats.org/officeDocument/2006/relationships/image" Target="../media/image42.png"/><Relationship Id="rId16" Type="http://schemas.openxmlformats.org/officeDocument/2006/relationships/image" Target="../media/image36.png"/><Relationship Id="rId19" Type="http://schemas.openxmlformats.org/officeDocument/2006/relationships/image" Target="../media/image50.png"/><Relationship Id="rId18" Type="http://schemas.openxmlformats.org/officeDocument/2006/relationships/image" Target="../media/image48.png"/></Relationships>
</file>

<file path=ppt/slides/_rels/slide20.xml.rels><?xml version="1.0" encoding="UTF-8" standalone="yes"?><Relationships xmlns="http://schemas.openxmlformats.org/package/2006/relationships"><Relationship Id="rId20" Type="http://schemas.openxmlformats.org/officeDocument/2006/relationships/image" Target="../media/image92.png"/><Relationship Id="rId22" Type="http://schemas.openxmlformats.org/officeDocument/2006/relationships/image" Target="../media/image65.png"/><Relationship Id="rId21" Type="http://schemas.openxmlformats.org/officeDocument/2006/relationships/image" Target="../media/image55.png"/><Relationship Id="rId24" Type="http://schemas.openxmlformats.org/officeDocument/2006/relationships/image" Target="../media/image54.png"/><Relationship Id="rId23" Type="http://schemas.openxmlformats.org/officeDocument/2006/relationships/image" Target="../media/image72.png"/><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39.png"/><Relationship Id="rId9" Type="http://schemas.openxmlformats.org/officeDocument/2006/relationships/image" Target="../media/image40.png"/><Relationship Id="rId26" Type="http://schemas.openxmlformats.org/officeDocument/2006/relationships/image" Target="../media/image67.png"/><Relationship Id="rId25" Type="http://schemas.openxmlformats.org/officeDocument/2006/relationships/image" Target="../media/image66.png"/><Relationship Id="rId28" Type="http://schemas.openxmlformats.org/officeDocument/2006/relationships/image" Target="../media/image77.png"/><Relationship Id="rId27" Type="http://schemas.openxmlformats.org/officeDocument/2006/relationships/image" Target="../media/image63.png"/><Relationship Id="rId5" Type="http://schemas.openxmlformats.org/officeDocument/2006/relationships/image" Target="../media/image38.png"/><Relationship Id="rId6" Type="http://schemas.openxmlformats.org/officeDocument/2006/relationships/image" Target="../media/image37.png"/><Relationship Id="rId29" Type="http://schemas.openxmlformats.org/officeDocument/2006/relationships/image" Target="../media/image86.png"/><Relationship Id="rId7" Type="http://schemas.openxmlformats.org/officeDocument/2006/relationships/image" Target="../media/image53.png"/><Relationship Id="rId8" Type="http://schemas.openxmlformats.org/officeDocument/2006/relationships/image" Target="../media/image46.png"/><Relationship Id="rId31" Type="http://schemas.openxmlformats.org/officeDocument/2006/relationships/image" Target="../media/image87.png"/><Relationship Id="rId30" Type="http://schemas.openxmlformats.org/officeDocument/2006/relationships/image" Target="../media/image56.png"/><Relationship Id="rId11" Type="http://schemas.openxmlformats.org/officeDocument/2006/relationships/image" Target="../media/image49.png"/><Relationship Id="rId10" Type="http://schemas.openxmlformats.org/officeDocument/2006/relationships/image" Target="../media/image44.png"/><Relationship Id="rId32" Type="http://schemas.openxmlformats.org/officeDocument/2006/relationships/image" Target="../media/image74.png"/><Relationship Id="rId13" Type="http://schemas.openxmlformats.org/officeDocument/2006/relationships/image" Target="../media/image43.png"/><Relationship Id="rId12" Type="http://schemas.openxmlformats.org/officeDocument/2006/relationships/image" Target="../media/image51.png"/><Relationship Id="rId15" Type="http://schemas.openxmlformats.org/officeDocument/2006/relationships/image" Target="../media/image47.png"/><Relationship Id="rId14" Type="http://schemas.openxmlformats.org/officeDocument/2006/relationships/image" Target="../media/image45.png"/><Relationship Id="rId17" Type="http://schemas.openxmlformats.org/officeDocument/2006/relationships/image" Target="../media/image42.png"/><Relationship Id="rId16" Type="http://schemas.openxmlformats.org/officeDocument/2006/relationships/image" Target="../media/image36.png"/><Relationship Id="rId19" Type="http://schemas.openxmlformats.org/officeDocument/2006/relationships/image" Target="../media/image50.png"/><Relationship Id="rId18"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6.png"/><Relationship Id="rId4" Type="http://schemas.openxmlformats.org/officeDocument/2006/relationships/image" Target="../media/image104.png"/><Relationship Id="rId5" Type="http://schemas.openxmlformats.org/officeDocument/2006/relationships/image" Target="../media/image99.png"/><Relationship Id="rId6" Type="http://schemas.openxmlformats.org/officeDocument/2006/relationships/image" Target="../media/image9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6.png"/><Relationship Id="rId4" Type="http://schemas.openxmlformats.org/officeDocument/2006/relationships/image" Target="../media/image104.png"/><Relationship Id="rId5" Type="http://schemas.openxmlformats.org/officeDocument/2006/relationships/image" Target="../media/image99.png"/><Relationship Id="rId6" Type="http://schemas.openxmlformats.org/officeDocument/2006/relationships/image" Target="../media/image9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87" name="Shape 87"/>
        <p:cNvGrpSpPr/>
        <p:nvPr/>
      </p:nvGrpSpPr>
      <p:grpSpPr>
        <a:xfrm>
          <a:off x="0" y="0"/>
          <a:ext cx="0" cy="0"/>
          <a:chOff x="0" y="0"/>
          <a:chExt cx="0" cy="0"/>
        </a:xfrm>
      </p:grpSpPr>
      <p:sp>
        <p:nvSpPr>
          <p:cNvPr id="88" name="Google Shape;88;p1"/>
          <p:cNvSpPr txBox="1"/>
          <p:nvPr/>
        </p:nvSpPr>
        <p:spPr>
          <a:xfrm>
            <a:off x="3536442" y="1281810"/>
            <a:ext cx="2564130"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0" i="0" lang="en-US" sz="1800" u="none" cap="none" strike="noStrike">
                <a:solidFill>
                  <a:srgbClr val="FFFFFF"/>
                </a:solidFill>
                <a:latin typeface="Arial"/>
                <a:ea typeface="Arial"/>
                <a:cs typeface="Arial"/>
                <a:sym typeface="Arial"/>
              </a:rPr>
              <a:t>Thiết kế và lập trình Web</a:t>
            </a:r>
            <a:endParaRPr b="0" i="0" sz="1800" u="none" cap="none" strike="noStrike">
              <a:solidFill>
                <a:schemeClr val="dk1"/>
              </a:solidFill>
              <a:latin typeface="Arial"/>
              <a:ea typeface="Arial"/>
              <a:cs typeface="Arial"/>
              <a:sym typeface="Arial"/>
            </a:endParaRPr>
          </a:p>
        </p:txBody>
      </p:sp>
      <p:sp>
        <p:nvSpPr>
          <p:cNvPr id="89" name="Google Shape;89;p1"/>
          <p:cNvSpPr txBox="1"/>
          <p:nvPr/>
        </p:nvSpPr>
        <p:spPr>
          <a:xfrm>
            <a:off x="7129653" y="5349951"/>
            <a:ext cx="2698750" cy="452120"/>
          </a:xfrm>
          <a:prstGeom prst="rect">
            <a:avLst/>
          </a:prstGeom>
          <a:noFill/>
          <a:ln>
            <a:noFill/>
          </a:ln>
        </p:spPr>
        <p:txBody>
          <a:bodyPr anchorCtr="0" anchor="t" bIns="0" lIns="0" spcFirstLastPara="1" rIns="0" wrap="square" tIns="12050">
            <a:spAutoFit/>
          </a:bodyPr>
          <a:lstStyle/>
          <a:p>
            <a:pPr indent="0" lvl="0" marL="12700" marR="0" rtl="0" algn="l">
              <a:spcBef>
                <a:spcPts val="0"/>
              </a:spcBef>
              <a:spcAft>
                <a:spcPts val="0"/>
              </a:spcAft>
              <a:buNone/>
            </a:pPr>
            <a:r>
              <a:rPr b="1" i="1" lang="en-US" sz="2800" u="none" cap="none" strike="noStrike">
                <a:solidFill>
                  <a:srgbClr val="FFFFFF"/>
                </a:solidFill>
                <a:latin typeface="Arial"/>
                <a:ea typeface="Arial"/>
                <a:cs typeface="Arial"/>
                <a:sym typeface="Arial"/>
              </a:rPr>
              <a:t>Viện CNTT &amp; TT</a:t>
            </a:r>
            <a:endParaRPr b="0" i="0" sz="2800" u="none" cap="none" strike="noStrike">
              <a:solidFill>
                <a:schemeClr val="dk1"/>
              </a:solidFill>
              <a:latin typeface="Arial"/>
              <a:ea typeface="Arial"/>
              <a:cs typeface="Arial"/>
              <a:sym typeface="Arial"/>
            </a:endParaRPr>
          </a:p>
        </p:txBody>
      </p:sp>
      <p:sp>
        <p:nvSpPr>
          <p:cNvPr id="90" name="Google Shape;90;p1"/>
          <p:cNvSpPr txBox="1"/>
          <p:nvPr>
            <p:ph type="ctrTitle"/>
          </p:nvPr>
        </p:nvSpPr>
        <p:spPr>
          <a:xfrm>
            <a:off x="2667000" y="1122363"/>
            <a:ext cx="6858000" cy="214058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13671"/>
              </a:buClr>
              <a:buSzPts val="5400"/>
              <a:buFont typeface="Calibri"/>
              <a:buNone/>
            </a:pPr>
            <a:r>
              <a:rPr b="1" lang="en-US" sz="5400">
                <a:solidFill>
                  <a:srgbClr val="213671"/>
                </a:solidFill>
                <a:latin typeface="Calibri"/>
                <a:ea typeface="Calibri"/>
                <a:cs typeface="Calibri"/>
                <a:sym typeface="Calibri"/>
              </a:rPr>
              <a:t>ỨNG DỤNG PHÂN TÁN</a:t>
            </a:r>
            <a:br>
              <a:rPr b="1" lang="en-US" sz="5400">
                <a:solidFill>
                  <a:srgbClr val="213671"/>
                </a:solidFill>
                <a:latin typeface="Calibri"/>
                <a:ea typeface="Calibri"/>
                <a:cs typeface="Calibri"/>
                <a:sym typeface="Calibri"/>
              </a:rPr>
            </a:br>
            <a:r>
              <a:rPr b="1" lang="en-US" sz="3600">
                <a:solidFill>
                  <a:srgbClr val="213671"/>
                </a:solidFill>
                <a:latin typeface="Calibri"/>
                <a:ea typeface="Calibri"/>
                <a:cs typeface="Calibri"/>
                <a:sym typeface="Calibri"/>
              </a:rPr>
              <a:t>II. Quản lý tiến trình và luồng</a:t>
            </a:r>
            <a:endParaRPr b="1" sz="5400">
              <a:solidFill>
                <a:srgbClr val="213671"/>
              </a:solidFill>
              <a:latin typeface="Calibri"/>
              <a:ea typeface="Calibri"/>
              <a:cs typeface="Calibri"/>
              <a:sym typeface="Calibri"/>
            </a:endParaRPr>
          </a:p>
        </p:txBody>
      </p:sp>
      <p:sp>
        <p:nvSpPr>
          <p:cNvPr id="91" name="Google Shape;91;p1"/>
          <p:cNvSpPr txBox="1"/>
          <p:nvPr>
            <p:ph idx="1" type="subTitle"/>
          </p:nvPr>
        </p:nvSpPr>
        <p:spPr>
          <a:xfrm>
            <a:off x="2666999" y="4579542"/>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b="1" lang="en-US">
                <a:solidFill>
                  <a:schemeClr val="lt1"/>
                </a:solidFill>
                <a:latin typeface="Arial"/>
                <a:ea typeface="Arial"/>
                <a:cs typeface="Arial"/>
                <a:sym typeface="Arial"/>
              </a:rPr>
              <a:t>Nguyễn Thành Trung – Khoa Công nghệ thông tin</a:t>
            </a:r>
            <a:endParaRPr/>
          </a:p>
          <a:p>
            <a:pPr indent="0" lvl="0" marL="0" rtl="0" algn="ctr">
              <a:lnSpc>
                <a:spcPct val="90000"/>
              </a:lnSpc>
              <a:spcBef>
                <a:spcPts val="1000"/>
              </a:spcBef>
              <a:spcAft>
                <a:spcPts val="0"/>
              </a:spcAft>
              <a:buClr>
                <a:schemeClr val="lt1"/>
              </a:buClr>
              <a:buSzPts val="1600"/>
              <a:buNone/>
            </a:pPr>
            <a:r>
              <a:rPr lang="en-US" sz="1600">
                <a:solidFill>
                  <a:schemeClr val="lt1"/>
                </a:solidFill>
                <a:latin typeface="Arial"/>
                <a:ea typeface="Arial"/>
                <a:cs typeface="Arial"/>
                <a:sym typeface="Arial"/>
              </a:rPr>
              <a:t>trung.nguyenthanh@phenikaa-uni.edu.vn</a:t>
            </a:r>
            <a:endParaRPr/>
          </a:p>
        </p:txBody>
      </p:sp>
      <p:sp>
        <p:nvSpPr>
          <p:cNvPr id="92" name="Google Shape;92;p1"/>
          <p:cNvSpPr/>
          <p:nvPr/>
        </p:nvSpPr>
        <p:spPr>
          <a:xfrm>
            <a:off x="0" y="4412612"/>
            <a:ext cx="12192000" cy="2445391"/>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Calibri"/>
                <a:ea typeface="Calibri"/>
                <a:cs typeface="Calibri"/>
                <a:sym typeface="Calibri"/>
              </a:rPr>
              <a:t>Nhóm chuyên môn UDPT – Trường Công nghệ thông tin Phenikaa</a:t>
            </a:r>
            <a:endParaRPr b="1" i="0" sz="20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0" i="0" lang="en-US" sz="2000" u="none" cap="none" strike="noStrike">
                <a:solidFill>
                  <a:schemeClr val="lt1"/>
                </a:solidFill>
                <a:latin typeface="Calibri"/>
                <a:ea typeface="Calibri"/>
                <a:cs typeface="Calibri"/>
                <a:sym typeface="Calibri"/>
              </a:rPr>
              <a:t>(Trần Đăng Hoan, Đỗ Quốc Trường, Nguyễn Thành Trung, Phạm Kim Thành, Nguyễn Hữu Đạt)</a:t>
            </a:r>
            <a:endParaRPr b="0" i="0" sz="2000" u="none" cap="none" strike="noStrike">
              <a:solidFill>
                <a:schemeClr val="lt1"/>
              </a:solidFill>
              <a:latin typeface="Calibri"/>
              <a:ea typeface="Calibri"/>
              <a:cs typeface="Calibri"/>
              <a:sym typeface="Calibri"/>
            </a:endParaRPr>
          </a:p>
        </p:txBody>
      </p:sp>
      <p:sp>
        <p:nvSpPr>
          <p:cNvPr id="93" name="Google Shape;93;p1"/>
          <p:cNvSpPr/>
          <p:nvPr/>
        </p:nvSpPr>
        <p:spPr>
          <a:xfrm>
            <a:off x="0" y="41148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A picture containing text&#10;&#10;Description automatically generated" id="94" name="Google Shape;94;p1"/>
          <p:cNvPicPr preferRelativeResize="0"/>
          <p:nvPr/>
        </p:nvPicPr>
        <p:blipFill rotWithShape="1">
          <a:blip r:embed="rId3">
            <a:alphaModFix/>
          </a:blip>
          <a:srcRect b="0" l="0" r="0" t="0"/>
          <a:stretch/>
        </p:blipFill>
        <p:spPr>
          <a:xfrm>
            <a:off x="0" y="271253"/>
            <a:ext cx="2684477" cy="462203"/>
          </a:xfrm>
          <a:prstGeom prst="rect">
            <a:avLst/>
          </a:prstGeom>
          <a:noFill/>
          <a:ln>
            <a:noFill/>
          </a:ln>
        </p:spPr>
      </p:pic>
      <p:sp>
        <p:nvSpPr>
          <p:cNvPr id="95" name="Google Shape;95;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nvSpPr>
        <p:spPr>
          <a:xfrm>
            <a:off x="1066800" y="1752600"/>
            <a:ext cx="7924800" cy="3057900"/>
          </a:xfrm>
          <a:prstGeom prst="rect">
            <a:avLst/>
          </a:prstGeom>
          <a:noFill/>
          <a:ln>
            <a:noFill/>
          </a:ln>
        </p:spPr>
        <p:txBody>
          <a:bodyPr anchorCtr="0" anchor="t" bIns="0" lIns="0" spcFirstLastPara="1" rIns="0" wrap="square" tIns="102850">
            <a:spAutoFit/>
          </a:bodyPr>
          <a:lstStyle/>
          <a:p>
            <a:pPr indent="0" lvl="0" marL="12065" marR="0" rtl="0" algn="l">
              <a:spcBef>
                <a:spcPts val="0"/>
              </a:spcBef>
              <a:spcAft>
                <a:spcPts val="0"/>
              </a:spcAft>
              <a:buNone/>
            </a:pPr>
            <a:r>
              <a:rPr b="0" i="0" lang="en-US" sz="2900" u="none" cap="none" strike="noStrike">
                <a:solidFill>
                  <a:schemeClr val="dk1"/>
                </a:solidFill>
                <a:latin typeface="Calibri"/>
                <a:ea typeface="Calibri"/>
                <a:cs typeface="Calibri"/>
                <a:sym typeface="Calibri"/>
              </a:rPr>
              <a:t>1. Tiến trình và luồng</a:t>
            </a:r>
            <a:endParaRPr b="0" i="0" sz="2900" u="none" cap="none" strike="noStrike">
              <a:solidFill>
                <a:schemeClr val="dk1"/>
              </a:solidFill>
              <a:latin typeface="Calibri"/>
              <a:ea typeface="Calibri"/>
              <a:cs typeface="Calibri"/>
              <a:sym typeface="Calibri"/>
            </a:endParaRPr>
          </a:p>
          <a:p>
            <a:pPr indent="0" lvl="0" marL="12065" marR="0" rtl="0" algn="l">
              <a:spcBef>
                <a:spcPts val="810"/>
              </a:spcBef>
              <a:spcAft>
                <a:spcPts val="0"/>
              </a:spcAft>
              <a:buNone/>
            </a:pPr>
            <a:r>
              <a:rPr b="0" i="0" lang="en-US" sz="2900" u="none" cap="none" strike="noStrike">
                <a:solidFill>
                  <a:schemeClr val="dk1"/>
                </a:solidFill>
                <a:latin typeface="Calibri"/>
                <a:ea typeface="Calibri"/>
                <a:cs typeface="Calibri"/>
                <a:sym typeface="Calibri"/>
              </a:rPr>
              <a:t>2. Ti</a:t>
            </a:r>
            <a:r>
              <a:rPr lang="en-US" sz="2900">
                <a:solidFill>
                  <a:schemeClr val="dk1"/>
                </a:solidFill>
                <a:latin typeface="Calibri"/>
                <a:ea typeface="Calibri"/>
                <a:cs typeface="Calibri"/>
                <a:sym typeface="Calibri"/>
              </a:rPr>
              <a:t>ến trình và luồng trong HPT</a:t>
            </a:r>
            <a:endParaRPr sz="2900">
              <a:solidFill>
                <a:schemeClr val="dk1"/>
              </a:solidFill>
              <a:latin typeface="Calibri"/>
              <a:ea typeface="Calibri"/>
              <a:cs typeface="Calibri"/>
              <a:sym typeface="Calibri"/>
            </a:endParaRPr>
          </a:p>
          <a:p>
            <a:pPr indent="0" lvl="0" marL="12065" marR="0" rtl="0" algn="l">
              <a:spcBef>
                <a:spcPts val="810"/>
              </a:spcBef>
              <a:spcAft>
                <a:spcPts val="0"/>
              </a:spcAft>
              <a:buNone/>
            </a:pPr>
            <a:r>
              <a:rPr lang="en-US" sz="2900">
                <a:solidFill>
                  <a:schemeClr val="dk1"/>
                </a:solidFill>
                <a:latin typeface="Calibri"/>
                <a:ea typeface="Calibri"/>
                <a:cs typeface="Calibri"/>
                <a:sym typeface="Calibri"/>
              </a:rPr>
              <a:t>3. Server trong HPT</a:t>
            </a:r>
            <a:endParaRPr sz="2900">
              <a:solidFill>
                <a:schemeClr val="dk1"/>
              </a:solidFill>
              <a:latin typeface="Calibri"/>
              <a:ea typeface="Calibri"/>
              <a:cs typeface="Calibri"/>
              <a:sym typeface="Calibri"/>
            </a:endParaRPr>
          </a:p>
          <a:p>
            <a:pPr indent="0" lvl="0" marL="12065" marR="0" rtl="0" algn="l">
              <a:spcBef>
                <a:spcPts val="810"/>
              </a:spcBef>
              <a:spcAft>
                <a:spcPts val="0"/>
              </a:spcAft>
              <a:buNone/>
            </a:pPr>
            <a:r>
              <a:rPr lang="en-US" sz="2900">
                <a:solidFill>
                  <a:schemeClr val="dk1"/>
                </a:solidFill>
                <a:latin typeface="Calibri"/>
                <a:ea typeface="Calibri"/>
                <a:cs typeface="Calibri"/>
                <a:sym typeface="Calibri"/>
              </a:rPr>
              <a:t>4. Client trong HPT</a:t>
            </a:r>
            <a:endParaRPr sz="2900">
              <a:solidFill>
                <a:schemeClr val="dk1"/>
              </a:solidFill>
              <a:latin typeface="Calibri"/>
              <a:ea typeface="Calibri"/>
              <a:cs typeface="Calibri"/>
              <a:sym typeface="Calibri"/>
            </a:endParaRPr>
          </a:p>
          <a:p>
            <a:pPr indent="0" lvl="0" marL="12065" marR="0" rtl="0" algn="l">
              <a:spcBef>
                <a:spcPts val="810"/>
              </a:spcBef>
              <a:spcAft>
                <a:spcPts val="0"/>
              </a:spcAft>
              <a:buNone/>
            </a:pPr>
            <a:r>
              <a:rPr lang="en-US" sz="2900">
                <a:solidFill>
                  <a:schemeClr val="dk1"/>
                </a:solidFill>
                <a:latin typeface="Calibri"/>
                <a:ea typeface="Calibri"/>
                <a:cs typeface="Calibri"/>
                <a:sym typeface="Calibri"/>
              </a:rPr>
              <a:t>5. Ứng dụng &amp; Bài tập</a:t>
            </a:r>
            <a:endParaRPr sz="2900">
              <a:solidFill>
                <a:schemeClr val="dk1"/>
              </a:solidFill>
              <a:latin typeface="Calibri"/>
              <a:ea typeface="Calibri"/>
              <a:cs typeface="Calibri"/>
              <a:sym typeface="Calibri"/>
            </a:endParaRPr>
          </a:p>
          <a:p>
            <a:pPr indent="0" lvl="0" marL="0" marR="0" rtl="0" algn="l">
              <a:spcBef>
                <a:spcPts val="710"/>
              </a:spcBef>
              <a:spcAft>
                <a:spcPts val="0"/>
              </a:spcAft>
              <a:buNone/>
            </a:pPr>
            <a:r>
              <a:t/>
            </a:r>
            <a:endParaRPr/>
          </a:p>
        </p:txBody>
      </p:sp>
      <p:sp>
        <p:nvSpPr>
          <p:cNvPr id="101" name="Google Shape;101;p2"/>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2"/>
          <p:cNvSpPr txBox="1"/>
          <p:nvPr>
            <p:ph type="title"/>
          </p:nvPr>
        </p:nvSpPr>
        <p:spPr>
          <a:xfrm>
            <a:off x="838200" y="365125"/>
            <a:ext cx="10515600" cy="5492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b="1" lang="en-US">
                <a:solidFill>
                  <a:schemeClr val="lt1"/>
                </a:solidFill>
                <a:latin typeface="Calibri"/>
                <a:ea typeface="Calibri"/>
                <a:cs typeface="Calibri"/>
                <a:sym typeface="Calibri"/>
              </a:rPr>
              <a:t>NỘI DUNG</a:t>
            </a:r>
            <a:endParaRPr/>
          </a:p>
        </p:txBody>
      </p:sp>
      <p:sp>
        <p:nvSpPr>
          <p:cNvPr id="103" name="Google Shape;103;p2"/>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nvSpPr>
        <p:spPr>
          <a:xfrm>
            <a:off x="838200" y="1529267"/>
            <a:ext cx="10439400" cy="3895937"/>
          </a:xfrm>
          <a:prstGeom prst="rect">
            <a:avLst/>
          </a:prstGeom>
          <a:noFill/>
          <a:ln>
            <a:noFill/>
          </a:ln>
        </p:spPr>
        <p:txBody>
          <a:bodyPr anchorCtr="0" anchor="t" bIns="0" lIns="0" spcFirstLastPara="1" rIns="0" wrap="square" tIns="104125">
            <a:spAutoFit/>
          </a:bodyPr>
          <a:lstStyle/>
          <a:p>
            <a:pPr indent="-320675" lvl="0" marL="332740" marR="0" rtl="0" algn="l">
              <a:spcBef>
                <a:spcPts val="0"/>
              </a:spcBef>
              <a:spcAft>
                <a:spcPts val="0"/>
              </a:spcAft>
              <a:buClr>
                <a:srgbClr val="DD8046"/>
              </a:buClr>
              <a:buSzPts val="1650"/>
              <a:buFont typeface="Noto Sans Symbols"/>
              <a:buChar char="◻"/>
            </a:pPr>
            <a:r>
              <a:rPr b="0" i="0" lang="en-US" sz="2800" u="none" cap="none" strike="noStrike">
                <a:solidFill>
                  <a:schemeClr val="dk1"/>
                </a:solidFill>
                <a:latin typeface="Calibri"/>
                <a:ea typeface="Calibri"/>
                <a:cs typeface="Calibri"/>
                <a:sym typeface="Calibri"/>
              </a:rPr>
              <a:t>Tiến trình (process): Là 1 chương trình đang được chạy trên một trong các bộ xử lý ảo của hệ điều hành.</a:t>
            </a:r>
            <a:endParaRPr b="0" i="0" sz="2800" u="none" cap="none" strike="noStrike">
              <a:solidFill>
                <a:schemeClr val="dk1"/>
              </a:solidFill>
              <a:latin typeface="Calibri"/>
              <a:ea typeface="Calibri"/>
              <a:cs typeface="Calibri"/>
              <a:sym typeface="Calibri"/>
            </a:endParaRPr>
          </a:p>
          <a:p>
            <a:pPr indent="-274955" lvl="1" marL="652780" marR="0" rtl="0" algn="l">
              <a:spcBef>
                <a:spcPts val="620"/>
              </a:spcBef>
              <a:spcAft>
                <a:spcPts val="0"/>
              </a:spcAft>
              <a:buClr>
                <a:srgbClr val="93B6D2"/>
              </a:buClr>
              <a:buSzPts val="1650"/>
              <a:buFont typeface="Arial"/>
              <a:buChar char=""/>
            </a:pPr>
            <a:r>
              <a:rPr b="0" i="0" lang="en-US" sz="2400" u="none" cap="none" strike="noStrike">
                <a:solidFill>
                  <a:schemeClr val="dk1"/>
                </a:solidFill>
                <a:latin typeface="Calibri"/>
                <a:ea typeface="Calibri"/>
                <a:cs typeface="Calibri"/>
                <a:sym typeface="Calibri"/>
              </a:rPr>
              <a:t>Chương trình đang hoạt động</a:t>
            </a:r>
            <a:endParaRPr/>
          </a:p>
          <a:p>
            <a:pPr indent="-274955" lvl="1" marL="652780" marR="0" rtl="0" algn="l">
              <a:spcBef>
                <a:spcPts val="600"/>
              </a:spcBef>
              <a:spcAft>
                <a:spcPts val="0"/>
              </a:spcAft>
              <a:buClr>
                <a:srgbClr val="93B6D2"/>
              </a:buClr>
              <a:buSzPts val="1650"/>
              <a:buFont typeface="Arial"/>
              <a:buChar char=""/>
            </a:pPr>
            <a:r>
              <a:rPr b="0" i="0" lang="en-US" sz="2400" u="none" cap="none" strike="noStrike">
                <a:solidFill>
                  <a:schemeClr val="dk1"/>
                </a:solidFill>
                <a:latin typeface="Calibri"/>
                <a:ea typeface="Calibri"/>
                <a:cs typeface="Calibri"/>
                <a:sym typeface="Calibri"/>
              </a:rPr>
              <a:t>Tài nguyên:</a:t>
            </a:r>
            <a:endParaRPr/>
          </a:p>
          <a:p>
            <a:pPr indent="-229234" lvl="2" marL="927100" marR="0" rtl="0" algn="l">
              <a:spcBef>
                <a:spcPts val="515"/>
              </a:spcBef>
              <a:spcAft>
                <a:spcPts val="0"/>
              </a:spcAft>
              <a:buClr>
                <a:srgbClr val="DD8046"/>
              </a:buClr>
              <a:buSzPts val="1550"/>
              <a:buFont typeface="Noto Sans Symbols"/>
              <a:buChar char="■"/>
            </a:pPr>
            <a:r>
              <a:rPr b="0" i="0" lang="en-US" sz="2100" u="none" cap="none" strike="noStrike">
                <a:solidFill>
                  <a:schemeClr val="dk1"/>
                </a:solidFill>
                <a:latin typeface="Calibri"/>
                <a:ea typeface="Calibri"/>
                <a:cs typeface="Calibri"/>
                <a:sym typeface="Calibri"/>
              </a:rPr>
              <a:t>Virtual Processor</a:t>
            </a:r>
            <a:endParaRPr b="0" i="0" sz="2100" u="none" cap="none" strike="noStrike">
              <a:solidFill>
                <a:schemeClr val="dk1"/>
              </a:solidFill>
              <a:latin typeface="Calibri"/>
              <a:ea typeface="Calibri"/>
              <a:cs typeface="Calibri"/>
              <a:sym typeface="Calibri"/>
            </a:endParaRPr>
          </a:p>
          <a:p>
            <a:pPr indent="-229234" lvl="2" marL="927100" marR="0" rtl="0" algn="l">
              <a:spcBef>
                <a:spcPts val="490"/>
              </a:spcBef>
              <a:spcAft>
                <a:spcPts val="0"/>
              </a:spcAft>
              <a:buClr>
                <a:srgbClr val="DD8046"/>
              </a:buClr>
              <a:buSzPts val="1550"/>
              <a:buFont typeface="Noto Sans Symbols"/>
              <a:buChar char="■"/>
            </a:pPr>
            <a:r>
              <a:rPr b="0" i="0" lang="en-US" sz="2100" u="none" cap="none" strike="noStrike">
                <a:solidFill>
                  <a:schemeClr val="dk1"/>
                </a:solidFill>
                <a:latin typeface="Calibri"/>
                <a:ea typeface="Calibri"/>
                <a:cs typeface="Calibri"/>
                <a:sym typeface="Calibri"/>
              </a:rPr>
              <a:t>Virtual Memory</a:t>
            </a:r>
            <a:endParaRPr b="0" i="0" sz="2100" u="none" cap="none" strike="noStrike">
              <a:solidFill>
                <a:schemeClr val="dk1"/>
              </a:solidFill>
              <a:latin typeface="Calibri"/>
              <a:ea typeface="Calibri"/>
              <a:cs typeface="Calibri"/>
              <a:sym typeface="Calibri"/>
            </a:endParaRPr>
          </a:p>
          <a:p>
            <a:pPr indent="-274955" lvl="1" marL="652780" marR="0" rtl="0" algn="l">
              <a:spcBef>
                <a:spcPts val="590"/>
              </a:spcBef>
              <a:spcAft>
                <a:spcPts val="0"/>
              </a:spcAft>
              <a:buClr>
                <a:srgbClr val="93B6D2"/>
              </a:buClr>
              <a:buSzPts val="1650"/>
              <a:buFont typeface="Arial"/>
              <a:buChar char=""/>
            </a:pPr>
            <a:r>
              <a:rPr b="0" i="0" lang="en-US" sz="2400" u="none" cap="none" strike="noStrike">
                <a:solidFill>
                  <a:schemeClr val="dk1"/>
                </a:solidFill>
                <a:latin typeface="Calibri"/>
                <a:ea typeface="Calibri"/>
                <a:cs typeface="Calibri"/>
                <a:sym typeface="Calibri"/>
              </a:rPr>
              <a:t>Trong suốt tương tranh</a:t>
            </a:r>
            <a:endParaRPr/>
          </a:p>
          <a:p>
            <a:pPr indent="-274955" lvl="1" marL="652780" marR="0" rtl="0" algn="l">
              <a:spcBef>
                <a:spcPts val="600"/>
              </a:spcBef>
              <a:spcAft>
                <a:spcPts val="0"/>
              </a:spcAft>
              <a:buClr>
                <a:srgbClr val="93B6D2"/>
              </a:buClr>
              <a:buSzPts val="1650"/>
              <a:buFont typeface="Arial"/>
              <a:buChar char=""/>
            </a:pPr>
            <a:r>
              <a:rPr b="0" i="0" lang="en-US" sz="2400" u="none" cap="none" strike="noStrike">
                <a:solidFill>
                  <a:schemeClr val="dk1"/>
                </a:solidFill>
                <a:latin typeface="Calibri"/>
                <a:ea typeface="Calibri"/>
                <a:cs typeface="Calibri"/>
                <a:sym typeface="Calibri"/>
              </a:rPr>
              <a:t>Các tiến trình khác nhau nằm trong một không gian địa chỉ riêng biệt và không truy nhập bộ nhớ của nhau</a:t>
            </a:r>
            <a:endParaRPr b="0" i="0" sz="2400" u="none" cap="none" strike="noStrike">
              <a:solidFill>
                <a:schemeClr val="dk1"/>
              </a:solidFill>
              <a:latin typeface="Calibri"/>
              <a:ea typeface="Calibri"/>
              <a:cs typeface="Calibri"/>
              <a:sym typeface="Calibri"/>
            </a:endParaRPr>
          </a:p>
        </p:txBody>
      </p:sp>
      <p:sp>
        <p:nvSpPr>
          <p:cNvPr id="110" name="Google Shape;110;p3"/>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 name="Google Shape;111;p3"/>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TIẾN TRÌNH VÀ LUỒNG</a:t>
            </a:r>
            <a:endParaRPr/>
          </a:p>
        </p:txBody>
      </p:sp>
      <p:sp>
        <p:nvSpPr>
          <p:cNvPr id="112" name="Google Shape;112;p3"/>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nvSpPr>
        <p:spPr>
          <a:xfrm>
            <a:off x="990600" y="1828800"/>
            <a:ext cx="7267575" cy="4438395"/>
          </a:xfrm>
          <a:prstGeom prst="rect">
            <a:avLst/>
          </a:prstGeom>
          <a:noFill/>
          <a:ln>
            <a:noFill/>
          </a:ln>
        </p:spPr>
        <p:txBody>
          <a:bodyPr anchorCtr="0" anchor="t" bIns="0" lIns="0" spcFirstLastPara="1" rIns="0" wrap="square" tIns="102850">
            <a:spAutoFit/>
          </a:bodyPr>
          <a:lstStyle/>
          <a:p>
            <a:pPr indent="0" lvl="0" marL="12065" marR="0" rtl="0" algn="l">
              <a:spcBef>
                <a:spcPts val="0"/>
              </a:spcBef>
              <a:spcAft>
                <a:spcPts val="0"/>
              </a:spcAft>
              <a:buNone/>
            </a:pPr>
            <a:r>
              <a:rPr b="0" i="0" lang="en-US" sz="2400" u="none" cap="none" strike="noStrike">
                <a:solidFill>
                  <a:schemeClr val="dk1"/>
                </a:solidFill>
                <a:latin typeface="Calibri"/>
                <a:ea typeface="Calibri"/>
                <a:cs typeface="Calibri"/>
                <a:sym typeface="Calibri"/>
              </a:rPr>
              <a:t>Luồng (thread):</a:t>
            </a:r>
            <a:endParaRPr b="0" i="0" sz="2400" u="none" cap="none" strike="noStrike">
              <a:solidFill>
                <a:schemeClr val="dk1"/>
              </a:solidFill>
              <a:latin typeface="Calibri"/>
              <a:ea typeface="Calibri"/>
              <a:cs typeface="Calibri"/>
              <a:sym typeface="Calibri"/>
            </a:endParaRPr>
          </a:p>
          <a:p>
            <a:pPr indent="-320675" lvl="0" marL="332740" marR="0" rtl="0" algn="l">
              <a:spcBef>
                <a:spcPts val="810"/>
              </a:spcBef>
              <a:spcAft>
                <a:spcPts val="0"/>
              </a:spcAft>
              <a:buClr>
                <a:srgbClr val="DD8046"/>
              </a:buClr>
              <a:buSzPts val="1450"/>
              <a:buFont typeface="Noto Sans Symbols"/>
              <a:buChar char="◻"/>
            </a:pPr>
            <a:r>
              <a:rPr b="0" i="0" lang="en-US" sz="2400" u="none" cap="none" strike="noStrike">
                <a:solidFill>
                  <a:schemeClr val="dk1"/>
                </a:solidFill>
                <a:latin typeface="Calibri"/>
                <a:ea typeface="Calibri"/>
                <a:cs typeface="Calibri"/>
                <a:sym typeface="Calibri"/>
              </a:rPr>
              <a:t>Là một luồng thực thi của tiến trình.</a:t>
            </a:r>
            <a:endParaRPr/>
          </a:p>
          <a:p>
            <a:pPr indent="-320675" lvl="0" marL="332740" marR="0" rtl="0" algn="l">
              <a:spcBef>
                <a:spcPts val="715"/>
              </a:spcBef>
              <a:spcAft>
                <a:spcPts val="0"/>
              </a:spcAft>
              <a:buClr>
                <a:srgbClr val="DD8046"/>
              </a:buClr>
              <a:buSzPts val="1450"/>
              <a:buFont typeface="Noto Sans Symbols"/>
              <a:buChar char="◻"/>
            </a:pPr>
            <a:r>
              <a:rPr b="0" i="0" lang="en-US" sz="2400" u="none" cap="none" strike="noStrike">
                <a:solidFill>
                  <a:schemeClr val="dk1"/>
                </a:solidFill>
                <a:latin typeface="Calibri"/>
                <a:ea typeface="Calibri"/>
                <a:cs typeface="Calibri"/>
                <a:sym typeface="Calibri"/>
              </a:rPr>
              <a:t>Tiến trình có nhiều luồng thực thi =&gt; Tiến trình đa luồng</a:t>
            </a:r>
            <a:endParaRPr/>
          </a:p>
          <a:p>
            <a:pPr indent="-320675" lvl="0" marL="332740" marR="5080" rtl="0" algn="l">
              <a:spcBef>
                <a:spcPts val="695"/>
              </a:spcBef>
              <a:spcAft>
                <a:spcPts val="0"/>
              </a:spcAft>
              <a:buClr>
                <a:srgbClr val="DD8046"/>
              </a:buClr>
              <a:buSzPts val="1450"/>
              <a:buFont typeface="Noto Sans Symbols"/>
              <a:buChar char="◻"/>
            </a:pPr>
            <a:r>
              <a:rPr b="0" i="0" lang="en-US" sz="2400" u="none" cap="none" strike="noStrike">
                <a:solidFill>
                  <a:schemeClr val="dk1"/>
                </a:solidFill>
                <a:latin typeface="Calibri"/>
                <a:ea typeface="Calibri"/>
                <a:cs typeface="Calibri"/>
                <a:sym typeface="Calibri"/>
              </a:rPr>
              <a:t>Các luồng thuộc cùng một tiến trình thì cùng sử dụng không gian bộ nhớ của tiến trình đó</a:t>
            </a:r>
            <a:endParaRPr b="0" i="0" sz="2400" u="none" cap="none" strike="noStrike">
              <a:solidFill>
                <a:schemeClr val="dk1"/>
              </a:solidFill>
              <a:latin typeface="Calibri"/>
              <a:ea typeface="Calibri"/>
              <a:cs typeface="Calibri"/>
              <a:sym typeface="Calibri"/>
            </a:endParaRPr>
          </a:p>
          <a:p>
            <a:pPr indent="-320675" lvl="0" marL="332740" marR="5080" rtl="0" algn="l">
              <a:spcBef>
                <a:spcPts val="695"/>
              </a:spcBef>
              <a:spcAft>
                <a:spcPts val="0"/>
              </a:spcAft>
              <a:buClr>
                <a:srgbClr val="DD8046"/>
              </a:buClr>
              <a:buSzPts val="1450"/>
              <a:buFont typeface="Noto Sans Symbols"/>
              <a:buChar char="◻"/>
            </a:pPr>
            <a:r>
              <a:rPr b="0" i="0" lang="en-US" sz="2400" u="none" cap="none" strike="noStrike">
                <a:solidFill>
                  <a:schemeClr val="dk1"/>
                </a:solidFill>
                <a:latin typeface="Calibri"/>
                <a:ea typeface="Calibri"/>
                <a:cs typeface="Calibri"/>
                <a:sym typeface="Calibri"/>
              </a:rPr>
              <a:t>Trao đổi thông tin giữa các luồng thông qua các biến chia sẻ</a:t>
            </a:r>
            <a:endParaRPr b="0" i="0" sz="2400" u="none" cap="none" strike="noStrike">
              <a:solidFill>
                <a:schemeClr val="dk1"/>
              </a:solidFill>
              <a:latin typeface="Calibri"/>
              <a:ea typeface="Calibri"/>
              <a:cs typeface="Calibri"/>
              <a:sym typeface="Calibri"/>
            </a:endParaRPr>
          </a:p>
          <a:p>
            <a:pPr indent="-320675" lvl="0" marL="332740" marR="73025" rtl="0" algn="l">
              <a:spcBef>
                <a:spcPts val="700"/>
              </a:spcBef>
              <a:spcAft>
                <a:spcPts val="0"/>
              </a:spcAft>
              <a:buClr>
                <a:srgbClr val="DD8046"/>
              </a:buClr>
              <a:buSzPts val="1450"/>
              <a:buFont typeface="Noto Sans Symbols"/>
              <a:buChar char="◻"/>
            </a:pPr>
            <a:r>
              <a:rPr b="0" i="0" lang="en-US" sz="2400" u="none" cap="none" strike="noStrike">
                <a:solidFill>
                  <a:schemeClr val="dk1"/>
                </a:solidFill>
                <a:latin typeface="Calibri"/>
                <a:ea typeface="Calibri"/>
                <a:cs typeface="Calibri"/>
                <a:sym typeface="Calibri"/>
              </a:rPr>
              <a:t>An toàn và hợp lý của tương tác luồng do lập trình viên quyết  định</a:t>
            </a:r>
            <a:endParaRPr/>
          </a:p>
          <a:p>
            <a:pPr indent="-320675" lvl="0" marL="332740" marR="0" rtl="0" algn="l">
              <a:spcBef>
                <a:spcPts val="705"/>
              </a:spcBef>
              <a:spcAft>
                <a:spcPts val="0"/>
              </a:spcAft>
              <a:buClr>
                <a:srgbClr val="DD8046"/>
              </a:buClr>
              <a:buSzPts val="1450"/>
              <a:buFont typeface="Noto Sans Symbols"/>
              <a:buChar char="◻"/>
            </a:pPr>
            <a:r>
              <a:rPr b="0" i="0" lang="en-US" sz="2400" u="none" cap="none" strike="noStrike">
                <a:solidFill>
                  <a:schemeClr val="dk1"/>
                </a:solidFill>
                <a:latin typeface="Calibri"/>
                <a:ea typeface="Calibri"/>
                <a:cs typeface="Calibri"/>
                <a:sym typeface="Calibri"/>
              </a:rPr>
              <a:t>Luồng =&gt; hiệu năng+chi phí lập trình</a:t>
            </a:r>
            <a:endParaRPr/>
          </a:p>
        </p:txBody>
      </p:sp>
      <p:sp>
        <p:nvSpPr>
          <p:cNvPr id="118" name="Google Shape;118;p4"/>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4"/>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TIẾN TRÌNH VÀ LUỒNG</a:t>
            </a:r>
            <a:endParaRPr/>
          </a:p>
        </p:txBody>
      </p:sp>
      <p:sp>
        <p:nvSpPr>
          <p:cNvPr id="120" name="Google Shape;120;p4"/>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Luồng là các phần của một tiến trình" id="121" name="Google Shape;121;p4"/>
          <p:cNvPicPr preferRelativeResize="0"/>
          <p:nvPr/>
        </p:nvPicPr>
        <p:blipFill rotWithShape="1">
          <a:blip r:embed="rId3">
            <a:alphaModFix/>
          </a:blip>
          <a:srcRect b="0" l="0" r="0" t="0"/>
          <a:stretch/>
        </p:blipFill>
        <p:spPr>
          <a:xfrm>
            <a:off x="8258175" y="1834308"/>
            <a:ext cx="3933825"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5"/>
          <p:cNvSpPr txBox="1"/>
          <p:nvPr/>
        </p:nvSpPr>
        <p:spPr>
          <a:xfrm>
            <a:off x="1066800" y="1608786"/>
            <a:ext cx="10591800" cy="4406976"/>
          </a:xfrm>
          <a:prstGeom prst="rect">
            <a:avLst/>
          </a:prstGeom>
          <a:noFill/>
          <a:ln>
            <a:noFill/>
          </a:ln>
        </p:spPr>
        <p:txBody>
          <a:bodyPr anchorCtr="0" anchor="t" bIns="0" lIns="0" spcFirstLastPara="1" rIns="0" wrap="square" tIns="13325">
            <a:spAutoFit/>
          </a:bodyPr>
          <a:lstStyle/>
          <a:p>
            <a:pPr indent="-320675" lvl="0" marL="332740" marR="5080" rtl="0" algn="l">
              <a:spcBef>
                <a:spcPts val="0"/>
              </a:spcBef>
              <a:spcAft>
                <a:spcPts val="0"/>
              </a:spcAft>
              <a:buClr>
                <a:srgbClr val="DD8046"/>
              </a:buClr>
              <a:buSzPts val="1690"/>
              <a:buFont typeface="Noto Sans Symbols"/>
              <a:buChar char="◻"/>
            </a:pPr>
            <a:r>
              <a:rPr b="0" i="0" lang="en-US" sz="2800" u="none" cap="none" strike="noStrike">
                <a:solidFill>
                  <a:schemeClr val="dk1"/>
                </a:solidFill>
                <a:latin typeface="Calibri"/>
                <a:ea typeface="Calibri"/>
                <a:cs typeface="Calibri"/>
                <a:sym typeface="Calibri"/>
              </a:rPr>
              <a:t>Khi 1 tiến trình chạy 1 chương trình nó sẽ sinh ra 1 hay nhiều luồng.</a:t>
            </a:r>
            <a:endParaRPr/>
          </a:p>
          <a:p>
            <a:pPr indent="-320675" lvl="0" marL="332740" marR="5080" rtl="0" algn="l">
              <a:spcBef>
                <a:spcPts val="105"/>
              </a:spcBef>
              <a:spcAft>
                <a:spcPts val="0"/>
              </a:spcAft>
              <a:buClr>
                <a:srgbClr val="DD8046"/>
              </a:buClr>
              <a:buSzPts val="1690"/>
              <a:buFont typeface="Noto Sans Symbols"/>
              <a:buChar char="◻"/>
            </a:pPr>
            <a:r>
              <a:rPr b="0" i="0" lang="en-US" sz="2800" u="none" cap="none" strike="noStrike">
                <a:solidFill>
                  <a:schemeClr val="dk1"/>
                </a:solidFill>
                <a:latin typeface="Calibri"/>
                <a:ea typeface="Calibri"/>
                <a:cs typeface="Calibri"/>
                <a:sym typeface="Calibri"/>
              </a:rPr>
              <a:t>Sau khi được tiến trình sinh ra mỗi luồng có đoạn mã thực hiện riêng, độc lập với các luồng khác.</a:t>
            </a:r>
            <a:endParaRPr/>
          </a:p>
          <a:p>
            <a:pPr indent="-320675" lvl="0" marL="332740" marR="5080" rtl="0" algn="l">
              <a:spcBef>
                <a:spcPts val="105"/>
              </a:spcBef>
              <a:spcAft>
                <a:spcPts val="0"/>
              </a:spcAft>
              <a:buClr>
                <a:srgbClr val="DD8046"/>
              </a:buClr>
              <a:buSzPts val="1690"/>
              <a:buFont typeface="Noto Sans Symbols"/>
              <a:buChar char="◻"/>
            </a:pPr>
            <a:r>
              <a:rPr b="0" i="0" lang="en-US" sz="2800" u="none" cap="none" strike="noStrike">
                <a:solidFill>
                  <a:schemeClr val="dk1"/>
                </a:solidFill>
                <a:latin typeface="Calibri"/>
                <a:ea typeface="Calibri"/>
                <a:cs typeface="Calibri"/>
                <a:sym typeface="Calibri"/>
              </a:rPr>
              <a:t>Tuy nhiên khác với tiến trình, các luồng không cần phải hoạt động hoàn toàn độc lập và trong suốt với nhau. Vì vậy mỗi luồng chỉ cần lưu trữ thông tin ít nhât để có thể cho phép các luồng chia sẻ CPU</a:t>
            </a:r>
            <a:endParaRPr b="0" i="0" sz="2800" u="none" cap="none" strike="noStrike">
              <a:solidFill>
                <a:schemeClr val="dk1"/>
              </a:solidFill>
              <a:latin typeface="Calibri"/>
              <a:ea typeface="Calibri"/>
              <a:cs typeface="Calibri"/>
              <a:sym typeface="Calibri"/>
            </a:endParaRPr>
          </a:p>
          <a:p>
            <a:pPr indent="-320675" lvl="0" marL="332740" marR="5080" rtl="0" algn="l">
              <a:spcBef>
                <a:spcPts val="105"/>
              </a:spcBef>
              <a:spcAft>
                <a:spcPts val="0"/>
              </a:spcAft>
              <a:buClr>
                <a:srgbClr val="DD8046"/>
              </a:buClr>
              <a:buSzPts val="1690"/>
              <a:buFont typeface="Noto Sans Symbols"/>
              <a:buChar char="◻"/>
            </a:pPr>
            <a:r>
              <a:rPr b="0" i="0" lang="en-US" sz="2800" u="none" cap="none" strike="noStrike">
                <a:solidFill>
                  <a:schemeClr val="dk1"/>
                </a:solidFill>
                <a:latin typeface="Calibri"/>
                <a:ea typeface="Calibri"/>
                <a:cs typeface="Calibri"/>
                <a:sym typeface="Calibri"/>
              </a:rPr>
              <a:t>Đa tiến trình vs. Đa luồng.</a:t>
            </a:r>
            <a:endParaRPr/>
          </a:p>
          <a:p>
            <a:pPr indent="-274955" lvl="1" marL="652780" marR="0" rtl="0" algn="l">
              <a:spcBef>
                <a:spcPts val="615"/>
              </a:spcBef>
              <a:spcAft>
                <a:spcPts val="0"/>
              </a:spcAft>
              <a:buClr>
                <a:srgbClr val="93B6D2"/>
              </a:buClr>
              <a:buSzPts val="1662"/>
              <a:buFont typeface="Arial"/>
              <a:buChar char=""/>
            </a:pPr>
            <a:r>
              <a:rPr b="0" i="0" lang="en-US" sz="2400" u="none" cap="none" strike="noStrike">
                <a:solidFill>
                  <a:schemeClr val="dk1"/>
                </a:solidFill>
                <a:latin typeface="Calibri"/>
                <a:ea typeface="Calibri"/>
                <a:cs typeface="Calibri"/>
                <a:sym typeface="Calibri"/>
              </a:rPr>
              <a:t>Chi phí lập trình</a:t>
            </a:r>
            <a:endParaRPr b="0" i="0" sz="2400" u="none" cap="none" strike="noStrike">
              <a:solidFill>
                <a:schemeClr val="dk1"/>
              </a:solidFill>
              <a:latin typeface="Calibri"/>
              <a:ea typeface="Calibri"/>
              <a:cs typeface="Calibri"/>
              <a:sym typeface="Calibri"/>
            </a:endParaRPr>
          </a:p>
          <a:p>
            <a:pPr indent="-274320" lvl="1" marL="652780" marR="406400" rtl="0" algn="l">
              <a:spcBef>
                <a:spcPts val="600"/>
              </a:spcBef>
              <a:spcAft>
                <a:spcPts val="0"/>
              </a:spcAft>
              <a:buClr>
                <a:srgbClr val="93B6D2"/>
              </a:buClr>
              <a:buSzPts val="1662"/>
              <a:buFont typeface="Arial"/>
              <a:buChar char=""/>
            </a:pPr>
            <a:r>
              <a:rPr b="0" i="0" lang="en-US" sz="2400" u="none" cap="none" strike="noStrike">
                <a:solidFill>
                  <a:schemeClr val="dk1"/>
                </a:solidFill>
                <a:latin typeface="Calibri"/>
                <a:ea typeface="Calibri"/>
                <a:cs typeface="Calibri"/>
                <a:sym typeface="Calibri"/>
              </a:rPr>
              <a:t>Chi phí chuyển ngữ  cảnh</a:t>
            </a:r>
            <a:endParaRPr/>
          </a:p>
          <a:p>
            <a:pPr indent="-274320" lvl="1" marL="652780" marR="57785" rtl="0" algn="l">
              <a:spcBef>
                <a:spcPts val="605"/>
              </a:spcBef>
              <a:spcAft>
                <a:spcPts val="0"/>
              </a:spcAft>
              <a:buClr>
                <a:srgbClr val="93B6D2"/>
              </a:buClr>
              <a:buSzPts val="1662"/>
              <a:buFont typeface="Arial"/>
              <a:buChar char=""/>
            </a:pPr>
            <a:r>
              <a:rPr b="0" i="0" lang="en-US" sz="2400" u="none" cap="none" strike="noStrike">
                <a:solidFill>
                  <a:schemeClr val="dk1"/>
                </a:solidFill>
                <a:latin typeface="Calibri"/>
                <a:ea typeface="Calibri"/>
                <a:cs typeface="Calibri"/>
                <a:sym typeface="Calibri"/>
              </a:rPr>
              <a:t>Lời gọi hệ thống dừng  (blocking system  calls)</a:t>
            </a:r>
            <a:endParaRPr b="0" i="0" sz="2400" u="none" cap="none" strike="noStrike">
              <a:solidFill>
                <a:schemeClr val="dk1"/>
              </a:solidFill>
              <a:latin typeface="Calibri"/>
              <a:ea typeface="Calibri"/>
              <a:cs typeface="Calibri"/>
              <a:sym typeface="Calibri"/>
            </a:endParaRPr>
          </a:p>
        </p:txBody>
      </p:sp>
      <p:sp>
        <p:nvSpPr>
          <p:cNvPr id="127" name="Google Shape;127;p5"/>
          <p:cNvSpPr/>
          <p:nvPr/>
        </p:nvSpPr>
        <p:spPr>
          <a:xfrm>
            <a:off x="7433092" y="4191001"/>
            <a:ext cx="4366261" cy="227549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5"/>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5"/>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u="none">
                <a:solidFill>
                  <a:schemeClr val="lt1"/>
                </a:solidFill>
                <a:latin typeface="Calibri"/>
                <a:ea typeface="Calibri"/>
                <a:cs typeface="Calibri"/>
                <a:sym typeface="Calibri"/>
              </a:rPr>
              <a:t>TIẾN TRÌNH VÀ LUỒNG</a:t>
            </a:r>
            <a:endParaRPr/>
          </a:p>
        </p:txBody>
      </p:sp>
      <p:sp>
        <p:nvSpPr>
          <p:cNvPr id="130" name="Google Shape;130;p5"/>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nvSpPr>
        <p:spPr>
          <a:xfrm>
            <a:off x="1066800" y="1608786"/>
            <a:ext cx="10134600" cy="3337452"/>
          </a:xfrm>
          <a:prstGeom prst="rect">
            <a:avLst/>
          </a:prstGeom>
          <a:noFill/>
          <a:ln>
            <a:noFill/>
          </a:ln>
        </p:spPr>
        <p:txBody>
          <a:bodyPr anchorCtr="0" anchor="t" bIns="0" lIns="0" spcFirstLastPara="1" rIns="0" wrap="square" tIns="13325">
            <a:spAutoFit/>
          </a:bodyPr>
          <a:lstStyle/>
          <a:p>
            <a:pPr indent="0" lvl="0" marL="0" marR="0" rtl="0" algn="l">
              <a:spcBef>
                <a:spcPts val="0"/>
              </a:spcBef>
              <a:spcAft>
                <a:spcPts val="0"/>
              </a:spcAft>
              <a:buNone/>
            </a:pPr>
            <a:r>
              <a:rPr b="1" i="0" lang="en-US" sz="2400">
                <a:solidFill>
                  <a:srgbClr val="1B1B1B"/>
                </a:solidFill>
                <a:latin typeface="Calibri"/>
                <a:ea typeface="Calibri"/>
                <a:cs typeface="Calibri"/>
                <a:sym typeface="Calibri"/>
              </a:rPr>
              <a:t>Cách thức cài đặt luồng</a:t>
            </a:r>
            <a:endParaRPr/>
          </a:p>
          <a:p>
            <a:pPr indent="-342900" lvl="0" marL="342900" marR="0" rtl="0" algn="l">
              <a:spcBef>
                <a:spcPts val="0"/>
              </a:spcBef>
              <a:spcAft>
                <a:spcPts val="0"/>
              </a:spcAft>
              <a:buClr>
                <a:srgbClr val="1B1B1B"/>
              </a:buClr>
              <a:buSzPts val="2400"/>
              <a:buFont typeface="Arial"/>
              <a:buChar char="•"/>
            </a:pPr>
            <a:r>
              <a:rPr b="0" i="0" lang="en-US" sz="2400">
                <a:solidFill>
                  <a:srgbClr val="1B1B1B"/>
                </a:solidFill>
                <a:latin typeface="Calibri"/>
                <a:ea typeface="Calibri"/>
                <a:cs typeface="Calibri"/>
                <a:sym typeface="Calibri"/>
              </a:rPr>
              <a:t>Các luồng thường được cung ứng bởi các gói luồng.</a:t>
            </a:r>
            <a:endParaRPr/>
          </a:p>
          <a:p>
            <a:pPr indent="-342900" lvl="0" marL="342900" marR="0" rtl="0" algn="l">
              <a:spcBef>
                <a:spcPts val="0"/>
              </a:spcBef>
              <a:spcAft>
                <a:spcPts val="0"/>
              </a:spcAft>
              <a:buClr>
                <a:srgbClr val="1B1B1B"/>
              </a:buClr>
              <a:buSzPts val="2400"/>
              <a:buFont typeface="Arial"/>
              <a:buChar char="•"/>
            </a:pPr>
            <a:r>
              <a:rPr b="0" i="0" lang="en-US" sz="2400">
                <a:solidFill>
                  <a:srgbClr val="1B1B1B"/>
                </a:solidFill>
                <a:latin typeface="Calibri"/>
                <a:ea typeface="Calibri"/>
                <a:cs typeface="Calibri"/>
                <a:sym typeface="Calibri"/>
              </a:rPr>
              <a:t>Các gói bao gồm các nhiệm vụ: </a:t>
            </a:r>
            <a:endParaRPr b="0" i="0" sz="2400">
              <a:solidFill>
                <a:srgbClr val="1B1B1B"/>
              </a:solidFill>
              <a:latin typeface="Calibri"/>
              <a:ea typeface="Calibri"/>
              <a:cs typeface="Calibri"/>
              <a:sym typeface="Calibri"/>
            </a:endParaRPr>
          </a:p>
          <a:p>
            <a:pPr indent="-342900" lvl="1" marL="80010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Khởi tạo luồng </a:t>
            </a:r>
            <a:endParaRPr/>
          </a:p>
          <a:p>
            <a:pPr indent="-342900" lvl="1" marL="80010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Giải phóng luồng </a:t>
            </a:r>
            <a:endParaRPr/>
          </a:p>
          <a:p>
            <a:pPr indent="-342900" lvl="1" marL="80010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Đồng bộ các luồng </a:t>
            </a:r>
            <a:endParaRPr/>
          </a:p>
          <a:p>
            <a:pPr indent="-342900" lvl="0" marL="342900" marR="0" rtl="0" algn="l">
              <a:spcBef>
                <a:spcPts val="0"/>
              </a:spcBef>
              <a:spcAft>
                <a:spcPts val="0"/>
              </a:spcAft>
              <a:buClr>
                <a:srgbClr val="1B1B1B"/>
              </a:buClr>
              <a:buSzPts val="2400"/>
              <a:buFont typeface="Arial"/>
              <a:buChar char="•"/>
            </a:pPr>
            <a:r>
              <a:rPr b="0" i="0" lang="en-US" sz="2400">
                <a:solidFill>
                  <a:srgbClr val="1B1B1B"/>
                </a:solidFill>
                <a:latin typeface="Calibri"/>
                <a:ea typeface="Calibri"/>
                <a:cs typeface="Calibri"/>
                <a:sym typeface="Calibri"/>
              </a:rPr>
              <a:t>Có 2 hướng tiếp cận để cài đặt luồng:</a:t>
            </a:r>
            <a:endParaRPr b="0" i="0" sz="2400">
              <a:solidFill>
                <a:srgbClr val="1B1B1B"/>
              </a:solidFill>
              <a:latin typeface="Calibri"/>
              <a:ea typeface="Calibri"/>
              <a:cs typeface="Calibri"/>
              <a:sym typeface="Calibri"/>
            </a:endParaRPr>
          </a:p>
          <a:p>
            <a:pPr indent="-342900" lvl="1" marL="80010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User mode</a:t>
            </a:r>
            <a:endParaRPr b="0" i="0" sz="2400" u="none" cap="none" strike="noStrike">
              <a:solidFill>
                <a:srgbClr val="1B1B1B"/>
              </a:solidFill>
              <a:latin typeface="Calibri"/>
              <a:ea typeface="Calibri"/>
              <a:cs typeface="Calibri"/>
              <a:sym typeface="Calibri"/>
            </a:endParaRPr>
          </a:p>
          <a:p>
            <a:pPr indent="-342900" lvl="1" marL="80010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Kernel mode</a:t>
            </a:r>
            <a:endParaRPr/>
          </a:p>
        </p:txBody>
      </p:sp>
      <p:sp>
        <p:nvSpPr>
          <p:cNvPr id="136" name="Google Shape;136;p6"/>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6"/>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TIẾN TRÌNH VÀ LUỒNG</a:t>
            </a:r>
            <a:endParaRPr/>
          </a:p>
        </p:txBody>
      </p:sp>
      <p:sp>
        <p:nvSpPr>
          <p:cNvPr id="138" name="Google Shape;138;p6"/>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Boosting NGINX Performance 9x with Thread Pools" id="139" name="Google Shape;139;p6"/>
          <p:cNvPicPr preferRelativeResize="0"/>
          <p:nvPr/>
        </p:nvPicPr>
        <p:blipFill rotWithShape="1">
          <a:blip r:embed="rId3">
            <a:alphaModFix/>
          </a:blip>
          <a:srcRect b="0" l="0" r="0" t="0"/>
          <a:stretch/>
        </p:blipFill>
        <p:spPr>
          <a:xfrm>
            <a:off x="6248400" y="3264659"/>
            <a:ext cx="5715000" cy="3429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nvSpPr>
        <p:spPr>
          <a:xfrm>
            <a:off x="1066800" y="1608786"/>
            <a:ext cx="10134600" cy="3706784"/>
          </a:xfrm>
          <a:prstGeom prst="rect">
            <a:avLst/>
          </a:prstGeom>
          <a:noFill/>
          <a:ln>
            <a:noFill/>
          </a:ln>
        </p:spPr>
        <p:txBody>
          <a:bodyPr anchorCtr="0" anchor="t" bIns="0" lIns="0" spcFirstLastPara="1" rIns="0" wrap="square" tIns="13325">
            <a:spAutoFit/>
          </a:bodyPr>
          <a:lstStyle/>
          <a:p>
            <a:pPr indent="0" lvl="0" marL="0" marR="0" rtl="0" algn="l">
              <a:spcBef>
                <a:spcPts val="0"/>
              </a:spcBef>
              <a:spcAft>
                <a:spcPts val="0"/>
              </a:spcAft>
              <a:buNone/>
            </a:pPr>
            <a:r>
              <a:rPr b="1" i="0" lang="en-US" sz="2400">
                <a:solidFill>
                  <a:srgbClr val="1B1B1B"/>
                </a:solidFill>
                <a:latin typeface="Calibri"/>
                <a:ea typeface="Calibri"/>
                <a:cs typeface="Calibri"/>
                <a:sym typeface="Calibri"/>
              </a:rPr>
              <a:t>Xây dựng luồng kiểu người dùng (User mode)</a:t>
            </a:r>
            <a:endParaRPr b="0" i="0" sz="2400">
              <a:solidFill>
                <a:srgbClr val="1B1B1B"/>
              </a:solidFill>
              <a:latin typeface="Calibri"/>
              <a:ea typeface="Calibri"/>
              <a:cs typeface="Calibri"/>
              <a:sym typeface="Calibri"/>
            </a:endParaRPr>
          </a:p>
          <a:p>
            <a:pPr indent="-152400" lvl="0" marL="0" marR="0" rtl="0" algn="l">
              <a:spcBef>
                <a:spcPts val="0"/>
              </a:spcBef>
              <a:spcAft>
                <a:spcPts val="0"/>
              </a:spcAft>
              <a:buClr>
                <a:srgbClr val="1B1B1B"/>
              </a:buClr>
              <a:buSzPts val="2400"/>
              <a:buFont typeface="Arial"/>
              <a:buChar char="•"/>
            </a:pPr>
            <a:r>
              <a:rPr b="0" i="0" lang="en-US" sz="2400">
                <a:solidFill>
                  <a:srgbClr val="1B1B1B"/>
                </a:solidFill>
                <a:latin typeface="Calibri"/>
                <a:ea typeface="Calibri"/>
                <a:cs typeface="Calibri"/>
                <a:sym typeface="Calibri"/>
              </a:rPr>
              <a:t>Ưu điểm:</a:t>
            </a:r>
            <a:endParaRPr/>
          </a:p>
          <a:p>
            <a:pPr indent="-285750" lvl="1" marL="74295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Tiết kiệm tài nguyên hệ thống để tạo và hủy luồng. Vì quản lý luồng nằm hoàn toàn ở vùng nhớ của user, chi phí để tạo luồng được xác định bằng chi phí để cấp phát vùng nhớ được tạo 1 stack các luồng</a:t>
            </a:r>
            <a:endParaRPr/>
          </a:p>
          <a:p>
            <a:pPr indent="-285750" lvl="1" marL="74295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VIệc chuyển ngữ cảnh được thực hiện nhanh. Thực tế việc chuyển ngữ cảnh được thực hiện khi 2 luồng đồng bộ hóa</a:t>
            </a:r>
            <a:endParaRPr/>
          </a:p>
          <a:p>
            <a:pPr indent="-152400" lvl="0" marL="0" marR="0" rtl="0" algn="l">
              <a:spcBef>
                <a:spcPts val="0"/>
              </a:spcBef>
              <a:spcAft>
                <a:spcPts val="0"/>
              </a:spcAft>
              <a:buClr>
                <a:srgbClr val="1B1B1B"/>
              </a:buClr>
              <a:buSzPts val="2400"/>
              <a:buFont typeface="Arial"/>
              <a:buChar char="•"/>
            </a:pPr>
            <a:r>
              <a:rPr b="0" i="0" lang="en-US" sz="2400">
                <a:solidFill>
                  <a:srgbClr val="1B1B1B"/>
                </a:solidFill>
                <a:latin typeface="Calibri"/>
                <a:ea typeface="Calibri"/>
                <a:cs typeface="Calibri"/>
                <a:sym typeface="Calibri"/>
              </a:rPr>
              <a:t>Nhược điểm:</a:t>
            </a:r>
            <a:endParaRPr/>
          </a:p>
          <a:p>
            <a:pPr indent="-285750" lvl="1" marL="74295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Lời triệu gọi của lời gọi hệ thống dừng sẽ làm dừng toàn bộ tiến trình chứa luồng đó và tất cả các luồng khác do tiến trình đó sinh ra</a:t>
            </a:r>
            <a:endParaRPr/>
          </a:p>
        </p:txBody>
      </p:sp>
      <p:sp>
        <p:nvSpPr>
          <p:cNvPr id="145" name="Google Shape;145;p7"/>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7"/>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TIẾN TRÌNH VÀ LUỒNG</a:t>
            </a:r>
            <a:endParaRPr/>
          </a:p>
        </p:txBody>
      </p:sp>
      <p:sp>
        <p:nvSpPr>
          <p:cNvPr id="147" name="Google Shape;147;p7"/>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nvSpPr>
        <p:spPr>
          <a:xfrm>
            <a:off x="1066800" y="1608786"/>
            <a:ext cx="10134600" cy="3706784"/>
          </a:xfrm>
          <a:prstGeom prst="rect">
            <a:avLst/>
          </a:prstGeom>
          <a:noFill/>
          <a:ln>
            <a:noFill/>
          </a:ln>
        </p:spPr>
        <p:txBody>
          <a:bodyPr anchorCtr="0" anchor="t" bIns="0" lIns="0" spcFirstLastPara="1" rIns="0" wrap="square" tIns="13325">
            <a:spAutoFit/>
          </a:bodyPr>
          <a:lstStyle/>
          <a:p>
            <a:pPr indent="0" lvl="0" marL="0" marR="0" rtl="0" algn="l">
              <a:spcBef>
                <a:spcPts val="0"/>
              </a:spcBef>
              <a:spcAft>
                <a:spcPts val="0"/>
              </a:spcAft>
              <a:buNone/>
            </a:pPr>
            <a:r>
              <a:rPr b="1" i="0" lang="en-US" sz="2400">
                <a:solidFill>
                  <a:srgbClr val="1B1B1B"/>
                </a:solidFill>
                <a:latin typeface="Calibri"/>
                <a:ea typeface="Calibri"/>
                <a:cs typeface="Calibri"/>
                <a:sym typeface="Calibri"/>
              </a:rPr>
              <a:t>Xây dựng luồng kiểu nhân (Kernel mode)</a:t>
            </a:r>
            <a:endParaRPr b="0" i="0" sz="2400">
              <a:solidFill>
                <a:srgbClr val="1B1B1B"/>
              </a:solidFill>
              <a:latin typeface="Calibri"/>
              <a:ea typeface="Calibri"/>
              <a:cs typeface="Calibri"/>
              <a:sym typeface="Calibri"/>
            </a:endParaRPr>
          </a:p>
          <a:p>
            <a:pPr indent="-152400" lvl="0" marL="0" marR="0" rtl="0" algn="l">
              <a:spcBef>
                <a:spcPts val="0"/>
              </a:spcBef>
              <a:spcAft>
                <a:spcPts val="0"/>
              </a:spcAft>
              <a:buClr>
                <a:srgbClr val="1B1B1B"/>
              </a:buClr>
              <a:buSzPts val="2400"/>
              <a:buFont typeface="Arial"/>
              <a:buChar char="•"/>
            </a:pPr>
            <a:r>
              <a:rPr b="0" i="0" lang="en-US" sz="2400">
                <a:solidFill>
                  <a:srgbClr val="1B1B1B"/>
                </a:solidFill>
                <a:latin typeface="Calibri"/>
                <a:ea typeface="Calibri"/>
                <a:cs typeface="Calibri"/>
                <a:sym typeface="Calibri"/>
              </a:rPr>
              <a:t>Ưu điểm:</a:t>
            </a:r>
            <a:endParaRPr/>
          </a:p>
          <a:p>
            <a:pPr indent="-285750" lvl="1" marL="74295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Vấn đề bị dừng tiến trình ở trên được giải quyết ở hướng tiếp cận này tuy nhiên chi phí rất lớn.</a:t>
            </a:r>
            <a:endParaRPr/>
          </a:p>
          <a:p>
            <a:pPr indent="-152400" lvl="0" marL="0" marR="0" rtl="0" algn="l">
              <a:spcBef>
                <a:spcPts val="0"/>
              </a:spcBef>
              <a:spcAft>
                <a:spcPts val="0"/>
              </a:spcAft>
              <a:buClr>
                <a:srgbClr val="1B1B1B"/>
              </a:buClr>
              <a:buSzPts val="2400"/>
              <a:buFont typeface="Arial"/>
              <a:buChar char="•"/>
            </a:pPr>
            <a:r>
              <a:rPr b="0" i="0" lang="en-US" sz="2400">
                <a:solidFill>
                  <a:srgbClr val="1B1B1B"/>
                </a:solidFill>
                <a:latin typeface="Calibri"/>
                <a:ea typeface="Calibri"/>
                <a:cs typeface="Calibri"/>
                <a:sym typeface="Calibri"/>
              </a:rPr>
              <a:t>Nhược điểm:</a:t>
            </a:r>
            <a:endParaRPr/>
          </a:p>
          <a:p>
            <a:pPr indent="-285750" lvl="1" marL="74295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Mỗi thao tác với luồng như tạo, hủy, đồng bộ sẽ được đảm nhiệm bởi nhân và cần 1 lời gọi hệ thống =&gt; gây tốn kém chi phí</a:t>
            </a:r>
            <a:endParaRPr/>
          </a:p>
          <a:p>
            <a:pPr indent="-285750" lvl="1" marL="742950" marR="0" rtl="0" algn="l">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Việc chuyển ngữ cảnh luông trở nên tốn kém tài nguyên hệ thống như việc chuyển ngữ cảnh tiến trình =&gt; các lợi ích về hiệu năng khi sử dụng đa luồng không còn</a:t>
            </a:r>
            <a:endParaRPr/>
          </a:p>
        </p:txBody>
      </p:sp>
      <p:sp>
        <p:nvSpPr>
          <p:cNvPr id="153" name="Google Shape;153;p8"/>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8"/>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TIẾN TRÌNH VÀ LUỒNG</a:t>
            </a:r>
            <a:endParaRPr/>
          </a:p>
        </p:txBody>
      </p:sp>
      <p:sp>
        <p:nvSpPr>
          <p:cNvPr id="155" name="Google Shape;155;p8"/>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9"/>
          <p:cNvSpPr txBox="1"/>
          <p:nvPr/>
        </p:nvSpPr>
        <p:spPr>
          <a:xfrm>
            <a:off x="1066800" y="1608786"/>
            <a:ext cx="10134600" cy="2968120"/>
          </a:xfrm>
          <a:prstGeom prst="rect">
            <a:avLst/>
          </a:prstGeom>
          <a:noFill/>
          <a:ln>
            <a:noFill/>
          </a:ln>
        </p:spPr>
        <p:txBody>
          <a:bodyPr anchorCtr="0" anchor="t" bIns="0" lIns="0" spcFirstLastPara="1" rIns="0" wrap="square" tIns="13325">
            <a:spAutoFit/>
          </a:bodyPr>
          <a:lstStyle/>
          <a:p>
            <a:pPr indent="0" lvl="0" marL="0" marR="0" rtl="0" algn="ctr">
              <a:spcBef>
                <a:spcPts val="0"/>
              </a:spcBef>
              <a:spcAft>
                <a:spcPts val="0"/>
              </a:spcAft>
              <a:buNone/>
            </a:pPr>
            <a:r>
              <a:rPr b="1" i="0" lang="en-US" sz="2400">
                <a:solidFill>
                  <a:srgbClr val="1B1B1B"/>
                </a:solidFill>
                <a:latin typeface="Calibri"/>
                <a:ea typeface="Calibri"/>
                <a:cs typeface="Calibri"/>
                <a:sym typeface="Calibri"/>
              </a:rPr>
              <a:t>Xây dựng luồng kiểu người dùng (User mode)</a:t>
            </a:r>
            <a:endParaRPr b="0" i="0" sz="2400">
              <a:solidFill>
                <a:srgbClr val="1B1B1B"/>
              </a:solidFill>
              <a:latin typeface="Calibri"/>
              <a:ea typeface="Calibri"/>
              <a:cs typeface="Calibri"/>
              <a:sym typeface="Calibri"/>
            </a:endParaRPr>
          </a:p>
          <a:p>
            <a:pPr indent="0" lvl="0" marL="0" marR="0" rtl="0" algn="ctr">
              <a:spcBef>
                <a:spcPts val="0"/>
              </a:spcBef>
              <a:spcAft>
                <a:spcPts val="0"/>
              </a:spcAft>
              <a:buNone/>
            </a:pPr>
            <a:r>
              <a:rPr b="1" i="0" lang="en-US" sz="2400">
                <a:solidFill>
                  <a:srgbClr val="1B1B1B"/>
                </a:solidFill>
                <a:latin typeface="Calibri"/>
                <a:ea typeface="Calibri"/>
                <a:cs typeface="Calibri"/>
                <a:sym typeface="Calibri"/>
              </a:rPr>
              <a:t>x</a:t>
            </a:r>
            <a:endParaRPr/>
          </a:p>
          <a:p>
            <a:pPr indent="0" lvl="0" marL="0" marR="0" rtl="0" algn="ctr">
              <a:spcBef>
                <a:spcPts val="0"/>
              </a:spcBef>
              <a:spcAft>
                <a:spcPts val="0"/>
              </a:spcAft>
              <a:buNone/>
            </a:pPr>
            <a:r>
              <a:rPr b="1" i="0" lang="en-US" sz="2400">
                <a:solidFill>
                  <a:srgbClr val="1B1B1B"/>
                </a:solidFill>
                <a:latin typeface="Calibri"/>
                <a:ea typeface="Calibri"/>
                <a:cs typeface="Calibri"/>
                <a:sym typeface="Calibri"/>
              </a:rPr>
              <a:t>Xây dựng luồng kiểu nhân (Kernel mode)</a:t>
            </a:r>
            <a:endParaRPr b="1" i="0" sz="2400">
              <a:solidFill>
                <a:srgbClr val="1B1B1B"/>
              </a:solidFill>
              <a:latin typeface="Calibri"/>
              <a:ea typeface="Calibri"/>
              <a:cs typeface="Calibri"/>
              <a:sym typeface="Calibri"/>
            </a:endParaRPr>
          </a:p>
          <a:p>
            <a:pPr indent="0" lvl="0" marL="0" marR="0" rtl="0" algn="ctr">
              <a:spcBef>
                <a:spcPts val="0"/>
              </a:spcBef>
              <a:spcAft>
                <a:spcPts val="0"/>
              </a:spcAft>
              <a:buNone/>
            </a:pPr>
            <a:r>
              <a:t/>
            </a:r>
            <a:endParaRPr b="1" sz="2400">
              <a:solidFill>
                <a:srgbClr val="1B1B1B"/>
              </a:solidFill>
              <a:latin typeface="Calibri"/>
              <a:ea typeface="Calibri"/>
              <a:cs typeface="Calibri"/>
              <a:sym typeface="Calibri"/>
            </a:endParaRPr>
          </a:p>
          <a:p>
            <a:pPr indent="-342900" lvl="0" marL="342900" marR="0" rtl="0" algn="just">
              <a:spcBef>
                <a:spcPts val="0"/>
              </a:spcBef>
              <a:spcAft>
                <a:spcPts val="0"/>
              </a:spcAft>
              <a:buClr>
                <a:srgbClr val="1B1B1B"/>
              </a:buClr>
              <a:buSzPts val="2400"/>
              <a:buFont typeface="Noto Sans Symbols"/>
              <a:buChar char="⇒"/>
            </a:pPr>
            <a:r>
              <a:rPr b="0" i="0" lang="en-US" sz="2400">
                <a:solidFill>
                  <a:srgbClr val="1B1B1B"/>
                </a:solidFill>
                <a:latin typeface="Calibri"/>
                <a:ea typeface="Calibri"/>
                <a:cs typeface="Calibri"/>
                <a:sym typeface="Calibri"/>
              </a:rPr>
              <a:t>Hệ thống tận dụng ưu điểm của cả 2 phương pháp này</a:t>
            </a:r>
            <a:endParaRPr b="0" i="0" sz="2400">
              <a:solidFill>
                <a:srgbClr val="1B1B1B"/>
              </a:solidFill>
              <a:latin typeface="Calibri"/>
              <a:ea typeface="Calibri"/>
              <a:cs typeface="Calibri"/>
              <a:sym typeface="Calibri"/>
            </a:endParaRPr>
          </a:p>
          <a:p>
            <a:pPr indent="-342900" lvl="0" marL="342900" marR="0" rtl="0" algn="just">
              <a:spcBef>
                <a:spcPts val="0"/>
              </a:spcBef>
              <a:spcAft>
                <a:spcPts val="0"/>
              </a:spcAft>
              <a:buClr>
                <a:srgbClr val="1B1B1B"/>
              </a:buClr>
              <a:buSzPts val="2400"/>
              <a:buFont typeface="Noto Sans Symbols"/>
              <a:buChar char="⇒"/>
            </a:pPr>
            <a:r>
              <a:rPr lang="en-US" sz="2400">
                <a:solidFill>
                  <a:srgbClr val="1B1B1B"/>
                </a:solidFill>
                <a:latin typeface="Calibri"/>
                <a:ea typeface="Calibri"/>
                <a:cs typeface="Calibri"/>
                <a:sym typeface="Calibri"/>
              </a:rPr>
              <a:t>T</a:t>
            </a:r>
            <a:r>
              <a:rPr b="0" i="0" lang="en-US" sz="2400">
                <a:solidFill>
                  <a:srgbClr val="1B1B1B"/>
                </a:solidFill>
                <a:latin typeface="Calibri"/>
                <a:ea typeface="Calibri"/>
                <a:cs typeface="Calibri"/>
                <a:sym typeface="Calibri"/>
              </a:rPr>
              <a:t>iến trình nhẹ (lightweight processes) được sinh ra</a:t>
            </a:r>
            <a:endParaRPr/>
          </a:p>
          <a:p>
            <a:pPr indent="0" lvl="0" marL="0" marR="0" rtl="0" algn="l">
              <a:spcBef>
                <a:spcPts val="0"/>
              </a:spcBef>
              <a:spcAft>
                <a:spcPts val="0"/>
              </a:spcAft>
              <a:buNone/>
            </a:pPr>
            <a:r>
              <a:t/>
            </a:r>
            <a:endParaRPr b="0" i="0" sz="2400">
              <a:solidFill>
                <a:srgbClr val="1B1B1B"/>
              </a:solidFill>
              <a:latin typeface="Calibri"/>
              <a:ea typeface="Calibri"/>
              <a:cs typeface="Calibri"/>
              <a:sym typeface="Calibri"/>
            </a:endParaRPr>
          </a:p>
          <a:p>
            <a:pPr indent="0" lvl="0" marL="0" marR="0" rtl="0" algn="l">
              <a:spcBef>
                <a:spcPts val="0"/>
              </a:spcBef>
              <a:spcAft>
                <a:spcPts val="0"/>
              </a:spcAft>
              <a:buNone/>
            </a:pPr>
            <a:r>
              <a:t/>
            </a:r>
            <a:endParaRPr b="0" i="0" sz="2400">
              <a:solidFill>
                <a:srgbClr val="1B1B1B"/>
              </a:solidFill>
              <a:latin typeface="Calibri"/>
              <a:ea typeface="Calibri"/>
              <a:cs typeface="Calibri"/>
              <a:sym typeface="Calibri"/>
            </a:endParaRPr>
          </a:p>
        </p:txBody>
      </p:sp>
      <p:sp>
        <p:nvSpPr>
          <p:cNvPr id="161" name="Google Shape;161;p9"/>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9"/>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TIẾN TRÌNH VÀ LUỒNG</a:t>
            </a:r>
            <a:endParaRPr/>
          </a:p>
        </p:txBody>
      </p:sp>
      <p:sp>
        <p:nvSpPr>
          <p:cNvPr id="163" name="Google Shape;163;p9"/>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nvSpPr>
        <p:spPr>
          <a:xfrm>
            <a:off x="1066800" y="1608786"/>
            <a:ext cx="10134600" cy="2291012"/>
          </a:xfrm>
          <a:prstGeom prst="rect">
            <a:avLst/>
          </a:prstGeom>
          <a:noFill/>
          <a:ln>
            <a:noFill/>
          </a:ln>
        </p:spPr>
        <p:txBody>
          <a:bodyPr anchorCtr="0" anchor="t" bIns="0" lIns="0" spcFirstLastPara="1" rIns="0" wrap="square" tIns="13325">
            <a:spAutoFit/>
          </a:bodyPr>
          <a:lstStyle/>
          <a:p>
            <a:pPr indent="0" lvl="0" marL="0" marR="0" rtl="0" algn="just">
              <a:spcBef>
                <a:spcPts val="0"/>
              </a:spcBef>
              <a:spcAft>
                <a:spcPts val="0"/>
              </a:spcAft>
              <a:buNone/>
            </a:pPr>
            <a:r>
              <a:rPr lang="en-US" sz="2400">
                <a:solidFill>
                  <a:srgbClr val="1B1B1B"/>
                </a:solidFill>
                <a:latin typeface="Calibri"/>
                <a:ea typeface="Calibri"/>
                <a:cs typeface="Calibri"/>
                <a:sym typeface="Calibri"/>
              </a:rPr>
              <a:t>T</a:t>
            </a:r>
            <a:r>
              <a:rPr b="0" i="0" lang="en-US" sz="2400">
                <a:solidFill>
                  <a:srgbClr val="1B1B1B"/>
                </a:solidFill>
                <a:latin typeface="Calibri"/>
                <a:ea typeface="Calibri"/>
                <a:cs typeface="Calibri"/>
                <a:sym typeface="Calibri"/>
              </a:rPr>
              <a:t>iến trình nhẹ (lightweight processes</a:t>
            </a:r>
            <a:r>
              <a:rPr lang="en-US" sz="2400">
                <a:solidFill>
                  <a:srgbClr val="1B1B1B"/>
                </a:solidFill>
                <a:latin typeface="Calibri"/>
                <a:ea typeface="Calibri"/>
                <a:cs typeface="Calibri"/>
                <a:sym typeface="Calibri"/>
              </a:rPr>
              <a:t>)</a:t>
            </a:r>
            <a:endParaRPr/>
          </a:p>
          <a:p>
            <a:pPr indent="-342900" lvl="1" marL="80010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Khi chạy ngữ cảnh ở 1 tiến trình đơn và mỗi tiến trình đơn có nhiều tiến trình nhẹ.</a:t>
            </a:r>
            <a:endParaRPr/>
          </a:p>
          <a:p>
            <a:pPr indent="-342900" lvl="1" marL="80010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Ngoài việc có nhiều tiến trình nhẹ, hệ thống cung cấp gói luồng ở mức user, trợ giúp các ứng dụng về việc tạo và hủy luồng, đồng bộ hoá. </a:t>
            </a:r>
            <a:endParaRPr b="0" i="0" sz="2000" u="none" cap="none" strike="noStrike">
              <a:solidFill>
                <a:srgbClr val="1B1B1B"/>
              </a:solidFill>
              <a:latin typeface="Calibri"/>
              <a:ea typeface="Calibri"/>
              <a:cs typeface="Calibri"/>
              <a:sym typeface="Calibri"/>
            </a:endParaRPr>
          </a:p>
          <a:p>
            <a:pPr indent="-342900" lvl="1" marL="80010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Vì việc sử dụng gói luồng hoàn toàn ở tầng user do đó các thao tác với luồng không cần can thiệp của tầng kernel =&gt; giảm nhiều chi phí</a:t>
            </a:r>
            <a:endParaRPr/>
          </a:p>
          <a:p>
            <a:pPr indent="0" lvl="0" marL="0" marR="0" rtl="0" algn="l">
              <a:spcBef>
                <a:spcPts val="0"/>
              </a:spcBef>
              <a:spcAft>
                <a:spcPts val="0"/>
              </a:spcAft>
              <a:buNone/>
            </a:pPr>
            <a:r>
              <a:t/>
            </a:r>
            <a:endParaRPr b="0" i="0" sz="2400">
              <a:solidFill>
                <a:srgbClr val="1B1B1B"/>
              </a:solidFill>
              <a:latin typeface="Calibri"/>
              <a:ea typeface="Calibri"/>
              <a:cs typeface="Calibri"/>
              <a:sym typeface="Calibri"/>
            </a:endParaRPr>
          </a:p>
        </p:txBody>
      </p:sp>
      <p:sp>
        <p:nvSpPr>
          <p:cNvPr id="169" name="Google Shape;169;p10"/>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10"/>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TIẾN TRÌNH VÀ LUỒNG</a:t>
            </a:r>
            <a:endParaRPr/>
          </a:p>
        </p:txBody>
      </p:sp>
      <p:sp>
        <p:nvSpPr>
          <p:cNvPr id="171" name="Google Shape;171;p10"/>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10"/>
          <p:cNvSpPr/>
          <p:nvPr/>
        </p:nvSpPr>
        <p:spPr>
          <a:xfrm>
            <a:off x="4648200" y="3796955"/>
            <a:ext cx="6705600" cy="290451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1"/>
          <p:cNvSpPr txBox="1"/>
          <p:nvPr/>
        </p:nvSpPr>
        <p:spPr>
          <a:xfrm>
            <a:off x="1066800" y="1608786"/>
            <a:ext cx="10134600" cy="1613903"/>
          </a:xfrm>
          <a:prstGeom prst="rect">
            <a:avLst/>
          </a:prstGeom>
          <a:noFill/>
          <a:ln>
            <a:noFill/>
          </a:ln>
        </p:spPr>
        <p:txBody>
          <a:bodyPr anchorCtr="0" anchor="t" bIns="0" lIns="0" spcFirstLastPara="1" rIns="0" wrap="square" tIns="13325">
            <a:spAutoFit/>
          </a:bodyPr>
          <a:lstStyle/>
          <a:p>
            <a:pPr indent="0" lvl="0" marL="0" marR="0" rtl="0" algn="just">
              <a:spcBef>
                <a:spcPts val="0"/>
              </a:spcBef>
              <a:spcAft>
                <a:spcPts val="0"/>
              </a:spcAft>
              <a:buNone/>
            </a:pPr>
            <a:r>
              <a:rPr lang="en-US" sz="2400">
                <a:solidFill>
                  <a:srgbClr val="1B1B1B"/>
                </a:solidFill>
                <a:latin typeface="Calibri"/>
                <a:ea typeface="Calibri"/>
                <a:cs typeface="Calibri"/>
                <a:sym typeface="Calibri"/>
              </a:rPr>
              <a:t>T</a:t>
            </a:r>
            <a:r>
              <a:rPr b="0" i="0" lang="en-US" sz="2400">
                <a:solidFill>
                  <a:srgbClr val="1B1B1B"/>
                </a:solidFill>
                <a:latin typeface="Calibri"/>
                <a:ea typeface="Calibri"/>
                <a:cs typeface="Calibri"/>
                <a:sym typeface="Calibri"/>
              </a:rPr>
              <a:t>iến trình nhẹ (lightweight processes</a:t>
            </a:r>
            <a:r>
              <a:rPr lang="en-US" sz="2400">
                <a:solidFill>
                  <a:srgbClr val="1B1B1B"/>
                </a:solidFill>
                <a:latin typeface="Calibri"/>
                <a:ea typeface="Calibri"/>
                <a:cs typeface="Calibri"/>
                <a:sym typeface="Calibri"/>
              </a:rPr>
              <a:t>)</a:t>
            </a:r>
            <a:endParaRPr/>
          </a:p>
          <a:p>
            <a:pPr indent="-342900" lvl="1" marL="800100" marR="0" rtl="0" algn="l">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1 tiến trình sinh ra nhiều tiến trình nhẹ</a:t>
            </a:r>
            <a:endParaRPr/>
          </a:p>
          <a:p>
            <a:pPr indent="-342900" lvl="1" marL="800100" marR="0" rtl="0" algn="l">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1 tiến trình nhẹ được gán với nhiều luồng</a:t>
            </a:r>
            <a:endParaRPr/>
          </a:p>
          <a:p>
            <a:pPr indent="-342900" lvl="1" marL="800100" marR="0" rtl="0" algn="l">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Khi 1 luồng có thao tác vào ra tiến trình nhẹ tương ứng bị treo, tuy nhiên các tiến trình nhẹ khác vẫn tiếp tục được thực hiện</a:t>
            </a:r>
            <a:endParaRPr/>
          </a:p>
        </p:txBody>
      </p:sp>
      <p:sp>
        <p:nvSpPr>
          <p:cNvPr id="178" name="Google Shape;178;p11"/>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11"/>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TIẾN TRÌNH VÀ LUỒNG</a:t>
            </a:r>
            <a:endParaRPr/>
          </a:p>
        </p:txBody>
      </p:sp>
      <p:sp>
        <p:nvSpPr>
          <p:cNvPr id="180" name="Google Shape;180;p11"/>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11"/>
          <p:cNvSpPr/>
          <p:nvPr/>
        </p:nvSpPr>
        <p:spPr>
          <a:xfrm>
            <a:off x="4648200" y="3796955"/>
            <a:ext cx="6705600" cy="290451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txBox="1"/>
          <p:nvPr/>
        </p:nvSpPr>
        <p:spPr>
          <a:xfrm>
            <a:off x="1066800" y="1608786"/>
            <a:ext cx="10134600" cy="2229456"/>
          </a:xfrm>
          <a:prstGeom prst="rect">
            <a:avLst/>
          </a:prstGeom>
          <a:noFill/>
          <a:ln>
            <a:noFill/>
          </a:ln>
        </p:spPr>
        <p:txBody>
          <a:bodyPr anchorCtr="0" anchor="t" bIns="0" lIns="0" spcFirstLastPara="1" rIns="0" wrap="square" tIns="13325">
            <a:spAutoFit/>
          </a:bodyPr>
          <a:lstStyle/>
          <a:p>
            <a:pPr indent="0" lvl="0" marL="0" marR="0" rtl="0" algn="just">
              <a:spcBef>
                <a:spcPts val="0"/>
              </a:spcBef>
              <a:spcAft>
                <a:spcPts val="0"/>
              </a:spcAft>
              <a:buNone/>
            </a:pPr>
            <a:r>
              <a:rPr lang="en-US" sz="2400">
                <a:solidFill>
                  <a:srgbClr val="1B1B1B"/>
                </a:solidFill>
                <a:latin typeface="Calibri"/>
                <a:ea typeface="Calibri"/>
                <a:cs typeface="Calibri"/>
                <a:sym typeface="Calibri"/>
              </a:rPr>
              <a:t>Ưu điểm T</a:t>
            </a:r>
            <a:r>
              <a:rPr b="0" i="0" lang="en-US" sz="2400">
                <a:solidFill>
                  <a:srgbClr val="1B1B1B"/>
                </a:solidFill>
                <a:latin typeface="Calibri"/>
                <a:ea typeface="Calibri"/>
                <a:cs typeface="Calibri"/>
                <a:sym typeface="Calibri"/>
              </a:rPr>
              <a:t>iến trình nhẹ (lightweight processes</a:t>
            </a:r>
            <a:r>
              <a:rPr lang="en-US" sz="2400">
                <a:solidFill>
                  <a:srgbClr val="1B1B1B"/>
                </a:solidFill>
                <a:latin typeface="Calibri"/>
                <a:ea typeface="Calibri"/>
                <a:cs typeface="Calibri"/>
                <a:sym typeface="Calibri"/>
              </a:rPr>
              <a:t>)</a:t>
            </a:r>
            <a:endParaRPr/>
          </a:p>
          <a:p>
            <a:pPr indent="-342900" lvl="1" marL="80010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Các thao tác với luồng có chi phí thấp và hoàn toàn không có sự can thiệp của tầng nhân.</a:t>
            </a:r>
            <a:endParaRPr/>
          </a:p>
          <a:p>
            <a:pPr indent="-342900" lvl="1" marL="80010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Khi 1 tiến trình có đủ các tiến trình nhẹ, 1 lời gọi hệ thống dừng không làm dùng cả hệ thống mà chỉ làm dừng 1 tiến trình nhẹ.</a:t>
            </a:r>
            <a:endParaRPr/>
          </a:p>
          <a:p>
            <a:pPr indent="-342900" lvl="1" marL="80010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Ứng dụng không cần phải biết về các tiến trình nhẹ, nó chỉ nhìn thấy các luồng ở mức user</a:t>
            </a:r>
            <a:endParaRPr/>
          </a:p>
          <a:p>
            <a:pPr indent="-342900" lvl="1" marL="80010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Tiến trình nhẹ có thể được sử dụng trong môi trường đa vi xử lý, mỗi tiến trình nhẹ gán với 1 CPU</a:t>
            </a:r>
            <a:endParaRPr/>
          </a:p>
        </p:txBody>
      </p:sp>
      <p:sp>
        <p:nvSpPr>
          <p:cNvPr id="187" name="Google Shape;187;p12"/>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12"/>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TIẾN TRÌNH VÀ LUỒNG</a:t>
            </a:r>
            <a:endParaRPr/>
          </a:p>
        </p:txBody>
      </p:sp>
      <p:sp>
        <p:nvSpPr>
          <p:cNvPr id="189" name="Google Shape;189;p12"/>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12"/>
          <p:cNvSpPr/>
          <p:nvPr/>
        </p:nvSpPr>
        <p:spPr>
          <a:xfrm>
            <a:off x="4648200" y="3796955"/>
            <a:ext cx="6705600" cy="290451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3"/>
          <p:cNvSpPr txBox="1"/>
          <p:nvPr/>
        </p:nvSpPr>
        <p:spPr>
          <a:xfrm>
            <a:off x="1066800" y="1608786"/>
            <a:ext cx="10134600" cy="3560590"/>
          </a:xfrm>
          <a:prstGeom prst="rect">
            <a:avLst/>
          </a:prstGeom>
          <a:noFill/>
          <a:ln>
            <a:noFill/>
          </a:ln>
        </p:spPr>
        <p:txBody>
          <a:bodyPr anchorCtr="0" anchor="t" bIns="0" lIns="0" spcFirstLastPara="1" rIns="0" wrap="square" tIns="13325">
            <a:spAutoFit/>
          </a:bodyPr>
          <a:lstStyle/>
          <a:p>
            <a:pPr indent="-320675" lvl="0" marL="332740" marR="0" rtl="0" algn="l">
              <a:spcBef>
                <a:spcPts val="0"/>
              </a:spcBef>
              <a:spcAft>
                <a:spcPts val="0"/>
              </a:spcAft>
              <a:buClr>
                <a:srgbClr val="DD8046"/>
              </a:buClr>
              <a:buSzPts val="1750"/>
              <a:buFont typeface="Noto Sans Symbols"/>
              <a:buChar char="◻"/>
            </a:pPr>
            <a:r>
              <a:rPr lang="en-US" sz="2900">
                <a:solidFill>
                  <a:schemeClr val="dk1"/>
                </a:solidFill>
                <a:latin typeface="Calibri"/>
                <a:ea typeface="Calibri"/>
                <a:cs typeface="Calibri"/>
                <a:sym typeface="Calibri"/>
              </a:rPr>
              <a:t>Server đơn luồng</a:t>
            </a:r>
            <a:endParaRPr/>
          </a:p>
          <a:p>
            <a:pPr indent="-274955" lvl="1" marL="652780" marR="0" rtl="0" algn="l">
              <a:spcBef>
                <a:spcPts val="615"/>
              </a:spcBef>
              <a:spcAft>
                <a:spcPts val="0"/>
              </a:spcAft>
              <a:buClr>
                <a:srgbClr val="93B6D2"/>
              </a:buClr>
              <a:buSzPts val="1800"/>
              <a:buFont typeface="Arial"/>
              <a:buChar char=""/>
            </a:pPr>
            <a:r>
              <a:rPr b="0" i="0" lang="en-US" sz="2600" u="none" cap="none" strike="noStrike">
                <a:solidFill>
                  <a:schemeClr val="dk1"/>
                </a:solidFill>
                <a:latin typeface="Calibri"/>
                <a:ea typeface="Calibri"/>
                <a:cs typeface="Calibri"/>
                <a:sym typeface="Calibri"/>
              </a:rPr>
              <a:t>Chỉ xử lý được một yêu cầu tại một thời điểm</a:t>
            </a:r>
            <a:endParaRPr/>
          </a:p>
          <a:p>
            <a:pPr indent="-274955" lvl="1" marL="652780" marR="0" rtl="0" algn="l">
              <a:spcBef>
                <a:spcPts val="600"/>
              </a:spcBef>
              <a:spcAft>
                <a:spcPts val="0"/>
              </a:spcAft>
              <a:buClr>
                <a:srgbClr val="93B6D2"/>
              </a:buClr>
              <a:buSzPts val="1800"/>
              <a:buFont typeface="Arial"/>
              <a:buChar char=""/>
            </a:pPr>
            <a:r>
              <a:rPr b="0" i="0" lang="en-US" sz="2600" u="none" cap="none" strike="noStrike">
                <a:solidFill>
                  <a:schemeClr val="dk1"/>
                </a:solidFill>
                <a:latin typeface="Calibri"/>
                <a:ea typeface="Calibri"/>
                <a:cs typeface="Calibri"/>
                <a:sym typeface="Calibri"/>
              </a:rPr>
              <a:t>Các yêu cầu có thể được xử lý tuần tự</a:t>
            </a:r>
            <a:endParaRPr b="0" i="0" sz="2600" u="none" cap="none" strike="noStrike">
              <a:solidFill>
                <a:schemeClr val="dk1"/>
              </a:solidFill>
              <a:latin typeface="Calibri"/>
              <a:ea typeface="Calibri"/>
              <a:cs typeface="Calibri"/>
              <a:sym typeface="Calibri"/>
            </a:endParaRPr>
          </a:p>
          <a:p>
            <a:pPr indent="-274320" lvl="1" marL="652780" marR="5080" rtl="0" algn="l">
              <a:spcBef>
                <a:spcPts val="600"/>
              </a:spcBef>
              <a:spcAft>
                <a:spcPts val="0"/>
              </a:spcAft>
              <a:buClr>
                <a:srgbClr val="93B6D2"/>
              </a:buClr>
              <a:buSzPts val="1800"/>
              <a:buFont typeface="Arial"/>
              <a:buChar char=""/>
            </a:pPr>
            <a:r>
              <a:rPr b="0" i="0" lang="en-US" sz="2600" u="none" cap="none" strike="noStrike">
                <a:solidFill>
                  <a:schemeClr val="dk1"/>
                </a:solidFill>
                <a:latin typeface="Calibri"/>
                <a:ea typeface="Calibri"/>
                <a:cs typeface="Calibri"/>
                <a:sym typeface="Calibri"/>
              </a:rPr>
              <a:t>Các yêu cầu có thể được xử lý bởi các tiến trình khác  nhau</a:t>
            </a:r>
            <a:endParaRPr/>
          </a:p>
          <a:p>
            <a:pPr indent="-274955" lvl="1" marL="652780" marR="0" rtl="0" algn="l">
              <a:spcBef>
                <a:spcPts val="600"/>
              </a:spcBef>
              <a:spcAft>
                <a:spcPts val="0"/>
              </a:spcAft>
              <a:buClr>
                <a:srgbClr val="93B6D2"/>
              </a:buClr>
              <a:buSzPts val="1800"/>
              <a:buFont typeface="Arial"/>
              <a:buChar char=""/>
            </a:pPr>
            <a:r>
              <a:rPr b="0" i="0" lang="en-US" sz="2600" u="none" cap="none" strike="noStrike">
                <a:solidFill>
                  <a:schemeClr val="dk1"/>
                </a:solidFill>
                <a:latin typeface="Calibri"/>
                <a:ea typeface="Calibri"/>
                <a:cs typeface="Calibri"/>
                <a:sym typeface="Calibri"/>
              </a:rPr>
              <a:t>Không đảm bảo tính trong suốt</a:t>
            </a:r>
            <a:endParaRPr b="0" i="0" sz="2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2900">
              <a:solidFill>
                <a:schemeClr val="dk1"/>
              </a:solidFill>
              <a:latin typeface="Calibri"/>
              <a:ea typeface="Calibri"/>
              <a:cs typeface="Calibri"/>
              <a:sym typeface="Calibri"/>
            </a:endParaRPr>
          </a:p>
          <a:p>
            <a:pPr indent="0" lvl="0" marL="0" marR="0" rtl="0" algn="l">
              <a:spcBef>
                <a:spcPts val="5"/>
              </a:spcBef>
              <a:spcAft>
                <a:spcPts val="0"/>
              </a:spcAft>
              <a:buNone/>
            </a:pPr>
            <a:r>
              <a:t/>
            </a:r>
            <a:endParaRPr sz="2450">
              <a:solidFill>
                <a:schemeClr val="dk1"/>
              </a:solidFill>
              <a:latin typeface="Calibri"/>
              <a:ea typeface="Calibri"/>
              <a:cs typeface="Calibri"/>
              <a:sym typeface="Calibri"/>
            </a:endParaRPr>
          </a:p>
          <a:p>
            <a:pPr indent="0" lvl="0" marL="1991360" marR="0" rtl="0" algn="l">
              <a:spcBef>
                <a:spcPts val="0"/>
              </a:spcBef>
              <a:spcAft>
                <a:spcPts val="0"/>
              </a:spcAft>
              <a:buNone/>
            </a:pPr>
            <a:r>
              <a:rPr b="1" lang="en-US" sz="2400">
                <a:solidFill>
                  <a:schemeClr val="dk1"/>
                </a:solidFill>
                <a:latin typeface="Calibri"/>
                <a:ea typeface="Calibri"/>
                <a:cs typeface="Calibri"/>
                <a:sym typeface="Calibri"/>
              </a:rPr>
              <a:t>Server đa luồng</a:t>
            </a:r>
            <a:endParaRPr sz="2400">
              <a:solidFill>
                <a:schemeClr val="dk1"/>
              </a:solidFill>
              <a:latin typeface="Calibri"/>
              <a:ea typeface="Calibri"/>
              <a:cs typeface="Calibri"/>
              <a:sym typeface="Calibri"/>
            </a:endParaRPr>
          </a:p>
        </p:txBody>
      </p:sp>
      <p:sp>
        <p:nvSpPr>
          <p:cNvPr id="196" name="Google Shape;196;p13"/>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13"/>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LUỒNG TRONG HPT</a:t>
            </a:r>
            <a:endParaRPr/>
          </a:p>
        </p:txBody>
      </p:sp>
      <p:sp>
        <p:nvSpPr>
          <p:cNvPr id="198" name="Google Shape;198;p13"/>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9" name="Google Shape;199;p13"/>
          <p:cNvGrpSpPr/>
          <p:nvPr/>
        </p:nvGrpSpPr>
        <p:grpSpPr>
          <a:xfrm>
            <a:off x="1000506" y="4625562"/>
            <a:ext cx="1752600" cy="533400"/>
            <a:chOff x="610361" y="5106161"/>
            <a:chExt cx="1752600" cy="533400"/>
          </a:xfrm>
        </p:grpSpPr>
        <p:sp>
          <p:nvSpPr>
            <p:cNvPr id="200" name="Google Shape;200;p13"/>
            <p:cNvSpPr/>
            <p:nvPr/>
          </p:nvSpPr>
          <p:spPr>
            <a:xfrm>
              <a:off x="610361" y="5106161"/>
              <a:ext cx="1752600" cy="533400"/>
            </a:xfrm>
            <a:custGeom>
              <a:rect b="b" l="l" r="r" t="t"/>
              <a:pathLst>
                <a:path extrusionOk="0" h="533400" w="1752600">
                  <a:moveTo>
                    <a:pt x="1485900" y="0"/>
                  </a:moveTo>
                  <a:lnTo>
                    <a:pt x="1485900" y="133350"/>
                  </a:lnTo>
                  <a:lnTo>
                    <a:pt x="0" y="133350"/>
                  </a:lnTo>
                  <a:lnTo>
                    <a:pt x="0" y="400050"/>
                  </a:lnTo>
                  <a:lnTo>
                    <a:pt x="1485900" y="400050"/>
                  </a:lnTo>
                  <a:lnTo>
                    <a:pt x="1485900" y="533400"/>
                  </a:lnTo>
                  <a:lnTo>
                    <a:pt x="1752600" y="266700"/>
                  </a:lnTo>
                  <a:lnTo>
                    <a:pt x="1485900" y="0"/>
                  </a:lnTo>
                  <a:close/>
                </a:path>
              </a:pathLst>
            </a:custGeom>
            <a:solidFill>
              <a:srgbClr val="93B6D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3"/>
            <p:cNvSpPr/>
            <p:nvPr/>
          </p:nvSpPr>
          <p:spPr>
            <a:xfrm>
              <a:off x="610361" y="5106161"/>
              <a:ext cx="1752600" cy="533400"/>
            </a:xfrm>
            <a:custGeom>
              <a:rect b="b" l="l" r="r" t="t"/>
              <a:pathLst>
                <a:path extrusionOk="0" h="533400" w="1752600">
                  <a:moveTo>
                    <a:pt x="0" y="133350"/>
                  </a:moveTo>
                  <a:lnTo>
                    <a:pt x="1485900" y="133350"/>
                  </a:lnTo>
                  <a:lnTo>
                    <a:pt x="1485900" y="0"/>
                  </a:lnTo>
                  <a:lnTo>
                    <a:pt x="1752600" y="266700"/>
                  </a:lnTo>
                  <a:lnTo>
                    <a:pt x="1485900" y="533400"/>
                  </a:lnTo>
                  <a:lnTo>
                    <a:pt x="1485900" y="400050"/>
                  </a:lnTo>
                  <a:lnTo>
                    <a:pt x="0" y="400050"/>
                  </a:lnTo>
                  <a:lnTo>
                    <a:pt x="0" y="133350"/>
                  </a:lnTo>
                  <a:close/>
                </a:path>
              </a:pathLst>
            </a:custGeom>
            <a:noFill/>
            <a:ln cap="flat" cmpd="sng" w="19800">
              <a:solidFill>
                <a:srgbClr val="6B859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grpSp>
        <p:nvGrpSpPr>
          <p:cNvPr id="206" name="Google Shape;206;p14"/>
          <p:cNvGrpSpPr/>
          <p:nvPr/>
        </p:nvGrpSpPr>
        <p:grpSpPr>
          <a:xfrm>
            <a:off x="3733800" y="1552298"/>
            <a:ext cx="8252612" cy="2949137"/>
            <a:chOff x="1982826" y="1997964"/>
            <a:chExt cx="8252612" cy="2949137"/>
          </a:xfrm>
        </p:grpSpPr>
        <p:sp>
          <p:nvSpPr>
            <p:cNvPr id="207" name="Google Shape;207;p14"/>
            <p:cNvSpPr txBox="1"/>
            <p:nvPr/>
          </p:nvSpPr>
          <p:spPr>
            <a:xfrm>
              <a:off x="8057768" y="4703445"/>
              <a:ext cx="585470"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Server</a:t>
              </a:r>
              <a:endParaRPr sz="1500">
                <a:solidFill>
                  <a:schemeClr val="dk1"/>
                </a:solidFill>
                <a:latin typeface="Arial"/>
                <a:ea typeface="Arial"/>
                <a:cs typeface="Arial"/>
                <a:sym typeface="Arial"/>
              </a:endParaRPr>
            </a:p>
          </p:txBody>
        </p:sp>
        <p:sp>
          <p:nvSpPr>
            <p:cNvPr id="208" name="Google Shape;208;p14"/>
            <p:cNvSpPr/>
            <p:nvPr/>
          </p:nvSpPr>
          <p:spPr>
            <a:xfrm>
              <a:off x="7301484" y="2314955"/>
              <a:ext cx="2042160" cy="2214880"/>
            </a:xfrm>
            <a:custGeom>
              <a:rect b="b" l="l" r="r" t="t"/>
              <a:pathLst>
                <a:path extrusionOk="0" h="2214879" w="2042159">
                  <a:moveTo>
                    <a:pt x="1021080" y="0"/>
                  </a:moveTo>
                  <a:lnTo>
                    <a:pt x="974344" y="1139"/>
                  </a:lnTo>
                  <a:lnTo>
                    <a:pt x="928147" y="4524"/>
                  </a:lnTo>
                  <a:lnTo>
                    <a:pt x="882535" y="10106"/>
                  </a:lnTo>
                  <a:lnTo>
                    <a:pt x="837551" y="17837"/>
                  </a:lnTo>
                  <a:lnTo>
                    <a:pt x="793242" y="27667"/>
                  </a:lnTo>
                  <a:lnTo>
                    <a:pt x="749652" y="39548"/>
                  </a:lnTo>
                  <a:lnTo>
                    <a:pt x="706827" y="53430"/>
                  </a:lnTo>
                  <a:lnTo>
                    <a:pt x="664811" y="69265"/>
                  </a:lnTo>
                  <a:lnTo>
                    <a:pt x="623649" y="87004"/>
                  </a:lnTo>
                  <a:lnTo>
                    <a:pt x="583387" y="106599"/>
                  </a:lnTo>
                  <a:lnTo>
                    <a:pt x="544069" y="128000"/>
                  </a:lnTo>
                  <a:lnTo>
                    <a:pt x="505742" y="151158"/>
                  </a:lnTo>
                  <a:lnTo>
                    <a:pt x="468449" y="176025"/>
                  </a:lnTo>
                  <a:lnTo>
                    <a:pt x="432236" y="202551"/>
                  </a:lnTo>
                  <a:lnTo>
                    <a:pt x="397148" y="230689"/>
                  </a:lnTo>
                  <a:lnTo>
                    <a:pt x="363230" y="260388"/>
                  </a:lnTo>
                  <a:lnTo>
                    <a:pt x="330527" y="291601"/>
                  </a:lnTo>
                  <a:lnTo>
                    <a:pt x="299085" y="324278"/>
                  </a:lnTo>
                  <a:lnTo>
                    <a:pt x="268947" y="358371"/>
                  </a:lnTo>
                  <a:lnTo>
                    <a:pt x="240160" y="393830"/>
                  </a:lnTo>
                  <a:lnTo>
                    <a:pt x="212769" y="430607"/>
                  </a:lnTo>
                  <a:lnTo>
                    <a:pt x="186818" y="468653"/>
                  </a:lnTo>
                  <a:lnTo>
                    <a:pt x="162352" y="507920"/>
                  </a:lnTo>
                  <a:lnTo>
                    <a:pt x="139417" y="548357"/>
                  </a:lnTo>
                  <a:lnTo>
                    <a:pt x="118058" y="589917"/>
                  </a:lnTo>
                  <a:lnTo>
                    <a:pt x="98320" y="632551"/>
                  </a:lnTo>
                  <a:lnTo>
                    <a:pt x="80248" y="676209"/>
                  </a:lnTo>
                  <a:lnTo>
                    <a:pt x="63886" y="720843"/>
                  </a:lnTo>
                  <a:lnTo>
                    <a:pt x="49281" y="766404"/>
                  </a:lnTo>
                  <a:lnTo>
                    <a:pt x="36477" y="812844"/>
                  </a:lnTo>
                  <a:lnTo>
                    <a:pt x="25519" y="860112"/>
                  </a:lnTo>
                  <a:lnTo>
                    <a:pt x="16452" y="908161"/>
                  </a:lnTo>
                  <a:lnTo>
                    <a:pt x="9322" y="956942"/>
                  </a:lnTo>
                  <a:lnTo>
                    <a:pt x="4173" y="1006406"/>
                  </a:lnTo>
                  <a:lnTo>
                    <a:pt x="1050" y="1056503"/>
                  </a:lnTo>
                  <a:lnTo>
                    <a:pt x="0" y="1107186"/>
                  </a:lnTo>
                  <a:lnTo>
                    <a:pt x="1050" y="1157868"/>
                  </a:lnTo>
                  <a:lnTo>
                    <a:pt x="4173" y="1207965"/>
                  </a:lnTo>
                  <a:lnTo>
                    <a:pt x="9322" y="1257429"/>
                  </a:lnTo>
                  <a:lnTo>
                    <a:pt x="16452" y="1306210"/>
                  </a:lnTo>
                  <a:lnTo>
                    <a:pt x="25519" y="1354259"/>
                  </a:lnTo>
                  <a:lnTo>
                    <a:pt x="36477" y="1401527"/>
                  </a:lnTo>
                  <a:lnTo>
                    <a:pt x="49281" y="1447967"/>
                  </a:lnTo>
                  <a:lnTo>
                    <a:pt x="63886" y="1493528"/>
                  </a:lnTo>
                  <a:lnTo>
                    <a:pt x="80248" y="1538162"/>
                  </a:lnTo>
                  <a:lnTo>
                    <a:pt x="98320" y="1581820"/>
                  </a:lnTo>
                  <a:lnTo>
                    <a:pt x="118058" y="1624454"/>
                  </a:lnTo>
                  <a:lnTo>
                    <a:pt x="139417" y="1666014"/>
                  </a:lnTo>
                  <a:lnTo>
                    <a:pt x="162352" y="1706451"/>
                  </a:lnTo>
                  <a:lnTo>
                    <a:pt x="186818" y="1745718"/>
                  </a:lnTo>
                  <a:lnTo>
                    <a:pt x="212769" y="1783764"/>
                  </a:lnTo>
                  <a:lnTo>
                    <a:pt x="240160" y="1820541"/>
                  </a:lnTo>
                  <a:lnTo>
                    <a:pt x="268947" y="1856000"/>
                  </a:lnTo>
                  <a:lnTo>
                    <a:pt x="299085" y="1890093"/>
                  </a:lnTo>
                  <a:lnTo>
                    <a:pt x="330527" y="1922770"/>
                  </a:lnTo>
                  <a:lnTo>
                    <a:pt x="363230" y="1953983"/>
                  </a:lnTo>
                  <a:lnTo>
                    <a:pt x="397148" y="1983682"/>
                  </a:lnTo>
                  <a:lnTo>
                    <a:pt x="432236" y="2011820"/>
                  </a:lnTo>
                  <a:lnTo>
                    <a:pt x="468449" y="2038346"/>
                  </a:lnTo>
                  <a:lnTo>
                    <a:pt x="505742" y="2063213"/>
                  </a:lnTo>
                  <a:lnTo>
                    <a:pt x="544069" y="2086371"/>
                  </a:lnTo>
                  <a:lnTo>
                    <a:pt x="583387" y="2107772"/>
                  </a:lnTo>
                  <a:lnTo>
                    <a:pt x="623649" y="2127367"/>
                  </a:lnTo>
                  <a:lnTo>
                    <a:pt x="664811" y="2145106"/>
                  </a:lnTo>
                  <a:lnTo>
                    <a:pt x="706827" y="2160941"/>
                  </a:lnTo>
                  <a:lnTo>
                    <a:pt x="749652" y="2174823"/>
                  </a:lnTo>
                  <a:lnTo>
                    <a:pt x="793242" y="2186704"/>
                  </a:lnTo>
                  <a:lnTo>
                    <a:pt x="837551" y="2196534"/>
                  </a:lnTo>
                  <a:lnTo>
                    <a:pt x="882535" y="2204265"/>
                  </a:lnTo>
                  <a:lnTo>
                    <a:pt x="928147" y="2209847"/>
                  </a:lnTo>
                  <a:lnTo>
                    <a:pt x="974344" y="2213232"/>
                  </a:lnTo>
                  <a:lnTo>
                    <a:pt x="1021080" y="2214372"/>
                  </a:lnTo>
                  <a:lnTo>
                    <a:pt x="1067815" y="2213232"/>
                  </a:lnTo>
                  <a:lnTo>
                    <a:pt x="1114012" y="2209847"/>
                  </a:lnTo>
                  <a:lnTo>
                    <a:pt x="1159624" y="2204265"/>
                  </a:lnTo>
                  <a:lnTo>
                    <a:pt x="1204608" y="2196534"/>
                  </a:lnTo>
                  <a:lnTo>
                    <a:pt x="1248917" y="2186704"/>
                  </a:lnTo>
                  <a:lnTo>
                    <a:pt x="1292507" y="2174823"/>
                  </a:lnTo>
                  <a:lnTo>
                    <a:pt x="1335332" y="2160941"/>
                  </a:lnTo>
                  <a:lnTo>
                    <a:pt x="1377348" y="2145106"/>
                  </a:lnTo>
                  <a:lnTo>
                    <a:pt x="1418510" y="2127367"/>
                  </a:lnTo>
                  <a:lnTo>
                    <a:pt x="1458772" y="2107772"/>
                  </a:lnTo>
                  <a:lnTo>
                    <a:pt x="1498090" y="2086371"/>
                  </a:lnTo>
                  <a:lnTo>
                    <a:pt x="1536417" y="2063213"/>
                  </a:lnTo>
                  <a:lnTo>
                    <a:pt x="1573710" y="2038346"/>
                  </a:lnTo>
                  <a:lnTo>
                    <a:pt x="1609923" y="2011820"/>
                  </a:lnTo>
                  <a:lnTo>
                    <a:pt x="1645011" y="1983682"/>
                  </a:lnTo>
                  <a:lnTo>
                    <a:pt x="1678929" y="1953983"/>
                  </a:lnTo>
                  <a:lnTo>
                    <a:pt x="1711632" y="1922770"/>
                  </a:lnTo>
                  <a:lnTo>
                    <a:pt x="1743074" y="1890093"/>
                  </a:lnTo>
                  <a:lnTo>
                    <a:pt x="1773212" y="1856000"/>
                  </a:lnTo>
                  <a:lnTo>
                    <a:pt x="1801999" y="1820541"/>
                  </a:lnTo>
                  <a:lnTo>
                    <a:pt x="1829390" y="1783764"/>
                  </a:lnTo>
                  <a:lnTo>
                    <a:pt x="1855341" y="1745718"/>
                  </a:lnTo>
                  <a:lnTo>
                    <a:pt x="1879807" y="1706451"/>
                  </a:lnTo>
                  <a:lnTo>
                    <a:pt x="1902742" y="1666014"/>
                  </a:lnTo>
                  <a:lnTo>
                    <a:pt x="1924101" y="1624454"/>
                  </a:lnTo>
                  <a:lnTo>
                    <a:pt x="1943839" y="1581820"/>
                  </a:lnTo>
                  <a:lnTo>
                    <a:pt x="1961911" y="1538162"/>
                  </a:lnTo>
                  <a:lnTo>
                    <a:pt x="1978273" y="1493528"/>
                  </a:lnTo>
                  <a:lnTo>
                    <a:pt x="1992878" y="1447967"/>
                  </a:lnTo>
                  <a:lnTo>
                    <a:pt x="2005682" y="1401527"/>
                  </a:lnTo>
                  <a:lnTo>
                    <a:pt x="2016640" y="1354259"/>
                  </a:lnTo>
                  <a:lnTo>
                    <a:pt x="2025707" y="1306210"/>
                  </a:lnTo>
                  <a:lnTo>
                    <a:pt x="2032837" y="1257429"/>
                  </a:lnTo>
                  <a:lnTo>
                    <a:pt x="2037986" y="1207965"/>
                  </a:lnTo>
                  <a:lnTo>
                    <a:pt x="2041109" y="1157868"/>
                  </a:lnTo>
                  <a:lnTo>
                    <a:pt x="2042160" y="1107186"/>
                  </a:lnTo>
                  <a:lnTo>
                    <a:pt x="2041109" y="1056503"/>
                  </a:lnTo>
                  <a:lnTo>
                    <a:pt x="2037986" y="1006406"/>
                  </a:lnTo>
                  <a:lnTo>
                    <a:pt x="2032837" y="956942"/>
                  </a:lnTo>
                  <a:lnTo>
                    <a:pt x="2025707" y="908161"/>
                  </a:lnTo>
                  <a:lnTo>
                    <a:pt x="2016640" y="860112"/>
                  </a:lnTo>
                  <a:lnTo>
                    <a:pt x="2005682" y="812844"/>
                  </a:lnTo>
                  <a:lnTo>
                    <a:pt x="1992878" y="766404"/>
                  </a:lnTo>
                  <a:lnTo>
                    <a:pt x="1978273" y="720843"/>
                  </a:lnTo>
                  <a:lnTo>
                    <a:pt x="1961911" y="676209"/>
                  </a:lnTo>
                  <a:lnTo>
                    <a:pt x="1943839" y="632551"/>
                  </a:lnTo>
                  <a:lnTo>
                    <a:pt x="1924101" y="589917"/>
                  </a:lnTo>
                  <a:lnTo>
                    <a:pt x="1902742" y="548357"/>
                  </a:lnTo>
                  <a:lnTo>
                    <a:pt x="1879807" y="507920"/>
                  </a:lnTo>
                  <a:lnTo>
                    <a:pt x="1855341" y="468653"/>
                  </a:lnTo>
                  <a:lnTo>
                    <a:pt x="1829390" y="430607"/>
                  </a:lnTo>
                  <a:lnTo>
                    <a:pt x="1801999" y="393830"/>
                  </a:lnTo>
                  <a:lnTo>
                    <a:pt x="1773212" y="358371"/>
                  </a:lnTo>
                  <a:lnTo>
                    <a:pt x="1743075" y="324278"/>
                  </a:lnTo>
                  <a:lnTo>
                    <a:pt x="1711632" y="291601"/>
                  </a:lnTo>
                  <a:lnTo>
                    <a:pt x="1678929" y="260388"/>
                  </a:lnTo>
                  <a:lnTo>
                    <a:pt x="1645011" y="230689"/>
                  </a:lnTo>
                  <a:lnTo>
                    <a:pt x="1609923" y="202551"/>
                  </a:lnTo>
                  <a:lnTo>
                    <a:pt x="1573710" y="176025"/>
                  </a:lnTo>
                  <a:lnTo>
                    <a:pt x="1536417" y="151158"/>
                  </a:lnTo>
                  <a:lnTo>
                    <a:pt x="1498090" y="128000"/>
                  </a:lnTo>
                  <a:lnTo>
                    <a:pt x="1458772" y="106599"/>
                  </a:lnTo>
                  <a:lnTo>
                    <a:pt x="1418510" y="87004"/>
                  </a:lnTo>
                  <a:lnTo>
                    <a:pt x="1377348" y="69265"/>
                  </a:lnTo>
                  <a:lnTo>
                    <a:pt x="1335332" y="53430"/>
                  </a:lnTo>
                  <a:lnTo>
                    <a:pt x="1292507" y="39548"/>
                  </a:lnTo>
                  <a:lnTo>
                    <a:pt x="1248917" y="27667"/>
                  </a:lnTo>
                  <a:lnTo>
                    <a:pt x="1204608" y="17837"/>
                  </a:lnTo>
                  <a:lnTo>
                    <a:pt x="1159624" y="10106"/>
                  </a:lnTo>
                  <a:lnTo>
                    <a:pt x="1114012" y="4524"/>
                  </a:lnTo>
                  <a:lnTo>
                    <a:pt x="1067815" y="1139"/>
                  </a:lnTo>
                  <a:lnTo>
                    <a:pt x="1021080" y="0"/>
                  </a:lnTo>
                  <a:close/>
                </a:path>
              </a:pathLst>
            </a:custGeom>
            <a:solidFill>
              <a:srgbClr val="FFDC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14"/>
            <p:cNvSpPr txBox="1"/>
            <p:nvPr/>
          </p:nvSpPr>
          <p:spPr>
            <a:xfrm>
              <a:off x="7960867" y="4093591"/>
              <a:ext cx="854710"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N threads</a:t>
              </a:r>
              <a:endParaRPr sz="1500">
                <a:solidFill>
                  <a:schemeClr val="dk1"/>
                </a:solidFill>
                <a:latin typeface="Arial"/>
                <a:ea typeface="Arial"/>
                <a:cs typeface="Arial"/>
                <a:sym typeface="Arial"/>
              </a:endParaRPr>
            </a:p>
          </p:txBody>
        </p:sp>
        <p:grpSp>
          <p:nvGrpSpPr>
            <p:cNvPr id="210" name="Google Shape;210;p14"/>
            <p:cNvGrpSpPr/>
            <p:nvPr/>
          </p:nvGrpSpPr>
          <p:grpSpPr>
            <a:xfrm>
              <a:off x="8948929" y="1997964"/>
              <a:ext cx="812800" cy="317500"/>
              <a:chOff x="7424928" y="1997963"/>
              <a:chExt cx="812800" cy="317500"/>
            </a:xfrm>
          </p:grpSpPr>
          <p:sp>
            <p:nvSpPr>
              <p:cNvPr id="211" name="Google Shape;211;p14"/>
              <p:cNvSpPr/>
              <p:nvPr/>
            </p:nvSpPr>
            <p:spPr>
              <a:xfrm>
                <a:off x="7424928" y="2066543"/>
                <a:ext cx="812800" cy="248920"/>
              </a:xfrm>
              <a:custGeom>
                <a:rect b="b" l="l" r="r" t="t"/>
                <a:pathLst>
                  <a:path extrusionOk="0" h="248919" w="812800">
                    <a:moveTo>
                      <a:pt x="406146" y="0"/>
                    </a:moveTo>
                    <a:lnTo>
                      <a:pt x="340273" y="1626"/>
                    </a:lnTo>
                    <a:lnTo>
                      <a:pt x="277782" y="6333"/>
                    </a:lnTo>
                    <a:lnTo>
                      <a:pt x="219510" y="13866"/>
                    </a:lnTo>
                    <a:lnTo>
                      <a:pt x="166292" y="23969"/>
                    </a:lnTo>
                    <a:lnTo>
                      <a:pt x="118967" y="36385"/>
                    </a:lnTo>
                    <a:lnTo>
                      <a:pt x="78370" y="50858"/>
                    </a:lnTo>
                    <a:lnTo>
                      <a:pt x="20708" y="84953"/>
                    </a:lnTo>
                    <a:lnTo>
                      <a:pt x="0" y="124205"/>
                    </a:lnTo>
                    <a:lnTo>
                      <a:pt x="5316" y="144348"/>
                    </a:lnTo>
                    <a:lnTo>
                      <a:pt x="45338" y="181278"/>
                    </a:lnTo>
                    <a:lnTo>
                      <a:pt x="118967" y="212026"/>
                    </a:lnTo>
                    <a:lnTo>
                      <a:pt x="166292" y="224442"/>
                    </a:lnTo>
                    <a:lnTo>
                      <a:pt x="219510" y="234545"/>
                    </a:lnTo>
                    <a:lnTo>
                      <a:pt x="277782" y="242078"/>
                    </a:lnTo>
                    <a:lnTo>
                      <a:pt x="340273" y="246785"/>
                    </a:lnTo>
                    <a:lnTo>
                      <a:pt x="406146" y="248411"/>
                    </a:lnTo>
                    <a:lnTo>
                      <a:pt x="472018" y="246785"/>
                    </a:lnTo>
                    <a:lnTo>
                      <a:pt x="534509" y="242078"/>
                    </a:lnTo>
                    <a:lnTo>
                      <a:pt x="592781" y="234545"/>
                    </a:lnTo>
                    <a:lnTo>
                      <a:pt x="645999" y="224442"/>
                    </a:lnTo>
                    <a:lnTo>
                      <a:pt x="693324" y="212026"/>
                    </a:lnTo>
                    <a:lnTo>
                      <a:pt x="733921" y="197553"/>
                    </a:lnTo>
                    <a:lnTo>
                      <a:pt x="791583" y="163458"/>
                    </a:lnTo>
                    <a:lnTo>
                      <a:pt x="812292" y="124205"/>
                    </a:lnTo>
                    <a:lnTo>
                      <a:pt x="806975" y="104063"/>
                    </a:lnTo>
                    <a:lnTo>
                      <a:pt x="766953" y="67133"/>
                    </a:lnTo>
                    <a:lnTo>
                      <a:pt x="693324" y="36385"/>
                    </a:lnTo>
                    <a:lnTo>
                      <a:pt x="645999" y="23969"/>
                    </a:lnTo>
                    <a:lnTo>
                      <a:pt x="592781" y="13866"/>
                    </a:lnTo>
                    <a:lnTo>
                      <a:pt x="534509" y="6333"/>
                    </a:lnTo>
                    <a:lnTo>
                      <a:pt x="472018" y="1626"/>
                    </a:lnTo>
                    <a:lnTo>
                      <a:pt x="40614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4"/>
              <p:cNvSpPr/>
              <p:nvPr/>
            </p:nvSpPr>
            <p:spPr>
              <a:xfrm>
                <a:off x="7424928" y="2066543"/>
                <a:ext cx="812800" cy="248920"/>
              </a:xfrm>
              <a:custGeom>
                <a:rect b="b" l="l" r="r" t="t"/>
                <a:pathLst>
                  <a:path extrusionOk="0" h="248919" w="812800">
                    <a:moveTo>
                      <a:pt x="0" y="124205"/>
                    </a:moveTo>
                    <a:lnTo>
                      <a:pt x="20708" y="84953"/>
                    </a:lnTo>
                    <a:lnTo>
                      <a:pt x="78370" y="50858"/>
                    </a:lnTo>
                    <a:lnTo>
                      <a:pt x="118967" y="36385"/>
                    </a:lnTo>
                    <a:lnTo>
                      <a:pt x="166292" y="23969"/>
                    </a:lnTo>
                    <a:lnTo>
                      <a:pt x="219510" y="13866"/>
                    </a:lnTo>
                    <a:lnTo>
                      <a:pt x="277782" y="6333"/>
                    </a:lnTo>
                    <a:lnTo>
                      <a:pt x="340273" y="1626"/>
                    </a:lnTo>
                    <a:lnTo>
                      <a:pt x="406146" y="0"/>
                    </a:lnTo>
                    <a:lnTo>
                      <a:pt x="472018" y="1626"/>
                    </a:lnTo>
                    <a:lnTo>
                      <a:pt x="534509" y="6333"/>
                    </a:lnTo>
                    <a:lnTo>
                      <a:pt x="592781" y="13866"/>
                    </a:lnTo>
                    <a:lnTo>
                      <a:pt x="645999" y="23969"/>
                    </a:lnTo>
                    <a:lnTo>
                      <a:pt x="693324" y="36385"/>
                    </a:lnTo>
                    <a:lnTo>
                      <a:pt x="733921" y="50858"/>
                    </a:lnTo>
                    <a:lnTo>
                      <a:pt x="791583" y="84953"/>
                    </a:lnTo>
                    <a:lnTo>
                      <a:pt x="812292" y="124205"/>
                    </a:lnTo>
                    <a:lnTo>
                      <a:pt x="806975" y="144348"/>
                    </a:lnTo>
                    <a:lnTo>
                      <a:pt x="766953" y="181278"/>
                    </a:lnTo>
                    <a:lnTo>
                      <a:pt x="693324" y="212026"/>
                    </a:lnTo>
                    <a:lnTo>
                      <a:pt x="645999" y="224442"/>
                    </a:lnTo>
                    <a:lnTo>
                      <a:pt x="592781" y="234545"/>
                    </a:lnTo>
                    <a:lnTo>
                      <a:pt x="534509" y="242078"/>
                    </a:lnTo>
                    <a:lnTo>
                      <a:pt x="472018" y="246785"/>
                    </a:lnTo>
                    <a:lnTo>
                      <a:pt x="406146" y="248411"/>
                    </a:lnTo>
                    <a:lnTo>
                      <a:pt x="340273" y="246785"/>
                    </a:lnTo>
                    <a:lnTo>
                      <a:pt x="277782" y="242078"/>
                    </a:lnTo>
                    <a:lnTo>
                      <a:pt x="219510" y="234545"/>
                    </a:lnTo>
                    <a:lnTo>
                      <a:pt x="166292" y="224442"/>
                    </a:lnTo>
                    <a:lnTo>
                      <a:pt x="118967" y="212026"/>
                    </a:lnTo>
                    <a:lnTo>
                      <a:pt x="78370" y="197553"/>
                    </a:lnTo>
                    <a:lnTo>
                      <a:pt x="20708" y="163458"/>
                    </a:lnTo>
                    <a:lnTo>
                      <a:pt x="0" y="124205"/>
                    </a:lnTo>
                    <a:close/>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4"/>
              <p:cNvSpPr/>
              <p:nvPr/>
            </p:nvSpPr>
            <p:spPr>
              <a:xfrm>
                <a:off x="7424928" y="1997963"/>
                <a:ext cx="812800" cy="250190"/>
              </a:xfrm>
              <a:custGeom>
                <a:rect b="b" l="l" r="r" t="t"/>
                <a:pathLst>
                  <a:path extrusionOk="0" h="250189" w="812800">
                    <a:moveTo>
                      <a:pt x="406146" y="0"/>
                    </a:moveTo>
                    <a:lnTo>
                      <a:pt x="340273" y="1637"/>
                    </a:lnTo>
                    <a:lnTo>
                      <a:pt x="277782" y="6376"/>
                    </a:lnTo>
                    <a:lnTo>
                      <a:pt x="219510" y="13959"/>
                    </a:lnTo>
                    <a:lnTo>
                      <a:pt x="166292" y="24127"/>
                    </a:lnTo>
                    <a:lnTo>
                      <a:pt x="118967" y="36623"/>
                    </a:lnTo>
                    <a:lnTo>
                      <a:pt x="78370" y="51188"/>
                    </a:lnTo>
                    <a:lnTo>
                      <a:pt x="20708" y="85490"/>
                    </a:lnTo>
                    <a:lnTo>
                      <a:pt x="0" y="124968"/>
                    </a:lnTo>
                    <a:lnTo>
                      <a:pt x="5316" y="145224"/>
                    </a:lnTo>
                    <a:lnTo>
                      <a:pt x="45338" y="182372"/>
                    </a:lnTo>
                    <a:lnTo>
                      <a:pt x="118967" y="213312"/>
                    </a:lnTo>
                    <a:lnTo>
                      <a:pt x="166292" y="225808"/>
                    </a:lnTo>
                    <a:lnTo>
                      <a:pt x="219510" y="235976"/>
                    </a:lnTo>
                    <a:lnTo>
                      <a:pt x="277782" y="243559"/>
                    </a:lnTo>
                    <a:lnTo>
                      <a:pt x="340273" y="248298"/>
                    </a:lnTo>
                    <a:lnTo>
                      <a:pt x="406146" y="249936"/>
                    </a:lnTo>
                    <a:lnTo>
                      <a:pt x="472018" y="248298"/>
                    </a:lnTo>
                    <a:lnTo>
                      <a:pt x="534509" y="243559"/>
                    </a:lnTo>
                    <a:lnTo>
                      <a:pt x="592781" y="235976"/>
                    </a:lnTo>
                    <a:lnTo>
                      <a:pt x="645999" y="225808"/>
                    </a:lnTo>
                    <a:lnTo>
                      <a:pt x="693324" y="213312"/>
                    </a:lnTo>
                    <a:lnTo>
                      <a:pt x="733921" y="198747"/>
                    </a:lnTo>
                    <a:lnTo>
                      <a:pt x="791583" y="164445"/>
                    </a:lnTo>
                    <a:lnTo>
                      <a:pt x="812292" y="124968"/>
                    </a:lnTo>
                    <a:lnTo>
                      <a:pt x="806975" y="104711"/>
                    </a:lnTo>
                    <a:lnTo>
                      <a:pt x="766953" y="67563"/>
                    </a:lnTo>
                    <a:lnTo>
                      <a:pt x="693324" y="36623"/>
                    </a:lnTo>
                    <a:lnTo>
                      <a:pt x="645999" y="24127"/>
                    </a:lnTo>
                    <a:lnTo>
                      <a:pt x="592781" y="13959"/>
                    </a:lnTo>
                    <a:lnTo>
                      <a:pt x="534509" y="6376"/>
                    </a:lnTo>
                    <a:lnTo>
                      <a:pt x="472018" y="1637"/>
                    </a:lnTo>
                    <a:lnTo>
                      <a:pt x="40614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4"/>
              <p:cNvSpPr/>
              <p:nvPr/>
            </p:nvSpPr>
            <p:spPr>
              <a:xfrm>
                <a:off x="7424928" y="1997963"/>
                <a:ext cx="812800" cy="250190"/>
              </a:xfrm>
              <a:custGeom>
                <a:rect b="b" l="l" r="r" t="t"/>
                <a:pathLst>
                  <a:path extrusionOk="0" h="250189" w="812800">
                    <a:moveTo>
                      <a:pt x="0" y="124968"/>
                    </a:moveTo>
                    <a:lnTo>
                      <a:pt x="20708" y="85490"/>
                    </a:lnTo>
                    <a:lnTo>
                      <a:pt x="78370" y="51188"/>
                    </a:lnTo>
                    <a:lnTo>
                      <a:pt x="118967" y="36623"/>
                    </a:lnTo>
                    <a:lnTo>
                      <a:pt x="166292" y="24127"/>
                    </a:lnTo>
                    <a:lnTo>
                      <a:pt x="219510" y="13959"/>
                    </a:lnTo>
                    <a:lnTo>
                      <a:pt x="277782" y="6376"/>
                    </a:lnTo>
                    <a:lnTo>
                      <a:pt x="340273" y="1637"/>
                    </a:lnTo>
                    <a:lnTo>
                      <a:pt x="406146" y="0"/>
                    </a:lnTo>
                    <a:lnTo>
                      <a:pt x="472018" y="1637"/>
                    </a:lnTo>
                    <a:lnTo>
                      <a:pt x="534509" y="6376"/>
                    </a:lnTo>
                    <a:lnTo>
                      <a:pt x="592781" y="13959"/>
                    </a:lnTo>
                    <a:lnTo>
                      <a:pt x="645999" y="24127"/>
                    </a:lnTo>
                    <a:lnTo>
                      <a:pt x="693324" y="36623"/>
                    </a:lnTo>
                    <a:lnTo>
                      <a:pt x="733921" y="51188"/>
                    </a:lnTo>
                    <a:lnTo>
                      <a:pt x="791583" y="85490"/>
                    </a:lnTo>
                    <a:lnTo>
                      <a:pt x="812292" y="124968"/>
                    </a:lnTo>
                    <a:lnTo>
                      <a:pt x="806975" y="145224"/>
                    </a:lnTo>
                    <a:lnTo>
                      <a:pt x="766953" y="182372"/>
                    </a:lnTo>
                    <a:lnTo>
                      <a:pt x="693324" y="213312"/>
                    </a:lnTo>
                    <a:lnTo>
                      <a:pt x="645999" y="225808"/>
                    </a:lnTo>
                    <a:lnTo>
                      <a:pt x="592781" y="235976"/>
                    </a:lnTo>
                    <a:lnTo>
                      <a:pt x="534509" y="243559"/>
                    </a:lnTo>
                    <a:lnTo>
                      <a:pt x="472018" y="248298"/>
                    </a:lnTo>
                    <a:lnTo>
                      <a:pt x="406146" y="249936"/>
                    </a:lnTo>
                    <a:lnTo>
                      <a:pt x="340273" y="248298"/>
                    </a:lnTo>
                    <a:lnTo>
                      <a:pt x="277782" y="243559"/>
                    </a:lnTo>
                    <a:lnTo>
                      <a:pt x="219510" y="235976"/>
                    </a:lnTo>
                    <a:lnTo>
                      <a:pt x="166292" y="225808"/>
                    </a:lnTo>
                    <a:lnTo>
                      <a:pt x="118967" y="213312"/>
                    </a:lnTo>
                    <a:lnTo>
                      <a:pt x="78370" y="198747"/>
                    </a:lnTo>
                    <a:lnTo>
                      <a:pt x="20708" y="164445"/>
                    </a:lnTo>
                    <a:lnTo>
                      <a:pt x="0" y="124968"/>
                    </a:lnTo>
                    <a:close/>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5" name="Google Shape;215;p14"/>
            <p:cNvSpPr txBox="1"/>
            <p:nvPr/>
          </p:nvSpPr>
          <p:spPr>
            <a:xfrm>
              <a:off x="9188323" y="2512314"/>
              <a:ext cx="1047115"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Input-output</a:t>
              </a:r>
              <a:endParaRPr sz="1500">
                <a:solidFill>
                  <a:schemeClr val="dk1"/>
                </a:solidFill>
                <a:latin typeface="Arial"/>
                <a:ea typeface="Arial"/>
                <a:cs typeface="Arial"/>
                <a:sym typeface="Arial"/>
              </a:endParaRPr>
            </a:p>
          </p:txBody>
        </p:sp>
        <p:grpSp>
          <p:nvGrpSpPr>
            <p:cNvPr id="216" name="Google Shape;216;p14"/>
            <p:cNvGrpSpPr/>
            <p:nvPr/>
          </p:nvGrpSpPr>
          <p:grpSpPr>
            <a:xfrm>
              <a:off x="3590545" y="2275332"/>
              <a:ext cx="5562600" cy="1779016"/>
              <a:chOff x="2066544" y="2275332"/>
              <a:chExt cx="5562600" cy="1779016"/>
            </a:xfrm>
          </p:grpSpPr>
          <p:sp>
            <p:nvSpPr>
              <p:cNvPr id="217" name="Google Shape;217;p14"/>
              <p:cNvSpPr/>
              <p:nvPr/>
            </p:nvSpPr>
            <p:spPr>
              <a:xfrm>
                <a:off x="6385560" y="2863596"/>
                <a:ext cx="181356" cy="1691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4"/>
              <p:cNvSpPr/>
              <p:nvPr/>
            </p:nvSpPr>
            <p:spPr>
              <a:xfrm>
                <a:off x="5943600" y="2970276"/>
                <a:ext cx="480059" cy="361315"/>
              </a:xfrm>
              <a:custGeom>
                <a:rect b="b" l="l" r="r" t="t"/>
                <a:pathLst>
                  <a:path extrusionOk="0" h="361314" w="480060">
                    <a:moveTo>
                      <a:pt x="0" y="361188"/>
                    </a:moveTo>
                    <a:lnTo>
                      <a:pt x="480060"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4"/>
              <p:cNvSpPr/>
              <p:nvPr/>
            </p:nvSpPr>
            <p:spPr>
              <a:xfrm>
                <a:off x="6345936" y="3268980"/>
                <a:ext cx="198120" cy="124967"/>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4"/>
              <p:cNvSpPr/>
              <p:nvPr/>
            </p:nvSpPr>
            <p:spPr>
              <a:xfrm>
                <a:off x="5964936" y="3331464"/>
                <a:ext cx="398145" cy="91440"/>
              </a:xfrm>
              <a:custGeom>
                <a:rect b="b" l="l" r="r" t="t"/>
                <a:pathLst>
                  <a:path extrusionOk="0" h="91439" w="398145">
                    <a:moveTo>
                      <a:pt x="0" y="91439"/>
                    </a:moveTo>
                    <a:lnTo>
                      <a:pt x="397763"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4"/>
              <p:cNvSpPr/>
              <p:nvPr/>
            </p:nvSpPr>
            <p:spPr>
              <a:xfrm>
                <a:off x="6345936" y="3744468"/>
                <a:ext cx="198120" cy="146303"/>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4"/>
              <p:cNvSpPr/>
              <p:nvPr/>
            </p:nvSpPr>
            <p:spPr>
              <a:xfrm>
                <a:off x="5943600" y="3512820"/>
                <a:ext cx="439420" cy="294640"/>
              </a:xfrm>
              <a:custGeom>
                <a:rect b="b" l="l" r="r" t="t"/>
                <a:pathLst>
                  <a:path extrusionOk="0" h="294639" w="439420">
                    <a:moveTo>
                      <a:pt x="0" y="0"/>
                    </a:moveTo>
                    <a:lnTo>
                      <a:pt x="438912" y="294131"/>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14"/>
              <p:cNvSpPr/>
              <p:nvPr/>
            </p:nvSpPr>
            <p:spPr>
              <a:xfrm>
                <a:off x="7199375" y="2275332"/>
                <a:ext cx="201168" cy="170687"/>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4"/>
              <p:cNvSpPr/>
              <p:nvPr/>
            </p:nvSpPr>
            <p:spPr>
              <a:xfrm>
                <a:off x="6925056" y="2383536"/>
                <a:ext cx="312420" cy="203200"/>
              </a:xfrm>
              <a:custGeom>
                <a:rect b="b" l="l" r="r" t="t"/>
                <a:pathLst>
                  <a:path extrusionOk="0" h="203200" w="312420">
                    <a:moveTo>
                      <a:pt x="312420" y="0"/>
                    </a:moveTo>
                    <a:lnTo>
                      <a:pt x="0" y="202691"/>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4"/>
              <p:cNvSpPr/>
              <p:nvPr/>
            </p:nvSpPr>
            <p:spPr>
              <a:xfrm>
                <a:off x="7367016" y="2321052"/>
                <a:ext cx="178308" cy="192024"/>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4"/>
              <p:cNvSpPr/>
              <p:nvPr/>
            </p:nvSpPr>
            <p:spPr>
              <a:xfrm>
                <a:off x="6925056" y="2473452"/>
                <a:ext cx="500380" cy="655320"/>
              </a:xfrm>
              <a:custGeom>
                <a:rect b="b" l="l" r="r" t="t"/>
                <a:pathLst>
                  <a:path extrusionOk="0" h="655319" w="500379">
                    <a:moveTo>
                      <a:pt x="499872" y="0"/>
                    </a:moveTo>
                    <a:lnTo>
                      <a:pt x="0" y="65532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4"/>
              <p:cNvSpPr/>
              <p:nvPr/>
            </p:nvSpPr>
            <p:spPr>
              <a:xfrm>
                <a:off x="7490460" y="2433828"/>
                <a:ext cx="138684" cy="190500"/>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4"/>
              <p:cNvSpPr/>
              <p:nvPr/>
            </p:nvSpPr>
            <p:spPr>
              <a:xfrm>
                <a:off x="6882383" y="2607564"/>
                <a:ext cx="646430" cy="1199515"/>
              </a:xfrm>
              <a:custGeom>
                <a:rect b="b" l="l" r="r" t="t"/>
                <a:pathLst>
                  <a:path extrusionOk="0" h="1199514" w="646429">
                    <a:moveTo>
                      <a:pt x="646176" y="0"/>
                    </a:moveTo>
                    <a:lnTo>
                      <a:pt x="0" y="1199388"/>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4"/>
              <p:cNvSpPr/>
              <p:nvPr/>
            </p:nvSpPr>
            <p:spPr>
              <a:xfrm>
                <a:off x="6803136" y="3203448"/>
                <a:ext cx="96012" cy="144779"/>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14"/>
              <p:cNvSpPr/>
              <p:nvPr/>
            </p:nvSpPr>
            <p:spPr>
              <a:xfrm>
                <a:off x="6630924" y="3105912"/>
                <a:ext cx="210820" cy="292735"/>
              </a:xfrm>
              <a:custGeom>
                <a:rect b="b" l="l" r="r" t="t"/>
                <a:pathLst>
                  <a:path extrusionOk="0" h="292735" w="210820">
                    <a:moveTo>
                      <a:pt x="210311" y="248285"/>
                    </a:moveTo>
                    <a:lnTo>
                      <a:pt x="147066" y="292608"/>
                    </a:lnTo>
                    <a:lnTo>
                      <a:pt x="42672" y="270510"/>
                    </a:lnTo>
                    <a:lnTo>
                      <a:pt x="0" y="204088"/>
                    </a:lnTo>
                    <a:lnTo>
                      <a:pt x="0" y="113918"/>
                    </a:lnTo>
                    <a:lnTo>
                      <a:pt x="42672" y="45847"/>
                    </a:lnTo>
                    <a:lnTo>
                      <a:pt x="126492"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14"/>
              <p:cNvSpPr/>
              <p:nvPr/>
            </p:nvSpPr>
            <p:spPr>
              <a:xfrm>
                <a:off x="6781800" y="3878580"/>
                <a:ext cx="96012" cy="147827"/>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4"/>
              <p:cNvSpPr/>
              <p:nvPr/>
            </p:nvSpPr>
            <p:spPr>
              <a:xfrm>
                <a:off x="6630924" y="3782568"/>
                <a:ext cx="189230" cy="271780"/>
              </a:xfrm>
              <a:custGeom>
                <a:rect b="b" l="l" r="r" t="t"/>
                <a:pathLst>
                  <a:path extrusionOk="0" h="271779" w="189229">
                    <a:moveTo>
                      <a:pt x="188975" y="226821"/>
                    </a:moveTo>
                    <a:lnTo>
                      <a:pt x="127000" y="271271"/>
                    </a:lnTo>
                    <a:lnTo>
                      <a:pt x="42799" y="249046"/>
                    </a:lnTo>
                    <a:lnTo>
                      <a:pt x="0" y="180847"/>
                    </a:lnTo>
                    <a:lnTo>
                      <a:pt x="0" y="90423"/>
                    </a:lnTo>
                    <a:lnTo>
                      <a:pt x="42799" y="23748"/>
                    </a:lnTo>
                    <a:lnTo>
                      <a:pt x="106299"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4"/>
              <p:cNvSpPr/>
              <p:nvPr/>
            </p:nvSpPr>
            <p:spPr>
              <a:xfrm>
                <a:off x="6803136" y="2659380"/>
                <a:ext cx="96012" cy="146303"/>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4"/>
              <p:cNvSpPr/>
              <p:nvPr/>
            </p:nvSpPr>
            <p:spPr>
              <a:xfrm>
                <a:off x="6630924" y="2563368"/>
                <a:ext cx="210820" cy="271780"/>
              </a:xfrm>
              <a:custGeom>
                <a:rect b="b" l="l" r="r" t="t"/>
                <a:pathLst>
                  <a:path extrusionOk="0" h="271780" w="210820">
                    <a:moveTo>
                      <a:pt x="210311" y="225298"/>
                    </a:moveTo>
                    <a:lnTo>
                      <a:pt x="147066" y="271272"/>
                    </a:lnTo>
                    <a:lnTo>
                      <a:pt x="42672" y="271272"/>
                    </a:lnTo>
                    <a:lnTo>
                      <a:pt x="0" y="203073"/>
                    </a:lnTo>
                    <a:lnTo>
                      <a:pt x="0" y="112649"/>
                    </a:lnTo>
                    <a:lnTo>
                      <a:pt x="42672" y="22225"/>
                    </a:lnTo>
                    <a:lnTo>
                      <a:pt x="126492"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4"/>
              <p:cNvSpPr/>
              <p:nvPr/>
            </p:nvSpPr>
            <p:spPr>
              <a:xfrm>
                <a:off x="5549645" y="3106674"/>
                <a:ext cx="125095" cy="180340"/>
              </a:xfrm>
              <a:custGeom>
                <a:rect b="b" l="l" r="r" t="t"/>
                <a:pathLst>
                  <a:path extrusionOk="0" h="180339" w="125095">
                    <a:moveTo>
                      <a:pt x="0" y="0"/>
                    </a:moveTo>
                    <a:lnTo>
                      <a:pt x="124967" y="179831"/>
                    </a:lnTo>
                  </a:path>
                </a:pathLst>
              </a:custGeom>
              <a:noFill/>
              <a:ln cap="flat" cmpd="sng" w="19800">
                <a:solidFill>
                  <a:srgbClr val="FF33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14"/>
              <p:cNvSpPr/>
              <p:nvPr/>
            </p:nvSpPr>
            <p:spPr>
              <a:xfrm>
                <a:off x="2066544" y="3241548"/>
                <a:ext cx="792480" cy="1905"/>
              </a:xfrm>
              <a:custGeom>
                <a:rect b="b" l="l" r="r" t="t"/>
                <a:pathLst>
                  <a:path extrusionOk="0" h="1905" w="792480">
                    <a:moveTo>
                      <a:pt x="0" y="0"/>
                    </a:moveTo>
                    <a:lnTo>
                      <a:pt x="792480" y="1524"/>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7" name="Google Shape;237;p14"/>
            <p:cNvSpPr txBox="1"/>
            <p:nvPr/>
          </p:nvSpPr>
          <p:spPr>
            <a:xfrm>
              <a:off x="3883532" y="4409694"/>
              <a:ext cx="514350"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Client</a:t>
              </a:r>
              <a:endParaRPr sz="1500">
                <a:solidFill>
                  <a:schemeClr val="dk1"/>
                </a:solidFill>
                <a:latin typeface="Arial"/>
                <a:ea typeface="Arial"/>
                <a:cs typeface="Arial"/>
                <a:sym typeface="Arial"/>
              </a:endParaRPr>
            </a:p>
          </p:txBody>
        </p:sp>
        <p:sp>
          <p:nvSpPr>
            <p:cNvPr id="238" name="Google Shape;238;p14"/>
            <p:cNvSpPr txBox="1"/>
            <p:nvPr/>
          </p:nvSpPr>
          <p:spPr>
            <a:xfrm>
              <a:off x="3445256" y="3506216"/>
              <a:ext cx="247015"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T1</a:t>
              </a:r>
              <a:endParaRPr sz="1500">
                <a:solidFill>
                  <a:schemeClr val="dk1"/>
                </a:solidFill>
                <a:latin typeface="Arial"/>
                <a:ea typeface="Arial"/>
                <a:cs typeface="Arial"/>
                <a:sym typeface="Arial"/>
              </a:endParaRPr>
            </a:p>
          </p:txBody>
        </p:sp>
        <p:grpSp>
          <p:nvGrpSpPr>
            <p:cNvPr id="239" name="Google Shape;239;p14"/>
            <p:cNvGrpSpPr/>
            <p:nvPr/>
          </p:nvGrpSpPr>
          <p:grpSpPr>
            <a:xfrm>
              <a:off x="3070860" y="1997964"/>
              <a:ext cx="4102607" cy="2216150"/>
              <a:chOff x="1546859" y="1997963"/>
              <a:chExt cx="4102607" cy="2216150"/>
            </a:xfrm>
          </p:grpSpPr>
          <p:sp>
            <p:nvSpPr>
              <p:cNvPr id="240" name="Google Shape;240;p14"/>
              <p:cNvSpPr/>
              <p:nvPr/>
            </p:nvSpPr>
            <p:spPr>
              <a:xfrm>
                <a:off x="1546859" y="1997963"/>
                <a:ext cx="2042160" cy="2216150"/>
              </a:xfrm>
              <a:custGeom>
                <a:rect b="b" l="l" r="r" t="t"/>
                <a:pathLst>
                  <a:path extrusionOk="0" h="2216150" w="2042160">
                    <a:moveTo>
                      <a:pt x="1021079" y="0"/>
                    </a:moveTo>
                    <a:lnTo>
                      <a:pt x="974344" y="1140"/>
                    </a:lnTo>
                    <a:lnTo>
                      <a:pt x="928147" y="4527"/>
                    </a:lnTo>
                    <a:lnTo>
                      <a:pt x="882535" y="10114"/>
                    </a:lnTo>
                    <a:lnTo>
                      <a:pt x="837551" y="17851"/>
                    </a:lnTo>
                    <a:lnTo>
                      <a:pt x="793242" y="27688"/>
                    </a:lnTo>
                    <a:lnTo>
                      <a:pt x="749652" y="39578"/>
                    </a:lnTo>
                    <a:lnTo>
                      <a:pt x="706827" y="53470"/>
                    </a:lnTo>
                    <a:lnTo>
                      <a:pt x="664811" y="69317"/>
                    </a:lnTo>
                    <a:lnTo>
                      <a:pt x="623649" y="87070"/>
                    </a:lnTo>
                    <a:lnTo>
                      <a:pt x="583387" y="106679"/>
                    </a:lnTo>
                    <a:lnTo>
                      <a:pt x="544069" y="128095"/>
                    </a:lnTo>
                    <a:lnTo>
                      <a:pt x="505742" y="151271"/>
                    </a:lnTo>
                    <a:lnTo>
                      <a:pt x="468449" y="176156"/>
                    </a:lnTo>
                    <a:lnTo>
                      <a:pt x="432236" y="202702"/>
                    </a:lnTo>
                    <a:lnTo>
                      <a:pt x="397148" y="230859"/>
                    </a:lnTo>
                    <a:lnTo>
                      <a:pt x="363230" y="260581"/>
                    </a:lnTo>
                    <a:lnTo>
                      <a:pt x="330527" y="291816"/>
                    </a:lnTo>
                    <a:lnTo>
                      <a:pt x="299084" y="324516"/>
                    </a:lnTo>
                    <a:lnTo>
                      <a:pt x="268947" y="358633"/>
                    </a:lnTo>
                    <a:lnTo>
                      <a:pt x="240160" y="394118"/>
                    </a:lnTo>
                    <a:lnTo>
                      <a:pt x="212769" y="430921"/>
                    </a:lnTo>
                    <a:lnTo>
                      <a:pt x="186818" y="468993"/>
                    </a:lnTo>
                    <a:lnTo>
                      <a:pt x="162352" y="508287"/>
                    </a:lnTo>
                    <a:lnTo>
                      <a:pt x="139417" y="548752"/>
                    </a:lnTo>
                    <a:lnTo>
                      <a:pt x="118058" y="590341"/>
                    </a:lnTo>
                    <a:lnTo>
                      <a:pt x="98320" y="633003"/>
                    </a:lnTo>
                    <a:lnTo>
                      <a:pt x="80248" y="676691"/>
                    </a:lnTo>
                    <a:lnTo>
                      <a:pt x="63886" y="721355"/>
                    </a:lnTo>
                    <a:lnTo>
                      <a:pt x="49281" y="766947"/>
                    </a:lnTo>
                    <a:lnTo>
                      <a:pt x="36477" y="813417"/>
                    </a:lnTo>
                    <a:lnTo>
                      <a:pt x="25519" y="860717"/>
                    </a:lnTo>
                    <a:lnTo>
                      <a:pt x="16452" y="908797"/>
                    </a:lnTo>
                    <a:lnTo>
                      <a:pt x="9322" y="957609"/>
                    </a:lnTo>
                    <a:lnTo>
                      <a:pt x="4173" y="1007104"/>
                    </a:lnTo>
                    <a:lnTo>
                      <a:pt x="1050" y="1057233"/>
                    </a:lnTo>
                    <a:lnTo>
                      <a:pt x="0" y="1107948"/>
                    </a:lnTo>
                    <a:lnTo>
                      <a:pt x="1050" y="1158662"/>
                    </a:lnTo>
                    <a:lnTo>
                      <a:pt x="4173" y="1208791"/>
                    </a:lnTo>
                    <a:lnTo>
                      <a:pt x="9322" y="1258286"/>
                    </a:lnTo>
                    <a:lnTo>
                      <a:pt x="16452" y="1307098"/>
                    </a:lnTo>
                    <a:lnTo>
                      <a:pt x="25519" y="1355178"/>
                    </a:lnTo>
                    <a:lnTo>
                      <a:pt x="36477" y="1402478"/>
                    </a:lnTo>
                    <a:lnTo>
                      <a:pt x="49281" y="1448948"/>
                    </a:lnTo>
                    <a:lnTo>
                      <a:pt x="63886" y="1494540"/>
                    </a:lnTo>
                    <a:lnTo>
                      <a:pt x="80248" y="1539204"/>
                    </a:lnTo>
                    <a:lnTo>
                      <a:pt x="98320" y="1582892"/>
                    </a:lnTo>
                    <a:lnTo>
                      <a:pt x="118058" y="1625554"/>
                    </a:lnTo>
                    <a:lnTo>
                      <a:pt x="139417" y="1667143"/>
                    </a:lnTo>
                    <a:lnTo>
                      <a:pt x="162352" y="1707608"/>
                    </a:lnTo>
                    <a:lnTo>
                      <a:pt x="186818" y="1746902"/>
                    </a:lnTo>
                    <a:lnTo>
                      <a:pt x="212769" y="1784974"/>
                    </a:lnTo>
                    <a:lnTo>
                      <a:pt x="240160" y="1821777"/>
                    </a:lnTo>
                    <a:lnTo>
                      <a:pt x="268947" y="1857262"/>
                    </a:lnTo>
                    <a:lnTo>
                      <a:pt x="299084" y="1891379"/>
                    </a:lnTo>
                    <a:lnTo>
                      <a:pt x="330527" y="1924079"/>
                    </a:lnTo>
                    <a:lnTo>
                      <a:pt x="363230" y="1955314"/>
                    </a:lnTo>
                    <a:lnTo>
                      <a:pt x="397148" y="1985036"/>
                    </a:lnTo>
                    <a:lnTo>
                      <a:pt x="432236" y="2013193"/>
                    </a:lnTo>
                    <a:lnTo>
                      <a:pt x="468449" y="2039739"/>
                    </a:lnTo>
                    <a:lnTo>
                      <a:pt x="505742" y="2064624"/>
                    </a:lnTo>
                    <a:lnTo>
                      <a:pt x="544069" y="2087800"/>
                    </a:lnTo>
                    <a:lnTo>
                      <a:pt x="583387" y="2109216"/>
                    </a:lnTo>
                    <a:lnTo>
                      <a:pt x="623649" y="2128825"/>
                    </a:lnTo>
                    <a:lnTo>
                      <a:pt x="664811" y="2146578"/>
                    </a:lnTo>
                    <a:lnTo>
                      <a:pt x="706827" y="2162425"/>
                    </a:lnTo>
                    <a:lnTo>
                      <a:pt x="749652" y="2176317"/>
                    </a:lnTo>
                    <a:lnTo>
                      <a:pt x="793242" y="2188207"/>
                    </a:lnTo>
                    <a:lnTo>
                      <a:pt x="837551" y="2198044"/>
                    </a:lnTo>
                    <a:lnTo>
                      <a:pt x="882535" y="2205781"/>
                    </a:lnTo>
                    <a:lnTo>
                      <a:pt x="928147" y="2211368"/>
                    </a:lnTo>
                    <a:lnTo>
                      <a:pt x="974344" y="2214755"/>
                    </a:lnTo>
                    <a:lnTo>
                      <a:pt x="1021079" y="2215896"/>
                    </a:lnTo>
                    <a:lnTo>
                      <a:pt x="1067815" y="2214755"/>
                    </a:lnTo>
                    <a:lnTo>
                      <a:pt x="1114012" y="2211368"/>
                    </a:lnTo>
                    <a:lnTo>
                      <a:pt x="1159624" y="2205781"/>
                    </a:lnTo>
                    <a:lnTo>
                      <a:pt x="1204608" y="2198044"/>
                    </a:lnTo>
                    <a:lnTo>
                      <a:pt x="1248917" y="2188207"/>
                    </a:lnTo>
                    <a:lnTo>
                      <a:pt x="1292507" y="2176317"/>
                    </a:lnTo>
                    <a:lnTo>
                      <a:pt x="1335332" y="2162425"/>
                    </a:lnTo>
                    <a:lnTo>
                      <a:pt x="1377348" y="2146578"/>
                    </a:lnTo>
                    <a:lnTo>
                      <a:pt x="1418510" y="2128825"/>
                    </a:lnTo>
                    <a:lnTo>
                      <a:pt x="1458772" y="2109216"/>
                    </a:lnTo>
                    <a:lnTo>
                      <a:pt x="1498090" y="2087800"/>
                    </a:lnTo>
                    <a:lnTo>
                      <a:pt x="1536417" y="2064624"/>
                    </a:lnTo>
                    <a:lnTo>
                      <a:pt x="1573710" y="2039739"/>
                    </a:lnTo>
                    <a:lnTo>
                      <a:pt x="1609923" y="2013193"/>
                    </a:lnTo>
                    <a:lnTo>
                      <a:pt x="1645011" y="1985036"/>
                    </a:lnTo>
                    <a:lnTo>
                      <a:pt x="1678929" y="1955314"/>
                    </a:lnTo>
                    <a:lnTo>
                      <a:pt x="1711632" y="1924079"/>
                    </a:lnTo>
                    <a:lnTo>
                      <a:pt x="1743075" y="1891379"/>
                    </a:lnTo>
                    <a:lnTo>
                      <a:pt x="1773212" y="1857262"/>
                    </a:lnTo>
                    <a:lnTo>
                      <a:pt x="1801999" y="1821777"/>
                    </a:lnTo>
                    <a:lnTo>
                      <a:pt x="1829390" y="1784974"/>
                    </a:lnTo>
                    <a:lnTo>
                      <a:pt x="1855341" y="1746902"/>
                    </a:lnTo>
                    <a:lnTo>
                      <a:pt x="1879807" y="1707608"/>
                    </a:lnTo>
                    <a:lnTo>
                      <a:pt x="1902742" y="1667143"/>
                    </a:lnTo>
                    <a:lnTo>
                      <a:pt x="1924101" y="1625554"/>
                    </a:lnTo>
                    <a:lnTo>
                      <a:pt x="1943839" y="1582892"/>
                    </a:lnTo>
                    <a:lnTo>
                      <a:pt x="1961911" y="1539204"/>
                    </a:lnTo>
                    <a:lnTo>
                      <a:pt x="1978273" y="1494540"/>
                    </a:lnTo>
                    <a:lnTo>
                      <a:pt x="1992878" y="1448948"/>
                    </a:lnTo>
                    <a:lnTo>
                      <a:pt x="2005682" y="1402478"/>
                    </a:lnTo>
                    <a:lnTo>
                      <a:pt x="2016640" y="1355178"/>
                    </a:lnTo>
                    <a:lnTo>
                      <a:pt x="2025707" y="1307098"/>
                    </a:lnTo>
                    <a:lnTo>
                      <a:pt x="2032837" y="1258286"/>
                    </a:lnTo>
                    <a:lnTo>
                      <a:pt x="2037986" y="1208791"/>
                    </a:lnTo>
                    <a:lnTo>
                      <a:pt x="2041109" y="1158662"/>
                    </a:lnTo>
                    <a:lnTo>
                      <a:pt x="2042160" y="1107948"/>
                    </a:lnTo>
                    <a:lnTo>
                      <a:pt x="2041109" y="1057233"/>
                    </a:lnTo>
                    <a:lnTo>
                      <a:pt x="2037986" y="1007104"/>
                    </a:lnTo>
                    <a:lnTo>
                      <a:pt x="2032837" y="957609"/>
                    </a:lnTo>
                    <a:lnTo>
                      <a:pt x="2025707" y="908797"/>
                    </a:lnTo>
                    <a:lnTo>
                      <a:pt x="2016640" y="860717"/>
                    </a:lnTo>
                    <a:lnTo>
                      <a:pt x="2005682" y="813417"/>
                    </a:lnTo>
                    <a:lnTo>
                      <a:pt x="1992878" y="766947"/>
                    </a:lnTo>
                    <a:lnTo>
                      <a:pt x="1978273" y="721355"/>
                    </a:lnTo>
                    <a:lnTo>
                      <a:pt x="1961911" y="676691"/>
                    </a:lnTo>
                    <a:lnTo>
                      <a:pt x="1943839" y="633003"/>
                    </a:lnTo>
                    <a:lnTo>
                      <a:pt x="1924101" y="590341"/>
                    </a:lnTo>
                    <a:lnTo>
                      <a:pt x="1902742" y="548752"/>
                    </a:lnTo>
                    <a:lnTo>
                      <a:pt x="1879807" y="508287"/>
                    </a:lnTo>
                    <a:lnTo>
                      <a:pt x="1855341" y="468993"/>
                    </a:lnTo>
                    <a:lnTo>
                      <a:pt x="1829390" y="430921"/>
                    </a:lnTo>
                    <a:lnTo>
                      <a:pt x="1801999" y="394118"/>
                    </a:lnTo>
                    <a:lnTo>
                      <a:pt x="1773212" y="358633"/>
                    </a:lnTo>
                    <a:lnTo>
                      <a:pt x="1743075" y="324516"/>
                    </a:lnTo>
                    <a:lnTo>
                      <a:pt x="1711632" y="291816"/>
                    </a:lnTo>
                    <a:lnTo>
                      <a:pt x="1678929" y="260581"/>
                    </a:lnTo>
                    <a:lnTo>
                      <a:pt x="1645011" y="230859"/>
                    </a:lnTo>
                    <a:lnTo>
                      <a:pt x="1609923" y="202702"/>
                    </a:lnTo>
                    <a:lnTo>
                      <a:pt x="1573710" y="176156"/>
                    </a:lnTo>
                    <a:lnTo>
                      <a:pt x="1536417" y="151271"/>
                    </a:lnTo>
                    <a:lnTo>
                      <a:pt x="1498090" y="128095"/>
                    </a:lnTo>
                    <a:lnTo>
                      <a:pt x="1458772" y="106679"/>
                    </a:lnTo>
                    <a:lnTo>
                      <a:pt x="1418510" y="87070"/>
                    </a:lnTo>
                    <a:lnTo>
                      <a:pt x="1377348" y="69317"/>
                    </a:lnTo>
                    <a:lnTo>
                      <a:pt x="1335332" y="53470"/>
                    </a:lnTo>
                    <a:lnTo>
                      <a:pt x="1292507" y="39578"/>
                    </a:lnTo>
                    <a:lnTo>
                      <a:pt x="1248917" y="27688"/>
                    </a:lnTo>
                    <a:lnTo>
                      <a:pt x="1204608" y="17851"/>
                    </a:lnTo>
                    <a:lnTo>
                      <a:pt x="1159624" y="10114"/>
                    </a:lnTo>
                    <a:lnTo>
                      <a:pt x="1114012" y="4527"/>
                    </a:lnTo>
                    <a:lnTo>
                      <a:pt x="1067815" y="1140"/>
                    </a:lnTo>
                    <a:lnTo>
                      <a:pt x="1021079" y="0"/>
                    </a:lnTo>
                    <a:close/>
                  </a:path>
                </a:pathLst>
              </a:custGeom>
              <a:solidFill>
                <a:srgbClr val="FFDC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14"/>
              <p:cNvSpPr/>
              <p:nvPr/>
            </p:nvSpPr>
            <p:spPr>
              <a:xfrm>
                <a:off x="1546859" y="1997963"/>
                <a:ext cx="2042160" cy="2216150"/>
              </a:xfrm>
              <a:custGeom>
                <a:rect b="b" l="l" r="r" t="t"/>
                <a:pathLst>
                  <a:path extrusionOk="0" h="2216150" w="2042160">
                    <a:moveTo>
                      <a:pt x="0" y="1107948"/>
                    </a:moveTo>
                    <a:lnTo>
                      <a:pt x="1050" y="1057233"/>
                    </a:lnTo>
                    <a:lnTo>
                      <a:pt x="4173" y="1007104"/>
                    </a:lnTo>
                    <a:lnTo>
                      <a:pt x="9322" y="957609"/>
                    </a:lnTo>
                    <a:lnTo>
                      <a:pt x="16452" y="908797"/>
                    </a:lnTo>
                    <a:lnTo>
                      <a:pt x="25519" y="860717"/>
                    </a:lnTo>
                    <a:lnTo>
                      <a:pt x="36477" y="813417"/>
                    </a:lnTo>
                    <a:lnTo>
                      <a:pt x="49281" y="766947"/>
                    </a:lnTo>
                    <a:lnTo>
                      <a:pt x="63886" y="721355"/>
                    </a:lnTo>
                    <a:lnTo>
                      <a:pt x="80248" y="676691"/>
                    </a:lnTo>
                    <a:lnTo>
                      <a:pt x="98320" y="633003"/>
                    </a:lnTo>
                    <a:lnTo>
                      <a:pt x="118058" y="590341"/>
                    </a:lnTo>
                    <a:lnTo>
                      <a:pt x="139417" y="548752"/>
                    </a:lnTo>
                    <a:lnTo>
                      <a:pt x="162352" y="508287"/>
                    </a:lnTo>
                    <a:lnTo>
                      <a:pt x="186818" y="468993"/>
                    </a:lnTo>
                    <a:lnTo>
                      <a:pt x="212769" y="430921"/>
                    </a:lnTo>
                    <a:lnTo>
                      <a:pt x="240160" y="394118"/>
                    </a:lnTo>
                    <a:lnTo>
                      <a:pt x="268947" y="358633"/>
                    </a:lnTo>
                    <a:lnTo>
                      <a:pt x="299084" y="324516"/>
                    </a:lnTo>
                    <a:lnTo>
                      <a:pt x="330527" y="291816"/>
                    </a:lnTo>
                    <a:lnTo>
                      <a:pt x="363230" y="260581"/>
                    </a:lnTo>
                    <a:lnTo>
                      <a:pt x="397148" y="230859"/>
                    </a:lnTo>
                    <a:lnTo>
                      <a:pt x="432236" y="202702"/>
                    </a:lnTo>
                    <a:lnTo>
                      <a:pt x="468449" y="176156"/>
                    </a:lnTo>
                    <a:lnTo>
                      <a:pt x="505742" y="151271"/>
                    </a:lnTo>
                    <a:lnTo>
                      <a:pt x="544069" y="128095"/>
                    </a:lnTo>
                    <a:lnTo>
                      <a:pt x="583387" y="106679"/>
                    </a:lnTo>
                    <a:lnTo>
                      <a:pt x="623649" y="87070"/>
                    </a:lnTo>
                    <a:lnTo>
                      <a:pt x="664811" y="69317"/>
                    </a:lnTo>
                    <a:lnTo>
                      <a:pt x="706827" y="53470"/>
                    </a:lnTo>
                    <a:lnTo>
                      <a:pt x="749652" y="39578"/>
                    </a:lnTo>
                    <a:lnTo>
                      <a:pt x="793242" y="27688"/>
                    </a:lnTo>
                    <a:lnTo>
                      <a:pt x="837551" y="17851"/>
                    </a:lnTo>
                    <a:lnTo>
                      <a:pt x="882535" y="10114"/>
                    </a:lnTo>
                    <a:lnTo>
                      <a:pt x="928147" y="4527"/>
                    </a:lnTo>
                    <a:lnTo>
                      <a:pt x="974344" y="1140"/>
                    </a:lnTo>
                    <a:lnTo>
                      <a:pt x="1021079" y="0"/>
                    </a:lnTo>
                    <a:lnTo>
                      <a:pt x="1067815" y="1140"/>
                    </a:lnTo>
                    <a:lnTo>
                      <a:pt x="1114012" y="4527"/>
                    </a:lnTo>
                    <a:lnTo>
                      <a:pt x="1159624" y="10114"/>
                    </a:lnTo>
                    <a:lnTo>
                      <a:pt x="1204608" y="17851"/>
                    </a:lnTo>
                    <a:lnTo>
                      <a:pt x="1248917" y="27688"/>
                    </a:lnTo>
                    <a:lnTo>
                      <a:pt x="1292507" y="39578"/>
                    </a:lnTo>
                    <a:lnTo>
                      <a:pt x="1335332" y="53470"/>
                    </a:lnTo>
                    <a:lnTo>
                      <a:pt x="1377348" y="69317"/>
                    </a:lnTo>
                    <a:lnTo>
                      <a:pt x="1418510" y="87070"/>
                    </a:lnTo>
                    <a:lnTo>
                      <a:pt x="1458772" y="106679"/>
                    </a:lnTo>
                    <a:lnTo>
                      <a:pt x="1498090" y="128095"/>
                    </a:lnTo>
                    <a:lnTo>
                      <a:pt x="1536417" y="151271"/>
                    </a:lnTo>
                    <a:lnTo>
                      <a:pt x="1573710" y="176156"/>
                    </a:lnTo>
                    <a:lnTo>
                      <a:pt x="1609923" y="202702"/>
                    </a:lnTo>
                    <a:lnTo>
                      <a:pt x="1645011" y="230859"/>
                    </a:lnTo>
                    <a:lnTo>
                      <a:pt x="1678929" y="260581"/>
                    </a:lnTo>
                    <a:lnTo>
                      <a:pt x="1711632" y="291816"/>
                    </a:lnTo>
                    <a:lnTo>
                      <a:pt x="1743075" y="324516"/>
                    </a:lnTo>
                    <a:lnTo>
                      <a:pt x="1773212" y="358633"/>
                    </a:lnTo>
                    <a:lnTo>
                      <a:pt x="1801999" y="394118"/>
                    </a:lnTo>
                    <a:lnTo>
                      <a:pt x="1829390" y="430921"/>
                    </a:lnTo>
                    <a:lnTo>
                      <a:pt x="1855341" y="468993"/>
                    </a:lnTo>
                    <a:lnTo>
                      <a:pt x="1879807" y="508287"/>
                    </a:lnTo>
                    <a:lnTo>
                      <a:pt x="1902742" y="548752"/>
                    </a:lnTo>
                    <a:lnTo>
                      <a:pt x="1924101" y="590341"/>
                    </a:lnTo>
                    <a:lnTo>
                      <a:pt x="1943839" y="633003"/>
                    </a:lnTo>
                    <a:lnTo>
                      <a:pt x="1961911" y="676691"/>
                    </a:lnTo>
                    <a:lnTo>
                      <a:pt x="1978273" y="721355"/>
                    </a:lnTo>
                    <a:lnTo>
                      <a:pt x="1992878" y="766947"/>
                    </a:lnTo>
                    <a:lnTo>
                      <a:pt x="2005682" y="813417"/>
                    </a:lnTo>
                    <a:lnTo>
                      <a:pt x="2016640" y="860717"/>
                    </a:lnTo>
                    <a:lnTo>
                      <a:pt x="2025707" y="908797"/>
                    </a:lnTo>
                    <a:lnTo>
                      <a:pt x="2032837" y="957609"/>
                    </a:lnTo>
                    <a:lnTo>
                      <a:pt x="2037986" y="1007104"/>
                    </a:lnTo>
                    <a:lnTo>
                      <a:pt x="2041109" y="1057233"/>
                    </a:lnTo>
                    <a:lnTo>
                      <a:pt x="2042160" y="1107948"/>
                    </a:lnTo>
                    <a:lnTo>
                      <a:pt x="2041109" y="1158662"/>
                    </a:lnTo>
                    <a:lnTo>
                      <a:pt x="2037986" y="1208791"/>
                    </a:lnTo>
                    <a:lnTo>
                      <a:pt x="2032837" y="1258286"/>
                    </a:lnTo>
                    <a:lnTo>
                      <a:pt x="2025707" y="1307098"/>
                    </a:lnTo>
                    <a:lnTo>
                      <a:pt x="2016640" y="1355178"/>
                    </a:lnTo>
                    <a:lnTo>
                      <a:pt x="2005682" y="1402478"/>
                    </a:lnTo>
                    <a:lnTo>
                      <a:pt x="1992878" y="1448948"/>
                    </a:lnTo>
                    <a:lnTo>
                      <a:pt x="1978273" y="1494540"/>
                    </a:lnTo>
                    <a:lnTo>
                      <a:pt x="1961911" y="1539204"/>
                    </a:lnTo>
                    <a:lnTo>
                      <a:pt x="1943839" y="1582892"/>
                    </a:lnTo>
                    <a:lnTo>
                      <a:pt x="1924101" y="1625554"/>
                    </a:lnTo>
                    <a:lnTo>
                      <a:pt x="1902742" y="1667143"/>
                    </a:lnTo>
                    <a:lnTo>
                      <a:pt x="1879807" y="1707608"/>
                    </a:lnTo>
                    <a:lnTo>
                      <a:pt x="1855341" y="1746902"/>
                    </a:lnTo>
                    <a:lnTo>
                      <a:pt x="1829390" y="1784974"/>
                    </a:lnTo>
                    <a:lnTo>
                      <a:pt x="1801999" y="1821777"/>
                    </a:lnTo>
                    <a:lnTo>
                      <a:pt x="1773212" y="1857262"/>
                    </a:lnTo>
                    <a:lnTo>
                      <a:pt x="1743075" y="1891379"/>
                    </a:lnTo>
                    <a:lnTo>
                      <a:pt x="1711632" y="1924079"/>
                    </a:lnTo>
                    <a:lnTo>
                      <a:pt x="1678929" y="1955314"/>
                    </a:lnTo>
                    <a:lnTo>
                      <a:pt x="1645011" y="1985036"/>
                    </a:lnTo>
                    <a:lnTo>
                      <a:pt x="1609923" y="2013193"/>
                    </a:lnTo>
                    <a:lnTo>
                      <a:pt x="1573710" y="2039739"/>
                    </a:lnTo>
                    <a:lnTo>
                      <a:pt x="1536417" y="2064624"/>
                    </a:lnTo>
                    <a:lnTo>
                      <a:pt x="1498090" y="2087800"/>
                    </a:lnTo>
                    <a:lnTo>
                      <a:pt x="1458772" y="2109216"/>
                    </a:lnTo>
                    <a:lnTo>
                      <a:pt x="1418510" y="2128825"/>
                    </a:lnTo>
                    <a:lnTo>
                      <a:pt x="1377348" y="2146578"/>
                    </a:lnTo>
                    <a:lnTo>
                      <a:pt x="1335332" y="2162425"/>
                    </a:lnTo>
                    <a:lnTo>
                      <a:pt x="1292507" y="2176317"/>
                    </a:lnTo>
                    <a:lnTo>
                      <a:pt x="1248917" y="2188207"/>
                    </a:lnTo>
                    <a:lnTo>
                      <a:pt x="1204608" y="2198044"/>
                    </a:lnTo>
                    <a:lnTo>
                      <a:pt x="1159624" y="2205781"/>
                    </a:lnTo>
                    <a:lnTo>
                      <a:pt x="1114012" y="2211368"/>
                    </a:lnTo>
                    <a:lnTo>
                      <a:pt x="1067815" y="2214755"/>
                    </a:lnTo>
                    <a:lnTo>
                      <a:pt x="1021079" y="2215896"/>
                    </a:lnTo>
                    <a:lnTo>
                      <a:pt x="974344" y="2214755"/>
                    </a:lnTo>
                    <a:lnTo>
                      <a:pt x="928147" y="2211368"/>
                    </a:lnTo>
                    <a:lnTo>
                      <a:pt x="882535" y="2205781"/>
                    </a:lnTo>
                    <a:lnTo>
                      <a:pt x="837551" y="2198044"/>
                    </a:lnTo>
                    <a:lnTo>
                      <a:pt x="793242" y="2188207"/>
                    </a:lnTo>
                    <a:lnTo>
                      <a:pt x="749652" y="2176317"/>
                    </a:lnTo>
                    <a:lnTo>
                      <a:pt x="706827" y="2162425"/>
                    </a:lnTo>
                    <a:lnTo>
                      <a:pt x="664811" y="2146578"/>
                    </a:lnTo>
                    <a:lnTo>
                      <a:pt x="623649" y="2128825"/>
                    </a:lnTo>
                    <a:lnTo>
                      <a:pt x="583387" y="2109216"/>
                    </a:lnTo>
                    <a:lnTo>
                      <a:pt x="544069" y="2087800"/>
                    </a:lnTo>
                    <a:lnTo>
                      <a:pt x="505742" y="2064624"/>
                    </a:lnTo>
                    <a:lnTo>
                      <a:pt x="468449" y="2039739"/>
                    </a:lnTo>
                    <a:lnTo>
                      <a:pt x="432236" y="2013193"/>
                    </a:lnTo>
                    <a:lnTo>
                      <a:pt x="397148" y="1985036"/>
                    </a:lnTo>
                    <a:lnTo>
                      <a:pt x="363230" y="1955314"/>
                    </a:lnTo>
                    <a:lnTo>
                      <a:pt x="330527" y="1924079"/>
                    </a:lnTo>
                    <a:lnTo>
                      <a:pt x="299084" y="1891379"/>
                    </a:lnTo>
                    <a:lnTo>
                      <a:pt x="268947" y="1857262"/>
                    </a:lnTo>
                    <a:lnTo>
                      <a:pt x="240160" y="1821777"/>
                    </a:lnTo>
                    <a:lnTo>
                      <a:pt x="212769" y="1784974"/>
                    </a:lnTo>
                    <a:lnTo>
                      <a:pt x="186818" y="1746902"/>
                    </a:lnTo>
                    <a:lnTo>
                      <a:pt x="162352" y="1707608"/>
                    </a:lnTo>
                    <a:lnTo>
                      <a:pt x="139417" y="1667143"/>
                    </a:lnTo>
                    <a:lnTo>
                      <a:pt x="118058" y="1625554"/>
                    </a:lnTo>
                    <a:lnTo>
                      <a:pt x="98320" y="1582892"/>
                    </a:lnTo>
                    <a:lnTo>
                      <a:pt x="80248" y="1539204"/>
                    </a:lnTo>
                    <a:lnTo>
                      <a:pt x="63886" y="1494540"/>
                    </a:lnTo>
                    <a:lnTo>
                      <a:pt x="49281" y="1448948"/>
                    </a:lnTo>
                    <a:lnTo>
                      <a:pt x="36477" y="1402478"/>
                    </a:lnTo>
                    <a:lnTo>
                      <a:pt x="25519" y="1355178"/>
                    </a:lnTo>
                    <a:lnTo>
                      <a:pt x="16452" y="1307098"/>
                    </a:lnTo>
                    <a:lnTo>
                      <a:pt x="9322" y="1258286"/>
                    </a:lnTo>
                    <a:lnTo>
                      <a:pt x="4173" y="1208791"/>
                    </a:lnTo>
                    <a:lnTo>
                      <a:pt x="1050" y="1158662"/>
                    </a:lnTo>
                    <a:lnTo>
                      <a:pt x="0" y="1107948"/>
                    </a:lnTo>
                    <a:close/>
                  </a:path>
                </a:pathLst>
              </a:custGeom>
              <a:noFill/>
              <a:ln cap="flat" cmpd="sng" w="33525">
                <a:solidFill>
                  <a:srgbClr val="FFDC9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14"/>
              <p:cNvSpPr/>
              <p:nvPr/>
            </p:nvSpPr>
            <p:spPr>
              <a:xfrm>
                <a:off x="3384803" y="3134867"/>
                <a:ext cx="74675" cy="146303"/>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4"/>
              <p:cNvSpPr/>
              <p:nvPr/>
            </p:nvSpPr>
            <p:spPr>
              <a:xfrm>
                <a:off x="3214115" y="3038855"/>
                <a:ext cx="208915" cy="271780"/>
              </a:xfrm>
              <a:custGeom>
                <a:rect b="b" l="l" r="r" t="t"/>
                <a:pathLst>
                  <a:path extrusionOk="0" h="271779" w="208914">
                    <a:moveTo>
                      <a:pt x="208787" y="225298"/>
                    </a:moveTo>
                    <a:lnTo>
                      <a:pt x="124968" y="271272"/>
                    </a:lnTo>
                    <a:lnTo>
                      <a:pt x="61721" y="247523"/>
                    </a:lnTo>
                    <a:lnTo>
                      <a:pt x="0" y="180848"/>
                    </a:lnTo>
                    <a:lnTo>
                      <a:pt x="0" y="112649"/>
                    </a:lnTo>
                    <a:lnTo>
                      <a:pt x="41147" y="44450"/>
                    </a:lnTo>
                    <a:lnTo>
                      <a:pt x="124968"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4"/>
              <p:cNvSpPr/>
              <p:nvPr/>
            </p:nvSpPr>
            <p:spPr>
              <a:xfrm>
                <a:off x="2087879" y="3105911"/>
                <a:ext cx="189230" cy="135890"/>
              </a:xfrm>
              <a:custGeom>
                <a:rect b="b" l="l" r="r" t="t"/>
                <a:pathLst>
                  <a:path extrusionOk="0" h="135889" w="189230">
                    <a:moveTo>
                      <a:pt x="188975" y="0"/>
                    </a:moveTo>
                    <a:lnTo>
                      <a:pt x="0" y="0"/>
                    </a:lnTo>
                    <a:lnTo>
                      <a:pt x="0" y="135636"/>
                    </a:lnTo>
                    <a:lnTo>
                      <a:pt x="188975" y="135636"/>
                    </a:lnTo>
                    <a:lnTo>
                      <a:pt x="18897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14"/>
              <p:cNvSpPr/>
              <p:nvPr/>
            </p:nvSpPr>
            <p:spPr>
              <a:xfrm>
                <a:off x="2087879" y="3105911"/>
                <a:ext cx="208915" cy="158750"/>
              </a:xfrm>
              <a:custGeom>
                <a:rect b="b" l="l" r="r" t="t"/>
                <a:pathLst>
                  <a:path extrusionOk="0" h="158750" w="208914">
                    <a:moveTo>
                      <a:pt x="0" y="158496"/>
                    </a:moveTo>
                    <a:lnTo>
                      <a:pt x="208787" y="158496"/>
                    </a:lnTo>
                    <a:lnTo>
                      <a:pt x="208787" y="0"/>
                    </a:lnTo>
                    <a:lnTo>
                      <a:pt x="0" y="0"/>
                    </a:lnTo>
                    <a:lnTo>
                      <a:pt x="0" y="158496"/>
                    </a:lnTo>
                    <a:close/>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14"/>
              <p:cNvSpPr/>
              <p:nvPr/>
            </p:nvSpPr>
            <p:spPr>
              <a:xfrm>
                <a:off x="1883663" y="3134867"/>
                <a:ext cx="96012" cy="146303"/>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4"/>
              <p:cNvSpPr/>
              <p:nvPr/>
            </p:nvSpPr>
            <p:spPr>
              <a:xfrm>
                <a:off x="1711451" y="3038855"/>
                <a:ext cx="208915" cy="271780"/>
              </a:xfrm>
              <a:custGeom>
                <a:rect b="b" l="l" r="r" t="t"/>
                <a:pathLst>
                  <a:path extrusionOk="0" h="271779" w="208914">
                    <a:moveTo>
                      <a:pt x="208787" y="225298"/>
                    </a:moveTo>
                    <a:lnTo>
                      <a:pt x="146050" y="271272"/>
                    </a:lnTo>
                    <a:lnTo>
                      <a:pt x="62737" y="247523"/>
                    </a:lnTo>
                    <a:lnTo>
                      <a:pt x="21843" y="180848"/>
                    </a:lnTo>
                    <a:lnTo>
                      <a:pt x="0" y="112649"/>
                    </a:lnTo>
                    <a:lnTo>
                      <a:pt x="62737" y="44450"/>
                    </a:lnTo>
                    <a:lnTo>
                      <a:pt x="125603"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14"/>
              <p:cNvSpPr/>
              <p:nvPr/>
            </p:nvSpPr>
            <p:spPr>
              <a:xfrm>
                <a:off x="2505455" y="3105911"/>
                <a:ext cx="187960" cy="135890"/>
              </a:xfrm>
              <a:custGeom>
                <a:rect b="b" l="l" r="r" t="t"/>
                <a:pathLst>
                  <a:path extrusionOk="0" h="135889" w="187960">
                    <a:moveTo>
                      <a:pt x="187451" y="0"/>
                    </a:moveTo>
                    <a:lnTo>
                      <a:pt x="0" y="0"/>
                    </a:lnTo>
                    <a:lnTo>
                      <a:pt x="0" y="135636"/>
                    </a:lnTo>
                    <a:lnTo>
                      <a:pt x="187451" y="135636"/>
                    </a:lnTo>
                    <a:lnTo>
                      <a:pt x="187451"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4"/>
              <p:cNvSpPr/>
              <p:nvPr/>
            </p:nvSpPr>
            <p:spPr>
              <a:xfrm>
                <a:off x="2505455" y="3105911"/>
                <a:ext cx="207645" cy="158750"/>
              </a:xfrm>
              <a:custGeom>
                <a:rect b="b" l="l" r="r" t="t"/>
                <a:pathLst>
                  <a:path extrusionOk="0" h="158750" w="207644">
                    <a:moveTo>
                      <a:pt x="0" y="158496"/>
                    </a:moveTo>
                    <a:lnTo>
                      <a:pt x="207263" y="158496"/>
                    </a:lnTo>
                    <a:lnTo>
                      <a:pt x="207263" y="0"/>
                    </a:lnTo>
                    <a:lnTo>
                      <a:pt x="0" y="0"/>
                    </a:lnTo>
                    <a:lnTo>
                      <a:pt x="0" y="158496"/>
                    </a:lnTo>
                    <a:close/>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4"/>
              <p:cNvSpPr/>
              <p:nvPr/>
            </p:nvSpPr>
            <p:spPr>
              <a:xfrm>
                <a:off x="2900172" y="3105911"/>
                <a:ext cx="187960" cy="135890"/>
              </a:xfrm>
              <a:custGeom>
                <a:rect b="b" l="l" r="r" t="t"/>
                <a:pathLst>
                  <a:path extrusionOk="0" h="135889" w="187960">
                    <a:moveTo>
                      <a:pt x="187451" y="0"/>
                    </a:moveTo>
                    <a:lnTo>
                      <a:pt x="0" y="0"/>
                    </a:lnTo>
                    <a:lnTo>
                      <a:pt x="0" y="135636"/>
                    </a:lnTo>
                    <a:lnTo>
                      <a:pt x="187451" y="135636"/>
                    </a:lnTo>
                    <a:lnTo>
                      <a:pt x="187451"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4"/>
              <p:cNvSpPr/>
              <p:nvPr/>
            </p:nvSpPr>
            <p:spPr>
              <a:xfrm>
                <a:off x="2900172" y="3105911"/>
                <a:ext cx="208915" cy="158750"/>
              </a:xfrm>
              <a:custGeom>
                <a:rect b="b" l="l" r="r" t="t"/>
                <a:pathLst>
                  <a:path extrusionOk="0" h="158750" w="208914">
                    <a:moveTo>
                      <a:pt x="0" y="158496"/>
                    </a:moveTo>
                    <a:lnTo>
                      <a:pt x="208787" y="158496"/>
                    </a:lnTo>
                    <a:lnTo>
                      <a:pt x="208787" y="0"/>
                    </a:lnTo>
                    <a:lnTo>
                      <a:pt x="0" y="0"/>
                    </a:lnTo>
                    <a:lnTo>
                      <a:pt x="0" y="158496"/>
                    </a:lnTo>
                    <a:close/>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4"/>
              <p:cNvSpPr/>
              <p:nvPr/>
            </p:nvSpPr>
            <p:spPr>
              <a:xfrm>
                <a:off x="5448299" y="3337559"/>
                <a:ext cx="201167" cy="123443"/>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4"/>
              <p:cNvSpPr/>
              <p:nvPr/>
            </p:nvSpPr>
            <p:spPr>
              <a:xfrm>
                <a:off x="3589019" y="3172967"/>
                <a:ext cx="1876425" cy="226060"/>
              </a:xfrm>
              <a:custGeom>
                <a:rect b="b" l="l" r="r" t="t"/>
                <a:pathLst>
                  <a:path extrusionOk="0" h="226060" w="1876425">
                    <a:moveTo>
                      <a:pt x="0" y="0"/>
                    </a:moveTo>
                    <a:lnTo>
                      <a:pt x="1876043" y="225552"/>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4"/>
              <p:cNvSpPr/>
              <p:nvPr/>
            </p:nvSpPr>
            <p:spPr>
              <a:xfrm>
                <a:off x="2279903" y="3112007"/>
                <a:ext cx="201167" cy="100583"/>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4"/>
              <p:cNvSpPr/>
              <p:nvPr/>
            </p:nvSpPr>
            <p:spPr>
              <a:xfrm>
                <a:off x="2676144" y="3112007"/>
                <a:ext cx="199644" cy="100583"/>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6" name="Google Shape;256;p14"/>
            <p:cNvSpPr txBox="1"/>
            <p:nvPr/>
          </p:nvSpPr>
          <p:spPr>
            <a:xfrm>
              <a:off x="5098161" y="2172461"/>
              <a:ext cx="1548765" cy="457200"/>
            </a:xfrm>
            <a:prstGeom prst="rect">
              <a:avLst/>
            </a:prstGeom>
            <a:noFill/>
            <a:ln>
              <a:noFill/>
            </a:ln>
          </p:spPr>
          <p:txBody>
            <a:bodyPr anchorCtr="0" anchor="t" bIns="0" lIns="0" spcFirstLastPara="1" rIns="0" wrap="square" tIns="40625">
              <a:spAutoFit/>
            </a:bodyPr>
            <a:lstStyle/>
            <a:p>
              <a:pPr indent="0" lvl="0" marL="12700" marR="5080" rtl="0" algn="l">
                <a:lnSpc>
                  <a:spcPct val="106666"/>
                </a:lnSpc>
                <a:spcBef>
                  <a:spcPts val="0"/>
                </a:spcBef>
                <a:spcAft>
                  <a:spcPts val="0"/>
                </a:spcAft>
                <a:buNone/>
              </a:pPr>
              <a:r>
                <a:rPr lang="en-US" sz="1500">
                  <a:solidFill>
                    <a:schemeClr val="dk1"/>
                  </a:solidFill>
                  <a:latin typeface="Arial"/>
                  <a:ea typeface="Arial"/>
                  <a:cs typeface="Arial"/>
                  <a:sym typeface="Arial"/>
                </a:rPr>
                <a:t>Thread 2 makes  requests to server</a:t>
              </a:r>
              <a:endParaRPr sz="1500">
                <a:solidFill>
                  <a:schemeClr val="dk1"/>
                </a:solidFill>
                <a:latin typeface="Arial"/>
                <a:ea typeface="Arial"/>
                <a:cs typeface="Arial"/>
                <a:sym typeface="Arial"/>
              </a:endParaRPr>
            </a:p>
          </p:txBody>
        </p:sp>
        <p:sp>
          <p:nvSpPr>
            <p:cNvPr id="257" name="Google Shape;257;p14"/>
            <p:cNvSpPr txBox="1"/>
            <p:nvPr/>
          </p:nvSpPr>
          <p:spPr>
            <a:xfrm>
              <a:off x="1982826" y="2899664"/>
              <a:ext cx="876935" cy="684530"/>
            </a:xfrm>
            <a:prstGeom prst="rect">
              <a:avLst/>
            </a:prstGeom>
            <a:noFill/>
            <a:ln>
              <a:noFill/>
            </a:ln>
          </p:spPr>
          <p:txBody>
            <a:bodyPr anchorCtr="0" anchor="t" bIns="0" lIns="0" spcFirstLastPara="1" rIns="0" wrap="square" tIns="26025">
              <a:spAutoFit/>
            </a:bodyPr>
            <a:lstStyle/>
            <a:p>
              <a:pPr indent="0" lvl="0" marL="12700" marR="5080" rtl="0" algn="l">
                <a:lnSpc>
                  <a:spcPct val="94100"/>
                </a:lnSpc>
                <a:spcBef>
                  <a:spcPts val="0"/>
                </a:spcBef>
                <a:spcAft>
                  <a:spcPts val="0"/>
                </a:spcAft>
                <a:buNone/>
              </a:pPr>
              <a:r>
                <a:rPr lang="en-US" sz="1500">
                  <a:solidFill>
                    <a:schemeClr val="dk1"/>
                  </a:solidFill>
                  <a:latin typeface="Arial"/>
                  <a:ea typeface="Arial"/>
                  <a:cs typeface="Arial"/>
                  <a:sym typeface="Arial"/>
                </a:rPr>
                <a:t>Thread 1  generates  results</a:t>
              </a:r>
              <a:endParaRPr/>
            </a:p>
          </p:txBody>
        </p:sp>
        <p:grpSp>
          <p:nvGrpSpPr>
            <p:cNvPr id="258" name="Google Shape;258;p14"/>
            <p:cNvGrpSpPr/>
            <p:nvPr/>
          </p:nvGrpSpPr>
          <p:grpSpPr>
            <a:xfrm>
              <a:off x="2884171" y="2586989"/>
              <a:ext cx="4266438" cy="1806702"/>
              <a:chOff x="1360170" y="2586989"/>
              <a:chExt cx="4266438" cy="1806702"/>
            </a:xfrm>
          </p:grpSpPr>
          <p:sp>
            <p:nvSpPr>
              <p:cNvPr id="259" name="Google Shape;259;p14"/>
              <p:cNvSpPr/>
              <p:nvPr/>
            </p:nvSpPr>
            <p:spPr>
              <a:xfrm>
                <a:off x="1360170" y="2586989"/>
                <a:ext cx="2395855" cy="542925"/>
              </a:xfrm>
              <a:custGeom>
                <a:rect b="b" l="l" r="r" t="t"/>
                <a:pathLst>
                  <a:path extrusionOk="0" h="542925" w="2395854">
                    <a:moveTo>
                      <a:pt x="0" y="452627"/>
                    </a:moveTo>
                    <a:lnTo>
                      <a:pt x="312419" y="542544"/>
                    </a:lnTo>
                  </a:path>
                  <a:path extrusionOk="0" h="542925" w="2395854">
                    <a:moveTo>
                      <a:pt x="2083308" y="429768"/>
                    </a:moveTo>
                    <a:lnTo>
                      <a:pt x="2395728" y="0"/>
                    </a:lnTo>
                  </a:path>
                </a:pathLst>
              </a:custGeom>
              <a:noFill/>
              <a:ln cap="flat" cmpd="sng" w="19800">
                <a:solidFill>
                  <a:srgbClr val="FF33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4"/>
              <p:cNvSpPr/>
              <p:nvPr/>
            </p:nvSpPr>
            <p:spPr>
              <a:xfrm>
                <a:off x="5448300" y="3496055"/>
                <a:ext cx="178308" cy="123443"/>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4"/>
              <p:cNvSpPr/>
              <p:nvPr/>
            </p:nvSpPr>
            <p:spPr>
              <a:xfrm>
                <a:off x="4902707" y="3557015"/>
                <a:ext cx="542925" cy="135890"/>
              </a:xfrm>
              <a:custGeom>
                <a:rect b="b" l="l" r="r" t="t"/>
                <a:pathLst>
                  <a:path extrusionOk="0" h="135889" w="542925">
                    <a:moveTo>
                      <a:pt x="0" y="135636"/>
                    </a:moveTo>
                    <a:lnTo>
                      <a:pt x="542543"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4"/>
              <p:cNvSpPr/>
              <p:nvPr/>
            </p:nvSpPr>
            <p:spPr>
              <a:xfrm>
                <a:off x="5465063" y="3692651"/>
                <a:ext cx="144780" cy="137160"/>
              </a:xfrm>
              <a:custGeom>
                <a:rect b="b" l="l" r="r" t="t"/>
                <a:pathLst>
                  <a:path extrusionOk="0" h="137160" w="144779">
                    <a:moveTo>
                      <a:pt x="144780" y="0"/>
                    </a:moveTo>
                    <a:lnTo>
                      <a:pt x="0" y="68580"/>
                    </a:lnTo>
                    <a:lnTo>
                      <a:pt x="20447" y="114808"/>
                    </a:lnTo>
                    <a:lnTo>
                      <a:pt x="62864" y="137160"/>
                    </a:lnTo>
                    <a:lnTo>
                      <a:pt x="144780"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4"/>
              <p:cNvSpPr/>
              <p:nvPr/>
            </p:nvSpPr>
            <p:spPr>
              <a:xfrm>
                <a:off x="5297424" y="3692651"/>
                <a:ext cx="312420" cy="294640"/>
              </a:xfrm>
              <a:custGeom>
                <a:rect b="b" l="l" r="r" t="t"/>
                <a:pathLst>
                  <a:path extrusionOk="0" h="294639" w="312420">
                    <a:moveTo>
                      <a:pt x="188087" y="114808"/>
                    </a:moveTo>
                    <a:lnTo>
                      <a:pt x="167639" y="68580"/>
                    </a:lnTo>
                    <a:lnTo>
                      <a:pt x="312420" y="0"/>
                    </a:lnTo>
                    <a:lnTo>
                      <a:pt x="230504" y="137160"/>
                    </a:lnTo>
                    <a:lnTo>
                      <a:pt x="188087" y="114808"/>
                    </a:lnTo>
                    <a:close/>
                  </a:path>
                  <a:path extrusionOk="0" h="294639" w="312420">
                    <a:moveTo>
                      <a:pt x="0" y="294131"/>
                    </a:moveTo>
                    <a:lnTo>
                      <a:pt x="188975" y="11430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4"/>
              <p:cNvSpPr/>
              <p:nvPr/>
            </p:nvSpPr>
            <p:spPr>
              <a:xfrm>
                <a:off x="5152644" y="3625595"/>
                <a:ext cx="41275" cy="1905"/>
              </a:xfrm>
              <a:custGeom>
                <a:rect b="b" l="l" r="r" t="t"/>
                <a:pathLst>
                  <a:path extrusionOk="0" h="1904" w="41275">
                    <a:moveTo>
                      <a:pt x="-16763" y="761"/>
                    </a:moveTo>
                    <a:lnTo>
                      <a:pt x="57911" y="761"/>
                    </a:lnTo>
                  </a:path>
                </a:pathLst>
              </a:custGeom>
              <a:noFill/>
              <a:ln cap="flat" cmpd="sng" w="35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4"/>
              <p:cNvSpPr/>
              <p:nvPr/>
            </p:nvSpPr>
            <p:spPr>
              <a:xfrm>
                <a:off x="5045963" y="3648455"/>
                <a:ext cx="22860" cy="1905"/>
              </a:xfrm>
              <a:custGeom>
                <a:rect b="b" l="l" r="r" t="t"/>
                <a:pathLst>
                  <a:path extrusionOk="0" h="1904" w="22860">
                    <a:moveTo>
                      <a:pt x="22860" y="0"/>
                    </a:moveTo>
                    <a:lnTo>
                      <a:pt x="0" y="1524"/>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4"/>
              <p:cNvSpPr/>
              <p:nvPr/>
            </p:nvSpPr>
            <p:spPr>
              <a:xfrm>
                <a:off x="4922519" y="3669791"/>
                <a:ext cx="41275" cy="1905"/>
              </a:xfrm>
              <a:custGeom>
                <a:rect b="b" l="l" r="r" t="t"/>
                <a:pathLst>
                  <a:path extrusionOk="0" h="1904" w="41275">
                    <a:moveTo>
                      <a:pt x="-16763" y="761"/>
                    </a:moveTo>
                    <a:lnTo>
                      <a:pt x="57911" y="761"/>
                    </a:lnTo>
                  </a:path>
                </a:pathLst>
              </a:custGeom>
              <a:noFill/>
              <a:ln cap="flat" cmpd="sng" w="35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4"/>
              <p:cNvSpPr/>
              <p:nvPr/>
            </p:nvSpPr>
            <p:spPr>
              <a:xfrm>
                <a:off x="4715256" y="3692651"/>
                <a:ext cx="666115" cy="701040"/>
              </a:xfrm>
              <a:custGeom>
                <a:rect b="b" l="l" r="r" t="t"/>
                <a:pathLst>
                  <a:path extrusionOk="0" h="701039" w="666114">
                    <a:moveTo>
                      <a:pt x="123444" y="0"/>
                    </a:moveTo>
                    <a:lnTo>
                      <a:pt x="102108" y="1524"/>
                    </a:lnTo>
                  </a:path>
                  <a:path extrusionOk="0" h="701039" w="666114">
                    <a:moveTo>
                      <a:pt x="19812" y="24384"/>
                    </a:moveTo>
                    <a:lnTo>
                      <a:pt x="0" y="25908"/>
                    </a:lnTo>
                  </a:path>
                  <a:path extrusionOk="0" h="701039" w="666114">
                    <a:moveTo>
                      <a:pt x="665988" y="202692"/>
                    </a:moveTo>
                    <a:lnTo>
                      <a:pt x="646176" y="227075"/>
                    </a:lnTo>
                  </a:path>
                  <a:path extrusionOk="0" h="701039" w="666114">
                    <a:moveTo>
                      <a:pt x="582168" y="294131"/>
                    </a:moveTo>
                    <a:lnTo>
                      <a:pt x="562356" y="295656"/>
                    </a:lnTo>
                  </a:path>
                  <a:path extrusionOk="0" h="701039" w="666114">
                    <a:moveTo>
                      <a:pt x="499872" y="361188"/>
                    </a:moveTo>
                    <a:lnTo>
                      <a:pt x="478536" y="384048"/>
                    </a:lnTo>
                  </a:path>
                  <a:path extrusionOk="0" h="701039" w="666114">
                    <a:moveTo>
                      <a:pt x="416052" y="452628"/>
                    </a:moveTo>
                    <a:lnTo>
                      <a:pt x="394716" y="473964"/>
                    </a:lnTo>
                  </a:path>
                  <a:path extrusionOk="0" h="701039" w="666114">
                    <a:moveTo>
                      <a:pt x="330708" y="521208"/>
                    </a:moveTo>
                    <a:lnTo>
                      <a:pt x="312420" y="542544"/>
                    </a:lnTo>
                  </a:path>
                  <a:path extrusionOk="0" h="701039" w="666114">
                    <a:moveTo>
                      <a:pt x="248412" y="611124"/>
                    </a:moveTo>
                    <a:lnTo>
                      <a:pt x="228600" y="633984"/>
                    </a:lnTo>
                  </a:path>
                  <a:path extrusionOk="0" h="701039" w="666114">
                    <a:moveTo>
                      <a:pt x="166116" y="678180"/>
                    </a:moveTo>
                    <a:lnTo>
                      <a:pt x="144780" y="70104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8" name="Google Shape;268;p14"/>
            <p:cNvSpPr txBox="1"/>
            <p:nvPr/>
          </p:nvSpPr>
          <p:spPr>
            <a:xfrm>
              <a:off x="5984241" y="3823842"/>
              <a:ext cx="833119"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Requests</a:t>
              </a:r>
              <a:endParaRPr sz="1500">
                <a:solidFill>
                  <a:schemeClr val="dk1"/>
                </a:solidFill>
                <a:latin typeface="Arial"/>
                <a:ea typeface="Arial"/>
                <a:cs typeface="Arial"/>
                <a:sym typeface="Arial"/>
              </a:endParaRPr>
            </a:p>
          </p:txBody>
        </p:sp>
        <p:sp>
          <p:nvSpPr>
            <p:cNvPr id="269" name="Google Shape;269;p14"/>
            <p:cNvSpPr/>
            <p:nvPr/>
          </p:nvSpPr>
          <p:spPr>
            <a:xfrm>
              <a:off x="7217664" y="3241548"/>
              <a:ext cx="210820" cy="451484"/>
            </a:xfrm>
            <a:custGeom>
              <a:rect b="b" l="l" r="r" t="t"/>
              <a:pathLst>
                <a:path extrusionOk="0" h="451485" w="210820">
                  <a:moveTo>
                    <a:pt x="210312" y="0"/>
                  </a:moveTo>
                  <a:lnTo>
                    <a:pt x="0" y="0"/>
                  </a:lnTo>
                  <a:lnTo>
                    <a:pt x="0" y="451103"/>
                  </a:lnTo>
                  <a:lnTo>
                    <a:pt x="210312" y="451103"/>
                  </a:lnTo>
                  <a:lnTo>
                    <a:pt x="210312"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4"/>
            <p:cNvSpPr txBox="1"/>
            <p:nvPr/>
          </p:nvSpPr>
          <p:spPr>
            <a:xfrm>
              <a:off x="6636766" y="2602738"/>
              <a:ext cx="851535" cy="457200"/>
            </a:xfrm>
            <a:prstGeom prst="rect">
              <a:avLst/>
            </a:prstGeom>
            <a:noFill/>
            <a:ln>
              <a:noFill/>
            </a:ln>
          </p:spPr>
          <p:txBody>
            <a:bodyPr anchorCtr="0" anchor="t" bIns="0" lIns="0" spcFirstLastPara="1" rIns="0" wrap="square" tIns="12700">
              <a:spAutoFit/>
            </a:bodyPr>
            <a:lstStyle/>
            <a:p>
              <a:pPr indent="0" lvl="0" marL="12700" marR="0" rtl="0" algn="l">
                <a:lnSpc>
                  <a:spcPct val="113333"/>
                </a:lnSpc>
                <a:spcBef>
                  <a:spcPts val="0"/>
                </a:spcBef>
                <a:spcAft>
                  <a:spcPts val="0"/>
                </a:spcAft>
                <a:buNone/>
              </a:pPr>
              <a:r>
                <a:rPr lang="en-US" sz="1500">
                  <a:solidFill>
                    <a:schemeClr val="dk1"/>
                  </a:solidFill>
                  <a:latin typeface="Arial"/>
                  <a:ea typeface="Arial"/>
                  <a:cs typeface="Arial"/>
                  <a:sym typeface="Arial"/>
                </a:rPr>
                <a:t>Receipt &amp;</a:t>
              </a:r>
              <a:endParaRPr sz="1500">
                <a:solidFill>
                  <a:schemeClr val="dk1"/>
                </a:solidFill>
                <a:latin typeface="Arial"/>
                <a:ea typeface="Arial"/>
                <a:cs typeface="Arial"/>
                <a:sym typeface="Arial"/>
              </a:endParaRPr>
            </a:p>
            <a:p>
              <a:pPr indent="0" lvl="0" marL="12700" marR="0" rtl="0" algn="l">
                <a:lnSpc>
                  <a:spcPct val="113333"/>
                </a:lnSpc>
                <a:spcBef>
                  <a:spcPts val="0"/>
                </a:spcBef>
                <a:spcAft>
                  <a:spcPts val="0"/>
                </a:spcAft>
                <a:buNone/>
              </a:pPr>
              <a:r>
                <a:rPr lang="en-US" sz="1500">
                  <a:solidFill>
                    <a:schemeClr val="dk1"/>
                  </a:solidFill>
                  <a:latin typeface="Arial"/>
                  <a:ea typeface="Arial"/>
                  <a:cs typeface="Arial"/>
                  <a:sym typeface="Arial"/>
                </a:rPr>
                <a:t>queuing</a:t>
              </a:r>
              <a:endParaRPr sz="1500">
                <a:solidFill>
                  <a:schemeClr val="dk1"/>
                </a:solidFill>
                <a:latin typeface="Arial"/>
                <a:ea typeface="Arial"/>
                <a:cs typeface="Arial"/>
                <a:sym typeface="Arial"/>
              </a:endParaRPr>
            </a:p>
          </p:txBody>
        </p:sp>
      </p:grpSp>
      <p:sp>
        <p:nvSpPr>
          <p:cNvPr id="271" name="Google Shape;271;p14"/>
          <p:cNvSpPr txBox="1"/>
          <p:nvPr/>
        </p:nvSpPr>
        <p:spPr>
          <a:xfrm>
            <a:off x="1331418" y="4286862"/>
            <a:ext cx="9875418" cy="2246769"/>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B1B1B"/>
              </a:buClr>
              <a:buSzPts val="2000"/>
              <a:buFont typeface="Arial"/>
              <a:buChar char="•"/>
            </a:pPr>
            <a:r>
              <a:rPr b="0" i="0" lang="en-US" sz="2000">
                <a:solidFill>
                  <a:srgbClr val="1B1B1B"/>
                </a:solidFill>
                <a:latin typeface="Calibri"/>
                <a:ea typeface="Calibri"/>
                <a:cs typeface="Calibri"/>
                <a:sym typeface="Calibri"/>
              </a:rPr>
              <a:t>Client:</a:t>
            </a:r>
            <a:endParaRPr/>
          </a:p>
          <a:p>
            <a:pPr indent="-285750" lvl="1" marL="74295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1 luồng chuyên sinh ra các gói tin request</a:t>
            </a:r>
            <a:endParaRPr/>
          </a:p>
          <a:p>
            <a:pPr indent="-285750" lvl="1" marL="74295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1 luồng khác lo việc đóng gói gói tin và gửi đi cho server</a:t>
            </a:r>
            <a:endParaRPr/>
          </a:p>
          <a:p>
            <a:pPr indent="-285750" lvl="0" marL="285750" marR="0" rtl="0" algn="just">
              <a:spcBef>
                <a:spcPts val="0"/>
              </a:spcBef>
              <a:spcAft>
                <a:spcPts val="0"/>
              </a:spcAft>
              <a:buClr>
                <a:srgbClr val="1B1B1B"/>
              </a:buClr>
              <a:buSzPts val="2000"/>
              <a:buFont typeface="Arial"/>
              <a:buChar char="•"/>
            </a:pPr>
            <a:r>
              <a:rPr b="0" i="0" lang="en-US" sz="2000">
                <a:solidFill>
                  <a:srgbClr val="1B1B1B"/>
                </a:solidFill>
                <a:latin typeface="Calibri"/>
                <a:ea typeface="Calibri"/>
                <a:cs typeface="Calibri"/>
                <a:sym typeface="Calibri"/>
              </a:rPr>
              <a:t>Server:</a:t>
            </a:r>
            <a:endParaRPr/>
          </a:p>
          <a:p>
            <a:pPr indent="-285750" lvl="1" marL="74295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1 luồng chuyên lo thu nhận các gói tin và xếp chúng vào hàng đợi. </a:t>
            </a:r>
            <a:endParaRPr/>
          </a:p>
          <a:p>
            <a:pPr indent="-285750" lvl="1" marL="74295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Sau đó gửi chúng đi các luồng khác chuyên xử lý thông điệp. Các luồng này sẽ trực tiếp làm việc với các module vào ra</a:t>
            </a:r>
            <a:endParaRPr b="0" i="0" sz="2000" u="none" cap="none" strike="noStrike">
              <a:solidFill>
                <a:srgbClr val="1B1B1B"/>
              </a:solidFill>
              <a:latin typeface="Calibri"/>
              <a:ea typeface="Calibri"/>
              <a:cs typeface="Calibri"/>
              <a:sym typeface="Calibri"/>
            </a:endParaRPr>
          </a:p>
        </p:txBody>
      </p:sp>
      <p:sp>
        <p:nvSpPr>
          <p:cNvPr id="272" name="Google Shape;272;p14"/>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14"/>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LUỒNG TRONG HPT</a:t>
            </a:r>
            <a:endParaRPr/>
          </a:p>
        </p:txBody>
      </p:sp>
      <p:sp>
        <p:nvSpPr>
          <p:cNvPr id="274" name="Google Shape;274;p14"/>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14"/>
          <p:cNvSpPr txBox="1"/>
          <p:nvPr/>
        </p:nvSpPr>
        <p:spPr>
          <a:xfrm>
            <a:off x="860103" y="1505004"/>
            <a:ext cx="610334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1B1B1B"/>
                </a:solidFill>
                <a:latin typeface="Open Sans"/>
                <a:ea typeface="Open Sans"/>
                <a:cs typeface="Open Sans"/>
                <a:sym typeface="Open Sans"/>
              </a:rPr>
              <a:t>Client và server đa luồng</a:t>
            </a:r>
            <a:endParaRPr b="1" i="0" sz="1800">
              <a:solidFill>
                <a:srgbClr val="1B1B1B"/>
              </a:solidFill>
              <a:latin typeface="Open Sans"/>
              <a:ea typeface="Open Sans"/>
              <a:cs typeface="Open Sans"/>
              <a:sym typeface="Open Sans"/>
            </a:endParaRPr>
          </a:p>
          <a:p>
            <a:pPr indent="0" lvl="0" marL="0" marR="0" rtl="0" algn="l">
              <a:spcBef>
                <a:spcPts val="0"/>
              </a:spcBef>
              <a:spcAft>
                <a:spcPts val="0"/>
              </a:spcAft>
              <a:buNone/>
            </a:pPr>
            <a:br>
              <a:rPr b="0" i="0" lang="en-US" sz="1800">
                <a:solidFill>
                  <a:srgbClr val="1B1B1B"/>
                </a:solidFill>
                <a:latin typeface="Open Sans"/>
                <a:ea typeface="Open Sans"/>
                <a:cs typeface="Open Sans"/>
                <a:sym typeface="Open Sans"/>
              </a:rPr>
            </a:b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grpSp>
        <p:nvGrpSpPr>
          <p:cNvPr id="280" name="Google Shape;280;p15"/>
          <p:cNvGrpSpPr/>
          <p:nvPr/>
        </p:nvGrpSpPr>
        <p:grpSpPr>
          <a:xfrm>
            <a:off x="3733800" y="1552298"/>
            <a:ext cx="8252612" cy="2949137"/>
            <a:chOff x="1982826" y="1997964"/>
            <a:chExt cx="8252612" cy="2949137"/>
          </a:xfrm>
        </p:grpSpPr>
        <p:sp>
          <p:nvSpPr>
            <p:cNvPr id="281" name="Google Shape;281;p15"/>
            <p:cNvSpPr txBox="1"/>
            <p:nvPr/>
          </p:nvSpPr>
          <p:spPr>
            <a:xfrm>
              <a:off x="8057768" y="4703445"/>
              <a:ext cx="585470"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Server</a:t>
              </a:r>
              <a:endParaRPr sz="1500">
                <a:solidFill>
                  <a:schemeClr val="dk1"/>
                </a:solidFill>
                <a:latin typeface="Arial"/>
                <a:ea typeface="Arial"/>
                <a:cs typeface="Arial"/>
                <a:sym typeface="Arial"/>
              </a:endParaRPr>
            </a:p>
          </p:txBody>
        </p:sp>
        <p:sp>
          <p:nvSpPr>
            <p:cNvPr id="282" name="Google Shape;282;p15"/>
            <p:cNvSpPr/>
            <p:nvPr/>
          </p:nvSpPr>
          <p:spPr>
            <a:xfrm>
              <a:off x="7301484" y="2314955"/>
              <a:ext cx="2042160" cy="2214880"/>
            </a:xfrm>
            <a:custGeom>
              <a:rect b="b" l="l" r="r" t="t"/>
              <a:pathLst>
                <a:path extrusionOk="0" h="2214879" w="2042159">
                  <a:moveTo>
                    <a:pt x="1021080" y="0"/>
                  </a:moveTo>
                  <a:lnTo>
                    <a:pt x="974344" y="1139"/>
                  </a:lnTo>
                  <a:lnTo>
                    <a:pt x="928147" y="4524"/>
                  </a:lnTo>
                  <a:lnTo>
                    <a:pt x="882535" y="10106"/>
                  </a:lnTo>
                  <a:lnTo>
                    <a:pt x="837551" y="17837"/>
                  </a:lnTo>
                  <a:lnTo>
                    <a:pt x="793242" y="27667"/>
                  </a:lnTo>
                  <a:lnTo>
                    <a:pt x="749652" y="39548"/>
                  </a:lnTo>
                  <a:lnTo>
                    <a:pt x="706827" y="53430"/>
                  </a:lnTo>
                  <a:lnTo>
                    <a:pt x="664811" y="69265"/>
                  </a:lnTo>
                  <a:lnTo>
                    <a:pt x="623649" y="87004"/>
                  </a:lnTo>
                  <a:lnTo>
                    <a:pt x="583387" y="106599"/>
                  </a:lnTo>
                  <a:lnTo>
                    <a:pt x="544069" y="128000"/>
                  </a:lnTo>
                  <a:lnTo>
                    <a:pt x="505742" y="151158"/>
                  </a:lnTo>
                  <a:lnTo>
                    <a:pt x="468449" y="176025"/>
                  </a:lnTo>
                  <a:lnTo>
                    <a:pt x="432236" y="202551"/>
                  </a:lnTo>
                  <a:lnTo>
                    <a:pt x="397148" y="230689"/>
                  </a:lnTo>
                  <a:lnTo>
                    <a:pt x="363230" y="260388"/>
                  </a:lnTo>
                  <a:lnTo>
                    <a:pt x="330527" y="291601"/>
                  </a:lnTo>
                  <a:lnTo>
                    <a:pt x="299085" y="324278"/>
                  </a:lnTo>
                  <a:lnTo>
                    <a:pt x="268947" y="358371"/>
                  </a:lnTo>
                  <a:lnTo>
                    <a:pt x="240160" y="393830"/>
                  </a:lnTo>
                  <a:lnTo>
                    <a:pt x="212769" y="430607"/>
                  </a:lnTo>
                  <a:lnTo>
                    <a:pt x="186818" y="468653"/>
                  </a:lnTo>
                  <a:lnTo>
                    <a:pt x="162352" y="507920"/>
                  </a:lnTo>
                  <a:lnTo>
                    <a:pt x="139417" y="548357"/>
                  </a:lnTo>
                  <a:lnTo>
                    <a:pt x="118058" y="589917"/>
                  </a:lnTo>
                  <a:lnTo>
                    <a:pt x="98320" y="632551"/>
                  </a:lnTo>
                  <a:lnTo>
                    <a:pt x="80248" y="676209"/>
                  </a:lnTo>
                  <a:lnTo>
                    <a:pt x="63886" y="720843"/>
                  </a:lnTo>
                  <a:lnTo>
                    <a:pt x="49281" y="766404"/>
                  </a:lnTo>
                  <a:lnTo>
                    <a:pt x="36477" y="812844"/>
                  </a:lnTo>
                  <a:lnTo>
                    <a:pt x="25519" y="860112"/>
                  </a:lnTo>
                  <a:lnTo>
                    <a:pt x="16452" y="908161"/>
                  </a:lnTo>
                  <a:lnTo>
                    <a:pt x="9322" y="956942"/>
                  </a:lnTo>
                  <a:lnTo>
                    <a:pt x="4173" y="1006406"/>
                  </a:lnTo>
                  <a:lnTo>
                    <a:pt x="1050" y="1056503"/>
                  </a:lnTo>
                  <a:lnTo>
                    <a:pt x="0" y="1107186"/>
                  </a:lnTo>
                  <a:lnTo>
                    <a:pt x="1050" y="1157868"/>
                  </a:lnTo>
                  <a:lnTo>
                    <a:pt x="4173" y="1207965"/>
                  </a:lnTo>
                  <a:lnTo>
                    <a:pt x="9322" y="1257429"/>
                  </a:lnTo>
                  <a:lnTo>
                    <a:pt x="16452" y="1306210"/>
                  </a:lnTo>
                  <a:lnTo>
                    <a:pt x="25519" y="1354259"/>
                  </a:lnTo>
                  <a:lnTo>
                    <a:pt x="36477" y="1401527"/>
                  </a:lnTo>
                  <a:lnTo>
                    <a:pt x="49281" y="1447967"/>
                  </a:lnTo>
                  <a:lnTo>
                    <a:pt x="63886" y="1493528"/>
                  </a:lnTo>
                  <a:lnTo>
                    <a:pt x="80248" y="1538162"/>
                  </a:lnTo>
                  <a:lnTo>
                    <a:pt x="98320" y="1581820"/>
                  </a:lnTo>
                  <a:lnTo>
                    <a:pt x="118058" y="1624454"/>
                  </a:lnTo>
                  <a:lnTo>
                    <a:pt x="139417" y="1666014"/>
                  </a:lnTo>
                  <a:lnTo>
                    <a:pt x="162352" y="1706451"/>
                  </a:lnTo>
                  <a:lnTo>
                    <a:pt x="186818" y="1745718"/>
                  </a:lnTo>
                  <a:lnTo>
                    <a:pt x="212769" y="1783764"/>
                  </a:lnTo>
                  <a:lnTo>
                    <a:pt x="240160" y="1820541"/>
                  </a:lnTo>
                  <a:lnTo>
                    <a:pt x="268947" y="1856000"/>
                  </a:lnTo>
                  <a:lnTo>
                    <a:pt x="299085" y="1890093"/>
                  </a:lnTo>
                  <a:lnTo>
                    <a:pt x="330527" y="1922770"/>
                  </a:lnTo>
                  <a:lnTo>
                    <a:pt x="363230" y="1953983"/>
                  </a:lnTo>
                  <a:lnTo>
                    <a:pt x="397148" y="1983682"/>
                  </a:lnTo>
                  <a:lnTo>
                    <a:pt x="432236" y="2011820"/>
                  </a:lnTo>
                  <a:lnTo>
                    <a:pt x="468449" y="2038346"/>
                  </a:lnTo>
                  <a:lnTo>
                    <a:pt x="505742" y="2063213"/>
                  </a:lnTo>
                  <a:lnTo>
                    <a:pt x="544069" y="2086371"/>
                  </a:lnTo>
                  <a:lnTo>
                    <a:pt x="583387" y="2107772"/>
                  </a:lnTo>
                  <a:lnTo>
                    <a:pt x="623649" y="2127367"/>
                  </a:lnTo>
                  <a:lnTo>
                    <a:pt x="664811" y="2145106"/>
                  </a:lnTo>
                  <a:lnTo>
                    <a:pt x="706827" y="2160941"/>
                  </a:lnTo>
                  <a:lnTo>
                    <a:pt x="749652" y="2174823"/>
                  </a:lnTo>
                  <a:lnTo>
                    <a:pt x="793242" y="2186704"/>
                  </a:lnTo>
                  <a:lnTo>
                    <a:pt x="837551" y="2196534"/>
                  </a:lnTo>
                  <a:lnTo>
                    <a:pt x="882535" y="2204265"/>
                  </a:lnTo>
                  <a:lnTo>
                    <a:pt x="928147" y="2209847"/>
                  </a:lnTo>
                  <a:lnTo>
                    <a:pt x="974344" y="2213232"/>
                  </a:lnTo>
                  <a:lnTo>
                    <a:pt x="1021080" y="2214372"/>
                  </a:lnTo>
                  <a:lnTo>
                    <a:pt x="1067815" y="2213232"/>
                  </a:lnTo>
                  <a:lnTo>
                    <a:pt x="1114012" y="2209847"/>
                  </a:lnTo>
                  <a:lnTo>
                    <a:pt x="1159624" y="2204265"/>
                  </a:lnTo>
                  <a:lnTo>
                    <a:pt x="1204608" y="2196534"/>
                  </a:lnTo>
                  <a:lnTo>
                    <a:pt x="1248917" y="2186704"/>
                  </a:lnTo>
                  <a:lnTo>
                    <a:pt x="1292507" y="2174823"/>
                  </a:lnTo>
                  <a:lnTo>
                    <a:pt x="1335332" y="2160941"/>
                  </a:lnTo>
                  <a:lnTo>
                    <a:pt x="1377348" y="2145106"/>
                  </a:lnTo>
                  <a:lnTo>
                    <a:pt x="1418510" y="2127367"/>
                  </a:lnTo>
                  <a:lnTo>
                    <a:pt x="1458772" y="2107772"/>
                  </a:lnTo>
                  <a:lnTo>
                    <a:pt x="1498090" y="2086371"/>
                  </a:lnTo>
                  <a:lnTo>
                    <a:pt x="1536417" y="2063213"/>
                  </a:lnTo>
                  <a:lnTo>
                    <a:pt x="1573710" y="2038346"/>
                  </a:lnTo>
                  <a:lnTo>
                    <a:pt x="1609923" y="2011820"/>
                  </a:lnTo>
                  <a:lnTo>
                    <a:pt x="1645011" y="1983682"/>
                  </a:lnTo>
                  <a:lnTo>
                    <a:pt x="1678929" y="1953983"/>
                  </a:lnTo>
                  <a:lnTo>
                    <a:pt x="1711632" y="1922770"/>
                  </a:lnTo>
                  <a:lnTo>
                    <a:pt x="1743074" y="1890093"/>
                  </a:lnTo>
                  <a:lnTo>
                    <a:pt x="1773212" y="1856000"/>
                  </a:lnTo>
                  <a:lnTo>
                    <a:pt x="1801999" y="1820541"/>
                  </a:lnTo>
                  <a:lnTo>
                    <a:pt x="1829390" y="1783764"/>
                  </a:lnTo>
                  <a:lnTo>
                    <a:pt x="1855341" y="1745718"/>
                  </a:lnTo>
                  <a:lnTo>
                    <a:pt x="1879807" y="1706451"/>
                  </a:lnTo>
                  <a:lnTo>
                    <a:pt x="1902742" y="1666014"/>
                  </a:lnTo>
                  <a:lnTo>
                    <a:pt x="1924101" y="1624454"/>
                  </a:lnTo>
                  <a:lnTo>
                    <a:pt x="1943839" y="1581820"/>
                  </a:lnTo>
                  <a:lnTo>
                    <a:pt x="1961911" y="1538162"/>
                  </a:lnTo>
                  <a:lnTo>
                    <a:pt x="1978273" y="1493528"/>
                  </a:lnTo>
                  <a:lnTo>
                    <a:pt x="1992878" y="1447967"/>
                  </a:lnTo>
                  <a:lnTo>
                    <a:pt x="2005682" y="1401527"/>
                  </a:lnTo>
                  <a:lnTo>
                    <a:pt x="2016640" y="1354259"/>
                  </a:lnTo>
                  <a:lnTo>
                    <a:pt x="2025707" y="1306210"/>
                  </a:lnTo>
                  <a:lnTo>
                    <a:pt x="2032837" y="1257429"/>
                  </a:lnTo>
                  <a:lnTo>
                    <a:pt x="2037986" y="1207965"/>
                  </a:lnTo>
                  <a:lnTo>
                    <a:pt x="2041109" y="1157868"/>
                  </a:lnTo>
                  <a:lnTo>
                    <a:pt x="2042160" y="1107186"/>
                  </a:lnTo>
                  <a:lnTo>
                    <a:pt x="2041109" y="1056503"/>
                  </a:lnTo>
                  <a:lnTo>
                    <a:pt x="2037986" y="1006406"/>
                  </a:lnTo>
                  <a:lnTo>
                    <a:pt x="2032837" y="956942"/>
                  </a:lnTo>
                  <a:lnTo>
                    <a:pt x="2025707" y="908161"/>
                  </a:lnTo>
                  <a:lnTo>
                    <a:pt x="2016640" y="860112"/>
                  </a:lnTo>
                  <a:lnTo>
                    <a:pt x="2005682" y="812844"/>
                  </a:lnTo>
                  <a:lnTo>
                    <a:pt x="1992878" y="766404"/>
                  </a:lnTo>
                  <a:lnTo>
                    <a:pt x="1978273" y="720843"/>
                  </a:lnTo>
                  <a:lnTo>
                    <a:pt x="1961911" y="676209"/>
                  </a:lnTo>
                  <a:lnTo>
                    <a:pt x="1943839" y="632551"/>
                  </a:lnTo>
                  <a:lnTo>
                    <a:pt x="1924101" y="589917"/>
                  </a:lnTo>
                  <a:lnTo>
                    <a:pt x="1902742" y="548357"/>
                  </a:lnTo>
                  <a:lnTo>
                    <a:pt x="1879807" y="507920"/>
                  </a:lnTo>
                  <a:lnTo>
                    <a:pt x="1855341" y="468653"/>
                  </a:lnTo>
                  <a:lnTo>
                    <a:pt x="1829390" y="430607"/>
                  </a:lnTo>
                  <a:lnTo>
                    <a:pt x="1801999" y="393830"/>
                  </a:lnTo>
                  <a:lnTo>
                    <a:pt x="1773212" y="358371"/>
                  </a:lnTo>
                  <a:lnTo>
                    <a:pt x="1743075" y="324278"/>
                  </a:lnTo>
                  <a:lnTo>
                    <a:pt x="1711632" y="291601"/>
                  </a:lnTo>
                  <a:lnTo>
                    <a:pt x="1678929" y="260388"/>
                  </a:lnTo>
                  <a:lnTo>
                    <a:pt x="1645011" y="230689"/>
                  </a:lnTo>
                  <a:lnTo>
                    <a:pt x="1609923" y="202551"/>
                  </a:lnTo>
                  <a:lnTo>
                    <a:pt x="1573710" y="176025"/>
                  </a:lnTo>
                  <a:lnTo>
                    <a:pt x="1536417" y="151158"/>
                  </a:lnTo>
                  <a:lnTo>
                    <a:pt x="1498090" y="128000"/>
                  </a:lnTo>
                  <a:lnTo>
                    <a:pt x="1458772" y="106599"/>
                  </a:lnTo>
                  <a:lnTo>
                    <a:pt x="1418510" y="87004"/>
                  </a:lnTo>
                  <a:lnTo>
                    <a:pt x="1377348" y="69265"/>
                  </a:lnTo>
                  <a:lnTo>
                    <a:pt x="1335332" y="53430"/>
                  </a:lnTo>
                  <a:lnTo>
                    <a:pt x="1292507" y="39548"/>
                  </a:lnTo>
                  <a:lnTo>
                    <a:pt x="1248917" y="27667"/>
                  </a:lnTo>
                  <a:lnTo>
                    <a:pt x="1204608" y="17837"/>
                  </a:lnTo>
                  <a:lnTo>
                    <a:pt x="1159624" y="10106"/>
                  </a:lnTo>
                  <a:lnTo>
                    <a:pt x="1114012" y="4524"/>
                  </a:lnTo>
                  <a:lnTo>
                    <a:pt x="1067815" y="1139"/>
                  </a:lnTo>
                  <a:lnTo>
                    <a:pt x="1021080" y="0"/>
                  </a:lnTo>
                  <a:close/>
                </a:path>
              </a:pathLst>
            </a:custGeom>
            <a:solidFill>
              <a:srgbClr val="FFDC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5"/>
            <p:cNvSpPr txBox="1"/>
            <p:nvPr/>
          </p:nvSpPr>
          <p:spPr>
            <a:xfrm>
              <a:off x="7960867" y="4093591"/>
              <a:ext cx="854710"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N threads</a:t>
              </a:r>
              <a:endParaRPr sz="1500">
                <a:solidFill>
                  <a:schemeClr val="dk1"/>
                </a:solidFill>
                <a:latin typeface="Arial"/>
                <a:ea typeface="Arial"/>
                <a:cs typeface="Arial"/>
                <a:sym typeface="Arial"/>
              </a:endParaRPr>
            </a:p>
          </p:txBody>
        </p:sp>
        <p:grpSp>
          <p:nvGrpSpPr>
            <p:cNvPr id="284" name="Google Shape;284;p15"/>
            <p:cNvGrpSpPr/>
            <p:nvPr/>
          </p:nvGrpSpPr>
          <p:grpSpPr>
            <a:xfrm>
              <a:off x="8948929" y="1997964"/>
              <a:ext cx="812800" cy="317500"/>
              <a:chOff x="7424928" y="1997963"/>
              <a:chExt cx="812800" cy="317500"/>
            </a:xfrm>
          </p:grpSpPr>
          <p:sp>
            <p:nvSpPr>
              <p:cNvPr id="285" name="Google Shape;285;p15"/>
              <p:cNvSpPr/>
              <p:nvPr/>
            </p:nvSpPr>
            <p:spPr>
              <a:xfrm>
                <a:off x="7424928" y="2066543"/>
                <a:ext cx="812800" cy="248920"/>
              </a:xfrm>
              <a:custGeom>
                <a:rect b="b" l="l" r="r" t="t"/>
                <a:pathLst>
                  <a:path extrusionOk="0" h="248919" w="812800">
                    <a:moveTo>
                      <a:pt x="406146" y="0"/>
                    </a:moveTo>
                    <a:lnTo>
                      <a:pt x="340273" y="1626"/>
                    </a:lnTo>
                    <a:lnTo>
                      <a:pt x="277782" y="6333"/>
                    </a:lnTo>
                    <a:lnTo>
                      <a:pt x="219510" y="13866"/>
                    </a:lnTo>
                    <a:lnTo>
                      <a:pt x="166292" y="23969"/>
                    </a:lnTo>
                    <a:lnTo>
                      <a:pt x="118967" y="36385"/>
                    </a:lnTo>
                    <a:lnTo>
                      <a:pt x="78370" y="50858"/>
                    </a:lnTo>
                    <a:lnTo>
                      <a:pt x="20708" y="84953"/>
                    </a:lnTo>
                    <a:lnTo>
                      <a:pt x="0" y="124205"/>
                    </a:lnTo>
                    <a:lnTo>
                      <a:pt x="5316" y="144348"/>
                    </a:lnTo>
                    <a:lnTo>
                      <a:pt x="45338" y="181278"/>
                    </a:lnTo>
                    <a:lnTo>
                      <a:pt x="118967" y="212026"/>
                    </a:lnTo>
                    <a:lnTo>
                      <a:pt x="166292" y="224442"/>
                    </a:lnTo>
                    <a:lnTo>
                      <a:pt x="219510" y="234545"/>
                    </a:lnTo>
                    <a:lnTo>
                      <a:pt x="277782" y="242078"/>
                    </a:lnTo>
                    <a:lnTo>
                      <a:pt x="340273" y="246785"/>
                    </a:lnTo>
                    <a:lnTo>
                      <a:pt x="406146" y="248411"/>
                    </a:lnTo>
                    <a:lnTo>
                      <a:pt x="472018" y="246785"/>
                    </a:lnTo>
                    <a:lnTo>
                      <a:pt x="534509" y="242078"/>
                    </a:lnTo>
                    <a:lnTo>
                      <a:pt x="592781" y="234545"/>
                    </a:lnTo>
                    <a:lnTo>
                      <a:pt x="645999" y="224442"/>
                    </a:lnTo>
                    <a:lnTo>
                      <a:pt x="693324" y="212026"/>
                    </a:lnTo>
                    <a:lnTo>
                      <a:pt x="733921" y="197553"/>
                    </a:lnTo>
                    <a:lnTo>
                      <a:pt x="791583" y="163458"/>
                    </a:lnTo>
                    <a:lnTo>
                      <a:pt x="812292" y="124205"/>
                    </a:lnTo>
                    <a:lnTo>
                      <a:pt x="806975" y="104063"/>
                    </a:lnTo>
                    <a:lnTo>
                      <a:pt x="766953" y="67133"/>
                    </a:lnTo>
                    <a:lnTo>
                      <a:pt x="693324" y="36385"/>
                    </a:lnTo>
                    <a:lnTo>
                      <a:pt x="645999" y="23969"/>
                    </a:lnTo>
                    <a:lnTo>
                      <a:pt x="592781" y="13866"/>
                    </a:lnTo>
                    <a:lnTo>
                      <a:pt x="534509" y="6333"/>
                    </a:lnTo>
                    <a:lnTo>
                      <a:pt x="472018" y="1626"/>
                    </a:lnTo>
                    <a:lnTo>
                      <a:pt x="40614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5"/>
              <p:cNvSpPr/>
              <p:nvPr/>
            </p:nvSpPr>
            <p:spPr>
              <a:xfrm>
                <a:off x="7424928" y="2066543"/>
                <a:ext cx="812800" cy="248920"/>
              </a:xfrm>
              <a:custGeom>
                <a:rect b="b" l="l" r="r" t="t"/>
                <a:pathLst>
                  <a:path extrusionOk="0" h="248919" w="812800">
                    <a:moveTo>
                      <a:pt x="0" y="124205"/>
                    </a:moveTo>
                    <a:lnTo>
                      <a:pt x="20708" y="84953"/>
                    </a:lnTo>
                    <a:lnTo>
                      <a:pt x="78370" y="50858"/>
                    </a:lnTo>
                    <a:lnTo>
                      <a:pt x="118967" y="36385"/>
                    </a:lnTo>
                    <a:lnTo>
                      <a:pt x="166292" y="23969"/>
                    </a:lnTo>
                    <a:lnTo>
                      <a:pt x="219510" y="13866"/>
                    </a:lnTo>
                    <a:lnTo>
                      <a:pt x="277782" y="6333"/>
                    </a:lnTo>
                    <a:lnTo>
                      <a:pt x="340273" y="1626"/>
                    </a:lnTo>
                    <a:lnTo>
                      <a:pt x="406146" y="0"/>
                    </a:lnTo>
                    <a:lnTo>
                      <a:pt x="472018" y="1626"/>
                    </a:lnTo>
                    <a:lnTo>
                      <a:pt x="534509" y="6333"/>
                    </a:lnTo>
                    <a:lnTo>
                      <a:pt x="592781" y="13866"/>
                    </a:lnTo>
                    <a:lnTo>
                      <a:pt x="645999" y="23969"/>
                    </a:lnTo>
                    <a:lnTo>
                      <a:pt x="693324" y="36385"/>
                    </a:lnTo>
                    <a:lnTo>
                      <a:pt x="733921" y="50858"/>
                    </a:lnTo>
                    <a:lnTo>
                      <a:pt x="791583" y="84953"/>
                    </a:lnTo>
                    <a:lnTo>
                      <a:pt x="812292" y="124205"/>
                    </a:lnTo>
                    <a:lnTo>
                      <a:pt x="806975" y="144348"/>
                    </a:lnTo>
                    <a:lnTo>
                      <a:pt x="766953" y="181278"/>
                    </a:lnTo>
                    <a:lnTo>
                      <a:pt x="693324" y="212026"/>
                    </a:lnTo>
                    <a:lnTo>
                      <a:pt x="645999" y="224442"/>
                    </a:lnTo>
                    <a:lnTo>
                      <a:pt x="592781" y="234545"/>
                    </a:lnTo>
                    <a:lnTo>
                      <a:pt x="534509" y="242078"/>
                    </a:lnTo>
                    <a:lnTo>
                      <a:pt x="472018" y="246785"/>
                    </a:lnTo>
                    <a:lnTo>
                      <a:pt x="406146" y="248411"/>
                    </a:lnTo>
                    <a:lnTo>
                      <a:pt x="340273" y="246785"/>
                    </a:lnTo>
                    <a:lnTo>
                      <a:pt x="277782" y="242078"/>
                    </a:lnTo>
                    <a:lnTo>
                      <a:pt x="219510" y="234545"/>
                    </a:lnTo>
                    <a:lnTo>
                      <a:pt x="166292" y="224442"/>
                    </a:lnTo>
                    <a:lnTo>
                      <a:pt x="118967" y="212026"/>
                    </a:lnTo>
                    <a:lnTo>
                      <a:pt x="78370" y="197553"/>
                    </a:lnTo>
                    <a:lnTo>
                      <a:pt x="20708" y="163458"/>
                    </a:lnTo>
                    <a:lnTo>
                      <a:pt x="0" y="124205"/>
                    </a:lnTo>
                    <a:close/>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5"/>
              <p:cNvSpPr/>
              <p:nvPr/>
            </p:nvSpPr>
            <p:spPr>
              <a:xfrm>
                <a:off x="7424928" y="1997963"/>
                <a:ext cx="812800" cy="250190"/>
              </a:xfrm>
              <a:custGeom>
                <a:rect b="b" l="l" r="r" t="t"/>
                <a:pathLst>
                  <a:path extrusionOk="0" h="250189" w="812800">
                    <a:moveTo>
                      <a:pt x="406146" y="0"/>
                    </a:moveTo>
                    <a:lnTo>
                      <a:pt x="340273" y="1637"/>
                    </a:lnTo>
                    <a:lnTo>
                      <a:pt x="277782" y="6376"/>
                    </a:lnTo>
                    <a:lnTo>
                      <a:pt x="219510" y="13959"/>
                    </a:lnTo>
                    <a:lnTo>
                      <a:pt x="166292" y="24127"/>
                    </a:lnTo>
                    <a:lnTo>
                      <a:pt x="118967" y="36623"/>
                    </a:lnTo>
                    <a:lnTo>
                      <a:pt x="78370" y="51188"/>
                    </a:lnTo>
                    <a:lnTo>
                      <a:pt x="20708" y="85490"/>
                    </a:lnTo>
                    <a:lnTo>
                      <a:pt x="0" y="124968"/>
                    </a:lnTo>
                    <a:lnTo>
                      <a:pt x="5316" y="145224"/>
                    </a:lnTo>
                    <a:lnTo>
                      <a:pt x="45338" y="182372"/>
                    </a:lnTo>
                    <a:lnTo>
                      <a:pt x="118967" y="213312"/>
                    </a:lnTo>
                    <a:lnTo>
                      <a:pt x="166292" y="225808"/>
                    </a:lnTo>
                    <a:lnTo>
                      <a:pt x="219510" y="235976"/>
                    </a:lnTo>
                    <a:lnTo>
                      <a:pt x="277782" y="243559"/>
                    </a:lnTo>
                    <a:lnTo>
                      <a:pt x="340273" y="248298"/>
                    </a:lnTo>
                    <a:lnTo>
                      <a:pt x="406146" y="249936"/>
                    </a:lnTo>
                    <a:lnTo>
                      <a:pt x="472018" y="248298"/>
                    </a:lnTo>
                    <a:lnTo>
                      <a:pt x="534509" y="243559"/>
                    </a:lnTo>
                    <a:lnTo>
                      <a:pt x="592781" y="235976"/>
                    </a:lnTo>
                    <a:lnTo>
                      <a:pt x="645999" y="225808"/>
                    </a:lnTo>
                    <a:lnTo>
                      <a:pt x="693324" y="213312"/>
                    </a:lnTo>
                    <a:lnTo>
                      <a:pt x="733921" y="198747"/>
                    </a:lnTo>
                    <a:lnTo>
                      <a:pt x="791583" y="164445"/>
                    </a:lnTo>
                    <a:lnTo>
                      <a:pt x="812292" y="124968"/>
                    </a:lnTo>
                    <a:lnTo>
                      <a:pt x="806975" y="104711"/>
                    </a:lnTo>
                    <a:lnTo>
                      <a:pt x="766953" y="67563"/>
                    </a:lnTo>
                    <a:lnTo>
                      <a:pt x="693324" y="36623"/>
                    </a:lnTo>
                    <a:lnTo>
                      <a:pt x="645999" y="24127"/>
                    </a:lnTo>
                    <a:lnTo>
                      <a:pt x="592781" y="13959"/>
                    </a:lnTo>
                    <a:lnTo>
                      <a:pt x="534509" y="6376"/>
                    </a:lnTo>
                    <a:lnTo>
                      <a:pt x="472018" y="1637"/>
                    </a:lnTo>
                    <a:lnTo>
                      <a:pt x="40614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5"/>
              <p:cNvSpPr/>
              <p:nvPr/>
            </p:nvSpPr>
            <p:spPr>
              <a:xfrm>
                <a:off x="7424928" y="1997963"/>
                <a:ext cx="812800" cy="250190"/>
              </a:xfrm>
              <a:custGeom>
                <a:rect b="b" l="l" r="r" t="t"/>
                <a:pathLst>
                  <a:path extrusionOk="0" h="250189" w="812800">
                    <a:moveTo>
                      <a:pt x="0" y="124968"/>
                    </a:moveTo>
                    <a:lnTo>
                      <a:pt x="20708" y="85490"/>
                    </a:lnTo>
                    <a:lnTo>
                      <a:pt x="78370" y="51188"/>
                    </a:lnTo>
                    <a:lnTo>
                      <a:pt x="118967" y="36623"/>
                    </a:lnTo>
                    <a:lnTo>
                      <a:pt x="166292" y="24127"/>
                    </a:lnTo>
                    <a:lnTo>
                      <a:pt x="219510" y="13959"/>
                    </a:lnTo>
                    <a:lnTo>
                      <a:pt x="277782" y="6376"/>
                    </a:lnTo>
                    <a:lnTo>
                      <a:pt x="340273" y="1637"/>
                    </a:lnTo>
                    <a:lnTo>
                      <a:pt x="406146" y="0"/>
                    </a:lnTo>
                    <a:lnTo>
                      <a:pt x="472018" y="1637"/>
                    </a:lnTo>
                    <a:lnTo>
                      <a:pt x="534509" y="6376"/>
                    </a:lnTo>
                    <a:lnTo>
                      <a:pt x="592781" y="13959"/>
                    </a:lnTo>
                    <a:lnTo>
                      <a:pt x="645999" y="24127"/>
                    </a:lnTo>
                    <a:lnTo>
                      <a:pt x="693324" y="36623"/>
                    </a:lnTo>
                    <a:lnTo>
                      <a:pt x="733921" y="51188"/>
                    </a:lnTo>
                    <a:lnTo>
                      <a:pt x="791583" y="85490"/>
                    </a:lnTo>
                    <a:lnTo>
                      <a:pt x="812292" y="124968"/>
                    </a:lnTo>
                    <a:lnTo>
                      <a:pt x="806975" y="145224"/>
                    </a:lnTo>
                    <a:lnTo>
                      <a:pt x="766953" y="182372"/>
                    </a:lnTo>
                    <a:lnTo>
                      <a:pt x="693324" y="213312"/>
                    </a:lnTo>
                    <a:lnTo>
                      <a:pt x="645999" y="225808"/>
                    </a:lnTo>
                    <a:lnTo>
                      <a:pt x="592781" y="235976"/>
                    </a:lnTo>
                    <a:lnTo>
                      <a:pt x="534509" y="243559"/>
                    </a:lnTo>
                    <a:lnTo>
                      <a:pt x="472018" y="248298"/>
                    </a:lnTo>
                    <a:lnTo>
                      <a:pt x="406146" y="249936"/>
                    </a:lnTo>
                    <a:lnTo>
                      <a:pt x="340273" y="248298"/>
                    </a:lnTo>
                    <a:lnTo>
                      <a:pt x="277782" y="243559"/>
                    </a:lnTo>
                    <a:lnTo>
                      <a:pt x="219510" y="235976"/>
                    </a:lnTo>
                    <a:lnTo>
                      <a:pt x="166292" y="225808"/>
                    </a:lnTo>
                    <a:lnTo>
                      <a:pt x="118967" y="213312"/>
                    </a:lnTo>
                    <a:lnTo>
                      <a:pt x="78370" y="198747"/>
                    </a:lnTo>
                    <a:lnTo>
                      <a:pt x="20708" y="164445"/>
                    </a:lnTo>
                    <a:lnTo>
                      <a:pt x="0" y="124968"/>
                    </a:lnTo>
                    <a:close/>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9" name="Google Shape;289;p15"/>
            <p:cNvSpPr txBox="1"/>
            <p:nvPr/>
          </p:nvSpPr>
          <p:spPr>
            <a:xfrm>
              <a:off x="9188323" y="2512314"/>
              <a:ext cx="1047115"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Input-output</a:t>
              </a:r>
              <a:endParaRPr sz="1500">
                <a:solidFill>
                  <a:schemeClr val="dk1"/>
                </a:solidFill>
                <a:latin typeface="Arial"/>
                <a:ea typeface="Arial"/>
                <a:cs typeface="Arial"/>
                <a:sym typeface="Arial"/>
              </a:endParaRPr>
            </a:p>
          </p:txBody>
        </p:sp>
        <p:grpSp>
          <p:nvGrpSpPr>
            <p:cNvPr id="290" name="Google Shape;290;p15"/>
            <p:cNvGrpSpPr/>
            <p:nvPr/>
          </p:nvGrpSpPr>
          <p:grpSpPr>
            <a:xfrm>
              <a:off x="3590545" y="2275332"/>
              <a:ext cx="5562600" cy="1779016"/>
              <a:chOff x="2066544" y="2275332"/>
              <a:chExt cx="5562600" cy="1779016"/>
            </a:xfrm>
          </p:grpSpPr>
          <p:sp>
            <p:nvSpPr>
              <p:cNvPr id="291" name="Google Shape;291;p15"/>
              <p:cNvSpPr/>
              <p:nvPr/>
            </p:nvSpPr>
            <p:spPr>
              <a:xfrm>
                <a:off x="6385560" y="2863596"/>
                <a:ext cx="181356" cy="1691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5"/>
              <p:cNvSpPr/>
              <p:nvPr/>
            </p:nvSpPr>
            <p:spPr>
              <a:xfrm>
                <a:off x="5943600" y="2970276"/>
                <a:ext cx="480059" cy="361315"/>
              </a:xfrm>
              <a:custGeom>
                <a:rect b="b" l="l" r="r" t="t"/>
                <a:pathLst>
                  <a:path extrusionOk="0" h="361314" w="480060">
                    <a:moveTo>
                      <a:pt x="0" y="361188"/>
                    </a:moveTo>
                    <a:lnTo>
                      <a:pt x="480060"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5"/>
              <p:cNvSpPr/>
              <p:nvPr/>
            </p:nvSpPr>
            <p:spPr>
              <a:xfrm>
                <a:off x="6345936" y="3268980"/>
                <a:ext cx="198120" cy="124967"/>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5"/>
              <p:cNvSpPr/>
              <p:nvPr/>
            </p:nvSpPr>
            <p:spPr>
              <a:xfrm>
                <a:off x="5964936" y="3331464"/>
                <a:ext cx="398145" cy="91440"/>
              </a:xfrm>
              <a:custGeom>
                <a:rect b="b" l="l" r="r" t="t"/>
                <a:pathLst>
                  <a:path extrusionOk="0" h="91439" w="398145">
                    <a:moveTo>
                      <a:pt x="0" y="91439"/>
                    </a:moveTo>
                    <a:lnTo>
                      <a:pt x="397763"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5"/>
              <p:cNvSpPr/>
              <p:nvPr/>
            </p:nvSpPr>
            <p:spPr>
              <a:xfrm>
                <a:off x="6345936" y="3744468"/>
                <a:ext cx="198120" cy="146303"/>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5"/>
              <p:cNvSpPr/>
              <p:nvPr/>
            </p:nvSpPr>
            <p:spPr>
              <a:xfrm>
                <a:off x="5943600" y="3512820"/>
                <a:ext cx="439420" cy="294640"/>
              </a:xfrm>
              <a:custGeom>
                <a:rect b="b" l="l" r="r" t="t"/>
                <a:pathLst>
                  <a:path extrusionOk="0" h="294639" w="439420">
                    <a:moveTo>
                      <a:pt x="0" y="0"/>
                    </a:moveTo>
                    <a:lnTo>
                      <a:pt x="438912" y="294131"/>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5"/>
              <p:cNvSpPr/>
              <p:nvPr/>
            </p:nvSpPr>
            <p:spPr>
              <a:xfrm>
                <a:off x="7199375" y="2275332"/>
                <a:ext cx="201168" cy="170687"/>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5"/>
              <p:cNvSpPr/>
              <p:nvPr/>
            </p:nvSpPr>
            <p:spPr>
              <a:xfrm>
                <a:off x="6925056" y="2383536"/>
                <a:ext cx="312420" cy="203200"/>
              </a:xfrm>
              <a:custGeom>
                <a:rect b="b" l="l" r="r" t="t"/>
                <a:pathLst>
                  <a:path extrusionOk="0" h="203200" w="312420">
                    <a:moveTo>
                      <a:pt x="312420" y="0"/>
                    </a:moveTo>
                    <a:lnTo>
                      <a:pt x="0" y="202691"/>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5"/>
              <p:cNvSpPr/>
              <p:nvPr/>
            </p:nvSpPr>
            <p:spPr>
              <a:xfrm>
                <a:off x="7367016" y="2321052"/>
                <a:ext cx="178308" cy="192024"/>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5"/>
              <p:cNvSpPr/>
              <p:nvPr/>
            </p:nvSpPr>
            <p:spPr>
              <a:xfrm>
                <a:off x="6925056" y="2473452"/>
                <a:ext cx="500380" cy="655320"/>
              </a:xfrm>
              <a:custGeom>
                <a:rect b="b" l="l" r="r" t="t"/>
                <a:pathLst>
                  <a:path extrusionOk="0" h="655319" w="500379">
                    <a:moveTo>
                      <a:pt x="499872" y="0"/>
                    </a:moveTo>
                    <a:lnTo>
                      <a:pt x="0" y="65532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5"/>
              <p:cNvSpPr/>
              <p:nvPr/>
            </p:nvSpPr>
            <p:spPr>
              <a:xfrm>
                <a:off x="7490460" y="2433828"/>
                <a:ext cx="138684" cy="190500"/>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5"/>
              <p:cNvSpPr/>
              <p:nvPr/>
            </p:nvSpPr>
            <p:spPr>
              <a:xfrm>
                <a:off x="6882383" y="2607564"/>
                <a:ext cx="646430" cy="1199515"/>
              </a:xfrm>
              <a:custGeom>
                <a:rect b="b" l="l" r="r" t="t"/>
                <a:pathLst>
                  <a:path extrusionOk="0" h="1199514" w="646429">
                    <a:moveTo>
                      <a:pt x="646176" y="0"/>
                    </a:moveTo>
                    <a:lnTo>
                      <a:pt x="0" y="1199388"/>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5"/>
              <p:cNvSpPr/>
              <p:nvPr/>
            </p:nvSpPr>
            <p:spPr>
              <a:xfrm>
                <a:off x="6803136" y="3203448"/>
                <a:ext cx="96012" cy="144779"/>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15"/>
              <p:cNvSpPr/>
              <p:nvPr/>
            </p:nvSpPr>
            <p:spPr>
              <a:xfrm>
                <a:off x="6630924" y="3105912"/>
                <a:ext cx="210820" cy="292735"/>
              </a:xfrm>
              <a:custGeom>
                <a:rect b="b" l="l" r="r" t="t"/>
                <a:pathLst>
                  <a:path extrusionOk="0" h="292735" w="210820">
                    <a:moveTo>
                      <a:pt x="210311" y="248285"/>
                    </a:moveTo>
                    <a:lnTo>
                      <a:pt x="147066" y="292608"/>
                    </a:lnTo>
                    <a:lnTo>
                      <a:pt x="42672" y="270510"/>
                    </a:lnTo>
                    <a:lnTo>
                      <a:pt x="0" y="204088"/>
                    </a:lnTo>
                    <a:lnTo>
                      <a:pt x="0" y="113918"/>
                    </a:lnTo>
                    <a:lnTo>
                      <a:pt x="42672" y="45847"/>
                    </a:lnTo>
                    <a:lnTo>
                      <a:pt x="126492"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15"/>
              <p:cNvSpPr/>
              <p:nvPr/>
            </p:nvSpPr>
            <p:spPr>
              <a:xfrm>
                <a:off x="6781800" y="3878580"/>
                <a:ext cx="96012" cy="147827"/>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5"/>
              <p:cNvSpPr/>
              <p:nvPr/>
            </p:nvSpPr>
            <p:spPr>
              <a:xfrm>
                <a:off x="6630924" y="3782568"/>
                <a:ext cx="189230" cy="271780"/>
              </a:xfrm>
              <a:custGeom>
                <a:rect b="b" l="l" r="r" t="t"/>
                <a:pathLst>
                  <a:path extrusionOk="0" h="271779" w="189229">
                    <a:moveTo>
                      <a:pt x="188975" y="226821"/>
                    </a:moveTo>
                    <a:lnTo>
                      <a:pt x="127000" y="271271"/>
                    </a:lnTo>
                    <a:lnTo>
                      <a:pt x="42799" y="249046"/>
                    </a:lnTo>
                    <a:lnTo>
                      <a:pt x="0" y="180847"/>
                    </a:lnTo>
                    <a:lnTo>
                      <a:pt x="0" y="90423"/>
                    </a:lnTo>
                    <a:lnTo>
                      <a:pt x="42799" y="23748"/>
                    </a:lnTo>
                    <a:lnTo>
                      <a:pt x="106299"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15"/>
              <p:cNvSpPr/>
              <p:nvPr/>
            </p:nvSpPr>
            <p:spPr>
              <a:xfrm>
                <a:off x="6803136" y="2659380"/>
                <a:ext cx="96012" cy="146303"/>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5"/>
              <p:cNvSpPr/>
              <p:nvPr/>
            </p:nvSpPr>
            <p:spPr>
              <a:xfrm>
                <a:off x="6630924" y="2563368"/>
                <a:ext cx="210820" cy="271780"/>
              </a:xfrm>
              <a:custGeom>
                <a:rect b="b" l="l" r="r" t="t"/>
                <a:pathLst>
                  <a:path extrusionOk="0" h="271780" w="210820">
                    <a:moveTo>
                      <a:pt x="210311" y="225298"/>
                    </a:moveTo>
                    <a:lnTo>
                      <a:pt x="147066" y="271272"/>
                    </a:lnTo>
                    <a:lnTo>
                      <a:pt x="42672" y="271272"/>
                    </a:lnTo>
                    <a:lnTo>
                      <a:pt x="0" y="203073"/>
                    </a:lnTo>
                    <a:lnTo>
                      <a:pt x="0" y="112649"/>
                    </a:lnTo>
                    <a:lnTo>
                      <a:pt x="42672" y="22225"/>
                    </a:lnTo>
                    <a:lnTo>
                      <a:pt x="126492"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5"/>
              <p:cNvSpPr/>
              <p:nvPr/>
            </p:nvSpPr>
            <p:spPr>
              <a:xfrm>
                <a:off x="5549645" y="3106674"/>
                <a:ext cx="125095" cy="180340"/>
              </a:xfrm>
              <a:custGeom>
                <a:rect b="b" l="l" r="r" t="t"/>
                <a:pathLst>
                  <a:path extrusionOk="0" h="180339" w="125095">
                    <a:moveTo>
                      <a:pt x="0" y="0"/>
                    </a:moveTo>
                    <a:lnTo>
                      <a:pt x="124967" y="179831"/>
                    </a:lnTo>
                  </a:path>
                </a:pathLst>
              </a:custGeom>
              <a:noFill/>
              <a:ln cap="flat" cmpd="sng" w="19800">
                <a:solidFill>
                  <a:srgbClr val="FF33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5"/>
              <p:cNvSpPr/>
              <p:nvPr/>
            </p:nvSpPr>
            <p:spPr>
              <a:xfrm>
                <a:off x="2066544" y="3241548"/>
                <a:ext cx="792480" cy="1905"/>
              </a:xfrm>
              <a:custGeom>
                <a:rect b="b" l="l" r="r" t="t"/>
                <a:pathLst>
                  <a:path extrusionOk="0" h="1905" w="792480">
                    <a:moveTo>
                      <a:pt x="0" y="0"/>
                    </a:moveTo>
                    <a:lnTo>
                      <a:pt x="792480" y="1524"/>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1" name="Google Shape;311;p15"/>
            <p:cNvSpPr txBox="1"/>
            <p:nvPr/>
          </p:nvSpPr>
          <p:spPr>
            <a:xfrm>
              <a:off x="3883532" y="4409694"/>
              <a:ext cx="514350"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Client</a:t>
              </a:r>
              <a:endParaRPr sz="1500">
                <a:solidFill>
                  <a:schemeClr val="dk1"/>
                </a:solidFill>
                <a:latin typeface="Arial"/>
                <a:ea typeface="Arial"/>
                <a:cs typeface="Arial"/>
                <a:sym typeface="Arial"/>
              </a:endParaRPr>
            </a:p>
          </p:txBody>
        </p:sp>
        <p:sp>
          <p:nvSpPr>
            <p:cNvPr id="312" name="Google Shape;312;p15"/>
            <p:cNvSpPr txBox="1"/>
            <p:nvPr/>
          </p:nvSpPr>
          <p:spPr>
            <a:xfrm>
              <a:off x="3445256" y="3506216"/>
              <a:ext cx="247015"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T1</a:t>
              </a:r>
              <a:endParaRPr sz="1500">
                <a:solidFill>
                  <a:schemeClr val="dk1"/>
                </a:solidFill>
                <a:latin typeface="Arial"/>
                <a:ea typeface="Arial"/>
                <a:cs typeface="Arial"/>
                <a:sym typeface="Arial"/>
              </a:endParaRPr>
            </a:p>
          </p:txBody>
        </p:sp>
        <p:grpSp>
          <p:nvGrpSpPr>
            <p:cNvPr id="313" name="Google Shape;313;p15"/>
            <p:cNvGrpSpPr/>
            <p:nvPr/>
          </p:nvGrpSpPr>
          <p:grpSpPr>
            <a:xfrm>
              <a:off x="3070860" y="1997964"/>
              <a:ext cx="4102607" cy="2216150"/>
              <a:chOff x="1546859" y="1997963"/>
              <a:chExt cx="4102607" cy="2216150"/>
            </a:xfrm>
          </p:grpSpPr>
          <p:sp>
            <p:nvSpPr>
              <p:cNvPr id="314" name="Google Shape;314;p15"/>
              <p:cNvSpPr/>
              <p:nvPr/>
            </p:nvSpPr>
            <p:spPr>
              <a:xfrm>
                <a:off x="1546859" y="1997963"/>
                <a:ext cx="2042160" cy="2216150"/>
              </a:xfrm>
              <a:custGeom>
                <a:rect b="b" l="l" r="r" t="t"/>
                <a:pathLst>
                  <a:path extrusionOk="0" h="2216150" w="2042160">
                    <a:moveTo>
                      <a:pt x="1021079" y="0"/>
                    </a:moveTo>
                    <a:lnTo>
                      <a:pt x="974344" y="1140"/>
                    </a:lnTo>
                    <a:lnTo>
                      <a:pt x="928147" y="4527"/>
                    </a:lnTo>
                    <a:lnTo>
                      <a:pt x="882535" y="10114"/>
                    </a:lnTo>
                    <a:lnTo>
                      <a:pt x="837551" y="17851"/>
                    </a:lnTo>
                    <a:lnTo>
                      <a:pt x="793242" y="27688"/>
                    </a:lnTo>
                    <a:lnTo>
                      <a:pt x="749652" y="39578"/>
                    </a:lnTo>
                    <a:lnTo>
                      <a:pt x="706827" y="53470"/>
                    </a:lnTo>
                    <a:lnTo>
                      <a:pt x="664811" y="69317"/>
                    </a:lnTo>
                    <a:lnTo>
                      <a:pt x="623649" y="87070"/>
                    </a:lnTo>
                    <a:lnTo>
                      <a:pt x="583387" y="106679"/>
                    </a:lnTo>
                    <a:lnTo>
                      <a:pt x="544069" y="128095"/>
                    </a:lnTo>
                    <a:lnTo>
                      <a:pt x="505742" y="151271"/>
                    </a:lnTo>
                    <a:lnTo>
                      <a:pt x="468449" y="176156"/>
                    </a:lnTo>
                    <a:lnTo>
                      <a:pt x="432236" y="202702"/>
                    </a:lnTo>
                    <a:lnTo>
                      <a:pt x="397148" y="230859"/>
                    </a:lnTo>
                    <a:lnTo>
                      <a:pt x="363230" y="260581"/>
                    </a:lnTo>
                    <a:lnTo>
                      <a:pt x="330527" y="291816"/>
                    </a:lnTo>
                    <a:lnTo>
                      <a:pt x="299084" y="324516"/>
                    </a:lnTo>
                    <a:lnTo>
                      <a:pt x="268947" y="358633"/>
                    </a:lnTo>
                    <a:lnTo>
                      <a:pt x="240160" y="394118"/>
                    </a:lnTo>
                    <a:lnTo>
                      <a:pt x="212769" y="430921"/>
                    </a:lnTo>
                    <a:lnTo>
                      <a:pt x="186818" y="468993"/>
                    </a:lnTo>
                    <a:lnTo>
                      <a:pt x="162352" y="508287"/>
                    </a:lnTo>
                    <a:lnTo>
                      <a:pt x="139417" y="548752"/>
                    </a:lnTo>
                    <a:lnTo>
                      <a:pt x="118058" y="590341"/>
                    </a:lnTo>
                    <a:lnTo>
                      <a:pt x="98320" y="633003"/>
                    </a:lnTo>
                    <a:lnTo>
                      <a:pt x="80248" y="676691"/>
                    </a:lnTo>
                    <a:lnTo>
                      <a:pt x="63886" y="721355"/>
                    </a:lnTo>
                    <a:lnTo>
                      <a:pt x="49281" y="766947"/>
                    </a:lnTo>
                    <a:lnTo>
                      <a:pt x="36477" y="813417"/>
                    </a:lnTo>
                    <a:lnTo>
                      <a:pt x="25519" y="860717"/>
                    </a:lnTo>
                    <a:lnTo>
                      <a:pt x="16452" y="908797"/>
                    </a:lnTo>
                    <a:lnTo>
                      <a:pt x="9322" y="957609"/>
                    </a:lnTo>
                    <a:lnTo>
                      <a:pt x="4173" y="1007104"/>
                    </a:lnTo>
                    <a:lnTo>
                      <a:pt x="1050" y="1057233"/>
                    </a:lnTo>
                    <a:lnTo>
                      <a:pt x="0" y="1107948"/>
                    </a:lnTo>
                    <a:lnTo>
                      <a:pt x="1050" y="1158662"/>
                    </a:lnTo>
                    <a:lnTo>
                      <a:pt x="4173" y="1208791"/>
                    </a:lnTo>
                    <a:lnTo>
                      <a:pt x="9322" y="1258286"/>
                    </a:lnTo>
                    <a:lnTo>
                      <a:pt x="16452" y="1307098"/>
                    </a:lnTo>
                    <a:lnTo>
                      <a:pt x="25519" y="1355178"/>
                    </a:lnTo>
                    <a:lnTo>
                      <a:pt x="36477" y="1402478"/>
                    </a:lnTo>
                    <a:lnTo>
                      <a:pt x="49281" y="1448948"/>
                    </a:lnTo>
                    <a:lnTo>
                      <a:pt x="63886" y="1494540"/>
                    </a:lnTo>
                    <a:lnTo>
                      <a:pt x="80248" y="1539204"/>
                    </a:lnTo>
                    <a:lnTo>
                      <a:pt x="98320" y="1582892"/>
                    </a:lnTo>
                    <a:lnTo>
                      <a:pt x="118058" y="1625554"/>
                    </a:lnTo>
                    <a:lnTo>
                      <a:pt x="139417" y="1667143"/>
                    </a:lnTo>
                    <a:lnTo>
                      <a:pt x="162352" y="1707608"/>
                    </a:lnTo>
                    <a:lnTo>
                      <a:pt x="186818" y="1746902"/>
                    </a:lnTo>
                    <a:lnTo>
                      <a:pt x="212769" y="1784974"/>
                    </a:lnTo>
                    <a:lnTo>
                      <a:pt x="240160" y="1821777"/>
                    </a:lnTo>
                    <a:lnTo>
                      <a:pt x="268947" y="1857262"/>
                    </a:lnTo>
                    <a:lnTo>
                      <a:pt x="299084" y="1891379"/>
                    </a:lnTo>
                    <a:lnTo>
                      <a:pt x="330527" y="1924079"/>
                    </a:lnTo>
                    <a:lnTo>
                      <a:pt x="363230" y="1955314"/>
                    </a:lnTo>
                    <a:lnTo>
                      <a:pt x="397148" y="1985036"/>
                    </a:lnTo>
                    <a:lnTo>
                      <a:pt x="432236" y="2013193"/>
                    </a:lnTo>
                    <a:lnTo>
                      <a:pt x="468449" y="2039739"/>
                    </a:lnTo>
                    <a:lnTo>
                      <a:pt x="505742" y="2064624"/>
                    </a:lnTo>
                    <a:lnTo>
                      <a:pt x="544069" y="2087800"/>
                    </a:lnTo>
                    <a:lnTo>
                      <a:pt x="583387" y="2109216"/>
                    </a:lnTo>
                    <a:lnTo>
                      <a:pt x="623649" y="2128825"/>
                    </a:lnTo>
                    <a:lnTo>
                      <a:pt x="664811" y="2146578"/>
                    </a:lnTo>
                    <a:lnTo>
                      <a:pt x="706827" y="2162425"/>
                    </a:lnTo>
                    <a:lnTo>
                      <a:pt x="749652" y="2176317"/>
                    </a:lnTo>
                    <a:lnTo>
                      <a:pt x="793242" y="2188207"/>
                    </a:lnTo>
                    <a:lnTo>
                      <a:pt x="837551" y="2198044"/>
                    </a:lnTo>
                    <a:lnTo>
                      <a:pt x="882535" y="2205781"/>
                    </a:lnTo>
                    <a:lnTo>
                      <a:pt x="928147" y="2211368"/>
                    </a:lnTo>
                    <a:lnTo>
                      <a:pt x="974344" y="2214755"/>
                    </a:lnTo>
                    <a:lnTo>
                      <a:pt x="1021079" y="2215896"/>
                    </a:lnTo>
                    <a:lnTo>
                      <a:pt x="1067815" y="2214755"/>
                    </a:lnTo>
                    <a:lnTo>
                      <a:pt x="1114012" y="2211368"/>
                    </a:lnTo>
                    <a:lnTo>
                      <a:pt x="1159624" y="2205781"/>
                    </a:lnTo>
                    <a:lnTo>
                      <a:pt x="1204608" y="2198044"/>
                    </a:lnTo>
                    <a:lnTo>
                      <a:pt x="1248917" y="2188207"/>
                    </a:lnTo>
                    <a:lnTo>
                      <a:pt x="1292507" y="2176317"/>
                    </a:lnTo>
                    <a:lnTo>
                      <a:pt x="1335332" y="2162425"/>
                    </a:lnTo>
                    <a:lnTo>
                      <a:pt x="1377348" y="2146578"/>
                    </a:lnTo>
                    <a:lnTo>
                      <a:pt x="1418510" y="2128825"/>
                    </a:lnTo>
                    <a:lnTo>
                      <a:pt x="1458772" y="2109216"/>
                    </a:lnTo>
                    <a:lnTo>
                      <a:pt x="1498090" y="2087800"/>
                    </a:lnTo>
                    <a:lnTo>
                      <a:pt x="1536417" y="2064624"/>
                    </a:lnTo>
                    <a:lnTo>
                      <a:pt x="1573710" y="2039739"/>
                    </a:lnTo>
                    <a:lnTo>
                      <a:pt x="1609923" y="2013193"/>
                    </a:lnTo>
                    <a:lnTo>
                      <a:pt x="1645011" y="1985036"/>
                    </a:lnTo>
                    <a:lnTo>
                      <a:pt x="1678929" y="1955314"/>
                    </a:lnTo>
                    <a:lnTo>
                      <a:pt x="1711632" y="1924079"/>
                    </a:lnTo>
                    <a:lnTo>
                      <a:pt x="1743075" y="1891379"/>
                    </a:lnTo>
                    <a:lnTo>
                      <a:pt x="1773212" y="1857262"/>
                    </a:lnTo>
                    <a:lnTo>
                      <a:pt x="1801999" y="1821777"/>
                    </a:lnTo>
                    <a:lnTo>
                      <a:pt x="1829390" y="1784974"/>
                    </a:lnTo>
                    <a:lnTo>
                      <a:pt x="1855341" y="1746902"/>
                    </a:lnTo>
                    <a:lnTo>
                      <a:pt x="1879807" y="1707608"/>
                    </a:lnTo>
                    <a:lnTo>
                      <a:pt x="1902742" y="1667143"/>
                    </a:lnTo>
                    <a:lnTo>
                      <a:pt x="1924101" y="1625554"/>
                    </a:lnTo>
                    <a:lnTo>
                      <a:pt x="1943839" y="1582892"/>
                    </a:lnTo>
                    <a:lnTo>
                      <a:pt x="1961911" y="1539204"/>
                    </a:lnTo>
                    <a:lnTo>
                      <a:pt x="1978273" y="1494540"/>
                    </a:lnTo>
                    <a:lnTo>
                      <a:pt x="1992878" y="1448948"/>
                    </a:lnTo>
                    <a:lnTo>
                      <a:pt x="2005682" y="1402478"/>
                    </a:lnTo>
                    <a:lnTo>
                      <a:pt x="2016640" y="1355178"/>
                    </a:lnTo>
                    <a:lnTo>
                      <a:pt x="2025707" y="1307098"/>
                    </a:lnTo>
                    <a:lnTo>
                      <a:pt x="2032837" y="1258286"/>
                    </a:lnTo>
                    <a:lnTo>
                      <a:pt x="2037986" y="1208791"/>
                    </a:lnTo>
                    <a:lnTo>
                      <a:pt x="2041109" y="1158662"/>
                    </a:lnTo>
                    <a:lnTo>
                      <a:pt x="2042160" y="1107948"/>
                    </a:lnTo>
                    <a:lnTo>
                      <a:pt x="2041109" y="1057233"/>
                    </a:lnTo>
                    <a:lnTo>
                      <a:pt x="2037986" y="1007104"/>
                    </a:lnTo>
                    <a:lnTo>
                      <a:pt x="2032837" y="957609"/>
                    </a:lnTo>
                    <a:lnTo>
                      <a:pt x="2025707" y="908797"/>
                    </a:lnTo>
                    <a:lnTo>
                      <a:pt x="2016640" y="860717"/>
                    </a:lnTo>
                    <a:lnTo>
                      <a:pt x="2005682" y="813417"/>
                    </a:lnTo>
                    <a:lnTo>
                      <a:pt x="1992878" y="766947"/>
                    </a:lnTo>
                    <a:lnTo>
                      <a:pt x="1978273" y="721355"/>
                    </a:lnTo>
                    <a:lnTo>
                      <a:pt x="1961911" y="676691"/>
                    </a:lnTo>
                    <a:lnTo>
                      <a:pt x="1943839" y="633003"/>
                    </a:lnTo>
                    <a:lnTo>
                      <a:pt x="1924101" y="590341"/>
                    </a:lnTo>
                    <a:lnTo>
                      <a:pt x="1902742" y="548752"/>
                    </a:lnTo>
                    <a:lnTo>
                      <a:pt x="1879807" y="508287"/>
                    </a:lnTo>
                    <a:lnTo>
                      <a:pt x="1855341" y="468993"/>
                    </a:lnTo>
                    <a:lnTo>
                      <a:pt x="1829390" y="430921"/>
                    </a:lnTo>
                    <a:lnTo>
                      <a:pt x="1801999" y="394118"/>
                    </a:lnTo>
                    <a:lnTo>
                      <a:pt x="1773212" y="358633"/>
                    </a:lnTo>
                    <a:lnTo>
                      <a:pt x="1743075" y="324516"/>
                    </a:lnTo>
                    <a:lnTo>
                      <a:pt x="1711632" y="291816"/>
                    </a:lnTo>
                    <a:lnTo>
                      <a:pt x="1678929" y="260581"/>
                    </a:lnTo>
                    <a:lnTo>
                      <a:pt x="1645011" y="230859"/>
                    </a:lnTo>
                    <a:lnTo>
                      <a:pt x="1609923" y="202702"/>
                    </a:lnTo>
                    <a:lnTo>
                      <a:pt x="1573710" y="176156"/>
                    </a:lnTo>
                    <a:lnTo>
                      <a:pt x="1536417" y="151271"/>
                    </a:lnTo>
                    <a:lnTo>
                      <a:pt x="1498090" y="128095"/>
                    </a:lnTo>
                    <a:lnTo>
                      <a:pt x="1458772" y="106679"/>
                    </a:lnTo>
                    <a:lnTo>
                      <a:pt x="1418510" y="87070"/>
                    </a:lnTo>
                    <a:lnTo>
                      <a:pt x="1377348" y="69317"/>
                    </a:lnTo>
                    <a:lnTo>
                      <a:pt x="1335332" y="53470"/>
                    </a:lnTo>
                    <a:lnTo>
                      <a:pt x="1292507" y="39578"/>
                    </a:lnTo>
                    <a:lnTo>
                      <a:pt x="1248917" y="27688"/>
                    </a:lnTo>
                    <a:lnTo>
                      <a:pt x="1204608" y="17851"/>
                    </a:lnTo>
                    <a:lnTo>
                      <a:pt x="1159624" y="10114"/>
                    </a:lnTo>
                    <a:lnTo>
                      <a:pt x="1114012" y="4527"/>
                    </a:lnTo>
                    <a:lnTo>
                      <a:pt x="1067815" y="1140"/>
                    </a:lnTo>
                    <a:lnTo>
                      <a:pt x="1021079" y="0"/>
                    </a:lnTo>
                    <a:close/>
                  </a:path>
                </a:pathLst>
              </a:custGeom>
              <a:solidFill>
                <a:srgbClr val="FFDC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5"/>
              <p:cNvSpPr/>
              <p:nvPr/>
            </p:nvSpPr>
            <p:spPr>
              <a:xfrm>
                <a:off x="1546859" y="1997963"/>
                <a:ext cx="2042160" cy="2216150"/>
              </a:xfrm>
              <a:custGeom>
                <a:rect b="b" l="l" r="r" t="t"/>
                <a:pathLst>
                  <a:path extrusionOk="0" h="2216150" w="2042160">
                    <a:moveTo>
                      <a:pt x="0" y="1107948"/>
                    </a:moveTo>
                    <a:lnTo>
                      <a:pt x="1050" y="1057233"/>
                    </a:lnTo>
                    <a:lnTo>
                      <a:pt x="4173" y="1007104"/>
                    </a:lnTo>
                    <a:lnTo>
                      <a:pt x="9322" y="957609"/>
                    </a:lnTo>
                    <a:lnTo>
                      <a:pt x="16452" y="908797"/>
                    </a:lnTo>
                    <a:lnTo>
                      <a:pt x="25519" y="860717"/>
                    </a:lnTo>
                    <a:lnTo>
                      <a:pt x="36477" y="813417"/>
                    </a:lnTo>
                    <a:lnTo>
                      <a:pt x="49281" y="766947"/>
                    </a:lnTo>
                    <a:lnTo>
                      <a:pt x="63886" y="721355"/>
                    </a:lnTo>
                    <a:lnTo>
                      <a:pt x="80248" y="676691"/>
                    </a:lnTo>
                    <a:lnTo>
                      <a:pt x="98320" y="633003"/>
                    </a:lnTo>
                    <a:lnTo>
                      <a:pt x="118058" y="590341"/>
                    </a:lnTo>
                    <a:lnTo>
                      <a:pt x="139417" y="548752"/>
                    </a:lnTo>
                    <a:lnTo>
                      <a:pt x="162352" y="508287"/>
                    </a:lnTo>
                    <a:lnTo>
                      <a:pt x="186818" y="468993"/>
                    </a:lnTo>
                    <a:lnTo>
                      <a:pt x="212769" y="430921"/>
                    </a:lnTo>
                    <a:lnTo>
                      <a:pt x="240160" y="394118"/>
                    </a:lnTo>
                    <a:lnTo>
                      <a:pt x="268947" y="358633"/>
                    </a:lnTo>
                    <a:lnTo>
                      <a:pt x="299084" y="324516"/>
                    </a:lnTo>
                    <a:lnTo>
                      <a:pt x="330527" y="291816"/>
                    </a:lnTo>
                    <a:lnTo>
                      <a:pt x="363230" y="260581"/>
                    </a:lnTo>
                    <a:lnTo>
                      <a:pt x="397148" y="230859"/>
                    </a:lnTo>
                    <a:lnTo>
                      <a:pt x="432236" y="202702"/>
                    </a:lnTo>
                    <a:lnTo>
                      <a:pt x="468449" y="176156"/>
                    </a:lnTo>
                    <a:lnTo>
                      <a:pt x="505742" y="151271"/>
                    </a:lnTo>
                    <a:lnTo>
                      <a:pt x="544069" y="128095"/>
                    </a:lnTo>
                    <a:lnTo>
                      <a:pt x="583387" y="106679"/>
                    </a:lnTo>
                    <a:lnTo>
                      <a:pt x="623649" y="87070"/>
                    </a:lnTo>
                    <a:lnTo>
                      <a:pt x="664811" y="69317"/>
                    </a:lnTo>
                    <a:lnTo>
                      <a:pt x="706827" y="53470"/>
                    </a:lnTo>
                    <a:lnTo>
                      <a:pt x="749652" y="39578"/>
                    </a:lnTo>
                    <a:lnTo>
                      <a:pt x="793242" y="27688"/>
                    </a:lnTo>
                    <a:lnTo>
                      <a:pt x="837551" y="17851"/>
                    </a:lnTo>
                    <a:lnTo>
                      <a:pt x="882535" y="10114"/>
                    </a:lnTo>
                    <a:lnTo>
                      <a:pt x="928147" y="4527"/>
                    </a:lnTo>
                    <a:lnTo>
                      <a:pt x="974344" y="1140"/>
                    </a:lnTo>
                    <a:lnTo>
                      <a:pt x="1021079" y="0"/>
                    </a:lnTo>
                    <a:lnTo>
                      <a:pt x="1067815" y="1140"/>
                    </a:lnTo>
                    <a:lnTo>
                      <a:pt x="1114012" y="4527"/>
                    </a:lnTo>
                    <a:lnTo>
                      <a:pt x="1159624" y="10114"/>
                    </a:lnTo>
                    <a:lnTo>
                      <a:pt x="1204608" y="17851"/>
                    </a:lnTo>
                    <a:lnTo>
                      <a:pt x="1248917" y="27688"/>
                    </a:lnTo>
                    <a:lnTo>
                      <a:pt x="1292507" y="39578"/>
                    </a:lnTo>
                    <a:lnTo>
                      <a:pt x="1335332" y="53470"/>
                    </a:lnTo>
                    <a:lnTo>
                      <a:pt x="1377348" y="69317"/>
                    </a:lnTo>
                    <a:lnTo>
                      <a:pt x="1418510" y="87070"/>
                    </a:lnTo>
                    <a:lnTo>
                      <a:pt x="1458772" y="106679"/>
                    </a:lnTo>
                    <a:lnTo>
                      <a:pt x="1498090" y="128095"/>
                    </a:lnTo>
                    <a:lnTo>
                      <a:pt x="1536417" y="151271"/>
                    </a:lnTo>
                    <a:lnTo>
                      <a:pt x="1573710" y="176156"/>
                    </a:lnTo>
                    <a:lnTo>
                      <a:pt x="1609923" y="202702"/>
                    </a:lnTo>
                    <a:lnTo>
                      <a:pt x="1645011" y="230859"/>
                    </a:lnTo>
                    <a:lnTo>
                      <a:pt x="1678929" y="260581"/>
                    </a:lnTo>
                    <a:lnTo>
                      <a:pt x="1711632" y="291816"/>
                    </a:lnTo>
                    <a:lnTo>
                      <a:pt x="1743075" y="324516"/>
                    </a:lnTo>
                    <a:lnTo>
                      <a:pt x="1773212" y="358633"/>
                    </a:lnTo>
                    <a:lnTo>
                      <a:pt x="1801999" y="394118"/>
                    </a:lnTo>
                    <a:lnTo>
                      <a:pt x="1829390" y="430921"/>
                    </a:lnTo>
                    <a:lnTo>
                      <a:pt x="1855341" y="468993"/>
                    </a:lnTo>
                    <a:lnTo>
                      <a:pt x="1879807" y="508287"/>
                    </a:lnTo>
                    <a:lnTo>
                      <a:pt x="1902742" y="548752"/>
                    </a:lnTo>
                    <a:lnTo>
                      <a:pt x="1924101" y="590341"/>
                    </a:lnTo>
                    <a:lnTo>
                      <a:pt x="1943839" y="633003"/>
                    </a:lnTo>
                    <a:lnTo>
                      <a:pt x="1961911" y="676691"/>
                    </a:lnTo>
                    <a:lnTo>
                      <a:pt x="1978273" y="721355"/>
                    </a:lnTo>
                    <a:lnTo>
                      <a:pt x="1992878" y="766947"/>
                    </a:lnTo>
                    <a:lnTo>
                      <a:pt x="2005682" y="813417"/>
                    </a:lnTo>
                    <a:lnTo>
                      <a:pt x="2016640" y="860717"/>
                    </a:lnTo>
                    <a:lnTo>
                      <a:pt x="2025707" y="908797"/>
                    </a:lnTo>
                    <a:lnTo>
                      <a:pt x="2032837" y="957609"/>
                    </a:lnTo>
                    <a:lnTo>
                      <a:pt x="2037986" y="1007104"/>
                    </a:lnTo>
                    <a:lnTo>
                      <a:pt x="2041109" y="1057233"/>
                    </a:lnTo>
                    <a:lnTo>
                      <a:pt x="2042160" y="1107948"/>
                    </a:lnTo>
                    <a:lnTo>
                      <a:pt x="2041109" y="1158662"/>
                    </a:lnTo>
                    <a:lnTo>
                      <a:pt x="2037986" y="1208791"/>
                    </a:lnTo>
                    <a:lnTo>
                      <a:pt x="2032837" y="1258286"/>
                    </a:lnTo>
                    <a:lnTo>
                      <a:pt x="2025707" y="1307098"/>
                    </a:lnTo>
                    <a:lnTo>
                      <a:pt x="2016640" y="1355178"/>
                    </a:lnTo>
                    <a:lnTo>
                      <a:pt x="2005682" y="1402478"/>
                    </a:lnTo>
                    <a:lnTo>
                      <a:pt x="1992878" y="1448948"/>
                    </a:lnTo>
                    <a:lnTo>
                      <a:pt x="1978273" y="1494540"/>
                    </a:lnTo>
                    <a:lnTo>
                      <a:pt x="1961911" y="1539204"/>
                    </a:lnTo>
                    <a:lnTo>
                      <a:pt x="1943839" y="1582892"/>
                    </a:lnTo>
                    <a:lnTo>
                      <a:pt x="1924101" y="1625554"/>
                    </a:lnTo>
                    <a:lnTo>
                      <a:pt x="1902742" y="1667143"/>
                    </a:lnTo>
                    <a:lnTo>
                      <a:pt x="1879807" y="1707608"/>
                    </a:lnTo>
                    <a:lnTo>
                      <a:pt x="1855341" y="1746902"/>
                    </a:lnTo>
                    <a:lnTo>
                      <a:pt x="1829390" y="1784974"/>
                    </a:lnTo>
                    <a:lnTo>
                      <a:pt x="1801999" y="1821777"/>
                    </a:lnTo>
                    <a:lnTo>
                      <a:pt x="1773212" y="1857262"/>
                    </a:lnTo>
                    <a:lnTo>
                      <a:pt x="1743075" y="1891379"/>
                    </a:lnTo>
                    <a:lnTo>
                      <a:pt x="1711632" y="1924079"/>
                    </a:lnTo>
                    <a:lnTo>
                      <a:pt x="1678929" y="1955314"/>
                    </a:lnTo>
                    <a:lnTo>
                      <a:pt x="1645011" y="1985036"/>
                    </a:lnTo>
                    <a:lnTo>
                      <a:pt x="1609923" y="2013193"/>
                    </a:lnTo>
                    <a:lnTo>
                      <a:pt x="1573710" y="2039739"/>
                    </a:lnTo>
                    <a:lnTo>
                      <a:pt x="1536417" y="2064624"/>
                    </a:lnTo>
                    <a:lnTo>
                      <a:pt x="1498090" y="2087800"/>
                    </a:lnTo>
                    <a:lnTo>
                      <a:pt x="1458772" y="2109216"/>
                    </a:lnTo>
                    <a:lnTo>
                      <a:pt x="1418510" y="2128825"/>
                    </a:lnTo>
                    <a:lnTo>
                      <a:pt x="1377348" y="2146578"/>
                    </a:lnTo>
                    <a:lnTo>
                      <a:pt x="1335332" y="2162425"/>
                    </a:lnTo>
                    <a:lnTo>
                      <a:pt x="1292507" y="2176317"/>
                    </a:lnTo>
                    <a:lnTo>
                      <a:pt x="1248917" y="2188207"/>
                    </a:lnTo>
                    <a:lnTo>
                      <a:pt x="1204608" y="2198044"/>
                    </a:lnTo>
                    <a:lnTo>
                      <a:pt x="1159624" y="2205781"/>
                    </a:lnTo>
                    <a:lnTo>
                      <a:pt x="1114012" y="2211368"/>
                    </a:lnTo>
                    <a:lnTo>
                      <a:pt x="1067815" y="2214755"/>
                    </a:lnTo>
                    <a:lnTo>
                      <a:pt x="1021079" y="2215896"/>
                    </a:lnTo>
                    <a:lnTo>
                      <a:pt x="974344" y="2214755"/>
                    </a:lnTo>
                    <a:lnTo>
                      <a:pt x="928147" y="2211368"/>
                    </a:lnTo>
                    <a:lnTo>
                      <a:pt x="882535" y="2205781"/>
                    </a:lnTo>
                    <a:lnTo>
                      <a:pt x="837551" y="2198044"/>
                    </a:lnTo>
                    <a:lnTo>
                      <a:pt x="793242" y="2188207"/>
                    </a:lnTo>
                    <a:lnTo>
                      <a:pt x="749652" y="2176317"/>
                    </a:lnTo>
                    <a:lnTo>
                      <a:pt x="706827" y="2162425"/>
                    </a:lnTo>
                    <a:lnTo>
                      <a:pt x="664811" y="2146578"/>
                    </a:lnTo>
                    <a:lnTo>
                      <a:pt x="623649" y="2128825"/>
                    </a:lnTo>
                    <a:lnTo>
                      <a:pt x="583387" y="2109216"/>
                    </a:lnTo>
                    <a:lnTo>
                      <a:pt x="544069" y="2087800"/>
                    </a:lnTo>
                    <a:lnTo>
                      <a:pt x="505742" y="2064624"/>
                    </a:lnTo>
                    <a:lnTo>
                      <a:pt x="468449" y="2039739"/>
                    </a:lnTo>
                    <a:lnTo>
                      <a:pt x="432236" y="2013193"/>
                    </a:lnTo>
                    <a:lnTo>
                      <a:pt x="397148" y="1985036"/>
                    </a:lnTo>
                    <a:lnTo>
                      <a:pt x="363230" y="1955314"/>
                    </a:lnTo>
                    <a:lnTo>
                      <a:pt x="330527" y="1924079"/>
                    </a:lnTo>
                    <a:lnTo>
                      <a:pt x="299084" y="1891379"/>
                    </a:lnTo>
                    <a:lnTo>
                      <a:pt x="268947" y="1857262"/>
                    </a:lnTo>
                    <a:lnTo>
                      <a:pt x="240160" y="1821777"/>
                    </a:lnTo>
                    <a:lnTo>
                      <a:pt x="212769" y="1784974"/>
                    </a:lnTo>
                    <a:lnTo>
                      <a:pt x="186818" y="1746902"/>
                    </a:lnTo>
                    <a:lnTo>
                      <a:pt x="162352" y="1707608"/>
                    </a:lnTo>
                    <a:lnTo>
                      <a:pt x="139417" y="1667143"/>
                    </a:lnTo>
                    <a:lnTo>
                      <a:pt x="118058" y="1625554"/>
                    </a:lnTo>
                    <a:lnTo>
                      <a:pt x="98320" y="1582892"/>
                    </a:lnTo>
                    <a:lnTo>
                      <a:pt x="80248" y="1539204"/>
                    </a:lnTo>
                    <a:lnTo>
                      <a:pt x="63886" y="1494540"/>
                    </a:lnTo>
                    <a:lnTo>
                      <a:pt x="49281" y="1448948"/>
                    </a:lnTo>
                    <a:lnTo>
                      <a:pt x="36477" y="1402478"/>
                    </a:lnTo>
                    <a:lnTo>
                      <a:pt x="25519" y="1355178"/>
                    </a:lnTo>
                    <a:lnTo>
                      <a:pt x="16452" y="1307098"/>
                    </a:lnTo>
                    <a:lnTo>
                      <a:pt x="9322" y="1258286"/>
                    </a:lnTo>
                    <a:lnTo>
                      <a:pt x="4173" y="1208791"/>
                    </a:lnTo>
                    <a:lnTo>
                      <a:pt x="1050" y="1158662"/>
                    </a:lnTo>
                    <a:lnTo>
                      <a:pt x="0" y="1107948"/>
                    </a:lnTo>
                    <a:close/>
                  </a:path>
                </a:pathLst>
              </a:custGeom>
              <a:noFill/>
              <a:ln cap="flat" cmpd="sng" w="33525">
                <a:solidFill>
                  <a:srgbClr val="FFDC9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5"/>
              <p:cNvSpPr/>
              <p:nvPr/>
            </p:nvSpPr>
            <p:spPr>
              <a:xfrm>
                <a:off x="3384803" y="3134867"/>
                <a:ext cx="74675" cy="146303"/>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5"/>
              <p:cNvSpPr/>
              <p:nvPr/>
            </p:nvSpPr>
            <p:spPr>
              <a:xfrm>
                <a:off x="3214115" y="3038855"/>
                <a:ext cx="208915" cy="271780"/>
              </a:xfrm>
              <a:custGeom>
                <a:rect b="b" l="l" r="r" t="t"/>
                <a:pathLst>
                  <a:path extrusionOk="0" h="271779" w="208914">
                    <a:moveTo>
                      <a:pt x="208787" y="225298"/>
                    </a:moveTo>
                    <a:lnTo>
                      <a:pt x="124968" y="271272"/>
                    </a:lnTo>
                    <a:lnTo>
                      <a:pt x="61721" y="247523"/>
                    </a:lnTo>
                    <a:lnTo>
                      <a:pt x="0" y="180848"/>
                    </a:lnTo>
                    <a:lnTo>
                      <a:pt x="0" y="112649"/>
                    </a:lnTo>
                    <a:lnTo>
                      <a:pt x="41147" y="44450"/>
                    </a:lnTo>
                    <a:lnTo>
                      <a:pt x="124968"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15"/>
              <p:cNvSpPr/>
              <p:nvPr/>
            </p:nvSpPr>
            <p:spPr>
              <a:xfrm>
                <a:off x="2087879" y="3105911"/>
                <a:ext cx="189230" cy="135890"/>
              </a:xfrm>
              <a:custGeom>
                <a:rect b="b" l="l" r="r" t="t"/>
                <a:pathLst>
                  <a:path extrusionOk="0" h="135889" w="189230">
                    <a:moveTo>
                      <a:pt x="188975" y="0"/>
                    </a:moveTo>
                    <a:lnTo>
                      <a:pt x="0" y="0"/>
                    </a:lnTo>
                    <a:lnTo>
                      <a:pt x="0" y="135636"/>
                    </a:lnTo>
                    <a:lnTo>
                      <a:pt x="188975" y="135636"/>
                    </a:lnTo>
                    <a:lnTo>
                      <a:pt x="18897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5"/>
              <p:cNvSpPr/>
              <p:nvPr/>
            </p:nvSpPr>
            <p:spPr>
              <a:xfrm>
                <a:off x="2087879" y="3105911"/>
                <a:ext cx="208915" cy="158750"/>
              </a:xfrm>
              <a:custGeom>
                <a:rect b="b" l="l" r="r" t="t"/>
                <a:pathLst>
                  <a:path extrusionOk="0" h="158750" w="208914">
                    <a:moveTo>
                      <a:pt x="0" y="158496"/>
                    </a:moveTo>
                    <a:lnTo>
                      <a:pt x="208787" y="158496"/>
                    </a:lnTo>
                    <a:lnTo>
                      <a:pt x="208787" y="0"/>
                    </a:lnTo>
                    <a:lnTo>
                      <a:pt x="0" y="0"/>
                    </a:lnTo>
                    <a:lnTo>
                      <a:pt x="0" y="158496"/>
                    </a:lnTo>
                    <a:close/>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5"/>
              <p:cNvSpPr/>
              <p:nvPr/>
            </p:nvSpPr>
            <p:spPr>
              <a:xfrm>
                <a:off x="1883663" y="3134867"/>
                <a:ext cx="96012" cy="146303"/>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5"/>
              <p:cNvSpPr/>
              <p:nvPr/>
            </p:nvSpPr>
            <p:spPr>
              <a:xfrm>
                <a:off x="1711451" y="3038855"/>
                <a:ext cx="208915" cy="271780"/>
              </a:xfrm>
              <a:custGeom>
                <a:rect b="b" l="l" r="r" t="t"/>
                <a:pathLst>
                  <a:path extrusionOk="0" h="271779" w="208914">
                    <a:moveTo>
                      <a:pt x="208787" y="225298"/>
                    </a:moveTo>
                    <a:lnTo>
                      <a:pt x="146050" y="271272"/>
                    </a:lnTo>
                    <a:lnTo>
                      <a:pt x="62737" y="247523"/>
                    </a:lnTo>
                    <a:lnTo>
                      <a:pt x="21843" y="180848"/>
                    </a:lnTo>
                    <a:lnTo>
                      <a:pt x="0" y="112649"/>
                    </a:lnTo>
                    <a:lnTo>
                      <a:pt x="62737" y="44450"/>
                    </a:lnTo>
                    <a:lnTo>
                      <a:pt x="125603"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5"/>
              <p:cNvSpPr/>
              <p:nvPr/>
            </p:nvSpPr>
            <p:spPr>
              <a:xfrm>
                <a:off x="2505455" y="3105911"/>
                <a:ext cx="187960" cy="135890"/>
              </a:xfrm>
              <a:custGeom>
                <a:rect b="b" l="l" r="r" t="t"/>
                <a:pathLst>
                  <a:path extrusionOk="0" h="135889" w="187960">
                    <a:moveTo>
                      <a:pt x="187451" y="0"/>
                    </a:moveTo>
                    <a:lnTo>
                      <a:pt x="0" y="0"/>
                    </a:lnTo>
                    <a:lnTo>
                      <a:pt x="0" y="135636"/>
                    </a:lnTo>
                    <a:lnTo>
                      <a:pt x="187451" y="135636"/>
                    </a:lnTo>
                    <a:lnTo>
                      <a:pt x="187451"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5"/>
              <p:cNvSpPr/>
              <p:nvPr/>
            </p:nvSpPr>
            <p:spPr>
              <a:xfrm>
                <a:off x="2505455" y="3105911"/>
                <a:ext cx="207645" cy="158750"/>
              </a:xfrm>
              <a:custGeom>
                <a:rect b="b" l="l" r="r" t="t"/>
                <a:pathLst>
                  <a:path extrusionOk="0" h="158750" w="207644">
                    <a:moveTo>
                      <a:pt x="0" y="158496"/>
                    </a:moveTo>
                    <a:lnTo>
                      <a:pt x="207263" y="158496"/>
                    </a:lnTo>
                    <a:lnTo>
                      <a:pt x="207263" y="0"/>
                    </a:lnTo>
                    <a:lnTo>
                      <a:pt x="0" y="0"/>
                    </a:lnTo>
                    <a:lnTo>
                      <a:pt x="0" y="158496"/>
                    </a:lnTo>
                    <a:close/>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5"/>
              <p:cNvSpPr/>
              <p:nvPr/>
            </p:nvSpPr>
            <p:spPr>
              <a:xfrm>
                <a:off x="2900172" y="3105911"/>
                <a:ext cx="187960" cy="135890"/>
              </a:xfrm>
              <a:custGeom>
                <a:rect b="b" l="l" r="r" t="t"/>
                <a:pathLst>
                  <a:path extrusionOk="0" h="135889" w="187960">
                    <a:moveTo>
                      <a:pt x="187451" y="0"/>
                    </a:moveTo>
                    <a:lnTo>
                      <a:pt x="0" y="0"/>
                    </a:lnTo>
                    <a:lnTo>
                      <a:pt x="0" y="135636"/>
                    </a:lnTo>
                    <a:lnTo>
                      <a:pt x="187451" y="135636"/>
                    </a:lnTo>
                    <a:lnTo>
                      <a:pt x="187451"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5"/>
              <p:cNvSpPr/>
              <p:nvPr/>
            </p:nvSpPr>
            <p:spPr>
              <a:xfrm>
                <a:off x="2900172" y="3105911"/>
                <a:ext cx="208915" cy="158750"/>
              </a:xfrm>
              <a:custGeom>
                <a:rect b="b" l="l" r="r" t="t"/>
                <a:pathLst>
                  <a:path extrusionOk="0" h="158750" w="208914">
                    <a:moveTo>
                      <a:pt x="0" y="158496"/>
                    </a:moveTo>
                    <a:lnTo>
                      <a:pt x="208787" y="158496"/>
                    </a:lnTo>
                    <a:lnTo>
                      <a:pt x="208787" y="0"/>
                    </a:lnTo>
                    <a:lnTo>
                      <a:pt x="0" y="0"/>
                    </a:lnTo>
                    <a:lnTo>
                      <a:pt x="0" y="158496"/>
                    </a:lnTo>
                    <a:close/>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5"/>
              <p:cNvSpPr/>
              <p:nvPr/>
            </p:nvSpPr>
            <p:spPr>
              <a:xfrm>
                <a:off x="5448299" y="3337559"/>
                <a:ext cx="201167" cy="123443"/>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5"/>
              <p:cNvSpPr/>
              <p:nvPr/>
            </p:nvSpPr>
            <p:spPr>
              <a:xfrm>
                <a:off x="3589019" y="3172967"/>
                <a:ext cx="1876425" cy="226060"/>
              </a:xfrm>
              <a:custGeom>
                <a:rect b="b" l="l" r="r" t="t"/>
                <a:pathLst>
                  <a:path extrusionOk="0" h="226060" w="1876425">
                    <a:moveTo>
                      <a:pt x="0" y="0"/>
                    </a:moveTo>
                    <a:lnTo>
                      <a:pt x="1876043" y="225552"/>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15"/>
              <p:cNvSpPr/>
              <p:nvPr/>
            </p:nvSpPr>
            <p:spPr>
              <a:xfrm>
                <a:off x="2279903" y="3112007"/>
                <a:ext cx="201167" cy="100583"/>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15"/>
              <p:cNvSpPr/>
              <p:nvPr/>
            </p:nvSpPr>
            <p:spPr>
              <a:xfrm>
                <a:off x="2676144" y="3112007"/>
                <a:ext cx="199644" cy="100583"/>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0" name="Google Shape;330;p15"/>
            <p:cNvSpPr txBox="1"/>
            <p:nvPr/>
          </p:nvSpPr>
          <p:spPr>
            <a:xfrm>
              <a:off x="5098161" y="2172461"/>
              <a:ext cx="1548765" cy="457200"/>
            </a:xfrm>
            <a:prstGeom prst="rect">
              <a:avLst/>
            </a:prstGeom>
            <a:noFill/>
            <a:ln>
              <a:noFill/>
            </a:ln>
          </p:spPr>
          <p:txBody>
            <a:bodyPr anchorCtr="0" anchor="t" bIns="0" lIns="0" spcFirstLastPara="1" rIns="0" wrap="square" tIns="40625">
              <a:spAutoFit/>
            </a:bodyPr>
            <a:lstStyle/>
            <a:p>
              <a:pPr indent="0" lvl="0" marL="12700" marR="5080" rtl="0" algn="l">
                <a:lnSpc>
                  <a:spcPct val="106666"/>
                </a:lnSpc>
                <a:spcBef>
                  <a:spcPts val="0"/>
                </a:spcBef>
                <a:spcAft>
                  <a:spcPts val="0"/>
                </a:spcAft>
                <a:buNone/>
              </a:pPr>
              <a:r>
                <a:rPr lang="en-US" sz="1500">
                  <a:solidFill>
                    <a:schemeClr val="dk1"/>
                  </a:solidFill>
                  <a:latin typeface="Arial"/>
                  <a:ea typeface="Arial"/>
                  <a:cs typeface="Arial"/>
                  <a:sym typeface="Arial"/>
                </a:rPr>
                <a:t>Thread 2 makes  requests to server</a:t>
              </a:r>
              <a:endParaRPr sz="1500">
                <a:solidFill>
                  <a:schemeClr val="dk1"/>
                </a:solidFill>
                <a:latin typeface="Arial"/>
                <a:ea typeface="Arial"/>
                <a:cs typeface="Arial"/>
                <a:sym typeface="Arial"/>
              </a:endParaRPr>
            </a:p>
          </p:txBody>
        </p:sp>
        <p:sp>
          <p:nvSpPr>
            <p:cNvPr id="331" name="Google Shape;331;p15"/>
            <p:cNvSpPr txBox="1"/>
            <p:nvPr/>
          </p:nvSpPr>
          <p:spPr>
            <a:xfrm>
              <a:off x="1982826" y="2899664"/>
              <a:ext cx="876935" cy="684530"/>
            </a:xfrm>
            <a:prstGeom prst="rect">
              <a:avLst/>
            </a:prstGeom>
            <a:noFill/>
            <a:ln>
              <a:noFill/>
            </a:ln>
          </p:spPr>
          <p:txBody>
            <a:bodyPr anchorCtr="0" anchor="t" bIns="0" lIns="0" spcFirstLastPara="1" rIns="0" wrap="square" tIns="26025">
              <a:spAutoFit/>
            </a:bodyPr>
            <a:lstStyle/>
            <a:p>
              <a:pPr indent="0" lvl="0" marL="12700" marR="5080" rtl="0" algn="l">
                <a:lnSpc>
                  <a:spcPct val="94100"/>
                </a:lnSpc>
                <a:spcBef>
                  <a:spcPts val="0"/>
                </a:spcBef>
                <a:spcAft>
                  <a:spcPts val="0"/>
                </a:spcAft>
                <a:buNone/>
              </a:pPr>
              <a:r>
                <a:rPr lang="en-US" sz="1500">
                  <a:solidFill>
                    <a:schemeClr val="dk1"/>
                  </a:solidFill>
                  <a:latin typeface="Arial"/>
                  <a:ea typeface="Arial"/>
                  <a:cs typeface="Arial"/>
                  <a:sym typeface="Arial"/>
                </a:rPr>
                <a:t>Thread 1  generates  results</a:t>
              </a:r>
              <a:endParaRPr/>
            </a:p>
          </p:txBody>
        </p:sp>
        <p:grpSp>
          <p:nvGrpSpPr>
            <p:cNvPr id="332" name="Google Shape;332;p15"/>
            <p:cNvGrpSpPr/>
            <p:nvPr/>
          </p:nvGrpSpPr>
          <p:grpSpPr>
            <a:xfrm>
              <a:off x="2884171" y="2586989"/>
              <a:ext cx="4266438" cy="1806702"/>
              <a:chOff x="1360170" y="2586989"/>
              <a:chExt cx="4266438" cy="1806702"/>
            </a:xfrm>
          </p:grpSpPr>
          <p:sp>
            <p:nvSpPr>
              <p:cNvPr id="333" name="Google Shape;333;p15"/>
              <p:cNvSpPr/>
              <p:nvPr/>
            </p:nvSpPr>
            <p:spPr>
              <a:xfrm>
                <a:off x="1360170" y="2586989"/>
                <a:ext cx="2395855" cy="542925"/>
              </a:xfrm>
              <a:custGeom>
                <a:rect b="b" l="l" r="r" t="t"/>
                <a:pathLst>
                  <a:path extrusionOk="0" h="542925" w="2395854">
                    <a:moveTo>
                      <a:pt x="0" y="452627"/>
                    </a:moveTo>
                    <a:lnTo>
                      <a:pt x="312419" y="542544"/>
                    </a:lnTo>
                  </a:path>
                  <a:path extrusionOk="0" h="542925" w="2395854">
                    <a:moveTo>
                      <a:pt x="2083308" y="429768"/>
                    </a:moveTo>
                    <a:lnTo>
                      <a:pt x="2395728" y="0"/>
                    </a:lnTo>
                  </a:path>
                </a:pathLst>
              </a:custGeom>
              <a:noFill/>
              <a:ln cap="flat" cmpd="sng" w="19800">
                <a:solidFill>
                  <a:srgbClr val="FF33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5"/>
              <p:cNvSpPr/>
              <p:nvPr/>
            </p:nvSpPr>
            <p:spPr>
              <a:xfrm>
                <a:off x="5448300" y="3496055"/>
                <a:ext cx="178308" cy="123443"/>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15"/>
              <p:cNvSpPr/>
              <p:nvPr/>
            </p:nvSpPr>
            <p:spPr>
              <a:xfrm>
                <a:off x="4902707" y="3557015"/>
                <a:ext cx="542925" cy="135890"/>
              </a:xfrm>
              <a:custGeom>
                <a:rect b="b" l="l" r="r" t="t"/>
                <a:pathLst>
                  <a:path extrusionOk="0" h="135889" w="542925">
                    <a:moveTo>
                      <a:pt x="0" y="135636"/>
                    </a:moveTo>
                    <a:lnTo>
                      <a:pt x="542543" y="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5"/>
              <p:cNvSpPr/>
              <p:nvPr/>
            </p:nvSpPr>
            <p:spPr>
              <a:xfrm>
                <a:off x="5465063" y="3692651"/>
                <a:ext cx="144780" cy="137160"/>
              </a:xfrm>
              <a:custGeom>
                <a:rect b="b" l="l" r="r" t="t"/>
                <a:pathLst>
                  <a:path extrusionOk="0" h="137160" w="144779">
                    <a:moveTo>
                      <a:pt x="144780" y="0"/>
                    </a:moveTo>
                    <a:lnTo>
                      <a:pt x="0" y="68580"/>
                    </a:lnTo>
                    <a:lnTo>
                      <a:pt x="20447" y="114808"/>
                    </a:lnTo>
                    <a:lnTo>
                      <a:pt x="62864" y="137160"/>
                    </a:lnTo>
                    <a:lnTo>
                      <a:pt x="144780"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5"/>
              <p:cNvSpPr/>
              <p:nvPr/>
            </p:nvSpPr>
            <p:spPr>
              <a:xfrm>
                <a:off x="5297424" y="3692651"/>
                <a:ext cx="312420" cy="294640"/>
              </a:xfrm>
              <a:custGeom>
                <a:rect b="b" l="l" r="r" t="t"/>
                <a:pathLst>
                  <a:path extrusionOk="0" h="294639" w="312420">
                    <a:moveTo>
                      <a:pt x="188087" y="114808"/>
                    </a:moveTo>
                    <a:lnTo>
                      <a:pt x="167639" y="68580"/>
                    </a:lnTo>
                    <a:lnTo>
                      <a:pt x="312420" y="0"/>
                    </a:lnTo>
                    <a:lnTo>
                      <a:pt x="230504" y="137160"/>
                    </a:lnTo>
                    <a:lnTo>
                      <a:pt x="188087" y="114808"/>
                    </a:lnTo>
                    <a:close/>
                  </a:path>
                  <a:path extrusionOk="0" h="294639" w="312420">
                    <a:moveTo>
                      <a:pt x="0" y="294131"/>
                    </a:moveTo>
                    <a:lnTo>
                      <a:pt x="188975" y="11430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5"/>
              <p:cNvSpPr/>
              <p:nvPr/>
            </p:nvSpPr>
            <p:spPr>
              <a:xfrm>
                <a:off x="5152644" y="3625595"/>
                <a:ext cx="41275" cy="1905"/>
              </a:xfrm>
              <a:custGeom>
                <a:rect b="b" l="l" r="r" t="t"/>
                <a:pathLst>
                  <a:path extrusionOk="0" h="1904" w="41275">
                    <a:moveTo>
                      <a:pt x="-16763" y="761"/>
                    </a:moveTo>
                    <a:lnTo>
                      <a:pt x="57911" y="761"/>
                    </a:lnTo>
                  </a:path>
                </a:pathLst>
              </a:custGeom>
              <a:noFill/>
              <a:ln cap="flat" cmpd="sng" w="35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15"/>
              <p:cNvSpPr/>
              <p:nvPr/>
            </p:nvSpPr>
            <p:spPr>
              <a:xfrm>
                <a:off x="5045963" y="3648455"/>
                <a:ext cx="22860" cy="1905"/>
              </a:xfrm>
              <a:custGeom>
                <a:rect b="b" l="l" r="r" t="t"/>
                <a:pathLst>
                  <a:path extrusionOk="0" h="1904" w="22860">
                    <a:moveTo>
                      <a:pt x="22860" y="0"/>
                    </a:moveTo>
                    <a:lnTo>
                      <a:pt x="0" y="1524"/>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5"/>
              <p:cNvSpPr/>
              <p:nvPr/>
            </p:nvSpPr>
            <p:spPr>
              <a:xfrm>
                <a:off x="4922519" y="3669791"/>
                <a:ext cx="41275" cy="1905"/>
              </a:xfrm>
              <a:custGeom>
                <a:rect b="b" l="l" r="r" t="t"/>
                <a:pathLst>
                  <a:path extrusionOk="0" h="1904" w="41275">
                    <a:moveTo>
                      <a:pt x="-16763" y="761"/>
                    </a:moveTo>
                    <a:lnTo>
                      <a:pt x="57911" y="761"/>
                    </a:lnTo>
                  </a:path>
                </a:pathLst>
              </a:custGeom>
              <a:noFill/>
              <a:ln cap="flat" cmpd="sng" w="35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15"/>
              <p:cNvSpPr/>
              <p:nvPr/>
            </p:nvSpPr>
            <p:spPr>
              <a:xfrm>
                <a:off x="4715256" y="3692651"/>
                <a:ext cx="666115" cy="701040"/>
              </a:xfrm>
              <a:custGeom>
                <a:rect b="b" l="l" r="r" t="t"/>
                <a:pathLst>
                  <a:path extrusionOk="0" h="701039" w="666114">
                    <a:moveTo>
                      <a:pt x="123444" y="0"/>
                    </a:moveTo>
                    <a:lnTo>
                      <a:pt x="102108" y="1524"/>
                    </a:lnTo>
                  </a:path>
                  <a:path extrusionOk="0" h="701039" w="666114">
                    <a:moveTo>
                      <a:pt x="19812" y="24384"/>
                    </a:moveTo>
                    <a:lnTo>
                      <a:pt x="0" y="25908"/>
                    </a:lnTo>
                  </a:path>
                  <a:path extrusionOk="0" h="701039" w="666114">
                    <a:moveTo>
                      <a:pt x="665988" y="202692"/>
                    </a:moveTo>
                    <a:lnTo>
                      <a:pt x="646176" y="227075"/>
                    </a:lnTo>
                  </a:path>
                  <a:path extrusionOk="0" h="701039" w="666114">
                    <a:moveTo>
                      <a:pt x="582168" y="294131"/>
                    </a:moveTo>
                    <a:lnTo>
                      <a:pt x="562356" y="295656"/>
                    </a:lnTo>
                  </a:path>
                  <a:path extrusionOk="0" h="701039" w="666114">
                    <a:moveTo>
                      <a:pt x="499872" y="361188"/>
                    </a:moveTo>
                    <a:lnTo>
                      <a:pt x="478536" y="384048"/>
                    </a:lnTo>
                  </a:path>
                  <a:path extrusionOk="0" h="701039" w="666114">
                    <a:moveTo>
                      <a:pt x="416052" y="452628"/>
                    </a:moveTo>
                    <a:lnTo>
                      <a:pt x="394716" y="473964"/>
                    </a:lnTo>
                  </a:path>
                  <a:path extrusionOk="0" h="701039" w="666114">
                    <a:moveTo>
                      <a:pt x="330708" y="521208"/>
                    </a:moveTo>
                    <a:lnTo>
                      <a:pt x="312420" y="542544"/>
                    </a:lnTo>
                  </a:path>
                  <a:path extrusionOk="0" h="701039" w="666114">
                    <a:moveTo>
                      <a:pt x="248412" y="611124"/>
                    </a:moveTo>
                    <a:lnTo>
                      <a:pt x="228600" y="633984"/>
                    </a:lnTo>
                  </a:path>
                  <a:path extrusionOk="0" h="701039" w="666114">
                    <a:moveTo>
                      <a:pt x="166116" y="678180"/>
                    </a:moveTo>
                    <a:lnTo>
                      <a:pt x="144780" y="701040"/>
                    </a:lnTo>
                  </a:path>
                </a:pathLst>
              </a:custGeom>
              <a:noFill/>
              <a:ln cap="flat" cmpd="sng" w="33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2" name="Google Shape;342;p15"/>
            <p:cNvSpPr txBox="1"/>
            <p:nvPr/>
          </p:nvSpPr>
          <p:spPr>
            <a:xfrm>
              <a:off x="5984241" y="3823842"/>
              <a:ext cx="833119" cy="2436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500">
                  <a:solidFill>
                    <a:schemeClr val="dk1"/>
                  </a:solidFill>
                  <a:latin typeface="Arial"/>
                  <a:ea typeface="Arial"/>
                  <a:cs typeface="Arial"/>
                  <a:sym typeface="Arial"/>
                </a:rPr>
                <a:t>Requests</a:t>
              </a:r>
              <a:endParaRPr sz="1500">
                <a:solidFill>
                  <a:schemeClr val="dk1"/>
                </a:solidFill>
                <a:latin typeface="Arial"/>
                <a:ea typeface="Arial"/>
                <a:cs typeface="Arial"/>
                <a:sym typeface="Arial"/>
              </a:endParaRPr>
            </a:p>
          </p:txBody>
        </p:sp>
        <p:sp>
          <p:nvSpPr>
            <p:cNvPr id="343" name="Google Shape;343;p15"/>
            <p:cNvSpPr/>
            <p:nvPr/>
          </p:nvSpPr>
          <p:spPr>
            <a:xfrm>
              <a:off x="7217664" y="3241548"/>
              <a:ext cx="210820" cy="451484"/>
            </a:xfrm>
            <a:custGeom>
              <a:rect b="b" l="l" r="r" t="t"/>
              <a:pathLst>
                <a:path extrusionOk="0" h="451485" w="210820">
                  <a:moveTo>
                    <a:pt x="210312" y="0"/>
                  </a:moveTo>
                  <a:lnTo>
                    <a:pt x="0" y="0"/>
                  </a:lnTo>
                  <a:lnTo>
                    <a:pt x="0" y="451103"/>
                  </a:lnTo>
                  <a:lnTo>
                    <a:pt x="210312" y="451103"/>
                  </a:lnTo>
                  <a:lnTo>
                    <a:pt x="210312"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15"/>
            <p:cNvSpPr txBox="1"/>
            <p:nvPr/>
          </p:nvSpPr>
          <p:spPr>
            <a:xfrm>
              <a:off x="6636766" y="2602738"/>
              <a:ext cx="851535" cy="457200"/>
            </a:xfrm>
            <a:prstGeom prst="rect">
              <a:avLst/>
            </a:prstGeom>
            <a:noFill/>
            <a:ln>
              <a:noFill/>
            </a:ln>
          </p:spPr>
          <p:txBody>
            <a:bodyPr anchorCtr="0" anchor="t" bIns="0" lIns="0" spcFirstLastPara="1" rIns="0" wrap="square" tIns="12700">
              <a:spAutoFit/>
            </a:bodyPr>
            <a:lstStyle/>
            <a:p>
              <a:pPr indent="0" lvl="0" marL="12700" marR="0" rtl="0" algn="l">
                <a:lnSpc>
                  <a:spcPct val="113333"/>
                </a:lnSpc>
                <a:spcBef>
                  <a:spcPts val="0"/>
                </a:spcBef>
                <a:spcAft>
                  <a:spcPts val="0"/>
                </a:spcAft>
                <a:buNone/>
              </a:pPr>
              <a:r>
                <a:rPr lang="en-US" sz="1500">
                  <a:solidFill>
                    <a:schemeClr val="dk1"/>
                  </a:solidFill>
                  <a:latin typeface="Arial"/>
                  <a:ea typeface="Arial"/>
                  <a:cs typeface="Arial"/>
                  <a:sym typeface="Arial"/>
                </a:rPr>
                <a:t>Receipt &amp;</a:t>
              </a:r>
              <a:endParaRPr sz="1500">
                <a:solidFill>
                  <a:schemeClr val="dk1"/>
                </a:solidFill>
                <a:latin typeface="Arial"/>
                <a:ea typeface="Arial"/>
                <a:cs typeface="Arial"/>
                <a:sym typeface="Arial"/>
              </a:endParaRPr>
            </a:p>
            <a:p>
              <a:pPr indent="0" lvl="0" marL="12700" marR="0" rtl="0" algn="l">
                <a:lnSpc>
                  <a:spcPct val="113333"/>
                </a:lnSpc>
                <a:spcBef>
                  <a:spcPts val="0"/>
                </a:spcBef>
                <a:spcAft>
                  <a:spcPts val="0"/>
                </a:spcAft>
                <a:buNone/>
              </a:pPr>
              <a:r>
                <a:rPr lang="en-US" sz="1500">
                  <a:solidFill>
                    <a:schemeClr val="dk1"/>
                  </a:solidFill>
                  <a:latin typeface="Arial"/>
                  <a:ea typeface="Arial"/>
                  <a:cs typeface="Arial"/>
                  <a:sym typeface="Arial"/>
                </a:rPr>
                <a:t>queuing</a:t>
              </a:r>
              <a:endParaRPr sz="1500">
                <a:solidFill>
                  <a:schemeClr val="dk1"/>
                </a:solidFill>
                <a:latin typeface="Arial"/>
                <a:ea typeface="Arial"/>
                <a:cs typeface="Arial"/>
                <a:sym typeface="Arial"/>
              </a:endParaRPr>
            </a:p>
          </p:txBody>
        </p:sp>
      </p:grpSp>
      <p:sp>
        <p:nvSpPr>
          <p:cNvPr id="345" name="Google Shape;345;p15"/>
          <p:cNvSpPr txBox="1"/>
          <p:nvPr/>
        </p:nvSpPr>
        <p:spPr>
          <a:xfrm>
            <a:off x="1331418" y="4286862"/>
            <a:ext cx="9875418"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000">
                <a:solidFill>
                  <a:srgbClr val="1B1B1B"/>
                </a:solidFill>
                <a:latin typeface="Calibri"/>
                <a:ea typeface="Calibri"/>
                <a:cs typeface="Calibri"/>
                <a:sym typeface="Calibri"/>
              </a:rPr>
              <a:t>=&gt; Chức năng chính của 1 server đa luồng:</a:t>
            </a:r>
            <a:endParaRPr/>
          </a:p>
          <a:p>
            <a:pPr indent="-342900" lvl="1" marL="80010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1 luồng có nhiệm vụ thu nhận request từ client và gửi vào các luồng xử lý, nếu không có đủ luồng xử lý sẽ xếp request vào hàng đợi</a:t>
            </a:r>
            <a:endParaRPr b="0" i="0" sz="2000" u="none" cap="none" strike="noStrike">
              <a:solidFill>
                <a:srgbClr val="1B1B1B"/>
              </a:solidFill>
              <a:latin typeface="Calibri"/>
              <a:ea typeface="Calibri"/>
              <a:cs typeface="Calibri"/>
              <a:sym typeface="Calibri"/>
            </a:endParaRPr>
          </a:p>
          <a:p>
            <a:pPr indent="-342900" lvl="1" marL="80010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Xử lý request do luồng xử lý request đảm nhiệm, luồng này xử lý các request bao gồm cả những module vào ra</a:t>
            </a:r>
            <a:endParaRPr b="0" i="0" sz="2000" u="none" cap="none" strike="noStrike">
              <a:solidFill>
                <a:srgbClr val="1B1B1B"/>
              </a:solidFill>
              <a:latin typeface="Calibri"/>
              <a:ea typeface="Calibri"/>
              <a:cs typeface="Calibri"/>
              <a:sym typeface="Calibri"/>
            </a:endParaRPr>
          </a:p>
          <a:p>
            <a:pPr indent="-342900" lvl="1" marL="800100" marR="0" rtl="0" algn="just">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Gửi kết quả cho client</a:t>
            </a:r>
            <a:endParaRPr/>
          </a:p>
        </p:txBody>
      </p:sp>
      <p:sp>
        <p:nvSpPr>
          <p:cNvPr id="346" name="Google Shape;346;p15"/>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 name="Google Shape;347;p15"/>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LUỒNG TRONG HPT</a:t>
            </a:r>
            <a:endParaRPr/>
          </a:p>
        </p:txBody>
      </p:sp>
      <p:sp>
        <p:nvSpPr>
          <p:cNvPr id="348" name="Google Shape;348;p15"/>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 name="Google Shape;349;p15"/>
          <p:cNvSpPr txBox="1"/>
          <p:nvPr/>
        </p:nvSpPr>
        <p:spPr>
          <a:xfrm>
            <a:off x="860103" y="1505004"/>
            <a:ext cx="610334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1B1B1B"/>
                </a:solidFill>
                <a:latin typeface="Open Sans"/>
                <a:ea typeface="Open Sans"/>
                <a:cs typeface="Open Sans"/>
                <a:sym typeface="Open Sans"/>
              </a:rPr>
              <a:t>Client và server đa luồng</a:t>
            </a:r>
            <a:endParaRPr b="1" i="0" sz="1800">
              <a:solidFill>
                <a:srgbClr val="1B1B1B"/>
              </a:solidFill>
              <a:latin typeface="Open Sans"/>
              <a:ea typeface="Open Sans"/>
              <a:cs typeface="Open Sans"/>
              <a:sym typeface="Open Sans"/>
            </a:endParaRPr>
          </a:p>
          <a:p>
            <a:pPr indent="0" lvl="0" marL="0" marR="0" rtl="0" algn="l">
              <a:spcBef>
                <a:spcPts val="0"/>
              </a:spcBef>
              <a:spcAft>
                <a:spcPts val="0"/>
              </a:spcAft>
              <a:buNone/>
            </a:pPr>
            <a:br>
              <a:rPr b="0" i="0" lang="en-US" sz="1800">
                <a:solidFill>
                  <a:srgbClr val="1B1B1B"/>
                </a:solidFill>
                <a:latin typeface="Open Sans"/>
                <a:ea typeface="Open Sans"/>
                <a:cs typeface="Open Sans"/>
                <a:sym typeface="Open Sans"/>
              </a:rPr>
            </a:b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6"/>
          <p:cNvSpPr txBox="1"/>
          <p:nvPr/>
        </p:nvSpPr>
        <p:spPr>
          <a:xfrm>
            <a:off x="990600" y="1676400"/>
            <a:ext cx="7010400" cy="382797"/>
          </a:xfrm>
          <a:prstGeom prst="rect">
            <a:avLst/>
          </a:prstGeom>
          <a:noFill/>
          <a:ln>
            <a:noFill/>
          </a:ln>
        </p:spPr>
        <p:txBody>
          <a:bodyPr anchorCtr="0" anchor="t" bIns="0" lIns="0" spcFirstLastPara="1" rIns="0" wrap="square" tIns="13325">
            <a:spAutoFit/>
          </a:bodyPr>
          <a:lstStyle/>
          <a:p>
            <a:pPr indent="-320675" lvl="0" marL="332740" marR="0" rtl="0" algn="l">
              <a:spcBef>
                <a:spcPts val="0"/>
              </a:spcBef>
              <a:spcAft>
                <a:spcPts val="0"/>
              </a:spcAft>
              <a:buClr>
                <a:srgbClr val="DD8046"/>
              </a:buClr>
              <a:buSzPts val="1448"/>
              <a:buFont typeface="Noto Sans Symbols"/>
              <a:buChar char="◻"/>
            </a:pPr>
            <a:r>
              <a:rPr lang="en-US" sz="2400">
                <a:solidFill>
                  <a:schemeClr val="dk1"/>
                </a:solidFill>
                <a:latin typeface="Calibri"/>
                <a:ea typeface="Calibri"/>
                <a:cs typeface="Calibri"/>
                <a:sym typeface="Calibri"/>
              </a:rPr>
              <a:t>Mô hình server có điều phối (dispatcher)</a:t>
            </a:r>
            <a:endParaRPr sz="2400">
              <a:solidFill>
                <a:schemeClr val="dk1"/>
              </a:solidFill>
              <a:latin typeface="Calibri"/>
              <a:ea typeface="Calibri"/>
              <a:cs typeface="Calibri"/>
              <a:sym typeface="Calibri"/>
            </a:endParaRPr>
          </a:p>
        </p:txBody>
      </p:sp>
      <p:sp>
        <p:nvSpPr>
          <p:cNvPr id="355" name="Google Shape;355;p16"/>
          <p:cNvSpPr/>
          <p:nvPr/>
        </p:nvSpPr>
        <p:spPr>
          <a:xfrm>
            <a:off x="6477000" y="2059197"/>
            <a:ext cx="5032248" cy="269555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16"/>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 name="Google Shape;357;p16"/>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SERVER TRONG HPT</a:t>
            </a:r>
            <a:endParaRPr/>
          </a:p>
        </p:txBody>
      </p:sp>
      <p:sp>
        <p:nvSpPr>
          <p:cNvPr id="358" name="Google Shape;358;p16"/>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p16"/>
          <p:cNvSpPr txBox="1"/>
          <p:nvPr/>
        </p:nvSpPr>
        <p:spPr>
          <a:xfrm>
            <a:off x="1071096" y="2383911"/>
            <a:ext cx="5405904" cy="2585323"/>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B1B1B"/>
              </a:buClr>
              <a:buSzPts val="1800"/>
              <a:buFont typeface="Arial"/>
              <a:buChar char="•"/>
            </a:pPr>
            <a:r>
              <a:rPr b="0" i="0" lang="en-US" sz="1800">
                <a:solidFill>
                  <a:srgbClr val="1B1B1B"/>
                </a:solidFill>
                <a:latin typeface="Calibri"/>
                <a:ea typeface="Calibri"/>
                <a:cs typeface="Calibri"/>
                <a:sym typeface="Calibri"/>
              </a:rPr>
              <a:t>B</a:t>
            </a:r>
            <a:r>
              <a:rPr lang="en-US" sz="1800">
                <a:solidFill>
                  <a:srgbClr val="1B1B1B"/>
                </a:solidFill>
                <a:latin typeface="Calibri"/>
                <a:ea typeface="Calibri"/>
                <a:cs typeface="Calibri"/>
                <a:sym typeface="Calibri"/>
              </a:rPr>
              <a:t>ên cạnh</a:t>
            </a:r>
            <a:r>
              <a:rPr b="0" i="0" lang="en-US" sz="1800">
                <a:solidFill>
                  <a:srgbClr val="1B1B1B"/>
                </a:solidFill>
                <a:latin typeface="Calibri"/>
                <a:ea typeface="Calibri"/>
                <a:cs typeface="Calibri"/>
                <a:sym typeface="Calibri"/>
              </a:rPr>
              <a:t> các luồng để xử lý các công việc, tiến trình server có thêm 1 luồng chuyên dụng đảm nhiệm chức năng điều phối các request gọi là Dispatcher.</a:t>
            </a:r>
            <a:endParaRPr b="0" i="0" sz="1800">
              <a:solidFill>
                <a:srgbClr val="1B1B1B"/>
              </a:solidFill>
              <a:latin typeface="Calibri"/>
              <a:ea typeface="Calibri"/>
              <a:cs typeface="Calibri"/>
              <a:sym typeface="Calibri"/>
            </a:endParaRPr>
          </a:p>
          <a:p>
            <a:pPr indent="-285750" lvl="0" marL="285750" marR="0" rtl="0" algn="just">
              <a:spcBef>
                <a:spcPts val="0"/>
              </a:spcBef>
              <a:spcAft>
                <a:spcPts val="0"/>
              </a:spcAft>
              <a:buClr>
                <a:srgbClr val="1B1B1B"/>
              </a:buClr>
              <a:buSzPts val="1800"/>
              <a:buFont typeface="Arial"/>
              <a:buChar char="•"/>
            </a:pPr>
            <a:r>
              <a:rPr b="0" i="0" lang="en-US" sz="1800">
                <a:solidFill>
                  <a:srgbClr val="1B1B1B"/>
                </a:solidFill>
                <a:latin typeface="Calibri"/>
                <a:ea typeface="Calibri"/>
                <a:cs typeface="Calibri"/>
                <a:sym typeface="Calibri"/>
              </a:rPr>
              <a:t>Mỗi khi nhận được request luồng này sẽ phân tích request đó và gửi đến cho luồng phù hợp để xử lý</a:t>
            </a:r>
            <a:endParaRPr b="0" i="0" sz="1800">
              <a:solidFill>
                <a:srgbClr val="1B1B1B"/>
              </a:solidFill>
              <a:latin typeface="Calibri"/>
              <a:ea typeface="Calibri"/>
              <a:cs typeface="Calibri"/>
              <a:sym typeface="Calibri"/>
            </a:endParaRPr>
          </a:p>
          <a:p>
            <a:pPr indent="-171450" lvl="0" marL="285750" marR="0" rtl="0" algn="just">
              <a:spcBef>
                <a:spcPts val="0"/>
              </a:spcBef>
              <a:spcAft>
                <a:spcPts val="0"/>
              </a:spcAft>
              <a:buClr>
                <a:schemeClr val="dk1"/>
              </a:buClr>
              <a:buSzPts val="1800"/>
              <a:buFont typeface="Arial"/>
              <a:buNone/>
            </a:pPr>
            <a:r>
              <a:t/>
            </a:r>
            <a:endParaRPr sz="1800">
              <a:solidFill>
                <a:srgbClr val="1B1B1B"/>
              </a:solidFill>
              <a:latin typeface="Calibri"/>
              <a:ea typeface="Calibri"/>
              <a:cs typeface="Calibri"/>
              <a:sym typeface="Calibri"/>
            </a:endParaRPr>
          </a:p>
          <a:p>
            <a:pPr indent="0" lvl="0" marL="0" marR="0" rtl="0" algn="just">
              <a:spcBef>
                <a:spcPts val="0"/>
              </a:spcBef>
              <a:spcAft>
                <a:spcPts val="0"/>
              </a:spcAft>
              <a:buNone/>
            </a:pPr>
            <a:r>
              <a:rPr lang="en-US" sz="1800">
                <a:solidFill>
                  <a:srgbClr val="1B1B1B"/>
                </a:solidFill>
                <a:latin typeface="Calibri"/>
                <a:ea typeface="Calibri"/>
                <a:cs typeface="Calibri"/>
                <a:sym typeface="Calibri"/>
              </a:rPr>
              <a:t>=&gt; các luồng hoạt động hiệu quả hơn do mỗi luồng chuyên xử lý các công việc chuyên biệt do luồng điều phối phân loại (</a:t>
            </a:r>
            <a:r>
              <a:rPr b="0" i="0" lang="en-US" sz="1800">
                <a:solidFill>
                  <a:srgbClr val="1B1B1B"/>
                </a:solidFill>
                <a:latin typeface="Calibri"/>
                <a:ea typeface="Calibri"/>
                <a:cs typeface="Calibri"/>
                <a:sym typeface="Calibri"/>
              </a:rPr>
              <a:t>Dispatcher)</a:t>
            </a:r>
            <a:r>
              <a:rPr lang="en-US" sz="1800">
                <a:solidFill>
                  <a:srgbClr val="1B1B1B"/>
                </a:solidFill>
                <a:latin typeface="Calibri"/>
                <a:ea typeface="Calibri"/>
                <a:cs typeface="Calibri"/>
                <a:sym typeface="Calibri"/>
              </a:rPr>
              <a:t> và gửi đến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7"/>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5" name="Google Shape;365;p17"/>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SERVER TRONG HPT</a:t>
            </a:r>
            <a:endParaRPr/>
          </a:p>
        </p:txBody>
      </p:sp>
      <p:sp>
        <p:nvSpPr>
          <p:cNvPr id="366" name="Google Shape;366;p17"/>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67" name="Google Shape;367;p17"/>
          <p:cNvGrpSpPr/>
          <p:nvPr/>
        </p:nvGrpSpPr>
        <p:grpSpPr>
          <a:xfrm>
            <a:off x="2133600" y="1472588"/>
            <a:ext cx="7543186" cy="2362200"/>
            <a:chOff x="1897639" y="2439361"/>
            <a:chExt cx="8548898" cy="2677145"/>
          </a:xfrm>
        </p:grpSpPr>
        <p:grpSp>
          <p:nvGrpSpPr>
            <p:cNvPr id="368" name="Google Shape;368;p17"/>
            <p:cNvGrpSpPr/>
            <p:nvPr/>
          </p:nvGrpSpPr>
          <p:grpSpPr>
            <a:xfrm>
              <a:off x="1897639" y="2450230"/>
              <a:ext cx="8196331" cy="2250440"/>
              <a:chOff x="373638" y="2450230"/>
              <a:chExt cx="8196331" cy="2250440"/>
            </a:xfrm>
          </p:grpSpPr>
          <p:sp>
            <p:nvSpPr>
              <p:cNvPr id="369" name="Google Shape;369;p17"/>
              <p:cNvSpPr/>
              <p:nvPr/>
            </p:nvSpPr>
            <p:spPr>
              <a:xfrm>
                <a:off x="421474" y="2450230"/>
                <a:ext cx="2001520" cy="2250440"/>
              </a:xfrm>
              <a:custGeom>
                <a:rect b="b" l="l" r="r" t="t"/>
                <a:pathLst>
                  <a:path extrusionOk="0" h="2250440" w="2001520">
                    <a:moveTo>
                      <a:pt x="1001659" y="0"/>
                    </a:moveTo>
                    <a:lnTo>
                      <a:pt x="955821" y="1160"/>
                    </a:lnTo>
                    <a:lnTo>
                      <a:pt x="910511" y="4607"/>
                    </a:lnTo>
                    <a:lnTo>
                      <a:pt x="865773" y="10291"/>
                    </a:lnTo>
                    <a:lnTo>
                      <a:pt x="821651" y="18162"/>
                    </a:lnTo>
                    <a:lnTo>
                      <a:pt x="778189" y="28170"/>
                    </a:lnTo>
                    <a:lnTo>
                      <a:pt x="735433" y="40266"/>
                    </a:lnTo>
                    <a:lnTo>
                      <a:pt x="693425" y="54399"/>
                    </a:lnTo>
                    <a:lnTo>
                      <a:pt x="652211" y="70518"/>
                    </a:lnTo>
                    <a:lnTo>
                      <a:pt x="611834" y="88575"/>
                    </a:lnTo>
                    <a:lnTo>
                      <a:pt x="572339" y="108520"/>
                    </a:lnTo>
                    <a:lnTo>
                      <a:pt x="533770" y="130301"/>
                    </a:lnTo>
                    <a:lnTo>
                      <a:pt x="496172" y="153870"/>
                    </a:lnTo>
                    <a:lnTo>
                      <a:pt x="459588" y="179177"/>
                    </a:lnTo>
                    <a:lnTo>
                      <a:pt x="424063" y="206170"/>
                    </a:lnTo>
                    <a:lnTo>
                      <a:pt x="389641" y="234802"/>
                    </a:lnTo>
                    <a:lnTo>
                      <a:pt x="356367" y="265020"/>
                    </a:lnTo>
                    <a:lnTo>
                      <a:pt x="324284" y="296776"/>
                    </a:lnTo>
                    <a:lnTo>
                      <a:pt x="293437" y="330020"/>
                    </a:lnTo>
                    <a:lnTo>
                      <a:pt x="263871" y="364701"/>
                    </a:lnTo>
                    <a:lnTo>
                      <a:pt x="235629" y="400770"/>
                    </a:lnTo>
                    <a:lnTo>
                      <a:pt x="208755" y="438177"/>
                    </a:lnTo>
                    <a:lnTo>
                      <a:pt x="183295" y="476871"/>
                    </a:lnTo>
                    <a:lnTo>
                      <a:pt x="159292" y="516803"/>
                    </a:lnTo>
                    <a:lnTo>
                      <a:pt x="136790" y="557923"/>
                    </a:lnTo>
                    <a:lnTo>
                      <a:pt x="115834" y="600181"/>
                    </a:lnTo>
                    <a:lnTo>
                      <a:pt x="96468" y="643526"/>
                    </a:lnTo>
                    <a:lnTo>
                      <a:pt x="78737" y="687909"/>
                    </a:lnTo>
                    <a:lnTo>
                      <a:pt x="62684" y="733281"/>
                    </a:lnTo>
                    <a:lnTo>
                      <a:pt x="48354" y="779590"/>
                    </a:lnTo>
                    <a:lnTo>
                      <a:pt x="35791" y="826787"/>
                    </a:lnTo>
                    <a:lnTo>
                      <a:pt x="25039" y="874822"/>
                    </a:lnTo>
                    <a:lnTo>
                      <a:pt x="16143" y="923645"/>
                    </a:lnTo>
                    <a:lnTo>
                      <a:pt x="9146" y="973206"/>
                    </a:lnTo>
                    <a:lnTo>
                      <a:pt x="4094" y="1023456"/>
                    </a:lnTo>
                    <a:lnTo>
                      <a:pt x="1031" y="1074343"/>
                    </a:lnTo>
                    <a:lnTo>
                      <a:pt x="0" y="1125819"/>
                    </a:lnTo>
                    <a:lnTo>
                      <a:pt x="1031" y="1177189"/>
                    </a:lnTo>
                    <a:lnTo>
                      <a:pt x="4094" y="1227974"/>
                    </a:lnTo>
                    <a:lnTo>
                      <a:pt x="9146" y="1278125"/>
                    </a:lnTo>
                    <a:lnTo>
                      <a:pt x="16143" y="1327591"/>
                    </a:lnTo>
                    <a:lnTo>
                      <a:pt x="25039" y="1376323"/>
                    </a:lnTo>
                    <a:lnTo>
                      <a:pt x="35791" y="1424269"/>
                    </a:lnTo>
                    <a:lnTo>
                      <a:pt x="48354" y="1471381"/>
                    </a:lnTo>
                    <a:lnTo>
                      <a:pt x="62684" y="1517609"/>
                    </a:lnTo>
                    <a:lnTo>
                      <a:pt x="78737" y="1562902"/>
                    </a:lnTo>
                    <a:lnTo>
                      <a:pt x="96468" y="1607210"/>
                    </a:lnTo>
                    <a:lnTo>
                      <a:pt x="115834" y="1650483"/>
                    </a:lnTo>
                    <a:lnTo>
                      <a:pt x="136790" y="1692672"/>
                    </a:lnTo>
                    <a:lnTo>
                      <a:pt x="159292" y="1733726"/>
                    </a:lnTo>
                    <a:lnTo>
                      <a:pt x="183295" y="1773596"/>
                    </a:lnTo>
                    <a:lnTo>
                      <a:pt x="208755" y="1812231"/>
                    </a:lnTo>
                    <a:lnTo>
                      <a:pt x="235629" y="1849581"/>
                    </a:lnTo>
                    <a:lnTo>
                      <a:pt x="263871" y="1885597"/>
                    </a:lnTo>
                    <a:lnTo>
                      <a:pt x="293437" y="1920228"/>
                    </a:lnTo>
                    <a:lnTo>
                      <a:pt x="324284" y="1953424"/>
                    </a:lnTo>
                    <a:lnTo>
                      <a:pt x="356367" y="1985136"/>
                    </a:lnTo>
                    <a:lnTo>
                      <a:pt x="389641" y="2015314"/>
                    </a:lnTo>
                    <a:lnTo>
                      <a:pt x="424063" y="2043906"/>
                    </a:lnTo>
                    <a:lnTo>
                      <a:pt x="459588" y="2070865"/>
                    </a:lnTo>
                    <a:lnTo>
                      <a:pt x="496172" y="2096138"/>
                    </a:lnTo>
                    <a:lnTo>
                      <a:pt x="533770" y="2119677"/>
                    </a:lnTo>
                    <a:lnTo>
                      <a:pt x="572339" y="2141431"/>
                    </a:lnTo>
                    <a:lnTo>
                      <a:pt x="611834" y="2161351"/>
                    </a:lnTo>
                    <a:lnTo>
                      <a:pt x="652211" y="2179386"/>
                    </a:lnTo>
                    <a:lnTo>
                      <a:pt x="693425" y="2195487"/>
                    </a:lnTo>
                    <a:lnTo>
                      <a:pt x="735433" y="2209603"/>
                    </a:lnTo>
                    <a:lnTo>
                      <a:pt x="778189" y="2221685"/>
                    </a:lnTo>
                    <a:lnTo>
                      <a:pt x="821651" y="2231682"/>
                    </a:lnTo>
                    <a:lnTo>
                      <a:pt x="865773" y="2239544"/>
                    </a:lnTo>
                    <a:lnTo>
                      <a:pt x="910511" y="2245222"/>
                    </a:lnTo>
                    <a:lnTo>
                      <a:pt x="955821" y="2248666"/>
                    </a:lnTo>
                    <a:lnTo>
                      <a:pt x="1001659" y="2249825"/>
                    </a:lnTo>
                    <a:lnTo>
                      <a:pt x="1047444" y="2248666"/>
                    </a:lnTo>
                    <a:lnTo>
                      <a:pt x="1092696" y="2245222"/>
                    </a:lnTo>
                    <a:lnTo>
                      <a:pt x="1137371" y="2239544"/>
                    </a:lnTo>
                    <a:lnTo>
                      <a:pt x="1181426" y="2231682"/>
                    </a:lnTo>
                    <a:lnTo>
                      <a:pt x="1224817" y="2221685"/>
                    </a:lnTo>
                    <a:lnTo>
                      <a:pt x="1267500" y="2209603"/>
                    </a:lnTo>
                    <a:lnTo>
                      <a:pt x="1309430" y="2195487"/>
                    </a:lnTo>
                    <a:lnTo>
                      <a:pt x="1350565" y="2179386"/>
                    </a:lnTo>
                    <a:lnTo>
                      <a:pt x="1390859" y="2161351"/>
                    </a:lnTo>
                    <a:lnTo>
                      <a:pt x="1430270" y="2141431"/>
                    </a:lnTo>
                    <a:lnTo>
                      <a:pt x="1468754" y="2119677"/>
                    </a:lnTo>
                    <a:lnTo>
                      <a:pt x="1506265" y="2096138"/>
                    </a:lnTo>
                    <a:lnTo>
                      <a:pt x="1542762" y="2070865"/>
                    </a:lnTo>
                    <a:lnTo>
                      <a:pt x="1578199" y="2043906"/>
                    </a:lnTo>
                    <a:lnTo>
                      <a:pt x="1612533" y="2015314"/>
                    </a:lnTo>
                    <a:lnTo>
                      <a:pt x="1645719" y="1985136"/>
                    </a:lnTo>
                    <a:lnTo>
                      <a:pt x="1677715" y="1953424"/>
                    </a:lnTo>
                    <a:lnTo>
                      <a:pt x="1708476" y="1920228"/>
                    </a:lnTo>
                    <a:lnTo>
                      <a:pt x="1737958" y="1885597"/>
                    </a:lnTo>
                    <a:lnTo>
                      <a:pt x="1766117" y="1849581"/>
                    </a:lnTo>
                    <a:lnTo>
                      <a:pt x="1792910" y="1812231"/>
                    </a:lnTo>
                    <a:lnTo>
                      <a:pt x="1818293" y="1773596"/>
                    </a:lnTo>
                    <a:lnTo>
                      <a:pt x="1842221" y="1733726"/>
                    </a:lnTo>
                    <a:lnTo>
                      <a:pt x="1864650" y="1692672"/>
                    </a:lnTo>
                    <a:lnTo>
                      <a:pt x="1885538" y="1650483"/>
                    </a:lnTo>
                    <a:lnTo>
                      <a:pt x="1904839" y="1607210"/>
                    </a:lnTo>
                    <a:lnTo>
                      <a:pt x="1922511" y="1562902"/>
                    </a:lnTo>
                    <a:lnTo>
                      <a:pt x="1938509" y="1517609"/>
                    </a:lnTo>
                    <a:lnTo>
                      <a:pt x="1952789" y="1471381"/>
                    </a:lnTo>
                    <a:lnTo>
                      <a:pt x="1965308" y="1424269"/>
                    </a:lnTo>
                    <a:lnTo>
                      <a:pt x="1976021" y="1376323"/>
                    </a:lnTo>
                    <a:lnTo>
                      <a:pt x="1984884" y="1327591"/>
                    </a:lnTo>
                    <a:lnTo>
                      <a:pt x="1991854" y="1278125"/>
                    </a:lnTo>
                    <a:lnTo>
                      <a:pt x="1996888" y="1227974"/>
                    </a:lnTo>
                    <a:lnTo>
                      <a:pt x="1999940" y="1177189"/>
                    </a:lnTo>
                    <a:lnTo>
                      <a:pt x="2000967" y="1125819"/>
                    </a:lnTo>
                    <a:lnTo>
                      <a:pt x="1999940" y="1074343"/>
                    </a:lnTo>
                    <a:lnTo>
                      <a:pt x="1996888" y="1023456"/>
                    </a:lnTo>
                    <a:lnTo>
                      <a:pt x="1991854" y="973206"/>
                    </a:lnTo>
                    <a:lnTo>
                      <a:pt x="1984884" y="923645"/>
                    </a:lnTo>
                    <a:lnTo>
                      <a:pt x="1976021" y="874822"/>
                    </a:lnTo>
                    <a:lnTo>
                      <a:pt x="1965308" y="826787"/>
                    </a:lnTo>
                    <a:lnTo>
                      <a:pt x="1952789" y="779590"/>
                    </a:lnTo>
                    <a:lnTo>
                      <a:pt x="1938509" y="733281"/>
                    </a:lnTo>
                    <a:lnTo>
                      <a:pt x="1922511" y="687909"/>
                    </a:lnTo>
                    <a:lnTo>
                      <a:pt x="1904839" y="643526"/>
                    </a:lnTo>
                    <a:lnTo>
                      <a:pt x="1885538" y="600181"/>
                    </a:lnTo>
                    <a:lnTo>
                      <a:pt x="1864650" y="557923"/>
                    </a:lnTo>
                    <a:lnTo>
                      <a:pt x="1842221" y="516803"/>
                    </a:lnTo>
                    <a:lnTo>
                      <a:pt x="1818293" y="476871"/>
                    </a:lnTo>
                    <a:lnTo>
                      <a:pt x="1792910" y="438177"/>
                    </a:lnTo>
                    <a:lnTo>
                      <a:pt x="1766117" y="400770"/>
                    </a:lnTo>
                    <a:lnTo>
                      <a:pt x="1737958" y="364701"/>
                    </a:lnTo>
                    <a:lnTo>
                      <a:pt x="1708476" y="330020"/>
                    </a:lnTo>
                    <a:lnTo>
                      <a:pt x="1677715" y="296776"/>
                    </a:lnTo>
                    <a:lnTo>
                      <a:pt x="1645719" y="265020"/>
                    </a:lnTo>
                    <a:lnTo>
                      <a:pt x="1612533" y="234802"/>
                    </a:lnTo>
                    <a:lnTo>
                      <a:pt x="1578199" y="206170"/>
                    </a:lnTo>
                    <a:lnTo>
                      <a:pt x="1542762" y="179177"/>
                    </a:lnTo>
                    <a:lnTo>
                      <a:pt x="1506265" y="153870"/>
                    </a:lnTo>
                    <a:lnTo>
                      <a:pt x="1468754" y="130301"/>
                    </a:lnTo>
                    <a:lnTo>
                      <a:pt x="1430270" y="108520"/>
                    </a:lnTo>
                    <a:lnTo>
                      <a:pt x="1390859" y="88575"/>
                    </a:lnTo>
                    <a:lnTo>
                      <a:pt x="1350565" y="70518"/>
                    </a:lnTo>
                    <a:lnTo>
                      <a:pt x="1309430" y="54399"/>
                    </a:lnTo>
                    <a:lnTo>
                      <a:pt x="1267500" y="40266"/>
                    </a:lnTo>
                    <a:lnTo>
                      <a:pt x="1224817" y="28170"/>
                    </a:lnTo>
                    <a:lnTo>
                      <a:pt x="1181426" y="18162"/>
                    </a:lnTo>
                    <a:lnTo>
                      <a:pt x="1137371" y="10291"/>
                    </a:lnTo>
                    <a:lnTo>
                      <a:pt x="1092696" y="4607"/>
                    </a:lnTo>
                    <a:lnTo>
                      <a:pt x="1047444" y="1160"/>
                    </a:lnTo>
                    <a:lnTo>
                      <a:pt x="1001659"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17"/>
              <p:cNvSpPr/>
              <p:nvPr/>
            </p:nvSpPr>
            <p:spPr>
              <a:xfrm>
                <a:off x="1599005" y="4064670"/>
                <a:ext cx="283221" cy="34574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7"/>
              <p:cNvSpPr/>
              <p:nvPr/>
            </p:nvSpPr>
            <p:spPr>
              <a:xfrm>
                <a:off x="1574802" y="2742367"/>
                <a:ext cx="307424" cy="343117"/>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17"/>
              <p:cNvSpPr/>
              <p:nvPr/>
            </p:nvSpPr>
            <p:spPr>
              <a:xfrm>
                <a:off x="868326" y="3457323"/>
                <a:ext cx="282374" cy="31770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7"/>
              <p:cNvSpPr/>
              <p:nvPr/>
            </p:nvSpPr>
            <p:spPr>
              <a:xfrm>
                <a:off x="1127929" y="3854600"/>
                <a:ext cx="376279" cy="34314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7"/>
              <p:cNvSpPr/>
              <p:nvPr/>
            </p:nvSpPr>
            <p:spPr>
              <a:xfrm>
                <a:off x="538344" y="2926973"/>
                <a:ext cx="119184" cy="133073"/>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7"/>
              <p:cNvSpPr/>
              <p:nvPr/>
            </p:nvSpPr>
            <p:spPr>
              <a:xfrm>
                <a:off x="656569" y="3085484"/>
                <a:ext cx="165673" cy="264203"/>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17"/>
              <p:cNvSpPr/>
              <p:nvPr/>
            </p:nvSpPr>
            <p:spPr>
              <a:xfrm>
                <a:off x="656569" y="3800467"/>
                <a:ext cx="236267" cy="292242"/>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7"/>
              <p:cNvSpPr/>
              <p:nvPr/>
            </p:nvSpPr>
            <p:spPr>
              <a:xfrm>
                <a:off x="373638" y="3536264"/>
                <a:ext cx="118425" cy="131418"/>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7"/>
              <p:cNvSpPr/>
              <p:nvPr/>
            </p:nvSpPr>
            <p:spPr>
              <a:xfrm>
                <a:off x="514813" y="4144241"/>
                <a:ext cx="118420" cy="1331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7"/>
              <p:cNvSpPr/>
              <p:nvPr/>
            </p:nvSpPr>
            <p:spPr>
              <a:xfrm>
                <a:off x="3578093" y="2450230"/>
                <a:ext cx="2001520" cy="2250440"/>
              </a:xfrm>
              <a:custGeom>
                <a:rect b="b" l="l" r="r" t="t"/>
                <a:pathLst>
                  <a:path extrusionOk="0" h="2250440" w="2001520">
                    <a:moveTo>
                      <a:pt x="999213" y="0"/>
                    </a:moveTo>
                    <a:lnTo>
                      <a:pt x="953573" y="1160"/>
                    </a:lnTo>
                    <a:lnTo>
                      <a:pt x="908450" y="4607"/>
                    </a:lnTo>
                    <a:lnTo>
                      <a:pt x="863888" y="10291"/>
                    </a:lnTo>
                    <a:lnTo>
                      <a:pt x="819932" y="18162"/>
                    </a:lnTo>
                    <a:lnTo>
                      <a:pt x="776627" y="28170"/>
                    </a:lnTo>
                    <a:lnTo>
                      <a:pt x="734016" y="40266"/>
                    </a:lnTo>
                    <a:lnTo>
                      <a:pt x="692145" y="54399"/>
                    </a:lnTo>
                    <a:lnTo>
                      <a:pt x="651059" y="70518"/>
                    </a:lnTo>
                    <a:lnTo>
                      <a:pt x="610801" y="88575"/>
                    </a:lnTo>
                    <a:lnTo>
                      <a:pt x="571416" y="108520"/>
                    </a:lnTo>
                    <a:lnTo>
                      <a:pt x="532950" y="130301"/>
                    </a:lnTo>
                    <a:lnTo>
                      <a:pt x="495446" y="153870"/>
                    </a:lnTo>
                    <a:lnTo>
                      <a:pt x="458949" y="179177"/>
                    </a:lnTo>
                    <a:lnTo>
                      <a:pt x="423504" y="206170"/>
                    </a:lnTo>
                    <a:lnTo>
                      <a:pt x="389155" y="234802"/>
                    </a:lnTo>
                    <a:lnTo>
                      <a:pt x="355946" y="265020"/>
                    </a:lnTo>
                    <a:lnTo>
                      <a:pt x="323924" y="296776"/>
                    </a:lnTo>
                    <a:lnTo>
                      <a:pt x="293131" y="330020"/>
                    </a:lnTo>
                    <a:lnTo>
                      <a:pt x="263612" y="364701"/>
                    </a:lnTo>
                    <a:lnTo>
                      <a:pt x="235413" y="400770"/>
                    </a:lnTo>
                    <a:lnTo>
                      <a:pt x="208578" y="438177"/>
                    </a:lnTo>
                    <a:lnTo>
                      <a:pt x="183150" y="476871"/>
                    </a:lnTo>
                    <a:lnTo>
                      <a:pt x="159176" y="516803"/>
                    </a:lnTo>
                    <a:lnTo>
                      <a:pt x="136699" y="557923"/>
                    </a:lnTo>
                    <a:lnTo>
                      <a:pt x="115764" y="600181"/>
                    </a:lnTo>
                    <a:lnTo>
                      <a:pt x="96416" y="643526"/>
                    </a:lnTo>
                    <a:lnTo>
                      <a:pt x="78698" y="687909"/>
                    </a:lnTo>
                    <a:lnTo>
                      <a:pt x="62657" y="733281"/>
                    </a:lnTo>
                    <a:lnTo>
                      <a:pt x="48335" y="779590"/>
                    </a:lnTo>
                    <a:lnTo>
                      <a:pt x="35779" y="826787"/>
                    </a:lnTo>
                    <a:lnTo>
                      <a:pt x="25032" y="874822"/>
                    </a:lnTo>
                    <a:lnTo>
                      <a:pt x="16139" y="923645"/>
                    </a:lnTo>
                    <a:lnTo>
                      <a:pt x="9145" y="973206"/>
                    </a:lnTo>
                    <a:lnTo>
                      <a:pt x="4094" y="1023456"/>
                    </a:lnTo>
                    <a:lnTo>
                      <a:pt x="1031" y="1074343"/>
                    </a:lnTo>
                    <a:lnTo>
                      <a:pt x="0" y="1125819"/>
                    </a:lnTo>
                    <a:lnTo>
                      <a:pt x="1031" y="1177189"/>
                    </a:lnTo>
                    <a:lnTo>
                      <a:pt x="4094" y="1227974"/>
                    </a:lnTo>
                    <a:lnTo>
                      <a:pt x="9145" y="1278125"/>
                    </a:lnTo>
                    <a:lnTo>
                      <a:pt x="16139" y="1327591"/>
                    </a:lnTo>
                    <a:lnTo>
                      <a:pt x="25032" y="1376323"/>
                    </a:lnTo>
                    <a:lnTo>
                      <a:pt x="35779" y="1424269"/>
                    </a:lnTo>
                    <a:lnTo>
                      <a:pt x="48335" y="1471381"/>
                    </a:lnTo>
                    <a:lnTo>
                      <a:pt x="62657" y="1517609"/>
                    </a:lnTo>
                    <a:lnTo>
                      <a:pt x="78698" y="1562902"/>
                    </a:lnTo>
                    <a:lnTo>
                      <a:pt x="96416" y="1607210"/>
                    </a:lnTo>
                    <a:lnTo>
                      <a:pt x="115764" y="1650483"/>
                    </a:lnTo>
                    <a:lnTo>
                      <a:pt x="136699" y="1692672"/>
                    </a:lnTo>
                    <a:lnTo>
                      <a:pt x="159176" y="1733726"/>
                    </a:lnTo>
                    <a:lnTo>
                      <a:pt x="183150" y="1773596"/>
                    </a:lnTo>
                    <a:lnTo>
                      <a:pt x="208578" y="1812231"/>
                    </a:lnTo>
                    <a:lnTo>
                      <a:pt x="235413" y="1849581"/>
                    </a:lnTo>
                    <a:lnTo>
                      <a:pt x="263612" y="1885597"/>
                    </a:lnTo>
                    <a:lnTo>
                      <a:pt x="293131" y="1920228"/>
                    </a:lnTo>
                    <a:lnTo>
                      <a:pt x="323924" y="1953424"/>
                    </a:lnTo>
                    <a:lnTo>
                      <a:pt x="355946" y="1985136"/>
                    </a:lnTo>
                    <a:lnTo>
                      <a:pt x="389155" y="2015314"/>
                    </a:lnTo>
                    <a:lnTo>
                      <a:pt x="423504" y="2043906"/>
                    </a:lnTo>
                    <a:lnTo>
                      <a:pt x="458949" y="2070865"/>
                    </a:lnTo>
                    <a:lnTo>
                      <a:pt x="495446" y="2096138"/>
                    </a:lnTo>
                    <a:lnTo>
                      <a:pt x="532950" y="2119677"/>
                    </a:lnTo>
                    <a:lnTo>
                      <a:pt x="571416" y="2141431"/>
                    </a:lnTo>
                    <a:lnTo>
                      <a:pt x="610801" y="2161351"/>
                    </a:lnTo>
                    <a:lnTo>
                      <a:pt x="651059" y="2179386"/>
                    </a:lnTo>
                    <a:lnTo>
                      <a:pt x="692145" y="2195487"/>
                    </a:lnTo>
                    <a:lnTo>
                      <a:pt x="734016" y="2209603"/>
                    </a:lnTo>
                    <a:lnTo>
                      <a:pt x="776627" y="2221685"/>
                    </a:lnTo>
                    <a:lnTo>
                      <a:pt x="819932" y="2231682"/>
                    </a:lnTo>
                    <a:lnTo>
                      <a:pt x="863888" y="2239544"/>
                    </a:lnTo>
                    <a:lnTo>
                      <a:pt x="908450" y="2245222"/>
                    </a:lnTo>
                    <a:lnTo>
                      <a:pt x="953573" y="2248666"/>
                    </a:lnTo>
                    <a:lnTo>
                      <a:pt x="999213" y="2249825"/>
                    </a:lnTo>
                    <a:lnTo>
                      <a:pt x="1045062" y="2248666"/>
                    </a:lnTo>
                    <a:lnTo>
                      <a:pt x="1090383" y="2245222"/>
                    </a:lnTo>
                    <a:lnTo>
                      <a:pt x="1135132" y="2239544"/>
                    </a:lnTo>
                    <a:lnTo>
                      <a:pt x="1179263" y="2231682"/>
                    </a:lnTo>
                    <a:lnTo>
                      <a:pt x="1222734" y="2221685"/>
                    </a:lnTo>
                    <a:lnTo>
                      <a:pt x="1265499" y="2209603"/>
                    </a:lnTo>
                    <a:lnTo>
                      <a:pt x="1307514" y="2195487"/>
                    </a:lnTo>
                    <a:lnTo>
                      <a:pt x="1348736" y="2179386"/>
                    </a:lnTo>
                    <a:lnTo>
                      <a:pt x="1389119" y="2161351"/>
                    </a:lnTo>
                    <a:lnTo>
                      <a:pt x="1428621" y="2141431"/>
                    </a:lnTo>
                    <a:lnTo>
                      <a:pt x="1467195" y="2119677"/>
                    </a:lnTo>
                    <a:lnTo>
                      <a:pt x="1504799" y="2096138"/>
                    </a:lnTo>
                    <a:lnTo>
                      <a:pt x="1541388" y="2070865"/>
                    </a:lnTo>
                    <a:lnTo>
                      <a:pt x="1576917" y="2043906"/>
                    </a:lnTo>
                    <a:lnTo>
                      <a:pt x="1611343" y="2015314"/>
                    </a:lnTo>
                    <a:lnTo>
                      <a:pt x="1644621" y="1985136"/>
                    </a:lnTo>
                    <a:lnTo>
                      <a:pt x="1676707" y="1953424"/>
                    </a:lnTo>
                    <a:lnTo>
                      <a:pt x="1707557" y="1920228"/>
                    </a:lnTo>
                    <a:lnTo>
                      <a:pt x="1737126" y="1885597"/>
                    </a:lnTo>
                    <a:lnTo>
                      <a:pt x="1765371" y="1849581"/>
                    </a:lnTo>
                    <a:lnTo>
                      <a:pt x="1792246" y="1812231"/>
                    </a:lnTo>
                    <a:lnTo>
                      <a:pt x="1817709" y="1773596"/>
                    </a:lnTo>
                    <a:lnTo>
                      <a:pt x="1841713" y="1733726"/>
                    </a:lnTo>
                    <a:lnTo>
                      <a:pt x="1864216" y="1692672"/>
                    </a:lnTo>
                    <a:lnTo>
                      <a:pt x="1885173" y="1650483"/>
                    </a:lnTo>
                    <a:lnTo>
                      <a:pt x="1904540" y="1607210"/>
                    </a:lnTo>
                    <a:lnTo>
                      <a:pt x="1922272" y="1562902"/>
                    </a:lnTo>
                    <a:lnTo>
                      <a:pt x="1938326" y="1517609"/>
                    </a:lnTo>
                    <a:lnTo>
                      <a:pt x="1952656" y="1471381"/>
                    </a:lnTo>
                    <a:lnTo>
                      <a:pt x="1965220" y="1424269"/>
                    </a:lnTo>
                    <a:lnTo>
                      <a:pt x="1975972" y="1376323"/>
                    </a:lnTo>
                    <a:lnTo>
                      <a:pt x="1984868" y="1327591"/>
                    </a:lnTo>
                    <a:lnTo>
                      <a:pt x="1991864" y="1278125"/>
                    </a:lnTo>
                    <a:lnTo>
                      <a:pt x="1996917" y="1227974"/>
                    </a:lnTo>
                    <a:lnTo>
                      <a:pt x="1999980" y="1177189"/>
                    </a:lnTo>
                    <a:lnTo>
                      <a:pt x="2001011" y="1125819"/>
                    </a:lnTo>
                    <a:lnTo>
                      <a:pt x="1999980" y="1074343"/>
                    </a:lnTo>
                    <a:lnTo>
                      <a:pt x="1996917" y="1023456"/>
                    </a:lnTo>
                    <a:lnTo>
                      <a:pt x="1991864" y="973206"/>
                    </a:lnTo>
                    <a:lnTo>
                      <a:pt x="1984868" y="923645"/>
                    </a:lnTo>
                    <a:lnTo>
                      <a:pt x="1975972" y="874822"/>
                    </a:lnTo>
                    <a:lnTo>
                      <a:pt x="1965220" y="826787"/>
                    </a:lnTo>
                    <a:lnTo>
                      <a:pt x="1952656" y="779590"/>
                    </a:lnTo>
                    <a:lnTo>
                      <a:pt x="1938326" y="733281"/>
                    </a:lnTo>
                    <a:lnTo>
                      <a:pt x="1922272" y="687909"/>
                    </a:lnTo>
                    <a:lnTo>
                      <a:pt x="1904540" y="643526"/>
                    </a:lnTo>
                    <a:lnTo>
                      <a:pt x="1885173" y="600181"/>
                    </a:lnTo>
                    <a:lnTo>
                      <a:pt x="1864216" y="557923"/>
                    </a:lnTo>
                    <a:lnTo>
                      <a:pt x="1841713" y="516803"/>
                    </a:lnTo>
                    <a:lnTo>
                      <a:pt x="1817709" y="476871"/>
                    </a:lnTo>
                    <a:lnTo>
                      <a:pt x="1792246" y="438177"/>
                    </a:lnTo>
                    <a:lnTo>
                      <a:pt x="1765371" y="400770"/>
                    </a:lnTo>
                    <a:lnTo>
                      <a:pt x="1737126" y="364701"/>
                    </a:lnTo>
                    <a:lnTo>
                      <a:pt x="1707557" y="330020"/>
                    </a:lnTo>
                    <a:lnTo>
                      <a:pt x="1676707" y="296776"/>
                    </a:lnTo>
                    <a:lnTo>
                      <a:pt x="1644621" y="265020"/>
                    </a:lnTo>
                    <a:lnTo>
                      <a:pt x="1611343" y="234802"/>
                    </a:lnTo>
                    <a:lnTo>
                      <a:pt x="1576917" y="206170"/>
                    </a:lnTo>
                    <a:lnTo>
                      <a:pt x="1541388" y="179177"/>
                    </a:lnTo>
                    <a:lnTo>
                      <a:pt x="1504799" y="153870"/>
                    </a:lnTo>
                    <a:lnTo>
                      <a:pt x="1467195" y="130301"/>
                    </a:lnTo>
                    <a:lnTo>
                      <a:pt x="1428621" y="108520"/>
                    </a:lnTo>
                    <a:lnTo>
                      <a:pt x="1389119" y="88575"/>
                    </a:lnTo>
                    <a:lnTo>
                      <a:pt x="1348736" y="70518"/>
                    </a:lnTo>
                    <a:lnTo>
                      <a:pt x="1307514" y="54399"/>
                    </a:lnTo>
                    <a:lnTo>
                      <a:pt x="1265499" y="40266"/>
                    </a:lnTo>
                    <a:lnTo>
                      <a:pt x="1222734" y="28170"/>
                    </a:lnTo>
                    <a:lnTo>
                      <a:pt x="1179263" y="18162"/>
                    </a:lnTo>
                    <a:lnTo>
                      <a:pt x="1135132" y="10291"/>
                    </a:lnTo>
                    <a:lnTo>
                      <a:pt x="1090383" y="4607"/>
                    </a:lnTo>
                    <a:lnTo>
                      <a:pt x="1045062" y="1160"/>
                    </a:lnTo>
                    <a:lnTo>
                      <a:pt x="999213"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7"/>
              <p:cNvSpPr/>
              <p:nvPr/>
            </p:nvSpPr>
            <p:spPr>
              <a:xfrm>
                <a:off x="3671387" y="2900878"/>
                <a:ext cx="118439" cy="131419"/>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7"/>
              <p:cNvSpPr/>
              <p:nvPr/>
            </p:nvSpPr>
            <p:spPr>
              <a:xfrm>
                <a:off x="4330088" y="2926973"/>
                <a:ext cx="188938" cy="133073"/>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7"/>
              <p:cNvSpPr/>
              <p:nvPr/>
            </p:nvSpPr>
            <p:spPr>
              <a:xfrm>
                <a:off x="3835886" y="2992196"/>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7"/>
              <p:cNvSpPr/>
              <p:nvPr/>
            </p:nvSpPr>
            <p:spPr>
              <a:xfrm>
                <a:off x="3530153" y="3508855"/>
                <a:ext cx="118439" cy="133100"/>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7"/>
              <p:cNvSpPr/>
              <p:nvPr/>
            </p:nvSpPr>
            <p:spPr>
              <a:xfrm>
                <a:off x="3671387" y="4118146"/>
                <a:ext cx="118439" cy="133100"/>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17"/>
              <p:cNvSpPr/>
              <p:nvPr/>
            </p:nvSpPr>
            <p:spPr>
              <a:xfrm>
                <a:off x="4683526" y="3377752"/>
                <a:ext cx="307612" cy="369211"/>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7"/>
              <p:cNvSpPr/>
              <p:nvPr/>
            </p:nvSpPr>
            <p:spPr>
              <a:xfrm>
                <a:off x="4683526" y="4039232"/>
                <a:ext cx="283268" cy="317679"/>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7"/>
              <p:cNvSpPr/>
              <p:nvPr/>
            </p:nvSpPr>
            <p:spPr>
              <a:xfrm>
                <a:off x="4683526" y="2821938"/>
                <a:ext cx="307612" cy="343143"/>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7"/>
              <p:cNvSpPr/>
              <p:nvPr/>
            </p:nvSpPr>
            <p:spPr>
              <a:xfrm>
                <a:off x="1150700" y="3032007"/>
                <a:ext cx="378018" cy="371839"/>
              </a:xfrm>
              <a:prstGeom prst="rect">
                <a:avLst/>
              </a:prstGeom>
              <a:blipFill rotWithShape="1">
                <a:blip r:embed="rId1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17"/>
              <p:cNvSpPr/>
              <p:nvPr/>
            </p:nvSpPr>
            <p:spPr>
              <a:xfrm>
                <a:off x="6568449" y="2450230"/>
                <a:ext cx="2001520" cy="2250440"/>
              </a:xfrm>
              <a:custGeom>
                <a:rect b="b" l="l" r="r" t="t"/>
                <a:pathLst>
                  <a:path extrusionOk="0" h="2250440" w="2001520">
                    <a:moveTo>
                      <a:pt x="1001093" y="0"/>
                    </a:moveTo>
                    <a:lnTo>
                      <a:pt x="955301" y="1160"/>
                    </a:lnTo>
                    <a:lnTo>
                      <a:pt x="910034" y="4607"/>
                    </a:lnTo>
                    <a:lnTo>
                      <a:pt x="865336" y="10291"/>
                    </a:lnTo>
                    <a:lnTo>
                      <a:pt x="821252" y="18162"/>
                    </a:lnTo>
                    <a:lnTo>
                      <a:pt x="777827" y="28170"/>
                    </a:lnTo>
                    <a:lnTo>
                      <a:pt x="735104" y="40266"/>
                    </a:lnTo>
                    <a:lnTo>
                      <a:pt x="693128" y="54399"/>
                    </a:lnTo>
                    <a:lnTo>
                      <a:pt x="651943" y="70518"/>
                    </a:lnTo>
                    <a:lnTo>
                      <a:pt x="611594" y="88575"/>
                    </a:lnTo>
                    <a:lnTo>
                      <a:pt x="572125" y="108520"/>
                    </a:lnTo>
                    <a:lnTo>
                      <a:pt x="533580" y="130301"/>
                    </a:lnTo>
                    <a:lnTo>
                      <a:pt x="496003" y="153870"/>
                    </a:lnTo>
                    <a:lnTo>
                      <a:pt x="459439" y="179177"/>
                    </a:lnTo>
                    <a:lnTo>
                      <a:pt x="423933" y="206170"/>
                    </a:lnTo>
                    <a:lnTo>
                      <a:pt x="389528" y="234802"/>
                    </a:lnTo>
                    <a:lnTo>
                      <a:pt x="356269" y="265020"/>
                    </a:lnTo>
                    <a:lnTo>
                      <a:pt x="324200" y="296776"/>
                    </a:lnTo>
                    <a:lnTo>
                      <a:pt x="293366" y="330020"/>
                    </a:lnTo>
                    <a:lnTo>
                      <a:pt x="263810" y="364701"/>
                    </a:lnTo>
                    <a:lnTo>
                      <a:pt x="235578" y="400770"/>
                    </a:lnTo>
                    <a:lnTo>
                      <a:pt x="208714" y="438177"/>
                    </a:lnTo>
                    <a:lnTo>
                      <a:pt x="183261" y="476871"/>
                    </a:lnTo>
                    <a:lnTo>
                      <a:pt x="159264" y="516803"/>
                    </a:lnTo>
                    <a:lnTo>
                      <a:pt x="136769" y="557923"/>
                    </a:lnTo>
                    <a:lnTo>
                      <a:pt x="115818" y="600181"/>
                    </a:lnTo>
                    <a:lnTo>
                      <a:pt x="96456" y="643526"/>
                    </a:lnTo>
                    <a:lnTo>
                      <a:pt x="78728" y="687909"/>
                    </a:lnTo>
                    <a:lnTo>
                      <a:pt x="62677" y="733281"/>
                    </a:lnTo>
                    <a:lnTo>
                      <a:pt x="48349" y="779590"/>
                    </a:lnTo>
                    <a:lnTo>
                      <a:pt x="35788" y="826787"/>
                    </a:lnTo>
                    <a:lnTo>
                      <a:pt x="25037" y="874822"/>
                    </a:lnTo>
                    <a:lnTo>
                      <a:pt x="16142" y="923645"/>
                    </a:lnTo>
                    <a:lnTo>
                      <a:pt x="9146" y="973206"/>
                    </a:lnTo>
                    <a:lnTo>
                      <a:pt x="4094" y="1023456"/>
                    </a:lnTo>
                    <a:lnTo>
                      <a:pt x="1031" y="1074343"/>
                    </a:lnTo>
                    <a:lnTo>
                      <a:pt x="0" y="1125819"/>
                    </a:lnTo>
                    <a:lnTo>
                      <a:pt x="1031" y="1177189"/>
                    </a:lnTo>
                    <a:lnTo>
                      <a:pt x="4094" y="1227974"/>
                    </a:lnTo>
                    <a:lnTo>
                      <a:pt x="9146" y="1278125"/>
                    </a:lnTo>
                    <a:lnTo>
                      <a:pt x="16142" y="1327591"/>
                    </a:lnTo>
                    <a:lnTo>
                      <a:pt x="25037" y="1376323"/>
                    </a:lnTo>
                    <a:lnTo>
                      <a:pt x="35788" y="1424269"/>
                    </a:lnTo>
                    <a:lnTo>
                      <a:pt x="48349" y="1471381"/>
                    </a:lnTo>
                    <a:lnTo>
                      <a:pt x="62677" y="1517609"/>
                    </a:lnTo>
                    <a:lnTo>
                      <a:pt x="78728" y="1562902"/>
                    </a:lnTo>
                    <a:lnTo>
                      <a:pt x="96456" y="1607210"/>
                    </a:lnTo>
                    <a:lnTo>
                      <a:pt x="115818" y="1650483"/>
                    </a:lnTo>
                    <a:lnTo>
                      <a:pt x="136769" y="1692672"/>
                    </a:lnTo>
                    <a:lnTo>
                      <a:pt x="159264" y="1733726"/>
                    </a:lnTo>
                    <a:lnTo>
                      <a:pt x="183261" y="1773596"/>
                    </a:lnTo>
                    <a:lnTo>
                      <a:pt x="208714" y="1812231"/>
                    </a:lnTo>
                    <a:lnTo>
                      <a:pt x="235578" y="1849581"/>
                    </a:lnTo>
                    <a:lnTo>
                      <a:pt x="263810" y="1885597"/>
                    </a:lnTo>
                    <a:lnTo>
                      <a:pt x="293366" y="1920228"/>
                    </a:lnTo>
                    <a:lnTo>
                      <a:pt x="324200" y="1953424"/>
                    </a:lnTo>
                    <a:lnTo>
                      <a:pt x="356269" y="1985136"/>
                    </a:lnTo>
                    <a:lnTo>
                      <a:pt x="389528" y="2015314"/>
                    </a:lnTo>
                    <a:lnTo>
                      <a:pt x="423933" y="2043906"/>
                    </a:lnTo>
                    <a:lnTo>
                      <a:pt x="459439" y="2070865"/>
                    </a:lnTo>
                    <a:lnTo>
                      <a:pt x="496003" y="2096138"/>
                    </a:lnTo>
                    <a:lnTo>
                      <a:pt x="533580" y="2119677"/>
                    </a:lnTo>
                    <a:lnTo>
                      <a:pt x="572125" y="2141431"/>
                    </a:lnTo>
                    <a:lnTo>
                      <a:pt x="611594" y="2161351"/>
                    </a:lnTo>
                    <a:lnTo>
                      <a:pt x="651943" y="2179386"/>
                    </a:lnTo>
                    <a:lnTo>
                      <a:pt x="693128" y="2195487"/>
                    </a:lnTo>
                    <a:lnTo>
                      <a:pt x="735104" y="2209603"/>
                    </a:lnTo>
                    <a:lnTo>
                      <a:pt x="777827" y="2221685"/>
                    </a:lnTo>
                    <a:lnTo>
                      <a:pt x="821252" y="2231682"/>
                    </a:lnTo>
                    <a:lnTo>
                      <a:pt x="865336" y="2239544"/>
                    </a:lnTo>
                    <a:lnTo>
                      <a:pt x="910034" y="2245222"/>
                    </a:lnTo>
                    <a:lnTo>
                      <a:pt x="955301" y="2248666"/>
                    </a:lnTo>
                    <a:lnTo>
                      <a:pt x="1001093" y="2249825"/>
                    </a:lnTo>
                    <a:lnTo>
                      <a:pt x="1046920" y="2248666"/>
                    </a:lnTo>
                    <a:lnTo>
                      <a:pt x="1092212" y="2245222"/>
                    </a:lnTo>
                    <a:lnTo>
                      <a:pt x="1136925" y="2239544"/>
                    </a:lnTo>
                    <a:lnTo>
                      <a:pt x="1181017" y="2231682"/>
                    </a:lnTo>
                    <a:lnTo>
                      <a:pt x="1224442" y="2221685"/>
                    </a:lnTo>
                    <a:lnTo>
                      <a:pt x="1267158" y="2209603"/>
                    </a:lnTo>
                    <a:lnTo>
                      <a:pt x="1309120" y="2195487"/>
                    </a:lnTo>
                    <a:lnTo>
                      <a:pt x="1350284" y="2179386"/>
                    </a:lnTo>
                    <a:lnTo>
                      <a:pt x="1390607" y="2161351"/>
                    </a:lnTo>
                    <a:lnTo>
                      <a:pt x="1430044" y="2141431"/>
                    </a:lnTo>
                    <a:lnTo>
                      <a:pt x="1468552" y="2119677"/>
                    </a:lnTo>
                    <a:lnTo>
                      <a:pt x="1506087" y="2096138"/>
                    </a:lnTo>
                    <a:lnTo>
                      <a:pt x="1542606" y="2070865"/>
                    </a:lnTo>
                    <a:lnTo>
                      <a:pt x="1578063" y="2043906"/>
                    </a:lnTo>
                    <a:lnTo>
                      <a:pt x="1612416" y="2015314"/>
                    </a:lnTo>
                    <a:lnTo>
                      <a:pt x="1645621" y="1985136"/>
                    </a:lnTo>
                    <a:lnTo>
                      <a:pt x="1677633" y="1953424"/>
                    </a:lnTo>
                    <a:lnTo>
                      <a:pt x="1708409" y="1920228"/>
                    </a:lnTo>
                    <a:lnTo>
                      <a:pt x="1737905" y="1885597"/>
                    </a:lnTo>
                    <a:lnTo>
                      <a:pt x="1766077" y="1849581"/>
                    </a:lnTo>
                    <a:lnTo>
                      <a:pt x="1792882" y="1812231"/>
                    </a:lnTo>
                    <a:lnTo>
                      <a:pt x="1818275" y="1773596"/>
                    </a:lnTo>
                    <a:lnTo>
                      <a:pt x="1842213" y="1733726"/>
                    </a:lnTo>
                    <a:lnTo>
                      <a:pt x="1864651" y="1692672"/>
                    </a:lnTo>
                    <a:lnTo>
                      <a:pt x="1885547" y="1650483"/>
                    </a:lnTo>
                    <a:lnTo>
                      <a:pt x="1904855" y="1607210"/>
                    </a:lnTo>
                    <a:lnTo>
                      <a:pt x="1922533" y="1562902"/>
                    </a:lnTo>
                    <a:lnTo>
                      <a:pt x="1938536" y="1517609"/>
                    </a:lnTo>
                    <a:lnTo>
                      <a:pt x="1952821" y="1471381"/>
                    </a:lnTo>
                    <a:lnTo>
                      <a:pt x="1965343" y="1424269"/>
                    </a:lnTo>
                    <a:lnTo>
                      <a:pt x="1976059" y="1376323"/>
                    </a:lnTo>
                    <a:lnTo>
                      <a:pt x="1984925" y="1327591"/>
                    </a:lnTo>
                    <a:lnTo>
                      <a:pt x="1991897" y="1278125"/>
                    </a:lnTo>
                    <a:lnTo>
                      <a:pt x="1996931" y="1227974"/>
                    </a:lnTo>
                    <a:lnTo>
                      <a:pt x="1999984" y="1177189"/>
                    </a:lnTo>
                    <a:lnTo>
                      <a:pt x="2001011" y="1125819"/>
                    </a:lnTo>
                    <a:lnTo>
                      <a:pt x="1999984" y="1074343"/>
                    </a:lnTo>
                    <a:lnTo>
                      <a:pt x="1996931" y="1023456"/>
                    </a:lnTo>
                    <a:lnTo>
                      <a:pt x="1991897" y="973206"/>
                    </a:lnTo>
                    <a:lnTo>
                      <a:pt x="1984925" y="923645"/>
                    </a:lnTo>
                    <a:lnTo>
                      <a:pt x="1976059" y="874822"/>
                    </a:lnTo>
                    <a:lnTo>
                      <a:pt x="1965343" y="826787"/>
                    </a:lnTo>
                    <a:lnTo>
                      <a:pt x="1952821" y="779590"/>
                    </a:lnTo>
                    <a:lnTo>
                      <a:pt x="1938536" y="733281"/>
                    </a:lnTo>
                    <a:lnTo>
                      <a:pt x="1922533" y="687909"/>
                    </a:lnTo>
                    <a:lnTo>
                      <a:pt x="1904855" y="643526"/>
                    </a:lnTo>
                    <a:lnTo>
                      <a:pt x="1885547" y="600181"/>
                    </a:lnTo>
                    <a:lnTo>
                      <a:pt x="1864651" y="557923"/>
                    </a:lnTo>
                    <a:lnTo>
                      <a:pt x="1842213" y="516803"/>
                    </a:lnTo>
                    <a:lnTo>
                      <a:pt x="1818275" y="476871"/>
                    </a:lnTo>
                    <a:lnTo>
                      <a:pt x="1792882" y="438177"/>
                    </a:lnTo>
                    <a:lnTo>
                      <a:pt x="1766077" y="400770"/>
                    </a:lnTo>
                    <a:lnTo>
                      <a:pt x="1737905" y="364701"/>
                    </a:lnTo>
                    <a:lnTo>
                      <a:pt x="1708409" y="330020"/>
                    </a:lnTo>
                    <a:lnTo>
                      <a:pt x="1677633" y="296776"/>
                    </a:lnTo>
                    <a:lnTo>
                      <a:pt x="1645621" y="265020"/>
                    </a:lnTo>
                    <a:lnTo>
                      <a:pt x="1612416" y="234802"/>
                    </a:lnTo>
                    <a:lnTo>
                      <a:pt x="1578063" y="206170"/>
                    </a:lnTo>
                    <a:lnTo>
                      <a:pt x="1542606" y="179177"/>
                    </a:lnTo>
                    <a:lnTo>
                      <a:pt x="1506087" y="153870"/>
                    </a:lnTo>
                    <a:lnTo>
                      <a:pt x="1468552" y="130301"/>
                    </a:lnTo>
                    <a:lnTo>
                      <a:pt x="1430044" y="108520"/>
                    </a:lnTo>
                    <a:lnTo>
                      <a:pt x="1390607" y="88575"/>
                    </a:lnTo>
                    <a:lnTo>
                      <a:pt x="1350284" y="70518"/>
                    </a:lnTo>
                    <a:lnTo>
                      <a:pt x="1309120" y="54399"/>
                    </a:lnTo>
                    <a:lnTo>
                      <a:pt x="1267158" y="40266"/>
                    </a:lnTo>
                    <a:lnTo>
                      <a:pt x="1224442" y="28170"/>
                    </a:lnTo>
                    <a:lnTo>
                      <a:pt x="1181017" y="18162"/>
                    </a:lnTo>
                    <a:lnTo>
                      <a:pt x="1136925" y="10291"/>
                    </a:lnTo>
                    <a:lnTo>
                      <a:pt x="1092212" y="4607"/>
                    </a:lnTo>
                    <a:lnTo>
                      <a:pt x="1046920" y="1160"/>
                    </a:lnTo>
                    <a:lnTo>
                      <a:pt x="1001093"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7"/>
              <p:cNvSpPr/>
              <p:nvPr/>
            </p:nvSpPr>
            <p:spPr>
              <a:xfrm>
                <a:off x="2140090" y="3244678"/>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17"/>
              <p:cNvSpPr/>
              <p:nvPr/>
            </p:nvSpPr>
            <p:spPr>
              <a:xfrm>
                <a:off x="2152334" y="3258369"/>
                <a:ext cx="118745" cy="131445"/>
              </a:xfrm>
              <a:custGeom>
                <a:rect b="b" l="l" r="r" t="t"/>
                <a:pathLst>
                  <a:path extrusionOk="0" h="131445" w="118744">
                    <a:moveTo>
                      <a:pt x="0" y="0"/>
                    </a:moveTo>
                    <a:lnTo>
                      <a:pt x="118439" y="0"/>
                    </a:lnTo>
                    <a:lnTo>
                      <a:pt x="118439" y="131129"/>
                    </a:lnTo>
                    <a:lnTo>
                      <a:pt x="0" y="131129"/>
                    </a:lnTo>
                    <a:lnTo>
                      <a:pt x="0" y="0"/>
                    </a:lnTo>
                    <a:close/>
                  </a:path>
                </a:pathLst>
              </a:custGeom>
              <a:noFill/>
              <a:ln cap="flat" cmpd="sng" w="2395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17"/>
              <p:cNvSpPr/>
              <p:nvPr/>
            </p:nvSpPr>
            <p:spPr>
              <a:xfrm>
                <a:off x="2140090" y="3457323"/>
                <a:ext cx="118745" cy="131445"/>
              </a:xfrm>
              <a:custGeom>
                <a:rect b="b" l="l" r="r" t="t"/>
                <a:pathLst>
                  <a:path extrusionOk="0" h="131445" w="118744">
                    <a:moveTo>
                      <a:pt x="118415" y="0"/>
                    </a:moveTo>
                    <a:lnTo>
                      <a:pt x="0" y="0"/>
                    </a:lnTo>
                    <a:lnTo>
                      <a:pt x="0" y="131129"/>
                    </a:lnTo>
                    <a:lnTo>
                      <a:pt x="118415" y="131129"/>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7"/>
              <p:cNvSpPr/>
              <p:nvPr/>
            </p:nvSpPr>
            <p:spPr>
              <a:xfrm>
                <a:off x="2152334" y="3469070"/>
                <a:ext cx="118745" cy="133350"/>
              </a:xfrm>
              <a:custGeom>
                <a:rect b="b" l="l" r="r" t="t"/>
                <a:pathLst>
                  <a:path extrusionOk="0" h="133350" w="118744">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7"/>
              <p:cNvSpPr/>
              <p:nvPr/>
            </p:nvSpPr>
            <p:spPr>
              <a:xfrm>
                <a:off x="2140090" y="3667393"/>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7"/>
              <p:cNvSpPr/>
              <p:nvPr/>
            </p:nvSpPr>
            <p:spPr>
              <a:xfrm>
                <a:off x="2152334" y="3681741"/>
                <a:ext cx="118745" cy="133350"/>
              </a:xfrm>
              <a:custGeom>
                <a:rect b="b" l="l" r="r" t="t"/>
                <a:pathLst>
                  <a:path extrusionOk="0" h="133350" w="118744">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17"/>
              <p:cNvSpPr/>
              <p:nvPr/>
            </p:nvSpPr>
            <p:spPr>
              <a:xfrm>
                <a:off x="2140090" y="3880064"/>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7"/>
              <p:cNvSpPr/>
              <p:nvPr/>
            </p:nvSpPr>
            <p:spPr>
              <a:xfrm>
                <a:off x="2152334" y="3893755"/>
                <a:ext cx="118745" cy="131445"/>
              </a:xfrm>
              <a:custGeom>
                <a:rect b="b" l="l" r="r" t="t"/>
                <a:pathLst>
                  <a:path extrusionOk="0" h="131445" w="118744">
                    <a:moveTo>
                      <a:pt x="0" y="0"/>
                    </a:moveTo>
                    <a:lnTo>
                      <a:pt x="118439" y="0"/>
                    </a:lnTo>
                    <a:lnTo>
                      <a:pt x="118439" y="131129"/>
                    </a:lnTo>
                    <a:lnTo>
                      <a:pt x="0" y="131129"/>
                    </a:lnTo>
                    <a:lnTo>
                      <a:pt x="0" y="0"/>
                    </a:lnTo>
                    <a:close/>
                  </a:path>
                </a:pathLst>
              </a:custGeom>
              <a:noFill/>
              <a:ln cap="flat" cmpd="sng" w="2395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7"/>
              <p:cNvSpPr/>
              <p:nvPr/>
            </p:nvSpPr>
            <p:spPr>
              <a:xfrm>
                <a:off x="1904998" y="3085484"/>
                <a:ext cx="212344" cy="212671"/>
              </a:xfrm>
              <a:prstGeom prst="rect">
                <a:avLst/>
              </a:prstGeom>
              <a:blipFill rotWithShape="1">
                <a:blip r:embed="rId2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7"/>
              <p:cNvSpPr/>
              <p:nvPr/>
            </p:nvSpPr>
            <p:spPr>
              <a:xfrm>
                <a:off x="1834405" y="3536264"/>
                <a:ext cx="283210" cy="582295"/>
              </a:xfrm>
              <a:custGeom>
                <a:rect b="b" l="l" r="r" t="t"/>
                <a:pathLst>
                  <a:path extrusionOk="0" h="582295" w="283210">
                    <a:moveTo>
                      <a:pt x="282938" y="0"/>
                    </a:moveTo>
                    <a:lnTo>
                      <a:pt x="259602" y="0"/>
                    </a:lnTo>
                    <a:lnTo>
                      <a:pt x="0" y="556445"/>
                    </a:lnTo>
                    <a:lnTo>
                      <a:pt x="0" y="581882"/>
                    </a:lnTo>
                    <a:lnTo>
                      <a:pt x="22747" y="581882"/>
                    </a:lnTo>
                    <a:lnTo>
                      <a:pt x="282938" y="26094"/>
                    </a:lnTo>
                    <a:lnTo>
                      <a:pt x="28293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0" name="Google Shape;400;p17"/>
            <p:cNvSpPr txBox="1"/>
            <p:nvPr/>
          </p:nvSpPr>
          <p:spPr>
            <a:xfrm>
              <a:off x="2005112" y="4848484"/>
              <a:ext cx="1857375"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a. Thread-per-request</a:t>
              </a:r>
              <a:endParaRPr sz="1650">
                <a:solidFill>
                  <a:schemeClr val="dk1"/>
                </a:solidFill>
                <a:latin typeface="Arial"/>
                <a:ea typeface="Arial"/>
                <a:cs typeface="Arial"/>
                <a:sym typeface="Arial"/>
              </a:endParaRPr>
            </a:p>
          </p:txBody>
        </p:sp>
        <p:sp>
          <p:nvSpPr>
            <p:cNvPr id="401" name="Google Shape;401;p17"/>
            <p:cNvSpPr txBox="1"/>
            <p:nvPr/>
          </p:nvSpPr>
          <p:spPr>
            <a:xfrm>
              <a:off x="5018189" y="4848484"/>
              <a:ext cx="2142490"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b. Thread-per-connection</a:t>
              </a:r>
              <a:endParaRPr sz="1650">
                <a:solidFill>
                  <a:schemeClr val="dk1"/>
                </a:solidFill>
                <a:latin typeface="Arial"/>
                <a:ea typeface="Arial"/>
                <a:cs typeface="Arial"/>
                <a:sym typeface="Arial"/>
              </a:endParaRPr>
            </a:p>
          </p:txBody>
        </p:sp>
        <p:sp>
          <p:nvSpPr>
            <p:cNvPr id="402" name="Google Shape;402;p17"/>
            <p:cNvSpPr txBox="1"/>
            <p:nvPr/>
          </p:nvSpPr>
          <p:spPr>
            <a:xfrm>
              <a:off x="8268688" y="4848484"/>
              <a:ext cx="1722755"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c. Thread-per-object</a:t>
              </a:r>
              <a:endParaRPr sz="1650">
                <a:solidFill>
                  <a:schemeClr val="dk1"/>
                </a:solidFill>
                <a:latin typeface="Arial"/>
                <a:ea typeface="Arial"/>
                <a:cs typeface="Arial"/>
                <a:sym typeface="Arial"/>
              </a:endParaRPr>
            </a:p>
          </p:txBody>
        </p:sp>
        <p:sp>
          <p:nvSpPr>
            <p:cNvPr id="403" name="Google Shape;403;p17"/>
            <p:cNvSpPr txBox="1"/>
            <p:nvPr/>
          </p:nvSpPr>
          <p:spPr>
            <a:xfrm>
              <a:off x="3299621" y="2572436"/>
              <a:ext cx="684530"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workers</a:t>
              </a:r>
              <a:endParaRPr sz="1400">
                <a:solidFill>
                  <a:schemeClr val="dk1"/>
                </a:solidFill>
                <a:latin typeface="Arial"/>
                <a:ea typeface="Arial"/>
                <a:cs typeface="Arial"/>
                <a:sym typeface="Arial"/>
              </a:endParaRPr>
            </a:p>
          </p:txBody>
        </p:sp>
        <p:sp>
          <p:nvSpPr>
            <p:cNvPr id="404" name="Google Shape;404;p17"/>
            <p:cNvSpPr txBox="1"/>
            <p:nvPr/>
          </p:nvSpPr>
          <p:spPr>
            <a:xfrm>
              <a:off x="2381389" y="3100842"/>
              <a:ext cx="273685"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I/O</a:t>
              </a:r>
              <a:endParaRPr sz="1650">
                <a:solidFill>
                  <a:schemeClr val="dk1"/>
                </a:solidFill>
                <a:latin typeface="Arial"/>
                <a:ea typeface="Arial"/>
                <a:cs typeface="Arial"/>
                <a:sym typeface="Arial"/>
              </a:endParaRPr>
            </a:p>
          </p:txBody>
        </p:sp>
        <p:grpSp>
          <p:nvGrpSpPr>
            <p:cNvPr id="405" name="Google Shape;405;p17"/>
            <p:cNvGrpSpPr/>
            <p:nvPr/>
          </p:nvGrpSpPr>
          <p:grpSpPr>
            <a:xfrm>
              <a:off x="5359886" y="2793910"/>
              <a:ext cx="4511572" cy="1563001"/>
              <a:chOff x="3835886" y="2793910"/>
              <a:chExt cx="4511572" cy="1563001"/>
            </a:xfrm>
          </p:grpSpPr>
          <p:sp>
            <p:nvSpPr>
              <p:cNvPr id="406" name="Google Shape;406;p17"/>
              <p:cNvSpPr/>
              <p:nvPr/>
            </p:nvSpPr>
            <p:spPr>
              <a:xfrm>
                <a:off x="7428308" y="3562358"/>
                <a:ext cx="0" cy="80010"/>
              </a:xfrm>
              <a:custGeom>
                <a:rect b="b" l="l" r="r" t="t"/>
                <a:pathLst>
                  <a:path extrusionOk="0" h="80010" w="120000">
                    <a:moveTo>
                      <a:pt x="0" y="0"/>
                    </a:moveTo>
                    <a:lnTo>
                      <a:pt x="0" y="0"/>
                    </a:lnTo>
                    <a:lnTo>
                      <a:pt x="0" y="79597"/>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7"/>
              <p:cNvSpPr/>
              <p:nvPr/>
            </p:nvSpPr>
            <p:spPr>
              <a:xfrm>
                <a:off x="7416076" y="3562362"/>
                <a:ext cx="189230" cy="133350"/>
              </a:xfrm>
              <a:custGeom>
                <a:rect b="b" l="l" r="r" t="t"/>
                <a:pathLst>
                  <a:path extrusionOk="0" h="133350" w="189229">
                    <a:moveTo>
                      <a:pt x="188950" y="53505"/>
                    </a:moveTo>
                    <a:lnTo>
                      <a:pt x="22796" y="0"/>
                    </a:lnTo>
                    <a:lnTo>
                      <a:pt x="0" y="0"/>
                    </a:lnTo>
                    <a:lnTo>
                      <a:pt x="0" y="26098"/>
                    </a:lnTo>
                    <a:lnTo>
                      <a:pt x="123266" y="66319"/>
                    </a:lnTo>
                    <a:lnTo>
                      <a:pt x="0" y="105041"/>
                    </a:lnTo>
                    <a:lnTo>
                      <a:pt x="0" y="133070"/>
                    </a:lnTo>
                    <a:lnTo>
                      <a:pt x="22796" y="133070"/>
                    </a:lnTo>
                    <a:lnTo>
                      <a:pt x="188950" y="79603"/>
                    </a:lnTo>
                    <a:lnTo>
                      <a:pt x="188950" y="53505"/>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7"/>
              <p:cNvSpPr/>
              <p:nvPr/>
            </p:nvSpPr>
            <p:spPr>
              <a:xfrm>
                <a:off x="7428308" y="3615861"/>
                <a:ext cx="0" cy="80010"/>
              </a:xfrm>
              <a:custGeom>
                <a:rect b="b" l="l" r="r" t="t"/>
                <a:pathLst>
                  <a:path extrusionOk="0" h="80010" w="120000">
                    <a:moveTo>
                      <a:pt x="0" y="0"/>
                    </a:moveTo>
                    <a:lnTo>
                      <a:pt x="0" y="0"/>
                    </a:lnTo>
                    <a:lnTo>
                      <a:pt x="0" y="79570"/>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7"/>
              <p:cNvSpPr/>
              <p:nvPr/>
            </p:nvSpPr>
            <p:spPr>
              <a:xfrm>
                <a:off x="7416088" y="3562358"/>
                <a:ext cx="164465" cy="105410"/>
              </a:xfrm>
              <a:custGeom>
                <a:rect b="b" l="l" r="r" t="t"/>
                <a:pathLst>
                  <a:path extrusionOk="0" h="105410" w="164465">
                    <a:moveTo>
                      <a:pt x="0" y="0"/>
                    </a:moveTo>
                    <a:lnTo>
                      <a:pt x="0" y="105034"/>
                    </a:lnTo>
                    <a:lnTo>
                      <a:pt x="164028" y="5350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7"/>
              <p:cNvSpPr/>
              <p:nvPr/>
            </p:nvSpPr>
            <p:spPr>
              <a:xfrm>
                <a:off x="7297649" y="3628238"/>
                <a:ext cx="141605" cy="0"/>
              </a:xfrm>
              <a:custGeom>
                <a:rect b="b" l="l" r="r" t="t"/>
                <a:pathLst>
                  <a:path extrusionOk="0" h="120000" w="141604">
                    <a:moveTo>
                      <a:pt x="0" y="0"/>
                    </a:moveTo>
                    <a:lnTo>
                      <a:pt x="0" y="0"/>
                    </a:lnTo>
                    <a:lnTo>
                      <a:pt x="141234"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7"/>
              <p:cNvSpPr/>
              <p:nvPr/>
            </p:nvSpPr>
            <p:spPr>
              <a:xfrm>
                <a:off x="6686418" y="3562358"/>
                <a:ext cx="305498" cy="133073"/>
              </a:xfrm>
              <a:prstGeom prst="rect">
                <a:avLst/>
              </a:prstGeom>
              <a:blipFill rotWithShape="1">
                <a:blip r:embed="rId2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7"/>
              <p:cNvSpPr/>
              <p:nvPr/>
            </p:nvSpPr>
            <p:spPr>
              <a:xfrm>
                <a:off x="7651086" y="3403847"/>
                <a:ext cx="306907" cy="371182"/>
              </a:xfrm>
              <a:prstGeom prst="rect">
                <a:avLst/>
              </a:prstGeom>
              <a:blipFill rotWithShape="1">
                <a:blip r:embed="rId2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7"/>
              <p:cNvSpPr/>
              <p:nvPr/>
            </p:nvSpPr>
            <p:spPr>
              <a:xfrm>
                <a:off x="7675761" y="4039232"/>
                <a:ext cx="305733" cy="317679"/>
              </a:xfrm>
              <a:prstGeom prst="rect">
                <a:avLst/>
              </a:prstGeom>
              <a:blipFill rotWithShape="1">
                <a:blip r:embed="rId2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7"/>
              <p:cNvSpPr/>
              <p:nvPr/>
            </p:nvSpPr>
            <p:spPr>
              <a:xfrm>
                <a:off x="7863052" y="2900882"/>
                <a:ext cx="95250" cy="184785"/>
              </a:xfrm>
              <a:custGeom>
                <a:rect b="b" l="l" r="r" t="t"/>
                <a:pathLst>
                  <a:path extrusionOk="0" h="184785" w="95250">
                    <a:moveTo>
                      <a:pt x="94932" y="0"/>
                    </a:moveTo>
                    <a:lnTo>
                      <a:pt x="70497" y="0"/>
                    </a:lnTo>
                    <a:lnTo>
                      <a:pt x="0" y="131127"/>
                    </a:lnTo>
                    <a:lnTo>
                      <a:pt x="0" y="159169"/>
                    </a:lnTo>
                    <a:lnTo>
                      <a:pt x="47701" y="184607"/>
                    </a:lnTo>
                    <a:lnTo>
                      <a:pt x="70497" y="184607"/>
                    </a:lnTo>
                    <a:lnTo>
                      <a:pt x="70497" y="159169"/>
                    </a:lnTo>
                    <a:lnTo>
                      <a:pt x="35661" y="137972"/>
                    </a:lnTo>
                    <a:lnTo>
                      <a:pt x="94932" y="26098"/>
                    </a:lnTo>
                    <a:lnTo>
                      <a:pt x="94932"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7"/>
              <p:cNvSpPr/>
              <p:nvPr/>
            </p:nvSpPr>
            <p:spPr>
              <a:xfrm>
                <a:off x="7910760" y="2900878"/>
                <a:ext cx="47625" cy="184785"/>
              </a:xfrm>
              <a:custGeom>
                <a:rect b="b" l="l" r="r" t="t"/>
                <a:pathLst>
                  <a:path extrusionOk="0" h="184785" w="47625">
                    <a:moveTo>
                      <a:pt x="35014" y="0"/>
                    </a:moveTo>
                    <a:lnTo>
                      <a:pt x="35014" y="0"/>
                    </a:lnTo>
                    <a:lnTo>
                      <a:pt x="35014" y="184605"/>
                    </a:lnTo>
                  </a:path>
                  <a:path extrusionOk="0" h="184785" w="47625">
                    <a:moveTo>
                      <a:pt x="0" y="170914"/>
                    </a:moveTo>
                    <a:lnTo>
                      <a:pt x="0" y="170914"/>
                    </a:lnTo>
                    <a:lnTo>
                      <a:pt x="47234" y="170914"/>
                    </a:lnTo>
                  </a:path>
                </a:pathLst>
              </a:custGeom>
              <a:noFill/>
              <a:ln cap="flat" cmpd="sng" w="240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7"/>
              <p:cNvSpPr/>
              <p:nvPr/>
            </p:nvSpPr>
            <p:spPr>
              <a:xfrm>
                <a:off x="7863055" y="2900878"/>
                <a:ext cx="71120" cy="159385"/>
              </a:xfrm>
              <a:custGeom>
                <a:rect b="b" l="l" r="r" t="t"/>
                <a:pathLst>
                  <a:path extrusionOk="0" h="159385" w="71120">
                    <a:moveTo>
                      <a:pt x="70499" y="0"/>
                    </a:moveTo>
                    <a:lnTo>
                      <a:pt x="0" y="131129"/>
                    </a:lnTo>
                    <a:lnTo>
                      <a:pt x="47704" y="159168"/>
                    </a:lnTo>
                    <a:lnTo>
                      <a:pt x="70499" y="159168"/>
                    </a:lnTo>
                    <a:lnTo>
                      <a:pt x="70499"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7"/>
              <p:cNvSpPr/>
              <p:nvPr/>
            </p:nvSpPr>
            <p:spPr>
              <a:xfrm>
                <a:off x="7922979" y="3060046"/>
                <a:ext cx="0" cy="26034"/>
              </a:xfrm>
              <a:custGeom>
                <a:rect b="b" l="l" r="r" t="t"/>
                <a:pathLst>
                  <a:path extrusionOk="0" h="26035" w="120000">
                    <a:moveTo>
                      <a:pt x="0" y="12718"/>
                    </a:moveTo>
                    <a:lnTo>
                      <a:pt x="0" y="12718"/>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7"/>
              <p:cNvSpPr/>
              <p:nvPr/>
            </p:nvSpPr>
            <p:spPr>
              <a:xfrm>
                <a:off x="7651077" y="3006572"/>
                <a:ext cx="282575" cy="133350"/>
              </a:xfrm>
              <a:custGeom>
                <a:rect b="b" l="l" r="r" t="t"/>
                <a:pathLst>
                  <a:path extrusionOk="0" h="133350" w="282575">
                    <a:moveTo>
                      <a:pt x="282473" y="53479"/>
                    </a:moveTo>
                    <a:lnTo>
                      <a:pt x="259676" y="53479"/>
                    </a:lnTo>
                    <a:lnTo>
                      <a:pt x="173570" y="100685"/>
                    </a:lnTo>
                    <a:lnTo>
                      <a:pt x="95173" y="78917"/>
                    </a:lnTo>
                    <a:lnTo>
                      <a:pt x="24676" y="0"/>
                    </a:lnTo>
                    <a:lnTo>
                      <a:pt x="0" y="0"/>
                    </a:lnTo>
                    <a:lnTo>
                      <a:pt x="0" y="25438"/>
                    </a:lnTo>
                    <a:lnTo>
                      <a:pt x="70739" y="105016"/>
                    </a:lnTo>
                    <a:lnTo>
                      <a:pt x="165671" y="133083"/>
                    </a:lnTo>
                    <a:lnTo>
                      <a:pt x="189179" y="133083"/>
                    </a:lnTo>
                    <a:lnTo>
                      <a:pt x="282473" y="78917"/>
                    </a:lnTo>
                    <a:lnTo>
                      <a:pt x="282473" y="5347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7"/>
              <p:cNvSpPr/>
              <p:nvPr/>
            </p:nvSpPr>
            <p:spPr>
              <a:xfrm>
                <a:off x="7663541" y="2900878"/>
                <a:ext cx="0" cy="131445"/>
              </a:xfrm>
              <a:custGeom>
                <a:rect b="b" l="l" r="r" t="t"/>
                <a:pathLst>
                  <a:path extrusionOk="0" h="131444" w="120000">
                    <a:moveTo>
                      <a:pt x="0" y="0"/>
                    </a:moveTo>
                    <a:lnTo>
                      <a:pt x="0" y="0"/>
                    </a:lnTo>
                    <a:lnTo>
                      <a:pt x="0" y="131129"/>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7"/>
              <p:cNvSpPr/>
              <p:nvPr/>
            </p:nvSpPr>
            <p:spPr>
              <a:xfrm>
                <a:off x="7651077" y="2793910"/>
                <a:ext cx="189230" cy="133350"/>
              </a:xfrm>
              <a:custGeom>
                <a:rect b="b" l="l" r="r" t="t"/>
                <a:pathLst>
                  <a:path extrusionOk="0" h="133350" w="189229">
                    <a:moveTo>
                      <a:pt x="189179" y="0"/>
                    </a:moveTo>
                    <a:lnTo>
                      <a:pt x="165671" y="0"/>
                    </a:lnTo>
                    <a:lnTo>
                      <a:pt x="70739" y="28028"/>
                    </a:lnTo>
                    <a:lnTo>
                      <a:pt x="0" y="106972"/>
                    </a:lnTo>
                    <a:lnTo>
                      <a:pt x="0" y="133070"/>
                    </a:lnTo>
                    <a:lnTo>
                      <a:pt x="24676" y="133070"/>
                    </a:lnTo>
                    <a:lnTo>
                      <a:pt x="95173" y="53467"/>
                    </a:lnTo>
                    <a:lnTo>
                      <a:pt x="189179" y="28028"/>
                    </a:lnTo>
                    <a:lnTo>
                      <a:pt x="189179"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7"/>
              <p:cNvSpPr/>
              <p:nvPr/>
            </p:nvSpPr>
            <p:spPr>
              <a:xfrm>
                <a:off x="7204354" y="3707178"/>
                <a:ext cx="71120" cy="0"/>
              </a:xfrm>
              <a:custGeom>
                <a:rect b="b" l="l" r="r" t="t"/>
                <a:pathLst>
                  <a:path extrusionOk="0" h="120000" w="71120">
                    <a:moveTo>
                      <a:pt x="0" y="0"/>
                    </a:moveTo>
                    <a:lnTo>
                      <a:pt x="0" y="0"/>
                    </a:lnTo>
                    <a:lnTo>
                      <a:pt x="70499"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7"/>
              <p:cNvSpPr/>
              <p:nvPr/>
            </p:nvSpPr>
            <p:spPr>
              <a:xfrm>
                <a:off x="7204354" y="3588461"/>
                <a:ext cx="93345" cy="158750"/>
              </a:xfrm>
              <a:custGeom>
                <a:rect b="b" l="l" r="r" t="t"/>
                <a:pathLst>
                  <a:path extrusionOk="0" h="158750" w="93345">
                    <a:moveTo>
                      <a:pt x="93294" y="133070"/>
                    </a:moveTo>
                    <a:lnTo>
                      <a:pt x="70497" y="0"/>
                    </a:lnTo>
                    <a:lnTo>
                      <a:pt x="47231" y="0"/>
                    </a:lnTo>
                    <a:lnTo>
                      <a:pt x="0" y="106972"/>
                    </a:lnTo>
                    <a:lnTo>
                      <a:pt x="0" y="133070"/>
                    </a:lnTo>
                    <a:lnTo>
                      <a:pt x="22783" y="133070"/>
                    </a:lnTo>
                    <a:lnTo>
                      <a:pt x="34556" y="106972"/>
                    </a:lnTo>
                    <a:lnTo>
                      <a:pt x="47231" y="106972"/>
                    </a:lnTo>
                    <a:lnTo>
                      <a:pt x="47231" y="133070"/>
                    </a:lnTo>
                    <a:lnTo>
                      <a:pt x="70497" y="158508"/>
                    </a:lnTo>
                    <a:lnTo>
                      <a:pt x="93294" y="158508"/>
                    </a:lnTo>
                    <a:lnTo>
                      <a:pt x="93294" y="13307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7"/>
              <p:cNvSpPr/>
              <p:nvPr/>
            </p:nvSpPr>
            <p:spPr>
              <a:xfrm>
                <a:off x="7239369" y="3721526"/>
                <a:ext cx="0" cy="26034"/>
              </a:xfrm>
              <a:custGeom>
                <a:rect b="b" l="l" r="r" t="t"/>
                <a:pathLst>
                  <a:path extrusionOk="0" h="26035" w="120000">
                    <a:moveTo>
                      <a:pt x="0" y="12718"/>
                    </a:moveTo>
                    <a:lnTo>
                      <a:pt x="0" y="12718"/>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17"/>
              <p:cNvSpPr/>
              <p:nvPr/>
            </p:nvSpPr>
            <p:spPr>
              <a:xfrm>
                <a:off x="7015403" y="3667404"/>
                <a:ext cx="236220" cy="133350"/>
              </a:xfrm>
              <a:custGeom>
                <a:rect b="b" l="l" r="r" t="t"/>
                <a:pathLst>
                  <a:path extrusionOk="0" h="133350" w="236220">
                    <a:moveTo>
                      <a:pt x="236181" y="54127"/>
                    </a:moveTo>
                    <a:lnTo>
                      <a:pt x="211734" y="54127"/>
                    </a:lnTo>
                    <a:lnTo>
                      <a:pt x="147916" y="102400"/>
                    </a:lnTo>
                    <a:lnTo>
                      <a:pt x="70510" y="79565"/>
                    </a:lnTo>
                    <a:lnTo>
                      <a:pt x="24447" y="0"/>
                    </a:lnTo>
                    <a:lnTo>
                      <a:pt x="0" y="0"/>
                    </a:lnTo>
                    <a:lnTo>
                      <a:pt x="0" y="28028"/>
                    </a:lnTo>
                    <a:lnTo>
                      <a:pt x="47244" y="107632"/>
                    </a:lnTo>
                    <a:lnTo>
                      <a:pt x="141008" y="133070"/>
                    </a:lnTo>
                    <a:lnTo>
                      <a:pt x="165684" y="133070"/>
                    </a:lnTo>
                    <a:lnTo>
                      <a:pt x="236181" y="79565"/>
                    </a:lnTo>
                    <a:lnTo>
                      <a:pt x="236181" y="54127"/>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7"/>
              <p:cNvSpPr/>
              <p:nvPr/>
            </p:nvSpPr>
            <p:spPr>
              <a:xfrm>
                <a:off x="7027635" y="3562358"/>
                <a:ext cx="0" cy="133350"/>
              </a:xfrm>
              <a:custGeom>
                <a:rect b="b" l="l" r="r" t="t"/>
                <a:pathLst>
                  <a:path extrusionOk="0" h="133350" w="120000">
                    <a:moveTo>
                      <a:pt x="0" y="0"/>
                    </a:moveTo>
                    <a:lnTo>
                      <a:pt x="0" y="0"/>
                    </a:lnTo>
                    <a:lnTo>
                      <a:pt x="0" y="133073"/>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17"/>
              <p:cNvSpPr/>
              <p:nvPr/>
            </p:nvSpPr>
            <p:spPr>
              <a:xfrm>
                <a:off x="7015403" y="3457333"/>
                <a:ext cx="141605" cy="131445"/>
              </a:xfrm>
              <a:custGeom>
                <a:rect b="b" l="l" r="r" t="t"/>
                <a:pathLst>
                  <a:path extrusionOk="0" h="131445" w="141604">
                    <a:moveTo>
                      <a:pt x="141008" y="0"/>
                    </a:moveTo>
                    <a:lnTo>
                      <a:pt x="117741" y="0"/>
                    </a:lnTo>
                    <a:lnTo>
                      <a:pt x="47244" y="25438"/>
                    </a:lnTo>
                    <a:lnTo>
                      <a:pt x="0" y="105029"/>
                    </a:lnTo>
                    <a:lnTo>
                      <a:pt x="0" y="131127"/>
                    </a:lnTo>
                    <a:lnTo>
                      <a:pt x="24447" y="131127"/>
                    </a:lnTo>
                    <a:lnTo>
                      <a:pt x="70510" y="51523"/>
                    </a:lnTo>
                    <a:lnTo>
                      <a:pt x="141008" y="25438"/>
                    </a:lnTo>
                    <a:lnTo>
                      <a:pt x="14100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7"/>
              <p:cNvSpPr/>
              <p:nvPr/>
            </p:nvSpPr>
            <p:spPr>
              <a:xfrm>
                <a:off x="7251589" y="3826561"/>
                <a:ext cx="376232" cy="371182"/>
              </a:xfrm>
              <a:prstGeom prst="rect">
                <a:avLst/>
              </a:prstGeom>
              <a:blipFill rotWithShape="1">
                <a:blip r:embed="rId2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17"/>
              <p:cNvSpPr/>
              <p:nvPr/>
            </p:nvSpPr>
            <p:spPr>
              <a:xfrm>
                <a:off x="6685411" y="2926973"/>
                <a:ext cx="119041" cy="133073"/>
              </a:xfrm>
              <a:prstGeom prst="rect">
                <a:avLst/>
              </a:prstGeom>
              <a:blipFill rotWithShape="1">
                <a:blip r:embed="rId2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7"/>
              <p:cNvSpPr/>
              <p:nvPr/>
            </p:nvSpPr>
            <p:spPr>
              <a:xfrm>
                <a:off x="6802977" y="3111578"/>
                <a:ext cx="188938" cy="266173"/>
              </a:xfrm>
              <a:prstGeom prst="rect">
                <a:avLst/>
              </a:prstGeom>
              <a:blipFill rotWithShape="1">
                <a:blip r:embed="rId2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17"/>
              <p:cNvSpPr/>
              <p:nvPr/>
            </p:nvSpPr>
            <p:spPr>
              <a:xfrm>
                <a:off x="6802977" y="3826561"/>
                <a:ext cx="259673" cy="291585"/>
              </a:xfrm>
              <a:prstGeom prst="rect">
                <a:avLst/>
              </a:prstGeom>
              <a:blipFill rotWithShape="1">
                <a:blip r:embed="rId2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17"/>
              <p:cNvSpPr/>
              <p:nvPr/>
            </p:nvSpPr>
            <p:spPr>
              <a:xfrm>
                <a:off x="6520509" y="3536264"/>
                <a:ext cx="118439" cy="131414"/>
              </a:xfrm>
              <a:prstGeom prst="rect">
                <a:avLst/>
              </a:prstGeom>
              <a:blipFill rotWithShape="1">
                <a:blip r:embed="rId2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17"/>
              <p:cNvSpPr/>
              <p:nvPr/>
            </p:nvSpPr>
            <p:spPr>
              <a:xfrm>
                <a:off x="6685411" y="4144241"/>
                <a:ext cx="119042" cy="133100"/>
              </a:xfrm>
              <a:prstGeom prst="rect">
                <a:avLst/>
              </a:prstGeom>
              <a:blipFill rotWithShape="1">
                <a:blip r:embed="rId2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7"/>
              <p:cNvSpPr/>
              <p:nvPr/>
            </p:nvSpPr>
            <p:spPr>
              <a:xfrm>
                <a:off x="7251586" y="3085490"/>
                <a:ext cx="400050" cy="372110"/>
              </a:xfrm>
              <a:custGeom>
                <a:rect b="b" l="l" r="r" t="t"/>
                <a:pathLst>
                  <a:path extrusionOk="0" h="372110" w="400050">
                    <a:moveTo>
                      <a:pt x="399491" y="0"/>
                    </a:moveTo>
                    <a:lnTo>
                      <a:pt x="376224" y="0"/>
                    </a:lnTo>
                    <a:lnTo>
                      <a:pt x="212432" y="79603"/>
                    </a:lnTo>
                    <a:lnTo>
                      <a:pt x="212432" y="105689"/>
                    </a:lnTo>
                    <a:lnTo>
                      <a:pt x="227012" y="140258"/>
                    </a:lnTo>
                    <a:lnTo>
                      <a:pt x="0" y="343801"/>
                    </a:lnTo>
                    <a:lnTo>
                      <a:pt x="0" y="371843"/>
                    </a:lnTo>
                    <a:lnTo>
                      <a:pt x="23266" y="371843"/>
                    </a:lnTo>
                    <a:lnTo>
                      <a:pt x="249237" y="166941"/>
                    </a:lnTo>
                    <a:lnTo>
                      <a:pt x="282930" y="185267"/>
                    </a:lnTo>
                    <a:lnTo>
                      <a:pt x="305727" y="185267"/>
                    </a:lnTo>
                    <a:lnTo>
                      <a:pt x="399491" y="26098"/>
                    </a:lnTo>
                    <a:lnTo>
                      <a:pt x="399491"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17"/>
              <p:cNvSpPr/>
              <p:nvPr/>
            </p:nvSpPr>
            <p:spPr>
              <a:xfrm>
                <a:off x="7981494" y="2966758"/>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17"/>
              <p:cNvSpPr/>
              <p:nvPr/>
            </p:nvSpPr>
            <p:spPr>
              <a:xfrm>
                <a:off x="8215788" y="2873470"/>
                <a:ext cx="118745" cy="133350"/>
              </a:xfrm>
              <a:custGeom>
                <a:rect b="b" l="l" r="r" t="t"/>
                <a:pathLst>
                  <a:path extrusionOk="0" h="133350" w="118745">
                    <a:moveTo>
                      <a:pt x="118439" y="0"/>
                    </a:moveTo>
                    <a:lnTo>
                      <a:pt x="0" y="0"/>
                    </a:lnTo>
                    <a:lnTo>
                      <a:pt x="0" y="133100"/>
                    </a:lnTo>
                    <a:lnTo>
                      <a:pt x="118439" y="133100"/>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7"/>
              <p:cNvSpPr/>
              <p:nvPr/>
            </p:nvSpPr>
            <p:spPr>
              <a:xfrm>
                <a:off x="8228713" y="2887187"/>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7"/>
              <p:cNvSpPr/>
              <p:nvPr/>
            </p:nvSpPr>
            <p:spPr>
              <a:xfrm>
                <a:off x="7981494" y="3628238"/>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17"/>
              <p:cNvSpPr/>
              <p:nvPr/>
            </p:nvSpPr>
            <p:spPr>
              <a:xfrm>
                <a:off x="8215788" y="3536264"/>
                <a:ext cx="118745" cy="131445"/>
              </a:xfrm>
              <a:custGeom>
                <a:rect b="b" l="l" r="r" t="t"/>
                <a:pathLst>
                  <a:path extrusionOk="0" h="131445" w="118745">
                    <a:moveTo>
                      <a:pt x="118439" y="0"/>
                    </a:moveTo>
                    <a:lnTo>
                      <a:pt x="0" y="0"/>
                    </a:lnTo>
                    <a:lnTo>
                      <a:pt x="0" y="131129"/>
                    </a:lnTo>
                    <a:lnTo>
                      <a:pt x="118439" y="131129"/>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7"/>
              <p:cNvSpPr/>
              <p:nvPr/>
            </p:nvSpPr>
            <p:spPr>
              <a:xfrm>
                <a:off x="8228713" y="3548667"/>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7"/>
              <p:cNvSpPr/>
              <p:nvPr/>
            </p:nvSpPr>
            <p:spPr>
              <a:xfrm>
                <a:off x="7981494" y="4212092"/>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17"/>
              <p:cNvSpPr/>
              <p:nvPr/>
            </p:nvSpPr>
            <p:spPr>
              <a:xfrm>
                <a:off x="8215788" y="4144241"/>
                <a:ext cx="118745" cy="133350"/>
              </a:xfrm>
              <a:custGeom>
                <a:rect b="b" l="l" r="r" t="t"/>
                <a:pathLst>
                  <a:path extrusionOk="0" h="133350" w="118745">
                    <a:moveTo>
                      <a:pt x="118439" y="0"/>
                    </a:moveTo>
                    <a:lnTo>
                      <a:pt x="0" y="0"/>
                    </a:lnTo>
                    <a:lnTo>
                      <a:pt x="0" y="133100"/>
                    </a:lnTo>
                    <a:lnTo>
                      <a:pt x="118439" y="133100"/>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7"/>
              <p:cNvSpPr/>
              <p:nvPr/>
            </p:nvSpPr>
            <p:spPr>
              <a:xfrm>
                <a:off x="8228713" y="4157958"/>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7"/>
              <p:cNvSpPr/>
              <p:nvPr/>
            </p:nvSpPr>
            <p:spPr>
              <a:xfrm>
                <a:off x="5061638" y="3060046"/>
                <a:ext cx="234998" cy="184632"/>
              </a:xfrm>
              <a:prstGeom prst="rect">
                <a:avLst/>
              </a:prstGeom>
              <a:blipFill rotWithShape="1">
                <a:blip r:embed="rId3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17"/>
              <p:cNvSpPr/>
              <p:nvPr/>
            </p:nvSpPr>
            <p:spPr>
              <a:xfrm>
                <a:off x="4965992" y="3536276"/>
                <a:ext cx="330835" cy="556895"/>
              </a:xfrm>
              <a:custGeom>
                <a:rect b="b" l="l" r="r" t="t"/>
                <a:pathLst>
                  <a:path extrusionOk="0" h="556895" w="330835">
                    <a:moveTo>
                      <a:pt x="330644" y="0"/>
                    </a:moveTo>
                    <a:lnTo>
                      <a:pt x="307378" y="0"/>
                    </a:lnTo>
                    <a:lnTo>
                      <a:pt x="169773" y="236550"/>
                    </a:lnTo>
                    <a:lnTo>
                      <a:pt x="70497" y="159156"/>
                    </a:lnTo>
                    <a:lnTo>
                      <a:pt x="47701" y="159156"/>
                    </a:lnTo>
                    <a:lnTo>
                      <a:pt x="47701" y="185254"/>
                    </a:lnTo>
                    <a:lnTo>
                      <a:pt x="151980" y="267119"/>
                    </a:lnTo>
                    <a:lnTo>
                      <a:pt x="0" y="528396"/>
                    </a:lnTo>
                    <a:lnTo>
                      <a:pt x="0" y="556437"/>
                    </a:lnTo>
                    <a:lnTo>
                      <a:pt x="25146" y="556437"/>
                    </a:lnTo>
                    <a:lnTo>
                      <a:pt x="179400" y="288645"/>
                    </a:lnTo>
                    <a:lnTo>
                      <a:pt x="282930" y="369887"/>
                    </a:lnTo>
                    <a:lnTo>
                      <a:pt x="307378" y="369887"/>
                    </a:lnTo>
                    <a:lnTo>
                      <a:pt x="307378" y="343789"/>
                    </a:lnTo>
                    <a:lnTo>
                      <a:pt x="197129" y="257873"/>
                    </a:lnTo>
                    <a:lnTo>
                      <a:pt x="330644" y="26085"/>
                    </a:lnTo>
                    <a:lnTo>
                      <a:pt x="330644"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17"/>
              <p:cNvSpPr/>
              <p:nvPr/>
            </p:nvSpPr>
            <p:spPr>
              <a:xfrm>
                <a:off x="4330088" y="3536264"/>
                <a:ext cx="188938" cy="131129"/>
              </a:xfrm>
              <a:prstGeom prst="rect">
                <a:avLst/>
              </a:prstGeom>
              <a:blipFill rotWithShape="1">
                <a:blip r:embed="rId3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7"/>
              <p:cNvSpPr/>
              <p:nvPr/>
            </p:nvSpPr>
            <p:spPr>
              <a:xfrm>
                <a:off x="3835886" y="3602144"/>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17"/>
              <p:cNvSpPr/>
              <p:nvPr/>
            </p:nvSpPr>
            <p:spPr>
              <a:xfrm>
                <a:off x="4330088" y="4118146"/>
                <a:ext cx="188938" cy="159194"/>
              </a:xfrm>
              <a:prstGeom prst="rect">
                <a:avLst/>
              </a:prstGeom>
              <a:blipFill rotWithShape="1">
                <a:blip r:embed="rId3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7"/>
              <p:cNvSpPr/>
              <p:nvPr/>
            </p:nvSpPr>
            <p:spPr>
              <a:xfrm>
                <a:off x="3835886" y="4212092"/>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7"/>
              <p:cNvSpPr/>
              <p:nvPr/>
            </p:nvSpPr>
            <p:spPr>
              <a:xfrm>
                <a:off x="4965992" y="3060052"/>
                <a:ext cx="424180" cy="1033144"/>
              </a:xfrm>
              <a:custGeom>
                <a:rect b="b" l="l" r="r" t="t"/>
                <a:pathLst>
                  <a:path extrusionOk="0" h="1033145" w="424179">
                    <a:moveTo>
                      <a:pt x="377875" y="873493"/>
                    </a:moveTo>
                    <a:lnTo>
                      <a:pt x="353428" y="873493"/>
                    </a:lnTo>
                    <a:lnTo>
                      <a:pt x="0" y="1004620"/>
                    </a:lnTo>
                    <a:lnTo>
                      <a:pt x="0" y="1032662"/>
                    </a:lnTo>
                    <a:lnTo>
                      <a:pt x="25146" y="1032662"/>
                    </a:lnTo>
                    <a:lnTo>
                      <a:pt x="377875" y="899591"/>
                    </a:lnTo>
                    <a:lnTo>
                      <a:pt x="377875" y="873493"/>
                    </a:lnTo>
                    <a:close/>
                  </a:path>
                  <a:path extrusionOk="0" h="1033145" w="424179">
                    <a:moveTo>
                      <a:pt x="424167" y="184632"/>
                    </a:moveTo>
                    <a:lnTo>
                      <a:pt x="401370" y="184632"/>
                    </a:lnTo>
                    <a:lnTo>
                      <a:pt x="255600" y="370878"/>
                    </a:lnTo>
                    <a:lnTo>
                      <a:pt x="118440" y="0"/>
                    </a:lnTo>
                    <a:lnTo>
                      <a:pt x="95643" y="0"/>
                    </a:lnTo>
                    <a:lnTo>
                      <a:pt x="95643" y="25438"/>
                    </a:lnTo>
                    <a:lnTo>
                      <a:pt x="233629" y="398932"/>
                    </a:lnTo>
                    <a:lnTo>
                      <a:pt x="70497" y="607352"/>
                    </a:lnTo>
                    <a:lnTo>
                      <a:pt x="70497" y="635381"/>
                    </a:lnTo>
                    <a:lnTo>
                      <a:pt x="95643" y="635381"/>
                    </a:lnTo>
                    <a:lnTo>
                      <a:pt x="248158" y="438238"/>
                    </a:lnTo>
                    <a:lnTo>
                      <a:pt x="330644" y="661479"/>
                    </a:lnTo>
                    <a:lnTo>
                      <a:pt x="353428" y="661479"/>
                    </a:lnTo>
                    <a:lnTo>
                      <a:pt x="353428" y="635381"/>
                    </a:lnTo>
                    <a:lnTo>
                      <a:pt x="270040" y="409943"/>
                    </a:lnTo>
                    <a:lnTo>
                      <a:pt x="424167" y="210705"/>
                    </a:lnTo>
                    <a:lnTo>
                      <a:pt x="424167" y="18463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17"/>
              <p:cNvSpPr/>
              <p:nvPr/>
            </p:nvSpPr>
            <p:spPr>
              <a:xfrm>
                <a:off x="5296637" y="3191176"/>
                <a:ext cx="118110" cy="133350"/>
              </a:xfrm>
              <a:custGeom>
                <a:rect b="b" l="l" r="r" t="t"/>
                <a:pathLst>
                  <a:path extrusionOk="0" h="133350" w="118110">
                    <a:moveTo>
                      <a:pt x="117969" y="0"/>
                    </a:moveTo>
                    <a:lnTo>
                      <a:pt x="0" y="0"/>
                    </a:lnTo>
                    <a:lnTo>
                      <a:pt x="0" y="133073"/>
                    </a:lnTo>
                    <a:lnTo>
                      <a:pt x="117969" y="133073"/>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17"/>
              <p:cNvSpPr/>
              <p:nvPr/>
            </p:nvSpPr>
            <p:spPr>
              <a:xfrm>
                <a:off x="5308857" y="3204867"/>
                <a:ext cx="116839" cy="133350"/>
              </a:xfrm>
              <a:custGeom>
                <a:rect b="b" l="l" r="r" t="t"/>
                <a:pathLst>
                  <a:path extrusionOk="0" h="133350" w="116839">
                    <a:moveTo>
                      <a:pt x="0" y="0"/>
                    </a:moveTo>
                    <a:lnTo>
                      <a:pt x="116794" y="0"/>
                    </a:lnTo>
                    <a:lnTo>
                      <a:pt x="116794" y="133073"/>
                    </a:lnTo>
                    <a:lnTo>
                      <a:pt x="0" y="133073"/>
                    </a:lnTo>
                    <a:lnTo>
                      <a:pt x="0" y="0"/>
                    </a:lnTo>
                    <a:close/>
                  </a:path>
                </a:pathLst>
              </a:custGeom>
              <a:noFill/>
              <a:ln cap="flat" cmpd="sng" w="2390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7"/>
              <p:cNvSpPr/>
              <p:nvPr/>
            </p:nvSpPr>
            <p:spPr>
              <a:xfrm>
                <a:off x="5296637" y="3403847"/>
                <a:ext cx="118110" cy="132715"/>
              </a:xfrm>
              <a:custGeom>
                <a:rect b="b" l="l" r="r" t="t"/>
                <a:pathLst>
                  <a:path extrusionOk="0" h="132714" w="118110">
                    <a:moveTo>
                      <a:pt x="117969" y="0"/>
                    </a:moveTo>
                    <a:lnTo>
                      <a:pt x="0" y="0"/>
                    </a:lnTo>
                    <a:lnTo>
                      <a:pt x="0" y="132416"/>
                    </a:lnTo>
                    <a:lnTo>
                      <a:pt x="117969" y="132416"/>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17"/>
              <p:cNvSpPr/>
              <p:nvPr/>
            </p:nvSpPr>
            <p:spPr>
              <a:xfrm>
                <a:off x="5308857" y="3417538"/>
                <a:ext cx="116839" cy="131445"/>
              </a:xfrm>
              <a:custGeom>
                <a:rect b="b" l="l" r="r" t="t"/>
                <a:pathLst>
                  <a:path extrusionOk="0" h="131445" w="116839">
                    <a:moveTo>
                      <a:pt x="0" y="0"/>
                    </a:moveTo>
                    <a:lnTo>
                      <a:pt x="116794" y="0"/>
                    </a:lnTo>
                    <a:lnTo>
                      <a:pt x="116794" y="131129"/>
                    </a:lnTo>
                    <a:lnTo>
                      <a:pt x="0" y="131129"/>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17"/>
              <p:cNvSpPr/>
              <p:nvPr/>
            </p:nvSpPr>
            <p:spPr>
              <a:xfrm>
                <a:off x="5296637" y="3641955"/>
                <a:ext cx="118110" cy="133350"/>
              </a:xfrm>
              <a:custGeom>
                <a:rect b="b" l="l" r="r" t="t"/>
                <a:pathLst>
                  <a:path extrusionOk="0" h="133350" w="118110">
                    <a:moveTo>
                      <a:pt x="117969" y="0"/>
                    </a:moveTo>
                    <a:lnTo>
                      <a:pt x="0" y="0"/>
                    </a:lnTo>
                    <a:lnTo>
                      <a:pt x="0" y="133073"/>
                    </a:lnTo>
                    <a:lnTo>
                      <a:pt x="117969" y="133073"/>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17"/>
              <p:cNvSpPr/>
              <p:nvPr/>
            </p:nvSpPr>
            <p:spPr>
              <a:xfrm>
                <a:off x="5308857" y="3655646"/>
                <a:ext cx="116839" cy="131445"/>
              </a:xfrm>
              <a:custGeom>
                <a:rect b="b" l="l" r="r" t="t"/>
                <a:pathLst>
                  <a:path extrusionOk="0" h="131445" w="116839">
                    <a:moveTo>
                      <a:pt x="0" y="0"/>
                    </a:moveTo>
                    <a:lnTo>
                      <a:pt x="116794" y="0"/>
                    </a:lnTo>
                    <a:lnTo>
                      <a:pt x="116794" y="131129"/>
                    </a:lnTo>
                    <a:lnTo>
                      <a:pt x="0" y="131129"/>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17"/>
              <p:cNvSpPr/>
              <p:nvPr/>
            </p:nvSpPr>
            <p:spPr>
              <a:xfrm>
                <a:off x="5296637" y="3854600"/>
                <a:ext cx="118110" cy="130810"/>
              </a:xfrm>
              <a:custGeom>
                <a:rect b="b" l="l" r="r" t="t"/>
                <a:pathLst>
                  <a:path extrusionOk="0" h="130810" w="118110">
                    <a:moveTo>
                      <a:pt x="117969" y="0"/>
                    </a:moveTo>
                    <a:lnTo>
                      <a:pt x="0" y="0"/>
                    </a:lnTo>
                    <a:lnTo>
                      <a:pt x="0" y="130472"/>
                    </a:lnTo>
                    <a:lnTo>
                      <a:pt x="117969" y="130472"/>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17"/>
              <p:cNvSpPr/>
              <p:nvPr/>
            </p:nvSpPr>
            <p:spPr>
              <a:xfrm>
                <a:off x="5308857" y="3866347"/>
                <a:ext cx="116839" cy="133350"/>
              </a:xfrm>
              <a:custGeom>
                <a:rect b="b" l="l" r="r" t="t"/>
                <a:pathLst>
                  <a:path extrusionOk="0" h="133350" w="116839">
                    <a:moveTo>
                      <a:pt x="0" y="0"/>
                    </a:moveTo>
                    <a:lnTo>
                      <a:pt x="116794" y="0"/>
                    </a:lnTo>
                    <a:lnTo>
                      <a:pt x="116794" y="133073"/>
                    </a:lnTo>
                    <a:lnTo>
                      <a:pt x="0" y="133073"/>
                    </a:lnTo>
                    <a:lnTo>
                      <a:pt x="0" y="0"/>
                    </a:lnTo>
                    <a:close/>
                  </a:path>
                </a:pathLst>
              </a:custGeom>
              <a:noFill/>
              <a:ln cap="flat" cmpd="sng" w="2390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8" name="Google Shape;458;p17"/>
            <p:cNvSpPr txBox="1"/>
            <p:nvPr/>
          </p:nvSpPr>
          <p:spPr>
            <a:xfrm>
              <a:off x="8505097" y="3128250"/>
              <a:ext cx="273685"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I/O</a:t>
              </a:r>
              <a:endParaRPr sz="1650">
                <a:solidFill>
                  <a:schemeClr val="dk1"/>
                </a:solidFill>
                <a:latin typeface="Arial"/>
                <a:ea typeface="Arial"/>
                <a:cs typeface="Arial"/>
                <a:sym typeface="Arial"/>
              </a:endParaRPr>
            </a:p>
          </p:txBody>
        </p:sp>
        <p:sp>
          <p:nvSpPr>
            <p:cNvPr id="459" name="Google Shape;459;p17"/>
            <p:cNvSpPr txBox="1"/>
            <p:nvPr/>
          </p:nvSpPr>
          <p:spPr>
            <a:xfrm>
              <a:off x="5631301" y="2439361"/>
              <a:ext cx="1953895"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per-connection threads</a:t>
              </a:r>
              <a:endParaRPr sz="1400">
                <a:solidFill>
                  <a:schemeClr val="dk1"/>
                </a:solidFill>
                <a:latin typeface="Arial"/>
                <a:ea typeface="Arial"/>
                <a:cs typeface="Arial"/>
                <a:sym typeface="Arial"/>
              </a:endParaRPr>
            </a:p>
          </p:txBody>
        </p:sp>
        <p:sp>
          <p:nvSpPr>
            <p:cNvPr id="460" name="Google Shape;460;p17"/>
            <p:cNvSpPr txBox="1"/>
            <p:nvPr/>
          </p:nvSpPr>
          <p:spPr>
            <a:xfrm>
              <a:off x="8692389" y="2439361"/>
              <a:ext cx="1545590" cy="28241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per-object threads</a:t>
              </a:r>
              <a:endParaRPr sz="1400">
                <a:solidFill>
                  <a:schemeClr val="dk1"/>
                </a:solidFill>
                <a:latin typeface="Arial"/>
                <a:ea typeface="Arial"/>
                <a:cs typeface="Arial"/>
                <a:sym typeface="Arial"/>
              </a:endParaRPr>
            </a:p>
          </p:txBody>
        </p:sp>
        <p:sp>
          <p:nvSpPr>
            <p:cNvPr id="461" name="Google Shape;461;p17"/>
            <p:cNvSpPr txBox="1"/>
            <p:nvPr/>
          </p:nvSpPr>
          <p:spPr>
            <a:xfrm>
              <a:off x="3817653" y="3207821"/>
              <a:ext cx="622934"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sp>
          <p:nvSpPr>
            <p:cNvPr id="462" name="Google Shape;462;p17"/>
            <p:cNvSpPr txBox="1"/>
            <p:nvPr/>
          </p:nvSpPr>
          <p:spPr>
            <a:xfrm>
              <a:off x="6973611" y="3180439"/>
              <a:ext cx="623570"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sp>
          <p:nvSpPr>
            <p:cNvPr id="463" name="Google Shape;463;p17"/>
            <p:cNvSpPr txBox="1"/>
            <p:nvPr/>
          </p:nvSpPr>
          <p:spPr>
            <a:xfrm>
              <a:off x="9822967" y="3074747"/>
              <a:ext cx="623570"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grpSp>
      <p:sp>
        <p:nvSpPr>
          <p:cNvPr id="464" name="Google Shape;464;p17"/>
          <p:cNvSpPr txBox="1"/>
          <p:nvPr/>
        </p:nvSpPr>
        <p:spPr>
          <a:xfrm>
            <a:off x="1184635" y="4344086"/>
            <a:ext cx="9753600"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1B1B1B"/>
                </a:solidFill>
                <a:latin typeface="Calibri"/>
                <a:ea typeface="Calibri"/>
                <a:cs typeface="Calibri"/>
                <a:sym typeface="Calibri"/>
              </a:rPr>
              <a:t>Ba kiến trúc tổ chức cơ bản cho server đa luồng</a:t>
            </a:r>
            <a:endParaRPr b="1" sz="2400">
              <a:solidFill>
                <a:srgbClr val="1B1B1B"/>
              </a:solidFill>
              <a:latin typeface="Calibri"/>
              <a:ea typeface="Calibri"/>
              <a:cs typeface="Calibri"/>
              <a:sym typeface="Calibri"/>
            </a:endParaRPr>
          </a:p>
          <a:p>
            <a:pPr indent="-342900" lvl="0" marL="342900" marR="0" rtl="0" algn="l">
              <a:spcBef>
                <a:spcPts val="0"/>
              </a:spcBef>
              <a:spcAft>
                <a:spcPts val="0"/>
              </a:spcAft>
              <a:buClr>
                <a:srgbClr val="1B1B1B"/>
              </a:buClr>
              <a:buSzPts val="2400"/>
              <a:buFont typeface="Calibri"/>
              <a:buAutoNum type="arabicPeriod"/>
            </a:pPr>
            <a:r>
              <a:rPr i="0" lang="en-US" sz="2400">
                <a:solidFill>
                  <a:srgbClr val="1B1B1B"/>
                </a:solidFill>
                <a:latin typeface="Calibri"/>
                <a:ea typeface="Calibri"/>
                <a:cs typeface="Calibri"/>
                <a:sym typeface="Calibri"/>
              </a:rPr>
              <a:t>Thread-per-request (Luồng cho mỗi request)</a:t>
            </a:r>
            <a:endParaRPr/>
          </a:p>
          <a:p>
            <a:pPr indent="-342900" lvl="0" marL="342900" marR="0" rtl="0" algn="l">
              <a:spcBef>
                <a:spcPts val="0"/>
              </a:spcBef>
              <a:spcAft>
                <a:spcPts val="0"/>
              </a:spcAft>
              <a:buClr>
                <a:srgbClr val="1B1B1B"/>
              </a:buClr>
              <a:buSzPts val="2400"/>
              <a:buFont typeface="Calibri"/>
              <a:buAutoNum type="arabicPeriod"/>
            </a:pPr>
            <a:r>
              <a:rPr i="0" lang="en-US" sz="2400">
                <a:solidFill>
                  <a:srgbClr val="1B1B1B"/>
                </a:solidFill>
                <a:latin typeface="Calibri"/>
                <a:ea typeface="Calibri"/>
                <a:cs typeface="Calibri"/>
                <a:sym typeface="Calibri"/>
              </a:rPr>
              <a:t>Thread-per-connection (Luồng cho mỗi kết nối)</a:t>
            </a:r>
            <a:endParaRPr/>
          </a:p>
          <a:p>
            <a:pPr indent="-342900" lvl="0" marL="342900" marR="0" rtl="0" algn="l">
              <a:spcBef>
                <a:spcPts val="0"/>
              </a:spcBef>
              <a:spcAft>
                <a:spcPts val="0"/>
              </a:spcAft>
              <a:buClr>
                <a:srgbClr val="1B1B1B"/>
              </a:buClr>
              <a:buSzPts val="2400"/>
              <a:buFont typeface="Calibri"/>
              <a:buAutoNum type="arabicPeriod"/>
            </a:pPr>
            <a:r>
              <a:rPr i="0" lang="en-US" sz="2400">
                <a:solidFill>
                  <a:srgbClr val="1B1B1B"/>
                </a:solidFill>
                <a:latin typeface="Calibri"/>
                <a:ea typeface="Calibri"/>
                <a:cs typeface="Calibri"/>
                <a:sym typeface="Calibri"/>
              </a:rPr>
              <a:t>Thread-per-object (Luồng cho mỗi đối tượng)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8"/>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0" name="Google Shape;470;p18"/>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SERVER TRONG HPT</a:t>
            </a:r>
            <a:endParaRPr/>
          </a:p>
        </p:txBody>
      </p:sp>
      <p:sp>
        <p:nvSpPr>
          <p:cNvPr id="471" name="Google Shape;471;p18"/>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72" name="Google Shape;472;p18"/>
          <p:cNvGrpSpPr/>
          <p:nvPr/>
        </p:nvGrpSpPr>
        <p:grpSpPr>
          <a:xfrm>
            <a:off x="2133600" y="1472588"/>
            <a:ext cx="7543186" cy="2355259"/>
            <a:chOff x="1897639" y="2439361"/>
            <a:chExt cx="8548898" cy="2669278"/>
          </a:xfrm>
        </p:grpSpPr>
        <p:grpSp>
          <p:nvGrpSpPr>
            <p:cNvPr id="473" name="Google Shape;473;p18"/>
            <p:cNvGrpSpPr/>
            <p:nvPr/>
          </p:nvGrpSpPr>
          <p:grpSpPr>
            <a:xfrm>
              <a:off x="1897639" y="2450230"/>
              <a:ext cx="8196331" cy="2250440"/>
              <a:chOff x="373638" y="2450230"/>
              <a:chExt cx="8196331" cy="2250440"/>
            </a:xfrm>
          </p:grpSpPr>
          <p:sp>
            <p:nvSpPr>
              <p:cNvPr id="474" name="Google Shape;474;p18"/>
              <p:cNvSpPr/>
              <p:nvPr/>
            </p:nvSpPr>
            <p:spPr>
              <a:xfrm>
                <a:off x="421474" y="2450230"/>
                <a:ext cx="2001520" cy="2250440"/>
              </a:xfrm>
              <a:custGeom>
                <a:rect b="b" l="l" r="r" t="t"/>
                <a:pathLst>
                  <a:path extrusionOk="0" h="2250440" w="2001520">
                    <a:moveTo>
                      <a:pt x="1001659" y="0"/>
                    </a:moveTo>
                    <a:lnTo>
                      <a:pt x="955821" y="1160"/>
                    </a:lnTo>
                    <a:lnTo>
                      <a:pt x="910511" y="4607"/>
                    </a:lnTo>
                    <a:lnTo>
                      <a:pt x="865773" y="10291"/>
                    </a:lnTo>
                    <a:lnTo>
                      <a:pt x="821651" y="18162"/>
                    </a:lnTo>
                    <a:lnTo>
                      <a:pt x="778189" y="28170"/>
                    </a:lnTo>
                    <a:lnTo>
                      <a:pt x="735433" y="40266"/>
                    </a:lnTo>
                    <a:lnTo>
                      <a:pt x="693425" y="54399"/>
                    </a:lnTo>
                    <a:lnTo>
                      <a:pt x="652211" y="70518"/>
                    </a:lnTo>
                    <a:lnTo>
                      <a:pt x="611834" y="88575"/>
                    </a:lnTo>
                    <a:lnTo>
                      <a:pt x="572339" y="108520"/>
                    </a:lnTo>
                    <a:lnTo>
                      <a:pt x="533770" y="130301"/>
                    </a:lnTo>
                    <a:lnTo>
                      <a:pt x="496172" y="153870"/>
                    </a:lnTo>
                    <a:lnTo>
                      <a:pt x="459588" y="179177"/>
                    </a:lnTo>
                    <a:lnTo>
                      <a:pt x="424063" y="206170"/>
                    </a:lnTo>
                    <a:lnTo>
                      <a:pt x="389641" y="234802"/>
                    </a:lnTo>
                    <a:lnTo>
                      <a:pt x="356367" y="265020"/>
                    </a:lnTo>
                    <a:lnTo>
                      <a:pt x="324284" y="296776"/>
                    </a:lnTo>
                    <a:lnTo>
                      <a:pt x="293437" y="330020"/>
                    </a:lnTo>
                    <a:lnTo>
                      <a:pt x="263871" y="364701"/>
                    </a:lnTo>
                    <a:lnTo>
                      <a:pt x="235629" y="400770"/>
                    </a:lnTo>
                    <a:lnTo>
                      <a:pt x="208755" y="438177"/>
                    </a:lnTo>
                    <a:lnTo>
                      <a:pt x="183295" y="476871"/>
                    </a:lnTo>
                    <a:lnTo>
                      <a:pt x="159292" y="516803"/>
                    </a:lnTo>
                    <a:lnTo>
                      <a:pt x="136790" y="557923"/>
                    </a:lnTo>
                    <a:lnTo>
                      <a:pt x="115834" y="600181"/>
                    </a:lnTo>
                    <a:lnTo>
                      <a:pt x="96468" y="643526"/>
                    </a:lnTo>
                    <a:lnTo>
                      <a:pt x="78737" y="687909"/>
                    </a:lnTo>
                    <a:lnTo>
                      <a:pt x="62684" y="733281"/>
                    </a:lnTo>
                    <a:lnTo>
                      <a:pt x="48354" y="779590"/>
                    </a:lnTo>
                    <a:lnTo>
                      <a:pt x="35791" y="826787"/>
                    </a:lnTo>
                    <a:lnTo>
                      <a:pt x="25039" y="874822"/>
                    </a:lnTo>
                    <a:lnTo>
                      <a:pt x="16143" y="923645"/>
                    </a:lnTo>
                    <a:lnTo>
                      <a:pt x="9146" y="973206"/>
                    </a:lnTo>
                    <a:lnTo>
                      <a:pt x="4094" y="1023456"/>
                    </a:lnTo>
                    <a:lnTo>
                      <a:pt x="1031" y="1074343"/>
                    </a:lnTo>
                    <a:lnTo>
                      <a:pt x="0" y="1125819"/>
                    </a:lnTo>
                    <a:lnTo>
                      <a:pt x="1031" y="1177189"/>
                    </a:lnTo>
                    <a:lnTo>
                      <a:pt x="4094" y="1227974"/>
                    </a:lnTo>
                    <a:lnTo>
                      <a:pt x="9146" y="1278125"/>
                    </a:lnTo>
                    <a:lnTo>
                      <a:pt x="16143" y="1327591"/>
                    </a:lnTo>
                    <a:lnTo>
                      <a:pt x="25039" y="1376323"/>
                    </a:lnTo>
                    <a:lnTo>
                      <a:pt x="35791" y="1424269"/>
                    </a:lnTo>
                    <a:lnTo>
                      <a:pt x="48354" y="1471381"/>
                    </a:lnTo>
                    <a:lnTo>
                      <a:pt x="62684" y="1517609"/>
                    </a:lnTo>
                    <a:lnTo>
                      <a:pt x="78737" y="1562902"/>
                    </a:lnTo>
                    <a:lnTo>
                      <a:pt x="96468" y="1607210"/>
                    </a:lnTo>
                    <a:lnTo>
                      <a:pt x="115834" y="1650483"/>
                    </a:lnTo>
                    <a:lnTo>
                      <a:pt x="136790" y="1692672"/>
                    </a:lnTo>
                    <a:lnTo>
                      <a:pt x="159292" y="1733726"/>
                    </a:lnTo>
                    <a:lnTo>
                      <a:pt x="183295" y="1773596"/>
                    </a:lnTo>
                    <a:lnTo>
                      <a:pt x="208755" y="1812231"/>
                    </a:lnTo>
                    <a:lnTo>
                      <a:pt x="235629" y="1849581"/>
                    </a:lnTo>
                    <a:lnTo>
                      <a:pt x="263871" y="1885597"/>
                    </a:lnTo>
                    <a:lnTo>
                      <a:pt x="293437" y="1920228"/>
                    </a:lnTo>
                    <a:lnTo>
                      <a:pt x="324284" y="1953424"/>
                    </a:lnTo>
                    <a:lnTo>
                      <a:pt x="356367" y="1985136"/>
                    </a:lnTo>
                    <a:lnTo>
                      <a:pt x="389641" y="2015314"/>
                    </a:lnTo>
                    <a:lnTo>
                      <a:pt x="424063" y="2043906"/>
                    </a:lnTo>
                    <a:lnTo>
                      <a:pt x="459588" y="2070865"/>
                    </a:lnTo>
                    <a:lnTo>
                      <a:pt x="496172" y="2096138"/>
                    </a:lnTo>
                    <a:lnTo>
                      <a:pt x="533770" y="2119677"/>
                    </a:lnTo>
                    <a:lnTo>
                      <a:pt x="572339" y="2141431"/>
                    </a:lnTo>
                    <a:lnTo>
                      <a:pt x="611834" y="2161351"/>
                    </a:lnTo>
                    <a:lnTo>
                      <a:pt x="652211" y="2179386"/>
                    </a:lnTo>
                    <a:lnTo>
                      <a:pt x="693425" y="2195487"/>
                    </a:lnTo>
                    <a:lnTo>
                      <a:pt x="735433" y="2209603"/>
                    </a:lnTo>
                    <a:lnTo>
                      <a:pt x="778189" y="2221685"/>
                    </a:lnTo>
                    <a:lnTo>
                      <a:pt x="821651" y="2231682"/>
                    </a:lnTo>
                    <a:lnTo>
                      <a:pt x="865773" y="2239544"/>
                    </a:lnTo>
                    <a:lnTo>
                      <a:pt x="910511" y="2245222"/>
                    </a:lnTo>
                    <a:lnTo>
                      <a:pt x="955821" y="2248666"/>
                    </a:lnTo>
                    <a:lnTo>
                      <a:pt x="1001659" y="2249825"/>
                    </a:lnTo>
                    <a:lnTo>
                      <a:pt x="1047444" y="2248666"/>
                    </a:lnTo>
                    <a:lnTo>
                      <a:pt x="1092696" y="2245222"/>
                    </a:lnTo>
                    <a:lnTo>
                      <a:pt x="1137371" y="2239544"/>
                    </a:lnTo>
                    <a:lnTo>
                      <a:pt x="1181426" y="2231682"/>
                    </a:lnTo>
                    <a:lnTo>
                      <a:pt x="1224817" y="2221685"/>
                    </a:lnTo>
                    <a:lnTo>
                      <a:pt x="1267500" y="2209603"/>
                    </a:lnTo>
                    <a:lnTo>
                      <a:pt x="1309430" y="2195487"/>
                    </a:lnTo>
                    <a:lnTo>
                      <a:pt x="1350565" y="2179386"/>
                    </a:lnTo>
                    <a:lnTo>
                      <a:pt x="1390859" y="2161351"/>
                    </a:lnTo>
                    <a:lnTo>
                      <a:pt x="1430270" y="2141431"/>
                    </a:lnTo>
                    <a:lnTo>
                      <a:pt x="1468754" y="2119677"/>
                    </a:lnTo>
                    <a:lnTo>
                      <a:pt x="1506265" y="2096138"/>
                    </a:lnTo>
                    <a:lnTo>
                      <a:pt x="1542762" y="2070865"/>
                    </a:lnTo>
                    <a:lnTo>
                      <a:pt x="1578199" y="2043906"/>
                    </a:lnTo>
                    <a:lnTo>
                      <a:pt x="1612533" y="2015314"/>
                    </a:lnTo>
                    <a:lnTo>
                      <a:pt x="1645719" y="1985136"/>
                    </a:lnTo>
                    <a:lnTo>
                      <a:pt x="1677715" y="1953424"/>
                    </a:lnTo>
                    <a:lnTo>
                      <a:pt x="1708476" y="1920228"/>
                    </a:lnTo>
                    <a:lnTo>
                      <a:pt x="1737958" y="1885597"/>
                    </a:lnTo>
                    <a:lnTo>
                      <a:pt x="1766117" y="1849581"/>
                    </a:lnTo>
                    <a:lnTo>
                      <a:pt x="1792910" y="1812231"/>
                    </a:lnTo>
                    <a:lnTo>
                      <a:pt x="1818293" y="1773596"/>
                    </a:lnTo>
                    <a:lnTo>
                      <a:pt x="1842221" y="1733726"/>
                    </a:lnTo>
                    <a:lnTo>
                      <a:pt x="1864650" y="1692672"/>
                    </a:lnTo>
                    <a:lnTo>
                      <a:pt x="1885538" y="1650483"/>
                    </a:lnTo>
                    <a:lnTo>
                      <a:pt x="1904839" y="1607210"/>
                    </a:lnTo>
                    <a:lnTo>
                      <a:pt x="1922511" y="1562902"/>
                    </a:lnTo>
                    <a:lnTo>
                      <a:pt x="1938509" y="1517609"/>
                    </a:lnTo>
                    <a:lnTo>
                      <a:pt x="1952789" y="1471381"/>
                    </a:lnTo>
                    <a:lnTo>
                      <a:pt x="1965308" y="1424269"/>
                    </a:lnTo>
                    <a:lnTo>
                      <a:pt x="1976021" y="1376323"/>
                    </a:lnTo>
                    <a:lnTo>
                      <a:pt x="1984884" y="1327591"/>
                    </a:lnTo>
                    <a:lnTo>
                      <a:pt x="1991854" y="1278125"/>
                    </a:lnTo>
                    <a:lnTo>
                      <a:pt x="1996888" y="1227974"/>
                    </a:lnTo>
                    <a:lnTo>
                      <a:pt x="1999940" y="1177189"/>
                    </a:lnTo>
                    <a:lnTo>
                      <a:pt x="2000967" y="1125819"/>
                    </a:lnTo>
                    <a:lnTo>
                      <a:pt x="1999940" y="1074343"/>
                    </a:lnTo>
                    <a:lnTo>
                      <a:pt x="1996888" y="1023456"/>
                    </a:lnTo>
                    <a:lnTo>
                      <a:pt x="1991854" y="973206"/>
                    </a:lnTo>
                    <a:lnTo>
                      <a:pt x="1984884" y="923645"/>
                    </a:lnTo>
                    <a:lnTo>
                      <a:pt x="1976021" y="874822"/>
                    </a:lnTo>
                    <a:lnTo>
                      <a:pt x="1965308" y="826787"/>
                    </a:lnTo>
                    <a:lnTo>
                      <a:pt x="1952789" y="779590"/>
                    </a:lnTo>
                    <a:lnTo>
                      <a:pt x="1938509" y="733281"/>
                    </a:lnTo>
                    <a:lnTo>
                      <a:pt x="1922511" y="687909"/>
                    </a:lnTo>
                    <a:lnTo>
                      <a:pt x="1904839" y="643526"/>
                    </a:lnTo>
                    <a:lnTo>
                      <a:pt x="1885538" y="600181"/>
                    </a:lnTo>
                    <a:lnTo>
                      <a:pt x="1864650" y="557923"/>
                    </a:lnTo>
                    <a:lnTo>
                      <a:pt x="1842221" y="516803"/>
                    </a:lnTo>
                    <a:lnTo>
                      <a:pt x="1818293" y="476871"/>
                    </a:lnTo>
                    <a:lnTo>
                      <a:pt x="1792910" y="438177"/>
                    </a:lnTo>
                    <a:lnTo>
                      <a:pt x="1766117" y="400770"/>
                    </a:lnTo>
                    <a:lnTo>
                      <a:pt x="1737958" y="364701"/>
                    </a:lnTo>
                    <a:lnTo>
                      <a:pt x="1708476" y="330020"/>
                    </a:lnTo>
                    <a:lnTo>
                      <a:pt x="1677715" y="296776"/>
                    </a:lnTo>
                    <a:lnTo>
                      <a:pt x="1645719" y="265020"/>
                    </a:lnTo>
                    <a:lnTo>
                      <a:pt x="1612533" y="234802"/>
                    </a:lnTo>
                    <a:lnTo>
                      <a:pt x="1578199" y="206170"/>
                    </a:lnTo>
                    <a:lnTo>
                      <a:pt x="1542762" y="179177"/>
                    </a:lnTo>
                    <a:lnTo>
                      <a:pt x="1506265" y="153870"/>
                    </a:lnTo>
                    <a:lnTo>
                      <a:pt x="1468754" y="130301"/>
                    </a:lnTo>
                    <a:lnTo>
                      <a:pt x="1430270" y="108520"/>
                    </a:lnTo>
                    <a:lnTo>
                      <a:pt x="1390859" y="88575"/>
                    </a:lnTo>
                    <a:lnTo>
                      <a:pt x="1350565" y="70518"/>
                    </a:lnTo>
                    <a:lnTo>
                      <a:pt x="1309430" y="54399"/>
                    </a:lnTo>
                    <a:lnTo>
                      <a:pt x="1267500" y="40266"/>
                    </a:lnTo>
                    <a:lnTo>
                      <a:pt x="1224817" y="28170"/>
                    </a:lnTo>
                    <a:lnTo>
                      <a:pt x="1181426" y="18162"/>
                    </a:lnTo>
                    <a:lnTo>
                      <a:pt x="1137371" y="10291"/>
                    </a:lnTo>
                    <a:lnTo>
                      <a:pt x="1092696" y="4607"/>
                    </a:lnTo>
                    <a:lnTo>
                      <a:pt x="1047444" y="1160"/>
                    </a:lnTo>
                    <a:lnTo>
                      <a:pt x="1001659"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8"/>
              <p:cNvSpPr/>
              <p:nvPr/>
            </p:nvSpPr>
            <p:spPr>
              <a:xfrm>
                <a:off x="1599005" y="4064670"/>
                <a:ext cx="283221" cy="34574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18"/>
              <p:cNvSpPr/>
              <p:nvPr/>
            </p:nvSpPr>
            <p:spPr>
              <a:xfrm>
                <a:off x="1574802" y="2742367"/>
                <a:ext cx="307424" cy="343117"/>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8"/>
              <p:cNvSpPr/>
              <p:nvPr/>
            </p:nvSpPr>
            <p:spPr>
              <a:xfrm>
                <a:off x="868326" y="3457323"/>
                <a:ext cx="282374" cy="31770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8"/>
              <p:cNvSpPr/>
              <p:nvPr/>
            </p:nvSpPr>
            <p:spPr>
              <a:xfrm>
                <a:off x="1127929" y="3854600"/>
                <a:ext cx="376279" cy="34314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18"/>
              <p:cNvSpPr/>
              <p:nvPr/>
            </p:nvSpPr>
            <p:spPr>
              <a:xfrm>
                <a:off x="538344" y="2926973"/>
                <a:ext cx="119184" cy="133073"/>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8"/>
              <p:cNvSpPr/>
              <p:nvPr/>
            </p:nvSpPr>
            <p:spPr>
              <a:xfrm>
                <a:off x="656569" y="3085484"/>
                <a:ext cx="165673" cy="264203"/>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18"/>
              <p:cNvSpPr/>
              <p:nvPr/>
            </p:nvSpPr>
            <p:spPr>
              <a:xfrm>
                <a:off x="656569" y="3800467"/>
                <a:ext cx="236267" cy="292242"/>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18"/>
              <p:cNvSpPr/>
              <p:nvPr/>
            </p:nvSpPr>
            <p:spPr>
              <a:xfrm>
                <a:off x="373638" y="3536264"/>
                <a:ext cx="118425" cy="131418"/>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18"/>
              <p:cNvSpPr/>
              <p:nvPr/>
            </p:nvSpPr>
            <p:spPr>
              <a:xfrm>
                <a:off x="514813" y="4144241"/>
                <a:ext cx="118420" cy="1331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8"/>
              <p:cNvSpPr/>
              <p:nvPr/>
            </p:nvSpPr>
            <p:spPr>
              <a:xfrm>
                <a:off x="3578093" y="2450230"/>
                <a:ext cx="2001520" cy="2250440"/>
              </a:xfrm>
              <a:custGeom>
                <a:rect b="b" l="l" r="r" t="t"/>
                <a:pathLst>
                  <a:path extrusionOk="0" h="2250440" w="2001520">
                    <a:moveTo>
                      <a:pt x="999213" y="0"/>
                    </a:moveTo>
                    <a:lnTo>
                      <a:pt x="953573" y="1160"/>
                    </a:lnTo>
                    <a:lnTo>
                      <a:pt x="908450" y="4607"/>
                    </a:lnTo>
                    <a:lnTo>
                      <a:pt x="863888" y="10291"/>
                    </a:lnTo>
                    <a:lnTo>
                      <a:pt x="819932" y="18162"/>
                    </a:lnTo>
                    <a:lnTo>
                      <a:pt x="776627" y="28170"/>
                    </a:lnTo>
                    <a:lnTo>
                      <a:pt x="734016" y="40266"/>
                    </a:lnTo>
                    <a:lnTo>
                      <a:pt x="692145" y="54399"/>
                    </a:lnTo>
                    <a:lnTo>
                      <a:pt x="651059" y="70518"/>
                    </a:lnTo>
                    <a:lnTo>
                      <a:pt x="610801" y="88575"/>
                    </a:lnTo>
                    <a:lnTo>
                      <a:pt x="571416" y="108520"/>
                    </a:lnTo>
                    <a:lnTo>
                      <a:pt x="532950" y="130301"/>
                    </a:lnTo>
                    <a:lnTo>
                      <a:pt x="495446" y="153870"/>
                    </a:lnTo>
                    <a:lnTo>
                      <a:pt x="458949" y="179177"/>
                    </a:lnTo>
                    <a:lnTo>
                      <a:pt x="423504" y="206170"/>
                    </a:lnTo>
                    <a:lnTo>
                      <a:pt x="389155" y="234802"/>
                    </a:lnTo>
                    <a:lnTo>
                      <a:pt x="355946" y="265020"/>
                    </a:lnTo>
                    <a:lnTo>
                      <a:pt x="323924" y="296776"/>
                    </a:lnTo>
                    <a:lnTo>
                      <a:pt x="293131" y="330020"/>
                    </a:lnTo>
                    <a:lnTo>
                      <a:pt x="263612" y="364701"/>
                    </a:lnTo>
                    <a:lnTo>
                      <a:pt x="235413" y="400770"/>
                    </a:lnTo>
                    <a:lnTo>
                      <a:pt x="208578" y="438177"/>
                    </a:lnTo>
                    <a:lnTo>
                      <a:pt x="183150" y="476871"/>
                    </a:lnTo>
                    <a:lnTo>
                      <a:pt x="159176" y="516803"/>
                    </a:lnTo>
                    <a:lnTo>
                      <a:pt x="136699" y="557923"/>
                    </a:lnTo>
                    <a:lnTo>
                      <a:pt x="115764" y="600181"/>
                    </a:lnTo>
                    <a:lnTo>
                      <a:pt x="96416" y="643526"/>
                    </a:lnTo>
                    <a:lnTo>
                      <a:pt x="78698" y="687909"/>
                    </a:lnTo>
                    <a:lnTo>
                      <a:pt x="62657" y="733281"/>
                    </a:lnTo>
                    <a:lnTo>
                      <a:pt x="48335" y="779590"/>
                    </a:lnTo>
                    <a:lnTo>
                      <a:pt x="35779" y="826787"/>
                    </a:lnTo>
                    <a:lnTo>
                      <a:pt x="25032" y="874822"/>
                    </a:lnTo>
                    <a:lnTo>
                      <a:pt x="16139" y="923645"/>
                    </a:lnTo>
                    <a:lnTo>
                      <a:pt x="9145" y="973206"/>
                    </a:lnTo>
                    <a:lnTo>
                      <a:pt x="4094" y="1023456"/>
                    </a:lnTo>
                    <a:lnTo>
                      <a:pt x="1031" y="1074343"/>
                    </a:lnTo>
                    <a:lnTo>
                      <a:pt x="0" y="1125819"/>
                    </a:lnTo>
                    <a:lnTo>
                      <a:pt x="1031" y="1177189"/>
                    </a:lnTo>
                    <a:lnTo>
                      <a:pt x="4094" y="1227974"/>
                    </a:lnTo>
                    <a:lnTo>
                      <a:pt x="9145" y="1278125"/>
                    </a:lnTo>
                    <a:lnTo>
                      <a:pt x="16139" y="1327591"/>
                    </a:lnTo>
                    <a:lnTo>
                      <a:pt x="25032" y="1376323"/>
                    </a:lnTo>
                    <a:lnTo>
                      <a:pt x="35779" y="1424269"/>
                    </a:lnTo>
                    <a:lnTo>
                      <a:pt x="48335" y="1471381"/>
                    </a:lnTo>
                    <a:lnTo>
                      <a:pt x="62657" y="1517609"/>
                    </a:lnTo>
                    <a:lnTo>
                      <a:pt x="78698" y="1562902"/>
                    </a:lnTo>
                    <a:lnTo>
                      <a:pt x="96416" y="1607210"/>
                    </a:lnTo>
                    <a:lnTo>
                      <a:pt x="115764" y="1650483"/>
                    </a:lnTo>
                    <a:lnTo>
                      <a:pt x="136699" y="1692672"/>
                    </a:lnTo>
                    <a:lnTo>
                      <a:pt x="159176" y="1733726"/>
                    </a:lnTo>
                    <a:lnTo>
                      <a:pt x="183150" y="1773596"/>
                    </a:lnTo>
                    <a:lnTo>
                      <a:pt x="208578" y="1812231"/>
                    </a:lnTo>
                    <a:lnTo>
                      <a:pt x="235413" y="1849581"/>
                    </a:lnTo>
                    <a:lnTo>
                      <a:pt x="263612" y="1885597"/>
                    </a:lnTo>
                    <a:lnTo>
                      <a:pt x="293131" y="1920228"/>
                    </a:lnTo>
                    <a:lnTo>
                      <a:pt x="323924" y="1953424"/>
                    </a:lnTo>
                    <a:lnTo>
                      <a:pt x="355946" y="1985136"/>
                    </a:lnTo>
                    <a:lnTo>
                      <a:pt x="389155" y="2015314"/>
                    </a:lnTo>
                    <a:lnTo>
                      <a:pt x="423504" y="2043906"/>
                    </a:lnTo>
                    <a:lnTo>
                      <a:pt x="458949" y="2070865"/>
                    </a:lnTo>
                    <a:lnTo>
                      <a:pt x="495446" y="2096138"/>
                    </a:lnTo>
                    <a:lnTo>
                      <a:pt x="532950" y="2119677"/>
                    </a:lnTo>
                    <a:lnTo>
                      <a:pt x="571416" y="2141431"/>
                    </a:lnTo>
                    <a:lnTo>
                      <a:pt x="610801" y="2161351"/>
                    </a:lnTo>
                    <a:lnTo>
                      <a:pt x="651059" y="2179386"/>
                    </a:lnTo>
                    <a:lnTo>
                      <a:pt x="692145" y="2195487"/>
                    </a:lnTo>
                    <a:lnTo>
                      <a:pt x="734016" y="2209603"/>
                    </a:lnTo>
                    <a:lnTo>
                      <a:pt x="776627" y="2221685"/>
                    </a:lnTo>
                    <a:lnTo>
                      <a:pt x="819932" y="2231682"/>
                    </a:lnTo>
                    <a:lnTo>
                      <a:pt x="863888" y="2239544"/>
                    </a:lnTo>
                    <a:lnTo>
                      <a:pt x="908450" y="2245222"/>
                    </a:lnTo>
                    <a:lnTo>
                      <a:pt x="953573" y="2248666"/>
                    </a:lnTo>
                    <a:lnTo>
                      <a:pt x="999213" y="2249825"/>
                    </a:lnTo>
                    <a:lnTo>
                      <a:pt x="1045062" y="2248666"/>
                    </a:lnTo>
                    <a:lnTo>
                      <a:pt x="1090383" y="2245222"/>
                    </a:lnTo>
                    <a:lnTo>
                      <a:pt x="1135132" y="2239544"/>
                    </a:lnTo>
                    <a:lnTo>
                      <a:pt x="1179263" y="2231682"/>
                    </a:lnTo>
                    <a:lnTo>
                      <a:pt x="1222734" y="2221685"/>
                    </a:lnTo>
                    <a:lnTo>
                      <a:pt x="1265499" y="2209603"/>
                    </a:lnTo>
                    <a:lnTo>
                      <a:pt x="1307514" y="2195487"/>
                    </a:lnTo>
                    <a:lnTo>
                      <a:pt x="1348736" y="2179386"/>
                    </a:lnTo>
                    <a:lnTo>
                      <a:pt x="1389119" y="2161351"/>
                    </a:lnTo>
                    <a:lnTo>
                      <a:pt x="1428621" y="2141431"/>
                    </a:lnTo>
                    <a:lnTo>
                      <a:pt x="1467195" y="2119677"/>
                    </a:lnTo>
                    <a:lnTo>
                      <a:pt x="1504799" y="2096138"/>
                    </a:lnTo>
                    <a:lnTo>
                      <a:pt x="1541388" y="2070865"/>
                    </a:lnTo>
                    <a:lnTo>
                      <a:pt x="1576917" y="2043906"/>
                    </a:lnTo>
                    <a:lnTo>
                      <a:pt x="1611343" y="2015314"/>
                    </a:lnTo>
                    <a:lnTo>
                      <a:pt x="1644621" y="1985136"/>
                    </a:lnTo>
                    <a:lnTo>
                      <a:pt x="1676707" y="1953424"/>
                    </a:lnTo>
                    <a:lnTo>
                      <a:pt x="1707557" y="1920228"/>
                    </a:lnTo>
                    <a:lnTo>
                      <a:pt x="1737126" y="1885597"/>
                    </a:lnTo>
                    <a:lnTo>
                      <a:pt x="1765371" y="1849581"/>
                    </a:lnTo>
                    <a:lnTo>
                      <a:pt x="1792246" y="1812231"/>
                    </a:lnTo>
                    <a:lnTo>
                      <a:pt x="1817709" y="1773596"/>
                    </a:lnTo>
                    <a:lnTo>
                      <a:pt x="1841713" y="1733726"/>
                    </a:lnTo>
                    <a:lnTo>
                      <a:pt x="1864216" y="1692672"/>
                    </a:lnTo>
                    <a:lnTo>
                      <a:pt x="1885173" y="1650483"/>
                    </a:lnTo>
                    <a:lnTo>
                      <a:pt x="1904540" y="1607210"/>
                    </a:lnTo>
                    <a:lnTo>
                      <a:pt x="1922272" y="1562902"/>
                    </a:lnTo>
                    <a:lnTo>
                      <a:pt x="1938326" y="1517609"/>
                    </a:lnTo>
                    <a:lnTo>
                      <a:pt x="1952656" y="1471381"/>
                    </a:lnTo>
                    <a:lnTo>
                      <a:pt x="1965220" y="1424269"/>
                    </a:lnTo>
                    <a:lnTo>
                      <a:pt x="1975972" y="1376323"/>
                    </a:lnTo>
                    <a:lnTo>
                      <a:pt x="1984868" y="1327591"/>
                    </a:lnTo>
                    <a:lnTo>
                      <a:pt x="1991864" y="1278125"/>
                    </a:lnTo>
                    <a:lnTo>
                      <a:pt x="1996917" y="1227974"/>
                    </a:lnTo>
                    <a:lnTo>
                      <a:pt x="1999980" y="1177189"/>
                    </a:lnTo>
                    <a:lnTo>
                      <a:pt x="2001011" y="1125819"/>
                    </a:lnTo>
                    <a:lnTo>
                      <a:pt x="1999980" y="1074343"/>
                    </a:lnTo>
                    <a:lnTo>
                      <a:pt x="1996917" y="1023456"/>
                    </a:lnTo>
                    <a:lnTo>
                      <a:pt x="1991864" y="973206"/>
                    </a:lnTo>
                    <a:lnTo>
                      <a:pt x="1984868" y="923645"/>
                    </a:lnTo>
                    <a:lnTo>
                      <a:pt x="1975972" y="874822"/>
                    </a:lnTo>
                    <a:lnTo>
                      <a:pt x="1965220" y="826787"/>
                    </a:lnTo>
                    <a:lnTo>
                      <a:pt x="1952656" y="779590"/>
                    </a:lnTo>
                    <a:lnTo>
                      <a:pt x="1938326" y="733281"/>
                    </a:lnTo>
                    <a:lnTo>
                      <a:pt x="1922272" y="687909"/>
                    </a:lnTo>
                    <a:lnTo>
                      <a:pt x="1904540" y="643526"/>
                    </a:lnTo>
                    <a:lnTo>
                      <a:pt x="1885173" y="600181"/>
                    </a:lnTo>
                    <a:lnTo>
                      <a:pt x="1864216" y="557923"/>
                    </a:lnTo>
                    <a:lnTo>
                      <a:pt x="1841713" y="516803"/>
                    </a:lnTo>
                    <a:lnTo>
                      <a:pt x="1817709" y="476871"/>
                    </a:lnTo>
                    <a:lnTo>
                      <a:pt x="1792246" y="438177"/>
                    </a:lnTo>
                    <a:lnTo>
                      <a:pt x="1765371" y="400770"/>
                    </a:lnTo>
                    <a:lnTo>
                      <a:pt x="1737126" y="364701"/>
                    </a:lnTo>
                    <a:lnTo>
                      <a:pt x="1707557" y="330020"/>
                    </a:lnTo>
                    <a:lnTo>
                      <a:pt x="1676707" y="296776"/>
                    </a:lnTo>
                    <a:lnTo>
                      <a:pt x="1644621" y="265020"/>
                    </a:lnTo>
                    <a:lnTo>
                      <a:pt x="1611343" y="234802"/>
                    </a:lnTo>
                    <a:lnTo>
                      <a:pt x="1576917" y="206170"/>
                    </a:lnTo>
                    <a:lnTo>
                      <a:pt x="1541388" y="179177"/>
                    </a:lnTo>
                    <a:lnTo>
                      <a:pt x="1504799" y="153870"/>
                    </a:lnTo>
                    <a:lnTo>
                      <a:pt x="1467195" y="130301"/>
                    </a:lnTo>
                    <a:lnTo>
                      <a:pt x="1428621" y="108520"/>
                    </a:lnTo>
                    <a:lnTo>
                      <a:pt x="1389119" y="88575"/>
                    </a:lnTo>
                    <a:lnTo>
                      <a:pt x="1348736" y="70518"/>
                    </a:lnTo>
                    <a:lnTo>
                      <a:pt x="1307514" y="54399"/>
                    </a:lnTo>
                    <a:lnTo>
                      <a:pt x="1265499" y="40266"/>
                    </a:lnTo>
                    <a:lnTo>
                      <a:pt x="1222734" y="28170"/>
                    </a:lnTo>
                    <a:lnTo>
                      <a:pt x="1179263" y="18162"/>
                    </a:lnTo>
                    <a:lnTo>
                      <a:pt x="1135132" y="10291"/>
                    </a:lnTo>
                    <a:lnTo>
                      <a:pt x="1090383" y="4607"/>
                    </a:lnTo>
                    <a:lnTo>
                      <a:pt x="1045062" y="1160"/>
                    </a:lnTo>
                    <a:lnTo>
                      <a:pt x="999213"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8"/>
              <p:cNvSpPr/>
              <p:nvPr/>
            </p:nvSpPr>
            <p:spPr>
              <a:xfrm>
                <a:off x="3671387" y="2900878"/>
                <a:ext cx="118439" cy="131419"/>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8"/>
              <p:cNvSpPr/>
              <p:nvPr/>
            </p:nvSpPr>
            <p:spPr>
              <a:xfrm>
                <a:off x="4330088" y="2926973"/>
                <a:ext cx="188938" cy="133073"/>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18"/>
              <p:cNvSpPr/>
              <p:nvPr/>
            </p:nvSpPr>
            <p:spPr>
              <a:xfrm>
                <a:off x="3835886" y="2992196"/>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18"/>
              <p:cNvSpPr/>
              <p:nvPr/>
            </p:nvSpPr>
            <p:spPr>
              <a:xfrm>
                <a:off x="3530153" y="3508855"/>
                <a:ext cx="118439" cy="133100"/>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18"/>
              <p:cNvSpPr/>
              <p:nvPr/>
            </p:nvSpPr>
            <p:spPr>
              <a:xfrm>
                <a:off x="3671387" y="4118146"/>
                <a:ext cx="118439" cy="133100"/>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18"/>
              <p:cNvSpPr/>
              <p:nvPr/>
            </p:nvSpPr>
            <p:spPr>
              <a:xfrm>
                <a:off x="4683526" y="3377752"/>
                <a:ext cx="307612" cy="369211"/>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18"/>
              <p:cNvSpPr/>
              <p:nvPr/>
            </p:nvSpPr>
            <p:spPr>
              <a:xfrm>
                <a:off x="4683526" y="4039232"/>
                <a:ext cx="283268" cy="317679"/>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18"/>
              <p:cNvSpPr/>
              <p:nvPr/>
            </p:nvSpPr>
            <p:spPr>
              <a:xfrm>
                <a:off x="4683526" y="2821938"/>
                <a:ext cx="307612" cy="343143"/>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18"/>
              <p:cNvSpPr/>
              <p:nvPr/>
            </p:nvSpPr>
            <p:spPr>
              <a:xfrm>
                <a:off x="1150700" y="3032007"/>
                <a:ext cx="378018" cy="371839"/>
              </a:xfrm>
              <a:prstGeom prst="rect">
                <a:avLst/>
              </a:prstGeom>
              <a:blipFill rotWithShape="1">
                <a:blip r:embed="rId1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18"/>
              <p:cNvSpPr/>
              <p:nvPr/>
            </p:nvSpPr>
            <p:spPr>
              <a:xfrm>
                <a:off x="6568449" y="2450230"/>
                <a:ext cx="2001520" cy="2250440"/>
              </a:xfrm>
              <a:custGeom>
                <a:rect b="b" l="l" r="r" t="t"/>
                <a:pathLst>
                  <a:path extrusionOk="0" h="2250440" w="2001520">
                    <a:moveTo>
                      <a:pt x="1001093" y="0"/>
                    </a:moveTo>
                    <a:lnTo>
                      <a:pt x="955301" y="1160"/>
                    </a:lnTo>
                    <a:lnTo>
                      <a:pt x="910034" y="4607"/>
                    </a:lnTo>
                    <a:lnTo>
                      <a:pt x="865336" y="10291"/>
                    </a:lnTo>
                    <a:lnTo>
                      <a:pt x="821252" y="18162"/>
                    </a:lnTo>
                    <a:lnTo>
                      <a:pt x="777827" y="28170"/>
                    </a:lnTo>
                    <a:lnTo>
                      <a:pt x="735104" y="40266"/>
                    </a:lnTo>
                    <a:lnTo>
                      <a:pt x="693128" y="54399"/>
                    </a:lnTo>
                    <a:lnTo>
                      <a:pt x="651943" y="70518"/>
                    </a:lnTo>
                    <a:lnTo>
                      <a:pt x="611594" y="88575"/>
                    </a:lnTo>
                    <a:lnTo>
                      <a:pt x="572125" y="108520"/>
                    </a:lnTo>
                    <a:lnTo>
                      <a:pt x="533580" y="130301"/>
                    </a:lnTo>
                    <a:lnTo>
                      <a:pt x="496003" y="153870"/>
                    </a:lnTo>
                    <a:lnTo>
                      <a:pt x="459439" y="179177"/>
                    </a:lnTo>
                    <a:lnTo>
                      <a:pt x="423933" y="206170"/>
                    </a:lnTo>
                    <a:lnTo>
                      <a:pt x="389528" y="234802"/>
                    </a:lnTo>
                    <a:lnTo>
                      <a:pt x="356269" y="265020"/>
                    </a:lnTo>
                    <a:lnTo>
                      <a:pt x="324200" y="296776"/>
                    </a:lnTo>
                    <a:lnTo>
                      <a:pt x="293366" y="330020"/>
                    </a:lnTo>
                    <a:lnTo>
                      <a:pt x="263810" y="364701"/>
                    </a:lnTo>
                    <a:lnTo>
                      <a:pt x="235578" y="400770"/>
                    </a:lnTo>
                    <a:lnTo>
                      <a:pt x="208714" y="438177"/>
                    </a:lnTo>
                    <a:lnTo>
                      <a:pt x="183261" y="476871"/>
                    </a:lnTo>
                    <a:lnTo>
                      <a:pt x="159264" y="516803"/>
                    </a:lnTo>
                    <a:lnTo>
                      <a:pt x="136769" y="557923"/>
                    </a:lnTo>
                    <a:lnTo>
                      <a:pt x="115818" y="600181"/>
                    </a:lnTo>
                    <a:lnTo>
                      <a:pt x="96456" y="643526"/>
                    </a:lnTo>
                    <a:lnTo>
                      <a:pt x="78728" y="687909"/>
                    </a:lnTo>
                    <a:lnTo>
                      <a:pt x="62677" y="733281"/>
                    </a:lnTo>
                    <a:lnTo>
                      <a:pt x="48349" y="779590"/>
                    </a:lnTo>
                    <a:lnTo>
                      <a:pt x="35788" y="826787"/>
                    </a:lnTo>
                    <a:lnTo>
                      <a:pt x="25037" y="874822"/>
                    </a:lnTo>
                    <a:lnTo>
                      <a:pt x="16142" y="923645"/>
                    </a:lnTo>
                    <a:lnTo>
                      <a:pt x="9146" y="973206"/>
                    </a:lnTo>
                    <a:lnTo>
                      <a:pt x="4094" y="1023456"/>
                    </a:lnTo>
                    <a:lnTo>
                      <a:pt x="1031" y="1074343"/>
                    </a:lnTo>
                    <a:lnTo>
                      <a:pt x="0" y="1125819"/>
                    </a:lnTo>
                    <a:lnTo>
                      <a:pt x="1031" y="1177189"/>
                    </a:lnTo>
                    <a:lnTo>
                      <a:pt x="4094" y="1227974"/>
                    </a:lnTo>
                    <a:lnTo>
                      <a:pt x="9146" y="1278125"/>
                    </a:lnTo>
                    <a:lnTo>
                      <a:pt x="16142" y="1327591"/>
                    </a:lnTo>
                    <a:lnTo>
                      <a:pt x="25037" y="1376323"/>
                    </a:lnTo>
                    <a:lnTo>
                      <a:pt x="35788" y="1424269"/>
                    </a:lnTo>
                    <a:lnTo>
                      <a:pt x="48349" y="1471381"/>
                    </a:lnTo>
                    <a:lnTo>
                      <a:pt x="62677" y="1517609"/>
                    </a:lnTo>
                    <a:lnTo>
                      <a:pt x="78728" y="1562902"/>
                    </a:lnTo>
                    <a:lnTo>
                      <a:pt x="96456" y="1607210"/>
                    </a:lnTo>
                    <a:lnTo>
                      <a:pt x="115818" y="1650483"/>
                    </a:lnTo>
                    <a:lnTo>
                      <a:pt x="136769" y="1692672"/>
                    </a:lnTo>
                    <a:lnTo>
                      <a:pt x="159264" y="1733726"/>
                    </a:lnTo>
                    <a:lnTo>
                      <a:pt x="183261" y="1773596"/>
                    </a:lnTo>
                    <a:lnTo>
                      <a:pt x="208714" y="1812231"/>
                    </a:lnTo>
                    <a:lnTo>
                      <a:pt x="235578" y="1849581"/>
                    </a:lnTo>
                    <a:lnTo>
                      <a:pt x="263810" y="1885597"/>
                    </a:lnTo>
                    <a:lnTo>
                      <a:pt x="293366" y="1920228"/>
                    </a:lnTo>
                    <a:lnTo>
                      <a:pt x="324200" y="1953424"/>
                    </a:lnTo>
                    <a:lnTo>
                      <a:pt x="356269" y="1985136"/>
                    </a:lnTo>
                    <a:lnTo>
                      <a:pt x="389528" y="2015314"/>
                    </a:lnTo>
                    <a:lnTo>
                      <a:pt x="423933" y="2043906"/>
                    </a:lnTo>
                    <a:lnTo>
                      <a:pt x="459439" y="2070865"/>
                    </a:lnTo>
                    <a:lnTo>
                      <a:pt x="496003" y="2096138"/>
                    </a:lnTo>
                    <a:lnTo>
                      <a:pt x="533580" y="2119677"/>
                    </a:lnTo>
                    <a:lnTo>
                      <a:pt x="572125" y="2141431"/>
                    </a:lnTo>
                    <a:lnTo>
                      <a:pt x="611594" y="2161351"/>
                    </a:lnTo>
                    <a:lnTo>
                      <a:pt x="651943" y="2179386"/>
                    </a:lnTo>
                    <a:lnTo>
                      <a:pt x="693128" y="2195487"/>
                    </a:lnTo>
                    <a:lnTo>
                      <a:pt x="735104" y="2209603"/>
                    </a:lnTo>
                    <a:lnTo>
                      <a:pt x="777827" y="2221685"/>
                    </a:lnTo>
                    <a:lnTo>
                      <a:pt x="821252" y="2231682"/>
                    </a:lnTo>
                    <a:lnTo>
                      <a:pt x="865336" y="2239544"/>
                    </a:lnTo>
                    <a:lnTo>
                      <a:pt x="910034" y="2245222"/>
                    </a:lnTo>
                    <a:lnTo>
                      <a:pt x="955301" y="2248666"/>
                    </a:lnTo>
                    <a:lnTo>
                      <a:pt x="1001093" y="2249825"/>
                    </a:lnTo>
                    <a:lnTo>
                      <a:pt x="1046920" y="2248666"/>
                    </a:lnTo>
                    <a:lnTo>
                      <a:pt x="1092212" y="2245222"/>
                    </a:lnTo>
                    <a:lnTo>
                      <a:pt x="1136925" y="2239544"/>
                    </a:lnTo>
                    <a:lnTo>
                      <a:pt x="1181017" y="2231682"/>
                    </a:lnTo>
                    <a:lnTo>
                      <a:pt x="1224442" y="2221685"/>
                    </a:lnTo>
                    <a:lnTo>
                      <a:pt x="1267158" y="2209603"/>
                    </a:lnTo>
                    <a:lnTo>
                      <a:pt x="1309120" y="2195487"/>
                    </a:lnTo>
                    <a:lnTo>
                      <a:pt x="1350284" y="2179386"/>
                    </a:lnTo>
                    <a:lnTo>
                      <a:pt x="1390607" y="2161351"/>
                    </a:lnTo>
                    <a:lnTo>
                      <a:pt x="1430044" y="2141431"/>
                    </a:lnTo>
                    <a:lnTo>
                      <a:pt x="1468552" y="2119677"/>
                    </a:lnTo>
                    <a:lnTo>
                      <a:pt x="1506087" y="2096138"/>
                    </a:lnTo>
                    <a:lnTo>
                      <a:pt x="1542606" y="2070865"/>
                    </a:lnTo>
                    <a:lnTo>
                      <a:pt x="1578063" y="2043906"/>
                    </a:lnTo>
                    <a:lnTo>
                      <a:pt x="1612416" y="2015314"/>
                    </a:lnTo>
                    <a:lnTo>
                      <a:pt x="1645621" y="1985136"/>
                    </a:lnTo>
                    <a:lnTo>
                      <a:pt x="1677633" y="1953424"/>
                    </a:lnTo>
                    <a:lnTo>
                      <a:pt x="1708409" y="1920228"/>
                    </a:lnTo>
                    <a:lnTo>
                      <a:pt x="1737905" y="1885597"/>
                    </a:lnTo>
                    <a:lnTo>
                      <a:pt x="1766077" y="1849581"/>
                    </a:lnTo>
                    <a:lnTo>
                      <a:pt x="1792882" y="1812231"/>
                    </a:lnTo>
                    <a:lnTo>
                      <a:pt x="1818275" y="1773596"/>
                    </a:lnTo>
                    <a:lnTo>
                      <a:pt x="1842213" y="1733726"/>
                    </a:lnTo>
                    <a:lnTo>
                      <a:pt x="1864651" y="1692672"/>
                    </a:lnTo>
                    <a:lnTo>
                      <a:pt x="1885547" y="1650483"/>
                    </a:lnTo>
                    <a:lnTo>
                      <a:pt x="1904855" y="1607210"/>
                    </a:lnTo>
                    <a:lnTo>
                      <a:pt x="1922533" y="1562902"/>
                    </a:lnTo>
                    <a:lnTo>
                      <a:pt x="1938536" y="1517609"/>
                    </a:lnTo>
                    <a:lnTo>
                      <a:pt x="1952821" y="1471381"/>
                    </a:lnTo>
                    <a:lnTo>
                      <a:pt x="1965343" y="1424269"/>
                    </a:lnTo>
                    <a:lnTo>
                      <a:pt x="1976059" y="1376323"/>
                    </a:lnTo>
                    <a:lnTo>
                      <a:pt x="1984925" y="1327591"/>
                    </a:lnTo>
                    <a:lnTo>
                      <a:pt x="1991897" y="1278125"/>
                    </a:lnTo>
                    <a:lnTo>
                      <a:pt x="1996931" y="1227974"/>
                    </a:lnTo>
                    <a:lnTo>
                      <a:pt x="1999984" y="1177189"/>
                    </a:lnTo>
                    <a:lnTo>
                      <a:pt x="2001011" y="1125819"/>
                    </a:lnTo>
                    <a:lnTo>
                      <a:pt x="1999984" y="1074343"/>
                    </a:lnTo>
                    <a:lnTo>
                      <a:pt x="1996931" y="1023456"/>
                    </a:lnTo>
                    <a:lnTo>
                      <a:pt x="1991897" y="973206"/>
                    </a:lnTo>
                    <a:lnTo>
                      <a:pt x="1984925" y="923645"/>
                    </a:lnTo>
                    <a:lnTo>
                      <a:pt x="1976059" y="874822"/>
                    </a:lnTo>
                    <a:lnTo>
                      <a:pt x="1965343" y="826787"/>
                    </a:lnTo>
                    <a:lnTo>
                      <a:pt x="1952821" y="779590"/>
                    </a:lnTo>
                    <a:lnTo>
                      <a:pt x="1938536" y="733281"/>
                    </a:lnTo>
                    <a:lnTo>
                      <a:pt x="1922533" y="687909"/>
                    </a:lnTo>
                    <a:lnTo>
                      <a:pt x="1904855" y="643526"/>
                    </a:lnTo>
                    <a:lnTo>
                      <a:pt x="1885547" y="600181"/>
                    </a:lnTo>
                    <a:lnTo>
                      <a:pt x="1864651" y="557923"/>
                    </a:lnTo>
                    <a:lnTo>
                      <a:pt x="1842213" y="516803"/>
                    </a:lnTo>
                    <a:lnTo>
                      <a:pt x="1818275" y="476871"/>
                    </a:lnTo>
                    <a:lnTo>
                      <a:pt x="1792882" y="438177"/>
                    </a:lnTo>
                    <a:lnTo>
                      <a:pt x="1766077" y="400770"/>
                    </a:lnTo>
                    <a:lnTo>
                      <a:pt x="1737905" y="364701"/>
                    </a:lnTo>
                    <a:lnTo>
                      <a:pt x="1708409" y="330020"/>
                    </a:lnTo>
                    <a:lnTo>
                      <a:pt x="1677633" y="296776"/>
                    </a:lnTo>
                    <a:lnTo>
                      <a:pt x="1645621" y="265020"/>
                    </a:lnTo>
                    <a:lnTo>
                      <a:pt x="1612416" y="234802"/>
                    </a:lnTo>
                    <a:lnTo>
                      <a:pt x="1578063" y="206170"/>
                    </a:lnTo>
                    <a:lnTo>
                      <a:pt x="1542606" y="179177"/>
                    </a:lnTo>
                    <a:lnTo>
                      <a:pt x="1506087" y="153870"/>
                    </a:lnTo>
                    <a:lnTo>
                      <a:pt x="1468552" y="130301"/>
                    </a:lnTo>
                    <a:lnTo>
                      <a:pt x="1430044" y="108520"/>
                    </a:lnTo>
                    <a:lnTo>
                      <a:pt x="1390607" y="88575"/>
                    </a:lnTo>
                    <a:lnTo>
                      <a:pt x="1350284" y="70518"/>
                    </a:lnTo>
                    <a:lnTo>
                      <a:pt x="1309120" y="54399"/>
                    </a:lnTo>
                    <a:lnTo>
                      <a:pt x="1267158" y="40266"/>
                    </a:lnTo>
                    <a:lnTo>
                      <a:pt x="1224442" y="28170"/>
                    </a:lnTo>
                    <a:lnTo>
                      <a:pt x="1181017" y="18162"/>
                    </a:lnTo>
                    <a:lnTo>
                      <a:pt x="1136925" y="10291"/>
                    </a:lnTo>
                    <a:lnTo>
                      <a:pt x="1092212" y="4607"/>
                    </a:lnTo>
                    <a:lnTo>
                      <a:pt x="1046920" y="1160"/>
                    </a:lnTo>
                    <a:lnTo>
                      <a:pt x="1001093"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8"/>
              <p:cNvSpPr/>
              <p:nvPr/>
            </p:nvSpPr>
            <p:spPr>
              <a:xfrm>
                <a:off x="2140090" y="3244678"/>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18"/>
              <p:cNvSpPr/>
              <p:nvPr/>
            </p:nvSpPr>
            <p:spPr>
              <a:xfrm>
                <a:off x="2152334" y="3258369"/>
                <a:ext cx="118745" cy="131445"/>
              </a:xfrm>
              <a:custGeom>
                <a:rect b="b" l="l" r="r" t="t"/>
                <a:pathLst>
                  <a:path extrusionOk="0" h="131445" w="118744">
                    <a:moveTo>
                      <a:pt x="0" y="0"/>
                    </a:moveTo>
                    <a:lnTo>
                      <a:pt x="118439" y="0"/>
                    </a:lnTo>
                    <a:lnTo>
                      <a:pt x="118439" y="131129"/>
                    </a:lnTo>
                    <a:lnTo>
                      <a:pt x="0" y="131129"/>
                    </a:lnTo>
                    <a:lnTo>
                      <a:pt x="0" y="0"/>
                    </a:lnTo>
                    <a:close/>
                  </a:path>
                </a:pathLst>
              </a:custGeom>
              <a:noFill/>
              <a:ln cap="flat" cmpd="sng" w="2395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18"/>
              <p:cNvSpPr/>
              <p:nvPr/>
            </p:nvSpPr>
            <p:spPr>
              <a:xfrm>
                <a:off x="2140090" y="3457323"/>
                <a:ext cx="118745" cy="131445"/>
              </a:xfrm>
              <a:custGeom>
                <a:rect b="b" l="l" r="r" t="t"/>
                <a:pathLst>
                  <a:path extrusionOk="0" h="131445" w="118744">
                    <a:moveTo>
                      <a:pt x="118415" y="0"/>
                    </a:moveTo>
                    <a:lnTo>
                      <a:pt x="0" y="0"/>
                    </a:lnTo>
                    <a:lnTo>
                      <a:pt x="0" y="131129"/>
                    </a:lnTo>
                    <a:lnTo>
                      <a:pt x="118415" y="131129"/>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18"/>
              <p:cNvSpPr/>
              <p:nvPr/>
            </p:nvSpPr>
            <p:spPr>
              <a:xfrm>
                <a:off x="2152334" y="3469070"/>
                <a:ext cx="118745" cy="133350"/>
              </a:xfrm>
              <a:custGeom>
                <a:rect b="b" l="l" r="r" t="t"/>
                <a:pathLst>
                  <a:path extrusionOk="0" h="133350" w="118744">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8"/>
              <p:cNvSpPr/>
              <p:nvPr/>
            </p:nvSpPr>
            <p:spPr>
              <a:xfrm>
                <a:off x="2140090" y="3667393"/>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18"/>
              <p:cNvSpPr/>
              <p:nvPr/>
            </p:nvSpPr>
            <p:spPr>
              <a:xfrm>
                <a:off x="2152334" y="3681741"/>
                <a:ext cx="118745" cy="133350"/>
              </a:xfrm>
              <a:custGeom>
                <a:rect b="b" l="l" r="r" t="t"/>
                <a:pathLst>
                  <a:path extrusionOk="0" h="133350" w="118744">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18"/>
              <p:cNvSpPr/>
              <p:nvPr/>
            </p:nvSpPr>
            <p:spPr>
              <a:xfrm>
                <a:off x="2140090" y="3880064"/>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18"/>
              <p:cNvSpPr/>
              <p:nvPr/>
            </p:nvSpPr>
            <p:spPr>
              <a:xfrm>
                <a:off x="2152334" y="3893755"/>
                <a:ext cx="118745" cy="131445"/>
              </a:xfrm>
              <a:custGeom>
                <a:rect b="b" l="l" r="r" t="t"/>
                <a:pathLst>
                  <a:path extrusionOk="0" h="131445" w="118744">
                    <a:moveTo>
                      <a:pt x="0" y="0"/>
                    </a:moveTo>
                    <a:lnTo>
                      <a:pt x="118439" y="0"/>
                    </a:lnTo>
                    <a:lnTo>
                      <a:pt x="118439" y="131129"/>
                    </a:lnTo>
                    <a:lnTo>
                      <a:pt x="0" y="131129"/>
                    </a:lnTo>
                    <a:lnTo>
                      <a:pt x="0" y="0"/>
                    </a:lnTo>
                    <a:close/>
                  </a:path>
                </a:pathLst>
              </a:custGeom>
              <a:noFill/>
              <a:ln cap="flat" cmpd="sng" w="2395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18"/>
              <p:cNvSpPr/>
              <p:nvPr/>
            </p:nvSpPr>
            <p:spPr>
              <a:xfrm>
                <a:off x="1904998" y="3085484"/>
                <a:ext cx="212344" cy="212671"/>
              </a:xfrm>
              <a:prstGeom prst="rect">
                <a:avLst/>
              </a:prstGeom>
              <a:blipFill rotWithShape="1">
                <a:blip r:embed="rId2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18"/>
              <p:cNvSpPr/>
              <p:nvPr/>
            </p:nvSpPr>
            <p:spPr>
              <a:xfrm>
                <a:off x="1834405" y="3536264"/>
                <a:ext cx="283210" cy="582295"/>
              </a:xfrm>
              <a:custGeom>
                <a:rect b="b" l="l" r="r" t="t"/>
                <a:pathLst>
                  <a:path extrusionOk="0" h="582295" w="283210">
                    <a:moveTo>
                      <a:pt x="282938" y="0"/>
                    </a:moveTo>
                    <a:lnTo>
                      <a:pt x="259602" y="0"/>
                    </a:lnTo>
                    <a:lnTo>
                      <a:pt x="0" y="556445"/>
                    </a:lnTo>
                    <a:lnTo>
                      <a:pt x="0" y="581882"/>
                    </a:lnTo>
                    <a:lnTo>
                      <a:pt x="22747" y="581882"/>
                    </a:lnTo>
                    <a:lnTo>
                      <a:pt x="282938" y="26094"/>
                    </a:lnTo>
                    <a:lnTo>
                      <a:pt x="28293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5" name="Google Shape;505;p18"/>
            <p:cNvSpPr txBox="1"/>
            <p:nvPr/>
          </p:nvSpPr>
          <p:spPr>
            <a:xfrm>
              <a:off x="2005112" y="4848484"/>
              <a:ext cx="1857375"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1. Thread-per-request</a:t>
              </a:r>
              <a:endParaRPr sz="1400">
                <a:solidFill>
                  <a:schemeClr val="dk1"/>
                </a:solidFill>
                <a:latin typeface="Arial"/>
                <a:ea typeface="Arial"/>
                <a:cs typeface="Arial"/>
                <a:sym typeface="Arial"/>
              </a:endParaRPr>
            </a:p>
          </p:txBody>
        </p:sp>
        <p:sp>
          <p:nvSpPr>
            <p:cNvPr id="506" name="Google Shape;506;p18"/>
            <p:cNvSpPr txBox="1"/>
            <p:nvPr/>
          </p:nvSpPr>
          <p:spPr>
            <a:xfrm>
              <a:off x="5018189" y="4848484"/>
              <a:ext cx="2142491"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2. Thread-per-connection</a:t>
              </a:r>
              <a:endParaRPr sz="1400">
                <a:solidFill>
                  <a:schemeClr val="dk1"/>
                </a:solidFill>
                <a:latin typeface="Arial"/>
                <a:ea typeface="Arial"/>
                <a:cs typeface="Arial"/>
                <a:sym typeface="Arial"/>
              </a:endParaRPr>
            </a:p>
          </p:txBody>
        </p:sp>
        <p:sp>
          <p:nvSpPr>
            <p:cNvPr id="507" name="Google Shape;507;p18"/>
            <p:cNvSpPr txBox="1"/>
            <p:nvPr/>
          </p:nvSpPr>
          <p:spPr>
            <a:xfrm>
              <a:off x="8268688" y="4848484"/>
              <a:ext cx="1722755"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3. Thread-per-object</a:t>
              </a:r>
              <a:endParaRPr sz="1400">
                <a:solidFill>
                  <a:schemeClr val="dk1"/>
                </a:solidFill>
                <a:latin typeface="Arial"/>
                <a:ea typeface="Arial"/>
                <a:cs typeface="Arial"/>
                <a:sym typeface="Arial"/>
              </a:endParaRPr>
            </a:p>
          </p:txBody>
        </p:sp>
        <p:sp>
          <p:nvSpPr>
            <p:cNvPr id="508" name="Google Shape;508;p18"/>
            <p:cNvSpPr txBox="1"/>
            <p:nvPr/>
          </p:nvSpPr>
          <p:spPr>
            <a:xfrm>
              <a:off x="3299621" y="2572436"/>
              <a:ext cx="684530"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workers</a:t>
              </a:r>
              <a:endParaRPr sz="1400">
                <a:solidFill>
                  <a:schemeClr val="dk1"/>
                </a:solidFill>
                <a:latin typeface="Arial"/>
                <a:ea typeface="Arial"/>
                <a:cs typeface="Arial"/>
                <a:sym typeface="Arial"/>
              </a:endParaRPr>
            </a:p>
          </p:txBody>
        </p:sp>
        <p:sp>
          <p:nvSpPr>
            <p:cNvPr id="509" name="Google Shape;509;p18"/>
            <p:cNvSpPr txBox="1"/>
            <p:nvPr/>
          </p:nvSpPr>
          <p:spPr>
            <a:xfrm>
              <a:off x="2381389" y="3100842"/>
              <a:ext cx="273685"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I/O</a:t>
              </a:r>
              <a:endParaRPr sz="1650">
                <a:solidFill>
                  <a:schemeClr val="dk1"/>
                </a:solidFill>
                <a:latin typeface="Arial"/>
                <a:ea typeface="Arial"/>
                <a:cs typeface="Arial"/>
                <a:sym typeface="Arial"/>
              </a:endParaRPr>
            </a:p>
          </p:txBody>
        </p:sp>
        <p:grpSp>
          <p:nvGrpSpPr>
            <p:cNvPr id="510" name="Google Shape;510;p18"/>
            <p:cNvGrpSpPr/>
            <p:nvPr/>
          </p:nvGrpSpPr>
          <p:grpSpPr>
            <a:xfrm>
              <a:off x="5359886" y="2793910"/>
              <a:ext cx="4511572" cy="1563001"/>
              <a:chOff x="3835886" y="2793910"/>
              <a:chExt cx="4511572" cy="1563001"/>
            </a:xfrm>
          </p:grpSpPr>
          <p:sp>
            <p:nvSpPr>
              <p:cNvPr id="511" name="Google Shape;511;p18"/>
              <p:cNvSpPr/>
              <p:nvPr/>
            </p:nvSpPr>
            <p:spPr>
              <a:xfrm>
                <a:off x="7428308" y="3562358"/>
                <a:ext cx="0" cy="80010"/>
              </a:xfrm>
              <a:custGeom>
                <a:rect b="b" l="l" r="r" t="t"/>
                <a:pathLst>
                  <a:path extrusionOk="0" h="80010" w="120000">
                    <a:moveTo>
                      <a:pt x="0" y="0"/>
                    </a:moveTo>
                    <a:lnTo>
                      <a:pt x="0" y="0"/>
                    </a:lnTo>
                    <a:lnTo>
                      <a:pt x="0" y="79597"/>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18"/>
              <p:cNvSpPr/>
              <p:nvPr/>
            </p:nvSpPr>
            <p:spPr>
              <a:xfrm>
                <a:off x="7416076" y="3562362"/>
                <a:ext cx="189230" cy="133350"/>
              </a:xfrm>
              <a:custGeom>
                <a:rect b="b" l="l" r="r" t="t"/>
                <a:pathLst>
                  <a:path extrusionOk="0" h="133350" w="189229">
                    <a:moveTo>
                      <a:pt x="188950" y="53505"/>
                    </a:moveTo>
                    <a:lnTo>
                      <a:pt x="22796" y="0"/>
                    </a:lnTo>
                    <a:lnTo>
                      <a:pt x="0" y="0"/>
                    </a:lnTo>
                    <a:lnTo>
                      <a:pt x="0" y="26098"/>
                    </a:lnTo>
                    <a:lnTo>
                      <a:pt x="123266" y="66319"/>
                    </a:lnTo>
                    <a:lnTo>
                      <a:pt x="0" y="105041"/>
                    </a:lnTo>
                    <a:lnTo>
                      <a:pt x="0" y="133070"/>
                    </a:lnTo>
                    <a:lnTo>
                      <a:pt x="22796" y="133070"/>
                    </a:lnTo>
                    <a:lnTo>
                      <a:pt x="188950" y="79603"/>
                    </a:lnTo>
                    <a:lnTo>
                      <a:pt x="188950" y="53505"/>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18"/>
              <p:cNvSpPr/>
              <p:nvPr/>
            </p:nvSpPr>
            <p:spPr>
              <a:xfrm>
                <a:off x="7428308" y="3615861"/>
                <a:ext cx="0" cy="80010"/>
              </a:xfrm>
              <a:custGeom>
                <a:rect b="b" l="l" r="r" t="t"/>
                <a:pathLst>
                  <a:path extrusionOk="0" h="80010" w="120000">
                    <a:moveTo>
                      <a:pt x="0" y="0"/>
                    </a:moveTo>
                    <a:lnTo>
                      <a:pt x="0" y="0"/>
                    </a:lnTo>
                    <a:lnTo>
                      <a:pt x="0" y="79570"/>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8"/>
              <p:cNvSpPr/>
              <p:nvPr/>
            </p:nvSpPr>
            <p:spPr>
              <a:xfrm>
                <a:off x="7416088" y="3562358"/>
                <a:ext cx="164465" cy="105410"/>
              </a:xfrm>
              <a:custGeom>
                <a:rect b="b" l="l" r="r" t="t"/>
                <a:pathLst>
                  <a:path extrusionOk="0" h="105410" w="164465">
                    <a:moveTo>
                      <a:pt x="0" y="0"/>
                    </a:moveTo>
                    <a:lnTo>
                      <a:pt x="0" y="105034"/>
                    </a:lnTo>
                    <a:lnTo>
                      <a:pt x="164028" y="5350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18"/>
              <p:cNvSpPr/>
              <p:nvPr/>
            </p:nvSpPr>
            <p:spPr>
              <a:xfrm>
                <a:off x="7297649" y="3628238"/>
                <a:ext cx="141605" cy="0"/>
              </a:xfrm>
              <a:custGeom>
                <a:rect b="b" l="l" r="r" t="t"/>
                <a:pathLst>
                  <a:path extrusionOk="0" h="120000" w="141604">
                    <a:moveTo>
                      <a:pt x="0" y="0"/>
                    </a:moveTo>
                    <a:lnTo>
                      <a:pt x="0" y="0"/>
                    </a:lnTo>
                    <a:lnTo>
                      <a:pt x="141234"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18"/>
              <p:cNvSpPr/>
              <p:nvPr/>
            </p:nvSpPr>
            <p:spPr>
              <a:xfrm>
                <a:off x="6686418" y="3562358"/>
                <a:ext cx="305498" cy="133073"/>
              </a:xfrm>
              <a:prstGeom prst="rect">
                <a:avLst/>
              </a:prstGeom>
              <a:blipFill rotWithShape="1">
                <a:blip r:embed="rId2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18"/>
              <p:cNvSpPr/>
              <p:nvPr/>
            </p:nvSpPr>
            <p:spPr>
              <a:xfrm>
                <a:off x="7651086" y="3403847"/>
                <a:ext cx="306907" cy="371182"/>
              </a:xfrm>
              <a:prstGeom prst="rect">
                <a:avLst/>
              </a:prstGeom>
              <a:blipFill rotWithShape="1">
                <a:blip r:embed="rId2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18"/>
              <p:cNvSpPr/>
              <p:nvPr/>
            </p:nvSpPr>
            <p:spPr>
              <a:xfrm>
                <a:off x="7675761" y="4039232"/>
                <a:ext cx="305733" cy="317679"/>
              </a:xfrm>
              <a:prstGeom prst="rect">
                <a:avLst/>
              </a:prstGeom>
              <a:blipFill rotWithShape="1">
                <a:blip r:embed="rId2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18"/>
              <p:cNvSpPr/>
              <p:nvPr/>
            </p:nvSpPr>
            <p:spPr>
              <a:xfrm>
                <a:off x="7863052" y="2900882"/>
                <a:ext cx="95250" cy="184785"/>
              </a:xfrm>
              <a:custGeom>
                <a:rect b="b" l="l" r="r" t="t"/>
                <a:pathLst>
                  <a:path extrusionOk="0" h="184785" w="95250">
                    <a:moveTo>
                      <a:pt x="94932" y="0"/>
                    </a:moveTo>
                    <a:lnTo>
                      <a:pt x="70497" y="0"/>
                    </a:lnTo>
                    <a:lnTo>
                      <a:pt x="0" y="131127"/>
                    </a:lnTo>
                    <a:lnTo>
                      <a:pt x="0" y="159169"/>
                    </a:lnTo>
                    <a:lnTo>
                      <a:pt x="47701" y="184607"/>
                    </a:lnTo>
                    <a:lnTo>
                      <a:pt x="70497" y="184607"/>
                    </a:lnTo>
                    <a:lnTo>
                      <a:pt x="70497" y="159169"/>
                    </a:lnTo>
                    <a:lnTo>
                      <a:pt x="35661" y="137972"/>
                    </a:lnTo>
                    <a:lnTo>
                      <a:pt x="94932" y="26098"/>
                    </a:lnTo>
                    <a:lnTo>
                      <a:pt x="94932"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18"/>
              <p:cNvSpPr/>
              <p:nvPr/>
            </p:nvSpPr>
            <p:spPr>
              <a:xfrm>
                <a:off x="7910760" y="2900878"/>
                <a:ext cx="47625" cy="184785"/>
              </a:xfrm>
              <a:custGeom>
                <a:rect b="b" l="l" r="r" t="t"/>
                <a:pathLst>
                  <a:path extrusionOk="0" h="184785" w="47625">
                    <a:moveTo>
                      <a:pt x="35014" y="0"/>
                    </a:moveTo>
                    <a:lnTo>
                      <a:pt x="35014" y="0"/>
                    </a:lnTo>
                    <a:lnTo>
                      <a:pt x="35014" y="184605"/>
                    </a:lnTo>
                  </a:path>
                  <a:path extrusionOk="0" h="184785" w="47625">
                    <a:moveTo>
                      <a:pt x="0" y="170914"/>
                    </a:moveTo>
                    <a:lnTo>
                      <a:pt x="0" y="170914"/>
                    </a:lnTo>
                    <a:lnTo>
                      <a:pt x="47234" y="170914"/>
                    </a:lnTo>
                  </a:path>
                </a:pathLst>
              </a:custGeom>
              <a:noFill/>
              <a:ln cap="flat" cmpd="sng" w="240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18"/>
              <p:cNvSpPr/>
              <p:nvPr/>
            </p:nvSpPr>
            <p:spPr>
              <a:xfrm>
                <a:off x="7863055" y="2900878"/>
                <a:ext cx="71120" cy="159385"/>
              </a:xfrm>
              <a:custGeom>
                <a:rect b="b" l="l" r="r" t="t"/>
                <a:pathLst>
                  <a:path extrusionOk="0" h="159385" w="71120">
                    <a:moveTo>
                      <a:pt x="70499" y="0"/>
                    </a:moveTo>
                    <a:lnTo>
                      <a:pt x="0" y="131129"/>
                    </a:lnTo>
                    <a:lnTo>
                      <a:pt x="47704" y="159168"/>
                    </a:lnTo>
                    <a:lnTo>
                      <a:pt x="70499" y="159168"/>
                    </a:lnTo>
                    <a:lnTo>
                      <a:pt x="70499"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18"/>
              <p:cNvSpPr/>
              <p:nvPr/>
            </p:nvSpPr>
            <p:spPr>
              <a:xfrm>
                <a:off x="7922979" y="3060046"/>
                <a:ext cx="0" cy="26034"/>
              </a:xfrm>
              <a:custGeom>
                <a:rect b="b" l="l" r="r" t="t"/>
                <a:pathLst>
                  <a:path extrusionOk="0" h="26035" w="120000">
                    <a:moveTo>
                      <a:pt x="0" y="12718"/>
                    </a:moveTo>
                    <a:lnTo>
                      <a:pt x="0" y="12718"/>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18"/>
              <p:cNvSpPr/>
              <p:nvPr/>
            </p:nvSpPr>
            <p:spPr>
              <a:xfrm>
                <a:off x="7651077" y="3006572"/>
                <a:ext cx="282575" cy="133350"/>
              </a:xfrm>
              <a:custGeom>
                <a:rect b="b" l="l" r="r" t="t"/>
                <a:pathLst>
                  <a:path extrusionOk="0" h="133350" w="282575">
                    <a:moveTo>
                      <a:pt x="282473" y="53479"/>
                    </a:moveTo>
                    <a:lnTo>
                      <a:pt x="259676" y="53479"/>
                    </a:lnTo>
                    <a:lnTo>
                      <a:pt x="173570" y="100685"/>
                    </a:lnTo>
                    <a:lnTo>
                      <a:pt x="95173" y="78917"/>
                    </a:lnTo>
                    <a:lnTo>
                      <a:pt x="24676" y="0"/>
                    </a:lnTo>
                    <a:lnTo>
                      <a:pt x="0" y="0"/>
                    </a:lnTo>
                    <a:lnTo>
                      <a:pt x="0" y="25438"/>
                    </a:lnTo>
                    <a:lnTo>
                      <a:pt x="70739" y="105016"/>
                    </a:lnTo>
                    <a:lnTo>
                      <a:pt x="165671" y="133083"/>
                    </a:lnTo>
                    <a:lnTo>
                      <a:pt x="189179" y="133083"/>
                    </a:lnTo>
                    <a:lnTo>
                      <a:pt x="282473" y="78917"/>
                    </a:lnTo>
                    <a:lnTo>
                      <a:pt x="282473" y="5347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18"/>
              <p:cNvSpPr/>
              <p:nvPr/>
            </p:nvSpPr>
            <p:spPr>
              <a:xfrm>
                <a:off x="7663541" y="2900878"/>
                <a:ext cx="0" cy="131445"/>
              </a:xfrm>
              <a:custGeom>
                <a:rect b="b" l="l" r="r" t="t"/>
                <a:pathLst>
                  <a:path extrusionOk="0" h="131444" w="120000">
                    <a:moveTo>
                      <a:pt x="0" y="0"/>
                    </a:moveTo>
                    <a:lnTo>
                      <a:pt x="0" y="0"/>
                    </a:lnTo>
                    <a:lnTo>
                      <a:pt x="0" y="131129"/>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18"/>
              <p:cNvSpPr/>
              <p:nvPr/>
            </p:nvSpPr>
            <p:spPr>
              <a:xfrm>
                <a:off x="7651077" y="2793910"/>
                <a:ext cx="189230" cy="133350"/>
              </a:xfrm>
              <a:custGeom>
                <a:rect b="b" l="l" r="r" t="t"/>
                <a:pathLst>
                  <a:path extrusionOk="0" h="133350" w="189229">
                    <a:moveTo>
                      <a:pt x="189179" y="0"/>
                    </a:moveTo>
                    <a:lnTo>
                      <a:pt x="165671" y="0"/>
                    </a:lnTo>
                    <a:lnTo>
                      <a:pt x="70739" y="28028"/>
                    </a:lnTo>
                    <a:lnTo>
                      <a:pt x="0" y="106972"/>
                    </a:lnTo>
                    <a:lnTo>
                      <a:pt x="0" y="133070"/>
                    </a:lnTo>
                    <a:lnTo>
                      <a:pt x="24676" y="133070"/>
                    </a:lnTo>
                    <a:lnTo>
                      <a:pt x="95173" y="53467"/>
                    </a:lnTo>
                    <a:lnTo>
                      <a:pt x="189179" y="28028"/>
                    </a:lnTo>
                    <a:lnTo>
                      <a:pt x="189179"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18"/>
              <p:cNvSpPr/>
              <p:nvPr/>
            </p:nvSpPr>
            <p:spPr>
              <a:xfrm>
                <a:off x="7204354" y="3707178"/>
                <a:ext cx="71120" cy="0"/>
              </a:xfrm>
              <a:custGeom>
                <a:rect b="b" l="l" r="r" t="t"/>
                <a:pathLst>
                  <a:path extrusionOk="0" h="120000" w="71120">
                    <a:moveTo>
                      <a:pt x="0" y="0"/>
                    </a:moveTo>
                    <a:lnTo>
                      <a:pt x="0" y="0"/>
                    </a:lnTo>
                    <a:lnTo>
                      <a:pt x="70499"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18"/>
              <p:cNvSpPr/>
              <p:nvPr/>
            </p:nvSpPr>
            <p:spPr>
              <a:xfrm>
                <a:off x="7204354" y="3588461"/>
                <a:ext cx="93345" cy="158750"/>
              </a:xfrm>
              <a:custGeom>
                <a:rect b="b" l="l" r="r" t="t"/>
                <a:pathLst>
                  <a:path extrusionOk="0" h="158750" w="93345">
                    <a:moveTo>
                      <a:pt x="93294" y="133070"/>
                    </a:moveTo>
                    <a:lnTo>
                      <a:pt x="70497" y="0"/>
                    </a:lnTo>
                    <a:lnTo>
                      <a:pt x="47231" y="0"/>
                    </a:lnTo>
                    <a:lnTo>
                      <a:pt x="0" y="106972"/>
                    </a:lnTo>
                    <a:lnTo>
                      <a:pt x="0" y="133070"/>
                    </a:lnTo>
                    <a:lnTo>
                      <a:pt x="22783" y="133070"/>
                    </a:lnTo>
                    <a:lnTo>
                      <a:pt x="34556" y="106972"/>
                    </a:lnTo>
                    <a:lnTo>
                      <a:pt x="47231" y="106972"/>
                    </a:lnTo>
                    <a:lnTo>
                      <a:pt x="47231" y="133070"/>
                    </a:lnTo>
                    <a:lnTo>
                      <a:pt x="70497" y="158508"/>
                    </a:lnTo>
                    <a:lnTo>
                      <a:pt x="93294" y="158508"/>
                    </a:lnTo>
                    <a:lnTo>
                      <a:pt x="93294" y="13307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18"/>
              <p:cNvSpPr/>
              <p:nvPr/>
            </p:nvSpPr>
            <p:spPr>
              <a:xfrm>
                <a:off x="7239369" y="3721526"/>
                <a:ext cx="0" cy="26034"/>
              </a:xfrm>
              <a:custGeom>
                <a:rect b="b" l="l" r="r" t="t"/>
                <a:pathLst>
                  <a:path extrusionOk="0" h="26035" w="120000">
                    <a:moveTo>
                      <a:pt x="0" y="12718"/>
                    </a:moveTo>
                    <a:lnTo>
                      <a:pt x="0" y="12718"/>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18"/>
              <p:cNvSpPr/>
              <p:nvPr/>
            </p:nvSpPr>
            <p:spPr>
              <a:xfrm>
                <a:off x="7015403" y="3667404"/>
                <a:ext cx="236220" cy="133350"/>
              </a:xfrm>
              <a:custGeom>
                <a:rect b="b" l="l" r="r" t="t"/>
                <a:pathLst>
                  <a:path extrusionOk="0" h="133350" w="236220">
                    <a:moveTo>
                      <a:pt x="236181" y="54127"/>
                    </a:moveTo>
                    <a:lnTo>
                      <a:pt x="211734" y="54127"/>
                    </a:lnTo>
                    <a:lnTo>
                      <a:pt x="147916" y="102400"/>
                    </a:lnTo>
                    <a:lnTo>
                      <a:pt x="70510" y="79565"/>
                    </a:lnTo>
                    <a:lnTo>
                      <a:pt x="24447" y="0"/>
                    </a:lnTo>
                    <a:lnTo>
                      <a:pt x="0" y="0"/>
                    </a:lnTo>
                    <a:lnTo>
                      <a:pt x="0" y="28028"/>
                    </a:lnTo>
                    <a:lnTo>
                      <a:pt x="47244" y="107632"/>
                    </a:lnTo>
                    <a:lnTo>
                      <a:pt x="141008" y="133070"/>
                    </a:lnTo>
                    <a:lnTo>
                      <a:pt x="165684" y="133070"/>
                    </a:lnTo>
                    <a:lnTo>
                      <a:pt x="236181" y="79565"/>
                    </a:lnTo>
                    <a:lnTo>
                      <a:pt x="236181" y="54127"/>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18"/>
              <p:cNvSpPr/>
              <p:nvPr/>
            </p:nvSpPr>
            <p:spPr>
              <a:xfrm>
                <a:off x="7027635" y="3562358"/>
                <a:ext cx="0" cy="133350"/>
              </a:xfrm>
              <a:custGeom>
                <a:rect b="b" l="l" r="r" t="t"/>
                <a:pathLst>
                  <a:path extrusionOk="0" h="133350" w="120000">
                    <a:moveTo>
                      <a:pt x="0" y="0"/>
                    </a:moveTo>
                    <a:lnTo>
                      <a:pt x="0" y="0"/>
                    </a:lnTo>
                    <a:lnTo>
                      <a:pt x="0" y="133073"/>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18"/>
              <p:cNvSpPr/>
              <p:nvPr/>
            </p:nvSpPr>
            <p:spPr>
              <a:xfrm>
                <a:off x="7015403" y="3457333"/>
                <a:ext cx="141605" cy="131445"/>
              </a:xfrm>
              <a:custGeom>
                <a:rect b="b" l="l" r="r" t="t"/>
                <a:pathLst>
                  <a:path extrusionOk="0" h="131445" w="141604">
                    <a:moveTo>
                      <a:pt x="141008" y="0"/>
                    </a:moveTo>
                    <a:lnTo>
                      <a:pt x="117741" y="0"/>
                    </a:lnTo>
                    <a:lnTo>
                      <a:pt x="47244" y="25438"/>
                    </a:lnTo>
                    <a:lnTo>
                      <a:pt x="0" y="105029"/>
                    </a:lnTo>
                    <a:lnTo>
                      <a:pt x="0" y="131127"/>
                    </a:lnTo>
                    <a:lnTo>
                      <a:pt x="24447" y="131127"/>
                    </a:lnTo>
                    <a:lnTo>
                      <a:pt x="70510" y="51523"/>
                    </a:lnTo>
                    <a:lnTo>
                      <a:pt x="141008" y="25438"/>
                    </a:lnTo>
                    <a:lnTo>
                      <a:pt x="14100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18"/>
              <p:cNvSpPr/>
              <p:nvPr/>
            </p:nvSpPr>
            <p:spPr>
              <a:xfrm>
                <a:off x="7251589" y="3826561"/>
                <a:ext cx="376232" cy="371182"/>
              </a:xfrm>
              <a:prstGeom prst="rect">
                <a:avLst/>
              </a:prstGeom>
              <a:blipFill rotWithShape="1">
                <a:blip r:embed="rId2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18"/>
              <p:cNvSpPr/>
              <p:nvPr/>
            </p:nvSpPr>
            <p:spPr>
              <a:xfrm>
                <a:off x="6685411" y="2926973"/>
                <a:ext cx="119041" cy="133073"/>
              </a:xfrm>
              <a:prstGeom prst="rect">
                <a:avLst/>
              </a:prstGeom>
              <a:blipFill rotWithShape="1">
                <a:blip r:embed="rId2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18"/>
              <p:cNvSpPr/>
              <p:nvPr/>
            </p:nvSpPr>
            <p:spPr>
              <a:xfrm>
                <a:off x="6802977" y="3111578"/>
                <a:ext cx="188938" cy="266173"/>
              </a:xfrm>
              <a:prstGeom prst="rect">
                <a:avLst/>
              </a:prstGeom>
              <a:blipFill rotWithShape="1">
                <a:blip r:embed="rId2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18"/>
              <p:cNvSpPr/>
              <p:nvPr/>
            </p:nvSpPr>
            <p:spPr>
              <a:xfrm>
                <a:off x="6802977" y="3826561"/>
                <a:ext cx="259673" cy="291585"/>
              </a:xfrm>
              <a:prstGeom prst="rect">
                <a:avLst/>
              </a:prstGeom>
              <a:blipFill rotWithShape="1">
                <a:blip r:embed="rId2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18"/>
              <p:cNvSpPr/>
              <p:nvPr/>
            </p:nvSpPr>
            <p:spPr>
              <a:xfrm>
                <a:off x="6520509" y="3536264"/>
                <a:ext cx="118439" cy="131414"/>
              </a:xfrm>
              <a:prstGeom prst="rect">
                <a:avLst/>
              </a:prstGeom>
              <a:blipFill rotWithShape="1">
                <a:blip r:embed="rId2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18"/>
              <p:cNvSpPr/>
              <p:nvPr/>
            </p:nvSpPr>
            <p:spPr>
              <a:xfrm>
                <a:off x="6685411" y="4144241"/>
                <a:ext cx="119042" cy="133100"/>
              </a:xfrm>
              <a:prstGeom prst="rect">
                <a:avLst/>
              </a:prstGeom>
              <a:blipFill rotWithShape="1">
                <a:blip r:embed="rId2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18"/>
              <p:cNvSpPr/>
              <p:nvPr/>
            </p:nvSpPr>
            <p:spPr>
              <a:xfrm>
                <a:off x="7251586" y="3085490"/>
                <a:ext cx="400050" cy="372110"/>
              </a:xfrm>
              <a:custGeom>
                <a:rect b="b" l="l" r="r" t="t"/>
                <a:pathLst>
                  <a:path extrusionOk="0" h="372110" w="400050">
                    <a:moveTo>
                      <a:pt x="399491" y="0"/>
                    </a:moveTo>
                    <a:lnTo>
                      <a:pt x="376224" y="0"/>
                    </a:lnTo>
                    <a:lnTo>
                      <a:pt x="212432" y="79603"/>
                    </a:lnTo>
                    <a:lnTo>
                      <a:pt x="212432" y="105689"/>
                    </a:lnTo>
                    <a:lnTo>
                      <a:pt x="227012" y="140258"/>
                    </a:lnTo>
                    <a:lnTo>
                      <a:pt x="0" y="343801"/>
                    </a:lnTo>
                    <a:lnTo>
                      <a:pt x="0" y="371843"/>
                    </a:lnTo>
                    <a:lnTo>
                      <a:pt x="23266" y="371843"/>
                    </a:lnTo>
                    <a:lnTo>
                      <a:pt x="249237" y="166941"/>
                    </a:lnTo>
                    <a:lnTo>
                      <a:pt x="282930" y="185267"/>
                    </a:lnTo>
                    <a:lnTo>
                      <a:pt x="305727" y="185267"/>
                    </a:lnTo>
                    <a:lnTo>
                      <a:pt x="399491" y="26098"/>
                    </a:lnTo>
                    <a:lnTo>
                      <a:pt x="399491"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18"/>
              <p:cNvSpPr/>
              <p:nvPr/>
            </p:nvSpPr>
            <p:spPr>
              <a:xfrm>
                <a:off x="7981494" y="2966758"/>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18"/>
              <p:cNvSpPr/>
              <p:nvPr/>
            </p:nvSpPr>
            <p:spPr>
              <a:xfrm>
                <a:off x="8215788" y="2873470"/>
                <a:ext cx="118745" cy="133350"/>
              </a:xfrm>
              <a:custGeom>
                <a:rect b="b" l="l" r="r" t="t"/>
                <a:pathLst>
                  <a:path extrusionOk="0" h="133350" w="118745">
                    <a:moveTo>
                      <a:pt x="118439" y="0"/>
                    </a:moveTo>
                    <a:lnTo>
                      <a:pt x="0" y="0"/>
                    </a:lnTo>
                    <a:lnTo>
                      <a:pt x="0" y="133100"/>
                    </a:lnTo>
                    <a:lnTo>
                      <a:pt x="118439" y="133100"/>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18"/>
              <p:cNvSpPr/>
              <p:nvPr/>
            </p:nvSpPr>
            <p:spPr>
              <a:xfrm>
                <a:off x="8228713" y="2887187"/>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18"/>
              <p:cNvSpPr/>
              <p:nvPr/>
            </p:nvSpPr>
            <p:spPr>
              <a:xfrm>
                <a:off x="7981494" y="3628238"/>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18"/>
              <p:cNvSpPr/>
              <p:nvPr/>
            </p:nvSpPr>
            <p:spPr>
              <a:xfrm>
                <a:off x="8215788" y="3536264"/>
                <a:ext cx="118745" cy="131445"/>
              </a:xfrm>
              <a:custGeom>
                <a:rect b="b" l="l" r="r" t="t"/>
                <a:pathLst>
                  <a:path extrusionOk="0" h="131445" w="118745">
                    <a:moveTo>
                      <a:pt x="118439" y="0"/>
                    </a:moveTo>
                    <a:lnTo>
                      <a:pt x="0" y="0"/>
                    </a:lnTo>
                    <a:lnTo>
                      <a:pt x="0" y="131129"/>
                    </a:lnTo>
                    <a:lnTo>
                      <a:pt x="118439" y="131129"/>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18"/>
              <p:cNvSpPr/>
              <p:nvPr/>
            </p:nvSpPr>
            <p:spPr>
              <a:xfrm>
                <a:off x="8228713" y="3548667"/>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18"/>
              <p:cNvSpPr/>
              <p:nvPr/>
            </p:nvSpPr>
            <p:spPr>
              <a:xfrm>
                <a:off x="7981494" y="4212092"/>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18"/>
              <p:cNvSpPr/>
              <p:nvPr/>
            </p:nvSpPr>
            <p:spPr>
              <a:xfrm>
                <a:off x="8215788" y="4144241"/>
                <a:ext cx="118745" cy="133350"/>
              </a:xfrm>
              <a:custGeom>
                <a:rect b="b" l="l" r="r" t="t"/>
                <a:pathLst>
                  <a:path extrusionOk="0" h="133350" w="118745">
                    <a:moveTo>
                      <a:pt x="118439" y="0"/>
                    </a:moveTo>
                    <a:lnTo>
                      <a:pt x="0" y="0"/>
                    </a:lnTo>
                    <a:lnTo>
                      <a:pt x="0" y="133100"/>
                    </a:lnTo>
                    <a:lnTo>
                      <a:pt x="118439" y="133100"/>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18"/>
              <p:cNvSpPr/>
              <p:nvPr/>
            </p:nvSpPr>
            <p:spPr>
              <a:xfrm>
                <a:off x="8228713" y="4157958"/>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18"/>
              <p:cNvSpPr/>
              <p:nvPr/>
            </p:nvSpPr>
            <p:spPr>
              <a:xfrm>
                <a:off x="5061638" y="3060046"/>
                <a:ext cx="234998" cy="184632"/>
              </a:xfrm>
              <a:prstGeom prst="rect">
                <a:avLst/>
              </a:prstGeom>
              <a:blipFill rotWithShape="1">
                <a:blip r:embed="rId3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18"/>
              <p:cNvSpPr/>
              <p:nvPr/>
            </p:nvSpPr>
            <p:spPr>
              <a:xfrm>
                <a:off x="4965992" y="3536276"/>
                <a:ext cx="330835" cy="556895"/>
              </a:xfrm>
              <a:custGeom>
                <a:rect b="b" l="l" r="r" t="t"/>
                <a:pathLst>
                  <a:path extrusionOk="0" h="556895" w="330835">
                    <a:moveTo>
                      <a:pt x="330644" y="0"/>
                    </a:moveTo>
                    <a:lnTo>
                      <a:pt x="307378" y="0"/>
                    </a:lnTo>
                    <a:lnTo>
                      <a:pt x="169773" y="236550"/>
                    </a:lnTo>
                    <a:lnTo>
                      <a:pt x="70497" y="159156"/>
                    </a:lnTo>
                    <a:lnTo>
                      <a:pt x="47701" y="159156"/>
                    </a:lnTo>
                    <a:lnTo>
                      <a:pt x="47701" y="185254"/>
                    </a:lnTo>
                    <a:lnTo>
                      <a:pt x="151980" y="267119"/>
                    </a:lnTo>
                    <a:lnTo>
                      <a:pt x="0" y="528396"/>
                    </a:lnTo>
                    <a:lnTo>
                      <a:pt x="0" y="556437"/>
                    </a:lnTo>
                    <a:lnTo>
                      <a:pt x="25146" y="556437"/>
                    </a:lnTo>
                    <a:lnTo>
                      <a:pt x="179400" y="288645"/>
                    </a:lnTo>
                    <a:lnTo>
                      <a:pt x="282930" y="369887"/>
                    </a:lnTo>
                    <a:lnTo>
                      <a:pt x="307378" y="369887"/>
                    </a:lnTo>
                    <a:lnTo>
                      <a:pt x="307378" y="343789"/>
                    </a:lnTo>
                    <a:lnTo>
                      <a:pt x="197129" y="257873"/>
                    </a:lnTo>
                    <a:lnTo>
                      <a:pt x="330644" y="26085"/>
                    </a:lnTo>
                    <a:lnTo>
                      <a:pt x="330644"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18"/>
              <p:cNvSpPr/>
              <p:nvPr/>
            </p:nvSpPr>
            <p:spPr>
              <a:xfrm>
                <a:off x="4330088" y="3536264"/>
                <a:ext cx="188938" cy="131129"/>
              </a:xfrm>
              <a:prstGeom prst="rect">
                <a:avLst/>
              </a:prstGeom>
              <a:blipFill rotWithShape="1">
                <a:blip r:embed="rId3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18"/>
              <p:cNvSpPr/>
              <p:nvPr/>
            </p:nvSpPr>
            <p:spPr>
              <a:xfrm>
                <a:off x="3835886" y="3602144"/>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18"/>
              <p:cNvSpPr/>
              <p:nvPr/>
            </p:nvSpPr>
            <p:spPr>
              <a:xfrm>
                <a:off x="4330088" y="4118146"/>
                <a:ext cx="188938" cy="159194"/>
              </a:xfrm>
              <a:prstGeom prst="rect">
                <a:avLst/>
              </a:prstGeom>
              <a:blipFill rotWithShape="1">
                <a:blip r:embed="rId3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18"/>
              <p:cNvSpPr/>
              <p:nvPr/>
            </p:nvSpPr>
            <p:spPr>
              <a:xfrm>
                <a:off x="3835886" y="4212092"/>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18"/>
              <p:cNvSpPr/>
              <p:nvPr/>
            </p:nvSpPr>
            <p:spPr>
              <a:xfrm>
                <a:off x="4965992" y="3060052"/>
                <a:ext cx="424180" cy="1033144"/>
              </a:xfrm>
              <a:custGeom>
                <a:rect b="b" l="l" r="r" t="t"/>
                <a:pathLst>
                  <a:path extrusionOk="0" h="1033145" w="424179">
                    <a:moveTo>
                      <a:pt x="377875" y="873493"/>
                    </a:moveTo>
                    <a:lnTo>
                      <a:pt x="353428" y="873493"/>
                    </a:lnTo>
                    <a:lnTo>
                      <a:pt x="0" y="1004620"/>
                    </a:lnTo>
                    <a:lnTo>
                      <a:pt x="0" y="1032662"/>
                    </a:lnTo>
                    <a:lnTo>
                      <a:pt x="25146" y="1032662"/>
                    </a:lnTo>
                    <a:lnTo>
                      <a:pt x="377875" y="899591"/>
                    </a:lnTo>
                    <a:lnTo>
                      <a:pt x="377875" y="873493"/>
                    </a:lnTo>
                    <a:close/>
                  </a:path>
                  <a:path extrusionOk="0" h="1033145" w="424179">
                    <a:moveTo>
                      <a:pt x="424167" y="184632"/>
                    </a:moveTo>
                    <a:lnTo>
                      <a:pt x="401370" y="184632"/>
                    </a:lnTo>
                    <a:lnTo>
                      <a:pt x="255600" y="370878"/>
                    </a:lnTo>
                    <a:lnTo>
                      <a:pt x="118440" y="0"/>
                    </a:lnTo>
                    <a:lnTo>
                      <a:pt x="95643" y="0"/>
                    </a:lnTo>
                    <a:lnTo>
                      <a:pt x="95643" y="25438"/>
                    </a:lnTo>
                    <a:lnTo>
                      <a:pt x="233629" y="398932"/>
                    </a:lnTo>
                    <a:lnTo>
                      <a:pt x="70497" y="607352"/>
                    </a:lnTo>
                    <a:lnTo>
                      <a:pt x="70497" y="635381"/>
                    </a:lnTo>
                    <a:lnTo>
                      <a:pt x="95643" y="635381"/>
                    </a:lnTo>
                    <a:lnTo>
                      <a:pt x="248158" y="438238"/>
                    </a:lnTo>
                    <a:lnTo>
                      <a:pt x="330644" y="661479"/>
                    </a:lnTo>
                    <a:lnTo>
                      <a:pt x="353428" y="661479"/>
                    </a:lnTo>
                    <a:lnTo>
                      <a:pt x="353428" y="635381"/>
                    </a:lnTo>
                    <a:lnTo>
                      <a:pt x="270040" y="409943"/>
                    </a:lnTo>
                    <a:lnTo>
                      <a:pt x="424167" y="210705"/>
                    </a:lnTo>
                    <a:lnTo>
                      <a:pt x="424167" y="18463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18"/>
              <p:cNvSpPr/>
              <p:nvPr/>
            </p:nvSpPr>
            <p:spPr>
              <a:xfrm>
                <a:off x="5296637" y="3191176"/>
                <a:ext cx="118110" cy="133350"/>
              </a:xfrm>
              <a:custGeom>
                <a:rect b="b" l="l" r="r" t="t"/>
                <a:pathLst>
                  <a:path extrusionOk="0" h="133350" w="118110">
                    <a:moveTo>
                      <a:pt x="117969" y="0"/>
                    </a:moveTo>
                    <a:lnTo>
                      <a:pt x="0" y="0"/>
                    </a:lnTo>
                    <a:lnTo>
                      <a:pt x="0" y="133073"/>
                    </a:lnTo>
                    <a:lnTo>
                      <a:pt x="117969" y="133073"/>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18"/>
              <p:cNvSpPr/>
              <p:nvPr/>
            </p:nvSpPr>
            <p:spPr>
              <a:xfrm>
                <a:off x="5308857" y="3204867"/>
                <a:ext cx="116839" cy="133350"/>
              </a:xfrm>
              <a:custGeom>
                <a:rect b="b" l="l" r="r" t="t"/>
                <a:pathLst>
                  <a:path extrusionOk="0" h="133350" w="116839">
                    <a:moveTo>
                      <a:pt x="0" y="0"/>
                    </a:moveTo>
                    <a:lnTo>
                      <a:pt x="116794" y="0"/>
                    </a:lnTo>
                    <a:lnTo>
                      <a:pt x="116794" y="133073"/>
                    </a:lnTo>
                    <a:lnTo>
                      <a:pt x="0" y="133073"/>
                    </a:lnTo>
                    <a:lnTo>
                      <a:pt x="0" y="0"/>
                    </a:lnTo>
                    <a:close/>
                  </a:path>
                </a:pathLst>
              </a:custGeom>
              <a:noFill/>
              <a:ln cap="flat" cmpd="sng" w="2390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18"/>
              <p:cNvSpPr/>
              <p:nvPr/>
            </p:nvSpPr>
            <p:spPr>
              <a:xfrm>
                <a:off x="5296637" y="3403847"/>
                <a:ext cx="118110" cy="132715"/>
              </a:xfrm>
              <a:custGeom>
                <a:rect b="b" l="l" r="r" t="t"/>
                <a:pathLst>
                  <a:path extrusionOk="0" h="132714" w="118110">
                    <a:moveTo>
                      <a:pt x="117969" y="0"/>
                    </a:moveTo>
                    <a:lnTo>
                      <a:pt x="0" y="0"/>
                    </a:lnTo>
                    <a:lnTo>
                      <a:pt x="0" y="132416"/>
                    </a:lnTo>
                    <a:lnTo>
                      <a:pt x="117969" y="132416"/>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18"/>
              <p:cNvSpPr/>
              <p:nvPr/>
            </p:nvSpPr>
            <p:spPr>
              <a:xfrm>
                <a:off x="5308857" y="3417538"/>
                <a:ext cx="116839" cy="131445"/>
              </a:xfrm>
              <a:custGeom>
                <a:rect b="b" l="l" r="r" t="t"/>
                <a:pathLst>
                  <a:path extrusionOk="0" h="131445" w="116839">
                    <a:moveTo>
                      <a:pt x="0" y="0"/>
                    </a:moveTo>
                    <a:lnTo>
                      <a:pt x="116794" y="0"/>
                    </a:lnTo>
                    <a:lnTo>
                      <a:pt x="116794" y="131129"/>
                    </a:lnTo>
                    <a:lnTo>
                      <a:pt x="0" y="131129"/>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18"/>
              <p:cNvSpPr/>
              <p:nvPr/>
            </p:nvSpPr>
            <p:spPr>
              <a:xfrm>
                <a:off x="5296637" y="3641955"/>
                <a:ext cx="118110" cy="133350"/>
              </a:xfrm>
              <a:custGeom>
                <a:rect b="b" l="l" r="r" t="t"/>
                <a:pathLst>
                  <a:path extrusionOk="0" h="133350" w="118110">
                    <a:moveTo>
                      <a:pt x="117969" y="0"/>
                    </a:moveTo>
                    <a:lnTo>
                      <a:pt x="0" y="0"/>
                    </a:lnTo>
                    <a:lnTo>
                      <a:pt x="0" y="133073"/>
                    </a:lnTo>
                    <a:lnTo>
                      <a:pt x="117969" y="133073"/>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18"/>
              <p:cNvSpPr/>
              <p:nvPr/>
            </p:nvSpPr>
            <p:spPr>
              <a:xfrm>
                <a:off x="5308857" y="3655646"/>
                <a:ext cx="116839" cy="131445"/>
              </a:xfrm>
              <a:custGeom>
                <a:rect b="b" l="l" r="r" t="t"/>
                <a:pathLst>
                  <a:path extrusionOk="0" h="131445" w="116839">
                    <a:moveTo>
                      <a:pt x="0" y="0"/>
                    </a:moveTo>
                    <a:lnTo>
                      <a:pt x="116794" y="0"/>
                    </a:lnTo>
                    <a:lnTo>
                      <a:pt x="116794" y="131129"/>
                    </a:lnTo>
                    <a:lnTo>
                      <a:pt x="0" y="131129"/>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18"/>
              <p:cNvSpPr/>
              <p:nvPr/>
            </p:nvSpPr>
            <p:spPr>
              <a:xfrm>
                <a:off x="5296637" y="3854600"/>
                <a:ext cx="118110" cy="130810"/>
              </a:xfrm>
              <a:custGeom>
                <a:rect b="b" l="l" r="r" t="t"/>
                <a:pathLst>
                  <a:path extrusionOk="0" h="130810" w="118110">
                    <a:moveTo>
                      <a:pt x="117969" y="0"/>
                    </a:moveTo>
                    <a:lnTo>
                      <a:pt x="0" y="0"/>
                    </a:lnTo>
                    <a:lnTo>
                      <a:pt x="0" y="130472"/>
                    </a:lnTo>
                    <a:lnTo>
                      <a:pt x="117969" y="130472"/>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18"/>
              <p:cNvSpPr/>
              <p:nvPr/>
            </p:nvSpPr>
            <p:spPr>
              <a:xfrm>
                <a:off x="5308857" y="3866347"/>
                <a:ext cx="116839" cy="133350"/>
              </a:xfrm>
              <a:custGeom>
                <a:rect b="b" l="l" r="r" t="t"/>
                <a:pathLst>
                  <a:path extrusionOk="0" h="133350" w="116839">
                    <a:moveTo>
                      <a:pt x="0" y="0"/>
                    </a:moveTo>
                    <a:lnTo>
                      <a:pt x="116794" y="0"/>
                    </a:lnTo>
                    <a:lnTo>
                      <a:pt x="116794" y="133073"/>
                    </a:lnTo>
                    <a:lnTo>
                      <a:pt x="0" y="133073"/>
                    </a:lnTo>
                    <a:lnTo>
                      <a:pt x="0" y="0"/>
                    </a:lnTo>
                    <a:close/>
                  </a:path>
                </a:pathLst>
              </a:custGeom>
              <a:noFill/>
              <a:ln cap="flat" cmpd="sng" w="2390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3" name="Google Shape;563;p18"/>
            <p:cNvSpPr txBox="1"/>
            <p:nvPr/>
          </p:nvSpPr>
          <p:spPr>
            <a:xfrm>
              <a:off x="8505097" y="3128250"/>
              <a:ext cx="273685"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I/O</a:t>
              </a:r>
              <a:endParaRPr sz="1650">
                <a:solidFill>
                  <a:schemeClr val="dk1"/>
                </a:solidFill>
                <a:latin typeface="Arial"/>
                <a:ea typeface="Arial"/>
                <a:cs typeface="Arial"/>
                <a:sym typeface="Arial"/>
              </a:endParaRPr>
            </a:p>
          </p:txBody>
        </p:sp>
        <p:sp>
          <p:nvSpPr>
            <p:cNvPr id="564" name="Google Shape;564;p18"/>
            <p:cNvSpPr txBox="1"/>
            <p:nvPr/>
          </p:nvSpPr>
          <p:spPr>
            <a:xfrm>
              <a:off x="5631301" y="2439361"/>
              <a:ext cx="1953895"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per-connection threads</a:t>
              </a:r>
              <a:endParaRPr sz="1400">
                <a:solidFill>
                  <a:schemeClr val="dk1"/>
                </a:solidFill>
                <a:latin typeface="Arial"/>
                <a:ea typeface="Arial"/>
                <a:cs typeface="Arial"/>
                <a:sym typeface="Arial"/>
              </a:endParaRPr>
            </a:p>
          </p:txBody>
        </p:sp>
        <p:sp>
          <p:nvSpPr>
            <p:cNvPr id="565" name="Google Shape;565;p18"/>
            <p:cNvSpPr txBox="1"/>
            <p:nvPr/>
          </p:nvSpPr>
          <p:spPr>
            <a:xfrm>
              <a:off x="8692389" y="2439361"/>
              <a:ext cx="1545590" cy="28241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per-object threads</a:t>
              </a:r>
              <a:endParaRPr sz="1400">
                <a:solidFill>
                  <a:schemeClr val="dk1"/>
                </a:solidFill>
                <a:latin typeface="Arial"/>
                <a:ea typeface="Arial"/>
                <a:cs typeface="Arial"/>
                <a:sym typeface="Arial"/>
              </a:endParaRPr>
            </a:p>
          </p:txBody>
        </p:sp>
        <p:sp>
          <p:nvSpPr>
            <p:cNvPr id="566" name="Google Shape;566;p18"/>
            <p:cNvSpPr txBox="1"/>
            <p:nvPr/>
          </p:nvSpPr>
          <p:spPr>
            <a:xfrm>
              <a:off x="3817653" y="3207821"/>
              <a:ext cx="622934"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sp>
          <p:nvSpPr>
            <p:cNvPr id="567" name="Google Shape;567;p18"/>
            <p:cNvSpPr txBox="1"/>
            <p:nvPr/>
          </p:nvSpPr>
          <p:spPr>
            <a:xfrm>
              <a:off x="6973611" y="3180439"/>
              <a:ext cx="623570"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sp>
          <p:nvSpPr>
            <p:cNvPr id="568" name="Google Shape;568;p18"/>
            <p:cNvSpPr txBox="1"/>
            <p:nvPr/>
          </p:nvSpPr>
          <p:spPr>
            <a:xfrm>
              <a:off x="9822967" y="3074747"/>
              <a:ext cx="623570"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grpSp>
      <p:sp>
        <p:nvSpPr>
          <p:cNvPr id="569" name="Google Shape;569;p18"/>
          <p:cNvSpPr txBox="1"/>
          <p:nvPr/>
        </p:nvSpPr>
        <p:spPr>
          <a:xfrm>
            <a:off x="1195375" y="3948308"/>
            <a:ext cx="9753600" cy="261610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1B1B1B"/>
              </a:buClr>
              <a:buSzPts val="2000"/>
              <a:buFont typeface="Calibri"/>
              <a:buAutoNum type="arabicPeriod"/>
            </a:pPr>
            <a:r>
              <a:rPr i="0" lang="en-US" sz="2000">
                <a:solidFill>
                  <a:srgbClr val="1B1B1B"/>
                </a:solidFill>
                <a:latin typeface="Calibri"/>
                <a:ea typeface="Calibri"/>
                <a:cs typeface="Calibri"/>
                <a:sym typeface="Calibri"/>
              </a:rPr>
              <a:t>Thread-per-request (Luồng cho mỗi request)</a:t>
            </a:r>
            <a:endParaRPr/>
          </a:p>
          <a:p>
            <a:pPr indent="-342900" lvl="1" marL="800100" marR="0" rtl="0" algn="l">
              <a:spcBef>
                <a:spcPts val="0"/>
              </a:spcBef>
              <a:spcAft>
                <a:spcPts val="0"/>
              </a:spcAft>
              <a:buClr>
                <a:srgbClr val="1B1B1B"/>
              </a:buClr>
              <a:buSzPts val="1800"/>
              <a:buFont typeface="Arial"/>
              <a:buChar char="•"/>
            </a:pPr>
            <a:r>
              <a:rPr b="0" i="0" lang="en-US" sz="1800" u="none" cap="none" strike="noStrike">
                <a:solidFill>
                  <a:srgbClr val="1B1B1B"/>
                </a:solidFill>
                <a:latin typeface="Calibri"/>
                <a:ea typeface="Calibri"/>
                <a:cs typeface="Calibri"/>
                <a:sym typeface="Calibri"/>
              </a:rPr>
              <a:t>Tiến trình vào ra sinh ra 1 luồng worker mới cho mỗi request nhận được</a:t>
            </a:r>
            <a:endParaRPr/>
          </a:p>
          <a:p>
            <a:pPr indent="-342900" lvl="1" marL="800100" marR="0" rtl="0" algn="l">
              <a:spcBef>
                <a:spcPts val="0"/>
              </a:spcBef>
              <a:spcAft>
                <a:spcPts val="0"/>
              </a:spcAft>
              <a:buClr>
                <a:srgbClr val="1B1B1B"/>
              </a:buClr>
              <a:buSzPts val="1800"/>
              <a:buFont typeface="Arial"/>
              <a:buChar char="•"/>
            </a:pPr>
            <a:r>
              <a:rPr b="0" i="0" lang="en-US" sz="1800" u="none" cap="none" strike="noStrike">
                <a:solidFill>
                  <a:srgbClr val="1B1B1B"/>
                </a:solidFill>
                <a:latin typeface="Calibri"/>
                <a:ea typeface="Calibri"/>
                <a:cs typeface="Calibri"/>
                <a:sym typeface="Calibri"/>
              </a:rPr>
              <a:t>Mỗi luồng sẽ tự hủy sau khi hoàn thành nhiệm vụ</a:t>
            </a:r>
            <a:endParaRPr/>
          </a:p>
          <a:p>
            <a:pPr indent="-342900" lvl="1" marL="800100" marR="0" rtl="0" algn="l">
              <a:spcBef>
                <a:spcPts val="0"/>
              </a:spcBef>
              <a:spcAft>
                <a:spcPts val="0"/>
              </a:spcAft>
              <a:buClr>
                <a:srgbClr val="1B1B1B"/>
              </a:buClr>
              <a:buSzPts val="1800"/>
              <a:buFont typeface="Arial"/>
              <a:buChar char="•"/>
            </a:pPr>
            <a:r>
              <a:rPr b="0" i="0" lang="en-US" sz="1800" u="none" cap="none" strike="noStrike">
                <a:solidFill>
                  <a:srgbClr val="1B1B1B"/>
                </a:solidFill>
                <a:latin typeface="Calibri"/>
                <a:ea typeface="Calibri"/>
                <a:cs typeface="Calibri"/>
                <a:sym typeface="Calibri"/>
              </a:rPr>
              <a:t>Ưu điểm:</a:t>
            </a:r>
            <a:endParaRPr/>
          </a:p>
          <a:p>
            <a:pPr indent="-342900" lvl="2" marL="1257300" marR="0" rtl="0" algn="just">
              <a:spcBef>
                <a:spcPts val="0"/>
              </a:spcBef>
              <a:spcAft>
                <a:spcPts val="0"/>
              </a:spcAft>
              <a:buClr>
                <a:srgbClr val="1B1B1B"/>
              </a:buClr>
              <a:buSzPts val="1800"/>
              <a:buFont typeface="Arial"/>
              <a:buChar char="•"/>
            </a:pPr>
            <a:r>
              <a:rPr b="0" i="0" lang="en-US" sz="1800" u="none" cap="none" strike="noStrike">
                <a:solidFill>
                  <a:srgbClr val="1B1B1B"/>
                </a:solidFill>
                <a:latin typeface="Calibri"/>
                <a:ea typeface="Calibri"/>
                <a:cs typeface="Calibri"/>
                <a:sym typeface="Calibri"/>
              </a:rPr>
              <a:t>Không cần có hàng đợi vì mỗi y/c gửi đến đều được sinh ra 1 luồng và xử lý ngay</a:t>
            </a:r>
            <a:endParaRPr/>
          </a:p>
          <a:p>
            <a:pPr indent="-342900" lvl="2" marL="1257300" marR="0" rtl="0" algn="just">
              <a:spcBef>
                <a:spcPts val="0"/>
              </a:spcBef>
              <a:spcAft>
                <a:spcPts val="0"/>
              </a:spcAft>
              <a:buClr>
                <a:srgbClr val="1B1B1B"/>
              </a:buClr>
              <a:buSzPts val="1800"/>
              <a:buFont typeface="Arial"/>
              <a:buChar char="•"/>
            </a:pPr>
            <a:r>
              <a:rPr b="0" i="0" lang="en-US" sz="1800" u="none" cap="none" strike="noStrike">
                <a:solidFill>
                  <a:srgbClr val="1B1B1B"/>
                </a:solidFill>
                <a:latin typeface="Calibri"/>
                <a:ea typeface="Calibri"/>
                <a:cs typeface="Calibri"/>
                <a:sym typeface="Calibri"/>
              </a:rPr>
              <a:t>Băng thông có thể đạt mức tối đa vì có khả năng sinh không giới hạn các luồng của worker</a:t>
            </a:r>
            <a:endParaRPr/>
          </a:p>
          <a:p>
            <a:pPr indent="-342900" lvl="1" marL="800100" marR="0" rtl="0" algn="l">
              <a:spcBef>
                <a:spcPts val="0"/>
              </a:spcBef>
              <a:spcAft>
                <a:spcPts val="0"/>
              </a:spcAft>
              <a:buClr>
                <a:srgbClr val="1B1B1B"/>
              </a:buClr>
              <a:buSzPts val="1800"/>
              <a:buFont typeface="Arial"/>
              <a:buChar char="•"/>
            </a:pPr>
            <a:r>
              <a:rPr b="0" i="0" lang="en-US" sz="1800" u="none" cap="none" strike="noStrike">
                <a:solidFill>
                  <a:srgbClr val="1B1B1B"/>
                </a:solidFill>
                <a:latin typeface="Calibri"/>
                <a:ea typeface="Calibri"/>
                <a:cs typeface="Calibri"/>
                <a:sym typeface="Calibri"/>
              </a:rPr>
              <a:t>Nhược điểm: việc tạo, hủy luồng trong mỗi request nhận được, đặc biệt trong trường hợp có quá nhiều =&gt; giảm hiệu năng và làm tăng chi phí các hoạt động của hệ thống</a:t>
            </a:r>
            <a:endParaRPr b="0" i="0" sz="1800" u="none" cap="none" strike="noStrike">
              <a:solidFill>
                <a:srgbClr val="1B1B1B"/>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19"/>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5" name="Google Shape;575;p19"/>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SERVER TRONG HPT</a:t>
            </a:r>
            <a:endParaRPr/>
          </a:p>
        </p:txBody>
      </p:sp>
      <p:sp>
        <p:nvSpPr>
          <p:cNvPr id="576" name="Google Shape;576;p19"/>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77" name="Google Shape;577;p19"/>
          <p:cNvGrpSpPr/>
          <p:nvPr/>
        </p:nvGrpSpPr>
        <p:grpSpPr>
          <a:xfrm>
            <a:off x="2133600" y="1472588"/>
            <a:ext cx="7543186" cy="2355259"/>
            <a:chOff x="1897639" y="2439361"/>
            <a:chExt cx="8548898" cy="2669278"/>
          </a:xfrm>
        </p:grpSpPr>
        <p:grpSp>
          <p:nvGrpSpPr>
            <p:cNvPr id="578" name="Google Shape;578;p19"/>
            <p:cNvGrpSpPr/>
            <p:nvPr/>
          </p:nvGrpSpPr>
          <p:grpSpPr>
            <a:xfrm>
              <a:off x="1897639" y="2450230"/>
              <a:ext cx="8196331" cy="2250440"/>
              <a:chOff x="373638" y="2450230"/>
              <a:chExt cx="8196331" cy="2250440"/>
            </a:xfrm>
          </p:grpSpPr>
          <p:sp>
            <p:nvSpPr>
              <p:cNvPr id="579" name="Google Shape;579;p19"/>
              <p:cNvSpPr/>
              <p:nvPr/>
            </p:nvSpPr>
            <p:spPr>
              <a:xfrm>
                <a:off x="421474" y="2450230"/>
                <a:ext cx="2001520" cy="2250440"/>
              </a:xfrm>
              <a:custGeom>
                <a:rect b="b" l="l" r="r" t="t"/>
                <a:pathLst>
                  <a:path extrusionOk="0" h="2250440" w="2001520">
                    <a:moveTo>
                      <a:pt x="1001659" y="0"/>
                    </a:moveTo>
                    <a:lnTo>
                      <a:pt x="955821" y="1160"/>
                    </a:lnTo>
                    <a:lnTo>
                      <a:pt x="910511" y="4607"/>
                    </a:lnTo>
                    <a:lnTo>
                      <a:pt x="865773" y="10291"/>
                    </a:lnTo>
                    <a:lnTo>
                      <a:pt x="821651" y="18162"/>
                    </a:lnTo>
                    <a:lnTo>
                      <a:pt x="778189" y="28170"/>
                    </a:lnTo>
                    <a:lnTo>
                      <a:pt x="735433" y="40266"/>
                    </a:lnTo>
                    <a:lnTo>
                      <a:pt x="693425" y="54399"/>
                    </a:lnTo>
                    <a:lnTo>
                      <a:pt x="652211" y="70518"/>
                    </a:lnTo>
                    <a:lnTo>
                      <a:pt x="611834" y="88575"/>
                    </a:lnTo>
                    <a:lnTo>
                      <a:pt x="572339" y="108520"/>
                    </a:lnTo>
                    <a:lnTo>
                      <a:pt x="533770" y="130301"/>
                    </a:lnTo>
                    <a:lnTo>
                      <a:pt x="496172" y="153870"/>
                    </a:lnTo>
                    <a:lnTo>
                      <a:pt x="459588" y="179177"/>
                    </a:lnTo>
                    <a:lnTo>
                      <a:pt x="424063" y="206170"/>
                    </a:lnTo>
                    <a:lnTo>
                      <a:pt x="389641" y="234802"/>
                    </a:lnTo>
                    <a:lnTo>
                      <a:pt x="356367" y="265020"/>
                    </a:lnTo>
                    <a:lnTo>
                      <a:pt x="324284" y="296776"/>
                    </a:lnTo>
                    <a:lnTo>
                      <a:pt x="293437" y="330020"/>
                    </a:lnTo>
                    <a:lnTo>
                      <a:pt x="263871" y="364701"/>
                    </a:lnTo>
                    <a:lnTo>
                      <a:pt x="235629" y="400770"/>
                    </a:lnTo>
                    <a:lnTo>
                      <a:pt x="208755" y="438177"/>
                    </a:lnTo>
                    <a:lnTo>
                      <a:pt x="183295" y="476871"/>
                    </a:lnTo>
                    <a:lnTo>
                      <a:pt x="159292" y="516803"/>
                    </a:lnTo>
                    <a:lnTo>
                      <a:pt x="136790" y="557923"/>
                    </a:lnTo>
                    <a:lnTo>
                      <a:pt x="115834" y="600181"/>
                    </a:lnTo>
                    <a:lnTo>
                      <a:pt x="96468" y="643526"/>
                    </a:lnTo>
                    <a:lnTo>
                      <a:pt x="78737" y="687909"/>
                    </a:lnTo>
                    <a:lnTo>
                      <a:pt x="62684" y="733281"/>
                    </a:lnTo>
                    <a:lnTo>
                      <a:pt x="48354" y="779590"/>
                    </a:lnTo>
                    <a:lnTo>
                      <a:pt x="35791" y="826787"/>
                    </a:lnTo>
                    <a:lnTo>
                      <a:pt x="25039" y="874822"/>
                    </a:lnTo>
                    <a:lnTo>
                      <a:pt x="16143" y="923645"/>
                    </a:lnTo>
                    <a:lnTo>
                      <a:pt x="9146" y="973206"/>
                    </a:lnTo>
                    <a:lnTo>
                      <a:pt x="4094" y="1023456"/>
                    </a:lnTo>
                    <a:lnTo>
                      <a:pt x="1031" y="1074343"/>
                    </a:lnTo>
                    <a:lnTo>
                      <a:pt x="0" y="1125819"/>
                    </a:lnTo>
                    <a:lnTo>
                      <a:pt x="1031" y="1177189"/>
                    </a:lnTo>
                    <a:lnTo>
                      <a:pt x="4094" y="1227974"/>
                    </a:lnTo>
                    <a:lnTo>
                      <a:pt x="9146" y="1278125"/>
                    </a:lnTo>
                    <a:lnTo>
                      <a:pt x="16143" y="1327591"/>
                    </a:lnTo>
                    <a:lnTo>
                      <a:pt x="25039" y="1376323"/>
                    </a:lnTo>
                    <a:lnTo>
                      <a:pt x="35791" y="1424269"/>
                    </a:lnTo>
                    <a:lnTo>
                      <a:pt x="48354" y="1471381"/>
                    </a:lnTo>
                    <a:lnTo>
                      <a:pt x="62684" y="1517609"/>
                    </a:lnTo>
                    <a:lnTo>
                      <a:pt x="78737" y="1562902"/>
                    </a:lnTo>
                    <a:lnTo>
                      <a:pt x="96468" y="1607210"/>
                    </a:lnTo>
                    <a:lnTo>
                      <a:pt x="115834" y="1650483"/>
                    </a:lnTo>
                    <a:lnTo>
                      <a:pt x="136790" y="1692672"/>
                    </a:lnTo>
                    <a:lnTo>
                      <a:pt x="159292" y="1733726"/>
                    </a:lnTo>
                    <a:lnTo>
                      <a:pt x="183295" y="1773596"/>
                    </a:lnTo>
                    <a:lnTo>
                      <a:pt x="208755" y="1812231"/>
                    </a:lnTo>
                    <a:lnTo>
                      <a:pt x="235629" y="1849581"/>
                    </a:lnTo>
                    <a:lnTo>
                      <a:pt x="263871" y="1885597"/>
                    </a:lnTo>
                    <a:lnTo>
                      <a:pt x="293437" y="1920228"/>
                    </a:lnTo>
                    <a:lnTo>
                      <a:pt x="324284" y="1953424"/>
                    </a:lnTo>
                    <a:lnTo>
                      <a:pt x="356367" y="1985136"/>
                    </a:lnTo>
                    <a:lnTo>
                      <a:pt x="389641" y="2015314"/>
                    </a:lnTo>
                    <a:lnTo>
                      <a:pt x="424063" y="2043906"/>
                    </a:lnTo>
                    <a:lnTo>
                      <a:pt x="459588" y="2070865"/>
                    </a:lnTo>
                    <a:lnTo>
                      <a:pt x="496172" y="2096138"/>
                    </a:lnTo>
                    <a:lnTo>
                      <a:pt x="533770" y="2119677"/>
                    </a:lnTo>
                    <a:lnTo>
                      <a:pt x="572339" y="2141431"/>
                    </a:lnTo>
                    <a:lnTo>
                      <a:pt x="611834" y="2161351"/>
                    </a:lnTo>
                    <a:lnTo>
                      <a:pt x="652211" y="2179386"/>
                    </a:lnTo>
                    <a:lnTo>
                      <a:pt x="693425" y="2195487"/>
                    </a:lnTo>
                    <a:lnTo>
                      <a:pt x="735433" y="2209603"/>
                    </a:lnTo>
                    <a:lnTo>
                      <a:pt x="778189" y="2221685"/>
                    </a:lnTo>
                    <a:lnTo>
                      <a:pt x="821651" y="2231682"/>
                    </a:lnTo>
                    <a:lnTo>
                      <a:pt x="865773" y="2239544"/>
                    </a:lnTo>
                    <a:lnTo>
                      <a:pt x="910511" y="2245222"/>
                    </a:lnTo>
                    <a:lnTo>
                      <a:pt x="955821" y="2248666"/>
                    </a:lnTo>
                    <a:lnTo>
                      <a:pt x="1001659" y="2249825"/>
                    </a:lnTo>
                    <a:lnTo>
                      <a:pt x="1047444" y="2248666"/>
                    </a:lnTo>
                    <a:lnTo>
                      <a:pt x="1092696" y="2245222"/>
                    </a:lnTo>
                    <a:lnTo>
                      <a:pt x="1137371" y="2239544"/>
                    </a:lnTo>
                    <a:lnTo>
                      <a:pt x="1181426" y="2231682"/>
                    </a:lnTo>
                    <a:lnTo>
                      <a:pt x="1224817" y="2221685"/>
                    </a:lnTo>
                    <a:lnTo>
                      <a:pt x="1267500" y="2209603"/>
                    </a:lnTo>
                    <a:lnTo>
                      <a:pt x="1309430" y="2195487"/>
                    </a:lnTo>
                    <a:lnTo>
                      <a:pt x="1350565" y="2179386"/>
                    </a:lnTo>
                    <a:lnTo>
                      <a:pt x="1390859" y="2161351"/>
                    </a:lnTo>
                    <a:lnTo>
                      <a:pt x="1430270" y="2141431"/>
                    </a:lnTo>
                    <a:lnTo>
                      <a:pt x="1468754" y="2119677"/>
                    </a:lnTo>
                    <a:lnTo>
                      <a:pt x="1506265" y="2096138"/>
                    </a:lnTo>
                    <a:lnTo>
                      <a:pt x="1542762" y="2070865"/>
                    </a:lnTo>
                    <a:lnTo>
                      <a:pt x="1578199" y="2043906"/>
                    </a:lnTo>
                    <a:lnTo>
                      <a:pt x="1612533" y="2015314"/>
                    </a:lnTo>
                    <a:lnTo>
                      <a:pt x="1645719" y="1985136"/>
                    </a:lnTo>
                    <a:lnTo>
                      <a:pt x="1677715" y="1953424"/>
                    </a:lnTo>
                    <a:lnTo>
                      <a:pt x="1708476" y="1920228"/>
                    </a:lnTo>
                    <a:lnTo>
                      <a:pt x="1737958" y="1885597"/>
                    </a:lnTo>
                    <a:lnTo>
                      <a:pt x="1766117" y="1849581"/>
                    </a:lnTo>
                    <a:lnTo>
                      <a:pt x="1792910" y="1812231"/>
                    </a:lnTo>
                    <a:lnTo>
                      <a:pt x="1818293" y="1773596"/>
                    </a:lnTo>
                    <a:lnTo>
                      <a:pt x="1842221" y="1733726"/>
                    </a:lnTo>
                    <a:lnTo>
                      <a:pt x="1864650" y="1692672"/>
                    </a:lnTo>
                    <a:lnTo>
                      <a:pt x="1885538" y="1650483"/>
                    </a:lnTo>
                    <a:lnTo>
                      <a:pt x="1904839" y="1607210"/>
                    </a:lnTo>
                    <a:lnTo>
                      <a:pt x="1922511" y="1562902"/>
                    </a:lnTo>
                    <a:lnTo>
                      <a:pt x="1938509" y="1517609"/>
                    </a:lnTo>
                    <a:lnTo>
                      <a:pt x="1952789" y="1471381"/>
                    </a:lnTo>
                    <a:lnTo>
                      <a:pt x="1965308" y="1424269"/>
                    </a:lnTo>
                    <a:lnTo>
                      <a:pt x="1976021" y="1376323"/>
                    </a:lnTo>
                    <a:lnTo>
                      <a:pt x="1984884" y="1327591"/>
                    </a:lnTo>
                    <a:lnTo>
                      <a:pt x="1991854" y="1278125"/>
                    </a:lnTo>
                    <a:lnTo>
                      <a:pt x="1996888" y="1227974"/>
                    </a:lnTo>
                    <a:lnTo>
                      <a:pt x="1999940" y="1177189"/>
                    </a:lnTo>
                    <a:lnTo>
                      <a:pt x="2000967" y="1125819"/>
                    </a:lnTo>
                    <a:lnTo>
                      <a:pt x="1999940" y="1074343"/>
                    </a:lnTo>
                    <a:lnTo>
                      <a:pt x="1996888" y="1023456"/>
                    </a:lnTo>
                    <a:lnTo>
                      <a:pt x="1991854" y="973206"/>
                    </a:lnTo>
                    <a:lnTo>
                      <a:pt x="1984884" y="923645"/>
                    </a:lnTo>
                    <a:lnTo>
                      <a:pt x="1976021" y="874822"/>
                    </a:lnTo>
                    <a:lnTo>
                      <a:pt x="1965308" y="826787"/>
                    </a:lnTo>
                    <a:lnTo>
                      <a:pt x="1952789" y="779590"/>
                    </a:lnTo>
                    <a:lnTo>
                      <a:pt x="1938509" y="733281"/>
                    </a:lnTo>
                    <a:lnTo>
                      <a:pt x="1922511" y="687909"/>
                    </a:lnTo>
                    <a:lnTo>
                      <a:pt x="1904839" y="643526"/>
                    </a:lnTo>
                    <a:lnTo>
                      <a:pt x="1885538" y="600181"/>
                    </a:lnTo>
                    <a:lnTo>
                      <a:pt x="1864650" y="557923"/>
                    </a:lnTo>
                    <a:lnTo>
                      <a:pt x="1842221" y="516803"/>
                    </a:lnTo>
                    <a:lnTo>
                      <a:pt x="1818293" y="476871"/>
                    </a:lnTo>
                    <a:lnTo>
                      <a:pt x="1792910" y="438177"/>
                    </a:lnTo>
                    <a:lnTo>
                      <a:pt x="1766117" y="400770"/>
                    </a:lnTo>
                    <a:lnTo>
                      <a:pt x="1737958" y="364701"/>
                    </a:lnTo>
                    <a:lnTo>
                      <a:pt x="1708476" y="330020"/>
                    </a:lnTo>
                    <a:lnTo>
                      <a:pt x="1677715" y="296776"/>
                    </a:lnTo>
                    <a:lnTo>
                      <a:pt x="1645719" y="265020"/>
                    </a:lnTo>
                    <a:lnTo>
                      <a:pt x="1612533" y="234802"/>
                    </a:lnTo>
                    <a:lnTo>
                      <a:pt x="1578199" y="206170"/>
                    </a:lnTo>
                    <a:lnTo>
                      <a:pt x="1542762" y="179177"/>
                    </a:lnTo>
                    <a:lnTo>
                      <a:pt x="1506265" y="153870"/>
                    </a:lnTo>
                    <a:lnTo>
                      <a:pt x="1468754" y="130301"/>
                    </a:lnTo>
                    <a:lnTo>
                      <a:pt x="1430270" y="108520"/>
                    </a:lnTo>
                    <a:lnTo>
                      <a:pt x="1390859" y="88575"/>
                    </a:lnTo>
                    <a:lnTo>
                      <a:pt x="1350565" y="70518"/>
                    </a:lnTo>
                    <a:lnTo>
                      <a:pt x="1309430" y="54399"/>
                    </a:lnTo>
                    <a:lnTo>
                      <a:pt x="1267500" y="40266"/>
                    </a:lnTo>
                    <a:lnTo>
                      <a:pt x="1224817" y="28170"/>
                    </a:lnTo>
                    <a:lnTo>
                      <a:pt x="1181426" y="18162"/>
                    </a:lnTo>
                    <a:lnTo>
                      <a:pt x="1137371" y="10291"/>
                    </a:lnTo>
                    <a:lnTo>
                      <a:pt x="1092696" y="4607"/>
                    </a:lnTo>
                    <a:lnTo>
                      <a:pt x="1047444" y="1160"/>
                    </a:lnTo>
                    <a:lnTo>
                      <a:pt x="1001659"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19"/>
              <p:cNvSpPr/>
              <p:nvPr/>
            </p:nvSpPr>
            <p:spPr>
              <a:xfrm>
                <a:off x="1599005" y="4064670"/>
                <a:ext cx="283221" cy="34574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19"/>
              <p:cNvSpPr/>
              <p:nvPr/>
            </p:nvSpPr>
            <p:spPr>
              <a:xfrm>
                <a:off x="1574802" y="2742367"/>
                <a:ext cx="307424" cy="343117"/>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19"/>
              <p:cNvSpPr/>
              <p:nvPr/>
            </p:nvSpPr>
            <p:spPr>
              <a:xfrm>
                <a:off x="868326" y="3457323"/>
                <a:ext cx="282374" cy="31770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19"/>
              <p:cNvSpPr/>
              <p:nvPr/>
            </p:nvSpPr>
            <p:spPr>
              <a:xfrm>
                <a:off x="1127929" y="3854600"/>
                <a:ext cx="376279" cy="34314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19"/>
              <p:cNvSpPr/>
              <p:nvPr/>
            </p:nvSpPr>
            <p:spPr>
              <a:xfrm>
                <a:off x="538344" y="2926973"/>
                <a:ext cx="119184" cy="133073"/>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19"/>
              <p:cNvSpPr/>
              <p:nvPr/>
            </p:nvSpPr>
            <p:spPr>
              <a:xfrm>
                <a:off x="656569" y="3085484"/>
                <a:ext cx="165673" cy="264203"/>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19"/>
              <p:cNvSpPr/>
              <p:nvPr/>
            </p:nvSpPr>
            <p:spPr>
              <a:xfrm>
                <a:off x="656569" y="3800467"/>
                <a:ext cx="236267" cy="292242"/>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19"/>
              <p:cNvSpPr/>
              <p:nvPr/>
            </p:nvSpPr>
            <p:spPr>
              <a:xfrm>
                <a:off x="373638" y="3536264"/>
                <a:ext cx="118425" cy="131418"/>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19"/>
              <p:cNvSpPr/>
              <p:nvPr/>
            </p:nvSpPr>
            <p:spPr>
              <a:xfrm>
                <a:off x="514813" y="4144241"/>
                <a:ext cx="118420" cy="1331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19"/>
              <p:cNvSpPr/>
              <p:nvPr/>
            </p:nvSpPr>
            <p:spPr>
              <a:xfrm>
                <a:off x="3578093" y="2450230"/>
                <a:ext cx="2001520" cy="2250440"/>
              </a:xfrm>
              <a:custGeom>
                <a:rect b="b" l="l" r="r" t="t"/>
                <a:pathLst>
                  <a:path extrusionOk="0" h="2250440" w="2001520">
                    <a:moveTo>
                      <a:pt x="999213" y="0"/>
                    </a:moveTo>
                    <a:lnTo>
                      <a:pt x="953573" y="1160"/>
                    </a:lnTo>
                    <a:lnTo>
                      <a:pt x="908450" y="4607"/>
                    </a:lnTo>
                    <a:lnTo>
                      <a:pt x="863888" y="10291"/>
                    </a:lnTo>
                    <a:lnTo>
                      <a:pt x="819932" y="18162"/>
                    </a:lnTo>
                    <a:lnTo>
                      <a:pt x="776627" y="28170"/>
                    </a:lnTo>
                    <a:lnTo>
                      <a:pt x="734016" y="40266"/>
                    </a:lnTo>
                    <a:lnTo>
                      <a:pt x="692145" y="54399"/>
                    </a:lnTo>
                    <a:lnTo>
                      <a:pt x="651059" y="70518"/>
                    </a:lnTo>
                    <a:lnTo>
                      <a:pt x="610801" y="88575"/>
                    </a:lnTo>
                    <a:lnTo>
                      <a:pt x="571416" y="108520"/>
                    </a:lnTo>
                    <a:lnTo>
                      <a:pt x="532950" y="130301"/>
                    </a:lnTo>
                    <a:lnTo>
                      <a:pt x="495446" y="153870"/>
                    </a:lnTo>
                    <a:lnTo>
                      <a:pt x="458949" y="179177"/>
                    </a:lnTo>
                    <a:lnTo>
                      <a:pt x="423504" y="206170"/>
                    </a:lnTo>
                    <a:lnTo>
                      <a:pt x="389155" y="234802"/>
                    </a:lnTo>
                    <a:lnTo>
                      <a:pt x="355946" y="265020"/>
                    </a:lnTo>
                    <a:lnTo>
                      <a:pt x="323924" y="296776"/>
                    </a:lnTo>
                    <a:lnTo>
                      <a:pt x="293131" y="330020"/>
                    </a:lnTo>
                    <a:lnTo>
                      <a:pt x="263612" y="364701"/>
                    </a:lnTo>
                    <a:lnTo>
                      <a:pt x="235413" y="400770"/>
                    </a:lnTo>
                    <a:lnTo>
                      <a:pt x="208578" y="438177"/>
                    </a:lnTo>
                    <a:lnTo>
                      <a:pt x="183150" y="476871"/>
                    </a:lnTo>
                    <a:lnTo>
                      <a:pt x="159176" y="516803"/>
                    </a:lnTo>
                    <a:lnTo>
                      <a:pt x="136699" y="557923"/>
                    </a:lnTo>
                    <a:lnTo>
                      <a:pt x="115764" y="600181"/>
                    </a:lnTo>
                    <a:lnTo>
                      <a:pt x="96416" y="643526"/>
                    </a:lnTo>
                    <a:lnTo>
                      <a:pt x="78698" y="687909"/>
                    </a:lnTo>
                    <a:lnTo>
                      <a:pt x="62657" y="733281"/>
                    </a:lnTo>
                    <a:lnTo>
                      <a:pt x="48335" y="779590"/>
                    </a:lnTo>
                    <a:lnTo>
                      <a:pt x="35779" y="826787"/>
                    </a:lnTo>
                    <a:lnTo>
                      <a:pt x="25032" y="874822"/>
                    </a:lnTo>
                    <a:lnTo>
                      <a:pt x="16139" y="923645"/>
                    </a:lnTo>
                    <a:lnTo>
                      <a:pt x="9145" y="973206"/>
                    </a:lnTo>
                    <a:lnTo>
                      <a:pt x="4094" y="1023456"/>
                    </a:lnTo>
                    <a:lnTo>
                      <a:pt x="1031" y="1074343"/>
                    </a:lnTo>
                    <a:lnTo>
                      <a:pt x="0" y="1125819"/>
                    </a:lnTo>
                    <a:lnTo>
                      <a:pt x="1031" y="1177189"/>
                    </a:lnTo>
                    <a:lnTo>
                      <a:pt x="4094" y="1227974"/>
                    </a:lnTo>
                    <a:lnTo>
                      <a:pt x="9145" y="1278125"/>
                    </a:lnTo>
                    <a:lnTo>
                      <a:pt x="16139" y="1327591"/>
                    </a:lnTo>
                    <a:lnTo>
                      <a:pt x="25032" y="1376323"/>
                    </a:lnTo>
                    <a:lnTo>
                      <a:pt x="35779" y="1424269"/>
                    </a:lnTo>
                    <a:lnTo>
                      <a:pt x="48335" y="1471381"/>
                    </a:lnTo>
                    <a:lnTo>
                      <a:pt x="62657" y="1517609"/>
                    </a:lnTo>
                    <a:lnTo>
                      <a:pt x="78698" y="1562902"/>
                    </a:lnTo>
                    <a:lnTo>
                      <a:pt x="96416" y="1607210"/>
                    </a:lnTo>
                    <a:lnTo>
                      <a:pt x="115764" y="1650483"/>
                    </a:lnTo>
                    <a:lnTo>
                      <a:pt x="136699" y="1692672"/>
                    </a:lnTo>
                    <a:lnTo>
                      <a:pt x="159176" y="1733726"/>
                    </a:lnTo>
                    <a:lnTo>
                      <a:pt x="183150" y="1773596"/>
                    </a:lnTo>
                    <a:lnTo>
                      <a:pt x="208578" y="1812231"/>
                    </a:lnTo>
                    <a:lnTo>
                      <a:pt x="235413" y="1849581"/>
                    </a:lnTo>
                    <a:lnTo>
                      <a:pt x="263612" y="1885597"/>
                    </a:lnTo>
                    <a:lnTo>
                      <a:pt x="293131" y="1920228"/>
                    </a:lnTo>
                    <a:lnTo>
                      <a:pt x="323924" y="1953424"/>
                    </a:lnTo>
                    <a:lnTo>
                      <a:pt x="355946" y="1985136"/>
                    </a:lnTo>
                    <a:lnTo>
                      <a:pt x="389155" y="2015314"/>
                    </a:lnTo>
                    <a:lnTo>
                      <a:pt x="423504" y="2043906"/>
                    </a:lnTo>
                    <a:lnTo>
                      <a:pt x="458949" y="2070865"/>
                    </a:lnTo>
                    <a:lnTo>
                      <a:pt x="495446" y="2096138"/>
                    </a:lnTo>
                    <a:lnTo>
                      <a:pt x="532950" y="2119677"/>
                    </a:lnTo>
                    <a:lnTo>
                      <a:pt x="571416" y="2141431"/>
                    </a:lnTo>
                    <a:lnTo>
                      <a:pt x="610801" y="2161351"/>
                    </a:lnTo>
                    <a:lnTo>
                      <a:pt x="651059" y="2179386"/>
                    </a:lnTo>
                    <a:lnTo>
                      <a:pt x="692145" y="2195487"/>
                    </a:lnTo>
                    <a:lnTo>
                      <a:pt x="734016" y="2209603"/>
                    </a:lnTo>
                    <a:lnTo>
                      <a:pt x="776627" y="2221685"/>
                    </a:lnTo>
                    <a:lnTo>
                      <a:pt x="819932" y="2231682"/>
                    </a:lnTo>
                    <a:lnTo>
                      <a:pt x="863888" y="2239544"/>
                    </a:lnTo>
                    <a:lnTo>
                      <a:pt x="908450" y="2245222"/>
                    </a:lnTo>
                    <a:lnTo>
                      <a:pt x="953573" y="2248666"/>
                    </a:lnTo>
                    <a:lnTo>
                      <a:pt x="999213" y="2249825"/>
                    </a:lnTo>
                    <a:lnTo>
                      <a:pt x="1045062" y="2248666"/>
                    </a:lnTo>
                    <a:lnTo>
                      <a:pt x="1090383" y="2245222"/>
                    </a:lnTo>
                    <a:lnTo>
                      <a:pt x="1135132" y="2239544"/>
                    </a:lnTo>
                    <a:lnTo>
                      <a:pt x="1179263" y="2231682"/>
                    </a:lnTo>
                    <a:lnTo>
                      <a:pt x="1222734" y="2221685"/>
                    </a:lnTo>
                    <a:lnTo>
                      <a:pt x="1265499" y="2209603"/>
                    </a:lnTo>
                    <a:lnTo>
                      <a:pt x="1307514" y="2195487"/>
                    </a:lnTo>
                    <a:lnTo>
                      <a:pt x="1348736" y="2179386"/>
                    </a:lnTo>
                    <a:lnTo>
                      <a:pt x="1389119" y="2161351"/>
                    </a:lnTo>
                    <a:lnTo>
                      <a:pt x="1428621" y="2141431"/>
                    </a:lnTo>
                    <a:lnTo>
                      <a:pt x="1467195" y="2119677"/>
                    </a:lnTo>
                    <a:lnTo>
                      <a:pt x="1504799" y="2096138"/>
                    </a:lnTo>
                    <a:lnTo>
                      <a:pt x="1541388" y="2070865"/>
                    </a:lnTo>
                    <a:lnTo>
                      <a:pt x="1576917" y="2043906"/>
                    </a:lnTo>
                    <a:lnTo>
                      <a:pt x="1611343" y="2015314"/>
                    </a:lnTo>
                    <a:lnTo>
                      <a:pt x="1644621" y="1985136"/>
                    </a:lnTo>
                    <a:lnTo>
                      <a:pt x="1676707" y="1953424"/>
                    </a:lnTo>
                    <a:lnTo>
                      <a:pt x="1707557" y="1920228"/>
                    </a:lnTo>
                    <a:lnTo>
                      <a:pt x="1737126" y="1885597"/>
                    </a:lnTo>
                    <a:lnTo>
                      <a:pt x="1765371" y="1849581"/>
                    </a:lnTo>
                    <a:lnTo>
                      <a:pt x="1792246" y="1812231"/>
                    </a:lnTo>
                    <a:lnTo>
                      <a:pt x="1817709" y="1773596"/>
                    </a:lnTo>
                    <a:lnTo>
                      <a:pt x="1841713" y="1733726"/>
                    </a:lnTo>
                    <a:lnTo>
                      <a:pt x="1864216" y="1692672"/>
                    </a:lnTo>
                    <a:lnTo>
                      <a:pt x="1885173" y="1650483"/>
                    </a:lnTo>
                    <a:lnTo>
                      <a:pt x="1904540" y="1607210"/>
                    </a:lnTo>
                    <a:lnTo>
                      <a:pt x="1922272" y="1562902"/>
                    </a:lnTo>
                    <a:lnTo>
                      <a:pt x="1938326" y="1517609"/>
                    </a:lnTo>
                    <a:lnTo>
                      <a:pt x="1952656" y="1471381"/>
                    </a:lnTo>
                    <a:lnTo>
                      <a:pt x="1965220" y="1424269"/>
                    </a:lnTo>
                    <a:lnTo>
                      <a:pt x="1975972" y="1376323"/>
                    </a:lnTo>
                    <a:lnTo>
                      <a:pt x="1984868" y="1327591"/>
                    </a:lnTo>
                    <a:lnTo>
                      <a:pt x="1991864" y="1278125"/>
                    </a:lnTo>
                    <a:lnTo>
                      <a:pt x="1996917" y="1227974"/>
                    </a:lnTo>
                    <a:lnTo>
                      <a:pt x="1999980" y="1177189"/>
                    </a:lnTo>
                    <a:lnTo>
                      <a:pt x="2001011" y="1125819"/>
                    </a:lnTo>
                    <a:lnTo>
                      <a:pt x="1999980" y="1074343"/>
                    </a:lnTo>
                    <a:lnTo>
                      <a:pt x="1996917" y="1023456"/>
                    </a:lnTo>
                    <a:lnTo>
                      <a:pt x="1991864" y="973206"/>
                    </a:lnTo>
                    <a:lnTo>
                      <a:pt x="1984868" y="923645"/>
                    </a:lnTo>
                    <a:lnTo>
                      <a:pt x="1975972" y="874822"/>
                    </a:lnTo>
                    <a:lnTo>
                      <a:pt x="1965220" y="826787"/>
                    </a:lnTo>
                    <a:lnTo>
                      <a:pt x="1952656" y="779590"/>
                    </a:lnTo>
                    <a:lnTo>
                      <a:pt x="1938326" y="733281"/>
                    </a:lnTo>
                    <a:lnTo>
                      <a:pt x="1922272" y="687909"/>
                    </a:lnTo>
                    <a:lnTo>
                      <a:pt x="1904540" y="643526"/>
                    </a:lnTo>
                    <a:lnTo>
                      <a:pt x="1885173" y="600181"/>
                    </a:lnTo>
                    <a:lnTo>
                      <a:pt x="1864216" y="557923"/>
                    </a:lnTo>
                    <a:lnTo>
                      <a:pt x="1841713" y="516803"/>
                    </a:lnTo>
                    <a:lnTo>
                      <a:pt x="1817709" y="476871"/>
                    </a:lnTo>
                    <a:lnTo>
                      <a:pt x="1792246" y="438177"/>
                    </a:lnTo>
                    <a:lnTo>
                      <a:pt x="1765371" y="400770"/>
                    </a:lnTo>
                    <a:lnTo>
                      <a:pt x="1737126" y="364701"/>
                    </a:lnTo>
                    <a:lnTo>
                      <a:pt x="1707557" y="330020"/>
                    </a:lnTo>
                    <a:lnTo>
                      <a:pt x="1676707" y="296776"/>
                    </a:lnTo>
                    <a:lnTo>
                      <a:pt x="1644621" y="265020"/>
                    </a:lnTo>
                    <a:lnTo>
                      <a:pt x="1611343" y="234802"/>
                    </a:lnTo>
                    <a:lnTo>
                      <a:pt x="1576917" y="206170"/>
                    </a:lnTo>
                    <a:lnTo>
                      <a:pt x="1541388" y="179177"/>
                    </a:lnTo>
                    <a:lnTo>
                      <a:pt x="1504799" y="153870"/>
                    </a:lnTo>
                    <a:lnTo>
                      <a:pt x="1467195" y="130301"/>
                    </a:lnTo>
                    <a:lnTo>
                      <a:pt x="1428621" y="108520"/>
                    </a:lnTo>
                    <a:lnTo>
                      <a:pt x="1389119" y="88575"/>
                    </a:lnTo>
                    <a:lnTo>
                      <a:pt x="1348736" y="70518"/>
                    </a:lnTo>
                    <a:lnTo>
                      <a:pt x="1307514" y="54399"/>
                    </a:lnTo>
                    <a:lnTo>
                      <a:pt x="1265499" y="40266"/>
                    </a:lnTo>
                    <a:lnTo>
                      <a:pt x="1222734" y="28170"/>
                    </a:lnTo>
                    <a:lnTo>
                      <a:pt x="1179263" y="18162"/>
                    </a:lnTo>
                    <a:lnTo>
                      <a:pt x="1135132" y="10291"/>
                    </a:lnTo>
                    <a:lnTo>
                      <a:pt x="1090383" y="4607"/>
                    </a:lnTo>
                    <a:lnTo>
                      <a:pt x="1045062" y="1160"/>
                    </a:lnTo>
                    <a:lnTo>
                      <a:pt x="999213"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19"/>
              <p:cNvSpPr/>
              <p:nvPr/>
            </p:nvSpPr>
            <p:spPr>
              <a:xfrm>
                <a:off x="3671387" y="2900878"/>
                <a:ext cx="118439" cy="131419"/>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19"/>
              <p:cNvSpPr/>
              <p:nvPr/>
            </p:nvSpPr>
            <p:spPr>
              <a:xfrm>
                <a:off x="4330088" y="2926973"/>
                <a:ext cx="188938" cy="133073"/>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p19"/>
              <p:cNvSpPr/>
              <p:nvPr/>
            </p:nvSpPr>
            <p:spPr>
              <a:xfrm>
                <a:off x="3835886" y="2992196"/>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19"/>
              <p:cNvSpPr/>
              <p:nvPr/>
            </p:nvSpPr>
            <p:spPr>
              <a:xfrm>
                <a:off x="3530153" y="3508855"/>
                <a:ext cx="118439" cy="133100"/>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19"/>
              <p:cNvSpPr/>
              <p:nvPr/>
            </p:nvSpPr>
            <p:spPr>
              <a:xfrm>
                <a:off x="3671387" y="4118146"/>
                <a:ext cx="118439" cy="133100"/>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19"/>
              <p:cNvSpPr/>
              <p:nvPr/>
            </p:nvSpPr>
            <p:spPr>
              <a:xfrm>
                <a:off x="4683526" y="3377752"/>
                <a:ext cx="307612" cy="369211"/>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19"/>
              <p:cNvSpPr/>
              <p:nvPr/>
            </p:nvSpPr>
            <p:spPr>
              <a:xfrm>
                <a:off x="4683526" y="4039232"/>
                <a:ext cx="283268" cy="317679"/>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19"/>
              <p:cNvSpPr/>
              <p:nvPr/>
            </p:nvSpPr>
            <p:spPr>
              <a:xfrm>
                <a:off x="4683526" y="2821938"/>
                <a:ext cx="307612" cy="343143"/>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19"/>
              <p:cNvSpPr/>
              <p:nvPr/>
            </p:nvSpPr>
            <p:spPr>
              <a:xfrm>
                <a:off x="1150700" y="3032007"/>
                <a:ext cx="378018" cy="371839"/>
              </a:xfrm>
              <a:prstGeom prst="rect">
                <a:avLst/>
              </a:prstGeom>
              <a:blipFill rotWithShape="1">
                <a:blip r:embed="rId1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19"/>
              <p:cNvSpPr/>
              <p:nvPr/>
            </p:nvSpPr>
            <p:spPr>
              <a:xfrm>
                <a:off x="6568449" y="2450230"/>
                <a:ext cx="2001520" cy="2250440"/>
              </a:xfrm>
              <a:custGeom>
                <a:rect b="b" l="l" r="r" t="t"/>
                <a:pathLst>
                  <a:path extrusionOk="0" h="2250440" w="2001520">
                    <a:moveTo>
                      <a:pt x="1001093" y="0"/>
                    </a:moveTo>
                    <a:lnTo>
                      <a:pt x="955301" y="1160"/>
                    </a:lnTo>
                    <a:lnTo>
                      <a:pt x="910034" y="4607"/>
                    </a:lnTo>
                    <a:lnTo>
                      <a:pt x="865336" y="10291"/>
                    </a:lnTo>
                    <a:lnTo>
                      <a:pt x="821252" y="18162"/>
                    </a:lnTo>
                    <a:lnTo>
                      <a:pt x="777827" y="28170"/>
                    </a:lnTo>
                    <a:lnTo>
                      <a:pt x="735104" y="40266"/>
                    </a:lnTo>
                    <a:lnTo>
                      <a:pt x="693128" y="54399"/>
                    </a:lnTo>
                    <a:lnTo>
                      <a:pt x="651943" y="70518"/>
                    </a:lnTo>
                    <a:lnTo>
                      <a:pt x="611594" y="88575"/>
                    </a:lnTo>
                    <a:lnTo>
                      <a:pt x="572125" y="108520"/>
                    </a:lnTo>
                    <a:lnTo>
                      <a:pt x="533580" y="130301"/>
                    </a:lnTo>
                    <a:lnTo>
                      <a:pt x="496003" y="153870"/>
                    </a:lnTo>
                    <a:lnTo>
                      <a:pt x="459439" y="179177"/>
                    </a:lnTo>
                    <a:lnTo>
                      <a:pt x="423933" y="206170"/>
                    </a:lnTo>
                    <a:lnTo>
                      <a:pt x="389528" y="234802"/>
                    </a:lnTo>
                    <a:lnTo>
                      <a:pt x="356269" y="265020"/>
                    </a:lnTo>
                    <a:lnTo>
                      <a:pt x="324200" y="296776"/>
                    </a:lnTo>
                    <a:lnTo>
                      <a:pt x="293366" y="330020"/>
                    </a:lnTo>
                    <a:lnTo>
                      <a:pt x="263810" y="364701"/>
                    </a:lnTo>
                    <a:lnTo>
                      <a:pt x="235578" y="400770"/>
                    </a:lnTo>
                    <a:lnTo>
                      <a:pt x="208714" y="438177"/>
                    </a:lnTo>
                    <a:lnTo>
                      <a:pt x="183261" y="476871"/>
                    </a:lnTo>
                    <a:lnTo>
                      <a:pt x="159264" y="516803"/>
                    </a:lnTo>
                    <a:lnTo>
                      <a:pt x="136769" y="557923"/>
                    </a:lnTo>
                    <a:lnTo>
                      <a:pt x="115818" y="600181"/>
                    </a:lnTo>
                    <a:lnTo>
                      <a:pt x="96456" y="643526"/>
                    </a:lnTo>
                    <a:lnTo>
                      <a:pt x="78728" y="687909"/>
                    </a:lnTo>
                    <a:lnTo>
                      <a:pt x="62677" y="733281"/>
                    </a:lnTo>
                    <a:lnTo>
                      <a:pt x="48349" y="779590"/>
                    </a:lnTo>
                    <a:lnTo>
                      <a:pt x="35788" y="826787"/>
                    </a:lnTo>
                    <a:lnTo>
                      <a:pt x="25037" y="874822"/>
                    </a:lnTo>
                    <a:lnTo>
                      <a:pt x="16142" y="923645"/>
                    </a:lnTo>
                    <a:lnTo>
                      <a:pt x="9146" y="973206"/>
                    </a:lnTo>
                    <a:lnTo>
                      <a:pt x="4094" y="1023456"/>
                    </a:lnTo>
                    <a:lnTo>
                      <a:pt x="1031" y="1074343"/>
                    </a:lnTo>
                    <a:lnTo>
                      <a:pt x="0" y="1125819"/>
                    </a:lnTo>
                    <a:lnTo>
                      <a:pt x="1031" y="1177189"/>
                    </a:lnTo>
                    <a:lnTo>
                      <a:pt x="4094" y="1227974"/>
                    </a:lnTo>
                    <a:lnTo>
                      <a:pt x="9146" y="1278125"/>
                    </a:lnTo>
                    <a:lnTo>
                      <a:pt x="16142" y="1327591"/>
                    </a:lnTo>
                    <a:lnTo>
                      <a:pt x="25037" y="1376323"/>
                    </a:lnTo>
                    <a:lnTo>
                      <a:pt x="35788" y="1424269"/>
                    </a:lnTo>
                    <a:lnTo>
                      <a:pt x="48349" y="1471381"/>
                    </a:lnTo>
                    <a:lnTo>
                      <a:pt x="62677" y="1517609"/>
                    </a:lnTo>
                    <a:lnTo>
                      <a:pt x="78728" y="1562902"/>
                    </a:lnTo>
                    <a:lnTo>
                      <a:pt x="96456" y="1607210"/>
                    </a:lnTo>
                    <a:lnTo>
                      <a:pt x="115818" y="1650483"/>
                    </a:lnTo>
                    <a:lnTo>
                      <a:pt x="136769" y="1692672"/>
                    </a:lnTo>
                    <a:lnTo>
                      <a:pt x="159264" y="1733726"/>
                    </a:lnTo>
                    <a:lnTo>
                      <a:pt x="183261" y="1773596"/>
                    </a:lnTo>
                    <a:lnTo>
                      <a:pt x="208714" y="1812231"/>
                    </a:lnTo>
                    <a:lnTo>
                      <a:pt x="235578" y="1849581"/>
                    </a:lnTo>
                    <a:lnTo>
                      <a:pt x="263810" y="1885597"/>
                    </a:lnTo>
                    <a:lnTo>
                      <a:pt x="293366" y="1920228"/>
                    </a:lnTo>
                    <a:lnTo>
                      <a:pt x="324200" y="1953424"/>
                    </a:lnTo>
                    <a:lnTo>
                      <a:pt x="356269" y="1985136"/>
                    </a:lnTo>
                    <a:lnTo>
                      <a:pt x="389528" y="2015314"/>
                    </a:lnTo>
                    <a:lnTo>
                      <a:pt x="423933" y="2043906"/>
                    </a:lnTo>
                    <a:lnTo>
                      <a:pt x="459439" y="2070865"/>
                    </a:lnTo>
                    <a:lnTo>
                      <a:pt x="496003" y="2096138"/>
                    </a:lnTo>
                    <a:lnTo>
                      <a:pt x="533580" y="2119677"/>
                    </a:lnTo>
                    <a:lnTo>
                      <a:pt x="572125" y="2141431"/>
                    </a:lnTo>
                    <a:lnTo>
                      <a:pt x="611594" y="2161351"/>
                    </a:lnTo>
                    <a:lnTo>
                      <a:pt x="651943" y="2179386"/>
                    </a:lnTo>
                    <a:lnTo>
                      <a:pt x="693128" y="2195487"/>
                    </a:lnTo>
                    <a:lnTo>
                      <a:pt x="735104" y="2209603"/>
                    </a:lnTo>
                    <a:lnTo>
                      <a:pt x="777827" y="2221685"/>
                    </a:lnTo>
                    <a:lnTo>
                      <a:pt x="821252" y="2231682"/>
                    </a:lnTo>
                    <a:lnTo>
                      <a:pt x="865336" y="2239544"/>
                    </a:lnTo>
                    <a:lnTo>
                      <a:pt x="910034" y="2245222"/>
                    </a:lnTo>
                    <a:lnTo>
                      <a:pt x="955301" y="2248666"/>
                    </a:lnTo>
                    <a:lnTo>
                      <a:pt x="1001093" y="2249825"/>
                    </a:lnTo>
                    <a:lnTo>
                      <a:pt x="1046920" y="2248666"/>
                    </a:lnTo>
                    <a:lnTo>
                      <a:pt x="1092212" y="2245222"/>
                    </a:lnTo>
                    <a:lnTo>
                      <a:pt x="1136925" y="2239544"/>
                    </a:lnTo>
                    <a:lnTo>
                      <a:pt x="1181017" y="2231682"/>
                    </a:lnTo>
                    <a:lnTo>
                      <a:pt x="1224442" y="2221685"/>
                    </a:lnTo>
                    <a:lnTo>
                      <a:pt x="1267158" y="2209603"/>
                    </a:lnTo>
                    <a:lnTo>
                      <a:pt x="1309120" y="2195487"/>
                    </a:lnTo>
                    <a:lnTo>
                      <a:pt x="1350284" y="2179386"/>
                    </a:lnTo>
                    <a:lnTo>
                      <a:pt x="1390607" y="2161351"/>
                    </a:lnTo>
                    <a:lnTo>
                      <a:pt x="1430044" y="2141431"/>
                    </a:lnTo>
                    <a:lnTo>
                      <a:pt x="1468552" y="2119677"/>
                    </a:lnTo>
                    <a:lnTo>
                      <a:pt x="1506087" y="2096138"/>
                    </a:lnTo>
                    <a:lnTo>
                      <a:pt x="1542606" y="2070865"/>
                    </a:lnTo>
                    <a:lnTo>
                      <a:pt x="1578063" y="2043906"/>
                    </a:lnTo>
                    <a:lnTo>
                      <a:pt x="1612416" y="2015314"/>
                    </a:lnTo>
                    <a:lnTo>
                      <a:pt x="1645621" y="1985136"/>
                    </a:lnTo>
                    <a:lnTo>
                      <a:pt x="1677633" y="1953424"/>
                    </a:lnTo>
                    <a:lnTo>
                      <a:pt x="1708409" y="1920228"/>
                    </a:lnTo>
                    <a:lnTo>
                      <a:pt x="1737905" y="1885597"/>
                    </a:lnTo>
                    <a:lnTo>
                      <a:pt x="1766077" y="1849581"/>
                    </a:lnTo>
                    <a:lnTo>
                      <a:pt x="1792882" y="1812231"/>
                    </a:lnTo>
                    <a:lnTo>
                      <a:pt x="1818275" y="1773596"/>
                    </a:lnTo>
                    <a:lnTo>
                      <a:pt x="1842213" y="1733726"/>
                    </a:lnTo>
                    <a:lnTo>
                      <a:pt x="1864651" y="1692672"/>
                    </a:lnTo>
                    <a:lnTo>
                      <a:pt x="1885547" y="1650483"/>
                    </a:lnTo>
                    <a:lnTo>
                      <a:pt x="1904855" y="1607210"/>
                    </a:lnTo>
                    <a:lnTo>
                      <a:pt x="1922533" y="1562902"/>
                    </a:lnTo>
                    <a:lnTo>
                      <a:pt x="1938536" y="1517609"/>
                    </a:lnTo>
                    <a:lnTo>
                      <a:pt x="1952821" y="1471381"/>
                    </a:lnTo>
                    <a:lnTo>
                      <a:pt x="1965343" y="1424269"/>
                    </a:lnTo>
                    <a:lnTo>
                      <a:pt x="1976059" y="1376323"/>
                    </a:lnTo>
                    <a:lnTo>
                      <a:pt x="1984925" y="1327591"/>
                    </a:lnTo>
                    <a:lnTo>
                      <a:pt x="1991897" y="1278125"/>
                    </a:lnTo>
                    <a:lnTo>
                      <a:pt x="1996931" y="1227974"/>
                    </a:lnTo>
                    <a:lnTo>
                      <a:pt x="1999984" y="1177189"/>
                    </a:lnTo>
                    <a:lnTo>
                      <a:pt x="2001011" y="1125819"/>
                    </a:lnTo>
                    <a:lnTo>
                      <a:pt x="1999984" y="1074343"/>
                    </a:lnTo>
                    <a:lnTo>
                      <a:pt x="1996931" y="1023456"/>
                    </a:lnTo>
                    <a:lnTo>
                      <a:pt x="1991897" y="973206"/>
                    </a:lnTo>
                    <a:lnTo>
                      <a:pt x="1984925" y="923645"/>
                    </a:lnTo>
                    <a:lnTo>
                      <a:pt x="1976059" y="874822"/>
                    </a:lnTo>
                    <a:lnTo>
                      <a:pt x="1965343" y="826787"/>
                    </a:lnTo>
                    <a:lnTo>
                      <a:pt x="1952821" y="779590"/>
                    </a:lnTo>
                    <a:lnTo>
                      <a:pt x="1938536" y="733281"/>
                    </a:lnTo>
                    <a:lnTo>
                      <a:pt x="1922533" y="687909"/>
                    </a:lnTo>
                    <a:lnTo>
                      <a:pt x="1904855" y="643526"/>
                    </a:lnTo>
                    <a:lnTo>
                      <a:pt x="1885547" y="600181"/>
                    </a:lnTo>
                    <a:lnTo>
                      <a:pt x="1864651" y="557923"/>
                    </a:lnTo>
                    <a:lnTo>
                      <a:pt x="1842213" y="516803"/>
                    </a:lnTo>
                    <a:lnTo>
                      <a:pt x="1818275" y="476871"/>
                    </a:lnTo>
                    <a:lnTo>
                      <a:pt x="1792882" y="438177"/>
                    </a:lnTo>
                    <a:lnTo>
                      <a:pt x="1766077" y="400770"/>
                    </a:lnTo>
                    <a:lnTo>
                      <a:pt x="1737905" y="364701"/>
                    </a:lnTo>
                    <a:lnTo>
                      <a:pt x="1708409" y="330020"/>
                    </a:lnTo>
                    <a:lnTo>
                      <a:pt x="1677633" y="296776"/>
                    </a:lnTo>
                    <a:lnTo>
                      <a:pt x="1645621" y="265020"/>
                    </a:lnTo>
                    <a:lnTo>
                      <a:pt x="1612416" y="234802"/>
                    </a:lnTo>
                    <a:lnTo>
                      <a:pt x="1578063" y="206170"/>
                    </a:lnTo>
                    <a:lnTo>
                      <a:pt x="1542606" y="179177"/>
                    </a:lnTo>
                    <a:lnTo>
                      <a:pt x="1506087" y="153870"/>
                    </a:lnTo>
                    <a:lnTo>
                      <a:pt x="1468552" y="130301"/>
                    </a:lnTo>
                    <a:lnTo>
                      <a:pt x="1430044" y="108520"/>
                    </a:lnTo>
                    <a:lnTo>
                      <a:pt x="1390607" y="88575"/>
                    </a:lnTo>
                    <a:lnTo>
                      <a:pt x="1350284" y="70518"/>
                    </a:lnTo>
                    <a:lnTo>
                      <a:pt x="1309120" y="54399"/>
                    </a:lnTo>
                    <a:lnTo>
                      <a:pt x="1267158" y="40266"/>
                    </a:lnTo>
                    <a:lnTo>
                      <a:pt x="1224442" y="28170"/>
                    </a:lnTo>
                    <a:lnTo>
                      <a:pt x="1181017" y="18162"/>
                    </a:lnTo>
                    <a:lnTo>
                      <a:pt x="1136925" y="10291"/>
                    </a:lnTo>
                    <a:lnTo>
                      <a:pt x="1092212" y="4607"/>
                    </a:lnTo>
                    <a:lnTo>
                      <a:pt x="1046920" y="1160"/>
                    </a:lnTo>
                    <a:lnTo>
                      <a:pt x="1001093"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19"/>
              <p:cNvSpPr/>
              <p:nvPr/>
            </p:nvSpPr>
            <p:spPr>
              <a:xfrm>
                <a:off x="2140090" y="3244678"/>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19"/>
              <p:cNvSpPr/>
              <p:nvPr/>
            </p:nvSpPr>
            <p:spPr>
              <a:xfrm>
                <a:off x="2152334" y="3258369"/>
                <a:ext cx="118745" cy="131445"/>
              </a:xfrm>
              <a:custGeom>
                <a:rect b="b" l="l" r="r" t="t"/>
                <a:pathLst>
                  <a:path extrusionOk="0" h="131445" w="118744">
                    <a:moveTo>
                      <a:pt x="0" y="0"/>
                    </a:moveTo>
                    <a:lnTo>
                      <a:pt x="118439" y="0"/>
                    </a:lnTo>
                    <a:lnTo>
                      <a:pt x="118439" y="131129"/>
                    </a:lnTo>
                    <a:lnTo>
                      <a:pt x="0" y="131129"/>
                    </a:lnTo>
                    <a:lnTo>
                      <a:pt x="0" y="0"/>
                    </a:lnTo>
                    <a:close/>
                  </a:path>
                </a:pathLst>
              </a:custGeom>
              <a:noFill/>
              <a:ln cap="flat" cmpd="sng" w="2395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19"/>
              <p:cNvSpPr/>
              <p:nvPr/>
            </p:nvSpPr>
            <p:spPr>
              <a:xfrm>
                <a:off x="2140090" y="3457323"/>
                <a:ext cx="118745" cy="131445"/>
              </a:xfrm>
              <a:custGeom>
                <a:rect b="b" l="l" r="r" t="t"/>
                <a:pathLst>
                  <a:path extrusionOk="0" h="131445" w="118744">
                    <a:moveTo>
                      <a:pt x="118415" y="0"/>
                    </a:moveTo>
                    <a:lnTo>
                      <a:pt x="0" y="0"/>
                    </a:lnTo>
                    <a:lnTo>
                      <a:pt x="0" y="131129"/>
                    </a:lnTo>
                    <a:lnTo>
                      <a:pt x="118415" y="131129"/>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19"/>
              <p:cNvSpPr/>
              <p:nvPr/>
            </p:nvSpPr>
            <p:spPr>
              <a:xfrm>
                <a:off x="2152334" y="3469070"/>
                <a:ext cx="118745" cy="133350"/>
              </a:xfrm>
              <a:custGeom>
                <a:rect b="b" l="l" r="r" t="t"/>
                <a:pathLst>
                  <a:path extrusionOk="0" h="133350" w="118744">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19"/>
              <p:cNvSpPr/>
              <p:nvPr/>
            </p:nvSpPr>
            <p:spPr>
              <a:xfrm>
                <a:off x="2140090" y="3667393"/>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19"/>
              <p:cNvSpPr/>
              <p:nvPr/>
            </p:nvSpPr>
            <p:spPr>
              <a:xfrm>
                <a:off x="2152334" y="3681741"/>
                <a:ext cx="118745" cy="133350"/>
              </a:xfrm>
              <a:custGeom>
                <a:rect b="b" l="l" r="r" t="t"/>
                <a:pathLst>
                  <a:path extrusionOk="0" h="133350" w="118744">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19"/>
              <p:cNvSpPr/>
              <p:nvPr/>
            </p:nvSpPr>
            <p:spPr>
              <a:xfrm>
                <a:off x="2140090" y="3880064"/>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19"/>
              <p:cNvSpPr/>
              <p:nvPr/>
            </p:nvSpPr>
            <p:spPr>
              <a:xfrm>
                <a:off x="2152334" y="3893755"/>
                <a:ext cx="118745" cy="131445"/>
              </a:xfrm>
              <a:custGeom>
                <a:rect b="b" l="l" r="r" t="t"/>
                <a:pathLst>
                  <a:path extrusionOk="0" h="131445" w="118744">
                    <a:moveTo>
                      <a:pt x="0" y="0"/>
                    </a:moveTo>
                    <a:lnTo>
                      <a:pt x="118439" y="0"/>
                    </a:lnTo>
                    <a:lnTo>
                      <a:pt x="118439" y="131129"/>
                    </a:lnTo>
                    <a:lnTo>
                      <a:pt x="0" y="131129"/>
                    </a:lnTo>
                    <a:lnTo>
                      <a:pt x="0" y="0"/>
                    </a:lnTo>
                    <a:close/>
                  </a:path>
                </a:pathLst>
              </a:custGeom>
              <a:noFill/>
              <a:ln cap="flat" cmpd="sng" w="2395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19"/>
              <p:cNvSpPr/>
              <p:nvPr/>
            </p:nvSpPr>
            <p:spPr>
              <a:xfrm>
                <a:off x="1904998" y="3085484"/>
                <a:ext cx="212344" cy="212671"/>
              </a:xfrm>
              <a:prstGeom prst="rect">
                <a:avLst/>
              </a:prstGeom>
              <a:blipFill rotWithShape="1">
                <a:blip r:embed="rId2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19"/>
              <p:cNvSpPr/>
              <p:nvPr/>
            </p:nvSpPr>
            <p:spPr>
              <a:xfrm>
                <a:off x="1834405" y="3536264"/>
                <a:ext cx="283210" cy="582295"/>
              </a:xfrm>
              <a:custGeom>
                <a:rect b="b" l="l" r="r" t="t"/>
                <a:pathLst>
                  <a:path extrusionOk="0" h="582295" w="283210">
                    <a:moveTo>
                      <a:pt x="282938" y="0"/>
                    </a:moveTo>
                    <a:lnTo>
                      <a:pt x="259602" y="0"/>
                    </a:lnTo>
                    <a:lnTo>
                      <a:pt x="0" y="556445"/>
                    </a:lnTo>
                    <a:lnTo>
                      <a:pt x="0" y="581882"/>
                    </a:lnTo>
                    <a:lnTo>
                      <a:pt x="22747" y="581882"/>
                    </a:lnTo>
                    <a:lnTo>
                      <a:pt x="282938" y="26094"/>
                    </a:lnTo>
                    <a:lnTo>
                      <a:pt x="28293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0" name="Google Shape;610;p19"/>
            <p:cNvSpPr txBox="1"/>
            <p:nvPr/>
          </p:nvSpPr>
          <p:spPr>
            <a:xfrm>
              <a:off x="2005112" y="4848484"/>
              <a:ext cx="1857375"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1. Thread-per-request</a:t>
              </a:r>
              <a:endParaRPr sz="1400">
                <a:solidFill>
                  <a:schemeClr val="dk1"/>
                </a:solidFill>
                <a:latin typeface="Arial"/>
                <a:ea typeface="Arial"/>
                <a:cs typeface="Arial"/>
                <a:sym typeface="Arial"/>
              </a:endParaRPr>
            </a:p>
          </p:txBody>
        </p:sp>
        <p:sp>
          <p:nvSpPr>
            <p:cNvPr id="611" name="Google Shape;611;p19"/>
            <p:cNvSpPr txBox="1"/>
            <p:nvPr/>
          </p:nvSpPr>
          <p:spPr>
            <a:xfrm>
              <a:off x="5018189" y="4848484"/>
              <a:ext cx="2142491"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2. Thread-per-connection</a:t>
              </a:r>
              <a:endParaRPr sz="1400">
                <a:solidFill>
                  <a:schemeClr val="dk1"/>
                </a:solidFill>
                <a:latin typeface="Arial"/>
                <a:ea typeface="Arial"/>
                <a:cs typeface="Arial"/>
                <a:sym typeface="Arial"/>
              </a:endParaRPr>
            </a:p>
          </p:txBody>
        </p:sp>
        <p:sp>
          <p:nvSpPr>
            <p:cNvPr id="612" name="Google Shape;612;p19"/>
            <p:cNvSpPr txBox="1"/>
            <p:nvPr/>
          </p:nvSpPr>
          <p:spPr>
            <a:xfrm>
              <a:off x="8268688" y="4848484"/>
              <a:ext cx="1722755"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3. Thread-per-object</a:t>
              </a:r>
              <a:endParaRPr sz="1400">
                <a:solidFill>
                  <a:schemeClr val="dk1"/>
                </a:solidFill>
                <a:latin typeface="Arial"/>
                <a:ea typeface="Arial"/>
                <a:cs typeface="Arial"/>
                <a:sym typeface="Arial"/>
              </a:endParaRPr>
            </a:p>
          </p:txBody>
        </p:sp>
        <p:sp>
          <p:nvSpPr>
            <p:cNvPr id="613" name="Google Shape;613;p19"/>
            <p:cNvSpPr txBox="1"/>
            <p:nvPr/>
          </p:nvSpPr>
          <p:spPr>
            <a:xfrm>
              <a:off x="3299621" y="2572436"/>
              <a:ext cx="684530"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workers</a:t>
              </a:r>
              <a:endParaRPr sz="1400">
                <a:solidFill>
                  <a:schemeClr val="dk1"/>
                </a:solidFill>
                <a:latin typeface="Arial"/>
                <a:ea typeface="Arial"/>
                <a:cs typeface="Arial"/>
                <a:sym typeface="Arial"/>
              </a:endParaRPr>
            </a:p>
          </p:txBody>
        </p:sp>
        <p:sp>
          <p:nvSpPr>
            <p:cNvPr id="614" name="Google Shape;614;p19"/>
            <p:cNvSpPr txBox="1"/>
            <p:nvPr/>
          </p:nvSpPr>
          <p:spPr>
            <a:xfrm>
              <a:off x="2381389" y="3100842"/>
              <a:ext cx="273685"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I/O</a:t>
              </a:r>
              <a:endParaRPr sz="1650">
                <a:solidFill>
                  <a:schemeClr val="dk1"/>
                </a:solidFill>
                <a:latin typeface="Arial"/>
                <a:ea typeface="Arial"/>
                <a:cs typeface="Arial"/>
                <a:sym typeface="Arial"/>
              </a:endParaRPr>
            </a:p>
          </p:txBody>
        </p:sp>
        <p:grpSp>
          <p:nvGrpSpPr>
            <p:cNvPr id="615" name="Google Shape;615;p19"/>
            <p:cNvGrpSpPr/>
            <p:nvPr/>
          </p:nvGrpSpPr>
          <p:grpSpPr>
            <a:xfrm>
              <a:off x="5359886" y="2793910"/>
              <a:ext cx="4511572" cy="1563001"/>
              <a:chOff x="3835886" y="2793910"/>
              <a:chExt cx="4511572" cy="1563001"/>
            </a:xfrm>
          </p:grpSpPr>
          <p:sp>
            <p:nvSpPr>
              <p:cNvPr id="616" name="Google Shape;616;p19"/>
              <p:cNvSpPr/>
              <p:nvPr/>
            </p:nvSpPr>
            <p:spPr>
              <a:xfrm>
                <a:off x="7428308" y="3562358"/>
                <a:ext cx="0" cy="80010"/>
              </a:xfrm>
              <a:custGeom>
                <a:rect b="b" l="l" r="r" t="t"/>
                <a:pathLst>
                  <a:path extrusionOk="0" h="80010" w="120000">
                    <a:moveTo>
                      <a:pt x="0" y="0"/>
                    </a:moveTo>
                    <a:lnTo>
                      <a:pt x="0" y="0"/>
                    </a:lnTo>
                    <a:lnTo>
                      <a:pt x="0" y="79597"/>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19"/>
              <p:cNvSpPr/>
              <p:nvPr/>
            </p:nvSpPr>
            <p:spPr>
              <a:xfrm>
                <a:off x="7416076" y="3562362"/>
                <a:ext cx="189230" cy="133350"/>
              </a:xfrm>
              <a:custGeom>
                <a:rect b="b" l="l" r="r" t="t"/>
                <a:pathLst>
                  <a:path extrusionOk="0" h="133350" w="189229">
                    <a:moveTo>
                      <a:pt x="188950" y="53505"/>
                    </a:moveTo>
                    <a:lnTo>
                      <a:pt x="22796" y="0"/>
                    </a:lnTo>
                    <a:lnTo>
                      <a:pt x="0" y="0"/>
                    </a:lnTo>
                    <a:lnTo>
                      <a:pt x="0" y="26098"/>
                    </a:lnTo>
                    <a:lnTo>
                      <a:pt x="123266" y="66319"/>
                    </a:lnTo>
                    <a:lnTo>
                      <a:pt x="0" y="105041"/>
                    </a:lnTo>
                    <a:lnTo>
                      <a:pt x="0" y="133070"/>
                    </a:lnTo>
                    <a:lnTo>
                      <a:pt x="22796" y="133070"/>
                    </a:lnTo>
                    <a:lnTo>
                      <a:pt x="188950" y="79603"/>
                    </a:lnTo>
                    <a:lnTo>
                      <a:pt x="188950" y="53505"/>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19"/>
              <p:cNvSpPr/>
              <p:nvPr/>
            </p:nvSpPr>
            <p:spPr>
              <a:xfrm>
                <a:off x="7428308" y="3615861"/>
                <a:ext cx="0" cy="80010"/>
              </a:xfrm>
              <a:custGeom>
                <a:rect b="b" l="l" r="r" t="t"/>
                <a:pathLst>
                  <a:path extrusionOk="0" h="80010" w="120000">
                    <a:moveTo>
                      <a:pt x="0" y="0"/>
                    </a:moveTo>
                    <a:lnTo>
                      <a:pt x="0" y="0"/>
                    </a:lnTo>
                    <a:lnTo>
                      <a:pt x="0" y="79570"/>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19"/>
              <p:cNvSpPr/>
              <p:nvPr/>
            </p:nvSpPr>
            <p:spPr>
              <a:xfrm>
                <a:off x="7416088" y="3562358"/>
                <a:ext cx="164465" cy="105410"/>
              </a:xfrm>
              <a:custGeom>
                <a:rect b="b" l="l" r="r" t="t"/>
                <a:pathLst>
                  <a:path extrusionOk="0" h="105410" w="164465">
                    <a:moveTo>
                      <a:pt x="0" y="0"/>
                    </a:moveTo>
                    <a:lnTo>
                      <a:pt x="0" y="105034"/>
                    </a:lnTo>
                    <a:lnTo>
                      <a:pt x="164028" y="5350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19"/>
              <p:cNvSpPr/>
              <p:nvPr/>
            </p:nvSpPr>
            <p:spPr>
              <a:xfrm>
                <a:off x="7297649" y="3628238"/>
                <a:ext cx="141605" cy="0"/>
              </a:xfrm>
              <a:custGeom>
                <a:rect b="b" l="l" r="r" t="t"/>
                <a:pathLst>
                  <a:path extrusionOk="0" h="120000" w="141604">
                    <a:moveTo>
                      <a:pt x="0" y="0"/>
                    </a:moveTo>
                    <a:lnTo>
                      <a:pt x="0" y="0"/>
                    </a:lnTo>
                    <a:lnTo>
                      <a:pt x="141234"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19"/>
              <p:cNvSpPr/>
              <p:nvPr/>
            </p:nvSpPr>
            <p:spPr>
              <a:xfrm>
                <a:off x="6686418" y="3562358"/>
                <a:ext cx="305498" cy="133073"/>
              </a:xfrm>
              <a:prstGeom prst="rect">
                <a:avLst/>
              </a:prstGeom>
              <a:blipFill rotWithShape="1">
                <a:blip r:embed="rId2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19"/>
              <p:cNvSpPr/>
              <p:nvPr/>
            </p:nvSpPr>
            <p:spPr>
              <a:xfrm>
                <a:off x="7651086" y="3403847"/>
                <a:ext cx="306907" cy="371182"/>
              </a:xfrm>
              <a:prstGeom prst="rect">
                <a:avLst/>
              </a:prstGeom>
              <a:blipFill rotWithShape="1">
                <a:blip r:embed="rId2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19"/>
              <p:cNvSpPr/>
              <p:nvPr/>
            </p:nvSpPr>
            <p:spPr>
              <a:xfrm>
                <a:off x="7675761" y="4039232"/>
                <a:ext cx="305733" cy="317679"/>
              </a:xfrm>
              <a:prstGeom prst="rect">
                <a:avLst/>
              </a:prstGeom>
              <a:blipFill rotWithShape="1">
                <a:blip r:embed="rId2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4" name="Google Shape;624;p19"/>
              <p:cNvSpPr/>
              <p:nvPr/>
            </p:nvSpPr>
            <p:spPr>
              <a:xfrm>
                <a:off x="7863052" y="2900882"/>
                <a:ext cx="95250" cy="184785"/>
              </a:xfrm>
              <a:custGeom>
                <a:rect b="b" l="l" r="r" t="t"/>
                <a:pathLst>
                  <a:path extrusionOk="0" h="184785" w="95250">
                    <a:moveTo>
                      <a:pt x="94932" y="0"/>
                    </a:moveTo>
                    <a:lnTo>
                      <a:pt x="70497" y="0"/>
                    </a:lnTo>
                    <a:lnTo>
                      <a:pt x="0" y="131127"/>
                    </a:lnTo>
                    <a:lnTo>
                      <a:pt x="0" y="159169"/>
                    </a:lnTo>
                    <a:lnTo>
                      <a:pt x="47701" y="184607"/>
                    </a:lnTo>
                    <a:lnTo>
                      <a:pt x="70497" y="184607"/>
                    </a:lnTo>
                    <a:lnTo>
                      <a:pt x="70497" y="159169"/>
                    </a:lnTo>
                    <a:lnTo>
                      <a:pt x="35661" y="137972"/>
                    </a:lnTo>
                    <a:lnTo>
                      <a:pt x="94932" y="26098"/>
                    </a:lnTo>
                    <a:lnTo>
                      <a:pt x="94932"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19"/>
              <p:cNvSpPr/>
              <p:nvPr/>
            </p:nvSpPr>
            <p:spPr>
              <a:xfrm>
                <a:off x="7910760" y="2900878"/>
                <a:ext cx="47625" cy="184785"/>
              </a:xfrm>
              <a:custGeom>
                <a:rect b="b" l="l" r="r" t="t"/>
                <a:pathLst>
                  <a:path extrusionOk="0" h="184785" w="47625">
                    <a:moveTo>
                      <a:pt x="35014" y="0"/>
                    </a:moveTo>
                    <a:lnTo>
                      <a:pt x="35014" y="0"/>
                    </a:lnTo>
                    <a:lnTo>
                      <a:pt x="35014" y="184605"/>
                    </a:lnTo>
                  </a:path>
                  <a:path extrusionOk="0" h="184785" w="47625">
                    <a:moveTo>
                      <a:pt x="0" y="170914"/>
                    </a:moveTo>
                    <a:lnTo>
                      <a:pt x="0" y="170914"/>
                    </a:lnTo>
                    <a:lnTo>
                      <a:pt x="47234" y="170914"/>
                    </a:lnTo>
                  </a:path>
                </a:pathLst>
              </a:custGeom>
              <a:noFill/>
              <a:ln cap="flat" cmpd="sng" w="240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19"/>
              <p:cNvSpPr/>
              <p:nvPr/>
            </p:nvSpPr>
            <p:spPr>
              <a:xfrm>
                <a:off x="7863055" y="2900878"/>
                <a:ext cx="71120" cy="159385"/>
              </a:xfrm>
              <a:custGeom>
                <a:rect b="b" l="l" r="r" t="t"/>
                <a:pathLst>
                  <a:path extrusionOk="0" h="159385" w="71120">
                    <a:moveTo>
                      <a:pt x="70499" y="0"/>
                    </a:moveTo>
                    <a:lnTo>
                      <a:pt x="0" y="131129"/>
                    </a:lnTo>
                    <a:lnTo>
                      <a:pt x="47704" y="159168"/>
                    </a:lnTo>
                    <a:lnTo>
                      <a:pt x="70499" y="159168"/>
                    </a:lnTo>
                    <a:lnTo>
                      <a:pt x="70499"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19"/>
              <p:cNvSpPr/>
              <p:nvPr/>
            </p:nvSpPr>
            <p:spPr>
              <a:xfrm>
                <a:off x="7922979" y="3060046"/>
                <a:ext cx="0" cy="26034"/>
              </a:xfrm>
              <a:custGeom>
                <a:rect b="b" l="l" r="r" t="t"/>
                <a:pathLst>
                  <a:path extrusionOk="0" h="26035" w="120000">
                    <a:moveTo>
                      <a:pt x="0" y="12718"/>
                    </a:moveTo>
                    <a:lnTo>
                      <a:pt x="0" y="12718"/>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19"/>
              <p:cNvSpPr/>
              <p:nvPr/>
            </p:nvSpPr>
            <p:spPr>
              <a:xfrm>
                <a:off x="7651077" y="3006572"/>
                <a:ext cx="282575" cy="133350"/>
              </a:xfrm>
              <a:custGeom>
                <a:rect b="b" l="l" r="r" t="t"/>
                <a:pathLst>
                  <a:path extrusionOk="0" h="133350" w="282575">
                    <a:moveTo>
                      <a:pt x="282473" y="53479"/>
                    </a:moveTo>
                    <a:lnTo>
                      <a:pt x="259676" y="53479"/>
                    </a:lnTo>
                    <a:lnTo>
                      <a:pt x="173570" y="100685"/>
                    </a:lnTo>
                    <a:lnTo>
                      <a:pt x="95173" y="78917"/>
                    </a:lnTo>
                    <a:lnTo>
                      <a:pt x="24676" y="0"/>
                    </a:lnTo>
                    <a:lnTo>
                      <a:pt x="0" y="0"/>
                    </a:lnTo>
                    <a:lnTo>
                      <a:pt x="0" y="25438"/>
                    </a:lnTo>
                    <a:lnTo>
                      <a:pt x="70739" y="105016"/>
                    </a:lnTo>
                    <a:lnTo>
                      <a:pt x="165671" y="133083"/>
                    </a:lnTo>
                    <a:lnTo>
                      <a:pt x="189179" y="133083"/>
                    </a:lnTo>
                    <a:lnTo>
                      <a:pt x="282473" y="78917"/>
                    </a:lnTo>
                    <a:lnTo>
                      <a:pt x="282473" y="5347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19"/>
              <p:cNvSpPr/>
              <p:nvPr/>
            </p:nvSpPr>
            <p:spPr>
              <a:xfrm>
                <a:off x="7663541" y="2900878"/>
                <a:ext cx="0" cy="131445"/>
              </a:xfrm>
              <a:custGeom>
                <a:rect b="b" l="l" r="r" t="t"/>
                <a:pathLst>
                  <a:path extrusionOk="0" h="131444" w="120000">
                    <a:moveTo>
                      <a:pt x="0" y="0"/>
                    </a:moveTo>
                    <a:lnTo>
                      <a:pt x="0" y="0"/>
                    </a:lnTo>
                    <a:lnTo>
                      <a:pt x="0" y="131129"/>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19"/>
              <p:cNvSpPr/>
              <p:nvPr/>
            </p:nvSpPr>
            <p:spPr>
              <a:xfrm>
                <a:off x="7651077" y="2793910"/>
                <a:ext cx="189230" cy="133350"/>
              </a:xfrm>
              <a:custGeom>
                <a:rect b="b" l="l" r="r" t="t"/>
                <a:pathLst>
                  <a:path extrusionOk="0" h="133350" w="189229">
                    <a:moveTo>
                      <a:pt x="189179" y="0"/>
                    </a:moveTo>
                    <a:lnTo>
                      <a:pt x="165671" y="0"/>
                    </a:lnTo>
                    <a:lnTo>
                      <a:pt x="70739" y="28028"/>
                    </a:lnTo>
                    <a:lnTo>
                      <a:pt x="0" y="106972"/>
                    </a:lnTo>
                    <a:lnTo>
                      <a:pt x="0" y="133070"/>
                    </a:lnTo>
                    <a:lnTo>
                      <a:pt x="24676" y="133070"/>
                    </a:lnTo>
                    <a:lnTo>
                      <a:pt x="95173" y="53467"/>
                    </a:lnTo>
                    <a:lnTo>
                      <a:pt x="189179" y="28028"/>
                    </a:lnTo>
                    <a:lnTo>
                      <a:pt x="189179"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19"/>
              <p:cNvSpPr/>
              <p:nvPr/>
            </p:nvSpPr>
            <p:spPr>
              <a:xfrm>
                <a:off x="7204354" y="3707178"/>
                <a:ext cx="71120" cy="0"/>
              </a:xfrm>
              <a:custGeom>
                <a:rect b="b" l="l" r="r" t="t"/>
                <a:pathLst>
                  <a:path extrusionOk="0" h="120000" w="71120">
                    <a:moveTo>
                      <a:pt x="0" y="0"/>
                    </a:moveTo>
                    <a:lnTo>
                      <a:pt x="0" y="0"/>
                    </a:lnTo>
                    <a:lnTo>
                      <a:pt x="70499"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19"/>
              <p:cNvSpPr/>
              <p:nvPr/>
            </p:nvSpPr>
            <p:spPr>
              <a:xfrm>
                <a:off x="7204354" y="3588461"/>
                <a:ext cx="93345" cy="158750"/>
              </a:xfrm>
              <a:custGeom>
                <a:rect b="b" l="l" r="r" t="t"/>
                <a:pathLst>
                  <a:path extrusionOk="0" h="158750" w="93345">
                    <a:moveTo>
                      <a:pt x="93294" y="133070"/>
                    </a:moveTo>
                    <a:lnTo>
                      <a:pt x="70497" y="0"/>
                    </a:lnTo>
                    <a:lnTo>
                      <a:pt x="47231" y="0"/>
                    </a:lnTo>
                    <a:lnTo>
                      <a:pt x="0" y="106972"/>
                    </a:lnTo>
                    <a:lnTo>
                      <a:pt x="0" y="133070"/>
                    </a:lnTo>
                    <a:lnTo>
                      <a:pt x="22783" y="133070"/>
                    </a:lnTo>
                    <a:lnTo>
                      <a:pt x="34556" y="106972"/>
                    </a:lnTo>
                    <a:lnTo>
                      <a:pt x="47231" y="106972"/>
                    </a:lnTo>
                    <a:lnTo>
                      <a:pt x="47231" y="133070"/>
                    </a:lnTo>
                    <a:lnTo>
                      <a:pt x="70497" y="158508"/>
                    </a:lnTo>
                    <a:lnTo>
                      <a:pt x="93294" y="158508"/>
                    </a:lnTo>
                    <a:lnTo>
                      <a:pt x="93294" y="13307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19"/>
              <p:cNvSpPr/>
              <p:nvPr/>
            </p:nvSpPr>
            <p:spPr>
              <a:xfrm>
                <a:off x="7239369" y="3721526"/>
                <a:ext cx="0" cy="26034"/>
              </a:xfrm>
              <a:custGeom>
                <a:rect b="b" l="l" r="r" t="t"/>
                <a:pathLst>
                  <a:path extrusionOk="0" h="26035" w="120000">
                    <a:moveTo>
                      <a:pt x="0" y="12718"/>
                    </a:moveTo>
                    <a:lnTo>
                      <a:pt x="0" y="12718"/>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19"/>
              <p:cNvSpPr/>
              <p:nvPr/>
            </p:nvSpPr>
            <p:spPr>
              <a:xfrm>
                <a:off x="7015403" y="3667404"/>
                <a:ext cx="236220" cy="133350"/>
              </a:xfrm>
              <a:custGeom>
                <a:rect b="b" l="l" r="r" t="t"/>
                <a:pathLst>
                  <a:path extrusionOk="0" h="133350" w="236220">
                    <a:moveTo>
                      <a:pt x="236181" y="54127"/>
                    </a:moveTo>
                    <a:lnTo>
                      <a:pt x="211734" y="54127"/>
                    </a:lnTo>
                    <a:lnTo>
                      <a:pt x="147916" y="102400"/>
                    </a:lnTo>
                    <a:lnTo>
                      <a:pt x="70510" y="79565"/>
                    </a:lnTo>
                    <a:lnTo>
                      <a:pt x="24447" y="0"/>
                    </a:lnTo>
                    <a:lnTo>
                      <a:pt x="0" y="0"/>
                    </a:lnTo>
                    <a:lnTo>
                      <a:pt x="0" y="28028"/>
                    </a:lnTo>
                    <a:lnTo>
                      <a:pt x="47244" y="107632"/>
                    </a:lnTo>
                    <a:lnTo>
                      <a:pt x="141008" y="133070"/>
                    </a:lnTo>
                    <a:lnTo>
                      <a:pt x="165684" y="133070"/>
                    </a:lnTo>
                    <a:lnTo>
                      <a:pt x="236181" y="79565"/>
                    </a:lnTo>
                    <a:lnTo>
                      <a:pt x="236181" y="54127"/>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19"/>
              <p:cNvSpPr/>
              <p:nvPr/>
            </p:nvSpPr>
            <p:spPr>
              <a:xfrm>
                <a:off x="7027635" y="3562358"/>
                <a:ext cx="0" cy="133350"/>
              </a:xfrm>
              <a:custGeom>
                <a:rect b="b" l="l" r="r" t="t"/>
                <a:pathLst>
                  <a:path extrusionOk="0" h="133350" w="120000">
                    <a:moveTo>
                      <a:pt x="0" y="0"/>
                    </a:moveTo>
                    <a:lnTo>
                      <a:pt x="0" y="0"/>
                    </a:lnTo>
                    <a:lnTo>
                      <a:pt x="0" y="133073"/>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19"/>
              <p:cNvSpPr/>
              <p:nvPr/>
            </p:nvSpPr>
            <p:spPr>
              <a:xfrm>
                <a:off x="7015403" y="3457333"/>
                <a:ext cx="141605" cy="131445"/>
              </a:xfrm>
              <a:custGeom>
                <a:rect b="b" l="l" r="r" t="t"/>
                <a:pathLst>
                  <a:path extrusionOk="0" h="131445" w="141604">
                    <a:moveTo>
                      <a:pt x="141008" y="0"/>
                    </a:moveTo>
                    <a:lnTo>
                      <a:pt x="117741" y="0"/>
                    </a:lnTo>
                    <a:lnTo>
                      <a:pt x="47244" y="25438"/>
                    </a:lnTo>
                    <a:lnTo>
                      <a:pt x="0" y="105029"/>
                    </a:lnTo>
                    <a:lnTo>
                      <a:pt x="0" y="131127"/>
                    </a:lnTo>
                    <a:lnTo>
                      <a:pt x="24447" y="131127"/>
                    </a:lnTo>
                    <a:lnTo>
                      <a:pt x="70510" y="51523"/>
                    </a:lnTo>
                    <a:lnTo>
                      <a:pt x="141008" y="25438"/>
                    </a:lnTo>
                    <a:lnTo>
                      <a:pt x="14100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19"/>
              <p:cNvSpPr/>
              <p:nvPr/>
            </p:nvSpPr>
            <p:spPr>
              <a:xfrm>
                <a:off x="7251589" y="3826561"/>
                <a:ext cx="376232" cy="371182"/>
              </a:xfrm>
              <a:prstGeom prst="rect">
                <a:avLst/>
              </a:prstGeom>
              <a:blipFill rotWithShape="1">
                <a:blip r:embed="rId2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19"/>
              <p:cNvSpPr/>
              <p:nvPr/>
            </p:nvSpPr>
            <p:spPr>
              <a:xfrm>
                <a:off x="6685411" y="2926973"/>
                <a:ext cx="119041" cy="133073"/>
              </a:xfrm>
              <a:prstGeom prst="rect">
                <a:avLst/>
              </a:prstGeom>
              <a:blipFill rotWithShape="1">
                <a:blip r:embed="rId2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19"/>
              <p:cNvSpPr/>
              <p:nvPr/>
            </p:nvSpPr>
            <p:spPr>
              <a:xfrm>
                <a:off x="6802977" y="3111578"/>
                <a:ext cx="188938" cy="266173"/>
              </a:xfrm>
              <a:prstGeom prst="rect">
                <a:avLst/>
              </a:prstGeom>
              <a:blipFill rotWithShape="1">
                <a:blip r:embed="rId2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19"/>
              <p:cNvSpPr/>
              <p:nvPr/>
            </p:nvSpPr>
            <p:spPr>
              <a:xfrm>
                <a:off x="6802977" y="3826561"/>
                <a:ext cx="259673" cy="291585"/>
              </a:xfrm>
              <a:prstGeom prst="rect">
                <a:avLst/>
              </a:prstGeom>
              <a:blipFill rotWithShape="1">
                <a:blip r:embed="rId2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19"/>
              <p:cNvSpPr/>
              <p:nvPr/>
            </p:nvSpPr>
            <p:spPr>
              <a:xfrm>
                <a:off x="6520509" y="3536264"/>
                <a:ext cx="118439" cy="131414"/>
              </a:xfrm>
              <a:prstGeom prst="rect">
                <a:avLst/>
              </a:prstGeom>
              <a:blipFill rotWithShape="1">
                <a:blip r:embed="rId2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19"/>
              <p:cNvSpPr/>
              <p:nvPr/>
            </p:nvSpPr>
            <p:spPr>
              <a:xfrm>
                <a:off x="6685411" y="4144241"/>
                <a:ext cx="119042" cy="133100"/>
              </a:xfrm>
              <a:prstGeom prst="rect">
                <a:avLst/>
              </a:prstGeom>
              <a:blipFill rotWithShape="1">
                <a:blip r:embed="rId2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19"/>
              <p:cNvSpPr/>
              <p:nvPr/>
            </p:nvSpPr>
            <p:spPr>
              <a:xfrm>
                <a:off x="7251586" y="3085490"/>
                <a:ext cx="400050" cy="372110"/>
              </a:xfrm>
              <a:custGeom>
                <a:rect b="b" l="l" r="r" t="t"/>
                <a:pathLst>
                  <a:path extrusionOk="0" h="372110" w="400050">
                    <a:moveTo>
                      <a:pt x="399491" y="0"/>
                    </a:moveTo>
                    <a:lnTo>
                      <a:pt x="376224" y="0"/>
                    </a:lnTo>
                    <a:lnTo>
                      <a:pt x="212432" y="79603"/>
                    </a:lnTo>
                    <a:lnTo>
                      <a:pt x="212432" y="105689"/>
                    </a:lnTo>
                    <a:lnTo>
                      <a:pt x="227012" y="140258"/>
                    </a:lnTo>
                    <a:lnTo>
                      <a:pt x="0" y="343801"/>
                    </a:lnTo>
                    <a:lnTo>
                      <a:pt x="0" y="371843"/>
                    </a:lnTo>
                    <a:lnTo>
                      <a:pt x="23266" y="371843"/>
                    </a:lnTo>
                    <a:lnTo>
                      <a:pt x="249237" y="166941"/>
                    </a:lnTo>
                    <a:lnTo>
                      <a:pt x="282930" y="185267"/>
                    </a:lnTo>
                    <a:lnTo>
                      <a:pt x="305727" y="185267"/>
                    </a:lnTo>
                    <a:lnTo>
                      <a:pt x="399491" y="26098"/>
                    </a:lnTo>
                    <a:lnTo>
                      <a:pt x="399491"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19"/>
              <p:cNvSpPr/>
              <p:nvPr/>
            </p:nvSpPr>
            <p:spPr>
              <a:xfrm>
                <a:off x="7981494" y="2966758"/>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19"/>
              <p:cNvSpPr/>
              <p:nvPr/>
            </p:nvSpPr>
            <p:spPr>
              <a:xfrm>
                <a:off x="8215788" y="2873470"/>
                <a:ext cx="118745" cy="133350"/>
              </a:xfrm>
              <a:custGeom>
                <a:rect b="b" l="l" r="r" t="t"/>
                <a:pathLst>
                  <a:path extrusionOk="0" h="133350" w="118745">
                    <a:moveTo>
                      <a:pt x="118439" y="0"/>
                    </a:moveTo>
                    <a:lnTo>
                      <a:pt x="0" y="0"/>
                    </a:lnTo>
                    <a:lnTo>
                      <a:pt x="0" y="133100"/>
                    </a:lnTo>
                    <a:lnTo>
                      <a:pt x="118439" y="133100"/>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19"/>
              <p:cNvSpPr/>
              <p:nvPr/>
            </p:nvSpPr>
            <p:spPr>
              <a:xfrm>
                <a:off x="8228713" y="2887187"/>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19"/>
              <p:cNvSpPr/>
              <p:nvPr/>
            </p:nvSpPr>
            <p:spPr>
              <a:xfrm>
                <a:off x="7981494" y="3628238"/>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19"/>
              <p:cNvSpPr/>
              <p:nvPr/>
            </p:nvSpPr>
            <p:spPr>
              <a:xfrm>
                <a:off x="8215788" y="3536264"/>
                <a:ext cx="118745" cy="131445"/>
              </a:xfrm>
              <a:custGeom>
                <a:rect b="b" l="l" r="r" t="t"/>
                <a:pathLst>
                  <a:path extrusionOk="0" h="131445" w="118745">
                    <a:moveTo>
                      <a:pt x="118439" y="0"/>
                    </a:moveTo>
                    <a:lnTo>
                      <a:pt x="0" y="0"/>
                    </a:lnTo>
                    <a:lnTo>
                      <a:pt x="0" y="131129"/>
                    </a:lnTo>
                    <a:lnTo>
                      <a:pt x="118439" y="131129"/>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19"/>
              <p:cNvSpPr/>
              <p:nvPr/>
            </p:nvSpPr>
            <p:spPr>
              <a:xfrm>
                <a:off x="8228713" y="3548667"/>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19"/>
              <p:cNvSpPr/>
              <p:nvPr/>
            </p:nvSpPr>
            <p:spPr>
              <a:xfrm>
                <a:off x="7981494" y="4212092"/>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p19"/>
              <p:cNvSpPr/>
              <p:nvPr/>
            </p:nvSpPr>
            <p:spPr>
              <a:xfrm>
                <a:off x="8215788" y="4144241"/>
                <a:ext cx="118745" cy="133350"/>
              </a:xfrm>
              <a:custGeom>
                <a:rect b="b" l="l" r="r" t="t"/>
                <a:pathLst>
                  <a:path extrusionOk="0" h="133350" w="118745">
                    <a:moveTo>
                      <a:pt x="118439" y="0"/>
                    </a:moveTo>
                    <a:lnTo>
                      <a:pt x="0" y="0"/>
                    </a:lnTo>
                    <a:lnTo>
                      <a:pt x="0" y="133100"/>
                    </a:lnTo>
                    <a:lnTo>
                      <a:pt x="118439" y="133100"/>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19"/>
              <p:cNvSpPr/>
              <p:nvPr/>
            </p:nvSpPr>
            <p:spPr>
              <a:xfrm>
                <a:off x="8228713" y="4157958"/>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19"/>
              <p:cNvSpPr/>
              <p:nvPr/>
            </p:nvSpPr>
            <p:spPr>
              <a:xfrm>
                <a:off x="5061638" y="3060046"/>
                <a:ext cx="234998" cy="184632"/>
              </a:xfrm>
              <a:prstGeom prst="rect">
                <a:avLst/>
              </a:prstGeom>
              <a:blipFill rotWithShape="1">
                <a:blip r:embed="rId3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19"/>
              <p:cNvSpPr/>
              <p:nvPr/>
            </p:nvSpPr>
            <p:spPr>
              <a:xfrm>
                <a:off x="4965992" y="3536276"/>
                <a:ext cx="330835" cy="556895"/>
              </a:xfrm>
              <a:custGeom>
                <a:rect b="b" l="l" r="r" t="t"/>
                <a:pathLst>
                  <a:path extrusionOk="0" h="556895" w="330835">
                    <a:moveTo>
                      <a:pt x="330644" y="0"/>
                    </a:moveTo>
                    <a:lnTo>
                      <a:pt x="307378" y="0"/>
                    </a:lnTo>
                    <a:lnTo>
                      <a:pt x="169773" y="236550"/>
                    </a:lnTo>
                    <a:lnTo>
                      <a:pt x="70497" y="159156"/>
                    </a:lnTo>
                    <a:lnTo>
                      <a:pt x="47701" y="159156"/>
                    </a:lnTo>
                    <a:lnTo>
                      <a:pt x="47701" y="185254"/>
                    </a:lnTo>
                    <a:lnTo>
                      <a:pt x="151980" y="267119"/>
                    </a:lnTo>
                    <a:lnTo>
                      <a:pt x="0" y="528396"/>
                    </a:lnTo>
                    <a:lnTo>
                      <a:pt x="0" y="556437"/>
                    </a:lnTo>
                    <a:lnTo>
                      <a:pt x="25146" y="556437"/>
                    </a:lnTo>
                    <a:lnTo>
                      <a:pt x="179400" y="288645"/>
                    </a:lnTo>
                    <a:lnTo>
                      <a:pt x="282930" y="369887"/>
                    </a:lnTo>
                    <a:lnTo>
                      <a:pt x="307378" y="369887"/>
                    </a:lnTo>
                    <a:lnTo>
                      <a:pt x="307378" y="343789"/>
                    </a:lnTo>
                    <a:lnTo>
                      <a:pt x="197129" y="257873"/>
                    </a:lnTo>
                    <a:lnTo>
                      <a:pt x="330644" y="26085"/>
                    </a:lnTo>
                    <a:lnTo>
                      <a:pt x="330644"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5" name="Google Shape;655;p19"/>
              <p:cNvSpPr/>
              <p:nvPr/>
            </p:nvSpPr>
            <p:spPr>
              <a:xfrm>
                <a:off x="4330088" y="3536264"/>
                <a:ext cx="188938" cy="131129"/>
              </a:xfrm>
              <a:prstGeom prst="rect">
                <a:avLst/>
              </a:prstGeom>
              <a:blipFill rotWithShape="1">
                <a:blip r:embed="rId3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19"/>
              <p:cNvSpPr/>
              <p:nvPr/>
            </p:nvSpPr>
            <p:spPr>
              <a:xfrm>
                <a:off x="3835886" y="3602144"/>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 name="Google Shape;657;p19"/>
              <p:cNvSpPr/>
              <p:nvPr/>
            </p:nvSpPr>
            <p:spPr>
              <a:xfrm>
                <a:off x="4330088" y="4118146"/>
                <a:ext cx="188938" cy="159194"/>
              </a:xfrm>
              <a:prstGeom prst="rect">
                <a:avLst/>
              </a:prstGeom>
              <a:blipFill rotWithShape="1">
                <a:blip r:embed="rId3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19"/>
              <p:cNvSpPr/>
              <p:nvPr/>
            </p:nvSpPr>
            <p:spPr>
              <a:xfrm>
                <a:off x="3835886" y="4212092"/>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 name="Google Shape;659;p19"/>
              <p:cNvSpPr/>
              <p:nvPr/>
            </p:nvSpPr>
            <p:spPr>
              <a:xfrm>
                <a:off x="4965992" y="3060052"/>
                <a:ext cx="424180" cy="1033144"/>
              </a:xfrm>
              <a:custGeom>
                <a:rect b="b" l="l" r="r" t="t"/>
                <a:pathLst>
                  <a:path extrusionOk="0" h="1033145" w="424179">
                    <a:moveTo>
                      <a:pt x="377875" y="873493"/>
                    </a:moveTo>
                    <a:lnTo>
                      <a:pt x="353428" y="873493"/>
                    </a:lnTo>
                    <a:lnTo>
                      <a:pt x="0" y="1004620"/>
                    </a:lnTo>
                    <a:lnTo>
                      <a:pt x="0" y="1032662"/>
                    </a:lnTo>
                    <a:lnTo>
                      <a:pt x="25146" y="1032662"/>
                    </a:lnTo>
                    <a:lnTo>
                      <a:pt x="377875" y="899591"/>
                    </a:lnTo>
                    <a:lnTo>
                      <a:pt x="377875" y="873493"/>
                    </a:lnTo>
                    <a:close/>
                  </a:path>
                  <a:path extrusionOk="0" h="1033145" w="424179">
                    <a:moveTo>
                      <a:pt x="424167" y="184632"/>
                    </a:moveTo>
                    <a:lnTo>
                      <a:pt x="401370" y="184632"/>
                    </a:lnTo>
                    <a:lnTo>
                      <a:pt x="255600" y="370878"/>
                    </a:lnTo>
                    <a:lnTo>
                      <a:pt x="118440" y="0"/>
                    </a:lnTo>
                    <a:lnTo>
                      <a:pt x="95643" y="0"/>
                    </a:lnTo>
                    <a:lnTo>
                      <a:pt x="95643" y="25438"/>
                    </a:lnTo>
                    <a:lnTo>
                      <a:pt x="233629" y="398932"/>
                    </a:lnTo>
                    <a:lnTo>
                      <a:pt x="70497" y="607352"/>
                    </a:lnTo>
                    <a:lnTo>
                      <a:pt x="70497" y="635381"/>
                    </a:lnTo>
                    <a:lnTo>
                      <a:pt x="95643" y="635381"/>
                    </a:lnTo>
                    <a:lnTo>
                      <a:pt x="248158" y="438238"/>
                    </a:lnTo>
                    <a:lnTo>
                      <a:pt x="330644" y="661479"/>
                    </a:lnTo>
                    <a:lnTo>
                      <a:pt x="353428" y="661479"/>
                    </a:lnTo>
                    <a:lnTo>
                      <a:pt x="353428" y="635381"/>
                    </a:lnTo>
                    <a:lnTo>
                      <a:pt x="270040" y="409943"/>
                    </a:lnTo>
                    <a:lnTo>
                      <a:pt x="424167" y="210705"/>
                    </a:lnTo>
                    <a:lnTo>
                      <a:pt x="424167" y="18463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19"/>
              <p:cNvSpPr/>
              <p:nvPr/>
            </p:nvSpPr>
            <p:spPr>
              <a:xfrm>
                <a:off x="5296637" y="3191176"/>
                <a:ext cx="118110" cy="133350"/>
              </a:xfrm>
              <a:custGeom>
                <a:rect b="b" l="l" r="r" t="t"/>
                <a:pathLst>
                  <a:path extrusionOk="0" h="133350" w="118110">
                    <a:moveTo>
                      <a:pt x="117969" y="0"/>
                    </a:moveTo>
                    <a:lnTo>
                      <a:pt x="0" y="0"/>
                    </a:lnTo>
                    <a:lnTo>
                      <a:pt x="0" y="133073"/>
                    </a:lnTo>
                    <a:lnTo>
                      <a:pt x="117969" y="133073"/>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 name="Google Shape;661;p19"/>
              <p:cNvSpPr/>
              <p:nvPr/>
            </p:nvSpPr>
            <p:spPr>
              <a:xfrm>
                <a:off x="5308857" y="3204867"/>
                <a:ext cx="116839" cy="133350"/>
              </a:xfrm>
              <a:custGeom>
                <a:rect b="b" l="l" r="r" t="t"/>
                <a:pathLst>
                  <a:path extrusionOk="0" h="133350" w="116839">
                    <a:moveTo>
                      <a:pt x="0" y="0"/>
                    </a:moveTo>
                    <a:lnTo>
                      <a:pt x="116794" y="0"/>
                    </a:lnTo>
                    <a:lnTo>
                      <a:pt x="116794" y="133073"/>
                    </a:lnTo>
                    <a:lnTo>
                      <a:pt x="0" y="133073"/>
                    </a:lnTo>
                    <a:lnTo>
                      <a:pt x="0" y="0"/>
                    </a:lnTo>
                    <a:close/>
                  </a:path>
                </a:pathLst>
              </a:custGeom>
              <a:noFill/>
              <a:ln cap="flat" cmpd="sng" w="2390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19"/>
              <p:cNvSpPr/>
              <p:nvPr/>
            </p:nvSpPr>
            <p:spPr>
              <a:xfrm>
                <a:off x="5296637" y="3403847"/>
                <a:ext cx="118110" cy="132715"/>
              </a:xfrm>
              <a:custGeom>
                <a:rect b="b" l="l" r="r" t="t"/>
                <a:pathLst>
                  <a:path extrusionOk="0" h="132714" w="118110">
                    <a:moveTo>
                      <a:pt x="117969" y="0"/>
                    </a:moveTo>
                    <a:lnTo>
                      <a:pt x="0" y="0"/>
                    </a:lnTo>
                    <a:lnTo>
                      <a:pt x="0" y="132416"/>
                    </a:lnTo>
                    <a:lnTo>
                      <a:pt x="117969" y="132416"/>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19"/>
              <p:cNvSpPr/>
              <p:nvPr/>
            </p:nvSpPr>
            <p:spPr>
              <a:xfrm>
                <a:off x="5308857" y="3417538"/>
                <a:ext cx="116839" cy="131445"/>
              </a:xfrm>
              <a:custGeom>
                <a:rect b="b" l="l" r="r" t="t"/>
                <a:pathLst>
                  <a:path extrusionOk="0" h="131445" w="116839">
                    <a:moveTo>
                      <a:pt x="0" y="0"/>
                    </a:moveTo>
                    <a:lnTo>
                      <a:pt x="116794" y="0"/>
                    </a:lnTo>
                    <a:lnTo>
                      <a:pt x="116794" y="131129"/>
                    </a:lnTo>
                    <a:lnTo>
                      <a:pt x="0" y="131129"/>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19"/>
              <p:cNvSpPr/>
              <p:nvPr/>
            </p:nvSpPr>
            <p:spPr>
              <a:xfrm>
                <a:off x="5296637" y="3641955"/>
                <a:ext cx="118110" cy="133350"/>
              </a:xfrm>
              <a:custGeom>
                <a:rect b="b" l="l" r="r" t="t"/>
                <a:pathLst>
                  <a:path extrusionOk="0" h="133350" w="118110">
                    <a:moveTo>
                      <a:pt x="117969" y="0"/>
                    </a:moveTo>
                    <a:lnTo>
                      <a:pt x="0" y="0"/>
                    </a:lnTo>
                    <a:lnTo>
                      <a:pt x="0" y="133073"/>
                    </a:lnTo>
                    <a:lnTo>
                      <a:pt x="117969" y="133073"/>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19"/>
              <p:cNvSpPr/>
              <p:nvPr/>
            </p:nvSpPr>
            <p:spPr>
              <a:xfrm>
                <a:off x="5308857" y="3655646"/>
                <a:ext cx="116839" cy="131445"/>
              </a:xfrm>
              <a:custGeom>
                <a:rect b="b" l="l" r="r" t="t"/>
                <a:pathLst>
                  <a:path extrusionOk="0" h="131445" w="116839">
                    <a:moveTo>
                      <a:pt x="0" y="0"/>
                    </a:moveTo>
                    <a:lnTo>
                      <a:pt x="116794" y="0"/>
                    </a:lnTo>
                    <a:lnTo>
                      <a:pt x="116794" y="131129"/>
                    </a:lnTo>
                    <a:lnTo>
                      <a:pt x="0" y="131129"/>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19"/>
              <p:cNvSpPr/>
              <p:nvPr/>
            </p:nvSpPr>
            <p:spPr>
              <a:xfrm>
                <a:off x="5296637" y="3854600"/>
                <a:ext cx="118110" cy="130810"/>
              </a:xfrm>
              <a:custGeom>
                <a:rect b="b" l="l" r="r" t="t"/>
                <a:pathLst>
                  <a:path extrusionOk="0" h="130810" w="118110">
                    <a:moveTo>
                      <a:pt x="117969" y="0"/>
                    </a:moveTo>
                    <a:lnTo>
                      <a:pt x="0" y="0"/>
                    </a:lnTo>
                    <a:lnTo>
                      <a:pt x="0" y="130472"/>
                    </a:lnTo>
                    <a:lnTo>
                      <a:pt x="117969" y="130472"/>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 name="Google Shape;667;p19"/>
              <p:cNvSpPr/>
              <p:nvPr/>
            </p:nvSpPr>
            <p:spPr>
              <a:xfrm>
                <a:off x="5308857" y="3866347"/>
                <a:ext cx="116839" cy="133350"/>
              </a:xfrm>
              <a:custGeom>
                <a:rect b="b" l="l" r="r" t="t"/>
                <a:pathLst>
                  <a:path extrusionOk="0" h="133350" w="116839">
                    <a:moveTo>
                      <a:pt x="0" y="0"/>
                    </a:moveTo>
                    <a:lnTo>
                      <a:pt x="116794" y="0"/>
                    </a:lnTo>
                    <a:lnTo>
                      <a:pt x="116794" y="133073"/>
                    </a:lnTo>
                    <a:lnTo>
                      <a:pt x="0" y="133073"/>
                    </a:lnTo>
                    <a:lnTo>
                      <a:pt x="0" y="0"/>
                    </a:lnTo>
                    <a:close/>
                  </a:path>
                </a:pathLst>
              </a:custGeom>
              <a:noFill/>
              <a:ln cap="flat" cmpd="sng" w="2390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8" name="Google Shape;668;p19"/>
            <p:cNvSpPr txBox="1"/>
            <p:nvPr/>
          </p:nvSpPr>
          <p:spPr>
            <a:xfrm>
              <a:off x="8505097" y="3128250"/>
              <a:ext cx="273685"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I/O</a:t>
              </a:r>
              <a:endParaRPr sz="1650">
                <a:solidFill>
                  <a:schemeClr val="dk1"/>
                </a:solidFill>
                <a:latin typeface="Arial"/>
                <a:ea typeface="Arial"/>
                <a:cs typeface="Arial"/>
                <a:sym typeface="Arial"/>
              </a:endParaRPr>
            </a:p>
          </p:txBody>
        </p:sp>
        <p:sp>
          <p:nvSpPr>
            <p:cNvPr id="669" name="Google Shape;669;p19"/>
            <p:cNvSpPr txBox="1"/>
            <p:nvPr/>
          </p:nvSpPr>
          <p:spPr>
            <a:xfrm>
              <a:off x="5631301" y="2439361"/>
              <a:ext cx="1953895"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per-connection threads</a:t>
              </a:r>
              <a:endParaRPr sz="1400">
                <a:solidFill>
                  <a:schemeClr val="dk1"/>
                </a:solidFill>
                <a:latin typeface="Arial"/>
                <a:ea typeface="Arial"/>
                <a:cs typeface="Arial"/>
                <a:sym typeface="Arial"/>
              </a:endParaRPr>
            </a:p>
          </p:txBody>
        </p:sp>
        <p:sp>
          <p:nvSpPr>
            <p:cNvPr id="670" name="Google Shape;670;p19"/>
            <p:cNvSpPr txBox="1"/>
            <p:nvPr/>
          </p:nvSpPr>
          <p:spPr>
            <a:xfrm>
              <a:off x="8692389" y="2439361"/>
              <a:ext cx="1545590" cy="28241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per-object threads</a:t>
              </a:r>
              <a:endParaRPr sz="1400">
                <a:solidFill>
                  <a:schemeClr val="dk1"/>
                </a:solidFill>
                <a:latin typeface="Arial"/>
                <a:ea typeface="Arial"/>
                <a:cs typeface="Arial"/>
                <a:sym typeface="Arial"/>
              </a:endParaRPr>
            </a:p>
          </p:txBody>
        </p:sp>
        <p:sp>
          <p:nvSpPr>
            <p:cNvPr id="671" name="Google Shape;671;p19"/>
            <p:cNvSpPr txBox="1"/>
            <p:nvPr/>
          </p:nvSpPr>
          <p:spPr>
            <a:xfrm>
              <a:off x="3817653" y="3207821"/>
              <a:ext cx="622934"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sp>
          <p:nvSpPr>
            <p:cNvPr id="672" name="Google Shape;672;p19"/>
            <p:cNvSpPr txBox="1"/>
            <p:nvPr/>
          </p:nvSpPr>
          <p:spPr>
            <a:xfrm>
              <a:off x="6973611" y="3180439"/>
              <a:ext cx="623570"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sp>
          <p:nvSpPr>
            <p:cNvPr id="673" name="Google Shape;673;p19"/>
            <p:cNvSpPr txBox="1"/>
            <p:nvPr/>
          </p:nvSpPr>
          <p:spPr>
            <a:xfrm>
              <a:off x="9822967" y="3074747"/>
              <a:ext cx="623570"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grpSp>
      <p:sp>
        <p:nvSpPr>
          <p:cNvPr id="674" name="Google Shape;674;p19"/>
          <p:cNvSpPr txBox="1"/>
          <p:nvPr/>
        </p:nvSpPr>
        <p:spPr>
          <a:xfrm>
            <a:off x="1195375" y="4145635"/>
            <a:ext cx="9753600"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rgbClr val="1B1B1B"/>
                </a:solidFill>
                <a:latin typeface="Calibri"/>
                <a:ea typeface="Calibri"/>
                <a:cs typeface="Calibri"/>
                <a:sym typeface="Calibri"/>
              </a:rPr>
              <a:t>2. Thread-per-connection (Luồng cho mỗi kết nối)</a:t>
            </a:r>
            <a:endParaRPr/>
          </a:p>
          <a:p>
            <a:pPr indent="-457200" lvl="1" marL="914400" marR="0" rtl="0" algn="l">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Gắn kết mỗi luồng với 1 kết nối. </a:t>
            </a:r>
            <a:endParaRPr/>
          </a:p>
          <a:p>
            <a:pPr indent="-457200" lvl="1" marL="914400" marR="0" rtl="0" algn="l">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Khi 1 client gửi request kết nối đến với server, server sẽ tạo ra 1 luồng cho kết nối đó và hủy luồng nếu kết nối đó ngắt</a:t>
            </a:r>
            <a:endParaRPr b="0" i="0" sz="1800" u="none" cap="none" strike="noStrike">
              <a:solidFill>
                <a:srgbClr val="1B1B1B"/>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20"/>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0" name="Google Shape;680;p20"/>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SERVER TRONG HPT</a:t>
            </a:r>
            <a:endParaRPr/>
          </a:p>
        </p:txBody>
      </p:sp>
      <p:sp>
        <p:nvSpPr>
          <p:cNvPr id="681" name="Google Shape;681;p20"/>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82" name="Google Shape;682;p20"/>
          <p:cNvGrpSpPr/>
          <p:nvPr/>
        </p:nvGrpSpPr>
        <p:grpSpPr>
          <a:xfrm>
            <a:off x="2133600" y="1472588"/>
            <a:ext cx="7543186" cy="2355259"/>
            <a:chOff x="1897639" y="2439361"/>
            <a:chExt cx="8548898" cy="2669278"/>
          </a:xfrm>
        </p:grpSpPr>
        <p:grpSp>
          <p:nvGrpSpPr>
            <p:cNvPr id="683" name="Google Shape;683;p20"/>
            <p:cNvGrpSpPr/>
            <p:nvPr/>
          </p:nvGrpSpPr>
          <p:grpSpPr>
            <a:xfrm>
              <a:off x="1897639" y="2450230"/>
              <a:ext cx="8196331" cy="2250440"/>
              <a:chOff x="373638" y="2450230"/>
              <a:chExt cx="8196331" cy="2250440"/>
            </a:xfrm>
          </p:grpSpPr>
          <p:sp>
            <p:nvSpPr>
              <p:cNvPr id="684" name="Google Shape;684;p20"/>
              <p:cNvSpPr/>
              <p:nvPr/>
            </p:nvSpPr>
            <p:spPr>
              <a:xfrm>
                <a:off x="421474" y="2450230"/>
                <a:ext cx="2001520" cy="2250440"/>
              </a:xfrm>
              <a:custGeom>
                <a:rect b="b" l="l" r="r" t="t"/>
                <a:pathLst>
                  <a:path extrusionOk="0" h="2250440" w="2001520">
                    <a:moveTo>
                      <a:pt x="1001659" y="0"/>
                    </a:moveTo>
                    <a:lnTo>
                      <a:pt x="955821" y="1160"/>
                    </a:lnTo>
                    <a:lnTo>
                      <a:pt x="910511" y="4607"/>
                    </a:lnTo>
                    <a:lnTo>
                      <a:pt x="865773" y="10291"/>
                    </a:lnTo>
                    <a:lnTo>
                      <a:pt x="821651" y="18162"/>
                    </a:lnTo>
                    <a:lnTo>
                      <a:pt x="778189" y="28170"/>
                    </a:lnTo>
                    <a:lnTo>
                      <a:pt x="735433" y="40266"/>
                    </a:lnTo>
                    <a:lnTo>
                      <a:pt x="693425" y="54399"/>
                    </a:lnTo>
                    <a:lnTo>
                      <a:pt x="652211" y="70518"/>
                    </a:lnTo>
                    <a:lnTo>
                      <a:pt x="611834" y="88575"/>
                    </a:lnTo>
                    <a:lnTo>
                      <a:pt x="572339" y="108520"/>
                    </a:lnTo>
                    <a:lnTo>
                      <a:pt x="533770" y="130301"/>
                    </a:lnTo>
                    <a:lnTo>
                      <a:pt x="496172" y="153870"/>
                    </a:lnTo>
                    <a:lnTo>
                      <a:pt x="459588" y="179177"/>
                    </a:lnTo>
                    <a:lnTo>
                      <a:pt x="424063" y="206170"/>
                    </a:lnTo>
                    <a:lnTo>
                      <a:pt x="389641" y="234802"/>
                    </a:lnTo>
                    <a:lnTo>
                      <a:pt x="356367" y="265020"/>
                    </a:lnTo>
                    <a:lnTo>
                      <a:pt x="324284" y="296776"/>
                    </a:lnTo>
                    <a:lnTo>
                      <a:pt x="293437" y="330020"/>
                    </a:lnTo>
                    <a:lnTo>
                      <a:pt x="263871" y="364701"/>
                    </a:lnTo>
                    <a:lnTo>
                      <a:pt x="235629" y="400770"/>
                    </a:lnTo>
                    <a:lnTo>
                      <a:pt x="208755" y="438177"/>
                    </a:lnTo>
                    <a:lnTo>
                      <a:pt x="183295" y="476871"/>
                    </a:lnTo>
                    <a:lnTo>
                      <a:pt x="159292" y="516803"/>
                    </a:lnTo>
                    <a:lnTo>
                      <a:pt x="136790" y="557923"/>
                    </a:lnTo>
                    <a:lnTo>
                      <a:pt x="115834" y="600181"/>
                    </a:lnTo>
                    <a:lnTo>
                      <a:pt x="96468" y="643526"/>
                    </a:lnTo>
                    <a:lnTo>
                      <a:pt x="78737" y="687909"/>
                    </a:lnTo>
                    <a:lnTo>
                      <a:pt x="62684" y="733281"/>
                    </a:lnTo>
                    <a:lnTo>
                      <a:pt x="48354" y="779590"/>
                    </a:lnTo>
                    <a:lnTo>
                      <a:pt x="35791" y="826787"/>
                    </a:lnTo>
                    <a:lnTo>
                      <a:pt x="25039" y="874822"/>
                    </a:lnTo>
                    <a:lnTo>
                      <a:pt x="16143" y="923645"/>
                    </a:lnTo>
                    <a:lnTo>
                      <a:pt x="9146" y="973206"/>
                    </a:lnTo>
                    <a:lnTo>
                      <a:pt x="4094" y="1023456"/>
                    </a:lnTo>
                    <a:lnTo>
                      <a:pt x="1031" y="1074343"/>
                    </a:lnTo>
                    <a:lnTo>
                      <a:pt x="0" y="1125819"/>
                    </a:lnTo>
                    <a:lnTo>
                      <a:pt x="1031" y="1177189"/>
                    </a:lnTo>
                    <a:lnTo>
                      <a:pt x="4094" y="1227974"/>
                    </a:lnTo>
                    <a:lnTo>
                      <a:pt x="9146" y="1278125"/>
                    </a:lnTo>
                    <a:lnTo>
                      <a:pt x="16143" y="1327591"/>
                    </a:lnTo>
                    <a:lnTo>
                      <a:pt x="25039" y="1376323"/>
                    </a:lnTo>
                    <a:lnTo>
                      <a:pt x="35791" y="1424269"/>
                    </a:lnTo>
                    <a:lnTo>
                      <a:pt x="48354" y="1471381"/>
                    </a:lnTo>
                    <a:lnTo>
                      <a:pt x="62684" y="1517609"/>
                    </a:lnTo>
                    <a:lnTo>
                      <a:pt x="78737" y="1562902"/>
                    </a:lnTo>
                    <a:lnTo>
                      <a:pt x="96468" y="1607210"/>
                    </a:lnTo>
                    <a:lnTo>
                      <a:pt x="115834" y="1650483"/>
                    </a:lnTo>
                    <a:lnTo>
                      <a:pt x="136790" y="1692672"/>
                    </a:lnTo>
                    <a:lnTo>
                      <a:pt x="159292" y="1733726"/>
                    </a:lnTo>
                    <a:lnTo>
                      <a:pt x="183295" y="1773596"/>
                    </a:lnTo>
                    <a:lnTo>
                      <a:pt x="208755" y="1812231"/>
                    </a:lnTo>
                    <a:lnTo>
                      <a:pt x="235629" y="1849581"/>
                    </a:lnTo>
                    <a:lnTo>
                      <a:pt x="263871" y="1885597"/>
                    </a:lnTo>
                    <a:lnTo>
                      <a:pt x="293437" y="1920228"/>
                    </a:lnTo>
                    <a:lnTo>
                      <a:pt x="324284" y="1953424"/>
                    </a:lnTo>
                    <a:lnTo>
                      <a:pt x="356367" y="1985136"/>
                    </a:lnTo>
                    <a:lnTo>
                      <a:pt x="389641" y="2015314"/>
                    </a:lnTo>
                    <a:lnTo>
                      <a:pt x="424063" y="2043906"/>
                    </a:lnTo>
                    <a:lnTo>
                      <a:pt x="459588" y="2070865"/>
                    </a:lnTo>
                    <a:lnTo>
                      <a:pt x="496172" y="2096138"/>
                    </a:lnTo>
                    <a:lnTo>
                      <a:pt x="533770" y="2119677"/>
                    </a:lnTo>
                    <a:lnTo>
                      <a:pt x="572339" y="2141431"/>
                    </a:lnTo>
                    <a:lnTo>
                      <a:pt x="611834" y="2161351"/>
                    </a:lnTo>
                    <a:lnTo>
                      <a:pt x="652211" y="2179386"/>
                    </a:lnTo>
                    <a:lnTo>
                      <a:pt x="693425" y="2195487"/>
                    </a:lnTo>
                    <a:lnTo>
                      <a:pt x="735433" y="2209603"/>
                    </a:lnTo>
                    <a:lnTo>
                      <a:pt x="778189" y="2221685"/>
                    </a:lnTo>
                    <a:lnTo>
                      <a:pt x="821651" y="2231682"/>
                    </a:lnTo>
                    <a:lnTo>
                      <a:pt x="865773" y="2239544"/>
                    </a:lnTo>
                    <a:lnTo>
                      <a:pt x="910511" y="2245222"/>
                    </a:lnTo>
                    <a:lnTo>
                      <a:pt x="955821" y="2248666"/>
                    </a:lnTo>
                    <a:lnTo>
                      <a:pt x="1001659" y="2249825"/>
                    </a:lnTo>
                    <a:lnTo>
                      <a:pt x="1047444" y="2248666"/>
                    </a:lnTo>
                    <a:lnTo>
                      <a:pt x="1092696" y="2245222"/>
                    </a:lnTo>
                    <a:lnTo>
                      <a:pt x="1137371" y="2239544"/>
                    </a:lnTo>
                    <a:lnTo>
                      <a:pt x="1181426" y="2231682"/>
                    </a:lnTo>
                    <a:lnTo>
                      <a:pt x="1224817" y="2221685"/>
                    </a:lnTo>
                    <a:lnTo>
                      <a:pt x="1267500" y="2209603"/>
                    </a:lnTo>
                    <a:lnTo>
                      <a:pt x="1309430" y="2195487"/>
                    </a:lnTo>
                    <a:lnTo>
                      <a:pt x="1350565" y="2179386"/>
                    </a:lnTo>
                    <a:lnTo>
                      <a:pt x="1390859" y="2161351"/>
                    </a:lnTo>
                    <a:lnTo>
                      <a:pt x="1430270" y="2141431"/>
                    </a:lnTo>
                    <a:lnTo>
                      <a:pt x="1468754" y="2119677"/>
                    </a:lnTo>
                    <a:lnTo>
                      <a:pt x="1506265" y="2096138"/>
                    </a:lnTo>
                    <a:lnTo>
                      <a:pt x="1542762" y="2070865"/>
                    </a:lnTo>
                    <a:lnTo>
                      <a:pt x="1578199" y="2043906"/>
                    </a:lnTo>
                    <a:lnTo>
                      <a:pt x="1612533" y="2015314"/>
                    </a:lnTo>
                    <a:lnTo>
                      <a:pt x="1645719" y="1985136"/>
                    </a:lnTo>
                    <a:lnTo>
                      <a:pt x="1677715" y="1953424"/>
                    </a:lnTo>
                    <a:lnTo>
                      <a:pt x="1708476" y="1920228"/>
                    </a:lnTo>
                    <a:lnTo>
                      <a:pt x="1737958" y="1885597"/>
                    </a:lnTo>
                    <a:lnTo>
                      <a:pt x="1766117" y="1849581"/>
                    </a:lnTo>
                    <a:lnTo>
                      <a:pt x="1792910" y="1812231"/>
                    </a:lnTo>
                    <a:lnTo>
                      <a:pt x="1818293" y="1773596"/>
                    </a:lnTo>
                    <a:lnTo>
                      <a:pt x="1842221" y="1733726"/>
                    </a:lnTo>
                    <a:lnTo>
                      <a:pt x="1864650" y="1692672"/>
                    </a:lnTo>
                    <a:lnTo>
                      <a:pt x="1885538" y="1650483"/>
                    </a:lnTo>
                    <a:lnTo>
                      <a:pt x="1904839" y="1607210"/>
                    </a:lnTo>
                    <a:lnTo>
                      <a:pt x="1922511" y="1562902"/>
                    </a:lnTo>
                    <a:lnTo>
                      <a:pt x="1938509" y="1517609"/>
                    </a:lnTo>
                    <a:lnTo>
                      <a:pt x="1952789" y="1471381"/>
                    </a:lnTo>
                    <a:lnTo>
                      <a:pt x="1965308" y="1424269"/>
                    </a:lnTo>
                    <a:lnTo>
                      <a:pt x="1976021" y="1376323"/>
                    </a:lnTo>
                    <a:lnTo>
                      <a:pt x="1984884" y="1327591"/>
                    </a:lnTo>
                    <a:lnTo>
                      <a:pt x="1991854" y="1278125"/>
                    </a:lnTo>
                    <a:lnTo>
                      <a:pt x="1996888" y="1227974"/>
                    </a:lnTo>
                    <a:lnTo>
                      <a:pt x="1999940" y="1177189"/>
                    </a:lnTo>
                    <a:lnTo>
                      <a:pt x="2000967" y="1125819"/>
                    </a:lnTo>
                    <a:lnTo>
                      <a:pt x="1999940" y="1074343"/>
                    </a:lnTo>
                    <a:lnTo>
                      <a:pt x="1996888" y="1023456"/>
                    </a:lnTo>
                    <a:lnTo>
                      <a:pt x="1991854" y="973206"/>
                    </a:lnTo>
                    <a:lnTo>
                      <a:pt x="1984884" y="923645"/>
                    </a:lnTo>
                    <a:lnTo>
                      <a:pt x="1976021" y="874822"/>
                    </a:lnTo>
                    <a:lnTo>
                      <a:pt x="1965308" y="826787"/>
                    </a:lnTo>
                    <a:lnTo>
                      <a:pt x="1952789" y="779590"/>
                    </a:lnTo>
                    <a:lnTo>
                      <a:pt x="1938509" y="733281"/>
                    </a:lnTo>
                    <a:lnTo>
                      <a:pt x="1922511" y="687909"/>
                    </a:lnTo>
                    <a:lnTo>
                      <a:pt x="1904839" y="643526"/>
                    </a:lnTo>
                    <a:lnTo>
                      <a:pt x="1885538" y="600181"/>
                    </a:lnTo>
                    <a:lnTo>
                      <a:pt x="1864650" y="557923"/>
                    </a:lnTo>
                    <a:lnTo>
                      <a:pt x="1842221" y="516803"/>
                    </a:lnTo>
                    <a:lnTo>
                      <a:pt x="1818293" y="476871"/>
                    </a:lnTo>
                    <a:lnTo>
                      <a:pt x="1792910" y="438177"/>
                    </a:lnTo>
                    <a:lnTo>
                      <a:pt x="1766117" y="400770"/>
                    </a:lnTo>
                    <a:lnTo>
                      <a:pt x="1737958" y="364701"/>
                    </a:lnTo>
                    <a:lnTo>
                      <a:pt x="1708476" y="330020"/>
                    </a:lnTo>
                    <a:lnTo>
                      <a:pt x="1677715" y="296776"/>
                    </a:lnTo>
                    <a:lnTo>
                      <a:pt x="1645719" y="265020"/>
                    </a:lnTo>
                    <a:lnTo>
                      <a:pt x="1612533" y="234802"/>
                    </a:lnTo>
                    <a:lnTo>
                      <a:pt x="1578199" y="206170"/>
                    </a:lnTo>
                    <a:lnTo>
                      <a:pt x="1542762" y="179177"/>
                    </a:lnTo>
                    <a:lnTo>
                      <a:pt x="1506265" y="153870"/>
                    </a:lnTo>
                    <a:lnTo>
                      <a:pt x="1468754" y="130301"/>
                    </a:lnTo>
                    <a:lnTo>
                      <a:pt x="1430270" y="108520"/>
                    </a:lnTo>
                    <a:lnTo>
                      <a:pt x="1390859" y="88575"/>
                    </a:lnTo>
                    <a:lnTo>
                      <a:pt x="1350565" y="70518"/>
                    </a:lnTo>
                    <a:lnTo>
                      <a:pt x="1309430" y="54399"/>
                    </a:lnTo>
                    <a:lnTo>
                      <a:pt x="1267500" y="40266"/>
                    </a:lnTo>
                    <a:lnTo>
                      <a:pt x="1224817" y="28170"/>
                    </a:lnTo>
                    <a:lnTo>
                      <a:pt x="1181426" y="18162"/>
                    </a:lnTo>
                    <a:lnTo>
                      <a:pt x="1137371" y="10291"/>
                    </a:lnTo>
                    <a:lnTo>
                      <a:pt x="1092696" y="4607"/>
                    </a:lnTo>
                    <a:lnTo>
                      <a:pt x="1047444" y="1160"/>
                    </a:lnTo>
                    <a:lnTo>
                      <a:pt x="1001659"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20"/>
              <p:cNvSpPr/>
              <p:nvPr/>
            </p:nvSpPr>
            <p:spPr>
              <a:xfrm>
                <a:off x="1599005" y="4064670"/>
                <a:ext cx="283221" cy="34574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20"/>
              <p:cNvSpPr/>
              <p:nvPr/>
            </p:nvSpPr>
            <p:spPr>
              <a:xfrm>
                <a:off x="1574802" y="2742367"/>
                <a:ext cx="307424" cy="343117"/>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20"/>
              <p:cNvSpPr/>
              <p:nvPr/>
            </p:nvSpPr>
            <p:spPr>
              <a:xfrm>
                <a:off x="868326" y="3457323"/>
                <a:ext cx="282374" cy="31770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20"/>
              <p:cNvSpPr/>
              <p:nvPr/>
            </p:nvSpPr>
            <p:spPr>
              <a:xfrm>
                <a:off x="1127929" y="3854600"/>
                <a:ext cx="376279" cy="34314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p20"/>
              <p:cNvSpPr/>
              <p:nvPr/>
            </p:nvSpPr>
            <p:spPr>
              <a:xfrm>
                <a:off x="538344" y="2926973"/>
                <a:ext cx="119184" cy="133073"/>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20"/>
              <p:cNvSpPr/>
              <p:nvPr/>
            </p:nvSpPr>
            <p:spPr>
              <a:xfrm>
                <a:off x="656569" y="3085484"/>
                <a:ext cx="165673" cy="264203"/>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1" name="Google Shape;691;p20"/>
              <p:cNvSpPr/>
              <p:nvPr/>
            </p:nvSpPr>
            <p:spPr>
              <a:xfrm>
                <a:off x="656569" y="3800467"/>
                <a:ext cx="236267" cy="292242"/>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p20"/>
              <p:cNvSpPr/>
              <p:nvPr/>
            </p:nvSpPr>
            <p:spPr>
              <a:xfrm>
                <a:off x="373638" y="3536264"/>
                <a:ext cx="118425" cy="131418"/>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p20"/>
              <p:cNvSpPr/>
              <p:nvPr/>
            </p:nvSpPr>
            <p:spPr>
              <a:xfrm>
                <a:off x="514813" y="4144241"/>
                <a:ext cx="118420" cy="1331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20"/>
              <p:cNvSpPr/>
              <p:nvPr/>
            </p:nvSpPr>
            <p:spPr>
              <a:xfrm>
                <a:off x="3578093" y="2450230"/>
                <a:ext cx="2001520" cy="2250440"/>
              </a:xfrm>
              <a:custGeom>
                <a:rect b="b" l="l" r="r" t="t"/>
                <a:pathLst>
                  <a:path extrusionOk="0" h="2250440" w="2001520">
                    <a:moveTo>
                      <a:pt x="999213" y="0"/>
                    </a:moveTo>
                    <a:lnTo>
                      <a:pt x="953573" y="1160"/>
                    </a:lnTo>
                    <a:lnTo>
                      <a:pt x="908450" y="4607"/>
                    </a:lnTo>
                    <a:lnTo>
                      <a:pt x="863888" y="10291"/>
                    </a:lnTo>
                    <a:lnTo>
                      <a:pt x="819932" y="18162"/>
                    </a:lnTo>
                    <a:lnTo>
                      <a:pt x="776627" y="28170"/>
                    </a:lnTo>
                    <a:lnTo>
                      <a:pt x="734016" y="40266"/>
                    </a:lnTo>
                    <a:lnTo>
                      <a:pt x="692145" y="54399"/>
                    </a:lnTo>
                    <a:lnTo>
                      <a:pt x="651059" y="70518"/>
                    </a:lnTo>
                    <a:lnTo>
                      <a:pt x="610801" y="88575"/>
                    </a:lnTo>
                    <a:lnTo>
                      <a:pt x="571416" y="108520"/>
                    </a:lnTo>
                    <a:lnTo>
                      <a:pt x="532950" y="130301"/>
                    </a:lnTo>
                    <a:lnTo>
                      <a:pt x="495446" y="153870"/>
                    </a:lnTo>
                    <a:lnTo>
                      <a:pt x="458949" y="179177"/>
                    </a:lnTo>
                    <a:lnTo>
                      <a:pt x="423504" y="206170"/>
                    </a:lnTo>
                    <a:lnTo>
                      <a:pt x="389155" y="234802"/>
                    </a:lnTo>
                    <a:lnTo>
                      <a:pt x="355946" y="265020"/>
                    </a:lnTo>
                    <a:lnTo>
                      <a:pt x="323924" y="296776"/>
                    </a:lnTo>
                    <a:lnTo>
                      <a:pt x="293131" y="330020"/>
                    </a:lnTo>
                    <a:lnTo>
                      <a:pt x="263612" y="364701"/>
                    </a:lnTo>
                    <a:lnTo>
                      <a:pt x="235413" y="400770"/>
                    </a:lnTo>
                    <a:lnTo>
                      <a:pt x="208578" y="438177"/>
                    </a:lnTo>
                    <a:lnTo>
                      <a:pt x="183150" y="476871"/>
                    </a:lnTo>
                    <a:lnTo>
                      <a:pt x="159176" y="516803"/>
                    </a:lnTo>
                    <a:lnTo>
                      <a:pt x="136699" y="557923"/>
                    </a:lnTo>
                    <a:lnTo>
                      <a:pt x="115764" y="600181"/>
                    </a:lnTo>
                    <a:lnTo>
                      <a:pt x="96416" y="643526"/>
                    </a:lnTo>
                    <a:lnTo>
                      <a:pt x="78698" y="687909"/>
                    </a:lnTo>
                    <a:lnTo>
                      <a:pt x="62657" y="733281"/>
                    </a:lnTo>
                    <a:lnTo>
                      <a:pt x="48335" y="779590"/>
                    </a:lnTo>
                    <a:lnTo>
                      <a:pt x="35779" y="826787"/>
                    </a:lnTo>
                    <a:lnTo>
                      <a:pt x="25032" y="874822"/>
                    </a:lnTo>
                    <a:lnTo>
                      <a:pt x="16139" y="923645"/>
                    </a:lnTo>
                    <a:lnTo>
                      <a:pt x="9145" y="973206"/>
                    </a:lnTo>
                    <a:lnTo>
                      <a:pt x="4094" y="1023456"/>
                    </a:lnTo>
                    <a:lnTo>
                      <a:pt x="1031" y="1074343"/>
                    </a:lnTo>
                    <a:lnTo>
                      <a:pt x="0" y="1125819"/>
                    </a:lnTo>
                    <a:lnTo>
                      <a:pt x="1031" y="1177189"/>
                    </a:lnTo>
                    <a:lnTo>
                      <a:pt x="4094" y="1227974"/>
                    </a:lnTo>
                    <a:lnTo>
                      <a:pt x="9145" y="1278125"/>
                    </a:lnTo>
                    <a:lnTo>
                      <a:pt x="16139" y="1327591"/>
                    </a:lnTo>
                    <a:lnTo>
                      <a:pt x="25032" y="1376323"/>
                    </a:lnTo>
                    <a:lnTo>
                      <a:pt x="35779" y="1424269"/>
                    </a:lnTo>
                    <a:lnTo>
                      <a:pt x="48335" y="1471381"/>
                    </a:lnTo>
                    <a:lnTo>
                      <a:pt x="62657" y="1517609"/>
                    </a:lnTo>
                    <a:lnTo>
                      <a:pt x="78698" y="1562902"/>
                    </a:lnTo>
                    <a:lnTo>
                      <a:pt x="96416" y="1607210"/>
                    </a:lnTo>
                    <a:lnTo>
                      <a:pt x="115764" y="1650483"/>
                    </a:lnTo>
                    <a:lnTo>
                      <a:pt x="136699" y="1692672"/>
                    </a:lnTo>
                    <a:lnTo>
                      <a:pt x="159176" y="1733726"/>
                    </a:lnTo>
                    <a:lnTo>
                      <a:pt x="183150" y="1773596"/>
                    </a:lnTo>
                    <a:lnTo>
                      <a:pt x="208578" y="1812231"/>
                    </a:lnTo>
                    <a:lnTo>
                      <a:pt x="235413" y="1849581"/>
                    </a:lnTo>
                    <a:lnTo>
                      <a:pt x="263612" y="1885597"/>
                    </a:lnTo>
                    <a:lnTo>
                      <a:pt x="293131" y="1920228"/>
                    </a:lnTo>
                    <a:lnTo>
                      <a:pt x="323924" y="1953424"/>
                    </a:lnTo>
                    <a:lnTo>
                      <a:pt x="355946" y="1985136"/>
                    </a:lnTo>
                    <a:lnTo>
                      <a:pt x="389155" y="2015314"/>
                    </a:lnTo>
                    <a:lnTo>
                      <a:pt x="423504" y="2043906"/>
                    </a:lnTo>
                    <a:lnTo>
                      <a:pt x="458949" y="2070865"/>
                    </a:lnTo>
                    <a:lnTo>
                      <a:pt x="495446" y="2096138"/>
                    </a:lnTo>
                    <a:lnTo>
                      <a:pt x="532950" y="2119677"/>
                    </a:lnTo>
                    <a:lnTo>
                      <a:pt x="571416" y="2141431"/>
                    </a:lnTo>
                    <a:lnTo>
                      <a:pt x="610801" y="2161351"/>
                    </a:lnTo>
                    <a:lnTo>
                      <a:pt x="651059" y="2179386"/>
                    </a:lnTo>
                    <a:lnTo>
                      <a:pt x="692145" y="2195487"/>
                    </a:lnTo>
                    <a:lnTo>
                      <a:pt x="734016" y="2209603"/>
                    </a:lnTo>
                    <a:lnTo>
                      <a:pt x="776627" y="2221685"/>
                    </a:lnTo>
                    <a:lnTo>
                      <a:pt x="819932" y="2231682"/>
                    </a:lnTo>
                    <a:lnTo>
                      <a:pt x="863888" y="2239544"/>
                    </a:lnTo>
                    <a:lnTo>
                      <a:pt x="908450" y="2245222"/>
                    </a:lnTo>
                    <a:lnTo>
                      <a:pt x="953573" y="2248666"/>
                    </a:lnTo>
                    <a:lnTo>
                      <a:pt x="999213" y="2249825"/>
                    </a:lnTo>
                    <a:lnTo>
                      <a:pt x="1045062" y="2248666"/>
                    </a:lnTo>
                    <a:lnTo>
                      <a:pt x="1090383" y="2245222"/>
                    </a:lnTo>
                    <a:lnTo>
                      <a:pt x="1135132" y="2239544"/>
                    </a:lnTo>
                    <a:lnTo>
                      <a:pt x="1179263" y="2231682"/>
                    </a:lnTo>
                    <a:lnTo>
                      <a:pt x="1222734" y="2221685"/>
                    </a:lnTo>
                    <a:lnTo>
                      <a:pt x="1265499" y="2209603"/>
                    </a:lnTo>
                    <a:lnTo>
                      <a:pt x="1307514" y="2195487"/>
                    </a:lnTo>
                    <a:lnTo>
                      <a:pt x="1348736" y="2179386"/>
                    </a:lnTo>
                    <a:lnTo>
                      <a:pt x="1389119" y="2161351"/>
                    </a:lnTo>
                    <a:lnTo>
                      <a:pt x="1428621" y="2141431"/>
                    </a:lnTo>
                    <a:lnTo>
                      <a:pt x="1467195" y="2119677"/>
                    </a:lnTo>
                    <a:lnTo>
                      <a:pt x="1504799" y="2096138"/>
                    </a:lnTo>
                    <a:lnTo>
                      <a:pt x="1541388" y="2070865"/>
                    </a:lnTo>
                    <a:lnTo>
                      <a:pt x="1576917" y="2043906"/>
                    </a:lnTo>
                    <a:lnTo>
                      <a:pt x="1611343" y="2015314"/>
                    </a:lnTo>
                    <a:lnTo>
                      <a:pt x="1644621" y="1985136"/>
                    </a:lnTo>
                    <a:lnTo>
                      <a:pt x="1676707" y="1953424"/>
                    </a:lnTo>
                    <a:lnTo>
                      <a:pt x="1707557" y="1920228"/>
                    </a:lnTo>
                    <a:lnTo>
                      <a:pt x="1737126" y="1885597"/>
                    </a:lnTo>
                    <a:lnTo>
                      <a:pt x="1765371" y="1849581"/>
                    </a:lnTo>
                    <a:lnTo>
                      <a:pt x="1792246" y="1812231"/>
                    </a:lnTo>
                    <a:lnTo>
                      <a:pt x="1817709" y="1773596"/>
                    </a:lnTo>
                    <a:lnTo>
                      <a:pt x="1841713" y="1733726"/>
                    </a:lnTo>
                    <a:lnTo>
                      <a:pt x="1864216" y="1692672"/>
                    </a:lnTo>
                    <a:lnTo>
                      <a:pt x="1885173" y="1650483"/>
                    </a:lnTo>
                    <a:lnTo>
                      <a:pt x="1904540" y="1607210"/>
                    </a:lnTo>
                    <a:lnTo>
                      <a:pt x="1922272" y="1562902"/>
                    </a:lnTo>
                    <a:lnTo>
                      <a:pt x="1938326" y="1517609"/>
                    </a:lnTo>
                    <a:lnTo>
                      <a:pt x="1952656" y="1471381"/>
                    </a:lnTo>
                    <a:lnTo>
                      <a:pt x="1965220" y="1424269"/>
                    </a:lnTo>
                    <a:lnTo>
                      <a:pt x="1975972" y="1376323"/>
                    </a:lnTo>
                    <a:lnTo>
                      <a:pt x="1984868" y="1327591"/>
                    </a:lnTo>
                    <a:lnTo>
                      <a:pt x="1991864" y="1278125"/>
                    </a:lnTo>
                    <a:lnTo>
                      <a:pt x="1996917" y="1227974"/>
                    </a:lnTo>
                    <a:lnTo>
                      <a:pt x="1999980" y="1177189"/>
                    </a:lnTo>
                    <a:lnTo>
                      <a:pt x="2001011" y="1125819"/>
                    </a:lnTo>
                    <a:lnTo>
                      <a:pt x="1999980" y="1074343"/>
                    </a:lnTo>
                    <a:lnTo>
                      <a:pt x="1996917" y="1023456"/>
                    </a:lnTo>
                    <a:lnTo>
                      <a:pt x="1991864" y="973206"/>
                    </a:lnTo>
                    <a:lnTo>
                      <a:pt x="1984868" y="923645"/>
                    </a:lnTo>
                    <a:lnTo>
                      <a:pt x="1975972" y="874822"/>
                    </a:lnTo>
                    <a:lnTo>
                      <a:pt x="1965220" y="826787"/>
                    </a:lnTo>
                    <a:lnTo>
                      <a:pt x="1952656" y="779590"/>
                    </a:lnTo>
                    <a:lnTo>
                      <a:pt x="1938326" y="733281"/>
                    </a:lnTo>
                    <a:lnTo>
                      <a:pt x="1922272" y="687909"/>
                    </a:lnTo>
                    <a:lnTo>
                      <a:pt x="1904540" y="643526"/>
                    </a:lnTo>
                    <a:lnTo>
                      <a:pt x="1885173" y="600181"/>
                    </a:lnTo>
                    <a:lnTo>
                      <a:pt x="1864216" y="557923"/>
                    </a:lnTo>
                    <a:lnTo>
                      <a:pt x="1841713" y="516803"/>
                    </a:lnTo>
                    <a:lnTo>
                      <a:pt x="1817709" y="476871"/>
                    </a:lnTo>
                    <a:lnTo>
                      <a:pt x="1792246" y="438177"/>
                    </a:lnTo>
                    <a:lnTo>
                      <a:pt x="1765371" y="400770"/>
                    </a:lnTo>
                    <a:lnTo>
                      <a:pt x="1737126" y="364701"/>
                    </a:lnTo>
                    <a:lnTo>
                      <a:pt x="1707557" y="330020"/>
                    </a:lnTo>
                    <a:lnTo>
                      <a:pt x="1676707" y="296776"/>
                    </a:lnTo>
                    <a:lnTo>
                      <a:pt x="1644621" y="265020"/>
                    </a:lnTo>
                    <a:lnTo>
                      <a:pt x="1611343" y="234802"/>
                    </a:lnTo>
                    <a:lnTo>
                      <a:pt x="1576917" y="206170"/>
                    </a:lnTo>
                    <a:lnTo>
                      <a:pt x="1541388" y="179177"/>
                    </a:lnTo>
                    <a:lnTo>
                      <a:pt x="1504799" y="153870"/>
                    </a:lnTo>
                    <a:lnTo>
                      <a:pt x="1467195" y="130301"/>
                    </a:lnTo>
                    <a:lnTo>
                      <a:pt x="1428621" y="108520"/>
                    </a:lnTo>
                    <a:lnTo>
                      <a:pt x="1389119" y="88575"/>
                    </a:lnTo>
                    <a:lnTo>
                      <a:pt x="1348736" y="70518"/>
                    </a:lnTo>
                    <a:lnTo>
                      <a:pt x="1307514" y="54399"/>
                    </a:lnTo>
                    <a:lnTo>
                      <a:pt x="1265499" y="40266"/>
                    </a:lnTo>
                    <a:lnTo>
                      <a:pt x="1222734" y="28170"/>
                    </a:lnTo>
                    <a:lnTo>
                      <a:pt x="1179263" y="18162"/>
                    </a:lnTo>
                    <a:lnTo>
                      <a:pt x="1135132" y="10291"/>
                    </a:lnTo>
                    <a:lnTo>
                      <a:pt x="1090383" y="4607"/>
                    </a:lnTo>
                    <a:lnTo>
                      <a:pt x="1045062" y="1160"/>
                    </a:lnTo>
                    <a:lnTo>
                      <a:pt x="999213"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20"/>
              <p:cNvSpPr/>
              <p:nvPr/>
            </p:nvSpPr>
            <p:spPr>
              <a:xfrm>
                <a:off x="3671387" y="2900878"/>
                <a:ext cx="118439" cy="131419"/>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20"/>
              <p:cNvSpPr/>
              <p:nvPr/>
            </p:nvSpPr>
            <p:spPr>
              <a:xfrm>
                <a:off x="4330088" y="2926973"/>
                <a:ext cx="188938" cy="133073"/>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20"/>
              <p:cNvSpPr/>
              <p:nvPr/>
            </p:nvSpPr>
            <p:spPr>
              <a:xfrm>
                <a:off x="3835886" y="2992196"/>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20"/>
              <p:cNvSpPr/>
              <p:nvPr/>
            </p:nvSpPr>
            <p:spPr>
              <a:xfrm>
                <a:off x="3530153" y="3508855"/>
                <a:ext cx="118439" cy="133100"/>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20"/>
              <p:cNvSpPr/>
              <p:nvPr/>
            </p:nvSpPr>
            <p:spPr>
              <a:xfrm>
                <a:off x="3671387" y="4118146"/>
                <a:ext cx="118439" cy="133100"/>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0" name="Google Shape;700;p20"/>
              <p:cNvSpPr/>
              <p:nvPr/>
            </p:nvSpPr>
            <p:spPr>
              <a:xfrm>
                <a:off x="4683526" y="3377752"/>
                <a:ext cx="307612" cy="369211"/>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1" name="Google Shape;701;p20"/>
              <p:cNvSpPr/>
              <p:nvPr/>
            </p:nvSpPr>
            <p:spPr>
              <a:xfrm>
                <a:off x="4683526" y="4039232"/>
                <a:ext cx="283268" cy="317679"/>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20"/>
              <p:cNvSpPr/>
              <p:nvPr/>
            </p:nvSpPr>
            <p:spPr>
              <a:xfrm>
                <a:off x="4683526" y="2821938"/>
                <a:ext cx="307612" cy="343143"/>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20"/>
              <p:cNvSpPr/>
              <p:nvPr/>
            </p:nvSpPr>
            <p:spPr>
              <a:xfrm>
                <a:off x="1150700" y="3032007"/>
                <a:ext cx="378018" cy="371839"/>
              </a:xfrm>
              <a:prstGeom prst="rect">
                <a:avLst/>
              </a:prstGeom>
              <a:blipFill rotWithShape="1">
                <a:blip r:embed="rId1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20"/>
              <p:cNvSpPr/>
              <p:nvPr/>
            </p:nvSpPr>
            <p:spPr>
              <a:xfrm>
                <a:off x="6568449" y="2450230"/>
                <a:ext cx="2001520" cy="2250440"/>
              </a:xfrm>
              <a:custGeom>
                <a:rect b="b" l="l" r="r" t="t"/>
                <a:pathLst>
                  <a:path extrusionOk="0" h="2250440" w="2001520">
                    <a:moveTo>
                      <a:pt x="1001093" y="0"/>
                    </a:moveTo>
                    <a:lnTo>
                      <a:pt x="955301" y="1160"/>
                    </a:lnTo>
                    <a:lnTo>
                      <a:pt x="910034" y="4607"/>
                    </a:lnTo>
                    <a:lnTo>
                      <a:pt x="865336" y="10291"/>
                    </a:lnTo>
                    <a:lnTo>
                      <a:pt x="821252" y="18162"/>
                    </a:lnTo>
                    <a:lnTo>
                      <a:pt x="777827" y="28170"/>
                    </a:lnTo>
                    <a:lnTo>
                      <a:pt x="735104" y="40266"/>
                    </a:lnTo>
                    <a:lnTo>
                      <a:pt x="693128" y="54399"/>
                    </a:lnTo>
                    <a:lnTo>
                      <a:pt x="651943" y="70518"/>
                    </a:lnTo>
                    <a:lnTo>
                      <a:pt x="611594" y="88575"/>
                    </a:lnTo>
                    <a:lnTo>
                      <a:pt x="572125" y="108520"/>
                    </a:lnTo>
                    <a:lnTo>
                      <a:pt x="533580" y="130301"/>
                    </a:lnTo>
                    <a:lnTo>
                      <a:pt x="496003" y="153870"/>
                    </a:lnTo>
                    <a:lnTo>
                      <a:pt x="459439" y="179177"/>
                    </a:lnTo>
                    <a:lnTo>
                      <a:pt x="423933" y="206170"/>
                    </a:lnTo>
                    <a:lnTo>
                      <a:pt x="389528" y="234802"/>
                    </a:lnTo>
                    <a:lnTo>
                      <a:pt x="356269" y="265020"/>
                    </a:lnTo>
                    <a:lnTo>
                      <a:pt x="324200" y="296776"/>
                    </a:lnTo>
                    <a:lnTo>
                      <a:pt x="293366" y="330020"/>
                    </a:lnTo>
                    <a:lnTo>
                      <a:pt x="263810" y="364701"/>
                    </a:lnTo>
                    <a:lnTo>
                      <a:pt x="235578" y="400770"/>
                    </a:lnTo>
                    <a:lnTo>
                      <a:pt x="208714" y="438177"/>
                    </a:lnTo>
                    <a:lnTo>
                      <a:pt x="183261" y="476871"/>
                    </a:lnTo>
                    <a:lnTo>
                      <a:pt x="159264" y="516803"/>
                    </a:lnTo>
                    <a:lnTo>
                      <a:pt x="136769" y="557923"/>
                    </a:lnTo>
                    <a:lnTo>
                      <a:pt x="115818" y="600181"/>
                    </a:lnTo>
                    <a:lnTo>
                      <a:pt x="96456" y="643526"/>
                    </a:lnTo>
                    <a:lnTo>
                      <a:pt x="78728" y="687909"/>
                    </a:lnTo>
                    <a:lnTo>
                      <a:pt x="62677" y="733281"/>
                    </a:lnTo>
                    <a:lnTo>
                      <a:pt x="48349" y="779590"/>
                    </a:lnTo>
                    <a:lnTo>
                      <a:pt x="35788" y="826787"/>
                    </a:lnTo>
                    <a:lnTo>
                      <a:pt x="25037" y="874822"/>
                    </a:lnTo>
                    <a:lnTo>
                      <a:pt x="16142" y="923645"/>
                    </a:lnTo>
                    <a:lnTo>
                      <a:pt x="9146" y="973206"/>
                    </a:lnTo>
                    <a:lnTo>
                      <a:pt x="4094" y="1023456"/>
                    </a:lnTo>
                    <a:lnTo>
                      <a:pt x="1031" y="1074343"/>
                    </a:lnTo>
                    <a:lnTo>
                      <a:pt x="0" y="1125819"/>
                    </a:lnTo>
                    <a:lnTo>
                      <a:pt x="1031" y="1177189"/>
                    </a:lnTo>
                    <a:lnTo>
                      <a:pt x="4094" y="1227974"/>
                    </a:lnTo>
                    <a:lnTo>
                      <a:pt x="9146" y="1278125"/>
                    </a:lnTo>
                    <a:lnTo>
                      <a:pt x="16142" y="1327591"/>
                    </a:lnTo>
                    <a:lnTo>
                      <a:pt x="25037" y="1376323"/>
                    </a:lnTo>
                    <a:lnTo>
                      <a:pt x="35788" y="1424269"/>
                    </a:lnTo>
                    <a:lnTo>
                      <a:pt x="48349" y="1471381"/>
                    </a:lnTo>
                    <a:lnTo>
                      <a:pt x="62677" y="1517609"/>
                    </a:lnTo>
                    <a:lnTo>
                      <a:pt x="78728" y="1562902"/>
                    </a:lnTo>
                    <a:lnTo>
                      <a:pt x="96456" y="1607210"/>
                    </a:lnTo>
                    <a:lnTo>
                      <a:pt x="115818" y="1650483"/>
                    </a:lnTo>
                    <a:lnTo>
                      <a:pt x="136769" y="1692672"/>
                    </a:lnTo>
                    <a:lnTo>
                      <a:pt x="159264" y="1733726"/>
                    </a:lnTo>
                    <a:lnTo>
                      <a:pt x="183261" y="1773596"/>
                    </a:lnTo>
                    <a:lnTo>
                      <a:pt x="208714" y="1812231"/>
                    </a:lnTo>
                    <a:lnTo>
                      <a:pt x="235578" y="1849581"/>
                    </a:lnTo>
                    <a:lnTo>
                      <a:pt x="263810" y="1885597"/>
                    </a:lnTo>
                    <a:lnTo>
                      <a:pt x="293366" y="1920228"/>
                    </a:lnTo>
                    <a:lnTo>
                      <a:pt x="324200" y="1953424"/>
                    </a:lnTo>
                    <a:lnTo>
                      <a:pt x="356269" y="1985136"/>
                    </a:lnTo>
                    <a:lnTo>
                      <a:pt x="389528" y="2015314"/>
                    </a:lnTo>
                    <a:lnTo>
                      <a:pt x="423933" y="2043906"/>
                    </a:lnTo>
                    <a:lnTo>
                      <a:pt x="459439" y="2070865"/>
                    </a:lnTo>
                    <a:lnTo>
                      <a:pt x="496003" y="2096138"/>
                    </a:lnTo>
                    <a:lnTo>
                      <a:pt x="533580" y="2119677"/>
                    </a:lnTo>
                    <a:lnTo>
                      <a:pt x="572125" y="2141431"/>
                    </a:lnTo>
                    <a:lnTo>
                      <a:pt x="611594" y="2161351"/>
                    </a:lnTo>
                    <a:lnTo>
                      <a:pt x="651943" y="2179386"/>
                    </a:lnTo>
                    <a:lnTo>
                      <a:pt x="693128" y="2195487"/>
                    </a:lnTo>
                    <a:lnTo>
                      <a:pt x="735104" y="2209603"/>
                    </a:lnTo>
                    <a:lnTo>
                      <a:pt x="777827" y="2221685"/>
                    </a:lnTo>
                    <a:lnTo>
                      <a:pt x="821252" y="2231682"/>
                    </a:lnTo>
                    <a:lnTo>
                      <a:pt x="865336" y="2239544"/>
                    </a:lnTo>
                    <a:lnTo>
                      <a:pt x="910034" y="2245222"/>
                    </a:lnTo>
                    <a:lnTo>
                      <a:pt x="955301" y="2248666"/>
                    </a:lnTo>
                    <a:lnTo>
                      <a:pt x="1001093" y="2249825"/>
                    </a:lnTo>
                    <a:lnTo>
                      <a:pt x="1046920" y="2248666"/>
                    </a:lnTo>
                    <a:lnTo>
                      <a:pt x="1092212" y="2245222"/>
                    </a:lnTo>
                    <a:lnTo>
                      <a:pt x="1136925" y="2239544"/>
                    </a:lnTo>
                    <a:lnTo>
                      <a:pt x="1181017" y="2231682"/>
                    </a:lnTo>
                    <a:lnTo>
                      <a:pt x="1224442" y="2221685"/>
                    </a:lnTo>
                    <a:lnTo>
                      <a:pt x="1267158" y="2209603"/>
                    </a:lnTo>
                    <a:lnTo>
                      <a:pt x="1309120" y="2195487"/>
                    </a:lnTo>
                    <a:lnTo>
                      <a:pt x="1350284" y="2179386"/>
                    </a:lnTo>
                    <a:lnTo>
                      <a:pt x="1390607" y="2161351"/>
                    </a:lnTo>
                    <a:lnTo>
                      <a:pt x="1430044" y="2141431"/>
                    </a:lnTo>
                    <a:lnTo>
                      <a:pt x="1468552" y="2119677"/>
                    </a:lnTo>
                    <a:lnTo>
                      <a:pt x="1506087" y="2096138"/>
                    </a:lnTo>
                    <a:lnTo>
                      <a:pt x="1542606" y="2070865"/>
                    </a:lnTo>
                    <a:lnTo>
                      <a:pt x="1578063" y="2043906"/>
                    </a:lnTo>
                    <a:lnTo>
                      <a:pt x="1612416" y="2015314"/>
                    </a:lnTo>
                    <a:lnTo>
                      <a:pt x="1645621" y="1985136"/>
                    </a:lnTo>
                    <a:lnTo>
                      <a:pt x="1677633" y="1953424"/>
                    </a:lnTo>
                    <a:lnTo>
                      <a:pt x="1708409" y="1920228"/>
                    </a:lnTo>
                    <a:lnTo>
                      <a:pt x="1737905" y="1885597"/>
                    </a:lnTo>
                    <a:lnTo>
                      <a:pt x="1766077" y="1849581"/>
                    </a:lnTo>
                    <a:lnTo>
                      <a:pt x="1792882" y="1812231"/>
                    </a:lnTo>
                    <a:lnTo>
                      <a:pt x="1818275" y="1773596"/>
                    </a:lnTo>
                    <a:lnTo>
                      <a:pt x="1842213" y="1733726"/>
                    </a:lnTo>
                    <a:lnTo>
                      <a:pt x="1864651" y="1692672"/>
                    </a:lnTo>
                    <a:lnTo>
                      <a:pt x="1885547" y="1650483"/>
                    </a:lnTo>
                    <a:lnTo>
                      <a:pt x="1904855" y="1607210"/>
                    </a:lnTo>
                    <a:lnTo>
                      <a:pt x="1922533" y="1562902"/>
                    </a:lnTo>
                    <a:lnTo>
                      <a:pt x="1938536" y="1517609"/>
                    </a:lnTo>
                    <a:lnTo>
                      <a:pt x="1952821" y="1471381"/>
                    </a:lnTo>
                    <a:lnTo>
                      <a:pt x="1965343" y="1424269"/>
                    </a:lnTo>
                    <a:lnTo>
                      <a:pt x="1976059" y="1376323"/>
                    </a:lnTo>
                    <a:lnTo>
                      <a:pt x="1984925" y="1327591"/>
                    </a:lnTo>
                    <a:lnTo>
                      <a:pt x="1991897" y="1278125"/>
                    </a:lnTo>
                    <a:lnTo>
                      <a:pt x="1996931" y="1227974"/>
                    </a:lnTo>
                    <a:lnTo>
                      <a:pt x="1999984" y="1177189"/>
                    </a:lnTo>
                    <a:lnTo>
                      <a:pt x="2001011" y="1125819"/>
                    </a:lnTo>
                    <a:lnTo>
                      <a:pt x="1999984" y="1074343"/>
                    </a:lnTo>
                    <a:lnTo>
                      <a:pt x="1996931" y="1023456"/>
                    </a:lnTo>
                    <a:lnTo>
                      <a:pt x="1991897" y="973206"/>
                    </a:lnTo>
                    <a:lnTo>
                      <a:pt x="1984925" y="923645"/>
                    </a:lnTo>
                    <a:lnTo>
                      <a:pt x="1976059" y="874822"/>
                    </a:lnTo>
                    <a:lnTo>
                      <a:pt x="1965343" y="826787"/>
                    </a:lnTo>
                    <a:lnTo>
                      <a:pt x="1952821" y="779590"/>
                    </a:lnTo>
                    <a:lnTo>
                      <a:pt x="1938536" y="733281"/>
                    </a:lnTo>
                    <a:lnTo>
                      <a:pt x="1922533" y="687909"/>
                    </a:lnTo>
                    <a:lnTo>
                      <a:pt x="1904855" y="643526"/>
                    </a:lnTo>
                    <a:lnTo>
                      <a:pt x="1885547" y="600181"/>
                    </a:lnTo>
                    <a:lnTo>
                      <a:pt x="1864651" y="557923"/>
                    </a:lnTo>
                    <a:lnTo>
                      <a:pt x="1842213" y="516803"/>
                    </a:lnTo>
                    <a:lnTo>
                      <a:pt x="1818275" y="476871"/>
                    </a:lnTo>
                    <a:lnTo>
                      <a:pt x="1792882" y="438177"/>
                    </a:lnTo>
                    <a:lnTo>
                      <a:pt x="1766077" y="400770"/>
                    </a:lnTo>
                    <a:lnTo>
                      <a:pt x="1737905" y="364701"/>
                    </a:lnTo>
                    <a:lnTo>
                      <a:pt x="1708409" y="330020"/>
                    </a:lnTo>
                    <a:lnTo>
                      <a:pt x="1677633" y="296776"/>
                    </a:lnTo>
                    <a:lnTo>
                      <a:pt x="1645621" y="265020"/>
                    </a:lnTo>
                    <a:lnTo>
                      <a:pt x="1612416" y="234802"/>
                    </a:lnTo>
                    <a:lnTo>
                      <a:pt x="1578063" y="206170"/>
                    </a:lnTo>
                    <a:lnTo>
                      <a:pt x="1542606" y="179177"/>
                    </a:lnTo>
                    <a:lnTo>
                      <a:pt x="1506087" y="153870"/>
                    </a:lnTo>
                    <a:lnTo>
                      <a:pt x="1468552" y="130301"/>
                    </a:lnTo>
                    <a:lnTo>
                      <a:pt x="1430044" y="108520"/>
                    </a:lnTo>
                    <a:lnTo>
                      <a:pt x="1390607" y="88575"/>
                    </a:lnTo>
                    <a:lnTo>
                      <a:pt x="1350284" y="70518"/>
                    </a:lnTo>
                    <a:lnTo>
                      <a:pt x="1309120" y="54399"/>
                    </a:lnTo>
                    <a:lnTo>
                      <a:pt x="1267158" y="40266"/>
                    </a:lnTo>
                    <a:lnTo>
                      <a:pt x="1224442" y="28170"/>
                    </a:lnTo>
                    <a:lnTo>
                      <a:pt x="1181017" y="18162"/>
                    </a:lnTo>
                    <a:lnTo>
                      <a:pt x="1136925" y="10291"/>
                    </a:lnTo>
                    <a:lnTo>
                      <a:pt x="1092212" y="4607"/>
                    </a:lnTo>
                    <a:lnTo>
                      <a:pt x="1046920" y="1160"/>
                    </a:lnTo>
                    <a:lnTo>
                      <a:pt x="1001093" y="0"/>
                    </a:lnTo>
                    <a:close/>
                  </a:path>
                </a:pathLst>
              </a:custGeom>
              <a:solidFill>
                <a:srgbClr val="FFDB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20"/>
              <p:cNvSpPr/>
              <p:nvPr/>
            </p:nvSpPr>
            <p:spPr>
              <a:xfrm>
                <a:off x="2140090" y="3244678"/>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20"/>
              <p:cNvSpPr/>
              <p:nvPr/>
            </p:nvSpPr>
            <p:spPr>
              <a:xfrm>
                <a:off x="2152334" y="3258369"/>
                <a:ext cx="118745" cy="131445"/>
              </a:xfrm>
              <a:custGeom>
                <a:rect b="b" l="l" r="r" t="t"/>
                <a:pathLst>
                  <a:path extrusionOk="0" h="131445" w="118744">
                    <a:moveTo>
                      <a:pt x="0" y="0"/>
                    </a:moveTo>
                    <a:lnTo>
                      <a:pt x="118439" y="0"/>
                    </a:lnTo>
                    <a:lnTo>
                      <a:pt x="118439" y="131129"/>
                    </a:lnTo>
                    <a:lnTo>
                      <a:pt x="0" y="131129"/>
                    </a:lnTo>
                    <a:lnTo>
                      <a:pt x="0" y="0"/>
                    </a:lnTo>
                    <a:close/>
                  </a:path>
                </a:pathLst>
              </a:custGeom>
              <a:noFill/>
              <a:ln cap="flat" cmpd="sng" w="2395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20"/>
              <p:cNvSpPr/>
              <p:nvPr/>
            </p:nvSpPr>
            <p:spPr>
              <a:xfrm>
                <a:off x="2140090" y="3457323"/>
                <a:ext cx="118745" cy="131445"/>
              </a:xfrm>
              <a:custGeom>
                <a:rect b="b" l="l" r="r" t="t"/>
                <a:pathLst>
                  <a:path extrusionOk="0" h="131445" w="118744">
                    <a:moveTo>
                      <a:pt x="118415" y="0"/>
                    </a:moveTo>
                    <a:lnTo>
                      <a:pt x="0" y="0"/>
                    </a:lnTo>
                    <a:lnTo>
                      <a:pt x="0" y="131129"/>
                    </a:lnTo>
                    <a:lnTo>
                      <a:pt x="118415" y="131129"/>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20"/>
              <p:cNvSpPr/>
              <p:nvPr/>
            </p:nvSpPr>
            <p:spPr>
              <a:xfrm>
                <a:off x="2152334" y="3469070"/>
                <a:ext cx="118745" cy="133350"/>
              </a:xfrm>
              <a:custGeom>
                <a:rect b="b" l="l" r="r" t="t"/>
                <a:pathLst>
                  <a:path extrusionOk="0" h="133350" w="118744">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20"/>
              <p:cNvSpPr/>
              <p:nvPr/>
            </p:nvSpPr>
            <p:spPr>
              <a:xfrm>
                <a:off x="2140090" y="3667393"/>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20"/>
              <p:cNvSpPr/>
              <p:nvPr/>
            </p:nvSpPr>
            <p:spPr>
              <a:xfrm>
                <a:off x="2152334" y="3681741"/>
                <a:ext cx="118745" cy="133350"/>
              </a:xfrm>
              <a:custGeom>
                <a:rect b="b" l="l" r="r" t="t"/>
                <a:pathLst>
                  <a:path extrusionOk="0" h="133350" w="118744">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20"/>
              <p:cNvSpPr/>
              <p:nvPr/>
            </p:nvSpPr>
            <p:spPr>
              <a:xfrm>
                <a:off x="2140090" y="3880064"/>
                <a:ext cx="118745" cy="133350"/>
              </a:xfrm>
              <a:custGeom>
                <a:rect b="b" l="l" r="r" t="t"/>
                <a:pathLst>
                  <a:path extrusionOk="0" h="133350" w="118744">
                    <a:moveTo>
                      <a:pt x="118415" y="0"/>
                    </a:moveTo>
                    <a:lnTo>
                      <a:pt x="0" y="0"/>
                    </a:lnTo>
                    <a:lnTo>
                      <a:pt x="0" y="133073"/>
                    </a:lnTo>
                    <a:lnTo>
                      <a:pt x="118415" y="133073"/>
                    </a:lnTo>
                    <a:lnTo>
                      <a:pt x="118415"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20"/>
              <p:cNvSpPr/>
              <p:nvPr/>
            </p:nvSpPr>
            <p:spPr>
              <a:xfrm>
                <a:off x="2152334" y="3893755"/>
                <a:ext cx="118745" cy="131445"/>
              </a:xfrm>
              <a:custGeom>
                <a:rect b="b" l="l" r="r" t="t"/>
                <a:pathLst>
                  <a:path extrusionOk="0" h="131445" w="118744">
                    <a:moveTo>
                      <a:pt x="0" y="0"/>
                    </a:moveTo>
                    <a:lnTo>
                      <a:pt x="118439" y="0"/>
                    </a:lnTo>
                    <a:lnTo>
                      <a:pt x="118439" y="131129"/>
                    </a:lnTo>
                    <a:lnTo>
                      <a:pt x="0" y="131129"/>
                    </a:lnTo>
                    <a:lnTo>
                      <a:pt x="0" y="0"/>
                    </a:lnTo>
                    <a:close/>
                  </a:path>
                </a:pathLst>
              </a:custGeom>
              <a:noFill/>
              <a:ln cap="flat" cmpd="sng" w="2395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20"/>
              <p:cNvSpPr/>
              <p:nvPr/>
            </p:nvSpPr>
            <p:spPr>
              <a:xfrm>
                <a:off x="1904998" y="3085484"/>
                <a:ext cx="212344" cy="212671"/>
              </a:xfrm>
              <a:prstGeom prst="rect">
                <a:avLst/>
              </a:prstGeom>
              <a:blipFill rotWithShape="1">
                <a:blip r:embed="rId2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20"/>
              <p:cNvSpPr/>
              <p:nvPr/>
            </p:nvSpPr>
            <p:spPr>
              <a:xfrm>
                <a:off x="1834405" y="3536264"/>
                <a:ext cx="283210" cy="582295"/>
              </a:xfrm>
              <a:custGeom>
                <a:rect b="b" l="l" r="r" t="t"/>
                <a:pathLst>
                  <a:path extrusionOk="0" h="582295" w="283210">
                    <a:moveTo>
                      <a:pt x="282938" y="0"/>
                    </a:moveTo>
                    <a:lnTo>
                      <a:pt x="259602" y="0"/>
                    </a:lnTo>
                    <a:lnTo>
                      <a:pt x="0" y="556445"/>
                    </a:lnTo>
                    <a:lnTo>
                      <a:pt x="0" y="581882"/>
                    </a:lnTo>
                    <a:lnTo>
                      <a:pt x="22747" y="581882"/>
                    </a:lnTo>
                    <a:lnTo>
                      <a:pt x="282938" y="26094"/>
                    </a:lnTo>
                    <a:lnTo>
                      <a:pt x="28293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5" name="Google Shape;715;p20"/>
            <p:cNvSpPr txBox="1"/>
            <p:nvPr/>
          </p:nvSpPr>
          <p:spPr>
            <a:xfrm>
              <a:off x="2005112" y="4848484"/>
              <a:ext cx="1857375"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1. Thread-per-request</a:t>
              </a:r>
              <a:endParaRPr sz="1400">
                <a:solidFill>
                  <a:schemeClr val="dk1"/>
                </a:solidFill>
                <a:latin typeface="Arial"/>
                <a:ea typeface="Arial"/>
                <a:cs typeface="Arial"/>
                <a:sym typeface="Arial"/>
              </a:endParaRPr>
            </a:p>
          </p:txBody>
        </p:sp>
        <p:sp>
          <p:nvSpPr>
            <p:cNvPr id="716" name="Google Shape;716;p20"/>
            <p:cNvSpPr txBox="1"/>
            <p:nvPr/>
          </p:nvSpPr>
          <p:spPr>
            <a:xfrm>
              <a:off x="5018189" y="4848484"/>
              <a:ext cx="2142491"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2. Thread-per-connection</a:t>
              </a:r>
              <a:endParaRPr sz="1400">
                <a:solidFill>
                  <a:schemeClr val="dk1"/>
                </a:solidFill>
                <a:latin typeface="Arial"/>
                <a:ea typeface="Arial"/>
                <a:cs typeface="Arial"/>
                <a:sym typeface="Arial"/>
              </a:endParaRPr>
            </a:p>
          </p:txBody>
        </p:sp>
        <p:sp>
          <p:nvSpPr>
            <p:cNvPr id="717" name="Google Shape;717;p20"/>
            <p:cNvSpPr txBox="1"/>
            <p:nvPr/>
          </p:nvSpPr>
          <p:spPr>
            <a:xfrm>
              <a:off x="8268688" y="4848484"/>
              <a:ext cx="1722755"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3. Thread-per-object</a:t>
              </a:r>
              <a:endParaRPr sz="1400">
                <a:solidFill>
                  <a:schemeClr val="dk1"/>
                </a:solidFill>
                <a:latin typeface="Arial"/>
                <a:ea typeface="Arial"/>
                <a:cs typeface="Arial"/>
                <a:sym typeface="Arial"/>
              </a:endParaRPr>
            </a:p>
          </p:txBody>
        </p:sp>
        <p:sp>
          <p:nvSpPr>
            <p:cNvPr id="718" name="Google Shape;718;p20"/>
            <p:cNvSpPr txBox="1"/>
            <p:nvPr/>
          </p:nvSpPr>
          <p:spPr>
            <a:xfrm>
              <a:off x="3299621" y="2572436"/>
              <a:ext cx="684530"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workers</a:t>
              </a:r>
              <a:endParaRPr sz="1400">
                <a:solidFill>
                  <a:schemeClr val="dk1"/>
                </a:solidFill>
                <a:latin typeface="Arial"/>
                <a:ea typeface="Arial"/>
                <a:cs typeface="Arial"/>
                <a:sym typeface="Arial"/>
              </a:endParaRPr>
            </a:p>
          </p:txBody>
        </p:sp>
        <p:sp>
          <p:nvSpPr>
            <p:cNvPr id="719" name="Google Shape;719;p20"/>
            <p:cNvSpPr txBox="1"/>
            <p:nvPr/>
          </p:nvSpPr>
          <p:spPr>
            <a:xfrm>
              <a:off x="2381389" y="3100842"/>
              <a:ext cx="273685"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I/O</a:t>
              </a:r>
              <a:endParaRPr sz="1650">
                <a:solidFill>
                  <a:schemeClr val="dk1"/>
                </a:solidFill>
                <a:latin typeface="Arial"/>
                <a:ea typeface="Arial"/>
                <a:cs typeface="Arial"/>
                <a:sym typeface="Arial"/>
              </a:endParaRPr>
            </a:p>
          </p:txBody>
        </p:sp>
        <p:grpSp>
          <p:nvGrpSpPr>
            <p:cNvPr id="720" name="Google Shape;720;p20"/>
            <p:cNvGrpSpPr/>
            <p:nvPr/>
          </p:nvGrpSpPr>
          <p:grpSpPr>
            <a:xfrm>
              <a:off x="5359886" y="2793910"/>
              <a:ext cx="4511572" cy="1563001"/>
              <a:chOff x="3835886" y="2793910"/>
              <a:chExt cx="4511572" cy="1563001"/>
            </a:xfrm>
          </p:grpSpPr>
          <p:sp>
            <p:nvSpPr>
              <p:cNvPr id="721" name="Google Shape;721;p20"/>
              <p:cNvSpPr/>
              <p:nvPr/>
            </p:nvSpPr>
            <p:spPr>
              <a:xfrm>
                <a:off x="7428308" y="3562358"/>
                <a:ext cx="0" cy="80010"/>
              </a:xfrm>
              <a:custGeom>
                <a:rect b="b" l="l" r="r" t="t"/>
                <a:pathLst>
                  <a:path extrusionOk="0" h="80010" w="120000">
                    <a:moveTo>
                      <a:pt x="0" y="0"/>
                    </a:moveTo>
                    <a:lnTo>
                      <a:pt x="0" y="0"/>
                    </a:lnTo>
                    <a:lnTo>
                      <a:pt x="0" y="79597"/>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20"/>
              <p:cNvSpPr/>
              <p:nvPr/>
            </p:nvSpPr>
            <p:spPr>
              <a:xfrm>
                <a:off x="7416076" y="3562362"/>
                <a:ext cx="189230" cy="133350"/>
              </a:xfrm>
              <a:custGeom>
                <a:rect b="b" l="l" r="r" t="t"/>
                <a:pathLst>
                  <a:path extrusionOk="0" h="133350" w="189229">
                    <a:moveTo>
                      <a:pt x="188950" y="53505"/>
                    </a:moveTo>
                    <a:lnTo>
                      <a:pt x="22796" y="0"/>
                    </a:lnTo>
                    <a:lnTo>
                      <a:pt x="0" y="0"/>
                    </a:lnTo>
                    <a:lnTo>
                      <a:pt x="0" y="26098"/>
                    </a:lnTo>
                    <a:lnTo>
                      <a:pt x="123266" y="66319"/>
                    </a:lnTo>
                    <a:lnTo>
                      <a:pt x="0" y="105041"/>
                    </a:lnTo>
                    <a:lnTo>
                      <a:pt x="0" y="133070"/>
                    </a:lnTo>
                    <a:lnTo>
                      <a:pt x="22796" y="133070"/>
                    </a:lnTo>
                    <a:lnTo>
                      <a:pt x="188950" y="79603"/>
                    </a:lnTo>
                    <a:lnTo>
                      <a:pt x="188950" y="53505"/>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20"/>
              <p:cNvSpPr/>
              <p:nvPr/>
            </p:nvSpPr>
            <p:spPr>
              <a:xfrm>
                <a:off x="7428308" y="3615861"/>
                <a:ext cx="0" cy="80010"/>
              </a:xfrm>
              <a:custGeom>
                <a:rect b="b" l="l" r="r" t="t"/>
                <a:pathLst>
                  <a:path extrusionOk="0" h="80010" w="120000">
                    <a:moveTo>
                      <a:pt x="0" y="0"/>
                    </a:moveTo>
                    <a:lnTo>
                      <a:pt x="0" y="0"/>
                    </a:lnTo>
                    <a:lnTo>
                      <a:pt x="0" y="79570"/>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20"/>
              <p:cNvSpPr/>
              <p:nvPr/>
            </p:nvSpPr>
            <p:spPr>
              <a:xfrm>
                <a:off x="7416088" y="3562358"/>
                <a:ext cx="164465" cy="105410"/>
              </a:xfrm>
              <a:custGeom>
                <a:rect b="b" l="l" r="r" t="t"/>
                <a:pathLst>
                  <a:path extrusionOk="0" h="105410" w="164465">
                    <a:moveTo>
                      <a:pt x="0" y="0"/>
                    </a:moveTo>
                    <a:lnTo>
                      <a:pt x="0" y="105034"/>
                    </a:lnTo>
                    <a:lnTo>
                      <a:pt x="164028" y="5350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5" name="Google Shape;725;p20"/>
              <p:cNvSpPr/>
              <p:nvPr/>
            </p:nvSpPr>
            <p:spPr>
              <a:xfrm>
                <a:off x="7297649" y="3628238"/>
                <a:ext cx="141605" cy="0"/>
              </a:xfrm>
              <a:custGeom>
                <a:rect b="b" l="l" r="r" t="t"/>
                <a:pathLst>
                  <a:path extrusionOk="0" h="120000" w="141604">
                    <a:moveTo>
                      <a:pt x="0" y="0"/>
                    </a:moveTo>
                    <a:lnTo>
                      <a:pt x="0" y="0"/>
                    </a:lnTo>
                    <a:lnTo>
                      <a:pt x="141234"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6" name="Google Shape;726;p20"/>
              <p:cNvSpPr/>
              <p:nvPr/>
            </p:nvSpPr>
            <p:spPr>
              <a:xfrm>
                <a:off x="6686418" y="3562358"/>
                <a:ext cx="305498" cy="133073"/>
              </a:xfrm>
              <a:prstGeom prst="rect">
                <a:avLst/>
              </a:prstGeom>
              <a:blipFill rotWithShape="1">
                <a:blip r:embed="rId2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7" name="Google Shape;727;p20"/>
              <p:cNvSpPr/>
              <p:nvPr/>
            </p:nvSpPr>
            <p:spPr>
              <a:xfrm>
                <a:off x="7651086" y="3403847"/>
                <a:ext cx="306907" cy="371182"/>
              </a:xfrm>
              <a:prstGeom prst="rect">
                <a:avLst/>
              </a:prstGeom>
              <a:blipFill rotWithShape="1">
                <a:blip r:embed="rId2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8" name="Google Shape;728;p20"/>
              <p:cNvSpPr/>
              <p:nvPr/>
            </p:nvSpPr>
            <p:spPr>
              <a:xfrm>
                <a:off x="7675761" y="4039232"/>
                <a:ext cx="305733" cy="317679"/>
              </a:xfrm>
              <a:prstGeom prst="rect">
                <a:avLst/>
              </a:prstGeom>
              <a:blipFill rotWithShape="1">
                <a:blip r:embed="rId2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20"/>
              <p:cNvSpPr/>
              <p:nvPr/>
            </p:nvSpPr>
            <p:spPr>
              <a:xfrm>
                <a:off x="7863052" y="2900882"/>
                <a:ext cx="95250" cy="184785"/>
              </a:xfrm>
              <a:custGeom>
                <a:rect b="b" l="l" r="r" t="t"/>
                <a:pathLst>
                  <a:path extrusionOk="0" h="184785" w="95250">
                    <a:moveTo>
                      <a:pt x="94932" y="0"/>
                    </a:moveTo>
                    <a:lnTo>
                      <a:pt x="70497" y="0"/>
                    </a:lnTo>
                    <a:lnTo>
                      <a:pt x="0" y="131127"/>
                    </a:lnTo>
                    <a:lnTo>
                      <a:pt x="0" y="159169"/>
                    </a:lnTo>
                    <a:lnTo>
                      <a:pt x="47701" y="184607"/>
                    </a:lnTo>
                    <a:lnTo>
                      <a:pt x="70497" y="184607"/>
                    </a:lnTo>
                    <a:lnTo>
                      <a:pt x="70497" y="159169"/>
                    </a:lnTo>
                    <a:lnTo>
                      <a:pt x="35661" y="137972"/>
                    </a:lnTo>
                    <a:lnTo>
                      <a:pt x="94932" y="26098"/>
                    </a:lnTo>
                    <a:lnTo>
                      <a:pt x="94932"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20"/>
              <p:cNvSpPr/>
              <p:nvPr/>
            </p:nvSpPr>
            <p:spPr>
              <a:xfrm>
                <a:off x="7910760" y="2900878"/>
                <a:ext cx="47625" cy="184785"/>
              </a:xfrm>
              <a:custGeom>
                <a:rect b="b" l="l" r="r" t="t"/>
                <a:pathLst>
                  <a:path extrusionOk="0" h="184785" w="47625">
                    <a:moveTo>
                      <a:pt x="35014" y="0"/>
                    </a:moveTo>
                    <a:lnTo>
                      <a:pt x="35014" y="0"/>
                    </a:lnTo>
                    <a:lnTo>
                      <a:pt x="35014" y="184605"/>
                    </a:lnTo>
                  </a:path>
                  <a:path extrusionOk="0" h="184785" w="47625">
                    <a:moveTo>
                      <a:pt x="0" y="170914"/>
                    </a:moveTo>
                    <a:lnTo>
                      <a:pt x="0" y="170914"/>
                    </a:lnTo>
                    <a:lnTo>
                      <a:pt x="47234" y="170914"/>
                    </a:lnTo>
                  </a:path>
                </a:pathLst>
              </a:custGeom>
              <a:noFill/>
              <a:ln cap="flat" cmpd="sng" w="240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20"/>
              <p:cNvSpPr/>
              <p:nvPr/>
            </p:nvSpPr>
            <p:spPr>
              <a:xfrm>
                <a:off x="7863055" y="2900878"/>
                <a:ext cx="71120" cy="159385"/>
              </a:xfrm>
              <a:custGeom>
                <a:rect b="b" l="l" r="r" t="t"/>
                <a:pathLst>
                  <a:path extrusionOk="0" h="159385" w="71120">
                    <a:moveTo>
                      <a:pt x="70499" y="0"/>
                    </a:moveTo>
                    <a:lnTo>
                      <a:pt x="0" y="131129"/>
                    </a:lnTo>
                    <a:lnTo>
                      <a:pt x="47704" y="159168"/>
                    </a:lnTo>
                    <a:lnTo>
                      <a:pt x="70499" y="159168"/>
                    </a:lnTo>
                    <a:lnTo>
                      <a:pt x="70499"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20"/>
              <p:cNvSpPr/>
              <p:nvPr/>
            </p:nvSpPr>
            <p:spPr>
              <a:xfrm>
                <a:off x="7922979" y="3060046"/>
                <a:ext cx="0" cy="26034"/>
              </a:xfrm>
              <a:custGeom>
                <a:rect b="b" l="l" r="r" t="t"/>
                <a:pathLst>
                  <a:path extrusionOk="0" h="26035" w="120000">
                    <a:moveTo>
                      <a:pt x="0" y="12718"/>
                    </a:moveTo>
                    <a:lnTo>
                      <a:pt x="0" y="12718"/>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3" name="Google Shape;733;p20"/>
              <p:cNvSpPr/>
              <p:nvPr/>
            </p:nvSpPr>
            <p:spPr>
              <a:xfrm>
                <a:off x="7651077" y="3006572"/>
                <a:ext cx="282575" cy="133350"/>
              </a:xfrm>
              <a:custGeom>
                <a:rect b="b" l="l" r="r" t="t"/>
                <a:pathLst>
                  <a:path extrusionOk="0" h="133350" w="282575">
                    <a:moveTo>
                      <a:pt x="282473" y="53479"/>
                    </a:moveTo>
                    <a:lnTo>
                      <a:pt x="259676" y="53479"/>
                    </a:lnTo>
                    <a:lnTo>
                      <a:pt x="173570" y="100685"/>
                    </a:lnTo>
                    <a:lnTo>
                      <a:pt x="95173" y="78917"/>
                    </a:lnTo>
                    <a:lnTo>
                      <a:pt x="24676" y="0"/>
                    </a:lnTo>
                    <a:lnTo>
                      <a:pt x="0" y="0"/>
                    </a:lnTo>
                    <a:lnTo>
                      <a:pt x="0" y="25438"/>
                    </a:lnTo>
                    <a:lnTo>
                      <a:pt x="70739" y="105016"/>
                    </a:lnTo>
                    <a:lnTo>
                      <a:pt x="165671" y="133083"/>
                    </a:lnTo>
                    <a:lnTo>
                      <a:pt x="189179" y="133083"/>
                    </a:lnTo>
                    <a:lnTo>
                      <a:pt x="282473" y="78917"/>
                    </a:lnTo>
                    <a:lnTo>
                      <a:pt x="282473" y="5347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20"/>
              <p:cNvSpPr/>
              <p:nvPr/>
            </p:nvSpPr>
            <p:spPr>
              <a:xfrm>
                <a:off x="7663541" y="2900878"/>
                <a:ext cx="0" cy="131445"/>
              </a:xfrm>
              <a:custGeom>
                <a:rect b="b" l="l" r="r" t="t"/>
                <a:pathLst>
                  <a:path extrusionOk="0" h="131444" w="120000">
                    <a:moveTo>
                      <a:pt x="0" y="0"/>
                    </a:moveTo>
                    <a:lnTo>
                      <a:pt x="0" y="0"/>
                    </a:lnTo>
                    <a:lnTo>
                      <a:pt x="0" y="131129"/>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5" name="Google Shape;735;p20"/>
              <p:cNvSpPr/>
              <p:nvPr/>
            </p:nvSpPr>
            <p:spPr>
              <a:xfrm>
                <a:off x="7651077" y="2793910"/>
                <a:ext cx="189230" cy="133350"/>
              </a:xfrm>
              <a:custGeom>
                <a:rect b="b" l="l" r="r" t="t"/>
                <a:pathLst>
                  <a:path extrusionOk="0" h="133350" w="189229">
                    <a:moveTo>
                      <a:pt x="189179" y="0"/>
                    </a:moveTo>
                    <a:lnTo>
                      <a:pt x="165671" y="0"/>
                    </a:lnTo>
                    <a:lnTo>
                      <a:pt x="70739" y="28028"/>
                    </a:lnTo>
                    <a:lnTo>
                      <a:pt x="0" y="106972"/>
                    </a:lnTo>
                    <a:lnTo>
                      <a:pt x="0" y="133070"/>
                    </a:lnTo>
                    <a:lnTo>
                      <a:pt x="24676" y="133070"/>
                    </a:lnTo>
                    <a:lnTo>
                      <a:pt x="95173" y="53467"/>
                    </a:lnTo>
                    <a:lnTo>
                      <a:pt x="189179" y="28028"/>
                    </a:lnTo>
                    <a:lnTo>
                      <a:pt x="189179"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6" name="Google Shape;736;p20"/>
              <p:cNvSpPr/>
              <p:nvPr/>
            </p:nvSpPr>
            <p:spPr>
              <a:xfrm>
                <a:off x="7204354" y="3707178"/>
                <a:ext cx="71120" cy="0"/>
              </a:xfrm>
              <a:custGeom>
                <a:rect b="b" l="l" r="r" t="t"/>
                <a:pathLst>
                  <a:path extrusionOk="0" h="120000" w="71120">
                    <a:moveTo>
                      <a:pt x="0" y="0"/>
                    </a:moveTo>
                    <a:lnTo>
                      <a:pt x="0" y="0"/>
                    </a:lnTo>
                    <a:lnTo>
                      <a:pt x="70499"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20"/>
              <p:cNvSpPr/>
              <p:nvPr/>
            </p:nvSpPr>
            <p:spPr>
              <a:xfrm>
                <a:off x="7204354" y="3588461"/>
                <a:ext cx="93345" cy="158750"/>
              </a:xfrm>
              <a:custGeom>
                <a:rect b="b" l="l" r="r" t="t"/>
                <a:pathLst>
                  <a:path extrusionOk="0" h="158750" w="93345">
                    <a:moveTo>
                      <a:pt x="93294" y="133070"/>
                    </a:moveTo>
                    <a:lnTo>
                      <a:pt x="70497" y="0"/>
                    </a:lnTo>
                    <a:lnTo>
                      <a:pt x="47231" y="0"/>
                    </a:lnTo>
                    <a:lnTo>
                      <a:pt x="0" y="106972"/>
                    </a:lnTo>
                    <a:lnTo>
                      <a:pt x="0" y="133070"/>
                    </a:lnTo>
                    <a:lnTo>
                      <a:pt x="22783" y="133070"/>
                    </a:lnTo>
                    <a:lnTo>
                      <a:pt x="34556" y="106972"/>
                    </a:lnTo>
                    <a:lnTo>
                      <a:pt x="47231" y="106972"/>
                    </a:lnTo>
                    <a:lnTo>
                      <a:pt x="47231" y="133070"/>
                    </a:lnTo>
                    <a:lnTo>
                      <a:pt x="70497" y="158508"/>
                    </a:lnTo>
                    <a:lnTo>
                      <a:pt x="93294" y="158508"/>
                    </a:lnTo>
                    <a:lnTo>
                      <a:pt x="93294" y="13307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8" name="Google Shape;738;p20"/>
              <p:cNvSpPr/>
              <p:nvPr/>
            </p:nvSpPr>
            <p:spPr>
              <a:xfrm>
                <a:off x="7239369" y="3721526"/>
                <a:ext cx="0" cy="26034"/>
              </a:xfrm>
              <a:custGeom>
                <a:rect b="b" l="l" r="r" t="t"/>
                <a:pathLst>
                  <a:path extrusionOk="0" h="26035" w="120000">
                    <a:moveTo>
                      <a:pt x="0" y="12718"/>
                    </a:moveTo>
                    <a:lnTo>
                      <a:pt x="0" y="12718"/>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20"/>
              <p:cNvSpPr/>
              <p:nvPr/>
            </p:nvSpPr>
            <p:spPr>
              <a:xfrm>
                <a:off x="7015403" y="3667404"/>
                <a:ext cx="236220" cy="133350"/>
              </a:xfrm>
              <a:custGeom>
                <a:rect b="b" l="l" r="r" t="t"/>
                <a:pathLst>
                  <a:path extrusionOk="0" h="133350" w="236220">
                    <a:moveTo>
                      <a:pt x="236181" y="54127"/>
                    </a:moveTo>
                    <a:lnTo>
                      <a:pt x="211734" y="54127"/>
                    </a:lnTo>
                    <a:lnTo>
                      <a:pt x="147916" y="102400"/>
                    </a:lnTo>
                    <a:lnTo>
                      <a:pt x="70510" y="79565"/>
                    </a:lnTo>
                    <a:lnTo>
                      <a:pt x="24447" y="0"/>
                    </a:lnTo>
                    <a:lnTo>
                      <a:pt x="0" y="0"/>
                    </a:lnTo>
                    <a:lnTo>
                      <a:pt x="0" y="28028"/>
                    </a:lnTo>
                    <a:lnTo>
                      <a:pt x="47244" y="107632"/>
                    </a:lnTo>
                    <a:lnTo>
                      <a:pt x="141008" y="133070"/>
                    </a:lnTo>
                    <a:lnTo>
                      <a:pt x="165684" y="133070"/>
                    </a:lnTo>
                    <a:lnTo>
                      <a:pt x="236181" y="79565"/>
                    </a:lnTo>
                    <a:lnTo>
                      <a:pt x="236181" y="54127"/>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20"/>
              <p:cNvSpPr/>
              <p:nvPr/>
            </p:nvSpPr>
            <p:spPr>
              <a:xfrm>
                <a:off x="7027635" y="3562358"/>
                <a:ext cx="0" cy="133350"/>
              </a:xfrm>
              <a:custGeom>
                <a:rect b="b" l="l" r="r" t="t"/>
                <a:pathLst>
                  <a:path extrusionOk="0" h="133350" w="120000">
                    <a:moveTo>
                      <a:pt x="0" y="0"/>
                    </a:moveTo>
                    <a:lnTo>
                      <a:pt x="0" y="0"/>
                    </a:lnTo>
                    <a:lnTo>
                      <a:pt x="0" y="133073"/>
                    </a:lnTo>
                  </a:path>
                </a:pathLst>
              </a:custGeom>
              <a:noFill/>
              <a:ln cap="flat" cmpd="sng" w="22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1" name="Google Shape;741;p20"/>
              <p:cNvSpPr/>
              <p:nvPr/>
            </p:nvSpPr>
            <p:spPr>
              <a:xfrm>
                <a:off x="7015403" y="3457333"/>
                <a:ext cx="141605" cy="131445"/>
              </a:xfrm>
              <a:custGeom>
                <a:rect b="b" l="l" r="r" t="t"/>
                <a:pathLst>
                  <a:path extrusionOk="0" h="131445" w="141604">
                    <a:moveTo>
                      <a:pt x="141008" y="0"/>
                    </a:moveTo>
                    <a:lnTo>
                      <a:pt x="117741" y="0"/>
                    </a:lnTo>
                    <a:lnTo>
                      <a:pt x="47244" y="25438"/>
                    </a:lnTo>
                    <a:lnTo>
                      <a:pt x="0" y="105029"/>
                    </a:lnTo>
                    <a:lnTo>
                      <a:pt x="0" y="131127"/>
                    </a:lnTo>
                    <a:lnTo>
                      <a:pt x="24447" y="131127"/>
                    </a:lnTo>
                    <a:lnTo>
                      <a:pt x="70510" y="51523"/>
                    </a:lnTo>
                    <a:lnTo>
                      <a:pt x="141008" y="25438"/>
                    </a:lnTo>
                    <a:lnTo>
                      <a:pt x="14100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2" name="Google Shape;742;p20"/>
              <p:cNvSpPr/>
              <p:nvPr/>
            </p:nvSpPr>
            <p:spPr>
              <a:xfrm>
                <a:off x="7251589" y="3826561"/>
                <a:ext cx="376232" cy="371182"/>
              </a:xfrm>
              <a:prstGeom prst="rect">
                <a:avLst/>
              </a:prstGeom>
              <a:blipFill rotWithShape="1">
                <a:blip r:embed="rId2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3" name="Google Shape;743;p20"/>
              <p:cNvSpPr/>
              <p:nvPr/>
            </p:nvSpPr>
            <p:spPr>
              <a:xfrm>
                <a:off x="6685411" y="2926973"/>
                <a:ext cx="119041" cy="133073"/>
              </a:xfrm>
              <a:prstGeom prst="rect">
                <a:avLst/>
              </a:prstGeom>
              <a:blipFill rotWithShape="1">
                <a:blip r:embed="rId2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 name="Google Shape;744;p20"/>
              <p:cNvSpPr/>
              <p:nvPr/>
            </p:nvSpPr>
            <p:spPr>
              <a:xfrm>
                <a:off x="6802977" y="3111578"/>
                <a:ext cx="188938" cy="266173"/>
              </a:xfrm>
              <a:prstGeom prst="rect">
                <a:avLst/>
              </a:prstGeom>
              <a:blipFill rotWithShape="1">
                <a:blip r:embed="rId2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20"/>
              <p:cNvSpPr/>
              <p:nvPr/>
            </p:nvSpPr>
            <p:spPr>
              <a:xfrm>
                <a:off x="6802977" y="3826561"/>
                <a:ext cx="259673" cy="291585"/>
              </a:xfrm>
              <a:prstGeom prst="rect">
                <a:avLst/>
              </a:prstGeom>
              <a:blipFill rotWithShape="1">
                <a:blip r:embed="rId2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6" name="Google Shape;746;p20"/>
              <p:cNvSpPr/>
              <p:nvPr/>
            </p:nvSpPr>
            <p:spPr>
              <a:xfrm>
                <a:off x="6520509" y="3536264"/>
                <a:ext cx="118439" cy="131414"/>
              </a:xfrm>
              <a:prstGeom prst="rect">
                <a:avLst/>
              </a:prstGeom>
              <a:blipFill rotWithShape="1">
                <a:blip r:embed="rId2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20"/>
              <p:cNvSpPr/>
              <p:nvPr/>
            </p:nvSpPr>
            <p:spPr>
              <a:xfrm>
                <a:off x="6685411" y="4144241"/>
                <a:ext cx="119042" cy="133100"/>
              </a:xfrm>
              <a:prstGeom prst="rect">
                <a:avLst/>
              </a:prstGeom>
              <a:blipFill rotWithShape="1">
                <a:blip r:embed="rId2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8" name="Google Shape;748;p20"/>
              <p:cNvSpPr/>
              <p:nvPr/>
            </p:nvSpPr>
            <p:spPr>
              <a:xfrm>
                <a:off x="7251586" y="3085490"/>
                <a:ext cx="400050" cy="372110"/>
              </a:xfrm>
              <a:custGeom>
                <a:rect b="b" l="l" r="r" t="t"/>
                <a:pathLst>
                  <a:path extrusionOk="0" h="372110" w="400050">
                    <a:moveTo>
                      <a:pt x="399491" y="0"/>
                    </a:moveTo>
                    <a:lnTo>
                      <a:pt x="376224" y="0"/>
                    </a:lnTo>
                    <a:lnTo>
                      <a:pt x="212432" y="79603"/>
                    </a:lnTo>
                    <a:lnTo>
                      <a:pt x="212432" y="105689"/>
                    </a:lnTo>
                    <a:lnTo>
                      <a:pt x="227012" y="140258"/>
                    </a:lnTo>
                    <a:lnTo>
                      <a:pt x="0" y="343801"/>
                    </a:lnTo>
                    <a:lnTo>
                      <a:pt x="0" y="371843"/>
                    </a:lnTo>
                    <a:lnTo>
                      <a:pt x="23266" y="371843"/>
                    </a:lnTo>
                    <a:lnTo>
                      <a:pt x="249237" y="166941"/>
                    </a:lnTo>
                    <a:lnTo>
                      <a:pt x="282930" y="185267"/>
                    </a:lnTo>
                    <a:lnTo>
                      <a:pt x="305727" y="185267"/>
                    </a:lnTo>
                    <a:lnTo>
                      <a:pt x="399491" y="26098"/>
                    </a:lnTo>
                    <a:lnTo>
                      <a:pt x="399491"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9" name="Google Shape;749;p20"/>
              <p:cNvSpPr/>
              <p:nvPr/>
            </p:nvSpPr>
            <p:spPr>
              <a:xfrm>
                <a:off x="7981494" y="2966758"/>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0" name="Google Shape;750;p20"/>
              <p:cNvSpPr/>
              <p:nvPr/>
            </p:nvSpPr>
            <p:spPr>
              <a:xfrm>
                <a:off x="8215788" y="2873470"/>
                <a:ext cx="118745" cy="133350"/>
              </a:xfrm>
              <a:custGeom>
                <a:rect b="b" l="l" r="r" t="t"/>
                <a:pathLst>
                  <a:path extrusionOk="0" h="133350" w="118745">
                    <a:moveTo>
                      <a:pt x="118439" y="0"/>
                    </a:moveTo>
                    <a:lnTo>
                      <a:pt x="0" y="0"/>
                    </a:lnTo>
                    <a:lnTo>
                      <a:pt x="0" y="133100"/>
                    </a:lnTo>
                    <a:lnTo>
                      <a:pt x="118439" y="133100"/>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1" name="Google Shape;751;p20"/>
              <p:cNvSpPr/>
              <p:nvPr/>
            </p:nvSpPr>
            <p:spPr>
              <a:xfrm>
                <a:off x="8228713" y="2887187"/>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2" name="Google Shape;752;p20"/>
              <p:cNvSpPr/>
              <p:nvPr/>
            </p:nvSpPr>
            <p:spPr>
              <a:xfrm>
                <a:off x="7981494" y="3628238"/>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3" name="Google Shape;753;p20"/>
              <p:cNvSpPr/>
              <p:nvPr/>
            </p:nvSpPr>
            <p:spPr>
              <a:xfrm>
                <a:off x="8215788" y="3536264"/>
                <a:ext cx="118745" cy="131445"/>
              </a:xfrm>
              <a:custGeom>
                <a:rect b="b" l="l" r="r" t="t"/>
                <a:pathLst>
                  <a:path extrusionOk="0" h="131445" w="118745">
                    <a:moveTo>
                      <a:pt x="118439" y="0"/>
                    </a:moveTo>
                    <a:lnTo>
                      <a:pt x="0" y="0"/>
                    </a:lnTo>
                    <a:lnTo>
                      <a:pt x="0" y="131129"/>
                    </a:lnTo>
                    <a:lnTo>
                      <a:pt x="118439" y="131129"/>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20"/>
              <p:cNvSpPr/>
              <p:nvPr/>
            </p:nvSpPr>
            <p:spPr>
              <a:xfrm>
                <a:off x="8228713" y="3548667"/>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20"/>
              <p:cNvSpPr/>
              <p:nvPr/>
            </p:nvSpPr>
            <p:spPr>
              <a:xfrm>
                <a:off x="7981494" y="4212092"/>
                <a:ext cx="234315" cy="0"/>
              </a:xfrm>
              <a:custGeom>
                <a:rect b="b" l="l" r="r" t="t"/>
                <a:pathLst>
                  <a:path extrusionOk="0" h="120000" w="234315">
                    <a:moveTo>
                      <a:pt x="0" y="0"/>
                    </a:moveTo>
                    <a:lnTo>
                      <a:pt x="234293"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6" name="Google Shape;756;p20"/>
              <p:cNvSpPr/>
              <p:nvPr/>
            </p:nvSpPr>
            <p:spPr>
              <a:xfrm>
                <a:off x="8215788" y="4144241"/>
                <a:ext cx="118745" cy="133350"/>
              </a:xfrm>
              <a:custGeom>
                <a:rect b="b" l="l" r="r" t="t"/>
                <a:pathLst>
                  <a:path extrusionOk="0" h="133350" w="118745">
                    <a:moveTo>
                      <a:pt x="118439" y="0"/>
                    </a:moveTo>
                    <a:lnTo>
                      <a:pt x="0" y="0"/>
                    </a:lnTo>
                    <a:lnTo>
                      <a:pt x="0" y="133100"/>
                    </a:lnTo>
                    <a:lnTo>
                      <a:pt x="118439" y="133100"/>
                    </a:lnTo>
                    <a:lnTo>
                      <a:pt x="11843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7" name="Google Shape;757;p20"/>
              <p:cNvSpPr/>
              <p:nvPr/>
            </p:nvSpPr>
            <p:spPr>
              <a:xfrm>
                <a:off x="8228713" y="4157958"/>
                <a:ext cx="118745" cy="133350"/>
              </a:xfrm>
              <a:custGeom>
                <a:rect b="b" l="l" r="r" t="t"/>
                <a:pathLst>
                  <a:path extrusionOk="0" h="133350" w="118745">
                    <a:moveTo>
                      <a:pt x="0" y="0"/>
                    </a:moveTo>
                    <a:lnTo>
                      <a:pt x="118439" y="0"/>
                    </a:lnTo>
                    <a:lnTo>
                      <a:pt x="118439" y="133073"/>
                    </a:lnTo>
                    <a:lnTo>
                      <a:pt x="0" y="133073"/>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20"/>
              <p:cNvSpPr/>
              <p:nvPr/>
            </p:nvSpPr>
            <p:spPr>
              <a:xfrm>
                <a:off x="5061638" y="3060046"/>
                <a:ext cx="234998" cy="184632"/>
              </a:xfrm>
              <a:prstGeom prst="rect">
                <a:avLst/>
              </a:prstGeom>
              <a:blipFill rotWithShape="1">
                <a:blip r:embed="rId3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9" name="Google Shape;759;p20"/>
              <p:cNvSpPr/>
              <p:nvPr/>
            </p:nvSpPr>
            <p:spPr>
              <a:xfrm>
                <a:off x="4965992" y="3536276"/>
                <a:ext cx="330835" cy="556895"/>
              </a:xfrm>
              <a:custGeom>
                <a:rect b="b" l="l" r="r" t="t"/>
                <a:pathLst>
                  <a:path extrusionOk="0" h="556895" w="330835">
                    <a:moveTo>
                      <a:pt x="330644" y="0"/>
                    </a:moveTo>
                    <a:lnTo>
                      <a:pt x="307378" y="0"/>
                    </a:lnTo>
                    <a:lnTo>
                      <a:pt x="169773" y="236550"/>
                    </a:lnTo>
                    <a:lnTo>
                      <a:pt x="70497" y="159156"/>
                    </a:lnTo>
                    <a:lnTo>
                      <a:pt x="47701" y="159156"/>
                    </a:lnTo>
                    <a:lnTo>
                      <a:pt x="47701" y="185254"/>
                    </a:lnTo>
                    <a:lnTo>
                      <a:pt x="151980" y="267119"/>
                    </a:lnTo>
                    <a:lnTo>
                      <a:pt x="0" y="528396"/>
                    </a:lnTo>
                    <a:lnTo>
                      <a:pt x="0" y="556437"/>
                    </a:lnTo>
                    <a:lnTo>
                      <a:pt x="25146" y="556437"/>
                    </a:lnTo>
                    <a:lnTo>
                      <a:pt x="179400" y="288645"/>
                    </a:lnTo>
                    <a:lnTo>
                      <a:pt x="282930" y="369887"/>
                    </a:lnTo>
                    <a:lnTo>
                      <a:pt x="307378" y="369887"/>
                    </a:lnTo>
                    <a:lnTo>
                      <a:pt x="307378" y="343789"/>
                    </a:lnTo>
                    <a:lnTo>
                      <a:pt x="197129" y="257873"/>
                    </a:lnTo>
                    <a:lnTo>
                      <a:pt x="330644" y="26085"/>
                    </a:lnTo>
                    <a:lnTo>
                      <a:pt x="330644"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0" name="Google Shape;760;p20"/>
              <p:cNvSpPr/>
              <p:nvPr/>
            </p:nvSpPr>
            <p:spPr>
              <a:xfrm>
                <a:off x="4330088" y="3536264"/>
                <a:ext cx="188938" cy="131129"/>
              </a:xfrm>
              <a:prstGeom prst="rect">
                <a:avLst/>
              </a:prstGeom>
              <a:blipFill rotWithShape="1">
                <a:blip r:embed="rId3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1" name="Google Shape;761;p20"/>
              <p:cNvSpPr/>
              <p:nvPr/>
            </p:nvSpPr>
            <p:spPr>
              <a:xfrm>
                <a:off x="3835886" y="3602144"/>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p20"/>
              <p:cNvSpPr/>
              <p:nvPr/>
            </p:nvSpPr>
            <p:spPr>
              <a:xfrm>
                <a:off x="4330088" y="4118146"/>
                <a:ext cx="188938" cy="159194"/>
              </a:xfrm>
              <a:prstGeom prst="rect">
                <a:avLst/>
              </a:prstGeom>
              <a:blipFill rotWithShape="1">
                <a:blip r:embed="rId3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3" name="Google Shape;763;p20"/>
              <p:cNvSpPr/>
              <p:nvPr/>
            </p:nvSpPr>
            <p:spPr>
              <a:xfrm>
                <a:off x="3835886" y="4212092"/>
                <a:ext cx="494665" cy="0"/>
              </a:xfrm>
              <a:custGeom>
                <a:rect b="b" l="l" r="r" t="t"/>
                <a:pathLst>
                  <a:path extrusionOk="0" h="120000" w="494664">
                    <a:moveTo>
                      <a:pt x="0" y="0"/>
                    </a:moveTo>
                    <a:lnTo>
                      <a:pt x="0" y="0"/>
                    </a:lnTo>
                    <a:lnTo>
                      <a:pt x="494201" y="0"/>
                    </a:lnTo>
                  </a:path>
                </a:pathLst>
              </a:custGeom>
              <a:noFill/>
              <a:ln cap="flat" cmpd="sng" w="25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4" name="Google Shape;764;p20"/>
              <p:cNvSpPr/>
              <p:nvPr/>
            </p:nvSpPr>
            <p:spPr>
              <a:xfrm>
                <a:off x="4965992" y="3060052"/>
                <a:ext cx="424180" cy="1033144"/>
              </a:xfrm>
              <a:custGeom>
                <a:rect b="b" l="l" r="r" t="t"/>
                <a:pathLst>
                  <a:path extrusionOk="0" h="1033145" w="424179">
                    <a:moveTo>
                      <a:pt x="377875" y="873493"/>
                    </a:moveTo>
                    <a:lnTo>
                      <a:pt x="353428" y="873493"/>
                    </a:lnTo>
                    <a:lnTo>
                      <a:pt x="0" y="1004620"/>
                    </a:lnTo>
                    <a:lnTo>
                      <a:pt x="0" y="1032662"/>
                    </a:lnTo>
                    <a:lnTo>
                      <a:pt x="25146" y="1032662"/>
                    </a:lnTo>
                    <a:lnTo>
                      <a:pt x="377875" y="899591"/>
                    </a:lnTo>
                    <a:lnTo>
                      <a:pt x="377875" y="873493"/>
                    </a:lnTo>
                    <a:close/>
                  </a:path>
                  <a:path extrusionOk="0" h="1033145" w="424179">
                    <a:moveTo>
                      <a:pt x="424167" y="184632"/>
                    </a:moveTo>
                    <a:lnTo>
                      <a:pt x="401370" y="184632"/>
                    </a:lnTo>
                    <a:lnTo>
                      <a:pt x="255600" y="370878"/>
                    </a:lnTo>
                    <a:lnTo>
                      <a:pt x="118440" y="0"/>
                    </a:lnTo>
                    <a:lnTo>
                      <a:pt x="95643" y="0"/>
                    </a:lnTo>
                    <a:lnTo>
                      <a:pt x="95643" y="25438"/>
                    </a:lnTo>
                    <a:lnTo>
                      <a:pt x="233629" y="398932"/>
                    </a:lnTo>
                    <a:lnTo>
                      <a:pt x="70497" y="607352"/>
                    </a:lnTo>
                    <a:lnTo>
                      <a:pt x="70497" y="635381"/>
                    </a:lnTo>
                    <a:lnTo>
                      <a:pt x="95643" y="635381"/>
                    </a:lnTo>
                    <a:lnTo>
                      <a:pt x="248158" y="438238"/>
                    </a:lnTo>
                    <a:lnTo>
                      <a:pt x="330644" y="661479"/>
                    </a:lnTo>
                    <a:lnTo>
                      <a:pt x="353428" y="661479"/>
                    </a:lnTo>
                    <a:lnTo>
                      <a:pt x="353428" y="635381"/>
                    </a:lnTo>
                    <a:lnTo>
                      <a:pt x="270040" y="409943"/>
                    </a:lnTo>
                    <a:lnTo>
                      <a:pt x="424167" y="210705"/>
                    </a:lnTo>
                    <a:lnTo>
                      <a:pt x="424167" y="18463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 name="Google Shape;765;p20"/>
              <p:cNvSpPr/>
              <p:nvPr/>
            </p:nvSpPr>
            <p:spPr>
              <a:xfrm>
                <a:off x="5296637" y="3191176"/>
                <a:ext cx="118110" cy="133350"/>
              </a:xfrm>
              <a:custGeom>
                <a:rect b="b" l="l" r="r" t="t"/>
                <a:pathLst>
                  <a:path extrusionOk="0" h="133350" w="118110">
                    <a:moveTo>
                      <a:pt x="117969" y="0"/>
                    </a:moveTo>
                    <a:lnTo>
                      <a:pt x="0" y="0"/>
                    </a:lnTo>
                    <a:lnTo>
                      <a:pt x="0" y="133073"/>
                    </a:lnTo>
                    <a:lnTo>
                      <a:pt x="117969" y="133073"/>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20"/>
              <p:cNvSpPr/>
              <p:nvPr/>
            </p:nvSpPr>
            <p:spPr>
              <a:xfrm>
                <a:off x="5308857" y="3204867"/>
                <a:ext cx="116839" cy="133350"/>
              </a:xfrm>
              <a:custGeom>
                <a:rect b="b" l="l" r="r" t="t"/>
                <a:pathLst>
                  <a:path extrusionOk="0" h="133350" w="116839">
                    <a:moveTo>
                      <a:pt x="0" y="0"/>
                    </a:moveTo>
                    <a:lnTo>
                      <a:pt x="116794" y="0"/>
                    </a:lnTo>
                    <a:lnTo>
                      <a:pt x="116794" y="133073"/>
                    </a:lnTo>
                    <a:lnTo>
                      <a:pt x="0" y="133073"/>
                    </a:lnTo>
                    <a:lnTo>
                      <a:pt x="0" y="0"/>
                    </a:lnTo>
                    <a:close/>
                  </a:path>
                </a:pathLst>
              </a:custGeom>
              <a:noFill/>
              <a:ln cap="flat" cmpd="sng" w="2390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 name="Google Shape;767;p20"/>
              <p:cNvSpPr/>
              <p:nvPr/>
            </p:nvSpPr>
            <p:spPr>
              <a:xfrm>
                <a:off x="5296637" y="3403847"/>
                <a:ext cx="118110" cy="132715"/>
              </a:xfrm>
              <a:custGeom>
                <a:rect b="b" l="l" r="r" t="t"/>
                <a:pathLst>
                  <a:path extrusionOk="0" h="132714" w="118110">
                    <a:moveTo>
                      <a:pt x="117969" y="0"/>
                    </a:moveTo>
                    <a:lnTo>
                      <a:pt x="0" y="0"/>
                    </a:lnTo>
                    <a:lnTo>
                      <a:pt x="0" y="132416"/>
                    </a:lnTo>
                    <a:lnTo>
                      <a:pt x="117969" y="132416"/>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 name="Google Shape;768;p20"/>
              <p:cNvSpPr/>
              <p:nvPr/>
            </p:nvSpPr>
            <p:spPr>
              <a:xfrm>
                <a:off x="5308857" y="3417538"/>
                <a:ext cx="116839" cy="131445"/>
              </a:xfrm>
              <a:custGeom>
                <a:rect b="b" l="l" r="r" t="t"/>
                <a:pathLst>
                  <a:path extrusionOk="0" h="131445" w="116839">
                    <a:moveTo>
                      <a:pt x="0" y="0"/>
                    </a:moveTo>
                    <a:lnTo>
                      <a:pt x="116794" y="0"/>
                    </a:lnTo>
                    <a:lnTo>
                      <a:pt x="116794" y="131129"/>
                    </a:lnTo>
                    <a:lnTo>
                      <a:pt x="0" y="131129"/>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20"/>
              <p:cNvSpPr/>
              <p:nvPr/>
            </p:nvSpPr>
            <p:spPr>
              <a:xfrm>
                <a:off x="5296637" y="3641955"/>
                <a:ext cx="118110" cy="133350"/>
              </a:xfrm>
              <a:custGeom>
                <a:rect b="b" l="l" r="r" t="t"/>
                <a:pathLst>
                  <a:path extrusionOk="0" h="133350" w="118110">
                    <a:moveTo>
                      <a:pt x="117969" y="0"/>
                    </a:moveTo>
                    <a:lnTo>
                      <a:pt x="0" y="0"/>
                    </a:lnTo>
                    <a:lnTo>
                      <a:pt x="0" y="133073"/>
                    </a:lnTo>
                    <a:lnTo>
                      <a:pt x="117969" y="133073"/>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0" name="Google Shape;770;p20"/>
              <p:cNvSpPr/>
              <p:nvPr/>
            </p:nvSpPr>
            <p:spPr>
              <a:xfrm>
                <a:off x="5308857" y="3655646"/>
                <a:ext cx="116839" cy="131445"/>
              </a:xfrm>
              <a:custGeom>
                <a:rect b="b" l="l" r="r" t="t"/>
                <a:pathLst>
                  <a:path extrusionOk="0" h="131445" w="116839">
                    <a:moveTo>
                      <a:pt x="0" y="0"/>
                    </a:moveTo>
                    <a:lnTo>
                      <a:pt x="116794" y="0"/>
                    </a:lnTo>
                    <a:lnTo>
                      <a:pt x="116794" y="131129"/>
                    </a:lnTo>
                    <a:lnTo>
                      <a:pt x="0" y="131129"/>
                    </a:lnTo>
                    <a:lnTo>
                      <a:pt x="0" y="0"/>
                    </a:lnTo>
                    <a:close/>
                  </a:path>
                </a:pathLst>
              </a:custGeom>
              <a:noFill/>
              <a:ln cap="flat" cmpd="sng" w="23925">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1" name="Google Shape;771;p20"/>
              <p:cNvSpPr/>
              <p:nvPr/>
            </p:nvSpPr>
            <p:spPr>
              <a:xfrm>
                <a:off x="5296637" y="3854600"/>
                <a:ext cx="118110" cy="130810"/>
              </a:xfrm>
              <a:custGeom>
                <a:rect b="b" l="l" r="r" t="t"/>
                <a:pathLst>
                  <a:path extrusionOk="0" h="130810" w="118110">
                    <a:moveTo>
                      <a:pt x="117969" y="0"/>
                    </a:moveTo>
                    <a:lnTo>
                      <a:pt x="0" y="0"/>
                    </a:lnTo>
                    <a:lnTo>
                      <a:pt x="0" y="130472"/>
                    </a:lnTo>
                    <a:lnTo>
                      <a:pt x="117969" y="130472"/>
                    </a:lnTo>
                    <a:lnTo>
                      <a:pt x="117969" y="0"/>
                    </a:lnTo>
                    <a:close/>
                  </a:path>
                </a:pathLst>
              </a:custGeom>
              <a:solidFill>
                <a:srgbClr val="CF924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2" name="Google Shape;772;p20"/>
              <p:cNvSpPr/>
              <p:nvPr/>
            </p:nvSpPr>
            <p:spPr>
              <a:xfrm>
                <a:off x="5308857" y="3866347"/>
                <a:ext cx="116839" cy="133350"/>
              </a:xfrm>
              <a:custGeom>
                <a:rect b="b" l="l" r="r" t="t"/>
                <a:pathLst>
                  <a:path extrusionOk="0" h="133350" w="116839">
                    <a:moveTo>
                      <a:pt x="0" y="0"/>
                    </a:moveTo>
                    <a:lnTo>
                      <a:pt x="116794" y="0"/>
                    </a:lnTo>
                    <a:lnTo>
                      <a:pt x="116794" y="133073"/>
                    </a:lnTo>
                    <a:lnTo>
                      <a:pt x="0" y="133073"/>
                    </a:lnTo>
                    <a:lnTo>
                      <a:pt x="0" y="0"/>
                    </a:lnTo>
                    <a:close/>
                  </a:path>
                </a:pathLst>
              </a:custGeom>
              <a:noFill/>
              <a:ln cap="flat" cmpd="sng" w="23900">
                <a:solidFill>
                  <a:srgbClr val="CF92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73" name="Google Shape;773;p20"/>
            <p:cNvSpPr txBox="1"/>
            <p:nvPr/>
          </p:nvSpPr>
          <p:spPr>
            <a:xfrm>
              <a:off x="8505097" y="3128250"/>
              <a:ext cx="273685" cy="26802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650">
                  <a:solidFill>
                    <a:schemeClr val="dk1"/>
                  </a:solidFill>
                  <a:latin typeface="Arial"/>
                  <a:ea typeface="Arial"/>
                  <a:cs typeface="Arial"/>
                  <a:sym typeface="Arial"/>
                </a:rPr>
                <a:t>I/O</a:t>
              </a:r>
              <a:endParaRPr sz="1650">
                <a:solidFill>
                  <a:schemeClr val="dk1"/>
                </a:solidFill>
                <a:latin typeface="Arial"/>
                <a:ea typeface="Arial"/>
                <a:cs typeface="Arial"/>
                <a:sym typeface="Arial"/>
              </a:endParaRPr>
            </a:p>
          </p:txBody>
        </p:sp>
        <p:sp>
          <p:nvSpPr>
            <p:cNvPr id="774" name="Google Shape;774;p20"/>
            <p:cNvSpPr txBox="1"/>
            <p:nvPr/>
          </p:nvSpPr>
          <p:spPr>
            <a:xfrm>
              <a:off x="5631301" y="2439361"/>
              <a:ext cx="1953895" cy="260155"/>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per-connection threads</a:t>
              </a:r>
              <a:endParaRPr sz="1400">
                <a:solidFill>
                  <a:schemeClr val="dk1"/>
                </a:solidFill>
                <a:latin typeface="Arial"/>
                <a:ea typeface="Arial"/>
                <a:cs typeface="Arial"/>
                <a:sym typeface="Arial"/>
              </a:endParaRPr>
            </a:p>
          </p:txBody>
        </p:sp>
        <p:sp>
          <p:nvSpPr>
            <p:cNvPr id="775" name="Google Shape;775;p20"/>
            <p:cNvSpPr txBox="1"/>
            <p:nvPr/>
          </p:nvSpPr>
          <p:spPr>
            <a:xfrm>
              <a:off x="8692389" y="2439361"/>
              <a:ext cx="1545590" cy="282412"/>
            </a:xfrm>
            <a:prstGeom prst="rect">
              <a:avLst/>
            </a:prstGeom>
            <a:noFill/>
            <a:ln>
              <a:noFill/>
            </a:ln>
          </p:spPr>
          <p:txBody>
            <a:bodyPr anchorCtr="0" anchor="t" bIns="0" lIns="0" spcFirstLastPara="1" rIns="0" wrap="square" tIns="13950">
              <a:spAutoFit/>
            </a:bodyPr>
            <a:lstStyle/>
            <a:p>
              <a:pPr indent="0" lvl="0" marL="12700" marR="0" rtl="0" algn="l">
                <a:spcBef>
                  <a:spcPts val="0"/>
                </a:spcBef>
                <a:spcAft>
                  <a:spcPts val="0"/>
                </a:spcAft>
                <a:buNone/>
              </a:pPr>
              <a:r>
                <a:rPr lang="en-US" sz="1400">
                  <a:solidFill>
                    <a:schemeClr val="dk1"/>
                  </a:solidFill>
                  <a:latin typeface="Arial"/>
                  <a:ea typeface="Arial"/>
                  <a:cs typeface="Arial"/>
                  <a:sym typeface="Arial"/>
                </a:rPr>
                <a:t>per-object threads</a:t>
              </a:r>
              <a:endParaRPr sz="1400">
                <a:solidFill>
                  <a:schemeClr val="dk1"/>
                </a:solidFill>
                <a:latin typeface="Arial"/>
                <a:ea typeface="Arial"/>
                <a:cs typeface="Arial"/>
                <a:sym typeface="Arial"/>
              </a:endParaRPr>
            </a:p>
          </p:txBody>
        </p:sp>
        <p:sp>
          <p:nvSpPr>
            <p:cNvPr id="776" name="Google Shape;776;p20"/>
            <p:cNvSpPr txBox="1"/>
            <p:nvPr/>
          </p:nvSpPr>
          <p:spPr>
            <a:xfrm>
              <a:off x="3817653" y="3207821"/>
              <a:ext cx="622934"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sp>
          <p:nvSpPr>
            <p:cNvPr id="777" name="Google Shape;777;p20"/>
            <p:cNvSpPr txBox="1"/>
            <p:nvPr/>
          </p:nvSpPr>
          <p:spPr>
            <a:xfrm>
              <a:off x="6973611" y="3180439"/>
              <a:ext cx="623570"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sp>
          <p:nvSpPr>
            <p:cNvPr id="778" name="Google Shape;778;p20"/>
            <p:cNvSpPr txBox="1"/>
            <p:nvPr/>
          </p:nvSpPr>
          <p:spPr>
            <a:xfrm>
              <a:off x="9822967" y="3074747"/>
              <a:ext cx="623570" cy="567328"/>
            </a:xfrm>
            <a:prstGeom prst="rect">
              <a:avLst/>
            </a:prstGeom>
            <a:noFill/>
            <a:ln>
              <a:noFill/>
            </a:ln>
          </p:spPr>
          <p:txBody>
            <a:bodyPr anchorCtr="0" anchor="t" bIns="0" lIns="0" spcFirstLastPara="1" rIns="0" wrap="square" tIns="33000">
              <a:spAutoFit/>
            </a:bodyPr>
            <a:lstStyle/>
            <a:p>
              <a:pPr indent="0" lvl="0" marL="12700" marR="5080" rtl="0" algn="l">
                <a:lnSpc>
                  <a:spcPct val="133571"/>
                </a:lnSpc>
                <a:spcBef>
                  <a:spcPts val="0"/>
                </a:spcBef>
                <a:spcAft>
                  <a:spcPts val="0"/>
                </a:spcAft>
                <a:buNone/>
              </a:pPr>
              <a:r>
                <a:rPr lang="en-US" sz="1400">
                  <a:solidFill>
                    <a:schemeClr val="dk1"/>
                  </a:solidFill>
                  <a:latin typeface="Arial"/>
                  <a:ea typeface="Arial"/>
                  <a:cs typeface="Arial"/>
                  <a:sym typeface="Arial"/>
                </a:rPr>
                <a:t>remote  objects</a:t>
              </a:r>
              <a:endParaRPr sz="1400">
                <a:solidFill>
                  <a:schemeClr val="dk1"/>
                </a:solidFill>
                <a:latin typeface="Arial"/>
                <a:ea typeface="Arial"/>
                <a:cs typeface="Arial"/>
                <a:sym typeface="Arial"/>
              </a:endParaRPr>
            </a:p>
          </p:txBody>
        </p:sp>
      </p:grpSp>
      <p:sp>
        <p:nvSpPr>
          <p:cNvPr id="779" name="Google Shape;779;p20"/>
          <p:cNvSpPr txBox="1"/>
          <p:nvPr/>
        </p:nvSpPr>
        <p:spPr>
          <a:xfrm>
            <a:off x="1195375" y="4145635"/>
            <a:ext cx="9753600"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1B1B1B"/>
                </a:solidFill>
                <a:latin typeface="Calibri"/>
                <a:ea typeface="Calibri"/>
                <a:cs typeface="Calibri"/>
                <a:sym typeface="Calibri"/>
              </a:rPr>
              <a:t>3</a:t>
            </a:r>
            <a:r>
              <a:rPr i="0" lang="en-US" sz="2000">
                <a:solidFill>
                  <a:srgbClr val="1B1B1B"/>
                </a:solidFill>
                <a:latin typeface="Calibri"/>
                <a:ea typeface="Calibri"/>
                <a:cs typeface="Calibri"/>
                <a:sym typeface="Calibri"/>
              </a:rPr>
              <a:t>. Thread-per-object (Luồng cho mỗi đối tượng)</a:t>
            </a:r>
            <a:endParaRPr/>
          </a:p>
          <a:p>
            <a:pPr indent="-342900" lvl="1" marL="800100" marR="0" rtl="0" algn="l">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Tiến trình gắn 1 luồng với 1 đối tượng từ xa (remote object) mà nó quản lý.</a:t>
            </a:r>
            <a:endParaRPr/>
          </a:p>
          <a:p>
            <a:pPr indent="-342900" lvl="1" marL="800100" marR="0" rtl="0" algn="l">
              <a:spcBef>
                <a:spcPts val="0"/>
              </a:spcBef>
              <a:spcAft>
                <a:spcPts val="0"/>
              </a:spcAft>
              <a:buClr>
                <a:srgbClr val="1B1B1B"/>
              </a:buClr>
              <a:buSzPts val="2000"/>
              <a:buFont typeface="Arial"/>
              <a:buChar char="•"/>
            </a:pPr>
            <a:r>
              <a:rPr b="0" i="0" lang="en-US" sz="2000" u="none" cap="none" strike="noStrike">
                <a:solidFill>
                  <a:srgbClr val="1B1B1B"/>
                </a:solidFill>
                <a:latin typeface="Calibri"/>
                <a:ea typeface="Calibri"/>
                <a:cs typeface="Calibri"/>
                <a:sym typeface="Calibri"/>
              </a:rPr>
              <a:t>Với kến trúc này luồng I/O phải quản lý thêm hàng đợi cho mỗi object</a:t>
            </a:r>
            <a:endParaRPr b="0" i="0" sz="2000" u="none" cap="none" strike="noStrike">
              <a:solidFill>
                <a:srgbClr val="1B1B1B"/>
              </a:solidFill>
              <a:latin typeface="Calibri"/>
              <a:ea typeface="Calibri"/>
              <a:cs typeface="Calibri"/>
              <a:sym typeface="Calibri"/>
            </a:endParaRPr>
          </a:p>
          <a:p>
            <a:pPr indent="-215900" lvl="1" marL="800100" marR="0" rtl="0" algn="l">
              <a:spcBef>
                <a:spcPts val="0"/>
              </a:spcBef>
              <a:spcAft>
                <a:spcPts val="0"/>
              </a:spcAft>
              <a:buClr>
                <a:schemeClr val="dk1"/>
              </a:buClr>
              <a:buSzPts val="2000"/>
              <a:buFont typeface="Arial"/>
              <a:buNone/>
            </a:pPr>
            <a:r>
              <a:t/>
            </a:r>
            <a:endParaRPr b="0" i="0" sz="2000" u="none" cap="none" strike="noStrike">
              <a:solidFill>
                <a:srgbClr val="1B1B1B"/>
              </a:solidFill>
              <a:latin typeface="Calibri"/>
              <a:ea typeface="Calibri"/>
              <a:cs typeface="Calibri"/>
              <a:sym typeface="Calibri"/>
            </a:endParaRPr>
          </a:p>
          <a:p>
            <a:pPr indent="0" lvl="0" marL="0" marR="0" rtl="0" algn="l">
              <a:spcBef>
                <a:spcPts val="0"/>
              </a:spcBef>
              <a:spcAft>
                <a:spcPts val="0"/>
              </a:spcAft>
              <a:buNone/>
            </a:pPr>
            <a:r>
              <a:rPr i="0" lang="en-US" sz="2000">
                <a:solidFill>
                  <a:srgbClr val="1B1B1B"/>
                </a:solidFill>
                <a:latin typeface="Calibri"/>
                <a:ea typeface="Calibri"/>
                <a:cs typeface="Calibri"/>
                <a:sym typeface="Calibri"/>
              </a:rPr>
              <a:t>Tuy nhiên</a:t>
            </a:r>
            <a:r>
              <a:rPr lang="en-US" sz="2000">
                <a:solidFill>
                  <a:srgbClr val="1B1B1B"/>
                </a:solidFill>
                <a:latin typeface="Calibri"/>
                <a:ea typeface="Calibri"/>
                <a:cs typeface="Calibri"/>
                <a:sym typeface="Calibri"/>
              </a:rPr>
              <a:t>, giống như </a:t>
            </a:r>
            <a:r>
              <a:rPr i="0" lang="en-US" sz="2000">
                <a:solidFill>
                  <a:srgbClr val="1B1B1B"/>
                </a:solidFill>
                <a:latin typeface="Calibri"/>
                <a:ea typeface="Calibri"/>
                <a:cs typeface="Calibri"/>
                <a:sym typeface="Calibri"/>
              </a:rPr>
              <a:t>Thread-per-connection,</a:t>
            </a:r>
            <a:r>
              <a:rPr lang="en-US" sz="2000">
                <a:solidFill>
                  <a:srgbClr val="1B1B1B"/>
                </a:solidFill>
                <a:latin typeface="Calibri"/>
                <a:ea typeface="Calibri"/>
                <a:cs typeface="Calibri"/>
                <a:sym typeface="Calibri"/>
              </a:rPr>
              <a:t> c</a:t>
            </a:r>
            <a:r>
              <a:rPr i="0" lang="en-US" sz="2000">
                <a:solidFill>
                  <a:srgbClr val="1B1B1B"/>
                </a:solidFill>
                <a:latin typeface="Calibri"/>
                <a:ea typeface="Calibri"/>
                <a:cs typeface="Calibri"/>
                <a:sym typeface="Calibri"/>
              </a:rPr>
              <a:t>ác client có thể bị phục vụ với độ trễ cao do 1 số luồng thì phục vụ quá nhiều request trong khi 1 số luồng khác có thể phục vụ ít/không tại cùng thời điểm</a:t>
            </a:r>
            <a:endParaRPr i="0" sz="2000">
              <a:solidFill>
                <a:srgbClr val="1B1B1B"/>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21"/>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5" name="Google Shape;785;p21"/>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CLIENT TRONG HPT</a:t>
            </a:r>
            <a:endParaRPr/>
          </a:p>
        </p:txBody>
      </p:sp>
      <p:sp>
        <p:nvSpPr>
          <p:cNvPr id="786" name="Google Shape;786;p21"/>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7" name="Google Shape;787;p21"/>
          <p:cNvSpPr txBox="1"/>
          <p:nvPr/>
        </p:nvSpPr>
        <p:spPr>
          <a:xfrm>
            <a:off x="838200" y="1676400"/>
            <a:ext cx="10515600"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1B1B1B"/>
                </a:solidFill>
                <a:latin typeface="Calibri"/>
                <a:ea typeface="Calibri"/>
                <a:cs typeface="Calibri"/>
                <a:sym typeface="Calibri"/>
              </a:rPr>
              <a:t>Các kiến trúc tổ chức cơ bản trong Client đa luồng</a:t>
            </a:r>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Tách biệt giao diện người dùng và xử lý: </a:t>
            </a:r>
            <a:endParaRPr b="0" i="0" sz="2400" u="none" cap="none" strike="noStrike">
              <a:solidFill>
                <a:srgbClr val="1B1B1B"/>
              </a:solidFill>
              <a:latin typeface="Calibri"/>
              <a:ea typeface="Calibri"/>
              <a:cs typeface="Calibri"/>
              <a:sym typeface="Calibri"/>
            </a:endParaRPr>
          </a:p>
          <a:p>
            <a:pPr indent="-342900" lvl="2" marL="12573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Luồng xử lý hiển thị giao diện người dùng </a:t>
            </a:r>
            <a:endParaRPr b="0" i="0" sz="2400" u="none" cap="none" strike="noStrike">
              <a:solidFill>
                <a:srgbClr val="1B1B1B"/>
              </a:solidFill>
              <a:latin typeface="Calibri"/>
              <a:ea typeface="Calibri"/>
              <a:cs typeface="Calibri"/>
              <a:sym typeface="Calibri"/>
            </a:endParaRPr>
          </a:p>
          <a:p>
            <a:pPr indent="-342900" lvl="2" marL="12573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Luồng xử lý bên trong</a:t>
            </a:r>
            <a:endParaRPr b="0" i="0" sz="2400" u="none" cap="none" strike="noStrike">
              <a:solidFill>
                <a:srgbClr val="1B1B1B"/>
              </a:solidFill>
              <a:latin typeface="Calibri"/>
              <a:ea typeface="Calibri"/>
              <a:cs typeface="Calibri"/>
              <a:sym typeface="Calibri"/>
            </a:endParaRPr>
          </a:p>
          <a:p>
            <a:pPr indent="-342900" lvl="2" marL="1257300" marR="0" rtl="0" algn="just">
              <a:spcBef>
                <a:spcPts val="0"/>
              </a:spcBef>
              <a:spcAft>
                <a:spcPts val="0"/>
              </a:spcAft>
              <a:buClr>
                <a:srgbClr val="1B1B1B"/>
              </a:buClr>
              <a:buSzPts val="2400"/>
              <a:buFont typeface="Noto Sans Symbols"/>
              <a:buChar char="⇒"/>
            </a:pPr>
            <a:r>
              <a:rPr b="0" i="0" lang="en-US" sz="2400" u="none" cap="none" strike="noStrike">
                <a:solidFill>
                  <a:srgbClr val="1B1B1B"/>
                </a:solidFill>
                <a:latin typeface="Calibri"/>
                <a:ea typeface="Calibri"/>
                <a:cs typeface="Calibri"/>
                <a:sym typeface="Calibri"/>
              </a:rPr>
              <a:t>tăng tốc độ sử dụng hệ thống </a:t>
            </a:r>
            <a:endParaRPr b="0" i="0" sz="2400" u="none" cap="none" strike="noStrike">
              <a:solidFill>
                <a:srgbClr val="1B1B1B"/>
              </a:solidFill>
              <a:latin typeface="Calibri"/>
              <a:ea typeface="Calibri"/>
              <a:cs typeface="Calibri"/>
              <a:sym typeface="Calibri"/>
            </a:endParaRPr>
          </a:p>
          <a:p>
            <a:pPr indent="-342900" lvl="2" marL="1257300" marR="0" rtl="0" algn="just">
              <a:spcBef>
                <a:spcPts val="0"/>
              </a:spcBef>
              <a:spcAft>
                <a:spcPts val="0"/>
              </a:spcAft>
              <a:buClr>
                <a:srgbClr val="1B1B1B"/>
              </a:buClr>
              <a:buSzPts val="2400"/>
              <a:buFont typeface="Noto Sans Symbols"/>
              <a:buChar char="⇒"/>
            </a:pPr>
            <a:r>
              <a:rPr b="0" i="0" lang="en-US" sz="2400" u="none" cap="none" strike="noStrike">
                <a:solidFill>
                  <a:srgbClr val="1B1B1B"/>
                </a:solidFill>
                <a:latin typeface="Calibri"/>
                <a:ea typeface="Calibri"/>
                <a:cs typeface="Calibri"/>
                <a:sym typeface="Calibri"/>
              </a:rPr>
              <a:t>che giấu được độ trễ của thời gian phục vụ.</a:t>
            </a:r>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Tương tác với nhiều server khác nhau:</a:t>
            </a:r>
            <a:endParaRPr b="0" i="0" sz="2400" u="none" cap="none" strike="noStrike">
              <a:solidFill>
                <a:srgbClr val="1B1B1B"/>
              </a:solidFill>
              <a:latin typeface="Calibri"/>
              <a:ea typeface="Calibri"/>
              <a:cs typeface="Calibri"/>
              <a:sym typeface="Calibri"/>
            </a:endParaRPr>
          </a:p>
          <a:p>
            <a:pPr indent="-342900" lvl="2" marL="12573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Ứng với mỗi server tiến tình client sinh ra 1 luồng để xử lý công việc tương ứng với server đó</a:t>
            </a:r>
            <a:endParaRPr b="0" i="0" sz="2400" u="none" cap="none" strike="noStrike">
              <a:solidFill>
                <a:srgbClr val="1B1B1B"/>
              </a:solidFill>
              <a:latin typeface="Calibri"/>
              <a:ea typeface="Calibri"/>
              <a:cs typeface="Calibri"/>
              <a:sym typeface="Calibri"/>
            </a:endParaRPr>
          </a:p>
          <a:p>
            <a:pPr indent="-342900" lvl="2" marL="1257300" marR="0" rtl="0" algn="just">
              <a:spcBef>
                <a:spcPts val="0"/>
              </a:spcBef>
              <a:spcAft>
                <a:spcPts val="0"/>
              </a:spcAft>
              <a:buClr>
                <a:srgbClr val="1B1B1B"/>
              </a:buClr>
              <a:buSzPts val="2400"/>
              <a:buFont typeface="Noto Sans Symbols"/>
              <a:buChar char="⇒"/>
            </a:pPr>
            <a:r>
              <a:rPr b="0" i="0" lang="en-US" sz="2400" u="none" cap="none" strike="noStrike">
                <a:solidFill>
                  <a:srgbClr val="1B1B1B"/>
                </a:solidFill>
                <a:latin typeface="Calibri"/>
                <a:ea typeface="Calibri"/>
                <a:cs typeface="Calibri"/>
                <a:sym typeface="Calibri"/>
              </a:rPr>
              <a:t>Tăng tốc độ khi làm việc</a:t>
            </a:r>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Che giấu các chi tiết cài đặt: phân tách 1 luồng để phục vụ giao diện người dùng, các luồng khác thực hiện các thao tác cài đặt cần thiết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22"/>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3" name="Google Shape;793;p22"/>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BÀI TẬP</a:t>
            </a:r>
            <a:endParaRPr/>
          </a:p>
        </p:txBody>
      </p:sp>
      <p:sp>
        <p:nvSpPr>
          <p:cNvPr id="794" name="Google Shape;794;p22"/>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5" name="Google Shape;795;p22"/>
          <p:cNvSpPr txBox="1"/>
          <p:nvPr/>
        </p:nvSpPr>
        <p:spPr>
          <a:xfrm>
            <a:off x="838200" y="1676400"/>
            <a:ext cx="10515600"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1B1B1B"/>
                </a:solidFill>
                <a:latin typeface="Calibri"/>
                <a:ea typeface="Calibri"/>
                <a:cs typeface="Calibri"/>
                <a:sym typeface="Calibri"/>
              </a:rPr>
              <a:t>Lựa chọn một ứng dụng cụ thể bất kỳ sử dụng mô hình Client – Server. Trình bày giải pháp triển khai dưới dạng client-server đa luồng, trong đó lưu ý:</a:t>
            </a:r>
            <a:endParaRPr/>
          </a:p>
          <a:p>
            <a:pPr indent="-342900" lvl="0" marL="342900" marR="0" rtl="0" algn="just">
              <a:spcBef>
                <a:spcPts val="0"/>
              </a:spcBef>
              <a:spcAft>
                <a:spcPts val="0"/>
              </a:spcAft>
              <a:buClr>
                <a:srgbClr val="1B1B1B"/>
              </a:buClr>
              <a:buSzPts val="2400"/>
              <a:buFont typeface="Calibri"/>
              <a:buChar char="-"/>
            </a:pPr>
            <a:r>
              <a:rPr i="0" lang="en-US" sz="2400">
                <a:solidFill>
                  <a:srgbClr val="1B1B1B"/>
                </a:solidFill>
                <a:latin typeface="Calibri"/>
                <a:ea typeface="Calibri"/>
                <a:cs typeface="Calibri"/>
                <a:sym typeface="Calibri"/>
              </a:rPr>
              <a:t>Mô tả ứng dụng và các chức năng chính.</a:t>
            </a:r>
            <a:endParaRPr/>
          </a:p>
          <a:p>
            <a:pPr indent="-342900" lvl="0" marL="342900" marR="0" rtl="0" algn="just">
              <a:spcBef>
                <a:spcPts val="0"/>
              </a:spcBef>
              <a:spcAft>
                <a:spcPts val="0"/>
              </a:spcAft>
              <a:buClr>
                <a:srgbClr val="1B1B1B"/>
              </a:buClr>
              <a:buSzPts val="2400"/>
              <a:buFont typeface="Calibri"/>
              <a:buChar char="-"/>
            </a:pPr>
            <a:r>
              <a:rPr i="0" lang="en-US" sz="2400">
                <a:solidFill>
                  <a:srgbClr val="1B1B1B"/>
                </a:solidFill>
                <a:latin typeface="Calibri"/>
                <a:ea typeface="Calibri"/>
                <a:cs typeface="Calibri"/>
                <a:sym typeface="Calibri"/>
              </a:rPr>
              <a:t>Ch</a:t>
            </a:r>
            <a:r>
              <a:rPr lang="en-US" sz="2400">
                <a:solidFill>
                  <a:srgbClr val="1B1B1B"/>
                </a:solidFill>
                <a:latin typeface="Calibri"/>
                <a:ea typeface="Calibri"/>
                <a:cs typeface="Calibri"/>
                <a:sym typeface="Calibri"/>
              </a:rPr>
              <a:t>ỉ rõ lựa chọn phương thức tổ chức client, server nào; vẽ sơ đồ luồng và giải thích lý do lựa chọn.</a:t>
            </a:r>
            <a:endParaRPr/>
          </a:p>
          <a:p>
            <a:pPr indent="-342900" lvl="0" marL="342900" marR="0" rtl="0" algn="just">
              <a:spcBef>
                <a:spcPts val="0"/>
              </a:spcBef>
              <a:spcAft>
                <a:spcPts val="0"/>
              </a:spcAft>
              <a:buClr>
                <a:srgbClr val="1B1B1B"/>
              </a:buClr>
              <a:buSzPts val="2400"/>
              <a:buFont typeface="Calibri"/>
              <a:buChar char="-"/>
            </a:pPr>
            <a:r>
              <a:rPr i="0" lang="en-US" sz="2400">
                <a:solidFill>
                  <a:srgbClr val="1B1B1B"/>
                </a:solidFill>
                <a:latin typeface="Calibri"/>
                <a:ea typeface="Calibri"/>
                <a:cs typeface="Calibri"/>
                <a:sym typeface="Calibri"/>
              </a:rPr>
              <a:t>B</a:t>
            </a:r>
            <a:r>
              <a:rPr lang="en-US" sz="2400">
                <a:solidFill>
                  <a:srgbClr val="1B1B1B"/>
                </a:solidFill>
                <a:latin typeface="Calibri"/>
                <a:ea typeface="Calibri"/>
                <a:cs typeface="Calibri"/>
                <a:sym typeface="Calibri"/>
              </a:rPr>
              <a:t>ài làm:</a:t>
            </a:r>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Trình bày tối thiểu 1 trang và tối đa 2 trang A4</a:t>
            </a:r>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Thời gian làm: 60p</a:t>
            </a:r>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Nộp bài: Canvas</a:t>
            </a:r>
            <a:endParaRPr b="0" i="0" sz="2400" u="none" cap="none" strike="noStrike">
              <a:solidFill>
                <a:srgbClr val="1B1B1B"/>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23"/>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1" name="Google Shape;801;p23"/>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BÀI TẬP</a:t>
            </a:r>
            <a:endParaRPr/>
          </a:p>
        </p:txBody>
      </p:sp>
      <p:sp>
        <p:nvSpPr>
          <p:cNvPr id="802" name="Google Shape;802;p23"/>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3" name="Google Shape;803;p23"/>
          <p:cNvSpPr txBox="1"/>
          <p:nvPr/>
        </p:nvSpPr>
        <p:spPr>
          <a:xfrm>
            <a:off x="838200" y="1676400"/>
            <a:ext cx="10515600" cy="415498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1B1B1B"/>
                </a:solidFill>
                <a:latin typeface="Calibri"/>
                <a:ea typeface="Calibri"/>
                <a:cs typeface="Calibri"/>
                <a:sym typeface="Calibri"/>
              </a:rPr>
              <a:t>Ứng dụng Cổng thông tin sinh viên</a:t>
            </a:r>
            <a:endParaRPr b="1" sz="2400">
              <a:solidFill>
                <a:srgbClr val="1B1B1B"/>
              </a:solidFill>
              <a:latin typeface="Calibri"/>
              <a:ea typeface="Calibri"/>
              <a:cs typeface="Calibri"/>
              <a:sym typeface="Calibri"/>
            </a:endParaRPr>
          </a:p>
          <a:p>
            <a:pPr indent="-342900" lvl="0" marL="342900" marR="0" rtl="0" algn="just">
              <a:spcBef>
                <a:spcPts val="0"/>
              </a:spcBef>
              <a:spcAft>
                <a:spcPts val="0"/>
              </a:spcAft>
              <a:buClr>
                <a:srgbClr val="1B1B1B"/>
              </a:buClr>
              <a:buSzPts val="2400"/>
              <a:buFont typeface="Arial"/>
              <a:buChar char="•"/>
            </a:pPr>
            <a:r>
              <a:rPr lang="en-US" sz="2400">
                <a:solidFill>
                  <a:srgbClr val="1B1B1B"/>
                </a:solidFill>
                <a:latin typeface="Calibri"/>
                <a:ea typeface="Calibri"/>
                <a:cs typeface="Calibri"/>
                <a:sym typeface="Calibri"/>
              </a:rPr>
              <a:t>Chức năng chính</a:t>
            </a:r>
            <a:endParaRPr sz="2400">
              <a:solidFill>
                <a:srgbClr val="1B1B1B"/>
              </a:solidFill>
              <a:latin typeface="Calibri"/>
              <a:ea typeface="Calibri"/>
              <a:cs typeface="Calibri"/>
              <a:sym typeface="Calibri"/>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Đăng nhập</a:t>
            </a:r>
            <a:endParaRPr b="0" i="0" sz="2400" u="none" cap="none" strike="noStrike">
              <a:solidFill>
                <a:srgbClr val="1B1B1B"/>
              </a:solidFill>
              <a:latin typeface="Calibri"/>
              <a:ea typeface="Calibri"/>
              <a:cs typeface="Calibri"/>
              <a:sym typeface="Calibri"/>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Thanh toán học phí</a:t>
            </a:r>
            <a:endParaRPr b="0" i="0" sz="2400" u="none" cap="none" strike="noStrike">
              <a:solidFill>
                <a:srgbClr val="1B1B1B"/>
              </a:solidFill>
              <a:latin typeface="Calibri"/>
              <a:ea typeface="Calibri"/>
              <a:cs typeface="Calibri"/>
              <a:sym typeface="Calibri"/>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Cập nhật, tra cứu thông tin,…</a:t>
            </a:r>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Đăng ký học</a:t>
            </a:r>
            <a:endParaRPr b="0" i="0" sz="2400" u="none" cap="none" strike="noStrike">
              <a:solidFill>
                <a:srgbClr val="1B1B1B"/>
              </a:solidFill>
              <a:latin typeface="Calibri"/>
              <a:ea typeface="Calibri"/>
              <a:cs typeface="Calibri"/>
              <a:sym typeface="Calibri"/>
            </a:endParaRPr>
          </a:p>
          <a:p>
            <a:pPr indent="-342900" lvl="0" marL="342900" marR="0" rtl="0" algn="just">
              <a:spcBef>
                <a:spcPts val="0"/>
              </a:spcBef>
              <a:spcAft>
                <a:spcPts val="0"/>
              </a:spcAft>
              <a:buClr>
                <a:srgbClr val="1B1B1B"/>
              </a:buClr>
              <a:buSzPts val="2400"/>
              <a:buFont typeface="Arial"/>
              <a:buChar char="•"/>
            </a:pPr>
            <a:r>
              <a:rPr lang="en-US" sz="2400">
                <a:solidFill>
                  <a:srgbClr val="1B1B1B"/>
                </a:solidFill>
                <a:latin typeface="Calibri"/>
                <a:ea typeface="Calibri"/>
                <a:cs typeface="Calibri"/>
                <a:sym typeface="Calibri"/>
              </a:rPr>
              <a:t>Đối tượng: Sinh viên các khoá</a:t>
            </a:r>
            <a:endParaRPr sz="2400">
              <a:solidFill>
                <a:srgbClr val="1B1B1B"/>
              </a:solidFill>
              <a:latin typeface="Calibri"/>
              <a:ea typeface="Calibri"/>
              <a:cs typeface="Calibri"/>
              <a:sym typeface="Calibri"/>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Năm nhất</a:t>
            </a:r>
            <a:endParaRPr b="0" i="0" sz="2400" u="none" cap="none" strike="noStrike">
              <a:solidFill>
                <a:srgbClr val="1B1B1B"/>
              </a:solidFill>
              <a:latin typeface="Calibri"/>
              <a:ea typeface="Calibri"/>
              <a:cs typeface="Calibri"/>
              <a:sym typeface="Calibri"/>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Năm hai</a:t>
            </a:r>
            <a:endParaRPr b="0" i="0" sz="2400" u="none" cap="none" strike="noStrike">
              <a:solidFill>
                <a:srgbClr val="1B1B1B"/>
              </a:solidFill>
              <a:latin typeface="Calibri"/>
              <a:ea typeface="Calibri"/>
              <a:cs typeface="Calibri"/>
              <a:sym typeface="Calibri"/>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Năm ba</a:t>
            </a:r>
            <a:endParaRPr b="0" i="0" sz="2400" u="none" cap="none" strike="noStrike">
              <a:solidFill>
                <a:srgbClr val="1B1B1B"/>
              </a:solidFill>
              <a:latin typeface="Calibri"/>
              <a:ea typeface="Calibri"/>
              <a:cs typeface="Calibri"/>
              <a:sym typeface="Calibri"/>
            </a:endParaRPr>
          </a:p>
          <a:p>
            <a:pPr indent="-342900" lvl="1" marL="800100" marR="0" rtl="0" algn="just">
              <a:spcBef>
                <a:spcPts val="0"/>
              </a:spcBef>
              <a:spcAft>
                <a:spcPts val="0"/>
              </a:spcAft>
              <a:buClr>
                <a:srgbClr val="1B1B1B"/>
              </a:buClr>
              <a:buSzPts val="2400"/>
              <a:buFont typeface="Arial"/>
              <a:buChar char="•"/>
            </a:pPr>
            <a:r>
              <a:rPr b="0" i="0" lang="en-US" sz="2400" u="none" cap="none" strike="noStrike">
                <a:solidFill>
                  <a:srgbClr val="1B1B1B"/>
                </a:solidFill>
                <a:latin typeface="Calibri"/>
                <a:ea typeface="Calibri"/>
                <a:cs typeface="Calibri"/>
                <a:sym typeface="Calibri"/>
              </a:rPr>
              <a:t>Năm tư</a:t>
            </a:r>
            <a:endParaRPr b="0" i="0" sz="2400" u="none" cap="none" strike="noStrike">
              <a:solidFill>
                <a:srgbClr val="1B1B1B"/>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24"/>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0" name="Google Shape;810;p24"/>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BÀI TẬP</a:t>
            </a:r>
            <a:endParaRPr/>
          </a:p>
        </p:txBody>
      </p:sp>
      <p:sp>
        <p:nvSpPr>
          <p:cNvPr id="811" name="Google Shape;811;p24"/>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2" name="Google Shape;812;p24"/>
          <p:cNvSpPr txBox="1"/>
          <p:nvPr/>
        </p:nvSpPr>
        <p:spPr>
          <a:xfrm>
            <a:off x="838200" y="1676400"/>
            <a:ext cx="10515600"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1B1B1B"/>
                </a:solidFill>
                <a:latin typeface="Calibri"/>
                <a:ea typeface="Calibri"/>
                <a:cs typeface="Calibri"/>
                <a:sym typeface="Calibri"/>
              </a:rPr>
              <a:t>Ứng dụng đăng ký học tập</a:t>
            </a:r>
            <a:endParaRPr b="1" sz="2400">
              <a:solidFill>
                <a:srgbClr val="1B1B1B"/>
              </a:solidFill>
              <a:latin typeface="Calibri"/>
              <a:ea typeface="Calibri"/>
              <a:cs typeface="Calibri"/>
              <a:sym typeface="Calibri"/>
            </a:endParaRPr>
          </a:p>
          <a:p>
            <a:pPr indent="-342900" lvl="0" marL="342900" marR="0" rtl="0" algn="just">
              <a:spcBef>
                <a:spcPts val="0"/>
              </a:spcBef>
              <a:spcAft>
                <a:spcPts val="0"/>
              </a:spcAft>
              <a:buClr>
                <a:srgbClr val="1B1B1B"/>
              </a:buClr>
              <a:buSzPts val="2400"/>
              <a:buFont typeface="Arial"/>
              <a:buChar char="•"/>
            </a:pPr>
            <a:r>
              <a:rPr lang="en-US" sz="2400">
                <a:solidFill>
                  <a:srgbClr val="1B1B1B"/>
                </a:solidFill>
                <a:latin typeface="Calibri"/>
                <a:ea typeface="Calibri"/>
                <a:cs typeface="Calibri"/>
                <a:sym typeface="Calibri"/>
              </a:rPr>
              <a:t>Tổ chức client-server đa luồng</a:t>
            </a:r>
            <a:endParaRPr sz="2400">
              <a:solidFill>
                <a:srgbClr val="1B1B1B"/>
              </a:solidFill>
              <a:latin typeface="Calibri"/>
              <a:ea typeface="Calibri"/>
              <a:cs typeface="Calibri"/>
              <a:sym typeface="Calibri"/>
            </a:endParaRPr>
          </a:p>
        </p:txBody>
      </p:sp>
      <p:sp>
        <p:nvSpPr>
          <p:cNvPr id="813" name="Google Shape;813;p24"/>
          <p:cNvSpPr/>
          <p:nvPr/>
        </p:nvSpPr>
        <p:spPr>
          <a:xfrm>
            <a:off x="3921457" y="4528274"/>
            <a:ext cx="1371600" cy="487108"/>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Dispatcher</a:t>
            </a:r>
            <a:endParaRPr/>
          </a:p>
        </p:txBody>
      </p:sp>
      <p:pic>
        <p:nvPicPr>
          <p:cNvPr descr="Value, server Icon in WHCompare Isometric Web Hosting &amp; Servers" id="814" name="Google Shape;814;p24"/>
          <p:cNvPicPr preferRelativeResize="0"/>
          <p:nvPr/>
        </p:nvPicPr>
        <p:blipFill rotWithShape="1">
          <a:blip r:embed="rId3">
            <a:alphaModFix/>
          </a:blip>
          <a:srcRect b="0" l="0" r="0" t="0"/>
          <a:stretch/>
        </p:blipFill>
        <p:spPr>
          <a:xfrm>
            <a:off x="3845257" y="2831193"/>
            <a:ext cx="1524000" cy="1524000"/>
          </a:xfrm>
          <a:prstGeom prst="rect">
            <a:avLst/>
          </a:prstGeom>
          <a:noFill/>
          <a:ln>
            <a:noFill/>
          </a:ln>
        </p:spPr>
      </p:pic>
      <p:sp>
        <p:nvSpPr>
          <p:cNvPr id="815" name="Google Shape;815;p24"/>
          <p:cNvSpPr/>
          <p:nvPr/>
        </p:nvSpPr>
        <p:spPr>
          <a:xfrm>
            <a:off x="7239000" y="2079557"/>
            <a:ext cx="1524000" cy="1342828"/>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Compute 1</a:t>
            </a:r>
            <a:endParaRPr/>
          </a:p>
        </p:txBody>
      </p:sp>
      <p:sp>
        <p:nvSpPr>
          <p:cNvPr id="816" name="Google Shape;816;p24"/>
          <p:cNvSpPr/>
          <p:nvPr/>
        </p:nvSpPr>
        <p:spPr>
          <a:xfrm>
            <a:off x="7258334" y="5015382"/>
            <a:ext cx="1524000" cy="1342828"/>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Compute 2</a:t>
            </a:r>
            <a:endParaRPr/>
          </a:p>
        </p:txBody>
      </p:sp>
      <p:cxnSp>
        <p:nvCxnSpPr>
          <p:cNvPr id="817" name="Google Shape;817;p24"/>
          <p:cNvCxnSpPr>
            <a:stCxn id="814" idx="3"/>
            <a:endCxn id="815" idx="1"/>
          </p:cNvCxnSpPr>
          <p:nvPr/>
        </p:nvCxnSpPr>
        <p:spPr>
          <a:xfrm flipH="1" rot="10800000">
            <a:off x="5369257" y="2751093"/>
            <a:ext cx="1869600" cy="842100"/>
          </a:xfrm>
          <a:prstGeom prst="straightConnector1">
            <a:avLst/>
          </a:prstGeom>
          <a:noFill/>
          <a:ln cap="flat" cmpd="sng" w="9525">
            <a:solidFill>
              <a:schemeClr val="accent1"/>
            </a:solidFill>
            <a:prstDash val="solid"/>
            <a:miter lim="800000"/>
            <a:headEnd len="sm" w="sm" type="none"/>
            <a:tailEnd len="med" w="med" type="triangle"/>
          </a:ln>
        </p:spPr>
      </p:cxnSp>
      <p:cxnSp>
        <p:nvCxnSpPr>
          <p:cNvPr id="818" name="Google Shape;818;p24"/>
          <p:cNvCxnSpPr>
            <a:stCxn id="814" idx="3"/>
            <a:endCxn id="816" idx="1"/>
          </p:cNvCxnSpPr>
          <p:nvPr/>
        </p:nvCxnSpPr>
        <p:spPr>
          <a:xfrm>
            <a:off x="5369257" y="3593193"/>
            <a:ext cx="1889100" cy="2093700"/>
          </a:xfrm>
          <a:prstGeom prst="straightConnector1">
            <a:avLst/>
          </a:prstGeom>
          <a:noFill/>
          <a:ln cap="flat" cmpd="sng" w="9525">
            <a:solidFill>
              <a:schemeClr val="accent1"/>
            </a:solidFill>
            <a:prstDash val="solid"/>
            <a:miter lim="800000"/>
            <a:headEnd len="sm" w="sm" type="none"/>
            <a:tailEnd len="med" w="med" type="triangle"/>
          </a:ln>
        </p:spPr>
      </p:cxnSp>
      <p:sp>
        <p:nvSpPr>
          <p:cNvPr id="819" name="Google Shape;819;p24"/>
          <p:cNvSpPr txBox="1"/>
          <p:nvPr/>
        </p:nvSpPr>
        <p:spPr>
          <a:xfrm>
            <a:off x="5670697" y="2811647"/>
            <a:ext cx="1326004"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Request:</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Đăng ký học</a:t>
            </a:r>
            <a:endParaRPr sz="1800">
              <a:solidFill>
                <a:schemeClr val="dk1"/>
              </a:solidFill>
              <a:latin typeface="Calibri"/>
              <a:ea typeface="Calibri"/>
              <a:cs typeface="Calibri"/>
              <a:sym typeface="Calibri"/>
            </a:endParaRPr>
          </a:p>
        </p:txBody>
      </p:sp>
      <p:sp>
        <p:nvSpPr>
          <p:cNvPr id="820" name="Google Shape;820;p24"/>
          <p:cNvSpPr txBox="1"/>
          <p:nvPr/>
        </p:nvSpPr>
        <p:spPr>
          <a:xfrm>
            <a:off x="5704817" y="4502536"/>
            <a:ext cx="15101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Request: Khác</a:t>
            </a:r>
            <a:endParaRPr sz="1800">
              <a:solidFill>
                <a:schemeClr val="dk1"/>
              </a:solidFill>
              <a:latin typeface="Calibri"/>
              <a:ea typeface="Calibri"/>
              <a:cs typeface="Calibri"/>
              <a:sym typeface="Calibri"/>
            </a:endParaRPr>
          </a:p>
        </p:txBody>
      </p:sp>
      <p:pic>
        <p:nvPicPr>
          <p:cNvPr id="821" name="Google Shape;821;p24"/>
          <p:cNvPicPr preferRelativeResize="0"/>
          <p:nvPr/>
        </p:nvPicPr>
        <p:blipFill rotWithShape="1">
          <a:blip r:embed="rId4">
            <a:alphaModFix/>
          </a:blip>
          <a:srcRect b="2620" l="34741" r="33792" t="-2620"/>
          <a:stretch/>
        </p:blipFill>
        <p:spPr>
          <a:xfrm>
            <a:off x="8848867" y="1578356"/>
            <a:ext cx="2419066" cy="2505673"/>
          </a:xfrm>
          <a:prstGeom prst="rect">
            <a:avLst/>
          </a:prstGeom>
          <a:noFill/>
          <a:ln>
            <a:noFill/>
          </a:ln>
        </p:spPr>
      </p:pic>
      <p:pic>
        <p:nvPicPr>
          <p:cNvPr descr="Client - Free marketing icons" id="822" name="Google Shape;822;p24"/>
          <p:cNvPicPr preferRelativeResize="0"/>
          <p:nvPr/>
        </p:nvPicPr>
        <p:blipFill rotWithShape="1">
          <a:blip r:embed="rId5">
            <a:alphaModFix/>
          </a:blip>
          <a:srcRect b="0" l="0" r="0" t="0"/>
          <a:stretch/>
        </p:blipFill>
        <p:spPr>
          <a:xfrm>
            <a:off x="123694" y="3857427"/>
            <a:ext cx="995532" cy="995532"/>
          </a:xfrm>
          <a:prstGeom prst="rect">
            <a:avLst/>
          </a:prstGeom>
          <a:noFill/>
          <a:ln>
            <a:noFill/>
          </a:ln>
        </p:spPr>
      </p:pic>
      <p:pic>
        <p:nvPicPr>
          <p:cNvPr id="823" name="Google Shape;823;p24"/>
          <p:cNvPicPr preferRelativeResize="0"/>
          <p:nvPr/>
        </p:nvPicPr>
        <p:blipFill rotWithShape="1">
          <a:blip r:embed="rId6">
            <a:alphaModFix/>
          </a:blip>
          <a:srcRect b="0" l="0" r="0" t="0"/>
          <a:stretch/>
        </p:blipFill>
        <p:spPr>
          <a:xfrm>
            <a:off x="621460" y="3390538"/>
            <a:ext cx="1207151" cy="1207151"/>
          </a:xfrm>
          <a:prstGeom prst="rect">
            <a:avLst/>
          </a:prstGeom>
          <a:noFill/>
          <a:ln>
            <a:noFill/>
          </a:ln>
        </p:spPr>
      </p:pic>
      <p:cxnSp>
        <p:nvCxnSpPr>
          <p:cNvPr id="824" name="Google Shape;824;p24"/>
          <p:cNvCxnSpPr>
            <a:stCxn id="823" idx="3"/>
            <a:endCxn id="814" idx="1"/>
          </p:cNvCxnSpPr>
          <p:nvPr/>
        </p:nvCxnSpPr>
        <p:spPr>
          <a:xfrm flipH="1" rot="10800000">
            <a:off x="1828611" y="3593314"/>
            <a:ext cx="2016600" cy="400800"/>
          </a:xfrm>
          <a:prstGeom prst="straightConnector1">
            <a:avLst/>
          </a:prstGeom>
          <a:noFill/>
          <a:ln cap="flat" cmpd="sng" w="9525">
            <a:solidFill>
              <a:schemeClr val="accent1"/>
            </a:solidFill>
            <a:prstDash val="solid"/>
            <a:miter lim="800000"/>
            <a:headEnd len="sm" w="sm" type="none"/>
            <a:tailEnd len="med" w="med" type="triangle"/>
          </a:ln>
        </p:spPr>
      </p:cxnSp>
      <p:sp>
        <p:nvSpPr>
          <p:cNvPr id="825" name="Google Shape;825;p24"/>
          <p:cNvSpPr txBox="1"/>
          <p:nvPr/>
        </p:nvSpPr>
        <p:spPr>
          <a:xfrm>
            <a:off x="621460" y="4944848"/>
            <a:ext cx="5466230"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rgbClr val="FF0000"/>
                </a:solidFill>
                <a:latin typeface="Calibri"/>
                <a:ea typeface="Calibri"/>
                <a:cs typeface="Calibri"/>
                <a:sym typeface="Calibri"/>
              </a:rPr>
              <a:t>Thread-per-connection: </a:t>
            </a:r>
            <a:endParaRPr/>
          </a:p>
          <a:p>
            <a:pPr indent="-285750" lvl="0" marL="285750" marR="0" rtl="0" algn="just">
              <a:spcBef>
                <a:spcPts val="0"/>
              </a:spcBef>
              <a:spcAft>
                <a:spcPts val="0"/>
              </a:spcAft>
              <a:buClr>
                <a:srgbClr val="FF0000"/>
              </a:buClr>
              <a:buSzPts val="1800"/>
              <a:buFont typeface="Arial"/>
              <a:buChar char="•"/>
            </a:pPr>
            <a:r>
              <a:rPr i="0" lang="en-US" sz="1800">
                <a:solidFill>
                  <a:srgbClr val="FF0000"/>
                </a:solidFill>
                <a:latin typeface="Calibri"/>
                <a:ea typeface="Calibri"/>
                <a:cs typeface="Calibri"/>
                <a:sym typeface="Calibri"/>
              </a:rPr>
              <a:t>Khi client gửi request kết nối đến với server, server sẽ tạo ra 1 luồng cho kết nối đó: đảm bảo phục vụ quá trình đăng ký</a:t>
            </a:r>
            <a:endParaRPr i="0" sz="1800">
              <a:solidFill>
                <a:srgbClr val="FF0000"/>
              </a:solidFill>
              <a:latin typeface="Calibri"/>
              <a:ea typeface="Calibri"/>
              <a:cs typeface="Calibri"/>
              <a:sym typeface="Calibri"/>
            </a:endParaRPr>
          </a:p>
          <a:p>
            <a:pPr indent="-285750" lvl="0" marL="285750" marR="0" rtl="0" algn="just">
              <a:spcBef>
                <a:spcPts val="0"/>
              </a:spcBef>
              <a:spcAft>
                <a:spcPts val="0"/>
              </a:spcAft>
              <a:buClr>
                <a:srgbClr val="FF0000"/>
              </a:buClr>
              <a:buSzPts val="1800"/>
              <a:buFont typeface="Arial"/>
              <a:buChar char="•"/>
            </a:pPr>
            <a:r>
              <a:rPr lang="en-US" sz="1800">
                <a:solidFill>
                  <a:srgbClr val="FF0000"/>
                </a:solidFill>
                <a:latin typeface="Calibri"/>
                <a:ea typeface="Calibri"/>
                <a:cs typeface="Calibri"/>
                <a:sym typeface="Calibri"/>
              </a:rPr>
              <a:t>H</a:t>
            </a:r>
            <a:r>
              <a:rPr i="0" lang="en-US" sz="1800">
                <a:solidFill>
                  <a:srgbClr val="FF0000"/>
                </a:solidFill>
                <a:latin typeface="Calibri"/>
                <a:ea typeface="Calibri"/>
                <a:cs typeface="Calibri"/>
                <a:sym typeface="Calibri"/>
              </a:rPr>
              <a:t>ủy luồng nếu kết nối đó ngắt =&gt; Khi đăng ký xong, hoặc đặt bộ đếm timer</a:t>
            </a:r>
            <a:endParaRPr i="0" sz="1800">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4"/>
                                        </p:tgtEl>
                                        <p:attrNameLst>
                                          <p:attrName>style.visibility</p:attrName>
                                        </p:attrNameLst>
                                      </p:cBhvr>
                                      <p:to>
                                        <p:strVal val="visible"/>
                                      </p:to>
                                    </p:set>
                                    <p:anim calcmode="lin" valueType="num">
                                      <p:cBhvr additive="base">
                                        <p:cTn dur="500"/>
                                        <p:tgtEl>
                                          <p:spTgt spid="8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9"/>
                                        </p:tgtEl>
                                        <p:attrNameLst>
                                          <p:attrName>style.visibility</p:attrName>
                                        </p:attrNameLst>
                                      </p:cBhvr>
                                      <p:to>
                                        <p:strVal val="visible"/>
                                      </p:to>
                                    </p:set>
                                    <p:anim calcmode="lin" valueType="num">
                                      <p:cBhvr additive="base">
                                        <p:cTn dur="500"/>
                                        <p:tgtEl>
                                          <p:spTgt spid="81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817"/>
                                        </p:tgtEl>
                                        <p:attrNameLst>
                                          <p:attrName>style.visibility</p:attrName>
                                        </p:attrNameLst>
                                      </p:cBhvr>
                                      <p:to>
                                        <p:strVal val="visible"/>
                                      </p:to>
                                    </p:set>
                                    <p:anim calcmode="lin" valueType="num">
                                      <p:cBhvr additive="base">
                                        <p:cTn dur="500"/>
                                        <p:tgtEl>
                                          <p:spTgt spid="81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8"/>
                                        </p:tgtEl>
                                        <p:attrNameLst>
                                          <p:attrName>style.visibility</p:attrName>
                                        </p:attrNameLst>
                                      </p:cBhvr>
                                      <p:to>
                                        <p:strVal val="visible"/>
                                      </p:to>
                                    </p:set>
                                    <p:anim calcmode="lin" valueType="num">
                                      <p:cBhvr additive="base">
                                        <p:cTn dur="500"/>
                                        <p:tgtEl>
                                          <p:spTgt spid="81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820"/>
                                        </p:tgtEl>
                                        <p:attrNameLst>
                                          <p:attrName>style.visibility</p:attrName>
                                        </p:attrNameLst>
                                      </p:cBhvr>
                                      <p:to>
                                        <p:strVal val="visible"/>
                                      </p:to>
                                    </p:set>
                                    <p:anim calcmode="lin" valueType="num">
                                      <p:cBhvr additive="base">
                                        <p:cTn dur="500"/>
                                        <p:tgtEl>
                                          <p:spTgt spid="82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1"/>
                                        </p:tgtEl>
                                        <p:attrNameLst>
                                          <p:attrName>style.visibility</p:attrName>
                                        </p:attrNameLst>
                                      </p:cBhvr>
                                      <p:to>
                                        <p:strVal val="visible"/>
                                      </p:to>
                                    </p:set>
                                    <p:anim calcmode="lin" valueType="num">
                                      <p:cBhvr additive="base">
                                        <p:cTn dur="500"/>
                                        <p:tgtEl>
                                          <p:spTgt spid="82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5"/>
                                        </p:tgtEl>
                                        <p:attrNameLst>
                                          <p:attrName>style.visibility</p:attrName>
                                        </p:attrNameLst>
                                      </p:cBhvr>
                                      <p:to>
                                        <p:strVal val="visible"/>
                                      </p:to>
                                    </p:set>
                                    <p:anim calcmode="lin" valueType="num">
                                      <p:cBhvr additive="base">
                                        <p:cTn dur="500"/>
                                        <p:tgtEl>
                                          <p:spTgt spid="82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25"/>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2" name="Google Shape;832;p25"/>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BÀI TẬP</a:t>
            </a:r>
            <a:endParaRPr/>
          </a:p>
        </p:txBody>
      </p:sp>
      <p:sp>
        <p:nvSpPr>
          <p:cNvPr id="833" name="Google Shape;833;p25"/>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4" name="Google Shape;834;p25"/>
          <p:cNvSpPr txBox="1"/>
          <p:nvPr/>
        </p:nvSpPr>
        <p:spPr>
          <a:xfrm>
            <a:off x="838200" y="1676400"/>
            <a:ext cx="10515600"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1B1B1B"/>
                </a:solidFill>
                <a:latin typeface="Calibri"/>
                <a:ea typeface="Calibri"/>
                <a:cs typeface="Calibri"/>
                <a:sym typeface="Calibri"/>
              </a:rPr>
              <a:t>Ứng dụng đăng ký học tập</a:t>
            </a:r>
            <a:endParaRPr b="1" sz="2400">
              <a:solidFill>
                <a:srgbClr val="1B1B1B"/>
              </a:solidFill>
              <a:latin typeface="Calibri"/>
              <a:ea typeface="Calibri"/>
              <a:cs typeface="Calibri"/>
              <a:sym typeface="Calibri"/>
            </a:endParaRPr>
          </a:p>
          <a:p>
            <a:pPr indent="-342900" lvl="0" marL="342900" marR="0" rtl="0" algn="just">
              <a:spcBef>
                <a:spcPts val="0"/>
              </a:spcBef>
              <a:spcAft>
                <a:spcPts val="0"/>
              </a:spcAft>
              <a:buClr>
                <a:srgbClr val="1B1B1B"/>
              </a:buClr>
              <a:buSzPts val="2400"/>
              <a:buFont typeface="Arial"/>
              <a:buChar char="•"/>
            </a:pPr>
            <a:r>
              <a:rPr lang="en-US" sz="2400">
                <a:solidFill>
                  <a:srgbClr val="1B1B1B"/>
                </a:solidFill>
                <a:latin typeface="Calibri"/>
                <a:ea typeface="Calibri"/>
                <a:cs typeface="Calibri"/>
                <a:sym typeface="Calibri"/>
              </a:rPr>
              <a:t>Tổ chức client-server đa luồng</a:t>
            </a:r>
            <a:endParaRPr sz="2400">
              <a:solidFill>
                <a:srgbClr val="1B1B1B"/>
              </a:solidFill>
              <a:latin typeface="Calibri"/>
              <a:ea typeface="Calibri"/>
              <a:cs typeface="Calibri"/>
              <a:sym typeface="Calibri"/>
            </a:endParaRPr>
          </a:p>
        </p:txBody>
      </p:sp>
      <p:sp>
        <p:nvSpPr>
          <p:cNvPr id="835" name="Google Shape;835;p25"/>
          <p:cNvSpPr/>
          <p:nvPr/>
        </p:nvSpPr>
        <p:spPr>
          <a:xfrm>
            <a:off x="3921457" y="4528274"/>
            <a:ext cx="1371600" cy="487108"/>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Dispatcher</a:t>
            </a:r>
            <a:endParaRPr/>
          </a:p>
        </p:txBody>
      </p:sp>
      <p:pic>
        <p:nvPicPr>
          <p:cNvPr descr="Value, server Icon in WHCompare Isometric Web Hosting &amp; Servers" id="836" name="Google Shape;836;p25"/>
          <p:cNvPicPr preferRelativeResize="0"/>
          <p:nvPr/>
        </p:nvPicPr>
        <p:blipFill rotWithShape="1">
          <a:blip r:embed="rId3">
            <a:alphaModFix/>
          </a:blip>
          <a:srcRect b="0" l="0" r="0" t="0"/>
          <a:stretch/>
        </p:blipFill>
        <p:spPr>
          <a:xfrm>
            <a:off x="3845257" y="2831193"/>
            <a:ext cx="1524000" cy="1524000"/>
          </a:xfrm>
          <a:prstGeom prst="rect">
            <a:avLst/>
          </a:prstGeom>
          <a:noFill/>
          <a:ln>
            <a:noFill/>
          </a:ln>
        </p:spPr>
      </p:pic>
      <p:sp>
        <p:nvSpPr>
          <p:cNvPr id="837" name="Google Shape;837;p25"/>
          <p:cNvSpPr/>
          <p:nvPr/>
        </p:nvSpPr>
        <p:spPr>
          <a:xfrm>
            <a:off x="7239000" y="2079557"/>
            <a:ext cx="1524000" cy="1342828"/>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Compute 1</a:t>
            </a:r>
            <a:endParaRPr/>
          </a:p>
        </p:txBody>
      </p:sp>
      <p:sp>
        <p:nvSpPr>
          <p:cNvPr id="838" name="Google Shape;838;p25"/>
          <p:cNvSpPr/>
          <p:nvPr/>
        </p:nvSpPr>
        <p:spPr>
          <a:xfrm>
            <a:off x="7258334" y="5015382"/>
            <a:ext cx="1524000" cy="1342828"/>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Compute 2</a:t>
            </a:r>
            <a:endParaRPr/>
          </a:p>
        </p:txBody>
      </p:sp>
      <p:cxnSp>
        <p:nvCxnSpPr>
          <p:cNvPr id="839" name="Google Shape;839;p25"/>
          <p:cNvCxnSpPr>
            <a:stCxn id="836" idx="3"/>
            <a:endCxn id="837" idx="1"/>
          </p:cNvCxnSpPr>
          <p:nvPr/>
        </p:nvCxnSpPr>
        <p:spPr>
          <a:xfrm flipH="1" rot="10800000">
            <a:off x="5369257" y="2751093"/>
            <a:ext cx="1869600" cy="842100"/>
          </a:xfrm>
          <a:prstGeom prst="straightConnector1">
            <a:avLst/>
          </a:prstGeom>
          <a:noFill/>
          <a:ln cap="flat" cmpd="sng" w="9525">
            <a:solidFill>
              <a:schemeClr val="accent1"/>
            </a:solidFill>
            <a:prstDash val="solid"/>
            <a:miter lim="800000"/>
            <a:headEnd len="sm" w="sm" type="none"/>
            <a:tailEnd len="med" w="med" type="triangle"/>
          </a:ln>
        </p:spPr>
      </p:cxnSp>
      <p:cxnSp>
        <p:nvCxnSpPr>
          <p:cNvPr id="840" name="Google Shape;840;p25"/>
          <p:cNvCxnSpPr>
            <a:stCxn id="836" idx="3"/>
            <a:endCxn id="838" idx="1"/>
          </p:cNvCxnSpPr>
          <p:nvPr/>
        </p:nvCxnSpPr>
        <p:spPr>
          <a:xfrm>
            <a:off x="5369257" y="3593193"/>
            <a:ext cx="1889100" cy="2093700"/>
          </a:xfrm>
          <a:prstGeom prst="straightConnector1">
            <a:avLst/>
          </a:prstGeom>
          <a:noFill/>
          <a:ln cap="flat" cmpd="sng" w="9525">
            <a:solidFill>
              <a:schemeClr val="accent1"/>
            </a:solidFill>
            <a:prstDash val="solid"/>
            <a:miter lim="800000"/>
            <a:headEnd len="sm" w="sm" type="none"/>
            <a:tailEnd len="med" w="med" type="triangle"/>
          </a:ln>
        </p:spPr>
      </p:cxnSp>
      <p:sp>
        <p:nvSpPr>
          <p:cNvPr id="841" name="Google Shape;841;p25"/>
          <p:cNvSpPr txBox="1"/>
          <p:nvPr/>
        </p:nvSpPr>
        <p:spPr>
          <a:xfrm>
            <a:off x="5670697" y="2811647"/>
            <a:ext cx="1326004"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Request:</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Đăng ký học</a:t>
            </a:r>
            <a:endParaRPr sz="1800">
              <a:solidFill>
                <a:schemeClr val="dk1"/>
              </a:solidFill>
              <a:latin typeface="Calibri"/>
              <a:ea typeface="Calibri"/>
              <a:cs typeface="Calibri"/>
              <a:sym typeface="Calibri"/>
            </a:endParaRPr>
          </a:p>
        </p:txBody>
      </p:sp>
      <p:sp>
        <p:nvSpPr>
          <p:cNvPr id="842" name="Google Shape;842;p25"/>
          <p:cNvSpPr txBox="1"/>
          <p:nvPr/>
        </p:nvSpPr>
        <p:spPr>
          <a:xfrm>
            <a:off x="5704817" y="4502536"/>
            <a:ext cx="15101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Request: Khác</a:t>
            </a:r>
            <a:endParaRPr sz="1800">
              <a:solidFill>
                <a:schemeClr val="dk1"/>
              </a:solidFill>
              <a:latin typeface="Calibri"/>
              <a:ea typeface="Calibri"/>
              <a:cs typeface="Calibri"/>
              <a:sym typeface="Calibri"/>
            </a:endParaRPr>
          </a:p>
        </p:txBody>
      </p:sp>
      <p:pic>
        <p:nvPicPr>
          <p:cNvPr id="843" name="Google Shape;843;p25"/>
          <p:cNvPicPr preferRelativeResize="0"/>
          <p:nvPr/>
        </p:nvPicPr>
        <p:blipFill rotWithShape="1">
          <a:blip r:embed="rId4">
            <a:alphaModFix/>
          </a:blip>
          <a:srcRect b="2620" l="34741" r="33792" t="-2620"/>
          <a:stretch/>
        </p:blipFill>
        <p:spPr>
          <a:xfrm>
            <a:off x="8848867" y="1578356"/>
            <a:ext cx="2419066" cy="2505673"/>
          </a:xfrm>
          <a:prstGeom prst="rect">
            <a:avLst/>
          </a:prstGeom>
          <a:noFill/>
          <a:ln>
            <a:noFill/>
          </a:ln>
        </p:spPr>
      </p:pic>
      <p:pic>
        <p:nvPicPr>
          <p:cNvPr descr="Client - Free marketing icons" id="844" name="Google Shape;844;p25"/>
          <p:cNvPicPr preferRelativeResize="0"/>
          <p:nvPr/>
        </p:nvPicPr>
        <p:blipFill rotWithShape="1">
          <a:blip r:embed="rId5">
            <a:alphaModFix/>
          </a:blip>
          <a:srcRect b="0" l="0" r="0" t="0"/>
          <a:stretch/>
        </p:blipFill>
        <p:spPr>
          <a:xfrm>
            <a:off x="123694" y="3857427"/>
            <a:ext cx="995532" cy="995532"/>
          </a:xfrm>
          <a:prstGeom prst="rect">
            <a:avLst/>
          </a:prstGeom>
          <a:noFill/>
          <a:ln>
            <a:noFill/>
          </a:ln>
        </p:spPr>
      </p:pic>
      <p:pic>
        <p:nvPicPr>
          <p:cNvPr id="845" name="Google Shape;845;p25"/>
          <p:cNvPicPr preferRelativeResize="0"/>
          <p:nvPr/>
        </p:nvPicPr>
        <p:blipFill rotWithShape="1">
          <a:blip r:embed="rId6">
            <a:alphaModFix/>
          </a:blip>
          <a:srcRect b="0" l="0" r="0" t="0"/>
          <a:stretch/>
        </p:blipFill>
        <p:spPr>
          <a:xfrm>
            <a:off x="621460" y="3390538"/>
            <a:ext cx="1207151" cy="1207151"/>
          </a:xfrm>
          <a:prstGeom prst="rect">
            <a:avLst/>
          </a:prstGeom>
          <a:noFill/>
          <a:ln>
            <a:noFill/>
          </a:ln>
        </p:spPr>
      </p:pic>
      <p:cxnSp>
        <p:nvCxnSpPr>
          <p:cNvPr id="846" name="Google Shape;846;p25"/>
          <p:cNvCxnSpPr>
            <a:stCxn id="845" idx="3"/>
            <a:endCxn id="836" idx="1"/>
          </p:cNvCxnSpPr>
          <p:nvPr/>
        </p:nvCxnSpPr>
        <p:spPr>
          <a:xfrm flipH="1" rot="10800000">
            <a:off x="1828611" y="3593314"/>
            <a:ext cx="2016600" cy="400800"/>
          </a:xfrm>
          <a:prstGeom prst="straightConnector1">
            <a:avLst/>
          </a:prstGeom>
          <a:noFill/>
          <a:ln cap="flat" cmpd="sng" w="9525">
            <a:solidFill>
              <a:schemeClr val="accent1"/>
            </a:solidFill>
            <a:prstDash val="solid"/>
            <a:miter lim="800000"/>
            <a:headEnd len="sm" w="sm" type="none"/>
            <a:tailEnd len="med" w="med" type="triangle"/>
          </a:ln>
        </p:spPr>
      </p:cxnSp>
      <p:sp>
        <p:nvSpPr>
          <p:cNvPr id="847" name="Google Shape;847;p25"/>
          <p:cNvSpPr txBox="1"/>
          <p:nvPr/>
        </p:nvSpPr>
        <p:spPr>
          <a:xfrm>
            <a:off x="621460" y="5103673"/>
            <a:ext cx="6084140"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rgbClr val="1B1B1B"/>
                </a:solidFill>
                <a:latin typeface="Calibri"/>
                <a:ea typeface="Calibri"/>
                <a:cs typeface="Calibri"/>
                <a:sym typeface="Calibri"/>
              </a:rPr>
              <a:t>Nhược điểm của </a:t>
            </a:r>
            <a:r>
              <a:rPr lang="en-US" sz="1800">
                <a:solidFill>
                  <a:srgbClr val="FF0000"/>
                </a:solidFill>
                <a:latin typeface="Calibri"/>
                <a:ea typeface="Calibri"/>
                <a:cs typeface="Calibri"/>
                <a:sym typeface="Calibri"/>
              </a:rPr>
              <a:t>Thread-per-connection:</a:t>
            </a:r>
            <a:r>
              <a:rPr lang="en-US" sz="1800">
                <a:solidFill>
                  <a:srgbClr val="1B1B1B"/>
                </a:solidFill>
                <a:latin typeface="Calibri"/>
                <a:ea typeface="Calibri"/>
                <a:cs typeface="Calibri"/>
                <a:sym typeface="Calibri"/>
              </a:rPr>
              <a:t> các client có thể bị phục vụ với độ trễ cao do 1 số luồng thì phục vụ quá nhiều request trong khi 1 số luồng khác có thể phục vụ ít/không tại cùng thời điểm</a:t>
            </a:r>
            <a:endParaRPr sz="1800">
              <a:solidFill>
                <a:schemeClr val="dk1"/>
              </a:solidFill>
              <a:latin typeface="Calibri"/>
              <a:ea typeface="Calibri"/>
              <a:cs typeface="Calibri"/>
              <a:sym typeface="Calibri"/>
            </a:endParaRPr>
          </a:p>
          <a:p>
            <a:pPr indent="-171450" lvl="0" marL="171450" marR="0" rtl="0" algn="just">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Thao tác đăng ký học coi là tương đương =&gt; nhược điểm được khắc phục</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2022-01-10T03:14:20Z</dcterms:created>
  <dc:creator>Luong Vi Minh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2017-06-16T00:00:00Z</vt:filetime>
  </property>
  <property fmtid="{D5CDD505-2E9C-101B-9397-08002B2CF9AE}" pid="3" name="Creator">
    <vt:lpwstr>Microsoft® PowerPoint® 2010</vt:lpwstr>
  </property>
  <property fmtid="{D5CDD505-2E9C-101B-9397-08002B2CF9AE}" pid="4" name="LastSaved">
    <vt:filetime>2022-01-10T00:00:00Z</vt:filetime>
  </property>
</Properties>
</file>